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embedTrueTypeFonts="1" saveSubsetFonts="1">
  <p:sldMasterIdLst>
    <p:sldMasterId id="2147483702" r:id="rId1"/>
  </p:sldMasterIdLst>
  <p:notesMasterIdLst>
    <p:notesMasterId r:id="rId38"/>
  </p:notesMasterIdLst>
  <p:handoutMasterIdLst>
    <p:handoutMasterId r:id="rId39"/>
  </p:handoutMasterIdLst>
  <p:sldIdLst>
    <p:sldId id="542" r:id="rId2"/>
    <p:sldId id="576" r:id="rId3"/>
    <p:sldId id="577" r:id="rId4"/>
    <p:sldId id="578" r:id="rId5"/>
    <p:sldId id="2147476614" r:id="rId6"/>
    <p:sldId id="2147476613" r:id="rId7"/>
    <p:sldId id="2147476351" r:id="rId8"/>
    <p:sldId id="507" r:id="rId9"/>
    <p:sldId id="2147476649" r:id="rId10"/>
    <p:sldId id="2147476402" r:id="rId11"/>
    <p:sldId id="2147476648" r:id="rId12"/>
    <p:sldId id="2147476569" r:id="rId13"/>
    <p:sldId id="2147476659" r:id="rId14"/>
    <p:sldId id="2147476658" r:id="rId15"/>
    <p:sldId id="2147476646" r:id="rId16"/>
    <p:sldId id="2147476600" r:id="rId17"/>
    <p:sldId id="2147476639" r:id="rId18"/>
    <p:sldId id="2147476640" r:id="rId19"/>
    <p:sldId id="2147476641" r:id="rId20"/>
    <p:sldId id="2147476642" r:id="rId21"/>
    <p:sldId id="2147476643" r:id="rId22"/>
    <p:sldId id="2147476645" r:id="rId23"/>
    <p:sldId id="2147476644" r:id="rId24"/>
    <p:sldId id="2147476653" r:id="rId25"/>
    <p:sldId id="2147476660" r:id="rId26"/>
    <p:sldId id="2147476647" r:id="rId27"/>
    <p:sldId id="2147476615" r:id="rId28"/>
    <p:sldId id="2147476650" r:id="rId29"/>
    <p:sldId id="2147476651" r:id="rId30"/>
    <p:sldId id="2147476652" r:id="rId31"/>
    <p:sldId id="2147476620" r:id="rId32"/>
    <p:sldId id="2147476638" r:id="rId33"/>
    <p:sldId id="2147476632" r:id="rId34"/>
    <p:sldId id="2147476635" r:id="rId35"/>
    <p:sldId id="2147476636" r:id="rId36"/>
    <p:sldId id="5254" r:id="rId37"/>
  </p:sldIdLst>
  <p:sldSz cx="12192000" cy="6858000"/>
  <p:notesSz cx="6858000" cy="9144000"/>
  <p:embeddedFontLst>
    <p:embeddedFont>
      <p:font typeface="Sakkal Majalla" panose="02000000000000000000" pitchFamily="2" charset="-78"/>
      <p:regular r:id="rId40"/>
      <p:bold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خطة التوعية للبنية المؤسسية" id="{25F21764-0714-46C5-BF30-1F77E71FBBCD}">
          <p14:sldIdLst>
            <p14:sldId id="542"/>
            <p14:sldId id="576"/>
            <p14:sldId id="577"/>
            <p14:sldId id="578"/>
            <p14:sldId id="2147476614"/>
          </p14:sldIdLst>
        </p14:section>
        <p14:section name="مقدمة عن خطة التوعية للبنية المؤسسية" id="{6A6A67FF-B5C0-453B-8748-9109D622F811}">
          <p14:sldIdLst>
            <p14:sldId id="2147476613"/>
            <p14:sldId id="2147476351"/>
            <p14:sldId id="507"/>
          </p14:sldIdLst>
        </p14:section>
        <p14:section name="الوسائل والقنوات المستخدمة للتوعية" id="{3A140B89-249A-43EA-B31D-A36046DA7AAD}">
          <p14:sldIdLst>
            <p14:sldId id="2147476649"/>
            <p14:sldId id="2147476402"/>
          </p14:sldIdLst>
        </p14:section>
        <p14:section name="الخطة الزمنية للتوعية بالبنية المؤسسية" id="{64A28355-7547-402A-9132-2F9D7811A312}">
          <p14:sldIdLst>
            <p14:sldId id="2147476648"/>
            <p14:sldId id="2147476569"/>
            <p14:sldId id="2147476659"/>
            <p14:sldId id="2147476658"/>
          </p14:sldIdLst>
        </p14:section>
        <p14:section name="بطاقات التعريف للأنشطة التوعوية" id="{FE6A1AC1-C564-47DB-B3AE-C30AD104872F}">
          <p14:sldIdLst>
            <p14:sldId id="2147476646"/>
            <p14:sldId id="2147476600"/>
            <p14:sldId id="2147476639"/>
            <p14:sldId id="2147476640"/>
            <p14:sldId id="2147476641"/>
            <p14:sldId id="2147476642"/>
            <p14:sldId id="2147476643"/>
            <p14:sldId id="2147476645"/>
            <p14:sldId id="2147476644"/>
          </p14:sldIdLst>
        </p14:section>
        <p14:section name="آلية الاستفسارات والاستشارات" id="{2ABFD249-757E-4361-B359-90C81FE98812}">
          <p14:sldIdLst>
            <p14:sldId id="2147476653"/>
            <p14:sldId id="2147476660"/>
          </p14:sldIdLst>
        </p14:section>
        <p14:section name="عينة من المواد التوعوية" id="{33C89D70-035E-4340-95C2-2FDC5BEC7A1A}">
          <p14:sldIdLst>
            <p14:sldId id="2147476647"/>
            <p14:sldId id="2147476615"/>
            <p14:sldId id="2147476650"/>
            <p14:sldId id="2147476651"/>
            <p14:sldId id="2147476652"/>
          </p14:sldIdLst>
        </p14:section>
        <p14:section name="مؤشرات الأداء المرتبطة بخطة التوعية" id="{93DC1CAE-C729-4995-8EF1-DE6DAD81173C}">
          <p14:sldIdLst>
            <p14:sldId id="2147476620"/>
            <p14:sldId id="2147476638"/>
            <p14:sldId id="2147476632"/>
            <p14:sldId id="2147476635"/>
            <p14:sldId id="2147476636"/>
            <p14:sldId id="525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a  Alghadhban" initials="DA" lastIdx="10" clrIdx="0">
    <p:extLst>
      <p:ext uri="{19B8F6BF-5375-455C-9EA6-DF929625EA0E}">
        <p15:presenceInfo xmlns:p15="http://schemas.microsoft.com/office/powerpoint/2012/main" userId="S-1-5-21-2411063874-488449627-3027057399-11734" providerId="AD"/>
      </p:ext>
    </p:extLst>
  </p:cmAuthor>
  <p:cmAuthor id="2" name="Ahmed Shawky" initials="A" lastIdx="2" clrIdx="1">
    <p:extLst>
      <p:ext uri="{19B8F6BF-5375-455C-9EA6-DF929625EA0E}">
        <p15:presenceInfo xmlns:p15="http://schemas.microsoft.com/office/powerpoint/2012/main" userId="Ahmed Shawky" providerId="None"/>
      </p:ext>
    </p:extLst>
  </p:cmAuthor>
  <p:cmAuthor id="3" name="Ahmed Shawky" initials="AS" lastIdx="18" clrIdx="2">
    <p:extLst>
      <p:ext uri="{19B8F6BF-5375-455C-9EA6-DF929625EA0E}">
        <p15:presenceInfo xmlns:p15="http://schemas.microsoft.com/office/powerpoint/2012/main" userId="S::a.shawky@rmg-sa.com::e8ca3da9-d268-4851-a55d-39b83f2b78e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8EE"/>
    <a:srgbClr val="44AC52"/>
    <a:srgbClr val="D0CEDB"/>
    <a:srgbClr val="4C3C8D"/>
    <a:srgbClr val="3FA0D9"/>
    <a:srgbClr val="FFB400"/>
    <a:srgbClr val="6AC477"/>
    <a:srgbClr val="6FB7E3"/>
    <a:srgbClr val="7D6DC1"/>
    <a:srgbClr val="00A8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258" autoAdjust="0"/>
    <p:restoredTop sz="84375" autoAdjust="0"/>
  </p:normalViewPr>
  <p:slideViewPr>
    <p:cSldViewPr snapToGrid="0">
      <p:cViewPr varScale="1">
        <p:scale>
          <a:sx n="82" d="100"/>
          <a:sy n="82" d="100"/>
        </p:scale>
        <p:origin x="456" y="72"/>
      </p:cViewPr>
      <p:guideLst/>
    </p:cSldViewPr>
  </p:slideViewPr>
  <p:outlineViewPr>
    <p:cViewPr>
      <p:scale>
        <a:sx n="33" d="100"/>
        <a:sy n="33" d="100"/>
      </p:scale>
      <p:origin x="0" y="-2107"/>
    </p:cViewPr>
  </p:outlineViewPr>
  <p:notesTextViewPr>
    <p:cViewPr>
      <p:scale>
        <a:sx n="1" d="1"/>
        <a:sy n="1" d="1"/>
      </p:scale>
      <p:origin x="0" y="0"/>
    </p:cViewPr>
  </p:notesTextViewPr>
  <p:notesViewPr>
    <p:cSldViewPr snapToGrid="0" showGuides="1">
      <p:cViewPr varScale="1">
        <p:scale>
          <a:sx n="82" d="100"/>
          <a:sy n="82" d="100"/>
        </p:scale>
        <p:origin x="3156"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Sakkal Majalla" panose="02000000000000000000" pitchFamily="2" charset="-78"/>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F3CCF8-5C26-4AF6-B7BA-B28572CBB7B8}" type="datetimeFigureOut">
              <a:rPr lang="en-US" smtClean="0">
                <a:latin typeface="Sakkal Majalla" panose="02000000000000000000" pitchFamily="2" charset="-78"/>
              </a:rPr>
              <a:t>4/3/2026</a:t>
            </a:fld>
            <a:endParaRPr lang="en-US" dirty="0">
              <a:latin typeface="Sakkal Majalla" panose="02000000000000000000" pitchFamily="2" charset="-78"/>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Sakkal Majalla" panose="02000000000000000000" pitchFamily="2" charset="-78"/>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12BC3B-B80E-4787-98A9-8276652C0984}" type="slidenum">
              <a:rPr lang="en-US" smtClean="0">
                <a:latin typeface="Sakkal Majalla" panose="02000000000000000000" pitchFamily="2" charset="-78"/>
              </a:rPr>
              <a:t>‹#›</a:t>
            </a:fld>
            <a:endParaRPr lang="en-US" dirty="0">
              <a:latin typeface="Sakkal Majalla" panose="02000000000000000000" pitchFamily="2" charset="-78"/>
            </a:endParaRPr>
          </a:p>
        </p:txBody>
      </p:sp>
    </p:spTree>
    <p:extLst>
      <p:ext uri="{BB962C8B-B14F-4D97-AF65-F5344CB8AC3E}">
        <p14:creationId xmlns:p14="http://schemas.microsoft.com/office/powerpoint/2010/main" val="29127117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Sakkal Majalla" panose="02000000000000000000" pitchFamily="2" charset="-78"/>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Sakkal Majalla" panose="02000000000000000000" pitchFamily="2" charset="-78"/>
              </a:defRPr>
            </a:lvl1pPr>
          </a:lstStyle>
          <a:p>
            <a:fld id="{D4A18F3E-C117-429A-B1A6-546895907122}" type="datetimeFigureOut">
              <a:rPr lang="en-US" smtClean="0"/>
              <a:pPr/>
              <a:t>4/3/2026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Sakkal Majalla" panose="02000000000000000000" pitchFamily="2" charset="-78"/>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Sakkal Majalla" panose="02000000000000000000" pitchFamily="2" charset="-78"/>
              </a:defRPr>
            </a:lvl1pPr>
          </a:lstStyle>
          <a:p>
            <a:fld id="{B97FDBCA-D751-4A03-819B-45597328ED86}" type="slidenum">
              <a:rPr lang="en-US" smtClean="0"/>
              <a:pPr/>
              <a:t>‹#›</a:t>
            </a:fld>
            <a:endParaRPr lang="en-US" dirty="0"/>
          </a:p>
        </p:txBody>
      </p:sp>
    </p:spTree>
    <p:extLst>
      <p:ext uri="{BB962C8B-B14F-4D97-AF65-F5344CB8AC3E}">
        <p14:creationId xmlns:p14="http://schemas.microsoft.com/office/powerpoint/2010/main" val="3872243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Sakkal Majalla" panose="02000000000000000000" pitchFamily="2" charset="-78"/>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r" rtl="1">
              <a:buFont typeface="Arial" panose="020B0604020202020204" pitchFamily="34" charset="0"/>
              <a:buChar char="•"/>
            </a:pPr>
            <a:endParaRPr lang="ar-EG" dirty="0">
              <a:cs typeface="Sakkal Majalla" panose="02000000000000000000" pitchFamily="2" charset="-78"/>
            </a:endParaRPr>
          </a:p>
        </p:txBody>
      </p:sp>
      <p:sp>
        <p:nvSpPr>
          <p:cNvPr id="4" name="Slide Number Placeholder 3"/>
          <p:cNvSpPr>
            <a:spLocks noGrp="1"/>
          </p:cNvSpPr>
          <p:nvPr>
            <p:ph type="sldNum" sz="quarter" idx="5"/>
          </p:nvPr>
        </p:nvSpPr>
        <p:spPr/>
        <p:txBody>
          <a:bodyPr/>
          <a:lstStyle/>
          <a:p>
            <a:fld id="{B97FDBCA-D751-4A03-819B-45597328ED86}" type="slidenum">
              <a:rPr lang="en-US" smtClean="0"/>
              <a:t>1</a:t>
            </a:fld>
            <a:endParaRPr lang="en-US"/>
          </a:p>
        </p:txBody>
      </p:sp>
    </p:spTree>
    <p:extLst>
      <p:ext uri="{BB962C8B-B14F-4D97-AF65-F5344CB8AC3E}">
        <p14:creationId xmlns:p14="http://schemas.microsoft.com/office/powerpoint/2010/main" val="3800326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a:t>
            </a:fld>
            <a:endParaRPr lang="en-US"/>
          </a:p>
        </p:txBody>
      </p:sp>
    </p:spTree>
    <p:extLst>
      <p:ext uri="{BB962C8B-B14F-4D97-AF65-F5344CB8AC3E}">
        <p14:creationId xmlns:p14="http://schemas.microsoft.com/office/powerpoint/2010/main" val="962646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a:t>
            </a:fld>
            <a:endParaRPr lang="en-US"/>
          </a:p>
        </p:txBody>
      </p:sp>
    </p:spTree>
    <p:extLst>
      <p:ext uri="{BB962C8B-B14F-4D97-AF65-F5344CB8AC3E}">
        <p14:creationId xmlns:p14="http://schemas.microsoft.com/office/powerpoint/2010/main" val="3506166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a:t>
            </a:fld>
            <a:endParaRPr lang="en-US"/>
          </a:p>
        </p:txBody>
      </p:sp>
    </p:spTree>
    <p:extLst>
      <p:ext uri="{BB962C8B-B14F-4D97-AF65-F5344CB8AC3E}">
        <p14:creationId xmlns:p14="http://schemas.microsoft.com/office/powerpoint/2010/main" val="2022903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lnSpc>
                <a:spcPct val="150000"/>
              </a:lnSpc>
              <a:spcAft>
                <a:spcPts val="1200"/>
              </a:spcAft>
              <a:buFontTx/>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a:t>
            </a:fld>
            <a:endParaRPr lang="en-US"/>
          </a:p>
        </p:txBody>
      </p:sp>
    </p:spTree>
    <p:extLst>
      <p:ext uri="{BB962C8B-B14F-4D97-AF65-F5344CB8AC3E}">
        <p14:creationId xmlns:p14="http://schemas.microsoft.com/office/powerpoint/2010/main" val="33286502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8</a:t>
            </a:fld>
            <a:endParaRPr lang="en-US"/>
          </a:p>
        </p:txBody>
      </p:sp>
    </p:spTree>
    <p:extLst>
      <p:ext uri="{BB962C8B-B14F-4D97-AF65-F5344CB8AC3E}">
        <p14:creationId xmlns:p14="http://schemas.microsoft.com/office/powerpoint/2010/main" val="30307175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1B175-9206-4647-7BCF-993CFE855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067E2-2476-2EAC-049C-CD391A2602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FF7D51-83FA-9DB8-E7C0-8051FBE22388}"/>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9B3A8826-EE48-E105-BFCB-0107ADF6C7DF}"/>
              </a:ext>
            </a:extLst>
          </p:cNvPr>
          <p:cNvSpPr>
            <a:spLocks noGrp="1"/>
          </p:cNvSpPr>
          <p:nvPr>
            <p:ph type="sldNum" sz="quarter" idx="5"/>
          </p:nvPr>
        </p:nvSpPr>
        <p:spPr/>
        <p:txBody>
          <a:bodyPr/>
          <a:lstStyle/>
          <a:p>
            <a:fld id="{B97FDBCA-D751-4A03-819B-45597328ED86}" type="slidenum">
              <a:rPr lang="en-US" smtClean="0"/>
              <a:t>10</a:t>
            </a:fld>
            <a:endParaRPr lang="en-US"/>
          </a:p>
        </p:txBody>
      </p:sp>
    </p:spTree>
    <p:extLst>
      <p:ext uri="{BB962C8B-B14F-4D97-AF65-F5344CB8AC3E}">
        <p14:creationId xmlns:p14="http://schemas.microsoft.com/office/powerpoint/2010/main" val="23515106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B8BAE-95C0-1605-BB98-476357526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AF3AC-7C1E-3FA3-C304-485832509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F33525-C610-1A68-EE01-3F91FC07CE8F}"/>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575B7933-A133-2EEE-0F66-CB21A6CF63FA}"/>
              </a:ext>
            </a:extLst>
          </p:cNvPr>
          <p:cNvSpPr>
            <a:spLocks noGrp="1"/>
          </p:cNvSpPr>
          <p:nvPr>
            <p:ph type="sldNum" sz="quarter" idx="5"/>
          </p:nvPr>
        </p:nvSpPr>
        <p:spPr/>
        <p:txBody>
          <a:bodyPr/>
          <a:lstStyle/>
          <a:p>
            <a:fld id="{B97FDBCA-D751-4A03-819B-45597328ED86}" type="slidenum">
              <a:rPr lang="en-US" smtClean="0"/>
              <a:t>12</a:t>
            </a:fld>
            <a:endParaRPr lang="en-US"/>
          </a:p>
        </p:txBody>
      </p:sp>
    </p:spTree>
    <p:extLst>
      <p:ext uri="{BB962C8B-B14F-4D97-AF65-F5344CB8AC3E}">
        <p14:creationId xmlns:p14="http://schemas.microsoft.com/office/powerpoint/2010/main" val="1346320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16</a:t>
            </a:fld>
            <a:endParaRPr lang="en-US"/>
          </a:p>
        </p:txBody>
      </p:sp>
    </p:spTree>
    <p:extLst>
      <p:ext uri="{BB962C8B-B14F-4D97-AF65-F5344CB8AC3E}">
        <p14:creationId xmlns:p14="http://schemas.microsoft.com/office/powerpoint/2010/main" val="3481454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17</a:t>
            </a:fld>
            <a:endParaRPr lang="en-US"/>
          </a:p>
        </p:txBody>
      </p:sp>
    </p:spTree>
    <p:extLst>
      <p:ext uri="{BB962C8B-B14F-4D97-AF65-F5344CB8AC3E}">
        <p14:creationId xmlns:p14="http://schemas.microsoft.com/office/powerpoint/2010/main" val="4202477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18</a:t>
            </a:fld>
            <a:endParaRPr lang="en-US"/>
          </a:p>
        </p:txBody>
      </p:sp>
    </p:spTree>
    <p:extLst>
      <p:ext uri="{BB962C8B-B14F-4D97-AF65-F5344CB8AC3E}">
        <p14:creationId xmlns:p14="http://schemas.microsoft.com/office/powerpoint/2010/main" val="34506030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19</a:t>
            </a:fld>
            <a:endParaRPr lang="en-US"/>
          </a:p>
        </p:txBody>
      </p:sp>
    </p:spTree>
    <p:extLst>
      <p:ext uri="{BB962C8B-B14F-4D97-AF65-F5344CB8AC3E}">
        <p14:creationId xmlns:p14="http://schemas.microsoft.com/office/powerpoint/2010/main" val="35567813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20</a:t>
            </a:fld>
            <a:endParaRPr lang="en-US"/>
          </a:p>
        </p:txBody>
      </p:sp>
    </p:spTree>
    <p:extLst>
      <p:ext uri="{BB962C8B-B14F-4D97-AF65-F5344CB8AC3E}">
        <p14:creationId xmlns:p14="http://schemas.microsoft.com/office/powerpoint/2010/main" val="42191525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21</a:t>
            </a:fld>
            <a:endParaRPr lang="en-US"/>
          </a:p>
        </p:txBody>
      </p:sp>
    </p:spTree>
    <p:extLst>
      <p:ext uri="{BB962C8B-B14F-4D97-AF65-F5344CB8AC3E}">
        <p14:creationId xmlns:p14="http://schemas.microsoft.com/office/powerpoint/2010/main" val="30413507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22</a:t>
            </a:fld>
            <a:endParaRPr lang="en-US"/>
          </a:p>
        </p:txBody>
      </p:sp>
    </p:spTree>
    <p:extLst>
      <p:ext uri="{BB962C8B-B14F-4D97-AF65-F5344CB8AC3E}">
        <p14:creationId xmlns:p14="http://schemas.microsoft.com/office/powerpoint/2010/main" val="63097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03AC-8A8B-32A8-AEF6-2C027DF10F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91EBD-C37C-C4D0-B820-AB86FF8F6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F5F26-7C27-1227-4F43-DD1BDF30CD07}"/>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A9B6DC8F-515D-F612-8A54-319F1B6B5201}"/>
              </a:ext>
            </a:extLst>
          </p:cNvPr>
          <p:cNvSpPr>
            <a:spLocks noGrp="1"/>
          </p:cNvSpPr>
          <p:nvPr>
            <p:ph type="sldNum" sz="quarter" idx="5"/>
          </p:nvPr>
        </p:nvSpPr>
        <p:spPr/>
        <p:txBody>
          <a:bodyPr/>
          <a:lstStyle/>
          <a:p>
            <a:fld id="{B97FDBCA-D751-4A03-819B-45597328ED86}" type="slidenum">
              <a:rPr lang="en-US" smtClean="0"/>
              <a:t>23</a:t>
            </a:fld>
            <a:endParaRPr lang="en-US"/>
          </a:p>
        </p:txBody>
      </p:sp>
    </p:spTree>
    <p:extLst>
      <p:ext uri="{BB962C8B-B14F-4D97-AF65-F5344CB8AC3E}">
        <p14:creationId xmlns:p14="http://schemas.microsoft.com/office/powerpoint/2010/main" val="29291710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AFB9F-410E-7C9C-61D7-DCD8D0B4D6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ABC21-DF2C-6A29-8938-D756E975EB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9CDAC6-1F8B-AEAA-2559-44BFA2B9EE21}"/>
              </a:ext>
            </a:extLst>
          </p:cNvPr>
          <p:cNvSpPr>
            <a:spLocks noGrp="1"/>
          </p:cNvSpPr>
          <p:nvPr>
            <p:ph type="body" idx="1"/>
          </p:nvPr>
        </p:nvSpPr>
        <p:spPr/>
        <p:txBody>
          <a:bodyPr/>
          <a:lstStyle/>
          <a:p>
            <a:pPr algn="r" rtl="1"/>
            <a:endParaRPr lang="en-US" dirty="0"/>
          </a:p>
        </p:txBody>
      </p:sp>
      <p:sp>
        <p:nvSpPr>
          <p:cNvPr id="4" name="Slide Number Placeholder 3">
            <a:extLst>
              <a:ext uri="{FF2B5EF4-FFF2-40B4-BE49-F238E27FC236}">
                <a16:creationId xmlns:a16="http://schemas.microsoft.com/office/drawing/2014/main" id="{1048E141-449F-7EBA-146C-C60BA4EC2FB4}"/>
              </a:ext>
            </a:extLst>
          </p:cNvPr>
          <p:cNvSpPr>
            <a:spLocks noGrp="1"/>
          </p:cNvSpPr>
          <p:nvPr>
            <p:ph type="sldNum" sz="quarter" idx="5"/>
          </p:nvPr>
        </p:nvSpPr>
        <p:spPr/>
        <p:txBody>
          <a:bodyPr/>
          <a:lstStyle/>
          <a:p>
            <a:fld id="{B97FDBCA-D751-4A03-819B-45597328ED86}" type="slidenum">
              <a:rPr lang="en-US" smtClean="0"/>
              <a:t>25</a:t>
            </a:fld>
            <a:endParaRPr lang="en-US"/>
          </a:p>
        </p:txBody>
      </p:sp>
    </p:spTree>
    <p:extLst>
      <p:ext uri="{BB962C8B-B14F-4D97-AF65-F5344CB8AC3E}">
        <p14:creationId xmlns:p14="http://schemas.microsoft.com/office/powerpoint/2010/main" val="12448202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27</a:t>
            </a:fld>
            <a:endParaRPr lang="en-US"/>
          </a:p>
        </p:txBody>
      </p:sp>
    </p:spTree>
    <p:extLst>
      <p:ext uri="{BB962C8B-B14F-4D97-AF65-F5344CB8AC3E}">
        <p14:creationId xmlns:p14="http://schemas.microsoft.com/office/powerpoint/2010/main" val="27138419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28</a:t>
            </a:fld>
            <a:endParaRPr lang="en-US"/>
          </a:p>
        </p:txBody>
      </p:sp>
    </p:spTree>
    <p:extLst>
      <p:ext uri="{BB962C8B-B14F-4D97-AF65-F5344CB8AC3E}">
        <p14:creationId xmlns:p14="http://schemas.microsoft.com/office/powerpoint/2010/main" val="1760398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29</a:t>
            </a:fld>
            <a:endParaRPr lang="en-US"/>
          </a:p>
        </p:txBody>
      </p:sp>
    </p:spTree>
    <p:extLst>
      <p:ext uri="{BB962C8B-B14F-4D97-AF65-F5344CB8AC3E}">
        <p14:creationId xmlns:p14="http://schemas.microsoft.com/office/powerpoint/2010/main" val="5807086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30</a:t>
            </a:fld>
            <a:endParaRPr lang="en-US"/>
          </a:p>
        </p:txBody>
      </p:sp>
    </p:spTree>
    <p:extLst>
      <p:ext uri="{BB962C8B-B14F-4D97-AF65-F5344CB8AC3E}">
        <p14:creationId xmlns:p14="http://schemas.microsoft.com/office/powerpoint/2010/main" val="12985112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r" rtl="1">
              <a:buFont typeface="Arial" panose="020B0604020202020204" pitchFamily="34" charset="0"/>
              <a:buChar char="•"/>
            </a:pP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p:txBody>
      </p:sp>
      <p:sp>
        <p:nvSpPr>
          <p:cNvPr id="4" name="Slide Number Placeholder 3"/>
          <p:cNvSpPr>
            <a:spLocks noGrp="1"/>
          </p:cNvSpPr>
          <p:nvPr>
            <p:ph type="sldNum" sz="quarter" idx="5"/>
          </p:nvPr>
        </p:nvSpPr>
        <p:spPr/>
        <p:txBody>
          <a:bodyPr/>
          <a:lstStyle/>
          <a:p>
            <a:fld id="{B97FDBCA-D751-4A03-819B-45597328ED86}" type="slidenum">
              <a:rPr lang="en-US" smtClean="0"/>
              <a:t>32</a:t>
            </a:fld>
            <a:endParaRPr lang="en-US"/>
          </a:p>
        </p:txBody>
      </p:sp>
    </p:spTree>
    <p:extLst>
      <p:ext uri="{BB962C8B-B14F-4D97-AF65-F5344CB8AC3E}">
        <p14:creationId xmlns:p14="http://schemas.microsoft.com/office/powerpoint/2010/main" val="18324833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le Slide">
    <p:spTree>
      <p:nvGrpSpPr>
        <p:cNvPr id="1" name=""/>
        <p:cNvGrpSpPr/>
        <p:nvPr/>
      </p:nvGrpSpPr>
      <p:grpSpPr>
        <a:xfrm>
          <a:off x="0" y="0"/>
          <a:ext cx="0" cy="0"/>
          <a:chOff x="0" y="0"/>
          <a:chExt cx="0" cy="0"/>
        </a:xfrm>
      </p:grpSpPr>
      <p:pic>
        <p:nvPicPr>
          <p:cNvPr id="56" name="Picture 55" descr="A purple and white background&#10;&#10;Description automatically generated">
            <a:extLst>
              <a:ext uri="{FF2B5EF4-FFF2-40B4-BE49-F238E27FC236}">
                <a16:creationId xmlns:a16="http://schemas.microsoft.com/office/drawing/2014/main" id="{1008D6FD-44B1-6442-D7E1-6FD1426D8DD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1" name="Title 4">
            <a:extLst>
              <a:ext uri="{FF2B5EF4-FFF2-40B4-BE49-F238E27FC236}">
                <a16:creationId xmlns:a16="http://schemas.microsoft.com/office/drawing/2014/main" id="{C1AB8D8F-867E-9D96-D014-2635FC5416F7}"/>
              </a:ext>
            </a:extLst>
          </p:cNvPr>
          <p:cNvSpPr>
            <a:spLocks noGrp="1"/>
          </p:cNvSpPr>
          <p:nvPr>
            <p:ph type="title" hasCustomPrompt="1"/>
          </p:nvPr>
        </p:nvSpPr>
        <p:spPr>
          <a:xfrm>
            <a:off x="7726527" y="3749232"/>
            <a:ext cx="3855873" cy="1204833"/>
          </a:xfrm>
        </p:spPr>
        <p:txBody>
          <a:bodyPr anchor="b" anchorCtr="0"/>
          <a:lstStyle>
            <a:lvl1pPr>
              <a:lnSpc>
                <a:spcPct val="80000"/>
              </a:lnSpc>
              <a:defRPr sz="2800" baseline="0">
                <a:solidFill>
                  <a:schemeClr val="accent3"/>
                </a:solidFill>
                <a:latin typeface="Sakkal Majalla" panose="02000000000000000000" pitchFamily="2" charset="-78"/>
                <a:ea typeface="Sakkal Majalla" panose="02000000000000000000" pitchFamily="2" charset="-78"/>
                <a:cs typeface="Sakkal Majalla" panose="02000000000000000000" pitchFamily="2" charset="-78"/>
              </a:defRPr>
            </a:lvl1pPr>
          </a:lstStyle>
          <a:p>
            <a:r>
              <a:rPr lang="ar-EG" dirty="0"/>
              <a:t>استبدل هذا العنوان بعنوان المستند المراد</a:t>
            </a:r>
          </a:p>
        </p:txBody>
      </p:sp>
      <p:sp>
        <p:nvSpPr>
          <p:cNvPr id="52" name="Subtitle 2">
            <a:extLst>
              <a:ext uri="{FF2B5EF4-FFF2-40B4-BE49-F238E27FC236}">
                <a16:creationId xmlns:a16="http://schemas.microsoft.com/office/drawing/2014/main" id="{83890CF7-C10F-BB3C-914C-AF80ABF44952}"/>
              </a:ext>
            </a:extLst>
          </p:cNvPr>
          <p:cNvSpPr>
            <a:spLocks noGrp="1"/>
          </p:cNvSpPr>
          <p:nvPr>
            <p:ph type="subTitle" idx="1" hasCustomPrompt="1"/>
          </p:nvPr>
        </p:nvSpPr>
        <p:spPr>
          <a:xfrm>
            <a:off x="7726527" y="5000247"/>
            <a:ext cx="3855873" cy="369332"/>
          </a:xfrm>
        </p:spPr>
        <p:txBody>
          <a:bodyPr wrap="square">
            <a:spAutoFit/>
          </a:bodyPr>
          <a:lstStyle>
            <a:lvl1pPr algn="r">
              <a:defRPr lang="en-US" sz="1800" baseline="0">
                <a:solidFill>
                  <a:schemeClr val="bg1"/>
                </a:solidFill>
                <a:latin typeface="Sakkal Majalla" panose="02000000000000000000" pitchFamily="2" charset="-78"/>
                <a:ea typeface="Sakkal Majalla" panose="02000000000000000000" pitchFamily="2" charset="-78"/>
                <a:cs typeface="Sakkal Majalla" panose="02000000000000000000" pitchFamily="2" charset="-78"/>
              </a:defRPr>
            </a:lvl1pPr>
          </a:lstStyle>
          <a:p>
            <a:pPr lvl="0"/>
            <a:r>
              <a:rPr lang="ar-EG" dirty="0"/>
              <a:t>عنوان فرعي</a:t>
            </a:r>
          </a:p>
        </p:txBody>
      </p:sp>
    </p:spTree>
    <p:extLst>
      <p:ext uri="{BB962C8B-B14F-4D97-AF65-F5344CB8AC3E}">
        <p14:creationId xmlns:p14="http://schemas.microsoft.com/office/powerpoint/2010/main" val="826968348"/>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extLst>
    <p:ext uri="{DCECCB84-F9BA-43D5-87BE-67443E8EF086}">
      <p15:sldGuideLst xmlns:p15="http://schemas.microsoft.com/office/powerpoint/2012/main">
        <p15:guide id="1" orient="horz" pos="3288" userDrawn="1">
          <p15:clr>
            <a:srgbClr val="FBAE40"/>
          </p15:clr>
        </p15:guide>
        <p15:guide id="2" pos="3336" userDrawn="1">
          <p15:clr>
            <a:srgbClr val="FBAE40"/>
          </p15:clr>
        </p15:guide>
        <p15:guide id="3" pos="70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4/3/2026</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6" name="Text Placeholder 11"/>
          <p:cNvSpPr>
            <a:spLocks noGrp="1"/>
          </p:cNvSpPr>
          <p:nvPr>
            <p:ph type="body" sz="quarter" idx="23" hasCustomPrompt="1"/>
          </p:nvPr>
        </p:nvSpPr>
        <p:spPr>
          <a:xfrm>
            <a:off x="4664387"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17" name="Text Placeholder 11"/>
          <p:cNvSpPr>
            <a:spLocks noGrp="1"/>
          </p:cNvSpPr>
          <p:nvPr>
            <p:ph type="body" sz="quarter" idx="24" hasCustomPrompt="1"/>
          </p:nvPr>
        </p:nvSpPr>
        <p:spPr>
          <a:xfrm>
            <a:off x="4661165"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50" name="Text Placeholder 6"/>
          <p:cNvSpPr>
            <a:spLocks noGrp="1"/>
          </p:cNvSpPr>
          <p:nvPr>
            <p:ph type="body" sz="quarter" idx="57" hasCustomPrompt="1"/>
          </p:nvPr>
        </p:nvSpPr>
        <p:spPr>
          <a:xfrm>
            <a:off x="7715771"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39" name="Text Placeholder 11"/>
          <p:cNvSpPr>
            <a:spLocks noGrp="1"/>
          </p:cNvSpPr>
          <p:nvPr>
            <p:ph type="body" sz="quarter" idx="58" hasCustomPrompt="1"/>
          </p:nvPr>
        </p:nvSpPr>
        <p:spPr>
          <a:xfrm>
            <a:off x="4664387"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40" name="Text Placeholder 11"/>
          <p:cNvSpPr>
            <a:spLocks noGrp="1"/>
          </p:cNvSpPr>
          <p:nvPr>
            <p:ph type="body" sz="quarter" idx="59" hasCustomPrompt="1"/>
          </p:nvPr>
        </p:nvSpPr>
        <p:spPr>
          <a:xfrm>
            <a:off x="4661165"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1" name="Text Placeholder 6"/>
          <p:cNvSpPr>
            <a:spLocks noGrp="1"/>
          </p:cNvSpPr>
          <p:nvPr>
            <p:ph type="body" sz="quarter" idx="60" hasCustomPrompt="1"/>
          </p:nvPr>
        </p:nvSpPr>
        <p:spPr>
          <a:xfrm>
            <a:off x="7715771"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2" name="Text Placeholder 11"/>
          <p:cNvSpPr>
            <a:spLocks noGrp="1"/>
          </p:cNvSpPr>
          <p:nvPr>
            <p:ph type="body" sz="quarter" idx="61" hasCustomPrompt="1"/>
          </p:nvPr>
        </p:nvSpPr>
        <p:spPr>
          <a:xfrm>
            <a:off x="4664387"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43" name="Text Placeholder 11"/>
          <p:cNvSpPr>
            <a:spLocks noGrp="1"/>
          </p:cNvSpPr>
          <p:nvPr>
            <p:ph type="body" sz="quarter" idx="62" hasCustomPrompt="1"/>
          </p:nvPr>
        </p:nvSpPr>
        <p:spPr>
          <a:xfrm>
            <a:off x="4661165"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5" name="Text Placeholder 6"/>
          <p:cNvSpPr>
            <a:spLocks noGrp="1"/>
          </p:cNvSpPr>
          <p:nvPr>
            <p:ph type="body" sz="quarter" idx="63" hasCustomPrompt="1"/>
          </p:nvPr>
        </p:nvSpPr>
        <p:spPr>
          <a:xfrm>
            <a:off x="7715771"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6" name="Text Placeholder 11"/>
          <p:cNvSpPr>
            <a:spLocks noGrp="1"/>
          </p:cNvSpPr>
          <p:nvPr>
            <p:ph type="body" sz="quarter" idx="64" hasCustomPrompt="1"/>
          </p:nvPr>
        </p:nvSpPr>
        <p:spPr>
          <a:xfrm>
            <a:off x="4664387"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48" name="Text Placeholder 11"/>
          <p:cNvSpPr>
            <a:spLocks noGrp="1"/>
          </p:cNvSpPr>
          <p:nvPr>
            <p:ph type="body" sz="quarter" idx="65" hasCustomPrompt="1"/>
          </p:nvPr>
        </p:nvSpPr>
        <p:spPr>
          <a:xfrm>
            <a:off x="4661165"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9" name="Text Placeholder 6"/>
          <p:cNvSpPr>
            <a:spLocks noGrp="1"/>
          </p:cNvSpPr>
          <p:nvPr>
            <p:ph type="body" sz="quarter" idx="66" hasCustomPrompt="1"/>
          </p:nvPr>
        </p:nvSpPr>
        <p:spPr>
          <a:xfrm>
            <a:off x="7715771"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51" name="Text Placeholder 11"/>
          <p:cNvSpPr>
            <a:spLocks noGrp="1"/>
          </p:cNvSpPr>
          <p:nvPr>
            <p:ph type="body" sz="quarter" idx="67" hasCustomPrompt="1"/>
          </p:nvPr>
        </p:nvSpPr>
        <p:spPr>
          <a:xfrm>
            <a:off x="830980"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52" name="Text Placeholder 11"/>
          <p:cNvSpPr>
            <a:spLocks noGrp="1"/>
          </p:cNvSpPr>
          <p:nvPr>
            <p:ph type="body" sz="quarter" idx="68" hasCustomPrompt="1"/>
          </p:nvPr>
        </p:nvSpPr>
        <p:spPr>
          <a:xfrm>
            <a:off x="827758"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5" name="Text Placeholder 6"/>
          <p:cNvSpPr>
            <a:spLocks noGrp="1"/>
          </p:cNvSpPr>
          <p:nvPr>
            <p:ph type="body" sz="quarter" idx="69" hasCustomPrompt="1"/>
          </p:nvPr>
        </p:nvSpPr>
        <p:spPr>
          <a:xfrm>
            <a:off x="3882364"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6" name="Text Placeholder 11"/>
          <p:cNvSpPr>
            <a:spLocks noGrp="1"/>
          </p:cNvSpPr>
          <p:nvPr>
            <p:ph type="body" sz="quarter" idx="70" hasCustomPrompt="1"/>
          </p:nvPr>
        </p:nvSpPr>
        <p:spPr>
          <a:xfrm>
            <a:off x="830980"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7" name="Text Placeholder 11"/>
          <p:cNvSpPr>
            <a:spLocks noGrp="1"/>
          </p:cNvSpPr>
          <p:nvPr>
            <p:ph type="body" sz="quarter" idx="71" hasCustomPrompt="1"/>
          </p:nvPr>
        </p:nvSpPr>
        <p:spPr>
          <a:xfrm>
            <a:off x="827758"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8" name="Text Placeholder 6"/>
          <p:cNvSpPr>
            <a:spLocks noGrp="1"/>
          </p:cNvSpPr>
          <p:nvPr>
            <p:ph type="body" sz="quarter" idx="72" hasCustomPrompt="1"/>
          </p:nvPr>
        </p:nvSpPr>
        <p:spPr>
          <a:xfrm>
            <a:off x="3882364"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9" name="Text Placeholder 11"/>
          <p:cNvSpPr>
            <a:spLocks noGrp="1"/>
          </p:cNvSpPr>
          <p:nvPr>
            <p:ph type="body" sz="quarter" idx="73" hasCustomPrompt="1"/>
          </p:nvPr>
        </p:nvSpPr>
        <p:spPr>
          <a:xfrm>
            <a:off x="830980"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0" name="Text Placeholder 11"/>
          <p:cNvSpPr>
            <a:spLocks noGrp="1"/>
          </p:cNvSpPr>
          <p:nvPr>
            <p:ph type="body" sz="quarter" idx="74" hasCustomPrompt="1"/>
          </p:nvPr>
        </p:nvSpPr>
        <p:spPr>
          <a:xfrm>
            <a:off x="827758"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1" name="Text Placeholder 6"/>
          <p:cNvSpPr>
            <a:spLocks noGrp="1"/>
          </p:cNvSpPr>
          <p:nvPr>
            <p:ph type="body" sz="quarter" idx="75" hasCustomPrompt="1"/>
          </p:nvPr>
        </p:nvSpPr>
        <p:spPr>
          <a:xfrm>
            <a:off x="3882364"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2" name="Text Placeholder 11"/>
          <p:cNvSpPr>
            <a:spLocks noGrp="1"/>
          </p:cNvSpPr>
          <p:nvPr>
            <p:ph type="body" sz="quarter" idx="76" hasCustomPrompt="1"/>
          </p:nvPr>
        </p:nvSpPr>
        <p:spPr>
          <a:xfrm>
            <a:off x="830980"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74" name="Text Placeholder 6"/>
          <p:cNvSpPr>
            <a:spLocks noGrp="1"/>
          </p:cNvSpPr>
          <p:nvPr>
            <p:ph type="body" sz="quarter" idx="78" hasCustomPrompt="1"/>
          </p:nvPr>
        </p:nvSpPr>
        <p:spPr>
          <a:xfrm>
            <a:off x="3882364"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44" name="Text Placeholder 11"/>
          <p:cNvSpPr>
            <a:spLocks noGrp="1"/>
          </p:cNvSpPr>
          <p:nvPr>
            <p:ph type="body" sz="quarter" idx="79" hasCustomPrompt="1"/>
          </p:nvPr>
        </p:nvSpPr>
        <p:spPr>
          <a:xfrm>
            <a:off x="824657"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1" name="Text Placeholder 11"/>
          <p:cNvSpPr>
            <a:spLocks noGrp="1"/>
          </p:cNvSpPr>
          <p:nvPr>
            <p:ph type="body" sz="quarter" idx="86" hasCustomPrompt="1"/>
          </p:nvPr>
        </p:nvSpPr>
        <p:spPr>
          <a:xfrm>
            <a:off x="4664387"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2" name="Text Placeholder 11"/>
          <p:cNvSpPr>
            <a:spLocks noGrp="1"/>
          </p:cNvSpPr>
          <p:nvPr>
            <p:ph type="body" sz="quarter" idx="87" hasCustomPrompt="1"/>
          </p:nvPr>
        </p:nvSpPr>
        <p:spPr>
          <a:xfrm>
            <a:off x="4661165"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3" name="Text Placeholder 6"/>
          <p:cNvSpPr>
            <a:spLocks noGrp="1"/>
          </p:cNvSpPr>
          <p:nvPr>
            <p:ph type="body" sz="quarter" idx="88" hasCustomPrompt="1"/>
          </p:nvPr>
        </p:nvSpPr>
        <p:spPr>
          <a:xfrm>
            <a:off x="7715771"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4" name="Text Placeholder 11"/>
          <p:cNvSpPr>
            <a:spLocks noGrp="1"/>
          </p:cNvSpPr>
          <p:nvPr>
            <p:ph type="body" sz="quarter" idx="89" hasCustomPrompt="1"/>
          </p:nvPr>
        </p:nvSpPr>
        <p:spPr>
          <a:xfrm>
            <a:off x="4664387"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3" name="Text Placeholder 11"/>
          <p:cNvSpPr>
            <a:spLocks noGrp="1"/>
          </p:cNvSpPr>
          <p:nvPr>
            <p:ph type="body" sz="quarter" idx="90" hasCustomPrompt="1"/>
          </p:nvPr>
        </p:nvSpPr>
        <p:spPr>
          <a:xfrm>
            <a:off x="4661165"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5" name="Text Placeholder 6"/>
          <p:cNvSpPr>
            <a:spLocks noGrp="1"/>
          </p:cNvSpPr>
          <p:nvPr>
            <p:ph type="body" sz="quarter" idx="91" hasCustomPrompt="1"/>
          </p:nvPr>
        </p:nvSpPr>
        <p:spPr>
          <a:xfrm>
            <a:off x="7715771"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6" name="Text Placeholder 11"/>
          <p:cNvSpPr>
            <a:spLocks noGrp="1"/>
          </p:cNvSpPr>
          <p:nvPr>
            <p:ph type="body" sz="quarter" idx="92" hasCustomPrompt="1"/>
          </p:nvPr>
        </p:nvSpPr>
        <p:spPr>
          <a:xfrm>
            <a:off x="4664387"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7" name="Text Placeholder 11"/>
          <p:cNvSpPr>
            <a:spLocks noGrp="1"/>
          </p:cNvSpPr>
          <p:nvPr>
            <p:ph type="body" sz="quarter" idx="93" hasCustomPrompt="1"/>
          </p:nvPr>
        </p:nvSpPr>
        <p:spPr>
          <a:xfrm>
            <a:off x="4661165"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8" name="Text Placeholder 6"/>
          <p:cNvSpPr>
            <a:spLocks noGrp="1"/>
          </p:cNvSpPr>
          <p:nvPr>
            <p:ph type="body" sz="quarter" idx="94" hasCustomPrompt="1"/>
          </p:nvPr>
        </p:nvSpPr>
        <p:spPr>
          <a:xfrm>
            <a:off x="7715771"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9" name="Text Placeholder 11"/>
          <p:cNvSpPr>
            <a:spLocks noGrp="1"/>
          </p:cNvSpPr>
          <p:nvPr>
            <p:ph type="body" sz="quarter" idx="95" hasCustomPrompt="1"/>
          </p:nvPr>
        </p:nvSpPr>
        <p:spPr>
          <a:xfrm>
            <a:off x="830980"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80" name="Text Placeholder 11"/>
          <p:cNvSpPr>
            <a:spLocks noGrp="1"/>
          </p:cNvSpPr>
          <p:nvPr>
            <p:ph type="body" sz="quarter" idx="96" hasCustomPrompt="1"/>
          </p:nvPr>
        </p:nvSpPr>
        <p:spPr>
          <a:xfrm>
            <a:off x="827758"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1" name="Text Placeholder 6"/>
          <p:cNvSpPr>
            <a:spLocks noGrp="1"/>
          </p:cNvSpPr>
          <p:nvPr>
            <p:ph type="body" sz="quarter" idx="97" hasCustomPrompt="1"/>
          </p:nvPr>
        </p:nvSpPr>
        <p:spPr>
          <a:xfrm>
            <a:off x="3882364"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2" name="Text Placeholder 11"/>
          <p:cNvSpPr>
            <a:spLocks noGrp="1"/>
          </p:cNvSpPr>
          <p:nvPr>
            <p:ph type="body" sz="quarter" idx="98" hasCustomPrompt="1"/>
          </p:nvPr>
        </p:nvSpPr>
        <p:spPr>
          <a:xfrm>
            <a:off x="830980"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3" name="Text Placeholder 11"/>
          <p:cNvSpPr>
            <a:spLocks noGrp="1"/>
          </p:cNvSpPr>
          <p:nvPr>
            <p:ph type="body" sz="quarter" idx="99" hasCustomPrompt="1"/>
          </p:nvPr>
        </p:nvSpPr>
        <p:spPr>
          <a:xfrm>
            <a:off x="827758"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4" name="Text Placeholder 6"/>
          <p:cNvSpPr>
            <a:spLocks noGrp="1"/>
          </p:cNvSpPr>
          <p:nvPr>
            <p:ph type="body" sz="quarter" idx="100" hasCustomPrompt="1"/>
          </p:nvPr>
        </p:nvSpPr>
        <p:spPr>
          <a:xfrm>
            <a:off x="3882364"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5" name="Text Placeholder 11"/>
          <p:cNvSpPr>
            <a:spLocks noGrp="1"/>
          </p:cNvSpPr>
          <p:nvPr>
            <p:ph type="body" sz="quarter" idx="101" hasCustomPrompt="1"/>
          </p:nvPr>
        </p:nvSpPr>
        <p:spPr>
          <a:xfrm>
            <a:off x="830980"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6" name="Text Placeholder 11"/>
          <p:cNvSpPr>
            <a:spLocks noGrp="1"/>
          </p:cNvSpPr>
          <p:nvPr>
            <p:ph type="body" sz="quarter" idx="102" hasCustomPrompt="1"/>
          </p:nvPr>
        </p:nvSpPr>
        <p:spPr>
          <a:xfrm>
            <a:off x="827758"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p:txBody>
      </p:sp>
      <p:sp>
        <p:nvSpPr>
          <p:cNvPr id="87" name="Text Placeholder 6"/>
          <p:cNvSpPr>
            <a:spLocks noGrp="1"/>
          </p:cNvSpPr>
          <p:nvPr>
            <p:ph type="body" sz="quarter" idx="103" hasCustomPrompt="1"/>
          </p:nvPr>
        </p:nvSpPr>
        <p:spPr>
          <a:xfrm>
            <a:off x="3882364"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418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bi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56EA63-0ACA-2641-5B9B-A593E15C93E8}"/>
              </a:ext>
            </a:extLst>
          </p:cNvPr>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79"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4/3/2026</a:t>
            </a:fld>
            <a:endParaRPr lang="en-US"/>
          </a:p>
        </p:txBody>
      </p:sp>
      <p:sp>
        <p:nvSpPr>
          <p:cNvPr id="180"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81" name="Slide Number Placeholder 4"/>
          <p:cNvSpPr>
            <a:spLocks noGrp="1"/>
          </p:cNvSpPr>
          <p:nvPr>
            <p:ph type="sldNum" sz="quarter" idx="12"/>
          </p:nvPr>
        </p:nvSpPr>
        <p:spPr>
          <a:xfrm>
            <a:off x="621452" y="6335328"/>
            <a:ext cx="439703" cy="320040"/>
          </a:xfrm>
        </p:spPr>
        <p:txBody>
          <a:bodyPr/>
          <a:lstStyle>
            <a:lvl1pPr algn="l" rtl="1">
              <a:defRPr sz="1200">
                <a:solidFill>
                  <a:schemeClr val="accent1"/>
                </a:solidFill>
              </a:defRPr>
            </a:lvl1pPr>
          </a:lstStyle>
          <a:p>
            <a:fld id="{46ED658E-7B78-4C3F-B2D4-66856F143B40}" type="slidenum">
              <a:rPr lang="en-US" smtClean="0"/>
              <a:pPr/>
              <a:t>‹#›</a:t>
            </a:fld>
            <a:endParaRPr lang="en-US" dirty="0"/>
          </a:p>
        </p:txBody>
      </p:sp>
      <p:sp>
        <p:nvSpPr>
          <p:cNvPr id="182" name="Title 1"/>
          <p:cNvSpPr>
            <a:spLocks noGrp="1"/>
          </p:cNvSpPr>
          <p:nvPr>
            <p:ph type="title" hasCustomPrompt="1"/>
          </p:nvPr>
        </p:nvSpPr>
        <p:spPr>
          <a:xfrm>
            <a:off x="9207769" y="3185566"/>
            <a:ext cx="2779783" cy="486869"/>
          </a:xfrm>
        </p:spPr>
        <p:txBody>
          <a:bodyPr>
            <a:noAutofit/>
          </a:bodyPr>
          <a:lstStyle>
            <a:lvl1pPr algn="ctr">
              <a:defRPr sz="3600" spc="200" baseline="0">
                <a:solidFill>
                  <a:schemeClr val="bg1"/>
                </a:solidFill>
              </a:defRPr>
            </a:lvl1pPr>
          </a:lstStyle>
          <a:p>
            <a:r>
              <a:rPr lang="ar-EG" dirty="0"/>
              <a:t>جدول المحتويات</a:t>
            </a:r>
            <a:endParaRPr lang="en-US" dirty="0"/>
          </a:p>
        </p:txBody>
      </p:sp>
      <p:sp>
        <p:nvSpPr>
          <p:cNvPr id="183" name="Text Placeholder 11"/>
          <p:cNvSpPr>
            <a:spLocks noGrp="1"/>
          </p:cNvSpPr>
          <p:nvPr>
            <p:ph type="body" sz="quarter" idx="20" hasCustomPrompt="1"/>
          </p:nvPr>
        </p:nvSpPr>
        <p:spPr>
          <a:xfrm>
            <a:off x="1307048"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4" name="Text Placeholder 11"/>
          <p:cNvSpPr>
            <a:spLocks noGrp="1"/>
          </p:cNvSpPr>
          <p:nvPr>
            <p:ph type="body" sz="quarter" idx="23" hasCustomPrompt="1"/>
          </p:nvPr>
        </p:nvSpPr>
        <p:spPr>
          <a:xfrm>
            <a:off x="4980125"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5" name="Text Placeholder 11"/>
          <p:cNvSpPr>
            <a:spLocks noGrp="1"/>
          </p:cNvSpPr>
          <p:nvPr>
            <p:ph type="body" sz="quarter" idx="32" hasCustomPrompt="1"/>
          </p:nvPr>
        </p:nvSpPr>
        <p:spPr>
          <a:xfrm>
            <a:off x="1307048"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6" name="Text Placeholder 11"/>
          <p:cNvSpPr>
            <a:spLocks noGrp="1"/>
          </p:cNvSpPr>
          <p:nvPr>
            <p:ph type="body" sz="quarter" idx="35" hasCustomPrompt="1"/>
          </p:nvPr>
        </p:nvSpPr>
        <p:spPr>
          <a:xfrm>
            <a:off x="4980125"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7" name="Text Placeholder 11"/>
          <p:cNvSpPr>
            <a:spLocks noGrp="1"/>
          </p:cNvSpPr>
          <p:nvPr>
            <p:ph type="body" sz="quarter" idx="44" hasCustomPrompt="1"/>
          </p:nvPr>
        </p:nvSpPr>
        <p:spPr>
          <a:xfrm>
            <a:off x="1307048"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8" name="Text Placeholder 11"/>
          <p:cNvSpPr>
            <a:spLocks noGrp="1"/>
          </p:cNvSpPr>
          <p:nvPr>
            <p:ph type="body" sz="quarter" idx="47" hasCustomPrompt="1"/>
          </p:nvPr>
        </p:nvSpPr>
        <p:spPr>
          <a:xfrm>
            <a:off x="4980125"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9" name="Text Placeholder 6"/>
          <p:cNvSpPr>
            <a:spLocks noGrp="1"/>
          </p:cNvSpPr>
          <p:nvPr>
            <p:ph type="body" sz="quarter" idx="54" hasCustomPrompt="1"/>
          </p:nvPr>
        </p:nvSpPr>
        <p:spPr>
          <a:xfrm>
            <a:off x="4038533"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0" name="Text Placeholder 6"/>
          <p:cNvSpPr>
            <a:spLocks noGrp="1"/>
          </p:cNvSpPr>
          <p:nvPr>
            <p:ph type="body" sz="quarter" idx="55" hasCustomPrompt="1"/>
          </p:nvPr>
        </p:nvSpPr>
        <p:spPr>
          <a:xfrm>
            <a:off x="4038533"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1" name="Text Placeholder 6"/>
          <p:cNvSpPr>
            <a:spLocks noGrp="1"/>
          </p:cNvSpPr>
          <p:nvPr>
            <p:ph type="body" sz="quarter" idx="56" hasCustomPrompt="1"/>
          </p:nvPr>
        </p:nvSpPr>
        <p:spPr>
          <a:xfrm>
            <a:off x="4038533"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2" name="Text Placeholder 6"/>
          <p:cNvSpPr>
            <a:spLocks noGrp="1"/>
          </p:cNvSpPr>
          <p:nvPr>
            <p:ph type="body" sz="quarter" idx="57" hasCustomPrompt="1"/>
          </p:nvPr>
        </p:nvSpPr>
        <p:spPr>
          <a:xfrm>
            <a:off x="7715771"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3" name="Text Placeholder 6"/>
          <p:cNvSpPr>
            <a:spLocks noGrp="1"/>
          </p:cNvSpPr>
          <p:nvPr>
            <p:ph type="body" sz="quarter" idx="58" hasCustomPrompt="1"/>
          </p:nvPr>
        </p:nvSpPr>
        <p:spPr>
          <a:xfrm>
            <a:off x="7715771"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4" name="Text Placeholder 6"/>
          <p:cNvSpPr>
            <a:spLocks noGrp="1"/>
          </p:cNvSpPr>
          <p:nvPr>
            <p:ph type="body" sz="quarter" idx="59" hasCustomPrompt="1"/>
          </p:nvPr>
        </p:nvSpPr>
        <p:spPr>
          <a:xfrm>
            <a:off x="7715771"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5" name="Text Placeholder 11"/>
          <p:cNvSpPr>
            <a:spLocks noGrp="1"/>
          </p:cNvSpPr>
          <p:nvPr>
            <p:ph type="body" sz="quarter" idx="60" hasCustomPrompt="1"/>
          </p:nvPr>
        </p:nvSpPr>
        <p:spPr>
          <a:xfrm>
            <a:off x="1307048"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6" name="Text Placeholder 11"/>
          <p:cNvSpPr>
            <a:spLocks noGrp="1"/>
          </p:cNvSpPr>
          <p:nvPr>
            <p:ph type="body" sz="quarter" idx="61" hasCustomPrompt="1"/>
          </p:nvPr>
        </p:nvSpPr>
        <p:spPr>
          <a:xfrm>
            <a:off x="4980125"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7" name="Text Placeholder 11"/>
          <p:cNvSpPr>
            <a:spLocks noGrp="1"/>
          </p:cNvSpPr>
          <p:nvPr>
            <p:ph type="body" sz="quarter" idx="62" hasCustomPrompt="1"/>
          </p:nvPr>
        </p:nvSpPr>
        <p:spPr>
          <a:xfrm>
            <a:off x="1307048"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8" name="Text Placeholder 11"/>
          <p:cNvSpPr>
            <a:spLocks noGrp="1"/>
          </p:cNvSpPr>
          <p:nvPr>
            <p:ph type="body" sz="quarter" idx="63" hasCustomPrompt="1"/>
          </p:nvPr>
        </p:nvSpPr>
        <p:spPr>
          <a:xfrm>
            <a:off x="4980125"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9" name="Text Placeholder 11"/>
          <p:cNvSpPr>
            <a:spLocks noGrp="1"/>
          </p:cNvSpPr>
          <p:nvPr>
            <p:ph type="body" sz="quarter" idx="64" hasCustomPrompt="1"/>
          </p:nvPr>
        </p:nvSpPr>
        <p:spPr>
          <a:xfrm>
            <a:off x="1307048"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0" name="Text Placeholder 11"/>
          <p:cNvSpPr>
            <a:spLocks noGrp="1"/>
          </p:cNvSpPr>
          <p:nvPr>
            <p:ph type="body" sz="quarter" idx="65" hasCustomPrompt="1"/>
          </p:nvPr>
        </p:nvSpPr>
        <p:spPr>
          <a:xfrm>
            <a:off x="4980125"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1" name="Text Placeholder 6"/>
          <p:cNvSpPr>
            <a:spLocks noGrp="1"/>
          </p:cNvSpPr>
          <p:nvPr>
            <p:ph type="body" sz="quarter" idx="66" hasCustomPrompt="1"/>
          </p:nvPr>
        </p:nvSpPr>
        <p:spPr>
          <a:xfrm>
            <a:off x="4038533"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2" name="Text Placeholder 6"/>
          <p:cNvSpPr>
            <a:spLocks noGrp="1"/>
          </p:cNvSpPr>
          <p:nvPr>
            <p:ph type="body" sz="quarter" idx="67" hasCustomPrompt="1"/>
          </p:nvPr>
        </p:nvSpPr>
        <p:spPr>
          <a:xfrm>
            <a:off x="4038533"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3" name="Text Placeholder 6"/>
          <p:cNvSpPr>
            <a:spLocks noGrp="1"/>
          </p:cNvSpPr>
          <p:nvPr>
            <p:ph type="body" sz="quarter" idx="68" hasCustomPrompt="1"/>
          </p:nvPr>
        </p:nvSpPr>
        <p:spPr>
          <a:xfrm>
            <a:off x="4038533"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4" name="Text Placeholder 6"/>
          <p:cNvSpPr>
            <a:spLocks noGrp="1"/>
          </p:cNvSpPr>
          <p:nvPr>
            <p:ph type="body" sz="quarter" idx="69" hasCustomPrompt="1"/>
          </p:nvPr>
        </p:nvSpPr>
        <p:spPr>
          <a:xfrm>
            <a:off x="7715771"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5" name="Text Placeholder 6"/>
          <p:cNvSpPr>
            <a:spLocks noGrp="1"/>
          </p:cNvSpPr>
          <p:nvPr>
            <p:ph type="body" sz="quarter" idx="70" hasCustomPrompt="1"/>
          </p:nvPr>
        </p:nvSpPr>
        <p:spPr>
          <a:xfrm>
            <a:off x="7715771"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6" name="Text Placeholder 6"/>
          <p:cNvSpPr>
            <a:spLocks noGrp="1"/>
          </p:cNvSpPr>
          <p:nvPr>
            <p:ph type="body" sz="quarter" idx="71" hasCustomPrompt="1"/>
          </p:nvPr>
        </p:nvSpPr>
        <p:spPr>
          <a:xfrm>
            <a:off x="7715771"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pic>
        <p:nvPicPr>
          <p:cNvPr id="3" name="Picture 2">
            <a:extLst>
              <a:ext uri="{FF2B5EF4-FFF2-40B4-BE49-F238E27FC236}">
                <a16:creationId xmlns:a16="http://schemas.microsoft.com/office/drawing/2014/main" id="{BDE1AC8B-C2AF-7EC8-8BD1-AD35C320C96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703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p:spTree>
      <p:nvGrpSpPr>
        <p:cNvPr id="1" name=""/>
        <p:cNvGrpSpPr/>
        <p:nvPr/>
      </p:nvGrpSpPr>
      <p:grpSpPr>
        <a:xfrm>
          <a:off x="0" y="0"/>
          <a:ext cx="0" cy="0"/>
          <a:chOff x="0" y="0"/>
          <a:chExt cx="0" cy="0"/>
        </a:xfrm>
      </p:grpSpPr>
      <p:sp>
        <p:nvSpPr>
          <p:cNvPr id="6" name="Rectangle 5"/>
          <p:cNvSpPr/>
          <p:nvPr userDrawn="1"/>
        </p:nvSpPr>
        <p:spPr>
          <a:xfrm>
            <a:off x="8153400" y="1352939"/>
            <a:ext cx="4038600" cy="5505061"/>
          </a:xfrm>
          <a:prstGeom prst="rect">
            <a:avLst/>
          </a:prstGeom>
          <a:gradFill>
            <a:gsLst>
              <a:gs pos="100000">
                <a:schemeClr val="accent1"/>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7" name="Rectangle 6"/>
          <p:cNvSpPr/>
          <p:nvPr userDrawn="1"/>
        </p:nvSpPr>
        <p:spPr>
          <a:xfrm>
            <a:off x="8153400" y="-373"/>
            <a:ext cx="4038600" cy="6217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8153400" y="621419"/>
            <a:ext cx="403860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p:cNvSpPr>
            <a:spLocks noGrp="1"/>
          </p:cNvSpPr>
          <p:nvPr>
            <p:ph type="title" hasCustomPrompt="1"/>
          </p:nvPr>
        </p:nvSpPr>
        <p:spPr>
          <a:xfrm>
            <a:off x="8308759" y="621420"/>
            <a:ext cx="3727882" cy="731519"/>
          </a:xfrm>
        </p:spPr>
        <p:txBody>
          <a:bodyPr anchor="ctr" anchorCtr="0"/>
          <a:lstStyle>
            <a:lvl1pPr algn="ctr">
              <a:defRPr sz="4000">
                <a:solidFill>
                  <a:schemeClr val="accent1"/>
                </a:solidFill>
              </a:defRPr>
            </a:lvl1pPr>
          </a:lstStyle>
          <a:p>
            <a:r>
              <a:rPr lang="ar-EG" dirty="0"/>
              <a:t>جدول المحتويات</a:t>
            </a:r>
            <a:endParaRPr lang="en-US" dirty="0"/>
          </a:p>
        </p:txBody>
      </p:sp>
      <p:sp>
        <p:nvSpPr>
          <p:cNvPr id="28" name="Text Placeholder 27"/>
          <p:cNvSpPr>
            <a:spLocks noGrp="1"/>
          </p:cNvSpPr>
          <p:nvPr>
            <p:ph type="body" sz="quarter" idx="13"/>
          </p:nvPr>
        </p:nvSpPr>
        <p:spPr>
          <a:xfrm>
            <a:off x="3196257" y="160496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3" name="Text Placeholder 27"/>
          <p:cNvSpPr>
            <a:spLocks noGrp="1"/>
          </p:cNvSpPr>
          <p:nvPr>
            <p:ph type="body" sz="quarter" idx="14"/>
          </p:nvPr>
        </p:nvSpPr>
        <p:spPr>
          <a:xfrm>
            <a:off x="3196257" y="2010050"/>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6" name="Text Placeholder 27"/>
          <p:cNvSpPr>
            <a:spLocks noGrp="1"/>
          </p:cNvSpPr>
          <p:nvPr>
            <p:ph type="body" sz="quarter" idx="15"/>
          </p:nvPr>
        </p:nvSpPr>
        <p:spPr>
          <a:xfrm>
            <a:off x="3196257" y="2415137"/>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9" name="Text Placeholder 27"/>
          <p:cNvSpPr>
            <a:spLocks noGrp="1"/>
          </p:cNvSpPr>
          <p:nvPr>
            <p:ph type="body" sz="quarter" idx="16"/>
          </p:nvPr>
        </p:nvSpPr>
        <p:spPr>
          <a:xfrm>
            <a:off x="3196257" y="2820224"/>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2" name="Text Placeholder 27"/>
          <p:cNvSpPr>
            <a:spLocks noGrp="1"/>
          </p:cNvSpPr>
          <p:nvPr>
            <p:ph type="body" sz="quarter" idx="17"/>
          </p:nvPr>
        </p:nvSpPr>
        <p:spPr>
          <a:xfrm>
            <a:off x="3196257" y="3225311"/>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5" name="Text Placeholder 27"/>
          <p:cNvSpPr>
            <a:spLocks noGrp="1"/>
          </p:cNvSpPr>
          <p:nvPr>
            <p:ph type="body" sz="quarter" idx="18"/>
          </p:nvPr>
        </p:nvSpPr>
        <p:spPr>
          <a:xfrm>
            <a:off x="3196257" y="363039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8" name="Text Placeholder 27"/>
          <p:cNvSpPr>
            <a:spLocks noGrp="1"/>
          </p:cNvSpPr>
          <p:nvPr>
            <p:ph type="body" sz="quarter" idx="19"/>
          </p:nvPr>
        </p:nvSpPr>
        <p:spPr>
          <a:xfrm>
            <a:off x="3196257" y="4035485"/>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1" name="Text Placeholder 27"/>
          <p:cNvSpPr>
            <a:spLocks noGrp="1"/>
          </p:cNvSpPr>
          <p:nvPr>
            <p:ph type="body" sz="quarter" idx="20"/>
          </p:nvPr>
        </p:nvSpPr>
        <p:spPr>
          <a:xfrm>
            <a:off x="3196257" y="4440572"/>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4" name="Text Placeholder 27"/>
          <p:cNvSpPr>
            <a:spLocks noGrp="1"/>
          </p:cNvSpPr>
          <p:nvPr>
            <p:ph type="body" sz="quarter" idx="21"/>
          </p:nvPr>
        </p:nvSpPr>
        <p:spPr>
          <a:xfrm>
            <a:off x="3196257" y="4845659"/>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7" name="Text Placeholder 27"/>
          <p:cNvSpPr>
            <a:spLocks noGrp="1"/>
          </p:cNvSpPr>
          <p:nvPr>
            <p:ph type="body" sz="quarter" idx="22"/>
          </p:nvPr>
        </p:nvSpPr>
        <p:spPr>
          <a:xfrm>
            <a:off x="3196257" y="5250746"/>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0" name="Text Placeholder 27"/>
          <p:cNvSpPr>
            <a:spLocks noGrp="1"/>
          </p:cNvSpPr>
          <p:nvPr>
            <p:ph type="body" sz="quarter" idx="23"/>
          </p:nvPr>
        </p:nvSpPr>
        <p:spPr>
          <a:xfrm>
            <a:off x="3196257" y="565583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3" name="Text Placeholder 27"/>
          <p:cNvSpPr>
            <a:spLocks noGrp="1"/>
          </p:cNvSpPr>
          <p:nvPr>
            <p:ph type="body" sz="quarter" idx="24"/>
          </p:nvPr>
        </p:nvSpPr>
        <p:spPr>
          <a:xfrm>
            <a:off x="3196257" y="606091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2" name="TextBox 81"/>
          <p:cNvSpPr txBox="1"/>
          <p:nvPr userDrawn="1"/>
        </p:nvSpPr>
        <p:spPr>
          <a:xfrm>
            <a:off x="2214857" y="2716272"/>
            <a:ext cx="1344317" cy="338554"/>
          </a:xfrm>
          <a:prstGeom prst="rect">
            <a:avLst/>
          </a:prstGeom>
          <a:noFill/>
        </p:spPr>
        <p:txBody>
          <a:bodyPr wrap="square" rtlCol="0" anchor="ctr">
            <a:spAutoFit/>
          </a:bodyPr>
          <a:lstStyle/>
          <a:p>
            <a:pPr algn="r" fontAlgn="base"/>
            <a:r>
              <a:rPr lang="en-US" sz="1600" b="1" dirty="0">
                <a:solidFill>
                  <a:schemeClr val="bg1"/>
                </a:solidFill>
                <a:latin typeface="+mj-lt"/>
                <a:ea typeface="Open Sans" panose="020B0606030504020204" pitchFamily="34" charset="0"/>
                <a:cs typeface="Open Sans" panose="020B0606030504020204" pitchFamily="34" charset="0"/>
              </a:rPr>
              <a:t>01</a:t>
            </a:r>
          </a:p>
        </p:txBody>
      </p:sp>
      <p:sp>
        <p:nvSpPr>
          <p:cNvPr id="23"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3" name="Picture 2">
            <a:extLst>
              <a:ext uri="{FF2B5EF4-FFF2-40B4-BE49-F238E27FC236}">
                <a16:creationId xmlns:a16="http://schemas.microsoft.com/office/drawing/2014/main" id="{B100176E-CEC2-70DC-C086-2D881B34126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5434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xEl>
                                              <p:pRg st="0" end="0"/>
                                            </p:txEl>
                                          </p:spTgt>
                                        </p:tgtEl>
                                        <p:attrNameLst>
                                          <p:attrName>style.visibility</p:attrName>
                                        </p:attrNameLst>
                                      </p:cBhvr>
                                      <p:to>
                                        <p:strVal val="visible"/>
                                      </p:to>
                                    </p:set>
                                    <p:animEffect transition="in" filter="fade">
                                      <p:cBhvr>
                                        <p:cTn id="10" dur="500"/>
                                        <p:tgtEl>
                                          <p:spTgt spid="6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6">
                                            <p:txEl>
                                              <p:pRg st="0" end="0"/>
                                            </p:txEl>
                                          </p:spTgt>
                                        </p:tgtEl>
                                        <p:attrNameLst>
                                          <p:attrName>style.visibility</p:attrName>
                                        </p:attrNameLst>
                                      </p:cBhvr>
                                      <p:to>
                                        <p:strVal val="visible"/>
                                      </p:to>
                                    </p:set>
                                    <p:animEffect transition="in" filter="fade">
                                      <p:cBhvr>
                                        <p:cTn id="13" dur="500"/>
                                        <p:tgtEl>
                                          <p:spTgt spid="66">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9">
                                            <p:txEl>
                                              <p:pRg st="0" end="0"/>
                                            </p:txEl>
                                          </p:spTgt>
                                        </p:tgtEl>
                                        <p:attrNameLst>
                                          <p:attrName>style.visibility</p:attrName>
                                        </p:attrNameLst>
                                      </p:cBhvr>
                                      <p:to>
                                        <p:strVal val="visible"/>
                                      </p:to>
                                    </p:set>
                                    <p:animEffect transition="in" filter="fade">
                                      <p:cBhvr>
                                        <p:cTn id="16" dur="500"/>
                                        <p:tgtEl>
                                          <p:spTgt spid="6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2">
                                            <p:txEl>
                                              <p:pRg st="0" end="0"/>
                                            </p:txEl>
                                          </p:spTgt>
                                        </p:tgtEl>
                                        <p:attrNameLst>
                                          <p:attrName>style.visibility</p:attrName>
                                        </p:attrNameLst>
                                      </p:cBhvr>
                                      <p:to>
                                        <p:strVal val="visible"/>
                                      </p:to>
                                    </p:set>
                                    <p:animEffect transition="in" filter="fade">
                                      <p:cBhvr>
                                        <p:cTn id="19" dur="500"/>
                                        <p:tgtEl>
                                          <p:spTgt spid="72">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5">
                                            <p:txEl>
                                              <p:pRg st="0" end="0"/>
                                            </p:txEl>
                                          </p:spTgt>
                                        </p:tgtEl>
                                        <p:attrNameLst>
                                          <p:attrName>style.visibility</p:attrName>
                                        </p:attrNameLst>
                                      </p:cBhvr>
                                      <p:to>
                                        <p:strVal val="visible"/>
                                      </p:to>
                                    </p:set>
                                    <p:animEffect transition="in" filter="fade">
                                      <p:cBhvr>
                                        <p:cTn id="22" dur="500"/>
                                        <p:tgtEl>
                                          <p:spTgt spid="7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8">
                                            <p:txEl>
                                              <p:pRg st="0" end="0"/>
                                            </p:txEl>
                                          </p:spTgt>
                                        </p:tgtEl>
                                        <p:attrNameLst>
                                          <p:attrName>style.visibility</p:attrName>
                                        </p:attrNameLst>
                                      </p:cBhvr>
                                      <p:to>
                                        <p:strVal val="visible"/>
                                      </p:to>
                                    </p:set>
                                    <p:animEffect transition="in" filter="fade">
                                      <p:cBhvr>
                                        <p:cTn id="25" dur="500"/>
                                        <p:tgtEl>
                                          <p:spTgt spid="7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1">
                                            <p:txEl>
                                              <p:pRg st="0" end="0"/>
                                            </p:txEl>
                                          </p:spTgt>
                                        </p:tgtEl>
                                        <p:attrNameLst>
                                          <p:attrName>style.visibility</p:attrName>
                                        </p:attrNameLst>
                                      </p:cBhvr>
                                      <p:to>
                                        <p:strVal val="visible"/>
                                      </p:to>
                                    </p:set>
                                    <p:animEffect transition="in" filter="fade">
                                      <p:cBhvr>
                                        <p:cTn id="28" dur="500"/>
                                        <p:tgtEl>
                                          <p:spTgt spid="81">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4">
                                            <p:txEl>
                                              <p:pRg st="0" end="0"/>
                                            </p:txEl>
                                          </p:spTgt>
                                        </p:tgtEl>
                                        <p:attrNameLst>
                                          <p:attrName>style.visibility</p:attrName>
                                        </p:attrNameLst>
                                      </p:cBhvr>
                                      <p:to>
                                        <p:strVal val="visible"/>
                                      </p:to>
                                    </p:set>
                                    <p:animEffect transition="in" filter="fade">
                                      <p:cBhvr>
                                        <p:cTn id="31" dur="500"/>
                                        <p:tgtEl>
                                          <p:spTgt spid="84">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
                                            <p:txEl>
                                              <p:pRg st="0" end="0"/>
                                            </p:txEl>
                                          </p:spTgt>
                                        </p:tgtEl>
                                        <p:attrNameLst>
                                          <p:attrName>style.visibility</p:attrName>
                                        </p:attrNameLst>
                                      </p:cBhvr>
                                      <p:to>
                                        <p:strVal val="visible"/>
                                      </p:to>
                                    </p:set>
                                    <p:animEffect transition="in" filter="fade">
                                      <p:cBhvr>
                                        <p:cTn id="34" dur="500"/>
                                        <p:tgtEl>
                                          <p:spTgt spid="87">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0">
                                            <p:txEl>
                                              <p:pRg st="0" end="0"/>
                                            </p:txEl>
                                          </p:spTgt>
                                        </p:tgtEl>
                                        <p:attrNameLst>
                                          <p:attrName>style.visibility</p:attrName>
                                        </p:attrNameLst>
                                      </p:cBhvr>
                                      <p:to>
                                        <p:strVal val="visible"/>
                                      </p:to>
                                    </p:set>
                                    <p:animEffect transition="in" filter="fade">
                                      <p:cBhvr>
                                        <p:cTn id="37" dur="500"/>
                                        <p:tgtEl>
                                          <p:spTgt spid="90">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xEl>
                                              <p:pRg st="0" end="0"/>
                                            </p:txEl>
                                          </p:spTgt>
                                        </p:tgtEl>
                                        <p:attrNameLst>
                                          <p:attrName>style.visibility</p:attrName>
                                        </p:attrNameLst>
                                      </p:cBhvr>
                                      <p:to>
                                        <p:strVal val="visible"/>
                                      </p:to>
                                    </p:set>
                                    <p:animEffect transition="in" filter="fade">
                                      <p:cBhvr>
                                        <p:cTn id="40" dur="500"/>
                                        <p:tgtEl>
                                          <p:spTgt spid="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tmplLst>
          <p:tmpl lvl="1">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3" grpId="0" build="allAtOnce">
        <p:tmplLst>
          <p:tmpl lvl="1">
            <p:tnLst>
              <p:par>
                <p:cTn presetID="10"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fade">
                      <p:cBhvr>
                        <p:cTn dur="500"/>
                        <p:tgtEl>
                          <p:spTgt spid="63"/>
                        </p:tgtEl>
                      </p:cBhvr>
                    </p:animEffect>
                  </p:childTnLst>
                </p:cTn>
              </p:par>
            </p:tnLst>
          </p:tmpl>
        </p:tmplLst>
      </p:bldP>
      <p:bldP spid="66" grpId="0" build="allAtOnce">
        <p:tmplLst>
          <p:tmpl lvl="1">
            <p:tnLst>
              <p:par>
                <p:cTn presetID="10"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fade">
                      <p:cBhvr>
                        <p:cTn dur="500"/>
                        <p:tgtEl>
                          <p:spTgt spid="66"/>
                        </p:tgtEl>
                      </p:cBhvr>
                    </p:animEffect>
                  </p:childTnLst>
                </p:cTn>
              </p:par>
            </p:tnLst>
          </p:tmpl>
        </p:tmplLst>
      </p:bldP>
      <p:bldP spid="69" grpId="0" build="allAtOnce">
        <p:tmplLst>
          <p:tmpl lvl="1">
            <p:tnLst>
              <p:par>
                <p:cTn presetID="10" presetClass="entr" presetSubtype="0" fill="hold" nodeType="with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fade">
                      <p:cBhvr>
                        <p:cTn dur="500"/>
                        <p:tgtEl>
                          <p:spTgt spid="69"/>
                        </p:tgtEl>
                      </p:cBhvr>
                    </p:animEffect>
                  </p:childTnLst>
                </p:cTn>
              </p:par>
            </p:tnLst>
          </p:tmpl>
        </p:tmplLst>
      </p:bldP>
      <p:bldP spid="72" grpId="0" build="allAtOnce">
        <p:tmplLst>
          <p:tmpl lvl="1">
            <p:tnLst>
              <p:par>
                <p:cTn presetID="10"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fade">
                      <p:cBhvr>
                        <p:cTn dur="500"/>
                        <p:tgtEl>
                          <p:spTgt spid="72"/>
                        </p:tgtEl>
                      </p:cBhvr>
                    </p:animEffect>
                  </p:childTnLst>
                </p:cTn>
              </p:par>
            </p:tnLst>
          </p:tmpl>
        </p:tmplLst>
      </p:bldP>
      <p:bldP spid="75" grpId="0" build="allAtOnce">
        <p:tmplLst>
          <p:tmpl lvl="1">
            <p:tnLst>
              <p:par>
                <p:cTn presetID="10"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fade">
                      <p:cBhvr>
                        <p:cTn dur="500"/>
                        <p:tgtEl>
                          <p:spTgt spid="75"/>
                        </p:tgtEl>
                      </p:cBhvr>
                    </p:animEffect>
                  </p:childTnLst>
                </p:cTn>
              </p:par>
            </p:tnLst>
          </p:tmpl>
        </p:tmplLst>
      </p:bldP>
      <p:bldP spid="78" grpId="0" build="allAtOnce">
        <p:tmplLst>
          <p:tmpl lvl="1">
            <p:tnLst>
              <p:par>
                <p:cTn presetID="10" presetClass="entr" presetSubtype="0" fill="hold" nodeType="with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fade">
                      <p:cBhvr>
                        <p:cTn dur="500"/>
                        <p:tgtEl>
                          <p:spTgt spid="78"/>
                        </p:tgtEl>
                      </p:cBhvr>
                    </p:animEffect>
                  </p:childTnLst>
                </p:cTn>
              </p:par>
            </p:tnLst>
          </p:tmpl>
        </p:tmplLst>
      </p:bldP>
      <p:bldP spid="81" grpId="0" build="allAtOnce">
        <p:tmplLst>
          <p:tmpl lvl="1">
            <p:tnLst>
              <p:par>
                <p:cTn presetID="10"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fade">
                      <p:cBhvr>
                        <p:cTn dur="500"/>
                        <p:tgtEl>
                          <p:spTgt spid="81"/>
                        </p:tgtEl>
                      </p:cBhvr>
                    </p:animEffect>
                  </p:childTnLst>
                </p:cTn>
              </p:par>
            </p:tnLst>
          </p:tmpl>
        </p:tmplLst>
      </p:bldP>
      <p:bldP spid="84" grpId="0" build="allAtOnce">
        <p:tmplLst>
          <p:tmpl lvl="1">
            <p:tnLst>
              <p:par>
                <p:cTn presetID="10" presetClass="entr" presetSubtype="0" fill="hold" nodeType="withEffect">
                  <p:stCondLst>
                    <p:cond delay="0"/>
                  </p:stCondLst>
                  <p:childTnLst>
                    <p:set>
                      <p:cBhvr>
                        <p:cTn dur="1" fill="hold">
                          <p:stCondLst>
                            <p:cond delay="0"/>
                          </p:stCondLst>
                        </p:cTn>
                        <p:tgtEl>
                          <p:spTgt spid="84"/>
                        </p:tgtEl>
                        <p:attrNameLst>
                          <p:attrName>style.visibility</p:attrName>
                        </p:attrNameLst>
                      </p:cBhvr>
                      <p:to>
                        <p:strVal val="visible"/>
                      </p:to>
                    </p:set>
                    <p:animEffect transition="in" filter="fade">
                      <p:cBhvr>
                        <p:cTn dur="500"/>
                        <p:tgtEl>
                          <p:spTgt spid="84"/>
                        </p:tgtEl>
                      </p:cBhvr>
                    </p:animEffect>
                  </p:childTnLst>
                </p:cTn>
              </p:par>
            </p:tnLst>
          </p:tmpl>
        </p:tmplLst>
      </p:bldP>
      <p:bldP spid="87" grpId="0" build="allAtOnce">
        <p:tmplLst>
          <p:tmpl lvl="1">
            <p:tnLst>
              <p:par>
                <p:cTn presetID="10" presetClass="entr" presetSubtype="0" fill="hold" nodeType="withEffect">
                  <p:stCondLst>
                    <p:cond delay="0"/>
                  </p:stCondLst>
                  <p:childTnLst>
                    <p:set>
                      <p:cBhvr>
                        <p:cTn dur="1" fill="hold">
                          <p:stCondLst>
                            <p:cond delay="0"/>
                          </p:stCondLst>
                        </p:cTn>
                        <p:tgtEl>
                          <p:spTgt spid="87"/>
                        </p:tgtEl>
                        <p:attrNameLst>
                          <p:attrName>style.visibility</p:attrName>
                        </p:attrNameLst>
                      </p:cBhvr>
                      <p:to>
                        <p:strVal val="visible"/>
                      </p:to>
                    </p:set>
                    <p:animEffect transition="in" filter="fade">
                      <p:cBhvr>
                        <p:cTn dur="500"/>
                        <p:tgtEl>
                          <p:spTgt spid="87"/>
                        </p:tgtEl>
                      </p:cBhvr>
                    </p:animEffect>
                  </p:childTnLst>
                </p:cTn>
              </p:par>
            </p:tnLst>
          </p:tmpl>
        </p:tmplLst>
      </p:bldP>
      <p:bldP spid="90" grpId="0" build="allAtOnce">
        <p:tmplLst>
          <p:tmpl lvl="1">
            <p:tnLst>
              <p:par>
                <p:cTn presetID="10" presetClass="entr" presetSubtype="0"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fade">
                      <p:cBhvr>
                        <p:cTn dur="500"/>
                        <p:tgtEl>
                          <p:spTgt spid="90"/>
                        </p:tgtEl>
                      </p:cBhvr>
                    </p:animEffect>
                  </p:childTnLst>
                </p:cTn>
              </p:par>
            </p:tnLst>
          </p:tmpl>
        </p:tmplLst>
      </p:bldP>
      <p:bldP spid="93" grpId="0" build="allAtOnce">
        <p:tmplLst>
          <p:tmpl lvl="1">
            <p:tnLst>
              <p:par>
                <p:cTn presetID="10" presetClass="entr" presetSubtype="0" fill="hold" nodeType="withEffect">
                  <p:stCondLst>
                    <p:cond delay="0"/>
                  </p:stCondLst>
                  <p:childTnLst>
                    <p:set>
                      <p:cBhvr>
                        <p:cTn dur="1" fill="hold">
                          <p:stCondLst>
                            <p:cond delay="0"/>
                          </p:stCondLst>
                        </p:cTn>
                        <p:tgtEl>
                          <p:spTgt spid="93"/>
                        </p:tgtEl>
                        <p:attrNameLst>
                          <p:attrName>style.visibility</p:attrName>
                        </p:attrNameLst>
                      </p:cBhvr>
                      <p:to>
                        <p:strVal val="visible"/>
                      </p:to>
                    </p:set>
                    <p:animEffect transition="in" filter="fade">
                      <p:cBhvr>
                        <p:cTn dur="500"/>
                        <p:tgtEl>
                          <p:spTgt spid="9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4/3/2026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29243560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7489825" y="0"/>
            <a:ext cx="4702175" cy="6858000"/>
          </a:xfrm>
        </p:spPr>
        <p:txBody>
          <a:bodyPr/>
          <a:lstStyle/>
          <a:p>
            <a:r>
              <a:rPr lang="en-US"/>
              <a:t>Click icon to add picture</a:t>
            </a:r>
          </a:p>
        </p:txBody>
      </p:sp>
      <p:sp>
        <p:nvSpPr>
          <p:cNvPr id="2" name="Title 1"/>
          <p:cNvSpPr>
            <a:spLocks noGrp="1"/>
          </p:cNvSpPr>
          <p:nvPr>
            <p:ph type="title" hasCustomPrompt="1"/>
          </p:nvPr>
        </p:nvSpPr>
        <p:spPr>
          <a:xfrm>
            <a:off x="838200" y="475918"/>
            <a:ext cx="6115756" cy="666261"/>
          </a:xfrm>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4/3/2026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79341413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Date Placeholder 3"/>
          <p:cNvSpPr>
            <a:spLocks noGrp="1"/>
          </p:cNvSpPr>
          <p:nvPr>
            <p:ph type="dt" sz="half" idx="10"/>
          </p:nvPr>
        </p:nvSpPr>
        <p:spPr>
          <a:xfrm>
            <a:off x="1126155" y="6372408"/>
            <a:ext cx="1875631" cy="365125"/>
          </a:xfrm>
          <a:prstGeom prst="rect">
            <a:avLst/>
          </a:prstGeom>
        </p:spPr>
        <p:txBody>
          <a:bodyPr/>
          <a:lstStyle/>
          <a:p>
            <a:fld id="{F2A58179-A128-427D-87DD-C6A55F04E0A8}" type="datetime1">
              <a:rPr lang="en-US" smtClean="0"/>
              <a:t>4/3/2026</a:t>
            </a:fld>
            <a:endParaRPr lang="en-US"/>
          </a:p>
        </p:txBody>
      </p:sp>
      <p:sp>
        <p:nvSpPr>
          <p:cNvPr id="5" name="Footer Placeholder 4"/>
          <p:cNvSpPr>
            <a:spLocks noGrp="1"/>
          </p:cNvSpPr>
          <p:nvPr>
            <p:ph type="ftr" sz="quarter" idx="11"/>
          </p:nvPr>
        </p:nvSpPr>
        <p:spPr>
          <a:xfrm>
            <a:off x="4250035" y="6367630"/>
            <a:ext cx="3691931"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BE4EC83-A869-464E-AE9F-881796FB085E}" type="slidenum">
              <a:rPr lang="en-US" smtClean="0"/>
              <a:t>‹#›</a:t>
            </a:fld>
            <a:endParaRPr lang="en-US"/>
          </a:p>
        </p:txBody>
      </p:sp>
      <p:sp>
        <p:nvSpPr>
          <p:cNvPr id="7" name="Title 6"/>
          <p:cNvSpPr>
            <a:spLocks noGrp="1"/>
          </p:cNvSpPr>
          <p:nvPr>
            <p:ph type="title" hasCustomPrompt="1"/>
          </p:nvPr>
        </p:nvSpPr>
        <p:spPr/>
        <p:txBody>
          <a:bodyPr/>
          <a:lstStyle/>
          <a:p>
            <a:r>
              <a:rPr lang="ar-EG" dirty="0"/>
              <a:t>اضغط لتغيير العنوان</a:t>
            </a:r>
            <a:endParaRPr lang="en-US" dirty="0"/>
          </a:p>
        </p:txBody>
      </p:sp>
    </p:spTree>
    <p:extLst>
      <p:ext uri="{BB962C8B-B14F-4D97-AF65-F5344CB8AC3E}">
        <p14:creationId xmlns:p14="http://schemas.microsoft.com/office/powerpoint/2010/main" val="132083401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6" name="Picture 5" descr="A purple and white rectangle&#10;&#10;Description automatically generated">
            <a:extLst>
              <a:ext uri="{FF2B5EF4-FFF2-40B4-BE49-F238E27FC236}">
                <a16:creationId xmlns:a16="http://schemas.microsoft.com/office/drawing/2014/main" id="{5D8E7D26-4E4F-35D7-4CE8-4428C2B6C8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928634" y="3925452"/>
            <a:ext cx="5615666" cy="641639"/>
          </a:xfrm>
          <a:noFill/>
        </p:spPr>
        <p:txBody>
          <a:bodyPr lIns="0" rIns="0" anchor="t" anchorCtr="0">
            <a:noAutofit/>
          </a:bodyPr>
          <a:lstStyle>
            <a:lvl1pPr algn="r">
              <a:defRPr sz="3600">
                <a:solidFill>
                  <a:schemeClr val="bg1"/>
                </a:solidFill>
                <a:latin typeface="Sakkal Majalla" panose="02000000000000000000" pitchFamily="2" charset="-78"/>
                <a:cs typeface="Sakkal Majalla" panose="02000000000000000000" pitchFamily="2" charset="-78"/>
              </a:defRPr>
            </a:lvl1pPr>
          </a:lstStyle>
          <a:p>
            <a:r>
              <a:rPr lang="ar-EG" dirty="0"/>
              <a:t>اضغط لتغيير العنوان</a:t>
            </a:r>
            <a:endParaRPr lang="en-US" dirty="0"/>
          </a:p>
        </p:txBody>
      </p:sp>
      <p:sp>
        <p:nvSpPr>
          <p:cNvPr id="9" name="Text Placeholder 3"/>
          <p:cNvSpPr>
            <a:spLocks noGrp="1"/>
          </p:cNvSpPr>
          <p:nvPr>
            <p:ph type="body" sz="quarter" idx="12"/>
          </p:nvPr>
        </p:nvSpPr>
        <p:spPr>
          <a:xfrm>
            <a:off x="7292975" y="7016661"/>
            <a:ext cx="4251325" cy="865187"/>
          </a:xfrm>
        </p:spPr>
        <p:txBody>
          <a:bodyPr>
            <a:normAutofit/>
          </a:bodyPr>
          <a:lstStyle>
            <a:lvl1pPr marL="0" indent="0" algn="ctr">
              <a:buNone/>
              <a:defRPr sz="1600">
                <a:solidFill>
                  <a:srgbClr val="E6E6E6"/>
                </a:solidFill>
              </a:defRPr>
            </a:lvl1pPr>
          </a:lstStyle>
          <a:p>
            <a:pPr lvl="0"/>
            <a:r>
              <a:rPr lang="en-US"/>
              <a:t>Click to edit Master text styles</a:t>
            </a:r>
          </a:p>
        </p:txBody>
      </p:sp>
      <p:sp>
        <p:nvSpPr>
          <p:cNvPr id="18" name="Text Placeholder 4"/>
          <p:cNvSpPr>
            <a:spLocks noGrp="1"/>
          </p:cNvSpPr>
          <p:nvPr>
            <p:ph type="body" sz="quarter" idx="14" hasCustomPrompt="1"/>
          </p:nvPr>
        </p:nvSpPr>
        <p:spPr>
          <a:xfrm>
            <a:off x="9601626" y="2343256"/>
            <a:ext cx="1942674" cy="1181919"/>
          </a:xfrm>
          <a:noFill/>
        </p:spPr>
        <p:txBody>
          <a:bodyPr lIns="0" tIns="0" bIns="0" anchor="ctr" anchorCtr="0">
            <a:noAutofit/>
          </a:bodyPr>
          <a:lstStyle>
            <a:lvl1pPr marL="0" indent="0" algn="ctr">
              <a:buNone/>
              <a:defRPr sz="8800" b="1">
                <a:ln w="19050">
                  <a:solidFill>
                    <a:schemeClr val="accent1"/>
                  </a:solidFill>
                </a:ln>
                <a:solidFill>
                  <a:schemeClr val="accent1"/>
                </a:solidFill>
                <a:latin typeface="Sakkal Majalla" panose="02000000000000000000" pitchFamily="2" charset="-78"/>
                <a:cs typeface="Sakkal Majalla" panose="02000000000000000000" pitchFamily="2" charset="-78"/>
              </a:defRPr>
            </a:lvl1pPr>
          </a:lstStyle>
          <a:p>
            <a:pPr lvl="0"/>
            <a:r>
              <a:rPr lang="ar-EG" dirty="0"/>
              <a:t>#</a:t>
            </a:r>
            <a:endParaRPr lang="en-US" dirty="0"/>
          </a:p>
        </p:txBody>
      </p:sp>
    </p:spTree>
    <p:extLst>
      <p:ext uri="{BB962C8B-B14F-4D97-AF65-F5344CB8AC3E}">
        <p14:creationId xmlns:p14="http://schemas.microsoft.com/office/powerpoint/2010/main" val="3162891222"/>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extLst>
    <p:ext uri="{DCECCB84-F9BA-43D5-87BE-67443E8EF086}">
      <p15:sldGuideLst xmlns:p15="http://schemas.microsoft.com/office/powerpoint/2012/main">
        <p15:guide id="1" pos="7272" userDrawn="1">
          <p15:clr>
            <a:srgbClr val="FBAE40"/>
          </p15:clr>
        </p15:guide>
        <p15:guide id="2" pos="6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Picture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4/3/2026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7" name="Picture Placeholder 6"/>
          <p:cNvSpPr>
            <a:spLocks noGrp="1"/>
          </p:cNvSpPr>
          <p:nvPr>
            <p:ph type="pic" sz="quarter" idx="13" hasCustomPrompt="1"/>
          </p:nvPr>
        </p:nvSpPr>
        <p:spPr>
          <a:xfrm>
            <a:off x="6197600" y="1447799"/>
            <a:ext cx="5156200" cy="3037381"/>
          </a:xfrm>
        </p:spPr>
        <p:txBody>
          <a:bodyPr/>
          <a:lstStyle/>
          <a:p>
            <a:r>
              <a:rPr lang="ar-EG" dirty="0"/>
              <a:t>اضغط على الأيقونة لإضافة صورة</a:t>
            </a:r>
            <a:endParaRPr lang="en-US" dirty="0"/>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1" name="Picture Placeholder 6"/>
          <p:cNvSpPr>
            <a:spLocks noGrp="1"/>
          </p:cNvSpPr>
          <p:nvPr>
            <p:ph type="pic" sz="quarter" idx="18" hasCustomPrompt="1"/>
          </p:nvPr>
        </p:nvSpPr>
        <p:spPr>
          <a:xfrm>
            <a:off x="838200" y="1447799"/>
            <a:ext cx="5156200" cy="3037381"/>
          </a:xfrm>
        </p:spPr>
        <p:txBody>
          <a:bodyPr/>
          <a:lstStyle/>
          <a:p>
            <a:r>
              <a:rPr lang="ar-EG" dirty="0"/>
              <a:t>اضغط على الأيقونة لإضافة صورة</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23756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ntent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4/3/2026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Content Placeholder 8"/>
          <p:cNvSpPr>
            <a:spLocks noGrp="1"/>
          </p:cNvSpPr>
          <p:nvPr>
            <p:ph sz="quarter" idx="19" hasCustomPrompt="1"/>
          </p:nvPr>
        </p:nvSpPr>
        <p:spPr>
          <a:xfrm>
            <a:off x="61976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1" name="Content Placeholder 8"/>
          <p:cNvSpPr>
            <a:spLocks noGrp="1"/>
          </p:cNvSpPr>
          <p:nvPr>
            <p:ph sz="quarter" idx="20" hasCustomPrompt="1"/>
          </p:nvPr>
        </p:nvSpPr>
        <p:spPr>
          <a:xfrm>
            <a:off x="8382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Tree>
    <p:extLst>
      <p:ext uri="{BB962C8B-B14F-4D97-AF65-F5344CB8AC3E}">
        <p14:creationId xmlns:p14="http://schemas.microsoft.com/office/powerpoint/2010/main" val="78794652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4/3/2026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096000" y="1454189"/>
            <a:ext cx="5257800"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6096000"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2" name="Text Placeholder 15"/>
          <p:cNvSpPr>
            <a:spLocks noGrp="1"/>
          </p:cNvSpPr>
          <p:nvPr>
            <p:ph type="body" sz="quarter" idx="27" hasCustomPrompt="1"/>
          </p:nvPr>
        </p:nvSpPr>
        <p:spPr>
          <a:xfrm>
            <a:off x="838169" y="1454189"/>
            <a:ext cx="5257800"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838169"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cxnSp>
        <p:nvCxnSpPr>
          <p:cNvPr id="10" name="Straight Connector 9"/>
          <p:cNvCxnSpPr/>
          <p:nvPr userDrawn="1"/>
        </p:nvCxnSpPr>
        <p:spPr>
          <a:xfrm>
            <a:off x="6095971" y="6096000"/>
            <a:ext cx="5257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flipV="1">
            <a:off x="838171" y="6095999"/>
            <a:ext cx="5257800" cy="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14524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4/3/2026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8719767" y="1465912"/>
            <a:ext cx="2624328"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8719767"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2" name="Text Placeholder 15"/>
          <p:cNvSpPr>
            <a:spLocks noGrp="1"/>
          </p:cNvSpPr>
          <p:nvPr>
            <p:ph type="body" sz="quarter" idx="27" hasCustomPrompt="1"/>
          </p:nvPr>
        </p:nvSpPr>
        <p:spPr>
          <a:xfrm>
            <a:off x="6098798" y="1465912"/>
            <a:ext cx="2624328"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6098798"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4" name="Text Placeholder 15"/>
          <p:cNvSpPr>
            <a:spLocks noGrp="1"/>
          </p:cNvSpPr>
          <p:nvPr>
            <p:ph type="body" sz="quarter" idx="29" hasCustomPrompt="1"/>
          </p:nvPr>
        </p:nvSpPr>
        <p:spPr>
          <a:xfrm>
            <a:off x="3477830" y="1465912"/>
            <a:ext cx="2624328" cy="469900"/>
          </a:xfrm>
          <a:solidFill>
            <a:schemeClr val="accent1"/>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5" name="Text Placeholder 6"/>
          <p:cNvSpPr>
            <a:spLocks noGrp="1"/>
          </p:cNvSpPr>
          <p:nvPr>
            <p:ph type="body" sz="quarter" idx="30" hasCustomPrompt="1"/>
          </p:nvPr>
        </p:nvSpPr>
        <p:spPr>
          <a:xfrm>
            <a:off x="3477830"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sp>
        <p:nvSpPr>
          <p:cNvPr id="26" name="Text Placeholder 15"/>
          <p:cNvSpPr>
            <a:spLocks noGrp="1"/>
          </p:cNvSpPr>
          <p:nvPr>
            <p:ph type="body" sz="quarter" idx="31" hasCustomPrompt="1"/>
          </p:nvPr>
        </p:nvSpPr>
        <p:spPr>
          <a:xfrm>
            <a:off x="856862" y="1465912"/>
            <a:ext cx="2624328" cy="469900"/>
          </a:xfrm>
          <a:solidFill>
            <a:schemeClr val="accent2"/>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7" name="Text Placeholder 6"/>
          <p:cNvSpPr>
            <a:spLocks noGrp="1"/>
          </p:cNvSpPr>
          <p:nvPr>
            <p:ph type="body" sz="quarter" idx="32" hasCustomPrompt="1"/>
          </p:nvPr>
        </p:nvSpPr>
        <p:spPr>
          <a:xfrm>
            <a:off x="856862"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cxnSp>
        <p:nvCxnSpPr>
          <p:cNvPr id="10" name="Straight Connector 9"/>
          <p:cNvCxnSpPr/>
          <p:nvPr userDrawn="1"/>
        </p:nvCxnSpPr>
        <p:spPr>
          <a:xfrm>
            <a:off x="10060884"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7323667"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4586451"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1849235"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0450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text with titles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4/3/2026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6" name="Text Placeholder 8"/>
          <p:cNvSpPr>
            <a:spLocks noGrp="1"/>
          </p:cNvSpPr>
          <p:nvPr>
            <p:ph type="body" sz="quarter" idx="13" hasCustomPrompt="1"/>
          </p:nvPr>
        </p:nvSpPr>
        <p:spPr>
          <a:xfrm>
            <a:off x="845580"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7" name="Text Placeholder 8"/>
          <p:cNvSpPr>
            <a:spLocks noGrp="1"/>
          </p:cNvSpPr>
          <p:nvPr>
            <p:ph type="body" sz="quarter" idx="14" hasCustomPrompt="1"/>
          </p:nvPr>
        </p:nvSpPr>
        <p:spPr>
          <a:xfrm>
            <a:off x="845580"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8" name="Straight Connector 7"/>
          <p:cNvCxnSpPr/>
          <p:nvPr userDrawn="1"/>
        </p:nvCxnSpPr>
        <p:spPr>
          <a:xfrm>
            <a:off x="5396768"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sz="quarter" idx="15" hasCustomPrompt="1"/>
          </p:nvPr>
        </p:nvSpPr>
        <p:spPr>
          <a:xfrm>
            <a:off x="6253972"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endParaRPr lang="en-US" dirty="0"/>
          </a:p>
        </p:txBody>
      </p:sp>
      <p:sp>
        <p:nvSpPr>
          <p:cNvPr id="10" name="Text Placeholder 8"/>
          <p:cNvSpPr>
            <a:spLocks noGrp="1"/>
          </p:cNvSpPr>
          <p:nvPr>
            <p:ph type="body" sz="quarter" idx="16" hasCustomPrompt="1"/>
          </p:nvPr>
        </p:nvSpPr>
        <p:spPr>
          <a:xfrm>
            <a:off x="6253972"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1" name="Straight Connector 10"/>
          <p:cNvCxnSpPr/>
          <p:nvPr userDrawn="1"/>
        </p:nvCxnSpPr>
        <p:spPr>
          <a:xfrm>
            <a:off x="10805160"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 Placeholder 8"/>
          <p:cNvSpPr>
            <a:spLocks noGrp="1"/>
          </p:cNvSpPr>
          <p:nvPr>
            <p:ph type="body" sz="quarter" idx="17" hasCustomPrompt="1"/>
          </p:nvPr>
        </p:nvSpPr>
        <p:spPr>
          <a:xfrm>
            <a:off x="845580"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3" name="Text Placeholder 8"/>
          <p:cNvSpPr>
            <a:spLocks noGrp="1"/>
          </p:cNvSpPr>
          <p:nvPr>
            <p:ph type="body" sz="quarter" idx="18" hasCustomPrompt="1"/>
          </p:nvPr>
        </p:nvSpPr>
        <p:spPr>
          <a:xfrm>
            <a:off x="845580"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4" name="Straight Connector 13"/>
          <p:cNvCxnSpPr/>
          <p:nvPr userDrawn="1"/>
        </p:nvCxnSpPr>
        <p:spPr>
          <a:xfrm>
            <a:off x="5396768"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Text Placeholder 8"/>
          <p:cNvSpPr>
            <a:spLocks noGrp="1"/>
          </p:cNvSpPr>
          <p:nvPr>
            <p:ph type="body" sz="quarter" idx="19" hasCustomPrompt="1"/>
          </p:nvPr>
        </p:nvSpPr>
        <p:spPr>
          <a:xfrm>
            <a:off x="6253972"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6" name="Text Placeholder 8"/>
          <p:cNvSpPr>
            <a:spLocks noGrp="1"/>
          </p:cNvSpPr>
          <p:nvPr>
            <p:ph type="body" sz="quarter" idx="20" hasCustomPrompt="1"/>
          </p:nvPr>
        </p:nvSpPr>
        <p:spPr>
          <a:xfrm>
            <a:off x="6253972"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7" name="Straight Connector 16"/>
          <p:cNvCxnSpPr/>
          <p:nvPr userDrawn="1"/>
        </p:nvCxnSpPr>
        <p:spPr>
          <a:xfrm>
            <a:off x="10805160"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842545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4/3/2026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1" name="Text Placeholder 6"/>
          <p:cNvSpPr>
            <a:spLocks noGrp="1"/>
          </p:cNvSpPr>
          <p:nvPr>
            <p:ph type="body" sz="quarter" idx="15" hasCustomPrompt="1"/>
          </p:nvPr>
        </p:nvSpPr>
        <p:spPr>
          <a:xfrm>
            <a:off x="8261577"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2" name="Text Placeholder 6"/>
          <p:cNvSpPr>
            <a:spLocks noGrp="1"/>
          </p:cNvSpPr>
          <p:nvPr>
            <p:ph type="body" sz="quarter" idx="16" hasCustomPrompt="1"/>
          </p:nvPr>
        </p:nvSpPr>
        <p:spPr>
          <a:xfrm>
            <a:off x="457287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9931026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4/3/2026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4831419" cy="4638675"/>
          </a:xfrm>
        </p:spPr>
        <p:txBody>
          <a:bodyPr>
            <a:normAutofit/>
          </a:bodyPr>
          <a:lstStyle>
            <a:lvl1pPr marL="0" indent="0">
              <a:buNone/>
              <a:defRPr sz="2000" baseline="0"/>
            </a:lvl1pPr>
          </a:lstStyle>
          <a:p>
            <a:pPr lvl="0"/>
            <a:r>
              <a:rPr lang="ar-EG" dirty="0"/>
              <a:t>تعديل النص</a:t>
            </a:r>
            <a:endParaRPr lang="en-US" dirty="0"/>
          </a:p>
        </p:txBody>
      </p:sp>
      <p:sp>
        <p:nvSpPr>
          <p:cNvPr id="9" name="Text Placeholder 6"/>
          <p:cNvSpPr>
            <a:spLocks noGrp="1"/>
          </p:cNvSpPr>
          <p:nvPr>
            <p:ph type="body" sz="quarter" idx="15" hasCustomPrompt="1"/>
          </p:nvPr>
        </p:nvSpPr>
        <p:spPr>
          <a:xfrm>
            <a:off x="6522381" y="1447800"/>
            <a:ext cx="4831419"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37914594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ortfolio/4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D07F32C4-027C-41E7-9CB9-C0506AA6389A}" type="datetime1">
              <a:rPr lang="en-US" smtClean="0"/>
              <a:t>4/3/2026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46ED658E-7B78-4C3F-B2D4-66856F143B40}" type="slidenum">
              <a:rPr lang="en-US" smtClean="0"/>
              <a:pPr/>
              <a:t>‹#›</a:t>
            </a:fld>
            <a:endParaRPr lang="en-US"/>
          </a:p>
        </p:txBody>
      </p:sp>
      <p:sp>
        <p:nvSpPr>
          <p:cNvPr id="7" name="Picture Placeholder 10">
            <a:extLst>
              <a:ext uri="{FF2B5EF4-FFF2-40B4-BE49-F238E27FC236}">
                <a16:creationId xmlns:a16="http://schemas.microsoft.com/office/drawing/2014/main" id="{1ED86105-1558-4D32-B1A9-5F4D28811B51}"/>
              </a:ext>
            </a:extLst>
          </p:cNvPr>
          <p:cNvSpPr>
            <a:spLocks noGrp="1"/>
          </p:cNvSpPr>
          <p:nvPr>
            <p:ph type="pic" sz="quarter" idx="13" hasCustomPrompt="1"/>
          </p:nvPr>
        </p:nvSpPr>
        <p:spPr>
          <a:xfrm>
            <a:off x="853836"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8" name="Picture Placeholder 12">
            <a:extLst>
              <a:ext uri="{FF2B5EF4-FFF2-40B4-BE49-F238E27FC236}">
                <a16:creationId xmlns:a16="http://schemas.microsoft.com/office/drawing/2014/main" id="{AD11BF4A-2489-4211-84F8-479B8880D427}"/>
              </a:ext>
            </a:extLst>
          </p:cNvPr>
          <p:cNvSpPr>
            <a:spLocks noGrp="1"/>
          </p:cNvSpPr>
          <p:nvPr>
            <p:ph type="pic" sz="quarter" idx="15" hasCustomPrompt="1"/>
          </p:nvPr>
        </p:nvSpPr>
        <p:spPr>
          <a:xfrm>
            <a:off x="9179225" y="1547024"/>
            <a:ext cx="2175731"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9" name="Text Placeholder 21"/>
          <p:cNvSpPr>
            <a:spLocks noGrp="1"/>
          </p:cNvSpPr>
          <p:nvPr>
            <p:ph type="body" sz="quarter" idx="16" hasCustomPrompt="1"/>
          </p:nvPr>
        </p:nvSpPr>
        <p:spPr>
          <a:xfrm>
            <a:off x="846596" y="4793469"/>
            <a:ext cx="2207123" cy="368300"/>
          </a:xfrm>
        </p:spPr>
        <p:txBody>
          <a:bodyPr>
            <a:normAutofit/>
          </a:bodyPr>
          <a:lstStyle>
            <a:lvl1pPr marL="0" indent="0" algn="ctr">
              <a:buNone/>
              <a:defRPr sz="2000" b="1" baseline="0">
                <a:solidFill>
                  <a:schemeClr val="accent1"/>
                </a:solidFill>
              </a:defRPr>
            </a:lvl1pPr>
          </a:lstStyle>
          <a:p>
            <a:pPr lvl="0"/>
            <a:r>
              <a:rPr lang="ar-EG" dirty="0"/>
              <a:t>عنوان 4</a:t>
            </a:r>
            <a:endParaRPr lang="en-US" dirty="0"/>
          </a:p>
        </p:txBody>
      </p:sp>
      <p:sp>
        <p:nvSpPr>
          <p:cNvPr id="11" name="Text Placeholder 21"/>
          <p:cNvSpPr>
            <a:spLocks noGrp="1"/>
          </p:cNvSpPr>
          <p:nvPr>
            <p:ph type="body" sz="quarter" idx="18" hasCustomPrompt="1"/>
          </p:nvPr>
        </p:nvSpPr>
        <p:spPr>
          <a:xfrm>
            <a:off x="3644019" y="4793469"/>
            <a:ext cx="2192642" cy="368300"/>
          </a:xfrm>
        </p:spPr>
        <p:txBody>
          <a:bodyPr>
            <a:normAutofit/>
          </a:bodyPr>
          <a:lstStyle>
            <a:lvl1pPr marL="0" indent="0" algn="ctr">
              <a:buNone/>
              <a:defRPr sz="2000" b="1">
                <a:solidFill>
                  <a:schemeClr val="accent1"/>
                </a:solidFill>
              </a:defRPr>
            </a:lvl1pPr>
          </a:lstStyle>
          <a:p>
            <a:pPr lvl="0"/>
            <a:r>
              <a:rPr lang="ar-EG" dirty="0"/>
              <a:t>عنوان 3</a:t>
            </a:r>
            <a:endParaRPr lang="en-US" dirty="0"/>
          </a:p>
        </p:txBody>
      </p:sp>
      <p:sp>
        <p:nvSpPr>
          <p:cNvPr id="13" name="Text Placeholder 21"/>
          <p:cNvSpPr>
            <a:spLocks noGrp="1"/>
          </p:cNvSpPr>
          <p:nvPr>
            <p:ph type="body" sz="quarter" idx="20" hasCustomPrompt="1"/>
          </p:nvPr>
        </p:nvSpPr>
        <p:spPr>
          <a:xfrm>
            <a:off x="9179225" y="4793469"/>
            <a:ext cx="2175731" cy="368300"/>
          </a:xfrm>
        </p:spPr>
        <p:txBody>
          <a:bodyPr>
            <a:normAutofit/>
          </a:bodyPr>
          <a:lstStyle>
            <a:lvl1pPr marL="0" indent="0" algn="ctr">
              <a:buNone/>
              <a:defRPr sz="2000" b="1">
                <a:solidFill>
                  <a:schemeClr val="accent1"/>
                </a:solidFill>
              </a:defRPr>
            </a:lvl1pPr>
          </a:lstStyle>
          <a:p>
            <a:pPr lvl="0"/>
            <a:r>
              <a:rPr lang="ar-EG" dirty="0"/>
              <a:t>عنوان 1</a:t>
            </a:r>
            <a:endParaRPr lang="en-US" dirty="0"/>
          </a:p>
        </p:txBody>
      </p:sp>
      <p:sp>
        <p:nvSpPr>
          <p:cNvPr id="15" name="Picture Placeholder 10">
            <a:extLst>
              <a:ext uri="{FF2B5EF4-FFF2-40B4-BE49-F238E27FC236}">
                <a16:creationId xmlns:a16="http://schemas.microsoft.com/office/drawing/2014/main" id="{1ED86105-1558-4D32-B1A9-5F4D28811B51}"/>
              </a:ext>
            </a:extLst>
          </p:cNvPr>
          <p:cNvSpPr>
            <a:spLocks noGrp="1"/>
          </p:cNvSpPr>
          <p:nvPr>
            <p:ph type="pic" sz="quarter" idx="23" hasCustomPrompt="1"/>
          </p:nvPr>
        </p:nvSpPr>
        <p:spPr>
          <a:xfrm>
            <a:off x="3644019"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6" name="Picture Placeholder 10">
            <a:extLst>
              <a:ext uri="{FF2B5EF4-FFF2-40B4-BE49-F238E27FC236}">
                <a16:creationId xmlns:a16="http://schemas.microsoft.com/office/drawing/2014/main" id="{1ED86105-1558-4D32-B1A9-5F4D28811B51}"/>
              </a:ext>
            </a:extLst>
          </p:cNvPr>
          <p:cNvSpPr>
            <a:spLocks noGrp="1"/>
          </p:cNvSpPr>
          <p:nvPr>
            <p:ph type="pic" sz="quarter" idx="24" hasCustomPrompt="1"/>
          </p:nvPr>
        </p:nvSpPr>
        <p:spPr>
          <a:xfrm>
            <a:off x="6419301"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7" name="Text Placeholder 21"/>
          <p:cNvSpPr>
            <a:spLocks noGrp="1"/>
          </p:cNvSpPr>
          <p:nvPr>
            <p:ph type="body" sz="quarter" idx="25" hasCustomPrompt="1"/>
          </p:nvPr>
        </p:nvSpPr>
        <p:spPr>
          <a:xfrm>
            <a:off x="6418380" y="4793469"/>
            <a:ext cx="2194484" cy="368300"/>
          </a:xfrm>
        </p:spPr>
        <p:txBody>
          <a:bodyP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b="1">
                <a:solidFill>
                  <a:schemeClr val="accent1"/>
                </a:solidFill>
              </a:defRPr>
            </a:lvl1pPr>
          </a:lstStyle>
          <a:p>
            <a:pPr lvl="0"/>
            <a:r>
              <a:rPr lang="ar-EG" dirty="0"/>
              <a:t>عنوان 2</a:t>
            </a:r>
            <a:endParaRPr lang="en-US" dirty="0"/>
          </a:p>
        </p:txBody>
      </p:sp>
      <p:sp>
        <p:nvSpPr>
          <p:cNvPr id="20" name="Text Placeholder 19"/>
          <p:cNvSpPr>
            <a:spLocks noGrp="1"/>
          </p:cNvSpPr>
          <p:nvPr>
            <p:ph type="body" sz="quarter" idx="26" hasCustomPrompt="1"/>
          </p:nvPr>
        </p:nvSpPr>
        <p:spPr>
          <a:xfrm>
            <a:off x="846845"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1" name="Text Placeholder 19"/>
          <p:cNvSpPr>
            <a:spLocks noGrp="1"/>
          </p:cNvSpPr>
          <p:nvPr>
            <p:ph type="body" sz="quarter" idx="27" hasCustomPrompt="1"/>
          </p:nvPr>
        </p:nvSpPr>
        <p:spPr>
          <a:xfrm>
            <a:off x="3637028"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2" name="Text Placeholder 19"/>
          <p:cNvSpPr>
            <a:spLocks noGrp="1"/>
          </p:cNvSpPr>
          <p:nvPr>
            <p:ph type="body" sz="quarter" idx="28" hasCustomPrompt="1"/>
          </p:nvPr>
        </p:nvSpPr>
        <p:spPr>
          <a:xfrm>
            <a:off x="6421014" y="5161763"/>
            <a:ext cx="2189217" cy="728662"/>
          </a:xfrm>
        </p:spPr>
        <p:txBody>
          <a:bodyPr>
            <a:normAutofit/>
          </a:bodyPr>
          <a:lstStyle>
            <a:lvl1pPr marL="0" indent="0" algn="ctr">
              <a:buNone/>
              <a:defRPr sz="1600"/>
            </a:lvl1pPr>
          </a:lstStyle>
          <a:p>
            <a:pPr lvl="0"/>
            <a:r>
              <a:rPr lang="ar-EG" dirty="0"/>
              <a:t>تعديل النص</a:t>
            </a:r>
            <a:endParaRPr lang="en-US" dirty="0"/>
          </a:p>
        </p:txBody>
      </p:sp>
      <p:sp>
        <p:nvSpPr>
          <p:cNvPr id="23" name="Text Placeholder 19"/>
          <p:cNvSpPr>
            <a:spLocks noGrp="1"/>
          </p:cNvSpPr>
          <p:nvPr>
            <p:ph type="body" sz="quarter" idx="29" hasCustomPrompt="1"/>
          </p:nvPr>
        </p:nvSpPr>
        <p:spPr>
          <a:xfrm>
            <a:off x="9183408" y="5161763"/>
            <a:ext cx="2167364" cy="728662"/>
          </a:xfrm>
        </p:spPr>
        <p:txBody>
          <a:bodyPr>
            <a:normAutofit/>
          </a:bodyPr>
          <a:lstStyle>
            <a:lvl1pPr marL="0" indent="0" algn="ctr">
              <a:buNone/>
              <a:defRPr sz="1600"/>
            </a:lvl1pPr>
          </a:lstStyle>
          <a:p>
            <a:pPr lvl="0"/>
            <a:r>
              <a:rPr lang="ar-EG" dirty="0"/>
              <a:t>تعديل النص</a:t>
            </a:r>
            <a:endParaRPr lang="en-US" dirty="0"/>
          </a:p>
        </p:txBody>
      </p:sp>
      <p:sp>
        <p:nvSpPr>
          <p:cNvPr id="27" name="Rectangle 26"/>
          <p:cNvSpPr/>
          <p:nvPr userDrawn="1"/>
        </p:nvSpPr>
        <p:spPr>
          <a:xfrm>
            <a:off x="980989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8" name="Rectangle 27"/>
          <p:cNvSpPr/>
          <p:nvPr userDrawn="1"/>
        </p:nvSpPr>
        <p:spPr>
          <a:xfrm>
            <a:off x="7058422"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p:cNvSpPr/>
          <p:nvPr userDrawn="1"/>
        </p:nvSpPr>
        <p:spPr>
          <a:xfrm>
            <a:off x="428314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0" name="Rectangle 29"/>
          <p:cNvSpPr/>
          <p:nvPr userDrawn="1"/>
        </p:nvSpPr>
        <p:spPr>
          <a:xfrm>
            <a:off x="1492957"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51455269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Content Placeholder 2"/>
          <p:cNvSpPr>
            <a:spLocks noGrp="1"/>
          </p:cNvSpPr>
          <p:nvPr>
            <p:ph sz="half" idx="1" hasCustomPrompt="1"/>
          </p:nvPr>
        </p:nvSpPr>
        <p:spPr>
          <a:xfrm>
            <a:off x="838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Content Placeholder 3"/>
          <p:cNvSpPr>
            <a:spLocks noGrp="1"/>
          </p:cNvSpPr>
          <p:nvPr>
            <p:ph sz="half" idx="2" hasCustomPrompt="1"/>
          </p:nvPr>
        </p:nvSpPr>
        <p:spPr>
          <a:xfrm>
            <a:off x="6172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35BB4A2A-1A89-4F2B-96A8-6DC5A8475B0F}" type="datetime1">
              <a:rPr lang="en-US" smtClean="0"/>
              <a:t>4/3/2026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55377634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400233" y="6367630"/>
            <a:ext cx="3691931" cy="365125"/>
          </a:xfrm>
          <a:prstGeom prst="rect">
            <a:avLst/>
          </a:prstGeom>
        </p:spPr>
        <p:txBody>
          <a:bodyPr/>
          <a:lstStyle/>
          <a:p>
            <a:endParaRPr lang="en-US"/>
          </a:p>
        </p:txBody>
      </p:sp>
      <p:sp>
        <p:nvSpPr>
          <p:cNvPr id="4" name="Slide Number Placeholder 6"/>
          <p:cNvSpPr>
            <a:spLocks noGrp="1"/>
          </p:cNvSpPr>
          <p:nvPr>
            <p:ph type="sldNum" sz="quarter" idx="12"/>
          </p:nvPr>
        </p:nvSpPr>
        <p:spPr>
          <a:xfrm>
            <a:off x="621453" y="6390919"/>
            <a:ext cx="320040" cy="320040"/>
          </a:xfrm>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162529283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Absolute">
    <p:spTree>
      <p:nvGrpSpPr>
        <p:cNvPr id="1" name=""/>
        <p:cNvGrpSpPr/>
        <p:nvPr/>
      </p:nvGrpSpPr>
      <p:grpSpPr>
        <a:xfrm>
          <a:off x="0" y="0"/>
          <a:ext cx="0" cy="0"/>
          <a:chOff x="0" y="0"/>
          <a:chExt cx="0" cy="0"/>
        </a:xfrm>
      </p:grpSpPr>
    </p:spTree>
    <p:extLst>
      <p:ext uri="{BB962C8B-B14F-4D97-AF65-F5344CB8AC3E}">
        <p14:creationId xmlns:p14="http://schemas.microsoft.com/office/powerpoint/2010/main" val="8359586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796" y="979084"/>
            <a:ext cx="3932237" cy="1078316"/>
          </a:xfrm>
        </p:spPr>
        <p:txBody>
          <a:bodyPr anchor="b"/>
          <a:lstStyle>
            <a:lvl1pPr algn="r">
              <a:defRPr sz="3200"/>
            </a:lvl1pPr>
          </a:lstStyle>
          <a:p>
            <a:r>
              <a:rPr lang="ar-EG" dirty="0"/>
              <a:t>اضغط لتغيير العنوان</a:t>
            </a:r>
            <a:endParaRPr lang="en-US" dirty="0"/>
          </a:p>
        </p:txBody>
      </p:sp>
      <p:sp>
        <p:nvSpPr>
          <p:cNvPr id="3" name="Content Placeholder 2"/>
          <p:cNvSpPr>
            <a:spLocks noGrp="1"/>
          </p:cNvSpPr>
          <p:nvPr>
            <p:ph idx="1" hasCustomPrompt="1"/>
          </p:nvPr>
        </p:nvSpPr>
        <p:spPr>
          <a:xfrm>
            <a:off x="838200"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Text Placeholder 3"/>
          <p:cNvSpPr>
            <a:spLocks noGrp="1"/>
          </p:cNvSpPr>
          <p:nvPr>
            <p:ph type="body" sz="half" idx="2" hasCustomPrompt="1"/>
          </p:nvPr>
        </p:nvSpPr>
        <p:spPr>
          <a:xfrm>
            <a:off x="7428796"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D6CC213-28D1-4DA6-A99B-8EB8EB359378}" type="datetime1">
              <a:rPr lang="en-US" smtClean="0"/>
              <a:t>4/3/2026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9670408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852" y="1002415"/>
            <a:ext cx="3932237" cy="1010014"/>
          </a:xfrm>
        </p:spPr>
        <p:txBody>
          <a:bodyPr anchor="b" anchorCtr="0"/>
          <a:lstStyle>
            <a:lvl1pPr algn="r">
              <a:defRPr sz="3200"/>
            </a:lvl1pPr>
          </a:lstStyle>
          <a:p>
            <a:r>
              <a:rPr lang="ar-EG" dirty="0"/>
              <a:t>اضغط لتغيير العنوان</a:t>
            </a:r>
            <a:endParaRPr lang="en-US" dirty="0"/>
          </a:p>
        </p:txBody>
      </p:sp>
      <p:sp>
        <p:nvSpPr>
          <p:cNvPr id="3" name="Picture Placeholder 2"/>
          <p:cNvSpPr>
            <a:spLocks noGrp="1"/>
          </p:cNvSpPr>
          <p:nvPr>
            <p:ph type="pic" idx="1" hasCustomPrompt="1"/>
          </p:nvPr>
        </p:nvSpPr>
        <p:spPr>
          <a:xfrm>
            <a:off x="851806"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EG" dirty="0"/>
              <a:t>اضغط على الأيقونة لإضافة صورة</a:t>
            </a:r>
            <a:endParaRPr lang="en-US" dirty="0"/>
          </a:p>
        </p:txBody>
      </p:sp>
      <p:sp>
        <p:nvSpPr>
          <p:cNvPr id="4" name="Text Placeholder 3"/>
          <p:cNvSpPr>
            <a:spLocks noGrp="1"/>
          </p:cNvSpPr>
          <p:nvPr>
            <p:ph type="body" sz="half" idx="2" hasCustomPrompt="1"/>
          </p:nvPr>
        </p:nvSpPr>
        <p:spPr>
          <a:xfrm>
            <a:off x="7428852" y="2057400"/>
            <a:ext cx="391724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F371FAE-8BEF-45E3-BB4F-0DA630E7BA88}" type="datetime1">
              <a:rPr lang="en-US" smtClean="0"/>
              <a:t>4/3/2026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286081628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17" name="Picture 16" descr="A blue square with white and blue text&#10;&#10;Description automatically generated">
            <a:extLst>
              <a:ext uri="{FF2B5EF4-FFF2-40B4-BE49-F238E27FC236}">
                <a16:creationId xmlns:a16="http://schemas.microsoft.com/office/drawing/2014/main" id="{06F6661A-8164-8ED8-2B47-BE90673565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35616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extLst>
    <p:ext uri="{DCECCB84-F9BA-43D5-87BE-67443E8EF086}">
      <p15:sldGuideLst xmlns:p15="http://schemas.microsoft.com/office/powerpoint/2012/main">
        <p15:guide id="1" pos="5568">
          <p15:clr>
            <a:srgbClr val="FBAE40"/>
          </p15:clr>
        </p15:guide>
        <p15:guide id="2" pos="2112">
          <p15:clr>
            <a:srgbClr val="FBAE40"/>
          </p15:clr>
        </p15:guide>
        <p15:guide id="3" orient="horz" pos="1992" userDrawn="1">
          <p15:clr>
            <a:srgbClr val="FBAE40"/>
          </p15:clr>
        </p15:guide>
        <p15:guide id="4" orient="horz" pos="22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showMasterPhAnim="0" userDrawn="1">
  <p:cSld name="2_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4/3/2026</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86588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942982A0-0E12-0CD0-BD26-CCB3496D9500}"/>
              </a:ext>
            </a:extLst>
          </p:cNvPr>
          <p:cNvSpPr/>
          <p:nvPr userDrawn="1"/>
        </p:nvSpPr>
        <p:spPr>
          <a:xfrm>
            <a:off x="426720" y="377261"/>
            <a:ext cx="11338560" cy="57690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Freeform: Shape 32">
            <a:extLst>
              <a:ext uri="{FF2B5EF4-FFF2-40B4-BE49-F238E27FC236}">
                <a16:creationId xmlns:a16="http://schemas.microsoft.com/office/drawing/2014/main" id="{54EA71BE-3CCC-4CFA-DB3E-DFC159419FAF}"/>
              </a:ext>
            </a:extLst>
          </p:cNvPr>
          <p:cNvSpPr/>
          <p:nvPr userDrawn="1"/>
        </p:nvSpPr>
        <p:spPr>
          <a:xfrm rot="10800000" flipV="1">
            <a:off x="619123" y="216443"/>
            <a:ext cx="439704" cy="531176"/>
          </a:xfrm>
          <a:custGeom>
            <a:avLst/>
            <a:gdLst>
              <a:gd name="connsiteX0" fmla="*/ 0 w 439704"/>
              <a:gd name="connsiteY0" fmla="*/ 531176 h 531176"/>
              <a:gd name="connsiteX1" fmla="*/ 439704 w 439704"/>
              <a:gd name="connsiteY1" fmla="*/ 388308 h 531176"/>
              <a:gd name="connsiteX2" fmla="*/ 439704 w 439704"/>
              <a:gd name="connsiteY2" fmla="*/ 0 h 531176"/>
              <a:gd name="connsiteX3" fmla="*/ 0 w 439704"/>
              <a:gd name="connsiteY3" fmla="*/ 0 h 531176"/>
            </a:gdLst>
            <a:ahLst/>
            <a:cxnLst>
              <a:cxn ang="0">
                <a:pos x="connsiteX0" y="connsiteY0"/>
              </a:cxn>
              <a:cxn ang="0">
                <a:pos x="connsiteX1" y="connsiteY1"/>
              </a:cxn>
              <a:cxn ang="0">
                <a:pos x="connsiteX2" y="connsiteY2"/>
              </a:cxn>
              <a:cxn ang="0">
                <a:pos x="connsiteX3" y="connsiteY3"/>
              </a:cxn>
            </a:cxnLst>
            <a:rect l="l" t="t" r="r" b="b"/>
            <a:pathLst>
              <a:path w="439704" h="531176">
                <a:moveTo>
                  <a:pt x="0" y="531176"/>
                </a:moveTo>
                <a:lnTo>
                  <a:pt x="439704" y="388308"/>
                </a:lnTo>
                <a:lnTo>
                  <a:pt x="439704" y="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le Placeholder 1"/>
          <p:cNvSpPr>
            <a:spLocks noGrp="1"/>
          </p:cNvSpPr>
          <p:nvPr userDrawn="1">
            <p:ph type="title"/>
          </p:nvPr>
        </p:nvSpPr>
        <p:spPr>
          <a:xfrm>
            <a:off x="609601" y="561078"/>
            <a:ext cx="10972800" cy="666261"/>
          </a:xfrm>
          <a:prstGeom prst="rect">
            <a:avLst/>
          </a:prstGeom>
        </p:spPr>
        <p:txBody>
          <a:bodyPr vert="horz" lIns="91440" tIns="45720" rIns="0" bIns="45720" rtlCol="0" anchor="ctr" anchorCtr="0">
            <a:noAutofit/>
          </a:bodyPr>
          <a:lstStyle/>
          <a:p>
            <a:r>
              <a:rPr lang="ar-EG" dirty="0"/>
              <a:t>اضغط لتغيير العنوان</a:t>
            </a:r>
            <a:endParaRPr lang="en-US" dirty="0"/>
          </a:p>
        </p:txBody>
      </p:sp>
      <p:sp>
        <p:nvSpPr>
          <p:cNvPr id="3" name="Text Placeholder 2"/>
          <p:cNvSpPr>
            <a:spLocks noGrp="1"/>
          </p:cNvSpPr>
          <p:nvPr userDrawn="1">
            <p:ph type="body" idx="1"/>
          </p:nvPr>
        </p:nvSpPr>
        <p:spPr>
          <a:xfrm>
            <a:off x="609600" y="1333501"/>
            <a:ext cx="10972800" cy="4812768"/>
          </a:xfrm>
          <a:prstGeom prst="rect">
            <a:avLst/>
          </a:prstGeom>
        </p:spPr>
        <p:txBody>
          <a:bodyPr vert="horz" lIns="91440" tIns="45720" rIns="0" bIns="45720" rtlCol="0">
            <a:normAutofit/>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pic>
        <p:nvPicPr>
          <p:cNvPr id="5" name="Picture 4">
            <a:extLst>
              <a:ext uri="{FF2B5EF4-FFF2-40B4-BE49-F238E27FC236}">
                <a16:creationId xmlns:a16="http://schemas.microsoft.com/office/drawing/2014/main" id="{A0BE4E69-AE0B-085D-5A16-9A00D7D75383}"/>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9105642" y="6335328"/>
            <a:ext cx="2464906" cy="36576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userDrawn="1">
            <p:ph type="sldNum" sz="quarter" idx="4"/>
          </p:nvPr>
        </p:nvSpPr>
        <p:spPr>
          <a:xfrm>
            <a:off x="621452" y="6358188"/>
            <a:ext cx="437375" cy="320040"/>
          </a:xfrm>
          <a:prstGeom prst="rect">
            <a:avLst/>
          </a:prstGeom>
          <a:noFill/>
          <a:ln>
            <a:noFill/>
          </a:ln>
        </p:spPr>
        <p:txBody>
          <a:bodyPr vert="horz" lIns="0" tIns="0" rIns="0" bIns="0" rtlCol="0" anchor="ctr"/>
          <a:lstStyle>
            <a:lvl1pPr algn="ctr">
              <a:defRPr lang="en-US" sz="1400" b="1" smtClean="0">
                <a:solidFill>
                  <a:schemeClr val="accent1"/>
                </a:solidFill>
              </a:defRPr>
            </a:lvl1pPr>
          </a:lstStyle>
          <a:p>
            <a:pPr rtl="1"/>
            <a:r>
              <a:rPr lang="en-GB"/>
              <a:t>#</a:t>
            </a:r>
            <a:endParaRPr lang="en-GB" dirty="0"/>
          </a:p>
        </p:txBody>
      </p:sp>
    </p:spTree>
    <p:extLst>
      <p:ext uri="{BB962C8B-B14F-4D97-AF65-F5344CB8AC3E}">
        <p14:creationId xmlns:p14="http://schemas.microsoft.com/office/powerpoint/2010/main" val="1743026089"/>
      </p:ext>
    </p:extLst>
  </p:cSld>
  <p:clrMap bg1="lt1" tx1="dk1" bg2="lt2" tx2="dk2" accent1="accent1" accent2="accent2" accent3="accent3" accent4="accent4" accent5="accent5" accent6="accent6" hlink="hlink" folHlink="folHlink"/>
  <p:sldLayoutIdLst>
    <p:sldLayoutId id="2147483742" r:id="rId1"/>
    <p:sldLayoutId id="2147483705" r:id="rId2"/>
    <p:sldLayoutId id="2147483749" r:id="rId3"/>
    <p:sldLayoutId id="2147483744" r:id="rId4"/>
    <p:sldLayoutId id="2147483730" r:id="rId5"/>
    <p:sldLayoutId id="2147483741" r:id="rId6"/>
    <p:sldLayoutId id="2147483707" r:id="rId7"/>
    <p:sldLayoutId id="2147483710" r:id="rId8"/>
    <p:sldLayoutId id="2147483711" r:id="rId9"/>
    <p:sldLayoutId id="2147483712" r:id="rId10"/>
    <p:sldLayoutId id="2147483713" r:id="rId11"/>
    <p:sldLayoutId id="2147483715" r:id="rId12"/>
    <p:sldLayoutId id="2147483740" r:id="rId13"/>
    <p:sldLayoutId id="2147483718" r:id="rId14"/>
    <p:sldLayoutId id="2147483719" r:id="rId15"/>
    <p:sldLayoutId id="2147483725" r:id="rId16"/>
    <p:sldLayoutId id="2147483728" r:id="rId17"/>
    <p:sldLayoutId id="2147483735" r:id="rId18"/>
    <p:sldLayoutId id="2147483736" r:id="rId19"/>
    <p:sldLayoutId id="2147483737" r:id="rId20"/>
    <p:sldLayoutId id="2147483738" r:id="rId21"/>
    <p:sldLayoutId id="2147483739" r:id="rId22"/>
    <p:sldLayoutId id="2147483750" r:id="rId2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hdr="0" ftr="0" dt="0"/>
  <p:txStyles>
    <p:title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2000" kern="1200">
          <a:solidFill>
            <a:schemeClr val="tx1">
              <a:lumMod val="85000"/>
              <a:lumOff val="1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6" pos="7296" userDrawn="1">
          <p15:clr>
            <a:srgbClr val="F26B43"/>
          </p15:clr>
        </p15:guide>
        <p15:guide id="7" orient="horz" pos="840" userDrawn="1">
          <p15:clr>
            <a:srgbClr val="F26B43"/>
          </p15:clr>
        </p15:guide>
        <p15:guide id="10" pos="384" userDrawn="1">
          <p15:clr>
            <a:srgbClr val="F26B43"/>
          </p15:clr>
        </p15:guide>
        <p15:guide id="11"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slide" Target="slide9.xml"/><Relationship Id="rId7" Type="http://schemas.openxmlformats.org/officeDocument/2006/relationships/slide" Target="slide31.xml"/><Relationship Id="rId2" Type="http://schemas.openxmlformats.org/officeDocument/2006/relationships/slide" Target="slide6.xml"/><Relationship Id="rId1" Type="http://schemas.openxmlformats.org/officeDocument/2006/relationships/slideLayout" Target="../slideLayouts/slideLayout23.xml"/><Relationship Id="rId6" Type="http://schemas.openxmlformats.org/officeDocument/2006/relationships/slide" Target="slide26.xml"/><Relationship Id="rId5" Type="http://schemas.openxmlformats.org/officeDocument/2006/relationships/slide" Target="slide15.xml"/><Relationship Id="rId4" Type="http://schemas.openxmlformats.org/officeDocument/2006/relationships/slide" Target="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9827" y="3749232"/>
            <a:ext cx="5022574" cy="1204833"/>
          </a:xfrm>
        </p:spPr>
        <p:txBody>
          <a:bodyPr/>
          <a:lstStyle/>
          <a:p>
            <a:pPr>
              <a:lnSpc>
                <a:spcPct val="125000"/>
              </a:lnSpc>
            </a:pPr>
            <a:r>
              <a:rPr lang="ar-SA" dirty="0"/>
              <a:t>خطة التوعية للبنية المؤسسية</a:t>
            </a:r>
            <a:endParaRPr lang="en-US" dirty="0"/>
          </a:p>
        </p:txBody>
      </p:sp>
      <p:sp>
        <p:nvSpPr>
          <p:cNvPr id="3" name="Subtitle 2"/>
          <p:cNvSpPr>
            <a:spLocks noGrp="1"/>
          </p:cNvSpPr>
          <p:nvPr>
            <p:ph type="subTitle" idx="1"/>
          </p:nvPr>
        </p:nvSpPr>
        <p:spPr/>
        <p:txBody>
          <a:bodyPr>
            <a:normAutofit/>
          </a:bodyPr>
          <a:lstStyle/>
          <a:p>
            <a:r>
              <a:rPr lang="ar-EG" dirty="0"/>
              <a:t>النسخة </a:t>
            </a:r>
            <a:r>
              <a:rPr lang="en-US" dirty="0"/>
              <a:t>1.0</a:t>
            </a:r>
            <a:endParaRPr lang="ar-EG" dirty="0"/>
          </a:p>
        </p:txBody>
      </p:sp>
    </p:spTree>
    <p:extLst>
      <p:ext uri="{BB962C8B-B14F-4D97-AF65-F5344CB8AC3E}">
        <p14:creationId xmlns:p14="http://schemas.microsoft.com/office/powerpoint/2010/main" val="2428133689"/>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شروط استخدام الوثيقة</a:t>
            </a:r>
            <a:endParaRPr lang="en-US" dirty="0"/>
          </a:p>
        </p:txBody>
      </p:sp>
      <p:sp>
        <p:nvSpPr>
          <p:cNvPr id="15" name="Rectangle 14">
            <a:extLst>
              <a:ext uri="{FF2B5EF4-FFF2-40B4-BE49-F238E27FC236}">
                <a16:creationId xmlns:a16="http://schemas.microsoft.com/office/drawing/2014/main" id="{7B21A5CB-82AC-F540-2F06-31E6BF4F283A}"/>
              </a:ext>
            </a:extLst>
          </p:cNvPr>
          <p:cNvSpPr/>
          <p:nvPr/>
        </p:nvSpPr>
        <p:spPr>
          <a:xfrm>
            <a:off x="2011680" y="2396756"/>
            <a:ext cx="7202276" cy="1730999"/>
          </a:xfrm>
          <a:prstGeom prst="rect">
            <a:avLst/>
          </a:prstGeom>
        </p:spPr>
        <p:txBody>
          <a:bodyPr anchor="ctr" anchorCtr="0">
            <a:normAutofit/>
          </a:bodyPr>
          <a:lstStyle/>
          <a:p>
            <a:pPr algn="r" rtl="1">
              <a:lnSpc>
                <a:spcPct val="150000"/>
              </a:lnSpc>
              <a:spcAft>
                <a:spcPts val="1200"/>
              </a:spcAft>
            </a:pPr>
            <a:r>
              <a:rPr lang="ar-EG" sz="2400" dirty="0"/>
              <a:t>إن هذه الوثيقة ومحتوياتها هي ملك لهيئة تقويم التعليم والتدريب ولا يجوز نسخها أو الكشف عنها أو تداولها دون الحصول على موافقة كتابية محددة من الهيئة، ويحظر تماما أي استخدام آخر غير الغرض الذي تم إعدادها من أجله.</a:t>
            </a:r>
          </a:p>
        </p:txBody>
      </p:sp>
      <p:grpSp>
        <p:nvGrpSpPr>
          <p:cNvPr id="28" name="Group 27">
            <a:extLst>
              <a:ext uri="{FF2B5EF4-FFF2-40B4-BE49-F238E27FC236}">
                <a16:creationId xmlns:a16="http://schemas.microsoft.com/office/drawing/2014/main" id="{D7350C88-B1EB-C1D4-7BA4-A1A2D371B40C}"/>
              </a:ext>
            </a:extLst>
          </p:cNvPr>
          <p:cNvGrpSpPr>
            <a:grpSpLocks noChangeAspect="1"/>
          </p:cNvGrpSpPr>
          <p:nvPr/>
        </p:nvGrpSpPr>
        <p:grpSpPr>
          <a:xfrm>
            <a:off x="9864957" y="2512209"/>
            <a:ext cx="1256429" cy="1483283"/>
            <a:chOff x="3290888" y="152400"/>
            <a:chExt cx="1600201" cy="1889125"/>
          </a:xfrm>
          <a:solidFill>
            <a:schemeClr val="accent1"/>
          </a:solidFill>
        </p:grpSpPr>
        <p:sp>
          <p:nvSpPr>
            <p:cNvPr id="29" name="Freeform 191">
              <a:extLst>
                <a:ext uri="{FF2B5EF4-FFF2-40B4-BE49-F238E27FC236}">
                  <a16:creationId xmlns:a16="http://schemas.microsoft.com/office/drawing/2014/main" id="{13DD340A-D508-6019-028E-387DF741F95E}"/>
                </a:ext>
              </a:extLst>
            </p:cNvPr>
            <p:cNvSpPr>
              <a:spLocks noEditPoints="1"/>
            </p:cNvSpPr>
            <p:nvPr/>
          </p:nvSpPr>
          <p:spPr bwMode="auto">
            <a:xfrm>
              <a:off x="3290888" y="152400"/>
              <a:ext cx="1427163" cy="1889125"/>
            </a:xfrm>
            <a:custGeom>
              <a:avLst/>
              <a:gdLst>
                <a:gd name="T0" fmla="*/ 320 w 6064"/>
                <a:gd name="T1" fmla="*/ 57 h 8032"/>
                <a:gd name="T2" fmla="*/ 157 w 6064"/>
                <a:gd name="T3" fmla="*/ 172 h 8032"/>
                <a:gd name="T4" fmla="*/ 44 w 6064"/>
                <a:gd name="T5" fmla="*/ 335 h 8032"/>
                <a:gd name="T6" fmla="*/ 17 w 6064"/>
                <a:gd name="T7" fmla="*/ 432 h 8032"/>
                <a:gd name="T8" fmla="*/ 0 w 6064"/>
                <a:gd name="T9" fmla="*/ 4016 h 8032"/>
                <a:gd name="T10" fmla="*/ 10 w 6064"/>
                <a:gd name="T11" fmla="*/ 7503 h 8032"/>
                <a:gd name="T12" fmla="*/ 33 w 6064"/>
                <a:gd name="T13" fmla="*/ 7672 h 8032"/>
                <a:gd name="T14" fmla="*/ 96 w 6064"/>
                <a:gd name="T15" fmla="*/ 7785 h 8032"/>
                <a:gd name="T16" fmla="*/ 210 w 6064"/>
                <a:gd name="T17" fmla="*/ 7905 h 8032"/>
                <a:gd name="T18" fmla="*/ 325 w 6064"/>
                <a:gd name="T19" fmla="*/ 7977 h 8032"/>
                <a:gd name="T20" fmla="*/ 4658 w 6064"/>
                <a:gd name="T21" fmla="*/ 8032 h 8032"/>
                <a:gd name="T22" fmla="*/ 4443 w 6064"/>
                <a:gd name="T23" fmla="*/ 7886 h 8032"/>
                <a:gd name="T24" fmla="*/ 4284 w 6064"/>
                <a:gd name="T25" fmla="*/ 7864 h 8032"/>
                <a:gd name="T26" fmla="*/ 458 w 6064"/>
                <a:gd name="T27" fmla="*/ 7841 h 8032"/>
                <a:gd name="T28" fmla="*/ 305 w 6064"/>
                <a:gd name="T29" fmla="*/ 7743 h 8032"/>
                <a:gd name="T30" fmla="*/ 205 w 6064"/>
                <a:gd name="T31" fmla="*/ 7604 h 8032"/>
                <a:gd name="T32" fmla="*/ 189 w 6064"/>
                <a:gd name="T33" fmla="*/ 6936 h 8032"/>
                <a:gd name="T34" fmla="*/ 189 w 6064"/>
                <a:gd name="T35" fmla="*/ 1096 h 8032"/>
                <a:gd name="T36" fmla="*/ 205 w 6064"/>
                <a:gd name="T37" fmla="*/ 427 h 8032"/>
                <a:gd name="T38" fmla="*/ 305 w 6064"/>
                <a:gd name="T39" fmla="*/ 288 h 8032"/>
                <a:gd name="T40" fmla="*/ 458 w 6064"/>
                <a:gd name="T41" fmla="*/ 191 h 8032"/>
                <a:gd name="T42" fmla="*/ 3626 w 6064"/>
                <a:gd name="T43" fmla="*/ 241 h 8032"/>
                <a:gd name="T44" fmla="*/ 3716 w 6064"/>
                <a:gd name="T45" fmla="*/ 317 h 8032"/>
                <a:gd name="T46" fmla="*/ 3808 w 6064"/>
                <a:gd name="T47" fmla="*/ 454 h 8032"/>
                <a:gd name="T48" fmla="*/ 3880 w 6064"/>
                <a:gd name="T49" fmla="*/ 1736 h 8032"/>
                <a:gd name="T50" fmla="*/ 4027 w 6064"/>
                <a:gd name="T51" fmla="*/ 1928 h 8032"/>
                <a:gd name="T52" fmla="*/ 4175 w 6064"/>
                <a:gd name="T53" fmla="*/ 2017 h 8032"/>
                <a:gd name="T54" fmla="*/ 4908 w 6064"/>
                <a:gd name="T55" fmla="*/ 2049 h 8032"/>
                <a:gd name="T56" fmla="*/ 5569 w 6064"/>
                <a:gd name="T57" fmla="*/ 2066 h 8032"/>
                <a:gd name="T58" fmla="*/ 5687 w 6064"/>
                <a:gd name="T59" fmla="*/ 2110 h 8032"/>
                <a:gd name="T60" fmla="*/ 5814 w 6064"/>
                <a:gd name="T61" fmla="*/ 2244 h 8032"/>
                <a:gd name="T62" fmla="*/ 5848 w 6064"/>
                <a:gd name="T63" fmla="*/ 2319 h 8032"/>
                <a:gd name="T64" fmla="*/ 5866 w 6064"/>
                <a:gd name="T65" fmla="*/ 2870 h 8032"/>
                <a:gd name="T66" fmla="*/ 5955 w 6064"/>
                <a:gd name="T67" fmla="*/ 5146 h 8032"/>
                <a:gd name="T68" fmla="*/ 6057 w 6064"/>
                <a:gd name="T69" fmla="*/ 5162 h 8032"/>
                <a:gd name="T70" fmla="*/ 6063 w 6064"/>
                <a:gd name="T71" fmla="*/ 3744 h 8032"/>
                <a:gd name="T72" fmla="*/ 5995 w 6064"/>
                <a:gd name="T73" fmla="*/ 2178 h 8032"/>
                <a:gd name="T74" fmla="*/ 5887 w 6064"/>
                <a:gd name="T75" fmla="*/ 2042 h 8032"/>
                <a:gd name="T76" fmla="*/ 5221 w 6064"/>
                <a:gd name="T77" fmla="*/ 1422 h 8032"/>
                <a:gd name="T78" fmla="*/ 3752 w 6064"/>
                <a:gd name="T79" fmla="*/ 93 h 8032"/>
                <a:gd name="T80" fmla="*/ 3659 w 6064"/>
                <a:gd name="T81" fmla="*/ 42 h 8032"/>
                <a:gd name="T82" fmla="*/ 3224 w 6064"/>
                <a:gd name="T83" fmla="*/ 3 h 8032"/>
                <a:gd name="T84" fmla="*/ 1235 w 6064"/>
                <a:gd name="T85" fmla="*/ 1 h 8032"/>
                <a:gd name="T86" fmla="*/ 415 w 6064"/>
                <a:gd name="T87" fmla="*/ 22 h 8032"/>
                <a:gd name="T88" fmla="*/ 4873 w 6064"/>
                <a:gd name="T89" fmla="*/ 1862 h 8032"/>
                <a:gd name="T90" fmla="*/ 4286 w 6064"/>
                <a:gd name="T91" fmla="*/ 1854 h 8032"/>
                <a:gd name="T92" fmla="*/ 4173 w 6064"/>
                <a:gd name="T93" fmla="*/ 1803 h 8032"/>
                <a:gd name="T94" fmla="*/ 4045 w 6064"/>
                <a:gd name="T95" fmla="*/ 1661 h 8032"/>
                <a:gd name="T96" fmla="*/ 4009 w 6064"/>
                <a:gd name="T97" fmla="*/ 1467 h 8032"/>
                <a:gd name="T98" fmla="*/ 4001 w 6064"/>
                <a:gd name="T99" fmla="*/ 869 h 8032"/>
                <a:gd name="T100" fmla="*/ 4013 w 6064"/>
                <a:gd name="T101" fmla="*/ 584 h 8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064" h="8032">
                  <a:moveTo>
                    <a:pt x="415" y="22"/>
                  </a:moveTo>
                  <a:lnTo>
                    <a:pt x="382" y="32"/>
                  </a:lnTo>
                  <a:lnTo>
                    <a:pt x="320" y="57"/>
                  </a:lnTo>
                  <a:lnTo>
                    <a:pt x="262" y="89"/>
                  </a:lnTo>
                  <a:lnTo>
                    <a:pt x="207" y="127"/>
                  </a:lnTo>
                  <a:lnTo>
                    <a:pt x="157" y="172"/>
                  </a:lnTo>
                  <a:lnTo>
                    <a:pt x="113" y="221"/>
                  </a:lnTo>
                  <a:lnTo>
                    <a:pt x="75" y="276"/>
                  </a:lnTo>
                  <a:lnTo>
                    <a:pt x="44" y="335"/>
                  </a:lnTo>
                  <a:lnTo>
                    <a:pt x="31" y="366"/>
                  </a:lnTo>
                  <a:lnTo>
                    <a:pt x="26" y="381"/>
                  </a:lnTo>
                  <a:lnTo>
                    <a:pt x="17" y="432"/>
                  </a:lnTo>
                  <a:lnTo>
                    <a:pt x="7" y="619"/>
                  </a:lnTo>
                  <a:lnTo>
                    <a:pt x="0" y="1830"/>
                  </a:lnTo>
                  <a:lnTo>
                    <a:pt x="0" y="4016"/>
                  </a:lnTo>
                  <a:lnTo>
                    <a:pt x="0" y="6238"/>
                  </a:lnTo>
                  <a:lnTo>
                    <a:pt x="6" y="7301"/>
                  </a:lnTo>
                  <a:lnTo>
                    <a:pt x="10" y="7503"/>
                  </a:lnTo>
                  <a:lnTo>
                    <a:pt x="17" y="7608"/>
                  </a:lnTo>
                  <a:lnTo>
                    <a:pt x="27" y="7656"/>
                  </a:lnTo>
                  <a:lnTo>
                    <a:pt x="33" y="7672"/>
                  </a:lnTo>
                  <a:lnTo>
                    <a:pt x="42" y="7695"/>
                  </a:lnTo>
                  <a:lnTo>
                    <a:pt x="66" y="7741"/>
                  </a:lnTo>
                  <a:lnTo>
                    <a:pt x="96" y="7785"/>
                  </a:lnTo>
                  <a:lnTo>
                    <a:pt x="130" y="7828"/>
                  </a:lnTo>
                  <a:lnTo>
                    <a:pt x="168" y="7868"/>
                  </a:lnTo>
                  <a:lnTo>
                    <a:pt x="210" y="7905"/>
                  </a:lnTo>
                  <a:lnTo>
                    <a:pt x="255" y="7938"/>
                  </a:lnTo>
                  <a:lnTo>
                    <a:pt x="301" y="7966"/>
                  </a:lnTo>
                  <a:lnTo>
                    <a:pt x="325" y="7977"/>
                  </a:lnTo>
                  <a:lnTo>
                    <a:pt x="425" y="8024"/>
                  </a:lnTo>
                  <a:lnTo>
                    <a:pt x="2541" y="8029"/>
                  </a:lnTo>
                  <a:lnTo>
                    <a:pt x="4658" y="8032"/>
                  </a:lnTo>
                  <a:lnTo>
                    <a:pt x="4566" y="7972"/>
                  </a:lnTo>
                  <a:lnTo>
                    <a:pt x="4489" y="7920"/>
                  </a:lnTo>
                  <a:lnTo>
                    <a:pt x="4443" y="7886"/>
                  </a:lnTo>
                  <a:lnTo>
                    <a:pt x="4437" y="7881"/>
                  </a:lnTo>
                  <a:lnTo>
                    <a:pt x="4404" y="7873"/>
                  </a:lnTo>
                  <a:lnTo>
                    <a:pt x="4284" y="7864"/>
                  </a:lnTo>
                  <a:lnTo>
                    <a:pt x="3588" y="7854"/>
                  </a:lnTo>
                  <a:lnTo>
                    <a:pt x="2435" y="7849"/>
                  </a:lnTo>
                  <a:lnTo>
                    <a:pt x="458" y="7841"/>
                  </a:lnTo>
                  <a:lnTo>
                    <a:pt x="390" y="7804"/>
                  </a:lnTo>
                  <a:lnTo>
                    <a:pt x="360" y="7787"/>
                  </a:lnTo>
                  <a:lnTo>
                    <a:pt x="305" y="7743"/>
                  </a:lnTo>
                  <a:lnTo>
                    <a:pt x="257" y="7691"/>
                  </a:lnTo>
                  <a:lnTo>
                    <a:pt x="218" y="7633"/>
                  </a:lnTo>
                  <a:lnTo>
                    <a:pt x="205" y="7604"/>
                  </a:lnTo>
                  <a:lnTo>
                    <a:pt x="202" y="7583"/>
                  </a:lnTo>
                  <a:lnTo>
                    <a:pt x="196" y="7416"/>
                  </a:lnTo>
                  <a:lnTo>
                    <a:pt x="189" y="6936"/>
                  </a:lnTo>
                  <a:lnTo>
                    <a:pt x="181" y="5346"/>
                  </a:lnTo>
                  <a:lnTo>
                    <a:pt x="181" y="2685"/>
                  </a:lnTo>
                  <a:lnTo>
                    <a:pt x="189" y="1096"/>
                  </a:lnTo>
                  <a:lnTo>
                    <a:pt x="196" y="616"/>
                  </a:lnTo>
                  <a:lnTo>
                    <a:pt x="202" y="448"/>
                  </a:lnTo>
                  <a:lnTo>
                    <a:pt x="205" y="427"/>
                  </a:lnTo>
                  <a:lnTo>
                    <a:pt x="218" y="398"/>
                  </a:lnTo>
                  <a:lnTo>
                    <a:pt x="257" y="340"/>
                  </a:lnTo>
                  <a:lnTo>
                    <a:pt x="305" y="288"/>
                  </a:lnTo>
                  <a:lnTo>
                    <a:pt x="360" y="244"/>
                  </a:lnTo>
                  <a:lnTo>
                    <a:pt x="390" y="227"/>
                  </a:lnTo>
                  <a:lnTo>
                    <a:pt x="458" y="191"/>
                  </a:lnTo>
                  <a:lnTo>
                    <a:pt x="2001" y="191"/>
                  </a:lnTo>
                  <a:lnTo>
                    <a:pt x="3545" y="191"/>
                  </a:lnTo>
                  <a:lnTo>
                    <a:pt x="3626" y="241"/>
                  </a:lnTo>
                  <a:lnTo>
                    <a:pt x="3645" y="253"/>
                  </a:lnTo>
                  <a:lnTo>
                    <a:pt x="3682" y="283"/>
                  </a:lnTo>
                  <a:lnTo>
                    <a:pt x="3716" y="317"/>
                  </a:lnTo>
                  <a:lnTo>
                    <a:pt x="3746" y="354"/>
                  </a:lnTo>
                  <a:lnTo>
                    <a:pt x="3758" y="372"/>
                  </a:lnTo>
                  <a:lnTo>
                    <a:pt x="3808" y="454"/>
                  </a:lnTo>
                  <a:lnTo>
                    <a:pt x="3816" y="1039"/>
                  </a:lnTo>
                  <a:lnTo>
                    <a:pt x="3825" y="1624"/>
                  </a:lnTo>
                  <a:lnTo>
                    <a:pt x="3880" y="1736"/>
                  </a:lnTo>
                  <a:lnTo>
                    <a:pt x="3903" y="1781"/>
                  </a:lnTo>
                  <a:lnTo>
                    <a:pt x="3959" y="1861"/>
                  </a:lnTo>
                  <a:lnTo>
                    <a:pt x="4027" y="1928"/>
                  </a:lnTo>
                  <a:lnTo>
                    <a:pt x="4106" y="1983"/>
                  </a:lnTo>
                  <a:lnTo>
                    <a:pt x="4150" y="2006"/>
                  </a:lnTo>
                  <a:lnTo>
                    <a:pt x="4175" y="2017"/>
                  </a:lnTo>
                  <a:lnTo>
                    <a:pt x="4246" y="2032"/>
                  </a:lnTo>
                  <a:lnTo>
                    <a:pt x="4495" y="2044"/>
                  </a:lnTo>
                  <a:lnTo>
                    <a:pt x="4908" y="2049"/>
                  </a:lnTo>
                  <a:lnTo>
                    <a:pt x="5136" y="2052"/>
                  </a:lnTo>
                  <a:lnTo>
                    <a:pt x="5424" y="2058"/>
                  </a:lnTo>
                  <a:lnTo>
                    <a:pt x="5569" y="2066"/>
                  </a:lnTo>
                  <a:lnTo>
                    <a:pt x="5635" y="2082"/>
                  </a:lnTo>
                  <a:lnTo>
                    <a:pt x="5658" y="2094"/>
                  </a:lnTo>
                  <a:lnTo>
                    <a:pt x="5687" y="2110"/>
                  </a:lnTo>
                  <a:lnTo>
                    <a:pt x="5737" y="2147"/>
                  </a:lnTo>
                  <a:lnTo>
                    <a:pt x="5778" y="2190"/>
                  </a:lnTo>
                  <a:lnTo>
                    <a:pt x="5814" y="2244"/>
                  </a:lnTo>
                  <a:lnTo>
                    <a:pt x="5831" y="2277"/>
                  </a:lnTo>
                  <a:lnTo>
                    <a:pt x="5838" y="2290"/>
                  </a:lnTo>
                  <a:lnTo>
                    <a:pt x="5848" y="2319"/>
                  </a:lnTo>
                  <a:lnTo>
                    <a:pt x="5855" y="2367"/>
                  </a:lnTo>
                  <a:lnTo>
                    <a:pt x="5860" y="2451"/>
                  </a:lnTo>
                  <a:lnTo>
                    <a:pt x="5866" y="2870"/>
                  </a:lnTo>
                  <a:lnTo>
                    <a:pt x="5866" y="3729"/>
                  </a:lnTo>
                  <a:lnTo>
                    <a:pt x="5866" y="5109"/>
                  </a:lnTo>
                  <a:lnTo>
                    <a:pt x="5955" y="5146"/>
                  </a:lnTo>
                  <a:lnTo>
                    <a:pt x="6025" y="5174"/>
                  </a:lnTo>
                  <a:lnTo>
                    <a:pt x="6055" y="5182"/>
                  </a:lnTo>
                  <a:lnTo>
                    <a:pt x="6057" y="5162"/>
                  </a:lnTo>
                  <a:lnTo>
                    <a:pt x="6061" y="4943"/>
                  </a:lnTo>
                  <a:lnTo>
                    <a:pt x="6064" y="4320"/>
                  </a:lnTo>
                  <a:lnTo>
                    <a:pt x="6063" y="3744"/>
                  </a:lnTo>
                  <a:lnTo>
                    <a:pt x="6058" y="2307"/>
                  </a:lnTo>
                  <a:lnTo>
                    <a:pt x="6005" y="2197"/>
                  </a:lnTo>
                  <a:lnTo>
                    <a:pt x="5995" y="2178"/>
                  </a:lnTo>
                  <a:lnTo>
                    <a:pt x="5972" y="2141"/>
                  </a:lnTo>
                  <a:lnTo>
                    <a:pt x="5939" y="2098"/>
                  </a:lnTo>
                  <a:lnTo>
                    <a:pt x="5887" y="2042"/>
                  </a:lnTo>
                  <a:lnTo>
                    <a:pt x="5763" y="1920"/>
                  </a:lnTo>
                  <a:lnTo>
                    <a:pt x="5458" y="1639"/>
                  </a:lnTo>
                  <a:lnTo>
                    <a:pt x="5221" y="1422"/>
                  </a:lnTo>
                  <a:lnTo>
                    <a:pt x="4390" y="664"/>
                  </a:lnTo>
                  <a:lnTo>
                    <a:pt x="3873" y="197"/>
                  </a:lnTo>
                  <a:lnTo>
                    <a:pt x="3752" y="93"/>
                  </a:lnTo>
                  <a:lnTo>
                    <a:pt x="3730" y="79"/>
                  </a:lnTo>
                  <a:lnTo>
                    <a:pt x="3707" y="65"/>
                  </a:lnTo>
                  <a:lnTo>
                    <a:pt x="3659" y="42"/>
                  </a:lnTo>
                  <a:lnTo>
                    <a:pt x="3593" y="25"/>
                  </a:lnTo>
                  <a:lnTo>
                    <a:pt x="3487" y="13"/>
                  </a:lnTo>
                  <a:lnTo>
                    <a:pt x="3224" y="3"/>
                  </a:lnTo>
                  <a:lnTo>
                    <a:pt x="2541" y="0"/>
                  </a:lnTo>
                  <a:lnTo>
                    <a:pt x="1991" y="1"/>
                  </a:lnTo>
                  <a:lnTo>
                    <a:pt x="1235" y="1"/>
                  </a:lnTo>
                  <a:lnTo>
                    <a:pt x="633" y="8"/>
                  </a:lnTo>
                  <a:lnTo>
                    <a:pt x="447" y="16"/>
                  </a:lnTo>
                  <a:lnTo>
                    <a:pt x="415" y="22"/>
                  </a:lnTo>
                  <a:close/>
                  <a:moveTo>
                    <a:pt x="4725" y="1224"/>
                  </a:moveTo>
                  <a:lnTo>
                    <a:pt x="5421" y="1857"/>
                  </a:lnTo>
                  <a:lnTo>
                    <a:pt x="4873" y="1862"/>
                  </a:lnTo>
                  <a:lnTo>
                    <a:pt x="4633" y="1864"/>
                  </a:lnTo>
                  <a:lnTo>
                    <a:pt x="4383" y="1860"/>
                  </a:lnTo>
                  <a:lnTo>
                    <a:pt x="4286" y="1854"/>
                  </a:lnTo>
                  <a:lnTo>
                    <a:pt x="4266" y="1851"/>
                  </a:lnTo>
                  <a:lnTo>
                    <a:pt x="4236" y="1840"/>
                  </a:lnTo>
                  <a:lnTo>
                    <a:pt x="4173" y="1803"/>
                  </a:lnTo>
                  <a:lnTo>
                    <a:pt x="4113" y="1752"/>
                  </a:lnTo>
                  <a:lnTo>
                    <a:pt x="4063" y="1692"/>
                  </a:lnTo>
                  <a:lnTo>
                    <a:pt x="4045" y="1661"/>
                  </a:lnTo>
                  <a:lnTo>
                    <a:pt x="4033" y="1637"/>
                  </a:lnTo>
                  <a:lnTo>
                    <a:pt x="4017" y="1580"/>
                  </a:lnTo>
                  <a:lnTo>
                    <a:pt x="4009" y="1467"/>
                  </a:lnTo>
                  <a:lnTo>
                    <a:pt x="4005" y="1252"/>
                  </a:lnTo>
                  <a:lnTo>
                    <a:pt x="4003" y="1084"/>
                  </a:lnTo>
                  <a:lnTo>
                    <a:pt x="4001" y="869"/>
                  </a:lnTo>
                  <a:lnTo>
                    <a:pt x="4004" y="658"/>
                  </a:lnTo>
                  <a:lnTo>
                    <a:pt x="4009" y="589"/>
                  </a:lnTo>
                  <a:lnTo>
                    <a:pt x="4013" y="584"/>
                  </a:lnTo>
                  <a:lnTo>
                    <a:pt x="4181" y="731"/>
                  </a:lnTo>
                  <a:lnTo>
                    <a:pt x="4725" y="1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0" name="Freeform 192">
              <a:extLst>
                <a:ext uri="{FF2B5EF4-FFF2-40B4-BE49-F238E27FC236}">
                  <a16:creationId xmlns:a16="http://schemas.microsoft.com/office/drawing/2014/main" id="{A3C20801-CFA8-4B96-9DFA-637FBC91BF6E}"/>
                </a:ext>
              </a:extLst>
            </p:cNvPr>
            <p:cNvSpPr>
              <a:spLocks/>
            </p:cNvSpPr>
            <p:nvPr/>
          </p:nvSpPr>
          <p:spPr bwMode="auto">
            <a:xfrm>
              <a:off x="3543301" y="571500"/>
              <a:ext cx="371475" cy="44450"/>
            </a:xfrm>
            <a:custGeom>
              <a:avLst/>
              <a:gdLst>
                <a:gd name="T0" fmla="*/ 16 w 1582"/>
                <a:gd name="T1" fmla="*/ 32 h 184"/>
                <a:gd name="T2" fmla="*/ 7 w 1582"/>
                <a:gd name="T3" fmla="*/ 51 h 184"/>
                <a:gd name="T4" fmla="*/ 0 w 1582"/>
                <a:gd name="T5" fmla="*/ 87 h 184"/>
                <a:gd name="T6" fmla="*/ 5 w 1582"/>
                <a:gd name="T7" fmla="*/ 120 h 184"/>
                <a:gd name="T8" fmla="*/ 22 w 1582"/>
                <a:gd name="T9" fmla="*/ 146 h 184"/>
                <a:gd name="T10" fmla="*/ 36 w 1582"/>
                <a:gd name="T11" fmla="*/ 157 h 184"/>
                <a:gd name="T12" fmla="*/ 43 w 1582"/>
                <a:gd name="T13" fmla="*/ 161 h 184"/>
                <a:gd name="T14" fmla="*/ 64 w 1582"/>
                <a:gd name="T15" fmla="*/ 168 h 184"/>
                <a:gd name="T16" fmla="*/ 122 w 1582"/>
                <a:gd name="T17" fmla="*/ 176 h 184"/>
                <a:gd name="T18" fmla="*/ 394 w 1582"/>
                <a:gd name="T19" fmla="*/ 183 h 184"/>
                <a:gd name="T20" fmla="*/ 801 w 1582"/>
                <a:gd name="T21" fmla="*/ 184 h 184"/>
                <a:gd name="T22" fmla="*/ 1234 w 1582"/>
                <a:gd name="T23" fmla="*/ 183 h 184"/>
                <a:gd name="T24" fmla="*/ 1489 w 1582"/>
                <a:gd name="T25" fmla="*/ 176 h 184"/>
                <a:gd name="T26" fmla="*/ 1535 w 1582"/>
                <a:gd name="T27" fmla="*/ 167 h 184"/>
                <a:gd name="T28" fmla="*/ 1549 w 1582"/>
                <a:gd name="T29" fmla="*/ 159 h 184"/>
                <a:gd name="T30" fmla="*/ 1554 w 1582"/>
                <a:gd name="T31" fmla="*/ 154 h 184"/>
                <a:gd name="T32" fmla="*/ 1566 w 1582"/>
                <a:gd name="T33" fmla="*/ 139 h 184"/>
                <a:gd name="T34" fmla="*/ 1580 w 1582"/>
                <a:gd name="T35" fmla="*/ 103 h 184"/>
                <a:gd name="T36" fmla="*/ 1582 w 1582"/>
                <a:gd name="T37" fmla="*/ 65 h 184"/>
                <a:gd name="T38" fmla="*/ 1572 w 1582"/>
                <a:gd name="T39" fmla="*/ 32 h 184"/>
                <a:gd name="T40" fmla="*/ 1563 w 1582"/>
                <a:gd name="T41" fmla="*/ 20 h 184"/>
                <a:gd name="T42" fmla="*/ 1551 w 1582"/>
                <a:gd name="T43" fmla="*/ 15 h 184"/>
                <a:gd name="T44" fmla="*/ 1464 w 1582"/>
                <a:gd name="T45" fmla="*/ 7 h 184"/>
                <a:gd name="T46" fmla="*/ 1165 w 1582"/>
                <a:gd name="T47" fmla="*/ 1 h 184"/>
                <a:gd name="T48" fmla="*/ 788 w 1582"/>
                <a:gd name="T49" fmla="*/ 0 h 184"/>
                <a:gd name="T50" fmla="*/ 329 w 1582"/>
                <a:gd name="T51" fmla="*/ 1 h 184"/>
                <a:gd name="T52" fmla="*/ 71 w 1582"/>
                <a:gd name="T53" fmla="*/ 9 h 184"/>
                <a:gd name="T54" fmla="*/ 30 w 1582"/>
                <a:gd name="T55" fmla="*/ 18 h 184"/>
                <a:gd name="T56" fmla="*/ 19 w 1582"/>
                <a:gd name="T57" fmla="*/ 27 h 184"/>
                <a:gd name="T58" fmla="*/ 16 w 1582"/>
                <a:gd name="T59"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4">
                  <a:moveTo>
                    <a:pt x="16" y="32"/>
                  </a:moveTo>
                  <a:lnTo>
                    <a:pt x="7" y="51"/>
                  </a:lnTo>
                  <a:lnTo>
                    <a:pt x="0" y="87"/>
                  </a:lnTo>
                  <a:lnTo>
                    <a:pt x="5" y="120"/>
                  </a:lnTo>
                  <a:lnTo>
                    <a:pt x="22" y="146"/>
                  </a:lnTo>
                  <a:lnTo>
                    <a:pt x="36" y="157"/>
                  </a:lnTo>
                  <a:lnTo>
                    <a:pt x="43" y="161"/>
                  </a:lnTo>
                  <a:lnTo>
                    <a:pt x="64" y="168"/>
                  </a:lnTo>
                  <a:lnTo>
                    <a:pt x="122" y="176"/>
                  </a:lnTo>
                  <a:lnTo>
                    <a:pt x="394" y="183"/>
                  </a:lnTo>
                  <a:lnTo>
                    <a:pt x="801" y="184"/>
                  </a:lnTo>
                  <a:lnTo>
                    <a:pt x="1234" y="183"/>
                  </a:lnTo>
                  <a:lnTo>
                    <a:pt x="1489" y="176"/>
                  </a:lnTo>
                  <a:lnTo>
                    <a:pt x="1535" y="167"/>
                  </a:lnTo>
                  <a:lnTo>
                    <a:pt x="1549" y="159"/>
                  </a:lnTo>
                  <a:lnTo>
                    <a:pt x="1554" y="154"/>
                  </a:lnTo>
                  <a:lnTo>
                    <a:pt x="1566" y="139"/>
                  </a:lnTo>
                  <a:lnTo>
                    <a:pt x="1580" y="103"/>
                  </a:lnTo>
                  <a:lnTo>
                    <a:pt x="1582" y="65"/>
                  </a:lnTo>
                  <a:lnTo>
                    <a:pt x="1572" y="32"/>
                  </a:lnTo>
                  <a:lnTo>
                    <a:pt x="1563" y="20"/>
                  </a:lnTo>
                  <a:lnTo>
                    <a:pt x="1551" y="15"/>
                  </a:lnTo>
                  <a:lnTo>
                    <a:pt x="1464" y="7"/>
                  </a:lnTo>
                  <a:lnTo>
                    <a:pt x="1165" y="1"/>
                  </a:lnTo>
                  <a:lnTo>
                    <a:pt x="788" y="0"/>
                  </a:lnTo>
                  <a:lnTo>
                    <a:pt x="329" y="1"/>
                  </a:lnTo>
                  <a:lnTo>
                    <a:pt x="71" y="9"/>
                  </a:lnTo>
                  <a:lnTo>
                    <a:pt x="30"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1" name="Freeform 193">
              <a:extLst>
                <a:ext uri="{FF2B5EF4-FFF2-40B4-BE49-F238E27FC236}">
                  <a16:creationId xmlns:a16="http://schemas.microsoft.com/office/drawing/2014/main" id="{341BA33C-F8DE-9EE7-6E8E-26BF7767CEBE}"/>
                </a:ext>
              </a:extLst>
            </p:cNvPr>
            <p:cNvSpPr>
              <a:spLocks/>
            </p:cNvSpPr>
            <p:nvPr/>
          </p:nvSpPr>
          <p:spPr bwMode="auto">
            <a:xfrm>
              <a:off x="3543301" y="835025"/>
              <a:ext cx="657225" cy="42863"/>
            </a:xfrm>
            <a:custGeom>
              <a:avLst/>
              <a:gdLst>
                <a:gd name="T0" fmla="*/ 25 w 2796"/>
                <a:gd name="T1" fmla="*/ 27 h 183"/>
                <a:gd name="T2" fmla="*/ 13 w 2796"/>
                <a:gd name="T3" fmla="*/ 41 h 183"/>
                <a:gd name="T4" fmla="*/ 0 w 2796"/>
                <a:gd name="T5" fmla="*/ 74 h 183"/>
                <a:gd name="T6" fmla="*/ 1 w 2796"/>
                <a:gd name="T7" fmla="*/ 109 h 183"/>
                <a:gd name="T8" fmla="*/ 16 w 2796"/>
                <a:gd name="T9" fmla="*/ 142 h 183"/>
                <a:gd name="T10" fmla="*/ 28 w 2796"/>
                <a:gd name="T11" fmla="*/ 155 h 183"/>
                <a:gd name="T12" fmla="*/ 34 w 2796"/>
                <a:gd name="T13" fmla="*/ 160 h 183"/>
                <a:gd name="T14" fmla="*/ 60 w 2796"/>
                <a:gd name="T15" fmla="*/ 168 h 183"/>
                <a:gd name="T16" fmla="*/ 145 w 2796"/>
                <a:gd name="T17" fmla="*/ 176 h 183"/>
                <a:gd name="T18" fmla="*/ 621 w 2796"/>
                <a:gd name="T19" fmla="*/ 183 h 183"/>
                <a:gd name="T20" fmla="*/ 1402 w 2796"/>
                <a:gd name="T21" fmla="*/ 183 h 183"/>
                <a:gd name="T22" fmla="*/ 2209 w 2796"/>
                <a:gd name="T23" fmla="*/ 183 h 183"/>
                <a:gd name="T24" fmla="*/ 2671 w 2796"/>
                <a:gd name="T25" fmla="*/ 176 h 183"/>
                <a:gd name="T26" fmla="*/ 2745 w 2796"/>
                <a:gd name="T27" fmla="*/ 167 h 183"/>
                <a:gd name="T28" fmla="*/ 2765 w 2796"/>
                <a:gd name="T29" fmla="*/ 158 h 183"/>
                <a:gd name="T30" fmla="*/ 2770 w 2796"/>
                <a:gd name="T31" fmla="*/ 153 h 183"/>
                <a:gd name="T32" fmla="*/ 2782 w 2796"/>
                <a:gd name="T33" fmla="*/ 138 h 183"/>
                <a:gd name="T34" fmla="*/ 2796 w 2796"/>
                <a:gd name="T35" fmla="*/ 105 h 183"/>
                <a:gd name="T36" fmla="*/ 2796 w 2796"/>
                <a:gd name="T37" fmla="*/ 71 h 183"/>
                <a:gd name="T38" fmla="*/ 2784 w 2796"/>
                <a:gd name="T39" fmla="*/ 40 h 183"/>
                <a:gd name="T40" fmla="*/ 2772 w 2796"/>
                <a:gd name="T41" fmla="*/ 27 h 183"/>
                <a:gd name="T42" fmla="*/ 2766 w 2796"/>
                <a:gd name="T43" fmla="*/ 22 h 183"/>
                <a:gd name="T44" fmla="*/ 2741 w 2796"/>
                <a:gd name="T45" fmla="*/ 15 h 183"/>
                <a:gd name="T46" fmla="*/ 2652 w 2796"/>
                <a:gd name="T47" fmla="*/ 8 h 183"/>
                <a:gd name="T48" fmla="*/ 2169 w 2796"/>
                <a:gd name="T49" fmla="*/ 0 h 183"/>
                <a:gd name="T50" fmla="*/ 1398 w 2796"/>
                <a:gd name="T51" fmla="*/ 0 h 183"/>
                <a:gd name="T52" fmla="*/ 628 w 2796"/>
                <a:gd name="T53" fmla="*/ 0 h 183"/>
                <a:gd name="T54" fmla="*/ 145 w 2796"/>
                <a:gd name="T55" fmla="*/ 8 h 183"/>
                <a:gd name="T56" fmla="*/ 56 w 2796"/>
                <a:gd name="T57" fmla="*/ 15 h 183"/>
                <a:gd name="T58" fmla="*/ 30 w 2796"/>
                <a:gd name="T59" fmla="*/ 22 h 183"/>
                <a:gd name="T60" fmla="*/ 25 w 2796"/>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96" h="183">
                  <a:moveTo>
                    <a:pt x="25" y="27"/>
                  </a:moveTo>
                  <a:lnTo>
                    <a:pt x="13" y="41"/>
                  </a:lnTo>
                  <a:lnTo>
                    <a:pt x="0" y="74"/>
                  </a:lnTo>
                  <a:lnTo>
                    <a:pt x="1" y="109"/>
                  </a:lnTo>
                  <a:lnTo>
                    <a:pt x="16" y="142"/>
                  </a:lnTo>
                  <a:lnTo>
                    <a:pt x="28" y="155"/>
                  </a:lnTo>
                  <a:lnTo>
                    <a:pt x="34" y="160"/>
                  </a:lnTo>
                  <a:lnTo>
                    <a:pt x="60" y="168"/>
                  </a:lnTo>
                  <a:lnTo>
                    <a:pt x="145" y="176"/>
                  </a:lnTo>
                  <a:lnTo>
                    <a:pt x="621" y="183"/>
                  </a:lnTo>
                  <a:lnTo>
                    <a:pt x="1402" y="183"/>
                  </a:lnTo>
                  <a:lnTo>
                    <a:pt x="2209" y="183"/>
                  </a:lnTo>
                  <a:lnTo>
                    <a:pt x="2671" y="176"/>
                  </a:lnTo>
                  <a:lnTo>
                    <a:pt x="2745" y="167"/>
                  </a:lnTo>
                  <a:lnTo>
                    <a:pt x="2765" y="158"/>
                  </a:lnTo>
                  <a:lnTo>
                    <a:pt x="2770" y="153"/>
                  </a:lnTo>
                  <a:lnTo>
                    <a:pt x="2782" y="138"/>
                  </a:lnTo>
                  <a:lnTo>
                    <a:pt x="2796" y="105"/>
                  </a:lnTo>
                  <a:lnTo>
                    <a:pt x="2796" y="71"/>
                  </a:lnTo>
                  <a:lnTo>
                    <a:pt x="2784" y="40"/>
                  </a:lnTo>
                  <a:lnTo>
                    <a:pt x="2772" y="27"/>
                  </a:lnTo>
                  <a:lnTo>
                    <a:pt x="2766" y="22"/>
                  </a:lnTo>
                  <a:lnTo>
                    <a:pt x="2741" y="15"/>
                  </a:lnTo>
                  <a:lnTo>
                    <a:pt x="2652" y="8"/>
                  </a:lnTo>
                  <a:lnTo>
                    <a:pt x="2169" y="0"/>
                  </a:lnTo>
                  <a:lnTo>
                    <a:pt x="1398" y="0"/>
                  </a:lnTo>
                  <a:lnTo>
                    <a:pt x="628" y="0"/>
                  </a:lnTo>
                  <a:lnTo>
                    <a:pt x="145" y="8"/>
                  </a:lnTo>
                  <a:lnTo>
                    <a:pt x="5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2" name="Freeform 194">
              <a:extLst>
                <a:ext uri="{FF2B5EF4-FFF2-40B4-BE49-F238E27FC236}">
                  <a16:creationId xmlns:a16="http://schemas.microsoft.com/office/drawing/2014/main" id="{E2C848AD-75EF-EC83-2814-E94B50743544}"/>
                </a:ext>
              </a:extLst>
            </p:cNvPr>
            <p:cNvSpPr>
              <a:spLocks/>
            </p:cNvSpPr>
            <p:nvPr/>
          </p:nvSpPr>
          <p:spPr bwMode="auto">
            <a:xfrm>
              <a:off x="3543301" y="944563"/>
              <a:ext cx="877888" cy="42863"/>
            </a:xfrm>
            <a:custGeom>
              <a:avLst/>
              <a:gdLst>
                <a:gd name="T0" fmla="*/ 25 w 3730"/>
                <a:gd name="T1" fmla="*/ 26 h 183"/>
                <a:gd name="T2" fmla="*/ 13 w 3730"/>
                <a:gd name="T3" fmla="*/ 40 h 183"/>
                <a:gd name="T4" fmla="*/ 0 w 3730"/>
                <a:gd name="T5" fmla="*/ 73 h 183"/>
                <a:gd name="T6" fmla="*/ 1 w 3730"/>
                <a:gd name="T7" fmla="*/ 109 h 183"/>
                <a:gd name="T8" fmla="*/ 16 w 3730"/>
                <a:gd name="T9" fmla="*/ 141 h 183"/>
                <a:gd name="T10" fmla="*/ 28 w 3730"/>
                <a:gd name="T11" fmla="*/ 155 h 183"/>
                <a:gd name="T12" fmla="*/ 35 w 3730"/>
                <a:gd name="T13" fmla="*/ 159 h 183"/>
                <a:gd name="T14" fmla="*/ 65 w 3730"/>
                <a:gd name="T15" fmla="*/ 167 h 183"/>
                <a:gd name="T16" fmla="*/ 175 w 3730"/>
                <a:gd name="T17" fmla="*/ 176 h 183"/>
                <a:gd name="T18" fmla="*/ 812 w 3730"/>
                <a:gd name="T19" fmla="*/ 183 h 183"/>
                <a:gd name="T20" fmla="*/ 1868 w 3730"/>
                <a:gd name="T21" fmla="*/ 183 h 183"/>
                <a:gd name="T22" fmla="*/ 2960 w 3730"/>
                <a:gd name="T23" fmla="*/ 183 h 183"/>
                <a:gd name="T24" fmla="*/ 3578 w 3730"/>
                <a:gd name="T25" fmla="*/ 175 h 183"/>
                <a:gd name="T26" fmla="*/ 3674 w 3730"/>
                <a:gd name="T27" fmla="*/ 166 h 183"/>
                <a:gd name="T28" fmla="*/ 3698 w 3730"/>
                <a:gd name="T29" fmla="*/ 158 h 183"/>
                <a:gd name="T30" fmla="*/ 3703 w 3730"/>
                <a:gd name="T31" fmla="*/ 153 h 183"/>
                <a:gd name="T32" fmla="*/ 3715 w 3730"/>
                <a:gd name="T33" fmla="*/ 138 h 183"/>
                <a:gd name="T34" fmla="*/ 3729 w 3730"/>
                <a:gd name="T35" fmla="*/ 105 h 183"/>
                <a:gd name="T36" fmla="*/ 3730 w 3730"/>
                <a:gd name="T37" fmla="*/ 71 h 183"/>
                <a:gd name="T38" fmla="*/ 3717 w 3730"/>
                <a:gd name="T39" fmla="*/ 40 h 183"/>
                <a:gd name="T40" fmla="*/ 3705 w 3730"/>
                <a:gd name="T41" fmla="*/ 26 h 183"/>
                <a:gd name="T42" fmla="*/ 3699 w 3730"/>
                <a:gd name="T43" fmla="*/ 22 h 183"/>
                <a:gd name="T44" fmla="*/ 3668 w 3730"/>
                <a:gd name="T45" fmla="*/ 15 h 183"/>
                <a:gd name="T46" fmla="*/ 3552 w 3730"/>
                <a:gd name="T47" fmla="*/ 7 h 183"/>
                <a:gd name="T48" fmla="*/ 2905 w 3730"/>
                <a:gd name="T49" fmla="*/ 0 h 183"/>
                <a:gd name="T50" fmla="*/ 1865 w 3730"/>
                <a:gd name="T51" fmla="*/ 0 h 183"/>
                <a:gd name="T52" fmla="*/ 825 w 3730"/>
                <a:gd name="T53" fmla="*/ 0 h 183"/>
                <a:gd name="T54" fmla="*/ 178 w 3730"/>
                <a:gd name="T55" fmla="*/ 7 h 183"/>
                <a:gd name="T56" fmla="*/ 62 w 3730"/>
                <a:gd name="T57" fmla="*/ 15 h 183"/>
                <a:gd name="T58" fmla="*/ 31 w 3730"/>
                <a:gd name="T59" fmla="*/ 22 h 183"/>
                <a:gd name="T60" fmla="*/ 25 w 3730"/>
                <a:gd name="T61" fmla="*/ 26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30" h="183">
                  <a:moveTo>
                    <a:pt x="25" y="26"/>
                  </a:moveTo>
                  <a:lnTo>
                    <a:pt x="13" y="40"/>
                  </a:lnTo>
                  <a:lnTo>
                    <a:pt x="0" y="73"/>
                  </a:lnTo>
                  <a:lnTo>
                    <a:pt x="1" y="109"/>
                  </a:lnTo>
                  <a:lnTo>
                    <a:pt x="16" y="141"/>
                  </a:lnTo>
                  <a:lnTo>
                    <a:pt x="28" y="155"/>
                  </a:lnTo>
                  <a:lnTo>
                    <a:pt x="35" y="159"/>
                  </a:lnTo>
                  <a:lnTo>
                    <a:pt x="65" y="167"/>
                  </a:lnTo>
                  <a:lnTo>
                    <a:pt x="175" y="176"/>
                  </a:lnTo>
                  <a:lnTo>
                    <a:pt x="812" y="183"/>
                  </a:lnTo>
                  <a:lnTo>
                    <a:pt x="1868" y="183"/>
                  </a:lnTo>
                  <a:lnTo>
                    <a:pt x="2960" y="183"/>
                  </a:lnTo>
                  <a:lnTo>
                    <a:pt x="3578" y="175"/>
                  </a:lnTo>
                  <a:lnTo>
                    <a:pt x="3674" y="166"/>
                  </a:lnTo>
                  <a:lnTo>
                    <a:pt x="3698" y="158"/>
                  </a:lnTo>
                  <a:lnTo>
                    <a:pt x="3703" y="153"/>
                  </a:lnTo>
                  <a:lnTo>
                    <a:pt x="3715" y="138"/>
                  </a:lnTo>
                  <a:lnTo>
                    <a:pt x="3729" y="105"/>
                  </a:lnTo>
                  <a:lnTo>
                    <a:pt x="3730" y="71"/>
                  </a:lnTo>
                  <a:lnTo>
                    <a:pt x="3717" y="40"/>
                  </a:lnTo>
                  <a:lnTo>
                    <a:pt x="3705" y="26"/>
                  </a:lnTo>
                  <a:lnTo>
                    <a:pt x="3699" y="22"/>
                  </a:lnTo>
                  <a:lnTo>
                    <a:pt x="3668" y="15"/>
                  </a:lnTo>
                  <a:lnTo>
                    <a:pt x="3552" y="7"/>
                  </a:lnTo>
                  <a:lnTo>
                    <a:pt x="2905" y="0"/>
                  </a:lnTo>
                  <a:lnTo>
                    <a:pt x="1865" y="0"/>
                  </a:lnTo>
                  <a:lnTo>
                    <a:pt x="825" y="0"/>
                  </a:lnTo>
                  <a:lnTo>
                    <a:pt x="178" y="7"/>
                  </a:lnTo>
                  <a:lnTo>
                    <a:pt x="62" y="15"/>
                  </a:lnTo>
                  <a:lnTo>
                    <a:pt x="31" y="22"/>
                  </a:lnTo>
                  <a:lnTo>
                    <a:pt x="25"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3" name="Freeform 195">
              <a:extLst>
                <a:ext uri="{FF2B5EF4-FFF2-40B4-BE49-F238E27FC236}">
                  <a16:creationId xmlns:a16="http://schemas.microsoft.com/office/drawing/2014/main" id="{E2D1D724-B567-C2AC-80AC-9BF4DDAB0347}"/>
                </a:ext>
              </a:extLst>
            </p:cNvPr>
            <p:cNvSpPr>
              <a:spLocks/>
            </p:cNvSpPr>
            <p:nvPr/>
          </p:nvSpPr>
          <p:spPr bwMode="auto">
            <a:xfrm>
              <a:off x="3543301" y="1054100"/>
              <a:ext cx="811213" cy="42863"/>
            </a:xfrm>
            <a:custGeom>
              <a:avLst/>
              <a:gdLst>
                <a:gd name="T0" fmla="*/ 25 w 3449"/>
                <a:gd name="T1" fmla="*/ 27 h 184"/>
                <a:gd name="T2" fmla="*/ 13 w 3449"/>
                <a:gd name="T3" fmla="*/ 41 h 184"/>
                <a:gd name="T4" fmla="*/ 0 w 3449"/>
                <a:gd name="T5" fmla="*/ 74 h 184"/>
                <a:gd name="T6" fmla="*/ 1 w 3449"/>
                <a:gd name="T7" fmla="*/ 109 h 184"/>
                <a:gd name="T8" fmla="*/ 16 w 3449"/>
                <a:gd name="T9" fmla="*/ 142 h 184"/>
                <a:gd name="T10" fmla="*/ 28 w 3449"/>
                <a:gd name="T11" fmla="*/ 155 h 184"/>
                <a:gd name="T12" fmla="*/ 35 w 3449"/>
                <a:gd name="T13" fmla="*/ 160 h 184"/>
                <a:gd name="T14" fmla="*/ 63 w 3449"/>
                <a:gd name="T15" fmla="*/ 168 h 184"/>
                <a:gd name="T16" fmla="*/ 166 w 3449"/>
                <a:gd name="T17" fmla="*/ 176 h 184"/>
                <a:gd name="T18" fmla="*/ 754 w 3449"/>
                <a:gd name="T19" fmla="*/ 183 h 184"/>
                <a:gd name="T20" fmla="*/ 1728 w 3449"/>
                <a:gd name="T21" fmla="*/ 184 h 184"/>
                <a:gd name="T22" fmla="*/ 2351 w 3449"/>
                <a:gd name="T23" fmla="*/ 184 h 184"/>
                <a:gd name="T24" fmla="*/ 2939 w 3449"/>
                <a:gd name="T25" fmla="*/ 182 h 184"/>
                <a:gd name="T26" fmla="*/ 3188 w 3449"/>
                <a:gd name="T27" fmla="*/ 178 h 184"/>
                <a:gd name="T28" fmla="*/ 3340 w 3449"/>
                <a:gd name="T29" fmla="*/ 170 h 184"/>
                <a:gd name="T30" fmla="*/ 3402 w 3449"/>
                <a:gd name="T31" fmla="*/ 160 h 184"/>
                <a:gd name="T32" fmla="*/ 3428 w 3449"/>
                <a:gd name="T33" fmla="*/ 152 h 184"/>
                <a:gd name="T34" fmla="*/ 3442 w 3449"/>
                <a:gd name="T35" fmla="*/ 142 h 184"/>
                <a:gd name="T36" fmla="*/ 3448 w 3449"/>
                <a:gd name="T37" fmla="*/ 130 h 184"/>
                <a:gd name="T38" fmla="*/ 3449 w 3449"/>
                <a:gd name="T39" fmla="*/ 109 h 184"/>
                <a:gd name="T40" fmla="*/ 3448 w 3449"/>
                <a:gd name="T41" fmla="*/ 92 h 184"/>
                <a:gd name="T42" fmla="*/ 3449 w 3449"/>
                <a:gd name="T43" fmla="*/ 75 h 184"/>
                <a:gd name="T44" fmla="*/ 3448 w 3449"/>
                <a:gd name="T45" fmla="*/ 54 h 184"/>
                <a:gd name="T46" fmla="*/ 3442 w 3449"/>
                <a:gd name="T47" fmla="*/ 42 h 184"/>
                <a:gd name="T48" fmla="*/ 3427 w 3449"/>
                <a:gd name="T49" fmla="*/ 32 h 184"/>
                <a:gd name="T50" fmla="*/ 3402 w 3449"/>
                <a:gd name="T51" fmla="*/ 24 h 184"/>
                <a:gd name="T52" fmla="*/ 3339 w 3449"/>
                <a:gd name="T53" fmla="*/ 14 h 184"/>
                <a:gd name="T54" fmla="*/ 3187 w 3449"/>
                <a:gd name="T55" fmla="*/ 6 h 184"/>
                <a:gd name="T56" fmla="*/ 2937 w 3449"/>
                <a:gd name="T57" fmla="*/ 2 h 184"/>
                <a:gd name="T58" fmla="*/ 2348 w 3449"/>
                <a:gd name="T59" fmla="*/ 0 h 184"/>
                <a:gd name="T60" fmla="*/ 1723 w 3449"/>
                <a:gd name="T61" fmla="*/ 0 h 184"/>
                <a:gd name="T62" fmla="*/ 765 w 3449"/>
                <a:gd name="T63" fmla="*/ 1 h 184"/>
                <a:gd name="T64" fmla="*/ 168 w 3449"/>
                <a:gd name="T65" fmla="*/ 8 h 184"/>
                <a:gd name="T66" fmla="*/ 61 w 3449"/>
                <a:gd name="T67" fmla="*/ 16 h 184"/>
                <a:gd name="T68" fmla="*/ 31 w 3449"/>
                <a:gd name="T69" fmla="*/ 23 h 184"/>
                <a:gd name="T70" fmla="*/ 25 w 3449"/>
                <a:gd name="T71" fmla="*/ 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49" h="184">
                  <a:moveTo>
                    <a:pt x="25" y="27"/>
                  </a:moveTo>
                  <a:lnTo>
                    <a:pt x="13" y="41"/>
                  </a:lnTo>
                  <a:lnTo>
                    <a:pt x="0" y="74"/>
                  </a:lnTo>
                  <a:lnTo>
                    <a:pt x="1" y="109"/>
                  </a:lnTo>
                  <a:lnTo>
                    <a:pt x="16" y="142"/>
                  </a:lnTo>
                  <a:lnTo>
                    <a:pt x="28" y="155"/>
                  </a:lnTo>
                  <a:lnTo>
                    <a:pt x="35" y="160"/>
                  </a:lnTo>
                  <a:lnTo>
                    <a:pt x="63" y="168"/>
                  </a:lnTo>
                  <a:lnTo>
                    <a:pt x="166" y="176"/>
                  </a:lnTo>
                  <a:lnTo>
                    <a:pt x="754" y="183"/>
                  </a:lnTo>
                  <a:lnTo>
                    <a:pt x="1728" y="184"/>
                  </a:lnTo>
                  <a:lnTo>
                    <a:pt x="2351" y="184"/>
                  </a:lnTo>
                  <a:lnTo>
                    <a:pt x="2939" y="182"/>
                  </a:lnTo>
                  <a:lnTo>
                    <a:pt x="3188" y="178"/>
                  </a:lnTo>
                  <a:lnTo>
                    <a:pt x="3340" y="170"/>
                  </a:lnTo>
                  <a:lnTo>
                    <a:pt x="3402" y="160"/>
                  </a:lnTo>
                  <a:lnTo>
                    <a:pt x="3428" y="152"/>
                  </a:lnTo>
                  <a:lnTo>
                    <a:pt x="3442" y="142"/>
                  </a:lnTo>
                  <a:lnTo>
                    <a:pt x="3448" y="130"/>
                  </a:lnTo>
                  <a:lnTo>
                    <a:pt x="3449" y="109"/>
                  </a:lnTo>
                  <a:lnTo>
                    <a:pt x="3448" y="92"/>
                  </a:lnTo>
                  <a:lnTo>
                    <a:pt x="3449" y="75"/>
                  </a:lnTo>
                  <a:lnTo>
                    <a:pt x="3448" y="54"/>
                  </a:lnTo>
                  <a:lnTo>
                    <a:pt x="3442" y="42"/>
                  </a:lnTo>
                  <a:lnTo>
                    <a:pt x="3427" y="32"/>
                  </a:lnTo>
                  <a:lnTo>
                    <a:pt x="3402" y="24"/>
                  </a:lnTo>
                  <a:lnTo>
                    <a:pt x="3339" y="14"/>
                  </a:lnTo>
                  <a:lnTo>
                    <a:pt x="3187" y="6"/>
                  </a:lnTo>
                  <a:lnTo>
                    <a:pt x="2937" y="2"/>
                  </a:lnTo>
                  <a:lnTo>
                    <a:pt x="2348" y="0"/>
                  </a:lnTo>
                  <a:lnTo>
                    <a:pt x="1723" y="0"/>
                  </a:lnTo>
                  <a:lnTo>
                    <a:pt x="765" y="1"/>
                  </a:lnTo>
                  <a:lnTo>
                    <a:pt x="168" y="8"/>
                  </a:lnTo>
                  <a:lnTo>
                    <a:pt x="61" y="16"/>
                  </a:lnTo>
                  <a:lnTo>
                    <a:pt x="31" y="23"/>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4" name="Freeform 196">
              <a:extLst>
                <a:ext uri="{FF2B5EF4-FFF2-40B4-BE49-F238E27FC236}">
                  <a16:creationId xmlns:a16="http://schemas.microsoft.com/office/drawing/2014/main" id="{EB7F2890-0AE5-0535-2DDF-78C45E160022}"/>
                </a:ext>
              </a:extLst>
            </p:cNvPr>
            <p:cNvSpPr>
              <a:spLocks/>
            </p:cNvSpPr>
            <p:nvPr/>
          </p:nvSpPr>
          <p:spPr bwMode="auto">
            <a:xfrm>
              <a:off x="3543301" y="1163638"/>
              <a:ext cx="304800" cy="42863"/>
            </a:xfrm>
            <a:custGeom>
              <a:avLst/>
              <a:gdLst>
                <a:gd name="T0" fmla="*/ 25 w 1300"/>
                <a:gd name="T1" fmla="*/ 27 h 183"/>
                <a:gd name="T2" fmla="*/ 13 w 1300"/>
                <a:gd name="T3" fmla="*/ 41 h 183"/>
                <a:gd name="T4" fmla="*/ 0 w 1300"/>
                <a:gd name="T5" fmla="*/ 74 h 183"/>
                <a:gd name="T6" fmla="*/ 1 w 1300"/>
                <a:gd name="T7" fmla="*/ 109 h 183"/>
                <a:gd name="T8" fmla="*/ 16 w 1300"/>
                <a:gd name="T9" fmla="*/ 142 h 183"/>
                <a:gd name="T10" fmla="*/ 28 w 1300"/>
                <a:gd name="T11" fmla="*/ 155 h 183"/>
                <a:gd name="T12" fmla="*/ 34 w 1300"/>
                <a:gd name="T13" fmla="*/ 160 h 183"/>
                <a:gd name="T14" fmla="*/ 51 w 1300"/>
                <a:gd name="T15" fmla="*/ 167 h 183"/>
                <a:gd name="T16" fmla="*/ 95 w 1300"/>
                <a:gd name="T17" fmla="*/ 175 h 183"/>
                <a:gd name="T18" fmla="*/ 311 w 1300"/>
                <a:gd name="T19" fmla="*/ 183 h 183"/>
                <a:gd name="T20" fmla="*/ 647 w 1300"/>
                <a:gd name="T21" fmla="*/ 183 h 183"/>
                <a:gd name="T22" fmla="*/ 908 w 1300"/>
                <a:gd name="T23" fmla="*/ 182 h 183"/>
                <a:gd name="T24" fmla="*/ 1162 w 1300"/>
                <a:gd name="T25" fmla="*/ 176 h 183"/>
                <a:gd name="T26" fmla="*/ 1252 w 1300"/>
                <a:gd name="T27" fmla="*/ 170 h 183"/>
                <a:gd name="T28" fmla="*/ 1267 w 1300"/>
                <a:gd name="T29" fmla="*/ 167 h 183"/>
                <a:gd name="T30" fmla="*/ 1273 w 1300"/>
                <a:gd name="T31" fmla="*/ 162 h 183"/>
                <a:gd name="T32" fmla="*/ 1284 w 1300"/>
                <a:gd name="T33" fmla="*/ 149 h 183"/>
                <a:gd name="T34" fmla="*/ 1296 w 1300"/>
                <a:gd name="T35" fmla="*/ 121 h 183"/>
                <a:gd name="T36" fmla="*/ 1300 w 1300"/>
                <a:gd name="T37" fmla="*/ 76 h 183"/>
                <a:gd name="T38" fmla="*/ 1293 w 1300"/>
                <a:gd name="T39" fmla="*/ 44 h 183"/>
                <a:gd name="T40" fmla="*/ 1284 w 1300"/>
                <a:gd name="T41" fmla="*/ 27 h 183"/>
                <a:gd name="T42" fmla="*/ 1278 w 1300"/>
                <a:gd name="T43" fmla="*/ 20 h 183"/>
                <a:gd name="T44" fmla="*/ 1268 w 1300"/>
                <a:gd name="T45" fmla="*/ 15 h 183"/>
                <a:gd name="T46" fmla="*/ 1195 w 1300"/>
                <a:gd name="T47" fmla="*/ 7 h 183"/>
                <a:gd name="T48" fmla="*/ 954 w 1300"/>
                <a:gd name="T49" fmla="*/ 1 h 183"/>
                <a:gd name="T50" fmla="*/ 655 w 1300"/>
                <a:gd name="T51" fmla="*/ 0 h 183"/>
                <a:gd name="T52" fmla="*/ 316 w 1300"/>
                <a:gd name="T53" fmla="*/ 0 h 183"/>
                <a:gd name="T54" fmla="*/ 92 w 1300"/>
                <a:gd name="T55" fmla="*/ 8 h 183"/>
                <a:gd name="T56" fmla="*/ 46 w 1300"/>
                <a:gd name="T57" fmla="*/ 15 h 183"/>
                <a:gd name="T58" fmla="*/ 30 w 1300"/>
                <a:gd name="T59" fmla="*/ 22 h 183"/>
                <a:gd name="T60" fmla="*/ 25 w 1300"/>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00" h="183">
                  <a:moveTo>
                    <a:pt x="25" y="27"/>
                  </a:moveTo>
                  <a:lnTo>
                    <a:pt x="13" y="41"/>
                  </a:lnTo>
                  <a:lnTo>
                    <a:pt x="0" y="74"/>
                  </a:lnTo>
                  <a:lnTo>
                    <a:pt x="1" y="109"/>
                  </a:lnTo>
                  <a:lnTo>
                    <a:pt x="16" y="142"/>
                  </a:lnTo>
                  <a:lnTo>
                    <a:pt x="28" y="155"/>
                  </a:lnTo>
                  <a:lnTo>
                    <a:pt x="34" y="160"/>
                  </a:lnTo>
                  <a:lnTo>
                    <a:pt x="51" y="167"/>
                  </a:lnTo>
                  <a:lnTo>
                    <a:pt x="95" y="175"/>
                  </a:lnTo>
                  <a:lnTo>
                    <a:pt x="311" y="183"/>
                  </a:lnTo>
                  <a:lnTo>
                    <a:pt x="647" y="183"/>
                  </a:lnTo>
                  <a:lnTo>
                    <a:pt x="908" y="182"/>
                  </a:lnTo>
                  <a:lnTo>
                    <a:pt x="1162" y="176"/>
                  </a:lnTo>
                  <a:lnTo>
                    <a:pt x="1252" y="170"/>
                  </a:lnTo>
                  <a:lnTo>
                    <a:pt x="1267" y="167"/>
                  </a:lnTo>
                  <a:lnTo>
                    <a:pt x="1273" y="162"/>
                  </a:lnTo>
                  <a:lnTo>
                    <a:pt x="1284" y="149"/>
                  </a:lnTo>
                  <a:lnTo>
                    <a:pt x="1296" y="121"/>
                  </a:lnTo>
                  <a:lnTo>
                    <a:pt x="1300" y="76"/>
                  </a:lnTo>
                  <a:lnTo>
                    <a:pt x="1293" y="44"/>
                  </a:lnTo>
                  <a:lnTo>
                    <a:pt x="1284" y="27"/>
                  </a:lnTo>
                  <a:lnTo>
                    <a:pt x="1278" y="20"/>
                  </a:lnTo>
                  <a:lnTo>
                    <a:pt x="1268" y="15"/>
                  </a:lnTo>
                  <a:lnTo>
                    <a:pt x="1195" y="7"/>
                  </a:lnTo>
                  <a:lnTo>
                    <a:pt x="954" y="1"/>
                  </a:lnTo>
                  <a:lnTo>
                    <a:pt x="655" y="0"/>
                  </a:lnTo>
                  <a:lnTo>
                    <a:pt x="316" y="0"/>
                  </a:lnTo>
                  <a:lnTo>
                    <a:pt x="92" y="8"/>
                  </a:lnTo>
                  <a:lnTo>
                    <a:pt x="4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5" name="Freeform 197">
              <a:extLst>
                <a:ext uri="{FF2B5EF4-FFF2-40B4-BE49-F238E27FC236}">
                  <a16:creationId xmlns:a16="http://schemas.microsoft.com/office/drawing/2014/main" id="{3566A8D2-52D7-C292-2516-AABAA50B81D0}"/>
                </a:ext>
              </a:extLst>
            </p:cNvPr>
            <p:cNvSpPr>
              <a:spLocks noEditPoints="1"/>
            </p:cNvSpPr>
            <p:nvPr/>
          </p:nvSpPr>
          <p:spPr bwMode="auto">
            <a:xfrm>
              <a:off x="4235451" y="1384300"/>
              <a:ext cx="655638" cy="654050"/>
            </a:xfrm>
            <a:custGeom>
              <a:avLst/>
              <a:gdLst>
                <a:gd name="T0" fmla="*/ 1014 w 2790"/>
                <a:gd name="T1" fmla="*/ 47 h 2786"/>
                <a:gd name="T2" fmla="*/ 733 w 2790"/>
                <a:gd name="T3" fmla="*/ 165 h 2786"/>
                <a:gd name="T4" fmla="*/ 483 w 2790"/>
                <a:gd name="T5" fmla="*/ 335 h 2786"/>
                <a:gd name="T6" fmla="*/ 353 w 2790"/>
                <a:gd name="T7" fmla="*/ 464 h 2786"/>
                <a:gd name="T8" fmla="*/ 198 w 2790"/>
                <a:gd name="T9" fmla="*/ 675 h 2786"/>
                <a:gd name="T10" fmla="*/ 88 w 2790"/>
                <a:gd name="T11" fmla="*/ 904 h 2786"/>
                <a:gd name="T12" fmla="*/ 22 w 2790"/>
                <a:gd name="T13" fmla="*/ 1143 h 2786"/>
                <a:gd name="T14" fmla="*/ 0 w 2790"/>
                <a:gd name="T15" fmla="*/ 1387 h 2786"/>
                <a:gd name="T16" fmla="*/ 35 w 2790"/>
                <a:gd name="T17" fmla="*/ 1710 h 2786"/>
                <a:gd name="T18" fmla="*/ 110 w 2790"/>
                <a:gd name="T19" fmla="*/ 1942 h 2786"/>
                <a:gd name="T20" fmla="*/ 226 w 2790"/>
                <a:gd name="T21" fmla="*/ 2160 h 2786"/>
                <a:gd name="T22" fmla="*/ 381 w 2790"/>
                <a:gd name="T23" fmla="*/ 2356 h 2786"/>
                <a:gd name="T24" fmla="*/ 575 w 2790"/>
                <a:gd name="T25" fmla="*/ 2524 h 2786"/>
                <a:gd name="T26" fmla="*/ 766 w 2790"/>
                <a:gd name="T27" fmla="*/ 2639 h 2786"/>
                <a:gd name="T28" fmla="*/ 1026 w 2790"/>
                <a:gd name="T29" fmla="*/ 2743 h 2786"/>
                <a:gd name="T30" fmla="*/ 1293 w 2790"/>
                <a:gd name="T31" fmla="*/ 2784 h 2786"/>
                <a:gd name="T32" fmla="*/ 1631 w 2790"/>
                <a:gd name="T33" fmla="*/ 2774 h 2786"/>
                <a:gd name="T34" fmla="*/ 1821 w 2790"/>
                <a:gd name="T35" fmla="*/ 2728 h 2786"/>
                <a:gd name="T36" fmla="*/ 2079 w 2790"/>
                <a:gd name="T37" fmla="*/ 2615 h 2786"/>
                <a:gd name="T38" fmla="*/ 2307 w 2790"/>
                <a:gd name="T39" fmla="*/ 2455 h 2786"/>
                <a:gd name="T40" fmla="*/ 2498 w 2790"/>
                <a:gd name="T41" fmla="*/ 2254 h 2786"/>
                <a:gd name="T42" fmla="*/ 2649 w 2790"/>
                <a:gd name="T43" fmla="*/ 2014 h 2786"/>
                <a:gd name="T44" fmla="*/ 2741 w 2790"/>
                <a:gd name="T45" fmla="*/ 1789 h 2786"/>
                <a:gd name="T46" fmla="*/ 2783 w 2790"/>
                <a:gd name="T47" fmla="*/ 1554 h 2786"/>
                <a:gd name="T48" fmla="*/ 2774 w 2790"/>
                <a:gd name="T49" fmla="*/ 1150 h 2786"/>
                <a:gd name="T50" fmla="*/ 2729 w 2790"/>
                <a:gd name="T51" fmla="*/ 964 h 2786"/>
                <a:gd name="T52" fmla="*/ 2606 w 2790"/>
                <a:gd name="T53" fmla="*/ 689 h 2786"/>
                <a:gd name="T54" fmla="*/ 2420 w 2790"/>
                <a:gd name="T55" fmla="*/ 442 h 2786"/>
                <a:gd name="T56" fmla="*/ 2265 w 2790"/>
                <a:gd name="T57" fmla="*/ 298 h 2786"/>
                <a:gd name="T58" fmla="*/ 2005 w 2790"/>
                <a:gd name="T59" fmla="*/ 133 h 2786"/>
                <a:gd name="T60" fmla="*/ 1713 w 2790"/>
                <a:gd name="T61" fmla="*/ 31 h 2786"/>
                <a:gd name="T62" fmla="*/ 1477 w 2790"/>
                <a:gd name="T63" fmla="*/ 1 h 2786"/>
                <a:gd name="T64" fmla="*/ 1154 w 2790"/>
                <a:gd name="T65" fmla="*/ 14 h 2786"/>
                <a:gd name="T66" fmla="*/ 1794 w 2790"/>
                <a:gd name="T67" fmla="*/ 552 h 2786"/>
                <a:gd name="T68" fmla="*/ 2049 w 2790"/>
                <a:gd name="T69" fmla="*/ 737 h 2786"/>
                <a:gd name="T70" fmla="*/ 2206 w 2790"/>
                <a:gd name="T71" fmla="*/ 932 h 2786"/>
                <a:gd name="T72" fmla="*/ 2305 w 2790"/>
                <a:gd name="T73" fmla="*/ 1189 h 2786"/>
                <a:gd name="T74" fmla="*/ 2319 w 2790"/>
                <a:gd name="T75" fmla="*/ 1439 h 2786"/>
                <a:gd name="T76" fmla="*/ 2286 w 2790"/>
                <a:gd name="T77" fmla="*/ 1667 h 2786"/>
                <a:gd name="T78" fmla="*/ 2201 w 2790"/>
                <a:gd name="T79" fmla="*/ 1861 h 2786"/>
                <a:gd name="T80" fmla="*/ 2079 w 2790"/>
                <a:gd name="T81" fmla="*/ 2024 h 2786"/>
                <a:gd name="T82" fmla="*/ 1874 w 2790"/>
                <a:gd name="T83" fmla="*/ 2191 h 2786"/>
                <a:gd name="T84" fmla="*/ 1626 w 2790"/>
                <a:gd name="T85" fmla="*/ 2295 h 2786"/>
                <a:gd name="T86" fmla="*/ 1440 w 2790"/>
                <a:gd name="T87" fmla="*/ 2327 h 2786"/>
                <a:gd name="T88" fmla="*/ 1216 w 2790"/>
                <a:gd name="T89" fmla="*/ 2306 h 2786"/>
                <a:gd name="T90" fmla="*/ 917 w 2790"/>
                <a:gd name="T91" fmla="*/ 2188 h 2786"/>
                <a:gd name="T92" fmla="*/ 639 w 2790"/>
                <a:gd name="T93" fmla="*/ 1929 h 2786"/>
                <a:gd name="T94" fmla="*/ 499 w 2790"/>
                <a:gd name="T95" fmla="*/ 1641 h 2786"/>
                <a:gd name="T96" fmla="*/ 471 w 2790"/>
                <a:gd name="T97" fmla="*/ 1464 h 2786"/>
                <a:gd name="T98" fmla="*/ 492 w 2790"/>
                <a:gd name="T99" fmla="*/ 1180 h 2786"/>
                <a:gd name="T100" fmla="*/ 569 w 2790"/>
                <a:gd name="T101" fmla="*/ 978 h 2786"/>
                <a:gd name="T102" fmla="*/ 801 w 2790"/>
                <a:gd name="T103" fmla="*/ 684 h 2786"/>
                <a:gd name="T104" fmla="*/ 1120 w 2790"/>
                <a:gd name="T105" fmla="*/ 503 h 2786"/>
                <a:gd name="T106" fmla="*/ 1339 w 2790"/>
                <a:gd name="T107" fmla="*/ 467 h 2786"/>
                <a:gd name="T108" fmla="*/ 1616 w 2790"/>
                <a:gd name="T109" fmla="*/ 489 h 2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90" h="2786">
                  <a:moveTo>
                    <a:pt x="1154" y="14"/>
                  </a:moveTo>
                  <a:lnTo>
                    <a:pt x="1108" y="23"/>
                  </a:lnTo>
                  <a:lnTo>
                    <a:pt x="1014" y="47"/>
                  </a:lnTo>
                  <a:lnTo>
                    <a:pt x="920" y="79"/>
                  </a:lnTo>
                  <a:lnTo>
                    <a:pt x="825" y="119"/>
                  </a:lnTo>
                  <a:lnTo>
                    <a:pt x="733" y="165"/>
                  </a:lnTo>
                  <a:lnTo>
                    <a:pt x="644" y="217"/>
                  </a:lnTo>
                  <a:lnTo>
                    <a:pt x="560" y="274"/>
                  </a:lnTo>
                  <a:lnTo>
                    <a:pt x="483" y="335"/>
                  </a:lnTo>
                  <a:lnTo>
                    <a:pt x="447" y="367"/>
                  </a:lnTo>
                  <a:lnTo>
                    <a:pt x="414" y="399"/>
                  </a:lnTo>
                  <a:lnTo>
                    <a:pt x="353" y="464"/>
                  </a:lnTo>
                  <a:lnTo>
                    <a:pt x="296" y="532"/>
                  </a:lnTo>
                  <a:lnTo>
                    <a:pt x="244" y="603"/>
                  </a:lnTo>
                  <a:lnTo>
                    <a:pt x="198" y="675"/>
                  </a:lnTo>
                  <a:lnTo>
                    <a:pt x="156" y="750"/>
                  </a:lnTo>
                  <a:lnTo>
                    <a:pt x="120" y="826"/>
                  </a:lnTo>
                  <a:lnTo>
                    <a:pt x="88" y="904"/>
                  </a:lnTo>
                  <a:lnTo>
                    <a:pt x="61" y="982"/>
                  </a:lnTo>
                  <a:lnTo>
                    <a:pt x="39" y="1062"/>
                  </a:lnTo>
                  <a:lnTo>
                    <a:pt x="22" y="1143"/>
                  </a:lnTo>
                  <a:lnTo>
                    <a:pt x="10" y="1224"/>
                  </a:lnTo>
                  <a:lnTo>
                    <a:pt x="2" y="1305"/>
                  </a:lnTo>
                  <a:lnTo>
                    <a:pt x="0" y="1387"/>
                  </a:lnTo>
                  <a:lnTo>
                    <a:pt x="4" y="1509"/>
                  </a:lnTo>
                  <a:lnTo>
                    <a:pt x="19" y="1630"/>
                  </a:lnTo>
                  <a:lnTo>
                    <a:pt x="35" y="1710"/>
                  </a:lnTo>
                  <a:lnTo>
                    <a:pt x="56" y="1789"/>
                  </a:lnTo>
                  <a:lnTo>
                    <a:pt x="81" y="1866"/>
                  </a:lnTo>
                  <a:lnTo>
                    <a:pt x="110" y="1942"/>
                  </a:lnTo>
                  <a:lnTo>
                    <a:pt x="144" y="2017"/>
                  </a:lnTo>
                  <a:lnTo>
                    <a:pt x="183" y="2089"/>
                  </a:lnTo>
                  <a:lnTo>
                    <a:pt x="226" y="2160"/>
                  </a:lnTo>
                  <a:lnTo>
                    <a:pt x="273" y="2228"/>
                  </a:lnTo>
                  <a:lnTo>
                    <a:pt x="325" y="2293"/>
                  </a:lnTo>
                  <a:lnTo>
                    <a:pt x="381" y="2356"/>
                  </a:lnTo>
                  <a:lnTo>
                    <a:pt x="441" y="2415"/>
                  </a:lnTo>
                  <a:lnTo>
                    <a:pt x="506" y="2471"/>
                  </a:lnTo>
                  <a:lnTo>
                    <a:pt x="575" y="2524"/>
                  </a:lnTo>
                  <a:lnTo>
                    <a:pt x="648" y="2573"/>
                  </a:lnTo>
                  <a:lnTo>
                    <a:pt x="725" y="2618"/>
                  </a:lnTo>
                  <a:lnTo>
                    <a:pt x="766" y="2639"/>
                  </a:lnTo>
                  <a:lnTo>
                    <a:pt x="844" y="2677"/>
                  </a:lnTo>
                  <a:lnTo>
                    <a:pt x="954" y="2720"/>
                  </a:lnTo>
                  <a:lnTo>
                    <a:pt x="1026" y="2743"/>
                  </a:lnTo>
                  <a:lnTo>
                    <a:pt x="1099" y="2760"/>
                  </a:lnTo>
                  <a:lnTo>
                    <a:pt x="1174" y="2773"/>
                  </a:lnTo>
                  <a:lnTo>
                    <a:pt x="1293" y="2784"/>
                  </a:lnTo>
                  <a:lnTo>
                    <a:pt x="1382" y="2786"/>
                  </a:lnTo>
                  <a:lnTo>
                    <a:pt x="1468" y="2785"/>
                  </a:lnTo>
                  <a:lnTo>
                    <a:pt x="1631" y="2774"/>
                  </a:lnTo>
                  <a:lnTo>
                    <a:pt x="1682" y="2766"/>
                  </a:lnTo>
                  <a:lnTo>
                    <a:pt x="1729" y="2755"/>
                  </a:lnTo>
                  <a:lnTo>
                    <a:pt x="1821" y="2728"/>
                  </a:lnTo>
                  <a:lnTo>
                    <a:pt x="1911" y="2696"/>
                  </a:lnTo>
                  <a:lnTo>
                    <a:pt x="1997" y="2658"/>
                  </a:lnTo>
                  <a:lnTo>
                    <a:pt x="2079" y="2615"/>
                  </a:lnTo>
                  <a:lnTo>
                    <a:pt x="2159" y="2566"/>
                  </a:lnTo>
                  <a:lnTo>
                    <a:pt x="2235" y="2513"/>
                  </a:lnTo>
                  <a:lnTo>
                    <a:pt x="2307" y="2455"/>
                  </a:lnTo>
                  <a:lnTo>
                    <a:pt x="2375" y="2392"/>
                  </a:lnTo>
                  <a:lnTo>
                    <a:pt x="2438" y="2325"/>
                  </a:lnTo>
                  <a:lnTo>
                    <a:pt x="2498" y="2254"/>
                  </a:lnTo>
                  <a:lnTo>
                    <a:pt x="2553" y="2178"/>
                  </a:lnTo>
                  <a:lnTo>
                    <a:pt x="2604" y="2098"/>
                  </a:lnTo>
                  <a:lnTo>
                    <a:pt x="2649" y="2014"/>
                  </a:lnTo>
                  <a:lnTo>
                    <a:pt x="2690" y="1927"/>
                  </a:lnTo>
                  <a:lnTo>
                    <a:pt x="2725" y="1836"/>
                  </a:lnTo>
                  <a:lnTo>
                    <a:pt x="2741" y="1789"/>
                  </a:lnTo>
                  <a:lnTo>
                    <a:pt x="2750" y="1757"/>
                  </a:lnTo>
                  <a:lnTo>
                    <a:pt x="2766" y="1682"/>
                  </a:lnTo>
                  <a:lnTo>
                    <a:pt x="2783" y="1554"/>
                  </a:lnTo>
                  <a:lnTo>
                    <a:pt x="2790" y="1368"/>
                  </a:lnTo>
                  <a:lnTo>
                    <a:pt x="2784" y="1232"/>
                  </a:lnTo>
                  <a:lnTo>
                    <a:pt x="2774" y="1150"/>
                  </a:lnTo>
                  <a:lnTo>
                    <a:pt x="2767" y="1112"/>
                  </a:lnTo>
                  <a:lnTo>
                    <a:pt x="2756" y="1062"/>
                  </a:lnTo>
                  <a:lnTo>
                    <a:pt x="2729" y="964"/>
                  </a:lnTo>
                  <a:lnTo>
                    <a:pt x="2695" y="869"/>
                  </a:lnTo>
                  <a:lnTo>
                    <a:pt x="2654" y="778"/>
                  </a:lnTo>
                  <a:lnTo>
                    <a:pt x="2606" y="689"/>
                  </a:lnTo>
                  <a:lnTo>
                    <a:pt x="2551" y="604"/>
                  </a:lnTo>
                  <a:lnTo>
                    <a:pt x="2489" y="522"/>
                  </a:lnTo>
                  <a:lnTo>
                    <a:pt x="2420" y="442"/>
                  </a:lnTo>
                  <a:lnTo>
                    <a:pt x="2382" y="404"/>
                  </a:lnTo>
                  <a:lnTo>
                    <a:pt x="2344" y="367"/>
                  </a:lnTo>
                  <a:lnTo>
                    <a:pt x="2265" y="298"/>
                  </a:lnTo>
                  <a:lnTo>
                    <a:pt x="2182" y="236"/>
                  </a:lnTo>
                  <a:lnTo>
                    <a:pt x="2095" y="181"/>
                  </a:lnTo>
                  <a:lnTo>
                    <a:pt x="2005" y="133"/>
                  </a:lnTo>
                  <a:lnTo>
                    <a:pt x="1911" y="92"/>
                  </a:lnTo>
                  <a:lnTo>
                    <a:pt x="1813" y="58"/>
                  </a:lnTo>
                  <a:lnTo>
                    <a:pt x="1713" y="31"/>
                  </a:lnTo>
                  <a:lnTo>
                    <a:pt x="1661" y="21"/>
                  </a:lnTo>
                  <a:lnTo>
                    <a:pt x="1608" y="12"/>
                  </a:lnTo>
                  <a:lnTo>
                    <a:pt x="1477" y="1"/>
                  </a:lnTo>
                  <a:lnTo>
                    <a:pt x="1336" y="0"/>
                  </a:lnTo>
                  <a:lnTo>
                    <a:pt x="1206" y="7"/>
                  </a:lnTo>
                  <a:lnTo>
                    <a:pt x="1154" y="14"/>
                  </a:lnTo>
                  <a:close/>
                  <a:moveTo>
                    <a:pt x="1616" y="489"/>
                  </a:moveTo>
                  <a:lnTo>
                    <a:pt x="1679" y="506"/>
                  </a:lnTo>
                  <a:lnTo>
                    <a:pt x="1794" y="552"/>
                  </a:lnTo>
                  <a:lnTo>
                    <a:pt x="1900" y="613"/>
                  </a:lnTo>
                  <a:lnTo>
                    <a:pt x="2000" y="691"/>
                  </a:lnTo>
                  <a:lnTo>
                    <a:pt x="2049" y="737"/>
                  </a:lnTo>
                  <a:lnTo>
                    <a:pt x="2086" y="776"/>
                  </a:lnTo>
                  <a:lnTo>
                    <a:pt x="2152" y="853"/>
                  </a:lnTo>
                  <a:lnTo>
                    <a:pt x="2206" y="932"/>
                  </a:lnTo>
                  <a:lnTo>
                    <a:pt x="2249" y="1014"/>
                  </a:lnTo>
                  <a:lnTo>
                    <a:pt x="2282" y="1099"/>
                  </a:lnTo>
                  <a:lnTo>
                    <a:pt x="2305" y="1189"/>
                  </a:lnTo>
                  <a:lnTo>
                    <a:pt x="2318" y="1284"/>
                  </a:lnTo>
                  <a:lnTo>
                    <a:pt x="2321" y="1385"/>
                  </a:lnTo>
                  <a:lnTo>
                    <a:pt x="2319" y="1439"/>
                  </a:lnTo>
                  <a:lnTo>
                    <a:pt x="2314" y="1512"/>
                  </a:lnTo>
                  <a:lnTo>
                    <a:pt x="2300" y="1608"/>
                  </a:lnTo>
                  <a:lnTo>
                    <a:pt x="2286" y="1667"/>
                  </a:lnTo>
                  <a:lnTo>
                    <a:pt x="2268" y="1724"/>
                  </a:lnTo>
                  <a:lnTo>
                    <a:pt x="2245" y="1779"/>
                  </a:lnTo>
                  <a:lnTo>
                    <a:pt x="2201" y="1861"/>
                  </a:lnTo>
                  <a:lnTo>
                    <a:pt x="2162" y="1919"/>
                  </a:lnTo>
                  <a:lnTo>
                    <a:pt x="2136" y="1956"/>
                  </a:lnTo>
                  <a:lnTo>
                    <a:pt x="2079" y="2024"/>
                  </a:lnTo>
                  <a:lnTo>
                    <a:pt x="2017" y="2086"/>
                  </a:lnTo>
                  <a:lnTo>
                    <a:pt x="1948" y="2142"/>
                  </a:lnTo>
                  <a:lnTo>
                    <a:pt x="1874" y="2191"/>
                  </a:lnTo>
                  <a:lnTo>
                    <a:pt x="1796" y="2233"/>
                  </a:lnTo>
                  <a:lnTo>
                    <a:pt x="1713" y="2268"/>
                  </a:lnTo>
                  <a:lnTo>
                    <a:pt x="1626" y="2295"/>
                  </a:lnTo>
                  <a:lnTo>
                    <a:pt x="1581" y="2306"/>
                  </a:lnTo>
                  <a:lnTo>
                    <a:pt x="1529" y="2316"/>
                  </a:lnTo>
                  <a:lnTo>
                    <a:pt x="1440" y="2327"/>
                  </a:lnTo>
                  <a:lnTo>
                    <a:pt x="1358" y="2327"/>
                  </a:lnTo>
                  <a:lnTo>
                    <a:pt x="1268" y="2316"/>
                  </a:lnTo>
                  <a:lnTo>
                    <a:pt x="1216" y="2306"/>
                  </a:lnTo>
                  <a:lnTo>
                    <a:pt x="1152" y="2291"/>
                  </a:lnTo>
                  <a:lnTo>
                    <a:pt x="1031" y="2247"/>
                  </a:lnTo>
                  <a:lnTo>
                    <a:pt x="917" y="2188"/>
                  </a:lnTo>
                  <a:lnTo>
                    <a:pt x="813" y="2114"/>
                  </a:lnTo>
                  <a:lnTo>
                    <a:pt x="720" y="2028"/>
                  </a:lnTo>
                  <a:lnTo>
                    <a:pt x="639" y="1929"/>
                  </a:lnTo>
                  <a:lnTo>
                    <a:pt x="571" y="1821"/>
                  </a:lnTo>
                  <a:lnTo>
                    <a:pt x="519" y="1703"/>
                  </a:lnTo>
                  <a:lnTo>
                    <a:pt x="499" y="1641"/>
                  </a:lnTo>
                  <a:lnTo>
                    <a:pt x="492" y="1616"/>
                  </a:lnTo>
                  <a:lnTo>
                    <a:pt x="481" y="1559"/>
                  </a:lnTo>
                  <a:lnTo>
                    <a:pt x="471" y="1464"/>
                  </a:lnTo>
                  <a:lnTo>
                    <a:pt x="471" y="1331"/>
                  </a:lnTo>
                  <a:lnTo>
                    <a:pt x="481" y="1237"/>
                  </a:lnTo>
                  <a:lnTo>
                    <a:pt x="492" y="1180"/>
                  </a:lnTo>
                  <a:lnTo>
                    <a:pt x="499" y="1156"/>
                  </a:lnTo>
                  <a:lnTo>
                    <a:pt x="518" y="1095"/>
                  </a:lnTo>
                  <a:lnTo>
                    <a:pt x="569" y="978"/>
                  </a:lnTo>
                  <a:lnTo>
                    <a:pt x="635" y="870"/>
                  </a:lnTo>
                  <a:lnTo>
                    <a:pt x="712" y="772"/>
                  </a:lnTo>
                  <a:lnTo>
                    <a:pt x="801" y="684"/>
                  </a:lnTo>
                  <a:lnTo>
                    <a:pt x="900" y="610"/>
                  </a:lnTo>
                  <a:lnTo>
                    <a:pt x="1007" y="549"/>
                  </a:lnTo>
                  <a:lnTo>
                    <a:pt x="1120" y="503"/>
                  </a:lnTo>
                  <a:lnTo>
                    <a:pt x="1179" y="487"/>
                  </a:lnTo>
                  <a:lnTo>
                    <a:pt x="1226" y="478"/>
                  </a:lnTo>
                  <a:lnTo>
                    <a:pt x="1339" y="467"/>
                  </a:lnTo>
                  <a:lnTo>
                    <a:pt x="1458" y="467"/>
                  </a:lnTo>
                  <a:lnTo>
                    <a:pt x="1569" y="479"/>
                  </a:lnTo>
                  <a:lnTo>
                    <a:pt x="1616" y="4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6" name="Freeform 198">
              <a:extLst>
                <a:ext uri="{FF2B5EF4-FFF2-40B4-BE49-F238E27FC236}">
                  <a16:creationId xmlns:a16="http://schemas.microsoft.com/office/drawing/2014/main" id="{DBE178A9-B74D-21AF-7608-7CC13D418303}"/>
                </a:ext>
              </a:extLst>
            </p:cNvPr>
            <p:cNvSpPr>
              <a:spLocks/>
            </p:cNvSpPr>
            <p:nvPr/>
          </p:nvSpPr>
          <p:spPr bwMode="auto">
            <a:xfrm>
              <a:off x="4389438" y="1536700"/>
              <a:ext cx="292100" cy="288925"/>
            </a:xfrm>
            <a:custGeom>
              <a:avLst/>
              <a:gdLst>
                <a:gd name="T0" fmla="*/ 553 w 1240"/>
                <a:gd name="T1" fmla="*/ 21 h 1230"/>
                <a:gd name="T2" fmla="*/ 513 w 1240"/>
                <a:gd name="T3" fmla="*/ 33 h 1230"/>
                <a:gd name="T4" fmla="*/ 437 w 1240"/>
                <a:gd name="T5" fmla="*/ 64 h 1230"/>
                <a:gd name="T6" fmla="*/ 365 w 1240"/>
                <a:gd name="T7" fmla="*/ 101 h 1230"/>
                <a:gd name="T8" fmla="*/ 299 w 1240"/>
                <a:gd name="T9" fmla="*/ 146 h 1230"/>
                <a:gd name="T10" fmla="*/ 238 w 1240"/>
                <a:gd name="T11" fmla="*/ 198 h 1230"/>
                <a:gd name="T12" fmla="*/ 182 w 1240"/>
                <a:gd name="T13" fmla="*/ 256 h 1230"/>
                <a:gd name="T14" fmla="*/ 133 w 1240"/>
                <a:gd name="T15" fmla="*/ 320 h 1230"/>
                <a:gd name="T16" fmla="*/ 90 w 1240"/>
                <a:gd name="T17" fmla="*/ 391 h 1230"/>
                <a:gd name="T18" fmla="*/ 71 w 1240"/>
                <a:gd name="T19" fmla="*/ 428 h 1230"/>
                <a:gd name="T20" fmla="*/ 57 w 1240"/>
                <a:gd name="T21" fmla="*/ 459 h 1230"/>
                <a:gd name="T22" fmla="*/ 34 w 1240"/>
                <a:gd name="T23" fmla="*/ 523 h 1230"/>
                <a:gd name="T24" fmla="*/ 16 w 1240"/>
                <a:gd name="T25" fmla="*/ 588 h 1230"/>
                <a:gd name="T26" fmla="*/ 5 w 1240"/>
                <a:gd name="T27" fmla="*/ 655 h 1230"/>
                <a:gd name="T28" fmla="*/ 0 w 1240"/>
                <a:gd name="T29" fmla="*/ 722 h 1230"/>
                <a:gd name="T30" fmla="*/ 1 w 1240"/>
                <a:gd name="T31" fmla="*/ 790 h 1230"/>
                <a:gd name="T32" fmla="*/ 8 w 1240"/>
                <a:gd name="T33" fmla="*/ 858 h 1230"/>
                <a:gd name="T34" fmla="*/ 22 w 1240"/>
                <a:gd name="T35" fmla="*/ 925 h 1230"/>
                <a:gd name="T36" fmla="*/ 31 w 1240"/>
                <a:gd name="T37" fmla="*/ 958 h 1230"/>
                <a:gd name="T38" fmla="*/ 46 w 1240"/>
                <a:gd name="T39" fmla="*/ 1001 h 1230"/>
                <a:gd name="T40" fmla="*/ 86 w 1240"/>
                <a:gd name="T41" fmla="*/ 1093 h 1230"/>
                <a:gd name="T42" fmla="*/ 131 w 1240"/>
                <a:gd name="T43" fmla="*/ 1174 h 1230"/>
                <a:gd name="T44" fmla="*/ 159 w 1240"/>
                <a:gd name="T45" fmla="*/ 1214 h 1230"/>
                <a:gd name="T46" fmla="*/ 174 w 1240"/>
                <a:gd name="T47" fmla="*/ 1228 h 1230"/>
                <a:gd name="T48" fmla="*/ 180 w 1240"/>
                <a:gd name="T49" fmla="*/ 1230 h 1230"/>
                <a:gd name="T50" fmla="*/ 215 w 1240"/>
                <a:gd name="T51" fmla="*/ 1200 h 1230"/>
                <a:gd name="T52" fmla="*/ 506 w 1240"/>
                <a:gd name="T53" fmla="*/ 916 h 1230"/>
                <a:gd name="T54" fmla="*/ 716 w 1240"/>
                <a:gd name="T55" fmla="*/ 706 h 1230"/>
                <a:gd name="T56" fmla="*/ 1240 w 1240"/>
                <a:gd name="T57" fmla="*/ 183 h 1230"/>
                <a:gd name="T58" fmla="*/ 1168 w 1240"/>
                <a:gd name="T59" fmla="*/ 131 h 1230"/>
                <a:gd name="T60" fmla="*/ 1137 w 1240"/>
                <a:gd name="T61" fmla="*/ 110 h 1230"/>
                <a:gd name="T62" fmla="*/ 1068 w 1240"/>
                <a:gd name="T63" fmla="*/ 74 h 1230"/>
                <a:gd name="T64" fmla="*/ 993 w 1240"/>
                <a:gd name="T65" fmla="*/ 44 h 1230"/>
                <a:gd name="T66" fmla="*/ 913 w 1240"/>
                <a:gd name="T67" fmla="*/ 21 h 1230"/>
                <a:gd name="T68" fmla="*/ 830 w 1240"/>
                <a:gd name="T69" fmla="*/ 6 h 1230"/>
                <a:gd name="T70" fmla="*/ 748 w 1240"/>
                <a:gd name="T71" fmla="*/ 0 h 1230"/>
                <a:gd name="T72" fmla="*/ 666 w 1240"/>
                <a:gd name="T73" fmla="*/ 1 h 1230"/>
                <a:gd name="T74" fmla="*/ 589 w 1240"/>
                <a:gd name="T75" fmla="*/ 12 h 1230"/>
                <a:gd name="T76" fmla="*/ 553 w 1240"/>
                <a:gd name="T77" fmla="*/ 21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40" h="1230">
                  <a:moveTo>
                    <a:pt x="553" y="21"/>
                  </a:moveTo>
                  <a:lnTo>
                    <a:pt x="513" y="33"/>
                  </a:lnTo>
                  <a:lnTo>
                    <a:pt x="437" y="64"/>
                  </a:lnTo>
                  <a:lnTo>
                    <a:pt x="365" y="101"/>
                  </a:lnTo>
                  <a:lnTo>
                    <a:pt x="299" y="146"/>
                  </a:lnTo>
                  <a:lnTo>
                    <a:pt x="238" y="198"/>
                  </a:lnTo>
                  <a:lnTo>
                    <a:pt x="182" y="256"/>
                  </a:lnTo>
                  <a:lnTo>
                    <a:pt x="133" y="320"/>
                  </a:lnTo>
                  <a:lnTo>
                    <a:pt x="90" y="391"/>
                  </a:lnTo>
                  <a:lnTo>
                    <a:pt x="71" y="428"/>
                  </a:lnTo>
                  <a:lnTo>
                    <a:pt x="57" y="459"/>
                  </a:lnTo>
                  <a:lnTo>
                    <a:pt x="34" y="523"/>
                  </a:lnTo>
                  <a:lnTo>
                    <a:pt x="16" y="588"/>
                  </a:lnTo>
                  <a:lnTo>
                    <a:pt x="5" y="655"/>
                  </a:lnTo>
                  <a:lnTo>
                    <a:pt x="0" y="722"/>
                  </a:lnTo>
                  <a:lnTo>
                    <a:pt x="1" y="790"/>
                  </a:lnTo>
                  <a:lnTo>
                    <a:pt x="8" y="858"/>
                  </a:lnTo>
                  <a:lnTo>
                    <a:pt x="22" y="925"/>
                  </a:lnTo>
                  <a:lnTo>
                    <a:pt x="31" y="958"/>
                  </a:lnTo>
                  <a:lnTo>
                    <a:pt x="46" y="1001"/>
                  </a:lnTo>
                  <a:lnTo>
                    <a:pt x="86" y="1093"/>
                  </a:lnTo>
                  <a:lnTo>
                    <a:pt x="131" y="1174"/>
                  </a:lnTo>
                  <a:lnTo>
                    <a:pt x="159" y="1214"/>
                  </a:lnTo>
                  <a:lnTo>
                    <a:pt x="174" y="1228"/>
                  </a:lnTo>
                  <a:lnTo>
                    <a:pt x="180" y="1230"/>
                  </a:lnTo>
                  <a:lnTo>
                    <a:pt x="215" y="1200"/>
                  </a:lnTo>
                  <a:lnTo>
                    <a:pt x="506" y="916"/>
                  </a:lnTo>
                  <a:lnTo>
                    <a:pt x="716" y="706"/>
                  </a:lnTo>
                  <a:lnTo>
                    <a:pt x="1240" y="183"/>
                  </a:lnTo>
                  <a:lnTo>
                    <a:pt x="1168" y="131"/>
                  </a:lnTo>
                  <a:lnTo>
                    <a:pt x="1137" y="110"/>
                  </a:lnTo>
                  <a:lnTo>
                    <a:pt x="1068" y="74"/>
                  </a:lnTo>
                  <a:lnTo>
                    <a:pt x="993" y="44"/>
                  </a:lnTo>
                  <a:lnTo>
                    <a:pt x="913" y="21"/>
                  </a:lnTo>
                  <a:lnTo>
                    <a:pt x="830" y="6"/>
                  </a:lnTo>
                  <a:lnTo>
                    <a:pt x="748" y="0"/>
                  </a:lnTo>
                  <a:lnTo>
                    <a:pt x="666" y="1"/>
                  </a:lnTo>
                  <a:lnTo>
                    <a:pt x="589" y="12"/>
                  </a:lnTo>
                  <a:lnTo>
                    <a:pt x="553"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7" name="Freeform 199">
              <a:extLst>
                <a:ext uri="{FF2B5EF4-FFF2-40B4-BE49-F238E27FC236}">
                  <a16:creationId xmlns:a16="http://schemas.microsoft.com/office/drawing/2014/main" id="{FB7C3BD4-4663-09DD-5B0F-A7E9D654D139}"/>
                </a:ext>
              </a:extLst>
            </p:cNvPr>
            <p:cNvSpPr>
              <a:spLocks/>
            </p:cNvSpPr>
            <p:nvPr/>
          </p:nvSpPr>
          <p:spPr bwMode="auto">
            <a:xfrm>
              <a:off x="4448176" y="1598613"/>
              <a:ext cx="290513" cy="287338"/>
            </a:xfrm>
            <a:custGeom>
              <a:avLst/>
              <a:gdLst>
                <a:gd name="T0" fmla="*/ 522 w 1234"/>
                <a:gd name="T1" fmla="*/ 523 h 1221"/>
                <a:gd name="T2" fmla="*/ 0 w 1234"/>
                <a:gd name="T3" fmla="*/ 1045 h 1221"/>
                <a:gd name="T4" fmla="*/ 50 w 1234"/>
                <a:gd name="T5" fmla="*/ 1082 h 1221"/>
                <a:gd name="T6" fmla="*/ 84 w 1234"/>
                <a:gd name="T7" fmla="*/ 1105 h 1221"/>
                <a:gd name="T8" fmla="*/ 155 w 1234"/>
                <a:gd name="T9" fmla="*/ 1145 h 1221"/>
                <a:gd name="T10" fmla="*/ 228 w 1234"/>
                <a:gd name="T11" fmla="*/ 1176 h 1221"/>
                <a:gd name="T12" fmla="*/ 303 w 1234"/>
                <a:gd name="T13" fmla="*/ 1199 h 1221"/>
                <a:gd name="T14" fmla="*/ 379 w 1234"/>
                <a:gd name="T15" fmla="*/ 1214 h 1221"/>
                <a:gd name="T16" fmla="*/ 456 w 1234"/>
                <a:gd name="T17" fmla="*/ 1221 h 1221"/>
                <a:gd name="T18" fmla="*/ 533 w 1234"/>
                <a:gd name="T19" fmla="*/ 1220 h 1221"/>
                <a:gd name="T20" fmla="*/ 609 w 1234"/>
                <a:gd name="T21" fmla="*/ 1212 h 1221"/>
                <a:gd name="T22" fmla="*/ 684 w 1234"/>
                <a:gd name="T23" fmla="*/ 1196 h 1221"/>
                <a:gd name="T24" fmla="*/ 758 w 1234"/>
                <a:gd name="T25" fmla="*/ 1173 h 1221"/>
                <a:gd name="T26" fmla="*/ 828 w 1234"/>
                <a:gd name="T27" fmla="*/ 1142 h 1221"/>
                <a:gd name="T28" fmla="*/ 895 w 1234"/>
                <a:gd name="T29" fmla="*/ 1104 h 1221"/>
                <a:gd name="T30" fmla="*/ 959 w 1234"/>
                <a:gd name="T31" fmla="*/ 1060 h 1221"/>
                <a:gd name="T32" fmla="*/ 1018 w 1234"/>
                <a:gd name="T33" fmla="*/ 1008 h 1221"/>
                <a:gd name="T34" fmla="*/ 1072 w 1234"/>
                <a:gd name="T35" fmla="*/ 950 h 1221"/>
                <a:gd name="T36" fmla="*/ 1120 w 1234"/>
                <a:gd name="T37" fmla="*/ 885 h 1221"/>
                <a:gd name="T38" fmla="*/ 1142 w 1234"/>
                <a:gd name="T39" fmla="*/ 850 h 1221"/>
                <a:gd name="T40" fmla="*/ 1159 w 1234"/>
                <a:gd name="T41" fmla="*/ 819 h 1221"/>
                <a:gd name="T42" fmla="*/ 1188 w 1234"/>
                <a:gd name="T43" fmla="*/ 752 h 1221"/>
                <a:gd name="T44" fmla="*/ 1210 w 1234"/>
                <a:gd name="T45" fmla="*/ 680 h 1221"/>
                <a:gd name="T46" fmla="*/ 1225 w 1234"/>
                <a:gd name="T47" fmla="*/ 605 h 1221"/>
                <a:gd name="T48" fmla="*/ 1233 w 1234"/>
                <a:gd name="T49" fmla="*/ 528 h 1221"/>
                <a:gd name="T50" fmla="*/ 1234 w 1234"/>
                <a:gd name="T51" fmla="*/ 450 h 1221"/>
                <a:gd name="T52" fmla="*/ 1228 w 1234"/>
                <a:gd name="T53" fmla="*/ 374 h 1221"/>
                <a:gd name="T54" fmla="*/ 1214 w 1234"/>
                <a:gd name="T55" fmla="*/ 300 h 1221"/>
                <a:gd name="T56" fmla="*/ 1203 w 1234"/>
                <a:gd name="T57" fmla="*/ 265 h 1221"/>
                <a:gd name="T58" fmla="*/ 1190 w 1234"/>
                <a:gd name="T59" fmla="*/ 224 h 1221"/>
                <a:gd name="T60" fmla="*/ 1150 w 1234"/>
                <a:gd name="T61" fmla="*/ 135 h 1221"/>
                <a:gd name="T62" fmla="*/ 1107 w 1234"/>
                <a:gd name="T63" fmla="*/ 55 h 1221"/>
                <a:gd name="T64" fmla="*/ 1078 w 1234"/>
                <a:gd name="T65" fmla="*/ 15 h 1221"/>
                <a:gd name="T66" fmla="*/ 1064 w 1234"/>
                <a:gd name="T67" fmla="*/ 1 h 1221"/>
                <a:gd name="T68" fmla="*/ 1058 w 1234"/>
                <a:gd name="T69" fmla="*/ 0 h 1221"/>
                <a:gd name="T70" fmla="*/ 1023 w 1234"/>
                <a:gd name="T71" fmla="*/ 29 h 1221"/>
                <a:gd name="T72" fmla="*/ 732 w 1234"/>
                <a:gd name="T73" fmla="*/ 314 h 1221"/>
                <a:gd name="T74" fmla="*/ 522 w 1234"/>
                <a:gd name="T75" fmla="*/ 523 h 1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4" h="1221">
                  <a:moveTo>
                    <a:pt x="522" y="523"/>
                  </a:moveTo>
                  <a:lnTo>
                    <a:pt x="0" y="1045"/>
                  </a:lnTo>
                  <a:lnTo>
                    <a:pt x="50" y="1082"/>
                  </a:lnTo>
                  <a:lnTo>
                    <a:pt x="84" y="1105"/>
                  </a:lnTo>
                  <a:lnTo>
                    <a:pt x="155" y="1145"/>
                  </a:lnTo>
                  <a:lnTo>
                    <a:pt x="228" y="1176"/>
                  </a:lnTo>
                  <a:lnTo>
                    <a:pt x="303" y="1199"/>
                  </a:lnTo>
                  <a:lnTo>
                    <a:pt x="379" y="1214"/>
                  </a:lnTo>
                  <a:lnTo>
                    <a:pt x="456" y="1221"/>
                  </a:lnTo>
                  <a:lnTo>
                    <a:pt x="533" y="1220"/>
                  </a:lnTo>
                  <a:lnTo>
                    <a:pt x="609" y="1212"/>
                  </a:lnTo>
                  <a:lnTo>
                    <a:pt x="684" y="1196"/>
                  </a:lnTo>
                  <a:lnTo>
                    <a:pt x="758" y="1173"/>
                  </a:lnTo>
                  <a:lnTo>
                    <a:pt x="828" y="1142"/>
                  </a:lnTo>
                  <a:lnTo>
                    <a:pt x="895" y="1104"/>
                  </a:lnTo>
                  <a:lnTo>
                    <a:pt x="959" y="1060"/>
                  </a:lnTo>
                  <a:lnTo>
                    <a:pt x="1018" y="1008"/>
                  </a:lnTo>
                  <a:lnTo>
                    <a:pt x="1072" y="950"/>
                  </a:lnTo>
                  <a:lnTo>
                    <a:pt x="1120" y="885"/>
                  </a:lnTo>
                  <a:lnTo>
                    <a:pt x="1142" y="850"/>
                  </a:lnTo>
                  <a:lnTo>
                    <a:pt x="1159" y="819"/>
                  </a:lnTo>
                  <a:lnTo>
                    <a:pt x="1188" y="752"/>
                  </a:lnTo>
                  <a:lnTo>
                    <a:pt x="1210" y="680"/>
                  </a:lnTo>
                  <a:lnTo>
                    <a:pt x="1225" y="605"/>
                  </a:lnTo>
                  <a:lnTo>
                    <a:pt x="1233" y="528"/>
                  </a:lnTo>
                  <a:lnTo>
                    <a:pt x="1234" y="450"/>
                  </a:lnTo>
                  <a:lnTo>
                    <a:pt x="1228" y="374"/>
                  </a:lnTo>
                  <a:lnTo>
                    <a:pt x="1214" y="300"/>
                  </a:lnTo>
                  <a:lnTo>
                    <a:pt x="1203" y="265"/>
                  </a:lnTo>
                  <a:lnTo>
                    <a:pt x="1190" y="224"/>
                  </a:lnTo>
                  <a:lnTo>
                    <a:pt x="1150" y="135"/>
                  </a:lnTo>
                  <a:lnTo>
                    <a:pt x="1107" y="55"/>
                  </a:lnTo>
                  <a:lnTo>
                    <a:pt x="1078" y="15"/>
                  </a:lnTo>
                  <a:lnTo>
                    <a:pt x="1064" y="1"/>
                  </a:lnTo>
                  <a:lnTo>
                    <a:pt x="1058" y="0"/>
                  </a:lnTo>
                  <a:lnTo>
                    <a:pt x="1023" y="29"/>
                  </a:lnTo>
                  <a:lnTo>
                    <a:pt x="732" y="314"/>
                  </a:lnTo>
                  <a:lnTo>
                    <a:pt x="522" y="5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8" name="Freeform 200">
              <a:extLst>
                <a:ext uri="{FF2B5EF4-FFF2-40B4-BE49-F238E27FC236}">
                  <a16:creationId xmlns:a16="http://schemas.microsoft.com/office/drawing/2014/main" id="{BFD9A124-8A67-3AB6-FE0C-96FA596BBA02}"/>
                </a:ext>
              </a:extLst>
            </p:cNvPr>
            <p:cNvSpPr>
              <a:spLocks/>
            </p:cNvSpPr>
            <p:nvPr/>
          </p:nvSpPr>
          <p:spPr bwMode="auto">
            <a:xfrm>
              <a:off x="3543301" y="1558925"/>
              <a:ext cx="219075" cy="44450"/>
            </a:xfrm>
            <a:custGeom>
              <a:avLst/>
              <a:gdLst>
                <a:gd name="T0" fmla="*/ 16 w 932"/>
                <a:gd name="T1" fmla="*/ 32 h 184"/>
                <a:gd name="T2" fmla="*/ 7 w 932"/>
                <a:gd name="T3" fmla="*/ 51 h 184"/>
                <a:gd name="T4" fmla="*/ 0 w 932"/>
                <a:gd name="T5" fmla="*/ 87 h 184"/>
                <a:gd name="T6" fmla="*/ 5 w 932"/>
                <a:gd name="T7" fmla="*/ 120 h 184"/>
                <a:gd name="T8" fmla="*/ 22 w 932"/>
                <a:gd name="T9" fmla="*/ 146 h 184"/>
                <a:gd name="T10" fmla="*/ 36 w 932"/>
                <a:gd name="T11" fmla="*/ 157 h 184"/>
                <a:gd name="T12" fmla="*/ 49 w 932"/>
                <a:gd name="T13" fmla="*/ 165 h 184"/>
                <a:gd name="T14" fmla="*/ 98 w 932"/>
                <a:gd name="T15" fmla="*/ 175 h 184"/>
                <a:gd name="T16" fmla="*/ 252 w 932"/>
                <a:gd name="T17" fmla="*/ 183 h 184"/>
                <a:gd name="T18" fmla="*/ 466 w 932"/>
                <a:gd name="T19" fmla="*/ 184 h 184"/>
                <a:gd name="T20" fmla="*/ 680 w 932"/>
                <a:gd name="T21" fmla="*/ 183 h 184"/>
                <a:gd name="T22" fmla="*/ 834 w 932"/>
                <a:gd name="T23" fmla="*/ 175 h 184"/>
                <a:gd name="T24" fmla="*/ 883 w 932"/>
                <a:gd name="T25" fmla="*/ 165 h 184"/>
                <a:gd name="T26" fmla="*/ 896 w 932"/>
                <a:gd name="T27" fmla="*/ 157 h 184"/>
                <a:gd name="T28" fmla="*/ 910 w 932"/>
                <a:gd name="T29" fmla="*/ 146 h 184"/>
                <a:gd name="T30" fmla="*/ 927 w 932"/>
                <a:gd name="T31" fmla="*/ 120 h 184"/>
                <a:gd name="T32" fmla="*/ 932 w 932"/>
                <a:gd name="T33" fmla="*/ 87 h 184"/>
                <a:gd name="T34" fmla="*/ 925 w 932"/>
                <a:gd name="T35" fmla="*/ 51 h 184"/>
                <a:gd name="T36" fmla="*/ 916 w 932"/>
                <a:gd name="T37" fmla="*/ 32 h 184"/>
                <a:gd name="T38" fmla="*/ 913 w 932"/>
                <a:gd name="T39" fmla="*/ 27 h 184"/>
                <a:gd name="T40" fmla="*/ 904 w 932"/>
                <a:gd name="T41" fmla="*/ 18 h 184"/>
                <a:gd name="T42" fmla="*/ 877 w 932"/>
                <a:gd name="T43" fmla="*/ 9 h 184"/>
                <a:gd name="T44" fmla="*/ 725 w 932"/>
                <a:gd name="T45" fmla="*/ 1 h 184"/>
                <a:gd name="T46" fmla="*/ 466 w 932"/>
                <a:gd name="T47" fmla="*/ 0 h 184"/>
                <a:gd name="T48" fmla="*/ 207 w 932"/>
                <a:gd name="T49" fmla="*/ 1 h 184"/>
                <a:gd name="T50" fmla="*/ 55 w 932"/>
                <a:gd name="T51" fmla="*/ 9 h 184"/>
                <a:gd name="T52" fmla="*/ 28 w 932"/>
                <a:gd name="T53" fmla="*/ 18 h 184"/>
                <a:gd name="T54" fmla="*/ 19 w 932"/>
                <a:gd name="T55" fmla="*/ 27 h 184"/>
                <a:gd name="T56" fmla="*/ 16 w 932"/>
                <a:gd name="T57"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32" h="184">
                  <a:moveTo>
                    <a:pt x="16" y="32"/>
                  </a:moveTo>
                  <a:lnTo>
                    <a:pt x="7" y="51"/>
                  </a:lnTo>
                  <a:lnTo>
                    <a:pt x="0" y="87"/>
                  </a:lnTo>
                  <a:lnTo>
                    <a:pt x="5" y="120"/>
                  </a:lnTo>
                  <a:lnTo>
                    <a:pt x="22" y="146"/>
                  </a:lnTo>
                  <a:lnTo>
                    <a:pt x="36" y="157"/>
                  </a:lnTo>
                  <a:lnTo>
                    <a:pt x="49" y="165"/>
                  </a:lnTo>
                  <a:lnTo>
                    <a:pt x="98" y="175"/>
                  </a:lnTo>
                  <a:lnTo>
                    <a:pt x="252" y="183"/>
                  </a:lnTo>
                  <a:lnTo>
                    <a:pt x="466" y="184"/>
                  </a:lnTo>
                  <a:lnTo>
                    <a:pt x="680" y="183"/>
                  </a:lnTo>
                  <a:lnTo>
                    <a:pt x="834" y="175"/>
                  </a:lnTo>
                  <a:lnTo>
                    <a:pt x="883" y="165"/>
                  </a:lnTo>
                  <a:lnTo>
                    <a:pt x="896" y="157"/>
                  </a:lnTo>
                  <a:lnTo>
                    <a:pt x="910" y="146"/>
                  </a:lnTo>
                  <a:lnTo>
                    <a:pt x="927" y="120"/>
                  </a:lnTo>
                  <a:lnTo>
                    <a:pt x="932" y="87"/>
                  </a:lnTo>
                  <a:lnTo>
                    <a:pt x="925" y="51"/>
                  </a:lnTo>
                  <a:lnTo>
                    <a:pt x="916" y="32"/>
                  </a:lnTo>
                  <a:lnTo>
                    <a:pt x="913" y="27"/>
                  </a:lnTo>
                  <a:lnTo>
                    <a:pt x="904" y="18"/>
                  </a:lnTo>
                  <a:lnTo>
                    <a:pt x="877" y="9"/>
                  </a:lnTo>
                  <a:lnTo>
                    <a:pt x="725" y="1"/>
                  </a:lnTo>
                  <a:lnTo>
                    <a:pt x="466" y="0"/>
                  </a:lnTo>
                  <a:lnTo>
                    <a:pt x="207" y="1"/>
                  </a:lnTo>
                  <a:lnTo>
                    <a:pt x="55" y="9"/>
                  </a:lnTo>
                  <a:lnTo>
                    <a:pt x="28"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sp>
          <p:nvSpPr>
            <p:cNvPr id="39" name="Freeform 201">
              <a:extLst>
                <a:ext uri="{FF2B5EF4-FFF2-40B4-BE49-F238E27FC236}">
                  <a16:creationId xmlns:a16="http://schemas.microsoft.com/office/drawing/2014/main" id="{F90A36E9-B907-EA08-3D49-36FCEAB8D37A}"/>
                </a:ext>
              </a:extLst>
            </p:cNvPr>
            <p:cNvSpPr>
              <a:spLocks/>
            </p:cNvSpPr>
            <p:nvPr/>
          </p:nvSpPr>
          <p:spPr bwMode="auto">
            <a:xfrm>
              <a:off x="3543301" y="1668463"/>
              <a:ext cx="371475" cy="44450"/>
            </a:xfrm>
            <a:custGeom>
              <a:avLst/>
              <a:gdLst>
                <a:gd name="T0" fmla="*/ 16 w 1582"/>
                <a:gd name="T1" fmla="*/ 32 h 183"/>
                <a:gd name="T2" fmla="*/ 7 w 1582"/>
                <a:gd name="T3" fmla="*/ 51 h 183"/>
                <a:gd name="T4" fmla="*/ 0 w 1582"/>
                <a:gd name="T5" fmla="*/ 87 h 183"/>
                <a:gd name="T6" fmla="*/ 5 w 1582"/>
                <a:gd name="T7" fmla="*/ 119 h 183"/>
                <a:gd name="T8" fmla="*/ 22 w 1582"/>
                <a:gd name="T9" fmla="*/ 146 h 183"/>
                <a:gd name="T10" fmla="*/ 36 w 1582"/>
                <a:gd name="T11" fmla="*/ 157 h 183"/>
                <a:gd name="T12" fmla="*/ 43 w 1582"/>
                <a:gd name="T13" fmla="*/ 161 h 183"/>
                <a:gd name="T14" fmla="*/ 64 w 1582"/>
                <a:gd name="T15" fmla="*/ 168 h 183"/>
                <a:gd name="T16" fmla="*/ 122 w 1582"/>
                <a:gd name="T17" fmla="*/ 176 h 183"/>
                <a:gd name="T18" fmla="*/ 394 w 1582"/>
                <a:gd name="T19" fmla="*/ 183 h 183"/>
                <a:gd name="T20" fmla="*/ 801 w 1582"/>
                <a:gd name="T21" fmla="*/ 183 h 183"/>
                <a:gd name="T22" fmla="*/ 1234 w 1582"/>
                <a:gd name="T23" fmla="*/ 183 h 183"/>
                <a:gd name="T24" fmla="*/ 1489 w 1582"/>
                <a:gd name="T25" fmla="*/ 176 h 183"/>
                <a:gd name="T26" fmla="*/ 1535 w 1582"/>
                <a:gd name="T27" fmla="*/ 167 h 183"/>
                <a:gd name="T28" fmla="*/ 1549 w 1582"/>
                <a:gd name="T29" fmla="*/ 158 h 183"/>
                <a:gd name="T30" fmla="*/ 1554 w 1582"/>
                <a:gd name="T31" fmla="*/ 153 h 183"/>
                <a:gd name="T32" fmla="*/ 1566 w 1582"/>
                <a:gd name="T33" fmla="*/ 139 h 183"/>
                <a:gd name="T34" fmla="*/ 1580 w 1582"/>
                <a:gd name="T35" fmla="*/ 103 h 183"/>
                <a:gd name="T36" fmla="*/ 1582 w 1582"/>
                <a:gd name="T37" fmla="*/ 65 h 183"/>
                <a:gd name="T38" fmla="*/ 1572 w 1582"/>
                <a:gd name="T39" fmla="*/ 32 h 183"/>
                <a:gd name="T40" fmla="*/ 1563 w 1582"/>
                <a:gd name="T41" fmla="*/ 20 h 183"/>
                <a:gd name="T42" fmla="*/ 1551 w 1582"/>
                <a:gd name="T43" fmla="*/ 15 h 183"/>
                <a:gd name="T44" fmla="*/ 1464 w 1582"/>
                <a:gd name="T45" fmla="*/ 7 h 183"/>
                <a:gd name="T46" fmla="*/ 1165 w 1582"/>
                <a:gd name="T47" fmla="*/ 1 h 183"/>
                <a:gd name="T48" fmla="*/ 788 w 1582"/>
                <a:gd name="T49" fmla="*/ 0 h 183"/>
                <a:gd name="T50" fmla="*/ 329 w 1582"/>
                <a:gd name="T51" fmla="*/ 0 h 183"/>
                <a:gd name="T52" fmla="*/ 71 w 1582"/>
                <a:gd name="T53" fmla="*/ 8 h 183"/>
                <a:gd name="T54" fmla="*/ 30 w 1582"/>
                <a:gd name="T55" fmla="*/ 18 h 183"/>
                <a:gd name="T56" fmla="*/ 19 w 1582"/>
                <a:gd name="T57" fmla="*/ 26 h 183"/>
                <a:gd name="T58" fmla="*/ 16 w 1582"/>
                <a:gd name="T59" fmla="*/ 3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3">
                  <a:moveTo>
                    <a:pt x="16" y="32"/>
                  </a:moveTo>
                  <a:lnTo>
                    <a:pt x="7" y="51"/>
                  </a:lnTo>
                  <a:lnTo>
                    <a:pt x="0" y="87"/>
                  </a:lnTo>
                  <a:lnTo>
                    <a:pt x="5" y="119"/>
                  </a:lnTo>
                  <a:lnTo>
                    <a:pt x="22" y="146"/>
                  </a:lnTo>
                  <a:lnTo>
                    <a:pt x="36" y="157"/>
                  </a:lnTo>
                  <a:lnTo>
                    <a:pt x="43" y="161"/>
                  </a:lnTo>
                  <a:lnTo>
                    <a:pt x="64" y="168"/>
                  </a:lnTo>
                  <a:lnTo>
                    <a:pt x="122" y="176"/>
                  </a:lnTo>
                  <a:lnTo>
                    <a:pt x="394" y="183"/>
                  </a:lnTo>
                  <a:lnTo>
                    <a:pt x="801" y="183"/>
                  </a:lnTo>
                  <a:lnTo>
                    <a:pt x="1234" y="183"/>
                  </a:lnTo>
                  <a:lnTo>
                    <a:pt x="1489" y="176"/>
                  </a:lnTo>
                  <a:lnTo>
                    <a:pt x="1535" y="167"/>
                  </a:lnTo>
                  <a:lnTo>
                    <a:pt x="1549" y="158"/>
                  </a:lnTo>
                  <a:lnTo>
                    <a:pt x="1554" y="153"/>
                  </a:lnTo>
                  <a:lnTo>
                    <a:pt x="1566" y="139"/>
                  </a:lnTo>
                  <a:lnTo>
                    <a:pt x="1580" y="103"/>
                  </a:lnTo>
                  <a:lnTo>
                    <a:pt x="1582" y="65"/>
                  </a:lnTo>
                  <a:lnTo>
                    <a:pt x="1572" y="32"/>
                  </a:lnTo>
                  <a:lnTo>
                    <a:pt x="1563" y="20"/>
                  </a:lnTo>
                  <a:lnTo>
                    <a:pt x="1551" y="15"/>
                  </a:lnTo>
                  <a:lnTo>
                    <a:pt x="1464" y="7"/>
                  </a:lnTo>
                  <a:lnTo>
                    <a:pt x="1165" y="1"/>
                  </a:lnTo>
                  <a:lnTo>
                    <a:pt x="788" y="0"/>
                  </a:lnTo>
                  <a:lnTo>
                    <a:pt x="329" y="0"/>
                  </a:lnTo>
                  <a:lnTo>
                    <a:pt x="71" y="8"/>
                  </a:lnTo>
                  <a:lnTo>
                    <a:pt x="30" y="18"/>
                  </a:lnTo>
                  <a:lnTo>
                    <a:pt x="19" y="26"/>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2795669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الإصدارات والمراجعات</a:t>
            </a:r>
            <a:endParaRPr lang="en-US" dirty="0"/>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4101145409"/>
              </p:ext>
            </p:extLst>
          </p:nvPr>
        </p:nvGraphicFramePr>
        <p:xfrm>
          <a:off x="609601" y="1237422"/>
          <a:ext cx="10972798" cy="4572986"/>
        </p:xfrm>
        <a:graphic>
          <a:graphicData uri="http://schemas.openxmlformats.org/drawingml/2006/table">
            <a:tbl>
              <a:tblPr rtl="1" firstRow="1" bandRow="1">
                <a:tableStyleId>{2D5ABB26-0587-4C30-8999-92F81FD0307C}</a:tableStyleId>
              </a:tblPr>
              <a:tblGrid>
                <a:gridCol w="1288225">
                  <a:extLst>
                    <a:ext uri="{9D8B030D-6E8A-4147-A177-3AD203B41FA5}">
                      <a16:colId xmlns:a16="http://schemas.microsoft.com/office/drawing/2014/main" val="3246697180"/>
                    </a:ext>
                  </a:extLst>
                </a:gridCol>
                <a:gridCol w="1233878">
                  <a:extLst>
                    <a:ext uri="{9D8B030D-6E8A-4147-A177-3AD203B41FA5}">
                      <a16:colId xmlns:a16="http://schemas.microsoft.com/office/drawing/2014/main" val="1695347223"/>
                    </a:ext>
                  </a:extLst>
                </a:gridCol>
                <a:gridCol w="2586925">
                  <a:extLst>
                    <a:ext uri="{9D8B030D-6E8A-4147-A177-3AD203B41FA5}">
                      <a16:colId xmlns:a16="http://schemas.microsoft.com/office/drawing/2014/main" val="2017486071"/>
                    </a:ext>
                  </a:extLst>
                </a:gridCol>
                <a:gridCol w="2937305">
                  <a:extLst>
                    <a:ext uri="{9D8B030D-6E8A-4147-A177-3AD203B41FA5}">
                      <a16:colId xmlns:a16="http://schemas.microsoft.com/office/drawing/2014/main" val="2702421411"/>
                    </a:ext>
                  </a:extLst>
                </a:gridCol>
                <a:gridCol w="2926465">
                  <a:extLst>
                    <a:ext uri="{9D8B030D-6E8A-4147-A177-3AD203B41FA5}">
                      <a16:colId xmlns:a16="http://schemas.microsoft.com/office/drawing/2014/main" val="3621974949"/>
                    </a:ext>
                  </a:extLst>
                </a:gridCol>
              </a:tblGrid>
              <a:tr h="506402">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إصدار الوثيقة</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إعداد</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الوصف</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677764">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cs typeface="Sakkal Majalla" panose="02000000000000000000" pitchFamily="2" charset="-78"/>
                        </a:rPr>
                        <a:t>0.1</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11-Nov-202</a:t>
                      </a:r>
                      <a:r>
                        <a:rPr lang="en-US" dirty="0"/>
                        <a:t>5</a:t>
                      </a: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EG" sz="1800" kern="1200" dirty="0">
                          <a:solidFill>
                            <a:schemeClr val="tx1"/>
                          </a:solidFill>
                          <a:effectLst/>
                          <a:latin typeface="Sakkal Majalla" panose="02000000000000000000" pitchFamily="2" charset="-78"/>
                          <a:ea typeface="+mn-ea"/>
                          <a:cs typeface="Sakkal Majalla" panose="02000000000000000000" pitchFamily="2" charset="-78"/>
                        </a:rPr>
                        <a:t>دانا الغضبان</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EG" sz="1800" kern="1200" dirty="0">
                          <a:solidFill>
                            <a:schemeClr val="tx1"/>
                          </a:solidFill>
                          <a:effectLst/>
                          <a:latin typeface="Sakkal Majalla" panose="02000000000000000000" pitchFamily="2" charset="-78"/>
                          <a:ea typeface="+mn-ea"/>
                          <a:cs typeface="Sakkal Majalla" panose="02000000000000000000" pitchFamily="2" charset="-78"/>
                        </a:rPr>
                        <a:t>مدير مكتب 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EG"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إعداد مسودة </a:t>
                      </a: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الخطة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677764">
                <a:tc>
                  <a:txBody>
                    <a:bodyPr/>
                    <a:lstStyle/>
                    <a:p>
                      <a:pPr algn="ctr" rtl="1">
                        <a:lnSpc>
                          <a:spcPct val="115000"/>
                        </a:lnSpc>
                        <a:spcAft>
                          <a:spcPts val="0"/>
                        </a:spcAft>
                      </a:pPr>
                      <a:r>
                        <a:rPr lang="ar-EG"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0.9</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02-Dec-2025</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EG" sz="1800" kern="1200" dirty="0">
                          <a:solidFill>
                            <a:schemeClr val="tx1"/>
                          </a:solidFill>
                          <a:effectLst/>
                          <a:latin typeface="Sakkal Majalla" panose="02000000000000000000" pitchFamily="2" charset="-78"/>
                          <a:ea typeface="+mn-ea"/>
                          <a:cs typeface="Sakkal Majalla" panose="02000000000000000000" pitchFamily="2" charset="-78"/>
                        </a:rPr>
                        <a:t>دانا الغضبان</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Y" sz="1800" kern="1200" dirty="0">
                          <a:solidFill>
                            <a:schemeClr val="tx1"/>
                          </a:solidFill>
                          <a:effectLst/>
                          <a:latin typeface="Sakkal Majalla" panose="02000000000000000000" pitchFamily="2" charset="-78"/>
                          <a:ea typeface="+mn-ea"/>
                          <a:cs typeface="Sakkal Majalla" panose="02000000000000000000" pitchFamily="2" charset="-78"/>
                        </a:rPr>
                        <a:t>مدير مكتب البنية المؤسسية</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EG"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اعتماد أولي</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677764">
                <a:tc>
                  <a:txBody>
                    <a:bodyPr/>
                    <a:lstStyle/>
                    <a:p>
                      <a:pPr algn="ctr" rtl="1">
                        <a:lnSpc>
                          <a:spcPct val="115000"/>
                        </a:lnSpc>
                        <a:spcAft>
                          <a:spcPts val="0"/>
                        </a:spcAft>
                      </a:pPr>
                      <a:r>
                        <a:rPr lang="ar-EG"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1.0</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10-Dec-2025</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EG" sz="1800" kern="1200" dirty="0">
                          <a:solidFill>
                            <a:schemeClr val="tx1"/>
                          </a:solidFill>
                          <a:effectLst/>
                          <a:latin typeface="Sakkal Majalla" panose="02000000000000000000" pitchFamily="2" charset="-78"/>
                          <a:ea typeface="+mn-ea"/>
                          <a:cs typeface="Sakkal Majalla" panose="02000000000000000000" pitchFamily="2" charset="-78"/>
                        </a:rPr>
                        <a:t>يوسف </a:t>
                      </a:r>
                      <a:r>
                        <a:rPr lang="ar-EG" sz="1800" kern="1200" dirty="0" err="1">
                          <a:solidFill>
                            <a:schemeClr val="tx1"/>
                          </a:solidFill>
                          <a:effectLst/>
                          <a:latin typeface="Sakkal Majalla" panose="02000000000000000000" pitchFamily="2" charset="-78"/>
                          <a:ea typeface="+mn-ea"/>
                          <a:cs typeface="Sakkal Majalla" panose="02000000000000000000" pitchFamily="2" charset="-78"/>
                        </a:rPr>
                        <a:t>العوهلي</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EG" sz="1800" kern="1200" dirty="0">
                          <a:solidFill>
                            <a:schemeClr val="tx1"/>
                          </a:solidFill>
                          <a:effectLst/>
                          <a:latin typeface="Sakkal Majalla" panose="02000000000000000000" pitchFamily="2" charset="-78"/>
                          <a:ea typeface="+mn-ea"/>
                          <a:cs typeface="Sakkal Majalla" panose="02000000000000000000" pitchFamily="2" charset="-78"/>
                        </a:rPr>
                        <a:t>رئيس لجنة حوكمة 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EG"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اعتماد</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r h="677764">
                <a:tc>
                  <a:txBody>
                    <a:bodyPr/>
                    <a:lstStyle/>
                    <a:p>
                      <a:pPr algn="ctr" rtl="1">
                        <a:lnSpc>
                          <a:spcPct val="115000"/>
                        </a:lnSpc>
                        <a:spcAft>
                          <a:spcPts val="0"/>
                        </a:spcAft>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77945649"/>
                  </a:ext>
                </a:extLst>
              </a:tr>
              <a:tr h="677764">
                <a:tc>
                  <a:txBody>
                    <a:bodyPr/>
                    <a:lstStyle/>
                    <a:p>
                      <a:pPr algn="ctr" rtl="1">
                        <a:lnSpc>
                          <a:spcPct val="115000"/>
                        </a:lnSpc>
                        <a:spcAft>
                          <a:spcPts val="0"/>
                        </a:spcAft>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88316617"/>
                  </a:ext>
                </a:extLst>
              </a:tr>
              <a:tr h="677764">
                <a:tc>
                  <a:txBody>
                    <a:bodyPr/>
                    <a:lstStyle/>
                    <a:p>
                      <a:pPr algn="ctr" rtl="1">
                        <a:lnSpc>
                          <a:spcPct val="115000"/>
                        </a:lnSpc>
                        <a:spcAft>
                          <a:spcPts val="0"/>
                        </a:spcAft>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32939493"/>
                  </a:ext>
                </a:extLst>
              </a:tr>
            </a:tbl>
          </a:graphicData>
        </a:graphic>
      </p:graphicFrame>
    </p:spTree>
    <p:extLst>
      <p:ext uri="{BB962C8B-B14F-4D97-AF65-F5344CB8AC3E}">
        <p14:creationId xmlns:p14="http://schemas.microsoft.com/office/powerpoint/2010/main" val="2854880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الاعتمادات</a:t>
            </a:r>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1698505050"/>
              </p:ext>
            </p:extLst>
          </p:nvPr>
        </p:nvGraphicFramePr>
        <p:xfrm>
          <a:off x="609600" y="1237422"/>
          <a:ext cx="10972800" cy="4572985"/>
        </p:xfrm>
        <a:graphic>
          <a:graphicData uri="http://schemas.openxmlformats.org/drawingml/2006/table">
            <a:tbl>
              <a:tblPr rtl="1" firstRow="1" bandRow="1">
                <a:tableStyleId>{2D5ABB26-0587-4C30-8999-92F81FD0307C}</a:tableStyleId>
              </a:tblPr>
              <a:tblGrid>
                <a:gridCol w="1316817">
                  <a:extLst>
                    <a:ext uri="{9D8B030D-6E8A-4147-A177-3AD203B41FA5}">
                      <a16:colId xmlns:a16="http://schemas.microsoft.com/office/drawing/2014/main" val="3246697180"/>
                    </a:ext>
                  </a:extLst>
                </a:gridCol>
                <a:gridCol w="2540543">
                  <a:extLst>
                    <a:ext uri="{9D8B030D-6E8A-4147-A177-3AD203B41FA5}">
                      <a16:colId xmlns:a16="http://schemas.microsoft.com/office/drawing/2014/main" val="1695347223"/>
                    </a:ext>
                  </a:extLst>
                </a:gridCol>
                <a:gridCol w="2685931">
                  <a:extLst>
                    <a:ext uri="{9D8B030D-6E8A-4147-A177-3AD203B41FA5}">
                      <a16:colId xmlns:a16="http://schemas.microsoft.com/office/drawing/2014/main" val="2017486071"/>
                    </a:ext>
                  </a:extLst>
                </a:gridCol>
                <a:gridCol w="2853484">
                  <a:extLst>
                    <a:ext uri="{9D8B030D-6E8A-4147-A177-3AD203B41FA5}">
                      <a16:colId xmlns:a16="http://schemas.microsoft.com/office/drawing/2014/main" val="2702421411"/>
                    </a:ext>
                  </a:extLst>
                </a:gridCol>
                <a:gridCol w="1576025">
                  <a:extLst>
                    <a:ext uri="{9D8B030D-6E8A-4147-A177-3AD203B41FA5}">
                      <a16:colId xmlns:a16="http://schemas.microsoft.com/office/drawing/2014/main" val="3621974949"/>
                    </a:ext>
                  </a:extLst>
                </a:gridCol>
              </a:tblGrid>
              <a:tr h="911830">
                <a:tc>
                  <a:txBody>
                    <a:bodyPr/>
                    <a:lstStyle/>
                    <a:p>
                      <a:pPr algn="ctr" rtl="1">
                        <a:lnSpc>
                          <a:spcPct val="115000"/>
                        </a:lnSpc>
                        <a:spcAft>
                          <a:spcPts val="0"/>
                        </a:spcAft>
                      </a:pP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الاسم</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التوقيع</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1220385">
                <a:tc>
                  <a:txBody>
                    <a:bodyPr/>
                    <a:lstStyle/>
                    <a:p>
                      <a:pPr algn="ctr" rtl="1">
                        <a:lnSpc>
                          <a:spcPct val="115000"/>
                        </a:lnSpc>
                        <a:spcAft>
                          <a:spcPts val="0"/>
                        </a:spcAft>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دانا الغضبان</a:t>
                      </a: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مدير مكتب البنية المؤسسية</a:t>
                      </a: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يوسف </a:t>
                      </a:r>
                      <a:r>
                        <a:rPr lang="ar-SA" sz="1800" kern="1200" dirty="0" err="1">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العوهلي</a:t>
                      </a:r>
                      <a:endPar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kumimoji="0" lang="ar-SA"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rPr>
                        <a:t>رئيس لجنة حوكمة البنية المؤسسية</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bl>
          </a:graphicData>
        </a:graphic>
      </p:graphicFrame>
    </p:spTree>
    <p:extLst>
      <p:ext uri="{BB962C8B-B14F-4D97-AF65-F5344CB8AC3E}">
        <p14:creationId xmlns:p14="http://schemas.microsoft.com/office/powerpoint/2010/main" val="340058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itle 127">
            <a:extLst>
              <a:ext uri="{FF2B5EF4-FFF2-40B4-BE49-F238E27FC236}">
                <a16:creationId xmlns:a16="http://schemas.microsoft.com/office/drawing/2014/main" id="{1C6423EB-C4FD-85A8-22C2-F9D9A47AD52D}"/>
              </a:ext>
            </a:extLst>
          </p:cNvPr>
          <p:cNvSpPr>
            <a:spLocks noGrp="1"/>
          </p:cNvSpPr>
          <p:nvPr>
            <p:ph type="title"/>
          </p:nvPr>
        </p:nvSpPr>
        <p:spPr/>
        <p:txBody>
          <a:bodyPr/>
          <a:lstStyle/>
          <a:p>
            <a:pPr algn="ctr"/>
            <a:r>
              <a:rPr lang="ar-EG" dirty="0"/>
              <a:t>جدول المحتويات</a:t>
            </a:r>
            <a:endParaRPr lang="en-GB" dirty="0"/>
          </a:p>
        </p:txBody>
      </p:sp>
      <p:sp>
        <p:nvSpPr>
          <p:cNvPr id="111" name="Text Placeholder 11">
            <a:extLst>
              <a:ext uri="{FF2B5EF4-FFF2-40B4-BE49-F238E27FC236}">
                <a16:creationId xmlns:a16="http://schemas.microsoft.com/office/drawing/2014/main" id="{AC9FBA39-545A-2B44-3B82-F6A05AD587ED}"/>
              </a:ext>
            </a:extLst>
          </p:cNvPr>
          <p:cNvSpPr txBox="1">
            <a:spLocks/>
          </p:cNvSpPr>
          <p:nvPr/>
        </p:nvSpPr>
        <p:spPr>
          <a:xfrm>
            <a:off x="4443008" y="1182749"/>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2" action="ppaction://hlinksldjump"/>
              </a:rPr>
              <a:t>مقدمة عن خطة التوعية للبنية المؤسسية</a:t>
            </a:r>
            <a:endParaRPr lang="ar-EG" dirty="0">
              <a:solidFill>
                <a:schemeClr val="accent1"/>
              </a:solidFill>
            </a:endParaRPr>
          </a:p>
        </p:txBody>
      </p:sp>
      <p:sp>
        <p:nvSpPr>
          <p:cNvPr id="113" name="Text Placeholder 6">
            <a:extLst>
              <a:ext uri="{FF2B5EF4-FFF2-40B4-BE49-F238E27FC236}">
                <a16:creationId xmlns:a16="http://schemas.microsoft.com/office/drawing/2014/main" id="{6B10A3DA-6096-5CBC-3C34-1BDB4D3ED90C}"/>
              </a:ext>
            </a:extLst>
          </p:cNvPr>
          <p:cNvSpPr txBox="1">
            <a:spLocks/>
          </p:cNvSpPr>
          <p:nvPr/>
        </p:nvSpPr>
        <p:spPr>
          <a:xfrm>
            <a:off x="7715771" y="1155040"/>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800" dirty="0"/>
              <a:t>1</a:t>
            </a:r>
            <a:endParaRPr lang="en-US" sz="1800" dirty="0"/>
          </a:p>
        </p:txBody>
      </p:sp>
      <p:sp>
        <p:nvSpPr>
          <p:cNvPr id="120" name="Text Placeholder 11">
            <a:extLst>
              <a:ext uri="{FF2B5EF4-FFF2-40B4-BE49-F238E27FC236}">
                <a16:creationId xmlns:a16="http://schemas.microsoft.com/office/drawing/2014/main" id="{7486E810-41A9-8353-E944-7E95541923EF}"/>
              </a:ext>
            </a:extLst>
          </p:cNvPr>
          <p:cNvSpPr txBox="1">
            <a:spLocks/>
          </p:cNvSpPr>
          <p:nvPr/>
        </p:nvSpPr>
        <p:spPr>
          <a:xfrm>
            <a:off x="609601" y="1182749"/>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ar-EG" dirty="0">
                <a:solidFill>
                  <a:schemeClr val="accent1"/>
                </a:solidFill>
                <a:hlinkClick r:id="rId3" action="ppaction://hlinksldjump"/>
              </a:rPr>
              <a:t>الوسائل والقنوات المستخدمة للتوعية</a:t>
            </a:r>
            <a:endParaRPr lang="ar-EG" dirty="0">
              <a:solidFill>
                <a:schemeClr val="accent1"/>
              </a:solidFill>
            </a:endParaRPr>
          </a:p>
        </p:txBody>
      </p:sp>
      <p:sp>
        <p:nvSpPr>
          <p:cNvPr id="122" name="Text Placeholder 6">
            <a:extLst>
              <a:ext uri="{FF2B5EF4-FFF2-40B4-BE49-F238E27FC236}">
                <a16:creationId xmlns:a16="http://schemas.microsoft.com/office/drawing/2014/main" id="{98A2FD5D-5EBB-BA9D-4871-8F2CBDB452E1}"/>
              </a:ext>
            </a:extLst>
          </p:cNvPr>
          <p:cNvSpPr txBox="1">
            <a:spLocks/>
          </p:cNvSpPr>
          <p:nvPr/>
        </p:nvSpPr>
        <p:spPr>
          <a:xfrm>
            <a:off x="3882364" y="1155040"/>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800" dirty="0"/>
              <a:t>2</a:t>
            </a:r>
            <a:endParaRPr lang="en-US" sz="1800" dirty="0"/>
          </a:p>
        </p:txBody>
      </p:sp>
      <p:sp>
        <p:nvSpPr>
          <p:cNvPr id="2" name="Text Placeholder 11">
            <a:extLst>
              <a:ext uri="{FF2B5EF4-FFF2-40B4-BE49-F238E27FC236}">
                <a16:creationId xmlns:a16="http://schemas.microsoft.com/office/drawing/2014/main" id="{2363D0A5-2598-3E82-14A7-A68F4EA529DE}"/>
              </a:ext>
            </a:extLst>
          </p:cNvPr>
          <p:cNvSpPr txBox="1">
            <a:spLocks/>
          </p:cNvSpPr>
          <p:nvPr/>
        </p:nvSpPr>
        <p:spPr>
          <a:xfrm>
            <a:off x="4443008" y="2108714"/>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4" action="ppaction://hlinksldjump"/>
              </a:rPr>
              <a:t>الخطة الزمنية للتوعية بالبنية المؤسسية</a:t>
            </a:r>
            <a:endParaRPr lang="ar-EG" dirty="0">
              <a:solidFill>
                <a:schemeClr val="accent1"/>
              </a:solidFill>
            </a:endParaRPr>
          </a:p>
        </p:txBody>
      </p:sp>
      <p:sp>
        <p:nvSpPr>
          <p:cNvPr id="3" name="Text Placeholder 6">
            <a:extLst>
              <a:ext uri="{FF2B5EF4-FFF2-40B4-BE49-F238E27FC236}">
                <a16:creationId xmlns:a16="http://schemas.microsoft.com/office/drawing/2014/main" id="{4E135D50-7032-BCCB-4162-D48ACE1227AC}"/>
              </a:ext>
            </a:extLst>
          </p:cNvPr>
          <p:cNvSpPr txBox="1">
            <a:spLocks/>
          </p:cNvSpPr>
          <p:nvPr/>
        </p:nvSpPr>
        <p:spPr>
          <a:xfrm>
            <a:off x="7715771" y="2081005"/>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3</a:t>
            </a:r>
          </a:p>
        </p:txBody>
      </p:sp>
      <p:sp>
        <p:nvSpPr>
          <p:cNvPr id="4" name="Text Placeholder 11">
            <a:extLst>
              <a:ext uri="{FF2B5EF4-FFF2-40B4-BE49-F238E27FC236}">
                <a16:creationId xmlns:a16="http://schemas.microsoft.com/office/drawing/2014/main" id="{E09C355A-9FD2-2606-17C8-4459E09E34B1}"/>
              </a:ext>
            </a:extLst>
          </p:cNvPr>
          <p:cNvSpPr txBox="1">
            <a:spLocks/>
          </p:cNvSpPr>
          <p:nvPr/>
        </p:nvSpPr>
        <p:spPr>
          <a:xfrm>
            <a:off x="609601" y="2108714"/>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5" action="ppaction://hlinksldjump"/>
              </a:rPr>
              <a:t>بطاقات التعريف للأنشطة التوعوية</a:t>
            </a:r>
            <a:endParaRPr lang="ar-EG" dirty="0">
              <a:solidFill>
                <a:schemeClr val="accent1"/>
              </a:solidFill>
            </a:endParaRPr>
          </a:p>
        </p:txBody>
      </p:sp>
      <p:sp>
        <p:nvSpPr>
          <p:cNvPr id="5" name="Text Placeholder 6">
            <a:extLst>
              <a:ext uri="{FF2B5EF4-FFF2-40B4-BE49-F238E27FC236}">
                <a16:creationId xmlns:a16="http://schemas.microsoft.com/office/drawing/2014/main" id="{AC15DC1D-D994-9E95-FDE9-4DFDB0A21789}"/>
              </a:ext>
            </a:extLst>
          </p:cNvPr>
          <p:cNvSpPr txBox="1">
            <a:spLocks/>
          </p:cNvSpPr>
          <p:nvPr/>
        </p:nvSpPr>
        <p:spPr>
          <a:xfrm>
            <a:off x="3882364" y="2081005"/>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4</a:t>
            </a:r>
          </a:p>
        </p:txBody>
      </p:sp>
      <p:sp>
        <p:nvSpPr>
          <p:cNvPr id="12" name="Text Placeholder 11">
            <a:extLst>
              <a:ext uri="{FF2B5EF4-FFF2-40B4-BE49-F238E27FC236}">
                <a16:creationId xmlns:a16="http://schemas.microsoft.com/office/drawing/2014/main" id="{3B4C6009-E4E4-14CA-1D92-589201A2C3A7}"/>
              </a:ext>
            </a:extLst>
          </p:cNvPr>
          <p:cNvSpPr txBox="1">
            <a:spLocks/>
          </p:cNvSpPr>
          <p:nvPr/>
        </p:nvSpPr>
        <p:spPr>
          <a:xfrm>
            <a:off x="4443008" y="2936295"/>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6" action="ppaction://hlinksldjump"/>
              </a:rPr>
              <a:t>عينة من المواد التوعوية</a:t>
            </a:r>
            <a:endParaRPr lang="ar-EG" dirty="0">
              <a:solidFill>
                <a:schemeClr val="accent1"/>
              </a:solidFill>
            </a:endParaRPr>
          </a:p>
        </p:txBody>
      </p:sp>
      <p:sp>
        <p:nvSpPr>
          <p:cNvPr id="15" name="Text Placeholder 6">
            <a:extLst>
              <a:ext uri="{FF2B5EF4-FFF2-40B4-BE49-F238E27FC236}">
                <a16:creationId xmlns:a16="http://schemas.microsoft.com/office/drawing/2014/main" id="{85379A3C-2573-0D76-812A-572A5DA8CD19}"/>
              </a:ext>
            </a:extLst>
          </p:cNvPr>
          <p:cNvSpPr txBox="1">
            <a:spLocks/>
          </p:cNvSpPr>
          <p:nvPr/>
        </p:nvSpPr>
        <p:spPr>
          <a:xfrm>
            <a:off x="7715771" y="2908586"/>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5</a:t>
            </a:r>
          </a:p>
        </p:txBody>
      </p:sp>
      <p:sp>
        <p:nvSpPr>
          <p:cNvPr id="13" name="Text Placeholder 11">
            <a:extLst>
              <a:ext uri="{FF2B5EF4-FFF2-40B4-BE49-F238E27FC236}">
                <a16:creationId xmlns:a16="http://schemas.microsoft.com/office/drawing/2014/main" id="{B8BF3E5A-8359-4E9B-8895-216EED63B4B3}"/>
              </a:ext>
            </a:extLst>
          </p:cNvPr>
          <p:cNvSpPr txBox="1">
            <a:spLocks/>
          </p:cNvSpPr>
          <p:nvPr/>
        </p:nvSpPr>
        <p:spPr>
          <a:xfrm>
            <a:off x="609601" y="2892670"/>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7" action="ppaction://hlinksldjump"/>
              </a:rPr>
              <a:t>مؤشرات الأداء المرتبطة بخطة التوعية</a:t>
            </a:r>
            <a:endParaRPr lang="ar-EG" dirty="0">
              <a:solidFill>
                <a:schemeClr val="accent1"/>
              </a:solidFill>
            </a:endParaRPr>
          </a:p>
        </p:txBody>
      </p:sp>
      <p:sp>
        <p:nvSpPr>
          <p:cNvPr id="14" name="Text Placeholder 6">
            <a:extLst>
              <a:ext uri="{FF2B5EF4-FFF2-40B4-BE49-F238E27FC236}">
                <a16:creationId xmlns:a16="http://schemas.microsoft.com/office/drawing/2014/main" id="{84D08998-5816-4ED0-934B-CFCB2220EC70}"/>
              </a:ext>
            </a:extLst>
          </p:cNvPr>
          <p:cNvSpPr txBox="1">
            <a:spLocks/>
          </p:cNvSpPr>
          <p:nvPr/>
        </p:nvSpPr>
        <p:spPr>
          <a:xfrm>
            <a:off x="3882364" y="2864961"/>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SA" sz="1800" dirty="0"/>
              <a:t>6</a:t>
            </a:r>
            <a:endParaRPr lang="en-US" sz="1800" dirty="0"/>
          </a:p>
        </p:txBody>
      </p:sp>
    </p:spTree>
    <p:extLst>
      <p:ext uri="{BB962C8B-B14F-4D97-AF65-F5344CB8AC3E}">
        <p14:creationId xmlns:p14="http://schemas.microsoft.com/office/powerpoint/2010/main" val="6771418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038165" y="3925452"/>
            <a:ext cx="6506136" cy="641639"/>
          </a:xfrm>
        </p:spPr>
        <p:txBody>
          <a:bodyPr/>
          <a:lstStyle/>
          <a:p>
            <a:r>
              <a:rPr lang="ar-EG" dirty="0"/>
              <a:t>مقدمة عن خطة </a:t>
            </a:r>
            <a:r>
              <a:rPr lang="ar-SA" dirty="0"/>
              <a:t>التوعية</a:t>
            </a:r>
            <a:r>
              <a:rPr lang="ar-EG" dirty="0"/>
              <a:t> للبنية المؤسسية</a:t>
            </a:r>
          </a:p>
        </p:txBody>
      </p:sp>
      <p:sp>
        <p:nvSpPr>
          <p:cNvPr id="4" name="Text Placeholder 3"/>
          <p:cNvSpPr>
            <a:spLocks noGrp="1"/>
          </p:cNvSpPr>
          <p:nvPr>
            <p:ph type="body" sz="quarter" idx="14"/>
          </p:nvPr>
        </p:nvSpPr>
        <p:spPr/>
        <p:txBody>
          <a:bodyPr/>
          <a:lstStyle/>
          <a:p>
            <a:r>
              <a:rPr lang="ar-SA" dirty="0"/>
              <a:t>01</a:t>
            </a:r>
            <a:endParaRPr lang="en-US" dirty="0"/>
          </a:p>
        </p:txBody>
      </p:sp>
    </p:spTree>
    <p:extLst>
      <p:ext uri="{BB962C8B-B14F-4D97-AF65-F5344CB8AC3E}">
        <p14:creationId xmlns:p14="http://schemas.microsoft.com/office/powerpoint/2010/main" val="1631435678"/>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مقدمة عن خطة التوعية للبنية المؤسسية</a:t>
            </a:r>
          </a:p>
        </p:txBody>
      </p:sp>
      <p:grpSp>
        <p:nvGrpSpPr>
          <p:cNvPr id="4" name="Group 3">
            <a:extLst>
              <a:ext uri="{FF2B5EF4-FFF2-40B4-BE49-F238E27FC236}">
                <a16:creationId xmlns:a16="http://schemas.microsoft.com/office/drawing/2014/main" id="{BD4F7724-DFCC-06C6-E541-8B3F93FCC4FD}"/>
              </a:ext>
            </a:extLst>
          </p:cNvPr>
          <p:cNvGrpSpPr/>
          <p:nvPr/>
        </p:nvGrpSpPr>
        <p:grpSpPr>
          <a:xfrm flipH="1">
            <a:off x="9736652" y="2512210"/>
            <a:ext cx="1588573" cy="1483303"/>
            <a:chOff x="1037897" y="2843466"/>
            <a:chExt cx="1588573" cy="1483303"/>
          </a:xfrm>
          <a:solidFill>
            <a:srgbClr val="4C3C8D"/>
          </a:solidFill>
        </p:grpSpPr>
        <p:grpSp>
          <p:nvGrpSpPr>
            <p:cNvPr id="5" name="Group 4">
              <a:extLst>
                <a:ext uri="{FF2B5EF4-FFF2-40B4-BE49-F238E27FC236}">
                  <a16:creationId xmlns:a16="http://schemas.microsoft.com/office/drawing/2014/main" id="{6F9A729F-B1BF-0228-AD0E-A7D496CFA49C}"/>
                </a:ext>
              </a:extLst>
            </p:cNvPr>
            <p:cNvGrpSpPr/>
            <p:nvPr/>
          </p:nvGrpSpPr>
          <p:grpSpPr>
            <a:xfrm flipH="1">
              <a:off x="1037897" y="2843466"/>
              <a:ext cx="1588573" cy="1483303"/>
              <a:chOff x="9736652" y="2841229"/>
              <a:chExt cx="1588573" cy="1483303"/>
            </a:xfrm>
            <a:grpFill/>
          </p:grpSpPr>
          <p:sp>
            <p:nvSpPr>
              <p:cNvPr id="7" name="Freeform 6">
                <a:extLst>
                  <a:ext uri="{FF2B5EF4-FFF2-40B4-BE49-F238E27FC236}">
                    <a16:creationId xmlns:a16="http://schemas.microsoft.com/office/drawing/2014/main" id="{D9D636D5-63C8-D048-F8E3-A4C3F99A19C1}"/>
                  </a:ext>
                </a:extLst>
              </p:cNvPr>
              <p:cNvSpPr>
                <a:spLocks/>
              </p:cNvSpPr>
              <p:nvPr/>
            </p:nvSpPr>
            <p:spPr bwMode="auto">
              <a:xfrm>
                <a:off x="9736652" y="2841229"/>
                <a:ext cx="1256429" cy="1483303"/>
              </a:xfrm>
              <a:custGeom>
                <a:avLst/>
                <a:gdLst>
                  <a:gd name="T0" fmla="*/ 632 w 7475"/>
                  <a:gd name="T1" fmla="*/ 103 h 8831"/>
                  <a:gd name="T2" fmla="*/ 298 w 7475"/>
                  <a:gd name="T3" fmla="*/ 352 h 8831"/>
                  <a:gd name="T4" fmla="*/ 72 w 7475"/>
                  <a:gd name="T5" fmla="*/ 707 h 8831"/>
                  <a:gd name="T6" fmla="*/ 0 w 7475"/>
                  <a:gd name="T7" fmla="*/ 4422 h 8831"/>
                  <a:gd name="T8" fmla="*/ 73 w 7475"/>
                  <a:gd name="T9" fmla="*/ 8125 h 8831"/>
                  <a:gd name="T10" fmla="*/ 305 w 7475"/>
                  <a:gd name="T11" fmla="*/ 8483 h 8831"/>
                  <a:gd name="T12" fmla="*/ 639 w 7475"/>
                  <a:gd name="T13" fmla="*/ 8727 h 8831"/>
                  <a:gd name="T14" fmla="*/ 858 w 7475"/>
                  <a:gd name="T15" fmla="*/ 8803 h 8831"/>
                  <a:gd name="T16" fmla="*/ 2039 w 7475"/>
                  <a:gd name="T17" fmla="*/ 8831 h 8831"/>
                  <a:gd name="T18" fmla="*/ 5788 w 7475"/>
                  <a:gd name="T19" fmla="*/ 8829 h 8831"/>
                  <a:gd name="T20" fmla="*/ 6608 w 7475"/>
                  <a:gd name="T21" fmla="*/ 8801 h 8831"/>
                  <a:gd name="T22" fmla="*/ 6807 w 7475"/>
                  <a:gd name="T23" fmla="*/ 8736 h 8831"/>
                  <a:gd name="T24" fmla="*/ 7010 w 7475"/>
                  <a:gd name="T25" fmla="*/ 8620 h 8831"/>
                  <a:gd name="T26" fmla="*/ 7265 w 7475"/>
                  <a:gd name="T27" fmla="*/ 8369 h 8831"/>
                  <a:gd name="T28" fmla="*/ 7426 w 7475"/>
                  <a:gd name="T29" fmla="*/ 8047 h 8831"/>
                  <a:gd name="T30" fmla="*/ 7466 w 7475"/>
                  <a:gd name="T31" fmla="*/ 7857 h 8831"/>
                  <a:gd name="T32" fmla="*/ 7475 w 7475"/>
                  <a:gd name="T33" fmla="*/ 6849 h 8831"/>
                  <a:gd name="T34" fmla="*/ 7153 w 7475"/>
                  <a:gd name="T35" fmla="*/ 6842 h 8831"/>
                  <a:gd name="T36" fmla="*/ 7131 w 7475"/>
                  <a:gd name="T37" fmla="*/ 6930 h 8831"/>
                  <a:gd name="T38" fmla="*/ 7125 w 7475"/>
                  <a:gd name="T39" fmla="*/ 7509 h 8831"/>
                  <a:gd name="T40" fmla="*/ 7101 w 7475"/>
                  <a:gd name="T41" fmla="*/ 7917 h 8831"/>
                  <a:gd name="T42" fmla="*/ 7033 w 7475"/>
                  <a:gd name="T43" fmla="*/ 8084 h 8831"/>
                  <a:gd name="T44" fmla="*/ 6859 w 7475"/>
                  <a:gd name="T45" fmla="*/ 8301 h 8831"/>
                  <a:gd name="T46" fmla="*/ 6621 w 7475"/>
                  <a:gd name="T47" fmla="*/ 8440 h 8831"/>
                  <a:gd name="T48" fmla="*/ 6496 w 7475"/>
                  <a:gd name="T49" fmla="*/ 8466 h 8831"/>
                  <a:gd name="T50" fmla="*/ 3699 w 7475"/>
                  <a:gd name="T51" fmla="*/ 8477 h 8831"/>
                  <a:gd name="T52" fmla="*/ 744 w 7475"/>
                  <a:gd name="T53" fmla="*/ 8388 h 8831"/>
                  <a:gd name="T54" fmla="*/ 536 w 7475"/>
                  <a:gd name="T55" fmla="*/ 8219 h 8831"/>
                  <a:gd name="T56" fmla="*/ 399 w 7475"/>
                  <a:gd name="T57" fmla="*/ 7995 h 8831"/>
                  <a:gd name="T58" fmla="*/ 356 w 7475"/>
                  <a:gd name="T59" fmla="*/ 7814 h 8831"/>
                  <a:gd name="T60" fmla="*/ 342 w 7475"/>
                  <a:gd name="T61" fmla="*/ 4409 h 8831"/>
                  <a:gd name="T62" fmla="*/ 357 w 7475"/>
                  <a:gd name="T63" fmla="*/ 1032 h 8831"/>
                  <a:gd name="T64" fmla="*/ 374 w 7475"/>
                  <a:gd name="T65" fmla="*/ 903 h 8831"/>
                  <a:gd name="T66" fmla="*/ 488 w 7475"/>
                  <a:gd name="T67" fmla="*/ 663 h 8831"/>
                  <a:gd name="T68" fmla="*/ 750 w 7475"/>
                  <a:gd name="T69" fmla="*/ 436 h 8831"/>
                  <a:gd name="T70" fmla="*/ 1042 w 7475"/>
                  <a:gd name="T71" fmla="*/ 347 h 8831"/>
                  <a:gd name="T72" fmla="*/ 2627 w 7475"/>
                  <a:gd name="T73" fmla="*/ 333 h 8831"/>
                  <a:gd name="T74" fmla="*/ 6587 w 7475"/>
                  <a:gd name="T75" fmla="*/ 374 h 8831"/>
                  <a:gd name="T76" fmla="*/ 6804 w 7475"/>
                  <a:gd name="T77" fmla="*/ 484 h 8831"/>
                  <a:gd name="T78" fmla="*/ 7000 w 7475"/>
                  <a:gd name="T79" fmla="*/ 684 h 8831"/>
                  <a:gd name="T80" fmla="*/ 7099 w 7475"/>
                  <a:gd name="T81" fmla="*/ 896 h 8831"/>
                  <a:gd name="T82" fmla="*/ 7125 w 7475"/>
                  <a:gd name="T83" fmla="*/ 1191 h 8831"/>
                  <a:gd name="T84" fmla="*/ 7129 w 7475"/>
                  <a:gd name="T85" fmla="*/ 1839 h 8831"/>
                  <a:gd name="T86" fmla="*/ 7240 w 7475"/>
                  <a:gd name="T87" fmla="*/ 1869 h 8831"/>
                  <a:gd name="T88" fmla="*/ 7475 w 7475"/>
                  <a:gd name="T89" fmla="*/ 1416 h 8831"/>
                  <a:gd name="T90" fmla="*/ 7461 w 7475"/>
                  <a:gd name="T91" fmla="*/ 949 h 8831"/>
                  <a:gd name="T92" fmla="*/ 7409 w 7475"/>
                  <a:gd name="T93" fmla="*/ 723 h 8831"/>
                  <a:gd name="T94" fmla="*/ 7336 w 7475"/>
                  <a:gd name="T95" fmla="*/ 569 h 8831"/>
                  <a:gd name="T96" fmla="*/ 7142 w 7475"/>
                  <a:gd name="T97" fmla="*/ 313 h 8831"/>
                  <a:gd name="T98" fmla="*/ 6880 w 7475"/>
                  <a:gd name="T99" fmla="*/ 124 h 8831"/>
                  <a:gd name="T100" fmla="*/ 6600 w 7475"/>
                  <a:gd name="T101" fmla="*/ 6 h 8831"/>
                  <a:gd name="T102" fmla="*/ 1076 w 7475"/>
                  <a:gd name="T103" fmla="*/ 7 h 8831"/>
                  <a:gd name="T104" fmla="*/ 829 w 7475"/>
                  <a:gd name="T105" fmla="*/ 31 h 8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75" h="8831">
                    <a:moveTo>
                      <a:pt x="829" y="31"/>
                    </a:moveTo>
                    <a:lnTo>
                      <a:pt x="761" y="50"/>
                    </a:lnTo>
                    <a:lnTo>
                      <a:pt x="632" y="103"/>
                    </a:lnTo>
                    <a:lnTo>
                      <a:pt x="511" y="172"/>
                    </a:lnTo>
                    <a:lnTo>
                      <a:pt x="399" y="255"/>
                    </a:lnTo>
                    <a:lnTo>
                      <a:pt x="298" y="352"/>
                    </a:lnTo>
                    <a:lnTo>
                      <a:pt x="209" y="460"/>
                    </a:lnTo>
                    <a:lnTo>
                      <a:pt x="133" y="579"/>
                    </a:lnTo>
                    <a:lnTo>
                      <a:pt x="72" y="707"/>
                    </a:lnTo>
                    <a:lnTo>
                      <a:pt x="49" y="774"/>
                    </a:lnTo>
                    <a:lnTo>
                      <a:pt x="0" y="922"/>
                    </a:lnTo>
                    <a:lnTo>
                      <a:pt x="0" y="4422"/>
                    </a:lnTo>
                    <a:lnTo>
                      <a:pt x="0" y="7922"/>
                    </a:lnTo>
                    <a:lnTo>
                      <a:pt x="47" y="8056"/>
                    </a:lnTo>
                    <a:lnTo>
                      <a:pt x="73" y="8125"/>
                    </a:lnTo>
                    <a:lnTo>
                      <a:pt x="137" y="8255"/>
                    </a:lnTo>
                    <a:lnTo>
                      <a:pt x="215" y="8374"/>
                    </a:lnTo>
                    <a:lnTo>
                      <a:pt x="305" y="8483"/>
                    </a:lnTo>
                    <a:lnTo>
                      <a:pt x="407" y="8578"/>
                    </a:lnTo>
                    <a:lnTo>
                      <a:pt x="518" y="8660"/>
                    </a:lnTo>
                    <a:lnTo>
                      <a:pt x="639" y="8727"/>
                    </a:lnTo>
                    <a:lnTo>
                      <a:pt x="768" y="8779"/>
                    </a:lnTo>
                    <a:lnTo>
                      <a:pt x="835" y="8797"/>
                    </a:lnTo>
                    <a:lnTo>
                      <a:pt x="858" y="8803"/>
                    </a:lnTo>
                    <a:lnTo>
                      <a:pt x="916" y="8813"/>
                    </a:lnTo>
                    <a:lnTo>
                      <a:pt x="1080" y="8823"/>
                    </a:lnTo>
                    <a:lnTo>
                      <a:pt x="2039" y="8831"/>
                    </a:lnTo>
                    <a:lnTo>
                      <a:pt x="3740" y="8831"/>
                    </a:lnTo>
                    <a:lnTo>
                      <a:pt x="4795" y="8831"/>
                    </a:lnTo>
                    <a:lnTo>
                      <a:pt x="5788" y="8829"/>
                    </a:lnTo>
                    <a:lnTo>
                      <a:pt x="6213" y="8824"/>
                    </a:lnTo>
                    <a:lnTo>
                      <a:pt x="6483" y="8814"/>
                    </a:lnTo>
                    <a:lnTo>
                      <a:pt x="6608" y="8801"/>
                    </a:lnTo>
                    <a:lnTo>
                      <a:pt x="6668" y="8791"/>
                    </a:lnTo>
                    <a:lnTo>
                      <a:pt x="6735" y="8772"/>
                    </a:lnTo>
                    <a:lnTo>
                      <a:pt x="6807" y="8736"/>
                    </a:lnTo>
                    <a:lnTo>
                      <a:pt x="6850" y="8714"/>
                    </a:lnTo>
                    <a:lnTo>
                      <a:pt x="6906" y="8686"/>
                    </a:lnTo>
                    <a:lnTo>
                      <a:pt x="7010" y="8620"/>
                    </a:lnTo>
                    <a:lnTo>
                      <a:pt x="7104" y="8546"/>
                    </a:lnTo>
                    <a:lnTo>
                      <a:pt x="7190" y="8462"/>
                    </a:lnTo>
                    <a:lnTo>
                      <a:pt x="7265" y="8369"/>
                    </a:lnTo>
                    <a:lnTo>
                      <a:pt x="7329" y="8269"/>
                    </a:lnTo>
                    <a:lnTo>
                      <a:pt x="7383" y="8162"/>
                    </a:lnTo>
                    <a:lnTo>
                      <a:pt x="7426" y="8047"/>
                    </a:lnTo>
                    <a:lnTo>
                      <a:pt x="7442" y="7987"/>
                    </a:lnTo>
                    <a:lnTo>
                      <a:pt x="7452" y="7946"/>
                    </a:lnTo>
                    <a:lnTo>
                      <a:pt x="7466" y="7857"/>
                    </a:lnTo>
                    <a:lnTo>
                      <a:pt x="7475" y="7643"/>
                    </a:lnTo>
                    <a:lnTo>
                      <a:pt x="7475" y="7354"/>
                    </a:lnTo>
                    <a:lnTo>
                      <a:pt x="7475" y="6849"/>
                    </a:lnTo>
                    <a:lnTo>
                      <a:pt x="7314" y="6844"/>
                    </a:lnTo>
                    <a:lnTo>
                      <a:pt x="7248" y="6842"/>
                    </a:lnTo>
                    <a:lnTo>
                      <a:pt x="7153" y="6842"/>
                    </a:lnTo>
                    <a:lnTo>
                      <a:pt x="7139" y="6844"/>
                    </a:lnTo>
                    <a:lnTo>
                      <a:pt x="7136" y="6852"/>
                    </a:lnTo>
                    <a:lnTo>
                      <a:pt x="7131" y="6930"/>
                    </a:lnTo>
                    <a:lnTo>
                      <a:pt x="7126" y="7149"/>
                    </a:lnTo>
                    <a:lnTo>
                      <a:pt x="7125" y="7349"/>
                    </a:lnTo>
                    <a:lnTo>
                      <a:pt x="7125" y="7509"/>
                    </a:lnTo>
                    <a:lnTo>
                      <a:pt x="7123" y="7720"/>
                    </a:lnTo>
                    <a:lnTo>
                      <a:pt x="7116" y="7842"/>
                    </a:lnTo>
                    <a:lnTo>
                      <a:pt x="7101" y="7917"/>
                    </a:lnTo>
                    <a:lnTo>
                      <a:pt x="7090" y="7951"/>
                    </a:lnTo>
                    <a:lnTo>
                      <a:pt x="7074" y="7997"/>
                    </a:lnTo>
                    <a:lnTo>
                      <a:pt x="7033" y="8084"/>
                    </a:lnTo>
                    <a:lnTo>
                      <a:pt x="6983" y="8164"/>
                    </a:lnTo>
                    <a:lnTo>
                      <a:pt x="6925" y="8237"/>
                    </a:lnTo>
                    <a:lnTo>
                      <a:pt x="6859" y="8301"/>
                    </a:lnTo>
                    <a:lnTo>
                      <a:pt x="6786" y="8357"/>
                    </a:lnTo>
                    <a:lnTo>
                      <a:pt x="6706" y="8403"/>
                    </a:lnTo>
                    <a:lnTo>
                      <a:pt x="6621" y="8440"/>
                    </a:lnTo>
                    <a:lnTo>
                      <a:pt x="6575" y="8454"/>
                    </a:lnTo>
                    <a:lnTo>
                      <a:pt x="6558" y="8459"/>
                    </a:lnTo>
                    <a:lnTo>
                      <a:pt x="6496" y="8466"/>
                    </a:lnTo>
                    <a:lnTo>
                      <a:pt x="6304" y="8474"/>
                    </a:lnTo>
                    <a:lnTo>
                      <a:pt x="5299" y="8479"/>
                    </a:lnTo>
                    <a:lnTo>
                      <a:pt x="3699" y="8477"/>
                    </a:lnTo>
                    <a:lnTo>
                      <a:pt x="915" y="8472"/>
                    </a:lnTo>
                    <a:lnTo>
                      <a:pt x="785" y="8409"/>
                    </a:lnTo>
                    <a:lnTo>
                      <a:pt x="744" y="8388"/>
                    </a:lnTo>
                    <a:lnTo>
                      <a:pt x="668" y="8339"/>
                    </a:lnTo>
                    <a:lnTo>
                      <a:pt x="598" y="8282"/>
                    </a:lnTo>
                    <a:lnTo>
                      <a:pt x="536" y="8219"/>
                    </a:lnTo>
                    <a:lnTo>
                      <a:pt x="482" y="8150"/>
                    </a:lnTo>
                    <a:lnTo>
                      <a:pt x="436" y="8075"/>
                    </a:lnTo>
                    <a:lnTo>
                      <a:pt x="399" y="7995"/>
                    </a:lnTo>
                    <a:lnTo>
                      <a:pt x="371" y="7911"/>
                    </a:lnTo>
                    <a:lnTo>
                      <a:pt x="360" y="7867"/>
                    </a:lnTo>
                    <a:lnTo>
                      <a:pt x="356" y="7814"/>
                    </a:lnTo>
                    <a:lnTo>
                      <a:pt x="349" y="7395"/>
                    </a:lnTo>
                    <a:lnTo>
                      <a:pt x="343" y="6032"/>
                    </a:lnTo>
                    <a:lnTo>
                      <a:pt x="342" y="4409"/>
                    </a:lnTo>
                    <a:lnTo>
                      <a:pt x="342" y="2512"/>
                    </a:lnTo>
                    <a:lnTo>
                      <a:pt x="349" y="1278"/>
                    </a:lnTo>
                    <a:lnTo>
                      <a:pt x="357" y="1032"/>
                    </a:lnTo>
                    <a:lnTo>
                      <a:pt x="363" y="953"/>
                    </a:lnTo>
                    <a:lnTo>
                      <a:pt x="367" y="932"/>
                    </a:lnTo>
                    <a:lnTo>
                      <a:pt x="374" y="903"/>
                    </a:lnTo>
                    <a:lnTo>
                      <a:pt x="393" y="845"/>
                    </a:lnTo>
                    <a:lnTo>
                      <a:pt x="428" y="763"/>
                    </a:lnTo>
                    <a:lnTo>
                      <a:pt x="488" y="663"/>
                    </a:lnTo>
                    <a:lnTo>
                      <a:pt x="563" y="575"/>
                    </a:lnTo>
                    <a:lnTo>
                      <a:pt x="651" y="498"/>
                    </a:lnTo>
                    <a:lnTo>
                      <a:pt x="750" y="436"/>
                    </a:lnTo>
                    <a:lnTo>
                      <a:pt x="860" y="388"/>
                    </a:lnTo>
                    <a:lnTo>
                      <a:pt x="979" y="356"/>
                    </a:lnTo>
                    <a:lnTo>
                      <a:pt x="1042" y="347"/>
                    </a:lnTo>
                    <a:lnTo>
                      <a:pt x="1104" y="343"/>
                    </a:lnTo>
                    <a:lnTo>
                      <a:pt x="1495" y="337"/>
                    </a:lnTo>
                    <a:lnTo>
                      <a:pt x="2627" y="333"/>
                    </a:lnTo>
                    <a:lnTo>
                      <a:pt x="3834" y="334"/>
                    </a:lnTo>
                    <a:lnTo>
                      <a:pt x="6484" y="339"/>
                    </a:lnTo>
                    <a:lnTo>
                      <a:pt x="6587" y="374"/>
                    </a:lnTo>
                    <a:lnTo>
                      <a:pt x="6634" y="391"/>
                    </a:lnTo>
                    <a:lnTo>
                      <a:pt x="6722" y="433"/>
                    </a:lnTo>
                    <a:lnTo>
                      <a:pt x="6804" y="484"/>
                    </a:lnTo>
                    <a:lnTo>
                      <a:pt x="6878" y="543"/>
                    </a:lnTo>
                    <a:lnTo>
                      <a:pt x="6943" y="610"/>
                    </a:lnTo>
                    <a:lnTo>
                      <a:pt x="7000" y="684"/>
                    </a:lnTo>
                    <a:lnTo>
                      <a:pt x="7047" y="764"/>
                    </a:lnTo>
                    <a:lnTo>
                      <a:pt x="7084" y="850"/>
                    </a:lnTo>
                    <a:lnTo>
                      <a:pt x="7099" y="896"/>
                    </a:lnTo>
                    <a:lnTo>
                      <a:pt x="7106" y="924"/>
                    </a:lnTo>
                    <a:lnTo>
                      <a:pt x="7117" y="1001"/>
                    </a:lnTo>
                    <a:lnTo>
                      <a:pt x="7125" y="1191"/>
                    </a:lnTo>
                    <a:lnTo>
                      <a:pt x="7125" y="1422"/>
                    </a:lnTo>
                    <a:lnTo>
                      <a:pt x="7126" y="1597"/>
                    </a:lnTo>
                    <a:lnTo>
                      <a:pt x="7129" y="1839"/>
                    </a:lnTo>
                    <a:lnTo>
                      <a:pt x="7132" y="1866"/>
                    </a:lnTo>
                    <a:lnTo>
                      <a:pt x="7144" y="1868"/>
                    </a:lnTo>
                    <a:lnTo>
                      <a:pt x="7240" y="1869"/>
                    </a:lnTo>
                    <a:lnTo>
                      <a:pt x="7307" y="1867"/>
                    </a:lnTo>
                    <a:lnTo>
                      <a:pt x="7475" y="1862"/>
                    </a:lnTo>
                    <a:lnTo>
                      <a:pt x="7475" y="1416"/>
                    </a:lnTo>
                    <a:lnTo>
                      <a:pt x="7475" y="1242"/>
                    </a:lnTo>
                    <a:lnTo>
                      <a:pt x="7469" y="1050"/>
                    </a:lnTo>
                    <a:lnTo>
                      <a:pt x="7461" y="949"/>
                    </a:lnTo>
                    <a:lnTo>
                      <a:pt x="7449" y="864"/>
                    </a:lnTo>
                    <a:lnTo>
                      <a:pt x="7432" y="791"/>
                    </a:lnTo>
                    <a:lnTo>
                      <a:pt x="7409" y="723"/>
                    </a:lnTo>
                    <a:lnTo>
                      <a:pt x="7380" y="655"/>
                    </a:lnTo>
                    <a:lnTo>
                      <a:pt x="7362" y="619"/>
                    </a:lnTo>
                    <a:lnTo>
                      <a:pt x="7336" y="569"/>
                    </a:lnTo>
                    <a:lnTo>
                      <a:pt x="7278" y="476"/>
                    </a:lnTo>
                    <a:lnTo>
                      <a:pt x="7213" y="391"/>
                    </a:lnTo>
                    <a:lnTo>
                      <a:pt x="7142" y="313"/>
                    </a:lnTo>
                    <a:lnTo>
                      <a:pt x="7062" y="243"/>
                    </a:lnTo>
                    <a:lnTo>
                      <a:pt x="6975" y="180"/>
                    </a:lnTo>
                    <a:lnTo>
                      <a:pt x="6880" y="124"/>
                    </a:lnTo>
                    <a:lnTo>
                      <a:pt x="6777" y="74"/>
                    </a:lnTo>
                    <a:lnTo>
                      <a:pt x="6722" y="52"/>
                    </a:lnTo>
                    <a:lnTo>
                      <a:pt x="6600" y="6"/>
                    </a:lnTo>
                    <a:lnTo>
                      <a:pt x="3775" y="2"/>
                    </a:lnTo>
                    <a:lnTo>
                      <a:pt x="2053" y="0"/>
                    </a:lnTo>
                    <a:lnTo>
                      <a:pt x="1076" y="7"/>
                    </a:lnTo>
                    <a:lnTo>
                      <a:pt x="908" y="17"/>
                    </a:lnTo>
                    <a:lnTo>
                      <a:pt x="851" y="25"/>
                    </a:lnTo>
                    <a:lnTo>
                      <a:pt x="829"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8" name="Freeform 7">
                <a:extLst>
                  <a:ext uri="{FF2B5EF4-FFF2-40B4-BE49-F238E27FC236}">
                    <a16:creationId xmlns:a16="http://schemas.microsoft.com/office/drawing/2014/main" id="{8EF45EC1-585E-D164-E91C-015AABDBF08D}"/>
                  </a:ext>
                </a:extLst>
              </p:cNvPr>
              <p:cNvSpPr>
                <a:spLocks/>
              </p:cNvSpPr>
              <p:nvPr/>
            </p:nvSpPr>
            <p:spPr bwMode="auto">
              <a:xfrm>
                <a:off x="10015708" y="3174280"/>
                <a:ext cx="697412" cy="24956"/>
              </a:xfrm>
              <a:custGeom>
                <a:avLst/>
                <a:gdLst>
                  <a:gd name="T0" fmla="*/ 5 w 4150"/>
                  <a:gd name="T1" fmla="*/ 22 h 149"/>
                  <a:gd name="T2" fmla="*/ 2 w 4150"/>
                  <a:gd name="T3" fmla="*/ 34 h 149"/>
                  <a:gd name="T4" fmla="*/ 0 w 4150"/>
                  <a:gd name="T5" fmla="*/ 73 h 149"/>
                  <a:gd name="T6" fmla="*/ 2 w 4150"/>
                  <a:gd name="T7" fmla="*/ 94 h 149"/>
                  <a:gd name="T8" fmla="*/ 7 w 4150"/>
                  <a:gd name="T9" fmla="*/ 140 h 149"/>
                  <a:gd name="T10" fmla="*/ 2079 w 4150"/>
                  <a:gd name="T11" fmla="*/ 145 h 149"/>
                  <a:gd name="T12" fmla="*/ 4150 w 4150"/>
                  <a:gd name="T13" fmla="*/ 149 h 149"/>
                  <a:gd name="T14" fmla="*/ 4145 w 4150"/>
                  <a:gd name="T15" fmla="*/ 79 h 149"/>
                  <a:gd name="T16" fmla="*/ 4140 w 4150"/>
                  <a:gd name="T17" fmla="*/ 7 h 149"/>
                  <a:gd name="T18" fmla="*/ 2077 w 4150"/>
                  <a:gd name="T19" fmla="*/ 2 h 149"/>
                  <a:gd name="T20" fmla="*/ 935 w 4150"/>
                  <a:gd name="T21" fmla="*/ 0 h 149"/>
                  <a:gd name="T22" fmla="*/ 187 w 4150"/>
                  <a:gd name="T23" fmla="*/ 6 h 149"/>
                  <a:gd name="T24" fmla="*/ 46 w 4150"/>
                  <a:gd name="T25" fmla="*/ 12 h 149"/>
                  <a:gd name="T26" fmla="*/ 9 w 4150"/>
                  <a:gd name="T27" fmla="*/ 18 h 149"/>
                  <a:gd name="T28" fmla="*/ 5 w 4150"/>
                  <a:gd name="T29"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50" h="149">
                    <a:moveTo>
                      <a:pt x="5" y="22"/>
                    </a:moveTo>
                    <a:lnTo>
                      <a:pt x="2" y="34"/>
                    </a:lnTo>
                    <a:lnTo>
                      <a:pt x="0" y="73"/>
                    </a:lnTo>
                    <a:lnTo>
                      <a:pt x="2" y="94"/>
                    </a:lnTo>
                    <a:lnTo>
                      <a:pt x="7" y="140"/>
                    </a:lnTo>
                    <a:lnTo>
                      <a:pt x="2079" y="145"/>
                    </a:lnTo>
                    <a:lnTo>
                      <a:pt x="4150" y="149"/>
                    </a:lnTo>
                    <a:lnTo>
                      <a:pt x="4145" y="79"/>
                    </a:lnTo>
                    <a:lnTo>
                      <a:pt x="4140" y="7"/>
                    </a:lnTo>
                    <a:lnTo>
                      <a:pt x="2077" y="2"/>
                    </a:lnTo>
                    <a:lnTo>
                      <a:pt x="935" y="0"/>
                    </a:lnTo>
                    <a:lnTo>
                      <a:pt x="187" y="6"/>
                    </a:lnTo>
                    <a:lnTo>
                      <a:pt x="46"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9" name="Freeform 8">
                <a:extLst>
                  <a:ext uri="{FF2B5EF4-FFF2-40B4-BE49-F238E27FC236}">
                    <a16:creationId xmlns:a16="http://schemas.microsoft.com/office/drawing/2014/main" id="{12EA062D-BB00-E269-A646-A914EE2C8E90}"/>
                  </a:ext>
                </a:extLst>
              </p:cNvPr>
              <p:cNvSpPr>
                <a:spLocks noEditPoints="1"/>
              </p:cNvSpPr>
              <p:nvPr/>
            </p:nvSpPr>
            <p:spPr bwMode="auto">
              <a:xfrm>
                <a:off x="10614202" y="3216932"/>
                <a:ext cx="711023" cy="711023"/>
              </a:xfrm>
              <a:custGeom>
                <a:avLst/>
                <a:gdLst>
                  <a:gd name="T0" fmla="*/ 1447 w 4229"/>
                  <a:gd name="T1" fmla="*/ 106 h 4232"/>
                  <a:gd name="T2" fmla="*/ 819 w 4229"/>
                  <a:gd name="T3" fmla="*/ 442 h 4232"/>
                  <a:gd name="T4" fmla="*/ 456 w 4229"/>
                  <a:gd name="T5" fmla="*/ 801 h 4232"/>
                  <a:gd name="T6" fmla="*/ 145 w 4229"/>
                  <a:gd name="T7" fmla="*/ 1332 h 4232"/>
                  <a:gd name="T8" fmla="*/ 21 w 4229"/>
                  <a:gd name="T9" fmla="*/ 1755 h 4232"/>
                  <a:gd name="T10" fmla="*/ 10 w 4229"/>
                  <a:gd name="T11" fmla="*/ 2393 h 4232"/>
                  <a:gd name="T12" fmla="*/ 92 w 4229"/>
                  <a:gd name="T13" fmla="*/ 2759 h 4232"/>
                  <a:gd name="T14" fmla="*/ 361 w 4229"/>
                  <a:gd name="T15" fmla="*/ 3308 h 4232"/>
                  <a:gd name="T16" fmla="*/ 679 w 4229"/>
                  <a:gd name="T17" fmla="*/ 3670 h 4232"/>
                  <a:gd name="T18" fmla="*/ 1185 w 4229"/>
                  <a:gd name="T19" fmla="*/ 4024 h 4232"/>
                  <a:gd name="T20" fmla="*/ 1714 w 4229"/>
                  <a:gd name="T21" fmla="*/ 4204 h 4232"/>
                  <a:gd name="T22" fmla="*/ 2229 w 4229"/>
                  <a:gd name="T23" fmla="*/ 4232 h 4232"/>
                  <a:gd name="T24" fmla="*/ 2597 w 4229"/>
                  <a:gd name="T25" fmla="*/ 4185 h 4232"/>
                  <a:gd name="T26" fmla="*/ 3176 w 4229"/>
                  <a:gd name="T27" fmla="*/ 3953 h 4232"/>
                  <a:gd name="T28" fmla="*/ 3607 w 4229"/>
                  <a:gd name="T29" fmla="*/ 3612 h 4232"/>
                  <a:gd name="T30" fmla="*/ 3951 w 4229"/>
                  <a:gd name="T31" fmla="*/ 3177 h 4232"/>
                  <a:gd name="T32" fmla="*/ 4182 w 4229"/>
                  <a:gd name="T33" fmla="*/ 2594 h 4232"/>
                  <a:gd name="T34" fmla="*/ 4229 w 4229"/>
                  <a:gd name="T35" fmla="*/ 2228 h 4232"/>
                  <a:gd name="T36" fmla="*/ 4199 w 4229"/>
                  <a:gd name="T37" fmla="*/ 1719 h 4232"/>
                  <a:gd name="T38" fmla="*/ 4017 w 4229"/>
                  <a:gd name="T39" fmla="*/ 1187 h 4232"/>
                  <a:gd name="T40" fmla="*/ 3662 w 4229"/>
                  <a:gd name="T41" fmla="*/ 672 h 4232"/>
                  <a:gd name="T42" fmla="*/ 3179 w 4229"/>
                  <a:gd name="T43" fmla="*/ 284 h 4232"/>
                  <a:gd name="T44" fmla="*/ 2597 w 4229"/>
                  <a:gd name="T45" fmla="*/ 51 h 4232"/>
                  <a:gd name="T46" fmla="*/ 2110 w 4229"/>
                  <a:gd name="T47" fmla="*/ 0 h 4232"/>
                  <a:gd name="T48" fmla="*/ 2421 w 4229"/>
                  <a:gd name="T49" fmla="*/ 373 h 4232"/>
                  <a:gd name="T50" fmla="*/ 2962 w 4229"/>
                  <a:gd name="T51" fmla="*/ 563 h 4232"/>
                  <a:gd name="T52" fmla="*/ 3365 w 4229"/>
                  <a:gd name="T53" fmla="*/ 867 h 4232"/>
                  <a:gd name="T54" fmla="*/ 3716 w 4229"/>
                  <a:gd name="T55" fmla="*/ 1361 h 4232"/>
                  <a:gd name="T56" fmla="*/ 3883 w 4229"/>
                  <a:gd name="T57" fmla="*/ 2003 h 4232"/>
                  <a:gd name="T58" fmla="*/ 3799 w 4229"/>
                  <a:gd name="T59" fmla="*/ 2661 h 4232"/>
                  <a:gd name="T60" fmla="*/ 3464 w 4229"/>
                  <a:gd name="T61" fmla="*/ 3266 h 4232"/>
                  <a:gd name="T62" fmla="*/ 3179 w 4229"/>
                  <a:gd name="T63" fmla="*/ 3532 h 4232"/>
                  <a:gd name="T64" fmla="*/ 2726 w 4229"/>
                  <a:gd name="T65" fmla="*/ 3780 h 4232"/>
                  <a:gd name="T66" fmla="*/ 2408 w 4229"/>
                  <a:gd name="T67" fmla="*/ 3870 h 4232"/>
                  <a:gd name="T68" fmla="*/ 2031 w 4229"/>
                  <a:gd name="T69" fmla="*/ 3882 h 4232"/>
                  <a:gd name="T70" fmla="*/ 1684 w 4229"/>
                  <a:gd name="T71" fmla="*/ 3839 h 4232"/>
                  <a:gd name="T72" fmla="*/ 1289 w 4229"/>
                  <a:gd name="T73" fmla="*/ 3684 h 4232"/>
                  <a:gd name="T74" fmla="*/ 904 w 4229"/>
                  <a:gd name="T75" fmla="*/ 3411 h 4232"/>
                  <a:gd name="T76" fmla="*/ 607 w 4229"/>
                  <a:gd name="T77" fmla="*/ 3048 h 4232"/>
                  <a:gd name="T78" fmla="*/ 410 w 4229"/>
                  <a:gd name="T79" fmla="*/ 2611 h 4232"/>
                  <a:gd name="T80" fmla="*/ 354 w 4229"/>
                  <a:gd name="T81" fmla="*/ 2322 h 4232"/>
                  <a:gd name="T82" fmla="*/ 354 w 4229"/>
                  <a:gd name="T83" fmla="*/ 1916 h 4232"/>
                  <a:gd name="T84" fmla="*/ 410 w 4229"/>
                  <a:gd name="T85" fmla="*/ 1627 h 4232"/>
                  <a:gd name="T86" fmla="*/ 605 w 4229"/>
                  <a:gd name="T87" fmla="*/ 1192 h 4232"/>
                  <a:gd name="T88" fmla="*/ 862 w 4229"/>
                  <a:gd name="T89" fmla="*/ 867 h 4232"/>
                  <a:gd name="T90" fmla="*/ 1142 w 4229"/>
                  <a:gd name="T91" fmla="*/ 639 h 4232"/>
                  <a:gd name="T92" fmla="*/ 1503 w 4229"/>
                  <a:gd name="T93" fmla="*/ 456 h 4232"/>
                  <a:gd name="T94" fmla="*/ 1893 w 4229"/>
                  <a:gd name="T95" fmla="*/ 359 h 4232"/>
                  <a:gd name="T96" fmla="*/ 2298 w 4229"/>
                  <a:gd name="T97" fmla="*/ 355 h 4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9" h="4232">
                    <a:moveTo>
                      <a:pt x="1905" y="4"/>
                    </a:moveTo>
                    <a:lnTo>
                      <a:pt x="1809" y="17"/>
                    </a:lnTo>
                    <a:lnTo>
                      <a:pt x="1624" y="55"/>
                    </a:lnTo>
                    <a:lnTo>
                      <a:pt x="1447" y="106"/>
                    </a:lnTo>
                    <a:lnTo>
                      <a:pt x="1278" y="170"/>
                    </a:lnTo>
                    <a:lnTo>
                      <a:pt x="1117" y="247"/>
                    </a:lnTo>
                    <a:lnTo>
                      <a:pt x="964" y="338"/>
                    </a:lnTo>
                    <a:lnTo>
                      <a:pt x="819" y="442"/>
                    </a:lnTo>
                    <a:lnTo>
                      <a:pt x="681" y="559"/>
                    </a:lnTo>
                    <a:lnTo>
                      <a:pt x="615" y="624"/>
                    </a:lnTo>
                    <a:lnTo>
                      <a:pt x="559" y="682"/>
                    </a:lnTo>
                    <a:lnTo>
                      <a:pt x="456" y="801"/>
                    </a:lnTo>
                    <a:lnTo>
                      <a:pt x="364" y="925"/>
                    </a:lnTo>
                    <a:lnTo>
                      <a:pt x="281" y="1055"/>
                    </a:lnTo>
                    <a:lnTo>
                      <a:pt x="208" y="1190"/>
                    </a:lnTo>
                    <a:lnTo>
                      <a:pt x="145" y="1332"/>
                    </a:lnTo>
                    <a:lnTo>
                      <a:pt x="92" y="1481"/>
                    </a:lnTo>
                    <a:lnTo>
                      <a:pt x="47" y="1637"/>
                    </a:lnTo>
                    <a:lnTo>
                      <a:pt x="29" y="1719"/>
                    </a:lnTo>
                    <a:lnTo>
                      <a:pt x="21" y="1755"/>
                    </a:lnTo>
                    <a:lnTo>
                      <a:pt x="10" y="1845"/>
                    </a:lnTo>
                    <a:lnTo>
                      <a:pt x="0" y="2003"/>
                    </a:lnTo>
                    <a:lnTo>
                      <a:pt x="0" y="2234"/>
                    </a:lnTo>
                    <a:lnTo>
                      <a:pt x="10" y="2393"/>
                    </a:lnTo>
                    <a:lnTo>
                      <a:pt x="21" y="2482"/>
                    </a:lnTo>
                    <a:lnTo>
                      <a:pt x="29" y="2519"/>
                    </a:lnTo>
                    <a:lnTo>
                      <a:pt x="47" y="2602"/>
                    </a:lnTo>
                    <a:lnTo>
                      <a:pt x="92" y="2759"/>
                    </a:lnTo>
                    <a:lnTo>
                      <a:pt x="144" y="2907"/>
                    </a:lnTo>
                    <a:lnTo>
                      <a:pt x="206" y="3047"/>
                    </a:lnTo>
                    <a:lnTo>
                      <a:pt x="278" y="3180"/>
                    </a:lnTo>
                    <a:lnTo>
                      <a:pt x="361" y="3308"/>
                    </a:lnTo>
                    <a:lnTo>
                      <a:pt x="455" y="3431"/>
                    </a:lnTo>
                    <a:lnTo>
                      <a:pt x="562" y="3552"/>
                    </a:lnTo>
                    <a:lnTo>
                      <a:pt x="620" y="3612"/>
                    </a:lnTo>
                    <a:lnTo>
                      <a:pt x="679" y="3670"/>
                    </a:lnTo>
                    <a:lnTo>
                      <a:pt x="799" y="3775"/>
                    </a:lnTo>
                    <a:lnTo>
                      <a:pt x="922" y="3869"/>
                    </a:lnTo>
                    <a:lnTo>
                      <a:pt x="1050" y="3952"/>
                    </a:lnTo>
                    <a:lnTo>
                      <a:pt x="1185" y="4024"/>
                    </a:lnTo>
                    <a:lnTo>
                      <a:pt x="1325" y="4087"/>
                    </a:lnTo>
                    <a:lnTo>
                      <a:pt x="1474" y="4140"/>
                    </a:lnTo>
                    <a:lnTo>
                      <a:pt x="1631" y="4185"/>
                    </a:lnTo>
                    <a:lnTo>
                      <a:pt x="1714" y="4204"/>
                    </a:lnTo>
                    <a:lnTo>
                      <a:pt x="1750" y="4211"/>
                    </a:lnTo>
                    <a:lnTo>
                      <a:pt x="1840" y="4222"/>
                    </a:lnTo>
                    <a:lnTo>
                      <a:pt x="1998" y="4232"/>
                    </a:lnTo>
                    <a:lnTo>
                      <a:pt x="2229" y="4232"/>
                    </a:lnTo>
                    <a:lnTo>
                      <a:pt x="2388" y="4222"/>
                    </a:lnTo>
                    <a:lnTo>
                      <a:pt x="2477" y="4211"/>
                    </a:lnTo>
                    <a:lnTo>
                      <a:pt x="2514" y="4204"/>
                    </a:lnTo>
                    <a:lnTo>
                      <a:pt x="2597" y="4185"/>
                    </a:lnTo>
                    <a:lnTo>
                      <a:pt x="2754" y="4141"/>
                    </a:lnTo>
                    <a:lnTo>
                      <a:pt x="2902" y="4088"/>
                    </a:lnTo>
                    <a:lnTo>
                      <a:pt x="3043" y="4026"/>
                    </a:lnTo>
                    <a:lnTo>
                      <a:pt x="3176" y="3953"/>
                    </a:lnTo>
                    <a:lnTo>
                      <a:pt x="3304" y="3871"/>
                    </a:lnTo>
                    <a:lnTo>
                      <a:pt x="3427" y="3776"/>
                    </a:lnTo>
                    <a:lnTo>
                      <a:pt x="3548" y="3670"/>
                    </a:lnTo>
                    <a:lnTo>
                      <a:pt x="3607" y="3612"/>
                    </a:lnTo>
                    <a:lnTo>
                      <a:pt x="3666" y="3552"/>
                    </a:lnTo>
                    <a:lnTo>
                      <a:pt x="3773" y="3430"/>
                    </a:lnTo>
                    <a:lnTo>
                      <a:pt x="3868" y="3306"/>
                    </a:lnTo>
                    <a:lnTo>
                      <a:pt x="3951" y="3177"/>
                    </a:lnTo>
                    <a:lnTo>
                      <a:pt x="4023" y="3042"/>
                    </a:lnTo>
                    <a:lnTo>
                      <a:pt x="4085" y="2901"/>
                    </a:lnTo>
                    <a:lnTo>
                      <a:pt x="4138" y="2752"/>
                    </a:lnTo>
                    <a:lnTo>
                      <a:pt x="4182" y="2594"/>
                    </a:lnTo>
                    <a:lnTo>
                      <a:pt x="4200" y="2510"/>
                    </a:lnTo>
                    <a:lnTo>
                      <a:pt x="4208" y="2472"/>
                    </a:lnTo>
                    <a:lnTo>
                      <a:pt x="4219" y="2382"/>
                    </a:lnTo>
                    <a:lnTo>
                      <a:pt x="4229" y="2228"/>
                    </a:lnTo>
                    <a:lnTo>
                      <a:pt x="4229" y="2007"/>
                    </a:lnTo>
                    <a:lnTo>
                      <a:pt x="4218" y="1851"/>
                    </a:lnTo>
                    <a:lnTo>
                      <a:pt x="4206" y="1759"/>
                    </a:lnTo>
                    <a:lnTo>
                      <a:pt x="4199" y="1719"/>
                    </a:lnTo>
                    <a:lnTo>
                      <a:pt x="4181" y="1639"/>
                    </a:lnTo>
                    <a:lnTo>
                      <a:pt x="4137" y="1483"/>
                    </a:lnTo>
                    <a:lnTo>
                      <a:pt x="4082" y="1332"/>
                    </a:lnTo>
                    <a:lnTo>
                      <a:pt x="4017" y="1187"/>
                    </a:lnTo>
                    <a:lnTo>
                      <a:pt x="3941" y="1048"/>
                    </a:lnTo>
                    <a:lnTo>
                      <a:pt x="3857" y="916"/>
                    </a:lnTo>
                    <a:lnTo>
                      <a:pt x="3764" y="790"/>
                    </a:lnTo>
                    <a:lnTo>
                      <a:pt x="3662" y="672"/>
                    </a:lnTo>
                    <a:lnTo>
                      <a:pt x="3552" y="562"/>
                    </a:lnTo>
                    <a:lnTo>
                      <a:pt x="3434" y="460"/>
                    </a:lnTo>
                    <a:lnTo>
                      <a:pt x="3310" y="367"/>
                    </a:lnTo>
                    <a:lnTo>
                      <a:pt x="3179" y="284"/>
                    </a:lnTo>
                    <a:lnTo>
                      <a:pt x="3042" y="210"/>
                    </a:lnTo>
                    <a:lnTo>
                      <a:pt x="2899" y="146"/>
                    </a:lnTo>
                    <a:lnTo>
                      <a:pt x="2750" y="93"/>
                    </a:lnTo>
                    <a:lnTo>
                      <a:pt x="2597" y="51"/>
                    </a:lnTo>
                    <a:lnTo>
                      <a:pt x="2519" y="35"/>
                    </a:lnTo>
                    <a:lnTo>
                      <a:pt x="2460" y="26"/>
                    </a:lnTo>
                    <a:lnTo>
                      <a:pt x="2294" y="10"/>
                    </a:lnTo>
                    <a:lnTo>
                      <a:pt x="2110" y="0"/>
                    </a:lnTo>
                    <a:lnTo>
                      <a:pt x="1955" y="0"/>
                    </a:lnTo>
                    <a:lnTo>
                      <a:pt x="1905" y="4"/>
                    </a:lnTo>
                    <a:close/>
                    <a:moveTo>
                      <a:pt x="2349" y="362"/>
                    </a:moveTo>
                    <a:lnTo>
                      <a:pt x="2421" y="373"/>
                    </a:lnTo>
                    <a:lnTo>
                      <a:pt x="2564" y="404"/>
                    </a:lnTo>
                    <a:lnTo>
                      <a:pt x="2701" y="446"/>
                    </a:lnTo>
                    <a:lnTo>
                      <a:pt x="2834" y="499"/>
                    </a:lnTo>
                    <a:lnTo>
                      <a:pt x="2962" y="563"/>
                    </a:lnTo>
                    <a:lnTo>
                      <a:pt x="3084" y="637"/>
                    </a:lnTo>
                    <a:lnTo>
                      <a:pt x="3201" y="721"/>
                    </a:lnTo>
                    <a:lnTo>
                      <a:pt x="3312" y="816"/>
                    </a:lnTo>
                    <a:lnTo>
                      <a:pt x="3365" y="867"/>
                    </a:lnTo>
                    <a:lnTo>
                      <a:pt x="3428" y="932"/>
                    </a:lnTo>
                    <a:lnTo>
                      <a:pt x="3539" y="1068"/>
                    </a:lnTo>
                    <a:lnTo>
                      <a:pt x="3635" y="1211"/>
                    </a:lnTo>
                    <a:lnTo>
                      <a:pt x="3716" y="1361"/>
                    </a:lnTo>
                    <a:lnTo>
                      <a:pt x="3781" y="1516"/>
                    </a:lnTo>
                    <a:lnTo>
                      <a:pt x="3830" y="1676"/>
                    </a:lnTo>
                    <a:lnTo>
                      <a:pt x="3864" y="1838"/>
                    </a:lnTo>
                    <a:lnTo>
                      <a:pt x="3883" y="2003"/>
                    </a:lnTo>
                    <a:lnTo>
                      <a:pt x="3885" y="2169"/>
                    </a:lnTo>
                    <a:lnTo>
                      <a:pt x="3872" y="2334"/>
                    </a:lnTo>
                    <a:lnTo>
                      <a:pt x="3843" y="2499"/>
                    </a:lnTo>
                    <a:lnTo>
                      <a:pt x="3799" y="2661"/>
                    </a:lnTo>
                    <a:lnTo>
                      <a:pt x="3739" y="2820"/>
                    </a:lnTo>
                    <a:lnTo>
                      <a:pt x="3663" y="2974"/>
                    </a:lnTo>
                    <a:lnTo>
                      <a:pt x="3571" y="3123"/>
                    </a:lnTo>
                    <a:lnTo>
                      <a:pt x="3464" y="3266"/>
                    </a:lnTo>
                    <a:lnTo>
                      <a:pt x="3404" y="3334"/>
                    </a:lnTo>
                    <a:lnTo>
                      <a:pt x="3365" y="3375"/>
                    </a:lnTo>
                    <a:lnTo>
                      <a:pt x="3277" y="3455"/>
                    </a:lnTo>
                    <a:lnTo>
                      <a:pt x="3179" y="3532"/>
                    </a:lnTo>
                    <a:lnTo>
                      <a:pt x="3073" y="3604"/>
                    </a:lnTo>
                    <a:lnTo>
                      <a:pt x="2961" y="3670"/>
                    </a:lnTo>
                    <a:lnTo>
                      <a:pt x="2845" y="3729"/>
                    </a:lnTo>
                    <a:lnTo>
                      <a:pt x="2726" y="3780"/>
                    </a:lnTo>
                    <a:lnTo>
                      <a:pt x="2606" y="3822"/>
                    </a:lnTo>
                    <a:lnTo>
                      <a:pt x="2547" y="3839"/>
                    </a:lnTo>
                    <a:lnTo>
                      <a:pt x="2495" y="3852"/>
                    </a:lnTo>
                    <a:lnTo>
                      <a:pt x="2408" y="3870"/>
                    </a:lnTo>
                    <a:lnTo>
                      <a:pt x="2317" y="3879"/>
                    </a:lnTo>
                    <a:lnTo>
                      <a:pt x="2196" y="3882"/>
                    </a:lnTo>
                    <a:lnTo>
                      <a:pt x="2114" y="3882"/>
                    </a:lnTo>
                    <a:lnTo>
                      <a:pt x="2031" y="3882"/>
                    </a:lnTo>
                    <a:lnTo>
                      <a:pt x="1911" y="3879"/>
                    </a:lnTo>
                    <a:lnTo>
                      <a:pt x="1821" y="3870"/>
                    </a:lnTo>
                    <a:lnTo>
                      <a:pt x="1735" y="3852"/>
                    </a:lnTo>
                    <a:lnTo>
                      <a:pt x="1684" y="3839"/>
                    </a:lnTo>
                    <a:lnTo>
                      <a:pt x="1624" y="3822"/>
                    </a:lnTo>
                    <a:lnTo>
                      <a:pt x="1508" y="3783"/>
                    </a:lnTo>
                    <a:lnTo>
                      <a:pt x="1396" y="3737"/>
                    </a:lnTo>
                    <a:lnTo>
                      <a:pt x="1289" y="3684"/>
                    </a:lnTo>
                    <a:lnTo>
                      <a:pt x="1185" y="3625"/>
                    </a:lnTo>
                    <a:lnTo>
                      <a:pt x="1087" y="3560"/>
                    </a:lnTo>
                    <a:lnTo>
                      <a:pt x="993" y="3488"/>
                    </a:lnTo>
                    <a:lnTo>
                      <a:pt x="904" y="3411"/>
                    </a:lnTo>
                    <a:lnTo>
                      <a:pt x="821" y="3328"/>
                    </a:lnTo>
                    <a:lnTo>
                      <a:pt x="744" y="3240"/>
                    </a:lnTo>
                    <a:lnTo>
                      <a:pt x="672" y="3146"/>
                    </a:lnTo>
                    <a:lnTo>
                      <a:pt x="607" y="3048"/>
                    </a:lnTo>
                    <a:lnTo>
                      <a:pt x="547" y="2945"/>
                    </a:lnTo>
                    <a:lnTo>
                      <a:pt x="495" y="2838"/>
                    </a:lnTo>
                    <a:lnTo>
                      <a:pt x="449" y="2727"/>
                    </a:lnTo>
                    <a:lnTo>
                      <a:pt x="410" y="2611"/>
                    </a:lnTo>
                    <a:lnTo>
                      <a:pt x="394" y="2552"/>
                    </a:lnTo>
                    <a:lnTo>
                      <a:pt x="380" y="2500"/>
                    </a:lnTo>
                    <a:lnTo>
                      <a:pt x="363" y="2413"/>
                    </a:lnTo>
                    <a:lnTo>
                      <a:pt x="354" y="2322"/>
                    </a:lnTo>
                    <a:lnTo>
                      <a:pt x="350" y="2201"/>
                    </a:lnTo>
                    <a:lnTo>
                      <a:pt x="350" y="2119"/>
                    </a:lnTo>
                    <a:lnTo>
                      <a:pt x="350" y="2036"/>
                    </a:lnTo>
                    <a:lnTo>
                      <a:pt x="354" y="1916"/>
                    </a:lnTo>
                    <a:lnTo>
                      <a:pt x="363" y="1825"/>
                    </a:lnTo>
                    <a:lnTo>
                      <a:pt x="380" y="1737"/>
                    </a:lnTo>
                    <a:lnTo>
                      <a:pt x="394" y="1685"/>
                    </a:lnTo>
                    <a:lnTo>
                      <a:pt x="410" y="1627"/>
                    </a:lnTo>
                    <a:lnTo>
                      <a:pt x="448" y="1512"/>
                    </a:lnTo>
                    <a:lnTo>
                      <a:pt x="494" y="1401"/>
                    </a:lnTo>
                    <a:lnTo>
                      <a:pt x="546" y="1295"/>
                    </a:lnTo>
                    <a:lnTo>
                      <a:pt x="605" y="1192"/>
                    </a:lnTo>
                    <a:lnTo>
                      <a:pt x="670" y="1094"/>
                    </a:lnTo>
                    <a:lnTo>
                      <a:pt x="742" y="1000"/>
                    </a:lnTo>
                    <a:lnTo>
                      <a:pt x="820" y="910"/>
                    </a:lnTo>
                    <a:lnTo>
                      <a:pt x="862" y="867"/>
                    </a:lnTo>
                    <a:lnTo>
                      <a:pt x="899" y="831"/>
                    </a:lnTo>
                    <a:lnTo>
                      <a:pt x="977" y="762"/>
                    </a:lnTo>
                    <a:lnTo>
                      <a:pt x="1058" y="698"/>
                    </a:lnTo>
                    <a:lnTo>
                      <a:pt x="1142" y="639"/>
                    </a:lnTo>
                    <a:lnTo>
                      <a:pt x="1228" y="585"/>
                    </a:lnTo>
                    <a:lnTo>
                      <a:pt x="1318" y="537"/>
                    </a:lnTo>
                    <a:lnTo>
                      <a:pt x="1409" y="493"/>
                    </a:lnTo>
                    <a:lnTo>
                      <a:pt x="1503" y="456"/>
                    </a:lnTo>
                    <a:lnTo>
                      <a:pt x="1598" y="423"/>
                    </a:lnTo>
                    <a:lnTo>
                      <a:pt x="1695" y="396"/>
                    </a:lnTo>
                    <a:lnTo>
                      <a:pt x="1794" y="375"/>
                    </a:lnTo>
                    <a:lnTo>
                      <a:pt x="1893" y="359"/>
                    </a:lnTo>
                    <a:lnTo>
                      <a:pt x="1994" y="350"/>
                    </a:lnTo>
                    <a:lnTo>
                      <a:pt x="2095" y="346"/>
                    </a:lnTo>
                    <a:lnTo>
                      <a:pt x="2196" y="348"/>
                    </a:lnTo>
                    <a:lnTo>
                      <a:pt x="2298" y="355"/>
                    </a:lnTo>
                    <a:lnTo>
                      <a:pt x="2349"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0" name="Freeform 9">
                <a:extLst>
                  <a:ext uri="{FF2B5EF4-FFF2-40B4-BE49-F238E27FC236}">
                    <a16:creationId xmlns:a16="http://schemas.microsoft.com/office/drawing/2014/main" id="{4F526E35-A804-6DDF-0CBA-D9A088CC786E}"/>
                  </a:ext>
                </a:extLst>
              </p:cNvPr>
              <p:cNvSpPr>
                <a:spLocks/>
              </p:cNvSpPr>
              <p:nvPr/>
            </p:nvSpPr>
            <p:spPr bwMode="auto">
              <a:xfrm>
                <a:off x="10763484"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grpFill/>
              <a:ln>
                <a:noFill/>
              </a:ln>
            </p:spPr>
            <p:txBody>
              <a:bodyPr vert="horz" wrap="square" lIns="91440" tIns="45720" rIns="91440" bIns="45720" numCol="1" anchor="t" anchorCtr="0" compatLnSpc="1">
                <a:prstTxWarp prst="textNoShape">
                  <a:avLst/>
                </a:prstTxWarp>
              </a:bodyPr>
              <a:lstStyle/>
              <a:p>
                <a:pPr algn="r" rtl="1"/>
                <a:endParaRPr lang="en-US"/>
              </a:p>
            </p:txBody>
          </p:sp>
          <p:sp>
            <p:nvSpPr>
              <p:cNvPr id="11" name="Freeform 10">
                <a:extLst>
                  <a:ext uri="{FF2B5EF4-FFF2-40B4-BE49-F238E27FC236}">
                    <a16:creationId xmlns:a16="http://schemas.microsoft.com/office/drawing/2014/main" id="{E9ECAAD5-EA4D-B307-EEB8-E468B5637A9E}"/>
                  </a:ext>
                </a:extLst>
              </p:cNvPr>
              <p:cNvSpPr>
                <a:spLocks/>
              </p:cNvSpPr>
              <p:nvPr/>
            </p:nvSpPr>
            <p:spPr bwMode="auto">
              <a:xfrm>
                <a:off x="10015708" y="3364401"/>
                <a:ext cx="588058" cy="24956"/>
              </a:xfrm>
              <a:custGeom>
                <a:avLst/>
                <a:gdLst>
                  <a:gd name="T0" fmla="*/ 5 w 3499"/>
                  <a:gd name="T1" fmla="*/ 23 h 150"/>
                  <a:gd name="T2" fmla="*/ 2 w 3499"/>
                  <a:gd name="T3" fmla="*/ 36 h 150"/>
                  <a:gd name="T4" fmla="*/ 0 w 3499"/>
                  <a:gd name="T5" fmla="*/ 74 h 150"/>
                  <a:gd name="T6" fmla="*/ 2 w 3499"/>
                  <a:gd name="T7" fmla="*/ 95 h 150"/>
                  <a:gd name="T8" fmla="*/ 7 w 3499"/>
                  <a:gd name="T9" fmla="*/ 142 h 150"/>
                  <a:gd name="T10" fmla="*/ 1720 w 3499"/>
                  <a:gd name="T11" fmla="*/ 147 h 150"/>
                  <a:gd name="T12" fmla="*/ 3432 w 3499"/>
                  <a:gd name="T13" fmla="*/ 150 h 150"/>
                  <a:gd name="T14" fmla="*/ 3465 w 3499"/>
                  <a:gd name="T15" fmla="*/ 97 h 150"/>
                  <a:gd name="T16" fmla="*/ 3479 w 3499"/>
                  <a:gd name="T17" fmla="*/ 74 h 150"/>
                  <a:gd name="T18" fmla="*/ 3497 w 3499"/>
                  <a:gd name="T19" fmla="*/ 32 h 150"/>
                  <a:gd name="T20" fmla="*/ 3499 w 3499"/>
                  <a:gd name="T21" fmla="*/ 20 h 150"/>
                  <a:gd name="T22" fmla="*/ 3496 w 3499"/>
                  <a:gd name="T23" fmla="*/ 17 h 150"/>
                  <a:gd name="T24" fmla="*/ 3458 w 3499"/>
                  <a:gd name="T25" fmla="*/ 13 h 150"/>
                  <a:gd name="T26" fmla="*/ 3321 w 3499"/>
                  <a:gd name="T27" fmla="*/ 7 h 150"/>
                  <a:gd name="T28" fmla="*/ 2666 w 3499"/>
                  <a:gd name="T29" fmla="*/ 1 h 150"/>
                  <a:gd name="T30" fmla="*/ 1757 w 3499"/>
                  <a:gd name="T31" fmla="*/ 0 h 150"/>
                  <a:gd name="T32" fmla="*/ 795 w 3499"/>
                  <a:gd name="T33" fmla="*/ 0 h 150"/>
                  <a:gd name="T34" fmla="*/ 161 w 3499"/>
                  <a:gd name="T35" fmla="*/ 7 h 150"/>
                  <a:gd name="T36" fmla="*/ 41 w 3499"/>
                  <a:gd name="T37" fmla="*/ 14 h 150"/>
                  <a:gd name="T38" fmla="*/ 9 w 3499"/>
                  <a:gd name="T39" fmla="*/ 20 h 150"/>
                  <a:gd name="T40" fmla="*/ 5 w 3499"/>
                  <a:gd name="T41"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99" h="150">
                    <a:moveTo>
                      <a:pt x="5" y="23"/>
                    </a:moveTo>
                    <a:lnTo>
                      <a:pt x="2" y="36"/>
                    </a:lnTo>
                    <a:lnTo>
                      <a:pt x="0" y="74"/>
                    </a:lnTo>
                    <a:lnTo>
                      <a:pt x="2" y="95"/>
                    </a:lnTo>
                    <a:lnTo>
                      <a:pt x="7" y="142"/>
                    </a:lnTo>
                    <a:lnTo>
                      <a:pt x="1720" y="147"/>
                    </a:lnTo>
                    <a:lnTo>
                      <a:pt x="3432" y="150"/>
                    </a:lnTo>
                    <a:lnTo>
                      <a:pt x="3465" y="97"/>
                    </a:lnTo>
                    <a:lnTo>
                      <a:pt x="3479" y="74"/>
                    </a:lnTo>
                    <a:lnTo>
                      <a:pt x="3497" y="32"/>
                    </a:lnTo>
                    <a:lnTo>
                      <a:pt x="3499" y="20"/>
                    </a:lnTo>
                    <a:lnTo>
                      <a:pt x="3496" y="17"/>
                    </a:lnTo>
                    <a:lnTo>
                      <a:pt x="3458" y="13"/>
                    </a:lnTo>
                    <a:lnTo>
                      <a:pt x="3321" y="7"/>
                    </a:lnTo>
                    <a:lnTo>
                      <a:pt x="2666" y="1"/>
                    </a:lnTo>
                    <a:lnTo>
                      <a:pt x="1757" y="0"/>
                    </a:lnTo>
                    <a:lnTo>
                      <a:pt x="795" y="0"/>
                    </a:lnTo>
                    <a:lnTo>
                      <a:pt x="161" y="7"/>
                    </a:lnTo>
                    <a:lnTo>
                      <a:pt x="41"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2" name="Freeform 11">
                <a:extLst>
                  <a:ext uri="{FF2B5EF4-FFF2-40B4-BE49-F238E27FC236}">
                    <a16:creationId xmlns:a16="http://schemas.microsoft.com/office/drawing/2014/main" id="{577A4336-646F-DE01-486A-D2ECCAABF4C7}"/>
                  </a:ext>
                </a:extLst>
              </p:cNvPr>
              <p:cNvSpPr>
                <a:spLocks/>
              </p:cNvSpPr>
              <p:nvPr/>
            </p:nvSpPr>
            <p:spPr bwMode="auto">
              <a:xfrm>
                <a:off x="10015708" y="3565865"/>
                <a:ext cx="534969" cy="25410"/>
              </a:xfrm>
              <a:custGeom>
                <a:avLst/>
                <a:gdLst>
                  <a:gd name="T0" fmla="*/ 5 w 3182"/>
                  <a:gd name="T1" fmla="*/ 23 h 150"/>
                  <a:gd name="T2" fmla="*/ 2 w 3182"/>
                  <a:gd name="T3" fmla="*/ 36 h 150"/>
                  <a:gd name="T4" fmla="*/ 0 w 3182"/>
                  <a:gd name="T5" fmla="*/ 74 h 150"/>
                  <a:gd name="T6" fmla="*/ 2 w 3182"/>
                  <a:gd name="T7" fmla="*/ 95 h 150"/>
                  <a:gd name="T8" fmla="*/ 7 w 3182"/>
                  <a:gd name="T9" fmla="*/ 142 h 150"/>
                  <a:gd name="T10" fmla="*/ 1595 w 3182"/>
                  <a:gd name="T11" fmla="*/ 147 h 150"/>
                  <a:gd name="T12" fmla="*/ 3182 w 3182"/>
                  <a:gd name="T13" fmla="*/ 150 h 150"/>
                  <a:gd name="T14" fmla="*/ 3182 w 3182"/>
                  <a:gd name="T15" fmla="*/ 75 h 150"/>
                  <a:gd name="T16" fmla="*/ 3182 w 3182"/>
                  <a:gd name="T17" fmla="*/ 0 h 150"/>
                  <a:gd name="T18" fmla="*/ 1599 w 3182"/>
                  <a:gd name="T19" fmla="*/ 0 h 150"/>
                  <a:gd name="T20" fmla="*/ 725 w 3182"/>
                  <a:gd name="T21" fmla="*/ 0 h 150"/>
                  <a:gd name="T22" fmla="*/ 148 w 3182"/>
                  <a:gd name="T23" fmla="*/ 7 h 150"/>
                  <a:gd name="T24" fmla="*/ 38 w 3182"/>
                  <a:gd name="T25" fmla="*/ 14 h 150"/>
                  <a:gd name="T26" fmla="*/ 9 w 3182"/>
                  <a:gd name="T27" fmla="*/ 20 h 150"/>
                  <a:gd name="T28" fmla="*/ 5 w 3182"/>
                  <a:gd name="T29"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82" h="150">
                    <a:moveTo>
                      <a:pt x="5" y="23"/>
                    </a:moveTo>
                    <a:lnTo>
                      <a:pt x="2" y="36"/>
                    </a:lnTo>
                    <a:lnTo>
                      <a:pt x="0" y="74"/>
                    </a:lnTo>
                    <a:lnTo>
                      <a:pt x="2" y="95"/>
                    </a:lnTo>
                    <a:lnTo>
                      <a:pt x="7" y="142"/>
                    </a:lnTo>
                    <a:lnTo>
                      <a:pt x="1595" y="147"/>
                    </a:lnTo>
                    <a:lnTo>
                      <a:pt x="3182" y="150"/>
                    </a:lnTo>
                    <a:lnTo>
                      <a:pt x="3182" y="75"/>
                    </a:lnTo>
                    <a:lnTo>
                      <a:pt x="3182" y="0"/>
                    </a:lnTo>
                    <a:lnTo>
                      <a:pt x="1599" y="0"/>
                    </a:lnTo>
                    <a:lnTo>
                      <a:pt x="725" y="0"/>
                    </a:lnTo>
                    <a:lnTo>
                      <a:pt x="148" y="7"/>
                    </a:lnTo>
                    <a:lnTo>
                      <a:pt x="38"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3" name="Freeform 12">
                <a:extLst>
                  <a:ext uri="{FF2B5EF4-FFF2-40B4-BE49-F238E27FC236}">
                    <a16:creationId xmlns:a16="http://schemas.microsoft.com/office/drawing/2014/main" id="{BD289E4C-C48C-1BDA-42E1-0F400FE65FC1}"/>
                  </a:ext>
                </a:extLst>
              </p:cNvPr>
              <p:cNvSpPr>
                <a:spLocks/>
              </p:cNvSpPr>
              <p:nvPr/>
            </p:nvSpPr>
            <p:spPr bwMode="auto">
              <a:xfrm>
                <a:off x="10015708" y="3756440"/>
                <a:ext cx="591688" cy="24956"/>
              </a:xfrm>
              <a:custGeom>
                <a:avLst/>
                <a:gdLst>
                  <a:gd name="T0" fmla="*/ 5 w 3519"/>
                  <a:gd name="T1" fmla="*/ 22 h 148"/>
                  <a:gd name="T2" fmla="*/ 2 w 3519"/>
                  <a:gd name="T3" fmla="*/ 34 h 148"/>
                  <a:gd name="T4" fmla="*/ 0 w 3519"/>
                  <a:gd name="T5" fmla="*/ 73 h 148"/>
                  <a:gd name="T6" fmla="*/ 2 w 3519"/>
                  <a:gd name="T7" fmla="*/ 93 h 148"/>
                  <a:gd name="T8" fmla="*/ 7 w 3519"/>
                  <a:gd name="T9" fmla="*/ 140 h 148"/>
                  <a:gd name="T10" fmla="*/ 1762 w 3519"/>
                  <a:gd name="T11" fmla="*/ 145 h 148"/>
                  <a:gd name="T12" fmla="*/ 3519 w 3519"/>
                  <a:gd name="T13" fmla="*/ 148 h 148"/>
                  <a:gd name="T14" fmla="*/ 3479 w 3519"/>
                  <a:gd name="T15" fmla="*/ 78 h 148"/>
                  <a:gd name="T16" fmla="*/ 3440 w 3519"/>
                  <a:gd name="T17" fmla="*/ 7 h 148"/>
                  <a:gd name="T18" fmla="*/ 1727 w 3519"/>
                  <a:gd name="T19" fmla="*/ 2 h 148"/>
                  <a:gd name="T20" fmla="*/ 779 w 3519"/>
                  <a:gd name="T21" fmla="*/ 0 h 148"/>
                  <a:gd name="T22" fmla="*/ 158 w 3519"/>
                  <a:gd name="T23" fmla="*/ 5 h 148"/>
                  <a:gd name="T24" fmla="*/ 40 w 3519"/>
                  <a:gd name="T25" fmla="*/ 12 h 148"/>
                  <a:gd name="T26" fmla="*/ 9 w 3519"/>
                  <a:gd name="T27" fmla="*/ 18 h 148"/>
                  <a:gd name="T28" fmla="*/ 5 w 3519"/>
                  <a:gd name="T29" fmla="*/ 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9" h="148">
                    <a:moveTo>
                      <a:pt x="5" y="22"/>
                    </a:moveTo>
                    <a:lnTo>
                      <a:pt x="2" y="34"/>
                    </a:lnTo>
                    <a:lnTo>
                      <a:pt x="0" y="73"/>
                    </a:lnTo>
                    <a:lnTo>
                      <a:pt x="2" y="93"/>
                    </a:lnTo>
                    <a:lnTo>
                      <a:pt x="7" y="140"/>
                    </a:lnTo>
                    <a:lnTo>
                      <a:pt x="1762" y="145"/>
                    </a:lnTo>
                    <a:lnTo>
                      <a:pt x="3519" y="148"/>
                    </a:lnTo>
                    <a:lnTo>
                      <a:pt x="3479" y="78"/>
                    </a:lnTo>
                    <a:lnTo>
                      <a:pt x="3440" y="7"/>
                    </a:lnTo>
                    <a:lnTo>
                      <a:pt x="1727" y="2"/>
                    </a:lnTo>
                    <a:lnTo>
                      <a:pt x="779" y="0"/>
                    </a:lnTo>
                    <a:lnTo>
                      <a:pt x="158" y="5"/>
                    </a:lnTo>
                    <a:lnTo>
                      <a:pt x="40"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4" name="Freeform 13">
                <a:extLst>
                  <a:ext uri="{FF2B5EF4-FFF2-40B4-BE49-F238E27FC236}">
                    <a16:creationId xmlns:a16="http://schemas.microsoft.com/office/drawing/2014/main" id="{0C4D1262-B931-A8A3-9FF3-0573D05C6ECB}"/>
                  </a:ext>
                </a:extLst>
              </p:cNvPr>
              <p:cNvSpPr>
                <a:spLocks/>
              </p:cNvSpPr>
              <p:nvPr/>
            </p:nvSpPr>
            <p:spPr bwMode="auto">
              <a:xfrm>
                <a:off x="10015253" y="3949283"/>
                <a:ext cx="697865" cy="22688"/>
              </a:xfrm>
              <a:custGeom>
                <a:avLst/>
                <a:gdLst>
                  <a:gd name="T0" fmla="*/ 0 w 4150"/>
                  <a:gd name="T1" fmla="*/ 67 h 134"/>
                  <a:gd name="T2" fmla="*/ 0 w 4150"/>
                  <a:gd name="T3" fmla="*/ 134 h 134"/>
                  <a:gd name="T4" fmla="*/ 2075 w 4150"/>
                  <a:gd name="T5" fmla="*/ 134 h 134"/>
                  <a:gd name="T6" fmla="*/ 4150 w 4150"/>
                  <a:gd name="T7" fmla="*/ 134 h 134"/>
                  <a:gd name="T8" fmla="*/ 4150 w 4150"/>
                  <a:gd name="T9" fmla="*/ 67 h 134"/>
                  <a:gd name="T10" fmla="*/ 4150 w 4150"/>
                  <a:gd name="T11" fmla="*/ 0 h 134"/>
                  <a:gd name="T12" fmla="*/ 2075 w 4150"/>
                  <a:gd name="T13" fmla="*/ 0 h 134"/>
                  <a:gd name="T14" fmla="*/ 0 w 4150"/>
                  <a:gd name="T15" fmla="*/ 0 h 134"/>
                  <a:gd name="T16" fmla="*/ 0 w 4150"/>
                  <a:gd name="T17" fmla="*/ 6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0" h="134">
                    <a:moveTo>
                      <a:pt x="0" y="67"/>
                    </a:moveTo>
                    <a:lnTo>
                      <a:pt x="0" y="134"/>
                    </a:lnTo>
                    <a:lnTo>
                      <a:pt x="2075" y="134"/>
                    </a:lnTo>
                    <a:lnTo>
                      <a:pt x="4150" y="134"/>
                    </a:lnTo>
                    <a:lnTo>
                      <a:pt x="4150" y="67"/>
                    </a:lnTo>
                    <a:lnTo>
                      <a:pt x="4150" y="0"/>
                    </a:lnTo>
                    <a:lnTo>
                      <a:pt x="2075" y="0"/>
                    </a:lnTo>
                    <a:lnTo>
                      <a:pt x="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grpSp>
        <p:sp>
          <p:nvSpPr>
            <p:cNvPr id="6" name="Freeform 9">
              <a:extLst>
                <a:ext uri="{FF2B5EF4-FFF2-40B4-BE49-F238E27FC236}">
                  <a16:creationId xmlns:a16="http://schemas.microsoft.com/office/drawing/2014/main" id="{EB9C351F-0EF2-E5D7-B2D9-31ACD299E002}"/>
                </a:ext>
              </a:extLst>
            </p:cNvPr>
            <p:cNvSpPr>
              <a:spLocks/>
            </p:cNvSpPr>
            <p:nvPr/>
          </p:nvSpPr>
          <p:spPr bwMode="auto">
            <a:xfrm flipH="1">
              <a:off x="1210776"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dirty="0"/>
            </a:p>
          </p:txBody>
        </p:sp>
      </p:grpSp>
      <p:sp>
        <p:nvSpPr>
          <p:cNvPr id="15" name="Rectangle 14">
            <a:extLst>
              <a:ext uri="{FF2B5EF4-FFF2-40B4-BE49-F238E27FC236}">
                <a16:creationId xmlns:a16="http://schemas.microsoft.com/office/drawing/2014/main" id="{7B21A5CB-82AC-F540-2F06-31E6BF4F283A}"/>
              </a:ext>
            </a:extLst>
          </p:cNvPr>
          <p:cNvSpPr/>
          <p:nvPr/>
        </p:nvSpPr>
        <p:spPr>
          <a:xfrm>
            <a:off x="1641323" y="1914805"/>
            <a:ext cx="7572633" cy="2694902"/>
          </a:xfrm>
          <a:prstGeom prst="rect">
            <a:avLst/>
          </a:prstGeom>
        </p:spPr>
        <p:txBody>
          <a:bodyPr anchor="ctr" anchorCtr="0">
            <a:normAutofit/>
          </a:bodyPr>
          <a:lstStyle/>
          <a:p>
            <a:pPr algn="just" rtl="1">
              <a:lnSpc>
                <a:spcPct val="150000"/>
              </a:lnSpc>
              <a:spcAft>
                <a:spcPts val="1200"/>
              </a:spcAft>
            </a:pPr>
            <a:r>
              <a:rPr lang="ar-EG" sz="2400" b="1" dirty="0"/>
              <a:t>تمثل خطة التوعية بالبنية المؤسسية حجر أساس في نشر ثقافة البنية المؤسسية </a:t>
            </a:r>
            <a:r>
              <a:rPr lang="ar-SA" sz="2400" b="1" dirty="0"/>
              <a:t>بالهيئة</a:t>
            </a:r>
            <a:r>
              <a:rPr lang="ar-EG" sz="2400" b="1" dirty="0"/>
              <a:t> من خلال التواصل</a:t>
            </a:r>
            <a:r>
              <a:rPr lang="ar-SA" sz="2400" b="1" dirty="0"/>
              <a:t> </a:t>
            </a:r>
            <a:r>
              <a:rPr lang="ar-EG" sz="2400" b="1" dirty="0"/>
              <a:t>ورفع الوعي بممارسة البنية المؤسسية باستمرار لمنسوبي </a:t>
            </a:r>
            <a:r>
              <a:rPr lang="ar-SA" sz="2400" b="1" dirty="0"/>
              <a:t>الهيئة</a:t>
            </a:r>
            <a:r>
              <a:rPr lang="ar-EG" sz="2400" b="1" dirty="0"/>
              <a:t> والتعريف بمهام وخدمات وإجراءات البنية</a:t>
            </a:r>
            <a:r>
              <a:rPr lang="ar-SA" sz="2400" b="1" dirty="0"/>
              <a:t> </a:t>
            </a:r>
            <a:r>
              <a:rPr lang="ar-EG" sz="2400" b="1" dirty="0"/>
              <a:t>المؤسسية مما يسهم تحقيق أهداف البنية المؤسسية بشكل فعال</a:t>
            </a:r>
          </a:p>
        </p:txBody>
      </p:sp>
    </p:spTree>
    <p:extLst>
      <p:ext uri="{BB962C8B-B14F-4D97-AF65-F5344CB8AC3E}">
        <p14:creationId xmlns:p14="http://schemas.microsoft.com/office/powerpoint/2010/main" val="1309602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BE4EC83-A869-464E-AE9F-881796FB085E}" type="slidenum">
              <a:rPr lang="en-US" smtClean="0"/>
              <a:t>8</a:t>
            </a:fld>
            <a:endParaRPr lang="en-US"/>
          </a:p>
        </p:txBody>
      </p:sp>
      <p:graphicFrame>
        <p:nvGraphicFramePr>
          <p:cNvPr id="4" name="Content Placeholder 5"/>
          <p:cNvGraphicFramePr>
            <a:graphicFrameLocks/>
          </p:cNvGraphicFramePr>
          <p:nvPr>
            <p:extLst>
              <p:ext uri="{D42A27DB-BD31-4B8C-83A1-F6EECF244321}">
                <p14:modId xmlns:p14="http://schemas.microsoft.com/office/powerpoint/2010/main" val="4123523978"/>
              </p:ext>
            </p:extLst>
          </p:nvPr>
        </p:nvGraphicFramePr>
        <p:xfrm>
          <a:off x="1956816" y="1248688"/>
          <a:ext cx="8278368" cy="4114014"/>
        </p:xfrm>
        <a:graphic>
          <a:graphicData uri="http://schemas.openxmlformats.org/drawingml/2006/table">
            <a:tbl>
              <a:tblPr rtl="1" firstRow="1" bandRow="1">
                <a:tableStyleId>{5C22544A-7EE6-4342-B048-85BDC9FD1C3A}</a:tableStyleId>
              </a:tblPr>
              <a:tblGrid>
                <a:gridCol w="8278368">
                  <a:extLst>
                    <a:ext uri="{9D8B030D-6E8A-4147-A177-3AD203B41FA5}">
                      <a16:colId xmlns:a16="http://schemas.microsoft.com/office/drawing/2014/main" val="2225789071"/>
                    </a:ext>
                  </a:extLst>
                </a:gridCol>
              </a:tblGrid>
              <a:tr h="1010654">
                <a:tc>
                  <a:txBody>
                    <a:bodyPr/>
                    <a:lstStyle/>
                    <a:p>
                      <a:pPr algn="ctr" rtl="1"/>
                      <a:r>
                        <a:rPr lang="ar-EG" sz="2400" baseline="0" dirty="0">
                          <a:latin typeface="Sakkal Majalla" panose="02000000000000000000" pitchFamily="2" charset="-78"/>
                          <a:cs typeface="Sakkal Majalla" panose="02000000000000000000" pitchFamily="2" charset="-78"/>
                        </a:rPr>
                        <a:t>يساهم </a:t>
                      </a:r>
                      <a:r>
                        <a:rPr lang="ar-SA" sz="2400" baseline="0" dirty="0">
                          <a:latin typeface="Sakkal Majalla" panose="02000000000000000000" pitchFamily="2" charset="-78"/>
                          <a:cs typeface="Sakkal Majalla" panose="02000000000000000000" pitchFamily="2" charset="-78"/>
                        </a:rPr>
                        <a:t>بناء خطة خاصة بنشر التوعية بالبنية المؤسسية بالهيئة </a:t>
                      </a:r>
                      <a:r>
                        <a:rPr lang="ar-EG" sz="2400" baseline="0" dirty="0">
                          <a:latin typeface="Sakkal Majalla" panose="02000000000000000000" pitchFamily="2" charset="-78"/>
                          <a:cs typeface="Sakkal Majalla" panose="02000000000000000000" pitchFamily="2" charset="-78"/>
                        </a:rPr>
                        <a:t>على تحقيق الفوائد التالية</a:t>
                      </a:r>
                      <a:r>
                        <a:rPr lang="ar-SA" sz="2400" baseline="0" dirty="0">
                          <a:latin typeface="Sakkal Majalla" panose="02000000000000000000" pitchFamily="2" charset="-78"/>
                          <a:cs typeface="Sakkal Majalla" panose="02000000000000000000" pitchFamily="2" charset="-78"/>
                        </a:rPr>
                        <a:t>:</a:t>
                      </a:r>
                      <a:endParaRPr lang="en-US" sz="1600" b="1" baseline="0" dirty="0">
                        <a:solidFill>
                          <a:srgbClr val="FF0000"/>
                        </a:solidFill>
                        <a:latin typeface="Sakkal Majalla" panose="02000000000000000000" pitchFamily="2" charset="-78"/>
                        <a:cs typeface="Sakkal Majalla" panose="02000000000000000000" pitchFamily="2" charset="-78"/>
                      </a:endParaRPr>
                    </a:p>
                  </a:txBody>
                  <a:tcPr marL="137160" marR="137160" marT="137160" marB="137160" anchor="ctr"/>
                </a:tc>
                <a:extLst>
                  <a:ext uri="{0D108BD9-81ED-4DB2-BD59-A6C34878D82A}">
                    <a16:rowId xmlns:a16="http://schemas.microsoft.com/office/drawing/2014/main" val="3560484865"/>
                  </a:ext>
                </a:extLst>
              </a:tr>
              <a:tr h="86092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تعزيز وتفعيل ممارسة البنية المؤسسية في </a:t>
                      </a:r>
                      <a:r>
                        <a:rPr kumimoji="0" lang="ar-SA" sz="2000" b="1"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الهيئة</a:t>
                      </a:r>
                      <a:r>
                        <a:rPr kumimoji="0" lang="ar-EG" sz="2000" b="1"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 من خلال العمل على نشر ثقافة البنية المؤسسية</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والتوعية بأهميتها</a:t>
                      </a:r>
                    </a:p>
                  </a:txBody>
                  <a:tcPr marL="137160" marR="137160" marT="137160" marB="137160" anchor="ctr">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968815825"/>
                  </a:ext>
                </a:extLst>
              </a:tr>
              <a:tr h="860927">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إطلاع وإشراك أصحاب المصلحة بانتظام على تقدم مبادرات وأعمال البنية المؤسسية وأهمية الدور الذي</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تقوم به البنية المؤسسية</a:t>
                      </a:r>
                    </a:p>
                  </a:txBody>
                  <a:tcPr marL="137160" marR="137160" marT="137160" marB="13716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592398942"/>
                  </a:ext>
                </a:extLst>
              </a:tr>
              <a:tr h="66776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ضمان معرفة أصحاب المصلحة بخدمات ومهام البنية المؤسسية وكيفية الاستفادة منها</a:t>
                      </a:r>
                    </a:p>
                  </a:txBody>
                  <a:tcPr marL="137160" marR="137160" marT="137160" marB="13716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425585210"/>
                  </a:ext>
                </a:extLst>
              </a:tr>
              <a:tr h="667760">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اتباع نهج واضح في التوعية بالبنية المؤسسية</a:t>
                      </a:r>
                    </a:p>
                  </a:txBody>
                  <a:tcPr marL="137160" marR="137160" marT="137160" marB="13716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2847485707"/>
                  </a:ext>
                </a:extLst>
              </a:tr>
            </a:tbl>
          </a:graphicData>
        </a:graphic>
      </p:graphicFrame>
      <p:sp>
        <p:nvSpPr>
          <p:cNvPr id="7" name="Title 1">
            <a:extLst>
              <a:ext uri="{FF2B5EF4-FFF2-40B4-BE49-F238E27FC236}">
                <a16:creationId xmlns:a16="http://schemas.microsoft.com/office/drawing/2014/main" id="{C895D5FA-9A51-9A6F-DCDA-702A2513A0A2}"/>
              </a:ext>
            </a:extLst>
          </p:cNvPr>
          <p:cNvSpPr txBox="1">
            <a:spLocks/>
          </p:cNvSpPr>
          <p:nvPr/>
        </p:nvSpPr>
        <p:spPr>
          <a:xfrm>
            <a:off x="2361733" y="408242"/>
            <a:ext cx="8992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أهداف خطة التوعية للبنية المؤسسية</a:t>
            </a:r>
          </a:p>
        </p:txBody>
      </p:sp>
    </p:spTree>
    <p:extLst>
      <p:ext uri="{BB962C8B-B14F-4D97-AF65-F5344CB8AC3E}">
        <p14:creationId xmlns:p14="http://schemas.microsoft.com/office/powerpoint/2010/main" val="2276978920"/>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038165" y="3925452"/>
            <a:ext cx="6506136" cy="641639"/>
          </a:xfrm>
        </p:spPr>
        <p:txBody>
          <a:bodyPr/>
          <a:lstStyle/>
          <a:p>
            <a:r>
              <a:rPr lang="ar-EG" dirty="0"/>
              <a:t>الوسائل والقنوات المستخدمة للتوعية</a:t>
            </a:r>
          </a:p>
        </p:txBody>
      </p:sp>
      <p:sp>
        <p:nvSpPr>
          <p:cNvPr id="4" name="Text Placeholder 3"/>
          <p:cNvSpPr>
            <a:spLocks noGrp="1"/>
          </p:cNvSpPr>
          <p:nvPr>
            <p:ph type="body" sz="quarter" idx="14"/>
          </p:nvPr>
        </p:nvSpPr>
        <p:spPr/>
        <p:txBody>
          <a:bodyPr/>
          <a:lstStyle/>
          <a:p>
            <a:r>
              <a:rPr lang="ar-SA" dirty="0"/>
              <a:t>02</a:t>
            </a:r>
            <a:endParaRPr lang="en-US" dirty="0"/>
          </a:p>
        </p:txBody>
      </p:sp>
    </p:spTree>
    <p:extLst>
      <p:ext uri="{BB962C8B-B14F-4D97-AF65-F5344CB8AC3E}">
        <p14:creationId xmlns:p14="http://schemas.microsoft.com/office/powerpoint/2010/main" val="1963987738"/>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85858-6580-14CC-2249-B44AF40B4DF5}"/>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646E2418-1CA4-5848-157A-0F8BD8611038}"/>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10</a:t>
            </a:fld>
            <a:endParaRPr lang="en-US" sz="1400" b="1" dirty="0">
              <a:solidFill>
                <a:schemeClr val="accent1"/>
              </a:solidFill>
            </a:endParaRPr>
          </a:p>
        </p:txBody>
      </p:sp>
      <p:sp>
        <p:nvSpPr>
          <p:cNvPr id="2" name="Title 1">
            <a:extLst>
              <a:ext uri="{FF2B5EF4-FFF2-40B4-BE49-F238E27FC236}">
                <a16:creationId xmlns:a16="http://schemas.microsoft.com/office/drawing/2014/main" id="{4F60D276-C5F0-91FD-3F96-875AB0303C70}"/>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الوسائل والقنوات المستخدمة للتوعية</a:t>
            </a:r>
          </a:p>
        </p:txBody>
      </p:sp>
      <p:graphicFrame>
        <p:nvGraphicFramePr>
          <p:cNvPr id="3" name="Table 2">
            <a:extLst>
              <a:ext uri="{FF2B5EF4-FFF2-40B4-BE49-F238E27FC236}">
                <a16:creationId xmlns:a16="http://schemas.microsoft.com/office/drawing/2014/main" id="{8720EC75-DBB9-E7CA-61C7-DEDBA79B0591}"/>
              </a:ext>
            </a:extLst>
          </p:cNvPr>
          <p:cNvGraphicFramePr>
            <a:graphicFrameLocks noGrp="1"/>
          </p:cNvGraphicFramePr>
          <p:nvPr>
            <p:extLst>
              <p:ext uri="{D42A27DB-BD31-4B8C-83A1-F6EECF244321}">
                <p14:modId xmlns:p14="http://schemas.microsoft.com/office/powerpoint/2010/main" val="3223745411"/>
              </p:ext>
            </p:extLst>
          </p:nvPr>
        </p:nvGraphicFramePr>
        <p:xfrm>
          <a:off x="537882" y="921759"/>
          <a:ext cx="11116236" cy="5121594"/>
        </p:xfrm>
        <a:graphic>
          <a:graphicData uri="http://schemas.openxmlformats.org/drawingml/2006/table">
            <a:tbl>
              <a:tblPr rtl="1" firstRow="1" bandRow="1">
                <a:tableStyleId>{5C22544A-7EE6-4342-B048-85BDC9FD1C3A}</a:tableStyleId>
              </a:tblPr>
              <a:tblGrid>
                <a:gridCol w="2141002">
                  <a:extLst>
                    <a:ext uri="{9D8B030D-6E8A-4147-A177-3AD203B41FA5}">
                      <a16:colId xmlns:a16="http://schemas.microsoft.com/office/drawing/2014/main" val="1858967670"/>
                    </a:ext>
                  </a:extLst>
                </a:gridCol>
                <a:gridCol w="7386340">
                  <a:extLst>
                    <a:ext uri="{9D8B030D-6E8A-4147-A177-3AD203B41FA5}">
                      <a16:colId xmlns:a16="http://schemas.microsoft.com/office/drawing/2014/main" val="4015586876"/>
                    </a:ext>
                  </a:extLst>
                </a:gridCol>
                <a:gridCol w="1588894">
                  <a:extLst>
                    <a:ext uri="{9D8B030D-6E8A-4147-A177-3AD203B41FA5}">
                      <a16:colId xmlns:a16="http://schemas.microsoft.com/office/drawing/2014/main" val="1989554894"/>
                    </a:ext>
                  </a:extLst>
                </a:gridCol>
              </a:tblGrid>
              <a:tr h="399986">
                <a:tc>
                  <a:txBody>
                    <a:bodyPr/>
                    <a:lstStyle/>
                    <a:p>
                      <a:pPr marL="0" algn="ctr" defTabSz="914400" rtl="1" eaLnBrk="1" fontAlgn="b" latinLnBrk="0" hangingPunct="1"/>
                      <a:r>
                        <a:rPr lang="ar-SA" sz="2000" b="1" kern="1200" dirty="0">
                          <a:solidFill>
                            <a:schemeClr val="bg1"/>
                          </a:solidFill>
                          <a:latin typeface="+mn-lt"/>
                          <a:ea typeface="+mn-ea"/>
                          <a:cs typeface="+mn-cs"/>
                        </a:rPr>
                        <a:t>الوسيلة</a:t>
                      </a:r>
                    </a:p>
                  </a:txBody>
                  <a:tcPr anchor="ctr">
                    <a:solidFill>
                      <a:schemeClr val="accent1"/>
                    </a:solidFill>
                  </a:tcPr>
                </a:tc>
                <a:tc>
                  <a:txBody>
                    <a:bodyPr/>
                    <a:lstStyle/>
                    <a:p>
                      <a:pPr marL="0" algn="ctr" defTabSz="914400" rtl="1" eaLnBrk="1" fontAlgn="b" latinLnBrk="0" hangingPunct="1"/>
                      <a:r>
                        <a:rPr lang="ar-SA" sz="2000" b="1" kern="1200" dirty="0">
                          <a:solidFill>
                            <a:schemeClr val="bg1"/>
                          </a:solidFill>
                          <a:latin typeface="+mn-lt"/>
                          <a:ea typeface="+mn-ea"/>
                          <a:cs typeface="+mn-cs"/>
                        </a:rPr>
                        <a:t>الوصف</a:t>
                      </a:r>
                    </a:p>
                  </a:txBody>
                  <a:tcPr anchor="ctr">
                    <a:solidFill>
                      <a:schemeClr val="accent1"/>
                    </a:solidFill>
                  </a:tcPr>
                </a:tc>
                <a:tc>
                  <a:txBody>
                    <a:bodyPr/>
                    <a:lstStyle/>
                    <a:p>
                      <a:pPr marL="0" algn="ctr" defTabSz="914400" rtl="1" eaLnBrk="1" fontAlgn="b" latinLnBrk="0" hangingPunct="1"/>
                      <a:r>
                        <a:rPr lang="ar-SA" sz="2000" b="1" kern="1200" dirty="0">
                          <a:solidFill>
                            <a:schemeClr val="bg1"/>
                          </a:solidFill>
                          <a:latin typeface="+mn-lt"/>
                          <a:ea typeface="+mn-ea"/>
                          <a:cs typeface="+mn-cs"/>
                        </a:rPr>
                        <a:t>الفئات المستهدفة</a:t>
                      </a:r>
                    </a:p>
                  </a:txBody>
                  <a:tcPr anchor="ctr">
                    <a:solidFill>
                      <a:schemeClr val="accent1"/>
                    </a:solidFill>
                  </a:tcPr>
                </a:tc>
                <a:extLst>
                  <a:ext uri="{0D108BD9-81ED-4DB2-BD59-A6C34878D82A}">
                    <a16:rowId xmlns:a16="http://schemas.microsoft.com/office/drawing/2014/main" val="2198393076"/>
                  </a:ext>
                </a:extLst>
              </a:tr>
              <a:tr h="820069">
                <a:tc>
                  <a:txBody>
                    <a:bodyPr/>
                    <a:lstStyle/>
                    <a:p>
                      <a:pPr marL="0" algn="ctr" defTabSz="914400" rtl="1" eaLnBrk="1" fontAlgn="b" latinLnBrk="0" hangingPunct="1"/>
                      <a:r>
                        <a:rPr lang="ar-SA" sz="2000" b="1" i="0" u="none" strike="noStrike" kern="1200" dirty="0">
                          <a:solidFill>
                            <a:schemeClr val="bg1"/>
                          </a:solidFill>
                          <a:effectLst/>
                          <a:latin typeface="Sakkal Majalla" panose="02000000000000000000" pitchFamily="2" charset="-78"/>
                          <a:ea typeface="+mn-ea"/>
                          <a:cs typeface="+mn-cs"/>
                        </a:rPr>
                        <a:t>رسائل البريد الإلكتروني</a:t>
                      </a:r>
                    </a:p>
                  </a:txBody>
                  <a:tcPr marL="0" marR="0" marT="0" marB="0" anchor="ctr">
                    <a:solidFill>
                      <a:schemeClr val="accent1"/>
                    </a:solidFill>
                  </a:tcPr>
                </a:tc>
                <a:tc>
                  <a:txBody>
                    <a:bodyPr/>
                    <a:lstStyle/>
                    <a:p>
                      <a:pPr marL="0" algn="ctr" defTabSz="914400" rtl="1" eaLnBrk="1" fontAlgn="b" latinLnBrk="0" hangingPunct="1"/>
                      <a:r>
                        <a:rPr lang="ar-SA" sz="1600" b="0" i="0" u="none" strike="noStrike" kern="1200" dirty="0">
                          <a:solidFill>
                            <a:schemeClr val="tx1"/>
                          </a:solidFill>
                          <a:effectLst/>
                          <a:latin typeface="Sakkal Majalla" panose="02000000000000000000" pitchFamily="2" charset="-78"/>
                          <a:ea typeface="+mn-ea"/>
                          <a:cs typeface="+mn-cs"/>
                        </a:rPr>
                        <a:t>يتم إرسال رسائل توعية بالتنسيق مع إدارة الاتصال الداخلي تتعلق بموضوعات البنية المؤسسية. تتنوع الرسائل المرسلة وفق الهدف المراد تحقيقه ضمن خطة التوعية بالبنية المؤسسية على سبيل المثال (التعريف بمهام البنية المؤسسية، التعريف بخدمات البنية المؤسسية وغيرها)</a:t>
                      </a:r>
                    </a:p>
                  </a:txBody>
                  <a:tcPr marL="0" marR="0" marT="0" marB="0" anchor="ctr"/>
                </a:tc>
                <a:tc>
                  <a:txBody>
                    <a:bodyPr/>
                    <a:lstStyle/>
                    <a:p>
                      <a:pPr marL="0" algn="ctr" defTabSz="914400" rtl="1" eaLnBrk="1" fontAlgn="b" latinLnBrk="0" hangingPunct="1"/>
                      <a:r>
                        <a:rPr lang="ar-SA" sz="1600" b="0" i="0" u="none" strike="noStrike" kern="1200" dirty="0">
                          <a:solidFill>
                            <a:schemeClr val="tx1"/>
                          </a:solidFill>
                          <a:effectLst/>
                          <a:latin typeface="Sakkal Majalla" panose="02000000000000000000" pitchFamily="2" charset="-78"/>
                          <a:ea typeface="+mn-ea"/>
                          <a:cs typeface="+mn-cs"/>
                        </a:rPr>
                        <a:t>كامل الهيئة</a:t>
                      </a:r>
                    </a:p>
                  </a:txBody>
                  <a:tcPr marL="0" marR="0" marT="0" marB="0" anchor="ctr"/>
                </a:tc>
                <a:extLst>
                  <a:ext uri="{0D108BD9-81ED-4DB2-BD59-A6C34878D82A}">
                    <a16:rowId xmlns:a16="http://schemas.microsoft.com/office/drawing/2014/main" val="2575307223"/>
                  </a:ext>
                </a:extLst>
              </a:tr>
              <a:tr h="820069">
                <a:tc>
                  <a:txBody>
                    <a:bodyPr/>
                    <a:lstStyle/>
                    <a:p>
                      <a:pPr marL="0" algn="ctr" defTabSz="914400" rtl="1" eaLnBrk="1" fontAlgn="b" latinLnBrk="0" hangingPunct="1"/>
                      <a:r>
                        <a:rPr lang="ar-SA" sz="2000" b="1" i="0" u="none" strike="noStrike" kern="1200" dirty="0">
                          <a:solidFill>
                            <a:schemeClr val="bg1"/>
                          </a:solidFill>
                          <a:effectLst/>
                          <a:latin typeface="Sakkal Majalla" panose="02000000000000000000" pitchFamily="2" charset="-78"/>
                          <a:ea typeface="+mn-ea"/>
                          <a:cs typeface="+mn-cs"/>
                        </a:rPr>
                        <a:t>البوابة الداخلية</a:t>
                      </a:r>
                    </a:p>
                  </a:txBody>
                  <a:tcPr marL="0" marR="0" marT="0" marB="0" anchor="ctr">
                    <a:solidFill>
                      <a:schemeClr val="accent1"/>
                    </a:solidFill>
                  </a:tcPr>
                </a:tc>
                <a:tc>
                  <a:txBody>
                    <a:bodyPr/>
                    <a:lstStyle/>
                    <a:p>
                      <a:pPr marL="0" algn="ctr" defTabSz="914400" rtl="1" eaLnBrk="1" fontAlgn="b" latinLnBrk="0" hangingPunct="1"/>
                      <a:r>
                        <a:rPr lang="ar-SA" sz="1600" b="0" i="0" u="none" strike="noStrike" kern="1200" dirty="0">
                          <a:solidFill>
                            <a:schemeClr val="tx1"/>
                          </a:solidFill>
                          <a:effectLst/>
                          <a:latin typeface="Sakkal Majalla" panose="02000000000000000000" pitchFamily="2" charset="-78"/>
                          <a:ea typeface="+mn-ea"/>
                          <a:cs typeface="+mn-cs"/>
                        </a:rPr>
                        <a:t>تصميم موقع فرعي (أو صفحة) على البوابة الداخلية للهيئة يستعرض معلومات تعريفية عن البنية المؤسسية لتمكين منسوبي الهيئة من البحث والاطلاع على المعلومات المتعقلة بموضوعات البنية المؤسسية. بالإضافة لإعداد بعض الاستبيانات المتغيرة دوريا عن أنشطة البنية المؤسسية بهدف الحصول على التغذية الراجعة للاستفادة منها كمؤشر لقياس الوعي بالبنية المؤسسية</a:t>
                      </a:r>
                    </a:p>
                  </a:txBody>
                  <a:tcPr marL="0" marR="0" marT="0" marB="0"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600" b="0"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a:rPr>
                        <a:t>كامل الهيئة</a:t>
                      </a:r>
                    </a:p>
                  </a:txBody>
                  <a:tcPr marL="0" marR="0" marT="0" marB="0" anchor="ctr"/>
                </a:tc>
                <a:extLst>
                  <a:ext uri="{0D108BD9-81ED-4DB2-BD59-A6C34878D82A}">
                    <a16:rowId xmlns:a16="http://schemas.microsoft.com/office/drawing/2014/main" val="2789808073"/>
                  </a:ext>
                </a:extLst>
              </a:tr>
              <a:tr h="820069">
                <a:tc>
                  <a:txBody>
                    <a:bodyPr/>
                    <a:lstStyle/>
                    <a:p>
                      <a:pPr marL="0" algn="ctr" defTabSz="914400" rtl="1" eaLnBrk="1" fontAlgn="b" latinLnBrk="0" hangingPunct="1"/>
                      <a:r>
                        <a:rPr lang="ar-SA" sz="2000" b="1" i="0" u="none" strike="noStrike" kern="1200" dirty="0">
                          <a:solidFill>
                            <a:schemeClr val="bg1"/>
                          </a:solidFill>
                          <a:effectLst/>
                          <a:latin typeface="Sakkal Majalla" panose="02000000000000000000" pitchFamily="2" charset="-78"/>
                          <a:ea typeface="+mn-ea"/>
                          <a:cs typeface="+mn-cs"/>
                        </a:rPr>
                        <a:t>تطبيق الجوال "وصول"</a:t>
                      </a:r>
                    </a:p>
                  </a:txBody>
                  <a:tcPr marL="0" marR="0" marT="0" marB="0" anchor="ctr">
                    <a:solidFill>
                      <a:schemeClr val="accent1"/>
                    </a:solidFill>
                  </a:tcPr>
                </a:tc>
                <a:tc>
                  <a:txBody>
                    <a:bodyPr/>
                    <a:lstStyle/>
                    <a:p>
                      <a:pPr marL="0" algn="ctr" defTabSz="914400" rtl="1" eaLnBrk="1" fontAlgn="b" latinLnBrk="0" hangingPunct="1"/>
                      <a:r>
                        <a:rPr lang="ar-SA" sz="1600" b="0" i="0" u="none" strike="noStrike" kern="1200" dirty="0">
                          <a:solidFill>
                            <a:schemeClr val="tx1"/>
                          </a:solidFill>
                          <a:effectLst/>
                          <a:latin typeface="Sakkal Majalla" panose="02000000000000000000" pitchFamily="2" charset="-78"/>
                          <a:ea typeface="+mn-ea"/>
                          <a:cs typeface="+mn-cs"/>
                        </a:rPr>
                        <a:t>يمكن استخدام تطبيق الجوال في تقديم محتوى توعوي بطرق تتناسب مع استخدام الموظفين للأجهزة الذكية، مما قد يوفر تجربة مخصصة تمكن الموظفين وأصحاب المصلحة من الوصول إلى المعلومات والرسائل التوعوية في أي وقت ومن أي مكان</a:t>
                      </a:r>
                    </a:p>
                  </a:txBody>
                  <a:tcPr marL="0" marR="0" marT="0" marB="0"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600" b="0"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a:rPr>
                        <a:t>كامل الهيئة</a:t>
                      </a:r>
                    </a:p>
                  </a:txBody>
                  <a:tcPr marL="0" marR="0" marT="0" marB="0" anchor="ctr"/>
                </a:tc>
                <a:extLst>
                  <a:ext uri="{0D108BD9-81ED-4DB2-BD59-A6C34878D82A}">
                    <a16:rowId xmlns:a16="http://schemas.microsoft.com/office/drawing/2014/main" val="2376278165"/>
                  </a:ext>
                </a:extLst>
              </a:tr>
              <a:tr h="820069">
                <a:tc>
                  <a:txBody>
                    <a:bodyPr/>
                    <a:lstStyle/>
                    <a:p>
                      <a:pPr marL="0" algn="ctr" defTabSz="914400" rtl="1" eaLnBrk="1" fontAlgn="b" latinLnBrk="0" hangingPunct="1"/>
                      <a:r>
                        <a:rPr lang="ar-SA" sz="2000" b="1" i="0" u="none" strike="noStrike" kern="1200" dirty="0">
                          <a:solidFill>
                            <a:schemeClr val="bg1"/>
                          </a:solidFill>
                          <a:effectLst/>
                          <a:latin typeface="Sakkal Majalla" panose="02000000000000000000" pitchFamily="2" charset="-78"/>
                          <a:ea typeface="+mn-ea"/>
                          <a:cs typeface="+mn-cs"/>
                        </a:rPr>
                        <a:t>ورش العمل</a:t>
                      </a:r>
                    </a:p>
                    <a:p>
                      <a:pPr marL="0" algn="ctr" defTabSz="914400" rtl="1" eaLnBrk="1" fontAlgn="b" latinLnBrk="0" hangingPunct="1"/>
                      <a:r>
                        <a:rPr lang="ar-SA" sz="1800" b="1" i="0" u="none" strike="noStrike" kern="1200" dirty="0">
                          <a:solidFill>
                            <a:schemeClr val="bg1"/>
                          </a:solidFill>
                          <a:effectLst/>
                          <a:latin typeface="Sakkal Majalla" panose="02000000000000000000" pitchFamily="2" charset="-78"/>
                          <a:ea typeface="+mn-ea"/>
                          <a:cs typeface="+mn-cs"/>
                        </a:rPr>
                        <a:t>(عامة ومخصصة)</a:t>
                      </a:r>
                    </a:p>
                  </a:txBody>
                  <a:tcPr marL="0" marR="0" marT="0" marB="0" anchor="ctr">
                    <a:solidFill>
                      <a:schemeClr val="accent1"/>
                    </a:solidFill>
                  </a:tcPr>
                </a:tc>
                <a:tc>
                  <a:txBody>
                    <a:bodyPr/>
                    <a:lstStyle/>
                    <a:p>
                      <a:pPr marL="0" algn="ctr" defTabSz="914400" rtl="1" eaLnBrk="1" fontAlgn="b" latinLnBrk="0" hangingPunct="1"/>
                      <a:r>
                        <a:rPr lang="ar-SA" sz="1600" b="0" i="0" u="none" strike="noStrike" kern="1200" dirty="0">
                          <a:solidFill>
                            <a:schemeClr val="tx1"/>
                          </a:solidFill>
                          <a:effectLst/>
                          <a:latin typeface="Sakkal Majalla" panose="02000000000000000000" pitchFamily="2" charset="-78"/>
                          <a:ea typeface="+mn-ea"/>
                          <a:cs typeface="+mn-cs"/>
                        </a:rPr>
                        <a:t>يتم عقد ورش عمل عامة ومخصصة للتعريف بممارسة البنية المؤسسية في الهيئة تغطي موضوع أو أكثر من موضوعات البنية المؤسسية مثل: عرض منجزات البنية المؤسسية ومدى أهمية تلك منجزات ودور الموظفين في تحقيق تلك المنجزات - خدمات البنية المؤسسية وإجراءات الاستفادة من الخدمات - مهام البنية المؤسسية - إطار عمل البنية المؤسسية</a:t>
                      </a:r>
                    </a:p>
                  </a:txBody>
                  <a:tcPr marL="0" marR="0" marT="0" marB="0"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600" b="0" i="0" u="none" strike="noStrike" kern="1200" cap="none" spc="0" normalizeH="0" baseline="0" noProof="0" dirty="0">
                          <a:ln>
                            <a:noFill/>
                          </a:ln>
                          <a:solidFill>
                            <a:prstClr val="black"/>
                          </a:solidFill>
                          <a:effectLst/>
                          <a:uLnTx/>
                          <a:uFillTx/>
                          <a:latin typeface="Sakkal Majalla" panose="02000000000000000000" pitchFamily="2" charset="-78"/>
                          <a:ea typeface="+mn-ea"/>
                          <a:cs typeface="+mn-cs"/>
                        </a:rPr>
                        <a:t>كامل الهيئة / أصحاب العلاقة من مجالات البنية المؤسسية</a:t>
                      </a:r>
                      <a:endParaRPr kumimoji="0" lang="ar-SA" sz="1600" b="0"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a:endParaRPr>
                    </a:p>
                  </a:txBody>
                  <a:tcPr marL="0" marR="0" marT="0" marB="0" anchor="ctr"/>
                </a:tc>
                <a:extLst>
                  <a:ext uri="{0D108BD9-81ED-4DB2-BD59-A6C34878D82A}">
                    <a16:rowId xmlns:a16="http://schemas.microsoft.com/office/drawing/2014/main" val="3574488100"/>
                  </a:ext>
                </a:extLst>
              </a:tr>
              <a:tr h="720666">
                <a:tc>
                  <a:txBody>
                    <a:bodyPr/>
                    <a:lstStyle/>
                    <a:p>
                      <a:pPr marL="0" algn="ctr" defTabSz="914400" rtl="1" eaLnBrk="1" fontAlgn="b" latinLnBrk="0" hangingPunct="1"/>
                      <a:r>
                        <a:rPr lang="ar-SA" sz="2000" b="1" i="0" u="none" strike="noStrike" kern="1200" dirty="0">
                          <a:solidFill>
                            <a:schemeClr val="bg1"/>
                          </a:solidFill>
                          <a:effectLst/>
                          <a:latin typeface="Sakkal Majalla" panose="02000000000000000000" pitchFamily="2" charset="-78"/>
                          <a:ea typeface="+mn-ea"/>
                          <a:cs typeface="+mn-cs"/>
                        </a:rPr>
                        <a:t>شاشات توقف سطح المكتب</a:t>
                      </a:r>
                    </a:p>
                  </a:txBody>
                  <a:tcPr marL="0" marR="0" marT="0" marB="0" anchor="ctr">
                    <a:solidFill>
                      <a:schemeClr val="accent1"/>
                    </a:solidFill>
                  </a:tcPr>
                </a:tc>
                <a:tc>
                  <a:txBody>
                    <a:bodyPr/>
                    <a:lstStyle/>
                    <a:p>
                      <a:pPr marL="0" algn="ctr" defTabSz="914400" rtl="1" eaLnBrk="1" fontAlgn="b" latinLnBrk="0" hangingPunct="1"/>
                      <a:r>
                        <a:rPr lang="ar-SA" sz="1600" b="0" i="0" u="none" strike="noStrike" kern="1200" dirty="0">
                          <a:solidFill>
                            <a:schemeClr val="tx1"/>
                          </a:solidFill>
                          <a:effectLst/>
                          <a:latin typeface="Sakkal Majalla" panose="02000000000000000000" pitchFamily="2" charset="-78"/>
                          <a:ea typeface="+mn-ea"/>
                          <a:cs typeface="+mn-cs"/>
                        </a:rPr>
                        <a:t>يمكن استخدام شاشات توقف سطح المكتب لعرض معلومات عن البنية المؤسسية ودورها في تحقيق أهداف الهيئة وغيرها</a:t>
                      </a:r>
                    </a:p>
                  </a:txBody>
                  <a:tcPr marL="0" marR="0" marT="0" marB="0"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600" b="0"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a:rPr>
                        <a:t>كامل الهيئة</a:t>
                      </a:r>
                    </a:p>
                  </a:txBody>
                  <a:tcPr marL="0" marR="0" marT="0" marB="0" anchor="ctr"/>
                </a:tc>
                <a:extLst>
                  <a:ext uri="{0D108BD9-81ED-4DB2-BD59-A6C34878D82A}">
                    <a16:rowId xmlns:a16="http://schemas.microsoft.com/office/drawing/2014/main" val="496914134"/>
                  </a:ext>
                </a:extLst>
              </a:tr>
              <a:tr h="720666">
                <a:tc>
                  <a:txBody>
                    <a:bodyPr/>
                    <a:lstStyle/>
                    <a:p>
                      <a:pPr marL="0" algn="ctr" defTabSz="914400" rtl="1" eaLnBrk="1" fontAlgn="b" latinLnBrk="0" hangingPunct="1"/>
                      <a:r>
                        <a:rPr lang="ar-SA" sz="2000" b="1" i="0" u="none" strike="noStrike" kern="1200" dirty="0">
                          <a:solidFill>
                            <a:schemeClr val="bg1"/>
                          </a:solidFill>
                          <a:effectLst/>
                          <a:latin typeface="Sakkal Majalla" panose="02000000000000000000" pitchFamily="2" charset="-78"/>
                          <a:ea typeface="+mn-ea"/>
                          <a:cs typeface="+mn-cs"/>
                        </a:rPr>
                        <a:t>شاشات الدعاية في الممرات</a:t>
                      </a:r>
                    </a:p>
                  </a:txBody>
                  <a:tcPr marL="0" marR="0" marT="0" marB="0" anchor="ctr">
                    <a:solidFill>
                      <a:schemeClr val="accent1"/>
                    </a:solidFill>
                  </a:tcPr>
                </a:tc>
                <a:tc>
                  <a:txBody>
                    <a:bodyPr/>
                    <a:lstStyle/>
                    <a:p>
                      <a:pPr marL="0" algn="ctr" defTabSz="914400" rtl="1" eaLnBrk="1" fontAlgn="b" latinLnBrk="0" hangingPunct="1"/>
                      <a:r>
                        <a:rPr lang="ar-SA" sz="1600" b="0" i="0" u="none" strike="noStrike" kern="1200" dirty="0">
                          <a:solidFill>
                            <a:schemeClr val="tx1"/>
                          </a:solidFill>
                          <a:effectLst/>
                          <a:latin typeface="Sakkal Majalla" panose="02000000000000000000" pitchFamily="2" charset="-78"/>
                          <a:ea typeface="+mn-ea"/>
                          <a:cs typeface="+mn-cs"/>
                        </a:rPr>
                        <a:t>يتم تصميم صور ومقاطع قصيرة تعريفية بالبنية المؤسسية تعرض على الشاشات الداخلية للهيئة في الأماكن التي يتعرض لها منسوبي الهيئة بشكل يومي كالمداخل والبوابات والممرات وغرف الاجتماعات وأماكن المناسبات الخاصة بالهيئة</a:t>
                      </a:r>
                    </a:p>
                  </a:txBody>
                  <a:tcPr marL="0" marR="0" marT="0" marB="0"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ar-SA" sz="1600" b="0" i="0" u="none" strike="noStrike" kern="1200" cap="none" spc="0" normalizeH="0" baseline="0" noProof="0" dirty="0">
                          <a:ln>
                            <a:noFill/>
                          </a:ln>
                          <a:solidFill>
                            <a:prstClr val="black"/>
                          </a:solidFill>
                          <a:effectLst/>
                          <a:uLnTx/>
                          <a:uFillTx/>
                          <a:latin typeface="Sakkal Majalla" panose="02000000000000000000" pitchFamily="2" charset="-78"/>
                          <a:ea typeface="+mn-ea"/>
                          <a:cs typeface="Sakkal Majalla"/>
                        </a:rPr>
                        <a:t>كامل الهيئة</a:t>
                      </a:r>
                    </a:p>
                  </a:txBody>
                  <a:tcPr marL="0" marR="0" marT="0" marB="0" anchor="ctr"/>
                </a:tc>
                <a:extLst>
                  <a:ext uri="{0D108BD9-81ED-4DB2-BD59-A6C34878D82A}">
                    <a16:rowId xmlns:a16="http://schemas.microsoft.com/office/drawing/2014/main" val="701791881"/>
                  </a:ext>
                </a:extLst>
              </a:tr>
            </a:tbl>
          </a:graphicData>
        </a:graphic>
      </p:graphicFrame>
    </p:spTree>
    <p:extLst>
      <p:ext uri="{BB962C8B-B14F-4D97-AF65-F5344CB8AC3E}">
        <p14:creationId xmlns:p14="http://schemas.microsoft.com/office/powerpoint/2010/main" val="1538448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038165" y="3925452"/>
            <a:ext cx="6506136" cy="641639"/>
          </a:xfrm>
        </p:spPr>
        <p:txBody>
          <a:bodyPr/>
          <a:lstStyle/>
          <a:p>
            <a:r>
              <a:rPr lang="ar-EG" dirty="0"/>
              <a:t>الخطة الزمنية للتوعية بالبنية المؤسسية</a:t>
            </a:r>
          </a:p>
        </p:txBody>
      </p:sp>
      <p:sp>
        <p:nvSpPr>
          <p:cNvPr id="4" name="Text Placeholder 3"/>
          <p:cNvSpPr>
            <a:spLocks noGrp="1"/>
          </p:cNvSpPr>
          <p:nvPr>
            <p:ph type="body" sz="quarter" idx="14"/>
          </p:nvPr>
        </p:nvSpPr>
        <p:spPr/>
        <p:txBody>
          <a:bodyPr/>
          <a:lstStyle/>
          <a:p>
            <a:r>
              <a:rPr lang="ar-SA" dirty="0"/>
              <a:t>03</a:t>
            </a:r>
            <a:endParaRPr lang="en-US" dirty="0"/>
          </a:p>
        </p:txBody>
      </p:sp>
    </p:spTree>
    <p:extLst>
      <p:ext uri="{BB962C8B-B14F-4D97-AF65-F5344CB8AC3E}">
        <p14:creationId xmlns:p14="http://schemas.microsoft.com/office/powerpoint/2010/main" val="1442467568"/>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12F43-38CF-615A-BDBB-43056C2822F6}"/>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80B5BD0A-E3AC-081D-18D4-6C30F41B5DDF}"/>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12</a:t>
            </a:fld>
            <a:endParaRPr lang="en-US" sz="1400" b="1" dirty="0">
              <a:solidFill>
                <a:schemeClr val="accent1"/>
              </a:solidFill>
            </a:endParaRPr>
          </a:p>
        </p:txBody>
      </p:sp>
      <p:sp>
        <p:nvSpPr>
          <p:cNvPr id="2" name="Title 1">
            <a:extLst>
              <a:ext uri="{FF2B5EF4-FFF2-40B4-BE49-F238E27FC236}">
                <a16:creationId xmlns:a16="http://schemas.microsoft.com/office/drawing/2014/main" id="{83AD5924-5442-BEC2-A8C0-F620AEB4ADB6}"/>
              </a:ext>
            </a:extLst>
          </p:cNvPr>
          <p:cNvSpPr txBox="1">
            <a:spLocks/>
          </p:cNvSpPr>
          <p:nvPr/>
        </p:nvSpPr>
        <p:spPr>
          <a:xfrm>
            <a:off x="1567543" y="408242"/>
            <a:ext cx="978625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الخطة الزمنية للتوعية بالبنية المؤسسية</a:t>
            </a:r>
          </a:p>
        </p:txBody>
      </p:sp>
      <p:graphicFrame>
        <p:nvGraphicFramePr>
          <p:cNvPr id="3" name="Table 2">
            <a:extLst>
              <a:ext uri="{FF2B5EF4-FFF2-40B4-BE49-F238E27FC236}">
                <a16:creationId xmlns:a16="http://schemas.microsoft.com/office/drawing/2014/main" id="{D61A87BA-5193-4C46-B1BF-60931C05C3AA}"/>
              </a:ext>
            </a:extLst>
          </p:cNvPr>
          <p:cNvGraphicFramePr>
            <a:graphicFrameLocks noGrp="1"/>
          </p:cNvGraphicFramePr>
          <p:nvPr>
            <p:extLst>
              <p:ext uri="{D42A27DB-BD31-4B8C-83A1-F6EECF244321}">
                <p14:modId xmlns:p14="http://schemas.microsoft.com/office/powerpoint/2010/main" val="3207564916"/>
              </p:ext>
            </p:extLst>
          </p:nvPr>
        </p:nvGraphicFramePr>
        <p:xfrm>
          <a:off x="508000" y="930695"/>
          <a:ext cx="10979149" cy="4968742"/>
        </p:xfrm>
        <a:graphic>
          <a:graphicData uri="http://schemas.openxmlformats.org/drawingml/2006/table">
            <a:tbl>
              <a:tblPr firstRow="1" bandRow="1">
                <a:tableStyleId>{5C22544A-7EE6-4342-B048-85BDC9FD1C3A}</a:tableStyleId>
              </a:tblPr>
              <a:tblGrid>
                <a:gridCol w="518713">
                  <a:extLst>
                    <a:ext uri="{9D8B030D-6E8A-4147-A177-3AD203B41FA5}">
                      <a16:colId xmlns:a16="http://schemas.microsoft.com/office/drawing/2014/main" val="3567500756"/>
                    </a:ext>
                  </a:extLst>
                </a:gridCol>
                <a:gridCol w="518713">
                  <a:extLst>
                    <a:ext uri="{9D8B030D-6E8A-4147-A177-3AD203B41FA5}">
                      <a16:colId xmlns:a16="http://schemas.microsoft.com/office/drawing/2014/main" val="1556858812"/>
                    </a:ext>
                  </a:extLst>
                </a:gridCol>
                <a:gridCol w="518713">
                  <a:extLst>
                    <a:ext uri="{9D8B030D-6E8A-4147-A177-3AD203B41FA5}">
                      <a16:colId xmlns:a16="http://schemas.microsoft.com/office/drawing/2014/main" val="3829361233"/>
                    </a:ext>
                  </a:extLst>
                </a:gridCol>
                <a:gridCol w="259357">
                  <a:extLst>
                    <a:ext uri="{9D8B030D-6E8A-4147-A177-3AD203B41FA5}">
                      <a16:colId xmlns:a16="http://schemas.microsoft.com/office/drawing/2014/main" val="588381266"/>
                    </a:ext>
                  </a:extLst>
                </a:gridCol>
                <a:gridCol w="259357">
                  <a:extLst>
                    <a:ext uri="{9D8B030D-6E8A-4147-A177-3AD203B41FA5}">
                      <a16:colId xmlns:a16="http://schemas.microsoft.com/office/drawing/2014/main" val="1359349103"/>
                    </a:ext>
                  </a:extLst>
                </a:gridCol>
                <a:gridCol w="518713">
                  <a:extLst>
                    <a:ext uri="{9D8B030D-6E8A-4147-A177-3AD203B41FA5}">
                      <a16:colId xmlns:a16="http://schemas.microsoft.com/office/drawing/2014/main" val="3467914227"/>
                    </a:ext>
                  </a:extLst>
                </a:gridCol>
                <a:gridCol w="518713">
                  <a:extLst>
                    <a:ext uri="{9D8B030D-6E8A-4147-A177-3AD203B41FA5}">
                      <a16:colId xmlns:a16="http://schemas.microsoft.com/office/drawing/2014/main" val="3768957783"/>
                    </a:ext>
                  </a:extLst>
                </a:gridCol>
                <a:gridCol w="518713">
                  <a:extLst>
                    <a:ext uri="{9D8B030D-6E8A-4147-A177-3AD203B41FA5}">
                      <a16:colId xmlns:a16="http://schemas.microsoft.com/office/drawing/2014/main" val="2226432201"/>
                    </a:ext>
                  </a:extLst>
                </a:gridCol>
                <a:gridCol w="518713">
                  <a:extLst>
                    <a:ext uri="{9D8B030D-6E8A-4147-A177-3AD203B41FA5}">
                      <a16:colId xmlns:a16="http://schemas.microsoft.com/office/drawing/2014/main" val="2301184828"/>
                    </a:ext>
                  </a:extLst>
                </a:gridCol>
                <a:gridCol w="259357">
                  <a:extLst>
                    <a:ext uri="{9D8B030D-6E8A-4147-A177-3AD203B41FA5}">
                      <a16:colId xmlns:a16="http://schemas.microsoft.com/office/drawing/2014/main" val="4039305866"/>
                    </a:ext>
                  </a:extLst>
                </a:gridCol>
                <a:gridCol w="259357">
                  <a:extLst>
                    <a:ext uri="{9D8B030D-6E8A-4147-A177-3AD203B41FA5}">
                      <a16:colId xmlns:a16="http://schemas.microsoft.com/office/drawing/2014/main" val="3021732806"/>
                    </a:ext>
                  </a:extLst>
                </a:gridCol>
                <a:gridCol w="3155365">
                  <a:extLst>
                    <a:ext uri="{9D8B030D-6E8A-4147-A177-3AD203B41FA5}">
                      <a16:colId xmlns:a16="http://schemas.microsoft.com/office/drawing/2014/main" val="2196856444"/>
                    </a:ext>
                  </a:extLst>
                </a:gridCol>
                <a:gridCol w="3155365">
                  <a:extLst>
                    <a:ext uri="{9D8B030D-6E8A-4147-A177-3AD203B41FA5}">
                      <a16:colId xmlns:a16="http://schemas.microsoft.com/office/drawing/2014/main" val="582360509"/>
                    </a:ext>
                  </a:extLst>
                </a:gridCol>
              </a:tblGrid>
              <a:tr h="402805">
                <a:tc gridSpan="7">
                  <a:txBody>
                    <a:bodyPr/>
                    <a:lstStyle/>
                    <a:p>
                      <a:pPr algn="ctr" rtl="1"/>
                      <a:r>
                        <a:rPr lang="ar-SA" sz="2000" dirty="0"/>
                        <a:t>2026</a:t>
                      </a:r>
                      <a:endParaRPr lang="en-US" sz="2000" dirty="0"/>
                    </a:p>
                  </a:txBody>
                  <a:tcPr anchor="ctr"/>
                </a:tc>
                <a:tc hMerge="1">
                  <a:txBody>
                    <a:bodyPr/>
                    <a:lstStyle/>
                    <a:p>
                      <a:pPr algn="ctr" rtl="1"/>
                      <a:endParaRPr lang="en-US" sz="2000" dirty="0"/>
                    </a:p>
                  </a:txBody>
                  <a:tcPr/>
                </a:tc>
                <a:tc hMerge="1">
                  <a:txBody>
                    <a:bodyPr/>
                    <a:lstStyle/>
                    <a:p>
                      <a:pPr algn="ctr" rtl="1"/>
                      <a:endParaRPr lang="en-US" sz="2000" dirty="0"/>
                    </a:p>
                  </a:txBody>
                  <a:tcPr anchor="ctr"/>
                </a:tc>
                <a:tc hMerge="1">
                  <a:txBody>
                    <a:bodyPr/>
                    <a:lstStyle/>
                    <a:p>
                      <a:pPr algn="ctr" rtl="1"/>
                      <a:endParaRPr lang="en-US" sz="2000" dirty="0"/>
                    </a:p>
                  </a:txBody>
                  <a:tcPr/>
                </a:tc>
                <a:tc hMerge="1">
                  <a:txBody>
                    <a:bodyPr/>
                    <a:lstStyle/>
                    <a:p>
                      <a:endParaRPr lang="en-US"/>
                    </a:p>
                  </a:txBody>
                  <a:tcPr/>
                </a:tc>
                <a:tc hMerge="1">
                  <a:txBody>
                    <a:bodyPr/>
                    <a:lstStyle/>
                    <a:p>
                      <a:pPr algn="ctr" rtl="1"/>
                      <a:endParaRPr lang="en-US" sz="2000" dirty="0"/>
                    </a:p>
                  </a:txBody>
                  <a:tcPr anchor="ctr"/>
                </a:tc>
                <a:tc hMerge="1">
                  <a:txBody>
                    <a:bodyPr/>
                    <a:lstStyle/>
                    <a:p>
                      <a:pPr algn="ctr" rtl="1"/>
                      <a:endParaRPr lang="en-US" sz="2000" dirty="0"/>
                    </a:p>
                  </a:txBody>
                  <a:tcPr/>
                </a:tc>
                <a:tc gridSpan="4">
                  <a:txBody>
                    <a:bodyPr/>
                    <a:lstStyle/>
                    <a:p>
                      <a:pPr algn="ctr" rtl="1"/>
                      <a:r>
                        <a:rPr lang="ar-SA" sz="2400" dirty="0"/>
                        <a:t>2025</a:t>
                      </a:r>
                      <a:endParaRPr lang="en-US" sz="2400" dirty="0"/>
                    </a:p>
                  </a:txBody>
                  <a:tcPr anchor="ctr"/>
                </a:tc>
                <a:tc hMerge="1">
                  <a:txBody>
                    <a:bodyPr/>
                    <a:lstStyle/>
                    <a:p>
                      <a:endParaRPr dirty="0"/>
                    </a:p>
                  </a:txBody>
                  <a:tcPr anchor="ctr"/>
                </a:tc>
                <a:tc hMerge="1">
                  <a:txBody>
                    <a:bodyPr/>
                    <a:lstStyle/>
                    <a:p>
                      <a:pPr algn="ctr" rtl="1"/>
                      <a:endParaRPr lang="en-US" sz="2000" dirty="0"/>
                    </a:p>
                  </a:txBody>
                  <a:tcPr/>
                </a:tc>
                <a:tc hMerge="1">
                  <a:txBody>
                    <a:bodyPr/>
                    <a:lstStyle/>
                    <a:p>
                      <a:endParaRPr lang="en-US"/>
                    </a:p>
                  </a:txBody>
                  <a:tcPr/>
                </a:tc>
                <a:tc gridSpan="2">
                  <a:txBody>
                    <a:bodyPr/>
                    <a:lstStyle/>
                    <a:p>
                      <a:pPr algn="ctr" rtl="1"/>
                      <a:r>
                        <a:rPr lang="ar-SA" sz="2600" dirty="0"/>
                        <a:t>السنة</a:t>
                      </a:r>
                      <a:endParaRPr lang="en-US" sz="2600" dirty="0"/>
                    </a:p>
                  </a:txBody>
                  <a:tcPr anchor="ctr"/>
                </a:tc>
                <a:tc hMerge="1">
                  <a:txBody>
                    <a:bodyPr/>
                    <a:lstStyle/>
                    <a:p>
                      <a:pPr algn="ctr" rtl="1"/>
                      <a:r>
                        <a:rPr lang="ar-SA" sz="2800" dirty="0"/>
                        <a:t>السنة</a:t>
                      </a:r>
                      <a:endParaRPr lang="en-US" sz="2800" dirty="0"/>
                    </a:p>
                  </a:txBody>
                  <a:tcPr anchor="ctr"/>
                </a:tc>
                <a:extLst>
                  <a:ext uri="{0D108BD9-81ED-4DB2-BD59-A6C34878D82A}">
                    <a16:rowId xmlns:a16="http://schemas.microsoft.com/office/drawing/2014/main" val="3293185352"/>
                  </a:ext>
                </a:extLst>
              </a:tr>
              <a:tr h="503266">
                <a:tc>
                  <a:txBody>
                    <a:bodyPr/>
                    <a:lstStyle/>
                    <a:p>
                      <a:pPr algn="ctr"/>
                      <a:r>
                        <a:rPr lang="en-US" sz="2000" b="1">
                          <a:solidFill>
                            <a:schemeClr val="bg1"/>
                          </a:solidFill>
                        </a:rPr>
                        <a:t>06</a:t>
                      </a:r>
                      <a:endParaRPr lang="en-US"/>
                    </a:p>
                  </a:txBody>
                  <a:tcPr anchor="ctr">
                    <a:solidFill>
                      <a:srgbClr val="4C3C8D"/>
                    </a:solidFill>
                  </a:tcPr>
                </a:tc>
                <a:tc>
                  <a:txBody>
                    <a:bodyPr/>
                    <a:lstStyle/>
                    <a:p>
                      <a:pPr algn="ctr"/>
                      <a:r>
                        <a:rPr lang="en-US" sz="2000" b="1">
                          <a:solidFill>
                            <a:schemeClr val="bg1"/>
                          </a:solidFill>
                        </a:rPr>
                        <a:t>05</a:t>
                      </a:r>
                      <a:endParaRPr lang="en-US"/>
                    </a:p>
                  </a:txBody>
                  <a:tcPr anchor="ctr">
                    <a:solidFill>
                      <a:srgbClr val="4C3C8D"/>
                    </a:solidFill>
                  </a:tcPr>
                </a:tc>
                <a:tc>
                  <a:txBody>
                    <a:bodyPr/>
                    <a:lstStyle/>
                    <a:p>
                      <a:pPr algn="ctr"/>
                      <a:r>
                        <a:rPr lang="en-US" sz="2000" b="1">
                          <a:solidFill>
                            <a:schemeClr val="bg1"/>
                          </a:solidFill>
                        </a:rPr>
                        <a:t>04</a:t>
                      </a:r>
                      <a:endParaRPr lang="en-US"/>
                    </a:p>
                  </a:txBody>
                  <a:tcPr anchor="ctr">
                    <a:solidFill>
                      <a:srgbClr val="4C3C8D"/>
                    </a:solidFill>
                  </a:tcPr>
                </a:tc>
                <a:tc gridSpan="2">
                  <a:txBody>
                    <a:bodyPr/>
                    <a:lstStyle/>
                    <a:p>
                      <a:pPr algn="ctr"/>
                      <a:r>
                        <a:rPr lang="en-US" sz="2000" b="1">
                          <a:solidFill>
                            <a:schemeClr val="bg1"/>
                          </a:solidFill>
                        </a:rPr>
                        <a:t>03</a:t>
                      </a:r>
                      <a:endParaRPr lang="en-US"/>
                    </a:p>
                  </a:txBody>
                  <a:tcPr anchor="ctr">
                    <a:solidFill>
                      <a:srgbClr val="4C3C8D"/>
                    </a:solidFill>
                  </a:tcPr>
                </a:tc>
                <a:tc hMerge="1">
                  <a:txBody>
                    <a:bodyPr/>
                    <a:lstStyle/>
                    <a:p>
                      <a:endParaRPr lang="en-US"/>
                    </a:p>
                  </a:txBody>
                  <a:tcPr/>
                </a:tc>
                <a:tc>
                  <a:txBody>
                    <a:bodyPr/>
                    <a:lstStyle/>
                    <a:p>
                      <a:pPr algn="ctr"/>
                      <a:r>
                        <a:rPr lang="en-US" sz="2000" b="1">
                          <a:solidFill>
                            <a:schemeClr val="bg1"/>
                          </a:solidFill>
                        </a:rPr>
                        <a:t>02</a:t>
                      </a:r>
                      <a:endParaRPr lang="en-US"/>
                    </a:p>
                  </a:txBody>
                  <a:tcPr anchor="ctr">
                    <a:solidFill>
                      <a:srgbClr val="4C3C8D"/>
                    </a:solidFill>
                  </a:tcPr>
                </a:tc>
                <a:tc>
                  <a:txBody>
                    <a:bodyPr/>
                    <a:lstStyle/>
                    <a:p>
                      <a:pPr algn="ctr"/>
                      <a:r>
                        <a:rPr lang="en-US" sz="2000" b="1">
                          <a:solidFill>
                            <a:schemeClr val="bg1"/>
                          </a:solidFill>
                        </a:rPr>
                        <a:t>01</a:t>
                      </a:r>
                      <a:endParaRPr lang="en-US"/>
                    </a:p>
                  </a:txBody>
                  <a:tcPr anchor="ctr">
                    <a:solidFill>
                      <a:srgbClr val="4C3C8D"/>
                    </a:solidFill>
                  </a:tcPr>
                </a:tc>
                <a:tc>
                  <a:txBody>
                    <a:bodyPr/>
                    <a:lstStyle/>
                    <a:p>
                      <a:pPr algn="ctr"/>
                      <a:r>
                        <a:rPr lang="ar-SA" sz="2000" b="1" kern="1200" dirty="0">
                          <a:solidFill>
                            <a:schemeClr val="bg1"/>
                          </a:solidFill>
                          <a:latin typeface="+mn-lt"/>
                          <a:ea typeface="+mn-ea"/>
                          <a:cs typeface="+mn-cs"/>
                        </a:rPr>
                        <a:t>12</a:t>
                      </a:r>
                      <a:endParaRPr lang="en-US" sz="2000" b="1" kern="1200" dirty="0">
                        <a:solidFill>
                          <a:schemeClr val="bg1"/>
                        </a:solidFill>
                        <a:latin typeface="+mn-lt"/>
                        <a:ea typeface="+mn-ea"/>
                        <a:cs typeface="+mn-cs"/>
                      </a:endParaRPr>
                    </a:p>
                  </a:txBody>
                  <a:tcPr anchor="ctr">
                    <a:solidFill>
                      <a:srgbClr val="4C3C8D"/>
                    </a:solidFill>
                  </a:tcPr>
                </a:tc>
                <a:tc>
                  <a:txBody>
                    <a:bodyPr/>
                    <a:lstStyle/>
                    <a:p>
                      <a:pPr algn="ctr"/>
                      <a:r>
                        <a:rPr lang="ar-SA" sz="2000" b="1" dirty="0">
                          <a:solidFill>
                            <a:schemeClr val="bg1"/>
                          </a:solidFill>
                        </a:rPr>
                        <a:t>11</a:t>
                      </a:r>
                      <a:endParaRPr lang="en-US" dirty="0"/>
                    </a:p>
                  </a:txBody>
                  <a:tcPr anchor="ctr">
                    <a:solidFill>
                      <a:srgbClr val="4C3C8D"/>
                    </a:solidFill>
                  </a:tcPr>
                </a:tc>
                <a:tc gridSpan="2">
                  <a:txBody>
                    <a:bodyPr/>
                    <a:lstStyle/>
                    <a:p>
                      <a:pPr algn="ctr"/>
                      <a:r>
                        <a:rPr lang="ar-SA" sz="2000" b="1" dirty="0">
                          <a:solidFill>
                            <a:schemeClr val="bg1"/>
                          </a:solidFill>
                        </a:rPr>
                        <a:t>10</a:t>
                      </a:r>
                      <a:endParaRPr lang="en-US" dirty="0"/>
                    </a:p>
                  </a:txBody>
                  <a:tcPr anchor="ctr">
                    <a:solidFill>
                      <a:srgbClr val="4C3C8D"/>
                    </a:solidFill>
                  </a:tcPr>
                </a:tc>
                <a:tc hMerge="1">
                  <a:txBody>
                    <a:bodyPr/>
                    <a:lstStyle/>
                    <a:p>
                      <a:endParaRPr lang="en-US"/>
                    </a:p>
                  </a:txBody>
                  <a:tcPr/>
                </a:tc>
                <a:tc>
                  <a:txBody>
                    <a:bodyPr/>
                    <a:lstStyle/>
                    <a:p>
                      <a:pPr algn="ctr" rtl="1"/>
                      <a:r>
                        <a:rPr lang="ar-SA" sz="2600" dirty="0">
                          <a:solidFill>
                            <a:schemeClr val="bg1"/>
                          </a:solidFill>
                        </a:rPr>
                        <a:t>وسيلة التوعية</a:t>
                      </a:r>
                      <a:endParaRPr lang="en-US" sz="2600" dirty="0">
                        <a:solidFill>
                          <a:schemeClr val="bg1"/>
                        </a:solidFill>
                      </a:endParaRPr>
                    </a:p>
                  </a:txBody>
                  <a:tcPr anchor="ctr">
                    <a:solidFill>
                      <a:srgbClr val="4C3C8D"/>
                    </a:solidFill>
                  </a:tcPr>
                </a:tc>
                <a:tc>
                  <a:txBody>
                    <a:bodyPr/>
                    <a:lstStyle/>
                    <a:p>
                      <a:pPr algn="ctr" rtl="1"/>
                      <a:r>
                        <a:rPr lang="ar-SA" sz="2600" dirty="0">
                          <a:solidFill>
                            <a:schemeClr val="bg1"/>
                          </a:solidFill>
                        </a:rPr>
                        <a:t>النشاط</a:t>
                      </a:r>
                      <a:endParaRPr lang="en-US" sz="2600" dirty="0">
                        <a:solidFill>
                          <a:schemeClr val="bg1"/>
                        </a:solidFill>
                      </a:endParaRPr>
                    </a:p>
                  </a:txBody>
                  <a:tcPr anchor="ctr">
                    <a:solidFill>
                      <a:srgbClr val="4C3C8D"/>
                    </a:solidFill>
                  </a:tcPr>
                </a:tc>
                <a:extLst>
                  <a:ext uri="{0D108BD9-81ED-4DB2-BD59-A6C34878D82A}">
                    <a16:rowId xmlns:a16="http://schemas.microsoft.com/office/drawing/2014/main" val="994444894"/>
                  </a:ext>
                </a:extLst>
              </a:tr>
              <a:tr h="583383">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tc>
                <a:tc hMerge="1">
                  <a:txBody>
                    <a:bodyPr/>
                    <a:lstStyle/>
                    <a:p>
                      <a:endParaRPr lang="en-US"/>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E9E8EE"/>
                    </a:solidFill>
                  </a:tcPr>
                </a:tc>
                <a:tc>
                  <a:txBody>
                    <a:bodyPr/>
                    <a:lstStyle/>
                    <a:p>
                      <a:pPr marL="0" algn="ctr" defTabSz="914400" rtl="1" eaLnBrk="1" latinLnBrk="0" hangingPunct="1"/>
                      <a:endParaRPr lang="ar-SA" sz="2000" b="1" kern="1200" dirty="0">
                        <a:solidFill>
                          <a:schemeClr val="accent1"/>
                        </a:solidFill>
                        <a:latin typeface="+mn-lt"/>
                        <a:ea typeface="+mn-ea"/>
                        <a:cs typeface="+mn-cs"/>
                      </a:endParaRPr>
                    </a:p>
                  </a:txBody>
                  <a:tcPr anchor="ctr">
                    <a:solidFill>
                      <a:srgbClr val="E9E8EE"/>
                    </a:solidFill>
                  </a:tcPr>
                </a:tc>
                <a:tc>
                  <a:txBody>
                    <a:bodyPr/>
                    <a:lstStyle/>
                    <a:p>
                      <a:pPr marL="0" algn="ctr" defTabSz="914400" rtl="1" eaLnBrk="1" latinLnBrk="0" hangingPunct="1"/>
                      <a:endParaRPr lang="ar-SA" sz="2000" b="1" kern="1200" dirty="0">
                        <a:solidFill>
                          <a:schemeClr val="accent1"/>
                        </a:solidFill>
                        <a:latin typeface="+mn-lt"/>
                        <a:ea typeface="+mn-ea"/>
                        <a:cs typeface="+mn-cs"/>
                      </a:endParaRPr>
                    </a:p>
                  </a:txBody>
                  <a:tcPr anchor="ctr">
                    <a:solidFill>
                      <a:srgbClr val="E9E8EE"/>
                    </a:solidFill>
                  </a:tcPr>
                </a:tc>
                <a:tc>
                  <a:txBody>
                    <a:bodyPr/>
                    <a:lstStyle/>
                    <a:p>
                      <a:pPr marL="0" algn="ctr" defTabSz="914400" rtl="1" eaLnBrk="1" latinLnBrk="0" hangingPunct="1"/>
                      <a:endParaRPr lang="ar-SA" sz="2000" b="0" kern="1200" dirty="0">
                        <a:solidFill>
                          <a:schemeClr val="tx1"/>
                        </a:solidFill>
                        <a:latin typeface="+mn-lt"/>
                        <a:ea typeface="+mn-ea"/>
                        <a:cs typeface="+mn-cs"/>
                      </a:endParaRPr>
                    </a:p>
                  </a:txBody>
                  <a:tcPr anchor="ctr">
                    <a:solidFill>
                      <a:srgbClr val="44AC52"/>
                    </a:solidFill>
                  </a:tcPr>
                </a:tc>
                <a:tc>
                  <a:txBody>
                    <a:bodyPr/>
                    <a:lstStyle/>
                    <a:p>
                      <a:pPr marL="0" algn="ctr" defTabSz="914400" rtl="1" eaLnBrk="1" latinLnBrk="0" hangingPunct="1"/>
                      <a:endParaRPr lang="ar-SA" sz="2000" b="0" kern="1200" dirty="0">
                        <a:solidFill>
                          <a:schemeClr val="tx1"/>
                        </a:solidFill>
                        <a:latin typeface="+mn-lt"/>
                        <a:ea typeface="+mn-ea"/>
                        <a:cs typeface="+mn-cs"/>
                      </a:endParaRPr>
                    </a:p>
                  </a:txBody>
                  <a:tcPr anchor="ctr">
                    <a:solidFill>
                      <a:srgbClr val="E9E8EE"/>
                    </a:solidFill>
                  </a:tcPr>
                </a:tc>
                <a:tc>
                  <a:txBody>
                    <a:bodyPr/>
                    <a:lstStyle/>
                    <a:p>
                      <a:pPr algn="ctr" rtl="1" fontAlgn="ctr"/>
                      <a:r>
                        <a:rPr lang="ar-SA" sz="1400" b="1" i="0" u="none" strike="noStrike" baseline="0" dirty="0">
                          <a:solidFill>
                            <a:schemeClr val="tx1"/>
                          </a:solidFill>
                          <a:effectLst/>
                          <a:latin typeface="Sakkal Majalla" panose="02000000000000000000" pitchFamily="2" charset="-78"/>
                          <a:cs typeface="Sakkal Majalla" panose="02000000000000000000" pitchFamily="2" charset="-78"/>
                        </a:rPr>
                        <a:t>حملة توعية </a:t>
                      </a: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(البريد الإلكتروني - شاشات التوقف - شاشات الدعاية - البوابة الداخلية - تطبيق "وصول")</a:t>
                      </a:r>
                    </a:p>
                  </a:txBody>
                  <a:tcPr anchor="ctr"/>
                </a:tc>
                <a:tc>
                  <a:txBody>
                    <a:bodyPr/>
                    <a:lstStyle/>
                    <a:p>
                      <a:pPr algn="ctr" rtl="1" fontAlgn="ctr"/>
                      <a:r>
                        <a:rPr lang="ar-SA" sz="1600" b="1" i="0" u="none" strike="noStrike" baseline="0" dirty="0">
                          <a:solidFill>
                            <a:schemeClr val="tx1"/>
                          </a:solidFill>
                          <a:effectLst/>
                          <a:latin typeface="Sakkal Majalla" panose="02000000000000000000" pitchFamily="2" charset="-78"/>
                          <a:cs typeface="Sakkal Majalla" panose="02000000000000000000" pitchFamily="2" charset="-78"/>
                        </a:rPr>
                        <a:t>التعريف بالبنية المؤسسية وأهميتها للهيئة</a:t>
                      </a:r>
                    </a:p>
                  </a:txBody>
                  <a:tcPr anchor="ctr"/>
                </a:tc>
                <a:extLst>
                  <a:ext uri="{0D108BD9-81ED-4DB2-BD59-A6C34878D82A}">
                    <a16:rowId xmlns:a16="http://schemas.microsoft.com/office/drawing/2014/main" val="1628727393"/>
                  </a:ext>
                </a:extLst>
              </a:tr>
              <a:tr h="408903">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hMerge="1">
                  <a:txBody>
                    <a:bodyPr/>
                    <a:lstStyle/>
                    <a:p>
                      <a:endParaRPr lang="en-US"/>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algn="ctr" defTabSz="914400" rtl="1" eaLnBrk="1" latinLnBrk="0" hangingPunct="1"/>
                      <a:endParaRPr lang="ar-SA" sz="2000" b="1" kern="1200" dirty="0">
                        <a:solidFill>
                          <a:schemeClr val="accent1"/>
                        </a:solidFill>
                        <a:latin typeface="+mn-lt"/>
                        <a:ea typeface="+mn-ea"/>
                        <a:cs typeface="+mn-cs"/>
                      </a:endParaRPr>
                    </a:p>
                  </a:txBody>
                  <a:tcPr anchor="ctr">
                    <a:solidFill>
                      <a:srgbClr val="D0CEDB"/>
                    </a:solidFill>
                  </a:tcPr>
                </a:tc>
                <a:tc>
                  <a:txBody>
                    <a:bodyPr/>
                    <a:lstStyle/>
                    <a:p>
                      <a:pPr marL="0" algn="ctr" defTabSz="914400" rtl="1" eaLnBrk="1" latinLnBrk="0" hangingPunct="1"/>
                      <a:endParaRPr lang="ar-SA" sz="2000" b="1" kern="1200" dirty="0">
                        <a:solidFill>
                          <a:schemeClr val="accent1"/>
                        </a:solidFill>
                        <a:latin typeface="+mn-lt"/>
                        <a:ea typeface="+mn-ea"/>
                        <a:cs typeface="+mn-cs"/>
                      </a:endParaRPr>
                    </a:p>
                  </a:txBody>
                  <a:tcPr anchor="ctr">
                    <a:solidFill>
                      <a:srgbClr val="44AC52"/>
                    </a:solidFill>
                  </a:tcPr>
                </a:tc>
                <a:tc gridSpan="2">
                  <a:txBody>
                    <a:bodyPr/>
                    <a:lstStyle/>
                    <a:p>
                      <a:pPr marL="0" algn="ctr" defTabSz="914400" rtl="1" eaLnBrk="1" latinLnBrk="0" hangingPunct="1"/>
                      <a:endParaRPr lang="ar-SA" sz="2000" b="0" kern="1200" dirty="0">
                        <a:solidFill>
                          <a:schemeClr val="tx1"/>
                        </a:solidFill>
                        <a:latin typeface="+mn-lt"/>
                        <a:ea typeface="+mn-ea"/>
                        <a:cs typeface="+mn-cs"/>
                      </a:endParaRPr>
                    </a:p>
                  </a:txBody>
                  <a:tcPr anchor="ctr">
                    <a:solidFill>
                      <a:srgbClr val="D0CEDB"/>
                    </a:solidFill>
                  </a:tcPr>
                </a:tc>
                <a:tc hMerge="1">
                  <a:txBody>
                    <a:bodyPr/>
                    <a:lstStyle/>
                    <a:p>
                      <a:endParaRPr lang="en-US"/>
                    </a:p>
                  </a:txBody>
                  <a:tcPr/>
                </a:tc>
                <a:tc>
                  <a:txBody>
                    <a:bodyPr/>
                    <a:lstStyle/>
                    <a:p>
                      <a:pPr algn="ctr" rtl="1" fontAlgn="ctr"/>
                      <a:r>
                        <a:rPr lang="ar-SA" sz="1400" b="1" i="0" u="none" strike="noStrike" baseline="0" dirty="0">
                          <a:solidFill>
                            <a:schemeClr val="tx1"/>
                          </a:solidFill>
                          <a:effectLst/>
                          <a:latin typeface="Sakkal Majalla" panose="02000000000000000000" pitchFamily="2" charset="-78"/>
                          <a:cs typeface="Sakkal Majalla" panose="02000000000000000000" pitchFamily="2" charset="-78"/>
                        </a:rPr>
                        <a:t>ورشة عمل عامة لكامل الهيئة</a:t>
                      </a:r>
                    </a:p>
                  </a:txBody>
                  <a:tcPr anchor="ctr"/>
                </a:tc>
                <a:tc>
                  <a:txBody>
                    <a:bodyPr/>
                    <a:lstStyle/>
                    <a:p>
                      <a:pPr algn="ctr" rtl="1" fontAlgn="ctr"/>
                      <a:r>
                        <a:rPr lang="ar-SA" sz="1600" b="1" i="0" u="none" strike="noStrike" baseline="0" dirty="0">
                          <a:solidFill>
                            <a:schemeClr val="tx1"/>
                          </a:solidFill>
                          <a:effectLst/>
                          <a:latin typeface="Sakkal Majalla" panose="02000000000000000000" pitchFamily="2" charset="-78"/>
                          <a:cs typeface="Sakkal Majalla" panose="02000000000000000000" pitchFamily="2" charset="-78"/>
                        </a:rPr>
                        <a:t>مقدمة إلى البنية المؤسسية</a:t>
                      </a:r>
                    </a:p>
                  </a:txBody>
                  <a:tcPr anchor="ctr"/>
                </a:tc>
                <a:extLst>
                  <a:ext uri="{0D108BD9-81ED-4DB2-BD59-A6C34878D82A}">
                    <a16:rowId xmlns:a16="http://schemas.microsoft.com/office/drawing/2014/main" val="921703392"/>
                  </a:ext>
                </a:extLst>
              </a:tr>
              <a:tr h="583383">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E9E8EE"/>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E9E8EE"/>
                    </a:solidFill>
                  </a:tcPr>
                </a:tc>
                <a:tc hMerge="1">
                  <a:txBody>
                    <a:bodyPr/>
                    <a:lstStyle/>
                    <a:p>
                      <a:endParaRPr lang="en-US"/>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EG" b="0" dirty="0"/>
                    </a:p>
                  </a:txBody>
                  <a:tcPr anchor="ctr">
                    <a:solidFill>
                      <a:srgbClr val="E9E8EE"/>
                    </a:solidFill>
                  </a:tcPr>
                </a:tc>
                <a:tc>
                  <a:txBody>
                    <a:bodyPr/>
                    <a:lstStyle/>
                    <a:p>
                      <a:pPr marL="0" algn="ctr" defTabSz="914400" rtl="1" eaLnBrk="1" latinLnBrk="0" hangingPunct="1"/>
                      <a:endParaRPr lang="en-US" sz="2000" b="1" kern="1200" dirty="0">
                        <a:solidFill>
                          <a:schemeClr val="accent1"/>
                        </a:solidFill>
                        <a:latin typeface="+mn-lt"/>
                        <a:ea typeface="+mn-ea"/>
                        <a:cs typeface="+mn-cs"/>
                      </a:endParaRPr>
                    </a:p>
                  </a:txBody>
                  <a:tcPr anchor="ctr">
                    <a:solidFill>
                      <a:srgbClr val="44AC52"/>
                    </a:solidFill>
                  </a:tcPr>
                </a:tc>
                <a:tc>
                  <a:txBody>
                    <a:bodyPr/>
                    <a:lstStyle/>
                    <a:p>
                      <a:pPr marL="0" algn="ctr" defTabSz="914400" rtl="1" eaLnBrk="1" latinLnBrk="0" hangingPunct="1"/>
                      <a:endParaRPr lang="en-US" sz="2000" b="1" kern="1200" dirty="0">
                        <a:solidFill>
                          <a:schemeClr val="accent1"/>
                        </a:solidFill>
                        <a:latin typeface="+mn-lt"/>
                        <a:ea typeface="+mn-ea"/>
                        <a:cs typeface="+mn-cs"/>
                      </a:endParaRPr>
                    </a:p>
                  </a:txBody>
                  <a:tcPr anchor="ctr">
                    <a:solidFill>
                      <a:srgbClr val="E9E8EE"/>
                    </a:solidFill>
                  </a:tcPr>
                </a:tc>
                <a:tc gridSpan="2">
                  <a:txBody>
                    <a:bodyPr/>
                    <a:lstStyle/>
                    <a:p>
                      <a:pPr marL="0" algn="ctr" defTabSz="914400" rtl="1" eaLnBrk="1" latinLnBrk="0" hangingPunct="1"/>
                      <a:endParaRPr lang="en-US" sz="2000" b="0" kern="1200" dirty="0">
                        <a:solidFill>
                          <a:schemeClr val="tx1"/>
                        </a:solidFill>
                        <a:latin typeface="+mn-lt"/>
                        <a:ea typeface="+mn-ea"/>
                        <a:cs typeface="+mn-cs"/>
                      </a:endParaRPr>
                    </a:p>
                  </a:txBody>
                  <a:tcPr anchor="ctr">
                    <a:solidFill>
                      <a:srgbClr val="E9E8EE"/>
                    </a:solidFill>
                  </a:tcPr>
                </a:tc>
                <a:tc hMerge="1">
                  <a:txBody>
                    <a:bodyPr/>
                    <a:lstStyle/>
                    <a:p>
                      <a:endParaRPr lang="en-US"/>
                    </a:p>
                  </a:txBody>
                  <a:tcPr/>
                </a:tc>
                <a:tc>
                  <a:txBody>
                    <a:bodyPr/>
                    <a:lstStyle/>
                    <a:p>
                      <a:pPr algn="ctr" rtl="1" fontAlgn="ctr"/>
                      <a:r>
                        <a:rPr lang="ar-SA" sz="1400" b="1" i="0" u="none" strike="noStrike" baseline="0" dirty="0">
                          <a:solidFill>
                            <a:schemeClr val="tx1"/>
                          </a:solidFill>
                          <a:effectLst/>
                          <a:latin typeface="Sakkal Majalla" panose="02000000000000000000" pitchFamily="2" charset="-78"/>
                          <a:cs typeface="Sakkal Majalla" panose="02000000000000000000" pitchFamily="2" charset="-78"/>
                        </a:rPr>
                        <a:t>حملة توعية </a:t>
                      </a: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(البريد الإلكتروني - شاشات التوقف - شاشات الدعاية - البوابة الداخلية - تطبيق "وصول")</a:t>
                      </a:r>
                    </a:p>
                  </a:txBody>
                  <a:tcPr anchor="ctr"/>
                </a:tc>
                <a:tc>
                  <a:txBody>
                    <a:bodyPr/>
                    <a:lstStyle/>
                    <a:p>
                      <a:pPr algn="ctr" rtl="1" fontAlgn="ctr"/>
                      <a:r>
                        <a:rPr lang="ar-SA" sz="1600" b="1" i="0" u="none" strike="noStrike" baseline="0" dirty="0">
                          <a:solidFill>
                            <a:schemeClr val="tx1"/>
                          </a:solidFill>
                          <a:effectLst/>
                          <a:latin typeface="Sakkal Majalla" panose="02000000000000000000" pitchFamily="2" charset="-78"/>
                          <a:cs typeface="Sakkal Majalla" panose="02000000000000000000" pitchFamily="2" charset="-78"/>
                        </a:rPr>
                        <a:t>دور البنية المؤسسية في دعم التحول الرقمي</a:t>
                      </a:r>
                      <a:endParaRPr lang="en-US" sz="1600" b="1" i="0" u="none" strike="noStrike" baseline="0" dirty="0">
                        <a:solidFill>
                          <a:schemeClr val="tx1"/>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576189597"/>
                  </a:ext>
                </a:extLst>
              </a:tr>
              <a:tr h="41322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hMerge="1">
                  <a:txBody>
                    <a:bodyPr/>
                    <a:lstStyle/>
                    <a:p>
                      <a:endParaRPr lang="en-US"/>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44AC52"/>
                    </a:solidFill>
                  </a:tcPr>
                </a:tc>
                <a:tc>
                  <a:txBody>
                    <a:bodyPr/>
                    <a:lstStyle/>
                    <a:p>
                      <a:pPr marL="0" algn="ctr" defTabSz="914400" rtl="1" eaLnBrk="1" latinLnBrk="0" hangingPunct="1"/>
                      <a:endParaRPr lang="ar-SA" sz="2000" b="1" kern="1200" dirty="0">
                        <a:solidFill>
                          <a:schemeClr val="accent1"/>
                        </a:solidFill>
                        <a:latin typeface="+mn-lt"/>
                        <a:ea typeface="+mn-ea"/>
                        <a:cs typeface="+mn-cs"/>
                      </a:endParaRPr>
                    </a:p>
                  </a:txBody>
                  <a:tcPr anchor="ctr">
                    <a:solidFill>
                      <a:srgbClr val="D0CEDB"/>
                    </a:solidFill>
                  </a:tcPr>
                </a:tc>
                <a:tc>
                  <a:txBody>
                    <a:bodyPr/>
                    <a:lstStyle/>
                    <a:p>
                      <a:pPr marL="0" algn="ctr" defTabSz="914400" rtl="1" eaLnBrk="1" latinLnBrk="0" hangingPunct="1"/>
                      <a:endParaRPr lang="ar-SA" sz="2000" b="1" kern="1200" dirty="0">
                        <a:solidFill>
                          <a:schemeClr val="accent1"/>
                        </a:solidFill>
                        <a:latin typeface="+mn-lt"/>
                        <a:ea typeface="+mn-ea"/>
                        <a:cs typeface="+mn-cs"/>
                      </a:endParaRPr>
                    </a:p>
                  </a:txBody>
                  <a:tcPr anchor="ctr">
                    <a:solidFill>
                      <a:srgbClr val="D0CEDB"/>
                    </a:solidFill>
                  </a:tcPr>
                </a:tc>
                <a:tc gridSpan="2">
                  <a:txBody>
                    <a:bodyPr/>
                    <a:lstStyle/>
                    <a:p>
                      <a:pPr marL="0" algn="ctr" defTabSz="914400" rtl="1" eaLnBrk="1" latinLnBrk="0" hangingPunct="1"/>
                      <a:endParaRPr lang="ar-SA" sz="2000" b="0" kern="1200" dirty="0">
                        <a:solidFill>
                          <a:schemeClr val="tx1"/>
                        </a:solidFill>
                        <a:latin typeface="+mn-lt"/>
                        <a:ea typeface="+mn-ea"/>
                        <a:cs typeface="+mn-cs"/>
                      </a:endParaRPr>
                    </a:p>
                  </a:txBody>
                  <a:tcPr anchor="ctr"/>
                </a:tc>
                <a:tc hMerge="1">
                  <a:txBody>
                    <a:bodyPr/>
                    <a:lstStyle/>
                    <a:p>
                      <a:endParaRPr lang="en-US"/>
                    </a:p>
                  </a:txBody>
                  <a:tcPr/>
                </a:tc>
                <a:tc>
                  <a:txBody>
                    <a:bodyPr/>
                    <a:lstStyle/>
                    <a:p>
                      <a:pPr algn="ctr" rtl="1" fontAlgn="ctr"/>
                      <a:r>
                        <a:rPr lang="ar-SA" sz="1400" b="1" i="0" u="none" strike="noStrike" baseline="0" dirty="0">
                          <a:solidFill>
                            <a:schemeClr val="tx1"/>
                          </a:solidFill>
                          <a:effectLst/>
                          <a:latin typeface="Sakkal Majalla" panose="02000000000000000000" pitchFamily="2" charset="-78"/>
                          <a:cs typeface="Sakkal Majalla" panose="02000000000000000000" pitchFamily="2" charset="-78"/>
                        </a:rPr>
                        <a:t>ورشة عمل مخصصة لأصحاب العلاقة من المجالات</a:t>
                      </a:r>
                      <a:endParaRPr lang="en-US" sz="1400" b="1" i="0" u="none" strike="noStrike" baseline="0" dirty="0">
                        <a:solidFill>
                          <a:schemeClr val="tx1"/>
                        </a:solidFill>
                        <a:effectLst/>
                        <a:latin typeface="Sakkal Majalla" panose="02000000000000000000" pitchFamily="2" charset="-78"/>
                        <a:cs typeface="Sakkal Majalla" panose="02000000000000000000" pitchFamily="2" charset="-78"/>
                      </a:endParaRPr>
                    </a:p>
                  </a:txBody>
                  <a:tcPr anchor="ctr"/>
                </a:tc>
                <a:tc>
                  <a:txBody>
                    <a:bodyPr/>
                    <a:lstStyle/>
                    <a:p>
                      <a:pPr algn="ctr" rtl="1" fontAlgn="ctr"/>
                      <a:r>
                        <a:rPr lang="ar-SA" sz="1600" b="1" i="0" u="none" strike="noStrike" baseline="0" dirty="0">
                          <a:solidFill>
                            <a:schemeClr val="tx1"/>
                          </a:solidFill>
                          <a:effectLst/>
                          <a:latin typeface="Sakkal Majalla" panose="02000000000000000000" pitchFamily="2" charset="-78"/>
                          <a:cs typeface="Sakkal Majalla" panose="02000000000000000000" pitchFamily="2" charset="-78"/>
                        </a:rPr>
                        <a:t>استراتيجية البنية المؤسسية</a:t>
                      </a:r>
                      <a:endParaRPr lang="en-US" sz="1600" b="1" i="0" u="none" strike="noStrike" baseline="0" dirty="0">
                        <a:solidFill>
                          <a:schemeClr val="tx1"/>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482954124"/>
                  </a:ext>
                </a:extLst>
              </a:tr>
              <a:tr h="583383">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E9E8EE"/>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E9E8EE"/>
                    </a:solidFill>
                  </a:tcPr>
                </a:tc>
                <a:tc hMerge="1">
                  <a:txBody>
                    <a:bodyPr/>
                    <a:lstStyle/>
                    <a:p>
                      <a:endParaRPr lang="en-US"/>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44AC5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E9E8EE"/>
                    </a:solidFill>
                  </a:tcPr>
                </a:tc>
                <a:tc>
                  <a:txBody>
                    <a:bodyPr/>
                    <a:lstStyle/>
                    <a:p>
                      <a:pPr marL="0" algn="ctr" defTabSz="914400" rtl="1" eaLnBrk="1" latinLnBrk="0" hangingPunct="1"/>
                      <a:endParaRPr lang="ar-SA" sz="2000" b="1" kern="1200" dirty="0">
                        <a:solidFill>
                          <a:schemeClr val="accent1"/>
                        </a:solidFill>
                        <a:latin typeface="+mn-lt"/>
                        <a:ea typeface="+mn-ea"/>
                        <a:cs typeface="+mn-cs"/>
                      </a:endParaRPr>
                    </a:p>
                  </a:txBody>
                  <a:tcPr anchor="ctr">
                    <a:solidFill>
                      <a:srgbClr val="E9E8EE"/>
                    </a:solidFill>
                  </a:tcPr>
                </a:tc>
                <a:tc>
                  <a:txBody>
                    <a:bodyPr/>
                    <a:lstStyle/>
                    <a:p>
                      <a:pPr marL="0" algn="ctr" defTabSz="914400" rtl="1" eaLnBrk="1" latinLnBrk="0" hangingPunct="1"/>
                      <a:endParaRPr lang="ar-SA" sz="2000" b="1" kern="1200" dirty="0">
                        <a:solidFill>
                          <a:schemeClr val="accent1"/>
                        </a:solidFill>
                        <a:latin typeface="+mn-lt"/>
                        <a:ea typeface="+mn-ea"/>
                        <a:cs typeface="+mn-cs"/>
                      </a:endParaRPr>
                    </a:p>
                  </a:txBody>
                  <a:tcPr anchor="ctr">
                    <a:solidFill>
                      <a:srgbClr val="E9E8EE"/>
                    </a:solidFill>
                  </a:tcPr>
                </a:tc>
                <a:tc gridSpan="2">
                  <a:txBody>
                    <a:bodyPr/>
                    <a:lstStyle/>
                    <a:p>
                      <a:pPr marL="0" algn="ctr" defTabSz="914400" rtl="1" eaLnBrk="1" latinLnBrk="0" hangingPunct="1"/>
                      <a:endParaRPr lang="ar-SA" sz="2000" b="0" kern="1200" dirty="0">
                        <a:solidFill>
                          <a:schemeClr val="tx1"/>
                        </a:solidFill>
                        <a:latin typeface="+mn-lt"/>
                        <a:ea typeface="+mn-ea"/>
                        <a:cs typeface="+mn-cs"/>
                      </a:endParaRPr>
                    </a:p>
                  </a:txBody>
                  <a:tcPr anchor="ctr">
                    <a:solidFill>
                      <a:srgbClr val="E9E8EE"/>
                    </a:solidFill>
                  </a:tcPr>
                </a:tc>
                <a:tc hMerge="1">
                  <a:txBody>
                    <a:bodyPr/>
                    <a:lstStyle/>
                    <a:p>
                      <a:endParaRPr lang="en-US"/>
                    </a:p>
                  </a:txBody>
                  <a:tcPr/>
                </a:tc>
                <a:tc>
                  <a:txBody>
                    <a:bodyPr/>
                    <a:lstStyle/>
                    <a:p>
                      <a:pPr algn="ctr" rtl="1" fontAlgn="ctr"/>
                      <a:r>
                        <a:rPr lang="ar-SA" sz="1400" b="1" i="0" u="none" strike="noStrike" baseline="0" dirty="0">
                          <a:solidFill>
                            <a:schemeClr val="tx1"/>
                          </a:solidFill>
                          <a:effectLst/>
                          <a:latin typeface="Sakkal Majalla" panose="02000000000000000000" pitchFamily="2" charset="-78"/>
                          <a:cs typeface="Sakkal Majalla" panose="02000000000000000000" pitchFamily="2" charset="-78"/>
                        </a:rPr>
                        <a:t>حملة توعية </a:t>
                      </a: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(البريد الإلكتروني - شاشات التوقف - شاشات الدعاية - البوابة الداخلية - تطبيق "وصول")</a:t>
                      </a:r>
                    </a:p>
                  </a:txBody>
                  <a:tcPr anchor="ctr"/>
                </a:tc>
                <a:tc>
                  <a:txBody>
                    <a:bodyPr/>
                    <a:lstStyle/>
                    <a:p>
                      <a:pPr algn="ctr" rtl="1" fontAlgn="ctr"/>
                      <a:r>
                        <a:rPr lang="ar-SA" sz="1600" b="1" i="0" u="none" strike="noStrike" baseline="0" dirty="0">
                          <a:solidFill>
                            <a:schemeClr val="tx1"/>
                          </a:solidFill>
                          <a:effectLst/>
                          <a:latin typeface="Sakkal Majalla" panose="02000000000000000000" pitchFamily="2" charset="-78"/>
                          <a:cs typeface="Sakkal Majalla" panose="02000000000000000000" pitchFamily="2" charset="-78"/>
                        </a:rPr>
                        <a:t>مبادئ ومعايير البنية المؤسسية</a:t>
                      </a:r>
                      <a:endParaRPr lang="en-US" sz="1600" b="1" i="0" u="none" strike="noStrike" baseline="0" dirty="0">
                        <a:solidFill>
                          <a:schemeClr val="tx1"/>
                        </a:solidFill>
                        <a:effectLst/>
                        <a:latin typeface="Sakkal Majalla" panose="02000000000000000000" pitchFamily="2" charset="-78"/>
                        <a:cs typeface="Sakkal Majalla" panose="02000000000000000000" pitchFamily="2" charset="-78"/>
                      </a:endParaRPr>
                    </a:p>
                  </a:txBody>
                  <a:tcPr anchor="ctr"/>
                </a:tc>
                <a:extLst>
                  <a:ext uri="{0D108BD9-81ED-4DB2-BD59-A6C34878D82A}">
                    <a16:rowId xmlns:a16="http://schemas.microsoft.com/office/drawing/2014/main" val="3184823250"/>
                  </a:ext>
                </a:extLst>
              </a:tr>
              <a:tr h="408903">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44AC52"/>
                    </a:solidFill>
                  </a:tcPr>
                </a:tc>
                <a:tc hMerge="1">
                  <a:txBody>
                    <a:bodyPr/>
                    <a:lstStyle/>
                    <a:p>
                      <a:endParaRPr lang="en-US"/>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algn="ctr" defTabSz="914400" rtl="1" eaLnBrk="1" latinLnBrk="0" hangingPunct="1"/>
                      <a:endParaRPr lang="ar-EG" sz="2000" b="1" kern="1200" dirty="0">
                        <a:solidFill>
                          <a:schemeClr val="accent1"/>
                        </a:solidFill>
                        <a:latin typeface="+mn-lt"/>
                        <a:ea typeface="+mn-ea"/>
                        <a:cs typeface="+mn-cs"/>
                      </a:endParaRPr>
                    </a:p>
                  </a:txBody>
                  <a:tcPr anchor="ctr"/>
                </a:tc>
                <a:tc>
                  <a:txBody>
                    <a:bodyPr/>
                    <a:lstStyle/>
                    <a:p>
                      <a:pPr marL="0" algn="ctr" defTabSz="914400" rtl="1" eaLnBrk="1" latinLnBrk="0" hangingPunct="1"/>
                      <a:endParaRPr lang="ar-EG" sz="2000" b="1" kern="1200" dirty="0">
                        <a:solidFill>
                          <a:schemeClr val="accent1"/>
                        </a:solidFill>
                        <a:latin typeface="+mn-lt"/>
                        <a:ea typeface="+mn-ea"/>
                        <a:cs typeface="+mn-cs"/>
                      </a:endParaRPr>
                    </a:p>
                  </a:txBody>
                  <a:tcPr anchor="ctr"/>
                </a:tc>
                <a:tc gridSpan="2">
                  <a:txBody>
                    <a:bodyPr/>
                    <a:lstStyle/>
                    <a:p>
                      <a:pPr marL="0" algn="ctr" defTabSz="914400" rtl="1" eaLnBrk="1" latinLnBrk="0" hangingPunct="1"/>
                      <a:endParaRPr lang="ar-EG" sz="2000" b="0" kern="1200" dirty="0">
                        <a:solidFill>
                          <a:schemeClr val="tx1"/>
                        </a:solidFill>
                        <a:latin typeface="+mn-lt"/>
                        <a:ea typeface="+mn-ea"/>
                        <a:cs typeface="+mn-cs"/>
                      </a:endParaRPr>
                    </a:p>
                  </a:txBody>
                  <a:tcPr anchor="ctr"/>
                </a:tc>
                <a:tc hMerge="1">
                  <a:txBody>
                    <a:bodyPr/>
                    <a:lstStyle/>
                    <a:p>
                      <a:endParaRPr lang="en-US"/>
                    </a:p>
                  </a:txBody>
                  <a:tcPr/>
                </a:tc>
                <a:tc>
                  <a:txBody>
                    <a:bodyPr/>
                    <a:lstStyle/>
                    <a:p>
                      <a:pPr algn="ctr" rtl="1" fontAlgn="ctr"/>
                      <a:r>
                        <a:rPr lang="ar-SA" sz="1400" b="1" i="0" u="none" strike="noStrike" baseline="0" dirty="0">
                          <a:solidFill>
                            <a:schemeClr val="tx1"/>
                          </a:solidFill>
                          <a:effectLst/>
                          <a:latin typeface="Sakkal Majalla" panose="02000000000000000000" pitchFamily="2" charset="-78"/>
                          <a:cs typeface="Sakkal Majalla" panose="02000000000000000000" pitchFamily="2" charset="-78"/>
                        </a:rPr>
                        <a:t>ورشة عمل عامة لكامل الهيئة</a:t>
                      </a:r>
                    </a:p>
                  </a:txBody>
                  <a:tcPr anchor="ctr"/>
                </a:tc>
                <a:tc>
                  <a:txBody>
                    <a:bodyPr/>
                    <a:lstStyle/>
                    <a:p>
                      <a:pPr algn="ctr" rtl="1" fontAlgn="ctr"/>
                      <a:r>
                        <a:rPr lang="ar-SA" sz="1600" b="1" i="0" u="none" strike="noStrike" baseline="0" dirty="0">
                          <a:solidFill>
                            <a:schemeClr val="tx1"/>
                          </a:solidFill>
                          <a:effectLst/>
                          <a:latin typeface="Sakkal Majalla" panose="02000000000000000000" pitchFamily="2" charset="-78"/>
                          <a:cs typeface="Sakkal Majalla" panose="02000000000000000000" pitchFamily="2" charset="-78"/>
                        </a:rPr>
                        <a:t>دليل خدمات البنية المؤسسية</a:t>
                      </a:r>
                    </a:p>
                  </a:txBody>
                  <a:tcPr anchor="ctr"/>
                </a:tc>
                <a:extLst>
                  <a:ext uri="{0D108BD9-81ED-4DB2-BD59-A6C34878D82A}">
                    <a16:rowId xmlns:a16="http://schemas.microsoft.com/office/drawing/2014/main" val="599608417"/>
                  </a:ext>
                </a:extLst>
              </a:tr>
              <a:tr h="41322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44AC5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44AC5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E9E8EE"/>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E9E8EE"/>
                    </a:solidFill>
                  </a:tcPr>
                </a:tc>
                <a:tc>
                  <a:txBody>
                    <a:bodyPr/>
                    <a:lstStyle/>
                    <a:p>
                      <a:pPr marL="0" algn="ctr" defTabSz="914400" rtl="1" eaLnBrk="1" latinLnBrk="0" hangingPunct="1"/>
                      <a:endParaRPr lang="ar-EG" sz="2000" b="1" kern="1200" dirty="0">
                        <a:solidFill>
                          <a:schemeClr val="accent1"/>
                        </a:solidFill>
                        <a:latin typeface="+mn-lt"/>
                        <a:ea typeface="+mn-ea"/>
                        <a:cs typeface="+mn-cs"/>
                      </a:endParaRPr>
                    </a:p>
                  </a:txBody>
                  <a:tcPr anchor="ctr">
                    <a:solidFill>
                      <a:srgbClr val="E9E8EE"/>
                    </a:solidFill>
                  </a:tcPr>
                </a:tc>
                <a:tc>
                  <a:txBody>
                    <a:bodyPr/>
                    <a:lstStyle/>
                    <a:p>
                      <a:pPr marL="0" algn="ctr" defTabSz="914400" rtl="1" eaLnBrk="1" latinLnBrk="0" hangingPunct="1"/>
                      <a:endParaRPr lang="ar-EG" sz="2000" b="1" kern="1200" dirty="0">
                        <a:solidFill>
                          <a:schemeClr val="accent1"/>
                        </a:solidFill>
                        <a:latin typeface="+mn-lt"/>
                        <a:ea typeface="+mn-ea"/>
                        <a:cs typeface="+mn-cs"/>
                      </a:endParaRPr>
                    </a:p>
                  </a:txBody>
                  <a:tcPr anchor="ctr">
                    <a:solidFill>
                      <a:srgbClr val="E9E8EE"/>
                    </a:solidFill>
                  </a:tcPr>
                </a:tc>
                <a:tc gridSpan="2">
                  <a:txBody>
                    <a:bodyPr/>
                    <a:lstStyle/>
                    <a:p>
                      <a:pPr marL="0" algn="ctr" defTabSz="914400" rtl="1" eaLnBrk="1" latinLnBrk="0" hangingPunct="1"/>
                      <a:endParaRPr lang="ar-EG" sz="2000" b="0" kern="1200" dirty="0">
                        <a:solidFill>
                          <a:schemeClr val="tx1"/>
                        </a:solidFill>
                        <a:latin typeface="+mn-lt"/>
                        <a:ea typeface="+mn-ea"/>
                        <a:cs typeface="+mn-cs"/>
                      </a:endParaRPr>
                    </a:p>
                  </a:txBody>
                  <a:tcPr anchor="ctr">
                    <a:solidFill>
                      <a:srgbClr val="E9E8EE"/>
                    </a:solidFill>
                  </a:tcPr>
                </a:tc>
                <a:tc hMerge="1">
                  <a:txBody>
                    <a:bodyPr/>
                    <a:lstStyle/>
                    <a:p>
                      <a:endParaRPr lang="en-US"/>
                    </a:p>
                  </a:txBody>
                  <a:tcPr/>
                </a:tc>
                <a:tc>
                  <a:txBody>
                    <a:bodyPr/>
                    <a:lstStyle/>
                    <a:p>
                      <a:pPr algn="ctr" rtl="1" fontAlgn="ctr"/>
                      <a:r>
                        <a:rPr lang="ar-SA" sz="1400" b="1" i="0" u="none" strike="noStrike" baseline="0" dirty="0">
                          <a:solidFill>
                            <a:schemeClr val="tx1"/>
                          </a:solidFill>
                          <a:effectLst/>
                          <a:latin typeface="Sakkal Majalla" panose="02000000000000000000" pitchFamily="2" charset="-78"/>
                          <a:cs typeface="Sakkal Majalla" panose="02000000000000000000" pitchFamily="2" charset="-78"/>
                        </a:rPr>
                        <a:t>ورشة عمل مخصصة لأصحاب العلاقة من المجالات</a:t>
                      </a:r>
                    </a:p>
                  </a:txBody>
                  <a:tcPr anchor="ctr"/>
                </a:tc>
                <a:tc>
                  <a:txBody>
                    <a:bodyPr/>
                    <a:lstStyle/>
                    <a:p>
                      <a:pPr algn="ctr" rtl="1" fontAlgn="ctr"/>
                      <a:r>
                        <a:rPr lang="ar-SA" sz="1600" b="1" i="0" u="none" strike="noStrike" baseline="0" dirty="0">
                          <a:solidFill>
                            <a:schemeClr val="tx1"/>
                          </a:solidFill>
                          <a:effectLst/>
                          <a:latin typeface="Sakkal Majalla" panose="02000000000000000000" pitchFamily="2" charset="-78"/>
                          <a:cs typeface="Sakkal Majalla" panose="02000000000000000000" pitchFamily="2" charset="-78"/>
                        </a:rPr>
                        <a:t>منهجية البنية المؤسسية</a:t>
                      </a:r>
                    </a:p>
                  </a:txBody>
                  <a:tcPr anchor="ctr"/>
                </a:tc>
                <a:extLst>
                  <a:ext uri="{0D108BD9-81ED-4DB2-BD59-A6C34878D82A}">
                    <a16:rowId xmlns:a16="http://schemas.microsoft.com/office/drawing/2014/main" val="3404976290"/>
                  </a:ext>
                </a:extLst>
              </a:tr>
              <a:tr h="583383">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44AC5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44AC52"/>
                    </a:solidFill>
                  </a:tcPr>
                </a:tc>
                <a:tc gridSpan="2">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hMerge="1">
                  <a:txBody>
                    <a:bodyPr/>
                    <a:lstStyle/>
                    <a:p>
                      <a:endParaRPr lang="en-US"/>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44AC52"/>
                    </a:solidFill>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lang="ar-SA"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solidFill>
                      <a:srgbClr val="D0CEDB"/>
                    </a:solidFill>
                  </a:tcPr>
                </a:tc>
                <a:tc>
                  <a:txBody>
                    <a:bodyPr/>
                    <a:lstStyle/>
                    <a:p>
                      <a:pPr marL="0" algn="ctr" defTabSz="914400" rtl="1" eaLnBrk="1" latinLnBrk="0" hangingPunct="1"/>
                      <a:endParaRPr lang="ar-EG" sz="2000" b="1" kern="1200" dirty="0">
                        <a:solidFill>
                          <a:schemeClr val="accent1"/>
                        </a:solidFill>
                        <a:latin typeface="+mn-lt"/>
                        <a:ea typeface="+mn-ea"/>
                        <a:cs typeface="+mn-cs"/>
                      </a:endParaRPr>
                    </a:p>
                  </a:txBody>
                  <a:tcPr anchor="ctr">
                    <a:solidFill>
                      <a:srgbClr val="44AC52"/>
                    </a:solidFill>
                  </a:tcPr>
                </a:tc>
                <a:tc>
                  <a:txBody>
                    <a:bodyPr/>
                    <a:lstStyle/>
                    <a:p>
                      <a:pPr marL="0" algn="ctr" defTabSz="914400" rtl="1" eaLnBrk="1" latinLnBrk="0" hangingPunct="1"/>
                      <a:endParaRPr lang="ar-EG" sz="2000" b="1" kern="1200" dirty="0">
                        <a:solidFill>
                          <a:schemeClr val="accent1"/>
                        </a:solidFill>
                        <a:latin typeface="+mn-lt"/>
                        <a:ea typeface="+mn-ea"/>
                        <a:cs typeface="+mn-cs"/>
                      </a:endParaRPr>
                    </a:p>
                  </a:txBody>
                  <a:tcPr anchor="ctr"/>
                </a:tc>
                <a:tc gridSpan="2">
                  <a:txBody>
                    <a:bodyPr/>
                    <a:lstStyle/>
                    <a:p>
                      <a:pPr marL="0" algn="ctr" defTabSz="914400" rtl="1" eaLnBrk="1" latinLnBrk="0" hangingPunct="1"/>
                      <a:endParaRPr lang="ar-EG" sz="2000" b="0" kern="1200" dirty="0">
                        <a:solidFill>
                          <a:schemeClr val="tx1"/>
                        </a:solidFill>
                        <a:latin typeface="+mn-lt"/>
                        <a:ea typeface="+mn-ea"/>
                        <a:cs typeface="+mn-cs"/>
                      </a:endParaRPr>
                    </a:p>
                  </a:txBody>
                  <a:tcPr anchor="ctr">
                    <a:solidFill>
                      <a:srgbClr val="44AC52"/>
                    </a:solidFill>
                  </a:tcPr>
                </a:tc>
                <a:tc hMerge="1">
                  <a:txBody>
                    <a:bodyPr/>
                    <a:lstStyle/>
                    <a:p>
                      <a:endParaRPr lang="en-US"/>
                    </a:p>
                  </a:txBody>
                  <a:tcPr/>
                </a:tc>
                <a:tc>
                  <a:txBody>
                    <a:bodyPr/>
                    <a:lstStyle/>
                    <a:p>
                      <a:pPr algn="ctr" rtl="1" fontAlgn="ctr"/>
                      <a:r>
                        <a:rPr lang="ar-SA" sz="1400" b="1" i="0" u="none" strike="noStrike" baseline="0" dirty="0">
                          <a:solidFill>
                            <a:schemeClr val="tx1"/>
                          </a:solidFill>
                          <a:effectLst/>
                          <a:latin typeface="Sakkal Majalla" panose="02000000000000000000" pitchFamily="2" charset="-78"/>
                          <a:cs typeface="Sakkal Majalla" panose="02000000000000000000" pitchFamily="2" charset="-78"/>
                        </a:rPr>
                        <a:t>حملة توعية </a:t>
                      </a:r>
                      <a:r>
                        <a:rPr lang="ar-SA" sz="1400" b="0" i="0" u="none" strike="noStrike" baseline="0" dirty="0">
                          <a:solidFill>
                            <a:schemeClr val="tx1"/>
                          </a:solidFill>
                          <a:effectLst/>
                          <a:latin typeface="Sakkal Majalla" panose="02000000000000000000" pitchFamily="2" charset="-78"/>
                          <a:cs typeface="Sakkal Majalla" panose="02000000000000000000" pitchFamily="2" charset="-78"/>
                        </a:rPr>
                        <a:t>(البريد الإلكتروني - شاشات التوقف - شاشات الدعاية - البوابة الداخلية - تطبيق "وصول")</a:t>
                      </a:r>
                    </a:p>
                  </a:txBody>
                  <a:tcPr anchor="ctr"/>
                </a:tc>
                <a:tc>
                  <a:txBody>
                    <a:bodyPr/>
                    <a:lstStyle/>
                    <a:p>
                      <a:pPr algn="ctr" rtl="1" fontAlgn="ctr"/>
                      <a:r>
                        <a:rPr lang="ar-SA" sz="1600" b="1" i="0" u="none" strike="noStrike" baseline="0" dirty="0">
                          <a:solidFill>
                            <a:schemeClr val="tx1"/>
                          </a:solidFill>
                          <a:effectLst/>
                          <a:latin typeface="Sakkal Majalla" panose="02000000000000000000" pitchFamily="2" charset="-78"/>
                          <a:cs typeface="Sakkal Majalla" panose="02000000000000000000" pitchFamily="2" charset="-78"/>
                        </a:rPr>
                        <a:t>فعالية وقيمة مساهمات البنية المؤسسية</a:t>
                      </a:r>
                    </a:p>
                  </a:txBody>
                  <a:tcPr anchor="ctr"/>
                </a:tc>
                <a:extLst>
                  <a:ext uri="{0D108BD9-81ED-4DB2-BD59-A6C34878D82A}">
                    <a16:rowId xmlns:a16="http://schemas.microsoft.com/office/drawing/2014/main" val="1542395614"/>
                  </a:ext>
                </a:extLst>
              </a:tr>
            </a:tbl>
          </a:graphicData>
        </a:graphic>
      </p:graphicFrame>
    </p:spTree>
    <p:extLst>
      <p:ext uri="{BB962C8B-B14F-4D97-AF65-F5344CB8AC3E}">
        <p14:creationId xmlns:p14="http://schemas.microsoft.com/office/powerpoint/2010/main" val="1126221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7FC20-321D-9BF6-E673-7665621DAACD}"/>
              </a:ext>
            </a:extLst>
          </p:cNvPr>
          <p:cNvSpPr>
            <a:spLocks noGrp="1"/>
          </p:cNvSpPr>
          <p:nvPr>
            <p:ph type="title"/>
          </p:nvPr>
        </p:nvSpPr>
        <p:spPr/>
        <p:txBody>
          <a:bodyPr/>
          <a:lstStyle/>
          <a:p>
            <a:r>
              <a:rPr lang="ar-EG" dirty="0"/>
              <a:t>مخطط لسير التوعية</a:t>
            </a:r>
            <a:endParaRPr lang="en-US" dirty="0"/>
          </a:p>
        </p:txBody>
      </p:sp>
      <p:sp>
        <p:nvSpPr>
          <p:cNvPr id="3" name="Slide Number Placeholder 2">
            <a:extLst>
              <a:ext uri="{FF2B5EF4-FFF2-40B4-BE49-F238E27FC236}">
                <a16:creationId xmlns:a16="http://schemas.microsoft.com/office/drawing/2014/main" id="{0D57A89D-4EFF-889B-BD20-3555512BF1C6}"/>
              </a:ext>
            </a:extLst>
          </p:cNvPr>
          <p:cNvSpPr>
            <a:spLocks noGrp="1"/>
          </p:cNvSpPr>
          <p:nvPr>
            <p:ph type="sldNum" sz="quarter" idx="12"/>
          </p:nvPr>
        </p:nvSpPr>
        <p:spPr/>
        <p:txBody>
          <a:bodyPr/>
          <a:lstStyle/>
          <a:p>
            <a:fld id="{0BE4EC83-A869-464E-AE9F-881796FB085E}" type="slidenum">
              <a:rPr lang="en-US" smtClean="0"/>
              <a:t>13</a:t>
            </a:fld>
            <a:endParaRPr lang="en-US"/>
          </a:p>
        </p:txBody>
      </p:sp>
      <p:sp>
        <p:nvSpPr>
          <p:cNvPr id="5" name="TextBox 4">
            <a:extLst>
              <a:ext uri="{FF2B5EF4-FFF2-40B4-BE49-F238E27FC236}">
                <a16:creationId xmlns:a16="http://schemas.microsoft.com/office/drawing/2014/main" id="{0DCB6F4E-FD97-30B5-88DE-51A6286D0193}"/>
              </a:ext>
            </a:extLst>
          </p:cNvPr>
          <p:cNvSpPr txBox="1"/>
          <p:nvPr/>
        </p:nvSpPr>
        <p:spPr>
          <a:xfrm>
            <a:off x="6400798" y="1537855"/>
            <a:ext cx="5353397" cy="2031325"/>
          </a:xfrm>
          <a:prstGeom prst="rect">
            <a:avLst/>
          </a:prstGeom>
          <a:noFill/>
          <a:ln w="38100">
            <a:solidFill>
              <a:schemeClr val="accent1"/>
            </a:solidFill>
          </a:ln>
        </p:spPr>
        <p:txBody>
          <a:bodyPr wrap="square">
            <a:spAutoFit/>
          </a:bodyPr>
          <a:lstStyle/>
          <a:p>
            <a:pPr algn="r" rtl="1"/>
            <a:r>
              <a:rPr lang="ar-SA" b="1" dirty="0">
                <a:solidFill>
                  <a:schemeClr val="accent1"/>
                </a:solidFill>
              </a:rPr>
              <a:t>للحملات </a:t>
            </a:r>
            <a:r>
              <a:rPr lang="en-US" b="1" dirty="0">
                <a:solidFill>
                  <a:schemeClr val="accent1"/>
                </a:solidFill>
              </a:rPr>
              <a:t>Campaign</a:t>
            </a:r>
          </a:p>
          <a:p>
            <a:pPr algn="l"/>
            <a:r>
              <a:rPr lang="en-US" b="1" dirty="0"/>
              <a:t>📧E2 | 🖥SS2 | 📺DS2 | 🏠IN2 | 📱APP2</a:t>
            </a:r>
            <a:endParaRPr lang="en-US" dirty="0"/>
          </a:p>
          <a:p>
            <a:pPr algn="l"/>
            <a:r>
              <a:rPr lang="en-US" dirty="0"/>
              <a:t>E = Email</a:t>
            </a:r>
          </a:p>
          <a:p>
            <a:pPr algn="l"/>
            <a:r>
              <a:rPr lang="en-US" dirty="0"/>
              <a:t>SS = Screen Saver</a:t>
            </a:r>
          </a:p>
          <a:p>
            <a:pPr algn="l"/>
            <a:r>
              <a:rPr lang="en-US" dirty="0"/>
              <a:t>DS = Digital Signage</a:t>
            </a:r>
          </a:p>
          <a:p>
            <a:pPr algn="l"/>
            <a:r>
              <a:rPr lang="en-US" dirty="0"/>
              <a:t>IN = Intranet </a:t>
            </a:r>
            <a:r>
              <a:rPr lang="ar-SA" dirty="0"/>
              <a:t>بوابة داخلية</a:t>
            </a:r>
          </a:p>
          <a:p>
            <a:pPr algn="l"/>
            <a:r>
              <a:rPr lang="en-US" dirty="0"/>
              <a:t>APP = </a:t>
            </a:r>
            <a:r>
              <a:rPr lang="ar-SA" dirty="0"/>
              <a:t>تطبيق “وصول”</a:t>
            </a:r>
          </a:p>
        </p:txBody>
      </p:sp>
      <p:sp>
        <p:nvSpPr>
          <p:cNvPr id="6" name="TextBox 5">
            <a:extLst>
              <a:ext uri="{FF2B5EF4-FFF2-40B4-BE49-F238E27FC236}">
                <a16:creationId xmlns:a16="http://schemas.microsoft.com/office/drawing/2014/main" id="{252D069F-4877-94BE-6334-2A7DDC5F86F9}"/>
              </a:ext>
            </a:extLst>
          </p:cNvPr>
          <p:cNvSpPr txBox="1"/>
          <p:nvPr/>
        </p:nvSpPr>
        <p:spPr>
          <a:xfrm>
            <a:off x="609601" y="1537855"/>
            <a:ext cx="5616632" cy="2031325"/>
          </a:xfrm>
          <a:prstGeom prst="rect">
            <a:avLst/>
          </a:prstGeom>
          <a:noFill/>
          <a:ln w="38100">
            <a:solidFill>
              <a:schemeClr val="accent1"/>
            </a:solidFill>
          </a:ln>
        </p:spPr>
        <p:txBody>
          <a:bodyPr wrap="square" rtlCol="0">
            <a:spAutoFit/>
          </a:bodyPr>
          <a:lstStyle/>
          <a:p>
            <a:pPr algn="r" rtl="1"/>
            <a:r>
              <a:rPr lang="ar-SA" b="1" dirty="0">
                <a:solidFill>
                  <a:schemeClr val="accent1"/>
                </a:solidFill>
              </a:rPr>
              <a:t>للورشة العامة</a:t>
            </a:r>
          </a:p>
          <a:p>
            <a:pPr algn="r" rtl="1"/>
            <a:r>
              <a:rPr lang="en-US" b="1" dirty="0">
                <a:solidFill>
                  <a:schemeClr val="accent1"/>
                </a:solidFill>
              </a:rPr>
              <a:t>WS1 | Deck1 | Reg1 | Svy1 | Mat1 | E2 | IN1 | DS1</a:t>
            </a:r>
            <a:endParaRPr lang="en-US" dirty="0">
              <a:solidFill>
                <a:schemeClr val="accent1"/>
              </a:solidFill>
            </a:endParaRPr>
          </a:p>
          <a:p>
            <a:pPr algn="l"/>
            <a:r>
              <a:rPr lang="en-US" dirty="0"/>
              <a:t>WS = Workshop Session</a:t>
            </a:r>
          </a:p>
          <a:p>
            <a:pPr algn="l"/>
            <a:r>
              <a:rPr lang="en-US" dirty="0"/>
              <a:t>Deck = </a:t>
            </a:r>
            <a:r>
              <a:rPr lang="ar-SA" dirty="0"/>
              <a:t>عرض</a:t>
            </a:r>
          </a:p>
          <a:p>
            <a:pPr algn="l"/>
            <a:r>
              <a:rPr lang="en-US" dirty="0"/>
              <a:t>Reg = </a:t>
            </a:r>
            <a:r>
              <a:rPr lang="ar-SA" dirty="0"/>
              <a:t>حضور</a:t>
            </a:r>
          </a:p>
          <a:p>
            <a:pPr algn="l"/>
            <a:r>
              <a:rPr lang="en-US" dirty="0" err="1"/>
              <a:t>Svy</a:t>
            </a:r>
            <a:r>
              <a:rPr lang="en-US" dirty="0"/>
              <a:t> = </a:t>
            </a:r>
            <a:r>
              <a:rPr lang="ar-SA" dirty="0"/>
              <a:t>استبيان</a:t>
            </a:r>
          </a:p>
          <a:p>
            <a:pPr algn="l"/>
            <a:r>
              <a:rPr lang="en-US" dirty="0"/>
              <a:t>Mat = </a:t>
            </a:r>
            <a:r>
              <a:rPr lang="ar-SA" dirty="0"/>
              <a:t>مواد/ملخص</a:t>
            </a:r>
            <a:endParaRPr lang="ar-EG" dirty="0"/>
          </a:p>
        </p:txBody>
      </p:sp>
      <p:sp>
        <p:nvSpPr>
          <p:cNvPr id="7" name="TextBox 6">
            <a:extLst>
              <a:ext uri="{FF2B5EF4-FFF2-40B4-BE49-F238E27FC236}">
                <a16:creationId xmlns:a16="http://schemas.microsoft.com/office/drawing/2014/main" id="{8C6D0501-24A4-2A49-1511-66657E4BA38C}"/>
              </a:ext>
            </a:extLst>
          </p:cNvPr>
          <p:cNvSpPr txBox="1"/>
          <p:nvPr/>
        </p:nvSpPr>
        <p:spPr>
          <a:xfrm>
            <a:off x="3169920" y="4156695"/>
            <a:ext cx="5616632" cy="1477328"/>
          </a:xfrm>
          <a:prstGeom prst="rect">
            <a:avLst/>
          </a:prstGeom>
          <a:noFill/>
          <a:ln w="57150">
            <a:solidFill>
              <a:schemeClr val="accent1"/>
            </a:solidFill>
          </a:ln>
        </p:spPr>
        <p:txBody>
          <a:bodyPr wrap="square" rtlCol="0">
            <a:spAutoFit/>
          </a:bodyPr>
          <a:lstStyle/>
          <a:p>
            <a:pPr algn="r" rtl="1"/>
            <a:r>
              <a:rPr lang="ar-SA" b="1" dirty="0">
                <a:solidFill>
                  <a:schemeClr val="accent1"/>
                </a:solidFill>
              </a:rPr>
              <a:t>للورشة المخصصة</a:t>
            </a:r>
          </a:p>
          <a:p>
            <a:pPr algn="r" rtl="1"/>
            <a:r>
              <a:rPr lang="en-US" b="1" dirty="0">
                <a:solidFill>
                  <a:schemeClr val="accent1"/>
                </a:solidFill>
              </a:rPr>
              <a:t>SP1 | Deck1 | Ex1 | Min1 | E2 | IN1 | DS1</a:t>
            </a:r>
            <a:endParaRPr lang="en-US" dirty="0">
              <a:solidFill>
                <a:schemeClr val="accent1"/>
              </a:solidFill>
            </a:endParaRPr>
          </a:p>
          <a:p>
            <a:r>
              <a:rPr lang="en-US" dirty="0"/>
              <a:t>SP = </a:t>
            </a:r>
            <a:r>
              <a:rPr lang="ar-SA" dirty="0"/>
              <a:t>جلسة مخصصة</a:t>
            </a:r>
          </a:p>
          <a:p>
            <a:r>
              <a:rPr lang="en-US" dirty="0"/>
              <a:t>Ex = </a:t>
            </a:r>
            <a:r>
              <a:rPr lang="ar-SA" dirty="0"/>
              <a:t>تمارين</a:t>
            </a:r>
          </a:p>
          <a:p>
            <a:r>
              <a:rPr lang="en-US" dirty="0"/>
              <a:t>Min = </a:t>
            </a:r>
            <a:r>
              <a:rPr lang="ar-SA" dirty="0"/>
              <a:t>محضر مخرجات</a:t>
            </a:r>
          </a:p>
        </p:txBody>
      </p:sp>
    </p:spTree>
    <p:extLst>
      <p:ext uri="{BB962C8B-B14F-4D97-AF65-F5344CB8AC3E}">
        <p14:creationId xmlns:p14="http://schemas.microsoft.com/office/powerpoint/2010/main" val="291189066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73E6E-27B9-BF02-C73D-0B2BFD6C660D}"/>
              </a:ext>
            </a:extLst>
          </p:cNvPr>
          <p:cNvSpPr>
            <a:spLocks noGrp="1"/>
          </p:cNvSpPr>
          <p:nvPr>
            <p:ph type="title"/>
          </p:nvPr>
        </p:nvSpPr>
        <p:spPr/>
        <p:txBody>
          <a:bodyPr/>
          <a:lstStyle/>
          <a:p>
            <a:r>
              <a:rPr lang="ar-SA" dirty="0"/>
              <a:t>مخطط لسير التوعية</a:t>
            </a:r>
            <a:endParaRPr lang="en-US" dirty="0"/>
          </a:p>
        </p:txBody>
      </p:sp>
      <p:sp>
        <p:nvSpPr>
          <p:cNvPr id="3" name="Slide Number Placeholder 2">
            <a:extLst>
              <a:ext uri="{FF2B5EF4-FFF2-40B4-BE49-F238E27FC236}">
                <a16:creationId xmlns:a16="http://schemas.microsoft.com/office/drawing/2014/main" id="{009B589A-0216-4942-8EDB-7602F3536814}"/>
              </a:ext>
            </a:extLst>
          </p:cNvPr>
          <p:cNvSpPr>
            <a:spLocks noGrp="1"/>
          </p:cNvSpPr>
          <p:nvPr>
            <p:ph type="sldNum" sz="quarter" idx="12"/>
          </p:nvPr>
        </p:nvSpPr>
        <p:spPr/>
        <p:txBody>
          <a:bodyPr/>
          <a:lstStyle/>
          <a:p>
            <a:fld id="{0BE4EC83-A869-464E-AE9F-881796FB085E}" type="slidenum">
              <a:rPr lang="en-US" smtClean="0"/>
              <a:t>14</a:t>
            </a:fld>
            <a:endParaRPr lang="en-US"/>
          </a:p>
        </p:txBody>
      </p:sp>
      <p:graphicFrame>
        <p:nvGraphicFramePr>
          <p:cNvPr id="5" name="Table 4">
            <a:extLst>
              <a:ext uri="{FF2B5EF4-FFF2-40B4-BE49-F238E27FC236}">
                <a16:creationId xmlns:a16="http://schemas.microsoft.com/office/drawing/2014/main" id="{B39C4B01-3C02-C275-6C25-08C1D36ECD4C}"/>
              </a:ext>
            </a:extLst>
          </p:cNvPr>
          <p:cNvGraphicFramePr>
            <a:graphicFrameLocks noGrp="1"/>
          </p:cNvGraphicFramePr>
          <p:nvPr>
            <p:extLst>
              <p:ext uri="{D42A27DB-BD31-4B8C-83A1-F6EECF244321}">
                <p14:modId xmlns:p14="http://schemas.microsoft.com/office/powerpoint/2010/main" val="115090271"/>
              </p:ext>
            </p:extLst>
          </p:nvPr>
        </p:nvGraphicFramePr>
        <p:xfrm>
          <a:off x="765325" y="1037497"/>
          <a:ext cx="10895220" cy="5079816"/>
        </p:xfrm>
        <a:graphic>
          <a:graphicData uri="http://schemas.openxmlformats.org/drawingml/2006/table">
            <a:tbl>
              <a:tblPr rtl="1" firstRow="1" firstCol="1" bandRow="1">
                <a:tableStyleId>{5C22544A-7EE6-4342-B048-85BDC9FD1C3A}</a:tableStyleId>
              </a:tblPr>
              <a:tblGrid>
                <a:gridCol w="1089522">
                  <a:extLst>
                    <a:ext uri="{9D8B030D-6E8A-4147-A177-3AD203B41FA5}">
                      <a16:colId xmlns:a16="http://schemas.microsoft.com/office/drawing/2014/main" val="554737913"/>
                    </a:ext>
                  </a:extLst>
                </a:gridCol>
                <a:gridCol w="1089522">
                  <a:extLst>
                    <a:ext uri="{9D8B030D-6E8A-4147-A177-3AD203B41FA5}">
                      <a16:colId xmlns:a16="http://schemas.microsoft.com/office/drawing/2014/main" val="2395101322"/>
                    </a:ext>
                  </a:extLst>
                </a:gridCol>
                <a:gridCol w="1089522">
                  <a:extLst>
                    <a:ext uri="{9D8B030D-6E8A-4147-A177-3AD203B41FA5}">
                      <a16:colId xmlns:a16="http://schemas.microsoft.com/office/drawing/2014/main" val="1287951355"/>
                    </a:ext>
                  </a:extLst>
                </a:gridCol>
                <a:gridCol w="1089522">
                  <a:extLst>
                    <a:ext uri="{9D8B030D-6E8A-4147-A177-3AD203B41FA5}">
                      <a16:colId xmlns:a16="http://schemas.microsoft.com/office/drawing/2014/main" val="1140564038"/>
                    </a:ext>
                  </a:extLst>
                </a:gridCol>
                <a:gridCol w="1089522">
                  <a:extLst>
                    <a:ext uri="{9D8B030D-6E8A-4147-A177-3AD203B41FA5}">
                      <a16:colId xmlns:a16="http://schemas.microsoft.com/office/drawing/2014/main" val="269319930"/>
                    </a:ext>
                  </a:extLst>
                </a:gridCol>
                <a:gridCol w="1089522">
                  <a:extLst>
                    <a:ext uri="{9D8B030D-6E8A-4147-A177-3AD203B41FA5}">
                      <a16:colId xmlns:a16="http://schemas.microsoft.com/office/drawing/2014/main" val="2303096085"/>
                    </a:ext>
                  </a:extLst>
                </a:gridCol>
                <a:gridCol w="1089522">
                  <a:extLst>
                    <a:ext uri="{9D8B030D-6E8A-4147-A177-3AD203B41FA5}">
                      <a16:colId xmlns:a16="http://schemas.microsoft.com/office/drawing/2014/main" val="3659853691"/>
                    </a:ext>
                  </a:extLst>
                </a:gridCol>
                <a:gridCol w="1089522">
                  <a:extLst>
                    <a:ext uri="{9D8B030D-6E8A-4147-A177-3AD203B41FA5}">
                      <a16:colId xmlns:a16="http://schemas.microsoft.com/office/drawing/2014/main" val="3435436645"/>
                    </a:ext>
                  </a:extLst>
                </a:gridCol>
                <a:gridCol w="1089522">
                  <a:extLst>
                    <a:ext uri="{9D8B030D-6E8A-4147-A177-3AD203B41FA5}">
                      <a16:colId xmlns:a16="http://schemas.microsoft.com/office/drawing/2014/main" val="24113862"/>
                    </a:ext>
                  </a:extLst>
                </a:gridCol>
                <a:gridCol w="1089522">
                  <a:extLst>
                    <a:ext uri="{9D8B030D-6E8A-4147-A177-3AD203B41FA5}">
                      <a16:colId xmlns:a16="http://schemas.microsoft.com/office/drawing/2014/main" val="875151443"/>
                    </a:ext>
                  </a:extLst>
                </a:gridCol>
              </a:tblGrid>
              <a:tr h="81951">
                <a:tc>
                  <a:txBody>
                    <a:bodyPr/>
                    <a:lstStyle/>
                    <a:p>
                      <a:pPr marL="0" marR="0" algn="ctr" rtl="0">
                        <a:lnSpc>
                          <a:spcPct val="115000"/>
                        </a:lnSpc>
                        <a:spcAft>
                          <a:spcPts val="800"/>
                        </a:spcAft>
                        <a:buNone/>
                      </a:pPr>
                      <a:r>
                        <a:rPr lang="ar-SA" sz="1100" kern="100" dirty="0">
                          <a:effectLst/>
                        </a:rPr>
                        <a:t>النشاط</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2025-10</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2025-11</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2025-12</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2026-01</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2026-02</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2026-03</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2026-04</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2026-05</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2026-06</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extLst>
                  <a:ext uri="{0D108BD9-81ED-4DB2-BD59-A6C34878D82A}">
                    <a16:rowId xmlns:a16="http://schemas.microsoft.com/office/drawing/2014/main" val="3632940422"/>
                  </a:ext>
                </a:extLst>
              </a:tr>
              <a:tr h="534049">
                <a:tc>
                  <a:txBody>
                    <a:bodyPr/>
                    <a:lstStyle/>
                    <a:p>
                      <a:pPr marL="0" marR="0" algn="ctr" rtl="0">
                        <a:lnSpc>
                          <a:spcPct val="115000"/>
                        </a:lnSpc>
                        <a:spcAft>
                          <a:spcPts val="800"/>
                        </a:spcAft>
                        <a:buNone/>
                      </a:pPr>
                      <a:r>
                        <a:rPr lang="ar-SA" sz="1100" kern="100" dirty="0">
                          <a:effectLst/>
                        </a:rPr>
                        <a:t>التعريف بالبنية المؤسسية وأهميتها للهيئة</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📧E2 | 🖥SS2 | 📺DS2 | 🏠IN2 | 📱APP2</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extLst>
                  <a:ext uri="{0D108BD9-81ED-4DB2-BD59-A6C34878D82A}">
                    <a16:rowId xmlns:a16="http://schemas.microsoft.com/office/drawing/2014/main" val="2335601641"/>
                  </a:ext>
                </a:extLst>
              </a:tr>
              <a:tr h="711498">
                <a:tc>
                  <a:txBody>
                    <a:bodyPr/>
                    <a:lstStyle/>
                    <a:p>
                      <a:pPr marL="0" marR="0" algn="ctr" rtl="0">
                        <a:lnSpc>
                          <a:spcPct val="115000"/>
                        </a:lnSpc>
                        <a:spcAft>
                          <a:spcPts val="800"/>
                        </a:spcAft>
                        <a:buNone/>
                      </a:pPr>
                      <a:r>
                        <a:rPr lang="ar-SA" sz="1100" kern="100" dirty="0">
                          <a:effectLst/>
                        </a:rPr>
                        <a:t>مقدمة إلى البنية المؤسسية</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WS1 | Deck1 | Reg1 | Svy1 | Mat1 | E2 | IN1 | DS1</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extLst>
                  <a:ext uri="{0D108BD9-81ED-4DB2-BD59-A6C34878D82A}">
                    <a16:rowId xmlns:a16="http://schemas.microsoft.com/office/drawing/2014/main" val="2946287612"/>
                  </a:ext>
                </a:extLst>
              </a:tr>
              <a:tr h="534049">
                <a:tc>
                  <a:txBody>
                    <a:bodyPr/>
                    <a:lstStyle/>
                    <a:p>
                      <a:pPr marL="0" marR="0" algn="ctr" rtl="0">
                        <a:lnSpc>
                          <a:spcPct val="115000"/>
                        </a:lnSpc>
                        <a:spcAft>
                          <a:spcPts val="800"/>
                        </a:spcAft>
                        <a:buNone/>
                      </a:pPr>
                      <a:r>
                        <a:rPr lang="ar-SA" sz="1100" kern="100" dirty="0">
                          <a:effectLst/>
                        </a:rPr>
                        <a:t>دور البنية المؤسسية في دعم التحول الرقمي</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📧E2 | 🖥SS2 | 📺DS2 | 🏠IN2 | 📱APP2</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extLst>
                  <a:ext uri="{0D108BD9-81ED-4DB2-BD59-A6C34878D82A}">
                    <a16:rowId xmlns:a16="http://schemas.microsoft.com/office/drawing/2014/main" val="2905361501"/>
                  </a:ext>
                </a:extLst>
              </a:tr>
              <a:tr h="535431">
                <a:tc>
                  <a:txBody>
                    <a:bodyPr/>
                    <a:lstStyle/>
                    <a:p>
                      <a:pPr marL="0" marR="0" algn="ctr" rtl="0">
                        <a:lnSpc>
                          <a:spcPct val="115000"/>
                        </a:lnSpc>
                        <a:spcAft>
                          <a:spcPts val="800"/>
                        </a:spcAft>
                        <a:buNone/>
                      </a:pPr>
                      <a:r>
                        <a:rPr lang="ar-SA" sz="1100" kern="100" dirty="0">
                          <a:effectLst/>
                        </a:rPr>
                        <a:t>استراتيجية البنية المؤسسية</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SP1 | Deck1 | Ex1 | Min1 | E2 | IN1 | DS1</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extLst>
                  <a:ext uri="{0D108BD9-81ED-4DB2-BD59-A6C34878D82A}">
                    <a16:rowId xmlns:a16="http://schemas.microsoft.com/office/drawing/2014/main" val="1331207348"/>
                  </a:ext>
                </a:extLst>
              </a:tr>
              <a:tr h="533996">
                <a:tc>
                  <a:txBody>
                    <a:bodyPr/>
                    <a:lstStyle/>
                    <a:p>
                      <a:pPr marL="0" marR="0" algn="ctr" rtl="0">
                        <a:lnSpc>
                          <a:spcPct val="115000"/>
                        </a:lnSpc>
                        <a:spcAft>
                          <a:spcPts val="800"/>
                        </a:spcAft>
                        <a:buNone/>
                      </a:pPr>
                      <a:r>
                        <a:rPr lang="ar-SA" sz="1100" kern="100" dirty="0">
                          <a:effectLst/>
                        </a:rPr>
                        <a:t>مبادئ ومعايير البنية المؤسسية</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📧E2 | 🖥SS2 | 📺DS2 | 🏠IN2 | 📱APP2</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extLst>
                  <a:ext uri="{0D108BD9-81ED-4DB2-BD59-A6C34878D82A}">
                    <a16:rowId xmlns:a16="http://schemas.microsoft.com/office/drawing/2014/main" val="138008440"/>
                  </a:ext>
                </a:extLst>
              </a:tr>
              <a:tr h="711498">
                <a:tc>
                  <a:txBody>
                    <a:bodyPr/>
                    <a:lstStyle/>
                    <a:p>
                      <a:pPr marL="0" marR="0" algn="ctr" rtl="0">
                        <a:lnSpc>
                          <a:spcPct val="115000"/>
                        </a:lnSpc>
                        <a:spcAft>
                          <a:spcPts val="800"/>
                        </a:spcAft>
                        <a:buNone/>
                      </a:pPr>
                      <a:r>
                        <a:rPr lang="ar-SA" sz="1100" kern="100" dirty="0">
                          <a:effectLst/>
                        </a:rPr>
                        <a:t>دليل خدمات البنية المؤسسية</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WS1 | Deck1 | Reg1 | Svy1 | Mat1 | E2 | IN1 | DS1</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extLst>
                  <a:ext uri="{0D108BD9-81ED-4DB2-BD59-A6C34878D82A}">
                    <a16:rowId xmlns:a16="http://schemas.microsoft.com/office/drawing/2014/main" val="2522390505"/>
                  </a:ext>
                </a:extLst>
              </a:tr>
              <a:tr h="535431">
                <a:tc>
                  <a:txBody>
                    <a:bodyPr/>
                    <a:lstStyle/>
                    <a:p>
                      <a:pPr marL="0" marR="0" algn="ctr" rtl="0">
                        <a:lnSpc>
                          <a:spcPct val="115000"/>
                        </a:lnSpc>
                        <a:spcAft>
                          <a:spcPts val="800"/>
                        </a:spcAft>
                        <a:buNone/>
                      </a:pPr>
                      <a:r>
                        <a:rPr lang="ar-SA" sz="1100" kern="100" dirty="0">
                          <a:effectLst/>
                        </a:rPr>
                        <a:t>منهجية البنية المؤسسية</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SP1 | Deck1 | Ex1 | Min1 | E2 | IN1 | DS1</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extLst>
                  <a:ext uri="{0D108BD9-81ED-4DB2-BD59-A6C34878D82A}">
                    <a16:rowId xmlns:a16="http://schemas.microsoft.com/office/drawing/2014/main" val="2944185494"/>
                  </a:ext>
                </a:extLst>
              </a:tr>
              <a:tr h="534049">
                <a:tc>
                  <a:txBody>
                    <a:bodyPr/>
                    <a:lstStyle/>
                    <a:p>
                      <a:pPr marL="0" marR="0" algn="ctr" rtl="0">
                        <a:lnSpc>
                          <a:spcPct val="115000"/>
                        </a:lnSpc>
                        <a:spcAft>
                          <a:spcPts val="800"/>
                        </a:spcAft>
                        <a:buNone/>
                      </a:pPr>
                      <a:r>
                        <a:rPr lang="ar-SA" sz="1100" kern="100" dirty="0">
                          <a:effectLst/>
                        </a:rPr>
                        <a:t>فعالية وقيمة مساهمات البنية المؤسسية (حملة دورية)</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📧E2 | 🖥SS2 | 📺DS2 | 🏠IN2 | 📱APP2</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📧E2 | 🖥SS2 | 📺DS2 | 🏠IN2 | 📱APP2</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📧E2 | 🖥SS2 | 📺DS2 | 🏠IN2 | 📱APP2</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📧E2 | 🖥SS2 | 📺DS2 | 🏠IN2 | 📱APP2</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tc>
                  <a:txBody>
                    <a:bodyPr/>
                    <a:lstStyle/>
                    <a:p>
                      <a:pPr algn="ctr" rtl="1">
                        <a:lnSpc>
                          <a:spcPct val="115000"/>
                        </a:lnSpc>
                        <a:buNone/>
                      </a:pPr>
                      <a:endParaRPr lang="en-US" sz="1100" kern="100" dirty="0">
                        <a:effectLst/>
                        <a:latin typeface="Sakkal Majalla" panose="02000000000000000000" pitchFamily="2" charset="-78"/>
                      </a:endParaRPr>
                    </a:p>
                  </a:txBody>
                  <a:tcPr marL="7974" marR="7974" marT="7974" marB="7974" anchor="ctr"/>
                </a:tc>
                <a:tc>
                  <a:txBody>
                    <a:bodyPr/>
                    <a:lstStyle/>
                    <a:p>
                      <a:pPr marL="0" marR="0" algn="ctr" rtl="0">
                        <a:lnSpc>
                          <a:spcPct val="115000"/>
                        </a:lnSpc>
                        <a:spcAft>
                          <a:spcPts val="800"/>
                        </a:spcAft>
                        <a:buNone/>
                      </a:pPr>
                      <a:r>
                        <a:rPr lang="en-US" sz="1100" kern="100" dirty="0">
                          <a:effectLst/>
                        </a:rPr>
                        <a:t>📧E2 | 🖥SS2 | 📺DS2 | 🏠IN2 | 📱APP2</a:t>
                      </a:r>
                      <a:endParaRPr lang="en-US" sz="1100" kern="100" dirty="0">
                        <a:effectLst/>
                        <a:latin typeface="Sakkal Majalla" panose="02000000000000000000" pitchFamily="2" charset="-78"/>
                        <a:ea typeface="Aptos" panose="020B0004020202020204" pitchFamily="34" charset="0"/>
                        <a:cs typeface="Sakkal Majalla" panose="02000000000000000000" pitchFamily="2" charset="-78"/>
                      </a:endParaRPr>
                    </a:p>
                  </a:txBody>
                  <a:tcPr marL="7974" marR="7974" marT="7974" marB="7974" anchor="ctr"/>
                </a:tc>
                <a:extLst>
                  <a:ext uri="{0D108BD9-81ED-4DB2-BD59-A6C34878D82A}">
                    <a16:rowId xmlns:a16="http://schemas.microsoft.com/office/drawing/2014/main" val="1166995161"/>
                  </a:ext>
                </a:extLst>
              </a:tr>
            </a:tbl>
          </a:graphicData>
        </a:graphic>
      </p:graphicFrame>
    </p:spTree>
    <p:extLst>
      <p:ext uri="{BB962C8B-B14F-4D97-AF65-F5344CB8AC3E}">
        <p14:creationId xmlns:p14="http://schemas.microsoft.com/office/powerpoint/2010/main" val="105374920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038165" y="3925452"/>
            <a:ext cx="6506136" cy="641639"/>
          </a:xfrm>
        </p:spPr>
        <p:txBody>
          <a:bodyPr/>
          <a:lstStyle/>
          <a:p>
            <a:r>
              <a:rPr lang="ar-EG" dirty="0"/>
              <a:t>بطاقات التعريف </a:t>
            </a:r>
            <a:r>
              <a:rPr lang="ar-SA" dirty="0"/>
              <a:t>للأنشطة التوعوية</a:t>
            </a:r>
            <a:endParaRPr lang="ar-EG" dirty="0"/>
          </a:p>
        </p:txBody>
      </p:sp>
      <p:sp>
        <p:nvSpPr>
          <p:cNvPr id="4" name="Text Placeholder 3"/>
          <p:cNvSpPr>
            <a:spLocks noGrp="1"/>
          </p:cNvSpPr>
          <p:nvPr>
            <p:ph type="body" sz="quarter" idx="14"/>
          </p:nvPr>
        </p:nvSpPr>
        <p:spPr/>
        <p:txBody>
          <a:bodyPr/>
          <a:lstStyle/>
          <a:p>
            <a:r>
              <a:rPr lang="ar-SA" dirty="0"/>
              <a:t>04</a:t>
            </a:r>
            <a:endParaRPr lang="en-US" dirty="0"/>
          </a:p>
        </p:txBody>
      </p:sp>
    </p:spTree>
    <p:extLst>
      <p:ext uri="{BB962C8B-B14F-4D97-AF65-F5344CB8AC3E}">
        <p14:creationId xmlns:p14="http://schemas.microsoft.com/office/powerpoint/2010/main" val="521564245"/>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16</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2099733" y="408242"/>
            <a:ext cx="9254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النشاط التوعوي "التعريف بالبنية المؤسسية وأهميتها للهيئة</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517226268"/>
              </p:ext>
            </p:extLst>
          </p:nvPr>
        </p:nvGraphicFramePr>
        <p:xfrm>
          <a:off x="723899" y="1047591"/>
          <a:ext cx="10744202" cy="5029528"/>
        </p:xfrm>
        <a:graphic>
          <a:graphicData uri="http://schemas.openxmlformats.org/drawingml/2006/table">
            <a:tbl>
              <a:tblPr rtl="1" firstRow="1" bandRow="1">
                <a:tableStyleId>{2D5ABB26-0587-4C30-8999-92F81FD0307C}</a:tableStyleId>
              </a:tblPr>
              <a:tblGrid>
                <a:gridCol w="1817915">
                  <a:extLst>
                    <a:ext uri="{9D8B030D-6E8A-4147-A177-3AD203B41FA5}">
                      <a16:colId xmlns:a16="http://schemas.microsoft.com/office/drawing/2014/main" val="2004281081"/>
                    </a:ext>
                  </a:extLst>
                </a:gridCol>
                <a:gridCol w="2931246">
                  <a:extLst>
                    <a:ext uri="{9D8B030D-6E8A-4147-A177-3AD203B41FA5}">
                      <a16:colId xmlns:a16="http://schemas.microsoft.com/office/drawing/2014/main" val="2555702573"/>
                    </a:ext>
                  </a:extLst>
                </a:gridCol>
                <a:gridCol w="2107614">
                  <a:extLst>
                    <a:ext uri="{9D8B030D-6E8A-4147-A177-3AD203B41FA5}">
                      <a16:colId xmlns:a16="http://schemas.microsoft.com/office/drawing/2014/main" val="938496735"/>
                    </a:ext>
                  </a:extLst>
                </a:gridCol>
                <a:gridCol w="3887427">
                  <a:extLst>
                    <a:ext uri="{9D8B030D-6E8A-4147-A177-3AD203B41FA5}">
                      <a16:colId xmlns:a16="http://schemas.microsoft.com/office/drawing/2014/main" val="7071169"/>
                    </a:ext>
                  </a:extLst>
                </a:gridCol>
              </a:tblGrid>
              <a:tr h="641053">
                <a:tc>
                  <a:txBody>
                    <a:bodyPr/>
                    <a:lstStyle/>
                    <a:p>
                      <a:pPr marL="0" algn="ctr" defTabSz="914400" rtl="1" eaLnBrk="1" latinLnBrk="0" hangingPunct="1"/>
                      <a:r>
                        <a:rPr lang="ar-SA" sz="2000" b="1" kern="1200" dirty="0">
                          <a:solidFill>
                            <a:schemeClr val="bg1"/>
                          </a:solidFill>
                          <a:latin typeface="+mj-lt"/>
                          <a:ea typeface="+mn-ea"/>
                          <a:cs typeface="+mn-cs"/>
                        </a:rPr>
                        <a:t>اسم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000" b="1" kern="1200" dirty="0">
                          <a:solidFill>
                            <a:schemeClr val="tx1"/>
                          </a:solidFill>
                          <a:latin typeface="+mj-lt"/>
                          <a:ea typeface="+mn-ea"/>
                          <a:cs typeface="+mn-cs"/>
                        </a:rPr>
                        <a:t>التعريف بالبنية المؤسسية وأهميتها للهيئة</a:t>
                      </a:r>
                      <a:endParaRPr lang="en-US" sz="2000" b="1" kern="1200" dirty="0">
                        <a:solidFill>
                          <a:schemeClr val="tx1"/>
                        </a:solidFill>
                        <a:latin typeface="+mj-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algn="r" rtl="1"/>
                      <a:endParaRPr lang="ar-SA" sz="1600" b="1"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641053">
                <a:tc>
                  <a:txBody>
                    <a:bodyPr/>
                    <a:lstStyle/>
                    <a:p>
                      <a:pPr marL="0" algn="ctr" defTabSz="914400" rtl="1" eaLnBrk="1" latinLnBrk="0" hangingPunct="1"/>
                      <a:r>
                        <a:rPr lang="ar-EG" sz="2000" b="1" kern="1200" dirty="0">
                          <a:solidFill>
                            <a:schemeClr val="bg1"/>
                          </a:solidFill>
                          <a:latin typeface="+mj-lt"/>
                          <a:ea typeface="+mn-ea"/>
                          <a:cs typeface="+mn-cs"/>
                        </a:rPr>
                        <a:t>وصف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algn="r" rtl="1"/>
                      <a:r>
                        <a:rPr lang="ar-SA" sz="1800" kern="1200" dirty="0">
                          <a:solidFill>
                            <a:schemeClr val="tx1"/>
                          </a:solidFill>
                          <a:latin typeface="+mj-lt"/>
                          <a:ea typeface="+mn-ea"/>
                          <a:cs typeface="+mn-cs"/>
                        </a:rPr>
                        <a:t>حملة توعية لتعريف الموظفين بمفهوم البنية المؤسسية وأهميتها في تحقيق أهداف الهيئة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1002622">
                <a:tc>
                  <a:txBody>
                    <a:bodyPr/>
                    <a:lstStyle/>
                    <a:p>
                      <a:pPr marL="0" algn="ctr" defTabSz="914400" rtl="1" eaLnBrk="1" latinLnBrk="0" hangingPunct="1"/>
                      <a:r>
                        <a:rPr lang="ar-SA" sz="2000" b="1" kern="1200" dirty="0">
                          <a:solidFill>
                            <a:schemeClr val="bg1"/>
                          </a:solidFill>
                          <a:latin typeface="+mj-lt"/>
                          <a:ea typeface="+mn-ea"/>
                          <a:cs typeface="+mn-cs"/>
                        </a:rPr>
                        <a:t>نوع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800" b="1" i="0" u="none" strike="noStrike" kern="1200" cap="none" spc="0" normalizeH="0" baseline="0" noProof="0" dirty="0">
                          <a:ln>
                            <a:noFill/>
                          </a:ln>
                          <a:solidFill>
                            <a:prstClr val="black"/>
                          </a:solidFill>
                          <a:effectLst/>
                          <a:uLnTx/>
                          <a:uFillTx/>
                          <a:latin typeface="+mn-lt"/>
                          <a:ea typeface="+mn-ea"/>
                          <a:cs typeface="+mn-cs"/>
                        </a:rPr>
                        <a:t>حملة توعية </a:t>
                      </a:r>
                      <a:r>
                        <a:rPr kumimoji="0" lang="ar-SA" sz="1400" b="0" i="0" u="none" strike="noStrike" kern="1200" cap="none" spc="0" normalizeH="0" baseline="0" noProof="0" dirty="0">
                          <a:ln>
                            <a:noFill/>
                          </a:ln>
                          <a:solidFill>
                            <a:prstClr val="black"/>
                          </a:solidFill>
                          <a:effectLst/>
                          <a:uLnTx/>
                          <a:uFillTx/>
                          <a:latin typeface="+mn-lt"/>
                          <a:ea typeface="+mn-ea"/>
                          <a:cs typeface="+mn-cs"/>
                        </a:rPr>
                        <a:t>(البريد الإلكتروني - شاشات التوقف - شاشات الدعاية - البوابة الداخلية - تطبيق "وصول")</a:t>
                      </a:r>
                      <a:endParaRPr kumimoji="0" lang="ar-SA" sz="1800" b="0" i="0" u="none" strike="noStrike" kern="1200" cap="none" spc="0" normalizeH="0" baseline="0" noProof="0" dirty="0">
                        <a:ln>
                          <a:noFill/>
                        </a:ln>
                        <a:solidFill>
                          <a:prstClr val="black"/>
                        </a:solidFill>
                        <a:effectLst/>
                        <a:uLnTx/>
                        <a:uFillTx/>
                        <a:latin typeface="+mn-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algn="ctr" defTabSz="914400" rtl="1" eaLnBrk="1" latinLnBrk="0" hangingPunct="1"/>
                      <a:r>
                        <a:rPr lang="ar-SA" sz="2000" b="1" kern="1200" dirty="0">
                          <a:solidFill>
                            <a:schemeClr val="bg1"/>
                          </a:solidFill>
                          <a:latin typeface="+mn-lt"/>
                          <a:ea typeface="+mn-ea"/>
                          <a:cs typeface="+mn-cs"/>
                        </a:rPr>
                        <a:t>الفئة المستهدفة</a:t>
                      </a:r>
                      <a:endParaRPr lang="en-US" sz="2000" b="1" kern="1200" dirty="0">
                        <a:solidFill>
                          <a:schemeClr val="bg1"/>
                        </a:solidFill>
                        <a:latin typeface="+mn-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800" kern="1200" dirty="0">
                          <a:solidFill>
                            <a:schemeClr val="tx1"/>
                          </a:solidFill>
                          <a:latin typeface="+mn-lt"/>
                          <a:ea typeface="+mn-ea"/>
                          <a:cs typeface="+mn-cs"/>
                        </a:rPr>
                        <a:t>جميع موظفي الهيئة</a:t>
                      </a:r>
                      <a:endParaRPr lang="ar-SA" sz="1800" kern="1200" dirty="0">
                        <a:solidFill>
                          <a:schemeClr val="tx1"/>
                        </a:solidFill>
                        <a:latin typeface="+mj-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1372400">
                <a:tc>
                  <a:txBody>
                    <a:bodyPr/>
                    <a:lstStyle/>
                    <a:p>
                      <a:pPr marL="0" algn="ctr" defTabSz="914400" rtl="1" eaLnBrk="1" latinLnBrk="0" hangingPunct="1"/>
                      <a:r>
                        <a:rPr lang="ar-EG" sz="2000" b="1" kern="1200" dirty="0">
                          <a:solidFill>
                            <a:schemeClr val="bg1"/>
                          </a:solidFill>
                          <a:latin typeface="+mj-lt"/>
                          <a:ea typeface="+mn-ea"/>
                          <a:cs typeface="+mn-cs"/>
                        </a:rPr>
                        <a:t>محتويات </a:t>
                      </a:r>
                      <a:r>
                        <a:rPr lang="ar-SA" sz="2000" b="1" kern="1200" dirty="0">
                          <a:solidFill>
                            <a:schemeClr val="bg1"/>
                          </a:solidFill>
                          <a:latin typeface="+mn-lt"/>
                          <a:ea typeface="+mn-ea"/>
                          <a:cs typeface="+mn-cs"/>
                        </a:rPr>
                        <a:t>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marL="285750" indent="-285750" algn="r" rtl="1">
                        <a:buFont typeface="Arial" panose="020B0604020202020204" pitchFamily="34" charset="0"/>
                        <a:buChar char="•"/>
                      </a:pPr>
                      <a:r>
                        <a:rPr lang="ar-SA" sz="1800" dirty="0"/>
                        <a:t>شرح لمفهوم البنية المؤسسية</a:t>
                      </a:r>
                    </a:p>
                    <a:p>
                      <a:pPr marL="285750" indent="-285750" algn="r" rtl="1">
                        <a:buFont typeface="Arial" panose="020B0604020202020204" pitchFamily="34" charset="0"/>
                        <a:buChar char="•"/>
                      </a:pPr>
                      <a:r>
                        <a:rPr lang="ar-SA" sz="1800" dirty="0"/>
                        <a:t>أمثلة عن دور البنية المؤسسية في تحقيق الاستراتيجية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hMerge="1">
                  <a:txBody>
                    <a:bodyPr/>
                    <a:lstStyle/>
                    <a:p>
                      <a:endParaRPr lang="en-US"/>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540153272"/>
                  </a:ext>
                </a:extLst>
              </a:tr>
              <a:tr h="1372400">
                <a:tc>
                  <a:txBody>
                    <a:bodyPr/>
                    <a:lstStyle/>
                    <a:p>
                      <a:pPr marL="0" algn="ctr" defTabSz="914400" rtl="1" eaLnBrk="1" latinLnBrk="0" hangingPunct="1"/>
                      <a:r>
                        <a:rPr lang="ar-EG" sz="2000" b="1" kern="1200" dirty="0">
                          <a:solidFill>
                            <a:schemeClr val="bg1"/>
                          </a:solidFill>
                          <a:latin typeface="+mn-lt"/>
                          <a:ea typeface="+mn-ea"/>
                          <a:cs typeface="+mn-cs"/>
                        </a:rPr>
                        <a:t>أهداف </a:t>
                      </a:r>
                      <a:r>
                        <a:rPr lang="ar-SA" sz="2000" b="1" kern="1200" dirty="0">
                          <a:solidFill>
                            <a:schemeClr val="bg1"/>
                          </a:solidFill>
                          <a:latin typeface="+mn-lt"/>
                          <a:ea typeface="+mn-ea"/>
                          <a:cs typeface="+mn-cs"/>
                        </a:rPr>
                        <a:t>النشاط</a:t>
                      </a:r>
                      <a:endParaRPr lang="en-US" sz="2000" b="1" kern="1200" dirty="0">
                        <a:solidFill>
                          <a:schemeClr val="bg1"/>
                        </a:solidFill>
                        <a:latin typeface="+mn-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3C8D"/>
                    </a:solidFill>
                  </a:tcPr>
                </a:tc>
                <a:tc gridSpan="3">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زيادة الوعي بمفهوم البنية المؤسسية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تحفيز الاهتمام والتفاعل مع مبادرات البنية المؤسسية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411527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17</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2099733" y="408242"/>
            <a:ext cx="9254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النشاط التوعوي "مقدمة إلى البنية المؤسسية</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456968604"/>
              </p:ext>
            </p:extLst>
          </p:nvPr>
        </p:nvGraphicFramePr>
        <p:xfrm>
          <a:off x="723899" y="1047591"/>
          <a:ext cx="10744202" cy="5009261"/>
        </p:xfrm>
        <a:graphic>
          <a:graphicData uri="http://schemas.openxmlformats.org/drawingml/2006/table">
            <a:tbl>
              <a:tblPr rtl="1" firstRow="1" bandRow="1">
                <a:tableStyleId>{2D5ABB26-0587-4C30-8999-92F81FD0307C}</a:tableStyleId>
              </a:tblPr>
              <a:tblGrid>
                <a:gridCol w="1817915">
                  <a:extLst>
                    <a:ext uri="{9D8B030D-6E8A-4147-A177-3AD203B41FA5}">
                      <a16:colId xmlns:a16="http://schemas.microsoft.com/office/drawing/2014/main" val="2004281081"/>
                    </a:ext>
                  </a:extLst>
                </a:gridCol>
                <a:gridCol w="2931246">
                  <a:extLst>
                    <a:ext uri="{9D8B030D-6E8A-4147-A177-3AD203B41FA5}">
                      <a16:colId xmlns:a16="http://schemas.microsoft.com/office/drawing/2014/main" val="2555702573"/>
                    </a:ext>
                  </a:extLst>
                </a:gridCol>
                <a:gridCol w="2107614">
                  <a:extLst>
                    <a:ext uri="{9D8B030D-6E8A-4147-A177-3AD203B41FA5}">
                      <a16:colId xmlns:a16="http://schemas.microsoft.com/office/drawing/2014/main" val="938496735"/>
                    </a:ext>
                  </a:extLst>
                </a:gridCol>
                <a:gridCol w="3887427">
                  <a:extLst>
                    <a:ext uri="{9D8B030D-6E8A-4147-A177-3AD203B41FA5}">
                      <a16:colId xmlns:a16="http://schemas.microsoft.com/office/drawing/2014/main" val="7071169"/>
                    </a:ext>
                  </a:extLst>
                </a:gridCol>
              </a:tblGrid>
              <a:tr h="662599">
                <a:tc>
                  <a:txBody>
                    <a:bodyPr/>
                    <a:lstStyle/>
                    <a:p>
                      <a:pPr marL="0" algn="ctr" defTabSz="914400" rtl="1" eaLnBrk="1" latinLnBrk="0" hangingPunct="1"/>
                      <a:r>
                        <a:rPr lang="ar-SA" sz="2000" b="1" kern="1200" dirty="0">
                          <a:solidFill>
                            <a:schemeClr val="bg1"/>
                          </a:solidFill>
                          <a:latin typeface="+mj-lt"/>
                          <a:ea typeface="+mn-ea"/>
                          <a:cs typeface="+mn-cs"/>
                        </a:rPr>
                        <a:t>اسم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000" b="1" kern="1200" dirty="0">
                          <a:solidFill>
                            <a:schemeClr val="tx1"/>
                          </a:solidFill>
                          <a:latin typeface="+mj-lt"/>
                          <a:ea typeface="+mn-ea"/>
                          <a:cs typeface="+mn-cs"/>
                        </a:rPr>
                        <a:t>مقدمة إلى البنية المؤسسية</a:t>
                      </a:r>
                      <a:endParaRPr lang="en-US" sz="2000" b="1" kern="1200" dirty="0">
                        <a:solidFill>
                          <a:schemeClr val="tx1"/>
                        </a:solidFill>
                        <a:latin typeface="+mj-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algn="r" rtl="1"/>
                      <a:endParaRPr lang="ar-SA" sz="1600" b="1"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662599">
                <a:tc>
                  <a:txBody>
                    <a:bodyPr/>
                    <a:lstStyle/>
                    <a:p>
                      <a:pPr marL="0" algn="ctr" defTabSz="914400" rtl="1" eaLnBrk="1" latinLnBrk="0" hangingPunct="1"/>
                      <a:r>
                        <a:rPr lang="ar-EG" sz="2000" b="1" kern="1200" dirty="0">
                          <a:solidFill>
                            <a:schemeClr val="bg1"/>
                          </a:solidFill>
                          <a:latin typeface="+mj-lt"/>
                          <a:ea typeface="+mn-ea"/>
                          <a:cs typeface="+mn-cs"/>
                        </a:rPr>
                        <a:t>وصف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algn="r" rtl="1"/>
                      <a:r>
                        <a:rPr lang="ar-SA" sz="1800" kern="1200" dirty="0">
                          <a:solidFill>
                            <a:schemeClr val="tx1"/>
                          </a:solidFill>
                          <a:latin typeface="+mj-lt"/>
                          <a:ea typeface="+mn-ea"/>
                          <a:cs typeface="+mn-cs"/>
                        </a:rPr>
                        <a:t>ورشة عمل عامة لجميع موظفي الهيئة لتقديم فهم أعمق حول البنية المؤسسية ومجالاتها</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847009">
                <a:tc>
                  <a:txBody>
                    <a:bodyPr/>
                    <a:lstStyle/>
                    <a:p>
                      <a:pPr marL="0" algn="ctr" defTabSz="914400" rtl="1" eaLnBrk="1" latinLnBrk="0" hangingPunct="1"/>
                      <a:r>
                        <a:rPr lang="ar-SA" sz="2000" b="1" kern="1200" dirty="0">
                          <a:solidFill>
                            <a:schemeClr val="bg1"/>
                          </a:solidFill>
                          <a:latin typeface="+mj-lt"/>
                          <a:ea typeface="+mn-ea"/>
                          <a:cs typeface="+mn-cs"/>
                        </a:rPr>
                        <a:t>نوع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indent="0" algn="ctr" rtl="1">
                        <a:buFont typeface="Arial" panose="020B0604020202020204" pitchFamily="34" charset="0"/>
                        <a:buNone/>
                      </a:pPr>
                      <a:r>
                        <a:rPr lang="ar-SA" sz="1800" b="1" kern="1200" dirty="0">
                          <a:solidFill>
                            <a:schemeClr val="tx1"/>
                          </a:solidFill>
                          <a:latin typeface="+mj-lt"/>
                          <a:ea typeface="+mn-ea"/>
                          <a:cs typeface="+mn-cs"/>
                        </a:rPr>
                        <a:t>ورشة عمل عامة</a:t>
                      </a:r>
                      <a:endParaRPr lang="ar-SA" sz="1800" kern="1200" dirty="0">
                        <a:solidFill>
                          <a:schemeClr val="tx1"/>
                        </a:solidFill>
                        <a:latin typeface="+mj-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algn="ctr" defTabSz="914400" rtl="1" eaLnBrk="1" latinLnBrk="0" hangingPunct="1"/>
                      <a:r>
                        <a:rPr lang="ar-SA" sz="2000" b="1" kern="1200" dirty="0">
                          <a:solidFill>
                            <a:schemeClr val="bg1"/>
                          </a:solidFill>
                          <a:latin typeface="+mn-lt"/>
                          <a:ea typeface="+mn-ea"/>
                          <a:cs typeface="+mn-cs"/>
                        </a:rPr>
                        <a:t>الفئة المستهدفة</a:t>
                      </a:r>
                      <a:endParaRPr lang="en-US" sz="2000" b="1" kern="1200" dirty="0">
                        <a:solidFill>
                          <a:schemeClr val="bg1"/>
                        </a:solidFill>
                        <a:latin typeface="+mn-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800" kern="1200" dirty="0">
                          <a:solidFill>
                            <a:schemeClr val="tx1"/>
                          </a:solidFill>
                          <a:latin typeface="+mn-lt"/>
                          <a:ea typeface="+mn-ea"/>
                          <a:cs typeface="+mn-cs"/>
                        </a:rPr>
                        <a:t>جميع موظفي الهيئة</a:t>
                      </a:r>
                      <a:endParaRPr lang="ar-SA" sz="1800" kern="1200" dirty="0">
                        <a:solidFill>
                          <a:schemeClr val="tx1"/>
                        </a:solidFill>
                        <a:latin typeface="+mj-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1418527">
                <a:tc>
                  <a:txBody>
                    <a:bodyPr/>
                    <a:lstStyle/>
                    <a:p>
                      <a:pPr marL="0" algn="ctr" defTabSz="914400" rtl="1" eaLnBrk="1" latinLnBrk="0" hangingPunct="1"/>
                      <a:r>
                        <a:rPr lang="ar-EG" sz="2000" b="1" kern="1200" dirty="0">
                          <a:solidFill>
                            <a:schemeClr val="bg1"/>
                          </a:solidFill>
                          <a:latin typeface="+mj-lt"/>
                          <a:ea typeface="+mn-ea"/>
                          <a:cs typeface="+mn-cs"/>
                        </a:rPr>
                        <a:t>محتويات </a:t>
                      </a:r>
                      <a:r>
                        <a:rPr lang="ar-SA" sz="2000" b="1" kern="1200" dirty="0">
                          <a:solidFill>
                            <a:schemeClr val="bg1"/>
                          </a:solidFill>
                          <a:latin typeface="+mn-lt"/>
                          <a:ea typeface="+mn-ea"/>
                          <a:cs typeface="+mn-cs"/>
                        </a:rPr>
                        <a:t>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marL="285750" indent="-285750" algn="r" rtl="1">
                        <a:buFont typeface="Arial" panose="020B0604020202020204" pitchFamily="34" charset="0"/>
                        <a:buChar char="•"/>
                      </a:pPr>
                      <a:r>
                        <a:rPr lang="ar-SA" sz="1800" dirty="0"/>
                        <a:t>مجالات البنية المؤسسية (الأعمال، التطبيقات، البيانات، التقنية)</a:t>
                      </a:r>
                    </a:p>
                    <a:p>
                      <a:pPr marL="285750" indent="-285750" algn="r" rtl="1">
                        <a:buFont typeface="Arial" panose="020B0604020202020204" pitchFamily="34" charset="0"/>
                        <a:buChar char="•"/>
                      </a:pPr>
                      <a:r>
                        <a:rPr lang="ar-SA" sz="1800" dirty="0"/>
                        <a:t>فوائد تطبيق البنية المؤسسية</a:t>
                      </a:r>
                    </a:p>
                    <a:p>
                      <a:pPr marL="285750" indent="-285750" algn="r" rtl="1">
                        <a:buFont typeface="Arial" panose="020B0604020202020204" pitchFamily="34" charset="0"/>
                        <a:buChar char="•"/>
                      </a:pPr>
                      <a:r>
                        <a:rPr lang="ar-SA" sz="1800" dirty="0"/>
                        <a:t>نبذه تمهيدية عن خدمات البنية المؤسسية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hMerge="1">
                  <a:txBody>
                    <a:bodyPr/>
                    <a:lstStyle/>
                    <a:p>
                      <a:endParaRPr lang="en-US"/>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540153272"/>
                  </a:ext>
                </a:extLst>
              </a:tr>
              <a:tr h="1418527">
                <a:tc>
                  <a:txBody>
                    <a:bodyPr/>
                    <a:lstStyle/>
                    <a:p>
                      <a:pPr marL="0" algn="ctr" defTabSz="914400" rtl="1" eaLnBrk="1" latinLnBrk="0" hangingPunct="1"/>
                      <a:r>
                        <a:rPr lang="ar-EG" sz="2000" b="1" kern="1200" dirty="0">
                          <a:solidFill>
                            <a:schemeClr val="bg1"/>
                          </a:solidFill>
                          <a:latin typeface="+mn-lt"/>
                          <a:ea typeface="+mn-ea"/>
                          <a:cs typeface="+mn-cs"/>
                        </a:rPr>
                        <a:t>أهداف </a:t>
                      </a:r>
                      <a:r>
                        <a:rPr lang="ar-SA" sz="2000" b="1" kern="1200" dirty="0">
                          <a:solidFill>
                            <a:schemeClr val="bg1"/>
                          </a:solidFill>
                          <a:latin typeface="+mn-lt"/>
                          <a:ea typeface="+mn-ea"/>
                          <a:cs typeface="+mn-cs"/>
                        </a:rPr>
                        <a:t>النشاط</a:t>
                      </a:r>
                      <a:endParaRPr lang="en-US" sz="2000" b="1" kern="1200" dirty="0">
                        <a:solidFill>
                          <a:schemeClr val="bg1"/>
                        </a:solidFill>
                        <a:latin typeface="+mn-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3C8D"/>
                    </a:solidFill>
                  </a:tcPr>
                </a:tc>
                <a:tc gridSpan="3">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تقديم فهم شامل للبنية المؤسسية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تعزيز التواصل بين قسم البنية المؤسسية وبقية الموظفين</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الإجابة على استفسارات الموظفين وتعزيز التفاعل</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1739148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18</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2099733" y="408242"/>
            <a:ext cx="9254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النشاط التوعوي "دور البنية المؤسسية في دعم التحول الرقمي</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95706946"/>
              </p:ext>
            </p:extLst>
          </p:nvPr>
        </p:nvGraphicFramePr>
        <p:xfrm>
          <a:off x="723899" y="1047591"/>
          <a:ext cx="10744202" cy="5009261"/>
        </p:xfrm>
        <a:graphic>
          <a:graphicData uri="http://schemas.openxmlformats.org/drawingml/2006/table">
            <a:tbl>
              <a:tblPr rtl="1" firstRow="1" bandRow="1">
                <a:tableStyleId>{2D5ABB26-0587-4C30-8999-92F81FD0307C}</a:tableStyleId>
              </a:tblPr>
              <a:tblGrid>
                <a:gridCol w="1817915">
                  <a:extLst>
                    <a:ext uri="{9D8B030D-6E8A-4147-A177-3AD203B41FA5}">
                      <a16:colId xmlns:a16="http://schemas.microsoft.com/office/drawing/2014/main" val="2004281081"/>
                    </a:ext>
                  </a:extLst>
                </a:gridCol>
                <a:gridCol w="2931246">
                  <a:extLst>
                    <a:ext uri="{9D8B030D-6E8A-4147-A177-3AD203B41FA5}">
                      <a16:colId xmlns:a16="http://schemas.microsoft.com/office/drawing/2014/main" val="2555702573"/>
                    </a:ext>
                  </a:extLst>
                </a:gridCol>
                <a:gridCol w="2107614">
                  <a:extLst>
                    <a:ext uri="{9D8B030D-6E8A-4147-A177-3AD203B41FA5}">
                      <a16:colId xmlns:a16="http://schemas.microsoft.com/office/drawing/2014/main" val="938496735"/>
                    </a:ext>
                  </a:extLst>
                </a:gridCol>
                <a:gridCol w="3887427">
                  <a:extLst>
                    <a:ext uri="{9D8B030D-6E8A-4147-A177-3AD203B41FA5}">
                      <a16:colId xmlns:a16="http://schemas.microsoft.com/office/drawing/2014/main" val="7071169"/>
                    </a:ext>
                  </a:extLst>
                </a:gridCol>
              </a:tblGrid>
              <a:tr h="662599">
                <a:tc>
                  <a:txBody>
                    <a:bodyPr/>
                    <a:lstStyle/>
                    <a:p>
                      <a:pPr marL="0" algn="ctr" defTabSz="914400" rtl="1" eaLnBrk="1" latinLnBrk="0" hangingPunct="1"/>
                      <a:r>
                        <a:rPr lang="ar-SA" sz="2000" b="1" kern="1200" dirty="0">
                          <a:solidFill>
                            <a:schemeClr val="bg1"/>
                          </a:solidFill>
                          <a:latin typeface="+mj-lt"/>
                          <a:ea typeface="+mn-ea"/>
                          <a:cs typeface="+mn-cs"/>
                        </a:rPr>
                        <a:t>اسم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000" b="1" kern="1200" dirty="0">
                          <a:solidFill>
                            <a:schemeClr val="tx1"/>
                          </a:solidFill>
                          <a:latin typeface="+mj-lt"/>
                          <a:ea typeface="+mn-ea"/>
                          <a:cs typeface="+mn-cs"/>
                        </a:rPr>
                        <a:t>دور البنية المؤسسية في دعم التحول الرقمي</a:t>
                      </a:r>
                      <a:endParaRPr lang="en-US" sz="2000" b="1" kern="1200" dirty="0">
                        <a:solidFill>
                          <a:schemeClr val="tx1"/>
                        </a:solidFill>
                        <a:latin typeface="+mj-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algn="r" rtl="1"/>
                      <a:endParaRPr lang="ar-SA" sz="1600" b="1"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662599">
                <a:tc>
                  <a:txBody>
                    <a:bodyPr/>
                    <a:lstStyle/>
                    <a:p>
                      <a:pPr marL="0" algn="ctr" defTabSz="914400" rtl="1" eaLnBrk="1" latinLnBrk="0" hangingPunct="1"/>
                      <a:r>
                        <a:rPr lang="ar-EG" sz="2000" b="1" kern="1200" dirty="0">
                          <a:solidFill>
                            <a:schemeClr val="bg1"/>
                          </a:solidFill>
                          <a:latin typeface="+mj-lt"/>
                          <a:ea typeface="+mn-ea"/>
                          <a:cs typeface="+mn-cs"/>
                        </a:rPr>
                        <a:t>وصف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algn="r" rtl="1"/>
                      <a:r>
                        <a:rPr lang="ar-SA" sz="1800" kern="1200" dirty="0">
                          <a:solidFill>
                            <a:schemeClr val="tx1"/>
                          </a:solidFill>
                          <a:latin typeface="+mj-lt"/>
                          <a:ea typeface="+mn-ea"/>
                          <a:cs typeface="+mn-cs"/>
                        </a:rPr>
                        <a:t>حملة توعية تركز على كيفية مساهمة البنية المؤسسية في دعم مبادرات التحول الرقمي</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847009">
                <a:tc>
                  <a:txBody>
                    <a:bodyPr/>
                    <a:lstStyle/>
                    <a:p>
                      <a:pPr marL="0" algn="ctr" defTabSz="914400" rtl="1" eaLnBrk="1" latinLnBrk="0" hangingPunct="1"/>
                      <a:r>
                        <a:rPr lang="ar-SA" sz="2000" b="1" kern="1200" dirty="0">
                          <a:solidFill>
                            <a:schemeClr val="bg1"/>
                          </a:solidFill>
                          <a:latin typeface="+mj-lt"/>
                          <a:ea typeface="+mn-ea"/>
                          <a:cs typeface="+mn-cs"/>
                        </a:rPr>
                        <a:t>نوع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indent="0" algn="ctr" rtl="1">
                        <a:buFont typeface="Arial" panose="020B0604020202020204" pitchFamily="34" charset="0"/>
                        <a:buNone/>
                      </a:pPr>
                      <a:r>
                        <a:rPr lang="ar-SA" sz="1800" b="1" kern="1200" dirty="0">
                          <a:solidFill>
                            <a:schemeClr val="tx1"/>
                          </a:solidFill>
                          <a:latin typeface="+mn-lt"/>
                          <a:ea typeface="+mn-ea"/>
                          <a:cs typeface="+mn-cs"/>
                        </a:rPr>
                        <a:t>حملة توعية </a:t>
                      </a:r>
                      <a:r>
                        <a:rPr lang="ar-SA" sz="1400" kern="1200" dirty="0">
                          <a:solidFill>
                            <a:schemeClr val="tx1"/>
                          </a:solidFill>
                          <a:latin typeface="+mn-lt"/>
                          <a:ea typeface="+mn-ea"/>
                          <a:cs typeface="+mn-cs"/>
                        </a:rPr>
                        <a:t>(البريد الإلكتروني - شاشات التوقف - شاشات الدعاية - البوابة الداخلية - تطبيق "وصول")</a:t>
                      </a:r>
                      <a:endParaRPr lang="ar-SA" sz="1800" kern="1200" dirty="0">
                        <a:solidFill>
                          <a:schemeClr val="tx1"/>
                        </a:solidFill>
                        <a:latin typeface="+mn-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algn="ctr" defTabSz="914400" rtl="1" eaLnBrk="1" latinLnBrk="0" hangingPunct="1"/>
                      <a:r>
                        <a:rPr lang="ar-SA" sz="2000" b="1" kern="1200" dirty="0">
                          <a:solidFill>
                            <a:schemeClr val="bg1"/>
                          </a:solidFill>
                          <a:latin typeface="+mn-lt"/>
                          <a:ea typeface="+mn-ea"/>
                          <a:cs typeface="+mn-cs"/>
                        </a:rPr>
                        <a:t>الفئة المستهدفة</a:t>
                      </a:r>
                      <a:endParaRPr lang="en-US" sz="2000" b="1" kern="1200" dirty="0">
                        <a:solidFill>
                          <a:schemeClr val="bg1"/>
                        </a:solidFill>
                        <a:latin typeface="+mn-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800" kern="1200" dirty="0">
                          <a:solidFill>
                            <a:schemeClr val="tx1"/>
                          </a:solidFill>
                          <a:latin typeface="+mn-lt"/>
                          <a:ea typeface="+mn-ea"/>
                          <a:cs typeface="+mn-cs"/>
                        </a:rPr>
                        <a:t>جميع موظفي الهيئة</a:t>
                      </a:r>
                      <a:endParaRPr lang="ar-SA" sz="1800" kern="1200" dirty="0">
                        <a:solidFill>
                          <a:schemeClr val="tx1"/>
                        </a:solidFill>
                        <a:latin typeface="+mj-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1418527">
                <a:tc>
                  <a:txBody>
                    <a:bodyPr/>
                    <a:lstStyle/>
                    <a:p>
                      <a:pPr marL="0" algn="ctr" defTabSz="914400" rtl="1" eaLnBrk="1" latinLnBrk="0" hangingPunct="1"/>
                      <a:r>
                        <a:rPr lang="ar-EG" sz="2000" b="1" kern="1200" dirty="0">
                          <a:solidFill>
                            <a:schemeClr val="bg1"/>
                          </a:solidFill>
                          <a:latin typeface="+mj-lt"/>
                          <a:ea typeface="+mn-ea"/>
                          <a:cs typeface="+mn-cs"/>
                        </a:rPr>
                        <a:t>محتويات </a:t>
                      </a:r>
                      <a:r>
                        <a:rPr lang="ar-SA" sz="2000" b="1" kern="1200" dirty="0">
                          <a:solidFill>
                            <a:schemeClr val="bg1"/>
                          </a:solidFill>
                          <a:latin typeface="+mn-lt"/>
                          <a:ea typeface="+mn-ea"/>
                          <a:cs typeface="+mn-cs"/>
                        </a:rPr>
                        <a:t>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marL="285750" indent="-285750" algn="r" rtl="1">
                        <a:buFont typeface="Arial" panose="020B0604020202020204" pitchFamily="34" charset="0"/>
                        <a:buChar char="•"/>
                      </a:pPr>
                      <a:r>
                        <a:rPr lang="ar-SA" sz="1800" dirty="0"/>
                        <a:t>توضيح علاقة البنية المؤسسية بالتحول الرقمي</a:t>
                      </a:r>
                    </a:p>
                    <a:p>
                      <a:pPr marL="285750" indent="-285750" algn="r" rtl="1">
                        <a:buFont typeface="Arial" panose="020B0604020202020204" pitchFamily="34" charset="0"/>
                        <a:buChar char="•"/>
                      </a:pPr>
                      <a:r>
                        <a:rPr lang="ar-SA" sz="1800" dirty="0"/>
                        <a:t>أمثلة على تأثير البنية المؤسسية في تحسين العمليات الرقمية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hMerge="1">
                  <a:txBody>
                    <a:bodyPr/>
                    <a:lstStyle/>
                    <a:p>
                      <a:endParaRPr lang="en-US"/>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540153272"/>
                  </a:ext>
                </a:extLst>
              </a:tr>
              <a:tr h="1418527">
                <a:tc>
                  <a:txBody>
                    <a:bodyPr/>
                    <a:lstStyle/>
                    <a:p>
                      <a:pPr marL="0" algn="ctr" defTabSz="914400" rtl="1" eaLnBrk="1" latinLnBrk="0" hangingPunct="1"/>
                      <a:r>
                        <a:rPr lang="ar-EG" sz="2000" b="1" kern="1200" dirty="0">
                          <a:solidFill>
                            <a:schemeClr val="bg1"/>
                          </a:solidFill>
                          <a:latin typeface="+mn-lt"/>
                          <a:ea typeface="+mn-ea"/>
                          <a:cs typeface="+mn-cs"/>
                        </a:rPr>
                        <a:t>أهداف </a:t>
                      </a:r>
                      <a:r>
                        <a:rPr lang="ar-SA" sz="2000" b="1" kern="1200" dirty="0">
                          <a:solidFill>
                            <a:schemeClr val="bg1"/>
                          </a:solidFill>
                          <a:latin typeface="+mn-lt"/>
                          <a:ea typeface="+mn-ea"/>
                          <a:cs typeface="+mn-cs"/>
                        </a:rPr>
                        <a:t>النشاط</a:t>
                      </a:r>
                      <a:endParaRPr lang="en-US" sz="2000" b="1" kern="1200" dirty="0">
                        <a:solidFill>
                          <a:schemeClr val="bg1"/>
                        </a:solidFill>
                        <a:latin typeface="+mn-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3C8D"/>
                    </a:solidFill>
                  </a:tcPr>
                </a:tc>
                <a:tc gridSpan="3">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توضيح دور البنية المؤسسية في التحول الرقمي</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تحفيز الابتكار والتفكير الرقمي</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78730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19</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2099733" y="408242"/>
            <a:ext cx="9254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النشاط التوعوي "استراتيجية البنية المؤسسية</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3819992449"/>
              </p:ext>
            </p:extLst>
          </p:nvPr>
        </p:nvGraphicFramePr>
        <p:xfrm>
          <a:off x="723899" y="1047591"/>
          <a:ext cx="10744202" cy="5009261"/>
        </p:xfrm>
        <a:graphic>
          <a:graphicData uri="http://schemas.openxmlformats.org/drawingml/2006/table">
            <a:tbl>
              <a:tblPr rtl="1" firstRow="1" bandRow="1">
                <a:tableStyleId>{2D5ABB26-0587-4C30-8999-92F81FD0307C}</a:tableStyleId>
              </a:tblPr>
              <a:tblGrid>
                <a:gridCol w="1817915">
                  <a:extLst>
                    <a:ext uri="{9D8B030D-6E8A-4147-A177-3AD203B41FA5}">
                      <a16:colId xmlns:a16="http://schemas.microsoft.com/office/drawing/2014/main" val="2004281081"/>
                    </a:ext>
                  </a:extLst>
                </a:gridCol>
                <a:gridCol w="2931246">
                  <a:extLst>
                    <a:ext uri="{9D8B030D-6E8A-4147-A177-3AD203B41FA5}">
                      <a16:colId xmlns:a16="http://schemas.microsoft.com/office/drawing/2014/main" val="2555702573"/>
                    </a:ext>
                  </a:extLst>
                </a:gridCol>
                <a:gridCol w="2107614">
                  <a:extLst>
                    <a:ext uri="{9D8B030D-6E8A-4147-A177-3AD203B41FA5}">
                      <a16:colId xmlns:a16="http://schemas.microsoft.com/office/drawing/2014/main" val="938496735"/>
                    </a:ext>
                  </a:extLst>
                </a:gridCol>
                <a:gridCol w="3887427">
                  <a:extLst>
                    <a:ext uri="{9D8B030D-6E8A-4147-A177-3AD203B41FA5}">
                      <a16:colId xmlns:a16="http://schemas.microsoft.com/office/drawing/2014/main" val="7071169"/>
                    </a:ext>
                  </a:extLst>
                </a:gridCol>
              </a:tblGrid>
              <a:tr h="662599">
                <a:tc>
                  <a:txBody>
                    <a:bodyPr/>
                    <a:lstStyle/>
                    <a:p>
                      <a:pPr marL="0" algn="ctr" defTabSz="914400" rtl="1" eaLnBrk="1" latinLnBrk="0" hangingPunct="1"/>
                      <a:r>
                        <a:rPr lang="ar-SA" sz="2000" b="1" kern="1200" dirty="0">
                          <a:solidFill>
                            <a:schemeClr val="bg1"/>
                          </a:solidFill>
                          <a:latin typeface="+mj-lt"/>
                          <a:ea typeface="+mn-ea"/>
                          <a:cs typeface="+mn-cs"/>
                        </a:rPr>
                        <a:t>اسم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000" b="1" kern="1200" dirty="0">
                          <a:solidFill>
                            <a:schemeClr val="tx1"/>
                          </a:solidFill>
                          <a:latin typeface="+mj-lt"/>
                          <a:ea typeface="+mn-ea"/>
                          <a:cs typeface="+mn-cs"/>
                        </a:rPr>
                        <a:t>استراتيجية البنية المؤسسية</a:t>
                      </a:r>
                      <a:endParaRPr lang="en-US" sz="2000" b="1" kern="1200" dirty="0">
                        <a:solidFill>
                          <a:schemeClr val="tx1"/>
                        </a:solidFill>
                        <a:latin typeface="+mj-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algn="r" rtl="1"/>
                      <a:endParaRPr lang="ar-SA" sz="1600" b="1"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662599">
                <a:tc>
                  <a:txBody>
                    <a:bodyPr/>
                    <a:lstStyle/>
                    <a:p>
                      <a:pPr marL="0" algn="ctr" defTabSz="914400" rtl="1" eaLnBrk="1" latinLnBrk="0" hangingPunct="1"/>
                      <a:r>
                        <a:rPr lang="ar-EG" sz="2000" b="1" kern="1200" dirty="0">
                          <a:solidFill>
                            <a:schemeClr val="bg1"/>
                          </a:solidFill>
                          <a:latin typeface="+mj-lt"/>
                          <a:ea typeface="+mn-ea"/>
                          <a:cs typeface="+mn-cs"/>
                        </a:rPr>
                        <a:t>وصف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algn="r" rtl="1"/>
                      <a:r>
                        <a:rPr lang="ar-SA" sz="1800" kern="1200" dirty="0">
                          <a:solidFill>
                            <a:schemeClr val="tx1"/>
                          </a:solidFill>
                          <a:latin typeface="+mj-lt"/>
                          <a:ea typeface="+mn-ea"/>
                          <a:cs typeface="+mn-cs"/>
                        </a:rPr>
                        <a:t>ورشة عمل مخصصة لأصحاب العلاقة لمشاركة استراتيجية البنية المؤسسية وخارطة الطريق لتحقيقها</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847009">
                <a:tc>
                  <a:txBody>
                    <a:bodyPr/>
                    <a:lstStyle/>
                    <a:p>
                      <a:pPr marL="0" algn="ctr" defTabSz="914400" rtl="1" eaLnBrk="1" latinLnBrk="0" hangingPunct="1"/>
                      <a:r>
                        <a:rPr lang="ar-SA" sz="2000" b="1" kern="1200" dirty="0">
                          <a:solidFill>
                            <a:schemeClr val="bg1"/>
                          </a:solidFill>
                          <a:latin typeface="+mj-lt"/>
                          <a:ea typeface="+mn-ea"/>
                          <a:cs typeface="+mn-cs"/>
                        </a:rPr>
                        <a:t>نوع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indent="0" algn="ctr" rtl="1">
                        <a:buFont typeface="Arial" panose="020B0604020202020204" pitchFamily="34" charset="0"/>
                        <a:buNone/>
                      </a:pPr>
                      <a:r>
                        <a:rPr lang="ar-SA" sz="1800" b="1" kern="1200" dirty="0">
                          <a:solidFill>
                            <a:schemeClr val="tx1"/>
                          </a:solidFill>
                          <a:latin typeface="+mn-lt"/>
                          <a:ea typeface="+mn-ea"/>
                          <a:cs typeface="+mn-cs"/>
                        </a:rPr>
                        <a:t>ورشة عمل مخصصة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algn="ctr" defTabSz="914400" rtl="1" eaLnBrk="1" latinLnBrk="0" hangingPunct="1"/>
                      <a:r>
                        <a:rPr lang="ar-SA" sz="2000" b="1" kern="1200" dirty="0">
                          <a:solidFill>
                            <a:schemeClr val="bg1"/>
                          </a:solidFill>
                          <a:latin typeface="+mn-lt"/>
                          <a:ea typeface="+mn-ea"/>
                          <a:cs typeface="+mn-cs"/>
                        </a:rPr>
                        <a:t>الفئة المستهدفة</a:t>
                      </a:r>
                      <a:endParaRPr lang="en-US" sz="2000" b="1" kern="1200" dirty="0">
                        <a:solidFill>
                          <a:schemeClr val="bg1"/>
                        </a:solidFill>
                        <a:latin typeface="+mn-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kern="1200" dirty="0">
                          <a:solidFill>
                            <a:schemeClr val="tx1"/>
                          </a:solidFill>
                          <a:latin typeface="+mn-lt"/>
                          <a:ea typeface="+mn-ea"/>
                          <a:cs typeface="+mn-cs"/>
                        </a:rPr>
                        <a:t>أصحاب العلاقة في مجالات البنية المؤسسية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kern="1200" dirty="0">
                          <a:solidFill>
                            <a:schemeClr val="tx1"/>
                          </a:solidFill>
                          <a:latin typeface="+mn-lt"/>
                          <a:ea typeface="+mn-ea"/>
                          <a:cs typeface="+mn-cs"/>
                        </a:rPr>
                        <a:t>مدراء الإدارات والأقسام ذات الصلة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1418527">
                <a:tc>
                  <a:txBody>
                    <a:bodyPr/>
                    <a:lstStyle/>
                    <a:p>
                      <a:pPr marL="0" algn="ctr" defTabSz="914400" rtl="1" eaLnBrk="1" latinLnBrk="0" hangingPunct="1"/>
                      <a:r>
                        <a:rPr lang="ar-EG" sz="2000" b="1" kern="1200" dirty="0">
                          <a:solidFill>
                            <a:schemeClr val="bg1"/>
                          </a:solidFill>
                          <a:latin typeface="+mj-lt"/>
                          <a:ea typeface="+mn-ea"/>
                          <a:cs typeface="+mn-cs"/>
                        </a:rPr>
                        <a:t>محتويات </a:t>
                      </a:r>
                      <a:r>
                        <a:rPr lang="ar-SA" sz="2000" b="1" kern="1200" dirty="0">
                          <a:solidFill>
                            <a:schemeClr val="bg1"/>
                          </a:solidFill>
                          <a:latin typeface="+mn-lt"/>
                          <a:ea typeface="+mn-ea"/>
                          <a:cs typeface="+mn-cs"/>
                        </a:rPr>
                        <a:t>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marL="285750" indent="-285750" algn="r" rtl="1">
                        <a:buFont typeface="Arial" panose="020B0604020202020204" pitchFamily="34" charset="0"/>
                        <a:buChar char="•"/>
                      </a:pPr>
                      <a:r>
                        <a:rPr lang="ar-SA" sz="1800" dirty="0"/>
                        <a:t>عرض استراتيجية البنية المؤسسية</a:t>
                      </a:r>
                    </a:p>
                    <a:p>
                      <a:pPr marL="285750" indent="-285750" algn="r" rtl="1">
                        <a:buFont typeface="Arial" panose="020B0604020202020204" pitchFamily="34" charset="0"/>
                        <a:buChar char="•"/>
                      </a:pPr>
                      <a:r>
                        <a:rPr lang="ar-SA" sz="1800" dirty="0"/>
                        <a:t>المواءمة مع التوجهات الاستراتيجية</a:t>
                      </a:r>
                    </a:p>
                    <a:p>
                      <a:pPr marL="285750" indent="-285750" algn="r" rtl="1">
                        <a:buFont typeface="Arial" panose="020B0604020202020204" pitchFamily="34" charset="0"/>
                        <a:buChar char="•"/>
                      </a:pPr>
                      <a:r>
                        <a:rPr lang="ar-SA" sz="1800" dirty="0"/>
                        <a:t>الأهداف والمؤشرات الاستراتيجية</a:t>
                      </a:r>
                    </a:p>
                    <a:p>
                      <a:pPr marL="285750" indent="-285750" algn="r" rtl="1">
                        <a:buFont typeface="Arial" panose="020B0604020202020204" pitchFamily="34" charset="0"/>
                        <a:buChar char="•"/>
                      </a:pPr>
                      <a:r>
                        <a:rPr lang="ar-SA" sz="1800" dirty="0"/>
                        <a:t>مناقشة وتبادل الآراء</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hMerge="1">
                  <a:txBody>
                    <a:bodyPr/>
                    <a:lstStyle/>
                    <a:p>
                      <a:endParaRPr lang="en-US"/>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540153272"/>
                  </a:ext>
                </a:extLst>
              </a:tr>
              <a:tr h="1418527">
                <a:tc>
                  <a:txBody>
                    <a:bodyPr/>
                    <a:lstStyle/>
                    <a:p>
                      <a:pPr marL="0" algn="ctr" defTabSz="914400" rtl="1" eaLnBrk="1" latinLnBrk="0" hangingPunct="1"/>
                      <a:r>
                        <a:rPr lang="ar-EG" sz="2000" b="1" kern="1200" dirty="0">
                          <a:solidFill>
                            <a:schemeClr val="bg1"/>
                          </a:solidFill>
                          <a:latin typeface="+mn-lt"/>
                          <a:ea typeface="+mn-ea"/>
                          <a:cs typeface="+mn-cs"/>
                        </a:rPr>
                        <a:t>أهداف </a:t>
                      </a:r>
                      <a:r>
                        <a:rPr lang="ar-SA" sz="2000" b="1" kern="1200" dirty="0">
                          <a:solidFill>
                            <a:schemeClr val="bg1"/>
                          </a:solidFill>
                          <a:latin typeface="+mn-lt"/>
                          <a:ea typeface="+mn-ea"/>
                          <a:cs typeface="+mn-cs"/>
                        </a:rPr>
                        <a:t>النشاط</a:t>
                      </a:r>
                      <a:endParaRPr lang="en-US" sz="2000" b="1" kern="1200" dirty="0">
                        <a:solidFill>
                          <a:schemeClr val="bg1"/>
                        </a:solidFill>
                        <a:latin typeface="+mn-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3C8D"/>
                    </a:solidFill>
                  </a:tcPr>
                </a:tc>
                <a:tc gridSpan="3">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ضمان مواءمة الجهود بين الإدارات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الحصول على دعم والتزام أصحاب العلاقة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1713511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20</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2099733" y="408242"/>
            <a:ext cx="9254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النشاط التوعوي "مبادئ ومعايير البنية المؤسسية</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1449040373"/>
              </p:ext>
            </p:extLst>
          </p:nvPr>
        </p:nvGraphicFramePr>
        <p:xfrm>
          <a:off x="723899" y="1047591"/>
          <a:ext cx="10744202" cy="5009261"/>
        </p:xfrm>
        <a:graphic>
          <a:graphicData uri="http://schemas.openxmlformats.org/drawingml/2006/table">
            <a:tbl>
              <a:tblPr rtl="1" firstRow="1" bandRow="1">
                <a:tableStyleId>{2D5ABB26-0587-4C30-8999-92F81FD0307C}</a:tableStyleId>
              </a:tblPr>
              <a:tblGrid>
                <a:gridCol w="1817915">
                  <a:extLst>
                    <a:ext uri="{9D8B030D-6E8A-4147-A177-3AD203B41FA5}">
                      <a16:colId xmlns:a16="http://schemas.microsoft.com/office/drawing/2014/main" val="2004281081"/>
                    </a:ext>
                  </a:extLst>
                </a:gridCol>
                <a:gridCol w="2931246">
                  <a:extLst>
                    <a:ext uri="{9D8B030D-6E8A-4147-A177-3AD203B41FA5}">
                      <a16:colId xmlns:a16="http://schemas.microsoft.com/office/drawing/2014/main" val="2555702573"/>
                    </a:ext>
                  </a:extLst>
                </a:gridCol>
                <a:gridCol w="2107614">
                  <a:extLst>
                    <a:ext uri="{9D8B030D-6E8A-4147-A177-3AD203B41FA5}">
                      <a16:colId xmlns:a16="http://schemas.microsoft.com/office/drawing/2014/main" val="938496735"/>
                    </a:ext>
                  </a:extLst>
                </a:gridCol>
                <a:gridCol w="3887427">
                  <a:extLst>
                    <a:ext uri="{9D8B030D-6E8A-4147-A177-3AD203B41FA5}">
                      <a16:colId xmlns:a16="http://schemas.microsoft.com/office/drawing/2014/main" val="7071169"/>
                    </a:ext>
                  </a:extLst>
                </a:gridCol>
              </a:tblGrid>
              <a:tr h="662599">
                <a:tc>
                  <a:txBody>
                    <a:bodyPr/>
                    <a:lstStyle/>
                    <a:p>
                      <a:pPr marL="0" algn="ctr" defTabSz="914400" rtl="1" eaLnBrk="1" latinLnBrk="0" hangingPunct="1"/>
                      <a:r>
                        <a:rPr lang="ar-SA" sz="2000" b="1" kern="1200" dirty="0">
                          <a:solidFill>
                            <a:schemeClr val="bg1"/>
                          </a:solidFill>
                          <a:latin typeface="+mj-lt"/>
                          <a:ea typeface="+mn-ea"/>
                          <a:cs typeface="+mn-cs"/>
                        </a:rPr>
                        <a:t>اسم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000" b="1" kern="1200" dirty="0">
                          <a:solidFill>
                            <a:schemeClr val="tx1"/>
                          </a:solidFill>
                          <a:latin typeface="+mj-lt"/>
                          <a:ea typeface="+mn-ea"/>
                          <a:cs typeface="+mn-cs"/>
                        </a:rPr>
                        <a:t>مبادئ ومعايير البنية المؤسسية</a:t>
                      </a:r>
                      <a:endParaRPr lang="en-US" sz="2000" b="1" kern="1200" dirty="0">
                        <a:solidFill>
                          <a:schemeClr val="tx1"/>
                        </a:solidFill>
                        <a:latin typeface="+mj-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algn="r" rtl="1"/>
                      <a:endParaRPr lang="ar-SA" sz="1600" b="1"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662599">
                <a:tc>
                  <a:txBody>
                    <a:bodyPr/>
                    <a:lstStyle/>
                    <a:p>
                      <a:pPr marL="0" algn="ctr" defTabSz="914400" rtl="1" eaLnBrk="1" latinLnBrk="0" hangingPunct="1"/>
                      <a:r>
                        <a:rPr lang="ar-EG" sz="2000" b="1" kern="1200" dirty="0">
                          <a:solidFill>
                            <a:schemeClr val="bg1"/>
                          </a:solidFill>
                          <a:latin typeface="+mj-lt"/>
                          <a:ea typeface="+mn-ea"/>
                          <a:cs typeface="+mn-cs"/>
                        </a:rPr>
                        <a:t>وصف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algn="r" rtl="1"/>
                      <a:r>
                        <a:rPr lang="ar-SA" sz="1800" kern="1200" dirty="0">
                          <a:solidFill>
                            <a:schemeClr val="tx1"/>
                          </a:solidFill>
                          <a:latin typeface="+mj-lt"/>
                          <a:ea typeface="+mn-ea"/>
                          <a:cs typeface="+mn-cs"/>
                        </a:rPr>
                        <a:t> حملة توعية تركز على نشر المبادئ والمعايير المعتمدة للبنية المؤسسية داخل الهيئة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847009">
                <a:tc>
                  <a:txBody>
                    <a:bodyPr/>
                    <a:lstStyle/>
                    <a:p>
                      <a:pPr marL="0" algn="ctr" defTabSz="914400" rtl="1" eaLnBrk="1" latinLnBrk="0" hangingPunct="1"/>
                      <a:r>
                        <a:rPr lang="ar-SA" sz="2000" b="1" kern="1200" dirty="0">
                          <a:solidFill>
                            <a:schemeClr val="bg1"/>
                          </a:solidFill>
                          <a:latin typeface="+mj-lt"/>
                          <a:ea typeface="+mn-ea"/>
                          <a:cs typeface="+mn-cs"/>
                        </a:rPr>
                        <a:t>نوع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800" b="1" i="0" u="none" strike="noStrike" kern="1200" cap="none" spc="0" normalizeH="0" baseline="0" noProof="0" dirty="0">
                          <a:ln>
                            <a:noFill/>
                          </a:ln>
                          <a:solidFill>
                            <a:prstClr val="black"/>
                          </a:solidFill>
                          <a:effectLst/>
                          <a:uLnTx/>
                          <a:uFillTx/>
                          <a:latin typeface="+mn-lt"/>
                          <a:ea typeface="+mn-ea"/>
                          <a:cs typeface="+mn-cs"/>
                        </a:rPr>
                        <a:t>حملة توعية </a:t>
                      </a:r>
                      <a:r>
                        <a:rPr kumimoji="0" lang="ar-SA" sz="1400" b="0" i="0" u="none" strike="noStrike" kern="1200" cap="none" spc="0" normalizeH="0" baseline="0" noProof="0" dirty="0">
                          <a:ln>
                            <a:noFill/>
                          </a:ln>
                          <a:solidFill>
                            <a:prstClr val="black"/>
                          </a:solidFill>
                          <a:effectLst/>
                          <a:uLnTx/>
                          <a:uFillTx/>
                          <a:latin typeface="+mn-lt"/>
                          <a:ea typeface="+mn-ea"/>
                          <a:cs typeface="+mn-cs"/>
                        </a:rPr>
                        <a:t>(البريد الإلكتروني - شاشات التوقف - شاشات الدعاية - البوابة الداخلية - تطبيق "وصول")</a:t>
                      </a:r>
                      <a:endParaRPr kumimoji="0" lang="ar-SA" sz="1800" b="0" i="0" u="none" strike="noStrike" kern="1200" cap="none" spc="0" normalizeH="0" baseline="0" noProof="0" dirty="0">
                        <a:ln>
                          <a:noFill/>
                        </a:ln>
                        <a:solidFill>
                          <a:prstClr val="black"/>
                        </a:solidFill>
                        <a:effectLst/>
                        <a:uLnTx/>
                        <a:uFillTx/>
                        <a:latin typeface="+mn-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algn="ctr" defTabSz="914400" rtl="1" eaLnBrk="1" latinLnBrk="0" hangingPunct="1"/>
                      <a:r>
                        <a:rPr lang="ar-SA" sz="2000" b="1" kern="1200" dirty="0">
                          <a:solidFill>
                            <a:schemeClr val="bg1"/>
                          </a:solidFill>
                          <a:latin typeface="+mn-lt"/>
                          <a:ea typeface="+mn-ea"/>
                          <a:cs typeface="+mn-cs"/>
                        </a:rPr>
                        <a:t>الفئة المستهدفة</a:t>
                      </a:r>
                      <a:endParaRPr lang="en-US" sz="2000" b="1" kern="1200" dirty="0">
                        <a:solidFill>
                          <a:schemeClr val="bg1"/>
                        </a:solidFill>
                        <a:latin typeface="+mn-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800" kern="1200" dirty="0">
                          <a:solidFill>
                            <a:schemeClr val="tx1"/>
                          </a:solidFill>
                          <a:latin typeface="+mn-lt"/>
                          <a:ea typeface="+mn-ea"/>
                          <a:cs typeface="+mn-cs"/>
                        </a:rPr>
                        <a:t>جميع موظفي الهيئة</a:t>
                      </a:r>
                      <a:endParaRPr lang="ar-SA" sz="1800" kern="1200" dirty="0">
                        <a:solidFill>
                          <a:schemeClr val="tx1"/>
                        </a:solidFill>
                        <a:latin typeface="+mj-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1418527">
                <a:tc>
                  <a:txBody>
                    <a:bodyPr/>
                    <a:lstStyle/>
                    <a:p>
                      <a:pPr marL="0" algn="ctr" defTabSz="914400" rtl="1" eaLnBrk="1" latinLnBrk="0" hangingPunct="1"/>
                      <a:r>
                        <a:rPr lang="ar-EG" sz="2000" b="1" kern="1200" dirty="0">
                          <a:solidFill>
                            <a:schemeClr val="bg1"/>
                          </a:solidFill>
                          <a:latin typeface="+mj-lt"/>
                          <a:ea typeface="+mn-ea"/>
                          <a:cs typeface="+mn-cs"/>
                        </a:rPr>
                        <a:t>محتويات </a:t>
                      </a:r>
                      <a:r>
                        <a:rPr lang="ar-SA" sz="2000" b="1" kern="1200" dirty="0">
                          <a:solidFill>
                            <a:schemeClr val="bg1"/>
                          </a:solidFill>
                          <a:latin typeface="+mn-lt"/>
                          <a:ea typeface="+mn-ea"/>
                          <a:cs typeface="+mn-cs"/>
                        </a:rPr>
                        <a:t>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marL="285750" indent="-285750" algn="r" rtl="1">
                        <a:buFont typeface="Arial" panose="020B0604020202020204" pitchFamily="34" charset="0"/>
                        <a:buChar char="•"/>
                      </a:pPr>
                      <a:r>
                        <a:rPr lang="ar-SA" sz="1800" dirty="0"/>
                        <a:t>تقديم المبادئ الأساسية للبنية المؤسسية</a:t>
                      </a:r>
                    </a:p>
                    <a:p>
                      <a:pPr marL="285750" indent="-285750" algn="r" rtl="1">
                        <a:buFont typeface="Arial" panose="020B0604020202020204" pitchFamily="34" charset="0"/>
                        <a:buChar char="•"/>
                      </a:pPr>
                      <a:r>
                        <a:rPr lang="ar-SA" sz="1800" dirty="0"/>
                        <a:t>نبذة عن المعايير الواجب اتباعها</a:t>
                      </a:r>
                    </a:p>
                    <a:p>
                      <a:pPr marL="285750" indent="-285750" algn="r" rtl="1">
                        <a:buFont typeface="Arial" panose="020B0604020202020204" pitchFamily="34" charset="0"/>
                        <a:buChar char="•"/>
                      </a:pPr>
                      <a:r>
                        <a:rPr lang="ar-SA" sz="1800" dirty="0"/>
                        <a:t>أهمية الالتزام بهذه المبادئ والمعايير</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hMerge="1">
                  <a:txBody>
                    <a:bodyPr/>
                    <a:lstStyle/>
                    <a:p>
                      <a:endParaRPr lang="en-US"/>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540153272"/>
                  </a:ext>
                </a:extLst>
              </a:tr>
              <a:tr h="1418527">
                <a:tc>
                  <a:txBody>
                    <a:bodyPr/>
                    <a:lstStyle/>
                    <a:p>
                      <a:pPr marL="0" algn="ctr" defTabSz="914400" rtl="1" eaLnBrk="1" latinLnBrk="0" hangingPunct="1"/>
                      <a:r>
                        <a:rPr lang="ar-EG" sz="2000" b="1" kern="1200" dirty="0">
                          <a:solidFill>
                            <a:schemeClr val="bg1"/>
                          </a:solidFill>
                          <a:latin typeface="+mn-lt"/>
                          <a:ea typeface="+mn-ea"/>
                          <a:cs typeface="+mn-cs"/>
                        </a:rPr>
                        <a:t>أهداف </a:t>
                      </a:r>
                      <a:r>
                        <a:rPr lang="ar-SA" sz="2000" b="1" kern="1200" dirty="0">
                          <a:solidFill>
                            <a:schemeClr val="bg1"/>
                          </a:solidFill>
                          <a:latin typeface="+mn-lt"/>
                          <a:ea typeface="+mn-ea"/>
                          <a:cs typeface="+mn-cs"/>
                        </a:rPr>
                        <a:t>النشاط</a:t>
                      </a:r>
                      <a:endParaRPr lang="en-US" sz="2000" b="1" kern="1200" dirty="0">
                        <a:solidFill>
                          <a:schemeClr val="bg1"/>
                        </a:solidFill>
                        <a:latin typeface="+mn-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3C8D"/>
                    </a:solidFill>
                  </a:tcPr>
                </a:tc>
                <a:tc gridSpan="3">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تعزيز الالتزام بالمعايير والمبادئ</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توحيد المفاهيم والممارسات داخل الهيئة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تحسين جودة العمل والنتائج</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2377648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21</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2099733" y="408242"/>
            <a:ext cx="9254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النشاط التوعوي "دليل خدمات البنية المؤسسية</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480462077"/>
              </p:ext>
            </p:extLst>
          </p:nvPr>
        </p:nvGraphicFramePr>
        <p:xfrm>
          <a:off x="723899" y="1047591"/>
          <a:ext cx="10744202" cy="5009261"/>
        </p:xfrm>
        <a:graphic>
          <a:graphicData uri="http://schemas.openxmlformats.org/drawingml/2006/table">
            <a:tbl>
              <a:tblPr rtl="1" firstRow="1" bandRow="1">
                <a:tableStyleId>{2D5ABB26-0587-4C30-8999-92F81FD0307C}</a:tableStyleId>
              </a:tblPr>
              <a:tblGrid>
                <a:gridCol w="1817915">
                  <a:extLst>
                    <a:ext uri="{9D8B030D-6E8A-4147-A177-3AD203B41FA5}">
                      <a16:colId xmlns:a16="http://schemas.microsoft.com/office/drawing/2014/main" val="2004281081"/>
                    </a:ext>
                  </a:extLst>
                </a:gridCol>
                <a:gridCol w="2931246">
                  <a:extLst>
                    <a:ext uri="{9D8B030D-6E8A-4147-A177-3AD203B41FA5}">
                      <a16:colId xmlns:a16="http://schemas.microsoft.com/office/drawing/2014/main" val="2555702573"/>
                    </a:ext>
                  </a:extLst>
                </a:gridCol>
                <a:gridCol w="2107614">
                  <a:extLst>
                    <a:ext uri="{9D8B030D-6E8A-4147-A177-3AD203B41FA5}">
                      <a16:colId xmlns:a16="http://schemas.microsoft.com/office/drawing/2014/main" val="938496735"/>
                    </a:ext>
                  </a:extLst>
                </a:gridCol>
                <a:gridCol w="3887427">
                  <a:extLst>
                    <a:ext uri="{9D8B030D-6E8A-4147-A177-3AD203B41FA5}">
                      <a16:colId xmlns:a16="http://schemas.microsoft.com/office/drawing/2014/main" val="7071169"/>
                    </a:ext>
                  </a:extLst>
                </a:gridCol>
              </a:tblGrid>
              <a:tr h="662599">
                <a:tc>
                  <a:txBody>
                    <a:bodyPr/>
                    <a:lstStyle/>
                    <a:p>
                      <a:pPr marL="0" algn="ctr" defTabSz="914400" rtl="1" eaLnBrk="1" latinLnBrk="0" hangingPunct="1"/>
                      <a:r>
                        <a:rPr lang="ar-SA" sz="2000" b="1" kern="1200" dirty="0">
                          <a:solidFill>
                            <a:schemeClr val="bg1"/>
                          </a:solidFill>
                          <a:latin typeface="+mj-lt"/>
                          <a:ea typeface="+mn-ea"/>
                          <a:cs typeface="+mn-cs"/>
                        </a:rPr>
                        <a:t>اسم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000" b="1" kern="1200" dirty="0">
                          <a:solidFill>
                            <a:schemeClr val="tx1"/>
                          </a:solidFill>
                          <a:latin typeface="+mj-lt"/>
                          <a:ea typeface="+mn-ea"/>
                          <a:cs typeface="+mn-cs"/>
                        </a:rPr>
                        <a:t>دليل خدمات البنية المؤسسية</a:t>
                      </a:r>
                      <a:endParaRPr lang="en-US" sz="2000" b="1" kern="1200" dirty="0">
                        <a:solidFill>
                          <a:schemeClr val="tx1"/>
                        </a:solidFill>
                        <a:latin typeface="+mj-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algn="r" rtl="1"/>
                      <a:endParaRPr lang="ar-SA" sz="1600" b="1"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662599">
                <a:tc>
                  <a:txBody>
                    <a:bodyPr/>
                    <a:lstStyle/>
                    <a:p>
                      <a:pPr marL="0" algn="ctr" defTabSz="914400" rtl="1" eaLnBrk="1" latinLnBrk="0" hangingPunct="1"/>
                      <a:r>
                        <a:rPr lang="ar-EG" sz="2000" b="1" kern="1200" dirty="0">
                          <a:solidFill>
                            <a:schemeClr val="bg1"/>
                          </a:solidFill>
                          <a:latin typeface="+mj-lt"/>
                          <a:ea typeface="+mn-ea"/>
                          <a:cs typeface="+mn-cs"/>
                        </a:rPr>
                        <a:t>وصف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algn="r" rtl="1"/>
                      <a:r>
                        <a:rPr lang="ar-SA" sz="1800" kern="1200" dirty="0">
                          <a:solidFill>
                            <a:schemeClr val="tx1"/>
                          </a:solidFill>
                          <a:latin typeface="+mj-lt"/>
                          <a:ea typeface="+mn-ea"/>
                          <a:cs typeface="+mn-cs"/>
                        </a:rPr>
                        <a:t>ورشة عمل عامة لشرح الخدمات التي يقدمها قسم البنية المؤسسية وكيفية الاستفادة منها</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847009">
                <a:tc>
                  <a:txBody>
                    <a:bodyPr/>
                    <a:lstStyle/>
                    <a:p>
                      <a:pPr marL="0" algn="ctr" defTabSz="914400" rtl="1" eaLnBrk="1" latinLnBrk="0" hangingPunct="1"/>
                      <a:r>
                        <a:rPr lang="ar-SA" sz="2000" b="1" kern="1200" dirty="0">
                          <a:solidFill>
                            <a:schemeClr val="bg1"/>
                          </a:solidFill>
                          <a:latin typeface="+mj-lt"/>
                          <a:ea typeface="+mn-ea"/>
                          <a:cs typeface="+mn-cs"/>
                        </a:rPr>
                        <a:t>نوع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indent="0" algn="ctr" rtl="1">
                        <a:buFont typeface="Arial" panose="020B0604020202020204" pitchFamily="34" charset="0"/>
                        <a:buNone/>
                      </a:pPr>
                      <a:r>
                        <a:rPr lang="ar-SA" sz="1800" b="1" kern="1200" dirty="0">
                          <a:solidFill>
                            <a:schemeClr val="tx1"/>
                          </a:solidFill>
                          <a:latin typeface="+mn-lt"/>
                          <a:ea typeface="+mn-ea"/>
                          <a:cs typeface="+mn-cs"/>
                        </a:rPr>
                        <a:t>ورشة عمل عامة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algn="ctr" defTabSz="914400" rtl="1" eaLnBrk="1" latinLnBrk="0" hangingPunct="1"/>
                      <a:r>
                        <a:rPr lang="ar-SA" sz="2000" b="1" kern="1200" dirty="0">
                          <a:solidFill>
                            <a:schemeClr val="bg1"/>
                          </a:solidFill>
                          <a:latin typeface="+mn-lt"/>
                          <a:ea typeface="+mn-ea"/>
                          <a:cs typeface="+mn-cs"/>
                        </a:rPr>
                        <a:t>الفئة المستهدفة</a:t>
                      </a:r>
                      <a:endParaRPr lang="en-US" sz="2000" b="1" kern="1200" dirty="0">
                        <a:solidFill>
                          <a:schemeClr val="bg1"/>
                        </a:solidFill>
                        <a:latin typeface="+mn-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800" kern="1200" dirty="0">
                          <a:solidFill>
                            <a:schemeClr val="tx1"/>
                          </a:solidFill>
                          <a:latin typeface="+mn-lt"/>
                          <a:ea typeface="+mn-ea"/>
                          <a:cs typeface="+mn-cs"/>
                        </a:rPr>
                        <a:t>جميع موظفي الهيئة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1418527">
                <a:tc>
                  <a:txBody>
                    <a:bodyPr/>
                    <a:lstStyle/>
                    <a:p>
                      <a:pPr marL="0" algn="ctr" defTabSz="914400" rtl="1" eaLnBrk="1" latinLnBrk="0" hangingPunct="1"/>
                      <a:r>
                        <a:rPr lang="ar-EG" sz="2000" b="1" kern="1200" dirty="0">
                          <a:solidFill>
                            <a:schemeClr val="bg1"/>
                          </a:solidFill>
                          <a:latin typeface="+mj-lt"/>
                          <a:ea typeface="+mn-ea"/>
                          <a:cs typeface="+mn-cs"/>
                        </a:rPr>
                        <a:t>محتويات </a:t>
                      </a:r>
                      <a:r>
                        <a:rPr lang="ar-SA" sz="2000" b="1" kern="1200" dirty="0">
                          <a:solidFill>
                            <a:schemeClr val="bg1"/>
                          </a:solidFill>
                          <a:latin typeface="+mn-lt"/>
                          <a:ea typeface="+mn-ea"/>
                          <a:cs typeface="+mn-cs"/>
                        </a:rPr>
                        <a:t>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marL="285750" indent="-285750" algn="r" rtl="1">
                        <a:buFont typeface="Arial" panose="020B0604020202020204" pitchFamily="34" charset="0"/>
                        <a:buChar char="•"/>
                      </a:pPr>
                      <a:r>
                        <a:rPr lang="ar-SA" sz="1800" dirty="0"/>
                        <a:t>استعراض خدمات البنية المؤسسية</a:t>
                      </a:r>
                    </a:p>
                    <a:p>
                      <a:pPr marL="285750" indent="-285750" algn="r" rtl="1">
                        <a:buFont typeface="Arial" panose="020B0604020202020204" pitchFamily="34" charset="0"/>
                        <a:buChar char="•"/>
                      </a:pPr>
                      <a:r>
                        <a:rPr lang="ar-SA" sz="1800" dirty="0"/>
                        <a:t>كيفية طلب الخدمات والتعاون مع قسم البنية المؤسسية</a:t>
                      </a:r>
                    </a:p>
                    <a:p>
                      <a:pPr marL="285750" indent="-285750" algn="r" rtl="1">
                        <a:buFont typeface="Arial" panose="020B0604020202020204" pitchFamily="34" charset="0"/>
                        <a:buChar char="•"/>
                      </a:pPr>
                      <a:r>
                        <a:rPr lang="ar-SA" sz="1800" dirty="0"/>
                        <a:t>فقرة أسئلة وأجوبة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hMerge="1">
                  <a:txBody>
                    <a:bodyPr/>
                    <a:lstStyle/>
                    <a:p>
                      <a:endParaRPr lang="en-US"/>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540153272"/>
                  </a:ext>
                </a:extLst>
              </a:tr>
              <a:tr h="1418527">
                <a:tc>
                  <a:txBody>
                    <a:bodyPr/>
                    <a:lstStyle/>
                    <a:p>
                      <a:pPr marL="0" algn="ctr" defTabSz="914400" rtl="1" eaLnBrk="1" latinLnBrk="0" hangingPunct="1"/>
                      <a:r>
                        <a:rPr lang="ar-EG" sz="2000" b="1" kern="1200" dirty="0">
                          <a:solidFill>
                            <a:schemeClr val="bg1"/>
                          </a:solidFill>
                          <a:latin typeface="+mn-lt"/>
                          <a:ea typeface="+mn-ea"/>
                          <a:cs typeface="+mn-cs"/>
                        </a:rPr>
                        <a:t>أهداف </a:t>
                      </a:r>
                      <a:r>
                        <a:rPr lang="ar-SA" sz="2000" b="1" kern="1200" dirty="0">
                          <a:solidFill>
                            <a:schemeClr val="bg1"/>
                          </a:solidFill>
                          <a:latin typeface="+mn-lt"/>
                          <a:ea typeface="+mn-ea"/>
                          <a:cs typeface="+mn-cs"/>
                        </a:rPr>
                        <a:t>النشاط</a:t>
                      </a:r>
                      <a:endParaRPr lang="en-US" sz="2000" b="1" kern="1200" dirty="0">
                        <a:solidFill>
                          <a:schemeClr val="bg1"/>
                        </a:solidFill>
                        <a:latin typeface="+mn-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3C8D"/>
                    </a:solidFill>
                  </a:tcPr>
                </a:tc>
                <a:tc gridSpan="3">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تحسين التنسيق والتكامل في العمل</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زيادة الاستفادة من خدمات البنية المؤسسية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5699989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22</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2099733" y="408242"/>
            <a:ext cx="9254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النشاط التوعوي "منهجية البنية المؤسسية</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3983608077"/>
              </p:ext>
            </p:extLst>
          </p:nvPr>
        </p:nvGraphicFramePr>
        <p:xfrm>
          <a:off x="723899" y="1047591"/>
          <a:ext cx="10744202" cy="5009261"/>
        </p:xfrm>
        <a:graphic>
          <a:graphicData uri="http://schemas.openxmlformats.org/drawingml/2006/table">
            <a:tbl>
              <a:tblPr rtl="1" firstRow="1" bandRow="1">
                <a:tableStyleId>{2D5ABB26-0587-4C30-8999-92F81FD0307C}</a:tableStyleId>
              </a:tblPr>
              <a:tblGrid>
                <a:gridCol w="1817915">
                  <a:extLst>
                    <a:ext uri="{9D8B030D-6E8A-4147-A177-3AD203B41FA5}">
                      <a16:colId xmlns:a16="http://schemas.microsoft.com/office/drawing/2014/main" val="2004281081"/>
                    </a:ext>
                  </a:extLst>
                </a:gridCol>
                <a:gridCol w="2931246">
                  <a:extLst>
                    <a:ext uri="{9D8B030D-6E8A-4147-A177-3AD203B41FA5}">
                      <a16:colId xmlns:a16="http://schemas.microsoft.com/office/drawing/2014/main" val="2555702573"/>
                    </a:ext>
                  </a:extLst>
                </a:gridCol>
                <a:gridCol w="2107614">
                  <a:extLst>
                    <a:ext uri="{9D8B030D-6E8A-4147-A177-3AD203B41FA5}">
                      <a16:colId xmlns:a16="http://schemas.microsoft.com/office/drawing/2014/main" val="938496735"/>
                    </a:ext>
                  </a:extLst>
                </a:gridCol>
                <a:gridCol w="3887427">
                  <a:extLst>
                    <a:ext uri="{9D8B030D-6E8A-4147-A177-3AD203B41FA5}">
                      <a16:colId xmlns:a16="http://schemas.microsoft.com/office/drawing/2014/main" val="7071169"/>
                    </a:ext>
                  </a:extLst>
                </a:gridCol>
              </a:tblGrid>
              <a:tr h="662599">
                <a:tc>
                  <a:txBody>
                    <a:bodyPr/>
                    <a:lstStyle/>
                    <a:p>
                      <a:pPr marL="0" algn="ctr" defTabSz="914400" rtl="1" eaLnBrk="1" latinLnBrk="0" hangingPunct="1"/>
                      <a:r>
                        <a:rPr lang="ar-SA" sz="2000" b="1" kern="1200" dirty="0">
                          <a:solidFill>
                            <a:schemeClr val="bg1"/>
                          </a:solidFill>
                          <a:latin typeface="+mj-lt"/>
                          <a:ea typeface="+mn-ea"/>
                          <a:cs typeface="+mn-cs"/>
                        </a:rPr>
                        <a:t>اسم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000" b="1" kern="1200" dirty="0">
                          <a:solidFill>
                            <a:schemeClr val="tx1"/>
                          </a:solidFill>
                          <a:latin typeface="+mj-lt"/>
                          <a:ea typeface="+mn-ea"/>
                          <a:cs typeface="+mn-cs"/>
                        </a:rPr>
                        <a:t>منهجية البنية المؤسسية</a:t>
                      </a:r>
                      <a:endParaRPr lang="en-US" sz="2000" b="1" kern="1200" dirty="0">
                        <a:solidFill>
                          <a:schemeClr val="tx1"/>
                        </a:solidFill>
                        <a:latin typeface="+mj-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algn="r" rtl="1"/>
                      <a:endParaRPr lang="ar-SA" sz="1600" b="1"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662599">
                <a:tc>
                  <a:txBody>
                    <a:bodyPr/>
                    <a:lstStyle/>
                    <a:p>
                      <a:pPr marL="0" algn="ctr" defTabSz="914400" rtl="1" eaLnBrk="1" latinLnBrk="0" hangingPunct="1"/>
                      <a:r>
                        <a:rPr lang="ar-EG" sz="2000" b="1" kern="1200" dirty="0">
                          <a:solidFill>
                            <a:schemeClr val="bg1"/>
                          </a:solidFill>
                          <a:latin typeface="+mj-lt"/>
                          <a:ea typeface="+mn-ea"/>
                          <a:cs typeface="+mn-cs"/>
                        </a:rPr>
                        <a:t>وصف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algn="r" rtl="1"/>
                      <a:r>
                        <a:rPr lang="ar-SA" sz="1800" kern="1200" dirty="0">
                          <a:solidFill>
                            <a:schemeClr val="tx1"/>
                          </a:solidFill>
                          <a:latin typeface="+mj-lt"/>
                          <a:ea typeface="+mn-ea"/>
                          <a:cs typeface="+mn-cs"/>
                        </a:rPr>
                        <a:t>ورشة عمل مخصصة تقدم تفاصيل حول المنهجية المتبعة في البنية المؤسسية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847009">
                <a:tc>
                  <a:txBody>
                    <a:bodyPr/>
                    <a:lstStyle/>
                    <a:p>
                      <a:pPr marL="0" algn="ctr" defTabSz="914400" rtl="1" eaLnBrk="1" latinLnBrk="0" hangingPunct="1"/>
                      <a:r>
                        <a:rPr lang="ar-SA" sz="2000" b="1" kern="1200" dirty="0">
                          <a:solidFill>
                            <a:schemeClr val="bg1"/>
                          </a:solidFill>
                          <a:latin typeface="+mj-lt"/>
                          <a:ea typeface="+mn-ea"/>
                          <a:cs typeface="+mn-cs"/>
                        </a:rPr>
                        <a:t>نوع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indent="0" algn="ctr" rtl="1">
                        <a:buFont typeface="Arial" panose="020B0604020202020204" pitchFamily="34" charset="0"/>
                        <a:buNone/>
                      </a:pPr>
                      <a:r>
                        <a:rPr lang="ar-SA" sz="1800" b="1" kern="1200" dirty="0">
                          <a:solidFill>
                            <a:schemeClr val="tx1"/>
                          </a:solidFill>
                          <a:latin typeface="+mn-lt"/>
                          <a:ea typeface="+mn-ea"/>
                          <a:cs typeface="+mn-cs"/>
                        </a:rPr>
                        <a:t>ورشة عمل مخصصة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algn="ctr" defTabSz="914400" rtl="1" eaLnBrk="1" latinLnBrk="0" hangingPunct="1"/>
                      <a:r>
                        <a:rPr lang="ar-SA" sz="2000" b="1" kern="1200" dirty="0">
                          <a:solidFill>
                            <a:schemeClr val="bg1"/>
                          </a:solidFill>
                          <a:latin typeface="+mn-lt"/>
                          <a:ea typeface="+mn-ea"/>
                          <a:cs typeface="+mn-cs"/>
                        </a:rPr>
                        <a:t>الفئة المستهدفة</a:t>
                      </a:r>
                      <a:endParaRPr lang="en-US" sz="2000" b="1" kern="1200" dirty="0">
                        <a:solidFill>
                          <a:schemeClr val="bg1"/>
                        </a:solidFill>
                        <a:latin typeface="+mn-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kern="1200" dirty="0">
                          <a:solidFill>
                            <a:schemeClr val="tx1"/>
                          </a:solidFill>
                          <a:latin typeface="+mn-lt"/>
                          <a:ea typeface="+mn-ea"/>
                          <a:cs typeface="+mn-cs"/>
                        </a:rPr>
                        <a:t>أصحاب العلاقة في مجالات البنية المؤسسية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kern="1200" dirty="0">
                          <a:solidFill>
                            <a:schemeClr val="tx1"/>
                          </a:solidFill>
                          <a:latin typeface="+mn-lt"/>
                          <a:ea typeface="+mn-ea"/>
                          <a:cs typeface="+mn-cs"/>
                        </a:rPr>
                        <a:t>منسوبي قسم البنية المؤسسية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1418527">
                <a:tc>
                  <a:txBody>
                    <a:bodyPr/>
                    <a:lstStyle/>
                    <a:p>
                      <a:pPr marL="0" algn="ctr" defTabSz="914400" rtl="1" eaLnBrk="1" latinLnBrk="0" hangingPunct="1"/>
                      <a:r>
                        <a:rPr lang="ar-EG" sz="2000" b="1" kern="1200" dirty="0">
                          <a:solidFill>
                            <a:schemeClr val="bg1"/>
                          </a:solidFill>
                          <a:latin typeface="+mj-lt"/>
                          <a:ea typeface="+mn-ea"/>
                          <a:cs typeface="+mn-cs"/>
                        </a:rPr>
                        <a:t>محتويات </a:t>
                      </a:r>
                      <a:r>
                        <a:rPr lang="ar-SA" sz="2000" b="1" kern="1200" dirty="0">
                          <a:solidFill>
                            <a:schemeClr val="bg1"/>
                          </a:solidFill>
                          <a:latin typeface="+mn-lt"/>
                          <a:ea typeface="+mn-ea"/>
                          <a:cs typeface="+mn-cs"/>
                        </a:rPr>
                        <a:t>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marL="285750" indent="-285750" algn="r" rtl="1">
                        <a:buFont typeface="Arial" panose="020B0604020202020204" pitchFamily="34" charset="0"/>
                        <a:buChar char="•"/>
                      </a:pPr>
                      <a:r>
                        <a:rPr lang="ar-SA" sz="1800" dirty="0"/>
                        <a:t>شرح المنهجية المتبعة (</a:t>
                      </a:r>
                      <a:r>
                        <a:rPr lang="en-US" sz="1800" dirty="0"/>
                        <a:t>NORA</a:t>
                      </a:r>
                      <a:r>
                        <a:rPr lang="ar-SA" sz="1800" dirty="0"/>
                        <a:t>)</a:t>
                      </a:r>
                      <a:endParaRPr lang="en-US" sz="1800" dirty="0"/>
                    </a:p>
                    <a:p>
                      <a:pPr marL="285750" indent="-285750" algn="r" rtl="1">
                        <a:buFont typeface="Arial" panose="020B0604020202020204" pitchFamily="34" charset="0"/>
                        <a:buChar char="•"/>
                      </a:pPr>
                      <a:r>
                        <a:rPr lang="ar-SA" sz="1800" dirty="0"/>
                        <a:t>هيكل إطار العمل المخصص للهيئة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hMerge="1">
                  <a:txBody>
                    <a:bodyPr/>
                    <a:lstStyle/>
                    <a:p>
                      <a:endParaRPr lang="en-US"/>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540153272"/>
                  </a:ext>
                </a:extLst>
              </a:tr>
              <a:tr h="1418527">
                <a:tc>
                  <a:txBody>
                    <a:bodyPr/>
                    <a:lstStyle/>
                    <a:p>
                      <a:pPr marL="0" algn="ctr" defTabSz="914400" rtl="1" eaLnBrk="1" latinLnBrk="0" hangingPunct="1"/>
                      <a:r>
                        <a:rPr lang="ar-EG" sz="2000" b="1" kern="1200" dirty="0">
                          <a:solidFill>
                            <a:schemeClr val="bg1"/>
                          </a:solidFill>
                          <a:latin typeface="+mn-lt"/>
                          <a:ea typeface="+mn-ea"/>
                          <a:cs typeface="+mn-cs"/>
                        </a:rPr>
                        <a:t>أهداف </a:t>
                      </a:r>
                      <a:r>
                        <a:rPr lang="ar-SA" sz="2000" b="1" kern="1200" dirty="0">
                          <a:solidFill>
                            <a:schemeClr val="bg1"/>
                          </a:solidFill>
                          <a:latin typeface="+mn-lt"/>
                          <a:ea typeface="+mn-ea"/>
                          <a:cs typeface="+mn-cs"/>
                        </a:rPr>
                        <a:t>النشاط</a:t>
                      </a:r>
                      <a:endParaRPr lang="en-US" sz="2000" b="1" kern="1200" dirty="0">
                        <a:solidFill>
                          <a:schemeClr val="bg1"/>
                        </a:solidFill>
                        <a:latin typeface="+mn-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3C8D"/>
                    </a:solidFill>
                  </a:tcPr>
                </a:tc>
                <a:tc gridSpan="3">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تعزيز فهم المنهجية وكيفية تطبيقها</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ضمان تنفيذ الممارسة بشكل متسق وفعال</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32740243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9056-F24B-DCF9-2A35-5E64C2A7E77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D4A70B71-4EAF-3581-CFAF-328B77F9AF8E}"/>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23</a:t>
            </a:fld>
            <a:endParaRPr lang="en-US" sz="1400" b="1" dirty="0">
              <a:solidFill>
                <a:schemeClr val="accent1"/>
              </a:solidFill>
            </a:endParaRPr>
          </a:p>
        </p:txBody>
      </p:sp>
      <p:sp>
        <p:nvSpPr>
          <p:cNvPr id="2" name="Title 1">
            <a:extLst>
              <a:ext uri="{FF2B5EF4-FFF2-40B4-BE49-F238E27FC236}">
                <a16:creationId xmlns:a16="http://schemas.microsoft.com/office/drawing/2014/main" id="{E5D4F289-F75D-9139-BACA-3AC790BB8BD0}"/>
              </a:ext>
            </a:extLst>
          </p:cNvPr>
          <p:cNvSpPr txBox="1">
            <a:spLocks/>
          </p:cNvSpPr>
          <p:nvPr/>
        </p:nvSpPr>
        <p:spPr>
          <a:xfrm>
            <a:off x="2099733" y="408242"/>
            <a:ext cx="9254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بطاقة النشاط التوعوي "فعالية وقيمة مساهمات البنية المؤسسية</a:t>
            </a:r>
            <a:r>
              <a:rPr lang="ar-EG" dirty="0"/>
              <a:t>"</a:t>
            </a:r>
            <a:endParaRPr lang="en-US" dirty="0"/>
          </a:p>
        </p:txBody>
      </p:sp>
      <p:graphicFrame>
        <p:nvGraphicFramePr>
          <p:cNvPr id="3" name="Table 5">
            <a:extLst>
              <a:ext uri="{FF2B5EF4-FFF2-40B4-BE49-F238E27FC236}">
                <a16:creationId xmlns:a16="http://schemas.microsoft.com/office/drawing/2014/main" id="{9E9B8205-C2AF-639C-DFBF-D94732BFA787}"/>
              </a:ext>
            </a:extLst>
          </p:cNvPr>
          <p:cNvGraphicFramePr>
            <a:graphicFrameLocks noGrp="1"/>
          </p:cNvGraphicFramePr>
          <p:nvPr>
            <p:extLst>
              <p:ext uri="{D42A27DB-BD31-4B8C-83A1-F6EECF244321}">
                <p14:modId xmlns:p14="http://schemas.microsoft.com/office/powerpoint/2010/main" val="3526618087"/>
              </p:ext>
            </p:extLst>
          </p:nvPr>
        </p:nvGraphicFramePr>
        <p:xfrm>
          <a:off x="723899" y="1047591"/>
          <a:ext cx="10744202" cy="5009261"/>
        </p:xfrm>
        <a:graphic>
          <a:graphicData uri="http://schemas.openxmlformats.org/drawingml/2006/table">
            <a:tbl>
              <a:tblPr rtl="1" firstRow="1" bandRow="1">
                <a:tableStyleId>{2D5ABB26-0587-4C30-8999-92F81FD0307C}</a:tableStyleId>
              </a:tblPr>
              <a:tblGrid>
                <a:gridCol w="1817915">
                  <a:extLst>
                    <a:ext uri="{9D8B030D-6E8A-4147-A177-3AD203B41FA5}">
                      <a16:colId xmlns:a16="http://schemas.microsoft.com/office/drawing/2014/main" val="2004281081"/>
                    </a:ext>
                  </a:extLst>
                </a:gridCol>
                <a:gridCol w="2931246">
                  <a:extLst>
                    <a:ext uri="{9D8B030D-6E8A-4147-A177-3AD203B41FA5}">
                      <a16:colId xmlns:a16="http://schemas.microsoft.com/office/drawing/2014/main" val="2555702573"/>
                    </a:ext>
                  </a:extLst>
                </a:gridCol>
                <a:gridCol w="2107614">
                  <a:extLst>
                    <a:ext uri="{9D8B030D-6E8A-4147-A177-3AD203B41FA5}">
                      <a16:colId xmlns:a16="http://schemas.microsoft.com/office/drawing/2014/main" val="938496735"/>
                    </a:ext>
                  </a:extLst>
                </a:gridCol>
                <a:gridCol w="3887427">
                  <a:extLst>
                    <a:ext uri="{9D8B030D-6E8A-4147-A177-3AD203B41FA5}">
                      <a16:colId xmlns:a16="http://schemas.microsoft.com/office/drawing/2014/main" val="7071169"/>
                    </a:ext>
                  </a:extLst>
                </a:gridCol>
              </a:tblGrid>
              <a:tr h="662599">
                <a:tc>
                  <a:txBody>
                    <a:bodyPr/>
                    <a:lstStyle/>
                    <a:p>
                      <a:pPr marL="0" algn="ctr" defTabSz="914400" rtl="1" eaLnBrk="1" latinLnBrk="0" hangingPunct="1"/>
                      <a:r>
                        <a:rPr lang="ar-SA" sz="2000" b="1" kern="1200" dirty="0">
                          <a:solidFill>
                            <a:schemeClr val="bg1"/>
                          </a:solidFill>
                          <a:latin typeface="+mj-lt"/>
                          <a:ea typeface="+mn-ea"/>
                          <a:cs typeface="+mn-cs"/>
                        </a:rPr>
                        <a:t>اسم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2000" b="1" kern="1200" dirty="0">
                          <a:solidFill>
                            <a:schemeClr val="tx1"/>
                          </a:solidFill>
                          <a:latin typeface="+mj-lt"/>
                          <a:ea typeface="+mn-ea"/>
                          <a:cs typeface="+mn-cs"/>
                        </a:rPr>
                        <a:t>فعالية وقيمة مساهمات البنية المؤسسية</a:t>
                      </a:r>
                      <a:endParaRPr lang="en-US" sz="2000" b="1" kern="1200" dirty="0">
                        <a:solidFill>
                          <a:schemeClr val="tx1"/>
                        </a:solidFill>
                        <a:latin typeface="+mj-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8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algn="r" rtl="1"/>
                      <a:endParaRPr lang="ar-SA" sz="1600" b="1"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13795874"/>
                  </a:ext>
                </a:extLst>
              </a:tr>
              <a:tr h="662599">
                <a:tc>
                  <a:txBody>
                    <a:bodyPr/>
                    <a:lstStyle/>
                    <a:p>
                      <a:pPr marL="0" algn="ctr" defTabSz="914400" rtl="1" eaLnBrk="1" latinLnBrk="0" hangingPunct="1"/>
                      <a:r>
                        <a:rPr lang="ar-EG" sz="2000" b="1" kern="1200" dirty="0">
                          <a:solidFill>
                            <a:schemeClr val="bg1"/>
                          </a:solidFill>
                          <a:latin typeface="+mj-lt"/>
                          <a:ea typeface="+mn-ea"/>
                          <a:cs typeface="+mn-cs"/>
                        </a:rPr>
                        <a:t>وصف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algn="r" rtl="1"/>
                      <a:r>
                        <a:rPr lang="ar-SA" sz="1800" kern="1200" dirty="0">
                          <a:solidFill>
                            <a:schemeClr val="tx1"/>
                          </a:solidFill>
                          <a:latin typeface="+mj-lt"/>
                          <a:ea typeface="+mn-ea"/>
                          <a:cs typeface="+mn-cs"/>
                        </a:rPr>
                        <a:t>حملة توعية تبرز الإنجازات التي حققها قسم البنية المؤسسية، وتأثيرها الإيجابي على الهيئة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pPr marL="0" algn="ctr" defTabSz="914400" rtl="1" eaLnBrk="1" latinLnBrk="0" hangingPunct="1"/>
                      <a:endParaRPr lang="ar-SA" sz="1600" b="1" kern="1200" dirty="0">
                        <a:solidFill>
                          <a:schemeClr val="bg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hMerge="1">
                  <a:txBody>
                    <a:bodyPr/>
                    <a:lstStyle/>
                    <a:p>
                      <a:pPr algn="r" rtl="1"/>
                      <a:endParaRPr lang="ar-SA" sz="1600" kern="1200" dirty="0">
                        <a:solidFill>
                          <a:schemeClr val="tx1"/>
                        </a:solidFill>
                        <a:latin typeface="+mj-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658893"/>
                  </a:ext>
                </a:extLst>
              </a:tr>
              <a:tr h="847009">
                <a:tc>
                  <a:txBody>
                    <a:bodyPr/>
                    <a:lstStyle/>
                    <a:p>
                      <a:pPr marL="0" algn="ctr" defTabSz="914400" rtl="1" eaLnBrk="1" latinLnBrk="0" hangingPunct="1"/>
                      <a:r>
                        <a:rPr lang="ar-SA" sz="2000" b="1" kern="1200" dirty="0">
                          <a:solidFill>
                            <a:schemeClr val="bg1"/>
                          </a:solidFill>
                          <a:latin typeface="+mj-lt"/>
                          <a:ea typeface="+mn-ea"/>
                          <a:cs typeface="+mn-cs"/>
                        </a:rPr>
                        <a:t>نوع 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800" b="1" i="0" u="none" strike="noStrike" kern="1200" cap="none" spc="0" normalizeH="0" baseline="0" noProof="0" dirty="0">
                          <a:ln>
                            <a:noFill/>
                          </a:ln>
                          <a:solidFill>
                            <a:prstClr val="black"/>
                          </a:solidFill>
                          <a:effectLst/>
                          <a:uLnTx/>
                          <a:uFillTx/>
                          <a:latin typeface="+mn-lt"/>
                          <a:ea typeface="+mn-ea"/>
                          <a:cs typeface="+mn-cs"/>
                        </a:rPr>
                        <a:t>حملة توعية </a:t>
                      </a:r>
                      <a:r>
                        <a:rPr kumimoji="0" lang="ar-SA" sz="1400" b="0" i="0" u="none" strike="noStrike" kern="1200" cap="none" spc="0" normalizeH="0" baseline="0" noProof="0" dirty="0">
                          <a:ln>
                            <a:noFill/>
                          </a:ln>
                          <a:solidFill>
                            <a:prstClr val="black"/>
                          </a:solidFill>
                          <a:effectLst/>
                          <a:uLnTx/>
                          <a:uFillTx/>
                          <a:latin typeface="+mn-lt"/>
                          <a:ea typeface="+mn-ea"/>
                          <a:cs typeface="+mn-cs"/>
                        </a:rPr>
                        <a:t>(البريد الإلكتروني - شاشات التوقف - شاشات الدعاية - البوابة الداخلية - تطبيق "وصول")</a:t>
                      </a:r>
                      <a:endParaRPr kumimoji="0" lang="ar-SA" sz="1800" b="0" i="0" u="none" strike="noStrike" kern="1200" cap="none" spc="0" normalizeH="0" baseline="0" noProof="0" dirty="0">
                        <a:ln>
                          <a:noFill/>
                        </a:ln>
                        <a:solidFill>
                          <a:prstClr val="black"/>
                        </a:solidFill>
                        <a:effectLst/>
                        <a:uLnTx/>
                        <a:uFillTx/>
                        <a:latin typeface="+mn-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marL="0" algn="ctr" defTabSz="914400" rtl="1" eaLnBrk="1" latinLnBrk="0" hangingPunct="1"/>
                      <a:r>
                        <a:rPr lang="ar-SA" sz="2000" b="1" kern="1200" dirty="0">
                          <a:solidFill>
                            <a:schemeClr val="bg1"/>
                          </a:solidFill>
                          <a:latin typeface="+mn-lt"/>
                          <a:ea typeface="+mn-ea"/>
                          <a:cs typeface="+mn-cs"/>
                        </a:rPr>
                        <a:t>الفئة المستهدفة</a:t>
                      </a:r>
                      <a:endParaRPr lang="en-US" sz="2000" b="1" kern="1200" dirty="0">
                        <a:solidFill>
                          <a:schemeClr val="bg1"/>
                        </a:solidFill>
                        <a:latin typeface="+mn-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a:txBody>
                    <a:bodyPr/>
                    <a:lstStyle/>
                    <a:p>
                      <a:pPr marL="0" marR="0" lvl="0" indent="0" algn="ct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SA" sz="1800" kern="1200" dirty="0">
                          <a:solidFill>
                            <a:schemeClr val="tx1"/>
                          </a:solidFill>
                          <a:latin typeface="+mn-lt"/>
                          <a:ea typeface="+mn-ea"/>
                          <a:cs typeface="+mn-cs"/>
                        </a:rPr>
                        <a:t>جميع موظفي الهيئة</a:t>
                      </a:r>
                      <a:endParaRPr lang="ar-SA" sz="1800" kern="1200" dirty="0">
                        <a:solidFill>
                          <a:schemeClr val="tx1"/>
                        </a:solidFill>
                        <a:latin typeface="+mj-lt"/>
                        <a:ea typeface="+mn-ea"/>
                        <a:cs typeface="+mn-cs"/>
                      </a:endParaRP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40185893"/>
                  </a:ext>
                </a:extLst>
              </a:tr>
              <a:tr h="1418527">
                <a:tc>
                  <a:txBody>
                    <a:bodyPr/>
                    <a:lstStyle/>
                    <a:p>
                      <a:pPr marL="0" algn="ctr" defTabSz="914400" rtl="1" eaLnBrk="1" latinLnBrk="0" hangingPunct="1"/>
                      <a:r>
                        <a:rPr lang="ar-EG" sz="2000" b="1" kern="1200" dirty="0">
                          <a:solidFill>
                            <a:schemeClr val="bg1"/>
                          </a:solidFill>
                          <a:latin typeface="+mj-lt"/>
                          <a:ea typeface="+mn-ea"/>
                          <a:cs typeface="+mn-cs"/>
                        </a:rPr>
                        <a:t>محتويات </a:t>
                      </a:r>
                      <a:r>
                        <a:rPr lang="ar-SA" sz="2000" b="1" kern="1200" dirty="0">
                          <a:solidFill>
                            <a:schemeClr val="bg1"/>
                          </a:solidFill>
                          <a:latin typeface="+mn-lt"/>
                          <a:ea typeface="+mn-ea"/>
                          <a:cs typeface="+mn-cs"/>
                        </a:rPr>
                        <a:t>النشاط</a:t>
                      </a:r>
                      <a:endParaRPr lang="en-US" sz="2000" b="1" kern="1200" dirty="0">
                        <a:solidFill>
                          <a:schemeClr val="bg1"/>
                        </a:solidFill>
                        <a:latin typeface="+mj-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C3C8D"/>
                    </a:solidFill>
                  </a:tcPr>
                </a:tc>
                <a:tc gridSpan="3">
                  <a:txBody>
                    <a:bodyPr/>
                    <a:lstStyle/>
                    <a:p>
                      <a:pPr marL="285750" indent="-285750" algn="r" rtl="1">
                        <a:buFont typeface="Arial" panose="020B0604020202020204" pitchFamily="34" charset="0"/>
                        <a:buChar char="•"/>
                      </a:pPr>
                      <a:r>
                        <a:rPr lang="ar-SA" sz="1800" dirty="0"/>
                        <a:t>استعراض تقارير قياس الأثر</a:t>
                      </a:r>
                    </a:p>
                    <a:p>
                      <a:pPr marL="285750" indent="-285750" algn="r" rtl="1">
                        <a:buFont typeface="Arial" panose="020B0604020202020204" pitchFamily="34" charset="0"/>
                        <a:buChar char="•"/>
                      </a:pPr>
                      <a:r>
                        <a:rPr lang="ar-SA" sz="1800" dirty="0"/>
                        <a:t>شهادات من موظفين وإدارات مستفيدة (إن أمكن)</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hMerge="1">
                  <a:txBody>
                    <a:bodyPr/>
                    <a:lstStyle/>
                    <a:p>
                      <a:endParaRPr lang="en-US"/>
                    </a:p>
                  </a:txBody>
                  <a:tcPr>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540153272"/>
                  </a:ext>
                </a:extLst>
              </a:tr>
              <a:tr h="1418527">
                <a:tc>
                  <a:txBody>
                    <a:bodyPr/>
                    <a:lstStyle/>
                    <a:p>
                      <a:pPr marL="0" algn="ctr" defTabSz="914400" rtl="1" eaLnBrk="1" latinLnBrk="0" hangingPunct="1"/>
                      <a:r>
                        <a:rPr lang="ar-EG" sz="2000" b="1" kern="1200" dirty="0">
                          <a:solidFill>
                            <a:schemeClr val="bg1"/>
                          </a:solidFill>
                          <a:latin typeface="+mn-lt"/>
                          <a:ea typeface="+mn-ea"/>
                          <a:cs typeface="+mn-cs"/>
                        </a:rPr>
                        <a:t>أهداف </a:t>
                      </a:r>
                      <a:r>
                        <a:rPr lang="ar-SA" sz="2000" b="1" kern="1200" dirty="0">
                          <a:solidFill>
                            <a:schemeClr val="bg1"/>
                          </a:solidFill>
                          <a:latin typeface="+mn-lt"/>
                          <a:ea typeface="+mn-ea"/>
                          <a:cs typeface="+mn-cs"/>
                        </a:rPr>
                        <a:t>النشاط</a:t>
                      </a:r>
                      <a:endParaRPr lang="en-US" sz="2000" b="1" kern="1200" dirty="0">
                        <a:solidFill>
                          <a:schemeClr val="bg1"/>
                        </a:solidFill>
                        <a:latin typeface="+mn-lt"/>
                        <a:ea typeface="+mn-ea"/>
                        <a:cs typeface="+mn-cs"/>
                      </a:endParaRPr>
                    </a:p>
                  </a:txBody>
                  <a:tcPr marL="137160" marR="137160" marT="137160" marB="137160" anchor="ctr">
                    <a:lnL w="12700" cap="flat" cmpd="sng" algn="ctr">
                      <a:solidFill>
                        <a:schemeClr val="tx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C3C8D"/>
                    </a:solidFill>
                  </a:tcPr>
                </a:tc>
                <a:tc gridSpan="3">
                  <a:txBody>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إبراز القيمة المضافة للبنية المؤسسية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تعزيز الثقة والدعم لقسم البنية المؤسسية</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800" dirty="0"/>
                        <a:t>تحفيز المزيد من التعاون والمشاركة</a:t>
                      </a:r>
                    </a:p>
                  </a:txBody>
                  <a:tcPr marL="137160" marR="137160" marT="137160" marB="137160" anchor="ctr">
                    <a:lnL w="12700" cap="flat" cmpd="sng" algn="ctr">
                      <a:solidFill>
                        <a:schemeClr val="bg1">
                          <a:lumMod val="8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hMerge="1">
                  <a:txBody>
                    <a:bodyPr/>
                    <a:lstStyle/>
                    <a:p>
                      <a:endParaRPr lang="en-US"/>
                    </a:p>
                  </a:txBody>
                  <a:tcPr/>
                </a:tc>
                <a:extLst>
                  <a:ext uri="{0D108BD9-81ED-4DB2-BD59-A6C34878D82A}">
                    <a16:rowId xmlns:a16="http://schemas.microsoft.com/office/drawing/2014/main" val="1072527477"/>
                  </a:ext>
                </a:extLst>
              </a:tr>
            </a:tbl>
          </a:graphicData>
        </a:graphic>
      </p:graphicFrame>
    </p:spTree>
    <p:extLst>
      <p:ext uri="{BB962C8B-B14F-4D97-AF65-F5344CB8AC3E}">
        <p14:creationId xmlns:p14="http://schemas.microsoft.com/office/powerpoint/2010/main" val="874263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46999-7610-9222-DC58-0211EDEB4CF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3CF0BB1-2687-025B-14E0-90A5F9A0FFAB}"/>
              </a:ext>
            </a:extLst>
          </p:cNvPr>
          <p:cNvSpPr>
            <a:spLocks noGrp="1"/>
          </p:cNvSpPr>
          <p:nvPr>
            <p:ph type="title"/>
          </p:nvPr>
        </p:nvSpPr>
        <p:spPr>
          <a:xfrm>
            <a:off x="5038165" y="3925452"/>
            <a:ext cx="6506136" cy="641639"/>
          </a:xfrm>
        </p:spPr>
        <p:txBody>
          <a:bodyPr/>
          <a:lstStyle/>
          <a:p>
            <a:r>
              <a:rPr lang="ar-SA" dirty="0"/>
              <a:t>الخدمات المرتبطة بخطة التوعية</a:t>
            </a:r>
            <a:endParaRPr lang="ar-EG" dirty="0"/>
          </a:p>
        </p:txBody>
      </p:sp>
      <p:sp>
        <p:nvSpPr>
          <p:cNvPr id="4" name="Text Placeholder 3">
            <a:extLst>
              <a:ext uri="{FF2B5EF4-FFF2-40B4-BE49-F238E27FC236}">
                <a16:creationId xmlns:a16="http://schemas.microsoft.com/office/drawing/2014/main" id="{B8CBFEA1-1134-1981-4B80-9C22683B4457}"/>
              </a:ext>
            </a:extLst>
          </p:cNvPr>
          <p:cNvSpPr>
            <a:spLocks noGrp="1"/>
          </p:cNvSpPr>
          <p:nvPr>
            <p:ph type="body" sz="quarter" idx="14"/>
          </p:nvPr>
        </p:nvSpPr>
        <p:spPr/>
        <p:txBody>
          <a:bodyPr/>
          <a:lstStyle/>
          <a:p>
            <a:r>
              <a:rPr lang="ar-SA" dirty="0"/>
              <a:t>05</a:t>
            </a:r>
            <a:endParaRPr lang="en-US" dirty="0"/>
          </a:p>
        </p:txBody>
      </p:sp>
    </p:spTree>
    <p:extLst>
      <p:ext uri="{BB962C8B-B14F-4D97-AF65-F5344CB8AC3E}">
        <p14:creationId xmlns:p14="http://schemas.microsoft.com/office/powerpoint/2010/main" val="4216802789"/>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17F30-5A2D-655E-E9C1-4B012490419A}"/>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C1A75F2B-CE5A-BB30-AA4C-FD5A1406417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25</a:t>
            </a:fld>
            <a:endParaRPr lang="en-US" sz="1400" b="1" dirty="0">
              <a:solidFill>
                <a:schemeClr val="accent1"/>
              </a:solidFill>
            </a:endParaRPr>
          </a:p>
        </p:txBody>
      </p:sp>
      <p:sp>
        <p:nvSpPr>
          <p:cNvPr id="2" name="Title 1">
            <a:extLst>
              <a:ext uri="{FF2B5EF4-FFF2-40B4-BE49-F238E27FC236}">
                <a16:creationId xmlns:a16="http://schemas.microsoft.com/office/drawing/2014/main" id="{7E8551AC-DB3A-8CD2-E8C3-F608FC63C616}"/>
              </a:ext>
            </a:extLst>
          </p:cNvPr>
          <p:cNvSpPr txBox="1">
            <a:spLocks/>
          </p:cNvSpPr>
          <p:nvPr/>
        </p:nvSpPr>
        <p:spPr>
          <a:xfrm>
            <a:off x="1600201" y="455867"/>
            <a:ext cx="9753600" cy="720172"/>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sz="2400" dirty="0"/>
              <a:t>الخدمات المرتبطة بخطة التوعية ودورها في تمكين وتعزيز الأهداف الاستراتيجية لمكتب البنية المؤسسية</a:t>
            </a:r>
            <a:endParaRPr lang="en-US" sz="2400" dirty="0"/>
          </a:p>
        </p:txBody>
      </p:sp>
      <p:graphicFrame>
        <p:nvGraphicFramePr>
          <p:cNvPr id="6" name="Table 5">
            <a:extLst>
              <a:ext uri="{FF2B5EF4-FFF2-40B4-BE49-F238E27FC236}">
                <a16:creationId xmlns:a16="http://schemas.microsoft.com/office/drawing/2014/main" id="{F6473B23-2FA5-381D-7A87-6C5B69A58DAC}"/>
              </a:ext>
            </a:extLst>
          </p:cNvPr>
          <p:cNvGraphicFramePr>
            <a:graphicFrameLocks noGrp="1"/>
          </p:cNvGraphicFramePr>
          <p:nvPr>
            <p:extLst>
              <p:ext uri="{D42A27DB-BD31-4B8C-83A1-F6EECF244321}">
                <p14:modId xmlns:p14="http://schemas.microsoft.com/office/powerpoint/2010/main" val="2482537653"/>
              </p:ext>
            </p:extLst>
          </p:nvPr>
        </p:nvGraphicFramePr>
        <p:xfrm>
          <a:off x="895002" y="1308562"/>
          <a:ext cx="10590588" cy="4813301"/>
        </p:xfrm>
        <a:graphic>
          <a:graphicData uri="http://schemas.openxmlformats.org/drawingml/2006/table">
            <a:tbl>
              <a:tblPr rtl="1" firstRow="1" firstCol="1" bandRow="1">
                <a:tableStyleId>{5C22544A-7EE6-4342-B048-85BDC9FD1C3A}</a:tableStyleId>
              </a:tblPr>
              <a:tblGrid>
                <a:gridCol w="1176732">
                  <a:extLst>
                    <a:ext uri="{9D8B030D-6E8A-4147-A177-3AD203B41FA5}">
                      <a16:colId xmlns:a16="http://schemas.microsoft.com/office/drawing/2014/main" val="1570712167"/>
                    </a:ext>
                  </a:extLst>
                </a:gridCol>
                <a:gridCol w="1176732">
                  <a:extLst>
                    <a:ext uri="{9D8B030D-6E8A-4147-A177-3AD203B41FA5}">
                      <a16:colId xmlns:a16="http://schemas.microsoft.com/office/drawing/2014/main" val="4010397977"/>
                    </a:ext>
                  </a:extLst>
                </a:gridCol>
                <a:gridCol w="1176732">
                  <a:extLst>
                    <a:ext uri="{9D8B030D-6E8A-4147-A177-3AD203B41FA5}">
                      <a16:colId xmlns:a16="http://schemas.microsoft.com/office/drawing/2014/main" val="1635245079"/>
                    </a:ext>
                  </a:extLst>
                </a:gridCol>
                <a:gridCol w="1176732">
                  <a:extLst>
                    <a:ext uri="{9D8B030D-6E8A-4147-A177-3AD203B41FA5}">
                      <a16:colId xmlns:a16="http://schemas.microsoft.com/office/drawing/2014/main" val="3498430032"/>
                    </a:ext>
                  </a:extLst>
                </a:gridCol>
                <a:gridCol w="1176732">
                  <a:extLst>
                    <a:ext uri="{9D8B030D-6E8A-4147-A177-3AD203B41FA5}">
                      <a16:colId xmlns:a16="http://schemas.microsoft.com/office/drawing/2014/main" val="1306409765"/>
                    </a:ext>
                  </a:extLst>
                </a:gridCol>
                <a:gridCol w="1176732">
                  <a:extLst>
                    <a:ext uri="{9D8B030D-6E8A-4147-A177-3AD203B41FA5}">
                      <a16:colId xmlns:a16="http://schemas.microsoft.com/office/drawing/2014/main" val="1785846593"/>
                    </a:ext>
                  </a:extLst>
                </a:gridCol>
                <a:gridCol w="1176732">
                  <a:extLst>
                    <a:ext uri="{9D8B030D-6E8A-4147-A177-3AD203B41FA5}">
                      <a16:colId xmlns:a16="http://schemas.microsoft.com/office/drawing/2014/main" val="2332328166"/>
                    </a:ext>
                  </a:extLst>
                </a:gridCol>
                <a:gridCol w="1176732">
                  <a:extLst>
                    <a:ext uri="{9D8B030D-6E8A-4147-A177-3AD203B41FA5}">
                      <a16:colId xmlns:a16="http://schemas.microsoft.com/office/drawing/2014/main" val="423882142"/>
                    </a:ext>
                  </a:extLst>
                </a:gridCol>
                <a:gridCol w="1176732">
                  <a:extLst>
                    <a:ext uri="{9D8B030D-6E8A-4147-A177-3AD203B41FA5}">
                      <a16:colId xmlns:a16="http://schemas.microsoft.com/office/drawing/2014/main" val="3592887305"/>
                    </a:ext>
                  </a:extLst>
                </a:gridCol>
              </a:tblGrid>
              <a:tr h="514455">
                <a:tc>
                  <a:txBody>
                    <a:bodyPr/>
                    <a:lstStyle/>
                    <a:p>
                      <a:pPr marL="0" marR="260985" indent="-260985" algn="ctr" rtl="1">
                        <a:lnSpc>
                          <a:spcPct val="107000"/>
                        </a:lnSpc>
                        <a:buNone/>
                      </a:pPr>
                      <a:r>
                        <a:rPr lang="ar-SA" sz="1000" dirty="0">
                          <a:effectLst/>
                        </a:rPr>
                        <a:t>الخدمات \ خطة التوعية</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ar-SA" sz="1000" dirty="0">
                          <a:effectLst/>
                        </a:rPr>
                        <a:t>التعريف بالبنية المؤسسية وأهميتها للهيئة</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ar-SA" sz="1000" dirty="0">
                          <a:effectLst/>
                        </a:rPr>
                        <a:t>مقدمة إلى البنية المؤسسية</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ar-SA" sz="1000" dirty="0">
                          <a:effectLst/>
                        </a:rPr>
                        <a:t>دور البنية المؤسسية في دعم التحول الرقمي</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ar-SA" sz="1000" dirty="0">
                          <a:effectLst/>
                        </a:rPr>
                        <a:t>استراتيجيات البنية المؤسسية</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ar-SA" sz="1000" dirty="0">
                          <a:effectLst/>
                        </a:rPr>
                        <a:t>مبادئ ومعايير البنية المؤسسية</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ar-SA" sz="1000" dirty="0">
                          <a:effectLst/>
                        </a:rPr>
                        <a:t>دليل خدمات البنية المؤسسية</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ar-SA" sz="1000" dirty="0">
                          <a:effectLst/>
                        </a:rPr>
                        <a:t>منهجية البنية المؤسسية</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ar-SA" sz="1000" dirty="0">
                          <a:effectLst/>
                        </a:rPr>
                        <a:t>فعالية وقيمة مساهمات البنية المؤسسية</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extLst>
                  <a:ext uri="{0D108BD9-81ED-4DB2-BD59-A6C34878D82A}">
                    <a16:rowId xmlns:a16="http://schemas.microsoft.com/office/drawing/2014/main" val="3001752724"/>
                  </a:ext>
                </a:extLst>
              </a:tr>
              <a:tr h="514455">
                <a:tc>
                  <a:txBody>
                    <a:bodyPr/>
                    <a:lstStyle/>
                    <a:p>
                      <a:pPr marL="0" marR="260985" indent="-260985" algn="ctr" rtl="1">
                        <a:lnSpc>
                          <a:spcPct val="107000"/>
                        </a:lnSpc>
                        <a:buNone/>
                      </a:pPr>
                      <a:r>
                        <a:rPr lang="ar-SA" sz="1000" dirty="0">
                          <a:effectLst/>
                        </a:rPr>
                        <a:t>خدمة دعم ومراجعة ومواءمة الاستراتيجيات الرقمية للهيئة</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extLst>
                  <a:ext uri="{0D108BD9-81ED-4DB2-BD59-A6C34878D82A}">
                    <a16:rowId xmlns:a16="http://schemas.microsoft.com/office/drawing/2014/main" val="1327606981"/>
                  </a:ext>
                </a:extLst>
              </a:tr>
              <a:tr h="514455">
                <a:tc>
                  <a:txBody>
                    <a:bodyPr/>
                    <a:lstStyle/>
                    <a:p>
                      <a:pPr marL="0" marR="260985" indent="-260985" algn="ctr" rtl="1">
                        <a:lnSpc>
                          <a:spcPct val="107000"/>
                        </a:lnSpc>
                        <a:buNone/>
                      </a:pPr>
                      <a:r>
                        <a:rPr lang="ar-SA" sz="1000" dirty="0">
                          <a:effectLst/>
                        </a:rPr>
                        <a:t>خدمة مواءمة المبادرات الرقمية والمشاريع مع الأهداف الاستراتيجية</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extLst>
                  <a:ext uri="{0D108BD9-81ED-4DB2-BD59-A6C34878D82A}">
                    <a16:rowId xmlns:a16="http://schemas.microsoft.com/office/drawing/2014/main" val="2686583987"/>
                  </a:ext>
                </a:extLst>
              </a:tr>
              <a:tr h="845698">
                <a:tc>
                  <a:txBody>
                    <a:bodyPr/>
                    <a:lstStyle/>
                    <a:p>
                      <a:pPr marL="0" marR="260985" indent="-260985" algn="ctr" rtl="1">
                        <a:lnSpc>
                          <a:spcPct val="107000"/>
                        </a:lnSpc>
                        <a:buNone/>
                      </a:pPr>
                      <a:r>
                        <a:rPr lang="ar-SA" sz="1000" dirty="0">
                          <a:effectLst/>
                        </a:rPr>
                        <a:t>خدمة حوكمة ومراجعة المبادرات والمشاريع الرقمية والتحقق من الامتثال للمعايير والضوابط</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extLst>
                  <a:ext uri="{0D108BD9-81ED-4DB2-BD59-A6C34878D82A}">
                    <a16:rowId xmlns:a16="http://schemas.microsoft.com/office/drawing/2014/main" val="1681983772"/>
                  </a:ext>
                </a:extLst>
              </a:tr>
              <a:tr h="514455">
                <a:tc>
                  <a:txBody>
                    <a:bodyPr/>
                    <a:lstStyle/>
                    <a:p>
                      <a:pPr marL="0" marR="260985" indent="-260985" algn="ctr" rtl="1">
                        <a:lnSpc>
                          <a:spcPct val="107000"/>
                        </a:lnSpc>
                        <a:buNone/>
                      </a:pPr>
                      <a:r>
                        <a:rPr lang="ar-SA" sz="1000" dirty="0">
                          <a:effectLst/>
                        </a:rPr>
                        <a:t>خدمة الاستشارات المعمارية وتقديم الدعم للمشاريع الرقمية</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extLst>
                  <a:ext uri="{0D108BD9-81ED-4DB2-BD59-A6C34878D82A}">
                    <a16:rowId xmlns:a16="http://schemas.microsoft.com/office/drawing/2014/main" val="1511862936"/>
                  </a:ext>
                </a:extLst>
              </a:tr>
              <a:tr h="348832">
                <a:tc>
                  <a:txBody>
                    <a:bodyPr/>
                    <a:lstStyle/>
                    <a:p>
                      <a:pPr marL="0" marR="260985" indent="-260985" algn="ctr" rtl="1">
                        <a:lnSpc>
                          <a:spcPct val="107000"/>
                        </a:lnSpc>
                        <a:buNone/>
                      </a:pPr>
                      <a:r>
                        <a:rPr lang="ar-SA" sz="1000" dirty="0">
                          <a:effectLst/>
                        </a:rPr>
                        <a:t>دراسة أثر التغيير على احتياجات الأعمال</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extLst>
                  <a:ext uri="{0D108BD9-81ED-4DB2-BD59-A6C34878D82A}">
                    <a16:rowId xmlns:a16="http://schemas.microsoft.com/office/drawing/2014/main" val="4201528063"/>
                  </a:ext>
                </a:extLst>
              </a:tr>
              <a:tr h="514455">
                <a:tc>
                  <a:txBody>
                    <a:bodyPr/>
                    <a:lstStyle/>
                    <a:p>
                      <a:pPr marL="0" marR="260985" indent="-260985" algn="ctr" rtl="1">
                        <a:lnSpc>
                          <a:spcPct val="107000"/>
                        </a:lnSpc>
                        <a:buNone/>
                      </a:pPr>
                      <a:r>
                        <a:rPr lang="ar-SA" sz="1000" dirty="0">
                          <a:effectLst/>
                        </a:rPr>
                        <a:t>خدمة دراسة وتقييم التقنيات الناشئة ودراسات الجدوى</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extLst>
                  <a:ext uri="{0D108BD9-81ED-4DB2-BD59-A6C34878D82A}">
                    <a16:rowId xmlns:a16="http://schemas.microsoft.com/office/drawing/2014/main" val="4104808676"/>
                  </a:ext>
                </a:extLst>
              </a:tr>
              <a:tr h="348832">
                <a:tc>
                  <a:txBody>
                    <a:bodyPr/>
                    <a:lstStyle/>
                    <a:p>
                      <a:pPr marL="0" marR="260985" indent="-260985" algn="ctr" rtl="1">
                        <a:lnSpc>
                          <a:spcPct val="107000"/>
                        </a:lnSpc>
                        <a:buNone/>
                      </a:pPr>
                      <a:r>
                        <a:rPr lang="ar-SA" sz="1000" dirty="0">
                          <a:effectLst/>
                        </a:rPr>
                        <a:t>خدمة دعم وتشغيل أداة البنية المؤسسية</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extLst>
                  <a:ext uri="{0D108BD9-81ED-4DB2-BD59-A6C34878D82A}">
                    <a16:rowId xmlns:a16="http://schemas.microsoft.com/office/drawing/2014/main" val="3702296074"/>
                  </a:ext>
                </a:extLst>
              </a:tr>
              <a:tr h="348832">
                <a:tc>
                  <a:txBody>
                    <a:bodyPr/>
                    <a:lstStyle/>
                    <a:p>
                      <a:pPr marL="0" marR="260985" indent="-260985" algn="ctr" rtl="1">
                        <a:lnSpc>
                          <a:spcPct val="107000"/>
                        </a:lnSpc>
                        <a:buNone/>
                      </a:pPr>
                      <a:r>
                        <a:rPr lang="ar-SA" sz="1000" dirty="0">
                          <a:effectLst/>
                        </a:rPr>
                        <a:t>التوعية والمشاركة المعرفية</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extLst>
                  <a:ext uri="{0D108BD9-81ED-4DB2-BD59-A6C34878D82A}">
                    <a16:rowId xmlns:a16="http://schemas.microsoft.com/office/drawing/2014/main" val="3093097745"/>
                  </a:ext>
                </a:extLst>
              </a:tr>
              <a:tr h="348832">
                <a:tc>
                  <a:txBody>
                    <a:bodyPr/>
                    <a:lstStyle/>
                    <a:p>
                      <a:pPr marL="0" marR="260985" indent="-260985" algn="ctr" rtl="1">
                        <a:lnSpc>
                          <a:spcPct val="107000"/>
                        </a:lnSpc>
                        <a:buNone/>
                      </a:pPr>
                      <a:r>
                        <a:rPr lang="ar-SA" sz="1000" dirty="0">
                          <a:effectLst/>
                        </a:rPr>
                        <a:t>خدمة إدارة طلبات الاستثناء والإعفاء</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algn="ctr" rtl="1">
                        <a:lnSpc>
                          <a:spcPct val="107000"/>
                        </a:lnSpc>
                        <a:buNone/>
                      </a:pPr>
                      <a:endParaRPr lang="en-US" sz="1000" dirty="0">
                        <a:effectLst/>
                        <a:latin typeface="Sakkal Majalla" panose="02000000000000000000" pitchFamily="2" charset="-78"/>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tc>
                  <a:txBody>
                    <a:bodyPr/>
                    <a:lstStyle/>
                    <a:p>
                      <a:pPr marL="0" marR="260985" indent="-260985" algn="ctr" rtl="1">
                        <a:lnSpc>
                          <a:spcPct val="107000"/>
                        </a:lnSpc>
                        <a:buNone/>
                      </a:pPr>
                      <a:r>
                        <a:rPr lang="en-US" sz="1000" dirty="0">
                          <a:effectLst/>
                        </a:rPr>
                        <a:t>✔</a:t>
                      </a:r>
                      <a:endParaRPr lang="en-US" sz="1000" dirty="0">
                        <a:effectLst/>
                        <a:latin typeface="Sakkal Majalla" panose="02000000000000000000" pitchFamily="2" charset="-78"/>
                        <a:ea typeface="Calibri" panose="020F0502020204030204" pitchFamily="34" charset="0"/>
                        <a:cs typeface="Sakkal Majalla" panose="02000000000000000000" pitchFamily="2" charset="-78"/>
                      </a:endParaRPr>
                    </a:p>
                  </a:txBody>
                  <a:tcPr marL="8794" marR="8794" marT="8794" marB="8794" anchor="ctr"/>
                </a:tc>
                <a:extLst>
                  <a:ext uri="{0D108BD9-81ED-4DB2-BD59-A6C34878D82A}">
                    <a16:rowId xmlns:a16="http://schemas.microsoft.com/office/drawing/2014/main" val="2974689893"/>
                  </a:ext>
                </a:extLst>
              </a:tr>
            </a:tbl>
          </a:graphicData>
        </a:graphic>
      </p:graphicFrame>
    </p:spTree>
    <p:extLst>
      <p:ext uri="{BB962C8B-B14F-4D97-AF65-F5344CB8AC3E}">
        <p14:creationId xmlns:p14="http://schemas.microsoft.com/office/powerpoint/2010/main" val="37017367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038165" y="3925452"/>
            <a:ext cx="6506136" cy="641639"/>
          </a:xfrm>
        </p:spPr>
        <p:txBody>
          <a:bodyPr/>
          <a:lstStyle/>
          <a:p>
            <a:r>
              <a:rPr lang="ar-SA" dirty="0"/>
              <a:t>عينة من المواد التوعوية</a:t>
            </a:r>
            <a:endParaRPr lang="ar-EG" dirty="0"/>
          </a:p>
        </p:txBody>
      </p:sp>
      <p:sp>
        <p:nvSpPr>
          <p:cNvPr id="4" name="Text Placeholder 3"/>
          <p:cNvSpPr>
            <a:spLocks noGrp="1"/>
          </p:cNvSpPr>
          <p:nvPr>
            <p:ph type="body" sz="quarter" idx="14"/>
          </p:nvPr>
        </p:nvSpPr>
        <p:spPr/>
        <p:txBody>
          <a:bodyPr/>
          <a:lstStyle/>
          <a:p>
            <a:r>
              <a:rPr lang="ar-SA" dirty="0"/>
              <a:t>06</a:t>
            </a:r>
            <a:endParaRPr lang="en-US" dirty="0"/>
          </a:p>
        </p:txBody>
      </p:sp>
    </p:spTree>
    <p:extLst>
      <p:ext uri="{BB962C8B-B14F-4D97-AF65-F5344CB8AC3E}">
        <p14:creationId xmlns:p14="http://schemas.microsoft.com/office/powerpoint/2010/main" val="3308062631"/>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عينة من المواد التوعوية</a:t>
            </a:r>
            <a:endParaRPr lang="ar-EG" dirty="0"/>
          </a:p>
        </p:txBody>
      </p:sp>
      <p:pic>
        <p:nvPicPr>
          <p:cNvPr id="4" name="Picture 3">
            <a:extLst>
              <a:ext uri="{FF2B5EF4-FFF2-40B4-BE49-F238E27FC236}">
                <a16:creationId xmlns:a16="http://schemas.microsoft.com/office/drawing/2014/main" id="{608EEB00-1D34-4582-B90B-D62C8B88B8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61880" y="1216058"/>
            <a:ext cx="7868240" cy="442588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9897397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28</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عينة من المواد التوعوية</a:t>
            </a:r>
            <a:endParaRPr lang="ar-EG" dirty="0"/>
          </a:p>
        </p:txBody>
      </p:sp>
      <p:pic>
        <p:nvPicPr>
          <p:cNvPr id="7" name="Picture 6">
            <a:extLst>
              <a:ext uri="{FF2B5EF4-FFF2-40B4-BE49-F238E27FC236}">
                <a16:creationId xmlns:a16="http://schemas.microsoft.com/office/drawing/2014/main" id="{33FA1156-4D24-44A1-AD7C-07989879C2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39332" y="1147124"/>
            <a:ext cx="8113336" cy="456375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6785185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29</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عينة من المواد التوعوية</a:t>
            </a:r>
            <a:endParaRPr lang="ar-EG" dirty="0"/>
          </a:p>
        </p:txBody>
      </p:sp>
      <p:pic>
        <p:nvPicPr>
          <p:cNvPr id="7" name="Picture 6">
            <a:extLst>
              <a:ext uri="{FF2B5EF4-FFF2-40B4-BE49-F238E27FC236}">
                <a16:creationId xmlns:a16="http://schemas.microsoft.com/office/drawing/2014/main" id="{F6937B5A-83ED-46B1-A638-EA796BB2D68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67612" y="1163032"/>
            <a:ext cx="8056776" cy="453193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0715001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30</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عينة من المواد التوعوية</a:t>
            </a:r>
            <a:endParaRPr lang="ar-EG" dirty="0"/>
          </a:p>
        </p:txBody>
      </p:sp>
      <p:pic>
        <p:nvPicPr>
          <p:cNvPr id="7" name="Picture 6">
            <a:extLst>
              <a:ext uri="{FF2B5EF4-FFF2-40B4-BE49-F238E27FC236}">
                <a16:creationId xmlns:a16="http://schemas.microsoft.com/office/drawing/2014/main" id="{D567E6AA-7790-41B0-B47D-6666D05DEC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48759" y="1152426"/>
            <a:ext cx="8094482" cy="455314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5708198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038165" y="3925452"/>
            <a:ext cx="6506136" cy="641639"/>
          </a:xfrm>
        </p:spPr>
        <p:txBody>
          <a:bodyPr/>
          <a:lstStyle/>
          <a:p>
            <a:r>
              <a:rPr lang="ar-EG" dirty="0"/>
              <a:t>مؤشرات الأداء المرتبطة بخطة التوعية</a:t>
            </a:r>
          </a:p>
        </p:txBody>
      </p:sp>
      <p:sp>
        <p:nvSpPr>
          <p:cNvPr id="4" name="Text Placeholder 3"/>
          <p:cNvSpPr>
            <a:spLocks noGrp="1"/>
          </p:cNvSpPr>
          <p:nvPr>
            <p:ph type="body" sz="quarter" idx="14"/>
          </p:nvPr>
        </p:nvSpPr>
        <p:spPr/>
        <p:txBody>
          <a:bodyPr/>
          <a:lstStyle/>
          <a:p>
            <a:r>
              <a:rPr lang="ar-SA" dirty="0"/>
              <a:t>07</a:t>
            </a:r>
            <a:endParaRPr lang="en-US" dirty="0"/>
          </a:p>
        </p:txBody>
      </p:sp>
    </p:spTree>
    <p:extLst>
      <p:ext uri="{BB962C8B-B14F-4D97-AF65-F5344CB8AC3E}">
        <p14:creationId xmlns:p14="http://schemas.microsoft.com/office/powerpoint/2010/main" val="3348552915"/>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622169" y="6371303"/>
            <a:ext cx="488875" cy="316185"/>
          </a:xfrm>
        </p:spPr>
        <p:txBody>
          <a:bodyPr/>
          <a:lstStyle/>
          <a:p>
            <a:fld id="{0BE4EC83-A869-464E-AE9F-881796FB085E}" type="slidenum">
              <a:rPr lang="en-US" smtClean="0"/>
              <a:t>32</a:t>
            </a:fld>
            <a:endParaRPr lang="en-US"/>
          </a:p>
        </p:txBody>
      </p:sp>
      <p:sp>
        <p:nvSpPr>
          <p:cNvPr id="2" name="Title 1">
            <a:extLst>
              <a:ext uri="{FF2B5EF4-FFF2-40B4-BE49-F238E27FC236}">
                <a16:creationId xmlns:a16="http://schemas.microsoft.com/office/drawing/2014/main" id="{66E15D19-C4D2-CAA9-4AB0-1D02BFD0FDB8}"/>
              </a:ext>
            </a:extLst>
          </p:cNvPr>
          <p:cNvSpPr txBox="1">
            <a:spLocks/>
          </p:cNvSpPr>
          <p:nvPr/>
        </p:nvSpPr>
        <p:spPr>
          <a:xfrm>
            <a:off x="529848" y="356581"/>
            <a:ext cx="10839450"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SA" dirty="0"/>
              <a:t>قائمة مؤشرات الأداء المرتبطة بخطة التوعية</a:t>
            </a:r>
          </a:p>
        </p:txBody>
      </p:sp>
      <p:sp>
        <p:nvSpPr>
          <p:cNvPr id="55" name="Content Placeholder 7">
            <a:extLst>
              <a:ext uri="{FF2B5EF4-FFF2-40B4-BE49-F238E27FC236}">
                <a16:creationId xmlns:a16="http://schemas.microsoft.com/office/drawing/2014/main" id="{B2FB9679-B555-4E8B-AB1B-A5240C485CC2}"/>
              </a:ext>
            </a:extLst>
          </p:cNvPr>
          <p:cNvSpPr txBox="1">
            <a:spLocks/>
          </p:cNvSpPr>
          <p:nvPr/>
        </p:nvSpPr>
        <p:spPr>
          <a:xfrm>
            <a:off x="1063730" y="1134046"/>
            <a:ext cx="10539556" cy="397369"/>
          </a:xfrm>
          <a:prstGeom prst="rect">
            <a:avLst/>
          </a:prstGeom>
        </p:spPr>
        <p:txBody>
          <a:bodyPr vert="horz" lIns="91440" tIns="45720" rIns="91440" bIns="45720" rtlCol="0" anchor="ctr" anchorCtr="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lang="en-US" sz="2000" kern="1200" dirty="0">
                <a:solidFill>
                  <a:schemeClr val="accent3"/>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lang="en-US" sz="1800" kern="1200" dirty="0">
                <a:solidFill>
                  <a:schemeClr val="accent3"/>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lang="en-US" sz="1600" kern="1200" dirty="0">
                <a:solidFill>
                  <a:schemeClr val="accent3"/>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lang="en-US" sz="1400" kern="1200" dirty="0">
                <a:solidFill>
                  <a:schemeClr val="accent3"/>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lang="en-US" sz="1400" kern="1200" dirty="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20000"/>
              </a:lnSpc>
              <a:spcBef>
                <a:spcPts val="0"/>
              </a:spcBef>
              <a:spcAft>
                <a:spcPts val="0"/>
              </a:spcAft>
            </a:pPr>
            <a:r>
              <a:rPr lang="ar-SA" sz="2400" dirty="0">
                <a:solidFill>
                  <a:schemeClr val="tx1">
                    <a:lumMod val="85000"/>
                    <a:lumOff val="15000"/>
                  </a:schemeClr>
                </a:solidFill>
                <a:latin typeface="Sakkal Majalla" panose="02000000000000000000" pitchFamily="2" charset="-78"/>
                <a:cs typeface="Sakkal Majalla" panose="02000000000000000000" pitchFamily="2" charset="-78"/>
              </a:rPr>
              <a:t>تم تحديد مؤشرات الأداء المرتبطة بخطة التوعية من ضمن مؤشرات الأداء التشغيلية للبنية المؤسسية كالتالي:</a:t>
            </a:r>
          </a:p>
        </p:txBody>
      </p:sp>
      <p:grpSp>
        <p:nvGrpSpPr>
          <p:cNvPr id="57" name="Group 56">
            <a:extLst>
              <a:ext uri="{FF2B5EF4-FFF2-40B4-BE49-F238E27FC236}">
                <a16:creationId xmlns:a16="http://schemas.microsoft.com/office/drawing/2014/main" id="{68E51F4E-0659-47FD-B4D8-DDD76D6C2B16}"/>
              </a:ext>
            </a:extLst>
          </p:cNvPr>
          <p:cNvGrpSpPr/>
          <p:nvPr/>
        </p:nvGrpSpPr>
        <p:grpSpPr>
          <a:xfrm>
            <a:off x="2345450" y="2712998"/>
            <a:ext cx="2481490" cy="1432004"/>
            <a:chOff x="1320393" y="2025"/>
            <a:chExt cx="1485442" cy="885778"/>
          </a:xfrm>
          <a:solidFill>
            <a:schemeClr val="accent2">
              <a:lumMod val="75000"/>
            </a:schemeClr>
          </a:solidFill>
        </p:grpSpPr>
        <p:sp>
          <p:nvSpPr>
            <p:cNvPr id="58" name="Rounded Rectangle 36">
              <a:extLst>
                <a:ext uri="{FF2B5EF4-FFF2-40B4-BE49-F238E27FC236}">
                  <a16:creationId xmlns:a16="http://schemas.microsoft.com/office/drawing/2014/main" id="{349BEEB8-3635-4DE4-8FB7-81D705E81870}"/>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59" name="Rounded Rectangle 4">
              <a:extLst>
                <a:ext uri="{FF2B5EF4-FFF2-40B4-BE49-F238E27FC236}">
                  <a16:creationId xmlns:a16="http://schemas.microsoft.com/office/drawing/2014/main" id="{A8AD3D64-4F95-43F0-9D93-43BBE90AA33A}"/>
                </a:ext>
              </a:extLst>
            </p:cNvPr>
            <p:cNvSpPr txBox="1"/>
            <p:nvPr/>
          </p:nvSpPr>
          <p:spPr>
            <a:xfrm>
              <a:off x="1363632" y="45265"/>
              <a:ext cx="1398962" cy="799299"/>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ar-SA" sz="2400" b="1" dirty="0">
                  <a:latin typeface="Sakkal Majalla" panose="02000000000000000000" pitchFamily="2" charset="-78"/>
                  <a:ea typeface="Calibri" panose="020F0502020204030204" pitchFamily="34" charset="0"/>
                  <a:cs typeface="Sakkal Majalla" panose="02000000000000000000" pitchFamily="2" charset="-78"/>
                </a:rPr>
                <a:t>نسبة الموظفين المشاركين في ورش العمل</a:t>
              </a:r>
            </a:p>
          </p:txBody>
        </p:sp>
      </p:grpSp>
      <p:grpSp>
        <p:nvGrpSpPr>
          <p:cNvPr id="60" name="Group 59">
            <a:extLst>
              <a:ext uri="{FF2B5EF4-FFF2-40B4-BE49-F238E27FC236}">
                <a16:creationId xmlns:a16="http://schemas.microsoft.com/office/drawing/2014/main" id="{DBB55B8C-3250-4CB0-BDC6-516C3CCE9024}"/>
              </a:ext>
            </a:extLst>
          </p:cNvPr>
          <p:cNvGrpSpPr/>
          <p:nvPr/>
        </p:nvGrpSpPr>
        <p:grpSpPr>
          <a:xfrm>
            <a:off x="4986846" y="2699698"/>
            <a:ext cx="2481490" cy="1432004"/>
            <a:chOff x="1320393" y="2025"/>
            <a:chExt cx="1485442" cy="885778"/>
          </a:xfrm>
          <a:solidFill>
            <a:schemeClr val="accent2">
              <a:lumMod val="75000"/>
            </a:schemeClr>
          </a:solidFill>
        </p:grpSpPr>
        <p:sp>
          <p:nvSpPr>
            <p:cNvPr id="61" name="Rounded Rectangle 36">
              <a:extLst>
                <a:ext uri="{FF2B5EF4-FFF2-40B4-BE49-F238E27FC236}">
                  <a16:creationId xmlns:a16="http://schemas.microsoft.com/office/drawing/2014/main" id="{434CBCDC-49B4-4934-9DC2-AC397FD46DA3}"/>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62" name="Rounded Rectangle 4">
              <a:extLst>
                <a:ext uri="{FF2B5EF4-FFF2-40B4-BE49-F238E27FC236}">
                  <a16:creationId xmlns:a16="http://schemas.microsoft.com/office/drawing/2014/main" id="{81B306A7-D67F-4F6A-8125-E707BAD651DB}"/>
                </a:ext>
              </a:extLst>
            </p:cNvPr>
            <p:cNvSpPr txBox="1"/>
            <p:nvPr/>
          </p:nvSpPr>
          <p:spPr>
            <a:xfrm>
              <a:off x="1320393" y="45265"/>
              <a:ext cx="1485440" cy="799299"/>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ar-SA" sz="2400" b="1" dirty="0">
                  <a:latin typeface="Sakkal Majalla" panose="02000000000000000000" pitchFamily="2" charset="-78"/>
                  <a:ea typeface="Calibri" panose="020F0502020204030204" pitchFamily="34" charset="0"/>
                  <a:cs typeface="Sakkal Majalla" panose="02000000000000000000" pitchFamily="2" charset="-78"/>
                </a:rPr>
                <a:t>عدد ورش العمل وجلسات التدريب المنعقدة</a:t>
              </a:r>
            </a:p>
          </p:txBody>
        </p:sp>
      </p:grpSp>
      <p:grpSp>
        <p:nvGrpSpPr>
          <p:cNvPr id="64" name="Group 63">
            <a:extLst>
              <a:ext uri="{FF2B5EF4-FFF2-40B4-BE49-F238E27FC236}">
                <a16:creationId xmlns:a16="http://schemas.microsoft.com/office/drawing/2014/main" id="{7224FA24-7A35-4A29-B497-A1EA4427007B}"/>
              </a:ext>
            </a:extLst>
          </p:cNvPr>
          <p:cNvGrpSpPr/>
          <p:nvPr/>
        </p:nvGrpSpPr>
        <p:grpSpPr>
          <a:xfrm>
            <a:off x="7625415" y="2712998"/>
            <a:ext cx="2481490" cy="1432004"/>
            <a:chOff x="1320393" y="2025"/>
            <a:chExt cx="1485442" cy="885778"/>
          </a:xfrm>
          <a:solidFill>
            <a:schemeClr val="accent2">
              <a:lumMod val="75000"/>
            </a:schemeClr>
          </a:solidFill>
        </p:grpSpPr>
        <p:sp>
          <p:nvSpPr>
            <p:cNvPr id="70" name="Rounded Rectangle 36">
              <a:extLst>
                <a:ext uri="{FF2B5EF4-FFF2-40B4-BE49-F238E27FC236}">
                  <a16:creationId xmlns:a16="http://schemas.microsoft.com/office/drawing/2014/main" id="{F902FAD1-AADA-437A-B4E5-55CA008E90AE}"/>
                </a:ext>
              </a:extLst>
            </p:cNvPr>
            <p:cNvSpPr/>
            <p:nvPr/>
          </p:nvSpPr>
          <p:spPr>
            <a:xfrm>
              <a:off x="1320393" y="2025"/>
              <a:ext cx="1485442" cy="885778"/>
            </a:xfrm>
            <a:prstGeom prst="roundRect">
              <a:avLst/>
            </a:prstGeom>
            <a:grpFill/>
            <a:ln w="19050">
              <a:solidFill>
                <a:schemeClr val="bg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1000" b="1">
                <a:latin typeface="Sakkal Majalla" panose="02000000000000000000" pitchFamily="2" charset="-78"/>
                <a:cs typeface="Sakkal Majalla" panose="02000000000000000000" pitchFamily="2" charset="-78"/>
              </a:endParaRPr>
            </a:p>
          </p:txBody>
        </p:sp>
        <p:sp>
          <p:nvSpPr>
            <p:cNvPr id="74" name="Rounded Rectangle 4">
              <a:extLst>
                <a:ext uri="{FF2B5EF4-FFF2-40B4-BE49-F238E27FC236}">
                  <a16:creationId xmlns:a16="http://schemas.microsoft.com/office/drawing/2014/main" id="{455A1C22-6DC6-4E8F-8039-963BA8A20BFE}"/>
                </a:ext>
              </a:extLst>
            </p:cNvPr>
            <p:cNvSpPr txBox="1"/>
            <p:nvPr/>
          </p:nvSpPr>
          <p:spPr>
            <a:xfrm>
              <a:off x="1363632" y="45265"/>
              <a:ext cx="1398962" cy="799299"/>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57150" tIns="28575" rIns="57150" bIns="28575" numCol="1" spcCol="1270" anchor="ctr" anchorCtr="0">
              <a:noAutofit/>
            </a:bodyPr>
            <a:lstStyle/>
            <a:p>
              <a:pPr algn="ctr" rtl="1">
                <a:lnSpc>
                  <a:spcPct val="90000"/>
                </a:lnSpc>
              </a:pPr>
              <a:r>
                <a:rPr lang="ar-SA" sz="2400" b="1" dirty="0">
                  <a:latin typeface="Sakkal Majalla" panose="02000000000000000000" pitchFamily="2" charset="-78"/>
                  <a:ea typeface="Calibri" panose="020F0502020204030204" pitchFamily="34" charset="0"/>
                  <a:cs typeface="Sakkal Majalla" panose="02000000000000000000" pitchFamily="2" charset="-78"/>
                </a:rPr>
                <a:t>عدد المواد والنشرات التوعوية التي تم نشرها</a:t>
              </a:r>
            </a:p>
          </p:txBody>
        </p:sp>
      </p:grpSp>
    </p:spTree>
    <p:extLst>
      <p:ext uri="{BB962C8B-B14F-4D97-AF65-F5344CB8AC3E}">
        <p14:creationId xmlns:p14="http://schemas.microsoft.com/office/powerpoint/2010/main" val="89814299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 Same Side Corner Rectangle 3"/>
          <p:cNvSpPr/>
          <p:nvPr/>
        </p:nvSpPr>
        <p:spPr>
          <a:xfrm>
            <a:off x="838200" y="1748300"/>
            <a:ext cx="10515601" cy="3975167"/>
          </a:xfrm>
          <a:prstGeom prst="round2SameRect">
            <a:avLst>
              <a:gd name="adj1" fmla="val 0"/>
              <a:gd name="adj2" fmla="val 872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p:cNvSpPr/>
          <p:nvPr/>
        </p:nvSpPr>
        <p:spPr>
          <a:xfrm>
            <a:off x="1872988" y="3167309"/>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ar-SA" dirty="0"/>
              <a:t>بطاقة</a:t>
            </a:r>
            <a:r>
              <a:rPr lang="ar-EG" dirty="0"/>
              <a:t> </a:t>
            </a:r>
            <a:r>
              <a:rPr lang="ar-SA" dirty="0"/>
              <a:t>تعريف المؤشر "عدد المواد والنشرات التوعوية التي تم نشرها"</a:t>
            </a:r>
            <a:endParaRPr lang="en-US" dirty="0"/>
          </a:p>
        </p:txBody>
      </p:sp>
      <p:sp>
        <p:nvSpPr>
          <p:cNvPr id="3" name="Slide Number Placeholder 2"/>
          <p:cNvSpPr>
            <a:spLocks noGrp="1"/>
          </p:cNvSpPr>
          <p:nvPr>
            <p:ph type="sldNum" sz="quarter" idx="12"/>
          </p:nvPr>
        </p:nvSpPr>
        <p:spPr/>
        <p:txBody>
          <a:bodyPr/>
          <a:lstStyle/>
          <a:p>
            <a:fld id="{0BE4EC83-A869-464E-AE9F-881796FB085E}" type="slidenum">
              <a:rPr lang="en-US" smtClean="0"/>
              <a:t>33</a:t>
            </a:fld>
            <a:endParaRPr lang="en-US"/>
          </a:p>
        </p:txBody>
      </p:sp>
      <p:sp>
        <p:nvSpPr>
          <p:cNvPr id="5" name="Freeform 4"/>
          <p:cNvSpPr/>
          <p:nvPr/>
        </p:nvSpPr>
        <p:spPr>
          <a:xfrm>
            <a:off x="3433482" y="161898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5"/>
          <p:cNvSpPr/>
          <p:nvPr/>
        </p:nvSpPr>
        <p:spPr>
          <a:xfrm flipH="1">
            <a:off x="5596932" y="173722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p:cNvSpPr/>
          <p:nvPr/>
        </p:nvSpPr>
        <p:spPr>
          <a:xfrm>
            <a:off x="2981661" y="1475899"/>
            <a:ext cx="6228678" cy="688914"/>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p:cNvSpPr/>
          <p:nvPr/>
        </p:nvSpPr>
        <p:spPr>
          <a:xfrm>
            <a:off x="2981661" y="1287436"/>
            <a:ext cx="6228678" cy="92532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1"/>
          <p:cNvSpPr txBox="1">
            <a:spLocks/>
          </p:cNvSpPr>
          <p:nvPr/>
        </p:nvSpPr>
        <p:spPr>
          <a:xfrm>
            <a:off x="2949387" y="1565225"/>
            <a:ext cx="6293226" cy="647533"/>
          </a:xfrm>
          <a:prstGeom prst="rect">
            <a:avLst/>
          </a:prstGeom>
        </p:spPr>
        <p:txBody>
          <a:bodyPr anchor="ctr" anchorCtr="0">
            <a:noAutofit/>
          </a:bodyPr>
          <a:lstStyle>
            <a:lvl1pPr algn="r" defTabSz="914400" rtl="1" eaLnBrk="1" latinLnBrk="0" hangingPunct="1">
              <a:lnSpc>
                <a:spcPct val="100000"/>
              </a:lnSpc>
              <a:spcBef>
                <a:spcPct val="0"/>
              </a:spcBef>
              <a:buNone/>
              <a:defRPr sz="3200" b="1" kern="1200">
                <a:solidFill>
                  <a:schemeClr val="accent1">
                    <a:lumMod val="75000"/>
                  </a:schemeClr>
                </a:solidFill>
                <a:latin typeface="+mj-lt"/>
                <a:ea typeface="+mj-ea"/>
                <a:cs typeface="+mj-cs"/>
              </a:defRPr>
            </a:lvl1pPr>
          </a:lstStyle>
          <a:p>
            <a:pPr algn="ctr"/>
            <a:r>
              <a:rPr lang="ar-SA" sz="2000" dirty="0">
                <a:solidFill>
                  <a:schemeClr val="bg1"/>
                </a:solidFill>
              </a:rPr>
              <a:t>عدد المواد والنشرات التوعوية التي تم نشرها</a:t>
            </a:r>
          </a:p>
        </p:txBody>
      </p:sp>
      <p:sp>
        <p:nvSpPr>
          <p:cNvPr id="10" name="Round Same Side Corner Rectangle 9"/>
          <p:cNvSpPr/>
          <p:nvPr/>
        </p:nvSpPr>
        <p:spPr>
          <a:xfrm>
            <a:off x="5385860" y="1287437"/>
            <a:ext cx="1420280" cy="281048"/>
          </a:xfrm>
          <a:prstGeom prst="round2SameRect">
            <a:avLst>
              <a:gd name="adj1" fmla="val 0"/>
              <a:gd name="adj2" fmla="val 50000"/>
            </a:avLst>
          </a:prstGeom>
          <a:solidFill>
            <a:schemeClr val="bg1"/>
          </a:solidFill>
          <a:effectLst>
            <a:outerShdw blurRad="50800" dist="25400" dir="5400000" sx="97000" sy="97000" algn="t" rotWithShape="0">
              <a:prstClr val="black">
                <a:alpha val="20000"/>
              </a:prstClr>
            </a:outerShdw>
          </a:effectLst>
        </p:spPr>
        <p:txBody>
          <a:bodyPr wrap="none" tIns="0" bIns="45720">
            <a:noAutofit/>
          </a:bodyPr>
          <a:lstStyle/>
          <a:p>
            <a:pPr lvl="0" algn="ctr" rtl="1"/>
            <a:r>
              <a:rPr lang="en-US" b="1" dirty="0">
                <a:solidFill>
                  <a:schemeClr val="accent1"/>
                </a:solidFill>
              </a:rPr>
              <a:t>EA-KPI-AW-01</a:t>
            </a:r>
            <a:endParaRPr lang="ar-EG" b="1" dirty="0">
              <a:solidFill>
                <a:schemeClr val="accent1"/>
              </a:solidFill>
            </a:endParaRPr>
          </a:p>
        </p:txBody>
      </p:sp>
      <p:sp>
        <p:nvSpPr>
          <p:cNvPr id="11" name="Rounded Rectangle 10"/>
          <p:cNvSpPr/>
          <p:nvPr/>
        </p:nvSpPr>
        <p:spPr>
          <a:xfrm>
            <a:off x="6911787" y="433911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p:cNvSpPr txBox="1"/>
          <p:nvPr/>
        </p:nvSpPr>
        <p:spPr>
          <a:xfrm>
            <a:off x="6708401" y="4296611"/>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قطبية القياس</a:t>
            </a:r>
          </a:p>
        </p:txBody>
      </p:sp>
      <p:sp>
        <p:nvSpPr>
          <p:cNvPr id="13" name="TextBox 12"/>
          <p:cNvSpPr txBox="1"/>
          <p:nvPr/>
        </p:nvSpPr>
        <p:spPr>
          <a:xfrm>
            <a:off x="6790378" y="4944989"/>
            <a:ext cx="965308" cy="338554"/>
          </a:xfrm>
          <a:prstGeom prst="rect">
            <a:avLst/>
          </a:prstGeom>
          <a:noFill/>
        </p:spPr>
        <p:txBody>
          <a:bodyPr wrap="square" rtlCol="0">
            <a:spAutoFit/>
          </a:bodyPr>
          <a:lstStyle/>
          <a:p>
            <a:pPr algn="ctr"/>
            <a:r>
              <a:rPr lang="ar-EG" sz="1600" b="1" dirty="0">
                <a:solidFill>
                  <a:schemeClr val="accent1"/>
                </a:solidFill>
              </a:rPr>
              <a:t>تصاعدي</a:t>
            </a:r>
            <a:endParaRPr lang="en-US" sz="1600" b="1" dirty="0">
              <a:solidFill>
                <a:schemeClr val="accent1"/>
              </a:solidFill>
            </a:endParaRPr>
          </a:p>
        </p:txBody>
      </p:sp>
      <p:grpSp>
        <p:nvGrpSpPr>
          <p:cNvPr id="14" name="Group 13"/>
          <p:cNvGrpSpPr>
            <a:grpSpLocks noChangeAspect="1"/>
          </p:cNvGrpSpPr>
          <p:nvPr/>
        </p:nvGrpSpPr>
        <p:grpSpPr>
          <a:xfrm>
            <a:off x="9260721" y="4673989"/>
            <a:ext cx="243890" cy="242732"/>
            <a:chOff x="2501900" y="457201"/>
            <a:chExt cx="1674813" cy="1666876"/>
          </a:xfrm>
          <a:solidFill>
            <a:schemeClr val="accent1"/>
          </a:solidFill>
        </p:grpSpPr>
        <p:sp>
          <p:nvSpPr>
            <p:cNvPr id="15" name="Freeform 5"/>
            <p:cNvSpPr>
              <a:spLocks/>
            </p:cNvSpPr>
            <p:nvPr/>
          </p:nvSpPr>
          <p:spPr bwMode="auto">
            <a:xfrm>
              <a:off x="2857500" y="457201"/>
              <a:ext cx="130175" cy="273050"/>
            </a:xfrm>
            <a:custGeom>
              <a:avLst/>
              <a:gdLst>
                <a:gd name="T0" fmla="*/ 0 w 350"/>
                <a:gd name="T1" fmla="*/ 367 h 734"/>
                <a:gd name="T2" fmla="*/ 0 w 350"/>
                <a:gd name="T3" fmla="*/ 734 h 734"/>
                <a:gd name="T4" fmla="*/ 175 w 350"/>
                <a:gd name="T5" fmla="*/ 734 h 734"/>
                <a:gd name="T6" fmla="*/ 350 w 350"/>
                <a:gd name="T7" fmla="*/ 734 h 734"/>
                <a:gd name="T8" fmla="*/ 350 w 350"/>
                <a:gd name="T9" fmla="*/ 367 h 734"/>
                <a:gd name="T10" fmla="*/ 350 w 350"/>
                <a:gd name="T11" fmla="*/ 0 h 734"/>
                <a:gd name="T12" fmla="*/ 175 w 350"/>
                <a:gd name="T13" fmla="*/ 0 h 734"/>
                <a:gd name="T14" fmla="*/ 0 w 350"/>
                <a:gd name="T15" fmla="*/ 0 h 734"/>
                <a:gd name="T16" fmla="*/ 0 w 350"/>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734">
                  <a:moveTo>
                    <a:pt x="0" y="367"/>
                  </a:moveTo>
                  <a:lnTo>
                    <a:pt x="0" y="734"/>
                  </a:lnTo>
                  <a:lnTo>
                    <a:pt x="175" y="734"/>
                  </a:lnTo>
                  <a:lnTo>
                    <a:pt x="350" y="734"/>
                  </a:lnTo>
                  <a:lnTo>
                    <a:pt x="350" y="367"/>
                  </a:lnTo>
                  <a:lnTo>
                    <a:pt x="350" y="0"/>
                  </a:lnTo>
                  <a:lnTo>
                    <a:pt x="175"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6"/>
            <p:cNvSpPr>
              <a:spLocks/>
            </p:cNvSpPr>
            <p:nvPr/>
          </p:nvSpPr>
          <p:spPr bwMode="auto">
            <a:xfrm>
              <a:off x="3690938" y="457201"/>
              <a:ext cx="136525" cy="273050"/>
            </a:xfrm>
            <a:custGeom>
              <a:avLst/>
              <a:gdLst>
                <a:gd name="T0" fmla="*/ 0 w 367"/>
                <a:gd name="T1" fmla="*/ 367 h 734"/>
                <a:gd name="T2" fmla="*/ 0 w 367"/>
                <a:gd name="T3" fmla="*/ 734 h 734"/>
                <a:gd name="T4" fmla="*/ 184 w 367"/>
                <a:gd name="T5" fmla="*/ 734 h 734"/>
                <a:gd name="T6" fmla="*/ 367 w 367"/>
                <a:gd name="T7" fmla="*/ 734 h 734"/>
                <a:gd name="T8" fmla="*/ 367 w 367"/>
                <a:gd name="T9" fmla="*/ 367 h 734"/>
                <a:gd name="T10" fmla="*/ 367 w 367"/>
                <a:gd name="T11" fmla="*/ 0 h 734"/>
                <a:gd name="T12" fmla="*/ 184 w 367"/>
                <a:gd name="T13" fmla="*/ 0 h 734"/>
                <a:gd name="T14" fmla="*/ 0 w 367"/>
                <a:gd name="T15" fmla="*/ 0 h 734"/>
                <a:gd name="T16" fmla="*/ 0 w 367"/>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734">
                  <a:moveTo>
                    <a:pt x="0" y="367"/>
                  </a:moveTo>
                  <a:lnTo>
                    <a:pt x="0" y="734"/>
                  </a:lnTo>
                  <a:lnTo>
                    <a:pt x="184" y="734"/>
                  </a:lnTo>
                  <a:lnTo>
                    <a:pt x="367" y="734"/>
                  </a:lnTo>
                  <a:lnTo>
                    <a:pt x="367" y="367"/>
                  </a:lnTo>
                  <a:lnTo>
                    <a:pt x="367" y="0"/>
                  </a:lnTo>
                  <a:lnTo>
                    <a:pt x="184"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24"/>
            <p:cNvSpPr>
              <a:spLocks noEditPoints="1"/>
            </p:cNvSpPr>
            <p:nvPr/>
          </p:nvSpPr>
          <p:spPr bwMode="auto">
            <a:xfrm>
              <a:off x="2501900" y="661989"/>
              <a:ext cx="1674813" cy="1462088"/>
            </a:xfrm>
            <a:custGeom>
              <a:avLst/>
              <a:gdLst>
                <a:gd name="T0" fmla="*/ 0 w 4483"/>
                <a:gd name="T1" fmla="*/ 475 h 3917"/>
                <a:gd name="T2" fmla="*/ 0 w 4483"/>
                <a:gd name="T3" fmla="*/ 950 h 3917"/>
                <a:gd name="T4" fmla="*/ 92 w 4483"/>
                <a:gd name="T5" fmla="*/ 950 h 3917"/>
                <a:gd name="T6" fmla="*/ 183 w 4483"/>
                <a:gd name="T7" fmla="*/ 950 h 3917"/>
                <a:gd name="T8" fmla="*/ 183 w 4483"/>
                <a:gd name="T9" fmla="*/ 2434 h 3917"/>
                <a:gd name="T10" fmla="*/ 183 w 4483"/>
                <a:gd name="T11" fmla="*/ 3917 h 3917"/>
                <a:gd name="T12" fmla="*/ 2242 w 4483"/>
                <a:gd name="T13" fmla="*/ 3917 h 3917"/>
                <a:gd name="T14" fmla="*/ 4300 w 4483"/>
                <a:gd name="T15" fmla="*/ 3917 h 3917"/>
                <a:gd name="T16" fmla="*/ 4300 w 4483"/>
                <a:gd name="T17" fmla="*/ 2434 h 3917"/>
                <a:gd name="T18" fmla="*/ 4300 w 4483"/>
                <a:gd name="T19" fmla="*/ 950 h 3917"/>
                <a:gd name="T20" fmla="*/ 4392 w 4483"/>
                <a:gd name="T21" fmla="*/ 950 h 3917"/>
                <a:gd name="T22" fmla="*/ 4483 w 4483"/>
                <a:gd name="T23" fmla="*/ 950 h 3917"/>
                <a:gd name="T24" fmla="*/ 4483 w 4483"/>
                <a:gd name="T25" fmla="*/ 475 h 3917"/>
                <a:gd name="T26" fmla="*/ 4483 w 4483"/>
                <a:gd name="T27" fmla="*/ 0 h 3917"/>
                <a:gd name="T28" fmla="*/ 4117 w 4483"/>
                <a:gd name="T29" fmla="*/ 0 h 3917"/>
                <a:gd name="T30" fmla="*/ 3752 w 4483"/>
                <a:gd name="T31" fmla="*/ 0 h 3917"/>
                <a:gd name="T32" fmla="*/ 3747 w 4483"/>
                <a:gd name="T33" fmla="*/ 187 h 3917"/>
                <a:gd name="T34" fmla="*/ 3742 w 4483"/>
                <a:gd name="T35" fmla="*/ 375 h 3917"/>
                <a:gd name="T36" fmla="*/ 3363 w 4483"/>
                <a:gd name="T37" fmla="*/ 380 h 3917"/>
                <a:gd name="T38" fmla="*/ 2983 w 4483"/>
                <a:gd name="T39" fmla="*/ 384 h 3917"/>
                <a:gd name="T40" fmla="*/ 2983 w 4483"/>
                <a:gd name="T41" fmla="*/ 192 h 3917"/>
                <a:gd name="T42" fmla="*/ 2983 w 4483"/>
                <a:gd name="T43" fmla="*/ 0 h 3917"/>
                <a:gd name="T44" fmla="*/ 2242 w 4483"/>
                <a:gd name="T45" fmla="*/ 0 h 3917"/>
                <a:gd name="T46" fmla="*/ 1502 w 4483"/>
                <a:gd name="T47" fmla="*/ 0 h 3917"/>
                <a:gd name="T48" fmla="*/ 1497 w 4483"/>
                <a:gd name="T49" fmla="*/ 187 h 3917"/>
                <a:gd name="T50" fmla="*/ 1492 w 4483"/>
                <a:gd name="T51" fmla="*/ 375 h 3917"/>
                <a:gd name="T52" fmla="*/ 1117 w 4483"/>
                <a:gd name="T53" fmla="*/ 375 h 3917"/>
                <a:gd name="T54" fmla="*/ 742 w 4483"/>
                <a:gd name="T55" fmla="*/ 375 h 3917"/>
                <a:gd name="T56" fmla="*/ 737 w 4483"/>
                <a:gd name="T57" fmla="*/ 187 h 3917"/>
                <a:gd name="T58" fmla="*/ 732 w 4483"/>
                <a:gd name="T59" fmla="*/ 0 h 3917"/>
                <a:gd name="T60" fmla="*/ 367 w 4483"/>
                <a:gd name="T61" fmla="*/ 0 h 3917"/>
                <a:gd name="T62" fmla="*/ 0 w 4483"/>
                <a:gd name="T63" fmla="*/ 0 h 3917"/>
                <a:gd name="T64" fmla="*/ 0 w 4483"/>
                <a:gd name="T65" fmla="*/ 475 h 3917"/>
                <a:gd name="T66" fmla="*/ 3917 w 4483"/>
                <a:gd name="T67" fmla="*/ 2250 h 3917"/>
                <a:gd name="T68" fmla="*/ 3917 w 4483"/>
                <a:gd name="T69" fmla="*/ 3567 h 3917"/>
                <a:gd name="T70" fmla="*/ 2238 w 4483"/>
                <a:gd name="T71" fmla="*/ 3564 h 3917"/>
                <a:gd name="T72" fmla="*/ 558 w 4483"/>
                <a:gd name="T73" fmla="*/ 3559 h 3917"/>
                <a:gd name="T74" fmla="*/ 553 w 4483"/>
                <a:gd name="T75" fmla="*/ 2245 h 3917"/>
                <a:gd name="T76" fmla="*/ 550 w 4483"/>
                <a:gd name="T77" fmla="*/ 934 h 3917"/>
                <a:gd name="T78" fmla="*/ 2233 w 4483"/>
                <a:gd name="T79" fmla="*/ 934 h 3917"/>
                <a:gd name="T80" fmla="*/ 3917 w 4483"/>
                <a:gd name="T81" fmla="*/ 934 h 3917"/>
                <a:gd name="T82" fmla="*/ 3917 w 4483"/>
                <a:gd name="T83" fmla="*/ 2250 h 3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83" h="3917">
                  <a:moveTo>
                    <a:pt x="0" y="475"/>
                  </a:moveTo>
                  <a:lnTo>
                    <a:pt x="0" y="950"/>
                  </a:lnTo>
                  <a:lnTo>
                    <a:pt x="92" y="950"/>
                  </a:lnTo>
                  <a:lnTo>
                    <a:pt x="183" y="950"/>
                  </a:lnTo>
                  <a:lnTo>
                    <a:pt x="183" y="2434"/>
                  </a:lnTo>
                  <a:lnTo>
                    <a:pt x="183" y="3917"/>
                  </a:lnTo>
                  <a:lnTo>
                    <a:pt x="2242" y="3917"/>
                  </a:lnTo>
                  <a:lnTo>
                    <a:pt x="4300" y="3917"/>
                  </a:lnTo>
                  <a:lnTo>
                    <a:pt x="4300" y="2434"/>
                  </a:lnTo>
                  <a:lnTo>
                    <a:pt x="4300" y="950"/>
                  </a:lnTo>
                  <a:lnTo>
                    <a:pt x="4392" y="950"/>
                  </a:lnTo>
                  <a:lnTo>
                    <a:pt x="4483" y="950"/>
                  </a:lnTo>
                  <a:lnTo>
                    <a:pt x="4483" y="475"/>
                  </a:lnTo>
                  <a:lnTo>
                    <a:pt x="4483" y="0"/>
                  </a:lnTo>
                  <a:lnTo>
                    <a:pt x="4117" y="0"/>
                  </a:lnTo>
                  <a:lnTo>
                    <a:pt x="3752" y="0"/>
                  </a:lnTo>
                  <a:lnTo>
                    <a:pt x="3747" y="187"/>
                  </a:lnTo>
                  <a:lnTo>
                    <a:pt x="3742" y="375"/>
                  </a:lnTo>
                  <a:lnTo>
                    <a:pt x="3363" y="380"/>
                  </a:lnTo>
                  <a:lnTo>
                    <a:pt x="2983" y="384"/>
                  </a:lnTo>
                  <a:lnTo>
                    <a:pt x="2983" y="192"/>
                  </a:lnTo>
                  <a:lnTo>
                    <a:pt x="2983" y="0"/>
                  </a:lnTo>
                  <a:lnTo>
                    <a:pt x="2242" y="0"/>
                  </a:lnTo>
                  <a:lnTo>
                    <a:pt x="1502" y="0"/>
                  </a:lnTo>
                  <a:lnTo>
                    <a:pt x="1497" y="187"/>
                  </a:lnTo>
                  <a:lnTo>
                    <a:pt x="1492" y="375"/>
                  </a:lnTo>
                  <a:lnTo>
                    <a:pt x="1117" y="375"/>
                  </a:lnTo>
                  <a:lnTo>
                    <a:pt x="742" y="375"/>
                  </a:lnTo>
                  <a:lnTo>
                    <a:pt x="737" y="187"/>
                  </a:lnTo>
                  <a:lnTo>
                    <a:pt x="732" y="0"/>
                  </a:lnTo>
                  <a:lnTo>
                    <a:pt x="367" y="0"/>
                  </a:lnTo>
                  <a:lnTo>
                    <a:pt x="0" y="0"/>
                  </a:lnTo>
                  <a:lnTo>
                    <a:pt x="0" y="475"/>
                  </a:lnTo>
                  <a:close/>
                  <a:moveTo>
                    <a:pt x="3917" y="2250"/>
                  </a:moveTo>
                  <a:lnTo>
                    <a:pt x="3917" y="3567"/>
                  </a:lnTo>
                  <a:lnTo>
                    <a:pt x="2238" y="3564"/>
                  </a:lnTo>
                  <a:lnTo>
                    <a:pt x="558" y="3559"/>
                  </a:lnTo>
                  <a:lnTo>
                    <a:pt x="553" y="2245"/>
                  </a:lnTo>
                  <a:lnTo>
                    <a:pt x="550" y="934"/>
                  </a:lnTo>
                  <a:lnTo>
                    <a:pt x="2233" y="934"/>
                  </a:lnTo>
                  <a:lnTo>
                    <a:pt x="3917" y="934"/>
                  </a:lnTo>
                  <a:lnTo>
                    <a:pt x="3917" y="2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25"/>
            <p:cNvSpPr>
              <a:spLocks/>
            </p:cNvSpPr>
            <p:nvPr/>
          </p:nvSpPr>
          <p:spPr bwMode="auto">
            <a:xfrm>
              <a:off x="2857500" y="1154114"/>
              <a:ext cx="130175" cy="136525"/>
            </a:xfrm>
            <a:custGeom>
              <a:avLst/>
              <a:gdLst>
                <a:gd name="T0" fmla="*/ 0 w 350"/>
                <a:gd name="T1" fmla="*/ 183 h 367"/>
                <a:gd name="T2" fmla="*/ 0 w 350"/>
                <a:gd name="T3" fmla="*/ 367 h 367"/>
                <a:gd name="T4" fmla="*/ 175 w 350"/>
                <a:gd name="T5" fmla="*/ 367 h 367"/>
                <a:gd name="T6" fmla="*/ 350 w 350"/>
                <a:gd name="T7" fmla="*/ 367 h 367"/>
                <a:gd name="T8" fmla="*/ 350 w 350"/>
                <a:gd name="T9" fmla="*/ 183 h 367"/>
                <a:gd name="T10" fmla="*/ 350 w 350"/>
                <a:gd name="T11" fmla="*/ 0 h 367"/>
                <a:gd name="T12" fmla="*/ 175 w 350"/>
                <a:gd name="T13" fmla="*/ 0 h 367"/>
                <a:gd name="T14" fmla="*/ 0 w 350"/>
                <a:gd name="T15" fmla="*/ 0 h 367"/>
                <a:gd name="T16" fmla="*/ 0 w 350"/>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67">
                  <a:moveTo>
                    <a:pt x="0" y="183"/>
                  </a:moveTo>
                  <a:lnTo>
                    <a:pt x="0" y="367"/>
                  </a:lnTo>
                  <a:lnTo>
                    <a:pt x="175" y="367"/>
                  </a:lnTo>
                  <a:lnTo>
                    <a:pt x="350" y="367"/>
                  </a:lnTo>
                  <a:lnTo>
                    <a:pt x="350" y="183"/>
                  </a:lnTo>
                  <a:lnTo>
                    <a:pt x="350" y="0"/>
                  </a:lnTo>
                  <a:lnTo>
                    <a:pt x="175"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26"/>
            <p:cNvSpPr>
              <a:spLocks/>
            </p:cNvSpPr>
            <p:nvPr/>
          </p:nvSpPr>
          <p:spPr bwMode="auto">
            <a:xfrm>
              <a:off x="3130550"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27"/>
            <p:cNvSpPr>
              <a:spLocks/>
            </p:cNvSpPr>
            <p:nvPr/>
          </p:nvSpPr>
          <p:spPr bwMode="auto">
            <a:xfrm>
              <a:off x="34115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28"/>
            <p:cNvSpPr>
              <a:spLocks/>
            </p:cNvSpPr>
            <p:nvPr/>
          </p:nvSpPr>
          <p:spPr bwMode="auto">
            <a:xfrm>
              <a:off x="36909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29"/>
            <p:cNvSpPr>
              <a:spLocks/>
            </p:cNvSpPr>
            <p:nvPr/>
          </p:nvSpPr>
          <p:spPr bwMode="auto">
            <a:xfrm>
              <a:off x="2857500" y="14271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30"/>
            <p:cNvSpPr>
              <a:spLocks/>
            </p:cNvSpPr>
            <p:nvPr/>
          </p:nvSpPr>
          <p:spPr bwMode="auto">
            <a:xfrm>
              <a:off x="3132138" y="1427164"/>
              <a:ext cx="134938" cy="142875"/>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31"/>
            <p:cNvSpPr>
              <a:spLocks/>
            </p:cNvSpPr>
            <p:nvPr/>
          </p:nvSpPr>
          <p:spPr bwMode="auto">
            <a:xfrm>
              <a:off x="3411538" y="1428751"/>
              <a:ext cx="136525" cy="141288"/>
            </a:xfrm>
            <a:custGeom>
              <a:avLst/>
              <a:gdLst>
                <a:gd name="T0" fmla="*/ 12 w 369"/>
                <a:gd name="T1" fmla="*/ 7 h 381"/>
                <a:gd name="T2" fmla="*/ 7 w 369"/>
                <a:gd name="T3" fmla="*/ 22 h 381"/>
                <a:gd name="T4" fmla="*/ 1 w 369"/>
                <a:gd name="T5" fmla="*/ 127 h 381"/>
                <a:gd name="T6" fmla="*/ 0 w 369"/>
                <a:gd name="T7" fmla="*/ 201 h 381"/>
                <a:gd name="T8" fmla="*/ 0 w 369"/>
                <a:gd name="T9" fmla="*/ 381 h 381"/>
                <a:gd name="T10" fmla="*/ 184 w 369"/>
                <a:gd name="T11" fmla="*/ 381 h 381"/>
                <a:gd name="T12" fmla="*/ 369 w 369"/>
                <a:gd name="T13" fmla="*/ 381 h 381"/>
                <a:gd name="T14" fmla="*/ 364 w 369"/>
                <a:gd name="T15" fmla="*/ 192 h 381"/>
                <a:gd name="T16" fmla="*/ 359 w 369"/>
                <a:gd name="T17" fmla="*/ 6 h 381"/>
                <a:gd name="T18" fmla="*/ 190 w 369"/>
                <a:gd name="T19" fmla="*/ 1 h 381"/>
                <a:gd name="T20" fmla="*/ 123 w 369"/>
                <a:gd name="T21" fmla="*/ 0 h 381"/>
                <a:gd name="T22" fmla="*/ 26 w 369"/>
                <a:gd name="T23" fmla="*/ 3 h 381"/>
                <a:gd name="T24" fmla="*/ 12 w 369"/>
                <a:gd name="T25" fmla="*/ 7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381">
                  <a:moveTo>
                    <a:pt x="12" y="7"/>
                  </a:moveTo>
                  <a:lnTo>
                    <a:pt x="7" y="22"/>
                  </a:lnTo>
                  <a:lnTo>
                    <a:pt x="1" y="127"/>
                  </a:lnTo>
                  <a:lnTo>
                    <a:pt x="0" y="201"/>
                  </a:lnTo>
                  <a:lnTo>
                    <a:pt x="0" y="381"/>
                  </a:lnTo>
                  <a:lnTo>
                    <a:pt x="184" y="381"/>
                  </a:lnTo>
                  <a:lnTo>
                    <a:pt x="369" y="381"/>
                  </a:lnTo>
                  <a:lnTo>
                    <a:pt x="364" y="192"/>
                  </a:lnTo>
                  <a:lnTo>
                    <a:pt x="359" y="6"/>
                  </a:lnTo>
                  <a:lnTo>
                    <a:pt x="190" y="1"/>
                  </a:lnTo>
                  <a:lnTo>
                    <a:pt x="123" y="0"/>
                  </a:lnTo>
                  <a:lnTo>
                    <a:pt x="26"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32"/>
            <p:cNvSpPr>
              <a:spLocks/>
            </p:cNvSpPr>
            <p:nvPr/>
          </p:nvSpPr>
          <p:spPr bwMode="auto">
            <a:xfrm>
              <a:off x="3690938" y="1427164"/>
              <a:ext cx="133350" cy="142875"/>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33"/>
            <p:cNvSpPr>
              <a:spLocks/>
            </p:cNvSpPr>
            <p:nvPr/>
          </p:nvSpPr>
          <p:spPr bwMode="auto">
            <a:xfrm>
              <a:off x="2857500" y="17065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34"/>
            <p:cNvSpPr>
              <a:spLocks/>
            </p:cNvSpPr>
            <p:nvPr/>
          </p:nvSpPr>
          <p:spPr bwMode="auto">
            <a:xfrm>
              <a:off x="3132138" y="1706564"/>
              <a:ext cx="134938" cy="144463"/>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35"/>
            <p:cNvSpPr>
              <a:spLocks/>
            </p:cNvSpPr>
            <p:nvPr/>
          </p:nvSpPr>
          <p:spPr bwMode="auto">
            <a:xfrm>
              <a:off x="3409950" y="1706564"/>
              <a:ext cx="138113" cy="139700"/>
            </a:xfrm>
            <a:custGeom>
              <a:avLst/>
              <a:gdLst>
                <a:gd name="T0" fmla="*/ 5 w 370"/>
                <a:gd name="T1" fmla="*/ 187 h 375"/>
                <a:gd name="T2" fmla="*/ 10 w 370"/>
                <a:gd name="T3" fmla="*/ 375 h 375"/>
                <a:gd name="T4" fmla="*/ 185 w 370"/>
                <a:gd name="T5" fmla="*/ 375 h 375"/>
                <a:gd name="T6" fmla="*/ 360 w 370"/>
                <a:gd name="T7" fmla="*/ 375 h 375"/>
                <a:gd name="T8" fmla="*/ 365 w 370"/>
                <a:gd name="T9" fmla="*/ 187 h 375"/>
                <a:gd name="T10" fmla="*/ 370 w 370"/>
                <a:gd name="T11" fmla="*/ 0 h 375"/>
                <a:gd name="T12" fmla="*/ 185 w 370"/>
                <a:gd name="T13" fmla="*/ 0 h 375"/>
                <a:gd name="T14" fmla="*/ 0 w 370"/>
                <a:gd name="T15" fmla="*/ 0 h 375"/>
                <a:gd name="T16" fmla="*/ 5 w 370"/>
                <a:gd name="T17" fmla="*/ 18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375">
                  <a:moveTo>
                    <a:pt x="5" y="187"/>
                  </a:moveTo>
                  <a:lnTo>
                    <a:pt x="10" y="375"/>
                  </a:lnTo>
                  <a:lnTo>
                    <a:pt x="185" y="375"/>
                  </a:lnTo>
                  <a:lnTo>
                    <a:pt x="360" y="375"/>
                  </a:lnTo>
                  <a:lnTo>
                    <a:pt x="365" y="187"/>
                  </a:lnTo>
                  <a:lnTo>
                    <a:pt x="370" y="0"/>
                  </a:lnTo>
                  <a:lnTo>
                    <a:pt x="185" y="0"/>
                  </a:lnTo>
                  <a:lnTo>
                    <a:pt x="0" y="0"/>
                  </a:lnTo>
                  <a:lnTo>
                    <a:pt x="5" y="1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 name="Freeform 36"/>
            <p:cNvSpPr>
              <a:spLocks/>
            </p:cNvSpPr>
            <p:nvPr/>
          </p:nvSpPr>
          <p:spPr bwMode="auto">
            <a:xfrm>
              <a:off x="3690938" y="1706564"/>
              <a:ext cx="133350" cy="144463"/>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0" name="Rounded Rectangle 29"/>
          <p:cNvSpPr/>
          <p:nvPr/>
        </p:nvSpPr>
        <p:spPr>
          <a:xfrm>
            <a:off x="4802154" y="433911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p:cNvSpPr txBox="1"/>
          <p:nvPr/>
        </p:nvSpPr>
        <p:spPr>
          <a:xfrm>
            <a:off x="4598768" y="4296611"/>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وحدة القياس</a:t>
            </a:r>
          </a:p>
        </p:txBody>
      </p:sp>
      <p:sp>
        <p:nvSpPr>
          <p:cNvPr id="32" name="TextBox 31"/>
          <p:cNvSpPr txBox="1"/>
          <p:nvPr/>
        </p:nvSpPr>
        <p:spPr>
          <a:xfrm>
            <a:off x="4680745" y="4944989"/>
            <a:ext cx="965308" cy="338554"/>
          </a:xfrm>
          <a:prstGeom prst="rect">
            <a:avLst/>
          </a:prstGeom>
          <a:noFill/>
        </p:spPr>
        <p:txBody>
          <a:bodyPr wrap="square" rtlCol="0">
            <a:spAutoFit/>
          </a:bodyPr>
          <a:lstStyle/>
          <a:p>
            <a:pPr algn="ctr"/>
            <a:r>
              <a:rPr lang="ar-EG" sz="1600" b="1" dirty="0">
                <a:solidFill>
                  <a:schemeClr val="accent1"/>
                </a:solidFill>
              </a:rPr>
              <a:t>عدد</a:t>
            </a:r>
          </a:p>
        </p:txBody>
      </p:sp>
      <p:sp>
        <p:nvSpPr>
          <p:cNvPr id="41" name="Rounded Rectangle 40"/>
          <p:cNvSpPr/>
          <p:nvPr/>
        </p:nvSpPr>
        <p:spPr>
          <a:xfrm>
            <a:off x="2692521" y="433911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extBox 41"/>
          <p:cNvSpPr txBox="1"/>
          <p:nvPr/>
        </p:nvSpPr>
        <p:spPr>
          <a:xfrm>
            <a:off x="2489135" y="4296611"/>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المستهدف</a:t>
            </a:r>
          </a:p>
        </p:txBody>
      </p:sp>
      <p:sp>
        <p:nvSpPr>
          <p:cNvPr id="53" name="Rounded Rectangle 52"/>
          <p:cNvSpPr/>
          <p:nvPr/>
        </p:nvSpPr>
        <p:spPr>
          <a:xfrm>
            <a:off x="9021420" y="4341920"/>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extBox 53"/>
          <p:cNvSpPr txBox="1"/>
          <p:nvPr/>
        </p:nvSpPr>
        <p:spPr>
          <a:xfrm>
            <a:off x="8818034" y="4299419"/>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دورية القياس</a:t>
            </a:r>
          </a:p>
        </p:txBody>
      </p:sp>
      <p:sp>
        <p:nvSpPr>
          <p:cNvPr id="55" name="TextBox 54"/>
          <p:cNvSpPr txBox="1"/>
          <p:nvPr/>
        </p:nvSpPr>
        <p:spPr>
          <a:xfrm>
            <a:off x="8900011" y="4947797"/>
            <a:ext cx="965308" cy="338554"/>
          </a:xfrm>
          <a:prstGeom prst="rect">
            <a:avLst/>
          </a:prstGeom>
          <a:noFill/>
        </p:spPr>
        <p:txBody>
          <a:bodyPr wrap="square" rtlCol="0">
            <a:spAutoFit/>
          </a:bodyPr>
          <a:lstStyle/>
          <a:p>
            <a:pPr algn="ctr"/>
            <a:r>
              <a:rPr lang="ar-EG" sz="1600" b="1" dirty="0">
                <a:solidFill>
                  <a:schemeClr val="accent1"/>
                </a:solidFill>
              </a:rPr>
              <a:t>ربع سنوي</a:t>
            </a:r>
          </a:p>
        </p:txBody>
      </p:sp>
      <p:sp>
        <p:nvSpPr>
          <p:cNvPr id="79" name="Rectangle 78"/>
          <p:cNvSpPr/>
          <p:nvPr/>
        </p:nvSpPr>
        <p:spPr>
          <a:xfrm>
            <a:off x="1872988" y="2510775"/>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2" name="Table 91"/>
          <p:cNvGraphicFramePr>
            <a:graphicFrameLocks noGrp="1"/>
          </p:cNvGraphicFramePr>
          <p:nvPr>
            <p:extLst>
              <p:ext uri="{D42A27DB-BD31-4B8C-83A1-F6EECF244321}">
                <p14:modId xmlns:p14="http://schemas.microsoft.com/office/powerpoint/2010/main" val="1220571302"/>
              </p:ext>
            </p:extLst>
          </p:nvPr>
        </p:nvGraphicFramePr>
        <p:xfrm>
          <a:off x="1113853" y="2293250"/>
          <a:ext cx="9964294" cy="1782927"/>
        </p:xfrm>
        <a:graphic>
          <a:graphicData uri="http://schemas.openxmlformats.org/drawingml/2006/table">
            <a:tbl>
              <a:tblPr firstRow="1" bandRow="1">
                <a:tableStyleId>{5C22544A-7EE6-4342-B048-85BDC9FD1C3A}</a:tableStyleId>
              </a:tblPr>
              <a:tblGrid>
                <a:gridCol w="8543322">
                  <a:extLst>
                    <a:ext uri="{9D8B030D-6E8A-4147-A177-3AD203B41FA5}">
                      <a16:colId xmlns:a16="http://schemas.microsoft.com/office/drawing/2014/main" val="1922650772"/>
                    </a:ext>
                  </a:extLst>
                </a:gridCol>
                <a:gridCol w="1420972">
                  <a:extLst>
                    <a:ext uri="{9D8B030D-6E8A-4147-A177-3AD203B41FA5}">
                      <a16:colId xmlns:a16="http://schemas.microsoft.com/office/drawing/2014/main" val="831415739"/>
                    </a:ext>
                  </a:extLst>
                </a:gridCol>
              </a:tblGrid>
              <a:tr h="594309">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التوعية والمشاركة المعرفية</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الخدمة المرتبطة</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4060515"/>
                  </a:ext>
                </a:extLst>
              </a:tr>
              <a:tr h="594309">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إجمالي عدد المواد والنشرات التوعوية المنشورة خلال فترة قياس المؤشر</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معادلة الاحتساب</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6671549"/>
                  </a:ext>
                </a:extLst>
              </a:tr>
              <a:tr h="594309">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سجلات تنفيذ أنشطة التوعية</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مصدر البيانات</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78273"/>
                  </a:ext>
                </a:extLst>
              </a:tr>
            </a:tbl>
          </a:graphicData>
        </a:graphic>
      </p:graphicFrame>
      <p:grpSp>
        <p:nvGrpSpPr>
          <p:cNvPr id="101" name="Group 100"/>
          <p:cNvGrpSpPr>
            <a:grpSpLocks noChangeAspect="1"/>
          </p:cNvGrpSpPr>
          <p:nvPr/>
        </p:nvGrpSpPr>
        <p:grpSpPr>
          <a:xfrm>
            <a:off x="2930143" y="4672641"/>
            <a:ext cx="247246" cy="246888"/>
            <a:chOff x="1952627" y="3497263"/>
            <a:chExt cx="1095375" cy="1093788"/>
          </a:xfrm>
          <a:solidFill>
            <a:schemeClr val="accent1"/>
          </a:solidFill>
        </p:grpSpPr>
        <p:sp>
          <p:nvSpPr>
            <p:cNvPr id="102" name="Freeform 373"/>
            <p:cNvSpPr>
              <a:spLocks noEditPoints="1"/>
            </p:cNvSpPr>
            <p:nvPr/>
          </p:nvSpPr>
          <p:spPr bwMode="auto">
            <a:xfrm>
              <a:off x="1952627" y="3497263"/>
              <a:ext cx="1095375" cy="1093788"/>
            </a:xfrm>
            <a:custGeom>
              <a:avLst/>
              <a:gdLst>
                <a:gd name="T0" fmla="*/ 1053 w 2895"/>
                <a:gd name="T1" fmla="*/ 200 h 2894"/>
                <a:gd name="T2" fmla="*/ 389 w 2895"/>
                <a:gd name="T3" fmla="*/ 673 h 2894"/>
                <a:gd name="T4" fmla="*/ 136 w 2895"/>
                <a:gd name="T5" fmla="*/ 1347 h 2894"/>
                <a:gd name="T6" fmla="*/ 4 w 2895"/>
                <a:gd name="T7" fmla="*/ 1425 h 2894"/>
                <a:gd name="T8" fmla="*/ 126 w 2895"/>
                <a:gd name="T9" fmla="*/ 1516 h 2894"/>
                <a:gd name="T10" fmla="*/ 355 w 2895"/>
                <a:gd name="T11" fmla="*/ 2168 h 2894"/>
                <a:gd name="T12" fmla="*/ 943 w 2895"/>
                <a:gd name="T13" fmla="*/ 2655 h 2894"/>
                <a:gd name="T14" fmla="*/ 1394 w 2895"/>
                <a:gd name="T15" fmla="*/ 2764 h 2894"/>
                <a:gd name="T16" fmla="*/ 1456 w 2895"/>
                <a:gd name="T17" fmla="*/ 2894 h 2894"/>
                <a:gd name="T18" fmla="*/ 1545 w 2895"/>
                <a:gd name="T19" fmla="*/ 2750 h 2894"/>
                <a:gd name="T20" fmla="*/ 2131 w 2895"/>
                <a:gd name="T21" fmla="*/ 2564 h 2894"/>
                <a:gd name="T22" fmla="*/ 2659 w 2895"/>
                <a:gd name="T23" fmla="*/ 1949 h 2894"/>
                <a:gd name="T24" fmla="*/ 2796 w 2895"/>
                <a:gd name="T25" fmla="*/ 1500 h 2894"/>
                <a:gd name="T26" fmla="*/ 2877 w 2895"/>
                <a:gd name="T27" fmla="*/ 1410 h 2894"/>
                <a:gd name="T28" fmla="*/ 2747 w 2895"/>
                <a:gd name="T29" fmla="*/ 1261 h 2894"/>
                <a:gd name="T30" fmla="*/ 2397 w 2895"/>
                <a:gd name="T31" fmla="*/ 543 h 2894"/>
                <a:gd name="T32" fmla="*/ 1681 w 2895"/>
                <a:gd name="T33" fmla="*/ 160 h 2894"/>
                <a:gd name="T34" fmla="*/ 1478 w 2895"/>
                <a:gd name="T35" fmla="*/ 13 h 2894"/>
                <a:gd name="T36" fmla="*/ 1392 w 2895"/>
                <a:gd name="T37" fmla="*/ 300 h 2894"/>
                <a:gd name="T38" fmla="*/ 883 w 2895"/>
                <a:gd name="T39" fmla="*/ 469 h 2894"/>
                <a:gd name="T40" fmla="*/ 425 w 2895"/>
                <a:gd name="T41" fmla="*/ 972 h 2894"/>
                <a:gd name="T42" fmla="*/ 300 w 2895"/>
                <a:gd name="T43" fmla="*/ 1396 h 2894"/>
                <a:gd name="T44" fmla="*/ 233 w 2895"/>
                <a:gd name="T45" fmla="*/ 1294 h 2894"/>
                <a:gd name="T46" fmla="*/ 688 w 2895"/>
                <a:gd name="T47" fmla="*/ 489 h 2894"/>
                <a:gd name="T48" fmla="*/ 1390 w 2895"/>
                <a:gd name="T49" fmla="*/ 221 h 2894"/>
                <a:gd name="T50" fmla="*/ 2080 w 2895"/>
                <a:gd name="T51" fmla="*/ 405 h 2894"/>
                <a:gd name="T52" fmla="*/ 2527 w 2895"/>
                <a:gd name="T53" fmla="*/ 879 h 2894"/>
                <a:gd name="T54" fmla="*/ 2658 w 2895"/>
                <a:gd name="T55" fmla="*/ 1395 h 2894"/>
                <a:gd name="T56" fmla="*/ 2547 w 2895"/>
                <a:gd name="T57" fmla="*/ 1190 h 2894"/>
                <a:gd name="T58" fmla="*/ 2266 w 2895"/>
                <a:gd name="T59" fmla="*/ 691 h 2894"/>
                <a:gd name="T60" fmla="*/ 2296 w 2895"/>
                <a:gd name="T61" fmla="*/ 847 h 2894"/>
                <a:gd name="T62" fmla="*/ 2480 w 2895"/>
                <a:gd name="T63" fmla="*/ 1565 h 2894"/>
                <a:gd name="T64" fmla="*/ 2146 w 2895"/>
                <a:gd name="T65" fmla="*/ 2216 h 2894"/>
                <a:gd name="T66" fmla="*/ 1515 w 2895"/>
                <a:gd name="T67" fmla="*/ 2481 h 2894"/>
                <a:gd name="T68" fmla="*/ 771 w 2895"/>
                <a:gd name="T69" fmla="*/ 2233 h 2894"/>
                <a:gd name="T70" fmla="*/ 429 w 2895"/>
                <a:gd name="T71" fmla="*/ 1652 h 2894"/>
                <a:gd name="T72" fmla="*/ 476 w 2895"/>
                <a:gd name="T73" fmla="*/ 1080 h 2894"/>
                <a:gd name="T74" fmla="*/ 825 w 2895"/>
                <a:gd name="T75" fmla="*/ 615 h 2894"/>
                <a:gd name="T76" fmla="*/ 1399 w 2895"/>
                <a:gd name="T77" fmla="*/ 412 h 2894"/>
                <a:gd name="T78" fmla="*/ 1960 w 2895"/>
                <a:gd name="T79" fmla="*/ 540 h 2894"/>
                <a:gd name="T80" fmla="*/ 2198 w 2895"/>
                <a:gd name="T81" fmla="*/ 627 h 2894"/>
                <a:gd name="T82" fmla="*/ 1802 w 2895"/>
                <a:gd name="T83" fmla="*/ 375 h 2894"/>
                <a:gd name="T84" fmla="*/ 1498 w 2895"/>
                <a:gd name="T85" fmla="*/ 287 h 2894"/>
                <a:gd name="T86" fmla="*/ 1699 w 2895"/>
                <a:gd name="T87" fmla="*/ 253 h 2894"/>
                <a:gd name="T88" fmla="*/ 490 w 2895"/>
                <a:gd name="T89" fmla="*/ 2049 h 2894"/>
                <a:gd name="T90" fmla="*/ 981 w 2895"/>
                <a:gd name="T91" fmla="*/ 2477 h 2894"/>
                <a:gd name="T92" fmla="*/ 1397 w 2895"/>
                <a:gd name="T93" fmla="*/ 2613 h 2894"/>
                <a:gd name="T94" fmla="*/ 1151 w 2895"/>
                <a:gd name="T95" fmla="*/ 2629 h 2894"/>
                <a:gd name="T96" fmla="*/ 487 w 2895"/>
                <a:gd name="T97" fmla="*/ 2203 h 2894"/>
                <a:gd name="T98" fmla="*/ 232 w 2895"/>
                <a:gd name="T99" fmla="*/ 1594 h 2894"/>
                <a:gd name="T100" fmla="*/ 301 w 2895"/>
                <a:gd name="T101" fmla="*/ 1507 h 2894"/>
                <a:gd name="T102" fmla="*/ 2530 w 2895"/>
                <a:gd name="T103" fmla="*/ 2016 h 2894"/>
                <a:gd name="T104" fmla="*/ 1798 w 2895"/>
                <a:gd name="T105" fmla="*/ 2614 h 2894"/>
                <a:gd name="T106" fmla="*/ 1498 w 2895"/>
                <a:gd name="T107" fmla="*/ 2615 h 2894"/>
                <a:gd name="T108" fmla="*/ 1898 w 2895"/>
                <a:gd name="T109" fmla="*/ 2482 h 2894"/>
                <a:gd name="T110" fmla="*/ 2396 w 2895"/>
                <a:gd name="T111" fmla="*/ 2058 h 2894"/>
                <a:gd name="T112" fmla="*/ 2583 w 2895"/>
                <a:gd name="T113" fmla="*/ 1524 h 2894"/>
                <a:gd name="T114" fmla="*/ 2659 w 2895"/>
                <a:gd name="T115" fmla="*/ 1598 h 28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95" h="2894">
                  <a:moveTo>
                    <a:pt x="1409" y="12"/>
                  </a:moveTo>
                  <a:lnTo>
                    <a:pt x="1404" y="18"/>
                  </a:lnTo>
                  <a:lnTo>
                    <a:pt x="1398" y="52"/>
                  </a:lnTo>
                  <a:lnTo>
                    <a:pt x="1397" y="73"/>
                  </a:lnTo>
                  <a:lnTo>
                    <a:pt x="1397" y="125"/>
                  </a:lnTo>
                  <a:lnTo>
                    <a:pt x="1214" y="160"/>
                  </a:lnTo>
                  <a:lnTo>
                    <a:pt x="1159" y="171"/>
                  </a:lnTo>
                  <a:lnTo>
                    <a:pt x="1053" y="200"/>
                  </a:lnTo>
                  <a:lnTo>
                    <a:pt x="952" y="236"/>
                  </a:lnTo>
                  <a:lnTo>
                    <a:pt x="855" y="279"/>
                  </a:lnTo>
                  <a:lnTo>
                    <a:pt x="764" y="329"/>
                  </a:lnTo>
                  <a:lnTo>
                    <a:pt x="678" y="386"/>
                  </a:lnTo>
                  <a:lnTo>
                    <a:pt x="597" y="448"/>
                  </a:lnTo>
                  <a:lnTo>
                    <a:pt x="522" y="517"/>
                  </a:lnTo>
                  <a:lnTo>
                    <a:pt x="452" y="592"/>
                  </a:lnTo>
                  <a:lnTo>
                    <a:pt x="389" y="673"/>
                  </a:lnTo>
                  <a:lnTo>
                    <a:pt x="332" y="759"/>
                  </a:lnTo>
                  <a:lnTo>
                    <a:pt x="281" y="850"/>
                  </a:lnTo>
                  <a:lnTo>
                    <a:pt x="237" y="947"/>
                  </a:lnTo>
                  <a:lnTo>
                    <a:pt x="200" y="1048"/>
                  </a:lnTo>
                  <a:lnTo>
                    <a:pt x="170" y="1153"/>
                  </a:lnTo>
                  <a:lnTo>
                    <a:pt x="147" y="1263"/>
                  </a:lnTo>
                  <a:lnTo>
                    <a:pt x="139" y="1320"/>
                  </a:lnTo>
                  <a:lnTo>
                    <a:pt x="136" y="1347"/>
                  </a:lnTo>
                  <a:lnTo>
                    <a:pt x="128" y="1380"/>
                  </a:lnTo>
                  <a:lnTo>
                    <a:pt x="115" y="1396"/>
                  </a:lnTo>
                  <a:lnTo>
                    <a:pt x="90" y="1400"/>
                  </a:lnTo>
                  <a:lnTo>
                    <a:pt x="71" y="1400"/>
                  </a:lnTo>
                  <a:lnTo>
                    <a:pt x="45" y="1401"/>
                  </a:lnTo>
                  <a:lnTo>
                    <a:pt x="17" y="1410"/>
                  </a:lnTo>
                  <a:lnTo>
                    <a:pt x="7" y="1420"/>
                  </a:lnTo>
                  <a:lnTo>
                    <a:pt x="4" y="1425"/>
                  </a:lnTo>
                  <a:lnTo>
                    <a:pt x="0" y="1439"/>
                  </a:lnTo>
                  <a:lnTo>
                    <a:pt x="7" y="1465"/>
                  </a:lnTo>
                  <a:lnTo>
                    <a:pt x="29" y="1486"/>
                  </a:lnTo>
                  <a:lnTo>
                    <a:pt x="62" y="1499"/>
                  </a:lnTo>
                  <a:lnTo>
                    <a:pt x="81" y="1500"/>
                  </a:lnTo>
                  <a:lnTo>
                    <a:pt x="98" y="1500"/>
                  </a:lnTo>
                  <a:lnTo>
                    <a:pt x="117" y="1506"/>
                  </a:lnTo>
                  <a:lnTo>
                    <a:pt x="126" y="1516"/>
                  </a:lnTo>
                  <a:lnTo>
                    <a:pt x="136" y="1543"/>
                  </a:lnTo>
                  <a:lnTo>
                    <a:pt x="148" y="1614"/>
                  </a:lnTo>
                  <a:lnTo>
                    <a:pt x="156" y="1672"/>
                  </a:lnTo>
                  <a:lnTo>
                    <a:pt x="164" y="1726"/>
                  </a:lnTo>
                  <a:lnTo>
                    <a:pt x="193" y="1836"/>
                  </a:lnTo>
                  <a:lnTo>
                    <a:pt x="236" y="1949"/>
                  </a:lnTo>
                  <a:lnTo>
                    <a:pt x="290" y="2060"/>
                  </a:lnTo>
                  <a:lnTo>
                    <a:pt x="355" y="2168"/>
                  </a:lnTo>
                  <a:lnTo>
                    <a:pt x="428" y="2270"/>
                  </a:lnTo>
                  <a:lnTo>
                    <a:pt x="509" y="2363"/>
                  </a:lnTo>
                  <a:lnTo>
                    <a:pt x="597" y="2446"/>
                  </a:lnTo>
                  <a:lnTo>
                    <a:pt x="642" y="2482"/>
                  </a:lnTo>
                  <a:lnTo>
                    <a:pt x="681" y="2510"/>
                  </a:lnTo>
                  <a:lnTo>
                    <a:pt x="764" y="2564"/>
                  </a:lnTo>
                  <a:lnTo>
                    <a:pt x="852" y="2612"/>
                  </a:lnTo>
                  <a:lnTo>
                    <a:pt x="943" y="2655"/>
                  </a:lnTo>
                  <a:lnTo>
                    <a:pt x="1035" y="2691"/>
                  </a:lnTo>
                  <a:lnTo>
                    <a:pt x="1125" y="2719"/>
                  </a:lnTo>
                  <a:lnTo>
                    <a:pt x="1210" y="2739"/>
                  </a:lnTo>
                  <a:lnTo>
                    <a:pt x="1290" y="2749"/>
                  </a:lnTo>
                  <a:lnTo>
                    <a:pt x="1326" y="2750"/>
                  </a:lnTo>
                  <a:lnTo>
                    <a:pt x="1350" y="2750"/>
                  </a:lnTo>
                  <a:lnTo>
                    <a:pt x="1380" y="2753"/>
                  </a:lnTo>
                  <a:lnTo>
                    <a:pt x="1394" y="2764"/>
                  </a:lnTo>
                  <a:lnTo>
                    <a:pt x="1397" y="2788"/>
                  </a:lnTo>
                  <a:lnTo>
                    <a:pt x="1397" y="2807"/>
                  </a:lnTo>
                  <a:lnTo>
                    <a:pt x="1399" y="2830"/>
                  </a:lnTo>
                  <a:lnTo>
                    <a:pt x="1413" y="2872"/>
                  </a:lnTo>
                  <a:lnTo>
                    <a:pt x="1422" y="2883"/>
                  </a:lnTo>
                  <a:lnTo>
                    <a:pt x="1429" y="2889"/>
                  </a:lnTo>
                  <a:lnTo>
                    <a:pt x="1443" y="2894"/>
                  </a:lnTo>
                  <a:lnTo>
                    <a:pt x="1456" y="2894"/>
                  </a:lnTo>
                  <a:lnTo>
                    <a:pt x="1468" y="2888"/>
                  </a:lnTo>
                  <a:lnTo>
                    <a:pt x="1484" y="2870"/>
                  </a:lnTo>
                  <a:lnTo>
                    <a:pt x="1496" y="2831"/>
                  </a:lnTo>
                  <a:lnTo>
                    <a:pt x="1497" y="2807"/>
                  </a:lnTo>
                  <a:lnTo>
                    <a:pt x="1497" y="2788"/>
                  </a:lnTo>
                  <a:lnTo>
                    <a:pt x="1501" y="2764"/>
                  </a:lnTo>
                  <a:lnTo>
                    <a:pt x="1515" y="2753"/>
                  </a:lnTo>
                  <a:lnTo>
                    <a:pt x="1545" y="2750"/>
                  </a:lnTo>
                  <a:lnTo>
                    <a:pt x="1569" y="2750"/>
                  </a:lnTo>
                  <a:lnTo>
                    <a:pt x="1605" y="2749"/>
                  </a:lnTo>
                  <a:lnTo>
                    <a:pt x="1684" y="2739"/>
                  </a:lnTo>
                  <a:lnTo>
                    <a:pt x="1770" y="2719"/>
                  </a:lnTo>
                  <a:lnTo>
                    <a:pt x="1860" y="2691"/>
                  </a:lnTo>
                  <a:lnTo>
                    <a:pt x="1952" y="2655"/>
                  </a:lnTo>
                  <a:lnTo>
                    <a:pt x="2043" y="2612"/>
                  </a:lnTo>
                  <a:lnTo>
                    <a:pt x="2131" y="2564"/>
                  </a:lnTo>
                  <a:lnTo>
                    <a:pt x="2214" y="2510"/>
                  </a:lnTo>
                  <a:lnTo>
                    <a:pt x="2252" y="2482"/>
                  </a:lnTo>
                  <a:lnTo>
                    <a:pt x="2298" y="2446"/>
                  </a:lnTo>
                  <a:lnTo>
                    <a:pt x="2385" y="2363"/>
                  </a:lnTo>
                  <a:lnTo>
                    <a:pt x="2466" y="2270"/>
                  </a:lnTo>
                  <a:lnTo>
                    <a:pt x="2540" y="2168"/>
                  </a:lnTo>
                  <a:lnTo>
                    <a:pt x="2605" y="2060"/>
                  </a:lnTo>
                  <a:lnTo>
                    <a:pt x="2659" y="1949"/>
                  </a:lnTo>
                  <a:lnTo>
                    <a:pt x="2701" y="1836"/>
                  </a:lnTo>
                  <a:lnTo>
                    <a:pt x="2731" y="1726"/>
                  </a:lnTo>
                  <a:lnTo>
                    <a:pt x="2739" y="1672"/>
                  </a:lnTo>
                  <a:lnTo>
                    <a:pt x="2747" y="1614"/>
                  </a:lnTo>
                  <a:lnTo>
                    <a:pt x="2759" y="1543"/>
                  </a:lnTo>
                  <a:lnTo>
                    <a:pt x="2769" y="1516"/>
                  </a:lnTo>
                  <a:lnTo>
                    <a:pt x="2778" y="1506"/>
                  </a:lnTo>
                  <a:lnTo>
                    <a:pt x="2796" y="1500"/>
                  </a:lnTo>
                  <a:lnTo>
                    <a:pt x="2814" y="1500"/>
                  </a:lnTo>
                  <a:lnTo>
                    <a:pt x="2833" y="1499"/>
                  </a:lnTo>
                  <a:lnTo>
                    <a:pt x="2865" y="1486"/>
                  </a:lnTo>
                  <a:lnTo>
                    <a:pt x="2887" y="1465"/>
                  </a:lnTo>
                  <a:lnTo>
                    <a:pt x="2895" y="1439"/>
                  </a:lnTo>
                  <a:lnTo>
                    <a:pt x="2891" y="1425"/>
                  </a:lnTo>
                  <a:lnTo>
                    <a:pt x="2888" y="1420"/>
                  </a:lnTo>
                  <a:lnTo>
                    <a:pt x="2877" y="1410"/>
                  </a:lnTo>
                  <a:lnTo>
                    <a:pt x="2850" y="1401"/>
                  </a:lnTo>
                  <a:lnTo>
                    <a:pt x="2824" y="1400"/>
                  </a:lnTo>
                  <a:lnTo>
                    <a:pt x="2804" y="1400"/>
                  </a:lnTo>
                  <a:lnTo>
                    <a:pt x="2780" y="1396"/>
                  </a:lnTo>
                  <a:lnTo>
                    <a:pt x="2767" y="1380"/>
                  </a:lnTo>
                  <a:lnTo>
                    <a:pt x="2759" y="1347"/>
                  </a:lnTo>
                  <a:lnTo>
                    <a:pt x="2756" y="1320"/>
                  </a:lnTo>
                  <a:lnTo>
                    <a:pt x="2747" y="1261"/>
                  </a:lnTo>
                  <a:lnTo>
                    <a:pt x="2724" y="1151"/>
                  </a:lnTo>
                  <a:lnTo>
                    <a:pt x="2695" y="1049"/>
                  </a:lnTo>
                  <a:lnTo>
                    <a:pt x="2660" y="952"/>
                  </a:lnTo>
                  <a:lnTo>
                    <a:pt x="2639" y="905"/>
                  </a:lnTo>
                  <a:lnTo>
                    <a:pt x="2603" y="831"/>
                  </a:lnTo>
                  <a:lnTo>
                    <a:pt x="2520" y="694"/>
                  </a:lnTo>
                  <a:lnTo>
                    <a:pt x="2448" y="601"/>
                  </a:lnTo>
                  <a:lnTo>
                    <a:pt x="2397" y="543"/>
                  </a:lnTo>
                  <a:lnTo>
                    <a:pt x="2343" y="489"/>
                  </a:lnTo>
                  <a:lnTo>
                    <a:pt x="2285" y="438"/>
                  </a:lnTo>
                  <a:lnTo>
                    <a:pt x="2224" y="391"/>
                  </a:lnTo>
                  <a:lnTo>
                    <a:pt x="2161" y="348"/>
                  </a:lnTo>
                  <a:lnTo>
                    <a:pt x="2060" y="289"/>
                  </a:lnTo>
                  <a:lnTo>
                    <a:pt x="1916" y="225"/>
                  </a:lnTo>
                  <a:lnTo>
                    <a:pt x="1762" y="177"/>
                  </a:lnTo>
                  <a:lnTo>
                    <a:pt x="1681" y="160"/>
                  </a:lnTo>
                  <a:lnTo>
                    <a:pt x="1623" y="149"/>
                  </a:lnTo>
                  <a:lnTo>
                    <a:pt x="1548" y="132"/>
                  </a:lnTo>
                  <a:lnTo>
                    <a:pt x="1510" y="117"/>
                  </a:lnTo>
                  <a:lnTo>
                    <a:pt x="1498" y="100"/>
                  </a:lnTo>
                  <a:lnTo>
                    <a:pt x="1497" y="88"/>
                  </a:lnTo>
                  <a:lnTo>
                    <a:pt x="1497" y="68"/>
                  </a:lnTo>
                  <a:lnTo>
                    <a:pt x="1490" y="35"/>
                  </a:lnTo>
                  <a:lnTo>
                    <a:pt x="1478" y="13"/>
                  </a:lnTo>
                  <a:lnTo>
                    <a:pt x="1460" y="1"/>
                  </a:lnTo>
                  <a:lnTo>
                    <a:pt x="1449" y="0"/>
                  </a:lnTo>
                  <a:lnTo>
                    <a:pt x="1436" y="1"/>
                  </a:lnTo>
                  <a:lnTo>
                    <a:pt x="1414" y="7"/>
                  </a:lnTo>
                  <a:lnTo>
                    <a:pt x="1409" y="12"/>
                  </a:lnTo>
                  <a:close/>
                  <a:moveTo>
                    <a:pt x="1397" y="265"/>
                  </a:moveTo>
                  <a:lnTo>
                    <a:pt x="1397" y="281"/>
                  </a:lnTo>
                  <a:lnTo>
                    <a:pt x="1392" y="300"/>
                  </a:lnTo>
                  <a:lnTo>
                    <a:pt x="1373" y="311"/>
                  </a:lnTo>
                  <a:lnTo>
                    <a:pt x="1332" y="318"/>
                  </a:lnTo>
                  <a:lnTo>
                    <a:pt x="1299" y="322"/>
                  </a:lnTo>
                  <a:lnTo>
                    <a:pt x="1255" y="327"/>
                  </a:lnTo>
                  <a:lnTo>
                    <a:pt x="1163" y="348"/>
                  </a:lnTo>
                  <a:lnTo>
                    <a:pt x="1069" y="379"/>
                  </a:lnTo>
                  <a:lnTo>
                    <a:pt x="975" y="420"/>
                  </a:lnTo>
                  <a:lnTo>
                    <a:pt x="883" y="469"/>
                  </a:lnTo>
                  <a:lnTo>
                    <a:pt x="795" y="525"/>
                  </a:lnTo>
                  <a:lnTo>
                    <a:pt x="712" y="586"/>
                  </a:lnTo>
                  <a:lnTo>
                    <a:pt x="638" y="653"/>
                  </a:lnTo>
                  <a:lnTo>
                    <a:pt x="606" y="688"/>
                  </a:lnTo>
                  <a:lnTo>
                    <a:pt x="578" y="721"/>
                  </a:lnTo>
                  <a:lnTo>
                    <a:pt x="523" y="796"/>
                  </a:lnTo>
                  <a:lnTo>
                    <a:pt x="472" y="881"/>
                  </a:lnTo>
                  <a:lnTo>
                    <a:pt x="425" y="972"/>
                  </a:lnTo>
                  <a:lnTo>
                    <a:pt x="385" y="1066"/>
                  </a:lnTo>
                  <a:lnTo>
                    <a:pt x="352" y="1158"/>
                  </a:lnTo>
                  <a:lnTo>
                    <a:pt x="328" y="1246"/>
                  </a:lnTo>
                  <a:lnTo>
                    <a:pt x="315" y="1326"/>
                  </a:lnTo>
                  <a:lnTo>
                    <a:pt x="314" y="1362"/>
                  </a:lnTo>
                  <a:lnTo>
                    <a:pt x="314" y="1372"/>
                  </a:lnTo>
                  <a:lnTo>
                    <a:pt x="309" y="1387"/>
                  </a:lnTo>
                  <a:lnTo>
                    <a:pt x="300" y="1396"/>
                  </a:lnTo>
                  <a:lnTo>
                    <a:pt x="284" y="1400"/>
                  </a:lnTo>
                  <a:lnTo>
                    <a:pt x="272" y="1400"/>
                  </a:lnTo>
                  <a:lnTo>
                    <a:pt x="260" y="1400"/>
                  </a:lnTo>
                  <a:lnTo>
                    <a:pt x="243" y="1395"/>
                  </a:lnTo>
                  <a:lnTo>
                    <a:pt x="234" y="1382"/>
                  </a:lnTo>
                  <a:lnTo>
                    <a:pt x="231" y="1356"/>
                  </a:lnTo>
                  <a:lnTo>
                    <a:pt x="231" y="1337"/>
                  </a:lnTo>
                  <a:lnTo>
                    <a:pt x="233" y="1294"/>
                  </a:lnTo>
                  <a:lnTo>
                    <a:pt x="253" y="1184"/>
                  </a:lnTo>
                  <a:lnTo>
                    <a:pt x="290" y="1060"/>
                  </a:lnTo>
                  <a:lnTo>
                    <a:pt x="337" y="939"/>
                  </a:lnTo>
                  <a:lnTo>
                    <a:pt x="364" y="885"/>
                  </a:lnTo>
                  <a:lnTo>
                    <a:pt x="400" y="820"/>
                  </a:lnTo>
                  <a:lnTo>
                    <a:pt x="484" y="697"/>
                  </a:lnTo>
                  <a:lnTo>
                    <a:pt x="580" y="587"/>
                  </a:lnTo>
                  <a:lnTo>
                    <a:pt x="688" y="489"/>
                  </a:lnTo>
                  <a:lnTo>
                    <a:pt x="805" y="404"/>
                  </a:lnTo>
                  <a:lnTo>
                    <a:pt x="931" y="335"/>
                  </a:lnTo>
                  <a:lnTo>
                    <a:pt x="1064" y="281"/>
                  </a:lnTo>
                  <a:lnTo>
                    <a:pt x="1202" y="244"/>
                  </a:lnTo>
                  <a:lnTo>
                    <a:pt x="1272" y="233"/>
                  </a:lnTo>
                  <a:lnTo>
                    <a:pt x="1352" y="223"/>
                  </a:lnTo>
                  <a:lnTo>
                    <a:pt x="1386" y="218"/>
                  </a:lnTo>
                  <a:lnTo>
                    <a:pt x="1390" y="221"/>
                  </a:lnTo>
                  <a:lnTo>
                    <a:pt x="1397" y="246"/>
                  </a:lnTo>
                  <a:lnTo>
                    <a:pt x="1397" y="265"/>
                  </a:lnTo>
                  <a:close/>
                  <a:moveTo>
                    <a:pt x="1754" y="267"/>
                  </a:moveTo>
                  <a:lnTo>
                    <a:pt x="1794" y="277"/>
                  </a:lnTo>
                  <a:lnTo>
                    <a:pt x="1871" y="302"/>
                  </a:lnTo>
                  <a:lnTo>
                    <a:pt x="1944" y="331"/>
                  </a:lnTo>
                  <a:lnTo>
                    <a:pt x="2013" y="365"/>
                  </a:lnTo>
                  <a:lnTo>
                    <a:pt x="2080" y="405"/>
                  </a:lnTo>
                  <a:lnTo>
                    <a:pt x="2145" y="450"/>
                  </a:lnTo>
                  <a:lnTo>
                    <a:pt x="2210" y="501"/>
                  </a:lnTo>
                  <a:lnTo>
                    <a:pt x="2274" y="558"/>
                  </a:lnTo>
                  <a:lnTo>
                    <a:pt x="2306" y="590"/>
                  </a:lnTo>
                  <a:lnTo>
                    <a:pt x="2344" y="630"/>
                  </a:lnTo>
                  <a:lnTo>
                    <a:pt x="2414" y="711"/>
                  </a:lnTo>
                  <a:lnTo>
                    <a:pt x="2475" y="794"/>
                  </a:lnTo>
                  <a:lnTo>
                    <a:pt x="2527" y="879"/>
                  </a:lnTo>
                  <a:lnTo>
                    <a:pt x="2571" y="967"/>
                  </a:lnTo>
                  <a:lnTo>
                    <a:pt x="2606" y="1057"/>
                  </a:lnTo>
                  <a:lnTo>
                    <a:pt x="2633" y="1150"/>
                  </a:lnTo>
                  <a:lnTo>
                    <a:pt x="2652" y="1245"/>
                  </a:lnTo>
                  <a:lnTo>
                    <a:pt x="2657" y="1293"/>
                  </a:lnTo>
                  <a:lnTo>
                    <a:pt x="2661" y="1329"/>
                  </a:lnTo>
                  <a:lnTo>
                    <a:pt x="2664" y="1374"/>
                  </a:lnTo>
                  <a:lnTo>
                    <a:pt x="2658" y="1395"/>
                  </a:lnTo>
                  <a:lnTo>
                    <a:pt x="2641" y="1400"/>
                  </a:lnTo>
                  <a:lnTo>
                    <a:pt x="2627" y="1400"/>
                  </a:lnTo>
                  <a:lnTo>
                    <a:pt x="2615" y="1400"/>
                  </a:lnTo>
                  <a:lnTo>
                    <a:pt x="2596" y="1390"/>
                  </a:lnTo>
                  <a:lnTo>
                    <a:pt x="2583" y="1360"/>
                  </a:lnTo>
                  <a:lnTo>
                    <a:pt x="2568" y="1298"/>
                  </a:lnTo>
                  <a:lnTo>
                    <a:pt x="2559" y="1250"/>
                  </a:lnTo>
                  <a:lnTo>
                    <a:pt x="2547" y="1190"/>
                  </a:lnTo>
                  <a:lnTo>
                    <a:pt x="2512" y="1072"/>
                  </a:lnTo>
                  <a:lnTo>
                    <a:pt x="2467" y="960"/>
                  </a:lnTo>
                  <a:lnTo>
                    <a:pt x="2413" y="857"/>
                  </a:lnTo>
                  <a:lnTo>
                    <a:pt x="2382" y="810"/>
                  </a:lnTo>
                  <a:lnTo>
                    <a:pt x="2357" y="774"/>
                  </a:lnTo>
                  <a:lnTo>
                    <a:pt x="2319" y="725"/>
                  </a:lnTo>
                  <a:lnTo>
                    <a:pt x="2289" y="698"/>
                  </a:lnTo>
                  <a:lnTo>
                    <a:pt x="2266" y="691"/>
                  </a:lnTo>
                  <a:lnTo>
                    <a:pt x="2256" y="693"/>
                  </a:lnTo>
                  <a:lnTo>
                    <a:pt x="2249" y="696"/>
                  </a:lnTo>
                  <a:lnTo>
                    <a:pt x="2239" y="704"/>
                  </a:lnTo>
                  <a:lnTo>
                    <a:pt x="2234" y="715"/>
                  </a:lnTo>
                  <a:lnTo>
                    <a:pt x="2233" y="728"/>
                  </a:lnTo>
                  <a:lnTo>
                    <a:pt x="2241" y="756"/>
                  </a:lnTo>
                  <a:lnTo>
                    <a:pt x="2271" y="810"/>
                  </a:lnTo>
                  <a:lnTo>
                    <a:pt x="2296" y="847"/>
                  </a:lnTo>
                  <a:lnTo>
                    <a:pt x="2336" y="908"/>
                  </a:lnTo>
                  <a:lnTo>
                    <a:pt x="2398" y="1022"/>
                  </a:lnTo>
                  <a:lnTo>
                    <a:pt x="2440" y="1134"/>
                  </a:lnTo>
                  <a:lnTo>
                    <a:pt x="2469" y="1258"/>
                  </a:lnTo>
                  <a:lnTo>
                    <a:pt x="2479" y="1328"/>
                  </a:lnTo>
                  <a:lnTo>
                    <a:pt x="2484" y="1376"/>
                  </a:lnTo>
                  <a:lnTo>
                    <a:pt x="2487" y="1471"/>
                  </a:lnTo>
                  <a:lnTo>
                    <a:pt x="2480" y="1565"/>
                  </a:lnTo>
                  <a:lnTo>
                    <a:pt x="2465" y="1658"/>
                  </a:lnTo>
                  <a:lnTo>
                    <a:pt x="2441" y="1748"/>
                  </a:lnTo>
                  <a:lnTo>
                    <a:pt x="2409" y="1836"/>
                  </a:lnTo>
                  <a:lnTo>
                    <a:pt x="2370" y="1921"/>
                  </a:lnTo>
                  <a:lnTo>
                    <a:pt x="2324" y="2002"/>
                  </a:lnTo>
                  <a:lnTo>
                    <a:pt x="2271" y="2078"/>
                  </a:lnTo>
                  <a:lnTo>
                    <a:pt x="2211" y="2150"/>
                  </a:lnTo>
                  <a:lnTo>
                    <a:pt x="2146" y="2216"/>
                  </a:lnTo>
                  <a:lnTo>
                    <a:pt x="2075" y="2276"/>
                  </a:lnTo>
                  <a:lnTo>
                    <a:pt x="1999" y="2330"/>
                  </a:lnTo>
                  <a:lnTo>
                    <a:pt x="1917" y="2377"/>
                  </a:lnTo>
                  <a:lnTo>
                    <a:pt x="1832" y="2416"/>
                  </a:lnTo>
                  <a:lnTo>
                    <a:pt x="1742" y="2446"/>
                  </a:lnTo>
                  <a:lnTo>
                    <a:pt x="1696" y="2458"/>
                  </a:lnTo>
                  <a:lnTo>
                    <a:pt x="1642" y="2469"/>
                  </a:lnTo>
                  <a:lnTo>
                    <a:pt x="1515" y="2481"/>
                  </a:lnTo>
                  <a:lnTo>
                    <a:pt x="1380" y="2481"/>
                  </a:lnTo>
                  <a:lnTo>
                    <a:pt x="1253" y="2469"/>
                  </a:lnTo>
                  <a:lnTo>
                    <a:pt x="1199" y="2458"/>
                  </a:lnTo>
                  <a:lnTo>
                    <a:pt x="1148" y="2445"/>
                  </a:lnTo>
                  <a:lnTo>
                    <a:pt x="1048" y="2408"/>
                  </a:lnTo>
                  <a:lnTo>
                    <a:pt x="950" y="2360"/>
                  </a:lnTo>
                  <a:lnTo>
                    <a:pt x="858" y="2301"/>
                  </a:lnTo>
                  <a:lnTo>
                    <a:pt x="771" y="2233"/>
                  </a:lnTo>
                  <a:lnTo>
                    <a:pt x="691" y="2157"/>
                  </a:lnTo>
                  <a:lnTo>
                    <a:pt x="621" y="2075"/>
                  </a:lnTo>
                  <a:lnTo>
                    <a:pt x="561" y="1986"/>
                  </a:lnTo>
                  <a:lnTo>
                    <a:pt x="536" y="1940"/>
                  </a:lnTo>
                  <a:lnTo>
                    <a:pt x="500" y="1869"/>
                  </a:lnTo>
                  <a:lnTo>
                    <a:pt x="461" y="1775"/>
                  </a:lnTo>
                  <a:lnTo>
                    <a:pt x="442" y="1714"/>
                  </a:lnTo>
                  <a:lnTo>
                    <a:pt x="429" y="1652"/>
                  </a:lnTo>
                  <a:lnTo>
                    <a:pt x="420" y="1588"/>
                  </a:lnTo>
                  <a:lnTo>
                    <a:pt x="415" y="1483"/>
                  </a:lnTo>
                  <a:lnTo>
                    <a:pt x="417" y="1400"/>
                  </a:lnTo>
                  <a:lnTo>
                    <a:pt x="420" y="1342"/>
                  </a:lnTo>
                  <a:lnTo>
                    <a:pt x="427" y="1255"/>
                  </a:lnTo>
                  <a:lnTo>
                    <a:pt x="440" y="1186"/>
                  </a:lnTo>
                  <a:lnTo>
                    <a:pt x="461" y="1119"/>
                  </a:lnTo>
                  <a:lnTo>
                    <a:pt x="476" y="1080"/>
                  </a:lnTo>
                  <a:lnTo>
                    <a:pt x="491" y="1042"/>
                  </a:lnTo>
                  <a:lnTo>
                    <a:pt x="526" y="968"/>
                  </a:lnTo>
                  <a:lnTo>
                    <a:pt x="566" y="899"/>
                  </a:lnTo>
                  <a:lnTo>
                    <a:pt x="610" y="833"/>
                  </a:lnTo>
                  <a:lnTo>
                    <a:pt x="658" y="772"/>
                  </a:lnTo>
                  <a:lnTo>
                    <a:pt x="710" y="715"/>
                  </a:lnTo>
                  <a:lnTo>
                    <a:pt x="765" y="663"/>
                  </a:lnTo>
                  <a:lnTo>
                    <a:pt x="825" y="615"/>
                  </a:lnTo>
                  <a:lnTo>
                    <a:pt x="887" y="572"/>
                  </a:lnTo>
                  <a:lnTo>
                    <a:pt x="952" y="533"/>
                  </a:lnTo>
                  <a:lnTo>
                    <a:pt x="1021" y="500"/>
                  </a:lnTo>
                  <a:lnTo>
                    <a:pt x="1092" y="472"/>
                  </a:lnTo>
                  <a:lnTo>
                    <a:pt x="1165" y="449"/>
                  </a:lnTo>
                  <a:lnTo>
                    <a:pt x="1241" y="431"/>
                  </a:lnTo>
                  <a:lnTo>
                    <a:pt x="1319" y="419"/>
                  </a:lnTo>
                  <a:lnTo>
                    <a:pt x="1399" y="412"/>
                  </a:lnTo>
                  <a:lnTo>
                    <a:pt x="1439" y="412"/>
                  </a:lnTo>
                  <a:lnTo>
                    <a:pt x="1485" y="412"/>
                  </a:lnTo>
                  <a:lnTo>
                    <a:pt x="1573" y="418"/>
                  </a:lnTo>
                  <a:lnTo>
                    <a:pt x="1656" y="429"/>
                  </a:lnTo>
                  <a:lnTo>
                    <a:pt x="1736" y="447"/>
                  </a:lnTo>
                  <a:lnTo>
                    <a:pt x="1812" y="471"/>
                  </a:lnTo>
                  <a:lnTo>
                    <a:pt x="1887" y="502"/>
                  </a:lnTo>
                  <a:lnTo>
                    <a:pt x="1960" y="540"/>
                  </a:lnTo>
                  <a:lnTo>
                    <a:pt x="2033" y="586"/>
                  </a:lnTo>
                  <a:lnTo>
                    <a:pt x="2069" y="612"/>
                  </a:lnTo>
                  <a:lnTo>
                    <a:pt x="2092" y="628"/>
                  </a:lnTo>
                  <a:lnTo>
                    <a:pt x="2132" y="649"/>
                  </a:lnTo>
                  <a:lnTo>
                    <a:pt x="2164" y="658"/>
                  </a:lnTo>
                  <a:lnTo>
                    <a:pt x="2187" y="657"/>
                  </a:lnTo>
                  <a:lnTo>
                    <a:pt x="2199" y="646"/>
                  </a:lnTo>
                  <a:lnTo>
                    <a:pt x="2198" y="627"/>
                  </a:lnTo>
                  <a:lnTo>
                    <a:pt x="2185" y="601"/>
                  </a:lnTo>
                  <a:lnTo>
                    <a:pt x="2156" y="569"/>
                  </a:lnTo>
                  <a:lnTo>
                    <a:pt x="2136" y="552"/>
                  </a:lnTo>
                  <a:lnTo>
                    <a:pt x="2108" y="530"/>
                  </a:lnTo>
                  <a:lnTo>
                    <a:pt x="2043" y="488"/>
                  </a:lnTo>
                  <a:lnTo>
                    <a:pt x="1967" y="447"/>
                  </a:lnTo>
                  <a:lnTo>
                    <a:pt x="1886" y="409"/>
                  </a:lnTo>
                  <a:lnTo>
                    <a:pt x="1802" y="375"/>
                  </a:lnTo>
                  <a:lnTo>
                    <a:pt x="1719" y="348"/>
                  </a:lnTo>
                  <a:lnTo>
                    <a:pt x="1641" y="328"/>
                  </a:lnTo>
                  <a:lnTo>
                    <a:pt x="1573" y="318"/>
                  </a:lnTo>
                  <a:lnTo>
                    <a:pt x="1544" y="317"/>
                  </a:lnTo>
                  <a:lnTo>
                    <a:pt x="1531" y="316"/>
                  </a:lnTo>
                  <a:lnTo>
                    <a:pt x="1512" y="313"/>
                  </a:lnTo>
                  <a:lnTo>
                    <a:pt x="1502" y="304"/>
                  </a:lnTo>
                  <a:lnTo>
                    <a:pt x="1498" y="287"/>
                  </a:lnTo>
                  <a:lnTo>
                    <a:pt x="1497" y="275"/>
                  </a:lnTo>
                  <a:lnTo>
                    <a:pt x="1498" y="262"/>
                  </a:lnTo>
                  <a:lnTo>
                    <a:pt x="1502" y="245"/>
                  </a:lnTo>
                  <a:lnTo>
                    <a:pt x="1515" y="237"/>
                  </a:lnTo>
                  <a:lnTo>
                    <a:pt x="1541" y="233"/>
                  </a:lnTo>
                  <a:lnTo>
                    <a:pt x="1561" y="233"/>
                  </a:lnTo>
                  <a:lnTo>
                    <a:pt x="1594" y="235"/>
                  </a:lnTo>
                  <a:lnTo>
                    <a:pt x="1699" y="253"/>
                  </a:lnTo>
                  <a:lnTo>
                    <a:pt x="1754" y="267"/>
                  </a:lnTo>
                  <a:close/>
                  <a:moveTo>
                    <a:pt x="322" y="1587"/>
                  </a:moveTo>
                  <a:lnTo>
                    <a:pt x="329" y="1632"/>
                  </a:lnTo>
                  <a:lnTo>
                    <a:pt x="348" y="1720"/>
                  </a:lnTo>
                  <a:lnTo>
                    <a:pt x="374" y="1807"/>
                  </a:lnTo>
                  <a:lnTo>
                    <a:pt x="407" y="1891"/>
                  </a:lnTo>
                  <a:lnTo>
                    <a:pt x="445" y="1972"/>
                  </a:lnTo>
                  <a:lnTo>
                    <a:pt x="490" y="2049"/>
                  </a:lnTo>
                  <a:lnTo>
                    <a:pt x="541" y="2122"/>
                  </a:lnTo>
                  <a:lnTo>
                    <a:pt x="597" y="2190"/>
                  </a:lnTo>
                  <a:lnTo>
                    <a:pt x="627" y="2222"/>
                  </a:lnTo>
                  <a:lnTo>
                    <a:pt x="665" y="2260"/>
                  </a:lnTo>
                  <a:lnTo>
                    <a:pt x="740" y="2327"/>
                  </a:lnTo>
                  <a:lnTo>
                    <a:pt x="817" y="2385"/>
                  </a:lnTo>
                  <a:lnTo>
                    <a:pt x="897" y="2435"/>
                  </a:lnTo>
                  <a:lnTo>
                    <a:pt x="981" y="2477"/>
                  </a:lnTo>
                  <a:lnTo>
                    <a:pt x="1071" y="2512"/>
                  </a:lnTo>
                  <a:lnTo>
                    <a:pt x="1170" y="2541"/>
                  </a:lnTo>
                  <a:lnTo>
                    <a:pt x="1277" y="2565"/>
                  </a:lnTo>
                  <a:lnTo>
                    <a:pt x="1336" y="2575"/>
                  </a:lnTo>
                  <a:lnTo>
                    <a:pt x="1354" y="2578"/>
                  </a:lnTo>
                  <a:lnTo>
                    <a:pt x="1378" y="2586"/>
                  </a:lnTo>
                  <a:lnTo>
                    <a:pt x="1392" y="2596"/>
                  </a:lnTo>
                  <a:lnTo>
                    <a:pt x="1397" y="2613"/>
                  </a:lnTo>
                  <a:lnTo>
                    <a:pt x="1397" y="2625"/>
                  </a:lnTo>
                  <a:lnTo>
                    <a:pt x="1397" y="2642"/>
                  </a:lnTo>
                  <a:lnTo>
                    <a:pt x="1388" y="2658"/>
                  </a:lnTo>
                  <a:lnTo>
                    <a:pt x="1375" y="2664"/>
                  </a:lnTo>
                  <a:lnTo>
                    <a:pt x="1343" y="2665"/>
                  </a:lnTo>
                  <a:lnTo>
                    <a:pt x="1263" y="2653"/>
                  </a:lnTo>
                  <a:lnTo>
                    <a:pt x="1201" y="2640"/>
                  </a:lnTo>
                  <a:lnTo>
                    <a:pt x="1151" y="2629"/>
                  </a:lnTo>
                  <a:lnTo>
                    <a:pt x="1051" y="2598"/>
                  </a:lnTo>
                  <a:lnTo>
                    <a:pt x="952" y="2558"/>
                  </a:lnTo>
                  <a:lnTo>
                    <a:pt x="855" y="2508"/>
                  </a:lnTo>
                  <a:lnTo>
                    <a:pt x="762" y="2451"/>
                  </a:lnTo>
                  <a:lnTo>
                    <a:pt x="674" y="2387"/>
                  </a:lnTo>
                  <a:lnTo>
                    <a:pt x="593" y="2317"/>
                  </a:lnTo>
                  <a:lnTo>
                    <a:pt x="520" y="2242"/>
                  </a:lnTo>
                  <a:lnTo>
                    <a:pt x="487" y="2203"/>
                  </a:lnTo>
                  <a:lnTo>
                    <a:pt x="462" y="2170"/>
                  </a:lnTo>
                  <a:lnTo>
                    <a:pt x="413" y="2095"/>
                  </a:lnTo>
                  <a:lnTo>
                    <a:pt x="367" y="2013"/>
                  </a:lnTo>
                  <a:lnTo>
                    <a:pt x="326" y="1925"/>
                  </a:lnTo>
                  <a:lnTo>
                    <a:pt x="291" y="1837"/>
                  </a:lnTo>
                  <a:lnTo>
                    <a:pt x="262" y="1750"/>
                  </a:lnTo>
                  <a:lnTo>
                    <a:pt x="242" y="1668"/>
                  </a:lnTo>
                  <a:lnTo>
                    <a:pt x="232" y="1594"/>
                  </a:lnTo>
                  <a:lnTo>
                    <a:pt x="231" y="1562"/>
                  </a:lnTo>
                  <a:lnTo>
                    <a:pt x="231" y="1543"/>
                  </a:lnTo>
                  <a:lnTo>
                    <a:pt x="234" y="1518"/>
                  </a:lnTo>
                  <a:lnTo>
                    <a:pt x="242" y="1505"/>
                  </a:lnTo>
                  <a:lnTo>
                    <a:pt x="258" y="1500"/>
                  </a:lnTo>
                  <a:lnTo>
                    <a:pt x="271" y="1500"/>
                  </a:lnTo>
                  <a:lnTo>
                    <a:pt x="283" y="1500"/>
                  </a:lnTo>
                  <a:lnTo>
                    <a:pt x="301" y="1507"/>
                  </a:lnTo>
                  <a:lnTo>
                    <a:pt x="311" y="1525"/>
                  </a:lnTo>
                  <a:lnTo>
                    <a:pt x="319" y="1560"/>
                  </a:lnTo>
                  <a:lnTo>
                    <a:pt x="322" y="1587"/>
                  </a:lnTo>
                  <a:close/>
                  <a:moveTo>
                    <a:pt x="2659" y="1598"/>
                  </a:moveTo>
                  <a:lnTo>
                    <a:pt x="2652" y="1652"/>
                  </a:lnTo>
                  <a:lnTo>
                    <a:pt x="2623" y="1773"/>
                  </a:lnTo>
                  <a:lnTo>
                    <a:pt x="2581" y="1899"/>
                  </a:lnTo>
                  <a:lnTo>
                    <a:pt x="2530" y="2016"/>
                  </a:lnTo>
                  <a:lnTo>
                    <a:pt x="2502" y="2065"/>
                  </a:lnTo>
                  <a:lnTo>
                    <a:pt x="2466" y="2124"/>
                  </a:lnTo>
                  <a:lnTo>
                    <a:pt x="2381" y="2234"/>
                  </a:lnTo>
                  <a:lnTo>
                    <a:pt x="2284" y="2334"/>
                  </a:lnTo>
                  <a:lnTo>
                    <a:pt x="2175" y="2423"/>
                  </a:lnTo>
                  <a:lnTo>
                    <a:pt x="2056" y="2500"/>
                  </a:lnTo>
                  <a:lnTo>
                    <a:pt x="1930" y="2564"/>
                  </a:lnTo>
                  <a:lnTo>
                    <a:pt x="1798" y="2614"/>
                  </a:lnTo>
                  <a:lnTo>
                    <a:pt x="1662" y="2648"/>
                  </a:lnTo>
                  <a:lnTo>
                    <a:pt x="1592" y="2658"/>
                  </a:lnTo>
                  <a:lnTo>
                    <a:pt x="1560" y="2662"/>
                  </a:lnTo>
                  <a:lnTo>
                    <a:pt x="1520" y="2665"/>
                  </a:lnTo>
                  <a:lnTo>
                    <a:pt x="1502" y="2660"/>
                  </a:lnTo>
                  <a:lnTo>
                    <a:pt x="1497" y="2643"/>
                  </a:lnTo>
                  <a:lnTo>
                    <a:pt x="1497" y="2628"/>
                  </a:lnTo>
                  <a:lnTo>
                    <a:pt x="1498" y="2615"/>
                  </a:lnTo>
                  <a:lnTo>
                    <a:pt x="1503" y="2597"/>
                  </a:lnTo>
                  <a:lnTo>
                    <a:pt x="1516" y="2586"/>
                  </a:lnTo>
                  <a:lnTo>
                    <a:pt x="1542" y="2578"/>
                  </a:lnTo>
                  <a:lnTo>
                    <a:pt x="1561" y="2575"/>
                  </a:lnTo>
                  <a:lnTo>
                    <a:pt x="1615" y="2566"/>
                  </a:lnTo>
                  <a:lnTo>
                    <a:pt x="1717" y="2544"/>
                  </a:lnTo>
                  <a:lnTo>
                    <a:pt x="1811" y="2516"/>
                  </a:lnTo>
                  <a:lnTo>
                    <a:pt x="1898" y="2482"/>
                  </a:lnTo>
                  <a:lnTo>
                    <a:pt x="1980" y="2442"/>
                  </a:lnTo>
                  <a:lnTo>
                    <a:pt x="2058" y="2395"/>
                  </a:lnTo>
                  <a:lnTo>
                    <a:pt x="2132" y="2341"/>
                  </a:lnTo>
                  <a:lnTo>
                    <a:pt x="2205" y="2278"/>
                  </a:lnTo>
                  <a:lnTo>
                    <a:pt x="2241" y="2243"/>
                  </a:lnTo>
                  <a:lnTo>
                    <a:pt x="2276" y="2207"/>
                  </a:lnTo>
                  <a:lnTo>
                    <a:pt x="2340" y="2134"/>
                  </a:lnTo>
                  <a:lnTo>
                    <a:pt x="2396" y="2058"/>
                  </a:lnTo>
                  <a:lnTo>
                    <a:pt x="2444" y="1980"/>
                  </a:lnTo>
                  <a:lnTo>
                    <a:pt x="2485" y="1899"/>
                  </a:lnTo>
                  <a:lnTo>
                    <a:pt x="2519" y="1814"/>
                  </a:lnTo>
                  <a:lnTo>
                    <a:pt x="2545" y="1726"/>
                  </a:lnTo>
                  <a:lnTo>
                    <a:pt x="2565" y="1634"/>
                  </a:lnTo>
                  <a:lnTo>
                    <a:pt x="2572" y="1587"/>
                  </a:lnTo>
                  <a:lnTo>
                    <a:pt x="2576" y="1559"/>
                  </a:lnTo>
                  <a:lnTo>
                    <a:pt x="2583" y="1524"/>
                  </a:lnTo>
                  <a:lnTo>
                    <a:pt x="2594" y="1506"/>
                  </a:lnTo>
                  <a:lnTo>
                    <a:pt x="2612" y="1500"/>
                  </a:lnTo>
                  <a:lnTo>
                    <a:pt x="2626" y="1500"/>
                  </a:lnTo>
                  <a:lnTo>
                    <a:pt x="2640" y="1500"/>
                  </a:lnTo>
                  <a:lnTo>
                    <a:pt x="2658" y="1505"/>
                  </a:lnTo>
                  <a:lnTo>
                    <a:pt x="2664" y="1524"/>
                  </a:lnTo>
                  <a:lnTo>
                    <a:pt x="2662" y="1565"/>
                  </a:lnTo>
                  <a:lnTo>
                    <a:pt x="2659" y="15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374"/>
            <p:cNvSpPr>
              <a:spLocks noEditPoints="1"/>
            </p:cNvSpPr>
            <p:nvPr/>
          </p:nvSpPr>
          <p:spPr bwMode="auto">
            <a:xfrm>
              <a:off x="2244727" y="3778251"/>
              <a:ext cx="511175" cy="528638"/>
            </a:xfrm>
            <a:custGeom>
              <a:avLst/>
              <a:gdLst>
                <a:gd name="T0" fmla="*/ 635 w 1350"/>
                <a:gd name="T1" fmla="*/ 31 h 1399"/>
                <a:gd name="T2" fmla="*/ 625 w 1350"/>
                <a:gd name="T3" fmla="*/ 235 h 1399"/>
                <a:gd name="T4" fmla="*/ 459 w 1350"/>
                <a:gd name="T5" fmla="*/ 284 h 1399"/>
                <a:gd name="T6" fmla="*/ 300 w 1350"/>
                <a:gd name="T7" fmla="*/ 414 h 1399"/>
                <a:gd name="T8" fmla="*/ 225 w 1350"/>
                <a:gd name="T9" fmla="*/ 562 h 1399"/>
                <a:gd name="T10" fmla="*/ 67 w 1350"/>
                <a:gd name="T11" fmla="*/ 660 h 1399"/>
                <a:gd name="T12" fmla="*/ 1 w 1350"/>
                <a:gd name="T13" fmla="*/ 694 h 1399"/>
                <a:gd name="T14" fmla="*/ 6 w 1350"/>
                <a:gd name="T15" fmla="*/ 738 h 1399"/>
                <a:gd name="T16" fmla="*/ 102 w 1350"/>
                <a:gd name="T17" fmla="*/ 754 h 1399"/>
                <a:gd name="T18" fmla="*/ 202 w 1350"/>
                <a:gd name="T19" fmla="*/ 771 h 1399"/>
                <a:gd name="T20" fmla="*/ 222 w 1350"/>
                <a:gd name="T21" fmla="*/ 841 h 1399"/>
                <a:gd name="T22" fmla="*/ 314 w 1350"/>
                <a:gd name="T23" fmla="*/ 1005 h 1399"/>
                <a:gd name="T24" fmla="*/ 466 w 1350"/>
                <a:gd name="T25" fmla="*/ 1127 h 1399"/>
                <a:gd name="T26" fmla="*/ 624 w 1350"/>
                <a:gd name="T27" fmla="*/ 1177 h 1399"/>
                <a:gd name="T28" fmla="*/ 635 w 1350"/>
                <a:gd name="T29" fmla="*/ 1371 h 1399"/>
                <a:gd name="T30" fmla="*/ 675 w 1350"/>
                <a:gd name="T31" fmla="*/ 1399 h 1399"/>
                <a:gd name="T32" fmla="*/ 716 w 1350"/>
                <a:gd name="T33" fmla="*/ 1371 h 1399"/>
                <a:gd name="T34" fmla="*/ 727 w 1350"/>
                <a:gd name="T35" fmla="*/ 1179 h 1399"/>
                <a:gd name="T36" fmla="*/ 898 w 1350"/>
                <a:gd name="T37" fmla="*/ 1116 h 1399"/>
                <a:gd name="T38" fmla="*/ 1039 w 1350"/>
                <a:gd name="T39" fmla="*/ 996 h 1399"/>
                <a:gd name="T40" fmla="*/ 1125 w 1350"/>
                <a:gd name="T41" fmla="*/ 840 h 1399"/>
                <a:gd name="T42" fmla="*/ 1147 w 1350"/>
                <a:gd name="T43" fmla="*/ 772 h 1399"/>
                <a:gd name="T44" fmla="*/ 1247 w 1350"/>
                <a:gd name="T45" fmla="*/ 754 h 1399"/>
                <a:gd name="T46" fmla="*/ 1344 w 1350"/>
                <a:gd name="T47" fmla="*/ 738 h 1399"/>
                <a:gd name="T48" fmla="*/ 1350 w 1350"/>
                <a:gd name="T49" fmla="*/ 693 h 1399"/>
                <a:gd name="T50" fmla="*/ 1282 w 1350"/>
                <a:gd name="T51" fmla="*/ 662 h 1399"/>
                <a:gd name="T52" fmla="*/ 1130 w 1350"/>
                <a:gd name="T53" fmla="*/ 585 h 1399"/>
                <a:gd name="T54" fmla="*/ 1066 w 1350"/>
                <a:gd name="T55" fmla="*/ 447 h 1399"/>
                <a:gd name="T56" fmla="*/ 937 w 1350"/>
                <a:gd name="T57" fmla="*/ 315 h 1399"/>
                <a:gd name="T58" fmla="*/ 800 w 1350"/>
                <a:gd name="T59" fmla="*/ 249 h 1399"/>
                <a:gd name="T60" fmla="*/ 726 w 1350"/>
                <a:gd name="T61" fmla="*/ 89 h 1399"/>
                <a:gd name="T62" fmla="*/ 692 w 1350"/>
                <a:gd name="T63" fmla="*/ 2 h 1399"/>
                <a:gd name="T64" fmla="*/ 654 w 1350"/>
                <a:gd name="T65" fmla="*/ 9 h 1399"/>
                <a:gd name="T66" fmla="*/ 477 w 1350"/>
                <a:gd name="T67" fmla="*/ 654 h 1399"/>
                <a:gd name="T68" fmla="*/ 327 w 1350"/>
                <a:gd name="T69" fmla="*/ 647 h 1399"/>
                <a:gd name="T70" fmla="*/ 314 w 1350"/>
                <a:gd name="T71" fmla="*/ 608 h 1399"/>
                <a:gd name="T72" fmla="*/ 376 w 1350"/>
                <a:gd name="T73" fmla="*/ 494 h 1399"/>
                <a:gd name="T74" fmla="*/ 493 w 1350"/>
                <a:gd name="T75" fmla="*/ 387 h 1399"/>
                <a:gd name="T76" fmla="*/ 590 w 1350"/>
                <a:gd name="T77" fmla="*/ 342 h 1399"/>
                <a:gd name="T78" fmla="*/ 622 w 1350"/>
                <a:gd name="T79" fmla="*/ 377 h 1399"/>
                <a:gd name="T80" fmla="*/ 879 w 1350"/>
                <a:gd name="T81" fmla="*/ 400 h 1399"/>
                <a:gd name="T82" fmla="*/ 998 w 1350"/>
                <a:gd name="T83" fmla="*/ 527 h 1399"/>
                <a:gd name="T84" fmla="*/ 1034 w 1350"/>
                <a:gd name="T85" fmla="*/ 649 h 1399"/>
                <a:gd name="T86" fmla="*/ 729 w 1350"/>
                <a:gd name="T87" fmla="*/ 492 h 1399"/>
                <a:gd name="T88" fmla="*/ 792 w 1350"/>
                <a:gd name="T89" fmla="*/ 354 h 1399"/>
                <a:gd name="T90" fmla="*/ 625 w 1350"/>
                <a:gd name="T91" fmla="*/ 905 h 1399"/>
                <a:gd name="T92" fmla="*/ 613 w 1350"/>
                <a:gd name="T93" fmla="*/ 1060 h 1399"/>
                <a:gd name="T94" fmla="*/ 543 w 1350"/>
                <a:gd name="T95" fmla="*/ 1045 h 1399"/>
                <a:gd name="T96" fmla="*/ 410 w 1350"/>
                <a:gd name="T97" fmla="*/ 957 h 1399"/>
                <a:gd name="T98" fmla="*/ 315 w 1350"/>
                <a:gd name="T99" fmla="*/ 802 h 1399"/>
                <a:gd name="T100" fmla="*/ 625 w 1350"/>
                <a:gd name="T101" fmla="*/ 757 h 1399"/>
                <a:gd name="T102" fmla="*/ 1039 w 1350"/>
                <a:gd name="T103" fmla="*/ 792 h 1399"/>
                <a:gd name="T104" fmla="*/ 973 w 1350"/>
                <a:gd name="T105" fmla="*/ 915 h 1399"/>
                <a:gd name="T106" fmla="*/ 869 w 1350"/>
                <a:gd name="T107" fmla="*/ 1014 h 1399"/>
                <a:gd name="T108" fmla="*/ 751 w 1350"/>
                <a:gd name="T109" fmla="*/ 1065 h 1399"/>
                <a:gd name="T110" fmla="*/ 732 w 1350"/>
                <a:gd name="T111" fmla="*/ 1034 h 1399"/>
                <a:gd name="T112" fmla="*/ 725 w 1350"/>
                <a:gd name="T113" fmla="*/ 757 h 1399"/>
                <a:gd name="T114" fmla="*/ 1024 w 1350"/>
                <a:gd name="T115" fmla="*/ 764 h 1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50" h="1399">
                  <a:moveTo>
                    <a:pt x="654" y="9"/>
                  </a:moveTo>
                  <a:lnTo>
                    <a:pt x="646" y="14"/>
                  </a:lnTo>
                  <a:lnTo>
                    <a:pt x="635" y="31"/>
                  </a:lnTo>
                  <a:lnTo>
                    <a:pt x="626" y="76"/>
                  </a:lnTo>
                  <a:lnTo>
                    <a:pt x="625" y="130"/>
                  </a:lnTo>
                  <a:lnTo>
                    <a:pt x="625" y="235"/>
                  </a:lnTo>
                  <a:lnTo>
                    <a:pt x="562" y="245"/>
                  </a:lnTo>
                  <a:lnTo>
                    <a:pt x="530" y="252"/>
                  </a:lnTo>
                  <a:lnTo>
                    <a:pt x="459" y="284"/>
                  </a:lnTo>
                  <a:lnTo>
                    <a:pt x="387" y="330"/>
                  </a:lnTo>
                  <a:lnTo>
                    <a:pt x="324" y="385"/>
                  </a:lnTo>
                  <a:lnTo>
                    <a:pt x="300" y="414"/>
                  </a:lnTo>
                  <a:lnTo>
                    <a:pt x="280" y="444"/>
                  </a:lnTo>
                  <a:lnTo>
                    <a:pt x="239" y="524"/>
                  </a:lnTo>
                  <a:lnTo>
                    <a:pt x="225" y="562"/>
                  </a:lnTo>
                  <a:lnTo>
                    <a:pt x="197" y="649"/>
                  </a:lnTo>
                  <a:lnTo>
                    <a:pt x="99" y="657"/>
                  </a:lnTo>
                  <a:lnTo>
                    <a:pt x="67" y="660"/>
                  </a:lnTo>
                  <a:lnTo>
                    <a:pt x="26" y="666"/>
                  </a:lnTo>
                  <a:lnTo>
                    <a:pt x="7" y="676"/>
                  </a:lnTo>
                  <a:lnTo>
                    <a:pt x="1" y="694"/>
                  </a:lnTo>
                  <a:lnTo>
                    <a:pt x="0" y="707"/>
                  </a:lnTo>
                  <a:lnTo>
                    <a:pt x="0" y="721"/>
                  </a:lnTo>
                  <a:lnTo>
                    <a:pt x="6" y="738"/>
                  </a:lnTo>
                  <a:lnTo>
                    <a:pt x="26" y="747"/>
                  </a:lnTo>
                  <a:lnTo>
                    <a:pt x="69" y="752"/>
                  </a:lnTo>
                  <a:lnTo>
                    <a:pt x="102" y="754"/>
                  </a:lnTo>
                  <a:lnTo>
                    <a:pt x="137" y="755"/>
                  </a:lnTo>
                  <a:lnTo>
                    <a:pt x="181" y="760"/>
                  </a:lnTo>
                  <a:lnTo>
                    <a:pt x="202" y="771"/>
                  </a:lnTo>
                  <a:lnTo>
                    <a:pt x="212" y="794"/>
                  </a:lnTo>
                  <a:lnTo>
                    <a:pt x="215" y="812"/>
                  </a:lnTo>
                  <a:lnTo>
                    <a:pt x="222" y="841"/>
                  </a:lnTo>
                  <a:lnTo>
                    <a:pt x="244" y="898"/>
                  </a:lnTo>
                  <a:lnTo>
                    <a:pt x="275" y="953"/>
                  </a:lnTo>
                  <a:lnTo>
                    <a:pt x="314" y="1005"/>
                  </a:lnTo>
                  <a:lnTo>
                    <a:pt x="360" y="1052"/>
                  </a:lnTo>
                  <a:lnTo>
                    <a:pt x="411" y="1093"/>
                  </a:lnTo>
                  <a:lnTo>
                    <a:pt x="466" y="1127"/>
                  </a:lnTo>
                  <a:lnTo>
                    <a:pt x="524" y="1152"/>
                  </a:lnTo>
                  <a:lnTo>
                    <a:pt x="554" y="1160"/>
                  </a:lnTo>
                  <a:lnTo>
                    <a:pt x="624" y="1177"/>
                  </a:lnTo>
                  <a:lnTo>
                    <a:pt x="629" y="1289"/>
                  </a:lnTo>
                  <a:lnTo>
                    <a:pt x="630" y="1325"/>
                  </a:lnTo>
                  <a:lnTo>
                    <a:pt x="635" y="1371"/>
                  </a:lnTo>
                  <a:lnTo>
                    <a:pt x="644" y="1392"/>
                  </a:lnTo>
                  <a:lnTo>
                    <a:pt x="662" y="1399"/>
                  </a:lnTo>
                  <a:lnTo>
                    <a:pt x="675" y="1399"/>
                  </a:lnTo>
                  <a:lnTo>
                    <a:pt x="689" y="1399"/>
                  </a:lnTo>
                  <a:lnTo>
                    <a:pt x="707" y="1392"/>
                  </a:lnTo>
                  <a:lnTo>
                    <a:pt x="716" y="1371"/>
                  </a:lnTo>
                  <a:lnTo>
                    <a:pt x="720" y="1325"/>
                  </a:lnTo>
                  <a:lnTo>
                    <a:pt x="722" y="1289"/>
                  </a:lnTo>
                  <a:lnTo>
                    <a:pt x="727" y="1179"/>
                  </a:lnTo>
                  <a:lnTo>
                    <a:pt x="815" y="1152"/>
                  </a:lnTo>
                  <a:lnTo>
                    <a:pt x="844" y="1142"/>
                  </a:lnTo>
                  <a:lnTo>
                    <a:pt x="898" y="1116"/>
                  </a:lnTo>
                  <a:lnTo>
                    <a:pt x="950" y="1082"/>
                  </a:lnTo>
                  <a:lnTo>
                    <a:pt x="997" y="1042"/>
                  </a:lnTo>
                  <a:lnTo>
                    <a:pt x="1039" y="996"/>
                  </a:lnTo>
                  <a:lnTo>
                    <a:pt x="1075" y="947"/>
                  </a:lnTo>
                  <a:lnTo>
                    <a:pt x="1104" y="894"/>
                  </a:lnTo>
                  <a:lnTo>
                    <a:pt x="1125" y="840"/>
                  </a:lnTo>
                  <a:lnTo>
                    <a:pt x="1132" y="812"/>
                  </a:lnTo>
                  <a:lnTo>
                    <a:pt x="1136" y="794"/>
                  </a:lnTo>
                  <a:lnTo>
                    <a:pt x="1147" y="772"/>
                  </a:lnTo>
                  <a:lnTo>
                    <a:pt x="1169" y="760"/>
                  </a:lnTo>
                  <a:lnTo>
                    <a:pt x="1213" y="755"/>
                  </a:lnTo>
                  <a:lnTo>
                    <a:pt x="1247" y="754"/>
                  </a:lnTo>
                  <a:lnTo>
                    <a:pt x="1281" y="752"/>
                  </a:lnTo>
                  <a:lnTo>
                    <a:pt x="1324" y="747"/>
                  </a:lnTo>
                  <a:lnTo>
                    <a:pt x="1344" y="738"/>
                  </a:lnTo>
                  <a:lnTo>
                    <a:pt x="1350" y="721"/>
                  </a:lnTo>
                  <a:lnTo>
                    <a:pt x="1350" y="707"/>
                  </a:lnTo>
                  <a:lnTo>
                    <a:pt x="1350" y="693"/>
                  </a:lnTo>
                  <a:lnTo>
                    <a:pt x="1344" y="676"/>
                  </a:lnTo>
                  <a:lnTo>
                    <a:pt x="1324" y="667"/>
                  </a:lnTo>
                  <a:lnTo>
                    <a:pt x="1282" y="662"/>
                  </a:lnTo>
                  <a:lnTo>
                    <a:pt x="1249" y="660"/>
                  </a:lnTo>
                  <a:lnTo>
                    <a:pt x="1149" y="655"/>
                  </a:lnTo>
                  <a:lnTo>
                    <a:pt x="1130" y="585"/>
                  </a:lnTo>
                  <a:lnTo>
                    <a:pt x="1122" y="556"/>
                  </a:lnTo>
                  <a:lnTo>
                    <a:pt x="1098" y="500"/>
                  </a:lnTo>
                  <a:lnTo>
                    <a:pt x="1066" y="447"/>
                  </a:lnTo>
                  <a:lnTo>
                    <a:pt x="1029" y="398"/>
                  </a:lnTo>
                  <a:lnTo>
                    <a:pt x="985" y="354"/>
                  </a:lnTo>
                  <a:lnTo>
                    <a:pt x="937" y="315"/>
                  </a:lnTo>
                  <a:lnTo>
                    <a:pt x="884" y="283"/>
                  </a:lnTo>
                  <a:lnTo>
                    <a:pt x="829" y="258"/>
                  </a:lnTo>
                  <a:lnTo>
                    <a:pt x="800" y="249"/>
                  </a:lnTo>
                  <a:lnTo>
                    <a:pt x="734" y="229"/>
                  </a:lnTo>
                  <a:lnTo>
                    <a:pt x="729" y="127"/>
                  </a:lnTo>
                  <a:lnTo>
                    <a:pt x="726" y="89"/>
                  </a:lnTo>
                  <a:lnTo>
                    <a:pt x="716" y="34"/>
                  </a:lnTo>
                  <a:lnTo>
                    <a:pt x="703" y="10"/>
                  </a:lnTo>
                  <a:lnTo>
                    <a:pt x="692" y="2"/>
                  </a:lnTo>
                  <a:lnTo>
                    <a:pt x="678" y="0"/>
                  </a:lnTo>
                  <a:lnTo>
                    <a:pt x="663" y="4"/>
                  </a:lnTo>
                  <a:lnTo>
                    <a:pt x="654" y="9"/>
                  </a:lnTo>
                  <a:close/>
                  <a:moveTo>
                    <a:pt x="622" y="494"/>
                  </a:moveTo>
                  <a:lnTo>
                    <a:pt x="617" y="649"/>
                  </a:lnTo>
                  <a:lnTo>
                    <a:pt x="477" y="654"/>
                  </a:lnTo>
                  <a:lnTo>
                    <a:pt x="420" y="655"/>
                  </a:lnTo>
                  <a:lnTo>
                    <a:pt x="354" y="651"/>
                  </a:lnTo>
                  <a:lnTo>
                    <a:pt x="327" y="647"/>
                  </a:lnTo>
                  <a:lnTo>
                    <a:pt x="322" y="644"/>
                  </a:lnTo>
                  <a:lnTo>
                    <a:pt x="315" y="635"/>
                  </a:lnTo>
                  <a:lnTo>
                    <a:pt x="314" y="608"/>
                  </a:lnTo>
                  <a:lnTo>
                    <a:pt x="325" y="574"/>
                  </a:lnTo>
                  <a:lnTo>
                    <a:pt x="347" y="535"/>
                  </a:lnTo>
                  <a:lnTo>
                    <a:pt x="376" y="494"/>
                  </a:lnTo>
                  <a:lnTo>
                    <a:pt x="412" y="453"/>
                  </a:lnTo>
                  <a:lnTo>
                    <a:pt x="451" y="417"/>
                  </a:lnTo>
                  <a:lnTo>
                    <a:pt x="493" y="387"/>
                  </a:lnTo>
                  <a:lnTo>
                    <a:pt x="514" y="375"/>
                  </a:lnTo>
                  <a:lnTo>
                    <a:pt x="552" y="356"/>
                  </a:lnTo>
                  <a:lnTo>
                    <a:pt x="590" y="342"/>
                  </a:lnTo>
                  <a:lnTo>
                    <a:pt x="606" y="344"/>
                  </a:lnTo>
                  <a:lnTo>
                    <a:pt x="616" y="355"/>
                  </a:lnTo>
                  <a:lnTo>
                    <a:pt x="622" y="377"/>
                  </a:lnTo>
                  <a:lnTo>
                    <a:pt x="624" y="434"/>
                  </a:lnTo>
                  <a:lnTo>
                    <a:pt x="622" y="494"/>
                  </a:lnTo>
                  <a:close/>
                  <a:moveTo>
                    <a:pt x="879" y="400"/>
                  </a:moveTo>
                  <a:lnTo>
                    <a:pt x="906" y="419"/>
                  </a:lnTo>
                  <a:lnTo>
                    <a:pt x="956" y="470"/>
                  </a:lnTo>
                  <a:lnTo>
                    <a:pt x="998" y="527"/>
                  </a:lnTo>
                  <a:lnTo>
                    <a:pt x="1024" y="583"/>
                  </a:lnTo>
                  <a:lnTo>
                    <a:pt x="1029" y="607"/>
                  </a:lnTo>
                  <a:lnTo>
                    <a:pt x="1034" y="649"/>
                  </a:lnTo>
                  <a:lnTo>
                    <a:pt x="884" y="649"/>
                  </a:lnTo>
                  <a:lnTo>
                    <a:pt x="734" y="649"/>
                  </a:lnTo>
                  <a:lnTo>
                    <a:pt x="729" y="492"/>
                  </a:lnTo>
                  <a:lnTo>
                    <a:pt x="724" y="337"/>
                  </a:lnTo>
                  <a:lnTo>
                    <a:pt x="770" y="347"/>
                  </a:lnTo>
                  <a:lnTo>
                    <a:pt x="792" y="354"/>
                  </a:lnTo>
                  <a:lnTo>
                    <a:pt x="852" y="383"/>
                  </a:lnTo>
                  <a:lnTo>
                    <a:pt x="879" y="400"/>
                  </a:lnTo>
                  <a:close/>
                  <a:moveTo>
                    <a:pt x="625" y="905"/>
                  </a:moveTo>
                  <a:lnTo>
                    <a:pt x="625" y="966"/>
                  </a:lnTo>
                  <a:lnTo>
                    <a:pt x="619" y="1034"/>
                  </a:lnTo>
                  <a:lnTo>
                    <a:pt x="613" y="1060"/>
                  </a:lnTo>
                  <a:lnTo>
                    <a:pt x="610" y="1064"/>
                  </a:lnTo>
                  <a:lnTo>
                    <a:pt x="599" y="1065"/>
                  </a:lnTo>
                  <a:lnTo>
                    <a:pt x="543" y="1045"/>
                  </a:lnTo>
                  <a:lnTo>
                    <a:pt x="507" y="1027"/>
                  </a:lnTo>
                  <a:lnTo>
                    <a:pt x="472" y="1008"/>
                  </a:lnTo>
                  <a:lnTo>
                    <a:pt x="410" y="957"/>
                  </a:lnTo>
                  <a:lnTo>
                    <a:pt x="360" y="898"/>
                  </a:lnTo>
                  <a:lnTo>
                    <a:pt x="325" y="834"/>
                  </a:lnTo>
                  <a:lnTo>
                    <a:pt x="315" y="802"/>
                  </a:lnTo>
                  <a:lnTo>
                    <a:pt x="305" y="757"/>
                  </a:lnTo>
                  <a:lnTo>
                    <a:pt x="465" y="757"/>
                  </a:lnTo>
                  <a:lnTo>
                    <a:pt x="625" y="757"/>
                  </a:lnTo>
                  <a:lnTo>
                    <a:pt x="625" y="905"/>
                  </a:lnTo>
                  <a:close/>
                  <a:moveTo>
                    <a:pt x="1042" y="779"/>
                  </a:moveTo>
                  <a:lnTo>
                    <a:pt x="1039" y="792"/>
                  </a:lnTo>
                  <a:lnTo>
                    <a:pt x="1010" y="853"/>
                  </a:lnTo>
                  <a:lnTo>
                    <a:pt x="989" y="890"/>
                  </a:lnTo>
                  <a:lnTo>
                    <a:pt x="973" y="915"/>
                  </a:lnTo>
                  <a:lnTo>
                    <a:pt x="942" y="955"/>
                  </a:lnTo>
                  <a:lnTo>
                    <a:pt x="909" y="987"/>
                  </a:lnTo>
                  <a:lnTo>
                    <a:pt x="869" y="1014"/>
                  </a:lnTo>
                  <a:lnTo>
                    <a:pt x="844" y="1027"/>
                  </a:lnTo>
                  <a:lnTo>
                    <a:pt x="808" y="1045"/>
                  </a:lnTo>
                  <a:lnTo>
                    <a:pt x="751" y="1065"/>
                  </a:lnTo>
                  <a:lnTo>
                    <a:pt x="740" y="1064"/>
                  </a:lnTo>
                  <a:lnTo>
                    <a:pt x="737" y="1060"/>
                  </a:lnTo>
                  <a:lnTo>
                    <a:pt x="732" y="1034"/>
                  </a:lnTo>
                  <a:lnTo>
                    <a:pt x="726" y="966"/>
                  </a:lnTo>
                  <a:lnTo>
                    <a:pt x="725" y="905"/>
                  </a:lnTo>
                  <a:lnTo>
                    <a:pt x="725" y="757"/>
                  </a:lnTo>
                  <a:lnTo>
                    <a:pt x="884" y="757"/>
                  </a:lnTo>
                  <a:lnTo>
                    <a:pt x="963" y="758"/>
                  </a:lnTo>
                  <a:lnTo>
                    <a:pt x="1024" y="764"/>
                  </a:lnTo>
                  <a:lnTo>
                    <a:pt x="1041" y="773"/>
                  </a:lnTo>
                  <a:lnTo>
                    <a:pt x="1042" y="7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04" name="Group 103">
            <a:extLst>
              <a:ext uri="{FF2B5EF4-FFF2-40B4-BE49-F238E27FC236}">
                <a16:creationId xmlns:a16="http://schemas.microsoft.com/office/drawing/2014/main" id="{55C2BDA8-26E4-4E6E-A4FA-0C2B6AAA7A0B}"/>
              </a:ext>
            </a:extLst>
          </p:cNvPr>
          <p:cNvGrpSpPr>
            <a:grpSpLocks noChangeAspect="1"/>
          </p:cNvGrpSpPr>
          <p:nvPr/>
        </p:nvGrpSpPr>
        <p:grpSpPr>
          <a:xfrm>
            <a:off x="5089742" y="4676797"/>
            <a:ext cx="147314" cy="246888"/>
            <a:chOff x="1508125" y="1925638"/>
            <a:chExt cx="171450" cy="287338"/>
          </a:xfrm>
          <a:solidFill>
            <a:schemeClr val="accent1"/>
          </a:solidFill>
        </p:grpSpPr>
        <p:sp>
          <p:nvSpPr>
            <p:cNvPr id="105" name="Freeform 85">
              <a:extLst>
                <a:ext uri="{FF2B5EF4-FFF2-40B4-BE49-F238E27FC236}">
                  <a16:creationId xmlns:a16="http://schemas.microsoft.com/office/drawing/2014/main" id="{AF39CCB1-67EE-46D9-8A7A-9B6BAC572FA9}"/>
                </a:ext>
              </a:extLst>
            </p:cNvPr>
            <p:cNvSpPr>
              <a:spLocks noEditPoints="1"/>
            </p:cNvSpPr>
            <p:nvPr/>
          </p:nvSpPr>
          <p:spPr bwMode="auto">
            <a:xfrm>
              <a:off x="1508125" y="1965325"/>
              <a:ext cx="66675" cy="247650"/>
            </a:xfrm>
            <a:custGeom>
              <a:avLst/>
              <a:gdLst>
                <a:gd name="T0" fmla="*/ 104 w 211"/>
                <a:gd name="T1" fmla="*/ 752 h 783"/>
                <a:gd name="T2" fmla="*/ 90 w 211"/>
                <a:gd name="T3" fmla="*/ 749 h 783"/>
                <a:gd name="T4" fmla="*/ 69 w 211"/>
                <a:gd name="T5" fmla="*/ 742 h 783"/>
                <a:gd name="T6" fmla="*/ 52 w 211"/>
                <a:gd name="T7" fmla="*/ 730 h 783"/>
                <a:gd name="T8" fmla="*/ 42 w 211"/>
                <a:gd name="T9" fmla="*/ 720 h 783"/>
                <a:gd name="T10" fmla="*/ 35 w 211"/>
                <a:gd name="T11" fmla="*/ 709 h 783"/>
                <a:gd name="T12" fmla="*/ 32 w 211"/>
                <a:gd name="T13" fmla="*/ 698 h 783"/>
                <a:gd name="T14" fmla="*/ 30 w 211"/>
                <a:gd name="T15" fmla="*/ 662 h 783"/>
                <a:gd name="T16" fmla="*/ 181 w 211"/>
                <a:gd name="T17" fmla="*/ 692 h 783"/>
                <a:gd name="T18" fmla="*/ 180 w 211"/>
                <a:gd name="T19" fmla="*/ 704 h 783"/>
                <a:gd name="T20" fmla="*/ 175 w 211"/>
                <a:gd name="T21" fmla="*/ 716 h 783"/>
                <a:gd name="T22" fmla="*/ 167 w 211"/>
                <a:gd name="T23" fmla="*/ 726 h 783"/>
                <a:gd name="T24" fmla="*/ 158 w 211"/>
                <a:gd name="T25" fmla="*/ 735 h 783"/>
                <a:gd name="T26" fmla="*/ 135 w 211"/>
                <a:gd name="T27" fmla="*/ 748 h 783"/>
                <a:gd name="T28" fmla="*/ 123 w 211"/>
                <a:gd name="T29" fmla="*/ 751 h 783"/>
                <a:gd name="T30" fmla="*/ 110 w 211"/>
                <a:gd name="T31" fmla="*/ 752 h 783"/>
                <a:gd name="T32" fmla="*/ 172 w 211"/>
                <a:gd name="T33" fmla="*/ 179 h 783"/>
                <a:gd name="T34" fmla="*/ 106 w 211"/>
                <a:gd name="T35" fmla="*/ 47 h 783"/>
                <a:gd name="T36" fmla="*/ 181 w 211"/>
                <a:gd name="T37" fmla="*/ 602 h 783"/>
                <a:gd name="T38" fmla="*/ 30 w 211"/>
                <a:gd name="T39" fmla="*/ 632 h 783"/>
                <a:gd name="T40" fmla="*/ 181 w 211"/>
                <a:gd name="T41" fmla="*/ 209 h 783"/>
                <a:gd name="T42" fmla="*/ 121 w 211"/>
                <a:gd name="T43" fmla="*/ 572 h 783"/>
                <a:gd name="T44" fmla="*/ 181 w 211"/>
                <a:gd name="T45" fmla="*/ 209 h 783"/>
                <a:gd name="T46" fmla="*/ 91 w 211"/>
                <a:gd name="T47" fmla="*/ 572 h 783"/>
                <a:gd name="T48" fmla="*/ 30 w 211"/>
                <a:gd name="T49" fmla="*/ 209 h 783"/>
                <a:gd name="T50" fmla="*/ 210 w 211"/>
                <a:gd name="T51" fmla="*/ 188 h 783"/>
                <a:gd name="T52" fmla="*/ 118 w 211"/>
                <a:gd name="T53" fmla="*/ 4 h 783"/>
                <a:gd name="T54" fmla="*/ 110 w 211"/>
                <a:gd name="T55" fmla="*/ 0 h 783"/>
                <a:gd name="T56" fmla="*/ 103 w 211"/>
                <a:gd name="T57" fmla="*/ 0 h 783"/>
                <a:gd name="T58" fmla="*/ 95 w 211"/>
                <a:gd name="T59" fmla="*/ 4 h 783"/>
                <a:gd name="T60" fmla="*/ 3 w 211"/>
                <a:gd name="T61" fmla="*/ 188 h 783"/>
                <a:gd name="T62" fmla="*/ 3 w 211"/>
                <a:gd name="T63" fmla="*/ 188 h 783"/>
                <a:gd name="T64" fmla="*/ 0 w 211"/>
                <a:gd name="T65" fmla="*/ 194 h 783"/>
                <a:gd name="T66" fmla="*/ 1 w 211"/>
                <a:gd name="T67" fmla="*/ 702 h 783"/>
                <a:gd name="T68" fmla="*/ 7 w 211"/>
                <a:gd name="T69" fmla="*/ 719 h 783"/>
                <a:gd name="T70" fmla="*/ 15 w 211"/>
                <a:gd name="T71" fmla="*/ 735 h 783"/>
                <a:gd name="T72" fmla="*/ 28 w 211"/>
                <a:gd name="T73" fmla="*/ 750 h 783"/>
                <a:gd name="T74" fmla="*/ 44 w 211"/>
                <a:gd name="T75" fmla="*/ 762 h 783"/>
                <a:gd name="T76" fmla="*/ 62 w 211"/>
                <a:gd name="T77" fmla="*/ 772 h 783"/>
                <a:gd name="T78" fmla="*/ 81 w 211"/>
                <a:gd name="T79" fmla="*/ 778 h 783"/>
                <a:gd name="T80" fmla="*/ 100 w 211"/>
                <a:gd name="T81" fmla="*/ 783 h 783"/>
                <a:gd name="T82" fmla="*/ 119 w 211"/>
                <a:gd name="T83" fmla="*/ 783 h 783"/>
                <a:gd name="T84" fmla="*/ 137 w 211"/>
                <a:gd name="T85" fmla="*/ 778 h 783"/>
                <a:gd name="T86" fmla="*/ 155 w 211"/>
                <a:gd name="T87" fmla="*/ 772 h 783"/>
                <a:gd name="T88" fmla="*/ 171 w 211"/>
                <a:gd name="T89" fmla="*/ 762 h 783"/>
                <a:gd name="T90" fmla="*/ 185 w 211"/>
                <a:gd name="T91" fmla="*/ 750 h 783"/>
                <a:gd name="T92" fmla="*/ 197 w 211"/>
                <a:gd name="T93" fmla="*/ 736 h 783"/>
                <a:gd name="T94" fmla="*/ 207 w 211"/>
                <a:gd name="T95" fmla="*/ 720 h 783"/>
                <a:gd name="T96" fmla="*/ 211 w 211"/>
                <a:gd name="T97" fmla="*/ 702 h 783"/>
                <a:gd name="T98" fmla="*/ 211 w 211"/>
                <a:gd name="T99" fmla="*/ 194 h 783"/>
                <a:gd name="T100" fmla="*/ 210 w 211"/>
                <a:gd name="T101" fmla="*/ 188 h 783"/>
                <a:gd name="T102" fmla="*/ 210 w 211"/>
                <a:gd name="T103" fmla="*/ 188 h 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1" h="783">
                  <a:moveTo>
                    <a:pt x="110" y="752"/>
                  </a:moveTo>
                  <a:lnTo>
                    <a:pt x="104" y="752"/>
                  </a:lnTo>
                  <a:lnTo>
                    <a:pt x="96" y="751"/>
                  </a:lnTo>
                  <a:lnTo>
                    <a:pt x="90" y="749"/>
                  </a:lnTo>
                  <a:lnTo>
                    <a:pt x="83" y="747"/>
                  </a:lnTo>
                  <a:lnTo>
                    <a:pt x="69" y="742"/>
                  </a:lnTo>
                  <a:lnTo>
                    <a:pt x="57" y="734"/>
                  </a:lnTo>
                  <a:lnTo>
                    <a:pt x="52" y="730"/>
                  </a:lnTo>
                  <a:lnTo>
                    <a:pt x="47" y="726"/>
                  </a:lnTo>
                  <a:lnTo>
                    <a:pt x="42" y="720"/>
                  </a:lnTo>
                  <a:lnTo>
                    <a:pt x="38" y="715"/>
                  </a:lnTo>
                  <a:lnTo>
                    <a:pt x="35" y="709"/>
                  </a:lnTo>
                  <a:lnTo>
                    <a:pt x="33" y="704"/>
                  </a:lnTo>
                  <a:lnTo>
                    <a:pt x="32" y="698"/>
                  </a:lnTo>
                  <a:lnTo>
                    <a:pt x="30" y="692"/>
                  </a:lnTo>
                  <a:lnTo>
                    <a:pt x="30" y="662"/>
                  </a:lnTo>
                  <a:lnTo>
                    <a:pt x="181" y="662"/>
                  </a:lnTo>
                  <a:lnTo>
                    <a:pt x="181" y="692"/>
                  </a:lnTo>
                  <a:lnTo>
                    <a:pt x="181" y="699"/>
                  </a:lnTo>
                  <a:lnTo>
                    <a:pt x="180" y="704"/>
                  </a:lnTo>
                  <a:lnTo>
                    <a:pt x="178" y="711"/>
                  </a:lnTo>
                  <a:lnTo>
                    <a:pt x="175" y="716"/>
                  </a:lnTo>
                  <a:lnTo>
                    <a:pt x="171" y="721"/>
                  </a:lnTo>
                  <a:lnTo>
                    <a:pt x="167" y="726"/>
                  </a:lnTo>
                  <a:lnTo>
                    <a:pt x="163" y="731"/>
                  </a:lnTo>
                  <a:lnTo>
                    <a:pt x="158" y="735"/>
                  </a:lnTo>
                  <a:lnTo>
                    <a:pt x="147" y="743"/>
                  </a:lnTo>
                  <a:lnTo>
                    <a:pt x="135" y="748"/>
                  </a:lnTo>
                  <a:lnTo>
                    <a:pt x="128" y="750"/>
                  </a:lnTo>
                  <a:lnTo>
                    <a:pt x="123" y="751"/>
                  </a:lnTo>
                  <a:lnTo>
                    <a:pt x="117" y="752"/>
                  </a:lnTo>
                  <a:lnTo>
                    <a:pt x="110" y="752"/>
                  </a:lnTo>
                  <a:close/>
                  <a:moveTo>
                    <a:pt x="106" y="47"/>
                  </a:moveTo>
                  <a:lnTo>
                    <a:pt x="172" y="179"/>
                  </a:lnTo>
                  <a:lnTo>
                    <a:pt x="40" y="179"/>
                  </a:lnTo>
                  <a:lnTo>
                    <a:pt x="106" y="47"/>
                  </a:lnTo>
                  <a:close/>
                  <a:moveTo>
                    <a:pt x="30" y="602"/>
                  </a:moveTo>
                  <a:lnTo>
                    <a:pt x="181" y="602"/>
                  </a:lnTo>
                  <a:lnTo>
                    <a:pt x="181" y="632"/>
                  </a:lnTo>
                  <a:lnTo>
                    <a:pt x="30" y="632"/>
                  </a:lnTo>
                  <a:lnTo>
                    <a:pt x="30" y="602"/>
                  </a:lnTo>
                  <a:close/>
                  <a:moveTo>
                    <a:pt x="181" y="209"/>
                  </a:moveTo>
                  <a:lnTo>
                    <a:pt x="181" y="572"/>
                  </a:lnTo>
                  <a:lnTo>
                    <a:pt x="121" y="572"/>
                  </a:lnTo>
                  <a:lnTo>
                    <a:pt x="121" y="209"/>
                  </a:lnTo>
                  <a:lnTo>
                    <a:pt x="181" y="209"/>
                  </a:lnTo>
                  <a:close/>
                  <a:moveTo>
                    <a:pt x="91" y="209"/>
                  </a:moveTo>
                  <a:lnTo>
                    <a:pt x="91" y="572"/>
                  </a:lnTo>
                  <a:lnTo>
                    <a:pt x="30" y="572"/>
                  </a:lnTo>
                  <a:lnTo>
                    <a:pt x="30" y="209"/>
                  </a:lnTo>
                  <a:lnTo>
                    <a:pt x="91" y="209"/>
                  </a:lnTo>
                  <a:close/>
                  <a:moveTo>
                    <a:pt x="210" y="188"/>
                  </a:moveTo>
                  <a:lnTo>
                    <a:pt x="120" y="7"/>
                  </a:lnTo>
                  <a:lnTo>
                    <a:pt x="118" y="4"/>
                  </a:lnTo>
                  <a:lnTo>
                    <a:pt x="114" y="1"/>
                  </a:lnTo>
                  <a:lnTo>
                    <a:pt x="110" y="0"/>
                  </a:lnTo>
                  <a:lnTo>
                    <a:pt x="106" y="0"/>
                  </a:lnTo>
                  <a:lnTo>
                    <a:pt x="103" y="0"/>
                  </a:lnTo>
                  <a:lnTo>
                    <a:pt x="98" y="1"/>
                  </a:lnTo>
                  <a:lnTo>
                    <a:pt x="95" y="4"/>
                  </a:lnTo>
                  <a:lnTo>
                    <a:pt x="93" y="7"/>
                  </a:lnTo>
                  <a:lnTo>
                    <a:pt x="3" y="188"/>
                  </a:lnTo>
                  <a:lnTo>
                    <a:pt x="3" y="188"/>
                  </a:lnTo>
                  <a:lnTo>
                    <a:pt x="3" y="188"/>
                  </a:lnTo>
                  <a:lnTo>
                    <a:pt x="1" y="191"/>
                  </a:lnTo>
                  <a:lnTo>
                    <a:pt x="0" y="194"/>
                  </a:lnTo>
                  <a:lnTo>
                    <a:pt x="0" y="692"/>
                  </a:lnTo>
                  <a:lnTo>
                    <a:pt x="1" y="702"/>
                  </a:lnTo>
                  <a:lnTo>
                    <a:pt x="4" y="711"/>
                  </a:lnTo>
                  <a:lnTo>
                    <a:pt x="7" y="719"/>
                  </a:lnTo>
                  <a:lnTo>
                    <a:pt x="10" y="728"/>
                  </a:lnTo>
                  <a:lnTo>
                    <a:pt x="15" y="735"/>
                  </a:lnTo>
                  <a:lnTo>
                    <a:pt x="22" y="743"/>
                  </a:lnTo>
                  <a:lnTo>
                    <a:pt x="28" y="750"/>
                  </a:lnTo>
                  <a:lnTo>
                    <a:pt x="36" y="757"/>
                  </a:lnTo>
                  <a:lnTo>
                    <a:pt x="44" y="762"/>
                  </a:lnTo>
                  <a:lnTo>
                    <a:pt x="53" y="768"/>
                  </a:lnTo>
                  <a:lnTo>
                    <a:pt x="62" y="772"/>
                  </a:lnTo>
                  <a:lnTo>
                    <a:pt x="71" y="776"/>
                  </a:lnTo>
                  <a:lnTo>
                    <a:pt x="81" y="778"/>
                  </a:lnTo>
                  <a:lnTo>
                    <a:pt x="91" y="780"/>
                  </a:lnTo>
                  <a:lnTo>
                    <a:pt x="100" y="783"/>
                  </a:lnTo>
                  <a:lnTo>
                    <a:pt x="110" y="783"/>
                  </a:lnTo>
                  <a:lnTo>
                    <a:pt x="119" y="783"/>
                  </a:lnTo>
                  <a:lnTo>
                    <a:pt x="128" y="780"/>
                  </a:lnTo>
                  <a:lnTo>
                    <a:pt x="137" y="778"/>
                  </a:lnTo>
                  <a:lnTo>
                    <a:pt x="147" y="776"/>
                  </a:lnTo>
                  <a:lnTo>
                    <a:pt x="155" y="772"/>
                  </a:lnTo>
                  <a:lnTo>
                    <a:pt x="163" y="768"/>
                  </a:lnTo>
                  <a:lnTo>
                    <a:pt x="171" y="762"/>
                  </a:lnTo>
                  <a:lnTo>
                    <a:pt x="179" y="757"/>
                  </a:lnTo>
                  <a:lnTo>
                    <a:pt x="185" y="750"/>
                  </a:lnTo>
                  <a:lnTo>
                    <a:pt x="192" y="744"/>
                  </a:lnTo>
                  <a:lnTo>
                    <a:pt x="197" y="736"/>
                  </a:lnTo>
                  <a:lnTo>
                    <a:pt x="203" y="728"/>
                  </a:lnTo>
                  <a:lnTo>
                    <a:pt x="207" y="720"/>
                  </a:lnTo>
                  <a:lnTo>
                    <a:pt x="209" y="711"/>
                  </a:lnTo>
                  <a:lnTo>
                    <a:pt x="211" y="702"/>
                  </a:lnTo>
                  <a:lnTo>
                    <a:pt x="211" y="692"/>
                  </a:lnTo>
                  <a:lnTo>
                    <a:pt x="211" y="194"/>
                  </a:lnTo>
                  <a:lnTo>
                    <a:pt x="211" y="191"/>
                  </a:lnTo>
                  <a:lnTo>
                    <a:pt x="210" y="188"/>
                  </a:lnTo>
                  <a:lnTo>
                    <a:pt x="210" y="188"/>
                  </a:lnTo>
                  <a:lnTo>
                    <a:pt x="210" y="1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86">
              <a:extLst>
                <a:ext uri="{FF2B5EF4-FFF2-40B4-BE49-F238E27FC236}">
                  <a16:creationId xmlns:a16="http://schemas.microsoft.com/office/drawing/2014/main" id="{B75ECDC7-B7D5-4A96-93CB-D09A3F9AA23B}"/>
                </a:ext>
              </a:extLst>
            </p:cNvPr>
            <p:cNvSpPr>
              <a:spLocks noEditPoints="1"/>
            </p:cNvSpPr>
            <p:nvPr/>
          </p:nvSpPr>
          <p:spPr bwMode="auto">
            <a:xfrm>
              <a:off x="1593850" y="1925638"/>
              <a:ext cx="85725" cy="287338"/>
            </a:xfrm>
            <a:custGeom>
              <a:avLst/>
              <a:gdLst>
                <a:gd name="T0" fmla="*/ 32 w 273"/>
                <a:gd name="T1" fmla="*/ 754 h 905"/>
                <a:gd name="T2" fmla="*/ 112 w 273"/>
                <a:gd name="T3" fmla="*/ 753 h 905"/>
                <a:gd name="T4" fmla="*/ 119 w 273"/>
                <a:gd name="T5" fmla="*/ 748 h 905"/>
                <a:gd name="T6" fmla="*/ 122 w 273"/>
                <a:gd name="T7" fmla="*/ 739 h 905"/>
                <a:gd name="T8" fmla="*/ 119 w 273"/>
                <a:gd name="T9" fmla="*/ 730 h 905"/>
                <a:gd name="T10" fmla="*/ 112 w 273"/>
                <a:gd name="T11" fmla="*/ 725 h 905"/>
                <a:gd name="T12" fmla="*/ 32 w 273"/>
                <a:gd name="T13" fmla="*/ 724 h 905"/>
                <a:gd name="T14" fmla="*/ 109 w 273"/>
                <a:gd name="T15" fmla="*/ 602 h 905"/>
                <a:gd name="T16" fmla="*/ 118 w 273"/>
                <a:gd name="T17" fmla="*/ 599 h 905"/>
                <a:gd name="T18" fmla="*/ 121 w 273"/>
                <a:gd name="T19" fmla="*/ 591 h 905"/>
                <a:gd name="T20" fmla="*/ 121 w 273"/>
                <a:gd name="T21" fmla="*/ 582 h 905"/>
                <a:gd name="T22" fmla="*/ 114 w 273"/>
                <a:gd name="T23" fmla="*/ 576 h 905"/>
                <a:gd name="T24" fmla="*/ 107 w 273"/>
                <a:gd name="T25" fmla="*/ 573 h 905"/>
                <a:gd name="T26" fmla="*/ 107 w 273"/>
                <a:gd name="T27" fmla="*/ 452 h 905"/>
                <a:gd name="T28" fmla="*/ 114 w 273"/>
                <a:gd name="T29" fmla="*/ 450 h 905"/>
                <a:gd name="T30" fmla="*/ 121 w 273"/>
                <a:gd name="T31" fmla="*/ 443 h 905"/>
                <a:gd name="T32" fmla="*/ 121 w 273"/>
                <a:gd name="T33" fmla="*/ 435 h 905"/>
                <a:gd name="T34" fmla="*/ 118 w 273"/>
                <a:gd name="T35" fmla="*/ 427 h 905"/>
                <a:gd name="T36" fmla="*/ 109 w 273"/>
                <a:gd name="T37" fmla="*/ 423 h 905"/>
                <a:gd name="T38" fmla="*/ 32 w 273"/>
                <a:gd name="T39" fmla="*/ 301 h 905"/>
                <a:gd name="T40" fmla="*/ 112 w 273"/>
                <a:gd name="T41" fmla="*/ 300 h 905"/>
                <a:gd name="T42" fmla="*/ 119 w 273"/>
                <a:gd name="T43" fmla="*/ 295 h 905"/>
                <a:gd name="T44" fmla="*/ 122 w 273"/>
                <a:gd name="T45" fmla="*/ 286 h 905"/>
                <a:gd name="T46" fmla="*/ 119 w 273"/>
                <a:gd name="T47" fmla="*/ 278 h 905"/>
                <a:gd name="T48" fmla="*/ 112 w 273"/>
                <a:gd name="T49" fmla="*/ 272 h 905"/>
                <a:gd name="T50" fmla="*/ 32 w 273"/>
                <a:gd name="T51" fmla="*/ 271 h 905"/>
                <a:gd name="T52" fmla="*/ 109 w 273"/>
                <a:gd name="T53" fmla="*/ 151 h 905"/>
                <a:gd name="T54" fmla="*/ 118 w 273"/>
                <a:gd name="T55" fmla="*/ 147 h 905"/>
                <a:gd name="T56" fmla="*/ 121 w 273"/>
                <a:gd name="T57" fmla="*/ 139 h 905"/>
                <a:gd name="T58" fmla="*/ 121 w 273"/>
                <a:gd name="T59" fmla="*/ 130 h 905"/>
                <a:gd name="T60" fmla="*/ 114 w 273"/>
                <a:gd name="T61" fmla="*/ 123 h 905"/>
                <a:gd name="T62" fmla="*/ 107 w 273"/>
                <a:gd name="T63" fmla="*/ 121 h 905"/>
                <a:gd name="T64" fmla="*/ 242 w 273"/>
                <a:gd name="T65" fmla="*/ 30 h 905"/>
                <a:gd name="T66" fmla="*/ 17 w 273"/>
                <a:gd name="T67" fmla="*/ 0 h 905"/>
                <a:gd name="T68" fmla="*/ 8 w 273"/>
                <a:gd name="T69" fmla="*/ 2 h 905"/>
                <a:gd name="T70" fmla="*/ 3 w 273"/>
                <a:gd name="T71" fmla="*/ 9 h 905"/>
                <a:gd name="T72" fmla="*/ 1 w 273"/>
                <a:gd name="T73" fmla="*/ 890 h 905"/>
                <a:gd name="T74" fmla="*/ 4 w 273"/>
                <a:gd name="T75" fmla="*/ 898 h 905"/>
                <a:gd name="T76" fmla="*/ 10 w 273"/>
                <a:gd name="T77" fmla="*/ 904 h 905"/>
                <a:gd name="T78" fmla="*/ 257 w 273"/>
                <a:gd name="T79" fmla="*/ 905 h 905"/>
                <a:gd name="T80" fmla="*/ 266 w 273"/>
                <a:gd name="T81" fmla="*/ 902 h 905"/>
                <a:gd name="T82" fmla="*/ 271 w 273"/>
                <a:gd name="T83" fmla="*/ 895 h 905"/>
                <a:gd name="T84" fmla="*/ 273 w 273"/>
                <a:gd name="T85" fmla="*/ 15 h 905"/>
                <a:gd name="T86" fmla="*/ 269 w 273"/>
                <a:gd name="T87" fmla="*/ 7 h 905"/>
                <a:gd name="T88" fmla="*/ 263 w 273"/>
                <a:gd name="T89" fmla="*/ 1 h 905"/>
                <a:gd name="T90" fmla="*/ 257 w 273"/>
                <a:gd name="T9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73" h="905">
                  <a:moveTo>
                    <a:pt x="242" y="874"/>
                  </a:moveTo>
                  <a:lnTo>
                    <a:pt x="32" y="874"/>
                  </a:lnTo>
                  <a:lnTo>
                    <a:pt x="32" y="754"/>
                  </a:lnTo>
                  <a:lnTo>
                    <a:pt x="107" y="754"/>
                  </a:lnTo>
                  <a:lnTo>
                    <a:pt x="109" y="754"/>
                  </a:lnTo>
                  <a:lnTo>
                    <a:pt x="112" y="753"/>
                  </a:lnTo>
                  <a:lnTo>
                    <a:pt x="114" y="751"/>
                  </a:lnTo>
                  <a:lnTo>
                    <a:pt x="118" y="750"/>
                  </a:lnTo>
                  <a:lnTo>
                    <a:pt x="119" y="748"/>
                  </a:lnTo>
                  <a:lnTo>
                    <a:pt x="121" y="744"/>
                  </a:lnTo>
                  <a:lnTo>
                    <a:pt x="121" y="742"/>
                  </a:lnTo>
                  <a:lnTo>
                    <a:pt x="122" y="739"/>
                  </a:lnTo>
                  <a:lnTo>
                    <a:pt x="121" y="736"/>
                  </a:lnTo>
                  <a:lnTo>
                    <a:pt x="121" y="733"/>
                  </a:lnTo>
                  <a:lnTo>
                    <a:pt x="119" y="730"/>
                  </a:lnTo>
                  <a:lnTo>
                    <a:pt x="118" y="728"/>
                  </a:lnTo>
                  <a:lnTo>
                    <a:pt x="114" y="726"/>
                  </a:lnTo>
                  <a:lnTo>
                    <a:pt x="112" y="725"/>
                  </a:lnTo>
                  <a:lnTo>
                    <a:pt x="109" y="724"/>
                  </a:lnTo>
                  <a:lnTo>
                    <a:pt x="107" y="724"/>
                  </a:lnTo>
                  <a:lnTo>
                    <a:pt x="32" y="724"/>
                  </a:lnTo>
                  <a:lnTo>
                    <a:pt x="32" y="604"/>
                  </a:lnTo>
                  <a:lnTo>
                    <a:pt x="107" y="604"/>
                  </a:lnTo>
                  <a:lnTo>
                    <a:pt x="109" y="602"/>
                  </a:lnTo>
                  <a:lnTo>
                    <a:pt x="112" y="602"/>
                  </a:lnTo>
                  <a:lnTo>
                    <a:pt x="114" y="600"/>
                  </a:lnTo>
                  <a:lnTo>
                    <a:pt x="118" y="599"/>
                  </a:lnTo>
                  <a:lnTo>
                    <a:pt x="119" y="596"/>
                  </a:lnTo>
                  <a:lnTo>
                    <a:pt x="121" y="594"/>
                  </a:lnTo>
                  <a:lnTo>
                    <a:pt x="121" y="591"/>
                  </a:lnTo>
                  <a:lnTo>
                    <a:pt x="122" y="588"/>
                  </a:lnTo>
                  <a:lnTo>
                    <a:pt x="121" y="585"/>
                  </a:lnTo>
                  <a:lnTo>
                    <a:pt x="121" y="582"/>
                  </a:lnTo>
                  <a:lnTo>
                    <a:pt x="119" y="580"/>
                  </a:lnTo>
                  <a:lnTo>
                    <a:pt x="118" y="578"/>
                  </a:lnTo>
                  <a:lnTo>
                    <a:pt x="114" y="576"/>
                  </a:lnTo>
                  <a:lnTo>
                    <a:pt x="112" y="574"/>
                  </a:lnTo>
                  <a:lnTo>
                    <a:pt x="109" y="573"/>
                  </a:lnTo>
                  <a:lnTo>
                    <a:pt x="107" y="573"/>
                  </a:lnTo>
                  <a:lnTo>
                    <a:pt x="32" y="573"/>
                  </a:lnTo>
                  <a:lnTo>
                    <a:pt x="32" y="452"/>
                  </a:lnTo>
                  <a:lnTo>
                    <a:pt x="107" y="452"/>
                  </a:lnTo>
                  <a:lnTo>
                    <a:pt x="109" y="452"/>
                  </a:lnTo>
                  <a:lnTo>
                    <a:pt x="112" y="451"/>
                  </a:lnTo>
                  <a:lnTo>
                    <a:pt x="114" y="450"/>
                  </a:lnTo>
                  <a:lnTo>
                    <a:pt x="118" y="448"/>
                  </a:lnTo>
                  <a:lnTo>
                    <a:pt x="119" y="445"/>
                  </a:lnTo>
                  <a:lnTo>
                    <a:pt x="121" y="443"/>
                  </a:lnTo>
                  <a:lnTo>
                    <a:pt x="121" y="440"/>
                  </a:lnTo>
                  <a:lnTo>
                    <a:pt x="122" y="437"/>
                  </a:lnTo>
                  <a:lnTo>
                    <a:pt x="121" y="435"/>
                  </a:lnTo>
                  <a:lnTo>
                    <a:pt x="121" y="431"/>
                  </a:lnTo>
                  <a:lnTo>
                    <a:pt x="119" y="429"/>
                  </a:lnTo>
                  <a:lnTo>
                    <a:pt x="118" y="427"/>
                  </a:lnTo>
                  <a:lnTo>
                    <a:pt x="114" y="425"/>
                  </a:lnTo>
                  <a:lnTo>
                    <a:pt x="112" y="424"/>
                  </a:lnTo>
                  <a:lnTo>
                    <a:pt x="109" y="423"/>
                  </a:lnTo>
                  <a:lnTo>
                    <a:pt x="107" y="422"/>
                  </a:lnTo>
                  <a:lnTo>
                    <a:pt x="32" y="422"/>
                  </a:lnTo>
                  <a:lnTo>
                    <a:pt x="32" y="301"/>
                  </a:lnTo>
                  <a:lnTo>
                    <a:pt x="107" y="301"/>
                  </a:lnTo>
                  <a:lnTo>
                    <a:pt x="109" y="301"/>
                  </a:lnTo>
                  <a:lnTo>
                    <a:pt x="112" y="300"/>
                  </a:lnTo>
                  <a:lnTo>
                    <a:pt x="114" y="299"/>
                  </a:lnTo>
                  <a:lnTo>
                    <a:pt x="118" y="297"/>
                  </a:lnTo>
                  <a:lnTo>
                    <a:pt x="119" y="295"/>
                  </a:lnTo>
                  <a:lnTo>
                    <a:pt x="121" y="293"/>
                  </a:lnTo>
                  <a:lnTo>
                    <a:pt x="121" y="290"/>
                  </a:lnTo>
                  <a:lnTo>
                    <a:pt x="122" y="286"/>
                  </a:lnTo>
                  <a:lnTo>
                    <a:pt x="121" y="283"/>
                  </a:lnTo>
                  <a:lnTo>
                    <a:pt x="121" y="281"/>
                  </a:lnTo>
                  <a:lnTo>
                    <a:pt x="119" y="278"/>
                  </a:lnTo>
                  <a:lnTo>
                    <a:pt x="118" y="276"/>
                  </a:lnTo>
                  <a:lnTo>
                    <a:pt x="114" y="274"/>
                  </a:lnTo>
                  <a:lnTo>
                    <a:pt x="112" y="272"/>
                  </a:lnTo>
                  <a:lnTo>
                    <a:pt x="109" y="272"/>
                  </a:lnTo>
                  <a:lnTo>
                    <a:pt x="107" y="271"/>
                  </a:lnTo>
                  <a:lnTo>
                    <a:pt x="32" y="271"/>
                  </a:lnTo>
                  <a:lnTo>
                    <a:pt x="32" y="151"/>
                  </a:lnTo>
                  <a:lnTo>
                    <a:pt x="107" y="151"/>
                  </a:lnTo>
                  <a:lnTo>
                    <a:pt x="109" y="151"/>
                  </a:lnTo>
                  <a:lnTo>
                    <a:pt x="112" y="150"/>
                  </a:lnTo>
                  <a:lnTo>
                    <a:pt x="114" y="149"/>
                  </a:lnTo>
                  <a:lnTo>
                    <a:pt x="118" y="147"/>
                  </a:lnTo>
                  <a:lnTo>
                    <a:pt x="119" y="144"/>
                  </a:lnTo>
                  <a:lnTo>
                    <a:pt x="121" y="141"/>
                  </a:lnTo>
                  <a:lnTo>
                    <a:pt x="121" y="139"/>
                  </a:lnTo>
                  <a:lnTo>
                    <a:pt x="122" y="136"/>
                  </a:lnTo>
                  <a:lnTo>
                    <a:pt x="121" y="133"/>
                  </a:lnTo>
                  <a:lnTo>
                    <a:pt x="121" y="130"/>
                  </a:lnTo>
                  <a:lnTo>
                    <a:pt x="119" y="127"/>
                  </a:lnTo>
                  <a:lnTo>
                    <a:pt x="118" y="125"/>
                  </a:lnTo>
                  <a:lnTo>
                    <a:pt x="114" y="123"/>
                  </a:lnTo>
                  <a:lnTo>
                    <a:pt x="112" y="122"/>
                  </a:lnTo>
                  <a:lnTo>
                    <a:pt x="109" y="121"/>
                  </a:lnTo>
                  <a:lnTo>
                    <a:pt x="107" y="121"/>
                  </a:lnTo>
                  <a:lnTo>
                    <a:pt x="32" y="121"/>
                  </a:lnTo>
                  <a:lnTo>
                    <a:pt x="32" y="30"/>
                  </a:lnTo>
                  <a:lnTo>
                    <a:pt x="242" y="30"/>
                  </a:lnTo>
                  <a:lnTo>
                    <a:pt x="242" y="874"/>
                  </a:lnTo>
                  <a:close/>
                  <a:moveTo>
                    <a:pt x="257" y="0"/>
                  </a:moveTo>
                  <a:lnTo>
                    <a:pt x="17" y="0"/>
                  </a:lnTo>
                  <a:lnTo>
                    <a:pt x="13" y="0"/>
                  </a:lnTo>
                  <a:lnTo>
                    <a:pt x="10" y="1"/>
                  </a:lnTo>
                  <a:lnTo>
                    <a:pt x="8" y="2"/>
                  </a:lnTo>
                  <a:lnTo>
                    <a:pt x="6" y="5"/>
                  </a:lnTo>
                  <a:lnTo>
                    <a:pt x="4" y="7"/>
                  </a:lnTo>
                  <a:lnTo>
                    <a:pt x="3" y="9"/>
                  </a:lnTo>
                  <a:lnTo>
                    <a:pt x="1" y="12"/>
                  </a:lnTo>
                  <a:lnTo>
                    <a:pt x="0" y="15"/>
                  </a:lnTo>
                  <a:lnTo>
                    <a:pt x="1" y="890"/>
                  </a:lnTo>
                  <a:lnTo>
                    <a:pt x="1" y="893"/>
                  </a:lnTo>
                  <a:lnTo>
                    <a:pt x="3" y="895"/>
                  </a:lnTo>
                  <a:lnTo>
                    <a:pt x="4" y="898"/>
                  </a:lnTo>
                  <a:lnTo>
                    <a:pt x="6" y="900"/>
                  </a:lnTo>
                  <a:lnTo>
                    <a:pt x="8" y="902"/>
                  </a:lnTo>
                  <a:lnTo>
                    <a:pt x="10" y="904"/>
                  </a:lnTo>
                  <a:lnTo>
                    <a:pt x="13" y="905"/>
                  </a:lnTo>
                  <a:lnTo>
                    <a:pt x="17" y="905"/>
                  </a:lnTo>
                  <a:lnTo>
                    <a:pt x="257" y="905"/>
                  </a:lnTo>
                  <a:lnTo>
                    <a:pt x="261" y="905"/>
                  </a:lnTo>
                  <a:lnTo>
                    <a:pt x="263" y="904"/>
                  </a:lnTo>
                  <a:lnTo>
                    <a:pt x="266" y="902"/>
                  </a:lnTo>
                  <a:lnTo>
                    <a:pt x="268" y="900"/>
                  </a:lnTo>
                  <a:lnTo>
                    <a:pt x="269" y="898"/>
                  </a:lnTo>
                  <a:lnTo>
                    <a:pt x="271" y="895"/>
                  </a:lnTo>
                  <a:lnTo>
                    <a:pt x="273" y="893"/>
                  </a:lnTo>
                  <a:lnTo>
                    <a:pt x="273" y="890"/>
                  </a:lnTo>
                  <a:lnTo>
                    <a:pt x="273" y="15"/>
                  </a:lnTo>
                  <a:lnTo>
                    <a:pt x="273" y="12"/>
                  </a:lnTo>
                  <a:lnTo>
                    <a:pt x="271" y="9"/>
                  </a:lnTo>
                  <a:lnTo>
                    <a:pt x="269" y="7"/>
                  </a:lnTo>
                  <a:lnTo>
                    <a:pt x="268" y="5"/>
                  </a:lnTo>
                  <a:lnTo>
                    <a:pt x="266" y="2"/>
                  </a:lnTo>
                  <a:lnTo>
                    <a:pt x="263" y="1"/>
                  </a:lnTo>
                  <a:lnTo>
                    <a:pt x="261" y="0"/>
                  </a:lnTo>
                  <a:lnTo>
                    <a:pt x="257" y="0"/>
                  </a:lnTo>
                  <a:lnTo>
                    <a:pt x="25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07" name="Group 106"/>
          <p:cNvGrpSpPr>
            <a:grpSpLocks noChangeAspect="1"/>
          </p:cNvGrpSpPr>
          <p:nvPr/>
        </p:nvGrpSpPr>
        <p:grpSpPr>
          <a:xfrm>
            <a:off x="7149356" y="4686665"/>
            <a:ext cx="247352" cy="246888"/>
            <a:chOff x="354013" y="3654426"/>
            <a:chExt cx="1690688" cy="1687512"/>
          </a:xfrm>
          <a:solidFill>
            <a:schemeClr val="accent1"/>
          </a:solidFill>
        </p:grpSpPr>
        <p:sp>
          <p:nvSpPr>
            <p:cNvPr id="108" name="Freeform 764"/>
            <p:cNvSpPr>
              <a:spLocks/>
            </p:cNvSpPr>
            <p:nvPr/>
          </p:nvSpPr>
          <p:spPr bwMode="auto">
            <a:xfrm>
              <a:off x="360363" y="3654426"/>
              <a:ext cx="258763" cy="642938"/>
            </a:xfrm>
            <a:custGeom>
              <a:avLst/>
              <a:gdLst>
                <a:gd name="T0" fmla="*/ 202 w 460"/>
                <a:gd name="T1" fmla="*/ 28 h 1150"/>
                <a:gd name="T2" fmla="*/ 162 w 460"/>
                <a:gd name="T3" fmla="*/ 81 h 1150"/>
                <a:gd name="T4" fmla="*/ 88 w 460"/>
                <a:gd name="T5" fmla="*/ 190 h 1150"/>
                <a:gd name="T6" fmla="*/ 0 w 460"/>
                <a:gd name="T7" fmla="*/ 321 h 1150"/>
                <a:gd name="T8" fmla="*/ 40 w 460"/>
                <a:gd name="T9" fmla="*/ 351 h 1150"/>
                <a:gd name="T10" fmla="*/ 54 w 460"/>
                <a:gd name="T11" fmla="*/ 362 h 1150"/>
                <a:gd name="T12" fmla="*/ 73 w 460"/>
                <a:gd name="T13" fmla="*/ 371 h 1150"/>
                <a:gd name="T14" fmla="*/ 90 w 460"/>
                <a:gd name="T15" fmla="*/ 362 h 1150"/>
                <a:gd name="T16" fmla="*/ 113 w 460"/>
                <a:gd name="T17" fmla="*/ 330 h 1150"/>
                <a:gd name="T18" fmla="*/ 130 w 460"/>
                <a:gd name="T19" fmla="*/ 303 h 1150"/>
                <a:gd name="T20" fmla="*/ 180 w 460"/>
                <a:gd name="T21" fmla="*/ 226 h 1150"/>
                <a:gd name="T22" fmla="*/ 185 w 460"/>
                <a:gd name="T23" fmla="*/ 688 h 1150"/>
                <a:gd name="T24" fmla="*/ 188 w 460"/>
                <a:gd name="T25" fmla="*/ 1150 h 1150"/>
                <a:gd name="T26" fmla="*/ 238 w 460"/>
                <a:gd name="T27" fmla="*/ 1150 h 1150"/>
                <a:gd name="T28" fmla="*/ 288 w 460"/>
                <a:gd name="T29" fmla="*/ 1150 h 1150"/>
                <a:gd name="T30" fmla="*/ 292 w 460"/>
                <a:gd name="T31" fmla="*/ 686 h 1150"/>
                <a:gd name="T32" fmla="*/ 297 w 460"/>
                <a:gd name="T33" fmla="*/ 225 h 1150"/>
                <a:gd name="T34" fmla="*/ 345 w 460"/>
                <a:gd name="T35" fmla="*/ 295 h 1150"/>
                <a:gd name="T36" fmla="*/ 364 w 460"/>
                <a:gd name="T37" fmla="*/ 321 h 1150"/>
                <a:gd name="T38" fmla="*/ 394 w 460"/>
                <a:gd name="T39" fmla="*/ 355 h 1150"/>
                <a:gd name="T40" fmla="*/ 413 w 460"/>
                <a:gd name="T41" fmla="*/ 364 h 1150"/>
                <a:gd name="T42" fmla="*/ 425 w 460"/>
                <a:gd name="T43" fmla="*/ 364 h 1150"/>
                <a:gd name="T44" fmla="*/ 443 w 460"/>
                <a:gd name="T45" fmla="*/ 355 h 1150"/>
                <a:gd name="T46" fmla="*/ 455 w 460"/>
                <a:gd name="T47" fmla="*/ 341 h 1150"/>
                <a:gd name="T48" fmla="*/ 460 w 460"/>
                <a:gd name="T49" fmla="*/ 333 h 1150"/>
                <a:gd name="T50" fmla="*/ 460 w 460"/>
                <a:gd name="T51" fmla="*/ 309 h 1150"/>
                <a:gd name="T52" fmla="*/ 441 w 460"/>
                <a:gd name="T53" fmla="*/ 269 h 1150"/>
                <a:gd name="T54" fmla="*/ 402 w 460"/>
                <a:gd name="T55" fmla="*/ 204 h 1150"/>
                <a:gd name="T56" fmla="*/ 372 w 460"/>
                <a:gd name="T57" fmla="*/ 158 h 1150"/>
                <a:gd name="T58" fmla="*/ 329 w 460"/>
                <a:gd name="T59" fmla="*/ 95 h 1150"/>
                <a:gd name="T60" fmla="*/ 276 w 460"/>
                <a:gd name="T61" fmla="*/ 26 h 1150"/>
                <a:gd name="T62" fmla="*/ 252 w 460"/>
                <a:gd name="T63" fmla="*/ 2 h 1150"/>
                <a:gd name="T64" fmla="*/ 247 w 460"/>
                <a:gd name="T65" fmla="*/ 0 h 1150"/>
                <a:gd name="T66" fmla="*/ 238 w 460"/>
                <a:gd name="T67" fmla="*/ 1 h 1150"/>
                <a:gd name="T68" fmla="*/ 213 w 460"/>
                <a:gd name="T69" fmla="*/ 17 h 1150"/>
                <a:gd name="T70" fmla="*/ 202 w 460"/>
                <a:gd name="T71" fmla="*/ 28 h 1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0" h="1150">
                  <a:moveTo>
                    <a:pt x="202" y="28"/>
                  </a:moveTo>
                  <a:lnTo>
                    <a:pt x="162" y="81"/>
                  </a:lnTo>
                  <a:lnTo>
                    <a:pt x="88" y="190"/>
                  </a:lnTo>
                  <a:lnTo>
                    <a:pt x="0" y="321"/>
                  </a:lnTo>
                  <a:lnTo>
                    <a:pt x="40" y="351"/>
                  </a:lnTo>
                  <a:lnTo>
                    <a:pt x="54" y="362"/>
                  </a:lnTo>
                  <a:lnTo>
                    <a:pt x="73" y="371"/>
                  </a:lnTo>
                  <a:lnTo>
                    <a:pt x="90" y="362"/>
                  </a:lnTo>
                  <a:lnTo>
                    <a:pt x="113" y="330"/>
                  </a:lnTo>
                  <a:lnTo>
                    <a:pt x="130" y="303"/>
                  </a:lnTo>
                  <a:lnTo>
                    <a:pt x="180" y="226"/>
                  </a:lnTo>
                  <a:lnTo>
                    <a:pt x="185" y="688"/>
                  </a:lnTo>
                  <a:lnTo>
                    <a:pt x="188" y="1150"/>
                  </a:lnTo>
                  <a:lnTo>
                    <a:pt x="238" y="1150"/>
                  </a:lnTo>
                  <a:lnTo>
                    <a:pt x="288" y="1150"/>
                  </a:lnTo>
                  <a:lnTo>
                    <a:pt x="292" y="686"/>
                  </a:lnTo>
                  <a:lnTo>
                    <a:pt x="297" y="225"/>
                  </a:lnTo>
                  <a:lnTo>
                    <a:pt x="345" y="295"/>
                  </a:lnTo>
                  <a:lnTo>
                    <a:pt x="364" y="321"/>
                  </a:lnTo>
                  <a:lnTo>
                    <a:pt x="394" y="355"/>
                  </a:lnTo>
                  <a:lnTo>
                    <a:pt x="413" y="364"/>
                  </a:lnTo>
                  <a:lnTo>
                    <a:pt x="425" y="364"/>
                  </a:lnTo>
                  <a:lnTo>
                    <a:pt x="443" y="355"/>
                  </a:lnTo>
                  <a:lnTo>
                    <a:pt x="455" y="341"/>
                  </a:lnTo>
                  <a:lnTo>
                    <a:pt x="460" y="333"/>
                  </a:lnTo>
                  <a:lnTo>
                    <a:pt x="460" y="309"/>
                  </a:lnTo>
                  <a:lnTo>
                    <a:pt x="441" y="269"/>
                  </a:lnTo>
                  <a:lnTo>
                    <a:pt x="402" y="204"/>
                  </a:lnTo>
                  <a:lnTo>
                    <a:pt x="372" y="158"/>
                  </a:lnTo>
                  <a:lnTo>
                    <a:pt x="329" y="95"/>
                  </a:lnTo>
                  <a:lnTo>
                    <a:pt x="276" y="26"/>
                  </a:lnTo>
                  <a:lnTo>
                    <a:pt x="252" y="2"/>
                  </a:lnTo>
                  <a:lnTo>
                    <a:pt x="247" y="0"/>
                  </a:lnTo>
                  <a:lnTo>
                    <a:pt x="238" y="1"/>
                  </a:lnTo>
                  <a:lnTo>
                    <a:pt x="213" y="17"/>
                  </a:lnTo>
                  <a:lnTo>
                    <a:pt x="202"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765"/>
            <p:cNvSpPr>
              <a:spLocks noEditPoints="1"/>
            </p:cNvSpPr>
            <p:nvPr/>
          </p:nvSpPr>
          <p:spPr bwMode="auto">
            <a:xfrm>
              <a:off x="1258888" y="3654426"/>
              <a:ext cx="785813" cy="784225"/>
            </a:xfrm>
            <a:custGeom>
              <a:avLst/>
              <a:gdLst>
                <a:gd name="T0" fmla="*/ 552 w 1404"/>
                <a:gd name="T1" fmla="*/ 88 h 1400"/>
                <a:gd name="T2" fmla="*/ 513 w 1404"/>
                <a:gd name="T3" fmla="*/ 157 h 1400"/>
                <a:gd name="T4" fmla="*/ 439 w 1404"/>
                <a:gd name="T5" fmla="*/ 184 h 1400"/>
                <a:gd name="T6" fmla="*/ 357 w 1404"/>
                <a:gd name="T7" fmla="*/ 161 h 1400"/>
                <a:gd name="T8" fmla="*/ 182 w 1404"/>
                <a:gd name="T9" fmla="*/ 228 h 1400"/>
                <a:gd name="T10" fmla="*/ 140 w 1404"/>
                <a:gd name="T11" fmla="*/ 313 h 1400"/>
                <a:gd name="T12" fmla="*/ 172 w 1404"/>
                <a:gd name="T13" fmla="*/ 393 h 1400"/>
                <a:gd name="T14" fmla="*/ 173 w 1404"/>
                <a:gd name="T15" fmla="*/ 470 h 1400"/>
                <a:gd name="T16" fmla="*/ 140 w 1404"/>
                <a:gd name="T17" fmla="*/ 526 h 1400"/>
                <a:gd name="T18" fmla="*/ 70 w 1404"/>
                <a:gd name="T19" fmla="*/ 563 h 1400"/>
                <a:gd name="T20" fmla="*/ 2 w 1404"/>
                <a:gd name="T21" fmla="*/ 778 h 1400"/>
                <a:gd name="T22" fmla="*/ 13 w 1404"/>
                <a:gd name="T23" fmla="*/ 823 h 1400"/>
                <a:gd name="T24" fmla="*/ 97 w 1404"/>
                <a:gd name="T25" fmla="*/ 855 h 1400"/>
                <a:gd name="T26" fmla="*/ 164 w 1404"/>
                <a:gd name="T27" fmla="*/ 910 h 1400"/>
                <a:gd name="T28" fmla="*/ 178 w 1404"/>
                <a:gd name="T29" fmla="*/ 970 h 1400"/>
                <a:gd name="T30" fmla="*/ 154 w 1404"/>
                <a:gd name="T31" fmla="*/ 1048 h 1400"/>
                <a:gd name="T32" fmla="*/ 222 w 1404"/>
                <a:gd name="T33" fmla="*/ 1219 h 1400"/>
                <a:gd name="T34" fmla="*/ 312 w 1404"/>
                <a:gd name="T35" fmla="*/ 1263 h 1400"/>
                <a:gd name="T36" fmla="*/ 385 w 1404"/>
                <a:gd name="T37" fmla="*/ 1233 h 1400"/>
                <a:gd name="T38" fmla="*/ 460 w 1404"/>
                <a:gd name="T39" fmla="*/ 1228 h 1400"/>
                <a:gd name="T40" fmla="*/ 516 w 1404"/>
                <a:gd name="T41" fmla="*/ 1252 h 1400"/>
                <a:gd name="T42" fmla="*/ 552 w 1404"/>
                <a:gd name="T43" fmla="*/ 1325 h 1400"/>
                <a:gd name="T44" fmla="*/ 817 w 1404"/>
                <a:gd name="T45" fmla="*/ 1400 h 1400"/>
                <a:gd name="T46" fmla="*/ 858 w 1404"/>
                <a:gd name="T47" fmla="*/ 1284 h 1400"/>
                <a:gd name="T48" fmla="*/ 914 w 1404"/>
                <a:gd name="T49" fmla="*/ 1236 h 1400"/>
                <a:gd name="T50" fmla="*/ 981 w 1404"/>
                <a:gd name="T51" fmla="*/ 1220 h 1400"/>
                <a:gd name="T52" fmla="*/ 1052 w 1404"/>
                <a:gd name="T53" fmla="*/ 1249 h 1400"/>
                <a:gd name="T54" fmla="*/ 1120 w 1404"/>
                <a:gd name="T55" fmla="*/ 1262 h 1400"/>
                <a:gd name="T56" fmla="*/ 1264 w 1404"/>
                <a:gd name="T57" fmla="*/ 1119 h 1400"/>
                <a:gd name="T58" fmla="*/ 1237 w 1404"/>
                <a:gd name="T59" fmla="*/ 1036 h 1400"/>
                <a:gd name="T60" fmla="*/ 1217 w 1404"/>
                <a:gd name="T61" fmla="*/ 959 h 1400"/>
                <a:gd name="T62" fmla="*/ 1250 w 1404"/>
                <a:gd name="T63" fmla="*/ 887 h 1400"/>
                <a:gd name="T64" fmla="*/ 1322 w 1404"/>
                <a:gd name="T65" fmla="*/ 846 h 1400"/>
                <a:gd name="T66" fmla="*/ 1404 w 1404"/>
                <a:gd name="T67" fmla="*/ 586 h 1400"/>
                <a:gd name="T68" fmla="*/ 1284 w 1404"/>
                <a:gd name="T69" fmla="*/ 541 h 1400"/>
                <a:gd name="T70" fmla="*/ 1230 w 1404"/>
                <a:gd name="T71" fmla="*/ 486 h 1400"/>
                <a:gd name="T72" fmla="*/ 1210 w 1404"/>
                <a:gd name="T73" fmla="*/ 421 h 1400"/>
                <a:gd name="T74" fmla="*/ 1269 w 1404"/>
                <a:gd name="T75" fmla="*/ 300 h 1400"/>
                <a:gd name="T76" fmla="*/ 1172 w 1404"/>
                <a:gd name="T77" fmla="*/ 185 h 1400"/>
                <a:gd name="T78" fmla="*/ 1112 w 1404"/>
                <a:gd name="T79" fmla="*/ 143 h 1400"/>
                <a:gd name="T80" fmla="*/ 1032 w 1404"/>
                <a:gd name="T81" fmla="*/ 166 h 1400"/>
                <a:gd name="T82" fmla="*/ 952 w 1404"/>
                <a:gd name="T83" fmla="*/ 189 h 1400"/>
                <a:gd name="T84" fmla="*/ 900 w 1404"/>
                <a:gd name="T85" fmla="*/ 162 h 1400"/>
                <a:gd name="T86" fmla="*/ 845 w 1404"/>
                <a:gd name="T87" fmla="*/ 87 h 1400"/>
                <a:gd name="T88" fmla="*/ 702 w 1404"/>
                <a:gd name="T89" fmla="*/ 0 h 1400"/>
                <a:gd name="T90" fmla="*/ 580 w 1404"/>
                <a:gd name="T91" fmla="*/ 11 h 1400"/>
                <a:gd name="T92" fmla="*/ 920 w 1404"/>
                <a:gd name="T93" fmla="*/ 430 h 1400"/>
                <a:gd name="T94" fmla="*/ 1004 w 1404"/>
                <a:gd name="T95" fmla="*/ 536 h 1400"/>
                <a:gd name="T96" fmla="*/ 1043 w 1404"/>
                <a:gd name="T97" fmla="*/ 657 h 1400"/>
                <a:gd name="T98" fmla="*/ 1036 w 1404"/>
                <a:gd name="T99" fmla="*/ 795 h 1400"/>
                <a:gd name="T100" fmla="*/ 977 w 1404"/>
                <a:gd name="T101" fmla="*/ 914 h 1400"/>
                <a:gd name="T102" fmla="*/ 875 w 1404"/>
                <a:gd name="T103" fmla="*/ 1002 h 1400"/>
                <a:gd name="T104" fmla="*/ 739 w 1404"/>
                <a:gd name="T105" fmla="*/ 1046 h 1400"/>
                <a:gd name="T106" fmla="*/ 627 w 1404"/>
                <a:gd name="T107" fmla="*/ 1043 h 1400"/>
                <a:gd name="T108" fmla="*/ 461 w 1404"/>
                <a:gd name="T109" fmla="*/ 960 h 1400"/>
                <a:gd name="T110" fmla="*/ 365 w 1404"/>
                <a:gd name="T111" fmla="*/ 803 h 1400"/>
                <a:gd name="T112" fmla="*/ 352 w 1404"/>
                <a:gd name="T113" fmla="*/ 681 h 1400"/>
                <a:gd name="T114" fmla="*/ 385 w 1404"/>
                <a:gd name="T115" fmla="*/ 552 h 1400"/>
                <a:gd name="T116" fmla="*/ 459 w 1404"/>
                <a:gd name="T117" fmla="*/ 449 h 1400"/>
                <a:gd name="T118" fmla="*/ 563 w 1404"/>
                <a:gd name="T119" fmla="*/ 381 h 1400"/>
                <a:gd name="T120" fmla="*/ 685 w 1404"/>
                <a:gd name="T121" fmla="*/ 354 h 1400"/>
                <a:gd name="T122" fmla="*/ 814 w 1404"/>
                <a:gd name="T123" fmla="*/ 376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04" h="1400">
                  <a:moveTo>
                    <a:pt x="580" y="11"/>
                  </a:moveTo>
                  <a:lnTo>
                    <a:pt x="570" y="36"/>
                  </a:lnTo>
                  <a:lnTo>
                    <a:pt x="552" y="88"/>
                  </a:lnTo>
                  <a:lnTo>
                    <a:pt x="546" y="105"/>
                  </a:lnTo>
                  <a:lnTo>
                    <a:pt x="531" y="134"/>
                  </a:lnTo>
                  <a:lnTo>
                    <a:pt x="513" y="157"/>
                  </a:lnTo>
                  <a:lnTo>
                    <a:pt x="492" y="173"/>
                  </a:lnTo>
                  <a:lnTo>
                    <a:pt x="467" y="182"/>
                  </a:lnTo>
                  <a:lnTo>
                    <a:pt x="439" y="184"/>
                  </a:lnTo>
                  <a:lnTo>
                    <a:pt x="408" y="180"/>
                  </a:lnTo>
                  <a:lnTo>
                    <a:pt x="375" y="170"/>
                  </a:lnTo>
                  <a:lnTo>
                    <a:pt x="357" y="161"/>
                  </a:lnTo>
                  <a:lnTo>
                    <a:pt x="285" y="126"/>
                  </a:lnTo>
                  <a:lnTo>
                    <a:pt x="210" y="200"/>
                  </a:lnTo>
                  <a:lnTo>
                    <a:pt x="182" y="228"/>
                  </a:lnTo>
                  <a:lnTo>
                    <a:pt x="147" y="269"/>
                  </a:lnTo>
                  <a:lnTo>
                    <a:pt x="139" y="295"/>
                  </a:lnTo>
                  <a:lnTo>
                    <a:pt x="140" y="313"/>
                  </a:lnTo>
                  <a:lnTo>
                    <a:pt x="150" y="346"/>
                  </a:lnTo>
                  <a:lnTo>
                    <a:pt x="164" y="375"/>
                  </a:lnTo>
                  <a:lnTo>
                    <a:pt x="172" y="393"/>
                  </a:lnTo>
                  <a:lnTo>
                    <a:pt x="182" y="421"/>
                  </a:lnTo>
                  <a:lnTo>
                    <a:pt x="182" y="444"/>
                  </a:lnTo>
                  <a:lnTo>
                    <a:pt x="173" y="470"/>
                  </a:lnTo>
                  <a:lnTo>
                    <a:pt x="165" y="488"/>
                  </a:lnTo>
                  <a:lnTo>
                    <a:pt x="158" y="503"/>
                  </a:lnTo>
                  <a:lnTo>
                    <a:pt x="140" y="526"/>
                  </a:lnTo>
                  <a:lnTo>
                    <a:pt x="118" y="544"/>
                  </a:lnTo>
                  <a:lnTo>
                    <a:pt x="89" y="557"/>
                  </a:lnTo>
                  <a:lnTo>
                    <a:pt x="70" y="563"/>
                  </a:lnTo>
                  <a:lnTo>
                    <a:pt x="2" y="585"/>
                  </a:lnTo>
                  <a:lnTo>
                    <a:pt x="2" y="691"/>
                  </a:lnTo>
                  <a:lnTo>
                    <a:pt x="2" y="778"/>
                  </a:lnTo>
                  <a:lnTo>
                    <a:pt x="0" y="811"/>
                  </a:lnTo>
                  <a:lnTo>
                    <a:pt x="1" y="815"/>
                  </a:lnTo>
                  <a:lnTo>
                    <a:pt x="13" y="823"/>
                  </a:lnTo>
                  <a:lnTo>
                    <a:pt x="45" y="838"/>
                  </a:lnTo>
                  <a:lnTo>
                    <a:pt x="75" y="848"/>
                  </a:lnTo>
                  <a:lnTo>
                    <a:pt x="97" y="855"/>
                  </a:lnTo>
                  <a:lnTo>
                    <a:pt x="129" y="870"/>
                  </a:lnTo>
                  <a:lnTo>
                    <a:pt x="150" y="887"/>
                  </a:lnTo>
                  <a:lnTo>
                    <a:pt x="164" y="910"/>
                  </a:lnTo>
                  <a:lnTo>
                    <a:pt x="169" y="926"/>
                  </a:lnTo>
                  <a:lnTo>
                    <a:pt x="174" y="942"/>
                  </a:lnTo>
                  <a:lnTo>
                    <a:pt x="178" y="970"/>
                  </a:lnTo>
                  <a:lnTo>
                    <a:pt x="175" y="996"/>
                  </a:lnTo>
                  <a:lnTo>
                    <a:pt x="163" y="1028"/>
                  </a:lnTo>
                  <a:lnTo>
                    <a:pt x="154" y="1048"/>
                  </a:lnTo>
                  <a:lnTo>
                    <a:pt x="119" y="1115"/>
                  </a:lnTo>
                  <a:lnTo>
                    <a:pt x="194" y="1190"/>
                  </a:lnTo>
                  <a:lnTo>
                    <a:pt x="222" y="1219"/>
                  </a:lnTo>
                  <a:lnTo>
                    <a:pt x="265" y="1254"/>
                  </a:lnTo>
                  <a:lnTo>
                    <a:pt x="293" y="1263"/>
                  </a:lnTo>
                  <a:lnTo>
                    <a:pt x="312" y="1263"/>
                  </a:lnTo>
                  <a:lnTo>
                    <a:pt x="344" y="1253"/>
                  </a:lnTo>
                  <a:lnTo>
                    <a:pt x="370" y="1240"/>
                  </a:lnTo>
                  <a:lnTo>
                    <a:pt x="385" y="1233"/>
                  </a:lnTo>
                  <a:lnTo>
                    <a:pt x="410" y="1225"/>
                  </a:lnTo>
                  <a:lnTo>
                    <a:pt x="434" y="1223"/>
                  </a:lnTo>
                  <a:lnTo>
                    <a:pt x="460" y="1228"/>
                  </a:lnTo>
                  <a:lnTo>
                    <a:pt x="475" y="1233"/>
                  </a:lnTo>
                  <a:lnTo>
                    <a:pt x="492" y="1239"/>
                  </a:lnTo>
                  <a:lnTo>
                    <a:pt x="516" y="1252"/>
                  </a:lnTo>
                  <a:lnTo>
                    <a:pt x="533" y="1272"/>
                  </a:lnTo>
                  <a:lnTo>
                    <a:pt x="546" y="1303"/>
                  </a:lnTo>
                  <a:lnTo>
                    <a:pt x="552" y="1325"/>
                  </a:lnTo>
                  <a:lnTo>
                    <a:pt x="574" y="1400"/>
                  </a:lnTo>
                  <a:lnTo>
                    <a:pt x="695" y="1400"/>
                  </a:lnTo>
                  <a:lnTo>
                    <a:pt x="817" y="1400"/>
                  </a:lnTo>
                  <a:lnTo>
                    <a:pt x="839" y="1331"/>
                  </a:lnTo>
                  <a:lnTo>
                    <a:pt x="844" y="1313"/>
                  </a:lnTo>
                  <a:lnTo>
                    <a:pt x="858" y="1284"/>
                  </a:lnTo>
                  <a:lnTo>
                    <a:pt x="875" y="1261"/>
                  </a:lnTo>
                  <a:lnTo>
                    <a:pt x="899" y="1244"/>
                  </a:lnTo>
                  <a:lnTo>
                    <a:pt x="914" y="1236"/>
                  </a:lnTo>
                  <a:lnTo>
                    <a:pt x="931" y="1228"/>
                  </a:lnTo>
                  <a:lnTo>
                    <a:pt x="958" y="1220"/>
                  </a:lnTo>
                  <a:lnTo>
                    <a:pt x="981" y="1220"/>
                  </a:lnTo>
                  <a:lnTo>
                    <a:pt x="1008" y="1229"/>
                  </a:lnTo>
                  <a:lnTo>
                    <a:pt x="1027" y="1238"/>
                  </a:lnTo>
                  <a:lnTo>
                    <a:pt x="1052" y="1249"/>
                  </a:lnTo>
                  <a:lnTo>
                    <a:pt x="1097" y="1265"/>
                  </a:lnTo>
                  <a:lnTo>
                    <a:pt x="1109" y="1266"/>
                  </a:lnTo>
                  <a:lnTo>
                    <a:pt x="1120" y="1262"/>
                  </a:lnTo>
                  <a:lnTo>
                    <a:pt x="1168" y="1222"/>
                  </a:lnTo>
                  <a:lnTo>
                    <a:pt x="1224" y="1167"/>
                  </a:lnTo>
                  <a:lnTo>
                    <a:pt x="1264" y="1119"/>
                  </a:lnTo>
                  <a:lnTo>
                    <a:pt x="1269" y="1108"/>
                  </a:lnTo>
                  <a:lnTo>
                    <a:pt x="1262" y="1087"/>
                  </a:lnTo>
                  <a:lnTo>
                    <a:pt x="1237" y="1036"/>
                  </a:lnTo>
                  <a:lnTo>
                    <a:pt x="1229" y="1020"/>
                  </a:lnTo>
                  <a:lnTo>
                    <a:pt x="1220" y="989"/>
                  </a:lnTo>
                  <a:lnTo>
                    <a:pt x="1217" y="959"/>
                  </a:lnTo>
                  <a:lnTo>
                    <a:pt x="1222" y="932"/>
                  </a:lnTo>
                  <a:lnTo>
                    <a:pt x="1232" y="908"/>
                  </a:lnTo>
                  <a:lnTo>
                    <a:pt x="1250" y="887"/>
                  </a:lnTo>
                  <a:lnTo>
                    <a:pt x="1274" y="868"/>
                  </a:lnTo>
                  <a:lnTo>
                    <a:pt x="1304" y="853"/>
                  </a:lnTo>
                  <a:lnTo>
                    <a:pt x="1322" y="846"/>
                  </a:lnTo>
                  <a:lnTo>
                    <a:pt x="1394" y="821"/>
                  </a:lnTo>
                  <a:lnTo>
                    <a:pt x="1399" y="705"/>
                  </a:lnTo>
                  <a:lnTo>
                    <a:pt x="1404" y="586"/>
                  </a:lnTo>
                  <a:lnTo>
                    <a:pt x="1332" y="563"/>
                  </a:lnTo>
                  <a:lnTo>
                    <a:pt x="1314" y="556"/>
                  </a:lnTo>
                  <a:lnTo>
                    <a:pt x="1284" y="541"/>
                  </a:lnTo>
                  <a:lnTo>
                    <a:pt x="1258" y="522"/>
                  </a:lnTo>
                  <a:lnTo>
                    <a:pt x="1238" y="499"/>
                  </a:lnTo>
                  <a:lnTo>
                    <a:pt x="1230" y="486"/>
                  </a:lnTo>
                  <a:lnTo>
                    <a:pt x="1220" y="469"/>
                  </a:lnTo>
                  <a:lnTo>
                    <a:pt x="1209" y="444"/>
                  </a:lnTo>
                  <a:lnTo>
                    <a:pt x="1210" y="421"/>
                  </a:lnTo>
                  <a:lnTo>
                    <a:pt x="1223" y="390"/>
                  </a:lnTo>
                  <a:lnTo>
                    <a:pt x="1235" y="368"/>
                  </a:lnTo>
                  <a:lnTo>
                    <a:pt x="1269" y="300"/>
                  </a:lnTo>
                  <a:lnTo>
                    <a:pt x="1234" y="251"/>
                  </a:lnTo>
                  <a:lnTo>
                    <a:pt x="1217" y="230"/>
                  </a:lnTo>
                  <a:lnTo>
                    <a:pt x="1172" y="185"/>
                  </a:lnTo>
                  <a:lnTo>
                    <a:pt x="1152" y="168"/>
                  </a:lnTo>
                  <a:lnTo>
                    <a:pt x="1135" y="156"/>
                  </a:lnTo>
                  <a:lnTo>
                    <a:pt x="1112" y="143"/>
                  </a:lnTo>
                  <a:lnTo>
                    <a:pt x="1089" y="142"/>
                  </a:lnTo>
                  <a:lnTo>
                    <a:pt x="1057" y="155"/>
                  </a:lnTo>
                  <a:lnTo>
                    <a:pt x="1032" y="166"/>
                  </a:lnTo>
                  <a:lnTo>
                    <a:pt x="1008" y="177"/>
                  </a:lnTo>
                  <a:lnTo>
                    <a:pt x="976" y="188"/>
                  </a:lnTo>
                  <a:lnTo>
                    <a:pt x="952" y="189"/>
                  </a:lnTo>
                  <a:lnTo>
                    <a:pt x="928" y="179"/>
                  </a:lnTo>
                  <a:lnTo>
                    <a:pt x="912" y="170"/>
                  </a:lnTo>
                  <a:lnTo>
                    <a:pt x="900" y="162"/>
                  </a:lnTo>
                  <a:lnTo>
                    <a:pt x="879" y="143"/>
                  </a:lnTo>
                  <a:lnTo>
                    <a:pt x="861" y="117"/>
                  </a:lnTo>
                  <a:lnTo>
                    <a:pt x="845" y="87"/>
                  </a:lnTo>
                  <a:lnTo>
                    <a:pt x="839" y="70"/>
                  </a:lnTo>
                  <a:lnTo>
                    <a:pt x="815" y="0"/>
                  </a:lnTo>
                  <a:lnTo>
                    <a:pt x="702" y="0"/>
                  </a:lnTo>
                  <a:lnTo>
                    <a:pt x="656" y="0"/>
                  </a:lnTo>
                  <a:lnTo>
                    <a:pt x="589" y="7"/>
                  </a:lnTo>
                  <a:lnTo>
                    <a:pt x="580" y="11"/>
                  </a:lnTo>
                  <a:close/>
                  <a:moveTo>
                    <a:pt x="835" y="385"/>
                  </a:moveTo>
                  <a:lnTo>
                    <a:pt x="869" y="400"/>
                  </a:lnTo>
                  <a:lnTo>
                    <a:pt x="920" y="430"/>
                  </a:lnTo>
                  <a:lnTo>
                    <a:pt x="958" y="465"/>
                  </a:lnTo>
                  <a:lnTo>
                    <a:pt x="989" y="508"/>
                  </a:lnTo>
                  <a:lnTo>
                    <a:pt x="1004" y="536"/>
                  </a:lnTo>
                  <a:lnTo>
                    <a:pt x="1015" y="560"/>
                  </a:lnTo>
                  <a:lnTo>
                    <a:pt x="1033" y="609"/>
                  </a:lnTo>
                  <a:lnTo>
                    <a:pt x="1043" y="657"/>
                  </a:lnTo>
                  <a:lnTo>
                    <a:pt x="1047" y="704"/>
                  </a:lnTo>
                  <a:lnTo>
                    <a:pt x="1044" y="751"/>
                  </a:lnTo>
                  <a:lnTo>
                    <a:pt x="1036" y="795"/>
                  </a:lnTo>
                  <a:lnTo>
                    <a:pt x="1021" y="838"/>
                  </a:lnTo>
                  <a:lnTo>
                    <a:pt x="1002" y="878"/>
                  </a:lnTo>
                  <a:lnTo>
                    <a:pt x="977" y="914"/>
                  </a:lnTo>
                  <a:lnTo>
                    <a:pt x="947" y="948"/>
                  </a:lnTo>
                  <a:lnTo>
                    <a:pt x="913" y="977"/>
                  </a:lnTo>
                  <a:lnTo>
                    <a:pt x="875" y="1002"/>
                  </a:lnTo>
                  <a:lnTo>
                    <a:pt x="833" y="1022"/>
                  </a:lnTo>
                  <a:lnTo>
                    <a:pt x="787" y="1037"/>
                  </a:lnTo>
                  <a:lnTo>
                    <a:pt x="739" y="1046"/>
                  </a:lnTo>
                  <a:lnTo>
                    <a:pt x="687" y="1048"/>
                  </a:lnTo>
                  <a:lnTo>
                    <a:pt x="660" y="1046"/>
                  </a:lnTo>
                  <a:lnTo>
                    <a:pt x="627" y="1043"/>
                  </a:lnTo>
                  <a:lnTo>
                    <a:pt x="565" y="1025"/>
                  </a:lnTo>
                  <a:lnTo>
                    <a:pt x="510" y="997"/>
                  </a:lnTo>
                  <a:lnTo>
                    <a:pt x="461" y="960"/>
                  </a:lnTo>
                  <a:lnTo>
                    <a:pt x="419" y="915"/>
                  </a:lnTo>
                  <a:lnTo>
                    <a:pt x="387" y="862"/>
                  </a:lnTo>
                  <a:lnTo>
                    <a:pt x="365" y="803"/>
                  </a:lnTo>
                  <a:lnTo>
                    <a:pt x="353" y="738"/>
                  </a:lnTo>
                  <a:lnTo>
                    <a:pt x="352" y="705"/>
                  </a:lnTo>
                  <a:lnTo>
                    <a:pt x="352" y="681"/>
                  </a:lnTo>
                  <a:lnTo>
                    <a:pt x="358" y="635"/>
                  </a:lnTo>
                  <a:lnTo>
                    <a:pt x="369" y="592"/>
                  </a:lnTo>
                  <a:lnTo>
                    <a:pt x="385" y="552"/>
                  </a:lnTo>
                  <a:lnTo>
                    <a:pt x="406" y="514"/>
                  </a:lnTo>
                  <a:lnTo>
                    <a:pt x="431" y="480"/>
                  </a:lnTo>
                  <a:lnTo>
                    <a:pt x="459" y="449"/>
                  </a:lnTo>
                  <a:lnTo>
                    <a:pt x="491" y="422"/>
                  </a:lnTo>
                  <a:lnTo>
                    <a:pt x="526" y="399"/>
                  </a:lnTo>
                  <a:lnTo>
                    <a:pt x="563" y="381"/>
                  </a:lnTo>
                  <a:lnTo>
                    <a:pt x="602" y="367"/>
                  </a:lnTo>
                  <a:lnTo>
                    <a:pt x="643" y="358"/>
                  </a:lnTo>
                  <a:lnTo>
                    <a:pt x="685" y="354"/>
                  </a:lnTo>
                  <a:lnTo>
                    <a:pt x="727" y="355"/>
                  </a:lnTo>
                  <a:lnTo>
                    <a:pt x="771" y="362"/>
                  </a:lnTo>
                  <a:lnTo>
                    <a:pt x="814" y="376"/>
                  </a:lnTo>
                  <a:lnTo>
                    <a:pt x="835"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766"/>
            <p:cNvSpPr>
              <a:spLocks/>
            </p:cNvSpPr>
            <p:nvPr/>
          </p:nvSpPr>
          <p:spPr bwMode="auto">
            <a:xfrm>
              <a:off x="1539875" y="3935413"/>
              <a:ext cx="223838" cy="222250"/>
            </a:xfrm>
            <a:custGeom>
              <a:avLst/>
              <a:gdLst>
                <a:gd name="T0" fmla="*/ 150 w 400"/>
                <a:gd name="T1" fmla="*/ 75 h 400"/>
                <a:gd name="T2" fmla="*/ 150 w 400"/>
                <a:gd name="T3" fmla="*/ 150 h 400"/>
                <a:gd name="T4" fmla="*/ 75 w 400"/>
                <a:gd name="T5" fmla="*/ 150 h 400"/>
                <a:gd name="T6" fmla="*/ 50 w 400"/>
                <a:gd name="T7" fmla="*/ 150 h 400"/>
                <a:gd name="T8" fmla="*/ 19 w 400"/>
                <a:gd name="T9" fmla="*/ 152 h 400"/>
                <a:gd name="T10" fmla="*/ 4 w 400"/>
                <a:gd name="T11" fmla="*/ 162 h 400"/>
                <a:gd name="T12" fmla="*/ 0 w 400"/>
                <a:gd name="T13" fmla="*/ 183 h 400"/>
                <a:gd name="T14" fmla="*/ 0 w 400"/>
                <a:gd name="T15" fmla="*/ 200 h 400"/>
                <a:gd name="T16" fmla="*/ 0 w 400"/>
                <a:gd name="T17" fmla="*/ 216 h 400"/>
                <a:gd name="T18" fmla="*/ 4 w 400"/>
                <a:gd name="T19" fmla="*/ 237 h 400"/>
                <a:gd name="T20" fmla="*/ 19 w 400"/>
                <a:gd name="T21" fmla="*/ 247 h 400"/>
                <a:gd name="T22" fmla="*/ 50 w 400"/>
                <a:gd name="T23" fmla="*/ 250 h 400"/>
                <a:gd name="T24" fmla="*/ 75 w 400"/>
                <a:gd name="T25" fmla="*/ 250 h 400"/>
                <a:gd name="T26" fmla="*/ 150 w 400"/>
                <a:gd name="T27" fmla="*/ 250 h 400"/>
                <a:gd name="T28" fmla="*/ 150 w 400"/>
                <a:gd name="T29" fmla="*/ 325 h 400"/>
                <a:gd name="T30" fmla="*/ 150 w 400"/>
                <a:gd name="T31" fmla="*/ 349 h 400"/>
                <a:gd name="T32" fmla="*/ 153 w 400"/>
                <a:gd name="T33" fmla="*/ 381 h 400"/>
                <a:gd name="T34" fmla="*/ 162 w 400"/>
                <a:gd name="T35" fmla="*/ 395 h 400"/>
                <a:gd name="T36" fmla="*/ 183 w 400"/>
                <a:gd name="T37" fmla="*/ 400 h 400"/>
                <a:gd name="T38" fmla="*/ 200 w 400"/>
                <a:gd name="T39" fmla="*/ 400 h 400"/>
                <a:gd name="T40" fmla="*/ 217 w 400"/>
                <a:gd name="T41" fmla="*/ 400 h 400"/>
                <a:gd name="T42" fmla="*/ 238 w 400"/>
                <a:gd name="T43" fmla="*/ 395 h 400"/>
                <a:gd name="T44" fmla="*/ 247 w 400"/>
                <a:gd name="T45" fmla="*/ 381 h 400"/>
                <a:gd name="T46" fmla="*/ 250 w 400"/>
                <a:gd name="T47" fmla="*/ 349 h 400"/>
                <a:gd name="T48" fmla="*/ 250 w 400"/>
                <a:gd name="T49" fmla="*/ 325 h 400"/>
                <a:gd name="T50" fmla="*/ 250 w 400"/>
                <a:gd name="T51" fmla="*/ 250 h 400"/>
                <a:gd name="T52" fmla="*/ 325 w 400"/>
                <a:gd name="T53" fmla="*/ 250 h 400"/>
                <a:gd name="T54" fmla="*/ 350 w 400"/>
                <a:gd name="T55" fmla="*/ 250 h 400"/>
                <a:gd name="T56" fmla="*/ 381 w 400"/>
                <a:gd name="T57" fmla="*/ 247 h 400"/>
                <a:gd name="T58" fmla="*/ 396 w 400"/>
                <a:gd name="T59" fmla="*/ 237 h 400"/>
                <a:gd name="T60" fmla="*/ 400 w 400"/>
                <a:gd name="T61" fmla="*/ 216 h 400"/>
                <a:gd name="T62" fmla="*/ 400 w 400"/>
                <a:gd name="T63" fmla="*/ 200 h 400"/>
                <a:gd name="T64" fmla="*/ 400 w 400"/>
                <a:gd name="T65" fmla="*/ 183 h 400"/>
                <a:gd name="T66" fmla="*/ 396 w 400"/>
                <a:gd name="T67" fmla="*/ 162 h 400"/>
                <a:gd name="T68" fmla="*/ 381 w 400"/>
                <a:gd name="T69" fmla="*/ 152 h 400"/>
                <a:gd name="T70" fmla="*/ 350 w 400"/>
                <a:gd name="T71" fmla="*/ 150 h 400"/>
                <a:gd name="T72" fmla="*/ 325 w 400"/>
                <a:gd name="T73" fmla="*/ 150 h 400"/>
                <a:gd name="T74" fmla="*/ 250 w 400"/>
                <a:gd name="T75" fmla="*/ 150 h 400"/>
                <a:gd name="T76" fmla="*/ 250 w 400"/>
                <a:gd name="T77" fmla="*/ 75 h 400"/>
                <a:gd name="T78" fmla="*/ 250 w 400"/>
                <a:gd name="T79" fmla="*/ 50 h 400"/>
                <a:gd name="T80" fmla="*/ 247 w 400"/>
                <a:gd name="T81" fmla="*/ 19 h 400"/>
                <a:gd name="T82" fmla="*/ 238 w 400"/>
                <a:gd name="T83" fmla="*/ 4 h 400"/>
                <a:gd name="T84" fmla="*/ 217 w 400"/>
                <a:gd name="T85" fmla="*/ 0 h 400"/>
                <a:gd name="T86" fmla="*/ 200 w 400"/>
                <a:gd name="T87" fmla="*/ 0 h 400"/>
                <a:gd name="T88" fmla="*/ 183 w 400"/>
                <a:gd name="T89" fmla="*/ 0 h 400"/>
                <a:gd name="T90" fmla="*/ 162 w 400"/>
                <a:gd name="T91" fmla="*/ 4 h 400"/>
                <a:gd name="T92" fmla="*/ 153 w 400"/>
                <a:gd name="T93" fmla="*/ 19 h 400"/>
                <a:gd name="T94" fmla="*/ 150 w 400"/>
                <a:gd name="T95" fmla="*/ 50 h 400"/>
                <a:gd name="T96" fmla="*/ 150 w 400"/>
                <a:gd name="T97" fmla="*/ 75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00" h="400">
                  <a:moveTo>
                    <a:pt x="150" y="75"/>
                  </a:moveTo>
                  <a:lnTo>
                    <a:pt x="150" y="150"/>
                  </a:lnTo>
                  <a:lnTo>
                    <a:pt x="75" y="150"/>
                  </a:lnTo>
                  <a:lnTo>
                    <a:pt x="50" y="150"/>
                  </a:lnTo>
                  <a:lnTo>
                    <a:pt x="19" y="152"/>
                  </a:lnTo>
                  <a:lnTo>
                    <a:pt x="4" y="162"/>
                  </a:lnTo>
                  <a:lnTo>
                    <a:pt x="0" y="183"/>
                  </a:lnTo>
                  <a:lnTo>
                    <a:pt x="0" y="200"/>
                  </a:lnTo>
                  <a:lnTo>
                    <a:pt x="0" y="216"/>
                  </a:lnTo>
                  <a:lnTo>
                    <a:pt x="4" y="237"/>
                  </a:lnTo>
                  <a:lnTo>
                    <a:pt x="19" y="247"/>
                  </a:lnTo>
                  <a:lnTo>
                    <a:pt x="50" y="250"/>
                  </a:lnTo>
                  <a:lnTo>
                    <a:pt x="75" y="250"/>
                  </a:lnTo>
                  <a:lnTo>
                    <a:pt x="150" y="250"/>
                  </a:lnTo>
                  <a:lnTo>
                    <a:pt x="150" y="325"/>
                  </a:lnTo>
                  <a:lnTo>
                    <a:pt x="150" y="349"/>
                  </a:lnTo>
                  <a:lnTo>
                    <a:pt x="153" y="381"/>
                  </a:lnTo>
                  <a:lnTo>
                    <a:pt x="162" y="395"/>
                  </a:lnTo>
                  <a:lnTo>
                    <a:pt x="183" y="400"/>
                  </a:lnTo>
                  <a:lnTo>
                    <a:pt x="200" y="400"/>
                  </a:lnTo>
                  <a:lnTo>
                    <a:pt x="217" y="400"/>
                  </a:lnTo>
                  <a:lnTo>
                    <a:pt x="238" y="395"/>
                  </a:lnTo>
                  <a:lnTo>
                    <a:pt x="247" y="381"/>
                  </a:lnTo>
                  <a:lnTo>
                    <a:pt x="250" y="349"/>
                  </a:lnTo>
                  <a:lnTo>
                    <a:pt x="250" y="325"/>
                  </a:lnTo>
                  <a:lnTo>
                    <a:pt x="250" y="250"/>
                  </a:lnTo>
                  <a:lnTo>
                    <a:pt x="325" y="250"/>
                  </a:lnTo>
                  <a:lnTo>
                    <a:pt x="350" y="250"/>
                  </a:lnTo>
                  <a:lnTo>
                    <a:pt x="381" y="247"/>
                  </a:lnTo>
                  <a:lnTo>
                    <a:pt x="396" y="237"/>
                  </a:lnTo>
                  <a:lnTo>
                    <a:pt x="400" y="216"/>
                  </a:lnTo>
                  <a:lnTo>
                    <a:pt x="400" y="200"/>
                  </a:lnTo>
                  <a:lnTo>
                    <a:pt x="400" y="183"/>
                  </a:lnTo>
                  <a:lnTo>
                    <a:pt x="396" y="162"/>
                  </a:lnTo>
                  <a:lnTo>
                    <a:pt x="381" y="152"/>
                  </a:lnTo>
                  <a:lnTo>
                    <a:pt x="350" y="150"/>
                  </a:lnTo>
                  <a:lnTo>
                    <a:pt x="325" y="150"/>
                  </a:lnTo>
                  <a:lnTo>
                    <a:pt x="250" y="150"/>
                  </a:lnTo>
                  <a:lnTo>
                    <a:pt x="250" y="75"/>
                  </a:lnTo>
                  <a:lnTo>
                    <a:pt x="250" y="50"/>
                  </a:lnTo>
                  <a:lnTo>
                    <a:pt x="247" y="19"/>
                  </a:lnTo>
                  <a:lnTo>
                    <a:pt x="238" y="4"/>
                  </a:lnTo>
                  <a:lnTo>
                    <a:pt x="217" y="0"/>
                  </a:lnTo>
                  <a:lnTo>
                    <a:pt x="200" y="0"/>
                  </a:lnTo>
                  <a:lnTo>
                    <a:pt x="183" y="0"/>
                  </a:lnTo>
                  <a:lnTo>
                    <a:pt x="162" y="4"/>
                  </a:lnTo>
                  <a:lnTo>
                    <a:pt x="153" y="19"/>
                  </a:lnTo>
                  <a:lnTo>
                    <a:pt x="150" y="50"/>
                  </a:lnTo>
                  <a:lnTo>
                    <a:pt x="150"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770"/>
            <p:cNvSpPr>
              <a:spLocks/>
            </p:cNvSpPr>
            <p:nvPr/>
          </p:nvSpPr>
          <p:spPr bwMode="auto">
            <a:xfrm>
              <a:off x="784225" y="3822701"/>
              <a:ext cx="269875" cy="474663"/>
            </a:xfrm>
            <a:custGeom>
              <a:avLst/>
              <a:gdLst>
                <a:gd name="T0" fmla="*/ 197 w 482"/>
                <a:gd name="T1" fmla="*/ 28 h 850"/>
                <a:gd name="T2" fmla="*/ 157 w 482"/>
                <a:gd name="T3" fmla="*/ 82 h 850"/>
                <a:gd name="T4" fmla="*/ 21 w 482"/>
                <a:gd name="T5" fmla="*/ 284 h 850"/>
                <a:gd name="T6" fmla="*/ 0 w 482"/>
                <a:gd name="T7" fmla="*/ 321 h 850"/>
                <a:gd name="T8" fmla="*/ 2 w 482"/>
                <a:gd name="T9" fmla="*/ 326 h 850"/>
                <a:gd name="T10" fmla="*/ 24 w 482"/>
                <a:gd name="T11" fmla="*/ 344 h 850"/>
                <a:gd name="T12" fmla="*/ 40 w 482"/>
                <a:gd name="T13" fmla="*/ 355 h 850"/>
                <a:gd name="T14" fmla="*/ 54 w 482"/>
                <a:gd name="T15" fmla="*/ 364 h 850"/>
                <a:gd name="T16" fmla="*/ 73 w 482"/>
                <a:gd name="T17" fmla="*/ 371 h 850"/>
                <a:gd name="T18" fmla="*/ 91 w 482"/>
                <a:gd name="T19" fmla="*/ 361 h 850"/>
                <a:gd name="T20" fmla="*/ 114 w 482"/>
                <a:gd name="T21" fmla="*/ 329 h 850"/>
                <a:gd name="T22" fmla="*/ 132 w 482"/>
                <a:gd name="T23" fmla="*/ 303 h 850"/>
                <a:gd name="T24" fmla="*/ 183 w 482"/>
                <a:gd name="T25" fmla="*/ 225 h 850"/>
                <a:gd name="T26" fmla="*/ 183 w 482"/>
                <a:gd name="T27" fmla="*/ 536 h 850"/>
                <a:gd name="T28" fmla="*/ 183 w 482"/>
                <a:gd name="T29" fmla="*/ 850 h 850"/>
                <a:gd name="T30" fmla="*/ 233 w 482"/>
                <a:gd name="T31" fmla="*/ 850 h 850"/>
                <a:gd name="T32" fmla="*/ 283 w 482"/>
                <a:gd name="T33" fmla="*/ 850 h 850"/>
                <a:gd name="T34" fmla="*/ 285 w 482"/>
                <a:gd name="T35" fmla="*/ 536 h 850"/>
                <a:gd name="T36" fmla="*/ 285 w 482"/>
                <a:gd name="T37" fmla="*/ 225 h 850"/>
                <a:gd name="T38" fmla="*/ 322 w 482"/>
                <a:gd name="T39" fmla="*/ 273 h 850"/>
                <a:gd name="T40" fmla="*/ 352 w 482"/>
                <a:gd name="T41" fmla="*/ 313 h 850"/>
                <a:gd name="T42" fmla="*/ 389 w 482"/>
                <a:gd name="T43" fmla="*/ 359 h 850"/>
                <a:gd name="T44" fmla="*/ 406 w 482"/>
                <a:gd name="T45" fmla="*/ 371 h 850"/>
                <a:gd name="T46" fmla="*/ 416 w 482"/>
                <a:gd name="T47" fmla="*/ 372 h 850"/>
                <a:gd name="T48" fmla="*/ 431 w 482"/>
                <a:gd name="T49" fmla="*/ 363 h 850"/>
                <a:gd name="T50" fmla="*/ 445 w 482"/>
                <a:gd name="T51" fmla="*/ 351 h 850"/>
                <a:gd name="T52" fmla="*/ 482 w 482"/>
                <a:gd name="T53" fmla="*/ 321 h 850"/>
                <a:gd name="T54" fmla="*/ 373 w 482"/>
                <a:gd name="T55" fmla="*/ 160 h 850"/>
                <a:gd name="T56" fmla="*/ 330 w 482"/>
                <a:gd name="T57" fmla="*/ 95 h 850"/>
                <a:gd name="T58" fmla="*/ 275 w 482"/>
                <a:gd name="T59" fmla="*/ 26 h 850"/>
                <a:gd name="T60" fmla="*/ 250 w 482"/>
                <a:gd name="T61" fmla="*/ 2 h 850"/>
                <a:gd name="T62" fmla="*/ 243 w 482"/>
                <a:gd name="T63" fmla="*/ 0 h 850"/>
                <a:gd name="T64" fmla="*/ 233 w 482"/>
                <a:gd name="T65" fmla="*/ 1 h 850"/>
                <a:gd name="T66" fmla="*/ 208 w 482"/>
                <a:gd name="T67" fmla="*/ 17 h 850"/>
                <a:gd name="T68" fmla="*/ 197 w 482"/>
                <a:gd name="T69" fmla="*/ 28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82" h="850">
                  <a:moveTo>
                    <a:pt x="197" y="28"/>
                  </a:moveTo>
                  <a:lnTo>
                    <a:pt x="157" y="82"/>
                  </a:lnTo>
                  <a:lnTo>
                    <a:pt x="21" y="284"/>
                  </a:lnTo>
                  <a:lnTo>
                    <a:pt x="0" y="321"/>
                  </a:lnTo>
                  <a:lnTo>
                    <a:pt x="2" y="326"/>
                  </a:lnTo>
                  <a:lnTo>
                    <a:pt x="24" y="344"/>
                  </a:lnTo>
                  <a:lnTo>
                    <a:pt x="40" y="355"/>
                  </a:lnTo>
                  <a:lnTo>
                    <a:pt x="54" y="364"/>
                  </a:lnTo>
                  <a:lnTo>
                    <a:pt x="73" y="371"/>
                  </a:lnTo>
                  <a:lnTo>
                    <a:pt x="91" y="361"/>
                  </a:lnTo>
                  <a:lnTo>
                    <a:pt x="114" y="329"/>
                  </a:lnTo>
                  <a:lnTo>
                    <a:pt x="132" y="303"/>
                  </a:lnTo>
                  <a:lnTo>
                    <a:pt x="183" y="225"/>
                  </a:lnTo>
                  <a:lnTo>
                    <a:pt x="183" y="536"/>
                  </a:lnTo>
                  <a:lnTo>
                    <a:pt x="183" y="850"/>
                  </a:lnTo>
                  <a:lnTo>
                    <a:pt x="233" y="850"/>
                  </a:lnTo>
                  <a:lnTo>
                    <a:pt x="283" y="850"/>
                  </a:lnTo>
                  <a:lnTo>
                    <a:pt x="285" y="536"/>
                  </a:lnTo>
                  <a:lnTo>
                    <a:pt x="285" y="225"/>
                  </a:lnTo>
                  <a:lnTo>
                    <a:pt x="322" y="273"/>
                  </a:lnTo>
                  <a:lnTo>
                    <a:pt x="352" y="313"/>
                  </a:lnTo>
                  <a:lnTo>
                    <a:pt x="389" y="359"/>
                  </a:lnTo>
                  <a:lnTo>
                    <a:pt x="406" y="371"/>
                  </a:lnTo>
                  <a:lnTo>
                    <a:pt x="416" y="372"/>
                  </a:lnTo>
                  <a:lnTo>
                    <a:pt x="431" y="363"/>
                  </a:lnTo>
                  <a:lnTo>
                    <a:pt x="445" y="351"/>
                  </a:lnTo>
                  <a:lnTo>
                    <a:pt x="482" y="321"/>
                  </a:lnTo>
                  <a:lnTo>
                    <a:pt x="373" y="160"/>
                  </a:lnTo>
                  <a:lnTo>
                    <a:pt x="330" y="95"/>
                  </a:lnTo>
                  <a:lnTo>
                    <a:pt x="275" y="26"/>
                  </a:lnTo>
                  <a:lnTo>
                    <a:pt x="250" y="2"/>
                  </a:lnTo>
                  <a:lnTo>
                    <a:pt x="243" y="0"/>
                  </a:lnTo>
                  <a:lnTo>
                    <a:pt x="233" y="1"/>
                  </a:lnTo>
                  <a:lnTo>
                    <a:pt x="208" y="17"/>
                  </a:lnTo>
                  <a:lnTo>
                    <a:pt x="197"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777"/>
            <p:cNvSpPr>
              <a:spLocks/>
            </p:cNvSpPr>
            <p:nvPr/>
          </p:nvSpPr>
          <p:spPr bwMode="auto">
            <a:xfrm>
              <a:off x="466725" y="4354513"/>
              <a:ext cx="55563" cy="55563"/>
            </a:xfrm>
            <a:custGeom>
              <a:avLst/>
              <a:gdLst>
                <a:gd name="T0" fmla="*/ 0 w 100"/>
                <a:gd name="T1" fmla="*/ 50 h 100"/>
                <a:gd name="T2" fmla="*/ 0 w 100"/>
                <a:gd name="T3" fmla="*/ 65 h 100"/>
                <a:gd name="T4" fmla="*/ 4 w 100"/>
                <a:gd name="T5" fmla="*/ 86 h 100"/>
                <a:gd name="T6" fmla="*/ 14 w 100"/>
                <a:gd name="T7" fmla="*/ 96 h 100"/>
                <a:gd name="T8" fmla="*/ 35 w 100"/>
                <a:gd name="T9" fmla="*/ 100 h 100"/>
                <a:gd name="T10" fmla="*/ 50 w 100"/>
                <a:gd name="T11" fmla="*/ 100 h 100"/>
                <a:gd name="T12" fmla="*/ 66 w 100"/>
                <a:gd name="T13" fmla="*/ 100 h 100"/>
                <a:gd name="T14" fmla="*/ 86 w 100"/>
                <a:gd name="T15" fmla="*/ 96 h 100"/>
                <a:gd name="T16" fmla="*/ 97 w 100"/>
                <a:gd name="T17" fmla="*/ 86 h 100"/>
                <a:gd name="T18" fmla="*/ 100 w 100"/>
                <a:gd name="T19" fmla="*/ 65 h 100"/>
                <a:gd name="T20" fmla="*/ 100 w 100"/>
                <a:gd name="T21" fmla="*/ 50 h 100"/>
                <a:gd name="T22" fmla="*/ 100 w 100"/>
                <a:gd name="T23" fmla="*/ 34 h 100"/>
                <a:gd name="T24" fmla="*/ 97 w 100"/>
                <a:gd name="T25" fmla="*/ 14 h 100"/>
                <a:gd name="T26" fmla="*/ 86 w 100"/>
                <a:gd name="T27" fmla="*/ 3 h 100"/>
                <a:gd name="T28" fmla="*/ 66 w 100"/>
                <a:gd name="T29" fmla="*/ 0 h 100"/>
                <a:gd name="T30" fmla="*/ 50 w 100"/>
                <a:gd name="T31" fmla="*/ 0 h 100"/>
                <a:gd name="T32" fmla="*/ 35 w 100"/>
                <a:gd name="T33" fmla="*/ 0 h 100"/>
                <a:gd name="T34" fmla="*/ 14 w 100"/>
                <a:gd name="T35" fmla="*/ 3 h 100"/>
                <a:gd name="T36" fmla="*/ 4 w 100"/>
                <a:gd name="T37" fmla="*/ 14 h 100"/>
                <a:gd name="T38" fmla="*/ 0 w 100"/>
                <a:gd name="T39" fmla="*/ 34 h 100"/>
                <a:gd name="T40" fmla="*/ 0 w 100"/>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0" h="100">
                  <a:moveTo>
                    <a:pt x="0" y="50"/>
                  </a:moveTo>
                  <a:lnTo>
                    <a:pt x="0" y="65"/>
                  </a:lnTo>
                  <a:lnTo>
                    <a:pt x="4" y="86"/>
                  </a:lnTo>
                  <a:lnTo>
                    <a:pt x="14" y="96"/>
                  </a:lnTo>
                  <a:lnTo>
                    <a:pt x="35" y="100"/>
                  </a:lnTo>
                  <a:lnTo>
                    <a:pt x="50" y="100"/>
                  </a:lnTo>
                  <a:lnTo>
                    <a:pt x="66" y="100"/>
                  </a:lnTo>
                  <a:lnTo>
                    <a:pt x="86" y="96"/>
                  </a:lnTo>
                  <a:lnTo>
                    <a:pt x="97" y="86"/>
                  </a:lnTo>
                  <a:lnTo>
                    <a:pt x="100" y="65"/>
                  </a:lnTo>
                  <a:lnTo>
                    <a:pt x="100" y="50"/>
                  </a:lnTo>
                  <a:lnTo>
                    <a:pt x="100" y="34"/>
                  </a:lnTo>
                  <a:lnTo>
                    <a:pt x="97" y="14"/>
                  </a:lnTo>
                  <a:lnTo>
                    <a:pt x="86" y="3"/>
                  </a:lnTo>
                  <a:lnTo>
                    <a:pt x="66" y="0"/>
                  </a:lnTo>
                  <a:lnTo>
                    <a:pt x="50" y="0"/>
                  </a:lnTo>
                  <a:lnTo>
                    <a:pt x="35" y="0"/>
                  </a:lnTo>
                  <a:lnTo>
                    <a:pt x="14" y="3"/>
                  </a:lnTo>
                  <a:lnTo>
                    <a:pt x="4" y="14"/>
                  </a:lnTo>
                  <a:lnTo>
                    <a:pt x="0" y="34"/>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778"/>
            <p:cNvSpPr>
              <a:spLocks/>
            </p:cNvSpPr>
            <p:nvPr/>
          </p:nvSpPr>
          <p:spPr bwMode="auto">
            <a:xfrm>
              <a:off x="885825" y="4354513"/>
              <a:ext cx="55563" cy="55563"/>
            </a:xfrm>
            <a:custGeom>
              <a:avLst/>
              <a:gdLst>
                <a:gd name="T0" fmla="*/ 12 w 100"/>
                <a:gd name="T1" fmla="*/ 11 h 100"/>
                <a:gd name="T2" fmla="*/ 7 w 100"/>
                <a:gd name="T3" fmla="*/ 17 h 100"/>
                <a:gd name="T4" fmla="*/ 1 w 100"/>
                <a:gd name="T5" fmla="*/ 45 h 100"/>
                <a:gd name="T6" fmla="*/ 0 w 100"/>
                <a:gd name="T7" fmla="*/ 61 h 100"/>
                <a:gd name="T8" fmla="*/ 1 w 100"/>
                <a:gd name="T9" fmla="*/ 72 h 100"/>
                <a:gd name="T10" fmla="*/ 5 w 100"/>
                <a:gd name="T11" fmla="*/ 88 h 100"/>
                <a:gd name="T12" fmla="*/ 16 w 100"/>
                <a:gd name="T13" fmla="*/ 96 h 100"/>
                <a:gd name="T14" fmla="*/ 36 w 100"/>
                <a:gd name="T15" fmla="*/ 99 h 100"/>
                <a:gd name="T16" fmla="*/ 50 w 100"/>
                <a:gd name="T17" fmla="*/ 100 h 100"/>
                <a:gd name="T18" fmla="*/ 66 w 100"/>
                <a:gd name="T19" fmla="*/ 100 h 100"/>
                <a:gd name="T20" fmla="*/ 86 w 100"/>
                <a:gd name="T21" fmla="*/ 96 h 100"/>
                <a:gd name="T22" fmla="*/ 97 w 100"/>
                <a:gd name="T23" fmla="*/ 86 h 100"/>
                <a:gd name="T24" fmla="*/ 100 w 100"/>
                <a:gd name="T25" fmla="*/ 65 h 100"/>
                <a:gd name="T26" fmla="*/ 100 w 100"/>
                <a:gd name="T27" fmla="*/ 50 h 100"/>
                <a:gd name="T28" fmla="*/ 100 w 100"/>
                <a:gd name="T29" fmla="*/ 35 h 100"/>
                <a:gd name="T30" fmla="*/ 97 w 100"/>
                <a:gd name="T31" fmla="*/ 15 h 100"/>
                <a:gd name="T32" fmla="*/ 88 w 100"/>
                <a:gd name="T33" fmla="*/ 4 h 100"/>
                <a:gd name="T34" fmla="*/ 73 w 100"/>
                <a:gd name="T35" fmla="*/ 0 h 100"/>
                <a:gd name="T36" fmla="*/ 62 w 100"/>
                <a:gd name="T37" fmla="*/ 0 h 100"/>
                <a:gd name="T38" fmla="*/ 46 w 100"/>
                <a:gd name="T39" fmla="*/ 0 h 100"/>
                <a:gd name="T40" fmla="*/ 18 w 100"/>
                <a:gd name="T41" fmla="*/ 7 h 100"/>
                <a:gd name="T42" fmla="*/ 12 w 100"/>
                <a:gd name="T43" fmla="*/ 1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0" h="100">
                  <a:moveTo>
                    <a:pt x="12" y="11"/>
                  </a:moveTo>
                  <a:lnTo>
                    <a:pt x="7" y="17"/>
                  </a:lnTo>
                  <a:lnTo>
                    <a:pt x="1" y="45"/>
                  </a:lnTo>
                  <a:lnTo>
                    <a:pt x="0" y="61"/>
                  </a:lnTo>
                  <a:lnTo>
                    <a:pt x="1" y="72"/>
                  </a:lnTo>
                  <a:lnTo>
                    <a:pt x="5" y="88"/>
                  </a:lnTo>
                  <a:lnTo>
                    <a:pt x="16" y="96"/>
                  </a:lnTo>
                  <a:lnTo>
                    <a:pt x="36" y="99"/>
                  </a:lnTo>
                  <a:lnTo>
                    <a:pt x="50" y="100"/>
                  </a:lnTo>
                  <a:lnTo>
                    <a:pt x="66" y="100"/>
                  </a:lnTo>
                  <a:lnTo>
                    <a:pt x="86" y="96"/>
                  </a:lnTo>
                  <a:lnTo>
                    <a:pt x="97" y="86"/>
                  </a:lnTo>
                  <a:lnTo>
                    <a:pt x="100" y="65"/>
                  </a:lnTo>
                  <a:lnTo>
                    <a:pt x="100" y="50"/>
                  </a:lnTo>
                  <a:lnTo>
                    <a:pt x="100" y="35"/>
                  </a:lnTo>
                  <a:lnTo>
                    <a:pt x="97" y="15"/>
                  </a:lnTo>
                  <a:lnTo>
                    <a:pt x="88" y="4"/>
                  </a:lnTo>
                  <a:lnTo>
                    <a:pt x="73" y="0"/>
                  </a:lnTo>
                  <a:lnTo>
                    <a:pt x="62" y="0"/>
                  </a:lnTo>
                  <a:lnTo>
                    <a:pt x="46" y="0"/>
                  </a:lnTo>
                  <a:lnTo>
                    <a:pt x="18" y="7"/>
                  </a:lnTo>
                  <a:lnTo>
                    <a:pt x="12"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779"/>
            <p:cNvSpPr>
              <a:spLocks noEditPoints="1"/>
            </p:cNvSpPr>
            <p:nvPr/>
          </p:nvSpPr>
          <p:spPr bwMode="auto">
            <a:xfrm>
              <a:off x="354013" y="4548188"/>
              <a:ext cx="785813" cy="793750"/>
            </a:xfrm>
            <a:custGeom>
              <a:avLst/>
              <a:gdLst>
                <a:gd name="T0" fmla="*/ 551 w 1405"/>
                <a:gd name="T1" fmla="*/ 133 h 1420"/>
                <a:gd name="T2" fmla="*/ 501 w 1405"/>
                <a:gd name="T3" fmla="*/ 177 h 1420"/>
                <a:gd name="T4" fmla="*/ 431 w 1405"/>
                <a:gd name="T5" fmla="*/ 193 h 1420"/>
                <a:gd name="T6" fmla="*/ 285 w 1405"/>
                <a:gd name="T7" fmla="*/ 143 h 1420"/>
                <a:gd name="T8" fmla="*/ 163 w 1405"/>
                <a:gd name="T9" fmla="*/ 373 h 1420"/>
                <a:gd name="T10" fmla="*/ 187 w 1405"/>
                <a:gd name="T11" fmla="*/ 454 h 1420"/>
                <a:gd name="T12" fmla="*/ 159 w 1405"/>
                <a:gd name="T13" fmla="*/ 525 h 1420"/>
                <a:gd name="T14" fmla="*/ 85 w 1405"/>
                <a:gd name="T15" fmla="*/ 567 h 1420"/>
                <a:gd name="T16" fmla="*/ 0 w 1405"/>
                <a:gd name="T17" fmla="*/ 830 h 1420"/>
                <a:gd name="T18" fmla="*/ 131 w 1405"/>
                <a:gd name="T19" fmla="*/ 872 h 1420"/>
                <a:gd name="T20" fmla="*/ 176 w 1405"/>
                <a:gd name="T21" fmla="*/ 930 h 1420"/>
                <a:gd name="T22" fmla="*/ 190 w 1405"/>
                <a:gd name="T23" fmla="*/ 1002 h 1420"/>
                <a:gd name="T24" fmla="*/ 131 w 1405"/>
                <a:gd name="T25" fmla="*/ 1123 h 1420"/>
                <a:gd name="T26" fmla="*/ 363 w 1405"/>
                <a:gd name="T27" fmla="*/ 1253 h 1420"/>
                <a:gd name="T28" fmla="*/ 441 w 1405"/>
                <a:gd name="T29" fmla="*/ 1229 h 1420"/>
                <a:gd name="T30" fmla="*/ 497 w 1405"/>
                <a:gd name="T31" fmla="*/ 1246 h 1420"/>
                <a:gd name="T32" fmla="*/ 553 w 1405"/>
                <a:gd name="T33" fmla="*/ 1317 h 1420"/>
                <a:gd name="T34" fmla="*/ 706 w 1405"/>
                <a:gd name="T35" fmla="*/ 1415 h 1420"/>
                <a:gd name="T36" fmla="*/ 854 w 1405"/>
                <a:gd name="T37" fmla="*/ 1320 h 1420"/>
                <a:gd name="T38" fmla="*/ 910 w 1405"/>
                <a:gd name="T39" fmla="*/ 1249 h 1420"/>
                <a:gd name="T40" fmla="*/ 991 w 1405"/>
                <a:gd name="T41" fmla="*/ 1237 h 1420"/>
                <a:gd name="T42" fmla="*/ 1068 w 1405"/>
                <a:gd name="T43" fmla="*/ 1265 h 1420"/>
                <a:gd name="T44" fmla="*/ 1145 w 1405"/>
                <a:gd name="T45" fmla="*/ 1261 h 1420"/>
                <a:gd name="T46" fmla="*/ 1275 w 1405"/>
                <a:gd name="T47" fmla="*/ 1135 h 1420"/>
                <a:gd name="T48" fmla="*/ 1226 w 1405"/>
                <a:gd name="T49" fmla="*/ 991 h 1420"/>
                <a:gd name="T50" fmla="*/ 1240 w 1405"/>
                <a:gd name="T51" fmla="*/ 925 h 1420"/>
                <a:gd name="T52" fmla="*/ 1289 w 1405"/>
                <a:gd name="T53" fmla="*/ 876 h 1420"/>
                <a:gd name="T54" fmla="*/ 1405 w 1405"/>
                <a:gd name="T55" fmla="*/ 827 h 1420"/>
                <a:gd name="T56" fmla="*/ 1335 w 1405"/>
                <a:gd name="T57" fmla="*/ 572 h 1420"/>
                <a:gd name="T58" fmla="*/ 1264 w 1405"/>
                <a:gd name="T59" fmla="*/ 532 h 1420"/>
                <a:gd name="T60" fmla="*/ 1232 w 1405"/>
                <a:gd name="T61" fmla="*/ 478 h 1420"/>
                <a:gd name="T62" fmla="*/ 1238 w 1405"/>
                <a:gd name="T63" fmla="*/ 393 h 1420"/>
                <a:gd name="T64" fmla="*/ 1201 w 1405"/>
                <a:gd name="T65" fmla="*/ 218 h 1420"/>
                <a:gd name="T66" fmla="*/ 1030 w 1405"/>
                <a:gd name="T67" fmla="*/ 179 h 1420"/>
                <a:gd name="T68" fmla="*/ 945 w 1405"/>
                <a:gd name="T69" fmla="*/ 189 h 1420"/>
                <a:gd name="T70" fmla="*/ 888 w 1405"/>
                <a:gd name="T71" fmla="*/ 162 h 1420"/>
                <a:gd name="T72" fmla="*/ 848 w 1405"/>
                <a:gd name="T73" fmla="*/ 87 h 1420"/>
                <a:gd name="T74" fmla="*/ 600 w 1405"/>
                <a:gd name="T75" fmla="*/ 0 h 1420"/>
                <a:gd name="T76" fmla="*/ 887 w 1405"/>
                <a:gd name="T77" fmla="*/ 412 h 1420"/>
                <a:gd name="T78" fmla="*/ 991 w 1405"/>
                <a:gd name="T79" fmla="*/ 509 h 1420"/>
                <a:gd name="T80" fmla="*/ 1045 w 1405"/>
                <a:gd name="T81" fmla="*/ 640 h 1420"/>
                <a:gd name="T82" fmla="*/ 1050 w 1405"/>
                <a:gd name="T83" fmla="*/ 748 h 1420"/>
                <a:gd name="T84" fmla="*/ 993 w 1405"/>
                <a:gd name="T85" fmla="*/ 908 h 1420"/>
                <a:gd name="T86" fmla="*/ 866 w 1405"/>
                <a:gd name="T87" fmla="*/ 1021 h 1420"/>
                <a:gd name="T88" fmla="*/ 759 w 1405"/>
                <a:gd name="T89" fmla="*/ 1057 h 1420"/>
                <a:gd name="T90" fmla="*/ 624 w 1405"/>
                <a:gd name="T91" fmla="*/ 1051 h 1420"/>
                <a:gd name="T92" fmla="*/ 505 w 1405"/>
                <a:gd name="T93" fmla="*/ 996 h 1420"/>
                <a:gd name="T94" fmla="*/ 414 w 1405"/>
                <a:gd name="T95" fmla="*/ 902 h 1420"/>
                <a:gd name="T96" fmla="*/ 363 w 1405"/>
                <a:gd name="T97" fmla="*/ 781 h 1420"/>
                <a:gd name="T98" fmla="*/ 362 w 1405"/>
                <a:gd name="T99" fmla="*/ 645 h 1420"/>
                <a:gd name="T100" fmla="*/ 415 w 1405"/>
                <a:gd name="T101" fmla="*/ 524 h 1420"/>
                <a:gd name="T102" fmla="*/ 556 w 1405"/>
                <a:gd name="T103" fmla="*/ 395 h 1420"/>
                <a:gd name="T104" fmla="*/ 666 w 1405"/>
                <a:gd name="T105" fmla="*/ 369 h 1420"/>
                <a:gd name="T106" fmla="*/ 850 w 1405"/>
                <a:gd name="T107" fmla="*/ 393 h 1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05" h="1420">
                  <a:moveTo>
                    <a:pt x="576" y="58"/>
                  </a:moveTo>
                  <a:lnTo>
                    <a:pt x="557" y="108"/>
                  </a:lnTo>
                  <a:lnTo>
                    <a:pt x="551" y="133"/>
                  </a:lnTo>
                  <a:lnTo>
                    <a:pt x="548" y="142"/>
                  </a:lnTo>
                  <a:lnTo>
                    <a:pt x="521" y="166"/>
                  </a:lnTo>
                  <a:lnTo>
                    <a:pt x="501" y="177"/>
                  </a:lnTo>
                  <a:lnTo>
                    <a:pt x="485" y="185"/>
                  </a:lnTo>
                  <a:lnTo>
                    <a:pt x="458" y="193"/>
                  </a:lnTo>
                  <a:lnTo>
                    <a:pt x="431" y="193"/>
                  </a:lnTo>
                  <a:lnTo>
                    <a:pt x="394" y="182"/>
                  </a:lnTo>
                  <a:lnTo>
                    <a:pt x="368" y="173"/>
                  </a:lnTo>
                  <a:lnTo>
                    <a:pt x="285" y="143"/>
                  </a:lnTo>
                  <a:lnTo>
                    <a:pt x="206" y="222"/>
                  </a:lnTo>
                  <a:lnTo>
                    <a:pt x="128" y="300"/>
                  </a:lnTo>
                  <a:lnTo>
                    <a:pt x="163" y="373"/>
                  </a:lnTo>
                  <a:lnTo>
                    <a:pt x="172" y="391"/>
                  </a:lnTo>
                  <a:lnTo>
                    <a:pt x="183" y="425"/>
                  </a:lnTo>
                  <a:lnTo>
                    <a:pt x="187" y="454"/>
                  </a:lnTo>
                  <a:lnTo>
                    <a:pt x="185" y="481"/>
                  </a:lnTo>
                  <a:lnTo>
                    <a:pt x="175" y="504"/>
                  </a:lnTo>
                  <a:lnTo>
                    <a:pt x="159" y="525"/>
                  </a:lnTo>
                  <a:lnTo>
                    <a:pt x="135" y="543"/>
                  </a:lnTo>
                  <a:lnTo>
                    <a:pt x="103" y="559"/>
                  </a:lnTo>
                  <a:lnTo>
                    <a:pt x="85" y="567"/>
                  </a:lnTo>
                  <a:lnTo>
                    <a:pt x="10" y="595"/>
                  </a:lnTo>
                  <a:lnTo>
                    <a:pt x="5" y="712"/>
                  </a:lnTo>
                  <a:lnTo>
                    <a:pt x="0" y="830"/>
                  </a:lnTo>
                  <a:lnTo>
                    <a:pt x="76" y="852"/>
                  </a:lnTo>
                  <a:lnTo>
                    <a:pt x="99" y="858"/>
                  </a:lnTo>
                  <a:lnTo>
                    <a:pt x="131" y="872"/>
                  </a:lnTo>
                  <a:lnTo>
                    <a:pt x="154" y="889"/>
                  </a:lnTo>
                  <a:lnTo>
                    <a:pt x="169" y="914"/>
                  </a:lnTo>
                  <a:lnTo>
                    <a:pt x="176" y="930"/>
                  </a:lnTo>
                  <a:lnTo>
                    <a:pt x="184" y="949"/>
                  </a:lnTo>
                  <a:lnTo>
                    <a:pt x="191" y="977"/>
                  </a:lnTo>
                  <a:lnTo>
                    <a:pt x="190" y="1002"/>
                  </a:lnTo>
                  <a:lnTo>
                    <a:pt x="177" y="1033"/>
                  </a:lnTo>
                  <a:lnTo>
                    <a:pt x="166" y="1055"/>
                  </a:lnTo>
                  <a:lnTo>
                    <a:pt x="131" y="1123"/>
                  </a:lnTo>
                  <a:lnTo>
                    <a:pt x="215" y="1205"/>
                  </a:lnTo>
                  <a:lnTo>
                    <a:pt x="296" y="1288"/>
                  </a:lnTo>
                  <a:lnTo>
                    <a:pt x="363" y="1253"/>
                  </a:lnTo>
                  <a:lnTo>
                    <a:pt x="384" y="1244"/>
                  </a:lnTo>
                  <a:lnTo>
                    <a:pt x="415" y="1232"/>
                  </a:lnTo>
                  <a:lnTo>
                    <a:pt x="441" y="1229"/>
                  </a:lnTo>
                  <a:lnTo>
                    <a:pt x="467" y="1234"/>
                  </a:lnTo>
                  <a:lnTo>
                    <a:pt x="483" y="1240"/>
                  </a:lnTo>
                  <a:lnTo>
                    <a:pt x="497" y="1246"/>
                  </a:lnTo>
                  <a:lnTo>
                    <a:pt x="520" y="1261"/>
                  </a:lnTo>
                  <a:lnTo>
                    <a:pt x="538" y="1283"/>
                  </a:lnTo>
                  <a:lnTo>
                    <a:pt x="553" y="1317"/>
                  </a:lnTo>
                  <a:lnTo>
                    <a:pt x="561" y="1340"/>
                  </a:lnTo>
                  <a:lnTo>
                    <a:pt x="588" y="1420"/>
                  </a:lnTo>
                  <a:lnTo>
                    <a:pt x="706" y="1415"/>
                  </a:lnTo>
                  <a:lnTo>
                    <a:pt x="823" y="1410"/>
                  </a:lnTo>
                  <a:lnTo>
                    <a:pt x="848" y="1338"/>
                  </a:lnTo>
                  <a:lnTo>
                    <a:pt x="854" y="1320"/>
                  </a:lnTo>
                  <a:lnTo>
                    <a:pt x="869" y="1290"/>
                  </a:lnTo>
                  <a:lnTo>
                    <a:pt x="888" y="1266"/>
                  </a:lnTo>
                  <a:lnTo>
                    <a:pt x="910" y="1249"/>
                  </a:lnTo>
                  <a:lnTo>
                    <a:pt x="934" y="1239"/>
                  </a:lnTo>
                  <a:lnTo>
                    <a:pt x="961" y="1235"/>
                  </a:lnTo>
                  <a:lnTo>
                    <a:pt x="991" y="1237"/>
                  </a:lnTo>
                  <a:lnTo>
                    <a:pt x="1024" y="1246"/>
                  </a:lnTo>
                  <a:lnTo>
                    <a:pt x="1041" y="1253"/>
                  </a:lnTo>
                  <a:lnTo>
                    <a:pt x="1068" y="1265"/>
                  </a:lnTo>
                  <a:lnTo>
                    <a:pt x="1100" y="1272"/>
                  </a:lnTo>
                  <a:lnTo>
                    <a:pt x="1118" y="1272"/>
                  </a:lnTo>
                  <a:lnTo>
                    <a:pt x="1145" y="1261"/>
                  </a:lnTo>
                  <a:lnTo>
                    <a:pt x="1188" y="1225"/>
                  </a:lnTo>
                  <a:lnTo>
                    <a:pt x="1216" y="1195"/>
                  </a:lnTo>
                  <a:lnTo>
                    <a:pt x="1275" y="1135"/>
                  </a:lnTo>
                  <a:lnTo>
                    <a:pt x="1245" y="1053"/>
                  </a:lnTo>
                  <a:lnTo>
                    <a:pt x="1236" y="1028"/>
                  </a:lnTo>
                  <a:lnTo>
                    <a:pt x="1226" y="991"/>
                  </a:lnTo>
                  <a:lnTo>
                    <a:pt x="1225" y="964"/>
                  </a:lnTo>
                  <a:lnTo>
                    <a:pt x="1232" y="939"/>
                  </a:lnTo>
                  <a:lnTo>
                    <a:pt x="1240" y="925"/>
                  </a:lnTo>
                  <a:lnTo>
                    <a:pt x="1246" y="914"/>
                  </a:lnTo>
                  <a:lnTo>
                    <a:pt x="1264" y="894"/>
                  </a:lnTo>
                  <a:lnTo>
                    <a:pt x="1289" y="876"/>
                  </a:lnTo>
                  <a:lnTo>
                    <a:pt x="1318" y="860"/>
                  </a:lnTo>
                  <a:lnTo>
                    <a:pt x="1335" y="853"/>
                  </a:lnTo>
                  <a:lnTo>
                    <a:pt x="1405" y="827"/>
                  </a:lnTo>
                  <a:lnTo>
                    <a:pt x="1405" y="710"/>
                  </a:lnTo>
                  <a:lnTo>
                    <a:pt x="1405" y="595"/>
                  </a:lnTo>
                  <a:lnTo>
                    <a:pt x="1335" y="572"/>
                  </a:lnTo>
                  <a:lnTo>
                    <a:pt x="1317" y="565"/>
                  </a:lnTo>
                  <a:lnTo>
                    <a:pt x="1287" y="550"/>
                  </a:lnTo>
                  <a:lnTo>
                    <a:pt x="1264" y="532"/>
                  </a:lnTo>
                  <a:lnTo>
                    <a:pt x="1247" y="509"/>
                  </a:lnTo>
                  <a:lnTo>
                    <a:pt x="1240" y="495"/>
                  </a:lnTo>
                  <a:lnTo>
                    <a:pt x="1232" y="478"/>
                  </a:lnTo>
                  <a:lnTo>
                    <a:pt x="1223" y="451"/>
                  </a:lnTo>
                  <a:lnTo>
                    <a:pt x="1225" y="426"/>
                  </a:lnTo>
                  <a:lnTo>
                    <a:pt x="1238" y="393"/>
                  </a:lnTo>
                  <a:lnTo>
                    <a:pt x="1250" y="370"/>
                  </a:lnTo>
                  <a:lnTo>
                    <a:pt x="1286" y="302"/>
                  </a:lnTo>
                  <a:lnTo>
                    <a:pt x="1201" y="218"/>
                  </a:lnTo>
                  <a:lnTo>
                    <a:pt x="1118" y="133"/>
                  </a:lnTo>
                  <a:lnTo>
                    <a:pt x="1051" y="168"/>
                  </a:lnTo>
                  <a:lnTo>
                    <a:pt x="1030" y="179"/>
                  </a:lnTo>
                  <a:lnTo>
                    <a:pt x="998" y="191"/>
                  </a:lnTo>
                  <a:lnTo>
                    <a:pt x="973" y="194"/>
                  </a:lnTo>
                  <a:lnTo>
                    <a:pt x="945" y="189"/>
                  </a:lnTo>
                  <a:lnTo>
                    <a:pt x="928" y="183"/>
                  </a:lnTo>
                  <a:lnTo>
                    <a:pt x="912" y="177"/>
                  </a:lnTo>
                  <a:lnTo>
                    <a:pt x="888" y="162"/>
                  </a:lnTo>
                  <a:lnTo>
                    <a:pt x="870" y="140"/>
                  </a:lnTo>
                  <a:lnTo>
                    <a:pt x="855" y="108"/>
                  </a:lnTo>
                  <a:lnTo>
                    <a:pt x="848" y="87"/>
                  </a:lnTo>
                  <a:lnTo>
                    <a:pt x="825" y="10"/>
                  </a:lnTo>
                  <a:lnTo>
                    <a:pt x="713" y="5"/>
                  </a:lnTo>
                  <a:lnTo>
                    <a:pt x="600" y="0"/>
                  </a:lnTo>
                  <a:lnTo>
                    <a:pt x="576" y="58"/>
                  </a:lnTo>
                  <a:close/>
                  <a:moveTo>
                    <a:pt x="865" y="400"/>
                  </a:moveTo>
                  <a:lnTo>
                    <a:pt x="887" y="412"/>
                  </a:lnTo>
                  <a:lnTo>
                    <a:pt x="927" y="440"/>
                  </a:lnTo>
                  <a:lnTo>
                    <a:pt x="962" y="473"/>
                  </a:lnTo>
                  <a:lnTo>
                    <a:pt x="991" y="509"/>
                  </a:lnTo>
                  <a:lnTo>
                    <a:pt x="1015" y="549"/>
                  </a:lnTo>
                  <a:lnTo>
                    <a:pt x="1033" y="593"/>
                  </a:lnTo>
                  <a:lnTo>
                    <a:pt x="1045" y="640"/>
                  </a:lnTo>
                  <a:lnTo>
                    <a:pt x="1051" y="691"/>
                  </a:lnTo>
                  <a:lnTo>
                    <a:pt x="1051" y="718"/>
                  </a:lnTo>
                  <a:lnTo>
                    <a:pt x="1050" y="748"/>
                  </a:lnTo>
                  <a:lnTo>
                    <a:pt x="1040" y="805"/>
                  </a:lnTo>
                  <a:lnTo>
                    <a:pt x="1021" y="859"/>
                  </a:lnTo>
                  <a:lnTo>
                    <a:pt x="993" y="908"/>
                  </a:lnTo>
                  <a:lnTo>
                    <a:pt x="957" y="952"/>
                  </a:lnTo>
                  <a:lnTo>
                    <a:pt x="915" y="990"/>
                  </a:lnTo>
                  <a:lnTo>
                    <a:pt x="866" y="1021"/>
                  </a:lnTo>
                  <a:lnTo>
                    <a:pt x="812" y="1044"/>
                  </a:lnTo>
                  <a:lnTo>
                    <a:pt x="783" y="1052"/>
                  </a:lnTo>
                  <a:lnTo>
                    <a:pt x="759" y="1057"/>
                  </a:lnTo>
                  <a:lnTo>
                    <a:pt x="713" y="1061"/>
                  </a:lnTo>
                  <a:lnTo>
                    <a:pt x="668" y="1059"/>
                  </a:lnTo>
                  <a:lnTo>
                    <a:pt x="624" y="1051"/>
                  </a:lnTo>
                  <a:lnTo>
                    <a:pt x="582" y="1038"/>
                  </a:lnTo>
                  <a:lnTo>
                    <a:pt x="542" y="1019"/>
                  </a:lnTo>
                  <a:lnTo>
                    <a:pt x="505" y="996"/>
                  </a:lnTo>
                  <a:lnTo>
                    <a:pt x="471" y="968"/>
                  </a:lnTo>
                  <a:lnTo>
                    <a:pt x="441" y="937"/>
                  </a:lnTo>
                  <a:lnTo>
                    <a:pt x="414" y="902"/>
                  </a:lnTo>
                  <a:lnTo>
                    <a:pt x="392" y="864"/>
                  </a:lnTo>
                  <a:lnTo>
                    <a:pt x="375" y="824"/>
                  </a:lnTo>
                  <a:lnTo>
                    <a:pt x="363" y="781"/>
                  </a:lnTo>
                  <a:lnTo>
                    <a:pt x="357" y="737"/>
                  </a:lnTo>
                  <a:lnTo>
                    <a:pt x="356" y="692"/>
                  </a:lnTo>
                  <a:lnTo>
                    <a:pt x="362" y="645"/>
                  </a:lnTo>
                  <a:lnTo>
                    <a:pt x="368" y="622"/>
                  </a:lnTo>
                  <a:lnTo>
                    <a:pt x="378" y="590"/>
                  </a:lnTo>
                  <a:lnTo>
                    <a:pt x="415" y="524"/>
                  </a:lnTo>
                  <a:lnTo>
                    <a:pt x="467" y="462"/>
                  </a:lnTo>
                  <a:lnTo>
                    <a:pt x="526" y="412"/>
                  </a:lnTo>
                  <a:lnTo>
                    <a:pt x="556" y="395"/>
                  </a:lnTo>
                  <a:lnTo>
                    <a:pt x="571" y="388"/>
                  </a:lnTo>
                  <a:lnTo>
                    <a:pt x="606" y="378"/>
                  </a:lnTo>
                  <a:lnTo>
                    <a:pt x="666" y="369"/>
                  </a:lnTo>
                  <a:lnTo>
                    <a:pt x="753" y="371"/>
                  </a:lnTo>
                  <a:lnTo>
                    <a:pt x="814" y="381"/>
                  </a:lnTo>
                  <a:lnTo>
                    <a:pt x="850" y="393"/>
                  </a:lnTo>
                  <a:lnTo>
                    <a:pt x="865" y="4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780"/>
            <p:cNvSpPr>
              <a:spLocks/>
            </p:cNvSpPr>
            <p:nvPr/>
          </p:nvSpPr>
          <p:spPr bwMode="auto">
            <a:xfrm>
              <a:off x="635000" y="4838701"/>
              <a:ext cx="223838" cy="222250"/>
            </a:xfrm>
            <a:custGeom>
              <a:avLst/>
              <a:gdLst>
                <a:gd name="T0" fmla="*/ 148 w 398"/>
                <a:gd name="T1" fmla="*/ 75 h 399"/>
                <a:gd name="T2" fmla="*/ 148 w 398"/>
                <a:gd name="T3" fmla="*/ 150 h 399"/>
                <a:gd name="T4" fmla="*/ 72 w 398"/>
                <a:gd name="T5" fmla="*/ 150 h 399"/>
                <a:gd name="T6" fmla="*/ 46 w 398"/>
                <a:gd name="T7" fmla="*/ 150 h 399"/>
                <a:gd name="T8" fmla="*/ 15 w 398"/>
                <a:gd name="T9" fmla="*/ 153 h 399"/>
                <a:gd name="T10" fmla="*/ 2 w 398"/>
                <a:gd name="T11" fmla="*/ 162 h 399"/>
                <a:gd name="T12" fmla="*/ 0 w 398"/>
                <a:gd name="T13" fmla="*/ 180 h 399"/>
                <a:gd name="T14" fmla="*/ 2 w 398"/>
                <a:gd name="T15" fmla="*/ 195 h 399"/>
                <a:gd name="T16" fmla="*/ 4 w 398"/>
                <a:gd name="T17" fmla="*/ 210 h 399"/>
                <a:gd name="T18" fmla="*/ 11 w 398"/>
                <a:gd name="T19" fmla="*/ 229 h 399"/>
                <a:gd name="T20" fmla="*/ 27 w 398"/>
                <a:gd name="T21" fmla="*/ 240 h 399"/>
                <a:gd name="T22" fmla="*/ 55 w 398"/>
                <a:gd name="T23" fmla="*/ 245 h 399"/>
                <a:gd name="T24" fmla="*/ 77 w 398"/>
                <a:gd name="T25" fmla="*/ 247 h 399"/>
                <a:gd name="T26" fmla="*/ 101 w 398"/>
                <a:gd name="T27" fmla="*/ 249 h 399"/>
                <a:gd name="T28" fmla="*/ 130 w 398"/>
                <a:gd name="T29" fmla="*/ 254 h 399"/>
                <a:gd name="T30" fmla="*/ 145 w 398"/>
                <a:gd name="T31" fmla="*/ 268 h 399"/>
                <a:gd name="T32" fmla="*/ 150 w 398"/>
                <a:gd name="T33" fmla="*/ 298 h 399"/>
                <a:gd name="T34" fmla="*/ 152 w 398"/>
                <a:gd name="T35" fmla="*/ 322 h 399"/>
                <a:gd name="T36" fmla="*/ 154 w 398"/>
                <a:gd name="T37" fmla="*/ 343 h 399"/>
                <a:gd name="T38" fmla="*/ 159 w 398"/>
                <a:gd name="T39" fmla="*/ 372 h 399"/>
                <a:gd name="T40" fmla="*/ 170 w 398"/>
                <a:gd name="T41" fmla="*/ 388 h 399"/>
                <a:gd name="T42" fmla="*/ 189 w 398"/>
                <a:gd name="T43" fmla="*/ 395 h 399"/>
                <a:gd name="T44" fmla="*/ 203 w 398"/>
                <a:gd name="T45" fmla="*/ 397 h 399"/>
                <a:gd name="T46" fmla="*/ 218 w 398"/>
                <a:gd name="T47" fmla="*/ 399 h 399"/>
                <a:gd name="T48" fmla="*/ 237 w 398"/>
                <a:gd name="T49" fmla="*/ 397 h 399"/>
                <a:gd name="T50" fmla="*/ 246 w 398"/>
                <a:gd name="T51" fmla="*/ 383 h 399"/>
                <a:gd name="T52" fmla="*/ 248 w 398"/>
                <a:gd name="T53" fmla="*/ 352 h 399"/>
                <a:gd name="T54" fmla="*/ 248 w 398"/>
                <a:gd name="T55" fmla="*/ 327 h 399"/>
                <a:gd name="T56" fmla="*/ 248 w 398"/>
                <a:gd name="T57" fmla="*/ 250 h 399"/>
                <a:gd name="T58" fmla="*/ 323 w 398"/>
                <a:gd name="T59" fmla="*/ 250 h 399"/>
                <a:gd name="T60" fmla="*/ 348 w 398"/>
                <a:gd name="T61" fmla="*/ 250 h 399"/>
                <a:gd name="T62" fmla="*/ 379 w 398"/>
                <a:gd name="T63" fmla="*/ 248 h 399"/>
                <a:gd name="T64" fmla="*/ 394 w 398"/>
                <a:gd name="T65" fmla="*/ 238 h 399"/>
                <a:gd name="T66" fmla="*/ 398 w 398"/>
                <a:gd name="T67" fmla="*/ 218 h 399"/>
                <a:gd name="T68" fmla="*/ 398 w 398"/>
                <a:gd name="T69" fmla="*/ 202 h 399"/>
                <a:gd name="T70" fmla="*/ 398 w 398"/>
                <a:gd name="T71" fmla="*/ 186 h 399"/>
                <a:gd name="T72" fmla="*/ 394 w 398"/>
                <a:gd name="T73" fmla="*/ 165 h 399"/>
                <a:gd name="T74" fmla="*/ 380 w 398"/>
                <a:gd name="T75" fmla="*/ 154 h 399"/>
                <a:gd name="T76" fmla="*/ 351 w 398"/>
                <a:gd name="T77" fmla="*/ 149 h 399"/>
                <a:gd name="T78" fmla="*/ 328 w 398"/>
                <a:gd name="T79" fmla="*/ 147 h 399"/>
                <a:gd name="T80" fmla="*/ 304 w 398"/>
                <a:gd name="T81" fmla="*/ 145 h 399"/>
                <a:gd name="T82" fmla="*/ 273 w 398"/>
                <a:gd name="T83" fmla="*/ 140 h 399"/>
                <a:gd name="T84" fmla="*/ 259 w 398"/>
                <a:gd name="T85" fmla="*/ 125 h 399"/>
                <a:gd name="T86" fmla="*/ 253 w 398"/>
                <a:gd name="T87" fmla="*/ 95 h 399"/>
                <a:gd name="T88" fmla="*/ 252 w 398"/>
                <a:gd name="T89" fmla="*/ 70 h 399"/>
                <a:gd name="T90" fmla="*/ 250 w 398"/>
                <a:gd name="T91" fmla="*/ 48 h 399"/>
                <a:gd name="T92" fmla="*/ 245 w 398"/>
                <a:gd name="T93" fmla="*/ 19 h 399"/>
                <a:gd name="T94" fmla="*/ 234 w 398"/>
                <a:gd name="T95" fmla="*/ 5 h 399"/>
                <a:gd name="T96" fmla="*/ 213 w 398"/>
                <a:gd name="T97" fmla="*/ 0 h 399"/>
                <a:gd name="T98" fmla="*/ 197 w 398"/>
                <a:gd name="T99" fmla="*/ 0 h 399"/>
                <a:gd name="T100" fmla="*/ 181 w 398"/>
                <a:gd name="T101" fmla="*/ 0 h 399"/>
                <a:gd name="T102" fmla="*/ 160 w 398"/>
                <a:gd name="T103" fmla="*/ 5 h 399"/>
                <a:gd name="T104" fmla="*/ 151 w 398"/>
                <a:gd name="T105" fmla="*/ 19 h 399"/>
                <a:gd name="T106" fmla="*/ 148 w 398"/>
                <a:gd name="T107" fmla="*/ 51 h 399"/>
                <a:gd name="T108" fmla="*/ 148 w 398"/>
                <a:gd name="T109" fmla="*/ 75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98" h="399">
                  <a:moveTo>
                    <a:pt x="148" y="75"/>
                  </a:moveTo>
                  <a:lnTo>
                    <a:pt x="148" y="150"/>
                  </a:lnTo>
                  <a:lnTo>
                    <a:pt x="72" y="150"/>
                  </a:lnTo>
                  <a:lnTo>
                    <a:pt x="46" y="150"/>
                  </a:lnTo>
                  <a:lnTo>
                    <a:pt x="15" y="153"/>
                  </a:lnTo>
                  <a:lnTo>
                    <a:pt x="2" y="162"/>
                  </a:lnTo>
                  <a:lnTo>
                    <a:pt x="0" y="180"/>
                  </a:lnTo>
                  <a:lnTo>
                    <a:pt x="2" y="195"/>
                  </a:lnTo>
                  <a:lnTo>
                    <a:pt x="4" y="210"/>
                  </a:lnTo>
                  <a:lnTo>
                    <a:pt x="11" y="229"/>
                  </a:lnTo>
                  <a:lnTo>
                    <a:pt x="27" y="240"/>
                  </a:lnTo>
                  <a:lnTo>
                    <a:pt x="55" y="245"/>
                  </a:lnTo>
                  <a:lnTo>
                    <a:pt x="77" y="247"/>
                  </a:lnTo>
                  <a:lnTo>
                    <a:pt x="101" y="249"/>
                  </a:lnTo>
                  <a:lnTo>
                    <a:pt x="130" y="254"/>
                  </a:lnTo>
                  <a:lnTo>
                    <a:pt x="145" y="268"/>
                  </a:lnTo>
                  <a:lnTo>
                    <a:pt x="150" y="298"/>
                  </a:lnTo>
                  <a:lnTo>
                    <a:pt x="152" y="322"/>
                  </a:lnTo>
                  <a:lnTo>
                    <a:pt x="154" y="343"/>
                  </a:lnTo>
                  <a:lnTo>
                    <a:pt x="159" y="372"/>
                  </a:lnTo>
                  <a:lnTo>
                    <a:pt x="170" y="388"/>
                  </a:lnTo>
                  <a:lnTo>
                    <a:pt x="189" y="395"/>
                  </a:lnTo>
                  <a:lnTo>
                    <a:pt x="203" y="397"/>
                  </a:lnTo>
                  <a:lnTo>
                    <a:pt x="218" y="399"/>
                  </a:lnTo>
                  <a:lnTo>
                    <a:pt x="237" y="397"/>
                  </a:lnTo>
                  <a:lnTo>
                    <a:pt x="246" y="383"/>
                  </a:lnTo>
                  <a:lnTo>
                    <a:pt x="248" y="352"/>
                  </a:lnTo>
                  <a:lnTo>
                    <a:pt x="248" y="327"/>
                  </a:lnTo>
                  <a:lnTo>
                    <a:pt x="248" y="250"/>
                  </a:lnTo>
                  <a:lnTo>
                    <a:pt x="323" y="250"/>
                  </a:lnTo>
                  <a:lnTo>
                    <a:pt x="348" y="250"/>
                  </a:lnTo>
                  <a:lnTo>
                    <a:pt x="379" y="248"/>
                  </a:lnTo>
                  <a:lnTo>
                    <a:pt x="394" y="238"/>
                  </a:lnTo>
                  <a:lnTo>
                    <a:pt x="398" y="218"/>
                  </a:lnTo>
                  <a:lnTo>
                    <a:pt x="398" y="202"/>
                  </a:lnTo>
                  <a:lnTo>
                    <a:pt x="398" y="186"/>
                  </a:lnTo>
                  <a:lnTo>
                    <a:pt x="394" y="165"/>
                  </a:lnTo>
                  <a:lnTo>
                    <a:pt x="380" y="154"/>
                  </a:lnTo>
                  <a:lnTo>
                    <a:pt x="351" y="149"/>
                  </a:lnTo>
                  <a:lnTo>
                    <a:pt x="328" y="147"/>
                  </a:lnTo>
                  <a:lnTo>
                    <a:pt x="304" y="145"/>
                  </a:lnTo>
                  <a:lnTo>
                    <a:pt x="273" y="140"/>
                  </a:lnTo>
                  <a:lnTo>
                    <a:pt x="259" y="125"/>
                  </a:lnTo>
                  <a:lnTo>
                    <a:pt x="253" y="95"/>
                  </a:lnTo>
                  <a:lnTo>
                    <a:pt x="252" y="70"/>
                  </a:lnTo>
                  <a:lnTo>
                    <a:pt x="250" y="48"/>
                  </a:lnTo>
                  <a:lnTo>
                    <a:pt x="245" y="19"/>
                  </a:lnTo>
                  <a:lnTo>
                    <a:pt x="234" y="5"/>
                  </a:lnTo>
                  <a:lnTo>
                    <a:pt x="213" y="0"/>
                  </a:lnTo>
                  <a:lnTo>
                    <a:pt x="197" y="0"/>
                  </a:lnTo>
                  <a:lnTo>
                    <a:pt x="181" y="0"/>
                  </a:lnTo>
                  <a:lnTo>
                    <a:pt x="160" y="5"/>
                  </a:lnTo>
                  <a:lnTo>
                    <a:pt x="151" y="19"/>
                  </a:lnTo>
                  <a:lnTo>
                    <a:pt x="148" y="51"/>
                  </a:lnTo>
                  <a:lnTo>
                    <a:pt x="148"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781"/>
            <p:cNvSpPr>
              <a:spLocks/>
            </p:cNvSpPr>
            <p:nvPr/>
          </p:nvSpPr>
          <p:spPr bwMode="auto">
            <a:xfrm>
              <a:off x="1773238" y="4586288"/>
              <a:ext cx="252413" cy="642938"/>
            </a:xfrm>
            <a:custGeom>
              <a:avLst/>
              <a:gdLst>
                <a:gd name="T0" fmla="*/ 100 w 451"/>
                <a:gd name="T1" fmla="*/ 150 h 1150"/>
                <a:gd name="T2" fmla="*/ 60 w 451"/>
                <a:gd name="T3" fmla="*/ 211 h 1150"/>
                <a:gd name="T4" fmla="*/ 5 w 451"/>
                <a:gd name="T5" fmla="*/ 299 h 1150"/>
                <a:gd name="T6" fmla="*/ 0 w 451"/>
                <a:gd name="T7" fmla="*/ 312 h 1150"/>
                <a:gd name="T8" fmla="*/ 2 w 451"/>
                <a:gd name="T9" fmla="*/ 319 h 1150"/>
                <a:gd name="T10" fmla="*/ 21 w 451"/>
                <a:gd name="T11" fmla="*/ 338 h 1150"/>
                <a:gd name="T12" fmla="*/ 35 w 451"/>
                <a:gd name="T13" fmla="*/ 349 h 1150"/>
                <a:gd name="T14" fmla="*/ 54 w 451"/>
                <a:gd name="T15" fmla="*/ 360 h 1150"/>
                <a:gd name="T16" fmla="*/ 72 w 451"/>
                <a:gd name="T17" fmla="*/ 361 h 1150"/>
                <a:gd name="T18" fmla="*/ 81 w 451"/>
                <a:gd name="T19" fmla="*/ 354 h 1150"/>
                <a:gd name="T20" fmla="*/ 86 w 451"/>
                <a:gd name="T21" fmla="*/ 347 h 1150"/>
                <a:gd name="T22" fmla="*/ 105 w 451"/>
                <a:gd name="T23" fmla="*/ 317 h 1150"/>
                <a:gd name="T24" fmla="*/ 138 w 451"/>
                <a:gd name="T25" fmla="*/ 267 h 1150"/>
                <a:gd name="T26" fmla="*/ 175 w 451"/>
                <a:gd name="T27" fmla="*/ 209 h 1150"/>
                <a:gd name="T28" fmla="*/ 180 w 451"/>
                <a:gd name="T29" fmla="*/ 679 h 1150"/>
                <a:gd name="T30" fmla="*/ 183 w 451"/>
                <a:gd name="T31" fmla="*/ 1150 h 1150"/>
                <a:gd name="T32" fmla="*/ 233 w 451"/>
                <a:gd name="T33" fmla="*/ 1150 h 1150"/>
                <a:gd name="T34" fmla="*/ 283 w 451"/>
                <a:gd name="T35" fmla="*/ 1150 h 1150"/>
                <a:gd name="T36" fmla="*/ 283 w 451"/>
                <a:gd name="T37" fmla="*/ 679 h 1150"/>
                <a:gd name="T38" fmla="*/ 283 w 451"/>
                <a:gd name="T39" fmla="*/ 209 h 1150"/>
                <a:gd name="T40" fmla="*/ 335 w 451"/>
                <a:gd name="T41" fmla="*/ 287 h 1150"/>
                <a:gd name="T42" fmla="*/ 356 w 451"/>
                <a:gd name="T43" fmla="*/ 319 h 1150"/>
                <a:gd name="T44" fmla="*/ 392 w 451"/>
                <a:gd name="T45" fmla="*/ 363 h 1150"/>
                <a:gd name="T46" fmla="*/ 400 w 451"/>
                <a:gd name="T47" fmla="*/ 367 h 1150"/>
                <a:gd name="T48" fmla="*/ 406 w 451"/>
                <a:gd name="T49" fmla="*/ 365 h 1150"/>
                <a:gd name="T50" fmla="*/ 427 w 451"/>
                <a:gd name="T51" fmla="*/ 349 h 1150"/>
                <a:gd name="T52" fmla="*/ 438 w 451"/>
                <a:gd name="T53" fmla="*/ 337 h 1150"/>
                <a:gd name="T54" fmla="*/ 446 w 451"/>
                <a:gd name="T55" fmla="*/ 327 h 1150"/>
                <a:gd name="T56" fmla="*/ 451 w 451"/>
                <a:gd name="T57" fmla="*/ 305 h 1150"/>
                <a:gd name="T58" fmla="*/ 436 w 451"/>
                <a:gd name="T59" fmla="*/ 268 h 1150"/>
                <a:gd name="T60" fmla="*/ 396 w 451"/>
                <a:gd name="T61" fmla="*/ 203 h 1150"/>
                <a:gd name="T62" fmla="*/ 363 w 451"/>
                <a:gd name="T63" fmla="*/ 154 h 1150"/>
                <a:gd name="T64" fmla="*/ 316 w 451"/>
                <a:gd name="T65" fmla="*/ 84 h 1150"/>
                <a:gd name="T66" fmla="*/ 264 w 451"/>
                <a:gd name="T67" fmla="*/ 22 h 1150"/>
                <a:gd name="T68" fmla="*/ 240 w 451"/>
                <a:gd name="T69" fmla="*/ 2 h 1150"/>
                <a:gd name="T70" fmla="*/ 231 w 451"/>
                <a:gd name="T71" fmla="*/ 0 h 1150"/>
                <a:gd name="T72" fmla="*/ 223 w 451"/>
                <a:gd name="T73" fmla="*/ 2 h 1150"/>
                <a:gd name="T74" fmla="*/ 198 w 451"/>
                <a:gd name="T75" fmla="*/ 21 h 1150"/>
                <a:gd name="T76" fmla="*/ 146 w 451"/>
                <a:gd name="T77" fmla="*/ 82 h 1150"/>
                <a:gd name="T78" fmla="*/ 100 w 451"/>
                <a:gd name="T79" fmla="*/ 150 h 1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51" h="1150">
                  <a:moveTo>
                    <a:pt x="100" y="150"/>
                  </a:moveTo>
                  <a:lnTo>
                    <a:pt x="60" y="211"/>
                  </a:lnTo>
                  <a:lnTo>
                    <a:pt x="5" y="299"/>
                  </a:lnTo>
                  <a:lnTo>
                    <a:pt x="0" y="312"/>
                  </a:lnTo>
                  <a:lnTo>
                    <a:pt x="2" y="319"/>
                  </a:lnTo>
                  <a:lnTo>
                    <a:pt x="21" y="338"/>
                  </a:lnTo>
                  <a:lnTo>
                    <a:pt x="35" y="349"/>
                  </a:lnTo>
                  <a:lnTo>
                    <a:pt x="54" y="360"/>
                  </a:lnTo>
                  <a:lnTo>
                    <a:pt x="72" y="361"/>
                  </a:lnTo>
                  <a:lnTo>
                    <a:pt x="81" y="354"/>
                  </a:lnTo>
                  <a:lnTo>
                    <a:pt x="86" y="347"/>
                  </a:lnTo>
                  <a:lnTo>
                    <a:pt x="105" y="317"/>
                  </a:lnTo>
                  <a:lnTo>
                    <a:pt x="138" y="267"/>
                  </a:lnTo>
                  <a:lnTo>
                    <a:pt x="175" y="209"/>
                  </a:lnTo>
                  <a:lnTo>
                    <a:pt x="180" y="679"/>
                  </a:lnTo>
                  <a:lnTo>
                    <a:pt x="183" y="1150"/>
                  </a:lnTo>
                  <a:lnTo>
                    <a:pt x="233" y="1150"/>
                  </a:lnTo>
                  <a:lnTo>
                    <a:pt x="283" y="1150"/>
                  </a:lnTo>
                  <a:lnTo>
                    <a:pt x="283" y="679"/>
                  </a:lnTo>
                  <a:lnTo>
                    <a:pt x="283" y="209"/>
                  </a:lnTo>
                  <a:lnTo>
                    <a:pt x="335" y="287"/>
                  </a:lnTo>
                  <a:lnTo>
                    <a:pt x="356" y="319"/>
                  </a:lnTo>
                  <a:lnTo>
                    <a:pt x="392" y="363"/>
                  </a:lnTo>
                  <a:lnTo>
                    <a:pt x="400" y="367"/>
                  </a:lnTo>
                  <a:lnTo>
                    <a:pt x="406" y="365"/>
                  </a:lnTo>
                  <a:lnTo>
                    <a:pt x="427" y="349"/>
                  </a:lnTo>
                  <a:lnTo>
                    <a:pt x="438" y="337"/>
                  </a:lnTo>
                  <a:lnTo>
                    <a:pt x="446" y="327"/>
                  </a:lnTo>
                  <a:lnTo>
                    <a:pt x="451" y="305"/>
                  </a:lnTo>
                  <a:lnTo>
                    <a:pt x="436" y="268"/>
                  </a:lnTo>
                  <a:lnTo>
                    <a:pt x="396" y="203"/>
                  </a:lnTo>
                  <a:lnTo>
                    <a:pt x="363" y="154"/>
                  </a:lnTo>
                  <a:lnTo>
                    <a:pt x="316" y="84"/>
                  </a:lnTo>
                  <a:lnTo>
                    <a:pt x="264" y="22"/>
                  </a:lnTo>
                  <a:lnTo>
                    <a:pt x="240" y="2"/>
                  </a:lnTo>
                  <a:lnTo>
                    <a:pt x="231" y="0"/>
                  </a:lnTo>
                  <a:lnTo>
                    <a:pt x="223" y="2"/>
                  </a:lnTo>
                  <a:lnTo>
                    <a:pt x="198" y="21"/>
                  </a:lnTo>
                  <a:lnTo>
                    <a:pt x="146" y="82"/>
                  </a:lnTo>
                  <a:lnTo>
                    <a:pt x="100" y="1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782"/>
            <p:cNvSpPr>
              <a:spLocks/>
            </p:cNvSpPr>
            <p:nvPr/>
          </p:nvSpPr>
          <p:spPr bwMode="auto">
            <a:xfrm>
              <a:off x="1343025" y="4756151"/>
              <a:ext cx="263525" cy="474663"/>
            </a:xfrm>
            <a:custGeom>
              <a:avLst/>
              <a:gdLst>
                <a:gd name="T0" fmla="*/ 197 w 470"/>
                <a:gd name="T1" fmla="*/ 27 h 850"/>
                <a:gd name="T2" fmla="*/ 158 w 470"/>
                <a:gd name="T3" fmla="*/ 79 h 850"/>
                <a:gd name="T4" fmla="*/ 85 w 470"/>
                <a:gd name="T5" fmla="*/ 185 h 850"/>
                <a:gd name="T6" fmla="*/ 0 w 470"/>
                <a:gd name="T7" fmla="*/ 313 h 850"/>
                <a:gd name="T8" fmla="*/ 43 w 470"/>
                <a:gd name="T9" fmla="*/ 342 h 850"/>
                <a:gd name="T10" fmla="*/ 67 w 470"/>
                <a:gd name="T11" fmla="*/ 357 h 850"/>
                <a:gd name="T12" fmla="*/ 87 w 470"/>
                <a:gd name="T13" fmla="*/ 361 h 850"/>
                <a:gd name="T14" fmla="*/ 97 w 470"/>
                <a:gd name="T15" fmla="*/ 354 h 850"/>
                <a:gd name="T16" fmla="*/ 102 w 470"/>
                <a:gd name="T17" fmla="*/ 347 h 850"/>
                <a:gd name="T18" fmla="*/ 122 w 470"/>
                <a:gd name="T19" fmla="*/ 315 h 850"/>
                <a:gd name="T20" fmla="*/ 155 w 470"/>
                <a:gd name="T21" fmla="*/ 265 h 850"/>
                <a:gd name="T22" fmla="*/ 192 w 470"/>
                <a:gd name="T23" fmla="*/ 207 h 850"/>
                <a:gd name="T24" fmla="*/ 197 w 470"/>
                <a:gd name="T25" fmla="*/ 528 h 850"/>
                <a:gd name="T26" fmla="*/ 200 w 470"/>
                <a:gd name="T27" fmla="*/ 850 h 850"/>
                <a:gd name="T28" fmla="*/ 247 w 470"/>
                <a:gd name="T29" fmla="*/ 845 h 850"/>
                <a:gd name="T30" fmla="*/ 292 w 470"/>
                <a:gd name="T31" fmla="*/ 840 h 850"/>
                <a:gd name="T32" fmla="*/ 300 w 470"/>
                <a:gd name="T33" fmla="*/ 533 h 850"/>
                <a:gd name="T34" fmla="*/ 308 w 470"/>
                <a:gd name="T35" fmla="*/ 225 h 850"/>
                <a:gd name="T36" fmla="*/ 355 w 470"/>
                <a:gd name="T37" fmla="*/ 297 h 850"/>
                <a:gd name="T38" fmla="*/ 371 w 470"/>
                <a:gd name="T39" fmla="*/ 320 h 850"/>
                <a:gd name="T40" fmla="*/ 392 w 470"/>
                <a:gd name="T41" fmla="*/ 348 h 850"/>
                <a:gd name="T42" fmla="*/ 408 w 470"/>
                <a:gd name="T43" fmla="*/ 357 h 850"/>
                <a:gd name="T44" fmla="*/ 426 w 470"/>
                <a:gd name="T45" fmla="*/ 351 h 850"/>
                <a:gd name="T46" fmla="*/ 438 w 470"/>
                <a:gd name="T47" fmla="*/ 343 h 850"/>
                <a:gd name="T48" fmla="*/ 453 w 470"/>
                <a:gd name="T49" fmla="*/ 332 h 850"/>
                <a:gd name="T50" fmla="*/ 470 w 470"/>
                <a:gd name="T51" fmla="*/ 309 h 850"/>
                <a:gd name="T52" fmla="*/ 470 w 470"/>
                <a:gd name="T53" fmla="*/ 300 h 850"/>
                <a:gd name="T54" fmla="*/ 463 w 470"/>
                <a:gd name="T55" fmla="*/ 285 h 850"/>
                <a:gd name="T56" fmla="*/ 410 w 470"/>
                <a:gd name="T57" fmla="*/ 197 h 850"/>
                <a:gd name="T58" fmla="*/ 372 w 470"/>
                <a:gd name="T59" fmla="*/ 140 h 850"/>
                <a:gd name="T60" fmla="*/ 337 w 470"/>
                <a:gd name="T61" fmla="*/ 89 h 850"/>
                <a:gd name="T62" fmla="*/ 286 w 470"/>
                <a:gd name="T63" fmla="*/ 25 h 850"/>
                <a:gd name="T64" fmla="*/ 256 w 470"/>
                <a:gd name="T65" fmla="*/ 3 h 850"/>
                <a:gd name="T66" fmla="*/ 238 w 470"/>
                <a:gd name="T67" fmla="*/ 0 h 850"/>
                <a:gd name="T68" fmla="*/ 222 w 470"/>
                <a:gd name="T69" fmla="*/ 5 h 850"/>
                <a:gd name="T70" fmla="*/ 205 w 470"/>
                <a:gd name="T71" fmla="*/ 17 h 850"/>
                <a:gd name="T72" fmla="*/ 197 w 470"/>
                <a:gd name="T73" fmla="*/ 27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70" h="850">
                  <a:moveTo>
                    <a:pt x="197" y="27"/>
                  </a:moveTo>
                  <a:lnTo>
                    <a:pt x="158" y="79"/>
                  </a:lnTo>
                  <a:lnTo>
                    <a:pt x="85" y="185"/>
                  </a:lnTo>
                  <a:lnTo>
                    <a:pt x="0" y="313"/>
                  </a:lnTo>
                  <a:lnTo>
                    <a:pt x="43" y="342"/>
                  </a:lnTo>
                  <a:lnTo>
                    <a:pt x="67" y="357"/>
                  </a:lnTo>
                  <a:lnTo>
                    <a:pt x="87" y="361"/>
                  </a:lnTo>
                  <a:lnTo>
                    <a:pt x="97" y="354"/>
                  </a:lnTo>
                  <a:lnTo>
                    <a:pt x="102" y="347"/>
                  </a:lnTo>
                  <a:lnTo>
                    <a:pt x="122" y="315"/>
                  </a:lnTo>
                  <a:lnTo>
                    <a:pt x="155" y="265"/>
                  </a:lnTo>
                  <a:lnTo>
                    <a:pt x="192" y="207"/>
                  </a:lnTo>
                  <a:lnTo>
                    <a:pt x="197" y="528"/>
                  </a:lnTo>
                  <a:lnTo>
                    <a:pt x="200" y="850"/>
                  </a:lnTo>
                  <a:lnTo>
                    <a:pt x="247" y="845"/>
                  </a:lnTo>
                  <a:lnTo>
                    <a:pt x="292" y="840"/>
                  </a:lnTo>
                  <a:lnTo>
                    <a:pt x="300" y="533"/>
                  </a:lnTo>
                  <a:lnTo>
                    <a:pt x="308" y="225"/>
                  </a:lnTo>
                  <a:lnTo>
                    <a:pt x="355" y="297"/>
                  </a:lnTo>
                  <a:lnTo>
                    <a:pt x="371" y="320"/>
                  </a:lnTo>
                  <a:lnTo>
                    <a:pt x="392" y="348"/>
                  </a:lnTo>
                  <a:lnTo>
                    <a:pt x="408" y="357"/>
                  </a:lnTo>
                  <a:lnTo>
                    <a:pt x="426" y="351"/>
                  </a:lnTo>
                  <a:lnTo>
                    <a:pt x="438" y="343"/>
                  </a:lnTo>
                  <a:lnTo>
                    <a:pt x="453" y="332"/>
                  </a:lnTo>
                  <a:lnTo>
                    <a:pt x="470" y="309"/>
                  </a:lnTo>
                  <a:lnTo>
                    <a:pt x="470" y="300"/>
                  </a:lnTo>
                  <a:lnTo>
                    <a:pt x="463" y="285"/>
                  </a:lnTo>
                  <a:lnTo>
                    <a:pt x="410" y="197"/>
                  </a:lnTo>
                  <a:lnTo>
                    <a:pt x="372" y="140"/>
                  </a:lnTo>
                  <a:lnTo>
                    <a:pt x="337" y="89"/>
                  </a:lnTo>
                  <a:lnTo>
                    <a:pt x="286" y="25"/>
                  </a:lnTo>
                  <a:lnTo>
                    <a:pt x="256" y="3"/>
                  </a:lnTo>
                  <a:lnTo>
                    <a:pt x="238" y="0"/>
                  </a:lnTo>
                  <a:lnTo>
                    <a:pt x="222" y="5"/>
                  </a:lnTo>
                  <a:lnTo>
                    <a:pt x="205" y="17"/>
                  </a:lnTo>
                  <a:lnTo>
                    <a:pt x="197"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786"/>
            <p:cNvSpPr>
              <a:spLocks/>
            </p:cNvSpPr>
            <p:nvPr/>
          </p:nvSpPr>
          <p:spPr bwMode="auto">
            <a:xfrm>
              <a:off x="1455738" y="5284788"/>
              <a:ext cx="55563" cy="57150"/>
            </a:xfrm>
            <a:custGeom>
              <a:avLst/>
              <a:gdLst>
                <a:gd name="T0" fmla="*/ 0 w 100"/>
                <a:gd name="T1" fmla="*/ 50 h 100"/>
                <a:gd name="T2" fmla="*/ 0 w 100"/>
                <a:gd name="T3" fmla="*/ 66 h 100"/>
                <a:gd name="T4" fmla="*/ 4 w 100"/>
                <a:gd name="T5" fmla="*/ 86 h 100"/>
                <a:gd name="T6" fmla="*/ 14 w 100"/>
                <a:gd name="T7" fmla="*/ 97 h 100"/>
                <a:gd name="T8" fmla="*/ 34 w 100"/>
                <a:gd name="T9" fmla="*/ 100 h 100"/>
                <a:gd name="T10" fmla="*/ 50 w 100"/>
                <a:gd name="T11" fmla="*/ 100 h 100"/>
                <a:gd name="T12" fmla="*/ 66 w 100"/>
                <a:gd name="T13" fmla="*/ 100 h 100"/>
                <a:gd name="T14" fmla="*/ 86 w 100"/>
                <a:gd name="T15" fmla="*/ 97 h 100"/>
                <a:gd name="T16" fmla="*/ 96 w 100"/>
                <a:gd name="T17" fmla="*/ 86 h 100"/>
                <a:gd name="T18" fmla="*/ 100 w 100"/>
                <a:gd name="T19" fmla="*/ 66 h 100"/>
                <a:gd name="T20" fmla="*/ 100 w 100"/>
                <a:gd name="T21" fmla="*/ 50 h 100"/>
                <a:gd name="T22" fmla="*/ 100 w 100"/>
                <a:gd name="T23" fmla="*/ 35 h 100"/>
                <a:gd name="T24" fmla="*/ 96 w 100"/>
                <a:gd name="T25" fmla="*/ 14 h 100"/>
                <a:gd name="T26" fmla="*/ 86 w 100"/>
                <a:gd name="T27" fmla="*/ 4 h 100"/>
                <a:gd name="T28" fmla="*/ 66 w 100"/>
                <a:gd name="T29" fmla="*/ 0 h 100"/>
                <a:gd name="T30" fmla="*/ 50 w 100"/>
                <a:gd name="T31" fmla="*/ 0 h 100"/>
                <a:gd name="T32" fmla="*/ 34 w 100"/>
                <a:gd name="T33" fmla="*/ 0 h 100"/>
                <a:gd name="T34" fmla="*/ 14 w 100"/>
                <a:gd name="T35" fmla="*/ 4 h 100"/>
                <a:gd name="T36" fmla="*/ 4 w 100"/>
                <a:gd name="T37" fmla="*/ 14 h 100"/>
                <a:gd name="T38" fmla="*/ 0 w 100"/>
                <a:gd name="T39" fmla="*/ 35 h 100"/>
                <a:gd name="T40" fmla="*/ 0 w 100"/>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0" h="100">
                  <a:moveTo>
                    <a:pt x="0" y="50"/>
                  </a:moveTo>
                  <a:lnTo>
                    <a:pt x="0" y="66"/>
                  </a:lnTo>
                  <a:lnTo>
                    <a:pt x="4" y="86"/>
                  </a:lnTo>
                  <a:lnTo>
                    <a:pt x="14" y="97"/>
                  </a:lnTo>
                  <a:lnTo>
                    <a:pt x="34" y="100"/>
                  </a:lnTo>
                  <a:lnTo>
                    <a:pt x="50" y="100"/>
                  </a:lnTo>
                  <a:lnTo>
                    <a:pt x="66" y="100"/>
                  </a:lnTo>
                  <a:lnTo>
                    <a:pt x="86" y="97"/>
                  </a:lnTo>
                  <a:lnTo>
                    <a:pt x="96" y="86"/>
                  </a:lnTo>
                  <a:lnTo>
                    <a:pt x="100" y="66"/>
                  </a:lnTo>
                  <a:lnTo>
                    <a:pt x="100" y="50"/>
                  </a:lnTo>
                  <a:lnTo>
                    <a:pt x="100" y="35"/>
                  </a:lnTo>
                  <a:lnTo>
                    <a:pt x="96" y="14"/>
                  </a:lnTo>
                  <a:lnTo>
                    <a:pt x="86" y="4"/>
                  </a:lnTo>
                  <a:lnTo>
                    <a:pt x="66" y="0"/>
                  </a:lnTo>
                  <a:lnTo>
                    <a:pt x="50" y="0"/>
                  </a:lnTo>
                  <a:lnTo>
                    <a:pt x="34" y="0"/>
                  </a:lnTo>
                  <a:lnTo>
                    <a:pt x="14" y="4"/>
                  </a:lnTo>
                  <a:lnTo>
                    <a:pt x="4" y="14"/>
                  </a:lnTo>
                  <a:lnTo>
                    <a:pt x="0" y="35"/>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787"/>
            <p:cNvSpPr>
              <a:spLocks/>
            </p:cNvSpPr>
            <p:nvPr/>
          </p:nvSpPr>
          <p:spPr bwMode="auto">
            <a:xfrm>
              <a:off x="1874838" y="5284788"/>
              <a:ext cx="57150" cy="57150"/>
            </a:xfrm>
            <a:custGeom>
              <a:avLst/>
              <a:gdLst>
                <a:gd name="T0" fmla="*/ 0 w 100"/>
                <a:gd name="T1" fmla="*/ 50 h 100"/>
                <a:gd name="T2" fmla="*/ 0 w 100"/>
                <a:gd name="T3" fmla="*/ 66 h 100"/>
                <a:gd name="T4" fmla="*/ 4 w 100"/>
                <a:gd name="T5" fmla="*/ 86 h 100"/>
                <a:gd name="T6" fmla="*/ 14 w 100"/>
                <a:gd name="T7" fmla="*/ 97 h 100"/>
                <a:gd name="T8" fmla="*/ 34 w 100"/>
                <a:gd name="T9" fmla="*/ 100 h 100"/>
                <a:gd name="T10" fmla="*/ 50 w 100"/>
                <a:gd name="T11" fmla="*/ 100 h 100"/>
                <a:gd name="T12" fmla="*/ 66 w 100"/>
                <a:gd name="T13" fmla="*/ 100 h 100"/>
                <a:gd name="T14" fmla="*/ 86 w 100"/>
                <a:gd name="T15" fmla="*/ 97 h 100"/>
                <a:gd name="T16" fmla="*/ 96 w 100"/>
                <a:gd name="T17" fmla="*/ 86 h 100"/>
                <a:gd name="T18" fmla="*/ 100 w 100"/>
                <a:gd name="T19" fmla="*/ 66 h 100"/>
                <a:gd name="T20" fmla="*/ 100 w 100"/>
                <a:gd name="T21" fmla="*/ 50 h 100"/>
                <a:gd name="T22" fmla="*/ 100 w 100"/>
                <a:gd name="T23" fmla="*/ 35 h 100"/>
                <a:gd name="T24" fmla="*/ 96 w 100"/>
                <a:gd name="T25" fmla="*/ 14 h 100"/>
                <a:gd name="T26" fmla="*/ 86 w 100"/>
                <a:gd name="T27" fmla="*/ 4 h 100"/>
                <a:gd name="T28" fmla="*/ 66 w 100"/>
                <a:gd name="T29" fmla="*/ 0 h 100"/>
                <a:gd name="T30" fmla="*/ 50 w 100"/>
                <a:gd name="T31" fmla="*/ 0 h 100"/>
                <a:gd name="T32" fmla="*/ 34 w 100"/>
                <a:gd name="T33" fmla="*/ 0 h 100"/>
                <a:gd name="T34" fmla="*/ 14 w 100"/>
                <a:gd name="T35" fmla="*/ 4 h 100"/>
                <a:gd name="T36" fmla="*/ 4 w 100"/>
                <a:gd name="T37" fmla="*/ 14 h 100"/>
                <a:gd name="T38" fmla="*/ 0 w 100"/>
                <a:gd name="T39" fmla="*/ 35 h 100"/>
                <a:gd name="T40" fmla="*/ 0 w 100"/>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0" h="100">
                  <a:moveTo>
                    <a:pt x="0" y="50"/>
                  </a:moveTo>
                  <a:lnTo>
                    <a:pt x="0" y="66"/>
                  </a:lnTo>
                  <a:lnTo>
                    <a:pt x="4" y="86"/>
                  </a:lnTo>
                  <a:lnTo>
                    <a:pt x="14" y="97"/>
                  </a:lnTo>
                  <a:lnTo>
                    <a:pt x="34" y="100"/>
                  </a:lnTo>
                  <a:lnTo>
                    <a:pt x="50" y="100"/>
                  </a:lnTo>
                  <a:lnTo>
                    <a:pt x="66" y="100"/>
                  </a:lnTo>
                  <a:lnTo>
                    <a:pt x="86" y="97"/>
                  </a:lnTo>
                  <a:lnTo>
                    <a:pt x="96" y="86"/>
                  </a:lnTo>
                  <a:lnTo>
                    <a:pt x="100" y="66"/>
                  </a:lnTo>
                  <a:lnTo>
                    <a:pt x="100" y="50"/>
                  </a:lnTo>
                  <a:lnTo>
                    <a:pt x="100" y="35"/>
                  </a:lnTo>
                  <a:lnTo>
                    <a:pt x="96" y="14"/>
                  </a:lnTo>
                  <a:lnTo>
                    <a:pt x="86" y="4"/>
                  </a:lnTo>
                  <a:lnTo>
                    <a:pt x="66" y="0"/>
                  </a:lnTo>
                  <a:lnTo>
                    <a:pt x="50" y="0"/>
                  </a:lnTo>
                  <a:lnTo>
                    <a:pt x="34" y="0"/>
                  </a:lnTo>
                  <a:lnTo>
                    <a:pt x="14" y="4"/>
                  </a:lnTo>
                  <a:lnTo>
                    <a:pt x="4" y="14"/>
                  </a:lnTo>
                  <a:lnTo>
                    <a:pt x="0" y="35"/>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aphicFrame>
        <p:nvGraphicFramePr>
          <p:cNvPr id="34" name="Table 33">
            <a:extLst>
              <a:ext uri="{FF2B5EF4-FFF2-40B4-BE49-F238E27FC236}">
                <a16:creationId xmlns:a16="http://schemas.microsoft.com/office/drawing/2014/main" id="{BDA6F950-1057-52D7-15FE-0B75F1D664A0}"/>
              </a:ext>
            </a:extLst>
          </p:cNvPr>
          <p:cNvGraphicFramePr>
            <a:graphicFrameLocks noGrp="1"/>
          </p:cNvGraphicFramePr>
          <p:nvPr>
            <p:extLst>
              <p:ext uri="{D42A27DB-BD31-4B8C-83A1-F6EECF244321}">
                <p14:modId xmlns:p14="http://schemas.microsoft.com/office/powerpoint/2010/main" val="2660585571"/>
              </p:ext>
            </p:extLst>
          </p:nvPr>
        </p:nvGraphicFramePr>
        <p:xfrm>
          <a:off x="2336772" y="4990842"/>
          <a:ext cx="1433985" cy="640080"/>
        </p:xfrm>
        <a:graphic>
          <a:graphicData uri="http://schemas.openxmlformats.org/drawingml/2006/table">
            <a:tbl>
              <a:tblPr firstRow="1" bandRow="1">
                <a:tableStyleId>{5C22544A-7EE6-4342-B048-85BDC9FD1C3A}</a:tableStyleId>
              </a:tblPr>
              <a:tblGrid>
                <a:gridCol w="477995">
                  <a:extLst>
                    <a:ext uri="{9D8B030D-6E8A-4147-A177-3AD203B41FA5}">
                      <a16:colId xmlns:a16="http://schemas.microsoft.com/office/drawing/2014/main" val="3314942607"/>
                    </a:ext>
                  </a:extLst>
                </a:gridCol>
                <a:gridCol w="477995">
                  <a:extLst>
                    <a:ext uri="{9D8B030D-6E8A-4147-A177-3AD203B41FA5}">
                      <a16:colId xmlns:a16="http://schemas.microsoft.com/office/drawing/2014/main" val="2694643210"/>
                    </a:ext>
                  </a:extLst>
                </a:gridCol>
                <a:gridCol w="477995">
                  <a:extLst>
                    <a:ext uri="{9D8B030D-6E8A-4147-A177-3AD203B41FA5}">
                      <a16:colId xmlns:a16="http://schemas.microsoft.com/office/drawing/2014/main" val="1867350649"/>
                    </a:ext>
                  </a:extLst>
                </a:gridCol>
              </a:tblGrid>
              <a:tr h="365760">
                <a:tc>
                  <a:txBody>
                    <a:bodyPr/>
                    <a:lstStyle/>
                    <a:p>
                      <a:pPr algn="ctr" rtl="1"/>
                      <a:r>
                        <a:rPr lang="ar-EG" sz="1200" b="1" baseline="0" dirty="0">
                          <a:solidFill>
                            <a:schemeClr val="accent1"/>
                          </a:solidFill>
                          <a:latin typeface="Sakkal Majalla" panose="02000000000000000000" pitchFamily="2" charset="-78"/>
                          <a:cs typeface="Sakkal Majalla" panose="02000000000000000000" pitchFamily="2" charset="-78"/>
                        </a:rPr>
                        <a:t>2028</a:t>
                      </a:r>
                      <a:endParaRPr lang="en-US" sz="1200" b="1" baseline="0" dirty="0">
                        <a:solidFill>
                          <a:schemeClr val="accent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200" b="1" baseline="0" dirty="0">
                          <a:solidFill>
                            <a:schemeClr val="accent1"/>
                          </a:solidFill>
                          <a:latin typeface="Sakkal Majalla" panose="02000000000000000000" pitchFamily="2" charset="-78"/>
                          <a:cs typeface="Sakkal Majalla" panose="02000000000000000000" pitchFamily="2" charset="-78"/>
                        </a:rPr>
                        <a:t>2027</a:t>
                      </a:r>
                      <a:endParaRPr lang="en-US" sz="1200" b="1" baseline="0" dirty="0">
                        <a:solidFill>
                          <a:schemeClr val="accent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200" b="1" baseline="0" dirty="0">
                          <a:solidFill>
                            <a:schemeClr val="accent1"/>
                          </a:solidFill>
                          <a:latin typeface="Sakkal Majalla" panose="02000000000000000000" pitchFamily="2" charset="-78"/>
                          <a:cs typeface="Sakkal Majalla" panose="02000000000000000000" pitchFamily="2" charset="-78"/>
                        </a:rPr>
                        <a:t>2026</a:t>
                      </a:r>
                      <a:endParaRPr lang="en-US" sz="1200" b="1" baseline="0" dirty="0">
                        <a:solidFill>
                          <a:schemeClr val="accent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95495611"/>
                  </a:ext>
                </a:extLst>
              </a:tr>
              <a:tr h="271499">
                <a:tc>
                  <a:txBody>
                    <a:bodyPr/>
                    <a:lstStyle/>
                    <a:p>
                      <a:pPr algn="ctr"/>
                      <a:r>
                        <a:rPr lang="ar-EG" sz="1200" b="1" baseline="0" dirty="0">
                          <a:latin typeface="Sakkal Majalla" panose="02000000000000000000" pitchFamily="2" charset="-78"/>
                          <a:cs typeface="Sakkal Majalla" panose="02000000000000000000" pitchFamily="2" charset="-78"/>
                        </a:rPr>
                        <a:t>110</a:t>
                      </a:r>
                      <a:endParaRPr lang="en-US" sz="1200" b="1" baseline="0" dirty="0">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lang="ar-EG" sz="1200" b="1" baseline="0" dirty="0">
                          <a:latin typeface="Sakkal Majalla" panose="02000000000000000000" pitchFamily="2" charset="-78"/>
                          <a:cs typeface="Sakkal Majalla" panose="02000000000000000000" pitchFamily="2" charset="-78"/>
                        </a:rPr>
                        <a:t>102</a:t>
                      </a:r>
                      <a:endParaRPr lang="en-US" sz="1200" b="1" baseline="0" dirty="0">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algn="ctr" defTabSz="914400" rtl="1" eaLnBrk="1" latinLnBrk="0" hangingPunct="1"/>
                      <a:r>
                        <a:rPr lang="en-US" sz="1200" dirty="0"/>
                        <a:t>98</a:t>
                      </a:r>
                      <a:endParaRPr lang="en-US" sz="1200" b="1" kern="1200" baseline="0" dirty="0">
                        <a:solidFill>
                          <a:schemeClr val="dk1"/>
                        </a:solidFill>
                        <a:latin typeface="Sakkal Majalla" panose="02000000000000000000" pitchFamily="2" charset="-78"/>
                        <a:ea typeface="+mn-ea"/>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398491"/>
                  </a:ext>
                </a:extLst>
              </a:tr>
            </a:tbl>
          </a:graphicData>
        </a:graphic>
      </p:graphicFrame>
    </p:spTree>
    <p:extLst>
      <p:ext uri="{BB962C8B-B14F-4D97-AF65-F5344CB8AC3E}">
        <p14:creationId xmlns:p14="http://schemas.microsoft.com/office/powerpoint/2010/main" val="127860449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A0A2C-38F8-DF75-E25B-C50DB728491D}"/>
            </a:ext>
          </a:extLst>
        </p:cNvPr>
        <p:cNvGrpSpPr/>
        <p:nvPr/>
      </p:nvGrpSpPr>
      <p:grpSpPr>
        <a:xfrm>
          <a:off x="0" y="0"/>
          <a:ext cx="0" cy="0"/>
          <a:chOff x="0" y="0"/>
          <a:chExt cx="0" cy="0"/>
        </a:xfrm>
      </p:grpSpPr>
      <p:sp>
        <p:nvSpPr>
          <p:cNvPr id="4" name="Round Same Side Corner Rectangle 3">
            <a:extLst>
              <a:ext uri="{FF2B5EF4-FFF2-40B4-BE49-F238E27FC236}">
                <a16:creationId xmlns:a16="http://schemas.microsoft.com/office/drawing/2014/main" id="{752D88EA-072C-6B59-C728-4A7ECF1B4D74}"/>
              </a:ext>
            </a:extLst>
          </p:cNvPr>
          <p:cNvSpPr/>
          <p:nvPr/>
        </p:nvSpPr>
        <p:spPr>
          <a:xfrm>
            <a:off x="838200" y="1748300"/>
            <a:ext cx="10515601" cy="3975167"/>
          </a:xfrm>
          <a:prstGeom prst="round2SameRect">
            <a:avLst>
              <a:gd name="adj1" fmla="val 0"/>
              <a:gd name="adj2" fmla="val 872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F421FC4C-37CE-8323-8AE5-2506069DB072}"/>
              </a:ext>
            </a:extLst>
          </p:cNvPr>
          <p:cNvSpPr/>
          <p:nvPr/>
        </p:nvSpPr>
        <p:spPr>
          <a:xfrm>
            <a:off x="1872988" y="3167309"/>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D409E66-5AD8-FAAB-EF74-88A13FADF907}"/>
              </a:ext>
            </a:extLst>
          </p:cNvPr>
          <p:cNvSpPr>
            <a:spLocks noGrp="1"/>
          </p:cNvSpPr>
          <p:nvPr>
            <p:ph type="title"/>
          </p:nvPr>
        </p:nvSpPr>
        <p:spPr/>
        <p:txBody>
          <a:bodyPr/>
          <a:lstStyle/>
          <a:p>
            <a:r>
              <a:rPr lang="ar-SA" dirty="0"/>
              <a:t>بطاقة</a:t>
            </a:r>
            <a:r>
              <a:rPr lang="ar-EG" dirty="0"/>
              <a:t> </a:t>
            </a:r>
            <a:r>
              <a:rPr lang="ar-SA" dirty="0"/>
              <a:t>تعريف المؤشر "عدد ورش العمل وجلسات التدريب المنعقدة"</a:t>
            </a:r>
            <a:endParaRPr lang="en-US" dirty="0"/>
          </a:p>
        </p:txBody>
      </p:sp>
      <p:sp>
        <p:nvSpPr>
          <p:cNvPr id="3" name="Slide Number Placeholder 2">
            <a:extLst>
              <a:ext uri="{FF2B5EF4-FFF2-40B4-BE49-F238E27FC236}">
                <a16:creationId xmlns:a16="http://schemas.microsoft.com/office/drawing/2014/main" id="{D65ADB87-983C-67C6-A4F7-F2B4BE585370}"/>
              </a:ext>
            </a:extLst>
          </p:cNvPr>
          <p:cNvSpPr>
            <a:spLocks noGrp="1"/>
          </p:cNvSpPr>
          <p:nvPr>
            <p:ph type="sldNum" sz="quarter" idx="12"/>
          </p:nvPr>
        </p:nvSpPr>
        <p:spPr/>
        <p:txBody>
          <a:bodyPr/>
          <a:lstStyle/>
          <a:p>
            <a:fld id="{0BE4EC83-A869-464E-AE9F-881796FB085E}" type="slidenum">
              <a:rPr lang="en-US" smtClean="0"/>
              <a:t>34</a:t>
            </a:fld>
            <a:endParaRPr lang="en-US"/>
          </a:p>
        </p:txBody>
      </p:sp>
      <p:sp>
        <p:nvSpPr>
          <p:cNvPr id="5" name="Freeform 4">
            <a:extLst>
              <a:ext uri="{FF2B5EF4-FFF2-40B4-BE49-F238E27FC236}">
                <a16:creationId xmlns:a16="http://schemas.microsoft.com/office/drawing/2014/main" id="{4F5AD023-4FF1-8E7A-3A5D-9218A2A399CB}"/>
              </a:ext>
            </a:extLst>
          </p:cNvPr>
          <p:cNvSpPr/>
          <p:nvPr/>
        </p:nvSpPr>
        <p:spPr>
          <a:xfrm>
            <a:off x="3433482" y="161898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5">
            <a:extLst>
              <a:ext uri="{FF2B5EF4-FFF2-40B4-BE49-F238E27FC236}">
                <a16:creationId xmlns:a16="http://schemas.microsoft.com/office/drawing/2014/main" id="{380CF269-C7C3-3087-94AE-B7EDCF938B25}"/>
              </a:ext>
            </a:extLst>
          </p:cNvPr>
          <p:cNvSpPr/>
          <p:nvPr/>
        </p:nvSpPr>
        <p:spPr>
          <a:xfrm flipH="1">
            <a:off x="5596932" y="173722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9635C1BC-32AD-7CC8-39B6-4761DA481600}"/>
              </a:ext>
            </a:extLst>
          </p:cNvPr>
          <p:cNvSpPr/>
          <p:nvPr/>
        </p:nvSpPr>
        <p:spPr>
          <a:xfrm>
            <a:off x="2981661" y="1475899"/>
            <a:ext cx="6228678" cy="688914"/>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FBE29357-5D02-FB11-9650-A410166AF0EA}"/>
              </a:ext>
            </a:extLst>
          </p:cNvPr>
          <p:cNvSpPr/>
          <p:nvPr/>
        </p:nvSpPr>
        <p:spPr>
          <a:xfrm>
            <a:off x="2981661" y="1287436"/>
            <a:ext cx="6228678" cy="92532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1">
            <a:extLst>
              <a:ext uri="{FF2B5EF4-FFF2-40B4-BE49-F238E27FC236}">
                <a16:creationId xmlns:a16="http://schemas.microsoft.com/office/drawing/2014/main" id="{20DCD6DD-D8A7-276B-3BD8-FE05E38304CA}"/>
              </a:ext>
            </a:extLst>
          </p:cNvPr>
          <p:cNvSpPr txBox="1">
            <a:spLocks/>
          </p:cNvSpPr>
          <p:nvPr/>
        </p:nvSpPr>
        <p:spPr>
          <a:xfrm>
            <a:off x="2949387" y="1565225"/>
            <a:ext cx="6293226" cy="647533"/>
          </a:xfrm>
          <a:prstGeom prst="rect">
            <a:avLst/>
          </a:prstGeom>
        </p:spPr>
        <p:txBody>
          <a:bodyPr anchor="ctr" anchorCtr="0">
            <a:noAutofit/>
          </a:bodyPr>
          <a:lstStyle>
            <a:lvl1pPr algn="r" defTabSz="914400" rtl="1" eaLnBrk="1" latinLnBrk="0" hangingPunct="1">
              <a:lnSpc>
                <a:spcPct val="100000"/>
              </a:lnSpc>
              <a:spcBef>
                <a:spcPct val="0"/>
              </a:spcBef>
              <a:buNone/>
              <a:defRPr sz="3200" b="1" kern="1200">
                <a:solidFill>
                  <a:schemeClr val="accent1">
                    <a:lumMod val="75000"/>
                  </a:schemeClr>
                </a:solidFill>
                <a:latin typeface="+mj-lt"/>
                <a:ea typeface="+mj-ea"/>
                <a:cs typeface="+mj-cs"/>
              </a:defRPr>
            </a:lvl1pPr>
          </a:lstStyle>
          <a:p>
            <a:pPr algn="ctr"/>
            <a:r>
              <a:rPr lang="ar-SA" sz="2000" dirty="0">
                <a:solidFill>
                  <a:schemeClr val="bg1"/>
                </a:solidFill>
              </a:rPr>
              <a:t>عدد ورش العمل وجلسات التدريب المنعقدة</a:t>
            </a:r>
          </a:p>
        </p:txBody>
      </p:sp>
      <p:sp>
        <p:nvSpPr>
          <p:cNvPr id="10" name="Round Same Side Corner Rectangle 9">
            <a:extLst>
              <a:ext uri="{FF2B5EF4-FFF2-40B4-BE49-F238E27FC236}">
                <a16:creationId xmlns:a16="http://schemas.microsoft.com/office/drawing/2014/main" id="{94A11F57-5C8F-8791-0766-F52A3F6DB81C}"/>
              </a:ext>
            </a:extLst>
          </p:cNvPr>
          <p:cNvSpPr/>
          <p:nvPr/>
        </p:nvSpPr>
        <p:spPr>
          <a:xfrm>
            <a:off x="5385860" y="1287437"/>
            <a:ext cx="1420280" cy="281048"/>
          </a:xfrm>
          <a:prstGeom prst="round2SameRect">
            <a:avLst>
              <a:gd name="adj1" fmla="val 0"/>
              <a:gd name="adj2" fmla="val 50000"/>
            </a:avLst>
          </a:prstGeom>
          <a:solidFill>
            <a:schemeClr val="bg1"/>
          </a:solidFill>
          <a:effectLst>
            <a:outerShdw blurRad="50800" dist="25400" dir="5400000" sx="97000" sy="97000" algn="t" rotWithShape="0">
              <a:prstClr val="black">
                <a:alpha val="20000"/>
              </a:prstClr>
            </a:outerShdw>
          </a:effectLst>
        </p:spPr>
        <p:txBody>
          <a:bodyPr wrap="none" tIns="0" bIns="45720">
            <a:noAutofit/>
          </a:bodyPr>
          <a:lstStyle/>
          <a:p>
            <a:pPr lvl="0" algn="ctr" rtl="1"/>
            <a:r>
              <a:rPr lang="en-US" b="1" dirty="0">
                <a:solidFill>
                  <a:schemeClr val="accent1"/>
                </a:solidFill>
              </a:rPr>
              <a:t>EA-KPI-AW-02</a:t>
            </a:r>
            <a:endParaRPr lang="ar-EG" b="1" dirty="0">
              <a:solidFill>
                <a:schemeClr val="accent1"/>
              </a:solidFill>
            </a:endParaRPr>
          </a:p>
        </p:txBody>
      </p:sp>
      <p:sp>
        <p:nvSpPr>
          <p:cNvPr id="11" name="Rounded Rectangle 10">
            <a:extLst>
              <a:ext uri="{FF2B5EF4-FFF2-40B4-BE49-F238E27FC236}">
                <a16:creationId xmlns:a16="http://schemas.microsoft.com/office/drawing/2014/main" id="{EC4407FD-D0C3-2792-7CA9-8AEF874CC306}"/>
              </a:ext>
            </a:extLst>
          </p:cNvPr>
          <p:cNvSpPr/>
          <p:nvPr/>
        </p:nvSpPr>
        <p:spPr>
          <a:xfrm>
            <a:off x="6911787" y="433911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415F5F8F-BE34-7FFA-E0B2-B450E4980C57}"/>
              </a:ext>
            </a:extLst>
          </p:cNvPr>
          <p:cNvSpPr txBox="1"/>
          <p:nvPr/>
        </p:nvSpPr>
        <p:spPr>
          <a:xfrm>
            <a:off x="6708401" y="4296611"/>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قطبية القياس</a:t>
            </a:r>
          </a:p>
        </p:txBody>
      </p:sp>
      <p:sp>
        <p:nvSpPr>
          <p:cNvPr id="13" name="TextBox 12">
            <a:extLst>
              <a:ext uri="{FF2B5EF4-FFF2-40B4-BE49-F238E27FC236}">
                <a16:creationId xmlns:a16="http://schemas.microsoft.com/office/drawing/2014/main" id="{76529036-9BCF-AEA3-A697-DEAAED060027}"/>
              </a:ext>
            </a:extLst>
          </p:cNvPr>
          <p:cNvSpPr txBox="1"/>
          <p:nvPr/>
        </p:nvSpPr>
        <p:spPr>
          <a:xfrm>
            <a:off x="6790378" y="4944989"/>
            <a:ext cx="965308" cy="338554"/>
          </a:xfrm>
          <a:prstGeom prst="rect">
            <a:avLst/>
          </a:prstGeom>
          <a:noFill/>
        </p:spPr>
        <p:txBody>
          <a:bodyPr wrap="square" rtlCol="0">
            <a:spAutoFit/>
          </a:bodyPr>
          <a:lstStyle/>
          <a:p>
            <a:pPr algn="ctr"/>
            <a:r>
              <a:rPr lang="ar-EG" sz="1600" b="1" dirty="0">
                <a:solidFill>
                  <a:schemeClr val="accent1"/>
                </a:solidFill>
              </a:rPr>
              <a:t>تصاعدي</a:t>
            </a:r>
            <a:endParaRPr lang="en-US" sz="1600" b="1" dirty="0">
              <a:solidFill>
                <a:schemeClr val="accent1"/>
              </a:solidFill>
            </a:endParaRPr>
          </a:p>
        </p:txBody>
      </p:sp>
      <p:grpSp>
        <p:nvGrpSpPr>
          <p:cNvPr id="14" name="Group 13">
            <a:extLst>
              <a:ext uri="{FF2B5EF4-FFF2-40B4-BE49-F238E27FC236}">
                <a16:creationId xmlns:a16="http://schemas.microsoft.com/office/drawing/2014/main" id="{AC5042D4-449B-960A-DCC5-59317B5E715A}"/>
              </a:ext>
            </a:extLst>
          </p:cNvPr>
          <p:cNvGrpSpPr>
            <a:grpSpLocks noChangeAspect="1"/>
          </p:cNvGrpSpPr>
          <p:nvPr/>
        </p:nvGrpSpPr>
        <p:grpSpPr>
          <a:xfrm>
            <a:off x="9260721" y="4673989"/>
            <a:ext cx="243890" cy="242732"/>
            <a:chOff x="2501900" y="457201"/>
            <a:chExt cx="1674813" cy="1666876"/>
          </a:xfrm>
          <a:solidFill>
            <a:schemeClr val="accent1"/>
          </a:solidFill>
        </p:grpSpPr>
        <p:sp>
          <p:nvSpPr>
            <p:cNvPr id="15" name="Freeform 5">
              <a:extLst>
                <a:ext uri="{FF2B5EF4-FFF2-40B4-BE49-F238E27FC236}">
                  <a16:creationId xmlns:a16="http://schemas.microsoft.com/office/drawing/2014/main" id="{A3175644-4602-D9A2-C2E0-690269CD8820}"/>
                </a:ext>
              </a:extLst>
            </p:cNvPr>
            <p:cNvSpPr>
              <a:spLocks/>
            </p:cNvSpPr>
            <p:nvPr/>
          </p:nvSpPr>
          <p:spPr bwMode="auto">
            <a:xfrm>
              <a:off x="2857500" y="457201"/>
              <a:ext cx="130175" cy="273050"/>
            </a:xfrm>
            <a:custGeom>
              <a:avLst/>
              <a:gdLst>
                <a:gd name="T0" fmla="*/ 0 w 350"/>
                <a:gd name="T1" fmla="*/ 367 h 734"/>
                <a:gd name="T2" fmla="*/ 0 w 350"/>
                <a:gd name="T3" fmla="*/ 734 h 734"/>
                <a:gd name="T4" fmla="*/ 175 w 350"/>
                <a:gd name="T5" fmla="*/ 734 h 734"/>
                <a:gd name="T6" fmla="*/ 350 w 350"/>
                <a:gd name="T7" fmla="*/ 734 h 734"/>
                <a:gd name="T8" fmla="*/ 350 w 350"/>
                <a:gd name="T9" fmla="*/ 367 h 734"/>
                <a:gd name="T10" fmla="*/ 350 w 350"/>
                <a:gd name="T11" fmla="*/ 0 h 734"/>
                <a:gd name="T12" fmla="*/ 175 w 350"/>
                <a:gd name="T13" fmla="*/ 0 h 734"/>
                <a:gd name="T14" fmla="*/ 0 w 350"/>
                <a:gd name="T15" fmla="*/ 0 h 734"/>
                <a:gd name="T16" fmla="*/ 0 w 350"/>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734">
                  <a:moveTo>
                    <a:pt x="0" y="367"/>
                  </a:moveTo>
                  <a:lnTo>
                    <a:pt x="0" y="734"/>
                  </a:lnTo>
                  <a:lnTo>
                    <a:pt x="175" y="734"/>
                  </a:lnTo>
                  <a:lnTo>
                    <a:pt x="350" y="734"/>
                  </a:lnTo>
                  <a:lnTo>
                    <a:pt x="350" y="367"/>
                  </a:lnTo>
                  <a:lnTo>
                    <a:pt x="350" y="0"/>
                  </a:lnTo>
                  <a:lnTo>
                    <a:pt x="175"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6">
              <a:extLst>
                <a:ext uri="{FF2B5EF4-FFF2-40B4-BE49-F238E27FC236}">
                  <a16:creationId xmlns:a16="http://schemas.microsoft.com/office/drawing/2014/main" id="{DDBF3E64-3FD2-EFC2-B034-657313FAAC00}"/>
                </a:ext>
              </a:extLst>
            </p:cNvPr>
            <p:cNvSpPr>
              <a:spLocks/>
            </p:cNvSpPr>
            <p:nvPr/>
          </p:nvSpPr>
          <p:spPr bwMode="auto">
            <a:xfrm>
              <a:off x="3690938" y="457201"/>
              <a:ext cx="136525" cy="273050"/>
            </a:xfrm>
            <a:custGeom>
              <a:avLst/>
              <a:gdLst>
                <a:gd name="T0" fmla="*/ 0 w 367"/>
                <a:gd name="T1" fmla="*/ 367 h 734"/>
                <a:gd name="T2" fmla="*/ 0 w 367"/>
                <a:gd name="T3" fmla="*/ 734 h 734"/>
                <a:gd name="T4" fmla="*/ 184 w 367"/>
                <a:gd name="T5" fmla="*/ 734 h 734"/>
                <a:gd name="T6" fmla="*/ 367 w 367"/>
                <a:gd name="T7" fmla="*/ 734 h 734"/>
                <a:gd name="T8" fmla="*/ 367 w 367"/>
                <a:gd name="T9" fmla="*/ 367 h 734"/>
                <a:gd name="T10" fmla="*/ 367 w 367"/>
                <a:gd name="T11" fmla="*/ 0 h 734"/>
                <a:gd name="T12" fmla="*/ 184 w 367"/>
                <a:gd name="T13" fmla="*/ 0 h 734"/>
                <a:gd name="T14" fmla="*/ 0 w 367"/>
                <a:gd name="T15" fmla="*/ 0 h 734"/>
                <a:gd name="T16" fmla="*/ 0 w 367"/>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734">
                  <a:moveTo>
                    <a:pt x="0" y="367"/>
                  </a:moveTo>
                  <a:lnTo>
                    <a:pt x="0" y="734"/>
                  </a:lnTo>
                  <a:lnTo>
                    <a:pt x="184" y="734"/>
                  </a:lnTo>
                  <a:lnTo>
                    <a:pt x="367" y="734"/>
                  </a:lnTo>
                  <a:lnTo>
                    <a:pt x="367" y="367"/>
                  </a:lnTo>
                  <a:lnTo>
                    <a:pt x="367" y="0"/>
                  </a:lnTo>
                  <a:lnTo>
                    <a:pt x="184"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24">
              <a:extLst>
                <a:ext uri="{FF2B5EF4-FFF2-40B4-BE49-F238E27FC236}">
                  <a16:creationId xmlns:a16="http://schemas.microsoft.com/office/drawing/2014/main" id="{2DEE013B-98D5-FD63-0098-FB0F36F6243B}"/>
                </a:ext>
              </a:extLst>
            </p:cNvPr>
            <p:cNvSpPr>
              <a:spLocks noEditPoints="1"/>
            </p:cNvSpPr>
            <p:nvPr/>
          </p:nvSpPr>
          <p:spPr bwMode="auto">
            <a:xfrm>
              <a:off x="2501900" y="661989"/>
              <a:ext cx="1674813" cy="1462088"/>
            </a:xfrm>
            <a:custGeom>
              <a:avLst/>
              <a:gdLst>
                <a:gd name="T0" fmla="*/ 0 w 4483"/>
                <a:gd name="T1" fmla="*/ 475 h 3917"/>
                <a:gd name="T2" fmla="*/ 0 w 4483"/>
                <a:gd name="T3" fmla="*/ 950 h 3917"/>
                <a:gd name="T4" fmla="*/ 92 w 4483"/>
                <a:gd name="T5" fmla="*/ 950 h 3917"/>
                <a:gd name="T6" fmla="*/ 183 w 4483"/>
                <a:gd name="T7" fmla="*/ 950 h 3917"/>
                <a:gd name="T8" fmla="*/ 183 w 4483"/>
                <a:gd name="T9" fmla="*/ 2434 h 3917"/>
                <a:gd name="T10" fmla="*/ 183 w 4483"/>
                <a:gd name="T11" fmla="*/ 3917 h 3917"/>
                <a:gd name="T12" fmla="*/ 2242 w 4483"/>
                <a:gd name="T13" fmla="*/ 3917 h 3917"/>
                <a:gd name="T14" fmla="*/ 4300 w 4483"/>
                <a:gd name="T15" fmla="*/ 3917 h 3917"/>
                <a:gd name="T16" fmla="*/ 4300 w 4483"/>
                <a:gd name="T17" fmla="*/ 2434 h 3917"/>
                <a:gd name="T18" fmla="*/ 4300 w 4483"/>
                <a:gd name="T19" fmla="*/ 950 h 3917"/>
                <a:gd name="T20" fmla="*/ 4392 w 4483"/>
                <a:gd name="T21" fmla="*/ 950 h 3917"/>
                <a:gd name="T22" fmla="*/ 4483 w 4483"/>
                <a:gd name="T23" fmla="*/ 950 h 3917"/>
                <a:gd name="T24" fmla="*/ 4483 w 4483"/>
                <a:gd name="T25" fmla="*/ 475 h 3917"/>
                <a:gd name="T26" fmla="*/ 4483 w 4483"/>
                <a:gd name="T27" fmla="*/ 0 h 3917"/>
                <a:gd name="T28" fmla="*/ 4117 w 4483"/>
                <a:gd name="T29" fmla="*/ 0 h 3917"/>
                <a:gd name="T30" fmla="*/ 3752 w 4483"/>
                <a:gd name="T31" fmla="*/ 0 h 3917"/>
                <a:gd name="T32" fmla="*/ 3747 w 4483"/>
                <a:gd name="T33" fmla="*/ 187 h 3917"/>
                <a:gd name="T34" fmla="*/ 3742 w 4483"/>
                <a:gd name="T35" fmla="*/ 375 h 3917"/>
                <a:gd name="T36" fmla="*/ 3363 w 4483"/>
                <a:gd name="T37" fmla="*/ 380 h 3917"/>
                <a:gd name="T38" fmla="*/ 2983 w 4483"/>
                <a:gd name="T39" fmla="*/ 384 h 3917"/>
                <a:gd name="T40" fmla="*/ 2983 w 4483"/>
                <a:gd name="T41" fmla="*/ 192 h 3917"/>
                <a:gd name="T42" fmla="*/ 2983 w 4483"/>
                <a:gd name="T43" fmla="*/ 0 h 3917"/>
                <a:gd name="T44" fmla="*/ 2242 w 4483"/>
                <a:gd name="T45" fmla="*/ 0 h 3917"/>
                <a:gd name="T46" fmla="*/ 1502 w 4483"/>
                <a:gd name="T47" fmla="*/ 0 h 3917"/>
                <a:gd name="T48" fmla="*/ 1497 w 4483"/>
                <a:gd name="T49" fmla="*/ 187 h 3917"/>
                <a:gd name="T50" fmla="*/ 1492 w 4483"/>
                <a:gd name="T51" fmla="*/ 375 h 3917"/>
                <a:gd name="T52" fmla="*/ 1117 w 4483"/>
                <a:gd name="T53" fmla="*/ 375 h 3917"/>
                <a:gd name="T54" fmla="*/ 742 w 4483"/>
                <a:gd name="T55" fmla="*/ 375 h 3917"/>
                <a:gd name="T56" fmla="*/ 737 w 4483"/>
                <a:gd name="T57" fmla="*/ 187 h 3917"/>
                <a:gd name="T58" fmla="*/ 732 w 4483"/>
                <a:gd name="T59" fmla="*/ 0 h 3917"/>
                <a:gd name="T60" fmla="*/ 367 w 4483"/>
                <a:gd name="T61" fmla="*/ 0 h 3917"/>
                <a:gd name="T62" fmla="*/ 0 w 4483"/>
                <a:gd name="T63" fmla="*/ 0 h 3917"/>
                <a:gd name="T64" fmla="*/ 0 w 4483"/>
                <a:gd name="T65" fmla="*/ 475 h 3917"/>
                <a:gd name="T66" fmla="*/ 3917 w 4483"/>
                <a:gd name="T67" fmla="*/ 2250 h 3917"/>
                <a:gd name="T68" fmla="*/ 3917 w 4483"/>
                <a:gd name="T69" fmla="*/ 3567 h 3917"/>
                <a:gd name="T70" fmla="*/ 2238 w 4483"/>
                <a:gd name="T71" fmla="*/ 3564 h 3917"/>
                <a:gd name="T72" fmla="*/ 558 w 4483"/>
                <a:gd name="T73" fmla="*/ 3559 h 3917"/>
                <a:gd name="T74" fmla="*/ 553 w 4483"/>
                <a:gd name="T75" fmla="*/ 2245 h 3917"/>
                <a:gd name="T76" fmla="*/ 550 w 4483"/>
                <a:gd name="T77" fmla="*/ 934 h 3917"/>
                <a:gd name="T78" fmla="*/ 2233 w 4483"/>
                <a:gd name="T79" fmla="*/ 934 h 3917"/>
                <a:gd name="T80" fmla="*/ 3917 w 4483"/>
                <a:gd name="T81" fmla="*/ 934 h 3917"/>
                <a:gd name="T82" fmla="*/ 3917 w 4483"/>
                <a:gd name="T83" fmla="*/ 2250 h 3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83" h="3917">
                  <a:moveTo>
                    <a:pt x="0" y="475"/>
                  </a:moveTo>
                  <a:lnTo>
                    <a:pt x="0" y="950"/>
                  </a:lnTo>
                  <a:lnTo>
                    <a:pt x="92" y="950"/>
                  </a:lnTo>
                  <a:lnTo>
                    <a:pt x="183" y="950"/>
                  </a:lnTo>
                  <a:lnTo>
                    <a:pt x="183" y="2434"/>
                  </a:lnTo>
                  <a:lnTo>
                    <a:pt x="183" y="3917"/>
                  </a:lnTo>
                  <a:lnTo>
                    <a:pt x="2242" y="3917"/>
                  </a:lnTo>
                  <a:lnTo>
                    <a:pt x="4300" y="3917"/>
                  </a:lnTo>
                  <a:lnTo>
                    <a:pt x="4300" y="2434"/>
                  </a:lnTo>
                  <a:lnTo>
                    <a:pt x="4300" y="950"/>
                  </a:lnTo>
                  <a:lnTo>
                    <a:pt x="4392" y="950"/>
                  </a:lnTo>
                  <a:lnTo>
                    <a:pt x="4483" y="950"/>
                  </a:lnTo>
                  <a:lnTo>
                    <a:pt x="4483" y="475"/>
                  </a:lnTo>
                  <a:lnTo>
                    <a:pt x="4483" y="0"/>
                  </a:lnTo>
                  <a:lnTo>
                    <a:pt x="4117" y="0"/>
                  </a:lnTo>
                  <a:lnTo>
                    <a:pt x="3752" y="0"/>
                  </a:lnTo>
                  <a:lnTo>
                    <a:pt x="3747" y="187"/>
                  </a:lnTo>
                  <a:lnTo>
                    <a:pt x="3742" y="375"/>
                  </a:lnTo>
                  <a:lnTo>
                    <a:pt x="3363" y="380"/>
                  </a:lnTo>
                  <a:lnTo>
                    <a:pt x="2983" y="384"/>
                  </a:lnTo>
                  <a:lnTo>
                    <a:pt x="2983" y="192"/>
                  </a:lnTo>
                  <a:lnTo>
                    <a:pt x="2983" y="0"/>
                  </a:lnTo>
                  <a:lnTo>
                    <a:pt x="2242" y="0"/>
                  </a:lnTo>
                  <a:lnTo>
                    <a:pt x="1502" y="0"/>
                  </a:lnTo>
                  <a:lnTo>
                    <a:pt x="1497" y="187"/>
                  </a:lnTo>
                  <a:lnTo>
                    <a:pt x="1492" y="375"/>
                  </a:lnTo>
                  <a:lnTo>
                    <a:pt x="1117" y="375"/>
                  </a:lnTo>
                  <a:lnTo>
                    <a:pt x="742" y="375"/>
                  </a:lnTo>
                  <a:lnTo>
                    <a:pt x="737" y="187"/>
                  </a:lnTo>
                  <a:lnTo>
                    <a:pt x="732" y="0"/>
                  </a:lnTo>
                  <a:lnTo>
                    <a:pt x="367" y="0"/>
                  </a:lnTo>
                  <a:lnTo>
                    <a:pt x="0" y="0"/>
                  </a:lnTo>
                  <a:lnTo>
                    <a:pt x="0" y="475"/>
                  </a:lnTo>
                  <a:close/>
                  <a:moveTo>
                    <a:pt x="3917" y="2250"/>
                  </a:moveTo>
                  <a:lnTo>
                    <a:pt x="3917" y="3567"/>
                  </a:lnTo>
                  <a:lnTo>
                    <a:pt x="2238" y="3564"/>
                  </a:lnTo>
                  <a:lnTo>
                    <a:pt x="558" y="3559"/>
                  </a:lnTo>
                  <a:lnTo>
                    <a:pt x="553" y="2245"/>
                  </a:lnTo>
                  <a:lnTo>
                    <a:pt x="550" y="934"/>
                  </a:lnTo>
                  <a:lnTo>
                    <a:pt x="2233" y="934"/>
                  </a:lnTo>
                  <a:lnTo>
                    <a:pt x="3917" y="934"/>
                  </a:lnTo>
                  <a:lnTo>
                    <a:pt x="3917" y="2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25">
              <a:extLst>
                <a:ext uri="{FF2B5EF4-FFF2-40B4-BE49-F238E27FC236}">
                  <a16:creationId xmlns:a16="http://schemas.microsoft.com/office/drawing/2014/main" id="{4D7FED3C-1B28-4D6F-8CBA-441B3B12B1A3}"/>
                </a:ext>
              </a:extLst>
            </p:cNvPr>
            <p:cNvSpPr>
              <a:spLocks/>
            </p:cNvSpPr>
            <p:nvPr/>
          </p:nvSpPr>
          <p:spPr bwMode="auto">
            <a:xfrm>
              <a:off x="2857500" y="1154114"/>
              <a:ext cx="130175" cy="136525"/>
            </a:xfrm>
            <a:custGeom>
              <a:avLst/>
              <a:gdLst>
                <a:gd name="T0" fmla="*/ 0 w 350"/>
                <a:gd name="T1" fmla="*/ 183 h 367"/>
                <a:gd name="T2" fmla="*/ 0 w 350"/>
                <a:gd name="T3" fmla="*/ 367 h 367"/>
                <a:gd name="T4" fmla="*/ 175 w 350"/>
                <a:gd name="T5" fmla="*/ 367 h 367"/>
                <a:gd name="T6" fmla="*/ 350 w 350"/>
                <a:gd name="T7" fmla="*/ 367 h 367"/>
                <a:gd name="T8" fmla="*/ 350 w 350"/>
                <a:gd name="T9" fmla="*/ 183 h 367"/>
                <a:gd name="T10" fmla="*/ 350 w 350"/>
                <a:gd name="T11" fmla="*/ 0 h 367"/>
                <a:gd name="T12" fmla="*/ 175 w 350"/>
                <a:gd name="T13" fmla="*/ 0 h 367"/>
                <a:gd name="T14" fmla="*/ 0 w 350"/>
                <a:gd name="T15" fmla="*/ 0 h 367"/>
                <a:gd name="T16" fmla="*/ 0 w 350"/>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67">
                  <a:moveTo>
                    <a:pt x="0" y="183"/>
                  </a:moveTo>
                  <a:lnTo>
                    <a:pt x="0" y="367"/>
                  </a:lnTo>
                  <a:lnTo>
                    <a:pt x="175" y="367"/>
                  </a:lnTo>
                  <a:lnTo>
                    <a:pt x="350" y="367"/>
                  </a:lnTo>
                  <a:lnTo>
                    <a:pt x="350" y="183"/>
                  </a:lnTo>
                  <a:lnTo>
                    <a:pt x="350" y="0"/>
                  </a:lnTo>
                  <a:lnTo>
                    <a:pt x="175"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26">
              <a:extLst>
                <a:ext uri="{FF2B5EF4-FFF2-40B4-BE49-F238E27FC236}">
                  <a16:creationId xmlns:a16="http://schemas.microsoft.com/office/drawing/2014/main" id="{2203BAF5-99E1-B2EA-628A-2F10A2CC2771}"/>
                </a:ext>
              </a:extLst>
            </p:cNvPr>
            <p:cNvSpPr>
              <a:spLocks/>
            </p:cNvSpPr>
            <p:nvPr/>
          </p:nvSpPr>
          <p:spPr bwMode="auto">
            <a:xfrm>
              <a:off x="3130550"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27">
              <a:extLst>
                <a:ext uri="{FF2B5EF4-FFF2-40B4-BE49-F238E27FC236}">
                  <a16:creationId xmlns:a16="http://schemas.microsoft.com/office/drawing/2014/main" id="{B3BC00C6-56AA-4562-7989-1DB4C283D481}"/>
                </a:ext>
              </a:extLst>
            </p:cNvPr>
            <p:cNvSpPr>
              <a:spLocks/>
            </p:cNvSpPr>
            <p:nvPr/>
          </p:nvSpPr>
          <p:spPr bwMode="auto">
            <a:xfrm>
              <a:off x="34115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28">
              <a:extLst>
                <a:ext uri="{FF2B5EF4-FFF2-40B4-BE49-F238E27FC236}">
                  <a16:creationId xmlns:a16="http://schemas.microsoft.com/office/drawing/2014/main" id="{91EB2A38-2C88-8CA8-9B63-DA8BEAF5668E}"/>
                </a:ext>
              </a:extLst>
            </p:cNvPr>
            <p:cNvSpPr>
              <a:spLocks/>
            </p:cNvSpPr>
            <p:nvPr/>
          </p:nvSpPr>
          <p:spPr bwMode="auto">
            <a:xfrm>
              <a:off x="36909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29">
              <a:extLst>
                <a:ext uri="{FF2B5EF4-FFF2-40B4-BE49-F238E27FC236}">
                  <a16:creationId xmlns:a16="http://schemas.microsoft.com/office/drawing/2014/main" id="{D57C5479-C228-47F0-7639-0BE4B7E0B8A1}"/>
                </a:ext>
              </a:extLst>
            </p:cNvPr>
            <p:cNvSpPr>
              <a:spLocks/>
            </p:cNvSpPr>
            <p:nvPr/>
          </p:nvSpPr>
          <p:spPr bwMode="auto">
            <a:xfrm>
              <a:off x="2857500" y="14271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30">
              <a:extLst>
                <a:ext uri="{FF2B5EF4-FFF2-40B4-BE49-F238E27FC236}">
                  <a16:creationId xmlns:a16="http://schemas.microsoft.com/office/drawing/2014/main" id="{6855C5FD-0AAE-7802-A812-E01B073F964C}"/>
                </a:ext>
              </a:extLst>
            </p:cNvPr>
            <p:cNvSpPr>
              <a:spLocks/>
            </p:cNvSpPr>
            <p:nvPr/>
          </p:nvSpPr>
          <p:spPr bwMode="auto">
            <a:xfrm>
              <a:off x="3132138" y="1427164"/>
              <a:ext cx="134938" cy="142875"/>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31">
              <a:extLst>
                <a:ext uri="{FF2B5EF4-FFF2-40B4-BE49-F238E27FC236}">
                  <a16:creationId xmlns:a16="http://schemas.microsoft.com/office/drawing/2014/main" id="{C9DF6551-EA80-821B-2B55-43CB1FE277AA}"/>
                </a:ext>
              </a:extLst>
            </p:cNvPr>
            <p:cNvSpPr>
              <a:spLocks/>
            </p:cNvSpPr>
            <p:nvPr/>
          </p:nvSpPr>
          <p:spPr bwMode="auto">
            <a:xfrm>
              <a:off x="3411538" y="1428751"/>
              <a:ext cx="136525" cy="141288"/>
            </a:xfrm>
            <a:custGeom>
              <a:avLst/>
              <a:gdLst>
                <a:gd name="T0" fmla="*/ 12 w 369"/>
                <a:gd name="T1" fmla="*/ 7 h 381"/>
                <a:gd name="T2" fmla="*/ 7 w 369"/>
                <a:gd name="T3" fmla="*/ 22 h 381"/>
                <a:gd name="T4" fmla="*/ 1 w 369"/>
                <a:gd name="T5" fmla="*/ 127 h 381"/>
                <a:gd name="T6" fmla="*/ 0 w 369"/>
                <a:gd name="T7" fmla="*/ 201 h 381"/>
                <a:gd name="T8" fmla="*/ 0 w 369"/>
                <a:gd name="T9" fmla="*/ 381 h 381"/>
                <a:gd name="T10" fmla="*/ 184 w 369"/>
                <a:gd name="T11" fmla="*/ 381 h 381"/>
                <a:gd name="T12" fmla="*/ 369 w 369"/>
                <a:gd name="T13" fmla="*/ 381 h 381"/>
                <a:gd name="T14" fmla="*/ 364 w 369"/>
                <a:gd name="T15" fmla="*/ 192 h 381"/>
                <a:gd name="T16" fmla="*/ 359 w 369"/>
                <a:gd name="T17" fmla="*/ 6 h 381"/>
                <a:gd name="T18" fmla="*/ 190 w 369"/>
                <a:gd name="T19" fmla="*/ 1 h 381"/>
                <a:gd name="T20" fmla="*/ 123 w 369"/>
                <a:gd name="T21" fmla="*/ 0 h 381"/>
                <a:gd name="T22" fmla="*/ 26 w 369"/>
                <a:gd name="T23" fmla="*/ 3 h 381"/>
                <a:gd name="T24" fmla="*/ 12 w 369"/>
                <a:gd name="T25" fmla="*/ 7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381">
                  <a:moveTo>
                    <a:pt x="12" y="7"/>
                  </a:moveTo>
                  <a:lnTo>
                    <a:pt x="7" y="22"/>
                  </a:lnTo>
                  <a:lnTo>
                    <a:pt x="1" y="127"/>
                  </a:lnTo>
                  <a:lnTo>
                    <a:pt x="0" y="201"/>
                  </a:lnTo>
                  <a:lnTo>
                    <a:pt x="0" y="381"/>
                  </a:lnTo>
                  <a:lnTo>
                    <a:pt x="184" y="381"/>
                  </a:lnTo>
                  <a:lnTo>
                    <a:pt x="369" y="381"/>
                  </a:lnTo>
                  <a:lnTo>
                    <a:pt x="364" y="192"/>
                  </a:lnTo>
                  <a:lnTo>
                    <a:pt x="359" y="6"/>
                  </a:lnTo>
                  <a:lnTo>
                    <a:pt x="190" y="1"/>
                  </a:lnTo>
                  <a:lnTo>
                    <a:pt x="123" y="0"/>
                  </a:lnTo>
                  <a:lnTo>
                    <a:pt x="26"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32">
              <a:extLst>
                <a:ext uri="{FF2B5EF4-FFF2-40B4-BE49-F238E27FC236}">
                  <a16:creationId xmlns:a16="http://schemas.microsoft.com/office/drawing/2014/main" id="{A13B83FE-57F6-1A7C-C42F-170323393F8B}"/>
                </a:ext>
              </a:extLst>
            </p:cNvPr>
            <p:cNvSpPr>
              <a:spLocks/>
            </p:cNvSpPr>
            <p:nvPr/>
          </p:nvSpPr>
          <p:spPr bwMode="auto">
            <a:xfrm>
              <a:off x="3690938" y="1427164"/>
              <a:ext cx="133350" cy="142875"/>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33">
              <a:extLst>
                <a:ext uri="{FF2B5EF4-FFF2-40B4-BE49-F238E27FC236}">
                  <a16:creationId xmlns:a16="http://schemas.microsoft.com/office/drawing/2014/main" id="{8696F0B1-53C0-736C-753E-3F10FF5F4359}"/>
                </a:ext>
              </a:extLst>
            </p:cNvPr>
            <p:cNvSpPr>
              <a:spLocks/>
            </p:cNvSpPr>
            <p:nvPr/>
          </p:nvSpPr>
          <p:spPr bwMode="auto">
            <a:xfrm>
              <a:off x="2857500" y="17065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34">
              <a:extLst>
                <a:ext uri="{FF2B5EF4-FFF2-40B4-BE49-F238E27FC236}">
                  <a16:creationId xmlns:a16="http://schemas.microsoft.com/office/drawing/2014/main" id="{7A206578-5932-7E66-EB65-9E4A20372843}"/>
                </a:ext>
              </a:extLst>
            </p:cNvPr>
            <p:cNvSpPr>
              <a:spLocks/>
            </p:cNvSpPr>
            <p:nvPr/>
          </p:nvSpPr>
          <p:spPr bwMode="auto">
            <a:xfrm>
              <a:off x="3132138" y="1706564"/>
              <a:ext cx="134938" cy="144463"/>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35">
              <a:extLst>
                <a:ext uri="{FF2B5EF4-FFF2-40B4-BE49-F238E27FC236}">
                  <a16:creationId xmlns:a16="http://schemas.microsoft.com/office/drawing/2014/main" id="{E1398491-98DC-FC0F-D402-E2F4C2900FB6}"/>
                </a:ext>
              </a:extLst>
            </p:cNvPr>
            <p:cNvSpPr>
              <a:spLocks/>
            </p:cNvSpPr>
            <p:nvPr/>
          </p:nvSpPr>
          <p:spPr bwMode="auto">
            <a:xfrm>
              <a:off x="3409950" y="1706564"/>
              <a:ext cx="138113" cy="139700"/>
            </a:xfrm>
            <a:custGeom>
              <a:avLst/>
              <a:gdLst>
                <a:gd name="T0" fmla="*/ 5 w 370"/>
                <a:gd name="T1" fmla="*/ 187 h 375"/>
                <a:gd name="T2" fmla="*/ 10 w 370"/>
                <a:gd name="T3" fmla="*/ 375 h 375"/>
                <a:gd name="T4" fmla="*/ 185 w 370"/>
                <a:gd name="T5" fmla="*/ 375 h 375"/>
                <a:gd name="T6" fmla="*/ 360 w 370"/>
                <a:gd name="T7" fmla="*/ 375 h 375"/>
                <a:gd name="T8" fmla="*/ 365 w 370"/>
                <a:gd name="T9" fmla="*/ 187 h 375"/>
                <a:gd name="T10" fmla="*/ 370 w 370"/>
                <a:gd name="T11" fmla="*/ 0 h 375"/>
                <a:gd name="T12" fmla="*/ 185 w 370"/>
                <a:gd name="T13" fmla="*/ 0 h 375"/>
                <a:gd name="T14" fmla="*/ 0 w 370"/>
                <a:gd name="T15" fmla="*/ 0 h 375"/>
                <a:gd name="T16" fmla="*/ 5 w 370"/>
                <a:gd name="T17" fmla="*/ 18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375">
                  <a:moveTo>
                    <a:pt x="5" y="187"/>
                  </a:moveTo>
                  <a:lnTo>
                    <a:pt x="10" y="375"/>
                  </a:lnTo>
                  <a:lnTo>
                    <a:pt x="185" y="375"/>
                  </a:lnTo>
                  <a:lnTo>
                    <a:pt x="360" y="375"/>
                  </a:lnTo>
                  <a:lnTo>
                    <a:pt x="365" y="187"/>
                  </a:lnTo>
                  <a:lnTo>
                    <a:pt x="370" y="0"/>
                  </a:lnTo>
                  <a:lnTo>
                    <a:pt x="185" y="0"/>
                  </a:lnTo>
                  <a:lnTo>
                    <a:pt x="0" y="0"/>
                  </a:lnTo>
                  <a:lnTo>
                    <a:pt x="5" y="1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 name="Freeform 36">
              <a:extLst>
                <a:ext uri="{FF2B5EF4-FFF2-40B4-BE49-F238E27FC236}">
                  <a16:creationId xmlns:a16="http://schemas.microsoft.com/office/drawing/2014/main" id="{71C87A0D-A2FE-E652-533C-F4B12BD10915}"/>
                </a:ext>
              </a:extLst>
            </p:cNvPr>
            <p:cNvSpPr>
              <a:spLocks/>
            </p:cNvSpPr>
            <p:nvPr/>
          </p:nvSpPr>
          <p:spPr bwMode="auto">
            <a:xfrm>
              <a:off x="3690938" y="1706564"/>
              <a:ext cx="133350" cy="144463"/>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0" name="Rounded Rectangle 29">
            <a:extLst>
              <a:ext uri="{FF2B5EF4-FFF2-40B4-BE49-F238E27FC236}">
                <a16:creationId xmlns:a16="http://schemas.microsoft.com/office/drawing/2014/main" id="{5EA57CB9-DB1E-C770-67C4-0A331EF835BB}"/>
              </a:ext>
            </a:extLst>
          </p:cNvPr>
          <p:cNvSpPr/>
          <p:nvPr/>
        </p:nvSpPr>
        <p:spPr>
          <a:xfrm>
            <a:off x="4802154" y="433911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0719CD79-49E5-9A44-6F65-BADD7AF106BF}"/>
              </a:ext>
            </a:extLst>
          </p:cNvPr>
          <p:cNvSpPr txBox="1"/>
          <p:nvPr/>
        </p:nvSpPr>
        <p:spPr>
          <a:xfrm>
            <a:off x="4598768" y="4296611"/>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وحدة القياس</a:t>
            </a:r>
          </a:p>
        </p:txBody>
      </p:sp>
      <p:sp>
        <p:nvSpPr>
          <p:cNvPr id="32" name="TextBox 31">
            <a:extLst>
              <a:ext uri="{FF2B5EF4-FFF2-40B4-BE49-F238E27FC236}">
                <a16:creationId xmlns:a16="http://schemas.microsoft.com/office/drawing/2014/main" id="{C94F853F-2A7C-9172-D049-54ECC7E15F4E}"/>
              </a:ext>
            </a:extLst>
          </p:cNvPr>
          <p:cNvSpPr txBox="1"/>
          <p:nvPr/>
        </p:nvSpPr>
        <p:spPr>
          <a:xfrm>
            <a:off x="4680745" y="4944989"/>
            <a:ext cx="965308" cy="338554"/>
          </a:xfrm>
          <a:prstGeom prst="rect">
            <a:avLst/>
          </a:prstGeom>
          <a:noFill/>
        </p:spPr>
        <p:txBody>
          <a:bodyPr wrap="square" rtlCol="0">
            <a:spAutoFit/>
          </a:bodyPr>
          <a:lstStyle/>
          <a:p>
            <a:pPr algn="ctr"/>
            <a:r>
              <a:rPr lang="ar-EG" sz="1600" b="1" dirty="0">
                <a:solidFill>
                  <a:schemeClr val="accent1"/>
                </a:solidFill>
              </a:rPr>
              <a:t>عدد</a:t>
            </a:r>
          </a:p>
        </p:txBody>
      </p:sp>
      <p:sp>
        <p:nvSpPr>
          <p:cNvPr id="41" name="Rounded Rectangle 40">
            <a:extLst>
              <a:ext uri="{FF2B5EF4-FFF2-40B4-BE49-F238E27FC236}">
                <a16:creationId xmlns:a16="http://schemas.microsoft.com/office/drawing/2014/main" id="{B474EB3C-CE7C-C44D-2FBA-38D9FFDB0C19}"/>
              </a:ext>
            </a:extLst>
          </p:cNvPr>
          <p:cNvSpPr/>
          <p:nvPr/>
        </p:nvSpPr>
        <p:spPr>
          <a:xfrm>
            <a:off x="2692521" y="433911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extBox 41">
            <a:extLst>
              <a:ext uri="{FF2B5EF4-FFF2-40B4-BE49-F238E27FC236}">
                <a16:creationId xmlns:a16="http://schemas.microsoft.com/office/drawing/2014/main" id="{6D3EE730-ADC7-6B45-A5CF-EFB9872DD2C9}"/>
              </a:ext>
            </a:extLst>
          </p:cNvPr>
          <p:cNvSpPr txBox="1"/>
          <p:nvPr/>
        </p:nvSpPr>
        <p:spPr>
          <a:xfrm>
            <a:off x="2489135" y="4296611"/>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المستهدف</a:t>
            </a:r>
          </a:p>
        </p:txBody>
      </p:sp>
      <p:sp>
        <p:nvSpPr>
          <p:cNvPr id="53" name="Rounded Rectangle 52">
            <a:extLst>
              <a:ext uri="{FF2B5EF4-FFF2-40B4-BE49-F238E27FC236}">
                <a16:creationId xmlns:a16="http://schemas.microsoft.com/office/drawing/2014/main" id="{1EB4C275-E5E2-9ABF-D499-5167A7F8A993}"/>
              </a:ext>
            </a:extLst>
          </p:cNvPr>
          <p:cNvSpPr/>
          <p:nvPr/>
        </p:nvSpPr>
        <p:spPr>
          <a:xfrm>
            <a:off x="9021420" y="4341920"/>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extBox 53">
            <a:extLst>
              <a:ext uri="{FF2B5EF4-FFF2-40B4-BE49-F238E27FC236}">
                <a16:creationId xmlns:a16="http://schemas.microsoft.com/office/drawing/2014/main" id="{8F855772-B74D-8AA2-84BE-36B33A0C3D1A}"/>
              </a:ext>
            </a:extLst>
          </p:cNvPr>
          <p:cNvSpPr txBox="1"/>
          <p:nvPr/>
        </p:nvSpPr>
        <p:spPr>
          <a:xfrm>
            <a:off x="8818034" y="4299419"/>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دورية القياس</a:t>
            </a:r>
          </a:p>
        </p:txBody>
      </p:sp>
      <p:sp>
        <p:nvSpPr>
          <p:cNvPr id="55" name="TextBox 54">
            <a:extLst>
              <a:ext uri="{FF2B5EF4-FFF2-40B4-BE49-F238E27FC236}">
                <a16:creationId xmlns:a16="http://schemas.microsoft.com/office/drawing/2014/main" id="{4D446627-831E-268A-7569-FF37DB48F2DA}"/>
              </a:ext>
            </a:extLst>
          </p:cNvPr>
          <p:cNvSpPr txBox="1"/>
          <p:nvPr/>
        </p:nvSpPr>
        <p:spPr>
          <a:xfrm>
            <a:off x="8900011" y="4947797"/>
            <a:ext cx="965308" cy="338554"/>
          </a:xfrm>
          <a:prstGeom prst="rect">
            <a:avLst/>
          </a:prstGeom>
          <a:noFill/>
        </p:spPr>
        <p:txBody>
          <a:bodyPr wrap="square" rtlCol="0">
            <a:spAutoFit/>
          </a:bodyPr>
          <a:lstStyle/>
          <a:p>
            <a:pPr algn="ctr"/>
            <a:r>
              <a:rPr lang="ar-EG" sz="1600" b="1" dirty="0">
                <a:solidFill>
                  <a:schemeClr val="accent1"/>
                </a:solidFill>
              </a:rPr>
              <a:t>ربع سنوي</a:t>
            </a:r>
          </a:p>
        </p:txBody>
      </p:sp>
      <p:sp>
        <p:nvSpPr>
          <p:cNvPr id="79" name="Rectangle 78">
            <a:extLst>
              <a:ext uri="{FF2B5EF4-FFF2-40B4-BE49-F238E27FC236}">
                <a16:creationId xmlns:a16="http://schemas.microsoft.com/office/drawing/2014/main" id="{EEA6C626-15C0-EC5D-EBFC-FC5672262362}"/>
              </a:ext>
            </a:extLst>
          </p:cNvPr>
          <p:cNvSpPr/>
          <p:nvPr/>
        </p:nvSpPr>
        <p:spPr>
          <a:xfrm>
            <a:off x="1872988" y="2510775"/>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2" name="Table 91">
            <a:extLst>
              <a:ext uri="{FF2B5EF4-FFF2-40B4-BE49-F238E27FC236}">
                <a16:creationId xmlns:a16="http://schemas.microsoft.com/office/drawing/2014/main" id="{5A06E9A7-A991-3147-0A0C-6B9708247DBA}"/>
              </a:ext>
            </a:extLst>
          </p:cNvPr>
          <p:cNvGraphicFramePr>
            <a:graphicFrameLocks noGrp="1"/>
          </p:cNvGraphicFramePr>
          <p:nvPr>
            <p:extLst>
              <p:ext uri="{D42A27DB-BD31-4B8C-83A1-F6EECF244321}">
                <p14:modId xmlns:p14="http://schemas.microsoft.com/office/powerpoint/2010/main" val="2550147739"/>
              </p:ext>
            </p:extLst>
          </p:nvPr>
        </p:nvGraphicFramePr>
        <p:xfrm>
          <a:off x="1113853" y="2293250"/>
          <a:ext cx="9964294" cy="1782927"/>
        </p:xfrm>
        <a:graphic>
          <a:graphicData uri="http://schemas.openxmlformats.org/drawingml/2006/table">
            <a:tbl>
              <a:tblPr firstRow="1" bandRow="1">
                <a:tableStyleId>{5C22544A-7EE6-4342-B048-85BDC9FD1C3A}</a:tableStyleId>
              </a:tblPr>
              <a:tblGrid>
                <a:gridCol w="8543322">
                  <a:extLst>
                    <a:ext uri="{9D8B030D-6E8A-4147-A177-3AD203B41FA5}">
                      <a16:colId xmlns:a16="http://schemas.microsoft.com/office/drawing/2014/main" val="1922650772"/>
                    </a:ext>
                  </a:extLst>
                </a:gridCol>
                <a:gridCol w="1420972">
                  <a:extLst>
                    <a:ext uri="{9D8B030D-6E8A-4147-A177-3AD203B41FA5}">
                      <a16:colId xmlns:a16="http://schemas.microsoft.com/office/drawing/2014/main" val="831415739"/>
                    </a:ext>
                  </a:extLst>
                </a:gridCol>
              </a:tblGrid>
              <a:tr h="594309">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التوعية والمشاركة المعرفية</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الخدمة المرتبطة</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4060515"/>
                  </a:ext>
                </a:extLst>
              </a:tr>
              <a:tr h="594309">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إجمالي عدد ورش العمل وجلسات التدريب المنعقدة خلال الفترة المحددة</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معادلة الاحتساب</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6671549"/>
                  </a:ext>
                </a:extLst>
              </a:tr>
              <a:tr h="594309">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سجلات تنفيذ أنشطة التوعية</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مصدر البيانات</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78273"/>
                  </a:ext>
                </a:extLst>
              </a:tr>
            </a:tbl>
          </a:graphicData>
        </a:graphic>
      </p:graphicFrame>
      <p:grpSp>
        <p:nvGrpSpPr>
          <p:cNvPr id="101" name="Group 100">
            <a:extLst>
              <a:ext uri="{FF2B5EF4-FFF2-40B4-BE49-F238E27FC236}">
                <a16:creationId xmlns:a16="http://schemas.microsoft.com/office/drawing/2014/main" id="{E55813B8-3E0E-EE1E-F4CD-71759E78B84B}"/>
              </a:ext>
            </a:extLst>
          </p:cNvPr>
          <p:cNvGrpSpPr>
            <a:grpSpLocks noChangeAspect="1"/>
          </p:cNvGrpSpPr>
          <p:nvPr/>
        </p:nvGrpSpPr>
        <p:grpSpPr>
          <a:xfrm>
            <a:off x="2930143" y="4672641"/>
            <a:ext cx="247246" cy="246888"/>
            <a:chOff x="1952627" y="3497263"/>
            <a:chExt cx="1095375" cy="1093788"/>
          </a:xfrm>
          <a:solidFill>
            <a:schemeClr val="accent1"/>
          </a:solidFill>
        </p:grpSpPr>
        <p:sp>
          <p:nvSpPr>
            <p:cNvPr id="102" name="Freeform 373">
              <a:extLst>
                <a:ext uri="{FF2B5EF4-FFF2-40B4-BE49-F238E27FC236}">
                  <a16:creationId xmlns:a16="http://schemas.microsoft.com/office/drawing/2014/main" id="{6C033DFF-9719-D06B-BA4A-90F5097F0880}"/>
                </a:ext>
              </a:extLst>
            </p:cNvPr>
            <p:cNvSpPr>
              <a:spLocks noEditPoints="1"/>
            </p:cNvSpPr>
            <p:nvPr/>
          </p:nvSpPr>
          <p:spPr bwMode="auto">
            <a:xfrm>
              <a:off x="1952627" y="3497263"/>
              <a:ext cx="1095375" cy="1093788"/>
            </a:xfrm>
            <a:custGeom>
              <a:avLst/>
              <a:gdLst>
                <a:gd name="T0" fmla="*/ 1053 w 2895"/>
                <a:gd name="T1" fmla="*/ 200 h 2894"/>
                <a:gd name="T2" fmla="*/ 389 w 2895"/>
                <a:gd name="T3" fmla="*/ 673 h 2894"/>
                <a:gd name="T4" fmla="*/ 136 w 2895"/>
                <a:gd name="T5" fmla="*/ 1347 h 2894"/>
                <a:gd name="T6" fmla="*/ 4 w 2895"/>
                <a:gd name="T7" fmla="*/ 1425 h 2894"/>
                <a:gd name="T8" fmla="*/ 126 w 2895"/>
                <a:gd name="T9" fmla="*/ 1516 h 2894"/>
                <a:gd name="T10" fmla="*/ 355 w 2895"/>
                <a:gd name="T11" fmla="*/ 2168 h 2894"/>
                <a:gd name="T12" fmla="*/ 943 w 2895"/>
                <a:gd name="T13" fmla="*/ 2655 h 2894"/>
                <a:gd name="T14" fmla="*/ 1394 w 2895"/>
                <a:gd name="T15" fmla="*/ 2764 h 2894"/>
                <a:gd name="T16" fmla="*/ 1456 w 2895"/>
                <a:gd name="T17" fmla="*/ 2894 h 2894"/>
                <a:gd name="T18" fmla="*/ 1545 w 2895"/>
                <a:gd name="T19" fmla="*/ 2750 h 2894"/>
                <a:gd name="T20" fmla="*/ 2131 w 2895"/>
                <a:gd name="T21" fmla="*/ 2564 h 2894"/>
                <a:gd name="T22" fmla="*/ 2659 w 2895"/>
                <a:gd name="T23" fmla="*/ 1949 h 2894"/>
                <a:gd name="T24" fmla="*/ 2796 w 2895"/>
                <a:gd name="T25" fmla="*/ 1500 h 2894"/>
                <a:gd name="T26" fmla="*/ 2877 w 2895"/>
                <a:gd name="T27" fmla="*/ 1410 h 2894"/>
                <a:gd name="T28" fmla="*/ 2747 w 2895"/>
                <a:gd name="T29" fmla="*/ 1261 h 2894"/>
                <a:gd name="T30" fmla="*/ 2397 w 2895"/>
                <a:gd name="T31" fmla="*/ 543 h 2894"/>
                <a:gd name="T32" fmla="*/ 1681 w 2895"/>
                <a:gd name="T33" fmla="*/ 160 h 2894"/>
                <a:gd name="T34" fmla="*/ 1478 w 2895"/>
                <a:gd name="T35" fmla="*/ 13 h 2894"/>
                <a:gd name="T36" fmla="*/ 1392 w 2895"/>
                <a:gd name="T37" fmla="*/ 300 h 2894"/>
                <a:gd name="T38" fmla="*/ 883 w 2895"/>
                <a:gd name="T39" fmla="*/ 469 h 2894"/>
                <a:gd name="T40" fmla="*/ 425 w 2895"/>
                <a:gd name="T41" fmla="*/ 972 h 2894"/>
                <a:gd name="T42" fmla="*/ 300 w 2895"/>
                <a:gd name="T43" fmla="*/ 1396 h 2894"/>
                <a:gd name="T44" fmla="*/ 233 w 2895"/>
                <a:gd name="T45" fmla="*/ 1294 h 2894"/>
                <a:gd name="T46" fmla="*/ 688 w 2895"/>
                <a:gd name="T47" fmla="*/ 489 h 2894"/>
                <a:gd name="T48" fmla="*/ 1390 w 2895"/>
                <a:gd name="T49" fmla="*/ 221 h 2894"/>
                <a:gd name="T50" fmla="*/ 2080 w 2895"/>
                <a:gd name="T51" fmla="*/ 405 h 2894"/>
                <a:gd name="T52" fmla="*/ 2527 w 2895"/>
                <a:gd name="T53" fmla="*/ 879 h 2894"/>
                <a:gd name="T54" fmla="*/ 2658 w 2895"/>
                <a:gd name="T55" fmla="*/ 1395 h 2894"/>
                <a:gd name="T56" fmla="*/ 2547 w 2895"/>
                <a:gd name="T57" fmla="*/ 1190 h 2894"/>
                <a:gd name="T58" fmla="*/ 2266 w 2895"/>
                <a:gd name="T59" fmla="*/ 691 h 2894"/>
                <a:gd name="T60" fmla="*/ 2296 w 2895"/>
                <a:gd name="T61" fmla="*/ 847 h 2894"/>
                <a:gd name="T62" fmla="*/ 2480 w 2895"/>
                <a:gd name="T63" fmla="*/ 1565 h 2894"/>
                <a:gd name="T64" fmla="*/ 2146 w 2895"/>
                <a:gd name="T65" fmla="*/ 2216 h 2894"/>
                <a:gd name="T66" fmla="*/ 1515 w 2895"/>
                <a:gd name="T67" fmla="*/ 2481 h 2894"/>
                <a:gd name="T68" fmla="*/ 771 w 2895"/>
                <a:gd name="T69" fmla="*/ 2233 h 2894"/>
                <a:gd name="T70" fmla="*/ 429 w 2895"/>
                <a:gd name="T71" fmla="*/ 1652 h 2894"/>
                <a:gd name="T72" fmla="*/ 476 w 2895"/>
                <a:gd name="T73" fmla="*/ 1080 h 2894"/>
                <a:gd name="T74" fmla="*/ 825 w 2895"/>
                <a:gd name="T75" fmla="*/ 615 h 2894"/>
                <a:gd name="T76" fmla="*/ 1399 w 2895"/>
                <a:gd name="T77" fmla="*/ 412 h 2894"/>
                <a:gd name="T78" fmla="*/ 1960 w 2895"/>
                <a:gd name="T79" fmla="*/ 540 h 2894"/>
                <a:gd name="T80" fmla="*/ 2198 w 2895"/>
                <a:gd name="T81" fmla="*/ 627 h 2894"/>
                <a:gd name="T82" fmla="*/ 1802 w 2895"/>
                <a:gd name="T83" fmla="*/ 375 h 2894"/>
                <a:gd name="T84" fmla="*/ 1498 w 2895"/>
                <a:gd name="T85" fmla="*/ 287 h 2894"/>
                <a:gd name="T86" fmla="*/ 1699 w 2895"/>
                <a:gd name="T87" fmla="*/ 253 h 2894"/>
                <a:gd name="T88" fmla="*/ 490 w 2895"/>
                <a:gd name="T89" fmla="*/ 2049 h 2894"/>
                <a:gd name="T90" fmla="*/ 981 w 2895"/>
                <a:gd name="T91" fmla="*/ 2477 h 2894"/>
                <a:gd name="T92" fmla="*/ 1397 w 2895"/>
                <a:gd name="T93" fmla="*/ 2613 h 2894"/>
                <a:gd name="T94" fmla="*/ 1151 w 2895"/>
                <a:gd name="T95" fmla="*/ 2629 h 2894"/>
                <a:gd name="T96" fmla="*/ 487 w 2895"/>
                <a:gd name="T97" fmla="*/ 2203 h 2894"/>
                <a:gd name="T98" fmla="*/ 232 w 2895"/>
                <a:gd name="T99" fmla="*/ 1594 h 2894"/>
                <a:gd name="T100" fmla="*/ 301 w 2895"/>
                <a:gd name="T101" fmla="*/ 1507 h 2894"/>
                <a:gd name="T102" fmla="*/ 2530 w 2895"/>
                <a:gd name="T103" fmla="*/ 2016 h 2894"/>
                <a:gd name="T104" fmla="*/ 1798 w 2895"/>
                <a:gd name="T105" fmla="*/ 2614 h 2894"/>
                <a:gd name="T106" fmla="*/ 1498 w 2895"/>
                <a:gd name="T107" fmla="*/ 2615 h 2894"/>
                <a:gd name="T108" fmla="*/ 1898 w 2895"/>
                <a:gd name="T109" fmla="*/ 2482 h 2894"/>
                <a:gd name="T110" fmla="*/ 2396 w 2895"/>
                <a:gd name="T111" fmla="*/ 2058 h 2894"/>
                <a:gd name="T112" fmla="*/ 2583 w 2895"/>
                <a:gd name="T113" fmla="*/ 1524 h 2894"/>
                <a:gd name="T114" fmla="*/ 2659 w 2895"/>
                <a:gd name="T115" fmla="*/ 1598 h 28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95" h="2894">
                  <a:moveTo>
                    <a:pt x="1409" y="12"/>
                  </a:moveTo>
                  <a:lnTo>
                    <a:pt x="1404" y="18"/>
                  </a:lnTo>
                  <a:lnTo>
                    <a:pt x="1398" y="52"/>
                  </a:lnTo>
                  <a:lnTo>
                    <a:pt x="1397" y="73"/>
                  </a:lnTo>
                  <a:lnTo>
                    <a:pt x="1397" y="125"/>
                  </a:lnTo>
                  <a:lnTo>
                    <a:pt x="1214" y="160"/>
                  </a:lnTo>
                  <a:lnTo>
                    <a:pt x="1159" y="171"/>
                  </a:lnTo>
                  <a:lnTo>
                    <a:pt x="1053" y="200"/>
                  </a:lnTo>
                  <a:lnTo>
                    <a:pt x="952" y="236"/>
                  </a:lnTo>
                  <a:lnTo>
                    <a:pt x="855" y="279"/>
                  </a:lnTo>
                  <a:lnTo>
                    <a:pt x="764" y="329"/>
                  </a:lnTo>
                  <a:lnTo>
                    <a:pt x="678" y="386"/>
                  </a:lnTo>
                  <a:lnTo>
                    <a:pt x="597" y="448"/>
                  </a:lnTo>
                  <a:lnTo>
                    <a:pt x="522" y="517"/>
                  </a:lnTo>
                  <a:lnTo>
                    <a:pt x="452" y="592"/>
                  </a:lnTo>
                  <a:lnTo>
                    <a:pt x="389" y="673"/>
                  </a:lnTo>
                  <a:lnTo>
                    <a:pt x="332" y="759"/>
                  </a:lnTo>
                  <a:lnTo>
                    <a:pt x="281" y="850"/>
                  </a:lnTo>
                  <a:lnTo>
                    <a:pt x="237" y="947"/>
                  </a:lnTo>
                  <a:lnTo>
                    <a:pt x="200" y="1048"/>
                  </a:lnTo>
                  <a:lnTo>
                    <a:pt x="170" y="1153"/>
                  </a:lnTo>
                  <a:lnTo>
                    <a:pt x="147" y="1263"/>
                  </a:lnTo>
                  <a:lnTo>
                    <a:pt x="139" y="1320"/>
                  </a:lnTo>
                  <a:lnTo>
                    <a:pt x="136" y="1347"/>
                  </a:lnTo>
                  <a:lnTo>
                    <a:pt x="128" y="1380"/>
                  </a:lnTo>
                  <a:lnTo>
                    <a:pt x="115" y="1396"/>
                  </a:lnTo>
                  <a:lnTo>
                    <a:pt x="90" y="1400"/>
                  </a:lnTo>
                  <a:lnTo>
                    <a:pt x="71" y="1400"/>
                  </a:lnTo>
                  <a:lnTo>
                    <a:pt x="45" y="1401"/>
                  </a:lnTo>
                  <a:lnTo>
                    <a:pt x="17" y="1410"/>
                  </a:lnTo>
                  <a:lnTo>
                    <a:pt x="7" y="1420"/>
                  </a:lnTo>
                  <a:lnTo>
                    <a:pt x="4" y="1425"/>
                  </a:lnTo>
                  <a:lnTo>
                    <a:pt x="0" y="1439"/>
                  </a:lnTo>
                  <a:lnTo>
                    <a:pt x="7" y="1465"/>
                  </a:lnTo>
                  <a:lnTo>
                    <a:pt x="29" y="1486"/>
                  </a:lnTo>
                  <a:lnTo>
                    <a:pt x="62" y="1499"/>
                  </a:lnTo>
                  <a:lnTo>
                    <a:pt x="81" y="1500"/>
                  </a:lnTo>
                  <a:lnTo>
                    <a:pt x="98" y="1500"/>
                  </a:lnTo>
                  <a:lnTo>
                    <a:pt x="117" y="1506"/>
                  </a:lnTo>
                  <a:lnTo>
                    <a:pt x="126" y="1516"/>
                  </a:lnTo>
                  <a:lnTo>
                    <a:pt x="136" y="1543"/>
                  </a:lnTo>
                  <a:lnTo>
                    <a:pt x="148" y="1614"/>
                  </a:lnTo>
                  <a:lnTo>
                    <a:pt x="156" y="1672"/>
                  </a:lnTo>
                  <a:lnTo>
                    <a:pt x="164" y="1726"/>
                  </a:lnTo>
                  <a:lnTo>
                    <a:pt x="193" y="1836"/>
                  </a:lnTo>
                  <a:lnTo>
                    <a:pt x="236" y="1949"/>
                  </a:lnTo>
                  <a:lnTo>
                    <a:pt x="290" y="2060"/>
                  </a:lnTo>
                  <a:lnTo>
                    <a:pt x="355" y="2168"/>
                  </a:lnTo>
                  <a:lnTo>
                    <a:pt x="428" y="2270"/>
                  </a:lnTo>
                  <a:lnTo>
                    <a:pt x="509" y="2363"/>
                  </a:lnTo>
                  <a:lnTo>
                    <a:pt x="597" y="2446"/>
                  </a:lnTo>
                  <a:lnTo>
                    <a:pt x="642" y="2482"/>
                  </a:lnTo>
                  <a:lnTo>
                    <a:pt x="681" y="2510"/>
                  </a:lnTo>
                  <a:lnTo>
                    <a:pt x="764" y="2564"/>
                  </a:lnTo>
                  <a:lnTo>
                    <a:pt x="852" y="2612"/>
                  </a:lnTo>
                  <a:lnTo>
                    <a:pt x="943" y="2655"/>
                  </a:lnTo>
                  <a:lnTo>
                    <a:pt x="1035" y="2691"/>
                  </a:lnTo>
                  <a:lnTo>
                    <a:pt x="1125" y="2719"/>
                  </a:lnTo>
                  <a:lnTo>
                    <a:pt x="1210" y="2739"/>
                  </a:lnTo>
                  <a:lnTo>
                    <a:pt x="1290" y="2749"/>
                  </a:lnTo>
                  <a:lnTo>
                    <a:pt x="1326" y="2750"/>
                  </a:lnTo>
                  <a:lnTo>
                    <a:pt x="1350" y="2750"/>
                  </a:lnTo>
                  <a:lnTo>
                    <a:pt x="1380" y="2753"/>
                  </a:lnTo>
                  <a:lnTo>
                    <a:pt x="1394" y="2764"/>
                  </a:lnTo>
                  <a:lnTo>
                    <a:pt x="1397" y="2788"/>
                  </a:lnTo>
                  <a:lnTo>
                    <a:pt x="1397" y="2807"/>
                  </a:lnTo>
                  <a:lnTo>
                    <a:pt x="1399" y="2830"/>
                  </a:lnTo>
                  <a:lnTo>
                    <a:pt x="1413" y="2872"/>
                  </a:lnTo>
                  <a:lnTo>
                    <a:pt x="1422" y="2883"/>
                  </a:lnTo>
                  <a:lnTo>
                    <a:pt x="1429" y="2889"/>
                  </a:lnTo>
                  <a:lnTo>
                    <a:pt x="1443" y="2894"/>
                  </a:lnTo>
                  <a:lnTo>
                    <a:pt x="1456" y="2894"/>
                  </a:lnTo>
                  <a:lnTo>
                    <a:pt x="1468" y="2888"/>
                  </a:lnTo>
                  <a:lnTo>
                    <a:pt x="1484" y="2870"/>
                  </a:lnTo>
                  <a:lnTo>
                    <a:pt x="1496" y="2831"/>
                  </a:lnTo>
                  <a:lnTo>
                    <a:pt x="1497" y="2807"/>
                  </a:lnTo>
                  <a:lnTo>
                    <a:pt x="1497" y="2788"/>
                  </a:lnTo>
                  <a:lnTo>
                    <a:pt x="1501" y="2764"/>
                  </a:lnTo>
                  <a:lnTo>
                    <a:pt x="1515" y="2753"/>
                  </a:lnTo>
                  <a:lnTo>
                    <a:pt x="1545" y="2750"/>
                  </a:lnTo>
                  <a:lnTo>
                    <a:pt x="1569" y="2750"/>
                  </a:lnTo>
                  <a:lnTo>
                    <a:pt x="1605" y="2749"/>
                  </a:lnTo>
                  <a:lnTo>
                    <a:pt x="1684" y="2739"/>
                  </a:lnTo>
                  <a:lnTo>
                    <a:pt x="1770" y="2719"/>
                  </a:lnTo>
                  <a:lnTo>
                    <a:pt x="1860" y="2691"/>
                  </a:lnTo>
                  <a:lnTo>
                    <a:pt x="1952" y="2655"/>
                  </a:lnTo>
                  <a:lnTo>
                    <a:pt x="2043" y="2612"/>
                  </a:lnTo>
                  <a:lnTo>
                    <a:pt x="2131" y="2564"/>
                  </a:lnTo>
                  <a:lnTo>
                    <a:pt x="2214" y="2510"/>
                  </a:lnTo>
                  <a:lnTo>
                    <a:pt x="2252" y="2482"/>
                  </a:lnTo>
                  <a:lnTo>
                    <a:pt x="2298" y="2446"/>
                  </a:lnTo>
                  <a:lnTo>
                    <a:pt x="2385" y="2363"/>
                  </a:lnTo>
                  <a:lnTo>
                    <a:pt x="2466" y="2270"/>
                  </a:lnTo>
                  <a:lnTo>
                    <a:pt x="2540" y="2168"/>
                  </a:lnTo>
                  <a:lnTo>
                    <a:pt x="2605" y="2060"/>
                  </a:lnTo>
                  <a:lnTo>
                    <a:pt x="2659" y="1949"/>
                  </a:lnTo>
                  <a:lnTo>
                    <a:pt x="2701" y="1836"/>
                  </a:lnTo>
                  <a:lnTo>
                    <a:pt x="2731" y="1726"/>
                  </a:lnTo>
                  <a:lnTo>
                    <a:pt x="2739" y="1672"/>
                  </a:lnTo>
                  <a:lnTo>
                    <a:pt x="2747" y="1614"/>
                  </a:lnTo>
                  <a:lnTo>
                    <a:pt x="2759" y="1543"/>
                  </a:lnTo>
                  <a:lnTo>
                    <a:pt x="2769" y="1516"/>
                  </a:lnTo>
                  <a:lnTo>
                    <a:pt x="2778" y="1506"/>
                  </a:lnTo>
                  <a:lnTo>
                    <a:pt x="2796" y="1500"/>
                  </a:lnTo>
                  <a:lnTo>
                    <a:pt x="2814" y="1500"/>
                  </a:lnTo>
                  <a:lnTo>
                    <a:pt x="2833" y="1499"/>
                  </a:lnTo>
                  <a:lnTo>
                    <a:pt x="2865" y="1486"/>
                  </a:lnTo>
                  <a:lnTo>
                    <a:pt x="2887" y="1465"/>
                  </a:lnTo>
                  <a:lnTo>
                    <a:pt x="2895" y="1439"/>
                  </a:lnTo>
                  <a:lnTo>
                    <a:pt x="2891" y="1425"/>
                  </a:lnTo>
                  <a:lnTo>
                    <a:pt x="2888" y="1420"/>
                  </a:lnTo>
                  <a:lnTo>
                    <a:pt x="2877" y="1410"/>
                  </a:lnTo>
                  <a:lnTo>
                    <a:pt x="2850" y="1401"/>
                  </a:lnTo>
                  <a:lnTo>
                    <a:pt x="2824" y="1400"/>
                  </a:lnTo>
                  <a:lnTo>
                    <a:pt x="2804" y="1400"/>
                  </a:lnTo>
                  <a:lnTo>
                    <a:pt x="2780" y="1396"/>
                  </a:lnTo>
                  <a:lnTo>
                    <a:pt x="2767" y="1380"/>
                  </a:lnTo>
                  <a:lnTo>
                    <a:pt x="2759" y="1347"/>
                  </a:lnTo>
                  <a:lnTo>
                    <a:pt x="2756" y="1320"/>
                  </a:lnTo>
                  <a:lnTo>
                    <a:pt x="2747" y="1261"/>
                  </a:lnTo>
                  <a:lnTo>
                    <a:pt x="2724" y="1151"/>
                  </a:lnTo>
                  <a:lnTo>
                    <a:pt x="2695" y="1049"/>
                  </a:lnTo>
                  <a:lnTo>
                    <a:pt x="2660" y="952"/>
                  </a:lnTo>
                  <a:lnTo>
                    <a:pt x="2639" y="905"/>
                  </a:lnTo>
                  <a:lnTo>
                    <a:pt x="2603" y="831"/>
                  </a:lnTo>
                  <a:lnTo>
                    <a:pt x="2520" y="694"/>
                  </a:lnTo>
                  <a:lnTo>
                    <a:pt x="2448" y="601"/>
                  </a:lnTo>
                  <a:lnTo>
                    <a:pt x="2397" y="543"/>
                  </a:lnTo>
                  <a:lnTo>
                    <a:pt x="2343" y="489"/>
                  </a:lnTo>
                  <a:lnTo>
                    <a:pt x="2285" y="438"/>
                  </a:lnTo>
                  <a:lnTo>
                    <a:pt x="2224" y="391"/>
                  </a:lnTo>
                  <a:lnTo>
                    <a:pt x="2161" y="348"/>
                  </a:lnTo>
                  <a:lnTo>
                    <a:pt x="2060" y="289"/>
                  </a:lnTo>
                  <a:lnTo>
                    <a:pt x="1916" y="225"/>
                  </a:lnTo>
                  <a:lnTo>
                    <a:pt x="1762" y="177"/>
                  </a:lnTo>
                  <a:lnTo>
                    <a:pt x="1681" y="160"/>
                  </a:lnTo>
                  <a:lnTo>
                    <a:pt x="1623" y="149"/>
                  </a:lnTo>
                  <a:lnTo>
                    <a:pt x="1548" y="132"/>
                  </a:lnTo>
                  <a:lnTo>
                    <a:pt x="1510" y="117"/>
                  </a:lnTo>
                  <a:lnTo>
                    <a:pt x="1498" y="100"/>
                  </a:lnTo>
                  <a:lnTo>
                    <a:pt x="1497" y="88"/>
                  </a:lnTo>
                  <a:lnTo>
                    <a:pt x="1497" y="68"/>
                  </a:lnTo>
                  <a:lnTo>
                    <a:pt x="1490" y="35"/>
                  </a:lnTo>
                  <a:lnTo>
                    <a:pt x="1478" y="13"/>
                  </a:lnTo>
                  <a:lnTo>
                    <a:pt x="1460" y="1"/>
                  </a:lnTo>
                  <a:lnTo>
                    <a:pt x="1449" y="0"/>
                  </a:lnTo>
                  <a:lnTo>
                    <a:pt x="1436" y="1"/>
                  </a:lnTo>
                  <a:lnTo>
                    <a:pt x="1414" y="7"/>
                  </a:lnTo>
                  <a:lnTo>
                    <a:pt x="1409" y="12"/>
                  </a:lnTo>
                  <a:close/>
                  <a:moveTo>
                    <a:pt x="1397" y="265"/>
                  </a:moveTo>
                  <a:lnTo>
                    <a:pt x="1397" y="281"/>
                  </a:lnTo>
                  <a:lnTo>
                    <a:pt x="1392" y="300"/>
                  </a:lnTo>
                  <a:lnTo>
                    <a:pt x="1373" y="311"/>
                  </a:lnTo>
                  <a:lnTo>
                    <a:pt x="1332" y="318"/>
                  </a:lnTo>
                  <a:lnTo>
                    <a:pt x="1299" y="322"/>
                  </a:lnTo>
                  <a:lnTo>
                    <a:pt x="1255" y="327"/>
                  </a:lnTo>
                  <a:lnTo>
                    <a:pt x="1163" y="348"/>
                  </a:lnTo>
                  <a:lnTo>
                    <a:pt x="1069" y="379"/>
                  </a:lnTo>
                  <a:lnTo>
                    <a:pt x="975" y="420"/>
                  </a:lnTo>
                  <a:lnTo>
                    <a:pt x="883" y="469"/>
                  </a:lnTo>
                  <a:lnTo>
                    <a:pt x="795" y="525"/>
                  </a:lnTo>
                  <a:lnTo>
                    <a:pt x="712" y="586"/>
                  </a:lnTo>
                  <a:lnTo>
                    <a:pt x="638" y="653"/>
                  </a:lnTo>
                  <a:lnTo>
                    <a:pt x="606" y="688"/>
                  </a:lnTo>
                  <a:lnTo>
                    <a:pt x="578" y="721"/>
                  </a:lnTo>
                  <a:lnTo>
                    <a:pt x="523" y="796"/>
                  </a:lnTo>
                  <a:lnTo>
                    <a:pt x="472" y="881"/>
                  </a:lnTo>
                  <a:lnTo>
                    <a:pt x="425" y="972"/>
                  </a:lnTo>
                  <a:lnTo>
                    <a:pt x="385" y="1066"/>
                  </a:lnTo>
                  <a:lnTo>
                    <a:pt x="352" y="1158"/>
                  </a:lnTo>
                  <a:lnTo>
                    <a:pt x="328" y="1246"/>
                  </a:lnTo>
                  <a:lnTo>
                    <a:pt x="315" y="1326"/>
                  </a:lnTo>
                  <a:lnTo>
                    <a:pt x="314" y="1362"/>
                  </a:lnTo>
                  <a:lnTo>
                    <a:pt x="314" y="1372"/>
                  </a:lnTo>
                  <a:lnTo>
                    <a:pt x="309" y="1387"/>
                  </a:lnTo>
                  <a:lnTo>
                    <a:pt x="300" y="1396"/>
                  </a:lnTo>
                  <a:lnTo>
                    <a:pt x="284" y="1400"/>
                  </a:lnTo>
                  <a:lnTo>
                    <a:pt x="272" y="1400"/>
                  </a:lnTo>
                  <a:lnTo>
                    <a:pt x="260" y="1400"/>
                  </a:lnTo>
                  <a:lnTo>
                    <a:pt x="243" y="1395"/>
                  </a:lnTo>
                  <a:lnTo>
                    <a:pt x="234" y="1382"/>
                  </a:lnTo>
                  <a:lnTo>
                    <a:pt x="231" y="1356"/>
                  </a:lnTo>
                  <a:lnTo>
                    <a:pt x="231" y="1337"/>
                  </a:lnTo>
                  <a:lnTo>
                    <a:pt x="233" y="1294"/>
                  </a:lnTo>
                  <a:lnTo>
                    <a:pt x="253" y="1184"/>
                  </a:lnTo>
                  <a:lnTo>
                    <a:pt x="290" y="1060"/>
                  </a:lnTo>
                  <a:lnTo>
                    <a:pt x="337" y="939"/>
                  </a:lnTo>
                  <a:lnTo>
                    <a:pt x="364" y="885"/>
                  </a:lnTo>
                  <a:lnTo>
                    <a:pt x="400" y="820"/>
                  </a:lnTo>
                  <a:lnTo>
                    <a:pt x="484" y="697"/>
                  </a:lnTo>
                  <a:lnTo>
                    <a:pt x="580" y="587"/>
                  </a:lnTo>
                  <a:lnTo>
                    <a:pt x="688" y="489"/>
                  </a:lnTo>
                  <a:lnTo>
                    <a:pt x="805" y="404"/>
                  </a:lnTo>
                  <a:lnTo>
                    <a:pt x="931" y="335"/>
                  </a:lnTo>
                  <a:lnTo>
                    <a:pt x="1064" y="281"/>
                  </a:lnTo>
                  <a:lnTo>
                    <a:pt x="1202" y="244"/>
                  </a:lnTo>
                  <a:lnTo>
                    <a:pt x="1272" y="233"/>
                  </a:lnTo>
                  <a:lnTo>
                    <a:pt x="1352" y="223"/>
                  </a:lnTo>
                  <a:lnTo>
                    <a:pt x="1386" y="218"/>
                  </a:lnTo>
                  <a:lnTo>
                    <a:pt x="1390" y="221"/>
                  </a:lnTo>
                  <a:lnTo>
                    <a:pt x="1397" y="246"/>
                  </a:lnTo>
                  <a:lnTo>
                    <a:pt x="1397" y="265"/>
                  </a:lnTo>
                  <a:close/>
                  <a:moveTo>
                    <a:pt x="1754" y="267"/>
                  </a:moveTo>
                  <a:lnTo>
                    <a:pt x="1794" y="277"/>
                  </a:lnTo>
                  <a:lnTo>
                    <a:pt x="1871" y="302"/>
                  </a:lnTo>
                  <a:lnTo>
                    <a:pt x="1944" y="331"/>
                  </a:lnTo>
                  <a:lnTo>
                    <a:pt x="2013" y="365"/>
                  </a:lnTo>
                  <a:lnTo>
                    <a:pt x="2080" y="405"/>
                  </a:lnTo>
                  <a:lnTo>
                    <a:pt x="2145" y="450"/>
                  </a:lnTo>
                  <a:lnTo>
                    <a:pt x="2210" y="501"/>
                  </a:lnTo>
                  <a:lnTo>
                    <a:pt x="2274" y="558"/>
                  </a:lnTo>
                  <a:lnTo>
                    <a:pt x="2306" y="590"/>
                  </a:lnTo>
                  <a:lnTo>
                    <a:pt x="2344" y="630"/>
                  </a:lnTo>
                  <a:lnTo>
                    <a:pt x="2414" y="711"/>
                  </a:lnTo>
                  <a:lnTo>
                    <a:pt x="2475" y="794"/>
                  </a:lnTo>
                  <a:lnTo>
                    <a:pt x="2527" y="879"/>
                  </a:lnTo>
                  <a:lnTo>
                    <a:pt x="2571" y="967"/>
                  </a:lnTo>
                  <a:lnTo>
                    <a:pt x="2606" y="1057"/>
                  </a:lnTo>
                  <a:lnTo>
                    <a:pt x="2633" y="1150"/>
                  </a:lnTo>
                  <a:lnTo>
                    <a:pt x="2652" y="1245"/>
                  </a:lnTo>
                  <a:lnTo>
                    <a:pt x="2657" y="1293"/>
                  </a:lnTo>
                  <a:lnTo>
                    <a:pt x="2661" y="1329"/>
                  </a:lnTo>
                  <a:lnTo>
                    <a:pt x="2664" y="1374"/>
                  </a:lnTo>
                  <a:lnTo>
                    <a:pt x="2658" y="1395"/>
                  </a:lnTo>
                  <a:lnTo>
                    <a:pt x="2641" y="1400"/>
                  </a:lnTo>
                  <a:lnTo>
                    <a:pt x="2627" y="1400"/>
                  </a:lnTo>
                  <a:lnTo>
                    <a:pt x="2615" y="1400"/>
                  </a:lnTo>
                  <a:lnTo>
                    <a:pt x="2596" y="1390"/>
                  </a:lnTo>
                  <a:lnTo>
                    <a:pt x="2583" y="1360"/>
                  </a:lnTo>
                  <a:lnTo>
                    <a:pt x="2568" y="1298"/>
                  </a:lnTo>
                  <a:lnTo>
                    <a:pt x="2559" y="1250"/>
                  </a:lnTo>
                  <a:lnTo>
                    <a:pt x="2547" y="1190"/>
                  </a:lnTo>
                  <a:lnTo>
                    <a:pt x="2512" y="1072"/>
                  </a:lnTo>
                  <a:lnTo>
                    <a:pt x="2467" y="960"/>
                  </a:lnTo>
                  <a:lnTo>
                    <a:pt x="2413" y="857"/>
                  </a:lnTo>
                  <a:lnTo>
                    <a:pt x="2382" y="810"/>
                  </a:lnTo>
                  <a:lnTo>
                    <a:pt x="2357" y="774"/>
                  </a:lnTo>
                  <a:lnTo>
                    <a:pt x="2319" y="725"/>
                  </a:lnTo>
                  <a:lnTo>
                    <a:pt x="2289" y="698"/>
                  </a:lnTo>
                  <a:lnTo>
                    <a:pt x="2266" y="691"/>
                  </a:lnTo>
                  <a:lnTo>
                    <a:pt x="2256" y="693"/>
                  </a:lnTo>
                  <a:lnTo>
                    <a:pt x="2249" y="696"/>
                  </a:lnTo>
                  <a:lnTo>
                    <a:pt x="2239" y="704"/>
                  </a:lnTo>
                  <a:lnTo>
                    <a:pt x="2234" y="715"/>
                  </a:lnTo>
                  <a:lnTo>
                    <a:pt x="2233" y="728"/>
                  </a:lnTo>
                  <a:lnTo>
                    <a:pt x="2241" y="756"/>
                  </a:lnTo>
                  <a:lnTo>
                    <a:pt x="2271" y="810"/>
                  </a:lnTo>
                  <a:lnTo>
                    <a:pt x="2296" y="847"/>
                  </a:lnTo>
                  <a:lnTo>
                    <a:pt x="2336" y="908"/>
                  </a:lnTo>
                  <a:lnTo>
                    <a:pt x="2398" y="1022"/>
                  </a:lnTo>
                  <a:lnTo>
                    <a:pt x="2440" y="1134"/>
                  </a:lnTo>
                  <a:lnTo>
                    <a:pt x="2469" y="1258"/>
                  </a:lnTo>
                  <a:lnTo>
                    <a:pt x="2479" y="1328"/>
                  </a:lnTo>
                  <a:lnTo>
                    <a:pt x="2484" y="1376"/>
                  </a:lnTo>
                  <a:lnTo>
                    <a:pt x="2487" y="1471"/>
                  </a:lnTo>
                  <a:lnTo>
                    <a:pt x="2480" y="1565"/>
                  </a:lnTo>
                  <a:lnTo>
                    <a:pt x="2465" y="1658"/>
                  </a:lnTo>
                  <a:lnTo>
                    <a:pt x="2441" y="1748"/>
                  </a:lnTo>
                  <a:lnTo>
                    <a:pt x="2409" y="1836"/>
                  </a:lnTo>
                  <a:lnTo>
                    <a:pt x="2370" y="1921"/>
                  </a:lnTo>
                  <a:lnTo>
                    <a:pt x="2324" y="2002"/>
                  </a:lnTo>
                  <a:lnTo>
                    <a:pt x="2271" y="2078"/>
                  </a:lnTo>
                  <a:lnTo>
                    <a:pt x="2211" y="2150"/>
                  </a:lnTo>
                  <a:lnTo>
                    <a:pt x="2146" y="2216"/>
                  </a:lnTo>
                  <a:lnTo>
                    <a:pt x="2075" y="2276"/>
                  </a:lnTo>
                  <a:lnTo>
                    <a:pt x="1999" y="2330"/>
                  </a:lnTo>
                  <a:lnTo>
                    <a:pt x="1917" y="2377"/>
                  </a:lnTo>
                  <a:lnTo>
                    <a:pt x="1832" y="2416"/>
                  </a:lnTo>
                  <a:lnTo>
                    <a:pt x="1742" y="2446"/>
                  </a:lnTo>
                  <a:lnTo>
                    <a:pt x="1696" y="2458"/>
                  </a:lnTo>
                  <a:lnTo>
                    <a:pt x="1642" y="2469"/>
                  </a:lnTo>
                  <a:lnTo>
                    <a:pt x="1515" y="2481"/>
                  </a:lnTo>
                  <a:lnTo>
                    <a:pt x="1380" y="2481"/>
                  </a:lnTo>
                  <a:lnTo>
                    <a:pt x="1253" y="2469"/>
                  </a:lnTo>
                  <a:lnTo>
                    <a:pt x="1199" y="2458"/>
                  </a:lnTo>
                  <a:lnTo>
                    <a:pt x="1148" y="2445"/>
                  </a:lnTo>
                  <a:lnTo>
                    <a:pt x="1048" y="2408"/>
                  </a:lnTo>
                  <a:lnTo>
                    <a:pt x="950" y="2360"/>
                  </a:lnTo>
                  <a:lnTo>
                    <a:pt x="858" y="2301"/>
                  </a:lnTo>
                  <a:lnTo>
                    <a:pt x="771" y="2233"/>
                  </a:lnTo>
                  <a:lnTo>
                    <a:pt x="691" y="2157"/>
                  </a:lnTo>
                  <a:lnTo>
                    <a:pt x="621" y="2075"/>
                  </a:lnTo>
                  <a:lnTo>
                    <a:pt x="561" y="1986"/>
                  </a:lnTo>
                  <a:lnTo>
                    <a:pt x="536" y="1940"/>
                  </a:lnTo>
                  <a:lnTo>
                    <a:pt x="500" y="1869"/>
                  </a:lnTo>
                  <a:lnTo>
                    <a:pt x="461" y="1775"/>
                  </a:lnTo>
                  <a:lnTo>
                    <a:pt x="442" y="1714"/>
                  </a:lnTo>
                  <a:lnTo>
                    <a:pt x="429" y="1652"/>
                  </a:lnTo>
                  <a:lnTo>
                    <a:pt x="420" y="1588"/>
                  </a:lnTo>
                  <a:lnTo>
                    <a:pt x="415" y="1483"/>
                  </a:lnTo>
                  <a:lnTo>
                    <a:pt x="417" y="1400"/>
                  </a:lnTo>
                  <a:lnTo>
                    <a:pt x="420" y="1342"/>
                  </a:lnTo>
                  <a:lnTo>
                    <a:pt x="427" y="1255"/>
                  </a:lnTo>
                  <a:lnTo>
                    <a:pt x="440" y="1186"/>
                  </a:lnTo>
                  <a:lnTo>
                    <a:pt x="461" y="1119"/>
                  </a:lnTo>
                  <a:lnTo>
                    <a:pt x="476" y="1080"/>
                  </a:lnTo>
                  <a:lnTo>
                    <a:pt x="491" y="1042"/>
                  </a:lnTo>
                  <a:lnTo>
                    <a:pt x="526" y="968"/>
                  </a:lnTo>
                  <a:lnTo>
                    <a:pt x="566" y="899"/>
                  </a:lnTo>
                  <a:lnTo>
                    <a:pt x="610" y="833"/>
                  </a:lnTo>
                  <a:lnTo>
                    <a:pt x="658" y="772"/>
                  </a:lnTo>
                  <a:lnTo>
                    <a:pt x="710" y="715"/>
                  </a:lnTo>
                  <a:lnTo>
                    <a:pt x="765" y="663"/>
                  </a:lnTo>
                  <a:lnTo>
                    <a:pt x="825" y="615"/>
                  </a:lnTo>
                  <a:lnTo>
                    <a:pt x="887" y="572"/>
                  </a:lnTo>
                  <a:lnTo>
                    <a:pt x="952" y="533"/>
                  </a:lnTo>
                  <a:lnTo>
                    <a:pt x="1021" y="500"/>
                  </a:lnTo>
                  <a:lnTo>
                    <a:pt x="1092" y="472"/>
                  </a:lnTo>
                  <a:lnTo>
                    <a:pt x="1165" y="449"/>
                  </a:lnTo>
                  <a:lnTo>
                    <a:pt x="1241" y="431"/>
                  </a:lnTo>
                  <a:lnTo>
                    <a:pt x="1319" y="419"/>
                  </a:lnTo>
                  <a:lnTo>
                    <a:pt x="1399" y="412"/>
                  </a:lnTo>
                  <a:lnTo>
                    <a:pt x="1439" y="412"/>
                  </a:lnTo>
                  <a:lnTo>
                    <a:pt x="1485" y="412"/>
                  </a:lnTo>
                  <a:lnTo>
                    <a:pt x="1573" y="418"/>
                  </a:lnTo>
                  <a:lnTo>
                    <a:pt x="1656" y="429"/>
                  </a:lnTo>
                  <a:lnTo>
                    <a:pt x="1736" y="447"/>
                  </a:lnTo>
                  <a:lnTo>
                    <a:pt x="1812" y="471"/>
                  </a:lnTo>
                  <a:lnTo>
                    <a:pt x="1887" y="502"/>
                  </a:lnTo>
                  <a:lnTo>
                    <a:pt x="1960" y="540"/>
                  </a:lnTo>
                  <a:lnTo>
                    <a:pt x="2033" y="586"/>
                  </a:lnTo>
                  <a:lnTo>
                    <a:pt x="2069" y="612"/>
                  </a:lnTo>
                  <a:lnTo>
                    <a:pt x="2092" y="628"/>
                  </a:lnTo>
                  <a:lnTo>
                    <a:pt x="2132" y="649"/>
                  </a:lnTo>
                  <a:lnTo>
                    <a:pt x="2164" y="658"/>
                  </a:lnTo>
                  <a:lnTo>
                    <a:pt x="2187" y="657"/>
                  </a:lnTo>
                  <a:lnTo>
                    <a:pt x="2199" y="646"/>
                  </a:lnTo>
                  <a:lnTo>
                    <a:pt x="2198" y="627"/>
                  </a:lnTo>
                  <a:lnTo>
                    <a:pt x="2185" y="601"/>
                  </a:lnTo>
                  <a:lnTo>
                    <a:pt x="2156" y="569"/>
                  </a:lnTo>
                  <a:lnTo>
                    <a:pt x="2136" y="552"/>
                  </a:lnTo>
                  <a:lnTo>
                    <a:pt x="2108" y="530"/>
                  </a:lnTo>
                  <a:lnTo>
                    <a:pt x="2043" y="488"/>
                  </a:lnTo>
                  <a:lnTo>
                    <a:pt x="1967" y="447"/>
                  </a:lnTo>
                  <a:lnTo>
                    <a:pt x="1886" y="409"/>
                  </a:lnTo>
                  <a:lnTo>
                    <a:pt x="1802" y="375"/>
                  </a:lnTo>
                  <a:lnTo>
                    <a:pt x="1719" y="348"/>
                  </a:lnTo>
                  <a:lnTo>
                    <a:pt x="1641" y="328"/>
                  </a:lnTo>
                  <a:lnTo>
                    <a:pt x="1573" y="318"/>
                  </a:lnTo>
                  <a:lnTo>
                    <a:pt x="1544" y="317"/>
                  </a:lnTo>
                  <a:lnTo>
                    <a:pt x="1531" y="316"/>
                  </a:lnTo>
                  <a:lnTo>
                    <a:pt x="1512" y="313"/>
                  </a:lnTo>
                  <a:lnTo>
                    <a:pt x="1502" y="304"/>
                  </a:lnTo>
                  <a:lnTo>
                    <a:pt x="1498" y="287"/>
                  </a:lnTo>
                  <a:lnTo>
                    <a:pt x="1497" y="275"/>
                  </a:lnTo>
                  <a:lnTo>
                    <a:pt x="1498" y="262"/>
                  </a:lnTo>
                  <a:lnTo>
                    <a:pt x="1502" y="245"/>
                  </a:lnTo>
                  <a:lnTo>
                    <a:pt x="1515" y="237"/>
                  </a:lnTo>
                  <a:lnTo>
                    <a:pt x="1541" y="233"/>
                  </a:lnTo>
                  <a:lnTo>
                    <a:pt x="1561" y="233"/>
                  </a:lnTo>
                  <a:lnTo>
                    <a:pt x="1594" y="235"/>
                  </a:lnTo>
                  <a:lnTo>
                    <a:pt x="1699" y="253"/>
                  </a:lnTo>
                  <a:lnTo>
                    <a:pt x="1754" y="267"/>
                  </a:lnTo>
                  <a:close/>
                  <a:moveTo>
                    <a:pt x="322" y="1587"/>
                  </a:moveTo>
                  <a:lnTo>
                    <a:pt x="329" y="1632"/>
                  </a:lnTo>
                  <a:lnTo>
                    <a:pt x="348" y="1720"/>
                  </a:lnTo>
                  <a:lnTo>
                    <a:pt x="374" y="1807"/>
                  </a:lnTo>
                  <a:lnTo>
                    <a:pt x="407" y="1891"/>
                  </a:lnTo>
                  <a:lnTo>
                    <a:pt x="445" y="1972"/>
                  </a:lnTo>
                  <a:lnTo>
                    <a:pt x="490" y="2049"/>
                  </a:lnTo>
                  <a:lnTo>
                    <a:pt x="541" y="2122"/>
                  </a:lnTo>
                  <a:lnTo>
                    <a:pt x="597" y="2190"/>
                  </a:lnTo>
                  <a:lnTo>
                    <a:pt x="627" y="2222"/>
                  </a:lnTo>
                  <a:lnTo>
                    <a:pt x="665" y="2260"/>
                  </a:lnTo>
                  <a:lnTo>
                    <a:pt x="740" y="2327"/>
                  </a:lnTo>
                  <a:lnTo>
                    <a:pt x="817" y="2385"/>
                  </a:lnTo>
                  <a:lnTo>
                    <a:pt x="897" y="2435"/>
                  </a:lnTo>
                  <a:lnTo>
                    <a:pt x="981" y="2477"/>
                  </a:lnTo>
                  <a:lnTo>
                    <a:pt x="1071" y="2512"/>
                  </a:lnTo>
                  <a:lnTo>
                    <a:pt x="1170" y="2541"/>
                  </a:lnTo>
                  <a:lnTo>
                    <a:pt x="1277" y="2565"/>
                  </a:lnTo>
                  <a:lnTo>
                    <a:pt x="1336" y="2575"/>
                  </a:lnTo>
                  <a:lnTo>
                    <a:pt x="1354" y="2578"/>
                  </a:lnTo>
                  <a:lnTo>
                    <a:pt x="1378" y="2586"/>
                  </a:lnTo>
                  <a:lnTo>
                    <a:pt x="1392" y="2596"/>
                  </a:lnTo>
                  <a:lnTo>
                    <a:pt x="1397" y="2613"/>
                  </a:lnTo>
                  <a:lnTo>
                    <a:pt x="1397" y="2625"/>
                  </a:lnTo>
                  <a:lnTo>
                    <a:pt x="1397" y="2642"/>
                  </a:lnTo>
                  <a:lnTo>
                    <a:pt x="1388" y="2658"/>
                  </a:lnTo>
                  <a:lnTo>
                    <a:pt x="1375" y="2664"/>
                  </a:lnTo>
                  <a:lnTo>
                    <a:pt x="1343" y="2665"/>
                  </a:lnTo>
                  <a:lnTo>
                    <a:pt x="1263" y="2653"/>
                  </a:lnTo>
                  <a:lnTo>
                    <a:pt x="1201" y="2640"/>
                  </a:lnTo>
                  <a:lnTo>
                    <a:pt x="1151" y="2629"/>
                  </a:lnTo>
                  <a:lnTo>
                    <a:pt x="1051" y="2598"/>
                  </a:lnTo>
                  <a:lnTo>
                    <a:pt x="952" y="2558"/>
                  </a:lnTo>
                  <a:lnTo>
                    <a:pt x="855" y="2508"/>
                  </a:lnTo>
                  <a:lnTo>
                    <a:pt x="762" y="2451"/>
                  </a:lnTo>
                  <a:lnTo>
                    <a:pt x="674" y="2387"/>
                  </a:lnTo>
                  <a:lnTo>
                    <a:pt x="593" y="2317"/>
                  </a:lnTo>
                  <a:lnTo>
                    <a:pt x="520" y="2242"/>
                  </a:lnTo>
                  <a:lnTo>
                    <a:pt x="487" y="2203"/>
                  </a:lnTo>
                  <a:lnTo>
                    <a:pt x="462" y="2170"/>
                  </a:lnTo>
                  <a:lnTo>
                    <a:pt x="413" y="2095"/>
                  </a:lnTo>
                  <a:lnTo>
                    <a:pt x="367" y="2013"/>
                  </a:lnTo>
                  <a:lnTo>
                    <a:pt x="326" y="1925"/>
                  </a:lnTo>
                  <a:lnTo>
                    <a:pt x="291" y="1837"/>
                  </a:lnTo>
                  <a:lnTo>
                    <a:pt x="262" y="1750"/>
                  </a:lnTo>
                  <a:lnTo>
                    <a:pt x="242" y="1668"/>
                  </a:lnTo>
                  <a:lnTo>
                    <a:pt x="232" y="1594"/>
                  </a:lnTo>
                  <a:lnTo>
                    <a:pt x="231" y="1562"/>
                  </a:lnTo>
                  <a:lnTo>
                    <a:pt x="231" y="1543"/>
                  </a:lnTo>
                  <a:lnTo>
                    <a:pt x="234" y="1518"/>
                  </a:lnTo>
                  <a:lnTo>
                    <a:pt x="242" y="1505"/>
                  </a:lnTo>
                  <a:lnTo>
                    <a:pt x="258" y="1500"/>
                  </a:lnTo>
                  <a:lnTo>
                    <a:pt x="271" y="1500"/>
                  </a:lnTo>
                  <a:lnTo>
                    <a:pt x="283" y="1500"/>
                  </a:lnTo>
                  <a:lnTo>
                    <a:pt x="301" y="1507"/>
                  </a:lnTo>
                  <a:lnTo>
                    <a:pt x="311" y="1525"/>
                  </a:lnTo>
                  <a:lnTo>
                    <a:pt x="319" y="1560"/>
                  </a:lnTo>
                  <a:lnTo>
                    <a:pt x="322" y="1587"/>
                  </a:lnTo>
                  <a:close/>
                  <a:moveTo>
                    <a:pt x="2659" y="1598"/>
                  </a:moveTo>
                  <a:lnTo>
                    <a:pt x="2652" y="1652"/>
                  </a:lnTo>
                  <a:lnTo>
                    <a:pt x="2623" y="1773"/>
                  </a:lnTo>
                  <a:lnTo>
                    <a:pt x="2581" y="1899"/>
                  </a:lnTo>
                  <a:lnTo>
                    <a:pt x="2530" y="2016"/>
                  </a:lnTo>
                  <a:lnTo>
                    <a:pt x="2502" y="2065"/>
                  </a:lnTo>
                  <a:lnTo>
                    <a:pt x="2466" y="2124"/>
                  </a:lnTo>
                  <a:lnTo>
                    <a:pt x="2381" y="2234"/>
                  </a:lnTo>
                  <a:lnTo>
                    <a:pt x="2284" y="2334"/>
                  </a:lnTo>
                  <a:lnTo>
                    <a:pt x="2175" y="2423"/>
                  </a:lnTo>
                  <a:lnTo>
                    <a:pt x="2056" y="2500"/>
                  </a:lnTo>
                  <a:lnTo>
                    <a:pt x="1930" y="2564"/>
                  </a:lnTo>
                  <a:lnTo>
                    <a:pt x="1798" y="2614"/>
                  </a:lnTo>
                  <a:lnTo>
                    <a:pt x="1662" y="2648"/>
                  </a:lnTo>
                  <a:lnTo>
                    <a:pt x="1592" y="2658"/>
                  </a:lnTo>
                  <a:lnTo>
                    <a:pt x="1560" y="2662"/>
                  </a:lnTo>
                  <a:lnTo>
                    <a:pt x="1520" y="2665"/>
                  </a:lnTo>
                  <a:lnTo>
                    <a:pt x="1502" y="2660"/>
                  </a:lnTo>
                  <a:lnTo>
                    <a:pt x="1497" y="2643"/>
                  </a:lnTo>
                  <a:lnTo>
                    <a:pt x="1497" y="2628"/>
                  </a:lnTo>
                  <a:lnTo>
                    <a:pt x="1498" y="2615"/>
                  </a:lnTo>
                  <a:lnTo>
                    <a:pt x="1503" y="2597"/>
                  </a:lnTo>
                  <a:lnTo>
                    <a:pt x="1516" y="2586"/>
                  </a:lnTo>
                  <a:lnTo>
                    <a:pt x="1542" y="2578"/>
                  </a:lnTo>
                  <a:lnTo>
                    <a:pt x="1561" y="2575"/>
                  </a:lnTo>
                  <a:lnTo>
                    <a:pt x="1615" y="2566"/>
                  </a:lnTo>
                  <a:lnTo>
                    <a:pt x="1717" y="2544"/>
                  </a:lnTo>
                  <a:lnTo>
                    <a:pt x="1811" y="2516"/>
                  </a:lnTo>
                  <a:lnTo>
                    <a:pt x="1898" y="2482"/>
                  </a:lnTo>
                  <a:lnTo>
                    <a:pt x="1980" y="2442"/>
                  </a:lnTo>
                  <a:lnTo>
                    <a:pt x="2058" y="2395"/>
                  </a:lnTo>
                  <a:lnTo>
                    <a:pt x="2132" y="2341"/>
                  </a:lnTo>
                  <a:lnTo>
                    <a:pt x="2205" y="2278"/>
                  </a:lnTo>
                  <a:lnTo>
                    <a:pt x="2241" y="2243"/>
                  </a:lnTo>
                  <a:lnTo>
                    <a:pt x="2276" y="2207"/>
                  </a:lnTo>
                  <a:lnTo>
                    <a:pt x="2340" y="2134"/>
                  </a:lnTo>
                  <a:lnTo>
                    <a:pt x="2396" y="2058"/>
                  </a:lnTo>
                  <a:lnTo>
                    <a:pt x="2444" y="1980"/>
                  </a:lnTo>
                  <a:lnTo>
                    <a:pt x="2485" y="1899"/>
                  </a:lnTo>
                  <a:lnTo>
                    <a:pt x="2519" y="1814"/>
                  </a:lnTo>
                  <a:lnTo>
                    <a:pt x="2545" y="1726"/>
                  </a:lnTo>
                  <a:lnTo>
                    <a:pt x="2565" y="1634"/>
                  </a:lnTo>
                  <a:lnTo>
                    <a:pt x="2572" y="1587"/>
                  </a:lnTo>
                  <a:lnTo>
                    <a:pt x="2576" y="1559"/>
                  </a:lnTo>
                  <a:lnTo>
                    <a:pt x="2583" y="1524"/>
                  </a:lnTo>
                  <a:lnTo>
                    <a:pt x="2594" y="1506"/>
                  </a:lnTo>
                  <a:lnTo>
                    <a:pt x="2612" y="1500"/>
                  </a:lnTo>
                  <a:lnTo>
                    <a:pt x="2626" y="1500"/>
                  </a:lnTo>
                  <a:lnTo>
                    <a:pt x="2640" y="1500"/>
                  </a:lnTo>
                  <a:lnTo>
                    <a:pt x="2658" y="1505"/>
                  </a:lnTo>
                  <a:lnTo>
                    <a:pt x="2664" y="1524"/>
                  </a:lnTo>
                  <a:lnTo>
                    <a:pt x="2662" y="1565"/>
                  </a:lnTo>
                  <a:lnTo>
                    <a:pt x="2659" y="15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374">
              <a:extLst>
                <a:ext uri="{FF2B5EF4-FFF2-40B4-BE49-F238E27FC236}">
                  <a16:creationId xmlns:a16="http://schemas.microsoft.com/office/drawing/2014/main" id="{A6701B90-C852-74EA-508C-2ACC11711632}"/>
                </a:ext>
              </a:extLst>
            </p:cNvPr>
            <p:cNvSpPr>
              <a:spLocks noEditPoints="1"/>
            </p:cNvSpPr>
            <p:nvPr/>
          </p:nvSpPr>
          <p:spPr bwMode="auto">
            <a:xfrm>
              <a:off x="2244727" y="3778251"/>
              <a:ext cx="511175" cy="528638"/>
            </a:xfrm>
            <a:custGeom>
              <a:avLst/>
              <a:gdLst>
                <a:gd name="T0" fmla="*/ 635 w 1350"/>
                <a:gd name="T1" fmla="*/ 31 h 1399"/>
                <a:gd name="T2" fmla="*/ 625 w 1350"/>
                <a:gd name="T3" fmla="*/ 235 h 1399"/>
                <a:gd name="T4" fmla="*/ 459 w 1350"/>
                <a:gd name="T5" fmla="*/ 284 h 1399"/>
                <a:gd name="T6" fmla="*/ 300 w 1350"/>
                <a:gd name="T7" fmla="*/ 414 h 1399"/>
                <a:gd name="T8" fmla="*/ 225 w 1350"/>
                <a:gd name="T9" fmla="*/ 562 h 1399"/>
                <a:gd name="T10" fmla="*/ 67 w 1350"/>
                <a:gd name="T11" fmla="*/ 660 h 1399"/>
                <a:gd name="T12" fmla="*/ 1 w 1350"/>
                <a:gd name="T13" fmla="*/ 694 h 1399"/>
                <a:gd name="T14" fmla="*/ 6 w 1350"/>
                <a:gd name="T15" fmla="*/ 738 h 1399"/>
                <a:gd name="T16" fmla="*/ 102 w 1350"/>
                <a:gd name="T17" fmla="*/ 754 h 1399"/>
                <a:gd name="T18" fmla="*/ 202 w 1350"/>
                <a:gd name="T19" fmla="*/ 771 h 1399"/>
                <a:gd name="T20" fmla="*/ 222 w 1350"/>
                <a:gd name="T21" fmla="*/ 841 h 1399"/>
                <a:gd name="T22" fmla="*/ 314 w 1350"/>
                <a:gd name="T23" fmla="*/ 1005 h 1399"/>
                <a:gd name="T24" fmla="*/ 466 w 1350"/>
                <a:gd name="T25" fmla="*/ 1127 h 1399"/>
                <a:gd name="T26" fmla="*/ 624 w 1350"/>
                <a:gd name="T27" fmla="*/ 1177 h 1399"/>
                <a:gd name="T28" fmla="*/ 635 w 1350"/>
                <a:gd name="T29" fmla="*/ 1371 h 1399"/>
                <a:gd name="T30" fmla="*/ 675 w 1350"/>
                <a:gd name="T31" fmla="*/ 1399 h 1399"/>
                <a:gd name="T32" fmla="*/ 716 w 1350"/>
                <a:gd name="T33" fmla="*/ 1371 h 1399"/>
                <a:gd name="T34" fmla="*/ 727 w 1350"/>
                <a:gd name="T35" fmla="*/ 1179 h 1399"/>
                <a:gd name="T36" fmla="*/ 898 w 1350"/>
                <a:gd name="T37" fmla="*/ 1116 h 1399"/>
                <a:gd name="T38" fmla="*/ 1039 w 1350"/>
                <a:gd name="T39" fmla="*/ 996 h 1399"/>
                <a:gd name="T40" fmla="*/ 1125 w 1350"/>
                <a:gd name="T41" fmla="*/ 840 h 1399"/>
                <a:gd name="T42" fmla="*/ 1147 w 1350"/>
                <a:gd name="T43" fmla="*/ 772 h 1399"/>
                <a:gd name="T44" fmla="*/ 1247 w 1350"/>
                <a:gd name="T45" fmla="*/ 754 h 1399"/>
                <a:gd name="T46" fmla="*/ 1344 w 1350"/>
                <a:gd name="T47" fmla="*/ 738 h 1399"/>
                <a:gd name="T48" fmla="*/ 1350 w 1350"/>
                <a:gd name="T49" fmla="*/ 693 h 1399"/>
                <a:gd name="T50" fmla="*/ 1282 w 1350"/>
                <a:gd name="T51" fmla="*/ 662 h 1399"/>
                <a:gd name="T52" fmla="*/ 1130 w 1350"/>
                <a:gd name="T53" fmla="*/ 585 h 1399"/>
                <a:gd name="T54" fmla="*/ 1066 w 1350"/>
                <a:gd name="T55" fmla="*/ 447 h 1399"/>
                <a:gd name="T56" fmla="*/ 937 w 1350"/>
                <a:gd name="T57" fmla="*/ 315 h 1399"/>
                <a:gd name="T58" fmla="*/ 800 w 1350"/>
                <a:gd name="T59" fmla="*/ 249 h 1399"/>
                <a:gd name="T60" fmla="*/ 726 w 1350"/>
                <a:gd name="T61" fmla="*/ 89 h 1399"/>
                <a:gd name="T62" fmla="*/ 692 w 1350"/>
                <a:gd name="T63" fmla="*/ 2 h 1399"/>
                <a:gd name="T64" fmla="*/ 654 w 1350"/>
                <a:gd name="T65" fmla="*/ 9 h 1399"/>
                <a:gd name="T66" fmla="*/ 477 w 1350"/>
                <a:gd name="T67" fmla="*/ 654 h 1399"/>
                <a:gd name="T68" fmla="*/ 327 w 1350"/>
                <a:gd name="T69" fmla="*/ 647 h 1399"/>
                <a:gd name="T70" fmla="*/ 314 w 1350"/>
                <a:gd name="T71" fmla="*/ 608 h 1399"/>
                <a:gd name="T72" fmla="*/ 376 w 1350"/>
                <a:gd name="T73" fmla="*/ 494 h 1399"/>
                <a:gd name="T74" fmla="*/ 493 w 1350"/>
                <a:gd name="T75" fmla="*/ 387 h 1399"/>
                <a:gd name="T76" fmla="*/ 590 w 1350"/>
                <a:gd name="T77" fmla="*/ 342 h 1399"/>
                <a:gd name="T78" fmla="*/ 622 w 1350"/>
                <a:gd name="T79" fmla="*/ 377 h 1399"/>
                <a:gd name="T80" fmla="*/ 879 w 1350"/>
                <a:gd name="T81" fmla="*/ 400 h 1399"/>
                <a:gd name="T82" fmla="*/ 998 w 1350"/>
                <a:gd name="T83" fmla="*/ 527 h 1399"/>
                <a:gd name="T84" fmla="*/ 1034 w 1350"/>
                <a:gd name="T85" fmla="*/ 649 h 1399"/>
                <a:gd name="T86" fmla="*/ 729 w 1350"/>
                <a:gd name="T87" fmla="*/ 492 h 1399"/>
                <a:gd name="T88" fmla="*/ 792 w 1350"/>
                <a:gd name="T89" fmla="*/ 354 h 1399"/>
                <a:gd name="T90" fmla="*/ 625 w 1350"/>
                <a:gd name="T91" fmla="*/ 905 h 1399"/>
                <a:gd name="T92" fmla="*/ 613 w 1350"/>
                <a:gd name="T93" fmla="*/ 1060 h 1399"/>
                <a:gd name="T94" fmla="*/ 543 w 1350"/>
                <a:gd name="T95" fmla="*/ 1045 h 1399"/>
                <a:gd name="T96" fmla="*/ 410 w 1350"/>
                <a:gd name="T97" fmla="*/ 957 h 1399"/>
                <a:gd name="T98" fmla="*/ 315 w 1350"/>
                <a:gd name="T99" fmla="*/ 802 h 1399"/>
                <a:gd name="T100" fmla="*/ 625 w 1350"/>
                <a:gd name="T101" fmla="*/ 757 h 1399"/>
                <a:gd name="T102" fmla="*/ 1039 w 1350"/>
                <a:gd name="T103" fmla="*/ 792 h 1399"/>
                <a:gd name="T104" fmla="*/ 973 w 1350"/>
                <a:gd name="T105" fmla="*/ 915 h 1399"/>
                <a:gd name="T106" fmla="*/ 869 w 1350"/>
                <a:gd name="T107" fmla="*/ 1014 h 1399"/>
                <a:gd name="T108" fmla="*/ 751 w 1350"/>
                <a:gd name="T109" fmla="*/ 1065 h 1399"/>
                <a:gd name="T110" fmla="*/ 732 w 1350"/>
                <a:gd name="T111" fmla="*/ 1034 h 1399"/>
                <a:gd name="T112" fmla="*/ 725 w 1350"/>
                <a:gd name="T113" fmla="*/ 757 h 1399"/>
                <a:gd name="T114" fmla="*/ 1024 w 1350"/>
                <a:gd name="T115" fmla="*/ 764 h 1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50" h="1399">
                  <a:moveTo>
                    <a:pt x="654" y="9"/>
                  </a:moveTo>
                  <a:lnTo>
                    <a:pt x="646" y="14"/>
                  </a:lnTo>
                  <a:lnTo>
                    <a:pt x="635" y="31"/>
                  </a:lnTo>
                  <a:lnTo>
                    <a:pt x="626" y="76"/>
                  </a:lnTo>
                  <a:lnTo>
                    <a:pt x="625" y="130"/>
                  </a:lnTo>
                  <a:lnTo>
                    <a:pt x="625" y="235"/>
                  </a:lnTo>
                  <a:lnTo>
                    <a:pt x="562" y="245"/>
                  </a:lnTo>
                  <a:lnTo>
                    <a:pt x="530" y="252"/>
                  </a:lnTo>
                  <a:lnTo>
                    <a:pt x="459" y="284"/>
                  </a:lnTo>
                  <a:lnTo>
                    <a:pt x="387" y="330"/>
                  </a:lnTo>
                  <a:lnTo>
                    <a:pt x="324" y="385"/>
                  </a:lnTo>
                  <a:lnTo>
                    <a:pt x="300" y="414"/>
                  </a:lnTo>
                  <a:lnTo>
                    <a:pt x="280" y="444"/>
                  </a:lnTo>
                  <a:lnTo>
                    <a:pt x="239" y="524"/>
                  </a:lnTo>
                  <a:lnTo>
                    <a:pt x="225" y="562"/>
                  </a:lnTo>
                  <a:lnTo>
                    <a:pt x="197" y="649"/>
                  </a:lnTo>
                  <a:lnTo>
                    <a:pt x="99" y="657"/>
                  </a:lnTo>
                  <a:lnTo>
                    <a:pt x="67" y="660"/>
                  </a:lnTo>
                  <a:lnTo>
                    <a:pt x="26" y="666"/>
                  </a:lnTo>
                  <a:lnTo>
                    <a:pt x="7" y="676"/>
                  </a:lnTo>
                  <a:lnTo>
                    <a:pt x="1" y="694"/>
                  </a:lnTo>
                  <a:lnTo>
                    <a:pt x="0" y="707"/>
                  </a:lnTo>
                  <a:lnTo>
                    <a:pt x="0" y="721"/>
                  </a:lnTo>
                  <a:lnTo>
                    <a:pt x="6" y="738"/>
                  </a:lnTo>
                  <a:lnTo>
                    <a:pt x="26" y="747"/>
                  </a:lnTo>
                  <a:lnTo>
                    <a:pt x="69" y="752"/>
                  </a:lnTo>
                  <a:lnTo>
                    <a:pt x="102" y="754"/>
                  </a:lnTo>
                  <a:lnTo>
                    <a:pt x="137" y="755"/>
                  </a:lnTo>
                  <a:lnTo>
                    <a:pt x="181" y="760"/>
                  </a:lnTo>
                  <a:lnTo>
                    <a:pt x="202" y="771"/>
                  </a:lnTo>
                  <a:lnTo>
                    <a:pt x="212" y="794"/>
                  </a:lnTo>
                  <a:lnTo>
                    <a:pt x="215" y="812"/>
                  </a:lnTo>
                  <a:lnTo>
                    <a:pt x="222" y="841"/>
                  </a:lnTo>
                  <a:lnTo>
                    <a:pt x="244" y="898"/>
                  </a:lnTo>
                  <a:lnTo>
                    <a:pt x="275" y="953"/>
                  </a:lnTo>
                  <a:lnTo>
                    <a:pt x="314" y="1005"/>
                  </a:lnTo>
                  <a:lnTo>
                    <a:pt x="360" y="1052"/>
                  </a:lnTo>
                  <a:lnTo>
                    <a:pt x="411" y="1093"/>
                  </a:lnTo>
                  <a:lnTo>
                    <a:pt x="466" y="1127"/>
                  </a:lnTo>
                  <a:lnTo>
                    <a:pt x="524" y="1152"/>
                  </a:lnTo>
                  <a:lnTo>
                    <a:pt x="554" y="1160"/>
                  </a:lnTo>
                  <a:lnTo>
                    <a:pt x="624" y="1177"/>
                  </a:lnTo>
                  <a:lnTo>
                    <a:pt x="629" y="1289"/>
                  </a:lnTo>
                  <a:lnTo>
                    <a:pt x="630" y="1325"/>
                  </a:lnTo>
                  <a:lnTo>
                    <a:pt x="635" y="1371"/>
                  </a:lnTo>
                  <a:lnTo>
                    <a:pt x="644" y="1392"/>
                  </a:lnTo>
                  <a:lnTo>
                    <a:pt x="662" y="1399"/>
                  </a:lnTo>
                  <a:lnTo>
                    <a:pt x="675" y="1399"/>
                  </a:lnTo>
                  <a:lnTo>
                    <a:pt x="689" y="1399"/>
                  </a:lnTo>
                  <a:lnTo>
                    <a:pt x="707" y="1392"/>
                  </a:lnTo>
                  <a:lnTo>
                    <a:pt x="716" y="1371"/>
                  </a:lnTo>
                  <a:lnTo>
                    <a:pt x="720" y="1325"/>
                  </a:lnTo>
                  <a:lnTo>
                    <a:pt x="722" y="1289"/>
                  </a:lnTo>
                  <a:lnTo>
                    <a:pt x="727" y="1179"/>
                  </a:lnTo>
                  <a:lnTo>
                    <a:pt x="815" y="1152"/>
                  </a:lnTo>
                  <a:lnTo>
                    <a:pt x="844" y="1142"/>
                  </a:lnTo>
                  <a:lnTo>
                    <a:pt x="898" y="1116"/>
                  </a:lnTo>
                  <a:lnTo>
                    <a:pt x="950" y="1082"/>
                  </a:lnTo>
                  <a:lnTo>
                    <a:pt x="997" y="1042"/>
                  </a:lnTo>
                  <a:lnTo>
                    <a:pt x="1039" y="996"/>
                  </a:lnTo>
                  <a:lnTo>
                    <a:pt x="1075" y="947"/>
                  </a:lnTo>
                  <a:lnTo>
                    <a:pt x="1104" y="894"/>
                  </a:lnTo>
                  <a:lnTo>
                    <a:pt x="1125" y="840"/>
                  </a:lnTo>
                  <a:lnTo>
                    <a:pt x="1132" y="812"/>
                  </a:lnTo>
                  <a:lnTo>
                    <a:pt x="1136" y="794"/>
                  </a:lnTo>
                  <a:lnTo>
                    <a:pt x="1147" y="772"/>
                  </a:lnTo>
                  <a:lnTo>
                    <a:pt x="1169" y="760"/>
                  </a:lnTo>
                  <a:lnTo>
                    <a:pt x="1213" y="755"/>
                  </a:lnTo>
                  <a:lnTo>
                    <a:pt x="1247" y="754"/>
                  </a:lnTo>
                  <a:lnTo>
                    <a:pt x="1281" y="752"/>
                  </a:lnTo>
                  <a:lnTo>
                    <a:pt x="1324" y="747"/>
                  </a:lnTo>
                  <a:lnTo>
                    <a:pt x="1344" y="738"/>
                  </a:lnTo>
                  <a:lnTo>
                    <a:pt x="1350" y="721"/>
                  </a:lnTo>
                  <a:lnTo>
                    <a:pt x="1350" y="707"/>
                  </a:lnTo>
                  <a:lnTo>
                    <a:pt x="1350" y="693"/>
                  </a:lnTo>
                  <a:lnTo>
                    <a:pt x="1344" y="676"/>
                  </a:lnTo>
                  <a:lnTo>
                    <a:pt x="1324" y="667"/>
                  </a:lnTo>
                  <a:lnTo>
                    <a:pt x="1282" y="662"/>
                  </a:lnTo>
                  <a:lnTo>
                    <a:pt x="1249" y="660"/>
                  </a:lnTo>
                  <a:lnTo>
                    <a:pt x="1149" y="655"/>
                  </a:lnTo>
                  <a:lnTo>
                    <a:pt x="1130" y="585"/>
                  </a:lnTo>
                  <a:lnTo>
                    <a:pt x="1122" y="556"/>
                  </a:lnTo>
                  <a:lnTo>
                    <a:pt x="1098" y="500"/>
                  </a:lnTo>
                  <a:lnTo>
                    <a:pt x="1066" y="447"/>
                  </a:lnTo>
                  <a:lnTo>
                    <a:pt x="1029" y="398"/>
                  </a:lnTo>
                  <a:lnTo>
                    <a:pt x="985" y="354"/>
                  </a:lnTo>
                  <a:lnTo>
                    <a:pt x="937" y="315"/>
                  </a:lnTo>
                  <a:lnTo>
                    <a:pt x="884" y="283"/>
                  </a:lnTo>
                  <a:lnTo>
                    <a:pt x="829" y="258"/>
                  </a:lnTo>
                  <a:lnTo>
                    <a:pt x="800" y="249"/>
                  </a:lnTo>
                  <a:lnTo>
                    <a:pt x="734" y="229"/>
                  </a:lnTo>
                  <a:lnTo>
                    <a:pt x="729" y="127"/>
                  </a:lnTo>
                  <a:lnTo>
                    <a:pt x="726" y="89"/>
                  </a:lnTo>
                  <a:lnTo>
                    <a:pt x="716" y="34"/>
                  </a:lnTo>
                  <a:lnTo>
                    <a:pt x="703" y="10"/>
                  </a:lnTo>
                  <a:lnTo>
                    <a:pt x="692" y="2"/>
                  </a:lnTo>
                  <a:lnTo>
                    <a:pt x="678" y="0"/>
                  </a:lnTo>
                  <a:lnTo>
                    <a:pt x="663" y="4"/>
                  </a:lnTo>
                  <a:lnTo>
                    <a:pt x="654" y="9"/>
                  </a:lnTo>
                  <a:close/>
                  <a:moveTo>
                    <a:pt x="622" y="494"/>
                  </a:moveTo>
                  <a:lnTo>
                    <a:pt x="617" y="649"/>
                  </a:lnTo>
                  <a:lnTo>
                    <a:pt x="477" y="654"/>
                  </a:lnTo>
                  <a:lnTo>
                    <a:pt x="420" y="655"/>
                  </a:lnTo>
                  <a:lnTo>
                    <a:pt x="354" y="651"/>
                  </a:lnTo>
                  <a:lnTo>
                    <a:pt x="327" y="647"/>
                  </a:lnTo>
                  <a:lnTo>
                    <a:pt x="322" y="644"/>
                  </a:lnTo>
                  <a:lnTo>
                    <a:pt x="315" y="635"/>
                  </a:lnTo>
                  <a:lnTo>
                    <a:pt x="314" y="608"/>
                  </a:lnTo>
                  <a:lnTo>
                    <a:pt x="325" y="574"/>
                  </a:lnTo>
                  <a:lnTo>
                    <a:pt x="347" y="535"/>
                  </a:lnTo>
                  <a:lnTo>
                    <a:pt x="376" y="494"/>
                  </a:lnTo>
                  <a:lnTo>
                    <a:pt x="412" y="453"/>
                  </a:lnTo>
                  <a:lnTo>
                    <a:pt x="451" y="417"/>
                  </a:lnTo>
                  <a:lnTo>
                    <a:pt x="493" y="387"/>
                  </a:lnTo>
                  <a:lnTo>
                    <a:pt x="514" y="375"/>
                  </a:lnTo>
                  <a:lnTo>
                    <a:pt x="552" y="356"/>
                  </a:lnTo>
                  <a:lnTo>
                    <a:pt x="590" y="342"/>
                  </a:lnTo>
                  <a:lnTo>
                    <a:pt x="606" y="344"/>
                  </a:lnTo>
                  <a:lnTo>
                    <a:pt x="616" y="355"/>
                  </a:lnTo>
                  <a:lnTo>
                    <a:pt x="622" y="377"/>
                  </a:lnTo>
                  <a:lnTo>
                    <a:pt x="624" y="434"/>
                  </a:lnTo>
                  <a:lnTo>
                    <a:pt x="622" y="494"/>
                  </a:lnTo>
                  <a:close/>
                  <a:moveTo>
                    <a:pt x="879" y="400"/>
                  </a:moveTo>
                  <a:lnTo>
                    <a:pt x="906" y="419"/>
                  </a:lnTo>
                  <a:lnTo>
                    <a:pt x="956" y="470"/>
                  </a:lnTo>
                  <a:lnTo>
                    <a:pt x="998" y="527"/>
                  </a:lnTo>
                  <a:lnTo>
                    <a:pt x="1024" y="583"/>
                  </a:lnTo>
                  <a:lnTo>
                    <a:pt x="1029" y="607"/>
                  </a:lnTo>
                  <a:lnTo>
                    <a:pt x="1034" y="649"/>
                  </a:lnTo>
                  <a:lnTo>
                    <a:pt x="884" y="649"/>
                  </a:lnTo>
                  <a:lnTo>
                    <a:pt x="734" y="649"/>
                  </a:lnTo>
                  <a:lnTo>
                    <a:pt x="729" y="492"/>
                  </a:lnTo>
                  <a:lnTo>
                    <a:pt x="724" y="337"/>
                  </a:lnTo>
                  <a:lnTo>
                    <a:pt x="770" y="347"/>
                  </a:lnTo>
                  <a:lnTo>
                    <a:pt x="792" y="354"/>
                  </a:lnTo>
                  <a:lnTo>
                    <a:pt x="852" y="383"/>
                  </a:lnTo>
                  <a:lnTo>
                    <a:pt x="879" y="400"/>
                  </a:lnTo>
                  <a:close/>
                  <a:moveTo>
                    <a:pt x="625" y="905"/>
                  </a:moveTo>
                  <a:lnTo>
                    <a:pt x="625" y="966"/>
                  </a:lnTo>
                  <a:lnTo>
                    <a:pt x="619" y="1034"/>
                  </a:lnTo>
                  <a:lnTo>
                    <a:pt x="613" y="1060"/>
                  </a:lnTo>
                  <a:lnTo>
                    <a:pt x="610" y="1064"/>
                  </a:lnTo>
                  <a:lnTo>
                    <a:pt x="599" y="1065"/>
                  </a:lnTo>
                  <a:lnTo>
                    <a:pt x="543" y="1045"/>
                  </a:lnTo>
                  <a:lnTo>
                    <a:pt x="507" y="1027"/>
                  </a:lnTo>
                  <a:lnTo>
                    <a:pt x="472" y="1008"/>
                  </a:lnTo>
                  <a:lnTo>
                    <a:pt x="410" y="957"/>
                  </a:lnTo>
                  <a:lnTo>
                    <a:pt x="360" y="898"/>
                  </a:lnTo>
                  <a:lnTo>
                    <a:pt x="325" y="834"/>
                  </a:lnTo>
                  <a:lnTo>
                    <a:pt x="315" y="802"/>
                  </a:lnTo>
                  <a:lnTo>
                    <a:pt x="305" y="757"/>
                  </a:lnTo>
                  <a:lnTo>
                    <a:pt x="465" y="757"/>
                  </a:lnTo>
                  <a:lnTo>
                    <a:pt x="625" y="757"/>
                  </a:lnTo>
                  <a:lnTo>
                    <a:pt x="625" y="905"/>
                  </a:lnTo>
                  <a:close/>
                  <a:moveTo>
                    <a:pt x="1042" y="779"/>
                  </a:moveTo>
                  <a:lnTo>
                    <a:pt x="1039" y="792"/>
                  </a:lnTo>
                  <a:lnTo>
                    <a:pt x="1010" y="853"/>
                  </a:lnTo>
                  <a:lnTo>
                    <a:pt x="989" y="890"/>
                  </a:lnTo>
                  <a:lnTo>
                    <a:pt x="973" y="915"/>
                  </a:lnTo>
                  <a:lnTo>
                    <a:pt x="942" y="955"/>
                  </a:lnTo>
                  <a:lnTo>
                    <a:pt x="909" y="987"/>
                  </a:lnTo>
                  <a:lnTo>
                    <a:pt x="869" y="1014"/>
                  </a:lnTo>
                  <a:lnTo>
                    <a:pt x="844" y="1027"/>
                  </a:lnTo>
                  <a:lnTo>
                    <a:pt x="808" y="1045"/>
                  </a:lnTo>
                  <a:lnTo>
                    <a:pt x="751" y="1065"/>
                  </a:lnTo>
                  <a:lnTo>
                    <a:pt x="740" y="1064"/>
                  </a:lnTo>
                  <a:lnTo>
                    <a:pt x="737" y="1060"/>
                  </a:lnTo>
                  <a:lnTo>
                    <a:pt x="732" y="1034"/>
                  </a:lnTo>
                  <a:lnTo>
                    <a:pt x="726" y="966"/>
                  </a:lnTo>
                  <a:lnTo>
                    <a:pt x="725" y="905"/>
                  </a:lnTo>
                  <a:lnTo>
                    <a:pt x="725" y="757"/>
                  </a:lnTo>
                  <a:lnTo>
                    <a:pt x="884" y="757"/>
                  </a:lnTo>
                  <a:lnTo>
                    <a:pt x="963" y="758"/>
                  </a:lnTo>
                  <a:lnTo>
                    <a:pt x="1024" y="764"/>
                  </a:lnTo>
                  <a:lnTo>
                    <a:pt x="1041" y="773"/>
                  </a:lnTo>
                  <a:lnTo>
                    <a:pt x="1042" y="7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04" name="Group 103">
            <a:extLst>
              <a:ext uri="{FF2B5EF4-FFF2-40B4-BE49-F238E27FC236}">
                <a16:creationId xmlns:a16="http://schemas.microsoft.com/office/drawing/2014/main" id="{A55FA13B-DBB2-3787-0A4E-FD8723C344B1}"/>
              </a:ext>
            </a:extLst>
          </p:cNvPr>
          <p:cNvGrpSpPr>
            <a:grpSpLocks noChangeAspect="1"/>
          </p:cNvGrpSpPr>
          <p:nvPr/>
        </p:nvGrpSpPr>
        <p:grpSpPr>
          <a:xfrm>
            <a:off x="5089742" y="4676797"/>
            <a:ext cx="147314" cy="246888"/>
            <a:chOff x="1508125" y="1925638"/>
            <a:chExt cx="171450" cy="287338"/>
          </a:xfrm>
          <a:solidFill>
            <a:schemeClr val="accent1"/>
          </a:solidFill>
        </p:grpSpPr>
        <p:sp>
          <p:nvSpPr>
            <p:cNvPr id="105" name="Freeform 85">
              <a:extLst>
                <a:ext uri="{FF2B5EF4-FFF2-40B4-BE49-F238E27FC236}">
                  <a16:creationId xmlns:a16="http://schemas.microsoft.com/office/drawing/2014/main" id="{C32713BB-859D-9844-88F9-EFB90D30502B}"/>
                </a:ext>
              </a:extLst>
            </p:cNvPr>
            <p:cNvSpPr>
              <a:spLocks noEditPoints="1"/>
            </p:cNvSpPr>
            <p:nvPr/>
          </p:nvSpPr>
          <p:spPr bwMode="auto">
            <a:xfrm>
              <a:off x="1508125" y="1965325"/>
              <a:ext cx="66675" cy="247650"/>
            </a:xfrm>
            <a:custGeom>
              <a:avLst/>
              <a:gdLst>
                <a:gd name="T0" fmla="*/ 104 w 211"/>
                <a:gd name="T1" fmla="*/ 752 h 783"/>
                <a:gd name="T2" fmla="*/ 90 w 211"/>
                <a:gd name="T3" fmla="*/ 749 h 783"/>
                <a:gd name="T4" fmla="*/ 69 w 211"/>
                <a:gd name="T5" fmla="*/ 742 h 783"/>
                <a:gd name="T6" fmla="*/ 52 w 211"/>
                <a:gd name="T7" fmla="*/ 730 h 783"/>
                <a:gd name="T8" fmla="*/ 42 w 211"/>
                <a:gd name="T9" fmla="*/ 720 h 783"/>
                <a:gd name="T10" fmla="*/ 35 w 211"/>
                <a:gd name="T11" fmla="*/ 709 h 783"/>
                <a:gd name="T12" fmla="*/ 32 w 211"/>
                <a:gd name="T13" fmla="*/ 698 h 783"/>
                <a:gd name="T14" fmla="*/ 30 w 211"/>
                <a:gd name="T15" fmla="*/ 662 h 783"/>
                <a:gd name="T16" fmla="*/ 181 w 211"/>
                <a:gd name="T17" fmla="*/ 692 h 783"/>
                <a:gd name="T18" fmla="*/ 180 w 211"/>
                <a:gd name="T19" fmla="*/ 704 h 783"/>
                <a:gd name="T20" fmla="*/ 175 w 211"/>
                <a:gd name="T21" fmla="*/ 716 h 783"/>
                <a:gd name="T22" fmla="*/ 167 w 211"/>
                <a:gd name="T23" fmla="*/ 726 h 783"/>
                <a:gd name="T24" fmla="*/ 158 w 211"/>
                <a:gd name="T25" fmla="*/ 735 h 783"/>
                <a:gd name="T26" fmla="*/ 135 w 211"/>
                <a:gd name="T27" fmla="*/ 748 h 783"/>
                <a:gd name="T28" fmla="*/ 123 w 211"/>
                <a:gd name="T29" fmla="*/ 751 h 783"/>
                <a:gd name="T30" fmla="*/ 110 w 211"/>
                <a:gd name="T31" fmla="*/ 752 h 783"/>
                <a:gd name="T32" fmla="*/ 172 w 211"/>
                <a:gd name="T33" fmla="*/ 179 h 783"/>
                <a:gd name="T34" fmla="*/ 106 w 211"/>
                <a:gd name="T35" fmla="*/ 47 h 783"/>
                <a:gd name="T36" fmla="*/ 181 w 211"/>
                <a:gd name="T37" fmla="*/ 602 h 783"/>
                <a:gd name="T38" fmla="*/ 30 w 211"/>
                <a:gd name="T39" fmla="*/ 632 h 783"/>
                <a:gd name="T40" fmla="*/ 181 w 211"/>
                <a:gd name="T41" fmla="*/ 209 h 783"/>
                <a:gd name="T42" fmla="*/ 121 w 211"/>
                <a:gd name="T43" fmla="*/ 572 h 783"/>
                <a:gd name="T44" fmla="*/ 181 w 211"/>
                <a:gd name="T45" fmla="*/ 209 h 783"/>
                <a:gd name="T46" fmla="*/ 91 w 211"/>
                <a:gd name="T47" fmla="*/ 572 h 783"/>
                <a:gd name="T48" fmla="*/ 30 w 211"/>
                <a:gd name="T49" fmla="*/ 209 h 783"/>
                <a:gd name="T50" fmla="*/ 210 w 211"/>
                <a:gd name="T51" fmla="*/ 188 h 783"/>
                <a:gd name="T52" fmla="*/ 118 w 211"/>
                <a:gd name="T53" fmla="*/ 4 h 783"/>
                <a:gd name="T54" fmla="*/ 110 w 211"/>
                <a:gd name="T55" fmla="*/ 0 h 783"/>
                <a:gd name="T56" fmla="*/ 103 w 211"/>
                <a:gd name="T57" fmla="*/ 0 h 783"/>
                <a:gd name="T58" fmla="*/ 95 w 211"/>
                <a:gd name="T59" fmla="*/ 4 h 783"/>
                <a:gd name="T60" fmla="*/ 3 w 211"/>
                <a:gd name="T61" fmla="*/ 188 h 783"/>
                <a:gd name="T62" fmla="*/ 3 w 211"/>
                <a:gd name="T63" fmla="*/ 188 h 783"/>
                <a:gd name="T64" fmla="*/ 0 w 211"/>
                <a:gd name="T65" fmla="*/ 194 h 783"/>
                <a:gd name="T66" fmla="*/ 1 w 211"/>
                <a:gd name="T67" fmla="*/ 702 h 783"/>
                <a:gd name="T68" fmla="*/ 7 w 211"/>
                <a:gd name="T69" fmla="*/ 719 h 783"/>
                <a:gd name="T70" fmla="*/ 15 w 211"/>
                <a:gd name="T71" fmla="*/ 735 h 783"/>
                <a:gd name="T72" fmla="*/ 28 w 211"/>
                <a:gd name="T73" fmla="*/ 750 h 783"/>
                <a:gd name="T74" fmla="*/ 44 w 211"/>
                <a:gd name="T75" fmla="*/ 762 h 783"/>
                <a:gd name="T76" fmla="*/ 62 w 211"/>
                <a:gd name="T77" fmla="*/ 772 h 783"/>
                <a:gd name="T78" fmla="*/ 81 w 211"/>
                <a:gd name="T79" fmla="*/ 778 h 783"/>
                <a:gd name="T80" fmla="*/ 100 w 211"/>
                <a:gd name="T81" fmla="*/ 783 h 783"/>
                <a:gd name="T82" fmla="*/ 119 w 211"/>
                <a:gd name="T83" fmla="*/ 783 h 783"/>
                <a:gd name="T84" fmla="*/ 137 w 211"/>
                <a:gd name="T85" fmla="*/ 778 h 783"/>
                <a:gd name="T86" fmla="*/ 155 w 211"/>
                <a:gd name="T87" fmla="*/ 772 h 783"/>
                <a:gd name="T88" fmla="*/ 171 w 211"/>
                <a:gd name="T89" fmla="*/ 762 h 783"/>
                <a:gd name="T90" fmla="*/ 185 w 211"/>
                <a:gd name="T91" fmla="*/ 750 h 783"/>
                <a:gd name="T92" fmla="*/ 197 w 211"/>
                <a:gd name="T93" fmla="*/ 736 h 783"/>
                <a:gd name="T94" fmla="*/ 207 w 211"/>
                <a:gd name="T95" fmla="*/ 720 h 783"/>
                <a:gd name="T96" fmla="*/ 211 w 211"/>
                <a:gd name="T97" fmla="*/ 702 h 783"/>
                <a:gd name="T98" fmla="*/ 211 w 211"/>
                <a:gd name="T99" fmla="*/ 194 h 783"/>
                <a:gd name="T100" fmla="*/ 210 w 211"/>
                <a:gd name="T101" fmla="*/ 188 h 783"/>
                <a:gd name="T102" fmla="*/ 210 w 211"/>
                <a:gd name="T103" fmla="*/ 188 h 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1" h="783">
                  <a:moveTo>
                    <a:pt x="110" y="752"/>
                  </a:moveTo>
                  <a:lnTo>
                    <a:pt x="104" y="752"/>
                  </a:lnTo>
                  <a:lnTo>
                    <a:pt x="96" y="751"/>
                  </a:lnTo>
                  <a:lnTo>
                    <a:pt x="90" y="749"/>
                  </a:lnTo>
                  <a:lnTo>
                    <a:pt x="83" y="747"/>
                  </a:lnTo>
                  <a:lnTo>
                    <a:pt x="69" y="742"/>
                  </a:lnTo>
                  <a:lnTo>
                    <a:pt x="57" y="734"/>
                  </a:lnTo>
                  <a:lnTo>
                    <a:pt x="52" y="730"/>
                  </a:lnTo>
                  <a:lnTo>
                    <a:pt x="47" y="726"/>
                  </a:lnTo>
                  <a:lnTo>
                    <a:pt x="42" y="720"/>
                  </a:lnTo>
                  <a:lnTo>
                    <a:pt x="38" y="715"/>
                  </a:lnTo>
                  <a:lnTo>
                    <a:pt x="35" y="709"/>
                  </a:lnTo>
                  <a:lnTo>
                    <a:pt x="33" y="704"/>
                  </a:lnTo>
                  <a:lnTo>
                    <a:pt x="32" y="698"/>
                  </a:lnTo>
                  <a:lnTo>
                    <a:pt x="30" y="692"/>
                  </a:lnTo>
                  <a:lnTo>
                    <a:pt x="30" y="662"/>
                  </a:lnTo>
                  <a:lnTo>
                    <a:pt x="181" y="662"/>
                  </a:lnTo>
                  <a:lnTo>
                    <a:pt x="181" y="692"/>
                  </a:lnTo>
                  <a:lnTo>
                    <a:pt x="181" y="699"/>
                  </a:lnTo>
                  <a:lnTo>
                    <a:pt x="180" y="704"/>
                  </a:lnTo>
                  <a:lnTo>
                    <a:pt x="178" y="711"/>
                  </a:lnTo>
                  <a:lnTo>
                    <a:pt x="175" y="716"/>
                  </a:lnTo>
                  <a:lnTo>
                    <a:pt x="171" y="721"/>
                  </a:lnTo>
                  <a:lnTo>
                    <a:pt x="167" y="726"/>
                  </a:lnTo>
                  <a:lnTo>
                    <a:pt x="163" y="731"/>
                  </a:lnTo>
                  <a:lnTo>
                    <a:pt x="158" y="735"/>
                  </a:lnTo>
                  <a:lnTo>
                    <a:pt x="147" y="743"/>
                  </a:lnTo>
                  <a:lnTo>
                    <a:pt x="135" y="748"/>
                  </a:lnTo>
                  <a:lnTo>
                    <a:pt x="128" y="750"/>
                  </a:lnTo>
                  <a:lnTo>
                    <a:pt x="123" y="751"/>
                  </a:lnTo>
                  <a:lnTo>
                    <a:pt x="117" y="752"/>
                  </a:lnTo>
                  <a:lnTo>
                    <a:pt x="110" y="752"/>
                  </a:lnTo>
                  <a:close/>
                  <a:moveTo>
                    <a:pt x="106" y="47"/>
                  </a:moveTo>
                  <a:lnTo>
                    <a:pt x="172" y="179"/>
                  </a:lnTo>
                  <a:lnTo>
                    <a:pt x="40" y="179"/>
                  </a:lnTo>
                  <a:lnTo>
                    <a:pt x="106" y="47"/>
                  </a:lnTo>
                  <a:close/>
                  <a:moveTo>
                    <a:pt x="30" y="602"/>
                  </a:moveTo>
                  <a:lnTo>
                    <a:pt x="181" y="602"/>
                  </a:lnTo>
                  <a:lnTo>
                    <a:pt x="181" y="632"/>
                  </a:lnTo>
                  <a:lnTo>
                    <a:pt x="30" y="632"/>
                  </a:lnTo>
                  <a:lnTo>
                    <a:pt x="30" y="602"/>
                  </a:lnTo>
                  <a:close/>
                  <a:moveTo>
                    <a:pt x="181" y="209"/>
                  </a:moveTo>
                  <a:lnTo>
                    <a:pt x="181" y="572"/>
                  </a:lnTo>
                  <a:lnTo>
                    <a:pt x="121" y="572"/>
                  </a:lnTo>
                  <a:lnTo>
                    <a:pt x="121" y="209"/>
                  </a:lnTo>
                  <a:lnTo>
                    <a:pt x="181" y="209"/>
                  </a:lnTo>
                  <a:close/>
                  <a:moveTo>
                    <a:pt x="91" y="209"/>
                  </a:moveTo>
                  <a:lnTo>
                    <a:pt x="91" y="572"/>
                  </a:lnTo>
                  <a:lnTo>
                    <a:pt x="30" y="572"/>
                  </a:lnTo>
                  <a:lnTo>
                    <a:pt x="30" y="209"/>
                  </a:lnTo>
                  <a:lnTo>
                    <a:pt x="91" y="209"/>
                  </a:lnTo>
                  <a:close/>
                  <a:moveTo>
                    <a:pt x="210" y="188"/>
                  </a:moveTo>
                  <a:lnTo>
                    <a:pt x="120" y="7"/>
                  </a:lnTo>
                  <a:lnTo>
                    <a:pt x="118" y="4"/>
                  </a:lnTo>
                  <a:lnTo>
                    <a:pt x="114" y="1"/>
                  </a:lnTo>
                  <a:lnTo>
                    <a:pt x="110" y="0"/>
                  </a:lnTo>
                  <a:lnTo>
                    <a:pt x="106" y="0"/>
                  </a:lnTo>
                  <a:lnTo>
                    <a:pt x="103" y="0"/>
                  </a:lnTo>
                  <a:lnTo>
                    <a:pt x="98" y="1"/>
                  </a:lnTo>
                  <a:lnTo>
                    <a:pt x="95" y="4"/>
                  </a:lnTo>
                  <a:lnTo>
                    <a:pt x="93" y="7"/>
                  </a:lnTo>
                  <a:lnTo>
                    <a:pt x="3" y="188"/>
                  </a:lnTo>
                  <a:lnTo>
                    <a:pt x="3" y="188"/>
                  </a:lnTo>
                  <a:lnTo>
                    <a:pt x="3" y="188"/>
                  </a:lnTo>
                  <a:lnTo>
                    <a:pt x="1" y="191"/>
                  </a:lnTo>
                  <a:lnTo>
                    <a:pt x="0" y="194"/>
                  </a:lnTo>
                  <a:lnTo>
                    <a:pt x="0" y="692"/>
                  </a:lnTo>
                  <a:lnTo>
                    <a:pt x="1" y="702"/>
                  </a:lnTo>
                  <a:lnTo>
                    <a:pt x="4" y="711"/>
                  </a:lnTo>
                  <a:lnTo>
                    <a:pt x="7" y="719"/>
                  </a:lnTo>
                  <a:lnTo>
                    <a:pt x="10" y="728"/>
                  </a:lnTo>
                  <a:lnTo>
                    <a:pt x="15" y="735"/>
                  </a:lnTo>
                  <a:lnTo>
                    <a:pt x="22" y="743"/>
                  </a:lnTo>
                  <a:lnTo>
                    <a:pt x="28" y="750"/>
                  </a:lnTo>
                  <a:lnTo>
                    <a:pt x="36" y="757"/>
                  </a:lnTo>
                  <a:lnTo>
                    <a:pt x="44" y="762"/>
                  </a:lnTo>
                  <a:lnTo>
                    <a:pt x="53" y="768"/>
                  </a:lnTo>
                  <a:lnTo>
                    <a:pt x="62" y="772"/>
                  </a:lnTo>
                  <a:lnTo>
                    <a:pt x="71" y="776"/>
                  </a:lnTo>
                  <a:lnTo>
                    <a:pt x="81" y="778"/>
                  </a:lnTo>
                  <a:lnTo>
                    <a:pt x="91" y="780"/>
                  </a:lnTo>
                  <a:lnTo>
                    <a:pt x="100" y="783"/>
                  </a:lnTo>
                  <a:lnTo>
                    <a:pt x="110" y="783"/>
                  </a:lnTo>
                  <a:lnTo>
                    <a:pt x="119" y="783"/>
                  </a:lnTo>
                  <a:lnTo>
                    <a:pt x="128" y="780"/>
                  </a:lnTo>
                  <a:lnTo>
                    <a:pt x="137" y="778"/>
                  </a:lnTo>
                  <a:lnTo>
                    <a:pt x="147" y="776"/>
                  </a:lnTo>
                  <a:lnTo>
                    <a:pt x="155" y="772"/>
                  </a:lnTo>
                  <a:lnTo>
                    <a:pt x="163" y="768"/>
                  </a:lnTo>
                  <a:lnTo>
                    <a:pt x="171" y="762"/>
                  </a:lnTo>
                  <a:lnTo>
                    <a:pt x="179" y="757"/>
                  </a:lnTo>
                  <a:lnTo>
                    <a:pt x="185" y="750"/>
                  </a:lnTo>
                  <a:lnTo>
                    <a:pt x="192" y="744"/>
                  </a:lnTo>
                  <a:lnTo>
                    <a:pt x="197" y="736"/>
                  </a:lnTo>
                  <a:lnTo>
                    <a:pt x="203" y="728"/>
                  </a:lnTo>
                  <a:lnTo>
                    <a:pt x="207" y="720"/>
                  </a:lnTo>
                  <a:lnTo>
                    <a:pt x="209" y="711"/>
                  </a:lnTo>
                  <a:lnTo>
                    <a:pt x="211" y="702"/>
                  </a:lnTo>
                  <a:lnTo>
                    <a:pt x="211" y="692"/>
                  </a:lnTo>
                  <a:lnTo>
                    <a:pt x="211" y="194"/>
                  </a:lnTo>
                  <a:lnTo>
                    <a:pt x="211" y="191"/>
                  </a:lnTo>
                  <a:lnTo>
                    <a:pt x="210" y="188"/>
                  </a:lnTo>
                  <a:lnTo>
                    <a:pt x="210" y="188"/>
                  </a:lnTo>
                  <a:lnTo>
                    <a:pt x="210" y="1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86">
              <a:extLst>
                <a:ext uri="{FF2B5EF4-FFF2-40B4-BE49-F238E27FC236}">
                  <a16:creationId xmlns:a16="http://schemas.microsoft.com/office/drawing/2014/main" id="{0357885C-4786-6721-542A-9114FAA1086C}"/>
                </a:ext>
              </a:extLst>
            </p:cNvPr>
            <p:cNvSpPr>
              <a:spLocks noEditPoints="1"/>
            </p:cNvSpPr>
            <p:nvPr/>
          </p:nvSpPr>
          <p:spPr bwMode="auto">
            <a:xfrm>
              <a:off x="1593850" y="1925638"/>
              <a:ext cx="85725" cy="287338"/>
            </a:xfrm>
            <a:custGeom>
              <a:avLst/>
              <a:gdLst>
                <a:gd name="T0" fmla="*/ 32 w 273"/>
                <a:gd name="T1" fmla="*/ 754 h 905"/>
                <a:gd name="T2" fmla="*/ 112 w 273"/>
                <a:gd name="T3" fmla="*/ 753 h 905"/>
                <a:gd name="T4" fmla="*/ 119 w 273"/>
                <a:gd name="T5" fmla="*/ 748 h 905"/>
                <a:gd name="T6" fmla="*/ 122 w 273"/>
                <a:gd name="T7" fmla="*/ 739 h 905"/>
                <a:gd name="T8" fmla="*/ 119 w 273"/>
                <a:gd name="T9" fmla="*/ 730 h 905"/>
                <a:gd name="T10" fmla="*/ 112 w 273"/>
                <a:gd name="T11" fmla="*/ 725 h 905"/>
                <a:gd name="T12" fmla="*/ 32 w 273"/>
                <a:gd name="T13" fmla="*/ 724 h 905"/>
                <a:gd name="T14" fmla="*/ 109 w 273"/>
                <a:gd name="T15" fmla="*/ 602 h 905"/>
                <a:gd name="T16" fmla="*/ 118 w 273"/>
                <a:gd name="T17" fmla="*/ 599 h 905"/>
                <a:gd name="T18" fmla="*/ 121 w 273"/>
                <a:gd name="T19" fmla="*/ 591 h 905"/>
                <a:gd name="T20" fmla="*/ 121 w 273"/>
                <a:gd name="T21" fmla="*/ 582 h 905"/>
                <a:gd name="T22" fmla="*/ 114 w 273"/>
                <a:gd name="T23" fmla="*/ 576 h 905"/>
                <a:gd name="T24" fmla="*/ 107 w 273"/>
                <a:gd name="T25" fmla="*/ 573 h 905"/>
                <a:gd name="T26" fmla="*/ 107 w 273"/>
                <a:gd name="T27" fmla="*/ 452 h 905"/>
                <a:gd name="T28" fmla="*/ 114 w 273"/>
                <a:gd name="T29" fmla="*/ 450 h 905"/>
                <a:gd name="T30" fmla="*/ 121 w 273"/>
                <a:gd name="T31" fmla="*/ 443 h 905"/>
                <a:gd name="T32" fmla="*/ 121 w 273"/>
                <a:gd name="T33" fmla="*/ 435 h 905"/>
                <a:gd name="T34" fmla="*/ 118 w 273"/>
                <a:gd name="T35" fmla="*/ 427 h 905"/>
                <a:gd name="T36" fmla="*/ 109 w 273"/>
                <a:gd name="T37" fmla="*/ 423 h 905"/>
                <a:gd name="T38" fmla="*/ 32 w 273"/>
                <a:gd name="T39" fmla="*/ 301 h 905"/>
                <a:gd name="T40" fmla="*/ 112 w 273"/>
                <a:gd name="T41" fmla="*/ 300 h 905"/>
                <a:gd name="T42" fmla="*/ 119 w 273"/>
                <a:gd name="T43" fmla="*/ 295 h 905"/>
                <a:gd name="T44" fmla="*/ 122 w 273"/>
                <a:gd name="T45" fmla="*/ 286 h 905"/>
                <a:gd name="T46" fmla="*/ 119 w 273"/>
                <a:gd name="T47" fmla="*/ 278 h 905"/>
                <a:gd name="T48" fmla="*/ 112 w 273"/>
                <a:gd name="T49" fmla="*/ 272 h 905"/>
                <a:gd name="T50" fmla="*/ 32 w 273"/>
                <a:gd name="T51" fmla="*/ 271 h 905"/>
                <a:gd name="T52" fmla="*/ 109 w 273"/>
                <a:gd name="T53" fmla="*/ 151 h 905"/>
                <a:gd name="T54" fmla="*/ 118 w 273"/>
                <a:gd name="T55" fmla="*/ 147 h 905"/>
                <a:gd name="T56" fmla="*/ 121 w 273"/>
                <a:gd name="T57" fmla="*/ 139 h 905"/>
                <a:gd name="T58" fmla="*/ 121 w 273"/>
                <a:gd name="T59" fmla="*/ 130 h 905"/>
                <a:gd name="T60" fmla="*/ 114 w 273"/>
                <a:gd name="T61" fmla="*/ 123 h 905"/>
                <a:gd name="T62" fmla="*/ 107 w 273"/>
                <a:gd name="T63" fmla="*/ 121 h 905"/>
                <a:gd name="T64" fmla="*/ 242 w 273"/>
                <a:gd name="T65" fmla="*/ 30 h 905"/>
                <a:gd name="T66" fmla="*/ 17 w 273"/>
                <a:gd name="T67" fmla="*/ 0 h 905"/>
                <a:gd name="T68" fmla="*/ 8 w 273"/>
                <a:gd name="T69" fmla="*/ 2 h 905"/>
                <a:gd name="T70" fmla="*/ 3 w 273"/>
                <a:gd name="T71" fmla="*/ 9 h 905"/>
                <a:gd name="T72" fmla="*/ 1 w 273"/>
                <a:gd name="T73" fmla="*/ 890 h 905"/>
                <a:gd name="T74" fmla="*/ 4 w 273"/>
                <a:gd name="T75" fmla="*/ 898 h 905"/>
                <a:gd name="T76" fmla="*/ 10 w 273"/>
                <a:gd name="T77" fmla="*/ 904 h 905"/>
                <a:gd name="T78" fmla="*/ 257 w 273"/>
                <a:gd name="T79" fmla="*/ 905 h 905"/>
                <a:gd name="T80" fmla="*/ 266 w 273"/>
                <a:gd name="T81" fmla="*/ 902 h 905"/>
                <a:gd name="T82" fmla="*/ 271 w 273"/>
                <a:gd name="T83" fmla="*/ 895 h 905"/>
                <a:gd name="T84" fmla="*/ 273 w 273"/>
                <a:gd name="T85" fmla="*/ 15 h 905"/>
                <a:gd name="T86" fmla="*/ 269 w 273"/>
                <a:gd name="T87" fmla="*/ 7 h 905"/>
                <a:gd name="T88" fmla="*/ 263 w 273"/>
                <a:gd name="T89" fmla="*/ 1 h 905"/>
                <a:gd name="T90" fmla="*/ 257 w 273"/>
                <a:gd name="T9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73" h="905">
                  <a:moveTo>
                    <a:pt x="242" y="874"/>
                  </a:moveTo>
                  <a:lnTo>
                    <a:pt x="32" y="874"/>
                  </a:lnTo>
                  <a:lnTo>
                    <a:pt x="32" y="754"/>
                  </a:lnTo>
                  <a:lnTo>
                    <a:pt x="107" y="754"/>
                  </a:lnTo>
                  <a:lnTo>
                    <a:pt x="109" y="754"/>
                  </a:lnTo>
                  <a:lnTo>
                    <a:pt x="112" y="753"/>
                  </a:lnTo>
                  <a:lnTo>
                    <a:pt x="114" y="751"/>
                  </a:lnTo>
                  <a:lnTo>
                    <a:pt x="118" y="750"/>
                  </a:lnTo>
                  <a:lnTo>
                    <a:pt x="119" y="748"/>
                  </a:lnTo>
                  <a:lnTo>
                    <a:pt x="121" y="744"/>
                  </a:lnTo>
                  <a:lnTo>
                    <a:pt x="121" y="742"/>
                  </a:lnTo>
                  <a:lnTo>
                    <a:pt x="122" y="739"/>
                  </a:lnTo>
                  <a:lnTo>
                    <a:pt x="121" y="736"/>
                  </a:lnTo>
                  <a:lnTo>
                    <a:pt x="121" y="733"/>
                  </a:lnTo>
                  <a:lnTo>
                    <a:pt x="119" y="730"/>
                  </a:lnTo>
                  <a:lnTo>
                    <a:pt x="118" y="728"/>
                  </a:lnTo>
                  <a:lnTo>
                    <a:pt x="114" y="726"/>
                  </a:lnTo>
                  <a:lnTo>
                    <a:pt x="112" y="725"/>
                  </a:lnTo>
                  <a:lnTo>
                    <a:pt x="109" y="724"/>
                  </a:lnTo>
                  <a:lnTo>
                    <a:pt x="107" y="724"/>
                  </a:lnTo>
                  <a:lnTo>
                    <a:pt x="32" y="724"/>
                  </a:lnTo>
                  <a:lnTo>
                    <a:pt x="32" y="604"/>
                  </a:lnTo>
                  <a:lnTo>
                    <a:pt x="107" y="604"/>
                  </a:lnTo>
                  <a:lnTo>
                    <a:pt x="109" y="602"/>
                  </a:lnTo>
                  <a:lnTo>
                    <a:pt x="112" y="602"/>
                  </a:lnTo>
                  <a:lnTo>
                    <a:pt x="114" y="600"/>
                  </a:lnTo>
                  <a:lnTo>
                    <a:pt x="118" y="599"/>
                  </a:lnTo>
                  <a:lnTo>
                    <a:pt x="119" y="596"/>
                  </a:lnTo>
                  <a:lnTo>
                    <a:pt x="121" y="594"/>
                  </a:lnTo>
                  <a:lnTo>
                    <a:pt x="121" y="591"/>
                  </a:lnTo>
                  <a:lnTo>
                    <a:pt x="122" y="588"/>
                  </a:lnTo>
                  <a:lnTo>
                    <a:pt x="121" y="585"/>
                  </a:lnTo>
                  <a:lnTo>
                    <a:pt x="121" y="582"/>
                  </a:lnTo>
                  <a:lnTo>
                    <a:pt x="119" y="580"/>
                  </a:lnTo>
                  <a:lnTo>
                    <a:pt x="118" y="578"/>
                  </a:lnTo>
                  <a:lnTo>
                    <a:pt x="114" y="576"/>
                  </a:lnTo>
                  <a:lnTo>
                    <a:pt x="112" y="574"/>
                  </a:lnTo>
                  <a:lnTo>
                    <a:pt x="109" y="573"/>
                  </a:lnTo>
                  <a:lnTo>
                    <a:pt x="107" y="573"/>
                  </a:lnTo>
                  <a:lnTo>
                    <a:pt x="32" y="573"/>
                  </a:lnTo>
                  <a:lnTo>
                    <a:pt x="32" y="452"/>
                  </a:lnTo>
                  <a:lnTo>
                    <a:pt x="107" y="452"/>
                  </a:lnTo>
                  <a:lnTo>
                    <a:pt x="109" y="452"/>
                  </a:lnTo>
                  <a:lnTo>
                    <a:pt x="112" y="451"/>
                  </a:lnTo>
                  <a:lnTo>
                    <a:pt x="114" y="450"/>
                  </a:lnTo>
                  <a:lnTo>
                    <a:pt x="118" y="448"/>
                  </a:lnTo>
                  <a:lnTo>
                    <a:pt x="119" y="445"/>
                  </a:lnTo>
                  <a:lnTo>
                    <a:pt x="121" y="443"/>
                  </a:lnTo>
                  <a:lnTo>
                    <a:pt x="121" y="440"/>
                  </a:lnTo>
                  <a:lnTo>
                    <a:pt x="122" y="437"/>
                  </a:lnTo>
                  <a:lnTo>
                    <a:pt x="121" y="435"/>
                  </a:lnTo>
                  <a:lnTo>
                    <a:pt x="121" y="431"/>
                  </a:lnTo>
                  <a:lnTo>
                    <a:pt x="119" y="429"/>
                  </a:lnTo>
                  <a:lnTo>
                    <a:pt x="118" y="427"/>
                  </a:lnTo>
                  <a:lnTo>
                    <a:pt x="114" y="425"/>
                  </a:lnTo>
                  <a:lnTo>
                    <a:pt x="112" y="424"/>
                  </a:lnTo>
                  <a:lnTo>
                    <a:pt x="109" y="423"/>
                  </a:lnTo>
                  <a:lnTo>
                    <a:pt x="107" y="422"/>
                  </a:lnTo>
                  <a:lnTo>
                    <a:pt x="32" y="422"/>
                  </a:lnTo>
                  <a:lnTo>
                    <a:pt x="32" y="301"/>
                  </a:lnTo>
                  <a:lnTo>
                    <a:pt x="107" y="301"/>
                  </a:lnTo>
                  <a:lnTo>
                    <a:pt x="109" y="301"/>
                  </a:lnTo>
                  <a:lnTo>
                    <a:pt x="112" y="300"/>
                  </a:lnTo>
                  <a:lnTo>
                    <a:pt x="114" y="299"/>
                  </a:lnTo>
                  <a:lnTo>
                    <a:pt x="118" y="297"/>
                  </a:lnTo>
                  <a:lnTo>
                    <a:pt x="119" y="295"/>
                  </a:lnTo>
                  <a:lnTo>
                    <a:pt x="121" y="293"/>
                  </a:lnTo>
                  <a:lnTo>
                    <a:pt x="121" y="290"/>
                  </a:lnTo>
                  <a:lnTo>
                    <a:pt x="122" y="286"/>
                  </a:lnTo>
                  <a:lnTo>
                    <a:pt x="121" y="283"/>
                  </a:lnTo>
                  <a:lnTo>
                    <a:pt x="121" y="281"/>
                  </a:lnTo>
                  <a:lnTo>
                    <a:pt x="119" y="278"/>
                  </a:lnTo>
                  <a:lnTo>
                    <a:pt x="118" y="276"/>
                  </a:lnTo>
                  <a:lnTo>
                    <a:pt x="114" y="274"/>
                  </a:lnTo>
                  <a:lnTo>
                    <a:pt x="112" y="272"/>
                  </a:lnTo>
                  <a:lnTo>
                    <a:pt x="109" y="272"/>
                  </a:lnTo>
                  <a:lnTo>
                    <a:pt x="107" y="271"/>
                  </a:lnTo>
                  <a:lnTo>
                    <a:pt x="32" y="271"/>
                  </a:lnTo>
                  <a:lnTo>
                    <a:pt x="32" y="151"/>
                  </a:lnTo>
                  <a:lnTo>
                    <a:pt x="107" y="151"/>
                  </a:lnTo>
                  <a:lnTo>
                    <a:pt x="109" y="151"/>
                  </a:lnTo>
                  <a:lnTo>
                    <a:pt x="112" y="150"/>
                  </a:lnTo>
                  <a:lnTo>
                    <a:pt x="114" y="149"/>
                  </a:lnTo>
                  <a:lnTo>
                    <a:pt x="118" y="147"/>
                  </a:lnTo>
                  <a:lnTo>
                    <a:pt x="119" y="144"/>
                  </a:lnTo>
                  <a:lnTo>
                    <a:pt x="121" y="141"/>
                  </a:lnTo>
                  <a:lnTo>
                    <a:pt x="121" y="139"/>
                  </a:lnTo>
                  <a:lnTo>
                    <a:pt x="122" y="136"/>
                  </a:lnTo>
                  <a:lnTo>
                    <a:pt x="121" y="133"/>
                  </a:lnTo>
                  <a:lnTo>
                    <a:pt x="121" y="130"/>
                  </a:lnTo>
                  <a:lnTo>
                    <a:pt x="119" y="127"/>
                  </a:lnTo>
                  <a:lnTo>
                    <a:pt x="118" y="125"/>
                  </a:lnTo>
                  <a:lnTo>
                    <a:pt x="114" y="123"/>
                  </a:lnTo>
                  <a:lnTo>
                    <a:pt x="112" y="122"/>
                  </a:lnTo>
                  <a:lnTo>
                    <a:pt x="109" y="121"/>
                  </a:lnTo>
                  <a:lnTo>
                    <a:pt x="107" y="121"/>
                  </a:lnTo>
                  <a:lnTo>
                    <a:pt x="32" y="121"/>
                  </a:lnTo>
                  <a:lnTo>
                    <a:pt x="32" y="30"/>
                  </a:lnTo>
                  <a:lnTo>
                    <a:pt x="242" y="30"/>
                  </a:lnTo>
                  <a:lnTo>
                    <a:pt x="242" y="874"/>
                  </a:lnTo>
                  <a:close/>
                  <a:moveTo>
                    <a:pt x="257" y="0"/>
                  </a:moveTo>
                  <a:lnTo>
                    <a:pt x="17" y="0"/>
                  </a:lnTo>
                  <a:lnTo>
                    <a:pt x="13" y="0"/>
                  </a:lnTo>
                  <a:lnTo>
                    <a:pt x="10" y="1"/>
                  </a:lnTo>
                  <a:lnTo>
                    <a:pt x="8" y="2"/>
                  </a:lnTo>
                  <a:lnTo>
                    <a:pt x="6" y="5"/>
                  </a:lnTo>
                  <a:lnTo>
                    <a:pt x="4" y="7"/>
                  </a:lnTo>
                  <a:lnTo>
                    <a:pt x="3" y="9"/>
                  </a:lnTo>
                  <a:lnTo>
                    <a:pt x="1" y="12"/>
                  </a:lnTo>
                  <a:lnTo>
                    <a:pt x="0" y="15"/>
                  </a:lnTo>
                  <a:lnTo>
                    <a:pt x="1" y="890"/>
                  </a:lnTo>
                  <a:lnTo>
                    <a:pt x="1" y="893"/>
                  </a:lnTo>
                  <a:lnTo>
                    <a:pt x="3" y="895"/>
                  </a:lnTo>
                  <a:lnTo>
                    <a:pt x="4" y="898"/>
                  </a:lnTo>
                  <a:lnTo>
                    <a:pt x="6" y="900"/>
                  </a:lnTo>
                  <a:lnTo>
                    <a:pt x="8" y="902"/>
                  </a:lnTo>
                  <a:lnTo>
                    <a:pt x="10" y="904"/>
                  </a:lnTo>
                  <a:lnTo>
                    <a:pt x="13" y="905"/>
                  </a:lnTo>
                  <a:lnTo>
                    <a:pt x="17" y="905"/>
                  </a:lnTo>
                  <a:lnTo>
                    <a:pt x="257" y="905"/>
                  </a:lnTo>
                  <a:lnTo>
                    <a:pt x="261" y="905"/>
                  </a:lnTo>
                  <a:lnTo>
                    <a:pt x="263" y="904"/>
                  </a:lnTo>
                  <a:lnTo>
                    <a:pt x="266" y="902"/>
                  </a:lnTo>
                  <a:lnTo>
                    <a:pt x="268" y="900"/>
                  </a:lnTo>
                  <a:lnTo>
                    <a:pt x="269" y="898"/>
                  </a:lnTo>
                  <a:lnTo>
                    <a:pt x="271" y="895"/>
                  </a:lnTo>
                  <a:lnTo>
                    <a:pt x="273" y="893"/>
                  </a:lnTo>
                  <a:lnTo>
                    <a:pt x="273" y="890"/>
                  </a:lnTo>
                  <a:lnTo>
                    <a:pt x="273" y="15"/>
                  </a:lnTo>
                  <a:lnTo>
                    <a:pt x="273" y="12"/>
                  </a:lnTo>
                  <a:lnTo>
                    <a:pt x="271" y="9"/>
                  </a:lnTo>
                  <a:lnTo>
                    <a:pt x="269" y="7"/>
                  </a:lnTo>
                  <a:lnTo>
                    <a:pt x="268" y="5"/>
                  </a:lnTo>
                  <a:lnTo>
                    <a:pt x="266" y="2"/>
                  </a:lnTo>
                  <a:lnTo>
                    <a:pt x="263" y="1"/>
                  </a:lnTo>
                  <a:lnTo>
                    <a:pt x="261" y="0"/>
                  </a:lnTo>
                  <a:lnTo>
                    <a:pt x="257" y="0"/>
                  </a:lnTo>
                  <a:lnTo>
                    <a:pt x="25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07" name="Group 106">
            <a:extLst>
              <a:ext uri="{FF2B5EF4-FFF2-40B4-BE49-F238E27FC236}">
                <a16:creationId xmlns:a16="http://schemas.microsoft.com/office/drawing/2014/main" id="{29B8A9B7-CEF7-5E7F-271C-F9E7EC45A78B}"/>
              </a:ext>
            </a:extLst>
          </p:cNvPr>
          <p:cNvGrpSpPr>
            <a:grpSpLocks noChangeAspect="1"/>
          </p:cNvGrpSpPr>
          <p:nvPr/>
        </p:nvGrpSpPr>
        <p:grpSpPr>
          <a:xfrm>
            <a:off x="7149356" y="4686665"/>
            <a:ext cx="247352" cy="246888"/>
            <a:chOff x="354013" y="3654426"/>
            <a:chExt cx="1690688" cy="1687512"/>
          </a:xfrm>
          <a:solidFill>
            <a:schemeClr val="accent1"/>
          </a:solidFill>
        </p:grpSpPr>
        <p:sp>
          <p:nvSpPr>
            <p:cNvPr id="108" name="Freeform 764">
              <a:extLst>
                <a:ext uri="{FF2B5EF4-FFF2-40B4-BE49-F238E27FC236}">
                  <a16:creationId xmlns:a16="http://schemas.microsoft.com/office/drawing/2014/main" id="{BBFDD2E0-89D6-D524-B08D-A755196F2CC7}"/>
                </a:ext>
              </a:extLst>
            </p:cNvPr>
            <p:cNvSpPr>
              <a:spLocks/>
            </p:cNvSpPr>
            <p:nvPr/>
          </p:nvSpPr>
          <p:spPr bwMode="auto">
            <a:xfrm>
              <a:off x="360363" y="3654426"/>
              <a:ext cx="258763" cy="642938"/>
            </a:xfrm>
            <a:custGeom>
              <a:avLst/>
              <a:gdLst>
                <a:gd name="T0" fmla="*/ 202 w 460"/>
                <a:gd name="T1" fmla="*/ 28 h 1150"/>
                <a:gd name="T2" fmla="*/ 162 w 460"/>
                <a:gd name="T3" fmla="*/ 81 h 1150"/>
                <a:gd name="T4" fmla="*/ 88 w 460"/>
                <a:gd name="T5" fmla="*/ 190 h 1150"/>
                <a:gd name="T6" fmla="*/ 0 w 460"/>
                <a:gd name="T7" fmla="*/ 321 h 1150"/>
                <a:gd name="T8" fmla="*/ 40 w 460"/>
                <a:gd name="T9" fmla="*/ 351 h 1150"/>
                <a:gd name="T10" fmla="*/ 54 w 460"/>
                <a:gd name="T11" fmla="*/ 362 h 1150"/>
                <a:gd name="T12" fmla="*/ 73 w 460"/>
                <a:gd name="T13" fmla="*/ 371 h 1150"/>
                <a:gd name="T14" fmla="*/ 90 w 460"/>
                <a:gd name="T15" fmla="*/ 362 h 1150"/>
                <a:gd name="T16" fmla="*/ 113 w 460"/>
                <a:gd name="T17" fmla="*/ 330 h 1150"/>
                <a:gd name="T18" fmla="*/ 130 w 460"/>
                <a:gd name="T19" fmla="*/ 303 h 1150"/>
                <a:gd name="T20" fmla="*/ 180 w 460"/>
                <a:gd name="T21" fmla="*/ 226 h 1150"/>
                <a:gd name="T22" fmla="*/ 185 w 460"/>
                <a:gd name="T23" fmla="*/ 688 h 1150"/>
                <a:gd name="T24" fmla="*/ 188 w 460"/>
                <a:gd name="T25" fmla="*/ 1150 h 1150"/>
                <a:gd name="T26" fmla="*/ 238 w 460"/>
                <a:gd name="T27" fmla="*/ 1150 h 1150"/>
                <a:gd name="T28" fmla="*/ 288 w 460"/>
                <a:gd name="T29" fmla="*/ 1150 h 1150"/>
                <a:gd name="T30" fmla="*/ 292 w 460"/>
                <a:gd name="T31" fmla="*/ 686 h 1150"/>
                <a:gd name="T32" fmla="*/ 297 w 460"/>
                <a:gd name="T33" fmla="*/ 225 h 1150"/>
                <a:gd name="T34" fmla="*/ 345 w 460"/>
                <a:gd name="T35" fmla="*/ 295 h 1150"/>
                <a:gd name="T36" fmla="*/ 364 w 460"/>
                <a:gd name="T37" fmla="*/ 321 h 1150"/>
                <a:gd name="T38" fmla="*/ 394 w 460"/>
                <a:gd name="T39" fmla="*/ 355 h 1150"/>
                <a:gd name="T40" fmla="*/ 413 w 460"/>
                <a:gd name="T41" fmla="*/ 364 h 1150"/>
                <a:gd name="T42" fmla="*/ 425 w 460"/>
                <a:gd name="T43" fmla="*/ 364 h 1150"/>
                <a:gd name="T44" fmla="*/ 443 w 460"/>
                <a:gd name="T45" fmla="*/ 355 h 1150"/>
                <a:gd name="T46" fmla="*/ 455 w 460"/>
                <a:gd name="T47" fmla="*/ 341 h 1150"/>
                <a:gd name="T48" fmla="*/ 460 w 460"/>
                <a:gd name="T49" fmla="*/ 333 h 1150"/>
                <a:gd name="T50" fmla="*/ 460 w 460"/>
                <a:gd name="T51" fmla="*/ 309 h 1150"/>
                <a:gd name="T52" fmla="*/ 441 w 460"/>
                <a:gd name="T53" fmla="*/ 269 h 1150"/>
                <a:gd name="T54" fmla="*/ 402 w 460"/>
                <a:gd name="T55" fmla="*/ 204 h 1150"/>
                <a:gd name="T56" fmla="*/ 372 w 460"/>
                <a:gd name="T57" fmla="*/ 158 h 1150"/>
                <a:gd name="T58" fmla="*/ 329 w 460"/>
                <a:gd name="T59" fmla="*/ 95 h 1150"/>
                <a:gd name="T60" fmla="*/ 276 w 460"/>
                <a:gd name="T61" fmla="*/ 26 h 1150"/>
                <a:gd name="T62" fmla="*/ 252 w 460"/>
                <a:gd name="T63" fmla="*/ 2 h 1150"/>
                <a:gd name="T64" fmla="*/ 247 w 460"/>
                <a:gd name="T65" fmla="*/ 0 h 1150"/>
                <a:gd name="T66" fmla="*/ 238 w 460"/>
                <a:gd name="T67" fmla="*/ 1 h 1150"/>
                <a:gd name="T68" fmla="*/ 213 w 460"/>
                <a:gd name="T69" fmla="*/ 17 h 1150"/>
                <a:gd name="T70" fmla="*/ 202 w 460"/>
                <a:gd name="T71" fmla="*/ 28 h 1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0" h="1150">
                  <a:moveTo>
                    <a:pt x="202" y="28"/>
                  </a:moveTo>
                  <a:lnTo>
                    <a:pt x="162" y="81"/>
                  </a:lnTo>
                  <a:lnTo>
                    <a:pt x="88" y="190"/>
                  </a:lnTo>
                  <a:lnTo>
                    <a:pt x="0" y="321"/>
                  </a:lnTo>
                  <a:lnTo>
                    <a:pt x="40" y="351"/>
                  </a:lnTo>
                  <a:lnTo>
                    <a:pt x="54" y="362"/>
                  </a:lnTo>
                  <a:lnTo>
                    <a:pt x="73" y="371"/>
                  </a:lnTo>
                  <a:lnTo>
                    <a:pt x="90" y="362"/>
                  </a:lnTo>
                  <a:lnTo>
                    <a:pt x="113" y="330"/>
                  </a:lnTo>
                  <a:lnTo>
                    <a:pt x="130" y="303"/>
                  </a:lnTo>
                  <a:lnTo>
                    <a:pt x="180" y="226"/>
                  </a:lnTo>
                  <a:lnTo>
                    <a:pt x="185" y="688"/>
                  </a:lnTo>
                  <a:lnTo>
                    <a:pt x="188" y="1150"/>
                  </a:lnTo>
                  <a:lnTo>
                    <a:pt x="238" y="1150"/>
                  </a:lnTo>
                  <a:lnTo>
                    <a:pt x="288" y="1150"/>
                  </a:lnTo>
                  <a:lnTo>
                    <a:pt x="292" y="686"/>
                  </a:lnTo>
                  <a:lnTo>
                    <a:pt x="297" y="225"/>
                  </a:lnTo>
                  <a:lnTo>
                    <a:pt x="345" y="295"/>
                  </a:lnTo>
                  <a:lnTo>
                    <a:pt x="364" y="321"/>
                  </a:lnTo>
                  <a:lnTo>
                    <a:pt x="394" y="355"/>
                  </a:lnTo>
                  <a:lnTo>
                    <a:pt x="413" y="364"/>
                  </a:lnTo>
                  <a:lnTo>
                    <a:pt x="425" y="364"/>
                  </a:lnTo>
                  <a:lnTo>
                    <a:pt x="443" y="355"/>
                  </a:lnTo>
                  <a:lnTo>
                    <a:pt x="455" y="341"/>
                  </a:lnTo>
                  <a:lnTo>
                    <a:pt x="460" y="333"/>
                  </a:lnTo>
                  <a:lnTo>
                    <a:pt x="460" y="309"/>
                  </a:lnTo>
                  <a:lnTo>
                    <a:pt x="441" y="269"/>
                  </a:lnTo>
                  <a:lnTo>
                    <a:pt x="402" y="204"/>
                  </a:lnTo>
                  <a:lnTo>
                    <a:pt x="372" y="158"/>
                  </a:lnTo>
                  <a:lnTo>
                    <a:pt x="329" y="95"/>
                  </a:lnTo>
                  <a:lnTo>
                    <a:pt x="276" y="26"/>
                  </a:lnTo>
                  <a:lnTo>
                    <a:pt x="252" y="2"/>
                  </a:lnTo>
                  <a:lnTo>
                    <a:pt x="247" y="0"/>
                  </a:lnTo>
                  <a:lnTo>
                    <a:pt x="238" y="1"/>
                  </a:lnTo>
                  <a:lnTo>
                    <a:pt x="213" y="17"/>
                  </a:lnTo>
                  <a:lnTo>
                    <a:pt x="202"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765">
              <a:extLst>
                <a:ext uri="{FF2B5EF4-FFF2-40B4-BE49-F238E27FC236}">
                  <a16:creationId xmlns:a16="http://schemas.microsoft.com/office/drawing/2014/main" id="{F28C1B29-AED5-1CC4-02E7-ABEAEDCE3D6E}"/>
                </a:ext>
              </a:extLst>
            </p:cNvPr>
            <p:cNvSpPr>
              <a:spLocks noEditPoints="1"/>
            </p:cNvSpPr>
            <p:nvPr/>
          </p:nvSpPr>
          <p:spPr bwMode="auto">
            <a:xfrm>
              <a:off x="1258888" y="3654426"/>
              <a:ext cx="785813" cy="784225"/>
            </a:xfrm>
            <a:custGeom>
              <a:avLst/>
              <a:gdLst>
                <a:gd name="T0" fmla="*/ 552 w 1404"/>
                <a:gd name="T1" fmla="*/ 88 h 1400"/>
                <a:gd name="T2" fmla="*/ 513 w 1404"/>
                <a:gd name="T3" fmla="*/ 157 h 1400"/>
                <a:gd name="T4" fmla="*/ 439 w 1404"/>
                <a:gd name="T5" fmla="*/ 184 h 1400"/>
                <a:gd name="T6" fmla="*/ 357 w 1404"/>
                <a:gd name="T7" fmla="*/ 161 h 1400"/>
                <a:gd name="T8" fmla="*/ 182 w 1404"/>
                <a:gd name="T9" fmla="*/ 228 h 1400"/>
                <a:gd name="T10" fmla="*/ 140 w 1404"/>
                <a:gd name="T11" fmla="*/ 313 h 1400"/>
                <a:gd name="T12" fmla="*/ 172 w 1404"/>
                <a:gd name="T13" fmla="*/ 393 h 1400"/>
                <a:gd name="T14" fmla="*/ 173 w 1404"/>
                <a:gd name="T15" fmla="*/ 470 h 1400"/>
                <a:gd name="T16" fmla="*/ 140 w 1404"/>
                <a:gd name="T17" fmla="*/ 526 h 1400"/>
                <a:gd name="T18" fmla="*/ 70 w 1404"/>
                <a:gd name="T19" fmla="*/ 563 h 1400"/>
                <a:gd name="T20" fmla="*/ 2 w 1404"/>
                <a:gd name="T21" fmla="*/ 778 h 1400"/>
                <a:gd name="T22" fmla="*/ 13 w 1404"/>
                <a:gd name="T23" fmla="*/ 823 h 1400"/>
                <a:gd name="T24" fmla="*/ 97 w 1404"/>
                <a:gd name="T25" fmla="*/ 855 h 1400"/>
                <a:gd name="T26" fmla="*/ 164 w 1404"/>
                <a:gd name="T27" fmla="*/ 910 h 1400"/>
                <a:gd name="T28" fmla="*/ 178 w 1404"/>
                <a:gd name="T29" fmla="*/ 970 h 1400"/>
                <a:gd name="T30" fmla="*/ 154 w 1404"/>
                <a:gd name="T31" fmla="*/ 1048 h 1400"/>
                <a:gd name="T32" fmla="*/ 222 w 1404"/>
                <a:gd name="T33" fmla="*/ 1219 h 1400"/>
                <a:gd name="T34" fmla="*/ 312 w 1404"/>
                <a:gd name="T35" fmla="*/ 1263 h 1400"/>
                <a:gd name="T36" fmla="*/ 385 w 1404"/>
                <a:gd name="T37" fmla="*/ 1233 h 1400"/>
                <a:gd name="T38" fmla="*/ 460 w 1404"/>
                <a:gd name="T39" fmla="*/ 1228 h 1400"/>
                <a:gd name="T40" fmla="*/ 516 w 1404"/>
                <a:gd name="T41" fmla="*/ 1252 h 1400"/>
                <a:gd name="T42" fmla="*/ 552 w 1404"/>
                <a:gd name="T43" fmla="*/ 1325 h 1400"/>
                <a:gd name="T44" fmla="*/ 817 w 1404"/>
                <a:gd name="T45" fmla="*/ 1400 h 1400"/>
                <a:gd name="T46" fmla="*/ 858 w 1404"/>
                <a:gd name="T47" fmla="*/ 1284 h 1400"/>
                <a:gd name="T48" fmla="*/ 914 w 1404"/>
                <a:gd name="T49" fmla="*/ 1236 h 1400"/>
                <a:gd name="T50" fmla="*/ 981 w 1404"/>
                <a:gd name="T51" fmla="*/ 1220 h 1400"/>
                <a:gd name="T52" fmla="*/ 1052 w 1404"/>
                <a:gd name="T53" fmla="*/ 1249 h 1400"/>
                <a:gd name="T54" fmla="*/ 1120 w 1404"/>
                <a:gd name="T55" fmla="*/ 1262 h 1400"/>
                <a:gd name="T56" fmla="*/ 1264 w 1404"/>
                <a:gd name="T57" fmla="*/ 1119 h 1400"/>
                <a:gd name="T58" fmla="*/ 1237 w 1404"/>
                <a:gd name="T59" fmla="*/ 1036 h 1400"/>
                <a:gd name="T60" fmla="*/ 1217 w 1404"/>
                <a:gd name="T61" fmla="*/ 959 h 1400"/>
                <a:gd name="T62" fmla="*/ 1250 w 1404"/>
                <a:gd name="T63" fmla="*/ 887 h 1400"/>
                <a:gd name="T64" fmla="*/ 1322 w 1404"/>
                <a:gd name="T65" fmla="*/ 846 h 1400"/>
                <a:gd name="T66" fmla="*/ 1404 w 1404"/>
                <a:gd name="T67" fmla="*/ 586 h 1400"/>
                <a:gd name="T68" fmla="*/ 1284 w 1404"/>
                <a:gd name="T69" fmla="*/ 541 h 1400"/>
                <a:gd name="T70" fmla="*/ 1230 w 1404"/>
                <a:gd name="T71" fmla="*/ 486 h 1400"/>
                <a:gd name="T72" fmla="*/ 1210 w 1404"/>
                <a:gd name="T73" fmla="*/ 421 h 1400"/>
                <a:gd name="T74" fmla="*/ 1269 w 1404"/>
                <a:gd name="T75" fmla="*/ 300 h 1400"/>
                <a:gd name="T76" fmla="*/ 1172 w 1404"/>
                <a:gd name="T77" fmla="*/ 185 h 1400"/>
                <a:gd name="T78" fmla="*/ 1112 w 1404"/>
                <a:gd name="T79" fmla="*/ 143 h 1400"/>
                <a:gd name="T80" fmla="*/ 1032 w 1404"/>
                <a:gd name="T81" fmla="*/ 166 h 1400"/>
                <a:gd name="T82" fmla="*/ 952 w 1404"/>
                <a:gd name="T83" fmla="*/ 189 h 1400"/>
                <a:gd name="T84" fmla="*/ 900 w 1404"/>
                <a:gd name="T85" fmla="*/ 162 h 1400"/>
                <a:gd name="T86" fmla="*/ 845 w 1404"/>
                <a:gd name="T87" fmla="*/ 87 h 1400"/>
                <a:gd name="T88" fmla="*/ 702 w 1404"/>
                <a:gd name="T89" fmla="*/ 0 h 1400"/>
                <a:gd name="T90" fmla="*/ 580 w 1404"/>
                <a:gd name="T91" fmla="*/ 11 h 1400"/>
                <a:gd name="T92" fmla="*/ 920 w 1404"/>
                <a:gd name="T93" fmla="*/ 430 h 1400"/>
                <a:gd name="T94" fmla="*/ 1004 w 1404"/>
                <a:gd name="T95" fmla="*/ 536 h 1400"/>
                <a:gd name="T96" fmla="*/ 1043 w 1404"/>
                <a:gd name="T97" fmla="*/ 657 h 1400"/>
                <a:gd name="T98" fmla="*/ 1036 w 1404"/>
                <a:gd name="T99" fmla="*/ 795 h 1400"/>
                <a:gd name="T100" fmla="*/ 977 w 1404"/>
                <a:gd name="T101" fmla="*/ 914 h 1400"/>
                <a:gd name="T102" fmla="*/ 875 w 1404"/>
                <a:gd name="T103" fmla="*/ 1002 h 1400"/>
                <a:gd name="T104" fmla="*/ 739 w 1404"/>
                <a:gd name="T105" fmla="*/ 1046 h 1400"/>
                <a:gd name="T106" fmla="*/ 627 w 1404"/>
                <a:gd name="T107" fmla="*/ 1043 h 1400"/>
                <a:gd name="T108" fmla="*/ 461 w 1404"/>
                <a:gd name="T109" fmla="*/ 960 h 1400"/>
                <a:gd name="T110" fmla="*/ 365 w 1404"/>
                <a:gd name="T111" fmla="*/ 803 h 1400"/>
                <a:gd name="T112" fmla="*/ 352 w 1404"/>
                <a:gd name="T113" fmla="*/ 681 h 1400"/>
                <a:gd name="T114" fmla="*/ 385 w 1404"/>
                <a:gd name="T115" fmla="*/ 552 h 1400"/>
                <a:gd name="T116" fmla="*/ 459 w 1404"/>
                <a:gd name="T117" fmla="*/ 449 h 1400"/>
                <a:gd name="T118" fmla="*/ 563 w 1404"/>
                <a:gd name="T119" fmla="*/ 381 h 1400"/>
                <a:gd name="T120" fmla="*/ 685 w 1404"/>
                <a:gd name="T121" fmla="*/ 354 h 1400"/>
                <a:gd name="T122" fmla="*/ 814 w 1404"/>
                <a:gd name="T123" fmla="*/ 376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04" h="1400">
                  <a:moveTo>
                    <a:pt x="580" y="11"/>
                  </a:moveTo>
                  <a:lnTo>
                    <a:pt x="570" y="36"/>
                  </a:lnTo>
                  <a:lnTo>
                    <a:pt x="552" y="88"/>
                  </a:lnTo>
                  <a:lnTo>
                    <a:pt x="546" y="105"/>
                  </a:lnTo>
                  <a:lnTo>
                    <a:pt x="531" y="134"/>
                  </a:lnTo>
                  <a:lnTo>
                    <a:pt x="513" y="157"/>
                  </a:lnTo>
                  <a:lnTo>
                    <a:pt x="492" y="173"/>
                  </a:lnTo>
                  <a:lnTo>
                    <a:pt x="467" y="182"/>
                  </a:lnTo>
                  <a:lnTo>
                    <a:pt x="439" y="184"/>
                  </a:lnTo>
                  <a:lnTo>
                    <a:pt x="408" y="180"/>
                  </a:lnTo>
                  <a:lnTo>
                    <a:pt x="375" y="170"/>
                  </a:lnTo>
                  <a:lnTo>
                    <a:pt x="357" y="161"/>
                  </a:lnTo>
                  <a:lnTo>
                    <a:pt x="285" y="126"/>
                  </a:lnTo>
                  <a:lnTo>
                    <a:pt x="210" y="200"/>
                  </a:lnTo>
                  <a:lnTo>
                    <a:pt x="182" y="228"/>
                  </a:lnTo>
                  <a:lnTo>
                    <a:pt x="147" y="269"/>
                  </a:lnTo>
                  <a:lnTo>
                    <a:pt x="139" y="295"/>
                  </a:lnTo>
                  <a:lnTo>
                    <a:pt x="140" y="313"/>
                  </a:lnTo>
                  <a:lnTo>
                    <a:pt x="150" y="346"/>
                  </a:lnTo>
                  <a:lnTo>
                    <a:pt x="164" y="375"/>
                  </a:lnTo>
                  <a:lnTo>
                    <a:pt x="172" y="393"/>
                  </a:lnTo>
                  <a:lnTo>
                    <a:pt x="182" y="421"/>
                  </a:lnTo>
                  <a:lnTo>
                    <a:pt x="182" y="444"/>
                  </a:lnTo>
                  <a:lnTo>
                    <a:pt x="173" y="470"/>
                  </a:lnTo>
                  <a:lnTo>
                    <a:pt x="165" y="488"/>
                  </a:lnTo>
                  <a:lnTo>
                    <a:pt x="158" y="503"/>
                  </a:lnTo>
                  <a:lnTo>
                    <a:pt x="140" y="526"/>
                  </a:lnTo>
                  <a:lnTo>
                    <a:pt x="118" y="544"/>
                  </a:lnTo>
                  <a:lnTo>
                    <a:pt x="89" y="557"/>
                  </a:lnTo>
                  <a:lnTo>
                    <a:pt x="70" y="563"/>
                  </a:lnTo>
                  <a:lnTo>
                    <a:pt x="2" y="585"/>
                  </a:lnTo>
                  <a:lnTo>
                    <a:pt x="2" y="691"/>
                  </a:lnTo>
                  <a:lnTo>
                    <a:pt x="2" y="778"/>
                  </a:lnTo>
                  <a:lnTo>
                    <a:pt x="0" y="811"/>
                  </a:lnTo>
                  <a:lnTo>
                    <a:pt x="1" y="815"/>
                  </a:lnTo>
                  <a:lnTo>
                    <a:pt x="13" y="823"/>
                  </a:lnTo>
                  <a:lnTo>
                    <a:pt x="45" y="838"/>
                  </a:lnTo>
                  <a:lnTo>
                    <a:pt x="75" y="848"/>
                  </a:lnTo>
                  <a:lnTo>
                    <a:pt x="97" y="855"/>
                  </a:lnTo>
                  <a:lnTo>
                    <a:pt x="129" y="870"/>
                  </a:lnTo>
                  <a:lnTo>
                    <a:pt x="150" y="887"/>
                  </a:lnTo>
                  <a:lnTo>
                    <a:pt x="164" y="910"/>
                  </a:lnTo>
                  <a:lnTo>
                    <a:pt x="169" y="926"/>
                  </a:lnTo>
                  <a:lnTo>
                    <a:pt x="174" y="942"/>
                  </a:lnTo>
                  <a:lnTo>
                    <a:pt x="178" y="970"/>
                  </a:lnTo>
                  <a:lnTo>
                    <a:pt x="175" y="996"/>
                  </a:lnTo>
                  <a:lnTo>
                    <a:pt x="163" y="1028"/>
                  </a:lnTo>
                  <a:lnTo>
                    <a:pt x="154" y="1048"/>
                  </a:lnTo>
                  <a:lnTo>
                    <a:pt x="119" y="1115"/>
                  </a:lnTo>
                  <a:lnTo>
                    <a:pt x="194" y="1190"/>
                  </a:lnTo>
                  <a:lnTo>
                    <a:pt x="222" y="1219"/>
                  </a:lnTo>
                  <a:lnTo>
                    <a:pt x="265" y="1254"/>
                  </a:lnTo>
                  <a:lnTo>
                    <a:pt x="293" y="1263"/>
                  </a:lnTo>
                  <a:lnTo>
                    <a:pt x="312" y="1263"/>
                  </a:lnTo>
                  <a:lnTo>
                    <a:pt x="344" y="1253"/>
                  </a:lnTo>
                  <a:lnTo>
                    <a:pt x="370" y="1240"/>
                  </a:lnTo>
                  <a:lnTo>
                    <a:pt x="385" y="1233"/>
                  </a:lnTo>
                  <a:lnTo>
                    <a:pt x="410" y="1225"/>
                  </a:lnTo>
                  <a:lnTo>
                    <a:pt x="434" y="1223"/>
                  </a:lnTo>
                  <a:lnTo>
                    <a:pt x="460" y="1228"/>
                  </a:lnTo>
                  <a:lnTo>
                    <a:pt x="475" y="1233"/>
                  </a:lnTo>
                  <a:lnTo>
                    <a:pt x="492" y="1239"/>
                  </a:lnTo>
                  <a:lnTo>
                    <a:pt x="516" y="1252"/>
                  </a:lnTo>
                  <a:lnTo>
                    <a:pt x="533" y="1272"/>
                  </a:lnTo>
                  <a:lnTo>
                    <a:pt x="546" y="1303"/>
                  </a:lnTo>
                  <a:lnTo>
                    <a:pt x="552" y="1325"/>
                  </a:lnTo>
                  <a:lnTo>
                    <a:pt x="574" y="1400"/>
                  </a:lnTo>
                  <a:lnTo>
                    <a:pt x="695" y="1400"/>
                  </a:lnTo>
                  <a:lnTo>
                    <a:pt x="817" y="1400"/>
                  </a:lnTo>
                  <a:lnTo>
                    <a:pt x="839" y="1331"/>
                  </a:lnTo>
                  <a:lnTo>
                    <a:pt x="844" y="1313"/>
                  </a:lnTo>
                  <a:lnTo>
                    <a:pt x="858" y="1284"/>
                  </a:lnTo>
                  <a:lnTo>
                    <a:pt x="875" y="1261"/>
                  </a:lnTo>
                  <a:lnTo>
                    <a:pt x="899" y="1244"/>
                  </a:lnTo>
                  <a:lnTo>
                    <a:pt x="914" y="1236"/>
                  </a:lnTo>
                  <a:lnTo>
                    <a:pt x="931" y="1228"/>
                  </a:lnTo>
                  <a:lnTo>
                    <a:pt x="958" y="1220"/>
                  </a:lnTo>
                  <a:lnTo>
                    <a:pt x="981" y="1220"/>
                  </a:lnTo>
                  <a:lnTo>
                    <a:pt x="1008" y="1229"/>
                  </a:lnTo>
                  <a:lnTo>
                    <a:pt x="1027" y="1238"/>
                  </a:lnTo>
                  <a:lnTo>
                    <a:pt x="1052" y="1249"/>
                  </a:lnTo>
                  <a:lnTo>
                    <a:pt x="1097" y="1265"/>
                  </a:lnTo>
                  <a:lnTo>
                    <a:pt x="1109" y="1266"/>
                  </a:lnTo>
                  <a:lnTo>
                    <a:pt x="1120" y="1262"/>
                  </a:lnTo>
                  <a:lnTo>
                    <a:pt x="1168" y="1222"/>
                  </a:lnTo>
                  <a:lnTo>
                    <a:pt x="1224" y="1167"/>
                  </a:lnTo>
                  <a:lnTo>
                    <a:pt x="1264" y="1119"/>
                  </a:lnTo>
                  <a:lnTo>
                    <a:pt x="1269" y="1108"/>
                  </a:lnTo>
                  <a:lnTo>
                    <a:pt x="1262" y="1087"/>
                  </a:lnTo>
                  <a:lnTo>
                    <a:pt x="1237" y="1036"/>
                  </a:lnTo>
                  <a:lnTo>
                    <a:pt x="1229" y="1020"/>
                  </a:lnTo>
                  <a:lnTo>
                    <a:pt x="1220" y="989"/>
                  </a:lnTo>
                  <a:lnTo>
                    <a:pt x="1217" y="959"/>
                  </a:lnTo>
                  <a:lnTo>
                    <a:pt x="1222" y="932"/>
                  </a:lnTo>
                  <a:lnTo>
                    <a:pt x="1232" y="908"/>
                  </a:lnTo>
                  <a:lnTo>
                    <a:pt x="1250" y="887"/>
                  </a:lnTo>
                  <a:lnTo>
                    <a:pt x="1274" y="868"/>
                  </a:lnTo>
                  <a:lnTo>
                    <a:pt x="1304" y="853"/>
                  </a:lnTo>
                  <a:lnTo>
                    <a:pt x="1322" y="846"/>
                  </a:lnTo>
                  <a:lnTo>
                    <a:pt x="1394" y="821"/>
                  </a:lnTo>
                  <a:lnTo>
                    <a:pt x="1399" y="705"/>
                  </a:lnTo>
                  <a:lnTo>
                    <a:pt x="1404" y="586"/>
                  </a:lnTo>
                  <a:lnTo>
                    <a:pt x="1332" y="563"/>
                  </a:lnTo>
                  <a:lnTo>
                    <a:pt x="1314" y="556"/>
                  </a:lnTo>
                  <a:lnTo>
                    <a:pt x="1284" y="541"/>
                  </a:lnTo>
                  <a:lnTo>
                    <a:pt x="1258" y="522"/>
                  </a:lnTo>
                  <a:lnTo>
                    <a:pt x="1238" y="499"/>
                  </a:lnTo>
                  <a:lnTo>
                    <a:pt x="1230" y="486"/>
                  </a:lnTo>
                  <a:lnTo>
                    <a:pt x="1220" y="469"/>
                  </a:lnTo>
                  <a:lnTo>
                    <a:pt x="1209" y="444"/>
                  </a:lnTo>
                  <a:lnTo>
                    <a:pt x="1210" y="421"/>
                  </a:lnTo>
                  <a:lnTo>
                    <a:pt x="1223" y="390"/>
                  </a:lnTo>
                  <a:lnTo>
                    <a:pt x="1235" y="368"/>
                  </a:lnTo>
                  <a:lnTo>
                    <a:pt x="1269" y="300"/>
                  </a:lnTo>
                  <a:lnTo>
                    <a:pt x="1234" y="251"/>
                  </a:lnTo>
                  <a:lnTo>
                    <a:pt x="1217" y="230"/>
                  </a:lnTo>
                  <a:lnTo>
                    <a:pt x="1172" y="185"/>
                  </a:lnTo>
                  <a:lnTo>
                    <a:pt x="1152" y="168"/>
                  </a:lnTo>
                  <a:lnTo>
                    <a:pt x="1135" y="156"/>
                  </a:lnTo>
                  <a:lnTo>
                    <a:pt x="1112" y="143"/>
                  </a:lnTo>
                  <a:lnTo>
                    <a:pt x="1089" y="142"/>
                  </a:lnTo>
                  <a:lnTo>
                    <a:pt x="1057" y="155"/>
                  </a:lnTo>
                  <a:lnTo>
                    <a:pt x="1032" y="166"/>
                  </a:lnTo>
                  <a:lnTo>
                    <a:pt x="1008" y="177"/>
                  </a:lnTo>
                  <a:lnTo>
                    <a:pt x="976" y="188"/>
                  </a:lnTo>
                  <a:lnTo>
                    <a:pt x="952" y="189"/>
                  </a:lnTo>
                  <a:lnTo>
                    <a:pt x="928" y="179"/>
                  </a:lnTo>
                  <a:lnTo>
                    <a:pt x="912" y="170"/>
                  </a:lnTo>
                  <a:lnTo>
                    <a:pt x="900" y="162"/>
                  </a:lnTo>
                  <a:lnTo>
                    <a:pt x="879" y="143"/>
                  </a:lnTo>
                  <a:lnTo>
                    <a:pt x="861" y="117"/>
                  </a:lnTo>
                  <a:lnTo>
                    <a:pt x="845" y="87"/>
                  </a:lnTo>
                  <a:lnTo>
                    <a:pt x="839" y="70"/>
                  </a:lnTo>
                  <a:lnTo>
                    <a:pt x="815" y="0"/>
                  </a:lnTo>
                  <a:lnTo>
                    <a:pt x="702" y="0"/>
                  </a:lnTo>
                  <a:lnTo>
                    <a:pt x="656" y="0"/>
                  </a:lnTo>
                  <a:lnTo>
                    <a:pt x="589" y="7"/>
                  </a:lnTo>
                  <a:lnTo>
                    <a:pt x="580" y="11"/>
                  </a:lnTo>
                  <a:close/>
                  <a:moveTo>
                    <a:pt x="835" y="385"/>
                  </a:moveTo>
                  <a:lnTo>
                    <a:pt x="869" y="400"/>
                  </a:lnTo>
                  <a:lnTo>
                    <a:pt x="920" y="430"/>
                  </a:lnTo>
                  <a:lnTo>
                    <a:pt x="958" y="465"/>
                  </a:lnTo>
                  <a:lnTo>
                    <a:pt x="989" y="508"/>
                  </a:lnTo>
                  <a:lnTo>
                    <a:pt x="1004" y="536"/>
                  </a:lnTo>
                  <a:lnTo>
                    <a:pt x="1015" y="560"/>
                  </a:lnTo>
                  <a:lnTo>
                    <a:pt x="1033" y="609"/>
                  </a:lnTo>
                  <a:lnTo>
                    <a:pt x="1043" y="657"/>
                  </a:lnTo>
                  <a:lnTo>
                    <a:pt x="1047" y="704"/>
                  </a:lnTo>
                  <a:lnTo>
                    <a:pt x="1044" y="751"/>
                  </a:lnTo>
                  <a:lnTo>
                    <a:pt x="1036" y="795"/>
                  </a:lnTo>
                  <a:lnTo>
                    <a:pt x="1021" y="838"/>
                  </a:lnTo>
                  <a:lnTo>
                    <a:pt x="1002" y="878"/>
                  </a:lnTo>
                  <a:lnTo>
                    <a:pt x="977" y="914"/>
                  </a:lnTo>
                  <a:lnTo>
                    <a:pt x="947" y="948"/>
                  </a:lnTo>
                  <a:lnTo>
                    <a:pt x="913" y="977"/>
                  </a:lnTo>
                  <a:lnTo>
                    <a:pt x="875" y="1002"/>
                  </a:lnTo>
                  <a:lnTo>
                    <a:pt x="833" y="1022"/>
                  </a:lnTo>
                  <a:lnTo>
                    <a:pt x="787" y="1037"/>
                  </a:lnTo>
                  <a:lnTo>
                    <a:pt x="739" y="1046"/>
                  </a:lnTo>
                  <a:lnTo>
                    <a:pt x="687" y="1048"/>
                  </a:lnTo>
                  <a:lnTo>
                    <a:pt x="660" y="1046"/>
                  </a:lnTo>
                  <a:lnTo>
                    <a:pt x="627" y="1043"/>
                  </a:lnTo>
                  <a:lnTo>
                    <a:pt x="565" y="1025"/>
                  </a:lnTo>
                  <a:lnTo>
                    <a:pt x="510" y="997"/>
                  </a:lnTo>
                  <a:lnTo>
                    <a:pt x="461" y="960"/>
                  </a:lnTo>
                  <a:lnTo>
                    <a:pt x="419" y="915"/>
                  </a:lnTo>
                  <a:lnTo>
                    <a:pt x="387" y="862"/>
                  </a:lnTo>
                  <a:lnTo>
                    <a:pt x="365" y="803"/>
                  </a:lnTo>
                  <a:lnTo>
                    <a:pt x="353" y="738"/>
                  </a:lnTo>
                  <a:lnTo>
                    <a:pt x="352" y="705"/>
                  </a:lnTo>
                  <a:lnTo>
                    <a:pt x="352" y="681"/>
                  </a:lnTo>
                  <a:lnTo>
                    <a:pt x="358" y="635"/>
                  </a:lnTo>
                  <a:lnTo>
                    <a:pt x="369" y="592"/>
                  </a:lnTo>
                  <a:lnTo>
                    <a:pt x="385" y="552"/>
                  </a:lnTo>
                  <a:lnTo>
                    <a:pt x="406" y="514"/>
                  </a:lnTo>
                  <a:lnTo>
                    <a:pt x="431" y="480"/>
                  </a:lnTo>
                  <a:lnTo>
                    <a:pt x="459" y="449"/>
                  </a:lnTo>
                  <a:lnTo>
                    <a:pt x="491" y="422"/>
                  </a:lnTo>
                  <a:lnTo>
                    <a:pt x="526" y="399"/>
                  </a:lnTo>
                  <a:lnTo>
                    <a:pt x="563" y="381"/>
                  </a:lnTo>
                  <a:lnTo>
                    <a:pt x="602" y="367"/>
                  </a:lnTo>
                  <a:lnTo>
                    <a:pt x="643" y="358"/>
                  </a:lnTo>
                  <a:lnTo>
                    <a:pt x="685" y="354"/>
                  </a:lnTo>
                  <a:lnTo>
                    <a:pt x="727" y="355"/>
                  </a:lnTo>
                  <a:lnTo>
                    <a:pt x="771" y="362"/>
                  </a:lnTo>
                  <a:lnTo>
                    <a:pt x="814" y="376"/>
                  </a:lnTo>
                  <a:lnTo>
                    <a:pt x="835"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766">
              <a:extLst>
                <a:ext uri="{FF2B5EF4-FFF2-40B4-BE49-F238E27FC236}">
                  <a16:creationId xmlns:a16="http://schemas.microsoft.com/office/drawing/2014/main" id="{3421B4AD-2FF6-208C-22FA-48BAC3856BF4}"/>
                </a:ext>
              </a:extLst>
            </p:cNvPr>
            <p:cNvSpPr>
              <a:spLocks/>
            </p:cNvSpPr>
            <p:nvPr/>
          </p:nvSpPr>
          <p:spPr bwMode="auto">
            <a:xfrm>
              <a:off x="1539875" y="3935413"/>
              <a:ext cx="223838" cy="222250"/>
            </a:xfrm>
            <a:custGeom>
              <a:avLst/>
              <a:gdLst>
                <a:gd name="T0" fmla="*/ 150 w 400"/>
                <a:gd name="T1" fmla="*/ 75 h 400"/>
                <a:gd name="T2" fmla="*/ 150 w 400"/>
                <a:gd name="T3" fmla="*/ 150 h 400"/>
                <a:gd name="T4" fmla="*/ 75 w 400"/>
                <a:gd name="T5" fmla="*/ 150 h 400"/>
                <a:gd name="T6" fmla="*/ 50 w 400"/>
                <a:gd name="T7" fmla="*/ 150 h 400"/>
                <a:gd name="T8" fmla="*/ 19 w 400"/>
                <a:gd name="T9" fmla="*/ 152 h 400"/>
                <a:gd name="T10" fmla="*/ 4 w 400"/>
                <a:gd name="T11" fmla="*/ 162 h 400"/>
                <a:gd name="T12" fmla="*/ 0 w 400"/>
                <a:gd name="T13" fmla="*/ 183 h 400"/>
                <a:gd name="T14" fmla="*/ 0 w 400"/>
                <a:gd name="T15" fmla="*/ 200 h 400"/>
                <a:gd name="T16" fmla="*/ 0 w 400"/>
                <a:gd name="T17" fmla="*/ 216 h 400"/>
                <a:gd name="T18" fmla="*/ 4 w 400"/>
                <a:gd name="T19" fmla="*/ 237 h 400"/>
                <a:gd name="T20" fmla="*/ 19 w 400"/>
                <a:gd name="T21" fmla="*/ 247 h 400"/>
                <a:gd name="T22" fmla="*/ 50 w 400"/>
                <a:gd name="T23" fmla="*/ 250 h 400"/>
                <a:gd name="T24" fmla="*/ 75 w 400"/>
                <a:gd name="T25" fmla="*/ 250 h 400"/>
                <a:gd name="T26" fmla="*/ 150 w 400"/>
                <a:gd name="T27" fmla="*/ 250 h 400"/>
                <a:gd name="T28" fmla="*/ 150 w 400"/>
                <a:gd name="T29" fmla="*/ 325 h 400"/>
                <a:gd name="T30" fmla="*/ 150 w 400"/>
                <a:gd name="T31" fmla="*/ 349 h 400"/>
                <a:gd name="T32" fmla="*/ 153 w 400"/>
                <a:gd name="T33" fmla="*/ 381 h 400"/>
                <a:gd name="T34" fmla="*/ 162 w 400"/>
                <a:gd name="T35" fmla="*/ 395 h 400"/>
                <a:gd name="T36" fmla="*/ 183 w 400"/>
                <a:gd name="T37" fmla="*/ 400 h 400"/>
                <a:gd name="T38" fmla="*/ 200 w 400"/>
                <a:gd name="T39" fmla="*/ 400 h 400"/>
                <a:gd name="T40" fmla="*/ 217 w 400"/>
                <a:gd name="T41" fmla="*/ 400 h 400"/>
                <a:gd name="T42" fmla="*/ 238 w 400"/>
                <a:gd name="T43" fmla="*/ 395 h 400"/>
                <a:gd name="T44" fmla="*/ 247 w 400"/>
                <a:gd name="T45" fmla="*/ 381 h 400"/>
                <a:gd name="T46" fmla="*/ 250 w 400"/>
                <a:gd name="T47" fmla="*/ 349 h 400"/>
                <a:gd name="T48" fmla="*/ 250 w 400"/>
                <a:gd name="T49" fmla="*/ 325 h 400"/>
                <a:gd name="T50" fmla="*/ 250 w 400"/>
                <a:gd name="T51" fmla="*/ 250 h 400"/>
                <a:gd name="T52" fmla="*/ 325 w 400"/>
                <a:gd name="T53" fmla="*/ 250 h 400"/>
                <a:gd name="T54" fmla="*/ 350 w 400"/>
                <a:gd name="T55" fmla="*/ 250 h 400"/>
                <a:gd name="T56" fmla="*/ 381 w 400"/>
                <a:gd name="T57" fmla="*/ 247 h 400"/>
                <a:gd name="T58" fmla="*/ 396 w 400"/>
                <a:gd name="T59" fmla="*/ 237 h 400"/>
                <a:gd name="T60" fmla="*/ 400 w 400"/>
                <a:gd name="T61" fmla="*/ 216 h 400"/>
                <a:gd name="T62" fmla="*/ 400 w 400"/>
                <a:gd name="T63" fmla="*/ 200 h 400"/>
                <a:gd name="T64" fmla="*/ 400 w 400"/>
                <a:gd name="T65" fmla="*/ 183 h 400"/>
                <a:gd name="T66" fmla="*/ 396 w 400"/>
                <a:gd name="T67" fmla="*/ 162 h 400"/>
                <a:gd name="T68" fmla="*/ 381 w 400"/>
                <a:gd name="T69" fmla="*/ 152 h 400"/>
                <a:gd name="T70" fmla="*/ 350 w 400"/>
                <a:gd name="T71" fmla="*/ 150 h 400"/>
                <a:gd name="T72" fmla="*/ 325 w 400"/>
                <a:gd name="T73" fmla="*/ 150 h 400"/>
                <a:gd name="T74" fmla="*/ 250 w 400"/>
                <a:gd name="T75" fmla="*/ 150 h 400"/>
                <a:gd name="T76" fmla="*/ 250 w 400"/>
                <a:gd name="T77" fmla="*/ 75 h 400"/>
                <a:gd name="T78" fmla="*/ 250 w 400"/>
                <a:gd name="T79" fmla="*/ 50 h 400"/>
                <a:gd name="T80" fmla="*/ 247 w 400"/>
                <a:gd name="T81" fmla="*/ 19 h 400"/>
                <a:gd name="T82" fmla="*/ 238 w 400"/>
                <a:gd name="T83" fmla="*/ 4 h 400"/>
                <a:gd name="T84" fmla="*/ 217 w 400"/>
                <a:gd name="T85" fmla="*/ 0 h 400"/>
                <a:gd name="T86" fmla="*/ 200 w 400"/>
                <a:gd name="T87" fmla="*/ 0 h 400"/>
                <a:gd name="T88" fmla="*/ 183 w 400"/>
                <a:gd name="T89" fmla="*/ 0 h 400"/>
                <a:gd name="T90" fmla="*/ 162 w 400"/>
                <a:gd name="T91" fmla="*/ 4 h 400"/>
                <a:gd name="T92" fmla="*/ 153 w 400"/>
                <a:gd name="T93" fmla="*/ 19 h 400"/>
                <a:gd name="T94" fmla="*/ 150 w 400"/>
                <a:gd name="T95" fmla="*/ 50 h 400"/>
                <a:gd name="T96" fmla="*/ 150 w 400"/>
                <a:gd name="T97" fmla="*/ 75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00" h="400">
                  <a:moveTo>
                    <a:pt x="150" y="75"/>
                  </a:moveTo>
                  <a:lnTo>
                    <a:pt x="150" y="150"/>
                  </a:lnTo>
                  <a:lnTo>
                    <a:pt x="75" y="150"/>
                  </a:lnTo>
                  <a:lnTo>
                    <a:pt x="50" y="150"/>
                  </a:lnTo>
                  <a:lnTo>
                    <a:pt x="19" y="152"/>
                  </a:lnTo>
                  <a:lnTo>
                    <a:pt x="4" y="162"/>
                  </a:lnTo>
                  <a:lnTo>
                    <a:pt x="0" y="183"/>
                  </a:lnTo>
                  <a:lnTo>
                    <a:pt x="0" y="200"/>
                  </a:lnTo>
                  <a:lnTo>
                    <a:pt x="0" y="216"/>
                  </a:lnTo>
                  <a:lnTo>
                    <a:pt x="4" y="237"/>
                  </a:lnTo>
                  <a:lnTo>
                    <a:pt x="19" y="247"/>
                  </a:lnTo>
                  <a:lnTo>
                    <a:pt x="50" y="250"/>
                  </a:lnTo>
                  <a:lnTo>
                    <a:pt x="75" y="250"/>
                  </a:lnTo>
                  <a:lnTo>
                    <a:pt x="150" y="250"/>
                  </a:lnTo>
                  <a:lnTo>
                    <a:pt x="150" y="325"/>
                  </a:lnTo>
                  <a:lnTo>
                    <a:pt x="150" y="349"/>
                  </a:lnTo>
                  <a:lnTo>
                    <a:pt x="153" y="381"/>
                  </a:lnTo>
                  <a:lnTo>
                    <a:pt x="162" y="395"/>
                  </a:lnTo>
                  <a:lnTo>
                    <a:pt x="183" y="400"/>
                  </a:lnTo>
                  <a:lnTo>
                    <a:pt x="200" y="400"/>
                  </a:lnTo>
                  <a:lnTo>
                    <a:pt x="217" y="400"/>
                  </a:lnTo>
                  <a:lnTo>
                    <a:pt x="238" y="395"/>
                  </a:lnTo>
                  <a:lnTo>
                    <a:pt x="247" y="381"/>
                  </a:lnTo>
                  <a:lnTo>
                    <a:pt x="250" y="349"/>
                  </a:lnTo>
                  <a:lnTo>
                    <a:pt x="250" y="325"/>
                  </a:lnTo>
                  <a:lnTo>
                    <a:pt x="250" y="250"/>
                  </a:lnTo>
                  <a:lnTo>
                    <a:pt x="325" y="250"/>
                  </a:lnTo>
                  <a:lnTo>
                    <a:pt x="350" y="250"/>
                  </a:lnTo>
                  <a:lnTo>
                    <a:pt x="381" y="247"/>
                  </a:lnTo>
                  <a:lnTo>
                    <a:pt x="396" y="237"/>
                  </a:lnTo>
                  <a:lnTo>
                    <a:pt x="400" y="216"/>
                  </a:lnTo>
                  <a:lnTo>
                    <a:pt x="400" y="200"/>
                  </a:lnTo>
                  <a:lnTo>
                    <a:pt x="400" y="183"/>
                  </a:lnTo>
                  <a:lnTo>
                    <a:pt x="396" y="162"/>
                  </a:lnTo>
                  <a:lnTo>
                    <a:pt x="381" y="152"/>
                  </a:lnTo>
                  <a:lnTo>
                    <a:pt x="350" y="150"/>
                  </a:lnTo>
                  <a:lnTo>
                    <a:pt x="325" y="150"/>
                  </a:lnTo>
                  <a:lnTo>
                    <a:pt x="250" y="150"/>
                  </a:lnTo>
                  <a:lnTo>
                    <a:pt x="250" y="75"/>
                  </a:lnTo>
                  <a:lnTo>
                    <a:pt x="250" y="50"/>
                  </a:lnTo>
                  <a:lnTo>
                    <a:pt x="247" y="19"/>
                  </a:lnTo>
                  <a:lnTo>
                    <a:pt x="238" y="4"/>
                  </a:lnTo>
                  <a:lnTo>
                    <a:pt x="217" y="0"/>
                  </a:lnTo>
                  <a:lnTo>
                    <a:pt x="200" y="0"/>
                  </a:lnTo>
                  <a:lnTo>
                    <a:pt x="183" y="0"/>
                  </a:lnTo>
                  <a:lnTo>
                    <a:pt x="162" y="4"/>
                  </a:lnTo>
                  <a:lnTo>
                    <a:pt x="153" y="19"/>
                  </a:lnTo>
                  <a:lnTo>
                    <a:pt x="150" y="50"/>
                  </a:lnTo>
                  <a:lnTo>
                    <a:pt x="150"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770">
              <a:extLst>
                <a:ext uri="{FF2B5EF4-FFF2-40B4-BE49-F238E27FC236}">
                  <a16:creationId xmlns:a16="http://schemas.microsoft.com/office/drawing/2014/main" id="{FD817CE0-6B92-0047-06FC-A717C0695200}"/>
                </a:ext>
              </a:extLst>
            </p:cNvPr>
            <p:cNvSpPr>
              <a:spLocks/>
            </p:cNvSpPr>
            <p:nvPr/>
          </p:nvSpPr>
          <p:spPr bwMode="auto">
            <a:xfrm>
              <a:off x="784225" y="3822701"/>
              <a:ext cx="269875" cy="474663"/>
            </a:xfrm>
            <a:custGeom>
              <a:avLst/>
              <a:gdLst>
                <a:gd name="T0" fmla="*/ 197 w 482"/>
                <a:gd name="T1" fmla="*/ 28 h 850"/>
                <a:gd name="T2" fmla="*/ 157 w 482"/>
                <a:gd name="T3" fmla="*/ 82 h 850"/>
                <a:gd name="T4" fmla="*/ 21 w 482"/>
                <a:gd name="T5" fmla="*/ 284 h 850"/>
                <a:gd name="T6" fmla="*/ 0 w 482"/>
                <a:gd name="T7" fmla="*/ 321 h 850"/>
                <a:gd name="T8" fmla="*/ 2 w 482"/>
                <a:gd name="T9" fmla="*/ 326 h 850"/>
                <a:gd name="T10" fmla="*/ 24 w 482"/>
                <a:gd name="T11" fmla="*/ 344 h 850"/>
                <a:gd name="T12" fmla="*/ 40 w 482"/>
                <a:gd name="T13" fmla="*/ 355 h 850"/>
                <a:gd name="T14" fmla="*/ 54 w 482"/>
                <a:gd name="T15" fmla="*/ 364 h 850"/>
                <a:gd name="T16" fmla="*/ 73 w 482"/>
                <a:gd name="T17" fmla="*/ 371 h 850"/>
                <a:gd name="T18" fmla="*/ 91 w 482"/>
                <a:gd name="T19" fmla="*/ 361 h 850"/>
                <a:gd name="T20" fmla="*/ 114 w 482"/>
                <a:gd name="T21" fmla="*/ 329 h 850"/>
                <a:gd name="T22" fmla="*/ 132 w 482"/>
                <a:gd name="T23" fmla="*/ 303 h 850"/>
                <a:gd name="T24" fmla="*/ 183 w 482"/>
                <a:gd name="T25" fmla="*/ 225 h 850"/>
                <a:gd name="T26" fmla="*/ 183 w 482"/>
                <a:gd name="T27" fmla="*/ 536 h 850"/>
                <a:gd name="T28" fmla="*/ 183 w 482"/>
                <a:gd name="T29" fmla="*/ 850 h 850"/>
                <a:gd name="T30" fmla="*/ 233 w 482"/>
                <a:gd name="T31" fmla="*/ 850 h 850"/>
                <a:gd name="T32" fmla="*/ 283 w 482"/>
                <a:gd name="T33" fmla="*/ 850 h 850"/>
                <a:gd name="T34" fmla="*/ 285 w 482"/>
                <a:gd name="T35" fmla="*/ 536 h 850"/>
                <a:gd name="T36" fmla="*/ 285 w 482"/>
                <a:gd name="T37" fmla="*/ 225 h 850"/>
                <a:gd name="T38" fmla="*/ 322 w 482"/>
                <a:gd name="T39" fmla="*/ 273 h 850"/>
                <a:gd name="T40" fmla="*/ 352 w 482"/>
                <a:gd name="T41" fmla="*/ 313 h 850"/>
                <a:gd name="T42" fmla="*/ 389 w 482"/>
                <a:gd name="T43" fmla="*/ 359 h 850"/>
                <a:gd name="T44" fmla="*/ 406 w 482"/>
                <a:gd name="T45" fmla="*/ 371 h 850"/>
                <a:gd name="T46" fmla="*/ 416 w 482"/>
                <a:gd name="T47" fmla="*/ 372 h 850"/>
                <a:gd name="T48" fmla="*/ 431 w 482"/>
                <a:gd name="T49" fmla="*/ 363 h 850"/>
                <a:gd name="T50" fmla="*/ 445 w 482"/>
                <a:gd name="T51" fmla="*/ 351 h 850"/>
                <a:gd name="T52" fmla="*/ 482 w 482"/>
                <a:gd name="T53" fmla="*/ 321 h 850"/>
                <a:gd name="T54" fmla="*/ 373 w 482"/>
                <a:gd name="T55" fmla="*/ 160 h 850"/>
                <a:gd name="T56" fmla="*/ 330 w 482"/>
                <a:gd name="T57" fmla="*/ 95 h 850"/>
                <a:gd name="T58" fmla="*/ 275 w 482"/>
                <a:gd name="T59" fmla="*/ 26 h 850"/>
                <a:gd name="T60" fmla="*/ 250 w 482"/>
                <a:gd name="T61" fmla="*/ 2 h 850"/>
                <a:gd name="T62" fmla="*/ 243 w 482"/>
                <a:gd name="T63" fmla="*/ 0 h 850"/>
                <a:gd name="T64" fmla="*/ 233 w 482"/>
                <a:gd name="T65" fmla="*/ 1 h 850"/>
                <a:gd name="T66" fmla="*/ 208 w 482"/>
                <a:gd name="T67" fmla="*/ 17 h 850"/>
                <a:gd name="T68" fmla="*/ 197 w 482"/>
                <a:gd name="T69" fmla="*/ 28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82" h="850">
                  <a:moveTo>
                    <a:pt x="197" y="28"/>
                  </a:moveTo>
                  <a:lnTo>
                    <a:pt x="157" y="82"/>
                  </a:lnTo>
                  <a:lnTo>
                    <a:pt x="21" y="284"/>
                  </a:lnTo>
                  <a:lnTo>
                    <a:pt x="0" y="321"/>
                  </a:lnTo>
                  <a:lnTo>
                    <a:pt x="2" y="326"/>
                  </a:lnTo>
                  <a:lnTo>
                    <a:pt x="24" y="344"/>
                  </a:lnTo>
                  <a:lnTo>
                    <a:pt x="40" y="355"/>
                  </a:lnTo>
                  <a:lnTo>
                    <a:pt x="54" y="364"/>
                  </a:lnTo>
                  <a:lnTo>
                    <a:pt x="73" y="371"/>
                  </a:lnTo>
                  <a:lnTo>
                    <a:pt x="91" y="361"/>
                  </a:lnTo>
                  <a:lnTo>
                    <a:pt x="114" y="329"/>
                  </a:lnTo>
                  <a:lnTo>
                    <a:pt x="132" y="303"/>
                  </a:lnTo>
                  <a:lnTo>
                    <a:pt x="183" y="225"/>
                  </a:lnTo>
                  <a:lnTo>
                    <a:pt x="183" y="536"/>
                  </a:lnTo>
                  <a:lnTo>
                    <a:pt x="183" y="850"/>
                  </a:lnTo>
                  <a:lnTo>
                    <a:pt x="233" y="850"/>
                  </a:lnTo>
                  <a:lnTo>
                    <a:pt x="283" y="850"/>
                  </a:lnTo>
                  <a:lnTo>
                    <a:pt x="285" y="536"/>
                  </a:lnTo>
                  <a:lnTo>
                    <a:pt x="285" y="225"/>
                  </a:lnTo>
                  <a:lnTo>
                    <a:pt x="322" y="273"/>
                  </a:lnTo>
                  <a:lnTo>
                    <a:pt x="352" y="313"/>
                  </a:lnTo>
                  <a:lnTo>
                    <a:pt x="389" y="359"/>
                  </a:lnTo>
                  <a:lnTo>
                    <a:pt x="406" y="371"/>
                  </a:lnTo>
                  <a:lnTo>
                    <a:pt x="416" y="372"/>
                  </a:lnTo>
                  <a:lnTo>
                    <a:pt x="431" y="363"/>
                  </a:lnTo>
                  <a:lnTo>
                    <a:pt x="445" y="351"/>
                  </a:lnTo>
                  <a:lnTo>
                    <a:pt x="482" y="321"/>
                  </a:lnTo>
                  <a:lnTo>
                    <a:pt x="373" y="160"/>
                  </a:lnTo>
                  <a:lnTo>
                    <a:pt x="330" y="95"/>
                  </a:lnTo>
                  <a:lnTo>
                    <a:pt x="275" y="26"/>
                  </a:lnTo>
                  <a:lnTo>
                    <a:pt x="250" y="2"/>
                  </a:lnTo>
                  <a:lnTo>
                    <a:pt x="243" y="0"/>
                  </a:lnTo>
                  <a:lnTo>
                    <a:pt x="233" y="1"/>
                  </a:lnTo>
                  <a:lnTo>
                    <a:pt x="208" y="17"/>
                  </a:lnTo>
                  <a:lnTo>
                    <a:pt x="197"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777">
              <a:extLst>
                <a:ext uri="{FF2B5EF4-FFF2-40B4-BE49-F238E27FC236}">
                  <a16:creationId xmlns:a16="http://schemas.microsoft.com/office/drawing/2014/main" id="{D9870209-A521-D301-9ADB-F6A3E7D2F554}"/>
                </a:ext>
              </a:extLst>
            </p:cNvPr>
            <p:cNvSpPr>
              <a:spLocks/>
            </p:cNvSpPr>
            <p:nvPr/>
          </p:nvSpPr>
          <p:spPr bwMode="auto">
            <a:xfrm>
              <a:off x="466725" y="4354513"/>
              <a:ext cx="55563" cy="55563"/>
            </a:xfrm>
            <a:custGeom>
              <a:avLst/>
              <a:gdLst>
                <a:gd name="T0" fmla="*/ 0 w 100"/>
                <a:gd name="T1" fmla="*/ 50 h 100"/>
                <a:gd name="T2" fmla="*/ 0 w 100"/>
                <a:gd name="T3" fmla="*/ 65 h 100"/>
                <a:gd name="T4" fmla="*/ 4 w 100"/>
                <a:gd name="T5" fmla="*/ 86 h 100"/>
                <a:gd name="T6" fmla="*/ 14 w 100"/>
                <a:gd name="T7" fmla="*/ 96 h 100"/>
                <a:gd name="T8" fmla="*/ 35 w 100"/>
                <a:gd name="T9" fmla="*/ 100 h 100"/>
                <a:gd name="T10" fmla="*/ 50 w 100"/>
                <a:gd name="T11" fmla="*/ 100 h 100"/>
                <a:gd name="T12" fmla="*/ 66 w 100"/>
                <a:gd name="T13" fmla="*/ 100 h 100"/>
                <a:gd name="T14" fmla="*/ 86 w 100"/>
                <a:gd name="T15" fmla="*/ 96 h 100"/>
                <a:gd name="T16" fmla="*/ 97 w 100"/>
                <a:gd name="T17" fmla="*/ 86 h 100"/>
                <a:gd name="T18" fmla="*/ 100 w 100"/>
                <a:gd name="T19" fmla="*/ 65 h 100"/>
                <a:gd name="T20" fmla="*/ 100 w 100"/>
                <a:gd name="T21" fmla="*/ 50 h 100"/>
                <a:gd name="T22" fmla="*/ 100 w 100"/>
                <a:gd name="T23" fmla="*/ 34 h 100"/>
                <a:gd name="T24" fmla="*/ 97 w 100"/>
                <a:gd name="T25" fmla="*/ 14 h 100"/>
                <a:gd name="T26" fmla="*/ 86 w 100"/>
                <a:gd name="T27" fmla="*/ 3 h 100"/>
                <a:gd name="T28" fmla="*/ 66 w 100"/>
                <a:gd name="T29" fmla="*/ 0 h 100"/>
                <a:gd name="T30" fmla="*/ 50 w 100"/>
                <a:gd name="T31" fmla="*/ 0 h 100"/>
                <a:gd name="T32" fmla="*/ 35 w 100"/>
                <a:gd name="T33" fmla="*/ 0 h 100"/>
                <a:gd name="T34" fmla="*/ 14 w 100"/>
                <a:gd name="T35" fmla="*/ 3 h 100"/>
                <a:gd name="T36" fmla="*/ 4 w 100"/>
                <a:gd name="T37" fmla="*/ 14 h 100"/>
                <a:gd name="T38" fmla="*/ 0 w 100"/>
                <a:gd name="T39" fmla="*/ 34 h 100"/>
                <a:gd name="T40" fmla="*/ 0 w 100"/>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0" h="100">
                  <a:moveTo>
                    <a:pt x="0" y="50"/>
                  </a:moveTo>
                  <a:lnTo>
                    <a:pt x="0" y="65"/>
                  </a:lnTo>
                  <a:lnTo>
                    <a:pt x="4" y="86"/>
                  </a:lnTo>
                  <a:lnTo>
                    <a:pt x="14" y="96"/>
                  </a:lnTo>
                  <a:lnTo>
                    <a:pt x="35" y="100"/>
                  </a:lnTo>
                  <a:lnTo>
                    <a:pt x="50" y="100"/>
                  </a:lnTo>
                  <a:lnTo>
                    <a:pt x="66" y="100"/>
                  </a:lnTo>
                  <a:lnTo>
                    <a:pt x="86" y="96"/>
                  </a:lnTo>
                  <a:lnTo>
                    <a:pt x="97" y="86"/>
                  </a:lnTo>
                  <a:lnTo>
                    <a:pt x="100" y="65"/>
                  </a:lnTo>
                  <a:lnTo>
                    <a:pt x="100" y="50"/>
                  </a:lnTo>
                  <a:lnTo>
                    <a:pt x="100" y="34"/>
                  </a:lnTo>
                  <a:lnTo>
                    <a:pt x="97" y="14"/>
                  </a:lnTo>
                  <a:lnTo>
                    <a:pt x="86" y="3"/>
                  </a:lnTo>
                  <a:lnTo>
                    <a:pt x="66" y="0"/>
                  </a:lnTo>
                  <a:lnTo>
                    <a:pt x="50" y="0"/>
                  </a:lnTo>
                  <a:lnTo>
                    <a:pt x="35" y="0"/>
                  </a:lnTo>
                  <a:lnTo>
                    <a:pt x="14" y="3"/>
                  </a:lnTo>
                  <a:lnTo>
                    <a:pt x="4" y="14"/>
                  </a:lnTo>
                  <a:lnTo>
                    <a:pt x="0" y="34"/>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778">
              <a:extLst>
                <a:ext uri="{FF2B5EF4-FFF2-40B4-BE49-F238E27FC236}">
                  <a16:creationId xmlns:a16="http://schemas.microsoft.com/office/drawing/2014/main" id="{D52F0769-3660-1A5E-6923-60B7B14E42D8}"/>
                </a:ext>
              </a:extLst>
            </p:cNvPr>
            <p:cNvSpPr>
              <a:spLocks/>
            </p:cNvSpPr>
            <p:nvPr/>
          </p:nvSpPr>
          <p:spPr bwMode="auto">
            <a:xfrm>
              <a:off x="885825" y="4354513"/>
              <a:ext cx="55563" cy="55563"/>
            </a:xfrm>
            <a:custGeom>
              <a:avLst/>
              <a:gdLst>
                <a:gd name="T0" fmla="*/ 12 w 100"/>
                <a:gd name="T1" fmla="*/ 11 h 100"/>
                <a:gd name="T2" fmla="*/ 7 w 100"/>
                <a:gd name="T3" fmla="*/ 17 h 100"/>
                <a:gd name="T4" fmla="*/ 1 w 100"/>
                <a:gd name="T5" fmla="*/ 45 h 100"/>
                <a:gd name="T6" fmla="*/ 0 w 100"/>
                <a:gd name="T7" fmla="*/ 61 h 100"/>
                <a:gd name="T8" fmla="*/ 1 w 100"/>
                <a:gd name="T9" fmla="*/ 72 h 100"/>
                <a:gd name="T10" fmla="*/ 5 w 100"/>
                <a:gd name="T11" fmla="*/ 88 h 100"/>
                <a:gd name="T12" fmla="*/ 16 w 100"/>
                <a:gd name="T13" fmla="*/ 96 h 100"/>
                <a:gd name="T14" fmla="*/ 36 w 100"/>
                <a:gd name="T15" fmla="*/ 99 h 100"/>
                <a:gd name="T16" fmla="*/ 50 w 100"/>
                <a:gd name="T17" fmla="*/ 100 h 100"/>
                <a:gd name="T18" fmla="*/ 66 w 100"/>
                <a:gd name="T19" fmla="*/ 100 h 100"/>
                <a:gd name="T20" fmla="*/ 86 w 100"/>
                <a:gd name="T21" fmla="*/ 96 h 100"/>
                <a:gd name="T22" fmla="*/ 97 w 100"/>
                <a:gd name="T23" fmla="*/ 86 h 100"/>
                <a:gd name="T24" fmla="*/ 100 w 100"/>
                <a:gd name="T25" fmla="*/ 65 h 100"/>
                <a:gd name="T26" fmla="*/ 100 w 100"/>
                <a:gd name="T27" fmla="*/ 50 h 100"/>
                <a:gd name="T28" fmla="*/ 100 w 100"/>
                <a:gd name="T29" fmla="*/ 35 h 100"/>
                <a:gd name="T30" fmla="*/ 97 w 100"/>
                <a:gd name="T31" fmla="*/ 15 h 100"/>
                <a:gd name="T32" fmla="*/ 88 w 100"/>
                <a:gd name="T33" fmla="*/ 4 h 100"/>
                <a:gd name="T34" fmla="*/ 73 w 100"/>
                <a:gd name="T35" fmla="*/ 0 h 100"/>
                <a:gd name="T36" fmla="*/ 62 w 100"/>
                <a:gd name="T37" fmla="*/ 0 h 100"/>
                <a:gd name="T38" fmla="*/ 46 w 100"/>
                <a:gd name="T39" fmla="*/ 0 h 100"/>
                <a:gd name="T40" fmla="*/ 18 w 100"/>
                <a:gd name="T41" fmla="*/ 7 h 100"/>
                <a:gd name="T42" fmla="*/ 12 w 100"/>
                <a:gd name="T43" fmla="*/ 1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0" h="100">
                  <a:moveTo>
                    <a:pt x="12" y="11"/>
                  </a:moveTo>
                  <a:lnTo>
                    <a:pt x="7" y="17"/>
                  </a:lnTo>
                  <a:lnTo>
                    <a:pt x="1" y="45"/>
                  </a:lnTo>
                  <a:lnTo>
                    <a:pt x="0" y="61"/>
                  </a:lnTo>
                  <a:lnTo>
                    <a:pt x="1" y="72"/>
                  </a:lnTo>
                  <a:lnTo>
                    <a:pt x="5" y="88"/>
                  </a:lnTo>
                  <a:lnTo>
                    <a:pt x="16" y="96"/>
                  </a:lnTo>
                  <a:lnTo>
                    <a:pt x="36" y="99"/>
                  </a:lnTo>
                  <a:lnTo>
                    <a:pt x="50" y="100"/>
                  </a:lnTo>
                  <a:lnTo>
                    <a:pt x="66" y="100"/>
                  </a:lnTo>
                  <a:lnTo>
                    <a:pt x="86" y="96"/>
                  </a:lnTo>
                  <a:lnTo>
                    <a:pt x="97" y="86"/>
                  </a:lnTo>
                  <a:lnTo>
                    <a:pt x="100" y="65"/>
                  </a:lnTo>
                  <a:lnTo>
                    <a:pt x="100" y="50"/>
                  </a:lnTo>
                  <a:lnTo>
                    <a:pt x="100" y="35"/>
                  </a:lnTo>
                  <a:lnTo>
                    <a:pt x="97" y="15"/>
                  </a:lnTo>
                  <a:lnTo>
                    <a:pt x="88" y="4"/>
                  </a:lnTo>
                  <a:lnTo>
                    <a:pt x="73" y="0"/>
                  </a:lnTo>
                  <a:lnTo>
                    <a:pt x="62" y="0"/>
                  </a:lnTo>
                  <a:lnTo>
                    <a:pt x="46" y="0"/>
                  </a:lnTo>
                  <a:lnTo>
                    <a:pt x="18" y="7"/>
                  </a:lnTo>
                  <a:lnTo>
                    <a:pt x="12"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779">
              <a:extLst>
                <a:ext uri="{FF2B5EF4-FFF2-40B4-BE49-F238E27FC236}">
                  <a16:creationId xmlns:a16="http://schemas.microsoft.com/office/drawing/2014/main" id="{8663ADCA-9306-3632-A282-939E1EE262EE}"/>
                </a:ext>
              </a:extLst>
            </p:cNvPr>
            <p:cNvSpPr>
              <a:spLocks noEditPoints="1"/>
            </p:cNvSpPr>
            <p:nvPr/>
          </p:nvSpPr>
          <p:spPr bwMode="auto">
            <a:xfrm>
              <a:off x="354013" y="4548188"/>
              <a:ext cx="785813" cy="793750"/>
            </a:xfrm>
            <a:custGeom>
              <a:avLst/>
              <a:gdLst>
                <a:gd name="T0" fmla="*/ 551 w 1405"/>
                <a:gd name="T1" fmla="*/ 133 h 1420"/>
                <a:gd name="T2" fmla="*/ 501 w 1405"/>
                <a:gd name="T3" fmla="*/ 177 h 1420"/>
                <a:gd name="T4" fmla="*/ 431 w 1405"/>
                <a:gd name="T5" fmla="*/ 193 h 1420"/>
                <a:gd name="T6" fmla="*/ 285 w 1405"/>
                <a:gd name="T7" fmla="*/ 143 h 1420"/>
                <a:gd name="T8" fmla="*/ 163 w 1405"/>
                <a:gd name="T9" fmla="*/ 373 h 1420"/>
                <a:gd name="T10" fmla="*/ 187 w 1405"/>
                <a:gd name="T11" fmla="*/ 454 h 1420"/>
                <a:gd name="T12" fmla="*/ 159 w 1405"/>
                <a:gd name="T13" fmla="*/ 525 h 1420"/>
                <a:gd name="T14" fmla="*/ 85 w 1405"/>
                <a:gd name="T15" fmla="*/ 567 h 1420"/>
                <a:gd name="T16" fmla="*/ 0 w 1405"/>
                <a:gd name="T17" fmla="*/ 830 h 1420"/>
                <a:gd name="T18" fmla="*/ 131 w 1405"/>
                <a:gd name="T19" fmla="*/ 872 h 1420"/>
                <a:gd name="T20" fmla="*/ 176 w 1405"/>
                <a:gd name="T21" fmla="*/ 930 h 1420"/>
                <a:gd name="T22" fmla="*/ 190 w 1405"/>
                <a:gd name="T23" fmla="*/ 1002 h 1420"/>
                <a:gd name="T24" fmla="*/ 131 w 1405"/>
                <a:gd name="T25" fmla="*/ 1123 h 1420"/>
                <a:gd name="T26" fmla="*/ 363 w 1405"/>
                <a:gd name="T27" fmla="*/ 1253 h 1420"/>
                <a:gd name="T28" fmla="*/ 441 w 1405"/>
                <a:gd name="T29" fmla="*/ 1229 h 1420"/>
                <a:gd name="T30" fmla="*/ 497 w 1405"/>
                <a:gd name="T31" fmla="*/ 1246 h 1420"/>
                <a:gd name="T32" fmla="*/ 553 w 1405"/>
                <a:gd name="T33" fmla="*/ 1317 h 1420"/>
                <a:gd name="T34" fmla="*/ 706 w 1405"/>
                <a:gd name="T35" fmla="*/ 1415 h 1420"/>
                <a:gd name="T36" fmla="*/ 854 w 1405"/>
                <a:gd name="T37" fmla="*/ 1320 h 1420"/>
                <a:gd name="T38" fmla="*/ 910 w 1405"/>
                <a:gd name="T39" fmla="*/ 1249 h 1420"/>
                <a:gd name="T40" fmla="*/ 991 w 1405"/>
                <a:gd name="T41" fmla="*/ 1237 h 1420"/>
                <a:gd name="T42" fmla="*/ 1068 w 1405"/>
                <a:gd name="T43" fmla="*/ 1265 h 1420"/>
                <a:gd name="T44" fmla="*/ 1145 w 1405"/>
                <a:gd name="T45" fmla="*/ 1261 h 1420"/>
                <a:gd name="T46" fmla="*/ 1275 w 1405"/>
                <a:gd name="T47" fmla="*/ 1135 h 1420"/>
                <a:gd name="T48" fmla="*/ 1226 w 1405"/>
                <a:gd name="T49" fmla="*/ 991 h 1420"/>
                <a:gd name="T50" fmla="*/ 1240 w 1405"/>
                <a:gd name="T51" fmla="*/ 925 h 1420"/>
                <a:gd name="T52" fmla="*/ 1289 w 1405"/>
                <a:gd name="T53" fmla="*/ 876 h 1420"/>
                <a:gd name="T54" fmla="*/ 1405 w 1405"/>
                <a:gd name="T55" fmla="*/ 827 h 1420"/>
                <a:gd name="T56" fmla="*/ 1335 w 1405"/>
                <a:gd name="T57" fmla="*/ 572 h 1420"/>
                <a:gd name="T58" fmla="*/ 1264 w 1405"/>
                <a:gd name="T59" fmla="*/ 532 h 1420"/>
                <a:gd name="T60" fmla="*/ 1232 w 1405"/>
                <a:gd name="T61" fmla="*/ 478 h 1420"/>
                <a:gd name="T62" fmla="*/ 1238 w 1405"/>
                <a:gd name="T63" fmla="*/ 393 h 1420"/>
                <a:gd name="T64" fmla="*/ 1201 w 1405"/>
                <a:gd name="T65" fmla="*/ 218 h 1420"/>
                <a:gd name="T66" fmla="*/ 1030 w 1405"/>
                <a:gd name="T67" fmla="*/ 179 h 1420"/>
                <a:gd name="T68" fmla="*/ 945 w 1405"/>
                <a:gd name="T69" fmla="*/ 189 h 1420"/>
                <a:gd name="T70" fmla="*/ 888 w 1405"/>
                <a:gd name="T71" fmla="*/ 162 h 1420"/>
                <a:gd name="T72" fmla="*/ 848 w 1405"/>
                <a:gd name="T73" fmla="*/ 87 h 1420"/>
                <a:gd name="T74" fmla="*/ 600 w 1405"/>
                <a:gd name="T75" fmla="*/ 0 h 1420"/>
                <a:gd name="T76" fmla="*/ 887 w 1405"/>
                <a:gd name="T77" fmla="*/ 412 h 1420"/>
                <a:gd name="T78" fmla="*/ 991 w 1405"/>
                <a:gd name="T79" fmla="*/ 509 h 1420"/>
                <a:gd name="T80" fmla="*/ 1045 w 1405"/>
                <a:gd name="T81" fmla="*/ 640 h 1420"/>
                <a:gd name="T82" fmla="*/ 1050 w 1405"/>
                <a:gd name="T83" fmla="*/ 748 h 1420"/>
                <a:gd name="T84" fmla="*/ 993 w 1405"/>
                <a:gd name="T85" fmla="*/ 908 h 1420"/>
                <a:gd name="T86" fmla="*/ 866 w 1405"/>
                <a:gd name="T87" fmla="*/ 1021 h 1420"/>
                <a:gd name="T88" fmla="*/ 759 w 1405"/>
                <a:gd name="T89" fmla="*/ 1057 h 1420"/>
                <a:gd name="T90" fmla="*/ 624 w 1405"/>
                <a:gd name="T91" fmla="*/ 1051 h 1420"/>
                <a:gd name="T92" fmla="*/ 505 w 1405"/>
                <a:gd name="T93" fmla="*/ 996 h 1420"/>
                <a:gd name="T94" fmla="*/ 414 w 1405"/>
                <a:gd name="T95" fmla="*/ 902 h 1420"/>
                <a:gd name="T96" fmla="*/ 363 w 1405"/>
                <a:gd name="T97" fmla="*/ 781 h 1420"/>
                <a:gd name="T98" fmla="*/ 362 w 1405"/>
                <a:gd name="T99" fmla="*/ 645 h 1420"/>
                <a:gd name="T100" fmla="*/ 415 w 1405"/>
                <a:gd name="T101" fmla="*/ 524 h 1420"/>
                <a:gd name="T102" fmla="*/ 556 w 1405"/>
                <a:gd name="T103" fmla="*/ 395 h 1420"/>
                <a:gd name="T104" fmla="*/ 666 w 1405"/>
                <a:gd name="T105" fmla="*/ 369 h 1420"/>
                <a:gd name="T106" fmla="*/ 850 w 1405"/>
                <a:gd name="T107" fmla="*/ 393 h 1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05" h="1420">
                  <a:moveTo>
                    <a:pt x="576" y="58"/>
                  </a:moveTo>
                  <a:lnTo>
                    <a:pt x="557" y="108"/>
                  </a:lnTo>
                  <a:lnTo>
                    <a:pt x="551" y="133"/>
                  </a:lnTo>
                  <a:lnTo>
                    <a:pt x="548" y="142"/>
                  </a:lnTo>
                  <a:lnTo>
                    <a:pt x="521" y="166"/>
                  </a:lnTo>
                  <a:lnTo>
                    <a:pt x="501" y="177"/>
                  </a:lnTo>
                  <a:lnTo>
                    <a:pt x="485" y="185"/>
                  </a:lnTo>
                  <a:lnTo>
                    <a:pt x="458" y="193"/>
                  </a:lnTo>
                  <a:lnTo>
                    <a:pt x="431" y="193"/>
                  </a:lnTo>
                  <a:lnTo>
                    <a:pt x="394" y="182"/>
                  </a:lnTo>
                  <a:lnTo>
                    <a:pt x="368" y="173"/>
                  </a:lnTo>
                  <a:lnTo>
                    <a:pt x="285" y="143"/>
                  </a:lnTo>
                  <a:lnTo>
                    <a:pt x="206" y="222"/>
                  </a:lnTo>
                  <a:lnTo>
                    <a:pt x="128" y="300"/>
                  </a:lnTo>
                  <a:lnTo>
                    <a:pt x="163" y="373"/>
                  </a:lnTo>
                  <a:lnTo>
                    <a:pt x="172" y="391"/>
                  </a:lnTo>
                  <a:lnTo>
                    <a:pt x="183" y="425"/>
                  </a:lnTo>
                  <a:lnTo>
                    <a:pt x="187" y="454"/>
                  </a:lnTo>
                  <a:lnTo>
                    <a:pt x="185" y="481"/>
                  </a:lnTo>
                  <a:lnTo>
                    <a:pt x="175" y="504"/>
                  </a:lnTo>
                  <a:lnTo>
                    <a:pt x="159" y="525"/>
                  </a:lnTo>
                  <a:lnTo>
                    <a:pt x="135" y="543"/>
                  </a:lnTo>
                  <a:lnTo>
                    <a:pt x="103" y="559"/>
                  </a:lnTo>
                  <a:lnTo>
                    <a:pt x="85" y="567"/>
                  </a:lnTo>
                  <a:lnTo>
                    <a:pt x="10" y="595"/>
                  </a:lnTo>
                  <a:lnTo>
                    <a:pt x="5" y="712"/>
                  </a:lnTo>
                  <a:lnTo>
                    <a:pt x="0" y="830"/>
                  </a:lnTo>
                  <a:lnTo>
                    <a:pt x="76" y="852"/>
                  </a:lnTo>
                  <a:lnTo>
                    <a:pt x="99" y="858"/>
                  </a:lnTo>
                  <a:lnTo>
                    <a:pt x="131" y="872"/>
                  </a:lnTo>
                  <a:lnTo>
                    <a:pt x="154" y="889"/>
                  </a:lnTo>
                  <a:lnTo>
                    <a:pt x="169" y="914"/>
                  </a:lnTo>
                  <a:lnTo>
                    <a:pt x="176" y="930"/>
                  </a:lnTo>
                  <a:lnTo>
                    <a:pt x="184" y="949"/>
                  </a:lnTo>
                  <a:lnTo>
                    <a:pt x="191" y="977"/>
                  </a:lnTo>
                  <a:lnTo>
                    <a:pt x="190" y="1002"/>
                  </a:lnTo>
                  <a:lnTo>
                    <a:pt x="177" y="1033"/>
                  </a:lnTo>
                  <a:lnTo>
                    <a:pt x="166" y="1055"/>
                  </a:lnTo>
                  <a:lnTo>
                    <a:pt x="131" y="1123"/>
                  </a:lnTo>
                  <a:lnTo>
                    <a:pt x="215" y="1205"/>
                  </a:lnTo>
                  <a:lnTo>
                    <a:pt x="296" y="1288"/>
                  </a:lnTo>
                  <a:lnTo>
                    <a:pt x="363" y="1253"/>
                  </a:lnTo>
                  <a:lnTo>
                    <a:pt x="384" y="1244"/>
                  </a:lnTo>
                  <a:lnTo>
                    <a:pt x="415" y="1232"/>
                  </a:lnTo>
                  <a:lnTo>
                    <a:pt x="441" y="1229"/>
                  </a:lnTo>
                  <a:lnTo>
                    <a:pt x="467" y="1234"/>
                  </a:lnTo>
                  <a:lnTo>
                    <a:pt x="483" y="1240"/>
                  </a:lnTo>
                  <a:lnTo>
                    <a:pt x="497" y="1246"/>
                  </a:lnTo>
                  <a:lnTo>
                    <a:pt x="520" y="1261"/>
                  </a:lnTo>
                  <a:lnTo>
                    <a:pt x="538" y="1283"/>
                  </a:lnTo>
                  <a:lnTo>
                    <a:pt x="553" y="1317"/>
                  </a:lnTo>
                  <a:lnTo>
                    <a:pt x="561" y="1340"/>
                  </a:lnTo>
                  <a:lnTo>
                    <a:pt x="588" y="1420"/>
                  </a:lnTo>
                  <a:lnTo>
                    <a:pt x="706" y="1415"/>
                  </a:lnTo>
                  <a:lnTo>
                    <a:pt x="823" y="1410"/>
                  </a:lnTo>
                  <a:lnTo>
                    <a:pt x="848" y="1338"/>
                  </a:lnTo>
                  <a:lnTo>
                    <a:pt x="854" y="1320"/>
                  </a:lnTo>
                  <a:lnTo>
                    <a:pt x="869" y="1290"/>
                  </a:lnTo>
                  <a:lnTo>
                    <a:pt x="888" y="1266"/>
                  </a:lnTo>
                  <a:lnTo>
                    <a:pt x="910" y="1249"/>
                  </a:lnTo>
                  <a:lnTo>
                    <a:pt x="934" y="1239"/>
                  </a:lnTo>
                  <a:lnTo>
                    <a:pt x="961" y="1235"/>
                  </a:lnTo>
                  <a:lnTo>
                    <a:pt x="991" y="1237"/>
                  </a:lnTo>
                  <a:lnTo>
                    <a:pt x="1024" y="1246"/>
                  </a:lnTo>
                  <a:lnTo>
                    <a:pt x="1041" y="1253"/>
                  </a:lnTo>
                  <a:lnTo>
                    <a:pt x="1068" y="1265"/>
                  </a:lnTo>
                  <a:lnTo>
                    <a:pt x="1100" y="1272"/>
                  </a:lnTo>
                  <a:lnTo>
                    <a:pt x="1118" y="1272"/>
                  </a:lnTo>
                  <a:lnTo>
                    <a:pt x="1145" y="1261"/>
                  </a:lnTo>
                  <a:lnTo>
                    <a:pt x="1188" y="1225"/>
                  </a:lnTo>
                  <a:lnTo>
                    <a:pt x="1216" y="1195"/>
                  </a:lnTo>
                  <a:lnTo>
                    <a:pt x="1275" y="1135"/>
                  </a:lnTo>
                  <a:lnTo>
                    <a:pt x="1245" y="1053"/>
                  </a:lnTo>
                  <a:lnTo>
                    <a:pt x="1236" y="1028"/>
                  </a:lnTo>
                  <a:lnTo>
                    <a:pt x="1226" y="991"/>
                  </a:lnTo>
                  <a:lnTo>
                    <a:pt x="1225" y="964"/>
                  </a:lnTo>
                  <a:lnTo>
                    <a:pt x="1232" y="939"/>
                  </a:lnTo>
                  <a:lnTo>
                    <a:pt x="1240" y="925"/>
                  </a:lnTo>
                  <a:lnTo>
                    <a:pt x="1246" y="914"/>
                  </a:lnTo>
                  <a:lnTo>
                    <a:pt x="1264" y="894"/>
                  </a:lnTo>
                  <a:lnTo>
                    <a:pt x="1289" y="876"/>
                  </a:lnTo>
                  <a:lnTo>
                    <a:pt x="1318" y="860"/>
                  </a:lnTo>
                  <a:lnTo>
                    <a:pt x="1335" y="853"/>
                  </a:lnTo>
                  <a:lnTo>
                    <a:pt x="1405" y="827"/>
                  </a:lnTo>
                  <a:lnTo>
                    <a:pt x="1405" y="710"/>
                  </a:lnTo>
                  <a:lnTo>
                    <a:pt x="1405" y="595"/>
                  </a:lnTo>
                  <a:lnTo>
                    <a:pt x="1335" y="572"/>
                  </a:lnTo>
                  <a:lnTo>
                    <a:pt x="1317" y="565"/>
                  </a:lnTo>
                  <a:lnTo>
                    <a:pt x="1287" y="550"/>
                  </a:lnTo>
                  <a:lnTo>
                    <a:pt x="1264" y="532"/>
                  </a:lnTo>
                  <a:lnTo>
                    <a:pt x="1247" y="509"/>
                  </a:lnTo>
                  <a:lnTo>
                    <a:pt x="1240" y="495"/>
                  </a:lnTo>
                  <a:lnTo>
                    <a:pt x="1232" y="478"/>
                  </a:lnTo>
                  <a:lnTo>
                    <a:pt x="1223" y="451"/>
                  </a:lnTo>
                  <a:lnTo>
                    <a:pt x="1225" y="426"/>
                  </a:lnTo>
                  <a:lnTo>
                    <a:pt x="1238" y="393"/>
                  </a:lnTo>
                  <a:lnTo>
                    <a:pt x="1250" y="370"/>
                  </a:lnTo>
                  <a:lnTo>
                    <a:pt x="1286" y="302"/>
                  </a:lnTo>
                  <a:lnTo>
                    <a:pt x="1201" y="218"/>
                  </a:lnTo>
                  <a:lnTo>
                    <a:pt x="1118" y="133"/>
                  </a:lnTo>
                  <a:lnTo>
                    <a:pt x="1051" y="168"/>
                  </a:lnTo>
                  <a:lnTo>
                    <a:pt x="1030" y="179"/>
                  </a:lnTo>
                  <a:lnTo>
                    <a:pt x="998" y="191"/>
                  </a:lnTo>
                  <a:lnTo>
                    <a:pt x="973" y="194"/>
                  </a:lnTo>
                  <a:lnTo>
                    <a:pt x="945" y="189"/>
                  </a:lnTo>
                  <a:lnTo>
                    <a:pt x="928" y="183"/>
                  </a:lnTo>
                  <a:lnTo>
                    <a:pt x="912" y="177"/>
                  </a:lnTo>
                  <a:lnTo>
                    <a:pt x="888" y="162"/>
                  </a:lnTo>
                  <a:lnTo>
                    <a:pt x="870" y="140"/>
                  </a:lnTo>
                  <a:lnTo>
                    <a:pt x="855" y="108"/>
                  </a:lnTo>
                  <a:lnTo>
                    <a:pt x="848" y="87"/>
                  </a:lnTo>
                  <a:lnTo>
                    <a:pt x="825" y="10"/>
                  </a:lnTo>
                  <a:lnTo>
                    <a:pt x="713" y="5"/>
                  </a:lnTo>
                  <a:lnTo>
                    <a:pt x="600" y="0"/>
                  </a:lnTo>
                  <a:lnTo>
                    <a:pt x="576" y="58"/>
                  </a:lnTo>
                  <a:close/>
                  <a:moveTo>
                    <a:pt x="865" y="400"/>
                  </a:moveTo>
                  <a:lnTo>
                    <a:pt x="887" y="412"/>
                  </a:lnTo>
                  <a:lnTo>
                    <a:pt x="927" y="440"/>
                  </a:lnTo>
                  <a:lnTo>
                    <a:pt x="962" y="473"/>
                  </a:lnTo>
                  <a:lnTo>
                    <a:pt x="991" y="509"/>
                  </a:lnTo>
                  <a:lnTo>
                    <a:pt x="1015" y="549"/>
                  </a:lnTo>
                  <a:lnTo>
                    <a:pt x="1033" y="593"/>
                  </a:lnTo>
                  <a:lnTo>
                    <a:pt x="1045" y="640"/>
                  </a:lnTo>
                  <a:lnTo>
                    <a:pt x="1051" y="691"/>
                  </a:lnTo>
                  <a:lnTo>
                    <a:pt x="1051" y="718"/>
                  </a:lnTo>
                  <a:lnTo>
                    <a:pt x="1050" y="748"/>
                  </a:lnTo>
                  <a:lnTo>
                    <a:pt x="1040" y="805"/>
                  </a:lnTo>
                  <a:lnTo>
                    <a:pt x="1021" y="859"/>
                  </a:lnTo>
                  <a:lnTo>
                    <a:pt x="993" y="908"/>
                  </a:lnTo>
                  <a:lnTo>
                    <a:pt x="957" y="952"/>
                  </a:lnTo>
                  <a:lnTo>
                    <a:pt x="915" y="990"/>
                  </a:lnTo>
                  <a:lnTo>
                    <a:pt x="866" y="1021"/>
                  </a:lnTo>
                  <a:lnTo>
                    <a:pt x="812" y="1044"/>
                  </a:lnTo>
                  <a:lnTo>
                    <a:pt x="783" y="1052"/>
                  </a:lnTo>
                  <a:lnTo>
                    <a:pt x="759" y="1057"/>
                  </a:lnTo>
                  <a:lnTo>
                    <a:pt x="713" y="1061"/>
                  </a:lnTo>
                  <a:lnTo>
                    <a:pt x="668" y="1059"/>
                  </a:lnTo>
                  <a:lnTo>
                    <a:pt x="624" y="1051"/>
                  </a:lnTo>
                  <a:lnTo>
                    <a:pt x="582" y="1038"/>
                  </a:lnTo>
                  <a:lnTo>
                    <a:pt x="542" y="1019"/>
                  </a:lnTo>
                  <a:lnTo>
                    <a:pt x="505" y="996"/>
                  </a:lnTo>
                  <a:lnTo>
                    <a:pt x="471" y="968"/>
                  </a:lnTo>
                  <a:lnTo>
                    <a:pt x="441" y="937"/>
                  </a:lnTo>
                  <a:lnTo>
                    <a:pt x="414" y="902"/>
                  </a:lnTo>
                  <a:lnTo>
                    <a:pt x="392" y="864"/>
                  </a:lnTo>
                  <a:lnTo>
                    <a:pt x="375" y="824"/>
                  </a:lnTo>
                  <a:lnTo>
                    <a:pt x="363" y="781"/>
                  </a:lnTo>
                  <a:lnTo>
                    <a:pt x="357" y="737"/>
                  </a:lnTo>
                  <a:lnTo>
                    <a:pt x="356" y="692"/>
                  </a:lnTo>
                  <a:lnTo>
                    <a:pt x="362" y="645"/>
                  </a:lnTo>
                  <a:lnTo>
                    <a:pt x="368" y="622"/>
                  </a:lnTo>
                  <a:lnTo>
                    <a:pt x="378" y="590"/>
                  </a:lnTo>
                  <a:lnTo>
                    <a:pt x="415" y="524"/>
                  </a:lnTo>
                  <a:lnTo>
                    <a:pt x="467" y="462"/>
                  </a:lnTo>
                  <a:lnTo>
                    <a:pt x="526" y="412"/>
                  </a:lnTo>
                  <a:lnTo>
                    <a:pt x="556" y="395"/>
                  </a:lnTo>
                  <a:lnTo>
                    <a:pt x="571" y="388"/>
                  </a:lnTo>
                  <a:lnTo>
                    <a:pt x="606" y="378"/>
                  </a:lnTo>
                  <a:lnTo>
                    <a:pt x="666" y="369"/>
                  </a:lnTo>
                  <a:lnTo>
                    <a:pt x="753" y="371"/>
                  </a:lnTo>
                  <a:lnTo>
                    <a:pt x="814" y="381"/>
                  </a:lnTo>
                  <a:lnTo>
                    <a:pt x="850" y="393"/>
                  </a:lnTo>
                  <a:lnTo>
                    <a:pt x="865" y="4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780">
              <a:extLst>
                <a:ext uri="{FF2B5EF4-FFF2-40B4-BE49-F238E27FC236}">
                  <a16:creationId xmlns:a16="http://schemas.microsoft.com/office/drawing/2014/main" id="{0BD636E2-9304-2918-AB6E-6B12B0C430C3}"/>
                </a:ext>
              </a:extLst>
            </p:cNvPr>
            <p:cNvSpPr>
              <a:spLocks/>
            </p:cNvSpPr>
            <p:nvPr/>
          </p:nvSpPr>
          <p:spPr bwMode="auto">
            <a:xfrm>
              <a:off x="635000" y="4838701"/>
              <a:ext cx="223838" cy="222250"/>
            </a:xfrm>
            <a:custGeom>
              <a:avLst/>
              <a:gdLst>
                <a:gd name="T0" fmla="*/ 148 w 398"/>
                <a:gd name="T1" fmla="*/ 75 h 399"/>
                <a:gd name="T2" fmla="*/ 148 w 398"/>
                <a:gd name="T3" fmla="*/ 150 h 399"/>
                <a:gd name="T4" fmla="*/ 72 w 398"/>
                <a:gd name="T5" fmla="*/ 150 h 399"/>
                <a:gd name="T6" fmla="*/ 46 w 398"/>
                <a:gd name="T7" fmla="*/ 150 h 399"/>
                <a:gd name="T8" fmla="*/ 15 w 398"/>
                <a:gd name="T9" fmla="*/ 153 h 399"/>
                <a:gd name="T10" fmla="*/ 2 w 398"/>
                <a:gd name="T11" fmla="*/ 162 h 399"/>
                <a:gd name="T12" fmla="*/ 0 w 398"/>
                <a:gd name="T13" fmla="*/ 180 h 399"/>
                <a:gd name="T14" fmla="*/ 2 w 398"/>
                <a:gd name="T15" fmla="*/ 195 h 399"/>
                <a:gd name="T16" fmla="*/ 4 w 398"/>
                <a:gd name="T17" fmla="*/ 210 h 399"/>
                <a:gd name="T18" fmla="*/ 11 w 398"/>
                <a:gd name="T19" fmla="*/ 229 h 399"/>
                <a:gd name="T20" fmla="*/ 27 w 398"/>
                <a:gd name="T21" fmla="*/ 240 h 399"/>
                <a:gd name="T22" fmla="*/ 55 w 398"/>
                <a:gd name="T23" fmla="*/ 245 h 399"/>
                <a:gd name="T24" fmla="*/ 77 w 398"/>
                <a:gd name="T25" fmla="*/ 247 h 399"/>
                <a:gd name="T26" fmla="*/ 101 w 398"/>
                <a:gd name="T27" fmla="*/ 249 h 399"/>
                <a:gd name="T28" fmla="*/ 130 w 398"/>
                <a:gd name="T29" fmla="*/ 254 h 399"/>
                <a:gd name="T30" fmla="*/ 145 w 398"/>
                <a:gd name="T31" fmla="*/ 268 h 399"/>
                <a:gd name="T32" fmla="*/ 150 w 398"/>
                <a:gd name="T33" fmla="*/ 298 h 399"/>
                <a:gd name="T34" fmla="*/ 152 w 398"/>
                <a:gd name="T35" fmla="*/ 322 h 399"/>
                <a:gd name="T36" fmla="*/ 154 w 398"/>
                <a:gd name="T37" fmla="*/ 343 h 399"/>
                <a:gd name="T38" fmla="*/ 159 w 398"/>
                <a:gd name="T39" fmla="*/ 372 h 399"/>
                <a:gd name="T40" fmla="*/ 170 w 398"/>
                <a:gd name="T41" fmla="*/ 388 h 399"/>
                <a:gd name="T42" fmla="*/ 189 w 398"/>
                <a:gd name="T43" fmla="*/ 395 h 399"/>
                <a:gd name="T44" fmla="*/ 203 w 398"/>
                <a:gd name="T45" fmla="*/ 397 h 399"/>
                <a:gd name="T46" fmla="*/ 218 w 398"/>
                <a:gd name="T47" fmla="*/ 399 h 399"/>
                <a:gd name="T48" fmla="*/ 237 w 398"/>
                <a:gd name="T49" fmla="*/ 397 h 399"/>
                <a:gd name="T50" fmla="*/ 246 w 398"/>
                <a:gd name="T51" fmla="*/ 383 h 399"/>
                <a:gd name="T52" fmla="*/ 248 w 398"/>
                <a:gd name="T53" fmla="*/ 352 h 399"/>
                <a:gd name="T54" fmla="*/ 248 w 398"/>
                <a:gd name="T55" fmla="*/ 327 h 399"/>
                <a:gd name="T56" fmla="*/ 248 w 398"/>
                <a:gd name="T57" fmla="*/ 250 h 399"/>
                <a:gd name="T58" fmla="*/ 323 w 398"/>
                <a:gd name="T59" fmla="*/ 250 h 399"/>
                <a:gd name="T60" fmla="*/ 348 w 398"/>
                <a:gd name="T61" fmla="*/ 250 h 399"/>
                <a:gd name="T62" fmla="*/ 379 w 398"/>
                <a:gd name="T63" fmla="*/ 248 h 399"/>
                <a:gd name="T64" fmla="*/ 394 w 398"/>
                <a:gd name="T65" fmla="*/ 238 h 399"/>
                <a:gd name="T66" fmla="*/ 398 w 398"/>
                <a:gd name="T67" fmla="*/ 218 h 399"/>
                <a:gd name="T68" fmla="*/ 398 w 398"/>
                <a:gd name="T69" fmla="*/ 202 h 399"/>
                <a:gd name="T70" fmla="*/ 398 w 398"/>
                <a:gd name="T71" fmla="*/ 186 h 399"/>
                <a:gd name="T72" fmla="*/ 394 w 398"/>
                <a:gd name="T73" fmla="*/ 165 h 399"/>
                <a:gd name="T74" fmla="*/ 380 w 398"/>
                <a:gd name="T75" fmla="*/ 154 h 399"/>
                <a:gd name="T76" fmla="*/ 351 w 398"/>
                <a:gd name="T77" fmla="*/ 149 h 399"/>
                <a:gd name="T78" fmla="*/ 328 w 398"/>
                <a:gd name="T79" fmla="*/ 147 h 399"/>
                <a:gd name="T80" fmla="*/ 304 w 398"/>
                <a:gd name="T81" fmla="*/ 145 h 399"/>
                <a:gd name="T82" fmla="*/ 273 w 398"/>
                <a:gd name="T83" fmla="*/ 140 h 399"/>
                <a:gd name="T84" fmla="*/ 259 w 398"/>
                <a:gd name="T85" fmla="*/ 125 h 399"/>
                <a:gd name="T86" fmla="*/ 253 w 398"/>
                <a:gd name="T87" fmla="*/ 95 h 399"/>
                <a:gd name="T88" fmla="*/ 252 w 398"/>
                <a:gd name="T89" fmla="*/ 70 h 399"/>
                <a:gd name="T90" fmla="*/ 250 w 398"/>
                <a:gd name="T91" fmla="*/ 48 h 399"/>
                <a:gd name="T92" fmla="*/ 245 w 398"/>
                <a:gd name="T93" fmla="*/ 19 h 399"/>
                <a:gd name="T94" fmla="*/ 234 w 398"/>
                <a:gd name="T95" fmla="*/ 5 h 399"/>
                <a:gd name="T96" fmla="*/ 213 w 398"/>
                <a:gd name="T97" fmla="*/ 0 h 399"/>
                <a:gd name="T98" fmla="*/ 197 w 398"/>
                <a:gd name="T99" fmla="*/ 0 h 399"/>
                <a:gd name="T100" fmla="*/ 181 w 398"/>
                <a:gd name="T101" fmla="*/ 0 h 399"/>
                <a:gd name="T102" fmla="*/ 160 w 398"/>
                <a:gd name="T103" fmla="*/ 5 h 399"/>
                <a:gd name="T104" fmla="*/ 151 w 398"/>
                <a:gd name="T105" fmla="*/ 19 h 399"/>
                <a:gd name="T106" fmla="*/ 148 w 398"/>
                <a:gd name="T107" fmla="*/ 51 h 399"/>
                <a:gd name="T108" fmla="*/ 148 w 398"/>
                <a:gd name="T109" fmla="*/ 75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98" h="399">
                  <a:moveTo>
                    <a:pt x="148" y="75"/>
                  </a:moveTo>
                  <a:lnTo>
                    <a:pt x="148" y="150"/>
                  </a:lnTo>
                  <a:lnTo>
                    <a:pt x="72" y="150"/>
                  </a:lnTo>
                  <a:lnTo>
                    <a:pt x="46" y="150"/>
                  </a:lnTo>
                  <a:lnTo>
                    <a:pt x="15" y="153"/>
                  </a:lnTo>
                  <a:lnTo>
                    <a:pt x="2" y="162"/>
                  </a:lnTo>
                  <a:lnTo>
                    <a:pt x="0" y="180"/>
                  </a:lnTo>
                  <a:lnTo>
                    <a:pt x="2" y="195"/>
                  </a:lnTo>
                  <a:lnTo>
                    <a:pt x="4" y="210"/>
                  </a:lnTo>
                  <a:lnTo>
                    <a:pt x="11" y="229"/>
                  </a:lnTo>
                  <a:lnTo>
                    <a:pt x="27" y="240"/>
                  </a:lnTo>
                  <a:lnTo>
                    <a:pt x="55" y="245"/>
                  </a:lnTo>
                  <a:lnTo>
                    <a:pt x="77" y="247"/>
                  </a:lnTo>
                  <a:lnTo>
                    <a:pt x="101" y="249"/>
                  </a:lnTo>
                  <a:lnTo>
                    <a:pt x="130" y="254"/>
                  </a:lnTo>
                  <a:lnTo>
                    <a:pt x="145" y="268"/>
                  </a:lnTo>
                  <a:lnTo>
                    <a:pt x="150" y="298"/>
                  </a:lnTo>
                  <a:lnTo>
                    <a:pt x="152" y="322"/>
                  </a:lnTo>
                  <a:lnTo>
                    <a:pt x="154" y="343"/>
                  </a:lnTo>
                  <a:lnTo>
                    <a:pt x="159" y="372"/>
                  </a:lnTo>
                  <a:lnTo>
                    <a:pt x="170" y="388"/>
                  </a:lnTo>
                  <a:lnTo>
                    <a:pt x="189" y="395"/>
                  </a:lnTo>
                  <a:lnTo>
                    <a:pt x="203" y="397"/>
                  </a:lnTo>
                  <a:lnTo>
                    <a:pt x="218" y="399"/>
                  </a:lnTo>
                  <a:lnTo>
                    <a:pt x="237" y="397"/>
                  </a:lnTo>
                  <a:lnTo>
                    <a:pt x="246" y="383"/>
                  </a:lnTo>
                  <a:lnTo>
                    <a:pt x="248" y="352"/>
                  </a:lnTo>
                  <a:lnTo>
                    <a:pt x="248" y="327"/>
                  </a:lnTo>
                  <a:lnTo>
                    <a:pt x="248" y="250"/>
                  </a:lnTo>
                  <a:lnTo>
                    <a:pt x="323" y="250"/>
                  </a:lnTo>
                  <a:lnTo>
                    <a:pt x="348" y="250"/>
                  </a:lnTo>
                  <a:lnTo>
                    <a:pt x="379" y="248"/>
                  </a:lnTo>
                  <a:lnTo>
                    <a:pt x="394" y="238"/>
                  </a:lnTo>
                  <a:lnTo>
                    <a:pt x="398" y="218"/>
                  </a:lnTo>
                  <a:lnTo>
                    <a:pt x="398" y="202"/>
                  </a:lnTo>
                  <a:lnTo>
                    <a:pt x="398" y="186"/>
                  </a:lnTo>
                  <a:lnTo>
                    <a:pt x="394" y="165"/>
                  </a:lnTo>
                  <a:lnTo>
                    <a:pt x="380" y="154"/>
                  </a:lnTo>
                  <a:lnTo>
                    <a:pt x="351" y="149"/>
                  </a:lnTo>
                  <a:lnTo>
                    <a:pt x="328" y="147"/>
                  </a:lnTo>
                  <a:lnTo>
                    <a:pt x="304" y="145"/>
                  </a:lnTo>
                  <a:lnTo>
                    <a:pt x="273" y="140"/>
                  </a:lnTo>
                  <a:lnTo>
                    <a:pt x="259" y="125"/>
                  </a:lnTo>
                  <a:lnTo>
                    <a:pt x="253" y="95"/>
                  </a:lnTo>
                  <a:lnTo>
                    <a:pt x="252" y="70"/>
                  </a:lnTo>
                  <a:lnTo>
                    <a:pt x="250" y="48"/>
                  </a:lnTo>
                  <a:lnTo>
                    <a:pt x="245" y="19"/>
                  </a:lnTo>
                  <a:lnTo>
                    <a:pt x="234" y="5"/>
                  </a:lnTo>
                  <a:lnTo>
                    <a:pt x="213" y="0"/>
                  </a:lnTo>
                  <a:lnTo>
                    <a:pt x="197" y="0"/>
                  </a:lnTo>
                  <a:lnTo>
                    <a:pt x="181" y="0"/>
                  </a:lnTo>
                  <a:lnTo>
                    <a:pt x="160" y="5"/>
                  </a:lnTo>
                  <a:lnTo>
                    <a:pt x="151" y="19"/>
                  </a:lnTo>
                  <a:lnTo>
                    <a:pt x="148" y="51"/>
                  </a:lnTo>
                  <a:lnTo>
                    <a:pt x="148"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781">
              <a:extLst>
                <a:ext uri="{FF2B5EF4-FFF2-40B4-BE49-F238E27FC236}">
                  <a16:creationId xmlns:a16="http://schemas.microsoft.com/office/drawing/2014/main" id="{3A194C54-A49A-AF00-0B95-52FB7D7E3F27}"/>
                </a:ext>
              </a:extLst>
            </p:cNvPr>
            <p:cNvSpPr>
              <a:spLocks/>
            </p:cNvSpPr>
            <p:nvPr/>
          </p:nvSpPr>
          <p:spPr bwMode="auto">
            <a:xfrm>
              <a:off x="1773238" y="4586288"/>
              <a:ext cx="252413" cy="642938"/>
            </a:xfrm>
            <a:custGeom>
              <a:avLst/>
              <a:gdLst>
                <a:gd name="T0" fmla="*/ 100 w 451"/>
                <a:gd name="T1" fmla="*/ 150 h 1150"/>
                <a:gd name="T2" fmla="*/ 60 w 451"/>
                <a:gd name="T3" fmla="*/ 211 h 1150"/>
                <a:gd name="T4" fmla="*/ 5 w 451"/>
                <a:gd name="T5" fmla="*/ 299 h 1150"/>
                <a:gd name="T6" fmla="*/ 0 w 451"/>
                <a:gd name="T7" fmla="*/ 312 h 1150"/>
                <a:gd name="T8" fmla="*/ 2 w 451"/>
                <a:gd name="T9" fmla="*/ 319 h 1150"/>
                <a:gd name="T10" fmla="*/ 21 w 451"/>
                <a:gd name="T11" fmla="*/ 338 h 1150"/>
                <a:gd name="T12" fmla="*/ 35 w 451"/>
                <a:gd name="T13" fmla="*/ 349 h 1150"/>
                <a:gd name="T14" fmla="*/ 54 w 451"/>
                <a:gd name="T15" fmla="*/ 360 h 1150"/>
                <a:gd name="T16" fmla="*/ 72 w 451"/>
                <a:gd name="T17" fmla="*/ 361 h 1150"/>
                <a:gd name="T18" fmla="*/ 81 w 451"/>
                <a:gd name="T19" fmla="*/ 354 h 1150"/>
                <a:gd name="T20" fmla="*/ 86 w 451"/>
                <a:gd name="T21" fmla="*/ 347 h 1150"/>
                <a:gd name="T22" fmla="*/ 105 w 451"/>
                <a:gd name="T23" fmla="*/ 317 h 1150"/>
                <a:gd name="T24" fmla="*/ 138 w 451"/>
                <a:gd name="T25" fmla="*/ 267 h 1150"/>
                <a:gd name="T26" fmla="*/ 175 w 451"/>
                <a:gd name="T27" fmla="*/ 209 h 1150"/>
                <a:gd name="T28" fmla="*/ 180 w 451"/>
                <a:gd name="T29" fmla="*/ 679 h 1150"/>
                <a:gd name="T30" fmla="*/ 183 w 451"/>
                <a:gd name="T31" fmla="*/ 1150 h 1150"/>
                <a:gd name="T32" fmla="*/ 233 w 451"/>
                <a:gd name="T33" fmla="*/ 1150 h 1150"/>
                <a:gd name="T34" fmla="*/ 283 w 451"/>
                <a:gd name="T35" fmla="*/ 1150 h 1150"/>
                <a:gd name="T36" fmla="*/ 283 w 451"/>
                <a:gd name="T37" fmla="*/ 679 h 1150"/>
                <a:gd name="T38" fmla="*/ 283 w 451"/>
                <a:gd name="T39" fmla="*/ 209 h 1150"/>
                <a:gd name="T40" fmla="*/ 335 w 451"/>
                <a:gd name="T41" fmla="*/ 287 h 1150"/>
                <a:gd name="T42" fmla="*/ 356 w 451"/>
                <a:gd name="T43" fmla="*/ 319 h 1150"/>
                <a:gd name="T44" fmla="*/ 392 w 451"/>
                <a:gd name="T45" fmla="*/ 363 h 1150"/>
                <a:gd name="T46" fmla="*/ 400 w 451"/>
                <a:gd name="T47" fmla="*/ 367 h 1150"/>
                <a:gd name="T48" fmla="*/ 406 w 451"/>
                <a:gd name="T49" fmla="*/ 365 h 1150"/>
                <a:gd name="T50" fmla="*/ 427 w 451"/>
                <a:gd name="T51" fmla="*/ 349 h 1150"/>
                <a:gd name="T52" fmla="*/ 438 w 451"/>
                <a:gd name="T53" fmla="*/ 337 h 1150"/>
                <a:gd name="T54" fmla="*/ 446 w 451"/>
                <a:gd name="T55" fmla="*/ 327 h 1150"/>
                <a:gd name="T56" fmla="*/ 451 w 451"/>
                <a:gd name="T57" fmla="*/ 305 h 1150"/>
                <a:gd name="T58" fmla="*/ 436 w 451"/>
                <a:gd name="T59" fmla="*/ 268 h 1150"/>
                <a:gd name="T60" fmla="*/ 396 w 451"/>
                <a:gd name="T61" fmla="*/ 203 h 1150"/>
                <a:gd name="T62" fmla="*/ 363 w 451"/>
                <a:gd name="T63" fmla="*/ 154 h 1150"/>
                <a:gd name="T64" fmla="*/ 316 w 451"/>
                <a:gd name="T65" fmla="*/ 84 h 1150"/>
                <a:gd name="T66" fmla="*/ 264 w 451"/>
                <a:gd name="T67" fmla="*/ 22 h 1150"/>
                <a:gd name="T68" fmla="*/ 240 w 451"/>
                <a:gd name="T69" fmla="*/ 2 h 1150"/>
                <a:gd name="T70" fmla="*/ 231 w 451"/>
                <a:gd name="T71" fmla="*/ 0 h 1150"/>
                <a:gd name="T72" fmla="*/ 223 w 451"/>
                <a:gd name="T73" fmla="*/ 2 h 1150"/>
                <a:gd name="T74" fmla="*/ 198 w 451"/>
                <a:gd name="T75" fmla="*/ 21 h 1150"/>
                <a:gd name="T76" fmla="*/ 146 w 451"/>
                <a:gd name="T77" fmla="*/ 82 h 1150"/>
                <a:gd name="T78" fmla="*/ 100 w 451"/>
                <a:gd name="T79" fmla="*/ 150 h 1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51" h="1150">
                  <a:moveTo>
                    <a:pt x="100" y="150"/>
                  </a:moveTo>
                  <a:lnTo>
                    <a:pt x="60" y="211"/>
                  </a:lnTo>
                  <a:lnTo>
                    <a:pt x="5" y="299"/>
                  </a:lnTo>
                  <a:lnTo>
                    <a:pt x="0" y="312"/>
                  </a:lnTo>
                  <a:lnTo>
                    <a:pt x="2" y="319"/>
                  </a:lnTo>
                  <a:lnTo>
                    <a:pt x="21" y="338"/>
                  </a:lnTo>
                  <a:lnTo>
                    <a:pt x="35" y="349"/>
                  </a:lnTo>
                  <a:lnTo>
                    <a:pt x="54" y="360"/>
                  </a:lnTo>
                  <a:lnTo>
                    <a:pt x="72" y="361"/>
                  </a:lnTo>
                  <a:lnTo>
                    <a:pt x="81" y="354"/>
                  </a:lnTo>
                  <a:lnTo>
                    <a:pt x="86" y="347"/>
                  </a:lnTo>
                  <a:lnTo>
                    <a:pt x="105" y="317"/>
                  </a:lnTo>
                  <a:lnTo>
                    <a:pt x="138" y="267"/>
                  </a:lnTo>
                  <a:lnTo>
                    <a:pt x="175" y="209"/>
                  </a:lnTo>
                  <a:lnTo>
                    <a:pt x="180" y="679"/>
                  </a:lnTo>
                  <a:lnTo>
                    <a:pt x="183" y="1150"/>
                  </a:lnTo>
                  <a:lnTo>
                    <a:pt x="233" y="1150"/>
                  </a:lnTo>
                  <a:lnTo>
                    <a:pt x="283" y="1150"/>
                  </a:lnTo>
                  <a:lnTo>
                    <a:pt x="283" y="679"/>
                  </a:lnTo>
                  <a:lnTo>
                    <a:pt x="283" y="209"/>
                  </a:lnTo>
                  <a:lnTo>
                    <a:pt x="335" y="287"/>
                  </a:lnTo>
                  <a:lnTo>
                    <a:pt x="356" y="319"/>
                  </a:lnTo>
                  <a:lnTo>
                    <a:pt x="392" y="363"/>
                  </a:lnTo>
                  <a:lnTo>
                    <a:pt x="400" y="367"/>
                  </a:lnTo>
                  <a:lnTo>
                    <a:pt x="406" y="365"/>
                  </a:lnTo>
                  <a:lnTo>
                    <a:pt x="427" y="349"/>
                  </a:lnTo>
                  <a:lnTo>
                    <a:pt x="438" y="337"/>
                  </a:lnTo>
                  <a:lnTo>
                    <a:pt x="446" y="327"/>
                  </a:lnTo>
                  <a:lnTo>
                    <a:pt x="451" y="305"/>
                  </a:lnTo>
                  <a:lnTo>
                    <a:pt x="436" y="268"/>
                  </a:lnTo>
                  <a:lnTo>
                    <a:pt x="396" y="203"/>
                  </a:lnTo>
                  <a:lnTo>
                    <a:pt x="363" y="154"/>
                  </a:lnTo>
                  <a:lnTo>
                    <a:pt x="316" y="84"/>
                  </a:lnTo>
                  <a:lnTo>
                    <a:pt x="264" y="22"/>
                  </a:lnTo>
                  <a:lnTo>
                    <a:pt x="240" y="2"/>
                  </a:lnTo>
                  <a:lnTo>
                    <a:pt x="231" y="0"/>
                  </a:lnTo>
                  <a:lnTo>
                    <a:pt x="223" y="2"/>
                  </a:lnTo>
                  <a:lnTo>
                    <a:pt x="198" y="21"/>
                  </a:lnTo>
                  <a:lnTo>
                    <a:pt x="146" y="82"/>
                  </a:lnTo>
                  <a:lnTo>
                    <a:pt x="100" y="1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782">
              <a:extLst>
                <a:ext uri="{FF2B5EF4-FFF2-40B4-BE49-F238E27FC236}">
                  <a16:creationId xmlns:a16="http://schemas.microsoft.com/office/drawing/2014/main" id="{E911BBED-1CD6-D4D0-AB76-736F615E8B2D}"/>
                </a:ext>
              </a:extLst>
            </p:cNvPr>
            <p:cNvSpPr>
              <a:spLocks/>
            </p:cNvSpPr>
            <p:nvPr/>
          </p:nvSpPr>
          <p:spPr bwMode="auto">
            <a:xfrm>
              <a:off x="1343025" y="4756151"/>
              <a:ext cx="263525" cy="474663"/>
            </a:xfrm>
            <a:custGeom>
              <a:avLst/>
              <a:gdLst>
                <a:gd name="T0" fmla="*/ 197 w 470"/>
                <a:gd name="T1" fmla="*/ 27 h 850"/>
                <a:gd name="T2" fmla="*/ 158 w 470"/>
                <a:gd name="T3" fmla="*/ 79 h 850"/>
                <a:gd name="T4" fmla="*/ 85 w 470"/>
                <a:gd name="T5" fmla="*/ 185 h 850"/>
                <a:gd name="T6" fmla="*/ 0 w 470"/>
                <a:gd name="T7" fmla="*/ 313 h 850"/>
                <a:gd name="T8" fmla="*/ 43 w 470"/>
                <a:gd name="T9" fmla="*/ 342 h 850"/>
                <a:gd name="T10" fmla="*/ 67 w 470"/>
                <a:gd name="T11" fmla="*/ 357 h 850"/>
                <a:gd name="T12" fmla="*/ 87 w 470"/>
                <a:gd name="T13" fmla="*/ 361 h 850"/>
                <a:gd name="T14" fmla="*/ 97 w 470"/>
                <a:gd name="T15" fmla="*/ 354 h 850"/>
                <a:gd name="T16" fmla="*/ 102 w 470"/>
                <a:gd name="T17" fmla="*/ 347 h 850"/>
                <a:gd name="T18" fmla="*/ 122 w 470"/>
                <a:gd name="T19" fmla="*/ 315 h 850"/>
                <a:gd name="T20" fmla="*/ 155 w 470"/>
                <a:gd name="T21" fmla="*/ 265 h 850"/>
                <a:gd name="T22" fmla="*/ 192 w 470"/>
                <a:gd name="T23" fmla="*/ 207 h 850"/>
                <a:gd name="T24" fmla="*/ 197 w 470"/>
                <a:gd name="T25" fmla="*/ 528 h 850"/>
                <a:gd name="T26" fmla="*/ 200 w 470"/>
                <a:gd name="T27" fmla="*/ 850 h 850"/>
                <a:gd name="T28" fmla="*/ 247 w 470"/>
                <a:gd name="T29" fmla="*/ 845 h 850"/>
                <a:gd name="T30" fmla="*/ 292 w 470"/>
                <a:gd name="T31" fmla="*/ 840 h 850"/>
                <a:gd name="T32" fmla="*/ 300 w 470"/>
                <a:gd name="T33" fmla="*/ 533 h 850"/>
                <a:gd name="T34" fmla="*/ 308 w 470"/>
                <a:gd name="T35" fmla="*/ 225 h 850"/>
                <a:gd name="T36" fmla="*/ 355 w 470"/>
                <a:gd name="T37" fmla="*/ 297 h 850"/>
                <a:gd name="T38" fmla="*/ 371 w 470"/>
                <a:gd name="T39" fmla="*/ 320 h 850"/>
                <a:gd name="T40" fmla="*/ 392 w 470"/>
                <a:gd name="T41" fmla="*/ 348 h 850"/>
                <a:gd name="T42" fmla="*/ 408 w 470"/>
                <a:gd name="T43" fmla="*/ 357 h 850"/>
                <a:gd name="T44" fmla="*/ 426 w 470"/>
                <a:gd name="T45" fmla="*/ 351 h 850"/>
                <a:gd name="T46" fmla="*/ 438 w 470"/>
                <a:gd name="T47" fmla="*/ 343 h 850"/>
                <a:gd name="T48" fmla="*/ 453 w 470"/>
                <a:gd name="T49" fmla="*/ 332 h 850"/>
                <a:gd name="T50" fmla="*/ 470 w 470"/>
                <a:gd name="T51" fmla="*/ 309 h 850"/>
                <a:gd name="T52" fmla="*/ 470 w 470"/>
                <a:gd name="T53" fmla="*/ 300 h 850"/>
                <a:gd name="T54" fmla="*/ 463 w 470"/>
                <a:gd name="T55" fmla="*/ 285 h 850"/>
                <a:gd name="T56" fmla="*/ 410 w 470"/>
                <a:gd name="T57" fmla="*/ 197 h 850"/>
                <a:gd name="T58" fmla="*/ 372 w 470"/>
                <a:gd name="T59" fmla="*/ 140 h 850"/>
                <a:gd name="T60" fmla="*/ 337 w 470"/>
                <a:gd name="T61" fmla="*/ 89 h 850"/>
                <a:gd name="T62" fmla="*/ 286 w 470"/>
                <a:gd name="T63" fmla="*/ 25 h 850"/>
                <a:gd name="T64" fmla="*/ 256 w 470"/>
                <a:gd name="T65" fmla="*/ 3 h 850"/>
                <a:gd name="T66" fmla="*/ 238 w 470"/>
                <a:gd name="T67" fmla="*/ 0 h 850"/>
                <a:gd name="T68" fmla="*/ 222 w 470"/>
                <a:gd name="T69" fmla="*/ 5 h 850"/>
                <a:gd name="T70" fmla="*/ 205 w 470"/>
                <a:gd name="T71" fmla="*/ 17 h 850"/>
                <a:gd name="T72" fmla="*/ 197 w 470"/>
                <a:gd name="T73" fmla="*/ 27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70" h="850">
                  <a:moveTo>
                    <a:pt x="197" y="27"/>
                  </a:moveTo>
                  <a:lnTo>
                    <a:pt x="158" y="79"/>
                  </a:lnTo>
                  <a:lnTo>
                    <a:pt x="85" y="185"/>
                  </a:lnTo>
                  <a:lnTo>
                    <a:pt x="0" y="313"/>
                  </a:lnTo>
                  <a:lnTo>
                    <a:pt x="43" y="342"/>
                  </a:lnTo>
                  <a:lnTo>
                    <a:pt x="67" y="357"/>
                  </a:lnTo>
                  <a:lnTo>
                    <a:pt x="87" y="361"/>
                  </a:lnTo>
                  <a:lnTo>
                    <a:pt x="97" y="354"/>
                  </a:lnTo>
                  <a:lnTo>
                    <a:pt x="102" y="347"/>
                  </a:lnTo>
                  <a:lnTo>
                    <a:pt x="122" y="315"/>
                  </a:lnTo>
                  <a:lnTo>
                    <a:pt x="155" y="265"/>
                  </a:lnTo>
                  <a:lnTo>
                    <a:pt x="192" y="207"/>
                  </a:lnTo>
                  <a:lnTo>
                    <a:pt x="197" y="528"/>
                  </a:lnTo>
                  <a:lnTo>
                    <a:pt x="200" y="850"/>
                  </a:lnTo>
                  <a:lnTo>
                    <a:pt x="247" y="845"/>
                  </a:lnTo>
                  <a:lnTo>
                    <a:pt x="292" y="840"/>
                  </a:lnTo>
                  <a:lnTo>
                    <a:pt x="300" y="533"/>
                  </a:lnTo>
                  <a:lnTo>
                    <a:pt x="308" y="225"/>
                  </a:lnTo>
                  <a:lnTo>
                    <a:pt x="355" y="297"/>
                  </a:lnTo>
                  <a:lnTo>
                    <a:pt x="371" y="320"/>
                  </a:lnTo>
                  <a:lnTo>
                    <a:pt x="392" y="348"/>
                  </a:lnTo>
                  <a:lnTo>
                    <a:pt x="408" y="357"/>
                  </a:lnTo>
                  <a:lnTo>
                    <a:pt x="426" y="351"/>
                  </a:lnTo>
                  <a:lnTo>
                    <a:pt x="438" y="343"/>
                  </a:lnTo>
                  <a:lnTo>
                    <a:pt x="453" y="332"/>
                  </a:lnTo>
                  <a:lnTo>
                    <a:pt x="470" y="309"/>
                  </a:lnTo>
                  <a:lnTo>
                    <a:pt x="470" y="300"/>
                  </a:lnTo>
                  <a:lnTo>
                    <a:pt x="463" y="285"/>
                  </a:lnTo>
                  <a:lnTo>
                    <a:pt x="410" y="197"/>
                  </a:lnTo>
                  <a:lnTo>
                    <a:pt x="372" y="140"/>
                  </a:lnTo>
                  <a:lnTo>
                    <a:pt x="337" y="89"/>
                  </a:lnTo>
                  <a:lnTo>
                    <a:pt x="286" y="25"/>
                  </a:lnTo>
                  <a:lnTo>
                    <a:pt x="256" y="3"/>
                  </a:lnTo>
                  <a:lnTo>
                    <a:pt x="238" y="0"/>
                  </a:lnTo>
                  <a:lnTo>
                    <a:pt x="222" y="5"/>
                  </a:lnTo>
                  <a:lnTo>
                    <a:pt x="205" y="17"/>
                  </a:lnTo>
                  <a:lnTo>
                    <a:pt x="197"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786">
              <a:extLst>
                <a:ext uri="{FF2B5EF4-FFF2-40B4-BE49-F238E27FC236}">
                  <a16:creationId xmlns:a16="http://schemas.microsoft.com/office/drawing/2014/main" id="{436F5847-B4E5-BEB8-AA7D-56FA7025A5DE}"/>
                </a:ext>
              </a:extLst>
            </p:cNvPr>
            <p:cNvSpPr>
              <a:spLocks/>
            </p:cNvSpPr>
            <p:nvPr/>
          </p:nvSpPr>
          <p:spPr bwMode="auto">
            <a:xfrm>
              <a:off x="1455738" y="5284788"/>
              <a:ext cx="55563" cy="57150"/>
            </a:xfrm>
            <a:custGeom>
              <a:avLst/>
              <a:gdLst>
                <a:gd name="T0" fmla="*/ 0 w 100"/>
                <a:gd name="T1" fmla="*/ 50 h 100"/>
                <a:gd name="T2" fmla="*/ 0 w 100"/>
                <a:gd name="T3" fmla="*/ 66 h 100"/>
                <a:gd name="T4" fmla="*/ 4 w 100"/>
                <a:gd name="T5" fmla="*/ 86 h 100"/>
                <a:gd name="T6" fmla="*/ 14 w 100"/>
                <a:gd name="T7" fmla="*/ 97 h 100"/>
                <a:gd name="T8" fmla="*/ 34 w 100"/>
                <a:gd name="T9" fmla="*/ 100 h 100"/>
                <a:gd name="T10" fmla="*/ 50 w 100"/>
                <a:gd name="T11" fmla="*/ 100 h 100"/>
                <a:gd name="T12" fmla="*/ 66 w 100"/>
                <a:gd name="T13" fmla="*/ 100 h 100"/>
                <a:gd name="T14" fmla="*/ 86 w 100"/>
                <a:gd name="T15" fmla="*/ 97 h 100"/>
                <a:gd name="T16" fmla="*/ 96 w 100"/>
                <a:gd name="T17" fmla="*/ 86 h 100"/>
                <a:gd name="T18" fmla="*/ 100 w 100"/>
                <a:gd name="T19" fmla="*/ 66 h 100"/>
                <a:gd name="T20" fmla="*/ 100 w 100"/>
                <a:gd name="T21" fmla="*/ 50 h 100"/>
                <a:gd name="T22" fmla="*/ 100 w 100"/>
                <a:gd name="T23" fmla="*/ 35 h 100"/>
                <a:gd name="T24" fmla="*/ 96 w 100"/>
                <a:gd name="T25" fmla="*/ 14 h 100"/>
                <a:gd name="T26" fmla="*/ 86 w 100"/>
                <a:gd name="T27" fmla="*/ 4 h 100"/>
                <a:gd name="T28" fmla="*/ 66 w 100"/>
                <a:gd name="T29" fmla="*/ 0 h 100"/>
                <a:gd name="T30" fmla="*/ 50 w 100"/>
                <a:gd name="T31" fmla="*/ 0 h 100"/>
                <a:gd name="T32" fmla="*/ 34 w 100"/>
                <a:gd name="T33" fmla="*/ 0 h 100"/>
                <a:gd name="T34" fmla="*/ 14 w 100"/>
                <a:gd name="T35" fmla="*/ 4 h 100"/>
                <a:gd name="T36" fmla="*/ 4 w 100"/>
                <a:gd name="T37" fmla="*/ 14 h 100"/>
                <a:gd name="T38" fmla="*/ 0 w 100"/>
                <a:gd name="T39" fmla="*/ 35 h 100"/>
                <a:gd name="T40" fmla="*/ 0 w 100"/>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0" h="100">
                  <a:moveTo>
                    <a:pt x="0" y="50"/>
                  </a:moveTo>
                  <a:lnTo>
                    <a:pt x="0" y="66"/>
                  </a:lnTo>
                  <a:lnTo>
                    <a:pt x="4" y="86"/>
                  </a:lnTo>
                  <a:lnTo>
                    <a:pt x="14" y="97"/>
                  </a:lnTo>
                  <a:lnTo>
                    <a:pt x="34" y="100"/>
                  </a:lnTo>
                  <a:lnTo>
                    <a:pt x="50" y="100"/>
                  </a:lnTo>
                  <a:lnTo>
                    <a:pt x="66" y="100"/>
                  </a:lnTo>
                  <a:lnTo>
                    <a:pt x="86" y="97"/>
                  </a:lnTo>
                  <a:lnTo>
                    <a:pt x="96" y="86"/>
                  </a:lnTo>
                  <a:lnTo>
                    <a:pt x="100" y="66"/>
                  </a:lnTo>
                  <a:lnTo>
                    <a:pt x="100" y="50"/>
                  </a:lnTo>
                  <a:lnTo>
                    <a:pt x="100" y="35"/>
                  </a:lnTo>
                  <a:lnTo>
                    <a:pt x="96" y="14"/>
                  </a:lnTo>
                  <a:lnTo>
                    <a:pt x="86" y="4"/>
                  </a:lnTo>
                  <a:lnTo>
                    <a:pt x="66" y="0"/>
                  </a:lnTo>
                  <a:lnTo>
                    <a:pt x="50" y="0"/>
                  </a:lnTo>
                  <a:lnTo>
                    <a:pt x="34" y="0"/>
                  </a:lnTo>
                  <a:lnTo>
                    <a:pt x="14" y="4"/>
                  </a:lnTo>
                  <a:lnTo>
                    <a:pt x="4" y="14"/>
                  </a:lnTo>
                  <a:lnTo>
                    <a:pt x="0" y="35"/>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787">
              <a:extLst>
                <a:ext uri="{FF2B5EF4-FFF2-40B4-BE49-F238E27FC236}">
                  <a16:creationId xmlns:a16="http://schemas.microsoft.com/office/drawing/2014/main" id="{7AB62FD8-DD6F-A0D3-F238-FDE197FE15F2}"/>
                </a:ext>
              </a:extLst>
            </p:cNvPr>
            <p:cNvSpPr>
              <a:spLocks/>
            </p:cNvSpPr>
            <p:nvPr/>
          </p:nvSpPr>
          <p:spPr bwMode="auto">
            <a:xfrm>
              <a:off x="1874838" y="5284788"/>
              <a:ext cx="57150" cy="57150"/>
            </a:xfrm>
            <a:custGeom>
              <a:avLst/>
              <a:gdLst>
                <a:gd name="T0" fmla="*/ 0 w 100"/>
                <a:gd name="T1" fmla="*/ 50 h 100"/>
                <a:gd name="T2" fmla="*/ 0 w 100"/>
                <a:gd name="T3" fmla="*/ 66 h 100"/>
                <a:gd name="T4" fmla="*/ 4 w 100"/>
                <a:gd name="T5" fmla="*/ 86 h 100"/>
                <a:gd name="T6" fmla="*/ 14 w 100"/>
                <a:gd name="T7" fmla="*/ 97 h 100"/>
                <a:gd name="T8" fmla="*/ 34 w 100"/>
                <a:gd name="T9" fmla="*/ 100 h 100"/>
                <a:gd name="T10" fmla="*/ 50 w 100"/>
                <a:gd name="T11" fmla="*/ 100 h 100"/>
                <a:gd name="T12" fmla="*/ 66 w 100"/>
                <a:gd name="T13" fmla="*/ 100 h 100"/>
                <a:gd name="T14" fmla="*/ 86 w 100"/>
                <a:gd name="T15" fmla="*/ 97 h 100"/>
                <a:gd name="T16" fmla="*/ 96 w 100"/>
                <a:gd name="T17" fmla="*/ 86 h 100"/>
                <a:gd name="T18" fmla="*/ 100 w 100"/>
                <a:gd name="T19" fmla="*/ 66 h 100"/>
                <a:gd name="T20" fmla="*/ 100 w 100"/>
                <a:gd name="T21" fmla="*/ 50 h 100"/>
                <a:gd name="T22" fmla="*/ 100 w 100"/>
                <a:gd name="T23" fmla="*/ 35 h 100"/>
                <a:gd name="T24" fmla="*/ 96 w 100"/>
                <a:gd name="T25" fmla="*/ 14 h 100"/>
                <a:gd name="T26" fmla="*/ 86 w 100"/>
                <a:gd name="T27" fmla="*/ 4 h 100"/>
                <a:gd name="T28" fmla="*/ 66 w 100"/>
                <a:gd name="T29" fmla="*/ 0 h 100"/>
                <a:gd name="T30" fmla="*/ 50 w 100"/>
                <a:gd name="T31" fmla="*/ 0 h 100"/>
                <a:gd name="T32" fmla="*/ 34 w 100"/>
                <a:gd name="T33" fmla="*/ 0 h 100"/>
                <a:gd name="T34" fmla="*/ 14 w 100"/>
                <a:gd name="T35" fmla="*/ 4 h 100"/>
                <a:gd name="T36" fmla="*/ 4 w 100"/>
                <a:gd name="T37" fmla="*/ 14 h 100"/>
                <a:gd name="T38" fmla="*/ 0 w 100"/>
                <a:gd name="T39" fmla="*/ 35 h 100"/>
                <a:gd name="T40" fmla="*/ 0 w 100"/>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0" h="100">
                  <a:moveTo>
                    <a:pt x="0" y="50"/>
                  </a:moveTo>
                  <a:lnTo>
                    <a:pt x="0" y="66"/>
                  </a:lnTo>
                  <a:lnTo>
                    <a:pt x="4" y="86"/>
                  </a:lnTo>
                  <a:lnTo>
                    <a:pt x="14" y="97"/>
                  </a:lnTo>
                  <a:lnTo>
                    <a:pt x="34" y="100"/>
                  </a:lnTo>
                  <a:lnTo>
                    <a:pt x="50" y="100"/>
                  </a:lnTo>
                  <a:lnTo>
                    <a:pt x="66" y="100"/>
                  </a:lnTo>
                  <a:lnTo>
                    <a:pt x="86" y="97"/>
                  </a:lnTo>
                  <a:lnTo>
                    <a:pt x="96" y="86"/>
                  </a:lnTo>
                  <a:lnTo>
                    <a:pt x="100" y="66"/>
                  </a:lnTo>
                  <a:lnTo>
                    <a:pt x="100" y="50"/>
                  </a:lnTo>
                  <a:lnTo>
                    <a:pt x="100" y="35"/>
                  </a:lnTo>
                  <a:lnTo>
                    <a:pt x="96" y="14"/>
                  </a:lnTo>
                  <a:lnTo>
                    <a:pt x="86" y="4"/>
                  </a:lnTo>
                  <a:lnTo>
                    <a:pt x="66" y="0"/>
                  </a:lnTo>
                  <a:lnTo>
                    <a:pt x="50" y="0"/>
                  </a:lnTo>
                  <a:lnTo>
                    <a:pt x="34" y="0"/>
                  </a:lnTo>
                  <a:lnTo>
                    <a:pt x="14" y="4"/>
                  </a:lnTo>
                  <a:lnTo>
                    <a:pt x="4" y="14"/>
                  </a:lnTo>
                  <a:lnTo>
                    <a:pt x="0" y="35"/>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aphicFrame>
        <p:nvGraphicFramePr>
          <p:cNvPr id="34" name="Table 33">
            <a:extLst>
              <a:ext uri="{FF2B5EF4-FFF2-40B4-BE49-F238E27FC236}">
                <a16:creationId xmlns:a16="http://schemas.microsoft.com/office/drawing/2014/main" id="{BF384745-459B-9369-7452-98270D883C03}"/>
              </a:ext>
            </a:extLst>
          </p:cNvPr>
          <p:cNvGraphicFramePr>
            <a:graphicFrameLocks noGrp="1"/>
          </p:cNvGraphicFramePr>
          <p:nvPr>
            <p:extLst>
              <p:ext uri="{D42A27DB-BD31-4B8C-83A1-F6EECF244321}">
                <p14:modId xmlns:p14="http://schemas.microsoft.com/office/powerpoint/2010/main" val="3444683300"/>
              </p:ext>
            </p:extLst>
          </p:nvPr>
        </p:nvGraphicFramePr>
        <p:xfrm>
          <a:off x="2336772" y="4990842"/>
          <a:ext cx="1433985" cy="640080"/>
        </p:xfrm>
        <a:graphic>
          <a:graphicData uri="http://schemas.openxmlformats.org/drawingml/2006/table">
            <a:tbl>
              <a:tblPr firstRow="1" bandRow="1">
                <a:tableStyleId>{5C22544A-7EE6-4342-B048-85BDC9FD1C3A}</a:tableStyleId>
              </a:tblPr>
              <a:tblGrid>
                <a:gridCol w="477995">
                  <a:extLst>
                    <a:ext uri="{9D8B030D-6E8A-4147-A177-3AD203B41FA5}">
                      <a16:colId xmlns:a16="http://schemas.microsoft.com/office/drawing/2014/main" val="3314942607"/>
                    </a:ext>
                  </a:extLst>
                </a:gridCol>
                <a:gridCol w="477995">
                  <a:extLst>
                    <a:ext uri="{9D8B030D-6E8A-4147-A177-3AD203B41FA5}">
                      <a16:colId xmlns:a16="http://schemas.microsoft.com/office/drawing/2014/main" val="2694643210"/>
                    </a:ext>
                  </a:extLst>
                </a:gridCol>
                <a:gridCol w="477995">
                  <a:extLst>
                    <a:ext uri="{9D8B030D-6E8A-4147-A177-3AD203B41FA5}">
                      <a16:colId xmlns:a16="http://schemas.microsoft.com/office/drawing/2014/main" val="1867350649"/>
                    </a:ext>
                  </a:extLst>
                </a:gridCol>
              </a:tblGrid>
              <a:tr h="365760">
                <a:tc>
                  <a:txBody>
                    <a:bodyPr/>
                    <a:lstStyle/>
                    <a:p>
                      <a:pPr algn="ctr" rtl="1"/>
                      <a:r>
                        <a:rPr lang="ar-EG" sz="1200" b="1" baseline="0" dirty="0">
                          <a:solidFill>
                            <a:schemeClr val="accent1"/>
                          </a:solidFill>
                          <a:latin typeface="Sakkal Majalla" panose="02000000000000000000" pitchFamily="2" charset="-78"/>
                          <a:cs typeface="Sakkal Majalla" panose="02000000000000000000" pitchFamily="2" charset="-78"/>
                        </a:rPr>
                        <a:t>2028</a:t>
                      </a:r>
                      <a:endParaRPr lang="en-US" sz="1200" b="1" baseline="0" dirty="0">
                        <a:solidFill>
                          <a:schemeClr val="accent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200" b="1" baseline="0" dirty="0">
                          <a:solidFill>
                            <a:schemeClr val="accent1"/>
                          </a:solidFill>
                          <a:latin typeface="Sakkal Majalla" panose="02000000000000000000" pitchFamily="2" charset="-78"/>
                          <a:cs typeface="Sakkal Majalla" panose="02000000000000000000" pitchFamily="2" charset="-78"/>
                        </a:rPr>
                        <a:t>2027</a:t>
                      </a:r>
                      <a:endParaRPr lang="en-US" sz="1200" b="1" baseline="0" dirty="0">
                        <a:solidFill>
                          <a:schemeClr val="accent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200" b="1" baseline="0" dirty="0">
                          <a:solidFill>
                            <a:schemeClr val="accent1"/>
                          </a:solidFill>
                          <a:latin typeface="Sakkal Majalla" panose="02000000000000000000" pitchFamily="2" charset="-78"/>
                          <a:cs typeface="Sakkal Majalla" panose="02000000000000000000" pitchFamily="2" charset="-78"/>
                        </a:rPr>
                        <a:t>2026</a:t>
                      </a:r>
                      <a:endParaRPr lang="en-US" sz="1200" b="1" baseline="0" dirty="0">
                        <a:solidFill>
                          <a:schemeClr val="accent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95495611"/>
                  </a:ext>
                </a:extLst>
              </a:tr>
              <a:tr h="271499">
                <a:tc>
                  <a:txBody>
                    <a:bodyPr/>
                    <a:lstStyle/>
                    <a:p>
                      <a:pPr algn="ctr"/>
                      <a:r>
                        <a:rPr lang="ar-EG" sz="1200" b="1" baseline="0" dirty="0">
                          <a:latin typeface="Sakkal Majalla" panose="02000000000000000000" pitchFamily="2" charset="-78"/>
                          <a:cs typeface="Sakkal Majalla" panose="02000000000000000000" pitchFamily="2" charset="-78"/>
                        </a:rPr>
                        <a:t>12</a:t>
                      </a:r>
                      <a:endParaRPr lang="en-US" sz="1200" b="1" baseline="0" dirty="0">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lang="ar-EG" sz="1200" b="1" baseline="0" dirty="0">
                          <a:latin typeface="Sakkal Majalla" panose="02000000000000000000" pitchFamily="2" charset="-78"/>
                          <a:cs typeface="Sakkal Majalla" panose="02000000000000000000" pitchFamily="2" charset="-78"/>
                        </a:rPr>
                        <a:t>8</a:t>
                      </a:r>
                      <a:endParaRPr lang="en-US" sz="1200" b="1" baseline="0" dirty="0">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algn="ctr" defTabSz="914400" rtl="1" eaLnBrk="1" latinLnBrk="0" hangingPunct="1"/>
                      <a:r>
                        <a:rPr lang="ar-EG" sz="1200" b="1" kern="1200" baseline="0" dirty="0">
                          <a:solidFill>
                            <a:schemeClr val="dk1"/>
                          </a:solidFill>
                          <a:latin typeface="Sakkal Majalla" panose="02000000000000000000" pitchFamily="2" charset="-78"/>
                          <a:ea typeface="+mn-ea"/>
                          <a:cs typeface="Sakkal Majalla" panose="02000000000000000000" pitchFamily="2" charset="-78"/>
                        </a:rPr>
                        <a:t>4</a:t>
                      </a:r>
                      <a:endParaRPr lang="en-US" sz="1200" b="1" kern="1200" baseline="0" dirty="0">
                        <a:solidFill>
                          <a:schemeClr val="dk1"/>
                        </a:solidFill>
                        <a:latin typeface="Sakkal Majalla" panose="02000000000000000000" pitchFamily="2" charset="-78"/>
                        <a:ea typeface="+mn-ea"/>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398491"/>
                  </a:ext>
                </a:extLst>
              </a:tr>
            </a:tbl>
          </a:graphicData>
        </a:graphic>
      </p:graphicFrame>
    </p:spTree>
    <p:extLst>
      <p:ext uri="{BB962C8B-B14F-4D97-AF65-F5344CB8AC3E}">
        <p14:creationId xmlns:p14="http://schemas.microsoft.com/office/powerpoint/2010/main" val="169504990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26FAE-99FA-80EE-9810-3E1D6CC1B610}"/>
            </a:ext>
          </a:extLst>
        </p:cNvPr>
        <p:cNvGrpSpPr/>
        <p:nvPr/>
      </p:nvGrpSpPr>
      <p:grpSpPr>
        <a:xfrm>
          <a:off x="0" y="0"/>
          <a:ext cx="0" cy="0"/>
          <a:chOff x="0" y="0"/>
          <a:chExt cx="0" cy="0"/>
        </a:xfrm>
      </p:grpSpPr>
      <p:sp>
        <p:nvSpPr>
          <p:cNvPr id="4" name="Round Same Side Corner Rectangle 3">
            <a:extLst>
              <a:ext uri="{FF2B5EF4-FFF2-40B4-BE49-F238E27FC236}">
                <a16:creationId xmlns:a16="http://schemas.microsoft.com/office/drawing/2014/main" id="{56FFCD73-B4E6-764E-AF25-5C643597E41B}"/>
              </a:ext>
            </a:extLst>
          </p:cNvPr>
          <p:cNvSpPr/>
          <p:nvPr/>
        </p:nvSpPr>
        <p:spPr>
          <a:xfrm>
            <a:off x="838200" y="1748300"/>
            <a:ext cx="10515601" cy="3975167"/>
          </a:xfrm>
          <a:prstGeom prst="round2SameRect">
            <a:avLst>
              <a:gd name="adj1" fmla="val 0"/>
              <a:gd name="adj2" fmla="val 872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Rectangle 95">
            <a:extLst>
              <a:ext uri="{FF2B5EF4-FFF2-40B4-BE49-F238E27FC236}">
                <a16:creationId xmlns:a16="http://schemas.microsoft.com/office/drawing/2014/main" id="{A6CEECA3-BE7D-5E40-EEF0-00F12A41EB39}"/>
              </a:ext>
            </a:extLst>
          </p:cNvPr>
          <p:cNvSpPr/>
          <p:nvPr/>
        </p:nvSpPr>
        <p:spPr>
          <a:xfrm>
            <a:off x="1872988" y="3167309"/>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045A793-CC2B-B84C-4F3F-D4EE06C31ED3}"/>
              </a:ext>
            </a:extLst>
          </p:cNvPr>
          <p:cNvSpPr>
            <a:spLocks noGrp="1"/>
          </p:cNvSpPr>
          <p:nvPr>
            <p:ph type="title"/>
          </p:nvPr>
        </p:nvSpPr>
        <p:spPr/>
        <p:txBody>
          <a:bodyPr/>
          <a:lstStyle/>
          <a:p>
            <a:r>
              <a:rPr lang="ar-SA" dirty="0"/>
              <a:t>بطاقة</a:t>
            </a:r>
            <a:r>
              <a:rPr lang="ar-EG" dirty="0"/>
              <a:t> </a:t>
            </a:r>
            <a:r>
              <a:rPr lang="ar-SA" dirty="0"/>
              <a:t>تعريف المؤشر "نسبة الموظفين المشاركين في ورش العمل من إجمالي الموظفين"</a:t>
            </a:r>
            <a:endParaRPr lang="en-US" dirty="0"/>
          </a:p>
        </p:txBody>
      </p:sp>
      <p:sp>
        <p:nvSpPr>
          <p:cNvPr id="3" name="Slide Number Placeholder 2">
            <a:extLst>
              <a:ext uri="{FF2B5EF4-FFF2-40B4-BE49-F238E27FC236}">
                <a16:creationId xmlns:a16="http://schemas.microsoft.com/office/drawing/2014/main" id="{48001229-D6B3-87B0-C70B-142AE71B169B}"/>
              </a:ext>
            </a:extLst>
          </p:cNvPr>
          <p:cNvSpPr>
            <a:spLocks noGrp="1"/>
          </p:cNvSpPr>
          <p:nvPr>
            <p:ph type="sldNum" sz="quarter" idx="12"/>
          </p:nvPr>
        </p:nvSpPr>
        <p:spPr/>
        <p:txBody>
          <a:bodyPr/>
          <a:lstStyle/>
          <a:p>
            <a:fld id="{0BE4EC83-A869-464E-AE9F-881796FB085E}" type="slidenum">
              <a:rPr lang="en-US" smtClean="0"/>
              <a:t>35</a:t>
            </a:fld>
            <a:endParaRPr lang="en-US"/>
          </a:p>
        </p:txBody>
      </p:sp>
      <p:sp>
        <p:nvSpPr>
          <p:cNvPr id="5" name="Freeform 4">
            <a:extLst>
              <a:ext uri="{FF2B5EF4-FFF2-40B4-BE49-F238E27FC236}">
                <a16:creationId xmlns:a16="http://schemas.microsoft.com/office/drawing/2014/main" id="{0DE5EA05-D3D0-1E2F-5153-80F46A7351EC}"/>
              </a:ext>
            </a:extLst>
          </p:cNvPr>
          <p:cNvSpPr/>
          <p:nvPr/>
        </p:nvSpPr>
        <p:spPr>
          <a:xfrm>
            <a:off x="3433482" y="161898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5">
            <a:extLst>
              <a:ext uri="{FF2B5EF4-FFF2-40B4-BE49-F238E27FC236}">
                <a16:creationId xmlns:a16="http://schemas.microsoft.com/office/drawing/2014/main" id="{CE920EEF-BEE5-5A39-58E6-1DE8B5839702}"/>
              </a:ext>
            </a:extLst>
          </p:cNvPr>
          <p:cNvSpPr/>
          <p:nvPr/>
        </p:nvSpPr>
        <p:spPr>
          <a:xfrm flipH="1">
            <a:off x="5596932" y="1737221"/>
            <a:ext cx="3313986" cy="170329"/>
          </a:xfrm>
          <a:custGeom>
            <a:avLst/>
            <a:gdLst>
              <a:gd name="connsiteX0" fmla="*/ 0 w 3313986"/>
              <a:gd name="connsiteY0" fmla="*/ 0 h 170329"/>
              <a:gd name="connsiteX1" fmla="*/ 3313986 w 3313986"/>
              <a:gd name="connsiteY1" fmla="*/ 0 h 170329"/>
              <a:gd name="connsiteX2" fmla="*/ 3313986 w 3313986"/>
              <a:gd name="connsiteY2" fmla="*/ 170329 h 170329"/>
              <a:gd name="connsiteX3" fmla="*/ 149041 w 3313986"/>
              <a:gd name="connsiteY3" fmla="*/ 170329 h 170329"/>
              <a:gd name="connsiteX4" fmla="*/ 0 w 3313986"/>
              <a:gd name="connsiteY4" fmla="*/ 21288 h 170329"/>
              <a:gd name="connsiteX0" fmla="*/ 0 w 3313986"/>
              <a:gd name="connsiteY0" fmla="*/ 12216 h 182545"/>
              <a:gd name="connsiteX1" fmla="*/ 1771564 w 3313986"/>
              <a:gd name="connsiteY1" fmla="*/ 0 h 182545"/>
              <a:gd name="connsiteX2" fmla="*/ 3313986 w 3313986"/>
              <a:gd name="connsiteY2" fmla="*/ 12216 h 182545"/>
              <a:gd name="connsiteX3" fmla="*/ 3313986 w 3313986"/>
              <a:gd name="connsiteY3" fmla="*/ 182545 h 182545"/>
              <a:gd name="connsiteX4" fmla="*/ 149041 w 3313986"/>
              <a:gd name="connsiteY4" fmla="*/ 182545 h 182545"/>
              <a:gd name="connsiteX5" fmla="*/ 0 w 3313986"/>
              <a:gd name="connsiteY5" fmla="*/ 33504 h 182545"/>
              <a:gd name="connsiteX6" fmla="*/ 0 w 3313986"/>
              <a:gd name="connsiteY6" fmla="*/ 12216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6" fmla="*/ 1863004 w 3313986"/>
              <a:gd name="connsiteY6" fmla="*/ 91440 h 182545"/>
              <a:gd name="connsiteX0" fmla="*/ 1771564 w 3313986"/>
              <a:gd name="connsiteY0" fmla="*/ 0 h 182545"/>
              <a:gd name="connsiteX1" fmla="*/ 3313986 w 3313986"/>
              <a:gd name="connsiteY1" fmla="*/ 12216 h 182545"/>
              <a:gd name="connsiteX2" fmla="*/ 3313986 w 3313986"/>
              <a:gd name="connsiteY2" fmla="*/ 182545 h 182545"/>
              <a:gd name="connsiteX3" fmla="*/ 149041 w 3313986"/>
              <a:gd name="connsiteY3" fmla="*/ 182545 h 182545"/>
              <a:gd name="connsiteX4" fmla="*/ 0 w 3313986"/>
              <a:gd name="connsiteY4" fmla="*/ 33504 h 182545"/>
              <a:gd name="connsiteX5" fmla="*/ 0 w 3313986"/>
              <a:gd name="connsiteY5" fmla="*/ 12216 h 182545"/>
              <a:gd name="connsiteX0" fmla="*/ 3313986 w 3313986"/>
              <a:gd name="connsiteY0" fmla="*/ 0 h 170329"/>
              <a:gd name="connsiteX1" fmla="*/ 3313986 w 3313986"/>
              <a:gd name="connsiteY1" fmla="*/ 170329 h 170329"/>
              <a:gd name="connsiteX2" fmla="*/ 149041 w 3313986"/>
              <a:gd name="connsiteY2" fmla="*/ 170329 h 170329"/>
              <a:gd name="connsiteX3" fmla="*/ 0 w 3313986"/>
              <a:gd name="connsiteY3" fmla="*/ 21288 h 170329"/>
              <a:gd name="connsiteX4" fmla="*/ 0 w 3313986"/>
              <a:gd name="connsiteY4" fmla="*/ 0 h 170329"/>
              <a:gd name="connsiteX0" fmla="*/ 3313986 w 3313986"/>
              <a:gd name="connsiteY0" fmla="*/ 170329 h 170329"/>
              <a:gd name="connsiteX1" fmla="*/ 149041 w 3313986"/>
              <a:gd name="connsiteY1" fmla="*/ 170329 h 170329"/>
              <a:gd name="connsiteX2" fmla="*/ 0 w 3313986"/>
              <a:gd name="connsiteY2" fmla="*/ 21288 h 170329"/>
              <a:gd name="connsiteX3" fmla="*/ 0 w 3313986"/>
              <a:gd name="connsiteY3" fmla="*/ 0 h 170329"/>
            </a:gdLst>
            <a:ahLst/>
            <a:cxnLst>
              <a:cxn ang="0">
                <a:pos x="connsiteX0" y="connsiteY0"/>
              </a:cxn>
              <a:cxn ang="0">
                <a:pos x="connsiteX1" y="connsiteY1"/>
              </a:cxn>
              <a:cxn ang="0">
                <a:pos x="connsiteX2" y="connsiteY2"/>
              </a:cxn>
              <a:cxn ang="0">
                <a:pos x="connsiteX3" y="connsiteY3"/>
              </a:cxn>
            </a:cxnLst>
            <a:rect l="l" t="t" r="r" b="b"/>
            <a:pathLst>
              <a:path w="3313986" h="170329">
                <a:moveTo>
                  <a:pt x="3313986" y="170329"/>
                </a:moveTo>
                <a:lnTo>
                  <a:pt x="149041" y="170329"/>
                </a:lnTo>
                <a:cubicBezTo>
                  <a:pt x="66728" y="170329"/>
                  <a:pt x="0" y="103601"/>
                  <a:pt x="0" y="21288"/>
                </a:cubicBezTo>
                <a:lnTo>
                  <a:pt x="0" y="0"/>
                </a:lnTo>
              </a:path>
            </a:pathLst>
          </a:custGeom>
          <a:noFill/>
          <a:ln>
            <a:solidFill>
              <a:schemeClr val="bg1">
                <a:lumMod val="8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6F82A02C-4B46-453E-BE81-B7FFE751331E}"/>
              </a:ext>
            </a:extLst>
          </p:cNvPr>
          <p:cNvSpPr/>
          <p:nvPr/>
        </p:nvSpPr>
        <p:spPr>
          <a:xfrm>
            <a:off x="2981661" y="1475899"/>
            <a:ext cx="6228678" cy="688914"/>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D1121202-A259-E350-B144-4F19B54AB3CA}"/>
              </a:ext>
            </a:extLst>
          </p:cNvPr>
          <p:cNvSpPr/>
          <p:nvPr/>
        </p:nvSpPr>
        <p:spPr>
          <a:xfrm>
            <a:off x="2981661" y="1287436"/>
            <a:ext cx="6228678" cy="92532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1">
            <a:extLst>
              <a:ext uri="{FF2B5EF4-FFF2-40B4-BE49-F238E27FC236}">
                <a16:creationId xmlns:a16="http://schemas.microsoft.com/office/drawing/2014/main" id="{9BA2BE7B-0BF7-9B3F-1B49-D61CD8C20B8F}"/>
              </a:ext>
            </a:extLst>
          </p:cNvPr>
          <p:cNvSpPr txBox="1">
            <a:spLocks/>
          </p:cNvSpPr>
          <p:nvPr/>
        </p:nvSpPr>
        <p:spPr>
          <a:xfrm>
            <a:off x="2949387" y="1565225"/>
            <a:ext cx="6293226" cy="647533"/>
          </a:xfrm>
          <a:prstGeom prst="rect">
            <a:avLst/>
          </a:prstGeom>
        </p:spPr>
        <p:txBody>
          <a:bodyPr anchor="ctr" anchorCtr="0">
            <a:noAutofit/>
          </a:bodyPr>
          <a:lstStyle>
            <a:lvl1pPr algn="r" defTabSz="914400" rtl="1" eaLnBrk="1" latinLnBrk="0" hangingPunct="1">
              <a:lnSpc>
                <a:spcPct val="100000"/>
              </a:lnSpc>
              <a:spcBef>
                <a:spcPct val="0"/>
              </a:spcBef>
              <a:buNone/>
              <a:defRPr sz="3200" b="1" kern="1200">
                <a:solidFill>
                  <a:schemeClr val="accent1">
                    <a:lumMod val="75000"/>
                  </a:schemeClr>
                </a:solidFill>
                <a:latin typeface="+mj-lt"/>
                <a:ea typeface="+mj-ea"/>
                <a:cs typeface="+mj-cs"/>
              </a:defRPr>
            </a:lvl1pPr>
          </a:lstStyle>
          <a:p>
            <a:pPr algn="ctr"/>
            <a:r>
              <a:rPr lang="ar-SA" sz="2000" dirty="0">
                <a:solidFill>
                  <a:schemeClr val="bg1"/>
                </a:solidFill>
              </a:rPr>
              <a:t>نسبة الموظفين المشاركين في ورش العمل من إجمالي الموظفين</a:t>
            </a:r>
          </a:p>
        </p:txBody>
      </p:sp>
      <p:sp>
        <p:nvSpPr>
          <p:cNvPr id="10" name="Round Same Side Corner Rectangle 9">
            <a:extLst>
              <a:ext uri="{FF2B5EF4-FFF2-40B4-BE49-F238E27FC236}">
                <a16:creationId xmlns:a16="http://schemas.microsoft.com/office/drawing/2014/main" id="{810B396F-BF54-F612-864D-D0D0833E6BD4}"/>
              </a:ext>
            </a:extLst>
          </p:cNvPr>
          <p:cNvSpPr/>
          <p:nvPr/>
        </p:nvSpPr>
        <p:spPr>
          <a:xfrm>
            <a:off x="5385860" y="1287437"/>
            <a:ext cx="1420280" cy="281048"/>
          </a:xfrm>
          <a:prstGeom prst="round2SameRect">
            <a:avLst>
              <a:gd name="adj1" fmla="val 0"/>
              <a:gd name="adj2" fmla="val 50000"/>
            </a:avLst>
          </a:prstGeom>
          <a:solidFill>
            <a:schemeClr val="bg1"/>
          </a:solidFill>
          <a:effectLst>
            <a:outerShdw blurRad="50800" dist="25400" dir="5400000" sx="97000" sy="97000" algn="t" rotWithShape="0">
              <a:prstClr val="black">
                <a:alpha val="20000"/>
              </a:prstClr>
            </a:outerShdw>
          </a:effectLst>
        </p:spPr>
        <p:txBody>
          <a:bodyPr wrap="none" tIns="0" bIns="45720">
            <a:noAutofit/>
          </a:bodyPr>
          <a:lstStyle/>
          <a:p>
            <a:pPr lvl="0" algn="ctr" rtl="1"/>
            <a:r>
              <a:rPr lang="en-US" b="1" dirty="0">
                <a:solidFill>
                  <a:schemeClr val="accent1"/>
                </a:solidFill>
              </a:rPr>
              <a:t>EA-KPI-AW-03</a:t>
            </a:r>
            <a:endParaRPr lang="ar-EG" b="1" dirty="0">
              <a:solidFill>
                <a:schemeClr val="accent1"/>
              </a:solidFill>
            </a:endParaRPr>
          </a:p>
        </p:txBody>
      </p:sp>
      <p:sp>
        <p:nvSpPr>
          <p:cNvPr id="11" name="Rounded Rectangle 10">
            <a:extLst>
              <a:ext uri="{FF2B5EF4-FFF2-40B4-BE49-F238E27FC236}">
                <a16:creationId xmlns:a16="http://schemas.microsoft.com/office/drawing/2014/main" id="{58F7E0B5-F760-B103-085D-9BD3D5D437B5}"/>
              </a:ext>
            </a:extLst>
          </p:cNvPr>
          <p:cNvSpPr/>
          <p:nvPr/>
        </p:nvSpPr>
        <p:spPr>
          <a:xfrm>
            <a:off x="6911787" y="433911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21FB615A-6E70-D3D6-1C01-8DF8E9B7EE78}"/>
              </a:ext>
            </a:extLst>
          </p:cNvPr>
          <p:cNvSpPr txBox="1"/>
          <p:nvPr/>
        </p:nvSpPr>
        <p:spPr>
          <a:xfrm>
            <a:off x="6708401" y="4296611"/>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قطبية القياس</a:t>
            </a:r>
          </a:p>
        </p:txBody>
      </p:sp>
      <p:sp>
        <p:nvSpPr>
          <p:cNvPr id="13" name="TextBox 12">
            <a:extLst>
              <a:ext uri="{FF2B5EF4-FFF2-40B4-BE49-F238E27FC236}">
                <a16:creationId xmlns:a16="http://schemas.microsoft.com/office/drawing/2014/main" id="{8E371304-6CB2-2E3F-866A-1954B5C5B66C}"/>
              </a:ext>
            </a:extLst>
          </p:cNvPr>
          <p:cNvSpPr txBox="1"/>
          <p:nvPr/>
        </p:nvSpPr>
        <p:spPr>
          <a:xfrm>
            <a:off x="6790378" y="4944989"/>
            <a:ext cx="965308" cy="338554"/>
          </a:xfrm>
          <a:prstGeom prst="rect">
            <a:avLst/>
          </a:prstGeom>
          <a:noFill/>
        </p:spPr>
        <p:txBody>
          <a:bodyPr wrap="square" rtlCol="0">
            <a:spAutoFit/>
          </a:bodyPr>
          <a:lstStyle/>
          <a:p>
            <a:pPr algn="ctr"/>
            <a:r>
              <a:rPr lang="ar-EG" sz="1600" b="1" dirty="0">
                <a:solidFill>
                  <a:schemeClr val="accent1"/>
                </a:solidFill>
              </a:rPr>
              <a:t>تصاعدي</a:t>
            </a:r>
            <a:endParaRPr lang="en-US" sz="1600" b="1" dirty="0">
              <a:solidFill>
                <a:schemeClr val="accent1"/>
              </a:solidFill>
            </a:endParaRPr>
          </a:p>
        </p:txBody>
      </p:sp>
      <p:grpSp>
        <p:nvGrpSpPr>
          <p:cNvPr id="14" name="Group 13">
            <a:extLst>
              <a:ext uri="{FF2B5EF4-FFF2-40B4-BE49-F238E27FC236}">
                <a16:creationId xmlns:a16="http://schemas.microsoft.com/office/drawing/2014/main" id="{D21F2C22-B085-014A-E4D7-0CFBF1094956}"/>
              </a:ext>
            </a:extLst>
          </p:cNvPr>
          <p:cNvGrpSpPr>
            <a:grpSpLocks noChangeAspect="1"/>
          </p:cNvGrpSpPr>
          <p:nvPr/>
        </p:nvGrpSpPr>
        <p:grpSpPr>
          <a:xfrm>
            <a:off x="9260721" y="4673989"/>
            <a:ext cx="243890" cy="242732"/>
            <a:chOff x="2501900" y="457201"/>
            <a:chExt cx="1674813" cy="1666876"/>
          </a:xfrm>
          <a:solidFill>
            <a:schemeClr val="accent1"/>
          </a:solidFill>
        </p:grpSpPr>
        <p:sp>
          <p:nvSpPr>
            <p:cNvPr id="15" name="Freeform 5">
              <a:extLst>
                <a:ext uri="{FF2B5EF4-FFF2-40B4-BE49-F238E27FC236}">
                  <a16:creationId xmlns:a16="http://schemas.microsoft.com/office/drawing/2014/main" id="{3774A9E9-0C95-F382-EC79-A95469B2A073}"/>
                </a:ext>
              </a:extLst>
            </p:cNvPr>
            <p:cNvSpPr>
              <a:spLocks/>
            </p:cNvSpPr>
            <p:nvPr/>
          </p:nvSpPr>
          <p:spPr bwMode="auto">
            <a:xfrm>
              <a:off x="2857500" y="457201"/>
              <a:ext cx="130175" cy="273050"/>
            </a:xfrm>
            <a:custGeom>
              <a:avLst/>
              <a:gdLst>
                <a:gd name="T0" fmla="*/ 0 w 350"/>
                <a:gd name="T1" fmla="*/ 367 h 734"/>
                <a:gd name="T2" fmla="*/ 0 w 350"/>
                <a:gd name="T3" fmla="*/ 734 h 734"/>
                <a:gd name="T4" fmla="*/ 175 w 350"/>
                <a:gd name="T5" fmla="*/ 734 h 734"/>
                <a:gd name="T6" fmla="*/ 350 w 350"/>
                <a:gd name="T7" fmla="*/ 734 h 734"/>
                <a:gd name="T8" fmla="*/ 350 w 350"/>
                <a:gd name="T9" fmla="*/ 367 h 734"/>
                <a:gd name="T10" fmla="*/ 350 w 350"/>
                <a:gd name="T11" fmla="*/ 0 h 734"/>
                <a:gd name="T12" fmla="*/ 175 w 350"/>
                <a:gd name="T13" fmla="*/ 0 h 734"/>
                <a:gd name="T14" fmla="*/ 0 w 350"/>
                <a:gd name="T15" fmla="*/ 0 h 734"/>
                <a:gd name="T16" fmla="*/ 0 w 350"/>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734">
                  <a:moveTo>
                    <a:pt x="0" y="367"/>
                  </a:moveTo>
                  <a:lnTo>
                    <a:pt x="0" y="734"/>
                  </a:lnTo>
                  <a:lnTo>
                    <a:pt x="175" y="734"/>
                  </a:lnTo>
                  <a:lnTo>
                    <a:pt x="350" y="734"/>
                  </a:lnTo>
                  <a:lnTo>
                    <a:pt x="350" y="367"/>
                  </a:lnTo>
                  <a:lnTo>
                    <a:pt x="350" y="0"/>
                  </a:lnTo>
                  <a:lnTo>
                    <a:pt x="175"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6">
              <a:extLst>
                <a:ext uri="{FF2B5EF4-FFF2-40B4-BE49-F238E27FC236}">
                  <a16:creationId xmlns:a16="http://schemas.microsoft.com/office/drawing/2014/main" id="{D9FF1FCC-EF7C-33CD-6CF7-6A42B5D003BF}"/>
                </a:ext>
              </a:extLst>
            </p:cNvPr>
            <p:cNvSpPr>
              <a:spLocks/>
            </p:cNvSpPr>
            <p:nvPr/>
          </p:nvSpPr>
          <p:spPr bwMode="auto">
            <a:xfrm>
              <a:off x="3690938" y="457201"/>
              <a:ext cx="136525" cy="273050"/>
            </a:xfrm>
            <a:custGeom>
              <a:avLst/>
              <a:gdLst>
                <a:gd name="T0" fmla="*/ 0 w 367"/>
                <a:gd name="T1" fmla="*/ 367 h 734"/>
                <a:gd name="T2" fmla="*/ 0 w 367"/>
                <a:gd name="T3" fmla="*/ 734 h 734"/>
                <a:gd name="T4" fmla="*/ 184 w 367"/>
                <a:gd name="T5" fmla="*/ 734 h 734"/>
                <a:gd name="T6" fmla="*/ 367 w 367"/>
                <a:gd name="T7" fmla="*/ 734 h 734"/>
                <a:gd name="T8" fmla="*/ 367 w 367"/>
                <a:gd name="T9" fmla="*/ 367 h 734"/>
                <a:gd name="T10" fmla="*/ 367 w 367"/>
                <a:gd name="T11" fmla="*/ 0 h 734"/>
                <a:gd name="T12" fmla="*/ 184 w 367"/>
                <a:gd name="T13" fmla="*/ 0 h 734"/>
                <a:gd name="T14" fmla="*/ 0 w 367"/>
                <a:gd name="T15" fmla="*/ 0 h 734"/>
                <a:gd name="T16" fmla="*/ 0 w 367"/>
                <a:gd name="T17" fmla="*/ 367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734">
                  <a:moveTo>
                    <a:pt x="0" y="367"/>
                  </a:moveTo>
                  <a:lnTo>
                    <a:pt x="0" y="734"/>
                  </a:lnTo>
                  <a:lnTo>
                    <a:pt x="184" y="734"/>
                  </a:lnTo>
                  <a:lnTo>
                    <a:pt x="367" y="734"/>
                  </a:lnTo>
                  <a:lnTo>
                    <a:pt x="367" y="367"/>
                  </a:lnTo>
                  <a:lnTo>
                    <a:pt x="367" y="0"/>
                  </a:lnTo>
                  <a:lnTo>
                    <a:pt x="184" y="0"/>
                  </a:lnTo>
                  <a:lnTo>
                    <a:pt x="0" y="0"/>
                  </a:lnTo>
                  <a:lnTo>
                    <a:pt x="0" y="3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24">
              <a:extLst>
                <a:ext uri="{FF2B5EF4-FFF2-40B4-BE49-F238E27FC236}">
                  <a16:creationId xmlns:a16="http://schemas.microsoft.com/office/drawing/2014/main" id="{AE032D1F-F397-771C-C7DD-A7825478910A}"/>
                </a:ext>
              </a:extLst>
            </p:cNvPr>
            <p:cNvSpPr>
              <a:spLocks noEditPoints="1"/>
            </p:cNvSpPr>
            <p:nvPr/>
          </p:nvSpPr>
          <p:spPr bwMode="auto">
            <a:xfrm>
              <a:off x="2501900" y="661989"/>
              <a:ext cx="1674813" cy="1462088"/>
            </a:xfrm>
            <a:custGeom>
              <a:avLst/>
              <a:gdLst>
                <a:gd name="T0" fmla="*/ 0 w 4483"/>
                <a:gd name="T1" fmla="*/ 475 h 3917"/>
                <a:gd name="T2" fmla="*/ 0 w 4483"/>
                <a:gd name="T3" fmla="*/ 950 h 3917"/>
                <a:gd name="T4" fmla="*/ 92 w 4483"/>
                <a:gd name="T5" fmla="*/ 950 h 3917"/>
                <a:gd name="T6" fmla="*/ 183 w 4483"/>
                <a:gd name="T7" fmla="*/ 950 h 3917"/>
                <a:gd name="T8" fmla="*/ 183 w 4483"/>
                <a:gd name="T9" fmla="*/ 2434 h 3917"/>
                <a:gd name="T10" fmla="*/ 183 w 4483"/>
                <a:gd name="T11" fmla="*/ 3917 h 3917"/>
                <a:gd name="T12" fmla="*/ 2242 w 4483"/>
                <a:gd name="T13" fmla="*/ 3917 h 3917"/>
                <a:gd name="T14" fmla="*/ 4300 w 4483"/>
                <a:gd name="T15" fmla="*/ 3917 h 3917"/>
                <a:gd name="T16" fmla="*/ 4300 w 4483"/>
                <a:gd name="T17" fmla="*/ 2434 h 3917"/>
                <a:gd name="T18" fmla="*/ 4300 w 4483"/>
                <a:gd name="T19" fmla="*/ 950 h 3917"/>
                <a:gd name="T20" fmla="*/ 4392 w 4483"/>
                <a:gd name="T21" fmla="*/ 950 h 3917"/>
                <a:gd name="T22" fmla="*/ 4483 w 4483"/>
                <a:gd name="T23" fmla="*/ 950 h 3917"/>
                <a:gd name="T24" fmla="*/ 4483 w 4483"/>
                <a:gd name="T25" fmla="*/ 475 h 3917"/>
                <a:gd name="T26" fmla="*/ 4483 w 4483"/>
                <a:gd name="T27" fmla="*/ 0 h 3917"/>
                <a:gd name="T28" fmla="*/ 4117 w 4483"/>
                <a:gd name="T29" fmla="*/ 0 h 3917"/>
                <a:gd name="T30" fmla="*/ 3752 w 4483"/>
                <a:gd name="T31" fmla="*/ 0 h 3917"/>
                <a:gd name="T32" fmla="*/ 3747 w 4483"/>
                <a:gd name="T33" fmla="*/ 187 h 3917"/>
                <a:gd name="T34" fmla="*/ 3742 w 4483"/>
                <a:gd name="T35" fmla="*/ 375 h 3917"/>
                <a:gd name="T36" fmla="*/ 3363 w 4483"/>
                <a:gd name="T37" fmla="*/ 380 h 3917"/>
                <a:gd name="T38" fmla="*/ 2983 w 4483"/>
                <a:gd name="T39" fmla="*/ 384 h 3917"/>
                <a:gd name="T40" fmla="*/ 2983 w 4483"/>
                <a:gd name="T41" fmla="*/ 192 h 3917"/>
                <a:gd name="T42" fmla="*/ 2983 w 4483"/>
                <a:gd name="T43" fmla="*/ 0 h 3917"/>
                <a:gd name="T44" fmla="*/ 2242 w 4483"/>
                <a:gd name="T45" fmla="*/ 0 h 3917"/>
                <a:gd name="T46" fmla="*/ 1502 w 4483"/>
                <a:gd name="T47" fmla="*/ 0 h 3917"/>
                <a:gd name="T48" fmla="*/ 1497 w 4483"/>
                <a:gd name="T49" fmla="*/ 187 h 3917"/>
                <a:gd name="T50" fmla="*/ 1492 w 4483"/>
                <a:gd name="T51" fmla="*/ 375 h 3917"/>
                <a:gd name="T52" fmla="*/ 1117 w 4483"/>
                <a:gd name="T53" fmla="*/ 375 h 3917"/>
                <a:gd name="T54" fmla="*/ 742 w 4483"/>
                <a:gd name="T55" fmla="*/ 375 h 3917"/>
                <a:gd name="T56" fmla="*/ 737 w 4483"/>
                <a:gd name="T57" fmla="*/ 187 h 3917"/>
                <a:gd name="T58" fmla="*/ 732 w 4483"/>
                <a:gd name="T59" fmla="*/ 0 h 3917"/>
                <a:gd name="T60" fmla="*/ 367 w 4483"/>
                <a:gd name="T61" fmla="*/ 0 h 3917"/>
                <a:gd name="T62" fmla="*/ 0 w 4483"/>
                <a:gd name="T63" fmla="*/ 0 h 3917"/>
                <a:gd name="T64" fmla="*/ 0 w 4483"/>
                <a:gd name="T65" fmla="*/ 475 h 3917"/>
                <a:gd name="T66" fmla="*/ 3917 w 4483"/>
                <a:gd name="T67" fmla="*/ 2250 h 3917"/>
                <a:gd name="T68" fmla="*/ 3917 w 4483"/>
                <a:gd name="T69" fmla="*/ 3567 h 3917"/>
                <a:gd name="T70" fmla="*/ 2238 w 4483"/>
                <a:gd name="T71" fmla="*/ 3564 h 3917"/>
                <a:gd name="T72" fmla="*/ 558 w 4483"/>
                <a:gd name="T73" fmla="*/ 3559 h 3917"/>
                <a:gd name="T74" fmla="*/ 553 w 4483"/>
                <a:gd name="T75" fmla="*/ 2245 h 3917"/>
                <a:gd name="T76" fmla="*/ 550 w 4483"/>
                <a:gd name="T77" fmla="*/ 934 h 3917"/>
                <a:gd name="T78" fmla="*/ 2233 w 4483"/>
                <a:gd name="T79" fmla="*/ 934 h 3917"/>
                <a:gd name="T80" fmla="*/ 3917 w 4483"/>
                <a:gd name="T81" fmla="*/ 934 h 3917"/>
                <a:gd name="T82" fmla="*/ 3917 w 4483"/>
                <a:gd name="T83" fmla="*/ 2250 h 3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83" h="3917">
                  <a:moveTo>
                    <a:pt x="0" y="475"/>
                  </a:moveTo>
                  <a:lnTo>
                    <a:pt x="0" y="950"/>
                  </a:lnTo>
                  <a:lnTo>
                    <a:pt x="92" y="950"/>
                  </a:lnTo>
                  <a:lnTo>
                    <a:pt x="183" y="950"/>
                  </a:lnTo>
                  <a:lnTo>
                    <a:pt x="183" y="2434"/>
                  </a:lnTo>
                  <a:lnTo>
                    <a:pt x="183" y="3917"/>
                  </a:lnTo>
                  <a:lnTo>
                    <a:pt x="2242" y="3917"/>
                  </a:lnTo>
                  <a:lnTo>
                    <a:pt x="4300" y="3917"/>
                  </a:lnTo>
                  <a:lnTo>
                    <a:pt x="4300" y="2434"/>
                  </a:lnTo>
                  <a:lnTo>
                    <a:pt x="4300" y="950"/>
                  </a:lnTo>
                  <a:lnTo>
                    <a:pt x="4392" y="950"/>
                  </a:lnTo>
                  <a:lnTo>
                    <a:pt x="4483" y="950"/>
                  </a:lnTo>
                  <a:lnTo>
                    <a:pt x="4483" y="475"/>
                  </a:lnTo>
                  <a:lnTo>
                    <a:pt x="4483" y="0"/>
                  </a:lnTo>
                  <a:lnTo>
                    <a:pt x="4117" y="0"/>
                  </a:lnTo>
                  <a:lnTo>
                    <a:pt x="3752" y="0"/>
                  </a:lnTo>
                  <a:lnTo>
                    <a:pt x="3747" y="187"/>
                  </a:lnTo>
                  <a:lnTo>
                    <a:pt x="3742" y="375"/>
                  </a:lnTo>
                  <a:lnTo>
                    <a:pt x="3363" y="380"/>
                  </a:lnTo>
                  <a:lnTo>
                    <a:pt x="2983" y="384"/>
                  </a:lnTo>
                  <a:lnTo>
                    <a:pt x="2983" y="192"/>
                  </a:lnTo>
                  <a:lnTo>
                    <a:pt x="2983" y="0"/>
                  </a:lnTo>
                  <a:lnTo>
                    <a:pt x="2242" y="0"/>
                  </a:lnTo>
                  <a:lnTo>
                    <a:pt x="1502" y="0"/>
                  </a:lnTo>
                  <a:lnTo>
                    <a:pt x="1497" y="187"/>
                  </a:lnTo>
                  <a:lnTo>
                    <a:pt x="1492" y="375"/>
                  </a:lnTo>
                  <a:lnTo>
                    <a:pt x="1117" y="375"/>
                  </a:lnTo>
                  <a:lnTo>
                    <a:pt x="742" y="375"/>
                  </a:lnTo>
                  <a:lnTo>
                    <a:pt x="737" y="187"/>
                  </a:lnTo>
                  <a:lnTo>
                    <a:pt x="732" y="0"/>
                  </a:lnTo>
                  <a:lnTo>
                    <a:pt x="367" y="0"/>
                  </a:lnTo>
                  <a:lnTo>
                    <a:pt x="0" y="0"/>
                  </a:lnTo>
                  <a:lnTo>
                    <a:pt x="0" y="475"/>
                  </a:lnTo>
                  <a:close/>
                  <a:moveTo>
                    <a:pt x="3917" y="2250"/>
                  </a:moveTo>
                  <a:lnTo>
                    <a:pt x="3917" y="3567"/>
                  </a:lnTo>
                  <a:lnTo>
                    <a:pt x="2238" y="3564"/>
                  </a:lnTo>
                  <a:lnTo>
                    <a:pt x="558" y="3559"/>
                  </a:lnTo>
                  <a:lnTo>
                    <a:pt x="553" y="2245"/>
                  </a:lnTo>
                  <a:lnTo>
                    <a:pt x="550" y="934"/>
                  </a:lnTo>
                  <a:lnTo>
                    <a:pt x="2233" y="934"/>
                  </a:lnTo>
                  <a:lnTo>
                    <a:pt x="3917" y="934"/>
                  </a:lnTo>
                  <a:lnTo>
                    <a:pt x="3917" y="22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25">
              <a:extLst>
                <a:ext uri="{FF2B5EF4-FFF2-40B4-BE49-F238E27FC236}">
                  <a16:creationId xmlns:a16="http://schemas.microsoft.com/office/drawing/2014/main" id="{102C9345-243A-8B4B-E493-BBC285EA977B}"/>
                </a:ext>
              </a:extLst>
            </p:cNvPr>
            <p:cNvSpPr>
              <a:spLocks/>
            </p:cNvSpPr>
            <p:nvPr/>
          </p:nvSpPr>
          <p:spPr bwMode="auto">
            <a:xfrm>
              <a:off x="2857500" y="1154114"/>
              <a:ext cx="130175" cy="136525"/>
            </a:xfrm>
            <a:custGeom>
              <a:avLst/>
              <a:gdLst>
                <a:gd name="T0" fmla="*/ 0 w 350"/>
                <a:gd name="T1" fmla="*/ 183 h 367"/>
                <a:gd name="T2" fmla="*/ 0 w 350"/>
                <a:gd name="T3" fmla="*/ 367 h 367"/>
                <a:gd name="T4" fmla="*/ 175 w 350"/>
                <a:gd name="T5" fmla="*/ 367 h 367"/>
                <a:gd name="T6" fmla="*/ 350 w 350"/>
                <a:gd name="T7" fmla="*/ 367 h 367"/>
                <a:gd name="T8" fmla="*/ 350 w 350"/>
                <a:gd name="T9" fmla="*/ 183 h 367"/>
                <a:gd name="T10" fmla="*/ 350 w 350"/>
                <a:gd name="T11" fmla="*/ 0 h 367"/>
                <a:gd name="T12" fmla="*/ 175 w 350"/>
                <a:gd name="T13" fmla="*/ 0 h 367"/>
                <a:gd name="T14" fmla="*/ 0 w 350"/>
                <a:gd name="T15" fmla="*/ 0 h 367"/>
                <a:gd name="T16" fmla="*/ 0 w 350"/>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67">
                  <a:moveTo>
                    <a:pt x="0" y="183"/>
                  </a:moveTo>
                  <a:lnTo>
                    <a:pt x="0" y="367"/>
                  </a:lnTo>
                  <a:lnTo>
                    <a:pt x="175" y="367"/>
                  </a:lnTo>
                  <a:lnTo>
                    <a:pt x="350" y="367"/>
                  </a:lnTo>
                  <a:lnTo>
                    <a:pt x="350" y="183"/>
                  </a:lnTo>
                  <a:lnTo>
                    <a:pt x="350" y="0"/>
                  </a:lnTo>
                  <a:lnTo>
                    <a:pt x="175"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26">
              <a:extLst>
                <a:ext uri="{FF2B5EF4-FFF2-40B4-BE49-F238E27FC236}">
                  <a16:creationId xmlns:a16="http://schemas.microsoft.com/office/drawing/2014/main" id="{DF98894C-F612-7610-D4EC-66E1E7B9833C}"/>
                </a:ext>
              </a:extLst>
            </p:cNvPr>
            <p:cNvSpPr>
              <a:spLocks/>
            </p:cNvSpPr>
            <p:nvPr/>
          </p:nvSpPr>
          <p:spPr bwMode="auto">
            <a:xfrm>
              <a:off x="3130550"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27">
              <a:extLst>
                <a:ext uri="{FF2B5EF4-FFF2-40B4-BE49-F238E27FC236}">
                  <a16:creationId xmlns:a16="http://schemas.microsoft.com/office/drawing/2014/main" id="{1F076202-5E49-E510-2705-754CAAEC26B1}"/>
                </a:ext>
              </a:extLst>
            </p:cNvPr>
            <p:cNvSpPr>
              <a:spLocks/>
            </p:cNvSpPr>
            <p:nvPr/>
          </p:nvSpPr>
          <p:spPr bwMode="auto">
            <a:xfrm>
              <a:off x="34115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28">
              <a:extLst>
                <a:ext uri="{FF2B5EF4-FFF2-40B4-BE49-F238E27FC236}">
                  <a16:creationId xmlns:a16="http://schemas.microsoft.com/office/drawing/2014/main" id="{6F4B1F63-F8F6-4AF4-6A93-55B9D963310E}"/>
                </a:ext>
              </a:extLst>
            </p:cNvPr>
            <p:cNvSpPr>
              <a:spLocks/>
            </p:cNvSpPr>
            <p:nvPr/>
          </p:nvSpPr>
          <p:spPr bwMode="auto">
            <a:xfrm>
              <a:off x="3690938" y="1154114"/>
              <a:ext cx="136525" cy="136525"/>
            </a:xfrm>
            <a:custGeom>
              <a:avLst/>
              <a:gdLst>
                <a:gd name="T0" fmla="*/ 0 w 367"/>
                <a:gd name="T1" fmla="*/ 183 h 367"/>
                <a:gd name="T2" fmla="*/ 0 w 367"/>
                <a:gd name="T3" fmla="*/ 367 h 367"/>
                <a:gd name="T4" fmla="*/ 184 w 367"/>
                <a:gd name="T5" fmla="*/ 367 h 367"/>
                <a:gd name="T6" fmla="*/ 367 w 367"/>
                <a:gd name="T7" fmla="*/ 367 h 367"/>
                <a:gd name="T8" fmla="*/ 367 w 367"/>
                <a:gd name="T9" fmla="*/ 183 h 367"/>
                <a:gd name="T10" fmla="*/ 367 w 367"/>
                <a:gd name="T11" fmla="*/ 0 h 367"/>
                <a:gd name="T12" fmla="*/ 184 w 367"/>
                <a:gd name="T13" fmla="*/ 0 h 367"/>
                <a:gd name="T14" fmla="*/ 0 w 367"/>
                <a:gd name="T15" fmla="*/ 0 h 367"/>
                <a:gd name="T16" fmla="*/ 0 w 367"/>
                <a:gd name="T17" fmla="*/ 18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7" h="367">
                  <a:moveTo>
                    <a:pt x="0" y="183"/>
                  </a:moveTo>
                  <a:lnTo>
                    <a:pt x="0" y="367"/>
                  </a:lnTo>
                  <a:lnTo>
                    <a:pt x="184" y="367"/>
                  </a:lnTo>
                  <a:lnTo>
                    <a:pt x="367" y="367"/>
                  </a:lnTo>
                  <a:lnTo>
                    <a:pt x="367" y="183"/>
                  </a:lnTo>
                  <a:lnTo>
                    <a:pt x="367" y="0"/>
                  </a:lnTo>
                  <a:lnTo>
                    <a:pt x="184" y="0"/>
                  </a:lnTo>
                  <a:lnTo>
                    <a:pt x="0" y="0"/>
                  </a:lnTo>
                  <a:lnTo>
                    <a:pt x="0"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29">
              <a:extLst>
                <a:ext uri="{FF2B5EF4-FFF2-40B4-BE49-F238E27FC236}">
                  <a16:creationId xmlns:a16="http://schemas.microsoft.com/office/drawing/2014/main" id="{43795EA5-EC9E-D1D1-66A4-EC80C175FD58}"/>
                </a:ext>
              </a:extLst>
            </p:cNvPr>
            <p:cNvSpPr>
              <a:spLocks/>
            </p:cNvSpPr>
            <p:nvPr/>
          </p:nvSpPr>
          <p:spPr bwMode="auto">
            <a:xfrm>
              <a:off x="2857500" y="14271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30">
              <a:extLst>
                <a:ext uri="{FF2B5EF4-FFF2-40B4-BE49-F238E27FC236}">
                  <a16:creationId xmlns:a16="http://schemas.microsoft.com/office/drawing/2014/main" id="{BBF2BF73-5D37-D268-E9BE-B312DC9EE893}"/>
                </a:ext>
              </a:extLst>
            </p:cNvPr>
            <p:cNvSpPr>
              <a:spLocks/>
            </p:cNvSpPr>
            <p:nvPr/>
          </p:nvSpPr>
          <p:spPr bwMode="auto">
            <a:xfrm>
              <a:off x="3132138" y="1427164"/>
              <a:ext cx="134938" cy="142875"/>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31">
              <a:extLst>
                <a:ext uri="{FF2B5EF4-FFF2-40B4-BE49-F238E27FC236}">
                  <a16:creationId xmlns:a16="http://schemas.microsoft.com/office/drawing/2014/main" id="{23EFCE63-43AB-E94E-3D96-165D24495AF2}"/>
                </a:ext>
              </a:extLst>
            </p:cNvPr>
            <p:cNvSpPr>
              <a:spLocks/>
            </p:cNvSpPr>
            <p:nvPr/>
          </p:nvSpPr>
          <p:spPr bwMode="auto">
            <a:xfrm>
              <a:off x="3411538" y="1428751"/>
              <a:ext cx="136525" cy="141288"/>
            </a:xfrm>
            <a:custGeom>
              <a:avLst/>
              <a:gdLst>
                <a:gd name="T0" fmla="*/ 12 w 369"/>
                <a:gd name="T1" fmla="*/ 7 h 381"/>
                <a:gd name="T2" fmla="*/ 7 w 369"/>
                <a:gd name="T3" fmla="*/ 22 h 381"/>
                <a:gd name="T4" fmla="*/ 1 w 369"/>
                <a:gd name="T5" fmla="*/ 127 h 381"/>
                <a:gd name="T6" fmla="*/ 0 w 369"/>
                <a:gd name="T7" fmla="*/ 201 h 381"/>
                <a:gd name="T8" fmla="*/ 0 w 369"/>
                <a:gd name="T9" fmla="*/ 381 h 381"/>
                <a:gd name="T10" fmla="*/ 184 w 369"/>
                <a:gd name="T11" fmla="*/ 381 h 381"/>
                <a:gd name="T12" fmla="*/ 369 w 369"/>
                <a:gd name="T13" fmla="*/ 381 h 381"/>
                <a:gd name="T14" fmla="*/ 364 w 369"/>
                <a:gd name="T15" fmla="*/ 192 h 381"/>
                <a:gd name="T16" fmla="*/ 359 w 369"/>
                <a:gd name="T17" fmla="*/ 6 h 381"/>
                <a:gd name="T18" fmla="*/ 190 w 369"/>
                <a:gd name="T19" fmla="*/ 1 h 381"/>
                <a:gd name="T20" fmla="*/ 123 w 369"/>
                <a:gd name="T21" fmla="*/ 0 h 381"/>
                <a:gd name="T22" fmla="*/ 26 w 369"/>
                <a:gd name="T23" fmla="*/ 3 h 381"/>
                <a:gd name="T24" fmla="*/ 12 w 369"/>
                <a:gd name="T25" fmla="*/ 7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9" h="381">
                  <a:moveTo>
                    <a:pt x="12" y="7"/>
                  </a:moveTo>
                  <a:lnTo>
                    <a:pt x="7" y="22"/>
                  </a:lnTo>
                  <a:lnTo>
                    <a:pt x="1" y="127"/>
                  </a:lnTo>
                  <a:lnTo>
                    <a:pt x="0" y="201"/>
                  </a:lnTo>
                  <a:lnTo>
                    <a:pt x="0" y="381"/>
                  </a:lnTo>
                  <a:lnTo>
                    <a:pt x="184" y="381"/>
                  </a:lnTo>
                  <a:lnTo>
                    <a:pt x="369" y="381"/>
                  </a:lnTo>
                  <a:lnTo>
                    <a:pt x="364" y="192"/>
                  </a:lnTo>
                  <a:lnTo>
                    <a:pt x="359" y="6"/>
                  </a:lnTo>
                  <a:lnTo>
                    <a:pt x="190" y="1"/>
                  </a:lnTo>
                  <a:lnTo>
                    <a:pt x="123" y="0"/>
                  </a:lnTo>
                  <a:lnTo>
                    <a:pt x="26" y="3"/>
                  </a:lnTo>
                  <a:lnTo>
                    <a:pt x="1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32">
              <a:extLst>
                <a:ext uri="{FF2B5EF4-FFF2-40B4-BE49-F238E27FC236}">
                  <a16:creationId xmlns:a16="http://schemas.microsoft.com/office/drawing/2014/main" id="{AFE37204-F47A-64EC-A8CA-2AC9634A7D3F}"/>
                </a:ext>
              </a:extLst>
            </p:cNvPr>
            <p:cNvSpPr>
              <a:spLocks/>
            </p:cNvSpPr>
            <p:nvPr/>
          </p:nvSpPr>
          <p:spPr bwMode="auto">
            <a:xfrm>
              <a:off x="3690938" y="1427164"/>
              <a:ext cx="133350" cy="142875"/>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33">
              <a:extLst>
                <a:ext uri="{FF2B5EF4-FFF2-40B4-BE49-F238E27FC236}">
                  <a16:creationId xmlns:a16="http://schemas.microsoft.com/office/drawing/2014/main" id="{6FAA9DF1-BB6E-8F9E-0E16-6698F645D678}"/>
                </a:ext>
              </a:extLst>
            </p:cNvPr>
            <p:cNvSpPr>
              <a:spLocks/>
            </p:cNvSpPr>
            <p:nvPr/>
          </p:nvSpPr>
          <p:spPr bwMode="auto">
            <a:xfrm>
              <a:off x="2857500" y="1706564"/>
              <a:ext cx="130175" cy="142875"/>
            </a:xfrm>
            <a:custGeom>
              <a:avLst/>
              <a:gdLst>
                <a:gd name="T0" fmla="*/ 0 w 350"/>
                <a:gd name="T1" fmla="*/ 192 h 384"/>
                <a:gd name="T2" fmla="*/ 0 w 350"/>
                <a:gd name="T3" fmla="*/ 384 h 384"/>
                <a:gd name="T4" fmla="*/ 175 w 350"/>
                <a:gd name="T5" fmla="*/ 384 h 384"/>
                <a:gd name="T6" fmla="*/ 350 w 350"/>
                <a:gd name="T7" fmla="*/ 384 h 384"/>
                <a:gd name="T8" fmla="*/ 350 w 350"/>
                <a:gd name="T9" fmla="*/ 192 h 384"/>
                <a:gd name="T10" fmla="*/ 350 w 350"/>
                <a:gd name="T11" fmla="*/ 0 h 384"/>
                <a:gd name="T12" fmla="*/ 175 w 350"/>
                <a:gd name="T13" fmla="*/ 0 h 384"/>
                <a:gd name="T14" fmla="*/ 0 w 350"/>
                <a:gd name="T15" fmla="*/ 0 h 384"/>
                <a:gd name="T16" fmla="*/ 0 w 350"/>
                <a:gd name="T17"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84">
                  <a:moveTo>
                    <a:pt x="0" y="192"/>
                  </a:moveTo>
                  <a:lnTo>
                    <a:pt x="0" y="384"/>
                  </a:lnTo>
                  <a:lnTo>
                    <a:pt x="175" y="384"/>
                  </a:lnTo>
                  <a:lnTo>
                    <a:pt x="350" y="384"/>
                  </a:lnTo>
                  <a:lnTo>
                    <a:pt x="350" y="192"/>
                  </a:lnTo>
                  <a:lnTo>
                    <a:pt x="350" y="0"/>
                  </a:lnTo>
                  <a:lnTo>
                    <a:pt x="175" y="0"/>
                  </a:lnTo>
                  <a:lnTo>
                    <a:pt x="0" y="0"/>
                  </a:lnTo>
                  <a:lnTo>
                    <a:pt x="0"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34">
              <a:extLst>
                <a:ext uri="{FF2B5EF4-FFF2-40B4-BE49-F238E27FC236}">
                  <a16:creationId xmlns:a16="http://schemas.microsoft.com/office/drawing/2014/main" id="{C82391A0-B958-1798-6F72-48706096821A}"/>
                </a:ext>
              </a:extLst>
            </p:cNvPr>
            <p:cNvSpPr>
              <a:spLocks/>
            </p:cNvSpPr>
            <p:nvPr/>
          </p:nvSpPr>
          <p:spPr bwMode="auto">
            <a:xfrm>
              <a:off x="3132138" y="1706564"/>
              <a:ext cx="134938" cy="144463"/>
            </a:xfrm>
            <a:custGeom>
              <a:avLst/>
              <a:gdLst>
                <a:gd name="T0" fmla="*/ 4 w 364"/>
                <a:gd name="T1" fmla="*/ 22 h 385"/>
                <a:gd name="T2" fmla="*/ 2 w 364"/>
                <a:gd name="T3" fmla="*/ 40 h 385"/>
                <a:gd name="T4" fmla="*/ 0 w 364"/>
                <a:gd name="T5" fmla="*/ 142 h 385"/>
                <a:gd name="T6" fmla="*/ 1 w 364"/>
                <a:gd name="T7" fmla="*/ 210 h 385"/>
                <a:gd name="T8" fmla="*/ 6 w 364"/>
                <a:gd name="T9" fmla="*/ 375 h 385"/>
                <a:gd name="T10" fmla="*/ 186 w 364"/>
                <a:gd name="T11" fmla="*/ 380 h 385"/>
                <a:gd name="T12" fmla="*/ 364 w 364"/>
                <a:gd name="T13" fmla="*/ 385 h 385"/>
                <a:gd name="T14" fmla="*/ 364 w 364"/>
                <a:gd name="T15" fmla="*/ 192 h 385"/>
                <a:gd name="T16" fmla="*/ 364 w 364"/>
                <a:gd name="T17" fmla="*/ 0 h 385"/>
                <a:gd name="T18" fmla="*/ 189 w 364"/>
                <a:gd name="T19" fmla="*/ 0 h 385"/>
                <a:gd name="T20" fmla="*/ 102 w 364"/>
                <a:gd name="T21" fmla="*/ 1 h 385"/>
                <a:gd name="T22" fmla="*/ 30 w 364"/>
                <a:gd name="T23" fmla="*/ 8 h 385"/>
                <a:gd name="T24" fmla="*/ 8 w 364"/>
                <a:gd name="T25" fmla="*/ 16 h 385"/>
                <a:gd name="T26" fmla="*/ 4 w 364"/>
                <a:gd name="T27" fmla="*/ 22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385">
                  <a:moveTo>
                    <a:pt x="4" y="22"/>
                  </a:moveTo>
                  <a:lnTo>
                    <a:pt x="2" y="40"/>
                  </a:lnTo>
                  <a:lnTo>
                    <a:pt x="0" y="142"/>
                  </a:lnTo>
                  <a:lnTo>
                    <a:pt x="1" y="210"/>
                  </a:lnTo>
                  <a:lnTo>
                    <a:pt x="6" y="375"/>
                  </a:lnTo>
                  <a:lnTo>
                    <a:pt x="186" y="380"/>
                  </a:lnTo>
                  <a:lnTo>
                    <a:pt x="364" y="385"/>
                  </a:lnTo>
                  <a:lnTo>
                    <a:pt x="364" y="192"/>
                  </a:lnTo>
                  <a:lnTo>
                    <a:pt x="364" y="0"/>
                  </a:lnTo>
                  <a:lnTo>
                    <a:pt x="189" y="0"/>
                  </a:lnTo>
                  <a:lnTo>
                    <a:pt x="102" y="1"/>
                  </a:lnTo>
                  <a:lnTo>
                    <a:pt x="30" y="8"/>
                  </a:lnTo>
                  <a:lnTo>
                    <a:pt x="8" y="16"/>
                  </a:ln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35">
              <a:extLst>
                <a:ext uri="{FF2B5EF4-FFF2-40B4-BE49-F238E27FC236}">
                  <a16:creationId xmlns:a16="http://schemas.microsoft.com/office/drawing/2014/main" id="{AB0045A1-D170-A591-B381-650A8FD3B27A}"/>
                </a:ext>
              </a:extLst>
            </p:cNvPr>
            <p:cNvSpPr>
              <a:spLocks/>
            </p:cNvSpPr>
            <p:nvPr/>
          </p:nvSpPr>
          <p:spPr bwMode="auto">
            <a:xfrm>
              <a:off x="3409950" y="1706564"/>
              <a:ext cx="138113" cy="139700"/>
            </a:xfrm>
            <a:custGeom>
              <a:avLst/>
              <a:gdLst>
                <a:gd name="T0" fmla="*/ 5 w 370"/>
                <a:gd name="T1" fmla="*/ 187 h 375"/>
                <a:gd name="T2" fmla="*/ 10 w 370"/>
                <a:gd name="T3" fmla="*/ 375 h 375"/>
                <a:gd name="T4" fmla="*/ 185 w 370"/>
                <a:gd name="T5" fmla="*/ 375 h 375"/>
                <a:gd name="T6" fmla="*/ 360 w 370"/>
                <a:gd name="T7" fmla="*/ 375 h 375"/>
                <a:gd name="T8" fmla="*/ 365 w 370"/>
                <a:gd name="T9" fmla="*/ 187 h 375"/>
                <a:gd name="T10" fmla="*/ 370 w 370"/>
                <a:gd name="T11" fmla="*/ 0 h 375"/>
                <a:gd name="T12" fmla="*/ 185 w 370"/>
                <a:gd name="T13" fmla="*/ 0 h 375"/>
                <a:gd name="T14" fmla="*/ 0 w 370"/>
                <a:gd name="T15" fmla="*/ 0 h 375"/>
                <a:gd name="T16" fmla="*/ 5 w 370"/>
                <a:gd name="T17" fmla="*/ 18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 h="375">
                  <a:moveTo>
                    <a:pt x="5" y="187"/>
                  </a:moveTo>
                  <a:lnTo>
                    <a:pt x="10" y="375"/>
                  </a:lnTo>
                  <a:lnTo>
                    <a:pt x="185" y="375"/>
                  </a:lnTo>
                  <a:lnTo>
                    <a:pt x="360" y="375"/>
                  </a:lnTo>
                  <a:lnTo>
                    <a:pt x="365" y="187"/>
                  </a:lnTo>
                  <a:lnTo>
                    <a:pt x="370" y="0"/>
                  </a:lnTo>
                  <a:lnTo>
                    <a:pt x="185" y="0"/>
                  </a:lnTo>
                  <a:lnTo>
                    <a:pt x="0" y="0"/>
                  </a:lnTo>
                  <a:lnTo>
                    <a:pt x="5" y="1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 name="Freeform 36">
              <a:extLst>
                <a:ext uri="{FF2B5EF4-FFF2-40B4-BE49-F238E27FC236}">
                  <a16:creationId xmlns:a16="http://schemas.microsoft.com/office/drawing/2014/main" id="{451F0E7D-F952-B115-77EB-DAEB1C779615}"/>
                </a:ext>
              </a:extLst>
            </p:cNvPr>
            <p:cNvSpPr>
              <a:spLocks/>
            </p:cNvSpPr>
            <p:nvPr/>
          </p:nvSpPr>
          <p:spPr bwMode="auto">
            <a:xfrm>
              <a:off x="3690938" y="1706564"/>
              <a:ext cx="133350" cy="144463"/>
            </a:xfrm>
            <a:custGeom>
              <a:avLst/>
              <a:gdLst>
                <a:gd name="T0" fmla="*/ 0 w 359"/>
                <a:gd name="T1" fmla="*/ 193 h 386"/>
                <a:gd name="T2" fmla="*/ 0 w 359"/>
                <a:gd name="T3" fmla="*/ 386 h 386"/>
                <a:gd name="T4" fmla="*/ 180 w 359"/>
                <a:gd name="T5" fmla="*/ 381 h 386"/>
                <a:gd name="T6" fmla="*/ 359 w 359"/>
                <a:gd name="T7" fmla="*/ 376 h 386"/>
                <a:gd name="T8" fmla="*/ 359 w 359"/>
                <a:gd name="T9" fmla="*/ 193 h 386"/>
                <a:gd name="T10" fmla="*/ 359 w 359"/>
                <a:gd name="T11" fmla="*/ 10 h 386"/>
                <a:gd name="T12" fmla="*/ 180 w 359"/>
                <a:gd name="T13" fmla="*/ 5 h 386"/>
                <a:gd name="T14" fmla="*/ 0 w 359"/>
                <a:gd name="T15" fmla="*/ 0 h 386"/>
                <a:gd name="T16" fmla="*/ 0 w 359"/>
                <a:gd name="T17" fmla="*/ 193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 h="386">
                  <a:moveTo>
                    <a:pt x="0" y="193"/>
                  </a:moveTo>
                  <a:lnTo>
                    <a:pt x="0" y="386"/>
                  </a:lnTo>
                  <a:lnTo>
                    <a:pt x="180" y="381"/>
                  </a:lnTo>
                  <a:lnTo>
                    <a:pt x="359" y="376"/>
                  </a:lnTo>
                  <a:lnTo>
                    <a:pt x="359" y="193"/>
                  </a:lnTo>
                  <a:lnTo>
                    <a:pt x="359" y="10"/>
                  </a:lnTo>
                  <a:lnTo>
                    <a:pt x="180" y="5"/>
                  </a:lnTo>
                  <a:lnTo>
                    <a:pt x="0" y="0"/>
                  </a:lnTo>
                  <a:lnTo>
                    <a:pt x="0"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0" name="Rounded Rectangle 29">
            <a:extLst>
              <a:ext uri="{FF2B5EF4-FFF2-40B4-BE49-F238E27FC236}">
                <a16:creationId xmlns:a16="http://schemas.microsoft.com/office/drawing/2014/main" id="{DD76BA0C-B7D3-49D0-1D06-DDF6FB93ECE8}"/>
              </a:ext>
            </a:extLst>
          </p:cNvPr>
          <p:cNvSpPr/>
          <p:nvPr/>
        </p:nvSpPr>
        <p:spPr>
          <a:xfrm>
            <a:off x="4802154" y="433911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58323B08-ED0F-FD9C-8022-A170E5C805E1}"/>
              </a:ext>
            </a:extLst>
          </p:cNvPr>
          <p:cNvSpPr txBox="1"/>
          <p:nvPr/>
        </p:nvSpPr>
        <p:spPr>
          <a:xfrm>
            <a:off x="4598768" y="4296611"/>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وحدة القياس</a:t>
            </a:r>
          </a:p>
        </p:txBody>
      </p:sp>
      <p:sp>
        <p:nvSpPr>
          <p:cNvPr id="32" name="TextBox 31">
            <a:extLst>
              <a:ext uri="{FF2B5EF4-FFF2-40B4-BE49-F238E27FC236}">
                <a16:creationId xmlns:a16="http://schemas.microsoft.com/office/drawing/2014/main" id="{B5014B57-786A-EA5A-4FD9-662D628E2B2C}"/>
              </a:ext>
            </a:extLst>
          </p:cNvPr>
          <p:cNvSpPr txBox="1"/>
          <p:nvPr/>
        </p:nvSpPr>
        <p:spPr>
          <a:xfrm>
            <a:off x="4598768" y="4944989"/>
            <a:ext cx="1129262" cy="338554"/>
          </a:xfrm>
          <a:prstGeom prst="rect">
            <a:avLst/>
          </a:prstGeom>
          <a:noFill/>
        </p:spPr>
        <p:txBody>
          <a:bodyPr wrap="square" rtlCol="0">
            <a:spAutoFit/>
          </a:bodyPr>
          <a:lstStyle/>
          <a:p>
            <a:pPr algn="ctr"/>
            <a:r>
              <a:rPr lang="ar-EG" sz="1600" b="1" dirty="0">
                <a:solidFill>
                  <a:schemeClr val="accent1"/>
                </a:solidFill>
              </a:rPr>
              <a:t>نسبة مئوية (%)</a:t>
            </a:r>
          </a:p>
        </p:txBody>
      </p:sp>
      <p:sp>
        <p:nvSpPr>
          <p:cNvPr id="41" name="Rounded Rectangle 40">
            <a:extLst>
              <a:ext uri="{FF2B5EF4-FFF2-40B4-BE49-F238E27FC236}">
                <a16:creationId xmlns:a16="http://schemas.microsoft.com/office/drawing/2014/main" id="{442E2604-9D76-812C-6620-24C03FEB8D2D}"/>
              </a:ext>
            </a:extLst>
          </p:cNvPr>
          <p:cNvSpPr/>
          <p:nvPr/>
        </p:nvSpPr>
        <p:spPr>
          <a:xfrm>
            <a:off x="2692521" y="4339112"/>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extBox 41">
            <a:extLst>
              <a:ext uri="{FF2B5EF4-FFF2-40B4-BE49-F238E27FC236}">
                <a16:creationId xmlns:a16="http://schemas.microsoft.com/office/drawing/2014/main" id="{CD50431F-D2F2-058F-F7BA-7949244B842A}"/>
              </a:ext>
            </a:extLst>
          </p:cNvPr>
          <p:cNvSpPr txBox="1"/>
          <p:nvPr/>
        </p:nvSpPr>
        <p:spPr>
          <a:xfrm>
            <a:off x="2489135" y="4296611"/>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المستهدف</a:t>
            </a:r>
          </a:p>
        </p:txBody>
      </p:sp>
      <p:sp>
        <p:nvSpPr>
          <p:cNvPr id="53" name="Rounded Rectangle 52">
            <a:extLst>
              <a:ext uri="{FF2B5EF4-FFF2-40B4-BE49-F238E27FC236}">
                <a16:creationId xmlns:a16="http://schemas.microsoft.com/office/drawing/2014/main" id="{CF31FF1C-E9B4-BA60-BF34-A99152BE8B0F}"/>
              </a:ext>
            </a:extLst>
          </p:cNvPr>
          <p:cNvSpPr/>
          <p:nvPr/>
        </p:nvSpPr>
        <p:spPr>
          <a:xfrm>
            <a:off x="9021420" y="4341920"/>
            <a:ext cx="722490" cy="228600"/>
          </a:xfrm>
          <a:prstGeom prst="roundRect">
            <a:avLst/>
          </a:prstGeom>
          <a:gradFill>
            <a:gsLst>
              <a:gs pos="0">
                <a:schemeClr val="bg1">
                  <a:lumMod val="95000"/>
                  <a:alpha val="0"/>
                </a:schemeClr>
              </a:gs>
              <a:gs pos="62000">
                <a:schemeClr val="bg1">
                  <a:lumMod val="95000"/>
                </a:schemeClr>
              </a:gs>
              <a:gs pos="100000">
                <a:schemeClr val="bg1">
                  <a:lumMod val="95000"/>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extBox 53">
            <a:extLst>
              <a:ext uri="{FF2B5EF4-FFF2-40B4-BE49-F238E27FC236}">
                <a16:creationId xmlns:a16="http://schemas.microsoft.com/office/drawing/2014/main" id="{CB2C746B-B4DE-E5C0-E686-8B511A565C4F}"/>
              </a:ext>
            </a:extLst>
          </p:cNvPr>
          <p:cNvSpPr txBox="1"/>
          <p:nvPr/>
        </p:nvSpPr>
        <p:spPr>
          <a:xfrm>
            <a:off x="8818034" y="4299419"/>
            <a:ext cx="1129262" cy="338554"/>
          </a:xfrm>
          <a:prstGeom prst="rect">
            <a:avLst/>
          </a:prstGeom>
          <a:noFill/>
        </p:spPr>
        <p:txBody>
          <a:bodyPr wrap="square" rtlCol="0">
            <a:spAutoFit/>
          </a:bodyPr>
          <a:lstStyle/>
          <a:p>
            <a:pPr algn="ctr"/>
            <a:r>
              <a:rPr lang="ar-EG" sz="1600" b="1" dirty="0">
                <a:solidFill>
                  <a:schemeClr val="accent1">
                    <a:lumMod val="50000"/>
                  </a:schemeClr>
                </a:solidFill>
                <a:latin typeface="Sakkal Majalla" panose="02000000000000000000" pitchFamily="2" charset="-78"/>
                <a:cs typeface="Sakkal Majalla" panose="02000000000000000000" pitchFamily="2" charset="-78"/>
              </a:rPr>
              <a:t>دورية القياس</a:t>
            </a:r>
          </a:p>
        </p:txBody>
      </p:sp>
      <p:sp>
        <p:nvSpPr>
          <p:cNvPr id="55" name="TextBox 54">
            <a:extLst>
              <a:ext uri="{FF2B5EF4-FFF2-40B4-BE49-F238E27FC236}">
                <a16:creationId xmlns:a16="http://schemas.microsoft.com/office/drawing/2014/main" id="{C4FFB728-1874-749B-34F1-0857C0B2857F}"/>
              </a:ext>
            </a:extLst>
          </p:cNvPr>
          <p:cNvSpPr txBox="1"/>
          <p:nvPr/>
        </p:nvSpPr>
        <p:spPr>
          <a:xfrm>
            <a:off x="8900011" y="4947797"/>
            <a:ext cx="965308" cy="338554"/>
          </a:xfrm>
          <a:prstGeom prst="rect">
            <a:avLst/>
          </a:prstGeom>
          <a:noFill/>
        </p:spPr>
        <p:txBody>
          <a:bodyPr wrap="square" rtlCol="0">
            <a:spAutoFit/>
          </a:bodyPr>
          <a:lstStyle/>
          <a:p>
            <a:pPr algn="ctr"/>
            <a:r>
              <a:rPr lang="ar-EG" sz="1600" b="1" dirty="0">
                <a:solidFill>
                  <a:schemeClr val="accent1"/>
                </a:solidFill>
              </a:rPr>
              <a:t>ربع سنوي</a:t>
            </a:r>
          </a:p>
        </p:txBody>
      </p:sp>
      <p:sp>
        <p:nvSpPr>
          <p:cNvPr id="79" name="Rectangle 78">
            <a:extLst>
              <a:ext uri="{FF2B5EF4-FFF2-40B4-BE49-F238E27FC236}">
                <a16:creationId xmlns:a16="http://schemas.microsoft.com/office/drawing/2014/main" id="{8EC803EF-18F4-3E0F-D8B8-FCA5136819F0}"/>
              </a:ext>
            </a:extLst>
          </p:cNvPr>
          <p:cNvSpPr/>
          <p:nvPr/>
        </p:nvSpPr>
        <p:spPr>
          <a:xfrm>
            <a:off x="1872988" y="2510775"/>
            <a:ext cx="8067780" cy="451821"/>
          </a:xfrm>
          <a:prstGeom prst="rect">
            <a:avLst/>
          </a:prstGeom>
          <a:solidFill>
            <a:schemeClr val="bg1">
              <a:lumMod val="9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92" name="Table 91">
            <a:extLst>
              <a:ext uri="{FF2B5EF4-FFF2-40B4-BE49-F238E27FC236}">
                <a16:creationId xmlns:a16="http://schemas.microsoft.com/office/drawing/2014/main" id="{10278CDA-7DFC-BAAD-B33F-6ACE6CC9B833}"/>
              </a:ext>
            </a:extLst>
          </p:cNvPr>
          <p:cNvGraphicFramePr>
            <a:graphicFrameLocks noGrp="1"/>
          </p:cNvGraphicFramePr>
          <p:nvPr>
            <p:extLst>
              <p:ext uri="{D42A27DB-BD31-4B8C-83A1-F6EECF244321}">
                <p14:modId xmlns:p14="http://schemas.microsoft.com/office/powerpoint/2010/main" val="181459630"/>
              </p:ext>
            </p:extLst>
          </p:nvPr>
        </p:nvGraphicFramePr>
        <p:xfrm>
          <a:off x="1113853" y="2293250"/>
          <a:ext cx="9964294" cy="1782927"/>
        </p:xfrm>
        <a:graphic>
          <a:graphicData uri="http://schemas.openxmlformats.org/drawingml/2006/table">
            <a:tbl>
              <a:tblPr firstRow="1" bandRow="1">
                <a:tableStyleId>{5C22544A-7EE6-4342-B048-85BDC9FD1C3A}</a:tableStyleId>
              </a:tblPr>
              <a:tblGrid>
                <a:gridCol w="8543322">
                  <a:extLst>
                    <a:ext uri="{9D8B030D-6E8A-4147-A177-3AD203B41FA5}">
                      <a16:colId xmlns:a16="http://schemas.microsoft.com/office/drawing/2014/main" val="1922650772"/>
                    </a:ext>
                  </a:extLst>
                </a:gridCol>
                <a:gridCol w="1420972">
                  <a:extLst>
                    <a:ext uri="{9D8B030D-6E8A-4147-A177-3AD203B41FA5}">
                      <a16:colId xmlns:a16="http://schemas.microsoft.com/office/drawing/2014/main" val="831415739"/>
                    </a:ext>
                  </a:extLst>
                </a:gridCol>
              </a:tblGrid>
              <a:tr h="594309">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400" b="1" kern="1200" baseline="0" dirty="0">
                          <a:solidFill>
                            <a:schemeClr val="accent1"/>
                          </a:solidFill>
                          <a:latin typeface="Sakkal Majalla" panose="02000000000000000000" pitchFamily="2" charset="-78"/>
                          <a:ea typeface="+mn-ea"/>
                          <a:cs typeface="Sakkal Majalla" panose="02000000000000000000" pitchFamily="2" charset="-78"/>
                        </a:rPr>
                        <a:t>التوعية والمشاركة المعرفية</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الخدمة المرتبطة</a:t>
                      </a:r>
                      <a:endParaRPr lang="en-US"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4060515"/>
                  </a:ext>
                </a:extLst>
              </a:tr>
              <a:tr h="594309">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(عدد الموظفين المشاركين في ورش العمل / إجمالي عدد الموظفين) × 100%</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معادلة الاحتساب</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6671549"/>
                  </a:ext>
                </a:extLst>
              </a:tr>
              <a:tr h="594309">
                <a:tc>
                  <a:txBody>
                    <a:body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lang="ar-EG" sz="1400" b="1" kern="1200" baseline="0" dirty="0">
                          <a:solidFill>
                            <a:schemeClr val="accent1"/>
                          </a:solidFill>
                          <a:latin typeface="Sakkal Majalla" panose="02000000000000000000" pitchFamily="2" charset="-78"/>
                          <a:ea typeface="+mn-ea"/>
                          <a:cs typeface="Sakkal Majalla" panose="02000000000000000000" pitchFamily="2" charset="-78"/>
                        </a:rPr>
                        <a:t>سجلات تنفيذ أنشطة التوعية وقاعدة بيانات الموارد البشرية</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1" eaLnBrk="1" fontAlgn="auto" latinLnBrk="0" hangingPunct="1">
                        <a:lnSpc>
                          <a:spcPct val="115000"/>
                        </a:lnSpc>
                        <a:spcBef>
                          <a:spcPts val="0"/>
                        </a:spcBef>
                        <a:spcAft>
                          <a:spcPts val="0"/>
                        </a:spcAft>
                        <a:buClrTx/>
                        <a:buSzTx/>
                        <a:buFontTx/>
                        <a:buNone/>
                        <a:tabLst/>
                        <a:defRPr/>
                      </a:pPr>
                      <a:r>
                        <a:rPr lang="ar-EG" sz="1600" b="1" baseline="0" dirty="0">
                          <a:solidFill>
                            <a:schemeClr val="accent1">
                              <a:lumMod val="50000"/>
                            </a:schemeClr>
                          </a:solidFill>
                          <a:effectLst/>
                          <a:latin typeface="Sakkal Majalla" panose="02000000000000000000" pitchFamily="2" charset="-78"/>
                          <a:ea typeface="Calibri" panose="020F0502020204030204" pitchFamily="34" charset="0"/>
                          <a:cs typeface="Sakkal Majalla" panose="02000000000000000000" pitchFamily="2" charset="-78"/>
                        </a:rPr>
                        <a:t>مصدر البيانات</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78273"/>
                  </a:ext>
                </a:extLst>
              </a:tr>
            </a:tbl>
          </a:graphicData>
        </a:graphic>
      </p:graphicFrame>
      <p:grpSp>
        <p:nvGrpSpPr>
          <p:cNvPr id="101" name="Group 100">
            <a:extLst>
              <a:ext uri="{FF2B5EF4-FFF2-40B4-BE49-F238E27FC236}">
                <a16:creationId xmlns:a16="http://schemas.microsoft.com/office/drawing/2014/main" id="{FBFD12DE-0F82-C707-AC48-30D9AF6CB05F}"/>
              </a:ext>
            </a:extLst>
          </p:cNvPr>
          <p:cNvGrpSpPr>
            <a:grpSpLocks noChangeAspect="1"/>
          </p:cNvGrpSpPr>
          <p:nvPr/>
        </p:nvGrpSpPr>
        <p:grpSpPr>
          <a:xfrm>
            <a:off x="2930143" y="4672641"/>
            <a:ext cx="247246" cy="246888"/>
            <a:chOff x="1952627" y="3497263"/>
            <a:chExt cx="1095375" cy="1093788"/>
          </a:xfrm>
          <a:solidFill>
            <a:schemeClr val="accent1"/>
          </a:solidFill>
        </p:grpSpPr>
        <p:sp>
          <p:nvSpPr>
            <p:cNvPr id="102" name="Freeform 373">
              <a:extLst>
                <a:ext uri="{FF2B5EF4-FFF2-40B4-BE49-F238E27FC236}">
                  <a16:creationId xmlns:a16="http://schemas.microsoft.com/office/drawing/2014/main" id="{65B2AA6F-9768-ACE7-A68E-9E63F3C590C4}"/>
                </a:ext>
              </a:extLst>
            </p:cNvPr>
            <p:cNvSpPr>
              <a:spLocks noEditPoints="1"/>
            </p:cNvSpPr>
            <p:nvPr/>
          </p:nvSpPr>
          <p:spPr bwMode="auto">
            <a:xfrm>
              <a:off x="1952627" y="3497263"/>
              <a:ext cx="1095375" cy="1093788"/>
            </a:xfrm>
            <a:custGeom>
              <a:avLst/>
              <a:gdLst>
                <a:gd name="T0" fmla="*/ 1053 w 2895"/>
                <a:gd name="T1" fmla="*/ 200 h 2894"/>
                <a:gd name="T2" fmla="*/ 389 w 2895"/>
                <a:gd name="T3" fmla="*/ 673 h 2894"/>
                <a:gd name="T4" fmla="*/ 136 w 2895"/>
                <a:gd name="T5" fmla="*/ 1347 h 2894"/>
                <a:gd name="T6" fmla="*/ 4 w 2895"/>
                <a:gd name="T7" fmla="*/ 1425 h 2894"/>
                <a:gd name="T8" fmla="*/ 126 w 2895"/>
                <a:gd name="T9" fmla="*/ 1516 h 2894"/>
                <a:gd name="T10" fmla="*/ 355 w 2895"/>
                <a:gd name="T11" fmla="*/ 2168 h 2894"/>
                <a:gd name="T12" fmla="*/ 943 w 2895"/>
                <a:gd name="T13" fmla="*/ 2655 h 2894"/>
                <a:gd name="T14" fmla="*/ 1394 w 2895"/>
                <a:gd name="T15" fmla="*/ 2764 h 2894"/>
                <a:gd name="T16" fmla="*/ 1456 w 2895"/>
                <a:gd name="T17" fmla="*/ 2894 h 2894"/>
                <a:gd name="T18" fmla="*/ 1545 w 2895"/>
                <a:gd name="T19" fmla="*/ 2750 h 2894"/>
                <a:gd name="T20" fmla="*/ 2131 w 2895"/>
                <a:gd name="T21" fmla="*/ 2564 h 2894"/>
                <a:gd name="T22" fmla="*/ 2659 w 2895"/>
                <a:gd name="T23" fmla="*/ 1949 h 2894"/>
                <a:gd name="T24" fmla="*/ 2796 w 2895"/>
                <a:gd name="T25" fmla="*/ 1500 h 2894"/>
                <a:gd name="T26" fmla="*/ 2877 w 2895"/>
                <a:gd name="T27" fmla="*/ 1410 h 2894"/>
                <a:gd name="T28" fmla="*/ 2747 w 2895"/>
                <a:gd name="T29" fmla="*/ 1261 h 2894"/>
                <a:gd name="T30" fmla="*/ 2397 w 2895"/>
                <a:gd name="T31" fmla="*/ 543 h 2894"/>
                <a:gd name="T32" fmla="*/ 1681 w 2895"/>
                <a:gd name="T33" fmla="*/ 160 h 2894"/>
                <a:gd name="T34" fmla="*/ 1478 w 2895"/>
                <a:gd name="T35" fmla="*/ 13 h 2894"/>
                <a:gd name="T36" fmla="*/ 1392 w 2895"/>
                <a:gd name="T37" fmla="*/ 300 h 2894"/>
                <a:gd name="T38" fmla="*/ 883 w 2895"/>
                <a:gd name="T39" fmla="*/ 469 h 2894"/>
                <a:gd name="T40" fmla="*/ 425 w 2895"/>
                <a:gd name="T41" fmla="*/ 972 h 2894"/>
                <a:gd name="T42" fmla="*/ 300 w 2895"/>
                <a:gd name="T43" fmla="*/ 1396 h 2894"/>
                <a:gd name="T44" fmla="*/ 233 w 2895"/>
                <a:gd name="T45" fmla="*/ 1294 h 2894"/>
                <a:gd name="T46" fmla="*/ 688 w 2895"/>
                <a:gd name="T47" fmla="*/ 489 h 2894"/>
                <a:gd name="T48" fmla="*/ 1390 w 2895"/>
                <a:gd name="T49" fmla="*/ 221 h 2894"/>
                <a:gd name="T50" fmla="*/ 2080 w 2895"/>
                <a:gd name="T51" fmla="*/ 405 h 2894"/>
                <a:gd name="T52" fmla="*/ 2527 w 2895"/>
                <a:gd name="T53" fmla="*/ 879 h 2894"/>
                <a:gd name="T54" fmla="*/ 2658 w 2895"/>
                <a:gd name="T55" fmla="*/ 1395 h 2894"/>
                <a:gd name="T56" fmla="*/ 2547 w 2895"/>
                <a:gd name="T57" fmla="*/ 1190 h 2894"/>
                <a:gd name="T58" fmla="*/ 2266 w 2895"/>
                <a:gd name="T59" fmla="*/ 691 h 2894"/>
                <a:gd name="T60" fmla="*/ 2296 w 2895"/>
                <a:gd name="T61" fmla="*/ 847 h 2894"/>
                <a:gd name="T62" fmla="*/ 2480 w 2895"/>
                <a:gd name="T63" fmla="*/ 1565 h 2894"/>
                <a:gd name="T64" fmla="*/ 2146 w 2895"/>
                <a:gd name="T65" fmla="*/ 2216 h 2894"/>
                <a:gd name="T66" fmla="*/ 1515 w 2895"/>
                <a:gd name="T67" fmla="*/ 2481 h 2894"/>
                <a:gd name="T68" fmla="*/ 771 w 2895"/>
                <a:gd name="T69" fmla="*/ 2233 h 2894"/>
                <a:gd name="T70" fmla="*/ 429 w 2895"/>
                <a:gd name="T71" fmla="*/ 1652 h 2894"/>
                <a:gd name="T72" fmla="*/ 476 w 2895"/>
                <a:gd name="T73" fmla="*/ 1080 h 2894"/>
                <a:gd name="T74" fmla="*/ 825 w 2895"/>
                <a:gd name="T75" fmla="*/ 615 h 2894"/>
                <a:gd name="T76" fmla="*/ 1399 w 2895"/>
                <a:gd name="T77" fmla="*/ 412 h 2894"/>
                <a:gd name="T78" fmla="*/ 1960 w 2895"/>
                <a:gd name="T79" fmla="*/ 540 h 2894"/>
                <a:gd name="T80" fmla="*/ 2198 w 2895"/>
                <a:gd name="T81" fmla="*/ 627 h 2894"/>
                <a:gd name="T82" fmla="*/ 1802 w 2895"/>
                <a:gd name="T83" fmla="*/ 375 h 2894"/>
                <a:gd name="T84" fmla="*/ 1498 w 2895"/>
                <a:gd name="T85" fmla="*/ 287 h 2894"/>
                <a:gd name="T86" fmla="*/ 1699 w 2895"/>
                <a:gd name="T87" fmla="*/ 253 h 2894"/>
                <a:gd name="T88" fmla="*/ 490 w 2895"/>
                <a:gd name="T89" fmla="*/ 2049 h 2894"/>
                <a:gd name="T90" fmla="*/ 981 w 2895"/>
                <a:gd name="T91" fmla="*/ 2477 h 2894"/>
                <a:gd name="T92" fmla="*/ 1397 w 2895"/>
                <a:gd name="T93" fmla="*/ 2613 h 2894"/>
                <a:gd name="T94" fmla="*/ 1151 w 2895"/>
                <a:gd name="T95" fmla="*/ 2629 h 2894"/>
                <a:gd name="T96" fmla="*/ 487 w 2895"/>
                <a:gd name="T97" fmla="*/ 2203 h 2894"/>
                <a:gd name="T98" fmla="*/ 232 w 2895"/>
                <a:gd name="T99" fmla="*/ 1594 h 2894"/>
                <a:gd name="T100" fmla="*/ 301 w 2895"/>
                <a:gd name="T101" fmla="*/ 1507 h 2894"/>
                <a:gd name="T102" fmla="*/ 2530 w 2895"/>
                <a:gd name="T103" fmla="*/ 2016 h 2894"/>
                <a:gd name="T104" fmla="*/ 1798 w 2895"/>
                <a:gd name="T105" fmla="*/ 2614 h 2894"/>
                <a:gd name="T106" fmla="*/ 1498 w 2895"/>
                <a:gd name="T107" fmla="*/ 2615 h 2894"/>
                <a:gd name="T108" fmla="*/ 1898 w 2895"/>
                <a:gd name="T109" fmla="*/ 2482 h 2894"/>
                <a:gd name="T110" fmla="*/ 2396 w 2895"/>
                <a:gd name="T111" fmla="*/ 2058 h 2894"/>
                <a:gd name="T112" fmla="*/ 2583 w 2895"/>
                <a:gd name="T113" fmla="*/ 1524 h 2894"/>
                <a:gd name="T114" fmla="*/ 2659 w 2895"/>
                <a:gd name="T115" fmla="*/ 1598 h 28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95" h="2894">
                  <a:moveTo>
                    <a:pt x="1409" y="12"/>
                  </a:moveTo>
                  <a:lnTo>
                    <a:pt x="1404" y="18"/>
                  </a:lnTo>
                  <a:lnTo>
                    <a:pt x="1398" y="52"/>
                  </a:lnTo>
                  <a:lnTo>
                    <a:pt x="1397" y="73"/>
                  </a:lnTo>
                  <a:lnTo>
                    <a:pt x="1397" y="125"/>
                  </a:lnTo>
                  <a:lnTo>
                    <a:pt x="1214" y="160"/>
                  </a:lnTo>
                  <a:lnTo>
                    <a:pt x="1159" y="171"/>
                  </a:lnTo>
                  <a:lnTo>
                    <a:pt x="1053" y="200"/>
                  </a:lnTo>
                  <a:lnTo>
                    <a:pt x="952" y="236"/>
                  </a:lnTo>
                  <a:lnTo>
                    <a:pt x="855" y="279"/>
                  </a:lnTo>
                  <a:lnTo>
                    <a:pt x="764" y="329"/>
                  </a:lnTo>
                  <a:lnTo>
                    <a:pt x="678" y="386"/>
                  </a:lnTo>
                  <a:lnTo>
                    <a:pt x="597" y="448"/>
                  </a:lnTo>
                  <a:lnTo>
                    <a:pt x="522" y="517"/>
                  </a:lnTo>
                  <a:lnTo>
                    <a:pt x="452" y="592"/>
                  </a:lnTo>
                  <a:lnTo>
                    <a:pt x="389" y="673"/>
                  </a:lnTo>
                  <a:lnTo>
                    <a:pt x="332" y="759"/>
                  </a:lnTo>
                  <a:lnTo>
                    <a:pt x="281" y="850"/>
                  </a:lnTo>
                  <a:lnTo>
                    <a:pt x="237" y="947"/>
                  </a:lnTo>
                  <a:lnTo>
                    <a:pt x="200" y="1048"/>
                  </a:lnTo>
                  <a:lnTo>
                    <a:pt x="170" y="1153"/>
                  </a:lnTo>
                  <a:lnTo>
                    <a:pt x="147" y="1263"/>
                  </a:lnTo>
                  <a:lnTo>
                    <a:pt x="139" y="1320"/>
                  </a:lnTo>
                  <a:lnTo>
                    <a:pt x="136" y="1347"/>
                  </a:lnTo>
                  <a:lnTo>
                    <a:pt x="128" y="1380"/>
                  </a:lnTo>
                  <a:lnTo>
                    <a:pt x="115" y="1396"/>
                  </a:lnTo>
                  <a:lnTo>
                    <a:pt x="90" y="1400"/>
                  </a:lnTo>
                  <a:lnTo>
                    <a:pt x="71" y="1400"/>
                  </a:lnTo>
                  <a:lnTo>
                    <a:pt x="45" y="1401"/>
                  </a:lnTo>
                  <a:lnTo>
                    <a:pt x="17" y="1410"/>
                  </a:lnTo>
                  <a:lnTo>
                    <a:pt x="7" y="1420"/>
                  </a:lnTo>
                  <a:lnTo>
                    <a:pt x="4" y="1425"/>
                  </a:lnTo>
                  <a:lnTo>
                    <a:pt x="0" y="1439"/>
                  </a:lnTo>
                  <a:lnTo>
                    <a:pt x="7" y="1465"/>
                  </a:lnTo>
                  <a:lnTo>
                    <a:pt x="29" y="1486"/>
                  </a:lnTo>
                  <a:lnTo>
                    <a:pt x="62" y="1499"/>
                  </a:lnTo>
                  <a:lnTo>
                    <a:pt x="81" y="1500"/>
                  </a:lnTo>
                  <a:lnTo>
                    <a:pt x="98" y="1500"/>
                  </a:lnTo>
                  <a:lnTo>
                    <a:pt x="117" y="1506"/>
                  </a:lnTo>
                  <a:lnTo>
                    <a:pt x="126" y="1516"/>
                  </a:lnTo>
                  <a:lnTo>
                    <a:pt x="136" y="1543"/>
                  </a:lnTo>
                  <a:lnTo>
                    <a:pt x="148" y="1614"/>
                  </a:lnTo>
                  <a:lnTo>
                    <a:pt x="156" y="1672"/>
                  </a:lnTo>
                  <a:lnTo>
                    <a:pt x="164" y="1726"/>
                  </a:lnTo>
                  <a:lnTo>
                    <a:pt x="193" y="1836"/>
                  </a:lnTo>
                  <a:lnTo>
                    <a:pt x="236" y="1949"/>
                  </a:lnTo>
                  <a:lnTo>
                    <a:pt x="290" y="2060"/>
                  </a:lnTo>
                  <a:lnTo>
                    <a:pt x="355" y="2168"/>
                  </a:lnTo>
                  <a:lnTo>
                    <a:pt x="428" y="2270"/>
                  </a:lnTo>
                  <a:lnTo>
                    <a:pt x="509" y="2363"/>
                  </a:lnTo>
                  <a:lnTo>
                    <a:pt x="597" y="2446"/>
                  </a:lnTo>
                  <a:lnTo>
                    <a:pt x="642" y="2482"/>
                  </a:lnTo>
                  <a:lnTo>
                    <a:pt x="681" y="2510"/>
                  </a:lnTo>
                  <a:lnTo>
                    <a:pt x="764" y="2564"/>
                  </a:lnTo>
                  <a:lnTo>
                    <a:pt x="852" y="2612"/>
                  </a:lnTo>
                  <a:lnTo>
                    <a:pt x="943" y="2655"/>
                  </a:lnTo>
                  <a:lnTo>
                    <a:pt x="1035" y="2691"/>
                  </a:lnTo>
                  <a:lnTo>
                    <a:pt x="1125" y="2719"/>
                  </a:lnTo>
                  <a:lnTo>
                    <a:pt x="1210" y="2739"/>
                  </a:lnTo>
                  <a:lnTo>
                    <a:pt x="1290" y="2749"/>
                  </a:lnTo>
                  <a:lnTo>
                    <a:pt x="1326" y="2750"/>
                  </a:lnTo>
                  <a:lnTo>
                    <a:pt x="1350" y="2750"/>
                  </a:lnTo>
                  <a:lnTo>
                    <a:pt x="1380" y="2753"/>
                  </a:lnTo>
                  <a:lnTo>
                    <a:pt x="1394" y="2764"/>
                  </a:lnTo>
                  <a:lnTo>
                    <a:pt x="1397" y="2788"/>
                  </a:lnTo>
                  <a:lnTo>
                    <a:pt x="1397" y="2807"/>
                  </a:lnTo>
                  <a:lnTo>
                    <a:pt x="1399" y="2830"/>
                  </a:lnTo>
                  <a:lnTo>
                    <a:pt x="1413" y="2872"/>
                  </a:lnTo>
                  <a:lnTo>
                    <a:pt x="1422" y="2883"/>
                  </a:lnTo>
                  <a:lnTo>
                    <a:pt x="1429" y="2889"/>
                  </a:lnTo>
                  <a:lnTo>
                    <a:pt x="1443" y="2894"/>
                  </a:lnTo>
                  <a:lnTo>
                    <a:pt x="1456" y="2894"/>
                  </a:lnTo>
                  <a:lnTo>
                    <a:pt x="1468" y="2888"/>
                  </a:lnTo>
                  <a:lnTo>
                    <a:pt x="1484" y="2870"/>
                  </a:lnTo>
                  <a:lnTo>
                    <a:pt x="1496" y="2831"/>
                  </a:lnTo>
                  <a:lnTo>
                    <a:pt x="1497" y="2807"/>
                  </a:lnTo>
                  <a:lnTo>
                    <a:pt x="1497" y="2788"/>
                  </a:lnTo>
                  <a:lnTo>
                    <a:pt x="1501" y="2764"/>
                  </a:lnTo>
                  <a:lnTo>
                    <a:pt x="1515" y="2753"/>
                  </a:lnTo>
                  <a:lnTo>
                    <a:pt x="1545" y="2750"/>
                  </a:lnTo>
                  <a:lnTo>
                    <a:pt x="1569" y="2750"/>
                  </a:lnTo>
                  <a:lnTo>
                    <a:pt x="1605" y="2749"/>
                  </a:lnTo>
                  <a:lnTo>
                    <a:pt x="1684" y="2739"/>
                  </a:lnTo>
                  <a:lnTo>
                    <a:pt x="1770" y="2719"/>
                  </a:lnTo>
                  <a:lnTo>
                    <a:pt x="1860" y="2691"/>
                  </a:lnTo>
                  <a:lnTo>
                    <a:pt x="1952" y="2655"/>
                  </a:lnTo>
                  <a:lnTo>
                    <a:pt x="2043" y="2612"/>
                  </a:lnTo>
                  <a:lnTo>
                    <a:pt x="2131" y="2564"/>
                  </a:lnTo>
                  <a:lnTo>
                    <a:pt x="2214" y="2510"/>
                  </a:lnTo>
                  <a:lnTo>
                    <a:pt x="2252" y="2482"/>
                  </a:lnTo>
                  <a:lnTo>
                    <a:pt x="2298" y="2446"/>
                  </a:lnTo>
                  <a:lnTo>
                    <a:pt x="2385" y="2363"/>
                  </a:lnTo>
                  <a:lnTo>
                    <a:pt x="2466" y="2270"/>
                  </a:lnTo>
                  <a:lnTo>
                    <a:pt x="2540" y="2168"/>
                  </a:lnTo>
                  <a:lnTo>
                    <a:pt x="2605" y="2060"/>
                  </a:lnTo>
                  <a:lnTo>
                    <a:pt x="2659" y="1949"/>
                  </a:lnTo>
                  <a:lnTo>
                    <a:pt x="2701" y="1836"/>
                  </a:lnTo>
                  <a:lnTo>
                    <a:pt x="2731" y="1726"/>
                  </a:lnTo>
                  <a:lnTo>
                    <a:pt x="2739" y="1672"/>
                  </a:lnTo>
                  <a:lnTo>
                    <a:pt x="2747" y="1614"/>
                  </a:lnTo>
                  <a:lnTo>
                    <a:pt x="2759" y="1543"/>
                  </a:lnTo>
                  <a:lnTo>
                    <a:pt x="2769" y="1516"/>
                  </a:lnTo>
                  <a:lnTo>
                    <a:pt x="2778" y="1506"/>
                  </a:lnTo>
                  <a:lnTo>
                    <a:pt x="2796" y="1500"/>
                  </a:lnTo>
                  <a:lnTo>
                    <a:pt x="2814" y="1500"/>
                  </a:lnTo>
                  <a:lnTo>
                    <a:pt x="2833" y="1499"/>
                  </a:lnTo>
                  <a:lnTo>
                    <a:pt x="2865" y="1486"/>
                  </a:lnTo>
                  <a:lnTo>
                    <a:pt x="2887" y="1465"/>
                  </a:lnTo>
                  <a:lnTo>
                    <a:pt x="2895" y="1439"/>
                  </a:lnTo>
                  <a:lnTo>
                    <a:pt x="2891" y="1425"/>
                  </a:lnTo>
                  <a:lnTo>
                    <a:pt x="2888" y="1420"/>
                  </a:lnTo>
                  <a:lnTo>
                    <a:pt x="2877" y="1410"/>
                  </a:lnTo>
                  <a:lnTo>
                    <a:pt x="2850" y="1401"/>
                  </a:lnTo>
                  <a:lnTo>
                    <a:pt x="2824" y="1400"/>
                  </a:lnTo>
                  <a:lnTo>
                    <a:pt x="2804" y="1400"/>
                  </a:lnTo>
                  <a:lnTo>
                    <a:pt x="2780" y="1396"/>
                  </a:lnTo>
                  <a:lnTo>
                    <a:pt x="2767" y="1380"/>
                  </a:lnTo>
                  <a:lnTo>
                    <a:pt x="2759" y="1347"/>
                  </a:lnTo>
                  <a:lnTo>
                    <a:pt x="2756" y="1320"/>
                  </a:lnTo>
                  <a:lnTo>
                    <a:pt x="2747" y="1261"/>
                  </a:lnTo>
                  <a:lnTo>
                    <a:pt x="2724" y="1151"/>
                  </a:lnTo>
                  <a:lnTo>
                    <a:pt x="2695" y="1049"/>
                  </a:lnTo>
                  <a:lnTo>
                    <a:pt x="2660" y="952"/>
                  </a:lnTo>
                  <a:lnTo>
                    <a:pt x="2639" y="905"/>
                  </a:lnTo>
                  <a:lnTo>
                    <a:pt x="2603" y="831"/>
                  </a:lnTo>
                  <a:lnTo>
                    <a:pt x="2520" y="694"/>
                  </a:lnTo>
                  <a:lnTo>
                    <a:pt x="2448" y="601"/>
                  </a:lnTo>
                  <a:lnTo>
                    <a:pt x="2397" y="543"/>
                  </a:lnTo>
                  <a:lnTo>
                    <a:pt x="2343" y="489"/>
                  </a:lnTo>
                  <a:lnTo>
                    <a:pt x="2285" y="438"/>
                  </a:lnTo>
                  <a:lnTo>
                    <a:pt x="2224" y="391"/>
                  </a:lnTo>
                  <a:lnTo>
                    <a:pt x="2161" y="348"/>
                  </a:lnTo>
                  <a:lnTo>
                    <a:pt x="2060" y="289"/>
                  </a:lnTo>
                  <a:lnTo>
                    <a:pt x="1916" y="225"/>
                  </a:lnTo>
                  <a:lnTo>
                    <a:pt x="1762" y="177"/>
                  </a:lnTo>
                  <a:lnTo>
                    <a:pt x="1681" y="160"/>
                  </a:lnTo>
                  <a:lnTo>
                    <a:pt x="1623" y="149"/>
                  </a:lnTo>
                  <a:lnTo>
                    <a:pt x="1548" y="132"/>
                  </a:lnTo>
                  <a:lnTo>
                    <a:pt x="1510" y="117"/>
                  </a:lnTo>
                  <a:lnTo>
                    <a:pt x="1498" y="100"/>
                  </a:lnTo>
                  <a:lnTo>
                    <a:pt x="1497" y="88"/>
                  </a:lnTo>
                  <a:lnTo>
                    <a:pt x="1497" y="68"/>
                  </a:lnTo>
                  <a:lnTo>
                    <a:pt x="1490" y="35"/>
                  </a:lnTo>
                  <a:lnTo>
                    <a:pt x="1478" y="13"/>
                  </a:lnTo>
                  <a:lnTo>
                    <a:pt x="1460" y="1"/>
                  </a:lnTo>
                  <a:lnTo>
                    <a:pt x="1449" y="0"/>
                  </a:lnTo>
                  <a:lnTo>
                    <a:pt x="1436" y="1"/>
                  </a:lnTo>
                  <a:lnTo>
                    <a:pt x="1414" y="7"/>
                  </a:lnTo>
                  <a:lnTo>
                    <a:pt x="1409" y="12"/>
                  </a:lnTo>
                  <a:close/>
                  <a:moveTo>
                    <a:pt x="1397" y="265"/>
                  </a:moveTo>
                  <a:lnTo>
                    <a:pt x="1397" y="281"/>
                  </a:lnTo>
                  <a:lnTo>
                    <a:pt x="1392" y="300"/>
                  </a:lnTo>
                  <a:lnTo>
                    <a:pt x="1373" y="311"/>
                  </a:lnTo>
                  <a:lnTo>
                    <a:pt x="1332" y="318"/>
                  </a:lnTo>
                  <a:lnTo>
                    <a:pt x="1299" y="322"/>
                  </a:lnTo>
                  <a:lnTo>
                    <a:pt x="1255" y="327"/>
                  </a:lnTo>
                  <a:lnTo>
                    <a:pt x="1163" y="348"/>
                  </a:lnTo>
                  <a:lnTo>
                    <a:pt x="1069" y="379"/>
                  </a:lnTo>
                  <a:lnTo>
                    <a:pt x="975" y="420"/>
                  </a:lnTo>
                  <a:lnTo>
                    <a:pt x="883" y="469"/>
                  </a:lnTo>
                  <a:lnTo>
                    <a:pt x="795" y="525"/>
                  </a:lnTo>
                  <a:lnTo>
                    <a:pt x="712" y="586"/>
                  </a:lnTo>
                  <a:lnTo>
                    <a:pt x="638" y="653"/>
                  </a:lnTo>
                  <a:lnTo>
                    <a:pt x="606" y="688"/>
                  </a:lnTo>
                  <a:lnTo>
                    <a:pt x="578" y="721"/>
                  </a:lnTo>
                  <a:lnTo>
                    <a:pt x="523" y="796"/>
                  </a:lnTo>
                  <a:lnTo>
                    <a:pt x="472" y="881"/>
                  </a:lnTo>
                  <a:lnTo>
                    <a:pt x="425" y="972"/>
                  </a:lnTo>
                  <a:lnTo>
                    <a:pt x="385" y="1066"/>
                  </a:lnTo>
                  <a:lnTo>
                    <a:pt x="352" y="1158"/>
                  </a:lnTo>
                  <a:lnTo>
                    <a:pt x="328" y="1246"/>
                  </a:lnTo>
                  <a:lnTo>
                    <a:pt x="315" y="1326"/>
                  </a:lnTo>
                  <a:lnTo>
                    <a:pt x="314" y="1362"/>
                  </a:lnTo>
                  <a:lnTo>
                    <a:pt x="314" y="1372"/>
                  </a:lnTo>
                  <a:lnTo>
                    <a:pt x="309" y="1387"/>
                  </a:lnTo>
                  <a:lnTo>
                    <a:pt x="300" y="1396"/>
                  </a:lnTo>
                  <a:lnTo>
                    <a:pt x="284" y="1400"/>
                  </a:lnTo>
                  <a:lnTo>
                    <a:pt x="272" y="1400"/>
                  </a:lnTo>
                  <a:lnTo>
                    <a:pt x="260" y="1400"/>
                  </a:lnTo>
                  <a:lnTo>
                    <a:pt x="243" y="1395"/>
                  </a:lnTo>
                  <a:lnTo>
                    <a:pt x="234" y="1382"/>
                  </a:lnTo>
                  <a:lnTo>
                    <a:pt x="231" y="1356"/>
                  </a:lnTo>
                  <a:lnTo>
                    <a:pt x="231" y="1337"/>
                  </a:lnTo>
                  <a:lnTo>
                    <a:pt x="233" y="1294"/>
                  </a:lnTo>
                  <a:lnTo>
                    <a:pt x="253" y="1184"/>
                  </a:lnTo>
                  <a:lnTo>
                    <a:pt x="290" y="1060"/>
                  </a:lnTo>
                  <a:lnTo>
                    <a:pt x="337" y="939"/>
                  </a:lnTo>
                  <a:lnTo>
                    <a:pt x="364" y="885"/>
                  </a:lnTo>
                  <a:lnTo>
                    <a:pt x="400" y="820"/>
                  </a:lnTo>
                  <a:lnTo>
                    <a:pt x="484" y="697"/>
                  </a:lnTo>
                  <a:lnTo>
                    <a:pt x="580" y="587"/>
                  </a:lnTo>
                  <a:lnTo>
                    <a:pt x="688" y="489"/>
                  </a:lnTo>
                  <a:lnTo>
                    <a:pt x="805" y="404"/>
                  </a:lnTo>
                  <a:lnTo>
                    <a:pt x="931" y="335"/>
                  </a:lnTo>
                  <a:lnTo>
                    <a:pt x="1064" y="281"/>
                  </a:lnTo>
                  <a:lnTo>
                    <a:pt x="1202" y="244"/>
                  </a:lnTo>
                  <a:lnTo>
                    <a:pt x="1272" y="233"/>
                  </a:lnTo>
                  <a:lnTo>
                    <a:pt x="1352" y="223"/>
                  </a:lnTo>
                  <a:lnTo>
                    <a:pt x="1386" y="218"/>
                  </a:lnTo>
                  <a:lnTo>
                    <a:pt x="1390" y="221"/>
                  </a:lnTo>
                  <a:lnTo>
                    <a:pt x="1397" y="246"/>
                  </a:lnTo>
                  <a:lnTo>
                    <a:pt x="1397" y="265"/>
                  </a:lnTo>
                  <a:close/>
                  <a:moveTo>
                    <a:pt x="1754" y="267"/>
                  </a:moveTo>
                  <a:lnTo>
                    <a:pt x="1794" y="277"/>
                  </a:lnTo>
                  <a:lnTo>
                    <a:pt x="1871" y="302"/>
                  </a:lnTo>
                  <a:lnTo>
                    <a:pt x="1944" y="331"/>
                  </a:lnTo>
                  <a:lnTo>
                    <a:pt x="2013" y="365"/>
                  </a:lnTo>
                  <a:lnTo>
                    <a:pt x="2080" y="405"/>
                  </a:lnTo>
                  <a:lnTo>
                    <a:pt x="2145" y="450"/>
                  </a:lnTo>
                  <a:lnTo>
                    <a:pt x="2210" y="501"/>
                  </a:lnTo>
                  <a:lnTo>
                    <a:pt x="2274" y="558"/>
                  </a:lnTo>
                  <a:lnTo>
                    <a:pt x="2306" y="590"/>
                  </a:lnTo>
                  <a:lnTo>
                    <a:pt x="2344" y="630"/>
                  </a:lnTo>
                  <a:lnTo>
                    <a:pt x="2414" y="711"/>
                  </a:lnTo>
                  <a:lnTo>
                    <a:pt x="2475" y="794"/>
                  </a:lnTo>
                  <a:lnTo>
                    <a:pt x="2527" y="879"/>
                  </a:lnTo>
                  <a:lnTo>
                    <a:pt x="2571" y="967"/>
                  </a:lnTo>
                  <a:lnTo>
                    <a:pt x="2606" y="1057"/>
                  </a:lnTo>
                  <a:lnTo>
                    <a:pt x="2633" y="1150"/>
                  </a:lnTo>
                  <a:lnTo>
                    <a:pt x="2652" y="1245"/>
                  </a:lnTo>
                  <a:lnTo>
                    <a:pt x="2657" y="1293"/>
                  </a:lnTo>
                  <a:lnTo>
                    <a:pt x="2661" y="1329"/>
                  </a:lnTo>
                  <a:lnTo>
                    <a:pt x="2664" y="1374"/>
                  </a:lnTo>
                  <a:lnTo>
                    <a:pt x="2658" y="1395"/>
                  </a:lnTo>
                  <a:lnTo>
                    <a:pt x="2641" y="1400"/>
                  </a:lnTo>
                  <a:lnTo>
                    <a:pt x="2627" y="1400"/>
                  </a:lnTo>
                  <a:lnTo>
                    <a:pt x="2615" y="1400"/>
                  </a:lnTo>
                  <a:lnTo>
                    <a:pt x="2596" y="1390"/>
                  </a:lnTo>
                  <a:lnTo>
                    <a:pt x="2583" y="1360"/>
                  </a:lnTo>
                  <a:lnTo>
                    <a:pt x="2568" y="1298"/>
                  </a:lnTo>
                  <a:lnTo>
                    <a:pt x="2559" y="1250"/>
                  </a:lnTo>
                  <a:lnTo>
                    <a:pt x="2547" y="1190"/>
                  </a:lnTo>
                  <a:lnTo>
                    <a:pt x="2512" y="1072"/>
                  </a:lnTo>
                  <a:lnTo>
                    <a:pt x="2467" y="960"/>
                  </a:lnTo>
                  <a:lnTo>
                    <a:pt x="2413" y="857"/>
                  </a:lnTo>
                  <a:lnTo>
                    <a:pt x="2382" y="810"/>
                  </a:lnTo>
                  <a:lnTo>
                    <a:pt x="2357" y="774"/>
                  </a:lnTo>
                  <a:lnTo>
                    <a:pt x="2319" y="725"/>
                  </a:lnTo>
                  <a:lnTo>
                    <a:pt x="2289" y="698"/>
                  </a:lnTo>
                  <a:lnTo>
                    <a:pt x="2266" y="691"/>
                  </a:lnTo>
                  <a:lnTo>
                    <a:pt x="2256" y="693"/>
                  </a:lnTo>
                  <a:lnTo>
                    <a:pt x="2249" y="696"/>
                  </a:lnTo>
                  <a:lnTo>
                    <a:pt x="2239" y="704"/>
                  </a:lnTo>
                  <a:lnTo>
                    <a:pt x="2234" y="715"/>
                  </a:lnTo>
                  <a:lnTo>
                    <a:pt x="2233" y="728"/>
                  </a:lnTo>
                  <a:lnTo>
                    <a:pt x="2241" y="756"/>
                  </a:lnTo>
                  <a:lnTo>
                    <a:pt x="2271" y="810"/>
                  </a:lnTo>
                  <a:lnTo>
                    <a:pt x="2296" y="847"/>
                  </a:lnTo>
                  <a:lnTo>
                    <a:pt x="2336" y="908"/>
                  </a:lnTo>
                  <a:lnTo>
                    <a:pt x="2398" y="1022"/>
                  </a:lnTo>
                  <a:lnTo>
                    <a:pt x="2440" y="1134"/>
                  </a:lnTo>
                  <a:lnTo>
                    <a:pt x="2469" y="1258"/>
                  </a:lnTo>
                  <a:lnTo>
                    <a:pt x="2479" y="1328"/>
                  </a:lnTo>
                  <a:lnTo>
                    <a:pt x="2484" y="1376"/>
                  </a:lnTo>
                  <a:lnTo>
                    <a:pt x="2487" y="1471"/>
                  </a:lnTo>
                  <a:lnTo>
                    <a:pt x="2480" y="1565"/>
                  </a:lnTo>
                  <a:lnTo>
                    <a:pt x="2465" y="1658"/>
                  </a:lnTo>
                  <a:lnTo>
                    <a:pt x="2441" y="1748"/>
                  </a:lnTo>
                  <a:lnTo>
                    <a:pt x="2409" y="1836"/>
                  </a:lnTo>
                  <a:lnTo>
                    <a:pt x="2370" y="1921"/>
                  </a:lnTo>
                  <a:lnTo>
                    <a:pt x="2324" y="2002"/>
                  </a:lnTo>
                  <a:lnTo>
                    <a:pt x="2271" y="2078"/>
                  </a:lnTo>
                  <a:lnTo>
                    <a:pt x="2211" y="2150"/>
                  </a:lnTo>
                  <a:lnTo>
                    <a:pt x="2146" y="2216"/>
                  </a:lnTo>
                  <a:lnTo>
                    <a:pt x="2075" y="2276"/>
                  </a:lnTo>
                  <a:lnTo>
                    <a:pt x="1999" y="2330"/>
                  </a:lnTo>
                  <a:lnTo>
                    <a:pt x="1917" y="2377"/>
                  </a:lnTo>
                  <a:lnTo>
                    <a:pt x="1832" y="2416"/>
                  </a:lnTo>
                  <a:lnTo>
                    <a:pt x="1742" y="2446"/>
                  </a:lnTo>
                  <a:lnTo>
                    <a:pt x="1696" y="2458"/>
                  </a:lnTo>
                  <a:lnTo>
                    <a:pt x="1642" y="2469"/>
                  </a:lnTo>
                  <a:lnTo>
                    <a:pt x="1515" y="2481"/>
                  </a:lnTo>
                  <a:lnTo>
                    <a:pt x="1380" y="2481"/>
                  </a:lnTo>
                  <a:lnTo>
                    <a:pt x="1253" y="2469"/>
                  </a:lnTo>
                  <a:lnTo>
                    <a:pt x="1199" y="2458"/>
                  </a:lnTo>
                  <a:lnTo>
                    <a:pt x="1148" y="2445"/>
                  </a:lnTo>
                  <a:lnTo>
                    <a:pt x="1048" y="2408"/>
                  </a:lnTo>
                  <a:lnTo>
                    <a:pt x="950" y="2360"/>
                  </a:lnTo>
                  <a:lnTo>
                    <a:pt x="858" y="2301"/>
                  </a:lnTo>
                  <a:lnTo>
                    <a:pt x="771" y="2233"/>
                  </a:lnTo>
                  <a:lnTo>
                    <a:pt x="691" y="2157"/>
                  </a:lnTo>
                  <a:lnTo>
                    <a:pt x="621" y="2075"/>
                  </a:lnTo>
                  <a:lnTo>
                    <a:pt x="561" y="1986"/>
                  </a:lnTo>
                  <a:lnTo>
                    <a:pt x="536" y="1940"/>
                  </a:lnTo>
                  <a:lnTo>
                    <a:pt x="500" y="1869"/>
                  </a:lnTo>
                  <a:lnTo>
                    <a:pt x="461" y="1775"/>
                  </a:lnTo>
                  <a:lnTo>
                    <a:pt x="442" y="1714"/>
                  </a:lnTo>
                  <a:lnTo>
                    <a:pt x="429" y="1652"/>
                  </a:lnTo>
                  <a:lnTo>
                    <a:pt x="420" y="1588"/>
                  </a:lnTo>
                  <a:lnTo>
                    <a:pt x="415" y="1483"/>
                  </a:lnTo>
                  <a:lnTo>
                    <a:pt x="417" y="1400"/>
                  </a:lnTo>
                  <a:lnTo>
                    <a:pt x="420" y="1342"/>
                  </a:lnTo>
                  <a:lnTo>
                    <a:pt x="427" y="1255"/>
                  </a:lnTo>
                  <a:lnTo>
                    <a:pt x="440" y="1186"/>
                  </a:lnTo>
                  <a:lnTo>
                    <a:pt x="461" y="1119"/>
                  </a:lnTo>
                  <a:lnTo>
                    <a:pt x="476" y="1080"/>
                  </a:lnTo>
                  <a:lnTo>
                    <a:pt x="491" y="1042"/>
                  </a:lnTo>
                  <a:lnTo>
                    <a:pt x="526" y="968"/>
                  </a:lnTo>
                  <a:lnTo>
                    <a:pt x="566" y="899"/>
                  </a:lnTo>
                  <a:lnTo>
                    <a:pt x="610" y="833"/>
                  </a:lnTo>
                  <a:lnTo>
                    <a:pt x="658" y="772"/>
                  </a:lnTo>
                  <a:lnTo>
                    <a:pt x="710" y="715"/>
                  </a:lnTo>
                  <a:lnTo>
                    <a:pt x="765" y="663"/>
                  </a:lnTo>
                  <a:lnTo>
                    <a:pt x="825" y="615"/>
                  </a:lnTo>
                  <a:lnTo>
                    <a:pt x="887" y="572"/>
                  </a:lnTo>
                  <a:lnTo>
                    <a:pt x="952" y="533"/>
                  </a:lnTo>
                  <a:lnTo>
                    <a:pt x="1021" y="500"/>
                  </a:lnTo>
                  <a:lnTo>
                    <a:pt x="1092" y="472"/>
                  </a:lnTo>
                  <a:lnTo>
                    <a:pt x="1165" y="449"/>
                  </a:lnTo>
                  <a:lnTo>
                    <a:pt x="1241" y="431"/>
                  </a:lnTo>
                  <a:lnTo>
                    <a:pt x="1319" y="419"/>
                  </a:lnTo>
                  <a:lnTo>
                    <a:pt x="1399" y="412"/>
                  </a:lnTo>
                  <a:lnTo>
                    <a:pt x="1439" y="412"/>
                  </a:lnTo>
                  <a:lnTo>
                    <a:pt x="1485" y="412"/>
                  </a:lnTo>
                  <a:lnTo>
                    <a:pt x="1573" y="418"/>
                  </a:lnTo>
                  <a:lnTo>
                    <a:pt x="1656" y="429"/>
                  </a:lnTo>
                  <a:lnTo>
                    <a:pt x="1736" y="447"/>
                  </a:lnTo>
                  <a:lnTo>
                    <a:pt x="1812" y="471"/>
                  </a:lnTo>
                  <a:lnTo>
                    <a:pt x="1887" y="502"/>
                  </a:lnTo>
                  <a:lnTo>
                    <a:pt x="1960" y="540"/>
                  </a:lnTo>
                  <a:lnTo>
                    <a:pt x="2033" y="586"/>
                  </a:lnTo>
                  <a:lnTo>
                    <a:pt x="2069" y="612"/>
                  </a:lnTo>
                  <a:lnTo>
                    <a:pt x="2092" y="628"/>
                  </a:lnTo>
                  <a:lnTo>
                    <a:pt x="2132" y="649"/>
                  </a:lnTo>
                  <a:lnTo>
                    <a:pt x="2164" y="658"/>
                  </a:lnTo>
                  <a:lnTo>
                    <a:pt x="2187" y="657"/>
                  </a:lnTo>
                  <a:lnTo>
                    <a:pt x="2199" y="646"/>
                  </a:lnTo>
                  <a:lnTo>
                    <a:pt x="2198" y="627"/>
                  </a:lnTo>
                  <a:lnTo>
                    <a:pt x="2185" y="601"/>
                  </a:lnTo>
                  <a:lnTo>
                    <a:pt x="2156" y="569"/>
                  </a:lnTo>
                  <a:lnTo>
                    <a:pt x="2136" y="552"/>
                  </a:lnTo>
                  <a:lnTo>
                    <a:pt x="2108" y="530"/>
                  </a:lnTo>
                  <a:lnTo>
                    <a:pt x="2043" y="488"/>
                  </a:lnTo>
                  <a:lnTo>
                    <a:pt x="1967" y="447"/>
                  </a:lnTo>
                  <a:lnTo>
                    <a:pt x="1886" y="409"/>
                  </a:lnTo>
                  <a:lnTo>
                    <a:pt x="1802" y="375"/>
                  </a:lnTo>
                  <a:lnTo>
                    <a:pt x="1719" y="348"/>
                  </a:lnTo>
                  <a:lnTo>
                    <a:pt x="1641" y="328"/>
                  </a:lnTo>
                  <a:lnTo>
                    <a:pt x="1573" y="318"/>
                  </a:lnTo>
                  <a:lnTo>
                    <a:pt x="1544" y="317"/>
                  </a:lnTo>
                  <a:lnTo>
                    <a:pt x="1531" y="316"/>
                  </a:lnTo>
                  <a:lnTo>
                    <a:pt x="1512" y="313"/>
                  </a:lnTo>
                  <a:lnTo>
                    <a:pt x="1502" y="304"/>
                  </a:lnTo>
                  <a:lnTo>
                    <a:pt x="1498" y="287"/>
                  </a:lnTo>
                  <a:lnTo>
                    <a:pt x="1497" y="275"/>
                  </a:lnTo>
                  <a:lnTo>
                    <a:pt x="1498" y="262"/>
                  </a:lnTo>
                  <a:lnTo>
                    <a:pt x="1502" y="245"/>
                  </a:lnTo>
                  <a:lnTo>
                    <a:pt x="1515" y="237"/>
                  </a:lnTo>
                  <a:lnTo>
                    <a:pt x="1541" y="233"/>
                  </a:lnTo>
                  <a:lnTo>
                    <a:pt x="1561" y="233"/>
                  </a:lnTo>
                  <a:lnTo>
                    <a:pt x="1594" y="235"/>
                  </a:lnTo>
                  <a:lnTo>
                    <a:pt x="1699" y="253"/>
                  </a:lnTo>
                  <a:lnTo>
                    <a:pt x="1754" y="267"/>
                  </a:lnTo>
                  <a:close/>
                  <a:moveTo>
                    <a:pt x="322" y="1587"/>
                  </a:moveTo>
                  <a:lnTo>
                    <a:pt x="329" y="1632"/>
                  </a:lnTo>
                  <a:lnTo>
                    <a:pt x="348" y="1720"/>
                  </a:lnTo>
                  <a:lnTo>
                    <a:pt x="374" y="1807"/>
                  </a:lnTo>
                  <a:lnTo>
                    <a:pt x="407" y="1891"/>
                  </a:lnTo>
                  <a:lnTo>
                    <a:pt x="445" y="1972"/>
                  </a:lnTo>
                  <a:lnTo>
                    <a:pt x="490" y="2049"/>
                  </a:lnTo>
                  <a:lnTo>
                    <a:pt x="541" y="2122"/>
                  </a:lnTo>
                  <a:lnTo>
                    <a:pt x="597" y="2190"/>
                  </a:lnTo>
                  <a:lnTo>
                    <a:pt x="627" y="2222"/>
                  </a:lnTo>
                  <a:lnTo>
                    <a:pt x="665" y="2260"/>
                  </a:lnTo>
                  <a:lnTo>
                    <a:pt x="740" y="2327"/>
                  </a:lnTo>
                  <a:lnTo>
                    <a:pt x="817" y="2385"/>
                  </a:lnTo>
                  <a:lnTo>
                    <a:pt x="897" y="2435"/>
                  </a:lnTo>
                  <a:lnTo>
                    <a:pt x="981" y="2477"/>
                  </a:lnTo>
                  <a:lnTo>
                    <a:pt x="1071" y="2512"/>
                  </a:lnTo>
                  <a:lnTo>
                    <a:pt x="1170" y="2541"/>
                  </a:lnTo>
                  <a:lnTo>
                    <a:pt x="1277" y="2565"/>
                  </a:lnTo>
                  <a:lnTo>
                    <a:pt x="1336" y="2575"/>
                  </a:lnTo>
                  <a:lnTo>
                    <a:pt x="1354" y="2578"/>
                  </a:lnTo>
                  <a:lnTo>
                    <a:pt x="1378" y="2586"/>
                  </a:lnTo>
                  <a:lnTo>
                    <a:pt x="1392" y="2596"/>
                  </a:lnTo>
                  <a:lnTo>
                    <a:pt x="1397" y="2613"/>
                  </a:lnTo>
                  <a:lnTo>
                    <a:pt x="1397" y="2625"/>
                  </a:lnTo>
                  <a:lnTo>
                    <a:pt x="1397" y="2642"/>
                  </a:lnTo>
                  <a:lnTo>
                    <a:pt x="1388" y="2658"/>
                  </a:lnTo>
                  <a:lnTo>
                    <a:pt x="1375" y="2664"/>
                  </a:lnTo>
                  <a:lnTo>
                    <a:pt x="1343" y="2665"/>
                  </a:lnTo>
                  <a:lnTo>
                    <a:pt x="1263" y="2653"/>
                  </a:lnTo>
                  <a:lnTo>
                    <a:pt x="1201" y="2640"/>
                  </a:lnTo>
                  <a:lnTo>
                    <a:pt x="1151" y="2629"/>
                  </a:lnTo>
                  <a:lnTo>
                    <a:pt x="1051" y="2598"/>
                  </a:lnTo>
                  <a:lnTo>
                    <a:pt x="952" y="2558"/>
                  </a:lnTo>
                  <a:lnTo>
                    <a:pt x="855" y="2508"/>
                  </a:lnTo>
                  <a:lnTo>
                    <a:pt x="762" y="2451"/>
                  </a:lnTo>
                  <a:lnTo>
                    <a:pt x="674" y="2387"/>
                  </a:lnTo>
                  <a:lnTo>
                    <a:pt x="593" y="2317"/>
                  </a:lnTo>
                  <a:lnTo>
                    <a:pt x="520" y="2242"/>
                  </a:lnTo>
                  <a:lnTo>
                    <a:pt x="487" y="2203"/>
                  </a:lnTo>
                  <a:lnTo>
                    <a:pt x="462" y="2170"/>
                  </a:lnTo>
                  <a:lnTo>
                    <a:pt x="413" y="2095"/>
                  </a:lnTo>
                  <a:lnTo>
                    <a:pt x="367" y="2013"/>
                  </a:lnTo>
                  <a:lnTo>
                    <a:pt x="326" y="1925"/>
                  </a:lnTo>
                  <a:lnTo>
                    <a:pt x="291" y="1837"/>
                  </a:lnTo>
                  <a:lnTo>
                    <a:pt x="262" y="1750"/>
                  </a:lnTo>
                  <a:lnTo>
                    <a:pt x="242" y="1668"/>
                  </a:lnTo>
                  <a:lnTo>
                    <a:pt x="232" y="1594"/>
                  </a:lnTo>
                  <a:lnTo>
                    <a:pt x="231" y="1562"/>
                  </a:lnTo>
                  <a:lnTo>
                    <a:pt x="231" y="1543"/>
                  </a:lnTo>
                  <a:lnTo>
                    <a:pt x="234" y="1518"/>
                  </a:lnTo>
                  <a:lnTo>
                    <a:pt x="242" y="1505"/>
                  </a:lnTo>
                  <a:lnTo>
                    <a:pt x="258" y="1500"/>
                  </a:lnTo>
                  <a:lnTo>
                    <a:pt x="271" y="1500"/>
                  </a:lnTo>
                  <a:lnTo>
                    <a:pt x="283" y="1500"/>
                  </a:lnTo>
                  <a:lnTo>
                    <a:pt x="301" y="1507"/>
                  </a:lnTo>
                  <a:lnTo>
                    <a:pt x="311" y="1525"/>
                  </a:lnTo>
                  <a:lnTo>
                    <a:pt x="319" y="1560"/>
                  </a:lnTo>
                  <a:lnTo>
                    <a:pt x="322" y="1587"/>
                  </a:lnTo>
                  <a:close/>
                  <a:moveTo>
                    <a:pt x="2659" y="1598"/>
                  </a:moveTo>
                  <a:lnTo>
                    <a:pt x="2652" y="1652"/>
                  </a:lnTo>
                  <a:lnTo>
                    <a:pt x="2623" y="1773"/>
                  </a:lnTo>
                  <a:lnTo>
                    <a:pt x="2581" y="1899"/>
                  </a:lnTo>
                  <a:lnTo>
                    <a:pt x="2530" y="2016"/>
                  </a:lnTo>
                  <a:lnTo>
                    <a:pt x="2502" y="2065"/>
                  </a:lnTo>
                  <a:lnTo>
                    <a:pt x="2466" y="2124"/>
                  </a:lnTo>
                  <a:lnTo>
                    <a:pt x="2381" y="2234"/>
                  </a:lnTo>
                  <a:lnTo>
                    <a:pt x="2284" y="2334"/>
                  </a:lnTo>
                  <a:lnTo>
                    <a:pt x="2175" y="2423"/>
                  </a:lnTo>
                  <a:lnTo>
                    <a:pt x="2056" y="2500"/>
                  </a:lnTo>
                  <a:lnTo>
                    <a:pt x="1930" y="2564"/>
                  </a:lnTo>
                  <a:lnTo>
                    <a:pt x="1798" y="2614"/>
                  </a:lnTo>
                  <a:lnTo>
                    <a:pt x="1662" y="2648"/>
                  </a:lnTo>
                  <a:lnTo>
                    <a:pt x="1592" y="2658"/>
                  </a:lnTo>
                  <a:lnTo>
                    <a:pt x="1560" y="2662"/>
                  </a:lnTo>
                  <a:lnTo>
                    <a:pt x="1520" y="2665"/>
                  </a:lnTo>
                  <a:lnTo>
                    <a:pt x="1502" y="2660"/>
                  </a:lnTo>
                  <a:lnTo>
                    <a:pt x="1497" y="2643"/>
                  </a:lnTo>
                  <a:lnTo>
                    <a:pt x="1497" y="2628"/>
                  </a:lnTo>
                  <a:lnTo>
                    <a:pt x="1498" y="2615"/>
                  </a:lnTo>
                  <a:lnTo>
                    <a:pt x="1503" y="2597"/>
                  </a:lnTo>
                  <a:lnTo>
                    <a:pt x="1516" y="2586"/>
                  </a:lnTo>
                  <a:lnTo>
                    <a:pt x="1542" y="2578"/>
                  </a:lnTo>
                  <a:lnTo>
                    <a:pt x="1561" y="2575"/>
                  </a:lnTo>
                  <a:lnTo>
                    <a:pt x="1615" y="2566"/>
                  </a:lnTo>
                  <a:lnTo>
                    <a:pt x="1717" y="2544"/>
                  </a:lnTo>
                  <a:lnTo>
                    <a:pt x="1811" y="2516"/>
                  </a:lnTo>
                  <a:lnTo>
                    <a:pt x="1898" y="2482"/>
                  </a:lnTo>
                  <a:lnTo>
                    <a:pt x="1980" y="2442"/>
                  </a:lnTo>
                  <a:lnTo>
                    <a:pt x="2058" y="2395"/>
                  </a:lnTo>
                  <a:lnTo>
                    <a:pt x="2132" y="2341"/>
                  </a:lnTo>
                  <a:lnTo>
                    <a:pt x="2205" y="2278"/>
                  </a:lnTo>
                  <a:lnTo>
                    <a:pt x="2241" y="2243"/>
                  </a:lnTo>
                  <a:lnTo>
                    <a:pt x="2276" y="2207"/>
                  </a:lnTo>
                  <a:lnTo>
                    <a:pt x="2340" y="2134"/>
                  </a:lnTo>
                  <a:lnTo>
                    <a:pt x="2396" y="2058"/>
                  </a:lnTo>
                  <a:lnTo>
                    <a:pt x="2444" y="1980"/>
                  </a:lnTo>
                  <a:lnTo>
                    <a:pt x="2485" y="1899"/>
                  </a:lnTo>
                  <a:lnTo>
                    <a:pt x="2519" y="1814"/>
                  </a:lnTo>
                  <a:lnTo>
                    <a:pt x="2545" y="1726"/>
                  </a:lnTo>
                  <a:lnTo>
                    <a:pt x="2565" y="1634"/>
                  </a:lnTo>
                  <a:lnTo>
                    <a:pt x="2572" y="1587"/>
                  </a:lnTo>
                  <a:lnTo>
                    <a:pt x="2576" y="1559"/>
                  </a:lnTo>
                  <a:lnTo>
                    <a:pt x="2583" y="1524"/>
                  </a:lnTo>
                  <a:lnTo>
                    <a:pt x="2594" y="1506"/>
                  </a:lnTo>
                  <a:lnTo>
                    <a:pt x="2612" y="1500"/>
                  </a:lnTo>
                  <a:lnTo>
                    <a:pt x="2626" y="1500"/>
                  </a:lnTo>
                  <a:lnTo>
                    <a:pt x="2640" y="1500"/>
                  </a:lnTo>
                  <a:lnTo>
                    <a:pt x="2658" y="1505"/>
                  </a:lnTo>
                  <a:lnTo>
                    <a:pt x="2664" y="1524"/>
                  </a:lnTo>
                  <a:lnTo>
                    <a:pt x="2662" y="1565"/>
                  </a:lnTo>
                  <a:lnTo>
                    <a:pt x="2659" y="15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374">
              <a:extLst>
                <a:ext uri="{FF2B5EF4-FFF2-40B4-BE49-F238E27FC236}">
                  <a16:creationId xmlns:a16="http://schemas.microsoft.com/office/drawing/2014/main" id="{543841B9-AF01-A8D7-E722-776E6E9E4D79}"/>
                </a:ext>
              </a:extLst>
            </p:cNvPr>
            <p:cNvSpPr>
              <a:spLocks noEditPoints="1"/>
            </p:cNvSpPr>
            <p:nvPr/>
          </p:nvSpPr>
          <p:spPr bwMode="auto">
            <a:xfrm>
              <a:off x="2244727" y="3778251"/>
              <a:ext cx="511175" cy="528638"/>
            </a:xfrm>
            <a:custGeom>
              <a:avLst/>
              <a:gdLst>
                <a:gd name="T0" fmla="*/ 635 w 1350"/>
                <a:gd name="T1" fmla="*/ 31 h 1399"/>
                <a:gd name="T2" fmla="*/ 625 w 1350"/>
                <a:gd name="T3" fmla="*/ 235 h 1399"/>
                <a:gd name="T4" fmla="*/ 459 w 1350"/>
                <a:gd name="T5" fmla="*/ 284 h 1399"/>
                <a:gd name="T6" fmla="*/ 300 w 1350"/>
                <a:gd name="T7" fmla="*/ 414 h 1399"/>
                <a:gd name="T8" fmla="*/ 225 w 1350"/>
                <a:gd name="T9" fmla="*/ 562 h 1399"/>
                <a:gd name="T10" fmla="*/ 67 w 1350"/>
                <a:gd name="T11" fmla="*/ 660 h 1399"/>
                <a:gd name="T12" fmla="*/ 1 w 1350"/>
                <a:gd name="T13" fmla="*/ 694 h 1399"/>
                <a:gd name="T14" fmla="*/ 6 w 1350"/>
                <a:gd name="T15" fmla="*/ 738 h 1399"/>
                <a:gd name="T16" fmla="*/ 102 w 1350"/>
                <a:gd name="T17" fmla="*/ 754 h 1399"/>
                <a:gd name="T18" fmla="*/ 202 w 1350"/>
                <a:gd name="T19" fmla="*/ 771 h 1399"/>
                <a:gd name="T20" fmla="*/ 222 w 1350"/>
                <a:gd name="T21" fmla="*/ 841 h 1399"/>
                <a:gd name="T22" fmla="*/ 314 w 1350"/>
                <a:gd name="T23" fmla="*/ 1005 h 1399"/>
                <a:gd name="T24" fmla="*/ 466 w 1350"/>
                <a:gd name="T25" fmla="*/ 1127 h 1399"/>
                <a:gd name="T26" fmla="*/ 624 w 1350"/>
                <a:gd name="T27" fmla="*/ 1177 h 1399"/>
                <a:gd name="T28" fmla="*/ 635 w 1350"/>
                <a:gd name="T29" fmla="*/ 1371 h 1399"/>
                <a:gd name="T30" fmla="*/ 675 w 1350"/>
                <a:gd name="T31" fmla="*/ 1399 h 1399"/>
                <a:gd name="T32" fmla="*/ 716 w 1350"/>
                <a:gd name="T33" fmla="*/ 1371 h 1399"/>
                <a:gd name="T34" fmla="*/ 727 w 1350"/>
                <a:gd name="T35" fmla="*/ 1179 h 1399"/>
                <a:gd name="T36" fmla="*/ 898 w 1350"/>
                <a:gd name="T37" fmla="*/ 1116 h 1399"/>
                <a:gd name="T38" fmla="*/ 1039 w 1350"/>
                <a:gd name="T39" fmla="*/ 996 h 1399"/>
                <a:gd name="T40" fmla="*/ 1125 w 1350"/>
                <a:gd name="T41" fmla="*/ 840 h 1399"/>
                <a:gd name="T42" fmla="*/ 1147 w 1350"/>
                <a:gd name="T43" fmla="*/ 772 h 1399"/>
                <a:gd name="T44" fmla="*/ 1247 w 1350"/>
                <a:gd name="T45" fmla="*/ 754 h 1399"/>
                <a:gd name="T46" fmla="*/ 1344 w 1350"/>
                <a:gd name="T47" fmla="*/ 738 h 1399"/>
                <a:gd name="T48" fmla="*/ 1350 w 1350"/>
                <a:gd name="T49" fmla="*/ 693 h 1399"/>
                <a:gd name="T50" fmla="*/ 1282 w 1350"/>
                <a:gd name="T51" fmla="*/ 662 h 1399"/>
                <a:gd name="T52" fmla="*/ 1130 w 1350"/>
                <a:gd name="T53" fmla="*/ 585 h 1399"/>
                <a:gd name="T54" fmla="*/ 1066 w 1350"/>
                <a:gd name="T55" fmla="*/ 447 h 1399"/>
                <a:gd name="T56" fmla="*/ 937 w 1350"/>
                <a:gd name="T57" fmla="*/ 315 h 1399"/>
                <a:gd name="T58" fmla="*/ 800 w 1350"/>
                <a:gd name="T59" fmla="*/ 249 h 1399"/>
                <a:gd name="T60" fmla="*/ 726 w 1350"/>
                <a:gd name="T61" fmla="*/ 89 h 1399"/>
                <a:gd name="T62" fmla="*/ 692 w 1350"/>
                <a:gd name="T63" fmla="*/ 2 h 1399"/>
                <a:gd name="T64" fmla="*/ 654 w 1350"/>
                <a:gd name="T65" fmla="*/ 9 h 1399"/>
                <a:gd name="T66" fmla="*/ 477 w 1350"/>
                <a:gd name="T67" fmla="*/ 654 h 1399"/>
                <a:gd name="T68" fmla="*/ 327 w 1350"/>
                <a:gd name="T69" fmla="*/ 647 h 1399"/>
                <a:gd name="T70" fmla="*/ 314 w 1350"/>
                <a:gd name="T71" fmla="*/ 608 h 1399"/>
                <a:gd name="T72" fmla="*/ 376 w 1350"/>
                <a:gd name="T73" fmla="*/ 494 h 1399"/>
                <a:gd name="T74" fmla="*/ 493 w 1350"/>
                <a:gd name="T75" fmla="*/ 387 h 1399"/>
                <a:gd name="T76" fmla="*/ 590 w 1350"/>
                <a:gd name="T77" fmla="*/ 342 h 1399"/>
                <a:gd name="T78" fmla="*/ 622 w 1350"/>
                <a:gd name="T79" fmla="*/ 377 h 1399"/>
                <a:gd name="T80" fmla="*/ 879 w 1350"/>
                <a:gd name="T81" fmla="*/ 400 h 1399"/>
                <a:gd name="T82" fmla="*/ 998 w 1350"/>
                <a:gd name="T83" fmla="*/ 527 h 1399"/>
                <a:gd name="T84" fmla="*/ 1034 w 1350"/>
                <a:gd name="T85" fmla="*/ 649 h 1399"/>
                <a:gd name="T86" fmla="*/ 729 w 1350"/>
                <a:gd name="T87" fmla="*/ 492 h 1399"/>
                <a:gd name="T88" fmla="*/ 792 w 1350"/>
                <a:gd name="T89" fmla="*/ 354 h 1399"/>
                <a:gd name="T90" fmla="*/ 625 w 1350"/>
                <a:gd name="T91" fmla="*/ 905 h 1399"/>
                <a:gd name="T92" fmla="*/ 613 w 1350"/>
                <a:gd name="T93" fmla="*/ 1060 h 1399"/>
                <a:gd name="T94" fmla="*/ 543 w 1350"/>
                <a:gd name="T95" fmla="*/ 1045 h 1399"/>
                <a:gd name="T96" fmla="*/ 410 w 1350"/>
                <a:gd name="T97" fmla="*/ 957 h 1399"/>
                <a:gd name="T98" fmla="*/ 315 w 1350"/>
                <a:gd name="T99" fmla="*/ 802 h 1399"/>
                <a:gd name="T100" fmla="*/ 625 w 1350"/>
                <a:gd name="T101" fmla="*/ 757 h 1399"/>
                <a:gd name="T102" fmla="*/ 1039 w 1350"/>
                <a:gd name="T103" fmla="*/ 792 h 1399"/>
                <a:gd name="T104" fmla="*/ 973 w 1350"/>
                <a:gd name="T105" fmla="*/ 915 h 1399"/>
                <a:gd name="T106" fmla="*/ 869 w 1350"/>
                <a:gd name="T107" fmla="*/ 1014 h 1399"/>
                <a:gd name="T108" fmla="*/ 751 w 1350"/>
                <a:gd name="T109" fmla="*/ 1065 h 1399"/>
                <a:gd name="T110" fmla="*/ 732 w 1350"/>
                <a:gd name="T111" fmla="*/ 1034 h 1399"/>
                <a:gd name="T112" fmla="*/ 725 w 1350"/>
                <a:gd name="T113" fmla="*/ 757 h 1399"/>
                <a:gd name="T114" fmla="*/ 1024 w 1350"/>
                <a:gd name="T115" fmla="*/ 764 h 1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50" h="1399">
                  <a:moveTo>
                    <a:pt x="654" y="9"/>
                  </a:moveTo>
                  <a:lnTo>
                    <a:pt x="646" y="14"/>
                  </a:lnTo>
                  <a:lnTo>
                    <a:pt x="635" y="31"/>
                  </a:lnTo>
                  <a:lnTo>
                    <a:pt x="626" y="76"/>
                  </a:lnTo>
                  <a:lnTo>
                    <a:pt x="625" y="130"/>
                  </a:lnTo>
                  <a:lnTo>
                    <a:pt x="625" y="235"/>
                  </a:lnTo>
                  <a:lnTo>
                    <a:pt x="562" y="245"/>
                  </a:lnTo>
                  <a:lnTo>
                    <a:pt x="530" y="252"/>
                  </a:lnTo>
                  <a:lnTo>
                    <a:pt x="459" y="284"/>
                  </a:lnTo>
                  <a:lnTo>
                    <a:pt x="387" y="330"/>
                  </a:lnTo>
                  <a:lnTo>
                    <a:pt x="324" y="385"/>
                  </a:lnTo>
                  <a:lnTo>
                    <a:pt x="300" y="414"/>
                  </a:lnTo>
                  <a:lnTo>
                    <a:pt x="280" y="444"/>
                  </a:lnTo>
                  <a:lnTo>
                    <a:pt x="239" y="524"/>
                  </a:lnTo>
                  <a:lnTo>
                    <a:pt x="225" y="562"/>
                  </a:lnTo>
                  <a:lnTo>
                    <a:pt x="197" y="649"/>
                  </a:lnTo>
                  <a:lnTo>
                    <a:pt x="99" y="657"/>
                  </a:lnTo>
                  <a:lnTo>
                    <a:pt x="67" y="660"/>
                  </a:lnTo>
                  <a:lnTo>
                    <a:pt x="26" y="666"/>
                  </a:lnTo>
                  <a:lnTo>
                    <a:pt x="7" y="676"/>
                  </a:lnTo>
                  <a:lnTo>
                    <a:pt x="1" y="694"/>
                  </a:lnTo>
                  <a:lnTo>
                    <a:pt x="0" y="707"/>
                  </a:lnTo>
                  <a:lnTo>
                    <a:pt x="0" y="721"/>
                  </a:lnTo>
                  <a:lnTo>
                    <a:pt x="6" y="738"/>
                  </a:lnTo>
                  <a:lnTo>
                    <a:pt x="26" y="747"/>
                  </a:lnTo>
                  <a:lnTo>
                    <a:pt x="69" y="752"/>
                  </a:lnTo>
                  <a:lnTo>
                    <a:pt x="102" y="754"/>
                  </a:lnTo>
                  <a:lnTo>
                    <a:pt x="137" y="755"/>
                  </a:lnTo>
                  <a:lnTo>
                    <a:pt x="181" y="760"/>
                  </a:lnTo>
                  <a:lnTo>
                    <a:pt x="202" y="771"/>
                  </a:lnTo>
                  <a:lnTo>
                    <a:pt x="212" y="794"/>
                  </a:lnTo>
                  <a:lnTo>
                    <a:pt x="215" y="812"/>
                  </a:lnTo>
                  <a:lnTo>
                    <a:pt x="222" y="841"/>
                  </a:lnTo>
                  <a:lnTo>
                    <a:pt x="244" y="898"/>
                  </a:lnTo>
                  <a:lnTo>
                    <a:pt x="275" y="953"/>
                  </a:lnTo>
                  <a:lnTo>
                    <a:pt x="314" y="1005"/>
                  </a:lnTo>
                  <a:lnTo>
                    <a:pt x="360" y="1052"/>
                  </a:lnTo>
                  <a:lnTo>
                    <a:pt x="411" y="1093"/>
                  </a:lnTo>
                  <a:lnTo>
                    <a:pt x="466" y="1127"/>
                  </a:lnTo>
                  <a:lnTo>
                    <a:pt x="524" y="1152"/>
                  </a:lnTo>
                  <a:lnTo>
                    <a:pt x="554" y="1160"/>
                  </a:lnTo>
                  <a:lnTo>
                    <a:pt x="624" y="1177"/>
                  </a:lnTo>
                  <a:lnTo>
                    <a:pt x="629" y="1289"/>
                  </a:lnTo>
                  <a:lnTo>
                    <a:pt x="630" y="1325"/>
                  </a:lnTo>
                  <a:lnTo>
                    <a:pt x="635" y="1371"/>
                  </a:lnTo>
                  <a:lnTo>
                    <a:pt x="644" y="1392"/>
                  </a:lnTo>
                  <a:lnTo>
                    <a:pt x="662" y="1399"/>
                  </a:lnTo>
                  <a:lnTo>
                    <a:pt x="675" y="1399"/>
                  </a:lnTo>
                  <a:lnTo>
                    <a:pt x="689" y="1399"/>
                  </a:lnTo>
                  <a:lnTo>
                    <a:pt x="707" y="1392"/>
                  </a:lnTo>
                  <a:lnTo>
                    <a:pt x="716" y="1371"/>
                  </a:lnTo>
                  <a:lnTo>
                    <a:pt x="720" y="1325"/>
                  </a:lnTo>
                  <a:lnTo>
                    <a:pt x="722" y="1289"/>
                  </a:lnTo>
                  <a:lnTo>
                    <a:pt x="727" y="1179"/>
                  </a:lnTo>
                  <a:lnTo>
                    <a:pt x="815" y="1152"/>
                  </a:lnTo>
                  <a:lnTo>
                    <a:pt x="844" y="1142"/>
                  </a:lnTo>
                  <a:lnTo>
                    <a:pt x="898" y="1116"/>
                  </a:lnTo>
                  <a:lnTo>
                    <a:pt x="950" y="1082"/>
                  </a:lnTo>
                  <a:lnTo>
                    <a:pt x="997" y="1042"/>
                  </a:lnTo>
                  <a:lnTo>
                    <a:pt x="1039" y="996"/>
                  </a:lnTo>
                  <a:lnTo>
                    <a:pt x="1075" y="947"/>
                  </a:lnTo>
                  <a:lnTo>
                    <a:pt x="1104" y="894"/>
                  </a:lnTo>
                  <a:lnTo>
                    <a:pt x="1125" y="840"/>
                  </a:lnTo>
                  <a:lnTo>
                    <a:pt x="1132" y="812"/>
                  </a:lnTo>
                  <a:lnTo>
                    <a:pt x="1136" y="794"/>
                  </a:lnTo>
                  <a:lnTo>
                    <a:pt x="1147" y="772"/>
                  </a:lnTo>
                  <a:lnTo>
                    <a:pt x="1169" y="760"/>
                  </a:lnTo>
                  <a:lnTo>
                    <a:pt x="1213" y="755"/>
                  </a:lnTo>
                  <a:lnTo>
                    <a:pt x="1247" y="754"/>
                  </a:lnTo>
                  <a:lnTo>
                    <a:pt x="1281" y="752"/>
                  </a:lnTo>
                  <a:lnTo>
                    <a:pt x="1324" y="747"/>
                  </a:lnTo>
                  <a:lnTo>
                    <a:pt x="1344" y="738"/>
                  </a:lnTo>
                  <a:lnTo>
                    <a:pt x="1350" y="721"/>
                  </a:lnTo>
                  <a:lnTo>
                    <a:pt x="1350" y="707"/>
                  </a:lnTo>
                  <a:lnTo>
                    <a:pt x="1350" y="693"/>
                  </a:lnTo>
                  <a:lnTo>
                    <a:pt x="1344" y="676"/>
                  </a:lnTo>
                  <a:lnTo>
                    <a:pt x="1324" y="667"/>
                  </a:lnTo>
                  <a:lnTo>
                    <a:pt x="1282" y="662"/>
                  </a:lnTo>
                  <a:lnTo>
                    <a:pt x="1249" y="660"/>
                  </a:lnTo>
                  <a:lnTo>
                    <a:pt x="1149" y="655"/>
                  </a:lnTo>
                  <a:lnTo>
                    <a:pt x="1130" y="585"/>
                  </a:lnTo>
                  <a:lnTo>
                    <a:pt x="1122" y="556"/>
                  </a:lnTo>
                  <a:lnTo>
                    <a:pt x="1098" y="500"/>
                  </a:lnTo>
                  <a:lnTo>
                    <a:pt x="1066" y="447"/>
                  </a:lnTo>
                  <a:lnTo>
                    <a:pt x="1029" y="398"/>
                  </a:lnTo>
                  <a:lnTo>
                    <a:pt x="985" y="354"/>
                  </a:lnTo>
                  <a:lnTo>
                    <a:pt x="937" y="315"/>
                  </a:lnTo>
                  <a:lnTo>
                    <a:pt x="884" y="283"/>
                  </a:lnTo>
                  <a:lnTo>
                    <a:pt x="829" y="258"/>
                  </a:lnTo>
                  <a:lnTo>
                    <a:pt x="800" y="249"/>
                  </a:lnTo>
                  <a:lnTo>
                    <a:pt x="734" y="229"/>
                  </a:lnTo>
                  <a:lnTo>
                    <a:pt x="729" y="127"/>
                  </a:lnTo>
                  <a:lnTo>
                    <a:pt x="726" y="89"/>
                  </a:lnTo>
                  <a:lnTo>
                    <a:pt x="716" y="34"/>
                  </a:lnTo>
                  <a:lnTo>
                    <a:pt x="703" y="10"/>
                  </a:lnTo>
                  <a:lnTo>
                    <a:pt x="692" y="2"/>
                  </a:lnTo>
                  <a:lnTo>
                    <a:pt x="678" y="0"/>
                  </a:lnTo>
                  <a:lnTo>
                    <a:pt x="663" y="4"/>
                  </a:lnTo>
                  <a:lnTo>
                    <a:pt x="654" y="9"/>
                  </a:lnTo>
                  <a:close/>
                  <a:moveTo>
                    <a:pt x="622" y="494"/>
                  </a:moveTo>
                  <a:lnTo>
                    <a:pt x="617" y="649"/>
                  </a:lnTo>
                  <a:lnTo>
                    <a:pt x="477" y="654"/>
                  </a:lnTo>
                  <a:lnTo>
                    <a:pt x="420" y="655"/>
                  </a:lnTo>
                  <a:lnTo>
                    <a:pt x="354" y="651"/>
                  </a:lnTo>
                  <a:lnTo>
                    <a:pt x="327" y="647"/>
                  </a:lnTo>
                  <a:lnTo>
                    <a:pt x="322" y="644"/>
                  </a:lnTo>
                  <a:lnTo>
                    <a:pt x="315" y="635"/>
                  </a:lnTo>
                  <a:lnTo>
                    <a:pt x="314" y="608"/>
                  </a:lnTo>
                  <a:lnTo>
                    <a:pt x="325" y="574"/>
                  </a:lnTo>
                  <a:lnTo>
                    <a:pt x="347" y="535"/>
                  </a:lnTo>
                  <a:lnTo>
                    <a:pt x="376" y="494"/>
                  </a:lnTo>
                  <a:lnTo>
                    <a:pt x="412" y="453"/>
                  </a:lnTo>
                  <a:lnTo>
                    <a:pt x="451" y="417"/>
                  </a:lnTo>
                  <a:lnTo>
                    <a:pt x="493" y="387"/>
                  </a:lnTo>
                  <a:lnTo>
                    <a:pt x="514" y="375"/>
                  </a:lnTo>
                  <a:lnTo>
                    <a:pt x="552" y="356"/>
                  </a:lnTo>
                  <a:lnTo>
                    <a:pt x="590" y="342"/>
                  </a:lnTo>
                  <a:lnTo>
                    <a:pt x="606" y="344"/>
                  </a:lnTo>
                  <a:lnTo>
                    <a:pt x="616" y="355"/>
                  </a:lnTo>
                  <a:lnTo>
                    <a:pt x="622" y="377"/>
                  </a:lnTo>
                  <a:lnTo>
                    <a:pt x="624" y="434"/>
                  </a:lnTo>
                  <a:lnTo>
                    <a:pt x="622" y="494"/>
                  </a:lnTo>
                  <a:close/>
                  <a:moveTo>
                    <a:pt x="879" y="400"/>
                  </a:moveTo>
                  <a:lnTo>
                    <a:pt x="906" y="419"/>
                  </a:lnTo>
                  <a:lnTo>
                    <a:pt x="956" y="470"/>
                  </a:lnTo>
                  <a:lnTo>
                    <a:pt x="998" y="527"/>
                  </a:lnTo>
                  <a:lnTo>
                    <a:pt x="1024" y="583"/>
                  </a:lnTo>
                  <a:lnTo>
                    <a:pt x="1029" y="607"/>
                  </a:lnTo>
                  <a:lnTo>
                    <a:pt x="1034" y="649"/>
                  </a:lnTo>
                  <a:lnTo>
                    <a:pt x="884" y="649"/>
                  </a:lnTo>
                  <a:lnTo>
                    <a:pt x="734" y="649"/>
                  </a:lnTo>
                  <a:lnTo>
                    <a:pt x="729" y="492"/>
                  </a:lnTo>
                  <a:lnTo>
                    <a:pt x="724" y="337"/>
                  </a:lnTo>
                  <a:lnTo>
                    <a:pt x="770" y="347"/>
                  </a:lnTo>
                  <a:lnTo>
                    <a:pt x="792" y="354"/>
                  </a:lnTo>
                  <a:lnTo>
                    <a:pt x="852" y="383"/>
                  </a:lnTo>
                  <a:lnTo>
                    <a:pt x="879" y="400"/>
                  </a:lnTo>
                  <a:close/>
                  <a:moveTo>
                    <a:pt x="625" y="905"/>
                  </a:moveTo>
                  <a:lnTo>
                    <a:pt x="625" y="966"/>
                  </a:lnTo>
                  <a:lnTo>
                    <a:pt x="619" y="1034"/>
                  </a:lnTo>
                  <a:lnTo>
                    <a:pt x="613" y="1060"/>
                  </a:lnTo>
                  <a:lnTo>
                    <a:pt x="610" y="1064"/>
                  </a:lnTo>
                  <a:lnTo>
                    <a:pt x="599" y="1065"/>
                  </a:lnTo>
                  <a:lnTo>
                    <a:pt x="543" y="1045"/>
                  </a:lnTo>
                  <a:lnTo>
                    <a:pt x="507" y="1027"/>
                  </a:lnTo>
                  <a:lnTo>
                    <a:pt x="472" y="1008"/>
                  </a:lnTo>
                  <a:lnTo>
                    <a:pt x="410" y="957"/>
                  </a:lnTo>
                  <a:lnTo>
                    <a:pt x="360" y="898"/>
                  </a:lnTo>
                  <a:lnTo>
                    <a:pt x="325" y="834"/>
                  </a:lnTo>
                  <a:lnTo>
                    <a:pt x="315" y="802"/>
                  </a:lnTo>
                  <a:lnTo>
                    <a:pt x="305" y="757"/>
                  </a:lnTo>
                  <a:lnTo>
                    <a:pt x="465" y="757"/>
                  </a:lnTo>
                  <a:lnTo>
                    <a:pt x="625" y="757"/>
                  </a:lnTo>
                  <a:lnTo>
                    <a:pt x="625" y="905"/>
                  </a:lnTo>
                  <a:close/>
                  <a:moveTo>
                    <a:pt x="1042" y="779"/>
                  </a:moveTo>
                  <a:lnTo>
                    <a:pt x="1039" y="792"/>
                  </a:lnTo>
                  <a:lnTo>
                    <a:pt x="1010" y="853"/>
                  </a:lnTo>
                  <a:lnTo>
                    <a:pt x="989" y="890"/>
                  </a:lnTo>
                  <a:lnTo>
                    <a:pt x="973" y="915"/>
                  </a:lnTo>
                  <a:lnTo>
                    <a:pt x="942" y="955"/>
                  </a:lnTo>
                  <a:lnTo>
                    <a:pt x="909" y="987"/>
                  </a:lnTo>
                  <a:lnTo>
                    <a:pt x="869" y="1014"/>
                  </a:lnTo>
                  <a:lnTo>
                    <a:pt x="844" y="1027"/>
                  </a:lnTo>
                  <a:lnTo>
                    <a:pt x="808" y="1045"/>
                  </a:lnTo>
                  <a:lnTo>
                    <a:pt x="751" y="1065"/>
                  </a:lnTo>
                  <a:lnTo>
                    <a:pt x="740" y="1064"/>
                  </a:lnTo>
                  <a:lnTo>
                    <a:pt x="737" y="1060"/>
                  </a:lnTo>
                  <a:lnTo>
                    <a:pt x="732" y="1034"/>
                  </a:lnTo>
                  <a:lnTo>
                    <a:pt x="726" y="966"/>
                  </a:lnTo>
                  <a:lnTo>
                    <a:pt x="725" y="905"/>
                  </a:lnTo>
                  <a:lnTo>
                    <a:pt x="725" y="757"/>
                  </a:lnTo>
                  <a:lnTo>
                    <a:pt x="884" y="757"/>
                  </a:lnTo>
                  <a:lnTo>
                    <a:pt x="963" y="758"/>
                  </a:lnTo>
                  <a:lnTo>
                    <a:pt x="1024" y="764"/>
                  </a:lnTo>
                  <a:lnTo>
                    <a:pt x="1041" y="773"/>
                  </a:lnTo>
                  <a:lnTo>
                    <a:pt x="1042" y="7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04" name="Group 103">
            <a:extLst>
              <a:ext uri="{FF2B5EF4-FFF2-40B4-BE49-F238E27FC236}">
                <a16:creationId xmlns:a16="http://schemas.microsoft.com/office/drawing/2014/main" id="{AB91D212-9C90-07EB-0B70-8871AC045A34}"/>
              </a:ext>
            </a:extLst>
          </p:cNvPr>
          <p:cNvGrpSpPr>
            <a:grpSpLocks noChangeAspect="1"/>
          </p:cNvGrpSpPr>
          <p:nvPr/>
        </p:nvGrpSpPr>
        <p:grpSpPr>
          <a:xfrm>
            <a:off x="5089742" y="4676797"/>
            <a:ext cx="147314" cy="246888"/>
            <a:chOff x="1508125" y="1925638"/>
            <a:chExt cx="171450" cy="287338"/>
          </a:xfrm>
          <a:solidFill>
            <a:schemeClr val="accent1"/>
          </a:solidFill>
        </p:grpSpPr>
        <p:sp>
          <p:nvSpPr>
            <p:cNvPr id="105" name="Freeform 85">
              <a:extLst>
                <a:ext uri="{FF2B5EF4-FFF2-40B4-BE49-F238E27FC236}">
                  <a16:creationId xmlns:a16="http://schemas.microsoft.com/office/drawing/2014/main" id="{4DD41903-4F95-D0B2-EA03-033CEE0A37A7}"/>
                </a:ext>
              </a:extLst>
            </p:cNvPr>
            <p:cNvSpPr>
              <a:spLocks noEditPoints="1"/>
            </p:cNvSpPr>
            <p:nvPr/>
          </p:nvSpPr>
          <p:spPr bwMode="auto">
            <a:xfrm>
              <a:off x="1508125" y="1965325"/>
              <a:ext cx="66675" cy="247650"/>
            </a:xfrm>
            <a:custGeom>
              <a:avLst/>
              <a:gdLst>
                <a:gd name="T0" fmla="*/ 104 w 211"/>
                <a:gd name="T1" fmla="*/ 752 h 783"/>
                <a:gd name="T2" fmla="*/ 90 w 211"/>
                <a:gd name="T3" fmla="*/ 749 h 783"/>
                <a:gd name="T4" fmla="*/ 69 w 211"/>
                <a:gd name="T5" fmla="*/ 742 h 783"/>
                <a:gd name="T6" fmla="*/ 52 w 211"/>
                <a:gd name="T7" fmla="*/ 730 h 783"/>
                <a:gd name="T8" fmla="*/ 42 w 211"/>
                <a:gd name="T9" fmla="*/ 720 h 783"/>
                <a:gd name="T10" fmla="*/ 35 w 211"/>
                <a:gd name="T11" fmla="*/ 709 h 783"/>
                <a:gd name="T12" fmla="*/ 32 w 211"/>
                <a:gd name="T13" fmla="*/ 698 h 783"/>
                <a:gd name="T14" fmla="*/ 30 w 211"/>
                <a:gd name="T15" fmla="*/ 662 h 783"/>
                <a:gd name="T16" fmla="*/ 181 w 211"/>
                <a:gd name="T17" fmla="*/ 692 h 783"/>
                <a:gd name="T18" fmla="*/ 180 w 211"/>
                <a:gd name="T19" fmla="*/ 704 h 783"/>
                <a:gd name="T20" fmla="*/ 175 w 211"/>
                <a:gd name="T21" fmla="*/ 716 h 783"/>
                <a:gd name="T22" fmla="*/ 167 w 211"/>
                <a:gd name="T23" fmla="*/ 726 h 783"/>
                <a:gd name="T24" fmla="*/ 158 w 211"/>
                <a:gd name="T25" fmla="*/ 735 h 783"/>
                <a:gd name="T26" fmla="*/ 135 w 211"/>
                <a:gd name="T27" fmla="*/ 748 h 783"/>
                <a:gd name="T28" fmla="*/ 123 w 211"/>
                <a:gd name="T29" fmla="*/ 751 h 783"/>
                <a:gd name="T30" fmla="*/ 110 w 211"/>
                <a:gd name="T31" fmla="*/ 752 h 783"/>
                <a:gd name="T32" fmla="*/ 172 w 211"/>
                <a:gd name="T33" fmla="*/ 179 h 783"/>
                <a:gd name="T34" fmla="*/ 106 w 211"/>
                <a:gd name="T35" fmla="*/ 47 h 783"/>
                <a:gd name="T36" fmla="*/ 181 w 211"/>
                <a:gd name="T37" fmla="*/ 602 h 783"/>
                <a:gd name="T38" fmla="*/ 30 w 211"/>
                <a:gd name="T39" fmla="*/ 632 h 783"/>
                <a:gd name="T40" fmla="*/ 181 w 211"/>
                <a:gd name="T41" fmla="*/ 209 h 783"/>
                <a:gd name="T42" fmla="*/ 121 w 211"/>
                <a:gd name="T43" fmla="*/ 572 h 783"/>
                <a:gd name="T44" fmla="*/ 181 w 211"/>
                <a:gd name="T45" fmla="*/ 209 h 783"/>
                <a:gd name="T46" fmla="*/ 91 w 211"/>
                <a:gd name="T47" fmla="*/ 572 h 783"/>
                <a:gd name="T48" fmla="*/ 30 w 211"/>
                <a:gd name="T49" fmla="*/ 209 h 783"/>
                <a:gd name="T50" fmla="*/ 210 w 211"/>
                <a:gd name="T51" fmla="*/ 188 h 783"/>
                <a:gd name="T52" fmla="*/ 118 w 211"/>
                <a:gd name="T53" fmla="*/ 4 h 783"/>
                <a:gd name="T54" fmla="*/ 110 w 211"/>
                <a:gd name="T55" fmla="*/ 0 h 783"/>
                <a:gd name="T56" fmla="*/ 103 w 211"/>
                <a:gd name="T57" fmla="*/ 0 h 783"/>
                <a:gd name="T58" fmla="*/ 95 w 211"/>
                <a:gd name="T59" fmla="*/ 4 h 783"/>
                <a:gd name="T60" fmla="*/ 3 w 211"/>
                <a:gd name="T61" fmla="*/ 188 h 783"/>
                <a:gd name="T62" fmla="*/ 3 w 211"/>
                <a:gd name="T63" fmla="*/ 188 h 783"/>
                <a:gd name="T64" fmla="*/ 0 w 211"/>
                <a:gd name="T65" fmla="*/ 194 h 783"/>
                <a:gd name="T66" fmla="*/ 1 w 211"/>
                <a:gd name="T67" fmla="*/ 702 h 783"/>
                <a:gd name="T68" fmla="*/ 7 w 211"/>
                <a:gd name="T69" fmla="*/ 719 h 783"/>
                <a:gd name="T70" fmla="*/ 15 w 211"/>
                <a:gd name="T71" fmla="*/ 735 h 783"/>
                <a:gd name="T72" fmla="*/ 28 w 211"/>
                <a:gd name="T73" fmla="*/ 750 h 783"/>
                <a:gd name="T74" fmla="*/ 44 w 211"/>
                <a:gd name="T75" fmla="*/ 762 h 783"/>
                <a:gd name="T76" fmla="*/ 62 w 211"/>
                <a:gd name="T77" fmla="*/ 772 h 783"/>
                <a:gd name="T78" fmla="*/ 81 w 211"/>
                <a:gd name="T79" fmla="*/ 778 h 783"/>
                <a:gd name="T80" fmla="*/ 100 w 211"/>
                <a:gd name="T81" fmla="*/ 783 h 783"/>
                <a:gd name="T82" fmla="*/ 119 w 211"/>
                <a:gd name="T83" fmla="*/ 783 h 783"/>
                <a:gd name="T84" fmla="*/ 137 w 211"/>
                <a:gd name="T85" fmla="*/ 778 h 783"/>
                <a:gd name="T86" fmla="*/ 155 w 211"/>
                <a:gd name="T87" fmla="*/ 772 h 783"/>
                <a:gd name="T88" fmla="*/ 171 w 211"/>
                <a:gd name="T89" fmla="*/ 762 h 783"/>
                <a:gd name="T90" fmla="*/ 185 w 211"/>
                <a:gd name="T91" fmla="*/ 750 h 783"/>
                <a:gd name="T92" fmla="*/ 197 w 211"/>
                <a:gd name="T93" fmla="*/ 736 h 783"/>
                <a:gd name="T94" fmla="*/ 207 w 211"/>
                <a:gd name="T95" fmla="*/ 720 h 783"/>
                <a:gd name="T96" fmla="*/ 211 w 211"/>
                <a:gd name="T97" fmla="*/ 702 h 783"/>
                <a:gd name="T98" fmla="*/ 211 w 211"/>
                <a:gd name="T99" fmla="*/ 194 h 783"/>
                <a:gd name="T100" fmla="*/ 210 w 211"/>
                <a:gd name="T101" fmla="*/ 188 h 783"/>
                <a:gd name="T102" fmla="*/ 210 w 211"/>
                <a:gd name="T103" fmla="*/ 188 h 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1" h="783">
                  <a:moveTo>
                    <a:pt x="110" y="752"/>
                  </a:moveTo>
                  <a:lnTo>
                    <a:pt x="104" y="752"/>
                  </a:lnTo>
                  <a:lnTo>
                    <a:pt x="96" y="751"/>
                  </a:lnTo>
                  <a:lnTo>
                    <a:pt x="90" y="749"/>
                  </a:lnTo>
                  <a:lnTo>
                    <a:pt x="83" y="747"/>
                  </a:lnTo>
                  <a:lnTo>
                    <a:pt x="69" y="742"/>
                  </a:lnTo>
                  <a:lnTo>
                    <a:pt x="57" y="734"/>
                  </a:lnTo>
                  <a:lnTo>
                    <a:pt x="52" y="730"/>
                  </a:lnTo>
                  <a:lnTo>
                    <a:pt x="47" y="726"/>
                  </a:lnTo>
                  <a:lnTo>
                    <a:pt x="42" y="720"/>
                  </a:lnTo>
                  <a:lnTo>
                    <a:pt x="38" y="715"/>
                  </a:lnTo>
                  <a:lnTo>
                    <a:pt x="35" y="709"/>
                  </a:lnTo>
                  <a:lnTo>
                    <a:pt x="33" y="704"/>
                  </a:lnTo>
                  <a:lnTo>
                    <a:pt x="32" y="698"/>
                  </a:lnTo>
                  <a:lnTo>
                    <a:pt x="30" y="692"/>
                  </a:lnTo>
                  <a:lnTo>
                    <a:pt x="30" y="662"/>
                  </a:lnTo>
                  <a:lnTo>
                    <a:pt x="181" y="662"/>
                  </a:lnTo>
                  <a:lnTo>
                    <a:pt x="181" y="692"/>
                  </a:lnTo>
                  <a:lnTo>
                    <a:pt x="181" y="699"/>
                  </a:lnTo>
                  <a:lnTo>
                    <a:pt x="180" y="704"/>
                  </a:lnTo>
                  <a:lnTo>
                    <a:pt x="178" y="711"/>
                  </a:lnTo>
                  <a:lnTo>
                    <a:pt x="175" y="716"/>
                  </a:lnTo>
                  <a:lnTo>
                    <a:pt x="171" y="721"/>
                  </a:lnTo>
                  <a:lnTo>
                    <a:pt x="167" y="726"/>
                  </a:lnTo>
                  <a:lnTo>
                    <a:pt x="163" y="731"/>
                  </a:lnTo>
                  <a:lnTo>
                    <a:pt x="158" y="735"/>
                  </a:lnTo>
                  <a:lnTo>
                    <a:pt x="147" y="743"/>
                  </a:lnTo>
                  <a:lnTo>
                    <a:pt x="135" y="748"/>
                  </a:lnTo>
                  <a:lnTo>
                    <a:pt x="128" y="750"/>
                  </a:lnTo>
                  <a:lnTo>
                    <a:pt x="123" y="751"/>
                  </a:lnTo>
                  <a:lnTo>
                    <a:pt x="117" y="752"/>
                  </a:lnTo>
                  <a:lnTo>
                    <a:pt x="110" y="752"/>
                  </a:lnTo>
                  <a:close/>
                  <a:moveTo>
                    <a:pt x="106" y="47"/>
                  </a:moveTo>
                  <a:lnTo>
                    <a:pt x="172" y="179"/>
                  </a:lnTo>
                  <a:lnTo>
                    <a:pt x="40" y="179"/>
                  </a:lnTo>
                  <a:lnTo>
                    <a:pt x="106" y="47"/>
                  </a:lnTo>
                  <a:close/>
                  <a:moveTo>
                    <a:pt x="30" y="602"/>
                  </a:moveTo>
                  <a:lnTo>
                    <a:pt x="181" y="602"/>
                  </a:lnTo>
                  <a:lnTo>
                    <a:pt x="181" y="632"/>
                  </a:lnTo>
                  <a:lnTo>
                    <a:pt x="30" y="632"/>
                  </a:lnTo>
                  <a:lnTo>
                    <a:pt x="30" y="602"/>
                  </a:lnTo>
                  <a:close/>
                  <a:moveTo>
                    <a:pt x="181" y="209"/>
                  </a:moveTo>
                  <a:lnTo>
                    <a:pt x="181" y="572"/>
                  </a:lnTo>
                  <a:lnTo>
                    <a:pt x="121" y="572"/>
                  </a:lnTo>
                  <a:lnTo>
                    <a:pt x="121" y="209"/>
                  </a:lnTo>
                  <a:lnTo>
                    <a:pt x="181" y="209"/>
                  </a:lnTo>
                  <a:close/>
                  <a:moveTo>
                    <a:pt x="91" y="209"/>
                  </a:moveTo>
                  <a:lnTo>
                    <a:pt x="91" y="572"/>
                  </a:lnTo>
                  <a:lnTo>
                    <a:pt x="30" y="572"/>
                  </a:lnTo>
                  <a:lnTo>
                    <a:pt x="30" y="209"/>
                  </a:lnTo>
                  <a:lnTo>
                    <a:pt x="91" y="209"/>
                  </a:lnTo>
                  <a:close/>
                  <a:moveTo>
                    <a:pt x="210" y="188"/>
                  </a:moveTo>
                  <a:lnTo>
                    <a:pt x="120" y="7"/>
                  </a:lnTo>
                  <a:lnTo>
                    <a:pt x="118" y="4"/>
                  </a:lnTo>
                  <a:lnTo>
                    <a:pt x="114" y="1"/>
                  </a:lnTo>
                  <a:lnTo>
                    <a:pt x="110" y="0"/>
                  </a:lnTo>
                  <a:lnTo>
                    <a:pt x="106" y="0"/>
                  </a:lnTo>
                  <a:lnTo>
                    <a:pt x="103" y="0"/>
                  </a:lnTo>
                  <a:lnTo>
                    <a:pt x="98" y="1"/>
                  </a:lnTo>
                  <a:lnTo>
                    <a:pt x="95" y="4"/>
                  </a:lnTo>
                  <a:lnTo>
                    <a:pt x="93" y="7"/>
                  </a:lnTo>
                  <a:lnTo>
                    <a:pt x="3" y="188"/>
                  </a:lnTo>
                  <a:lnTo>
                    <a:pt x="3" y="188"/>
                  </a:lnTo>
                  <a:lnTo>
                    <a:pt x="3" y="188"/>
                  </a:lnTo>
                  <a:lnTo>
                    <a:pt x="1" y="191"/>
                  </a:lnTo>
                  <a:lnTo>
                    <a:pt x="0" y="194"/>
                  </a:lnTo>
                  <a:lnTo>
                    <a:pt x="0" y="692"/>
                  </a:lnTo>
                  <a:lnTo>
                    <a:pt x="1" y="702"/>
                  </a:lnTo>
                  <a:lnTo>
                    <a:pt x="4" y="711"/>
                  </a:lnTo>
                  <a:lnTo>
                    <a:pt x="7" y="719"/>
                  </a:lnTo>
                  <a:lnTo>
                    <a:pt x="10" y="728"/>
                  </a:lnTo>
                  <a:lnTo>
                    <a:pt x="15" y="735"/>
                  </a:lnTo>
                  <a:lnTo>
                    <a:pt x="22" y="743"/>
                  </a:lnTo>
                  <a:lnTo>
                    <a:pt x="28" y="750"/>
                  </a:lnTo>
                  <a:lnTo>
                    <a:pt x="36" y="757"/>
                  </a:lnTo>
                  <a:lnTo>
                    <a:pt x="44" y="762"/>
                  </a:lnTo>
                  <a:lnTo>
                    <a:pt x="53" y="768"/>
                  </a:lnTo>
                  <a:lnTo>
                    <a:pt x="62" y="772"/>
                  </a:lnTo>
                  <a:lnTo>
                    <a:pt x="71" y="776"/>
                  </a:lnTo>
                  <a:lnTo>
                    <a:pt x="81" y="778"/>
                  </a:lnTo>
                  <a:lnTo>
                    <a:pt x="91" y="780"/>
                  </a:lnTo>
                  <a:lnTo>
                    <a:pt x="100" y="783"/>
                  </a:lnTo>
                  <a:lnTo>
                    <a:pt x="110" y="783"/>
                  </a:lnTo>
                  <a:lnTo>
                    <a:pt x="119" y="783"/>
                  </a:lnTo>
                  <a:lnTo>
                    <a:pt x="128" y="780"/>
                  </a:lnTo>
                  <a:lnTo>
                    <a:pt x="137" y="778"/>
                  </a:lnTo>
                  <a:lnTo>
                    <a:pt x="147" y="776"/>
                  </a:lnTo>
                  <a:lnTo>
                    <a:pt x="155" y="772"/>
                  </a:lnTo>
                  <a:lnTo>
                    <a:pt x="163" y="768"/>
                  </a:lnTo>
                  <a:lnTo>
                    <a:pt x="171" y="762"/>
                  </a:lnTo>
                  <a:lnTo>
                    <a:pt x="179" y="757"/>
                  </a:lnTo>
                  <a:lnTo>
                    <a:pt x="185" y="750"/>
                  </a:lnTo>
                  <a:lnTo>
                    <a:pt x="192" y="744"/>
                  </a:lnTo>
                  <a:lnTo>
                    <a:pt x="197" y="736"/>
                  </a:lnTo>
                  <a:lnTo>
                    <a:pt x="203" y="728"/>
                  </a:lnTo>
                  <a:lnTo>
                    <a:pt x="207" y="720"/>
                  </a:lnTo>
                  <a:lnTo>
                    <a:pt x="209" y="711"/>
                  </a:lnTo>
                  <a:lnTo>
                    <a:pt x="211" y="702"/>
                  </a:lnTo>
                  <a:lnTo>
                    <a:pt x="211" y="692"/>
                  </a:lnTo>
                  <a:lnTo>
                    <a:pt x="211" y="194"/>
                  </a:lnTo>
                  <a:lnTo>
                    <a:pt x="211" y="191"/>
                  </a:lnTo>
                  <a:lnTo>
                    <a:pt x="210" y="188"/>
                  </a:lnTo>
                  <a:lnTo>
                    <a:pt x="210" y="188"/>
                  </a:lnTo>
                  <a:lnTo>
                    <a:pt x="210" y="1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86">
              <a:extLst>
                <a:ext uri="{FF2B5EF4-FFF2-40B4-BE49-F238E27FC236}">
                  <a16:creationId xmlns:a16="http://schemas.microsoft.com/office/drawing/2014/main" id="{950C94F7-C566-6343-7EB5-EB4122E06FD3}"/>
                </a:ext>
              </a:extLst>
            </p:cNvPr>
            <p:cNvSpPr>
              <a:spLocks noEditPoints="1"/>
            </p:cNvSpPr>
            <p:nvPr/>
          </p:nvSpPr>
          <p:spPr bwMode="auto">
            <a:xfrm>
              <a:off x="1593850" y="1925638"/>
              <a:ext cx="85725" cy="287338"/>
            </a:xfrm>
            <a:custGeom>
              <a:avLst/>
              <a:gdLst>
                <a:gd name="T0" fmla="*/ 32 w 273"/>
                <a:gd name="T1" fmla="*/ 754 h 905"/>
                <a:gd name="T2" fmla="*/ 112 w 273"/>
                <a:gd name="T3" fmla="*/ 753 h 905"/>
                <a:gd name="T4" fmla="*/ 119 w 273"/>
                <a:gd name="T5" fmla="*/ 748 h 905"/>
                <a:gd name="T6" fmla="*/ 122 w 273"/>
                <a:gd name="T7" fmla="*/ 739 h 905"/>
                <a:gd name="T8" fmla="*/ 119 w 273"/>
                <a:gd name="T9" fmla="*/ 730 h 905"/>
                <a:gd name="T10" fmla="*/ 112 w 273"/>
                <a:gd name="T11" fmla="*/ 725 h 905"/>
                <a:gd name="T12" fmla="*/ 32 w 273"/>
                <a:gd name="T13" fmla="*/ 724 h 905"/>
                <a:gd name="T14" fmla="*/ 109 w 273"/>
                <a:gd name="T15" fmla="*/ 602 h 905"/>
                <a:gd name="T16" fmla="*/ 118 w 273"/>
                <a:gd name="T17" fmla="*/ 599 h 905"/>
                <a:gd name="T18" fmla="*/ 121 w 273"/>
                <a:gd name="T19" fmla="*/ 591 h 905"/>
                <a:gd name="T20" fmla="*/ 121 w 273"/>
                <a:gd name="T21" fmla="*/ 582 h 905"/>
                <a:gd name="T22" fmla="*/ 114 w 273"/>
                <a:gd name="T23" fmla="*/ 576 h 905"/>
                <a:gd name="T24" fmla="*/ 107 w 273"/>
                <a:gd name="T25" fmla="*/ 573 h 905"/>
                <a:gd name="T26" fmla="*/ 107 w 273"/>
                <a:gd name="T27" fmla="*/ 452 h 905"/>
                <a:gd name="T28" fmla="*/ 114 w 273"/>
                <a:gd name="T29" fmla="*/ 450 h 905"/>
                <a:gd name="T30" fmla="*/ 121 w 273"/>
                <a:gd name="T31" fmla="*/ 443 h 905"/>
                <a:gd name="T32" fmla="*/ 121 w 273"/>
                <a:gd name="T33" fmla="*/ 435 h 905"/>
                <a:gd name="T34" fmla="*/ 118 w 273"/>
                <a:gd name="T35" fmla="*/ 427 h 905"/>
                <a:gd name="T36" fmla="*/ 109 w 273"/>
                <a:gd name="T37" fmla="*/ 423 h 905"/>
                <a:gd name="T38" fmla="*/ 32 w 273"/>
                <a:gd name="T39" fmla="*/ 301 h 905"/>
                <a:gd name="T40" fmla="*/ 112 w 273"/>
                <a:gd name="T41" fmla="*/ 300 h 905"/>
                <a:gd name="T42" fmla="*/ 119 w 273"/>
                <a:gd name="T43" fmla="*/ 295 h 905"/>
                <a:gd name="T44" fmla="*/ 122 w 273"/>
                <a:gd name="T45" fmla="*/ 286 h 905"/>
                <a:gd name="T46" fmla="*/ 119 w 273"/>
                <a:gd name="T47" fmla="*/ 278 h 905"/>
                <a:gd name="T48" fmla="*/ 112 w 273"/>
                <a:gd name="T49" fmla="*/ 272 h 905"/>
                <a:gd name="T50" fmla="*/ 32 w 273"/>
                <a:gd name="T51" fmla="*/ 271 h 905"/>
                <a:gd name="T52" fmla="*/ 109 w 273"/>
                <a:gd name="T53" fmla="*/ 151 h 905"/>
                <a:gd name="T54" fmla="*/ 118 w 273"/>
                <a:gd name="T55" fmla="*/ 147 h 905"/>
                <a:gd name="T56" fmla="*/ 121 w 273"/>
                <a:gd name="T57" fmla="*/ 139 h 905"/>
                <a:gd name="T58" fmla="*/ 121 w 273"/>
                <a:gd name="T59" fmla="*/ 130 h 905"/>
                <a:gd name="T60" fmla="*/ 114 w 273"/>
                <a:gd name="T61" fmla="*/ 123 h 905"/>
                <a:gd name="T62" fmla="*/ 107 w 273"/>
                <a:gd name="T63" fmla="*/ 121 h 905"/>
                <a:gd name="T64" fmla="*/ 242 w 273"/>
                <a:gd name="T65" fmla="*/ 30 h 905"/>
                <a:gd name="T66" fmla="*/ 17 w 273"/>
                <a:gd name="T67" fmla="*/ 0 h 905"/>
                <a:gd name="T68" fmla="*/ 8 w 273"/>
                <a:gd name="T69" fmla="*/ 2 h 905"/>
                <a:gd name="T70" fmla="*/ 3 w 273"/>
                <a:gd name="T71" fmla="*/ 9 h 905"/>
                <a:gd name="T72" fmla="*/ 1 w 273"/>
                <a:gd name="T73" fmla="*/ 890 h 905"/>
                <a:gd name="T74" fmla="*/ 4 w 273"/>
                <a:gd name="T75" fmla="*/ 898 h 905"/>
                <a:gd name="T76" fmla="*/ 10 w 273"/>
                <a:gd name="T77" fmla="*/ 904 h 905"/>
                <a:gd name="T78" fmla="*/ 257 w 273"/>
                <a:gd name="T79" fmla="*/ 905 h 905"/>
                <a:gd name="T80" fmla="*/ 266 w 273"/>
                <a:gd name="T81" fmla="*/ 902 h 905"/>
                <a:gd name="T82" fmla="*/ 271 w 273"/>
                <a:gd name="T83" fmla="*/ 895 h 905"/>
                <a:gd name="T84" fmla="*/ 273 w 273"/>
                <a:gd name="T85" fmla="*/ 15 h 905"/>
                <a:gd name="T86" fmla="*/ 269 w 273"/>
                <a:gd name="T87" fmla="*/ 7 h 905"/>
                <a:gd name="T88" fmla="*/ 263 w 273"/>
                <a:gd name="T89" fmla="*/ 1 h 905"/>
                <a:gd name="T90" fmla="*/ 257 w 273"/>
                <a:gd name="T9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73" h="905">
                  <a:moveTo>
                    <a:pt x="242" y="874"/>
                  </a:moveTo>
                  <a:lnTo>
                    <a:pt x="32" y="874"/>
                  </a:lnTo>
                  <a:lnTo>
                    <a:pt x="32" y="754"/>
                  </a:lnTo>
                  <a:lnTo>
                    <a:pt x="107" y="754"/>
                  </a:lnTo>
                  <a:lnTo>
                    <a:pt x="109" y="754"/>
                  </a:lnTo>
                  <a:lnTo>
                    <a:pt x="112" y="753"/>
                  </a:lnTo>
                  <a:lnTo>
                    <a:pt x="114" y="751"/>
                  </a:lnTo>
                  <a:lnTo>
                    <a:pt x="118" y="750"/>
                  </a:lnTo>
                  <a:lnTo>
                    <a:pt x="119" y="748"/>
                  </a:lnTo>
                  <a:lnTo>
                    <a:pt x="121" y="744"/>
                  </a:lnTo>
                  <a:lnTo>
                    <a:pt x="121" y="742"/>
                  </a:lnTo>
                  <a:lnTo>
                    <a:pt x="122" y="739"/>
                  </a:lnTo>
                  <a:lnTo>
                    <a:pt x="121" y="736"/>
                  </a:lnTo>
                  <a:lnTo>
                    <a:pt x="121" y="733"/>
                  </a:lnTo>
                  <a:lnTo>
                    <a:pt x="119" y="730"/>
                  </a:lnTo>
                  <a:lnTo>
                    <a:pt x="118" y="728"/>
                  </a:lnTo>
                  <a:lnTo>
                    <a:pt x="114" y="726"/>
                  </a:lnTo>
                  <a:lnTo>
                    <a:pt x="112" y="725"/>
                  </a:lnTo>
                  <a:lnTo>
                    <a:pt x="109" y="724"/>
                  </a:lnTo>
                  <a:lnTo>
                    <a:pt x="107" y="724"/>
                  </a:lnTo>
                  <a:lnTo>
                    <a:pt x="32" y="724"/>
                  </a:lnTo>
                  <a:lnTo>
                    <a:pt x="32" y="604"/>
                  </a:lnTo>
                  <a:lnTo>
                    <a:pt x="107" y="604"/>
                  </a:lnTo>
                  <a:lnTo>
                    <a:pt x="109" y="602"/>
                  </a:lnTo>
                  <a:lnTo>
                    <a:pt x="112" y="602"/>
                  </a:lnTo>
                  <a:lnTo>
                    <a:pt x="114" y="600"/>
                  </a:lnTo>
                  <a:lnTo>
                    <a:pt x="118" y="599"/>
                  </a:lnTo>
                  <a:lnTo>
                    <a:pt x="119" y="596"/>
                  </a:lnTo>
                  <a:lnTo>
                    <a:pt x="121" y="594"/>
                  </a:lnTo>
                  <a:lnTo>
                    <a:pt x="121" y="591"/>
                  </a:lnTo>
                  <a:lnTo>
                    <a:pt x="122" y="588"/>
                  </a:lnTo>
                  <a:lnTo>
                    <a:pt x="121" y="585"/>
                  </a:lnTo>
                  <a:lnTo>
                    <a:pt x="121" y="582"/>
                  </a:lnTo>
                  <a:lnTo>
                    <a:pt x="119" y="580"/>
                  </a:lnTo>
                  <a:lnTo>
                    <a:pt x="118" y="578"/>
                  </a:lnTo>
                  <a:lnTo>
                    <a:pt x="114" y="576"/>
                  </a:lnTo>
                  <a:lnTo>
                    <a:pt x="112" y="574"/>
                  </a:lnTo>
                  <a:lnTo>
                    <a:pt x="109" y="573"/>
                  </a:lnTo>
                  <a:lnTo>
                    <a:pt x="107" y="573"/>
                  </a:lnTo>
                  <a:lnTo>
                    <a:pt x="32" y="573"/>
                  </a:lnTo>
                  <a:lnTo>
                    <a:pt x="32" y="452"/>
                  </a:lnTo>
                  <a:lnTo>
                    <a:pt x="107" y="452"/>
                  </a:lnTo>
                  <a:lnTo>
                    <a:pt x="109" y="452"/>
                  </a:lnTo>
                  <a:lnTo>
                    <a:pt x="112" y="451"/>
                  </a:lnTo>
                  <a:lnTo>
                    <a:pt x="114" y="450"/>
                  </a:lnTo>
                  <a:lnTo>
                    <a:pt x="118" y="448"/>
                  </a:lnTo>
                  <a:lnTo>
                    <a:pt x="119" y="445"/>
                  </a:lnTo>
                  <a:lnTo>
                    <a:pt x="121" y="443"/>
                  </a:lnTo>
                  <a:lnTo>
                    <a:pt x="121" y="440"/>
                  </a:lnTo>
                  <a:lnTo>
                    <a:pt x="122" y="437"/>
                  </a:lnTo>
                  <a:lnTo>
                    <a:pt x="121" y="435"/>
                  </a:lnTo>
                  <a:lnTo>
                    <a:pt x="121" y="431"/>
                  </a:lnTo>
                  <a:lnTo>
                    <a:pt x="119" y="429"/>
                  </a:lnTo>
                  <a:lnTo>
                    <a:pt x="118" y="427"/>
                  </a:lnTo>
                  <a:lnTo>
                    <a:pt x="114" y="425"/>
                  </a:lnTo>
                  <a:lnTo>
                    <a:pt x="112" y="424"/>
                  </a:lnTo>
                  <a:lnTo>
                    <a:pt x="109" y="423"/>
                  </a:lnTo>
                  <a:lnTo>
                    <a:pt x="107" y="422"/>
                  </a:lnTo>
                  <a:lnTo>
                    <a:pt x="32" y="422"/>
                  </a:lnTo>
                  <a:lnTo>
                    <a:pt x="32" y="301"/>
                  </a:lnTo>
                  <a:lnTo>
                    <a:pt x="107" y="301"/>
                  </a:lnTo>
                  <a:lnTo>
                    <a:pt x="109" y="301"/>
                  </a:lnTo>
                  <a:lnTo>
                    <a:pt x="112" y="300"/>
                  </a:lnTo>
                  <a:lnTo>
                    <a:pt x="114" y="299"/>
                  </a:lnTo>
                  <a:lnTo>
                    <a:pt x="118" y="297"/>
                  </a:lnTo>
                  <a:lnTo>
                    <a:pt x="119" y="295"/>
                  </a:lnTo>
                  <a:lnTo>
                    <a:pt x="121" y="293"/>
                  </a:lnTo>
                  <a:lnTo>
                    <a:pt x="121" y="290"/>
                  </a:lnTo>
                  <a:lnTo>
                    <a:pt x="122" y="286"/>
                  </a:lnTo>
                  <a:lnTo>
                    <a:pt x="121" y="283"/>
                  </a:lnTo>
                  <a:lnTo>
                    <a:pt x="121" y="281"/>
                  </a:lnTo>
                  <a:lnTo>
                    <a:pt x="119" y="278"/>
                  </a:lnTo>
                  <a:lnTo>
                    <a:pt x="118" y="276"/>
                  </a:lnTo>
                  <a:lnTo>
                    <a:pt x="114" y="274"/>
                  </a:lnTo>
                  <a:lnTo>
                    <a:pt x="112" y="272"/>
                  </a:lnTo>
                  <a:lnTo>
                    <a:pt x="109" y="272"/>
                  </a:lnTo>
                  <a:lnTo>
                    <a:pt x="107" y="271"/>
                  </a:lnTo>
                  <a:lnTo>
                    <a:pt x="32" y="271"/>
                  </a:lnTo>
                  <a:lnTo>
                    <a:pt x="32" y="151"/>
                  </a:lnTo>
                  <a:lnTo>
                    <a:pt x="107" y="151"/>
                  </a:lnTo>
                  <a:lnTo>
                    <a:pt x="109" y="151"/>
                  </a:lnTo>
                  <a:lnTo>
                    <a:pt x="112" y="150"/>
                  </a:lnTo>
                  <a:lnTo>
                    <a:pt x="114" y="149"/>
                  </a:lnTo>
                  <a:lnTo>
                    <a:pt x="118" y="147"/>
                  </a:lnTo>
                  <a:lnTo>
                    <a:pt x="119" y="144"/>
                  </a:lnTo>
                  <a:lnTo>
                    <a:pt x="121" y="141"/>
                  </a:lnTo>
                  <a:lnTo>
                    <a:pt x="121" y="139"/>
                  </a:lnTo>
                  <a:lnTo>
                    <a:pt x="122" y="136"/>
                  </a:lnTo>
                  <a:lnTo>
                    <a:pt x="121" y="133"/>
                  </a:lnTo>
                  <a:lnTo>
                    <a:pt x="121" y="130"/>
                  </a:lnTo>
                  <a:lnTo>
                    <a:pt x="119" y="127"/>
                  </a:lnTo>
                  <a:lnTo>
                    <a:pt x="118" y="125"/>
                  </a:lnTo>
                  <a:lnTo>
                    <a:pt x="114" y="123"/>
                  </a:lnTo>
                  <a:lnTo>
                    <a:pt x="112" y="122"/>
                  </a:lnTo>
                  <a:lnTo>
                    <a:pt x="109" y="121"/>
                  </a:lnTo>
                  <a:lnTo>
                    <a:pt x="107" y="121"/>
                  </a:lnTo>
                  <a:lnTo>
                    <a:pt x="32" y="121"/>
                  </a:lnTo>
                  <a:lnTo>
                    <a:pt x="32" y="30"/>
                  </a:lnTo>
                  <a:lnTo>
                    <a:pt x="242" y="30"/>
                  </a:lnTo>
                  <a:lnTo>
                    <a:pt x="242" y="874"/>
                  </a:lnTo>
                  <a:close/>
                  <a:moveTo>
                    <a:pt x="257" y="0"/>
                  </a:moveTo>
                  <a:lnTo>
                    <a:pt x="17" y="0"/>
                  </a:lnTo>
                  <a:lnTo>
                    <a:pt x="13" y="0"/>
                  </a:lnTo>
                  <a:lnTo>
                    <a:pt x="10" y="1"/>
                  </a:lnTo>
                  <a:lnTo>
                    <a:pt x="8" y="2"/>
                  </a:lnTo>
                  <a:lnTo>
                    <a:pt x="6" y="5"/>
                  </a:lnTo>
                  <a:lnTo>
                    <a:pt x="4" y="7"/>
                  </a:lnTo>
                  <a:lnTo>
                    <a:pt x="3" y="9"/>
                  </a:lnTo>
                  <a:lnTo>
                    <a:pt x="1" y="12"/>
                  </a:lnTo>
                  <a:lnTo>
                    <a:pt x="0" y="15"/>
                  </a:lnTo>
                  <a:lnTo>
                    <a:pt x="1" y="890"/>
                  </a:lnTo>
                  <a:lnTo>
                    <a:pt x="1" y="893"/>
                  </a:lnTo>
                  <a:lnTo>
                    <a:pt x="3" y="895"/>
                  </a:lnTo>
                  <a:lnTo>
                    <a:pt x="4" y="898"/>
                  </a:lnTo>
                  <a:lnTo>
                    <a:pt x="6" y="900"/>
                  </a:lnTo>
                  <a:lnTo>
                    <a:pt x="8" y="902"/>
                  </a:lnTo>
                  <a:lnTo>
                    <a:pt x="10" y="904"/>
                  </a:lnTo>
                  <a:lnTo>
                    <a:pt x="13" y="905"/>
                  </a:lnTo>
                  <a:lnTo>
                    <a:pt x="17" y="905"/>
                  </a:lnTo>
                  <a:lnTo>
                    <a:pt x="257" y="905"/>
                  </a:lnTo>
                  <a:lnTo>
                    <a:pt x="261" y="905"/>
                  </a:lnTo>
                  <a:lnTo>
                    <a:pt x="263" y="904"/>
                  </a:lnTo>
                  <a:lnTo>
                    <a:pt x="266" y="902"/>
                  </a:lnTo>
                  <a:lnTo>
                    <a:pt x="268" y="900"/>
                  </a:lnTo>
                  <a:lnTo>
                    <a:pt x="269" y="898"/>
                  </a:lnTo>
                  <a:lnTo>
                    <a:pt x="271" y="895"/>
                  </a:lnTo>
                  <a:lnTo>
                    <a:pt x="273" y="893"/>
                  </a:lnTo>
                  <a:lnTo>
                    <a:pt x="273" y="890"/>
                  </a:lnTo>
                  <a:lnTo>
                    <a:pt x="273" y="15"/>
                  </a:lnTo>
                  <a:lnTo>
                    <a:pt x="273" y="12"/>
                  </a:lnTo>
                  <a:lnTo>
                    <a:pt x="271" y="9"/>
                  </a:lnTo>
                  <a:lnTo>
                    <a:pt x="269" y="7"/>
                  </a:lnTo>
                  <a:lnTo>
                    <a:pt x="268" y="5"/>
                  </a:lnTo>
                  <a:lnTo>
                    <a:pt x="266" y="2"/>
                  </a:lnTo>
                  <a:lnTo>
                    <a:pt x="263" y="1"/>
                  </a:lnTo>
                  <a:lnTo>
                    <a:pt x="261" y="0"/>
                  </a:lnTo>
                  <a:lnTo>
                    <a:pt x="257" y="0"/>
                  </a:lnTo>
                  <a:lnTo>
                    <a:pt x="25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07" name="Group 106">
            <a:extLst>
              <a:ext uri="{FF2B5EF4-FFF2-40B4-BE49-F238E27FC236}">
                <a16:creationId xmlns:a16="http://schemas.microsoft.com/office/drawing/2014/main" id="{2BC21D53-6CA8-60BE-F289-D5B110970273}"/>
              </a:ext>
            </a:extLst>
          </p:cNvPr>
          <p:cNvGrpSpPr>
            <a:grpSpLocks noChangeAspect="1"/>
          </p:cNvGrpSpPr>
          <p:nvPr/>
        </p:nvGrpSpPr>
        <p:grpSpPr>
          <a:xfrm>
            <a:off x="7149356" y="4686665"/>
            <a:ext cx="247352" cy="246888"/>
            <a:chOff x="354013" y="3654426"/>
            <a:chExt cx="1690688" cy="1687512"/>
          </a:xfrm>
          <a:solidFill>
            <a:schemeClr val="accent1"/>
          </a:solidFill>
        </p:grpSpPr>
        <p:sp>
          <p:nvSpPr>
            <p:cNvPr id="108" name="Freeform 764">
              <a:extLst>
                <a:ext uri="{FF2B5EF4-FFF2-40B4-BE49-F238E27FC236}">
                  <a16:creationId xmlns:a16="http://schemas.microsoft.com/office/drawing/2014/main" id="{0694FD46-D31D-CA3A-E222-431AFB30A72E}"/>
                </a:ext>
              </a:extLst>
            </p:cNvPr>
            <p:cNvSpPr>
              <a:spLocks/>
            </p:cNvSpPr>
            <p:nvPr/>
          </p:nvSpPr>
          <p:spPr bwMode="auto">
            <a:xfrm>
              <a:off x="360363" y="3654426"/>
              <a:ext cx="258763" cy="642938"/>
            </a:xfrm>
            <a:custGeom>
              <a:avLst/>
              <a:gdLst>
                <a:gd name="T0" fmla="*/ 202 w 460"/>
                <a:gd name="T1" fmla="*/ 28 h 1150"/>
                <a:gd name="T2" fmla="*/ 162 w 460"/>
                <a:gd name="T3" fmla="*/ 81 h 1150"/>
                <a:gd name="T4" fmla="*/ 88 w 460"/>
                <a:gd name="T5" fmla="*/ 190 h 1150"/>
                <a:gd name="T6" fmla="*/ 0 w 460"/>
                <a:gd name="T7" fmla="*/ 321 h 1150"/>
                <a:gd name="T8" fmla="*/ 40 w 460"/>
                <a:gd name="T9" fmla="*/ 351 h 1150"/>
                <a:gd name="T10" fmla="*/ 54 w 460"/>
                <a:gd name="T11" fmla="*/ 362 h 1150"/>
                <a:gd name="T12" fmla="*/ 73 w 460"/>
                <a:gd name="T13" fmla="*/ 371 h 1150"/>
                <a:gd name="T14" fmla="*/ 90 w 460"/>
                <a:gd name="T15" fmla="*/ 362 h 1150"/>
                <a:gd name="T16" fmla="*/ 113 w 460"/>
                <a:gd name="T17" fmla="*/ 330 h 1150"/>
                <a:gd name="T18" fmla="*/ 130 w 460"/>
                <a:gd name="T19" fmla="*/ 303 h 1150"/>
                <a:gd name="T20" fmla="*/ 180 w 460"/>
                <a:gd name="T21" fmla="*/ 226 h 1150"/>
                <a:gd name="T22" fmla="*/ 185 w 460"/>
                <a:gd name="T23" fmla="*/ 688 h 1150"/>
                <a:gd name="T24" fmla="*/ 188 w 460"/>
                <a:gd name="T25" fmla="*/ 1150 h 1150"/>
                <a:gd name="T26" fmla="*/ 238 w 460"/>
                <a:gd name="T27" fmla="*/ 1150 h 1150"/>
                <a:gd name="T28" fmla="*/ 288 w 460"/>
                <a:gd name="T29" fmla="*/ 1150 h 1150"/>
                <a:gd name="T30" fmla="*/ 292 w 460"/>
                <a:gd name="T31" fmla="*/ 686 h 1150"/>
                <a:gd name="T32" fmla="*/ 297 w 460"/>
                <a:gd name="T33" fmla="*/ 225 h 1150"/>
                <a:gd name="T34" fmla="*/ 345 w 460"/>
                <a:gd name="T35" fmla="*/ 295 h 1150"/>
                <a:gd name="T36" fmla="*/ 364 w 460"/>
                <a:gd name="T37" fmla="*/ 321 h 1150"/>
                <a:gd name="T38" fmla="*/ 394 w 460"/>
                <a:gd name="T39" fmla="*/ 355 h 1150"/>
                <a:gd name="T40" fmla="*/ 413 w 460"/>
                <a:gd name="T41" fmla="*/ 364 h 1150"/>
                <a:gd name="T42" fmla="*/ 425 w 460"/>
                <a:gd name="T43" fmla="*/ 364 h 1150"/>
                <a:gd name="T44" fmla="*/ 443 w 460"/>
                <a:gd name="T45" fmla="*/ 355 h 1150"/>
                <a:gd name="T46" fmla="*/ 455 w 460"/>
                <a:gd name="T47" fmla="*/ 341 h 1150"/>
                <a:gd name="T48" fmla="*/ 460 w 460"/>
                <a:gd name="T49" fmla="*/ 333 h 1150"/>
                <a:gd name="T50" fmla="*/ 460 w 460"/>
                <a:gd name="T51" fmla="*/ 309 h 1150"/>
                <a:gd name="T52" fmla="*/ 441 w 460"/>
                <a:gd name="T53" fmla="*/ 269 h 1150"/>
                <a:gd name="T54" fmla="*/ 402 w 460"/>
                <a:gd name="T55" fmla="*/ 204 h 1150"/>
                <a:gd name="T56" fmla="*/ 372 w 460"/>
                <a:gd name="T57" fmla="*/ 158 h 1150"/>
                <a:gd name="T58" fmla="*/ 329 w 460"/>
                <a:gd name="T59" fmla="*/ 95 h 1150"/>
                <a:gd name="T60" fmla="*/ 276 w 460"/>
                <a:gd name="T61" fmla="*/ 26 h 1150"/>
                <a:gd name="T62" fmla="*/ 252 w 460"/>
                <a:gd name="T63" fmla="*/ 2 h 1150"/>
                <a:gd name="T64" fmla="*/ 247 w 460"/>
                <a:gd name="T65" fmla="*/ 0 h 1150"/>
                <a:gd name="T66" fmla="*/ 238 w 460"/>
                <a:gd name="T67" fmla="*/ 1 h 1150"/>
                <a:gd name="T68" fmla="*/ 213 w 460"/>
                <a:gd name="T69" fmla="*/ 17 h 1150"/>
                <a:gd name="T70" fmla="*/ 202 w 460"/>
                <a:gd name="T71" fmla="*/ 28 h 1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60" h="1150">
                  <a:moveTo>
                    <a:pt x="202" y="28"/>
                  </a:moveTo>
                  <a:lnTo>
                    <a:pt x="162" y="81"/>
                  </a:lnTo>
                  <a:lnTo>
                    <a:pt x="88" y="190"/>
                  </a:lnTo>
                  <a:lnTo>
                    <a:pt x="0" y="321"/>
                  </a:lnTo>
                  <a:lnTo>
                    <a:pt x="40" y="351"/>
                  </a:lnTo>
                  <a:lnTo>
                    <a:pt x="54" y="362"/>
                  </a:lnTo>
                  <a:lnTo>
                    <a:pt x="73" y="371"/>
                  </a:lnTo>
                  <a:lnTo>
                    <a:pt x="90" y="362"/>
                  </a:lnTo>
                  <a:lnTo>
                    <a:pt x="113" y="330"/>
                  </a:lnTo>
                  <a:lnTo>
                    <a:pt x="130" y="303"/>
                  </a:lnTo>
                  <a:lnTo>
                    <a:pt x="180" y="226"/>
                  </a:lnTo>
                  <a:lnTo>
                    <a:pt x="185" y="688"/>
                  </a:lnTo>
                  <a:lnTo>
                    <a:pt x="188" y="1150"/>
                  </a:lnTo>
                  <a:lnTo>
                    <a:pt x="238" y="1150"/>
                  </a:lnTo>
                  <a:lnTo>
                    <a:pt x="288" y="1150"/>
                  </a:lnTo>
                  <a:lnTo>
                    <a:pt x="292" y="686"/>
                  </a:lnTo>
                  <a:lnTo>
                    <a:pt x="297" y="225"/>
                  </a:lnTo>
                  <a:lnTo>
                    <a:pt x="345" y="295"/>
                  </a:lnTo>
                  <a:lnTo>
                    <a:pt x="364" y="321"/>
                  </a:lnTo>
                  <a:lnTo>
                    <a:pt x="394" y="355"/>
                  </a:lnTo>
                  <a:lnTo>
                    <a:pt x="413" y="364"/>
                  </a:lnTo>
                  <a:lnTo>
                    <a:pt x="425" y="364"/>
                  </a:lnTo>
                  <a:lnTo>
                    <a:pt x="443" y="355"/>
                  </a:lnTo>
                  <a:lnTo>
                    <a:pt x="455" y="341"/>
                  </a:lnTo>
                  <a:lnTo>
                    <a:pt x="460" y="333"/>
                  </a:lnTo>
                  <a:lnTo>
                    <a:pt x="460" y="309"/>
                  </a:lnTo>
                  <a:lnTo>
                    <a:pt x="441" y="269"/>
                  </a:lnTo>
                  <a:lnTo>
                    <a:pt x="402" y="204"/>
                  </a:lnTo>
                  <a:lnTo>
                    <a:pt x="372" y="158"/>
                  </a:lnTo>
                  <a:lnTo>
                    <a:pt x="329" y="95"/>
                  </a:lnTo>
                  <a:lnTo>
                    <a:pt x="276" y="26"/>
                  </a:lnTo>
                  <a:lnTo>
                    <a:pt x="252" y="2"/>
                  </a:lnTo>
                  <a:lnTo>
                    <a:pt x="247" y="0"/>
                  </a:lnTo>
                  <a:lnTo>
                    <a:pt x="238" y="1"/>
                  </a:lnTo>
                  <a:lnTo>
                    <a:pt x="213" y="17"/>
                  </a:lnTo>
                  <a:lnTo>
                    <a:pt x="202"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765">
              <a:extLst>
                <a:ext uri="{FF2B5EF4-FFF2-40B4-BE49-F238E27FC236}">
                  <a16:creationId xmlns:a16="http://schemas.microsoft.com/office/drawing/2014/main" id="{622367CB-F2E8-6863-72A8-EC7821DF834C}"/>
                </a:ext>
              </a:extLst>
            </p:cNvPr>
            <p:cNvSpPr>
              <a:spLocks noEditPoints="1"/>
            </p:cNvSpPr>
            <p:nvPr/>
          </p:nvSpPr>
          <p:spPr bwMode="auto">
            <a:xfrm>
              <a:off x="1258888" y="3654426"/>
              <a:ext cx="785813" cy="784225"/>
            </a:xfrm>
            <a:custGeom>
              <a:avLst/>
              <a:gdLst>
                <a:gd name="T0" fmla="*/ 552 w 1404"/>
                <a:gd name="T1" fmla="*/ 88 h 1400"/>
                <a:gd name="T2" fmla="*/ 513 w 1404"/>
                <a:gd name="T3" fmla="*/ 157 h 1400"/>
                <a:gd name="T4" fmla="*/ 439 w 1404"/>
                <a:gd name="T5" fmla="*/ 184 h 1400"/>
                <a:gd name="T6" fmla="*/ 357 w 1404"/>
                <a:gd name="T7" fmla="*/ 161 h 1400"/>
                <a:gd name="T8" fmla="*/ 182 w 1404"/>
                <a:gd name="T9" fmla="*/ 228 h 1400"/>
                <a:gd name="T10" fmla="*/ 140 w 1404"/>
                <a:gd name="T11" fmla="*/ 313 h 1400"/>
                <a:gd name="T12" fmla="*/ 172 w 1404"/>
                <a:gd name="T13" fmla="*/ 393 h 1400"/>
                <a:gd name="T14" fmla="*/ 173 w 1404"/>
                <a:gd name="T15" fmla="*/ 470 h 1400"/>
                <a:gd name="T16" fmla="*/ 140 w 1404"/>
                <a:gd name="T17" fmla="*/ 526 h 1400"/>
                <a:gd name="T18" fmla="*/ 70 w 1404"/>
                <a:gd name="T19" fmla="*/ 563 h 1400"/>
                <a:gd name="T20" fmla="*/ 2 w 1404"/>
                <a:gd name="T21" fmla="*/ 778 h 1400"/>
                <a:gd name="T22" fmla="*/ 13 w 1404"/>
                <a:gd name="T23" fmla="*/ 823 h 1400"/>
                <a:gd name="T24" fmla="*/ 97 w 1404"/>
                <a:gd name="T25" fmla="*/ 855 h 1400"/>
                <a:gd name="T26" fmla="*/ 164 w 1404"/>
                <a:gd name="T27" fmla="*/ 910 h 1400"/>
                <a:gd name="T28" fmla="*/ 178 w 1404"/>
                <a:gd name="T29" fmla="*/ 970 h 1400"/>
                <a:gd name="T30" fmla="*/ 154 w 1404"/>
                <a:gd name="T31" fmla="*/ 1048 h 1400"/>
                <a:gd name="T32" fmla="*/ 222 w 1404"/>
                <a:gd name="T33" fmla="*/ 1219 h 1400"/>
                <a:gd name="T34" fmla="*/ 312 w 1404"/>
                <a:gd name="T35" fmla="*/ 1263 h 1400"/>
                <a:gd name="T36" fmla="*/ 385 w 1404"/>
                <a:gd name="T37" fmla="*/ 1233 h 1400"/>
                <a:gd name="T38" fmla="*/ 460 w 1404"/>
                <a:gd name="T39" fmla="*/ 1228 h 1400"/>
                <a:gd name="T40" fmla="*/ 516 w 1404"/>
                <a:gd name="T41" fmla="*/ 1252 h 1400"/>
                <a:gd name="T42" fmla="*/ 552 w 1404"/>
                <a:gd name="T43" fmla="*/ 1325 h 1400"/>
                <a:gd name="T44" fmla="*/ 817 w 1404"/>
                <a:gd name="T45" fmla="*/ 1400 h 1400"/>
                <a:gd name="T46" fmla="*/ 858 w 1404"/>
                <a:gd name="T47" fmla="*/ 1284 h 1400"/>
                <a:gd name="T48" fmla="*/ 914 w 1404"/>
                <a:gd name="T49" fmla="*/ 1236 h 1400"/>
                <a:gd name="T50" fmla="*/ 981 w 1404"/>
                <a:gd name="T51" fmla="*/ 1220 h 1400"/>
                <a:gd name="T52" fmla="*/ 1052 w 1404"/>
                <a:gd name="T53" fmla="*/ 1249 h 1400"/>
                <a:gd name="T54" fmla="*/ 1120 w 1404"/>
                <a:gd name="T55" fmla="*/ 1262 h 1400"/>
                <a:gd name="T56" fmla="*/ 1264 w 1404"/>
                <a:gd name="T57" fmla="*/ 1119 h 1400"/>
                <a:gd name="T58" fmla="*/ 1237 w 1404"/>
                <a:gd name="T59" fmla="*/ 1036 h 1400"/>
                <a:gd name="T60" fmla="*/ 1217 w 1404"/>
                <a:gd name="T61" fmla="*/ 959 h 1400"/>
                <a:gd name="T62" fmla="*/ 1250 w 1404"/>
                <a:gd name="T63" fmla="*/ 887 h 1400"/>
                <a:gd name="T64" fmla="*/ 1322 w 1404"/>
                <a:gd name="T65" fmla="*/ 846 h 1400"/>
                <a:gd name="T66" fmla="*/ 1404 w 1404"/>
                <a:gd name="T67" fmla="*/ 586 h 1400"/>
                <a:gd name="T68" fmla="*/ 1284 w 1404"/>
                <a:gd name="T69" fmla="*/ 541 h 1400"/>
                <a:gd name="T70" fmla="*/ 1230 w 1404"/>
                <a:gd name="T71" fmla="*/ 486 h 1400"/>
                <a:gd name="T72" fmla="*/ 1210 w 1404"/>
                <a:gd name="T73" fmla="*/ 421 h 1400"/>
                <a:gd name="T74" fmla="*/ 1269 w 1404"/>
                <a:gd name="T75" fmla="*/ 300 h 1400"/>
                <a:gd name="T76" fmla="*/ 1172 w 1404"/>
                <a:gd name="T77" fmla="*/ 185 h 1400"/>
                <a:gd name="T78" fmla="*/ 1112 w 1404"/>
                <a:gd name="T79" fmla="*/ 143 h 1400"/>
                <a:gd name="T80" fmla="*/ 1032 w 1404"/>
                <a:gd name="T81" fmla="*/ 166 h 1400"/>
                <a:gd name="T82" fmla="*/ 952 w 1404"/>
                <a:gd name="T83" fmla="*/ 189 h 1400"/>
                <a:gd name="T84" fmla="*/ 900 w 1404"/>
                <a:gd name="T85" fmla="*/ 162 h 1400"/>
                <a:gd name="T86" fmla="*/ 845 w 1404"/>
                <a:gd name="T87" fmla="*/ 87 h 1400"/>
                <a:gd name="T88" fmla="*/ 702 w 1404"/>
                <a:gd name="T89" fmla="*/ 0 h 1400"/>
                <a:gd name="T90" fmla="*/ 580 w 1404"/>
                <a:gd name="T91" fmla="*/ 11 h 1400"/>
                <a:gd name="T92" fmla="*/ 920 w 1404"/>
                <a:gd name="T93" fmla="*/ 430 h 1400"/>
                <a:gd name="T94" fmla="*/ 1004 w 1404"/>
                <a:gd name="T95" fmla="*/ 536 h 1400"/>
                <a:gd name="T96" fmla="*/ 1043 w 1404"/>
                <a:gd name="T97" fmla="*/ 657 h 1400"/>
                <a:gd name="T98" fmla="*/ 1036 w 1404"/>
                <a:gd name="T99" fmla="*/ 795 h 1400"/>
                <a:gd name="T100" fmla="*/ 977 w 1404"/>
                <a:gd name="T101" fmla="*/ 914 h 1400"/>
                <a:gd name="T102" fmla="*/ 875 w 1404"/>
                <a:gd name="T103" fmla="*/ 1002 h 1400"/>
                <a:gd name="T104" fmla="*/ 739 w 1404"/>
                <a:gd name="T105" fmla="*/ 1046 h 1400"/>
                <a:gd name="T106" fmla="*/ 627 w 1404"/>
                <a:gd name="T107" fmla="*/ 1043 h 1400"/>
                <a:gd name="T108" fmla="*/ 461 w 1404"/>
                <a:gd name="T109" fmla="*/ 960 h 1400"/>
                <a:gd name="T110" fmla="*/ 365 w 1404"/>
                <a:gd name="T111" fmla="*/ 803 h 1400"/>
                <a:gd name="T112" fmla="*/ 352 w 1404"/>
                <a:gd name="T113" fmla="*/ 681 h 1400"/>
                <a:gd name="T114" fmla="*/ 385 w 1404"/>
                <a:gd name="T115" fmla="*/ 552 h 1400"/>
                <a:gd name="T116" fmla="*/ 459 w 1404"/>
                <a:gd name="T117" fmla="*/ 449 h 1400"/>
                <a:gd name="T118" fmla="*/ 563 w 1404"/>
                <a:gd name="T119" fmla="*/ 381 h 1400"/>
                <a:gd name="T120" fmla="*/ 685 w 1404"/>
                <a:gd name="T121" fmla="*/ 354 h 1400"/>
                <a:gd name="T122" fmla="*/ 814 w 1404"/>
                <a:gd name="T123" fmla="*/ 376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04" h="1400">
                  <a:moveTo>
                    <a:pt x="580" y="11"/>
                  </a:moveTo>
                  <a:lnTo>
                    <a:pt x="570" y="36"/>
                  </a:lnTo>
                  <a:lnTo>
                    <a:pt x="552" y="88"/>
                  </a:lnTo>
                  <a:lnTo>
                    <a:pt x="546" y="105"/>
                  </a:lnTo>
                  <a:lnTo>
                    <a:pt x="531" y="134"/>
                  </a:lnTo>
                  <a:lnTo>
                    <a:pt x="513" y="157"/>
                  </a:lnTo>
                  <a:lnTo>
                    <a:pt x="492" y="173"/>
                  </a:lnTo>
                  <a:lnTo>
                    <a:pt x="467" y="182"/>
                  </a:lnTo>
                  <a:lnTo>
                    <a:pt x="439" y="184"/>
                  </a:lnTo>
                  <a:lnTo>
                    <a:pt x="408" y="180"/>
                  </a:lnTo>
                  <a:lnTo>
                    <a:pt x="375" y="170"/>
                  </a:lnTo>
                  <a:lnTo>
                    <a:pt x="357" y="161"/>
                  </a:lnTo>
                  <a:lnTo>
                    <a:pt x="285" y="126"/>
                  </a:lnTo>
                  <a:lnTo>
                    <a:pt x="210" y="200"/>
                  </a:lnTo>
                  <a:lnTo>
                    <a:pt x="182" y="228"/>
                  </a:lnTo>
                  <a:lnTo>
                    <a:pt x="147" y="269"/>
                  </a:lnTo>
                  <a:lnTo>
                    <a:pt x="139" y="295"/>
                  </a:lnTo>
                  <a:lnTo>
                    <a:pt x="140" y="313"/>
                  </a:lnTo>
                  <a:lnTo>
                    <a:pt x="150" y="346"/>
                  </a:lnTo>
                  <a:lnTo>
                    <a:pt x="164" y="375"/>
                  </a:lnTo>
                  <a:lnTo>
                    <a:pt x="172" y="393"/>
                  </a:lnTo>
                  <a:lnTo>
                    <a:pt x="182" y="421"/>
                  </a:lnTo>
                  <a:lnTo>
                    <a:pt x="182" y="444"/>
                  </a:lnTo>
                  <a:lnTo>
                    <a:pt x="173" y="470"/>
                  </a:lnTo>
                  <a:lnTo>
                    <a:pt x="165" y="488"/>
                  </a:lnTo>
                  <a:lnTo>
                    <a:pt x="158" y="503"/>
                  </a:lnTo>
                  <a:lnTo>
                    <a:pt x="140" y="526"/>
                  </a:lnTo>
                  <a:lnTo>
                    <a:pt x="118" y="544"/>
                  </a:lnTo>
                  <a:lnTo>
                    <a:pt x="89" y="557"/>
                  </a:lnTo>
                  <a:lnTo>
                    <a:pt x="70" y="563"/>
                  </a:lnTo>
                  <a:lnTo>
                    <a:pt x="2" y="585"/>
                  </a:lnTo>
                  <a:lnTo>
                    <a:pt x="2" y="691"/>
                  </a:lnTo>
                  <a:lnTo>
                    <a:pt x="2" y="778"/>
                  </a:lnTo>
                  <a:lnTo>
                    <a:pt x="0" y="811"/>
                  </a:lnTo>
                  <a:lnTo>
                    <a:pt x="1" y="815"/>
                  </a:lnTo>
                  <a:lnTo>
                    <a:pt x="13" y="823"/>
                  </a:lnTo>
                  <a:lnTo>
                    <a:pt x="45" y="838"/>
                  </a:lnTo>
                  <a:lnTo>
                    <a:pt x="75" y="848"/>
                  </a:lnTo>
                  <a:lnTo>
                    <a:pt x="97" y="855"/>
                  </a:lnTo>
                  <a:lnTo>
                    <a:pt x="129" y="870"/>
                  </a:lnTo>
                  <a:lnTo>
                    <a:pt x="150" y="887"/>
                  </a:lnTo>
                  <a:lnTo>
                    <a:pt x="164" y="910"/>
                  </a:lnTo>
                  <a:lnTo>
                    <a:pt x="169" y="926"/>
                  </a:lnTo>
                  <a:lnTo>
                    <a:pt x="174" y="942"/>
                  </a:lnTo>
                  <a:lnTo>
                    <a:pt x="178" y="970"/>
                  </a:lnTo>
                  <a:lnTo>
                    <a:pt x="175" y="996"/>
                  </a:lnTo>
                  <a:lnTo>
                    <a:pt x="163" y="1028"/>
                  </a:lnTo>
                  <a:lnTo>
                    <a:pt x="154" y="1048"/>
                  </a:lnTo>
                  <a:lnTo>
                    <a:pt x="119" y="1115"/>
                  </a:lnTo>
                  <a:lnTo>
                    <a:pt x="194" y="1190"/>
                  </a:lnTo>
                  <a:lnTo>
                    <a:pt x="222" y="1219"/>
                  </a:lnTo>
                  <a:lnTo>
                    <a:pt x="265" y="1254"/>
                  </a:lnTo>
                  <a:lnTo>
                    <a:pt x="293" y="1263"/>
                  </a:lnTo>
                  <a:lnTo>
                    <a:pt x="312" y="1263"/>
                  </a:lnTo>
                  <a:lnTo>
                    <a:pt x="344" y="1253"/>
                  </a:lnTo>
                  <a:lnTo>
                    <a:pt x="370" y="1240"/>
                  </a:lnTo>
                  <a:lnTo>
                    <a:pt x="385" y="1233"/>
                  </a:lnTo>
                  <a:lnTo>
                    <a:pt x="410" y="1225"/>
                  </a:lnTo>
                  <a:lnTo>
                    <a:pt x="434" y="1223"/>
                  </a:lnTo>
                  <a:lnTo>
                    <a:pt x="460" y="1228"/>
                  </a:lnTo>
                  <a:lnTo>
                    <a:pt x="475" y="1233"/>
                  </a:lnTo>
                  <a:lnTo>
                    <a:pt x="492" y="1239"/>
                  </a:lnTo>
                  <a:lnTo>
                    <a:pt x="516" y="1252"/>
                  </a:lnTo>
                  <a:lnTo>
                    <a:pt x="533" y="1272"/>
                  </a:lnTo>
                  <a:lnTo>
                    <a:pt x="546" y="1303"/>
                  </a:lnTo>
                  <a:lnTo>
                    <a:pt x="552" y="1325"/>
                  </a:lnTo>
                  <a:lnTo>
                    <a:pt x="574" y="1400"/>
                  </a:lnTo>
                  <a:lnTo>
                    <a:pt x="695" y="1400"/>
                  </a:lnTo>
                  <a:lnTo>
                    <a:pt x="817" y="1400"/>
                  </a:lnTo>
                  <a:lnTo>
                    <a:pt x="839" y="1331"/>
                  </a:lnTo>
                  <a:lnTo>
                    <a:pt x="844" y="1313"/>
                  </a:lnTo>
                  <a:lnTo>
                    <a:pt x="858" y="1284"/>
                  </a:lnTo>
                  <a:lnTo>
                    <a:pt x="875" y="1261"/>
                  </a:lnTo>
                  <a:lnTo>
                    <a:pt x="899" y="1244"/>
                  </a:lnTo>
                  <a:lnTo>
                    <a:pt x="914" y="1236"/>
                  </a:lnTo>
                  <a:lnTo>
                    <a:pt x="931" y="1228"/>
                  </a:lnTo>
                  <a:lnTo>
                    <a:pt x="958" y="1220"/>
                  </a:lnTo>
                  <a:lnTo>
                    <a:pt x="981" y="1220"/>
                  </a:lnTo>
                  <a:lnTo>
                    <a:pt x="1008" y="1229"/>
                  </a:lnTo>
                  <a:lnTo>
                    <a:pt x="1027" y="1238"/>
                  </a:lnTo>
                  <a:lnTo>
                    <a:pt x="1052" y="1249"/>
                  </a:lnTo>
                  <a:lnTo>
                    <a:pt x="1097" y="1265"/>
                  </a:lnTo>
                  <a:lnTo>
                    <a:pt x="1109" y="1266"/>
                  </a:lnTo>
                  <a:lnTo>
                    <a:pt x="1120" y="1262"/>
                  </a:lnTo>
                  <a:lnTo>
                    <a:pt x="1168" y="1222"/>
                  </a:lnTo>
                  <a:lnTo>
                    <a:pt x="1224" y="1167"/>
                  </a:lnTo>
                  <a:lnTo>
                    <a:pt x="1264" y="1119"/>
                  </a:lnTo>
                  <a:lnTo>
                    <a:pt x="1269" y="1108"/>
                  </a:lnTo>
                  <a:lnTo>
                    <a:pt x="1262" y="1087"/>
                  </a:lnTo>
                  <a:lnTo>
                    <a:pt x="1237" y="1036"/>
                  </a:lnTo>
                  <a:lnTo>
                    <a:pt x="1229" y="1020"/>
                  </a:lnTo>
                  <a:lnTo>
                    <a:pt x="1220" y="989"/>
                  </a:lnTo>
                  <a:lnTo>
                    <a:pt x="1217" y="959"/>
                  </a:lnTo>
                  <a:lnTo>
                    <a:pt x="1222" y="932"/>
                  </a:lnTo>
                  <a:lnTo>
                    <a:pt x="1232" y="908"/>
                  </a:lnTo>
                  <a:lnTo>
                    <a:pt x="1250" y="887"/>
                  </a:lnTo>
                  <a:lnTo>
                    <a:pt x="1274" y="868"/>
                  </a:lnTo>
                  <a:lnTo>
                    <a:pt x="1304" y="853"/>
                  </a:lnTo>
                  <a:lnTo>
                    <a:pt x="1322" y="846"/>
                  </a:lnTo>
                  <a:lnTo>
                    <a:pt x="1394" y="821"/>
                  </a:lnTo>
                  <a:lnTo>
                    <a:pt x="1399" y="705"/>
                  </a:lnTo>
                  <a:lnTo>
                    <a:pt x="1404" y="586"/>
                  </a:lnTo>
                  <a:lnTo>
                    <a:pt x="1332" y="563"/>
                  </a:lnTo>
                  <a:lnTo>
                    <a:pt x="1314" y="556"/>
                  </a:lnTo>
                  <a:lnTo>
                    <a:pt x="1284" y="541"/>
                  </a:lnTo>
                  <a:lnTo>
                    <a:pt x="1258" y="522"/>
                  </a:lnTo>
                  <a:lnTo>
                    <a:pt x="1238" y="499"/>
                  </a:lnTo>
                  <a:lnTo>
                    <a:pt x="1230" y="486"/>
                  </a:lnTo>
                  <a:lnTo>
                    <a:pt x="1220" y="469"/>
                  </a:lnTo>
                  <a:lnTo>
                    <a:pt x="1209" y="444"/>
                  </a:lnTo>
                  <a:lnTo>
                    <a:pt x="1210" y="421"/>
                  </a:lnTo>
                  <a:lnTo>
                    <a:pt x="1223" y="390"/>
                  </a:lnTo>
                  <a:lnTo>
                    <a:pt x="1235" y="368"/>
                  </a:lnTo>
                  <a:lnTo>
                    <a:pt x="1269" y="300"/>
                  </a:lnTo>
                  <a:lnTo>
                    <a:pt x="1234" y="251"/>
                  </a:lnTo>
                  <a:lnTo>
                    <a:pt x="1217" y="230"/>
                  </a:lnTo>
                  <a:lnTo>
                    <a:pt x="1172" y="185"/>
                  </a:lnTo>
                  <a:lnTo>
                    <a:pt x="1152" y="168"/>
                  </a:lnTo>
                  <a:lnTo>
                    <a:pt x="1135" y="156"/>
                  </a:lnTo>
                  <a:lnTo>
                    <a:pt x="1112" y="143"/>
                  </a:lnTo>
                  <a:lnTo>
                    <a:pt x="1089" y="142"/>
                  </a:lnTo>
                  <a:lnTo>
                    <a:pt x="1057" y="155"/>
                  </a:lnTo>
                  <a:lnTo>
                    <a:pt x="1032" y="166"/>
                  </a:lnTo>
                  <a:lnTo>
                    <a:pt x="1008" y="177"/>
                  </a:lnTo>
                  <a:lnTo>
                    <a:pt x="976" y="188"/>
                  </a:lnTo>
                  <a:lnTo>
                    <a:pt x="952" y="189"/>
                  </a:lnTo>
                  <a:lnTo>
                    <a:pt x="928" y="179"/>
                  </a:lnTo>
                  <a:lnTo>
                    <a:pt x="912" y="170"/>
                  </a:lnTo>
                  <a:lnTo>
                    <a:pt x="900" y="162"/>
                  </a:lnTo>
                  <a:lnTo>
                    <a:pt x="879" y="143"/>
                  </a:lnTo>
                  <a:lnTo>
                    <a:pt x="861" y="117"/>
                  </a:lnTo>
                  <a:lnTo>
                    <a:pt x="845" y="87"/>
                  </a:lnTo>
                  <a:lnTo>
                    <a:pt x="839" y="70"/>
                  </a:lnTo>
                  <a:lnTo>
                    <a:pt x="815" y="0"/>
                  </a:lnTo>
                  <a:lnTo>
                    <a:pt x="702" y="0"/>
                  </a:lnTo>
                  <a:lnTo>
                    <a:pt x="656" y="0"/>
                  </a:lnTo>
                  <a:lnTo>
                    <a:pt x="589" y="7"/>
                  </a:lnTo>
                  <a:lnTo>
                    <a:pt x="580" y="11"/>
                  </a:lnTo>
                  <a:close/>
                  <a:moveTo>
                    <a:pt x="835" y="385"/>
                  </a:moveTo>
                  <a:lnTo>
                    <a:pt x="869" y="400"/>
                  </a:lnTo>
                  <a:lnTo>
                    <a:pt x="920" y="430"/>
                  </a:lnTo>
                  <a:lnTo>
                    <a:pt x="958" y="465"/>
                  </a:lnTo>
                  <a:lnTo>
                    <a:pt x="989" y="508"/>
                  </a:lnTo>
                  <a:lnTo>
                    <a:pt x="1004" y="536"/>
                  </a:lnTo>
                  <a:lnTo>
                    <a:pt x="1015" y="560"/>
                  </a:lnTo>
                  <a:lnTo>
                    <a:pt x="1033" y="609"/>
                  </a:lnTo>
                  <a:lnTo>
                    <a:pt x="1043" y="657"/>
                  </a:lnTo>
                  <a:lnTo>
                    <a:pt x="1047" y="704"/>
                  </a:lnTo>
                  <a:lnTo>
                    <a:pt x="1044" y="751"/>
                  </a:lnTo>
                  <a:lnTo>
                    <a:pt x="1036" y="795"/>
                  </a:lnTo>
                  <a:lnTo>
                    <a:pt x="1021" y="838"/>
                  </a:lnTo>
                  <a:lnTo>
                    <a:pt x="1002" y="878"/>
                  </a:lnTo>
                  <a:lnTo>
                    <a:pt x="977" y="914"/>
                  </a:lnTo>
                  <a:lnTo>
                    <a:pt x="947" y="948"/>
                  </a:lnTo>
                  <a:lnTo>
                    <a:pt x="913" y="977"/>
                  </a:lnTo>
                  <a:lnTo>
                    <a:pt x="875" y="1002"/>
                  </a:lnTo>
                  <a:lnTo>
                    <a:pt x="833" y="1022"/>
                  </a:lnTo>
                  <a:lnTo>
                    <a:pt x="787" y="1037"/>
                  </a:lnTo>
                  <a:lnTo>
                    <a:pt x="739" y="1046"/>
                  </a:lnTo>
                  <a:lnTo>
                    <a:pt x="687" y="1048"/>
                  </a:lnTo>
                  <a:lnTo>
                    <a:pt x="660" y="1046"/>
                  </a:lnTo>
                  <a:lnTo>
                    <a:pt x="627" y="1043"/>
                  </a:lnTo>
                  <a:lnTo>
                    <a:pt x="565" y="1025"/>
                  </a:lnTo>
                  <a:lnTo>
                    <a:pt x="510" y="997"/>
                  </a:lnTo>
                  <a:lnTo>
                    <a:pt x="461" y="960"/>
                  </a:lnTo>
                  <a:lnTo>
                    <a:pt x="419" y="915"/>
                  </a:lnTo>
                  <a:lnTo>
                    <a:pt x="387" y="862"/>
                  </a:lnTo>
                  <a:lnTo>
                    <a:pt x="365" y="803"/>
                  </a:lnTo>
                  <a:lnTo>
                    <a:pt x="353" y="738"/>
                  </a:lnTo>
                  <a:lnTo>
                    <a:pt x="352" y="705"/>
                  </a:lnTo>
                  <a:lnTo>
                    <a:pt x="352" y="681"/>
                  </a:lnTo>
                  <a:lnTo>
                    <a:pt x="358" y="635"/>
                  </a:lnTo>
                  <a:lnTo>
                    <a:pt x="369" y="592"/>
                  </a:lnTo>
                  <a:lnTo>
                    <a:pt x="385" y="552"/>
                  </a:lnTo>
                  <a:lnTo>
                    <a:pt x="406" y="514"/>
                  </a:lnTo>
                  <a:lnTo>
                    <a:pt x="431" y="480"/>
                  </a:lnTo>
                  <a:lnTo>
                    <a:pt x="459" y="449"/>
                  </a:lnTo>
                  <a:lnTo>
                    <a:pt x="491" y="422"/>
                  </a:lnTo>
                  <a:lnTo>
                    <a:pt x="526" y="399"/>
                  </a:lnTo>
                  <a:lnTo>
                    <a:pt x="563" y="381"/>
                  </a:lnTo>
                  <a:lnTo>
                    <a:pt x="602" y="367"/>
                  </a:lnTo>
                  <a:lnTo>
                    <a:pt x="643" y="358"/>
                  </a:lnTo>
                  <a:lnTo>
                    <a:pt x="685" y="354"/>
                  </a:lnTo>
                  <a:lnTo>
                    <a:pt x="727" y="355"/>
                  </a:lnTo>
                  <a:lnTo>
                    <a:pt x="771" y="362"/>
                  </a:lnTo>
                  <a:lnTo>
                    <a:pt x="814" y="376"/>
                  </a:lnTo>
                  <a:lnTo>
                    <a:pt x="835"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766">
              <a:extLst>
                <a:ext uri="{FF2B5EF4-FFF2-40B4-BE49-F238E27FC236}">
                  <a16:creationId xmlns:a16="http://schemas.microsoft.com/office/drawing/2014/main" id="{272527C8-A97C-076B-3D2C-D030D6F74D0D}"/>
                </a:ext>
              </a:extLst>
            </p:cNvPr>
            <p:cNvSpPr>
              <a:spLocks/>
            </p:cNvSpPr>
            <p:nvPr/>
          </p:nvSpPr>
          <p:spPr bwMode="auto">
            <a:xfrm>
              <a:off x="1539875" y="3935413"/>
              <a:ext cx="223838" cy="222250"/>
            </a:xfrm>
            <a:custGeom>
              <a:avLst/>
              <a:gdLst>
                <a:gd name="T0" fmla="*/ 150 w 400"/>
                <a:gd name="T1" fmla="*/ 75 h 400"/>
                <a:gd name="T2" fmla="*/ 150 w 400"/>
                <a:gd name="T3" fmla="*/ 150 h 400"/>
                <a:gd name="T4" fmla="*/ 75 w 400"/>
                <a:gd name="T5" fmla="*/ 150 h 400"/>
                <a:gd name="T6" fmla="*/ 50 w 400"/>
                <a:gd name="T7" fmla="*/ 150 h 400"/>
                <a:gd name="T8" fmla="*/ 19 w 400"/>
                <a:gd name="T9" fmla="*/ 152 h 400"/>
                <a:gd name="T10" fmla="*/ 4 w 400"/>
                <a:gd name="T11" fmla="*/ 162 h 400"/>
                <a:gd name="T12" fmla="*/ 0 w 400"/>
                <a:gd name="T13" fmla="*/ 183 h 400"/>
                <a:gd name="T14" fmla="*/ 0 w 400"/>
                <a:gd name="T15" fmla="*/ 200 h 400"/>
                <a:gd name="T16" fmla="*/ 0 w 400"/>
                <a:gd name="T17" fmla="*/ 216 h 400"/>
                <a:gd name="T18" fmla="*/ 4 w 400"/>
                <a:gd name="T19" fmla="*/ 237 h 400"/>
                <a:gd name="T20" fmla="*/ 19 w 400"/>
                <a:gd name="T21" fmla="*/ 247 h 400"/>
                <a:gd name="T22" fmla="*/ 50 w 400"/>
                <a:gd name="T23" fmla="*/ 250 h 400"/>
                <a:gd name="T24" fmla="*/ 75 w 400"/>
                <a:gd name="T25" fmla="*/ 250 h 400"/>
                <a:gd name="T26" fmla="*/ 150 w 400"/>
                <a:gd name="T27" fmla="*/ 250 h 400"/>
                <a:gd name="T28" fmla="*/ 150 w 400"/>
                <a:gd name="T29" fmla="*/ 325 h 400"/>
                <a:gd name="T30" fmla="*/ 150 w 400"/>
                <a:gd name="T31" fmla="*/ 349 h 400"/>
                <a:gd name="T32" fmla="*/ 153 w 400"/>
                <a:gd name="T33" fmla="*/ 381 h 400"/>
                <a:gd name="T34" fmla="*/ 162 w 400"/>
                <a:gd name="T35" fmla="*/ 395 h 400"/>
                <a:gd name="T36" fmla="*/ 183 w 400"/>
                <a:gd name="T37" fmla="*/ 400 h 400"/>
                <a:gd name="T38" fmla="*/ 200 w 400"/>
                <a:gd name="T39" fmla="*/ 400 h 400"/>
                <a:gd name="T40" fmla="*/ 217 w 400"/>
                <a:gd name="T41" fmla="*/ 400 h 400"/>
                <a:gd name="T42" fmla="*/ 238 w 400"/>
                <a:gd name="T43" fmla="*/ 395 h 400"/>
                <a:gd name="T44" fmla="*/ 247 w 400"/>
                <a:gd name="T45" fmla="*/ 381 h 400"/>
                <a:gd name="T46" fmla="*/ 250 w 400"/>
                <a:gd name="T47" fmla="*/ 349 h 400"/>
                <a:gd name="T48" fmla="*/ 250 w 400"/>
                <a:gd name="T49" fmla="*/ 325 h 400"/>
                <a:gd name="T50" fmla="*/ 250 w 400"/>
                <a:gd name="T51" fmla="*/ 250 h 400"/>
                <a:gd name="T52" fmla="*/ 325 w 400"/>
                <a:gd name="T53" fmla="*/ 250 h 400"/>
                <a:gd name="T54" fmla="*/ 350 w 400"/>
                <a:gd name="T55" fmla="*/ 250 h 400"/>
                <a:gd name="T56" fmla="*/ 381 w 400"/>
                <a:gd name="T57" fmla="*/ 247 h 400"/>
                <a:gd name="T58" fmla="*/ 396 w 400"/>
                <a:gd name="T59" fmla="*/ 237 h 400"/>
                <a:gd name="T60" fmla="*/ 400 w 400"/>
                <a:gd name="T61" fmla="*/ 216 h 400"/>
                <a:gd name="T62" fmla="*/ 400 w 400"/>
                <a:gd name="T63" fmla="*/ 200 h 400"/>
                <a:gd name="T64" fmla="*/ 400 w 400"/>
                <a:gd name="T65" fmla="*/ 183 h 400"/>
                <a:gd name="T66" fmla="*/ 396 w 400"/>
                <a:gd name="T67" fmla="*/ 162 h 400"/>
                <a:gd name="T68" fmla="*/ 381 w 400"/>
                <a:gd name="T69" fmla="*/ 152 h 400"/>
                <a:gd name="T70" fmla="*/ 350 w 400"/>
                <a:gd name="T71" fmla="*/ 150 h 400"/>
                <a:gd name="T72" fmla="*/ 325 w 400"/>
                <a:gd name="T73" fmla="*/ 150 h 400"/>
                <a:gd name="T74" fmla="*/ 250 w 400"/>
                <a:gd name="T75" fmla="*/ 150 h 400"/>
                <a:gd name="T76" fmla="*/ 250 w 400"/>
                <a:gd name="T77" fmla="*/ 75 h 400"/>
                <a:gd name="T78" fmla="*/ 250 w 400"/>
                <a:gd name="T79" fmla="*/ 50 h 400"/>
                <a:gd name="T80" fmla="*/ 247 w 400"/>
                <a:gd name="T81" fmla="*/ 19 h 400"/>
                <a:gd name="T82" fmla="*/ 238 w 400"/>
                <a:gd name="T83" fmla="*/ 4 h 400"/>
                <a:gd name="T84" fmla="*/ 217 w 400"/>
                <a:gd name="T85" fmla="*/ 0 h 400"/>
                <a:gd name="T86" fmla="*/ 200 w 400"/>
                <a:gd name="T87" fmla="*/ 0 h 400"/>
                <a:gd name="T88" fmla="*/ 183 w 400"/>
                <a:gd name="T89" fmla="*/ 0 h 400"/>
                <a:gd name="T90" fmla="*/ 162 w 400"/>
                <a:gd name="T91" fmla="*/ 4 h 400"/>
                <a:gd name="T92" fmla="*/ 153 w 400"/>
                <a:gd name="T93" fmla="*/ 19 h 400"/>
                <a:gd name="T94" fmla="*/ 150 w 400"/>
                <a:gd name="T95" fmla="*/ 50 h 400"/>
                <a:gd name="T96" fmla="*/ 150 w 400"/>
                <a:gd name="T97" fmla="*/ 75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00" h="400">
                  <a:moveTo>
                    <a:pt x="150" y="75"/>
                  </a:moveTo>
                  <a:lnTo>
                    <a:pt x="150" y="150"/>
                  </a:lnTo>
                  <a:lnTo>
                    <a:pt x="75" y="150"/>
                  </a:lnTo>
                  <a:lnTo>
                    <a:pt x="50" y="150"/>
                  </a:lnTo>
                  <a:lnTo>
                    <a:pt x="19" y="152"/>
                  </a:lnTo>
                  <a:lnTo>
                    <a:pt x="4" y="162"/>
                  </a:lnTo>
                  <a:lnTo>
                    <a:pt x="0" y="183"/>
                  </a:lnTo>
                  <a:lnTo>
                    <a:pt x="0" y="200"/>
                  </a:lnTo>
                  <a:lnTo>
                    <a:pt x="0" y="216"/>
                  </a:lnTo>
                  <a:lnTo>
                    <a:pt x="4" y="237"/>
                  </a:lnTo>
                  <a:lnTo>
                    <a:pt x="19" y="247"/>
                  </a:lnTo>
                  <a:lnTo>
                    <a:pt x="50" y="250"/>
                  </a:lnTo>
                  <a:lnTo>
                    <a:pt x="75" y="250"/>
                  </a:lnTo>
                  <a:lnTo>
                    <a:pt x="150" y="250"/>
                  </a:lnTo>
                  <a:lnTo>
                    <a:pt x="150" y="325"/>
                  </a:lnTo>
                  <a:lnTo>
                    <a:pt x="150" y="349"/>
                  </a:lnTo>
                  <a:lnTo>
                    <a:pt x="153" y="381"/>
                  </a:lnTo>
                  <a:lnTo>
                    <a:pt x="162" y="395"/>
                  </a:lnTo>
                  <a:lnTo>
                    <a:pt x="183" y="400"/>
                  </a:lnTo>
                  <a:lnTo>
                    <a:pt x="200" y="400"/>
                  </a:lnTo>
                  <a:lnTo>
                    <a:pt x="217" y="400"/>
                  </a:lnTo>
                  <a:lnTo>
                    <a:pt x="238" y="395"/>
                  </a:lnTo>
                  <a:lnTo>
                    <a:pt x="247" y="381"/>
                  </a:lnTo>
                  <a:lnTo>
                    <a:pt x="250" y="349"/>
                  </a:lnTo>
                  <a:lnTo>
                    <a:pt x="250" y="325"/>
                  </a:lnTo>
                  <a:lnTo>
                    <a:pt x="250" y="250"/>
                  </a:lnTo>
                  <a:lnTo>
                    <a:pt x="325" y="250"/>
                  </a:lnTo>
                  <a:lnTo>
                    <a:pt x="350" y="250"/>
                  </a:lnTo>
                  <a:lnTo>
                    <a:pt x="381" y="247"/>
                  </a:lnTo>
                  <a:lnTo>
                    <a:pt x="396" y="237"/>
                  </a:lnTo>
                  <a:lnTo>
                    <a:pt x="400" y="216"/>
                  </a:lnTo>
                  <a:lnTo>
                    <a:pt x="400" y="200"/>
                  </a:lnTo>
                  <a:lnTo>
                    <a:pt x="400" y="183"/>
                  </a:lnTo>
                  <a:lnTo>
                    <a:pt x="396" y="162"/>
                  </a:lnTo>
                  <a:lnTo>
                    <a:pt x="381" y="152"/>
                  </a:lnTo>
                  <a:lnTo>
                    <a:pt x="350" y="150"/>
                  </a:lnTo>
                  <a:lnTo>
                    <a:pt x="325" y="150"/>
                  </a:lnTo>
                  <a:lnTo>
                    <a:pt x="250" y="150"/>
                  </a:lnTo>
                  <a:lnTo>
                    <a:pt x="250" y="75"/>
                  </a:lnTo>
                  <a:lnTo>
                    <a:pt x="250" y="50"/>
                  </a:lnTo>
                  <a:lnTo>
                    <a:pt x="247" y="19"/>
                  </a:lnTo>
                  <a:lnTo>
                    <a:pt x="238" y="4"/>
                  </a:lnTo>
                  <a:lnTo>
                    <a:pt x="217" y="0"/>
                  </a:lnTo>
                  <a:lnTo>
                    <a:pt x="200" y="0"/>
                  </a:lnTo>
                  <a:lnTo>
                    <a:pt x="183" y="0"/>
                  </a:lnTo>
                  <a:lnTo>
                    <a:pt x="162" y="4"/>
                  </a:lnTo>
                  <a:lnTo>
                    <a:pt x="153" y="19"/>
                  </a:lnTo>
                  <a:lnTo>
                    <a:pt x="150" y="50"/>
                  </a:lnTo>
                  <a:lnTo>
                    <a:pt x="150"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770">
              <a:extLst>
                <a:ext uri="{FF2B5EF4-FFF2-40B4-BE49-F238E27FC236}">
                  <a16:creationId xmlns:a16="http://schemas.microsoft.com/office/drawing/2014/main" id="{8584A8B7-4566-4E4C-1323-2478CAAF0B83}"/>
                </a:ext>
              </a:extLst>
            </p:cNvPr>
            <p:cNvSpPr>
              <a:spLocks/>
            </p:cNvSpPr>
            <p:nvPr/>
          </p:nvSpPr>
          <p:spPr bwMode="auto">
            <a:xfrm>
              <a:off x="784225" y="3822701"/>
              <a:ext cx="269875" cy="474663"/>
            </a:xfrm>
            <a:custGeom>
              <a:avLst/>
              <a:gdLst>
                <a:gd name="T0" fmla="*/ 197 w 482"/>
                <a:gd name="T1" fmla="*/ 28 h 850"/>
                <a:gd name="T2" fmla="*/ 157 w 482"/>
                <a:gd name="T3" fmla="*/ 82 h 850"/>
                <a:gd name="T4" fmla="*/ 21 w 482"/>
                <a:gd name="T5" fmla="*/ 284 h 850"/>
                <a:gd name="T6" fmla="*/ 0 w 482"/>
                <a:gd name="T7" fmla="*/ 321 h 850"/>
                <a:gd name="T8" fmla="*/ 2 w 482"/>
                <a:gd name="T9" fmla="*/ 326 h 850"/>
                <a:gd name="T10" fmla="*/ 24 w 482"/>
                <a:gd name="T11" fmla="*/ 344 h 850"/>
                <a:gd name="T12" fmla="*/ 40 w 482"/>
                <a:gd name="T13" fmla="*/ 355 h 850"/>
                <a:gd name="T14" fmla="*/ 54 w 482"/>
                <a:gd name="T15" fmla="*/ 364 h 850"/>
                <a:gd name="T16" fmla="*/ 73 w 482"/>
                <a:gd name="T17" fmla="*/ 371 h 850"/>
                <a:gd name="T18" fmla="*/ 91 w 482"/>
                <a:gd name="T19" fmla="*/ 361 h 850"/>
                <a:gd name="T20" fmla="*/ 114 w 482"/>
                <a:gd name="T21" fmla="*/ 329 h 850"/>
                <a:gd name="T22" fmla="*/ 132 w 482"/>
                <a:gd name="T23" fmla="*/ 303 h 850"/>
                <a:gd name="T24" fmla="*/ 183 w 482"/>
                <a:gd name="T25" fmla="*/ 225 h 850"/>
                <a:gd name="T26" fmla="*/ 183 w 482"/>
                <a:gd name="T27" fmla="*/ 536 h 850"/>
                <a:gd name="T28" fmla="*/ 183 w 482"/>
                <a:gd name="T29" fmla="*/ 850 h 850"/>
                <a:gd name="T30" fmla="*/ 233 w 482"/>
                <a:gd name="T31" fmla="*/ 850 h 850"/>
                <a:gd name="T32" fmla="*/ 283 w 482"/>
                <a:gd name="T33" fmla="*/ 850 h 850"/>
                <a:gd name="T34" fmla="*/ 285 w 482"/>
                <a:gd name="T35" fmla="*/ 536 h 850"/>
                <a:gd name="T36" fmla="*/ 285 w 482"/>
                <a:gd name="T37" fmla="*/ 225 h 850"/>
                <a:gd name="T38" fmla="*/ 322 w 482"/>
                <a:gd name="T39" fmla="*/ 273 h 850"/>
                <a:gd name="T40" fmla="*/ 352 w 482"/>
                <a:gd name="T41" fmla="*/ 313 h 850"/>
                <a:gd name="T42" fmla="*/ 389 w 482"/>
                <a:gd name="T43" fmla="*/ 359 h 850"/>
                <a:gd name="T44" fmla="*/ 406 w 482"/>
                <a:gd name="T45" fmla="*/ 371 h 850"/>
                <a:gd name="T46" fmla="*/ 416 w 482"/>
                <a:gd name="T47" fmla="*/ 372 h 850"/>
                <a:gd name="T48" fmla="*/ 431 w 482"/>
                <a:gd name="T49" fmla="*/ 363 h 850"/>
                <a:gd name="T50" fmla="*/ 445 w 482"/>
                <a:gd name="T51" fmla="*/ 351 h 850"/>
                <a:gd name="T52" fmla="*/ 482 w 482"/>
                <a:gd name="T53" fmla="*/ 321 h 850"/>
                <a:gd name="T54" fmla="*/ 373 w 482"/>
                <a:gd name="T55" fmla="*/ 160 h 850"/>
                <a:gd name="T56" fmla="*/ 330 w 482"/>
                <a:gd name="T57" fmla="*/ 95 h 850"/>
                <a:gd name="T58" fmla="*/ 275 w 482"/>
                <a:gd name="T59" fmla="*/ 26 h 850"/>
                <a:gd name="T60" fmla="*/ 250 w 482"/>
                <a:gd name="T61" fmla="*/ 2 h 850"/>
                <a:gd name="T62" fmla="*/ 243 w 482"/>
                <a:gd name="T63" fmla="*/ 0 h 850"/>
                <a:gd name="T64" fmla="*/ 233 w 482"/>
                <a:gd name="T65" fmla="*/ 1 h 850"/>
                <a:gd name="T66" fmla="*/ 208 w 482"/>
                <a:gd name="T67" fmla="*/ 17 h 850"/>
                <a:gd name="T68" fmla="*/ 197 w 482"/>
                <a:gd name="T69" fmla="*/ 28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82" h="850">
                  <a:moveTo>
                    <a:pt x="197" y="28"/>
                  </a:moveTo>
                  <a:lnTo>
                    <a:pt x="157" y="82"/>
                  </a:lnTo>
                  <a:lnTo>
                    <a:pt x="21" y="284"/>
                  </a:lnTo>
                  <a:lnTo>
                    <a:pt x="0" y="321"/>
                  </a:lnTo>
                  <a:lnTo>
                    <a:pt x="2" y="326"/>
                  </a:lnTo>
                  <a:lnTo>
                    <a:pt x="24" y="344"/>
                  </a:lnTo>
                  <a:lnTo>
                    <a:pt x="40" y="355"/>
                  </a:lnTo>
                  <a:lnTo>
                    <a:pt x="54" y="364"/>
                  </a:lnTo>
                  <a:lnTo>
                    <a:pt x="73" y="371"/>
                  </a:lnTo>
                  <a:lnTo>
                    <a:pt x="91" y="361"/>
                  </a:lnTo>
                  <a:lnTo>
                    <a:pt x="114" y="329"/>
                  </a:lnTo>
                  <a:lnTo>
                    <a:pt x="132" y="303"/>
                  </a:lnTo>
                  <a:lnTo>
                    <a:pt x="183" y="225"/>
                  </a:lnTo>
                  <a:lnTo>
                    <a:pt x="183" y="536"/>
                  </a:lnTo>
                  <a:lnTo>
                    <a:pt x="183" y="850"/>
                  </a:lnTo>
                  <a:lnTo>
                    <a:pt x="233" y="850"/>
                  </a:lnTo>
                  <a:lnTo>
                    <a:pt x="283" y="850"/>
                  </a:lnTo>
                  <a:lnTo>
                    <a:pt x="285" y="536"/>
                  </a:lnTo>
                  <a:lnTo>
                    <a:pt x="285" y="225"/>
                  </a:lnTo>
                  <a:lnTo>
                    <a:pt x="322" y="273"/>
                  </a:lnTo>
                  <a:lnTo>
                    <a:pt x="352" y="313"/>
                  </a:lnTo>
                  <a:lnTo>
                    <a:pt x="389" y="359"/>
                  </a:lnTo>
                  <a:lnTo>
                    <a:pt x="406" y="371"/>
                  </a:lnTo>
                  <a:lnTo>
                    <a:pt x="416" y="372"/>
                  </a:lnTo>
                  <a:lnTo>
                    <a:pt x="431" y="363"/>
                  </a:lnTo>
                  <a:lnTo>
                    <a:pt x="445" y="351"/>
                  </a:lnTo>
                  <a:lnTo>
                    <a:pt x="482" y="321"/>
                  </a:lnTo>
                  <a:lnTo>
                    <a:pt x="373" y="160"/>
                  </a:lnTo>
                  <a:lnTo>
                    <a:pt x="330" y="95"/>
                  </a:lnTo>
                  <a:lnTo>
                    <a:pt x="275" y="26"/>
                  </a:lnTo>
                  <a:lnTo>
                    <a:pt x="250" y="2"/>
                  </a:lnTo>
                  <a:lnTo>
                    <a:pt x="243" y="0"/>
                  </a:lnTo>
                  <a:lnTo>
                    <a:pt x="233" y="1"/>
                  </a:lnTo>
                  <a:lnTo>
                    <a:pt x="208" y="17"/>
                  </a:lnTo>
                  <a:lnTo>
                    <a:pt x="197"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777">
              <a:extLst>
                <a:ext uri="{FF2B5EF4-FFF2-40B4-BE49-F238E27FC236}">
                  <a16:creationId xmlns:a16="http://schemas.microsoft.com/office/drawing/2014/main" id="{29CE3504-6AF2-4755-E7C3-72B16C6CF78B}"/>
                </a:ext>
              </a:extLst>
            </p:cNvPr>
            <p:cNvSpPr>
              <a:spLocks/>
            </p:cNvSpPr>
            <p:nvPr/>
          </p:nvSpPr>
          <p:spPr bwMode="auto">
            <a:xfrm>
              <a:off x="466725" y="4354513"/>
              <a:ext cx="55563" cy="55563"/>
            </a:xfrm>
            <a:custGeom>
              <a:avLst/>
              <a:gdLst>
                <a:gd name="T0" fmla="*/ 0 w 100"/>
                <a:gd name="T1" fmla="*/ 50 h 100"/>
                <a:gd name="T2" fmla="*/ 0 w 100"/>
                <a:gd name="T3" fmla="*/ 65 h 100"/>
                <a:gd name="T4" fmla="*/ 4 w 100"/>
                <a:gd name="T5" fmla="*/ 86 h 100"/>
                <a:gd name="T6" fmla="*/ 14 w 100"/>
                <a:gd name="T7" fmla="*/ 96 h 100"/>
                <a:gd name="T8" fmla="*/ 35 w 100"/>
                <a:gd name="T9" fmla="*/ 100 h 100"/>
                <a:gd name="T10" fmla="*/ 50 w 100"/>
                <a:gd name="T11" fmla="*/ 100 h 100"/>
                <a:gd name="T12" fmla="*/ 66 w 100"/>
                <a:gd name="T13" fmla="*/ 100 h 100"/>
                <a:gd name="T14" fmla="*/ 86 w 100"/>
                <a:gd name="T15" fmla="*/ 96 h 100"/>
                <a:gd name="T16" fmla="*/ 97 w 100"/>
                <a:gd name="T17" fmla="*/ 86 h 100"/>
                <a:gd name="T18" fmla="*/ 100 w 100"/>
                <a:gd name="T19" fmla="*/ 65 h 100"/>
                <a:gd name="T20" fmla="*/ 100 w 100"/>
                <a:gd name="T21" fmla="*/ 50 h 100"/>
                <a:gd name="T22" fmla="*/ 100 w 100"/>
                <a:gd name="T23" fmla="*/ 34 h 100"/>
                <a:gd name="T24" fmla="*/ 97 w 100"/>
                <a:gd name="T25" fmla="*/ 14 h 100"/>
                <a:gd name="T26" fmla="*/ 86 w 100"/>
                <a:gd name="T27" fmla="*/ 3 h 100"/>
                <a:gd name="T28" fmla="*/ 66 w 100"/>
                <a:gd name="T29" fmla="*/ 0 h 100"/>
                <a:gd name="T30" fmla="*/ 50 w 100"/>
                <a:gd name="T31" fmla="*/ 0 h 100"/>
                <a:gd name="T32" fmla="*/ 35 w 100"/>
                <a:gd name="T33" fmla="*/ 0 h 100"/>
                <a:gd name="T34" fmla="*/ 14 w 100"/>
                <a:gd name="T35" fmla="*/ 3 h 100"/>
                <a:gd name="T36" fmla="*/ 4 w 100"/>
                <a:gd name="T37" fmla="*/ 14 h 100"/>
                <a:gd name="T38" fmla="*/ 0 w 100"/>
                <a:gd name="T39" fmla="*/ 34 h 100"/>
                <a:gd name="T40" fmla="*/ 0 w 100"/>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0" h="100">
                  <a:moveTo>
                    <a:pt x="0" y="50"/>
                  </a:moveTo>
                  <a:lnTo>
                    <a:pt x="0" y="65"/>
                  </a:lnTo>
                  <a:lnTo>
                    <a:pt x="4" y="86"/>
                  </a:lnTo>
                  <a:lnTo>
                    <a:pt x="14" y="96"/>
                  </a:lnTo>
                  <a:lnTo>
                    <a:pt x="35" y="100"/>
                  </a:lnTo>
                  <a:lnTo>
                    <a:pt x="50" y="100"/>
                  </a:lnTo>
                  <a:lnTo>
                    <a:pt x="66" y="100"/>
                  </a:lnTo>
                  <a:lnTo>
                    <a:pt x="86" y="96"/>
                  </a:lnTo>
                  <a:lnTo>
                    <a:pt x="97" y="86"/>
                  </a:lnTo>
                  <a:lnTo>
                    <a:pt x="100" y="65"/>
                  </a:lnTo>
                  <a:lnTo>
                    <a:pt x="100" y="50"/>
                  </a:lnTo>
                  <a:lnTo>
                    <a:pt x="100" y="34"/>
                  </a:lnTo>
                  <a:lnTo>
                    <a:pt x="97" y="14"/>
                  </a:lnTo>
                  <a:lnTo>
                    <a:pt x="86" y="3"/>
                  </a:lnTo>
                  <a:lnTo>
                    <a:pt x="66" y="0"/>
                  </a:lnTo>
                  <a:lnTo>
                    <a:pt x="50" y="0"/>
                  </a:lnTo>
                  <a:lnTo>
                    <a:pt x="35" y="0"/>
                  </a:lnTo>
                  <a:lnTo>
                    <a:pt x="14" y="3"/>
                  </a:lnTo>
                  <a:lnTo>
                    <a:pt x="4" y="14"/>
                  </a:lnTo>
                  <a:lnTo>
                    <a:pt x="0" y="34"/>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778">
              <a:extLst>
                <a:ext uri="{FF2B5EF4-FFF2-40B4-BE49-F238E27FC236}">
                  <a16:creationId xmlns:a16="http://schemas.microsoft.com/office/drawing/2014/main" id="{222FFCA9-A9EF-99BE-0A6C-DC4C69602E55}"/>
                </a:ext>
              </a:extLst>
            </p:cNvPr>
            <p:cNvSpPr>
              <a:spLocks/>
            </p:cNvSpPr>
            <p:nvPr/>
          </p:nvSpPr>
          <p:spPr bwMode="auto">
            <a:xfrm>
              <a:off x="885825" y="4354513"/>
              <a:ext cx="55563" cy="55563"/>
            </a:xfrm>
            <a:custGeom>
              <a:avLst/>
              <a:gdLst>
                <a:gd name="T0" fmla="*/ 12 w 100"/>
                <a:gd name="T1" fmla="*/ 11 h 100"/>
                <a:gd name="T2" fmla="*/ 7 w 100"/>
                <a:gd name="T3" fmla="*/ 17 h 100"/>
                <a:gd name="T4" fmla="*/ 1 w 100"/>
                <a:gd name="T5" fmla="*/ 45 h 100"/>
                <a:gd name="T6" fmla="*/ 0 w 100"/>
                <a:gd name="T7" fmla="*/ 61 h 100"/>
                <a:gd name="T8" fmla="*/ 1 w 100"/>
                <a:gd name="T9" fmla="*/ 72 h 100"/>
                <a:gd name="T10" fmla="*/ 5 w 100"/>
                <a:gd name="T11" fmla="*/ 88 h 100"/>
                <a:gd name="T12" fmla="*/ 16 w 100"/>
                <a:gd name="T13" fmla="*/ 96 h 100"/>
                <a:gd name="T14" fmla="*/ 36 w 100"/>
                <a:gd name="T15" fmla="*/ 99 h 100"/>
                <a:gd name="T16" fmla="*/ 50 w 100"/>
                <a:gd name="T17" fmla="*/ 100 h 100"/>
                <a:gd name="T18" fmla="*/ 66 w 100"/>
                <a:gd name="T19" fmla="*/ 100 h 100"/>
                <a:gd name="T20" fmla="*/ 86 w 100"/>
                <a:gd name="T21" fmla="*/ 96 h 100"/>
                <a:gd name="T22" fmla="*/ 97 w 100"/>
                <a:gd name="T23" fmla="*/ 86 h 100"/>
                <a:gd name="T24" fmla="*/ 100 w 100"/>
                <a:gd name="T25" fmla="*/ 65 h 100"/>
                <a:gd name="T26" fmla="*/ 100 w 100"/>
                <a:gd name="T27" fmla="*/ 50 h 100"/>
                <a:gd name="T28" fmla="*/ 100 w 100"/>
                <a:gd name="T29" fmla="*/ 35 h 100"/>
                <a:gd name="T30" fmla="*/ 97 w 100"/>
                <a:gd name="T31" fmla="*/ 15 h 100"/>
                <a:gd name="T32" fmla="*/ 88 w 100"/>
                <a:gd name="T33" fmla="*/ 4 h 100"/>
                <a:gd name="T34" fmla="*/ 73 w 100"/>
                <a:gd name="T35" fmla="*/ 0 h 100"/>
                <a:gd name="T36" fmla="*/ 62 w 100"/>
                <a:gd name="T37" fmla="*/ 0 h 100"/>
                <a:gd name="T38" fmla="*/ 46 w 100"/>
                <a:gd name="T39" fmla="*/ 0 h 100"/>
                <a:gd name="T40" fmla="*/ 18 w 100"/>
                <a:gd name="T41" fmla="*/ 7 h 100"/>
                <a:gd name="T42" fmla="*/ 12 w 100"/>
                <a:gd name="T43" fmla="*/ 1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0" h="100">
                  <a:moveTo>
                    <a:pt x="12" y="11"/>
                  </a:moveTo>
                  <a:lnTo>
                    <a:pt x="7" y="17"/>
                  </a:lnTo>
                  <a:lnTo>
                    <a:pt x="1" y="45"/>
                  </a:lnTo>
                  <a:lnTo>
                    <a:pt x="0" y="61"/>
                  </a:lnTo>
                  <a:lnTo>
                    <a:pt x="1" y="72"/>
                  </a:lnTo>
                  <a:lnTo>
                    <a:pt x="5" y="88"/>
                  </a:lnTo>
                  <a:lnTo>
                    <a:pt x="16" y="96"/>
                  </a:lnTo>
                  <a:lnTo>
                    <a:pt x="36" y="99"/>
                  </a:lnTo>
                  <a:lnTo>
                    <a:pt x="50" y="100"/>
                  </a:lnTo>
                  <a:lnTo>
                    <a:pt x="66" y="100"/>
                  </a:lnTo>
                  <a:lnTo>
                    <a:pt x="86" y="96"/>
                  </a:lnTo>
                  <a:lnTo>
                    <a:pt x="97" y="86"/>
                  </a:lnTo>
                  <a:lnTo>
                    <a:pt x="100" y="65"/>
                  </a:lnTo>
                  <a:lnTo>
                    <a:pt x="100" y="50"/>
                  </a:lnTo>
                  <a:lnTo>
                    <a:pt x="100" y="35"/>
                  </a:lnTo>
                  <a:lnTo>
                    <a:pt x="97" y="15"/>
                  </a:lnTo>
                  <a:lnTo>
                    <a:pt x="88" y="4"/>
                  </a:lnTo>
                  <a:lnTo>
                    <a:pt x="73" y="0"/>
                  </a:lnTo>
                  <a:lnTo>
                    <a:pt x="62" y="0"/>
                  </a:lnTo>
                  <a:lnTo>
                    <a:pt x="46" y="0"/>
                  </a:lnTo>
                  <a:lnTo>
                    <a:pt x="18" y="7"/>
                  </a:lnTo>
                  <a:lnTo>
                    <a:pt x="12"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779">
              <a:extLst>
                <a:ext uri="{FF2B5EF4-FFF2-40B4-BE49-F238E27FC236}">
                  <a16:creationId xmlns:a16="http://schemas.microsoft.com/office/drawing/2014/main" id="{7F012BF4-EBD9-1A50-8955-F0B2F55FE7DB}"/>
                </a:ext>
              </a:extLst>
            </p:cNvPr>
            <p:cNvSpPr>
              <a:spLocks noEditPoints="1"/>
            </p:cNvSpPr>
            <p:nvPr/>
          </p:nvSpPr>
          <p:spPr bwMode="auto">
            <a:xfrm>
              <a:off x="354013" y="4548188"/>
              <a:ext cx="785813" cy="793750"/>
            </a:xfrm>
            <a:custGeom>
              <a:avLst/>
              <a:gdLst>
                <a:gd name="T0" fmla="*/ 551 w 1405"/>
                <a:gd name="T1" fmla="*/ 133 h 1420"/>
                <a:gd name="T2" fmla="*/ 501 w 1405"/>
                <a:gd name="T3" fmla="*/ 177 h 1420"/>
                <a:gd name="T4" fmla="*/ 431 w 1405"/>
                <a:gd name="T5" fmla="*/ 193 h 1420"/>
                <a:gd name="T6" fmla="*/ 285 w 1405"/>
                <a:gd name="T7" fmla="*/ 143 h 1420"/>
                <a:gd name="T8" fmla="*/ 163 w 1405"/>
                <a:gd name="T9" fmla="*/ 373 h 1420"/>
                <a:gd name="T10" fmla="*/ 187 w 1405"/>
                <a:gd name="T11" fmla="*/ 454 h 1420"/>
                <a:gd name="T12" fmla="*/ 159 w 1405"/>
                <a:gd name="T13" fmla="*/ 525 h 1420"/>
                <a:gd name="T14" fmla="*/ 85 w 1405"/>
                <a:gd name="T15" fmla="*/ 567 h 1420"/>
                <a:gd name="T16" fmla="*/ 0 w 1405"/>
                <a:gd name="T17" fmla="*/ 830 h 1420"/>
                <a:gd name="T18" fmla="*/ 131 w 1405"/>
                <a:gd name="T19" fmla="*/ 872 h 1420"/>
                <a:gd name="T20" fmla="*/ 176 w 1405"/>
                <a:gd name="T21" fmla="*/ 930 h 1420"/>
                <a:gd name="T22" fmla="*/ 190 w 1405"/>
                <a:gd name="T23" fmla="*/ 1002 h 1420"/>
                <a:gd name="T24" fmla="*/ 131 w 1405"/>
                <a:gd name="T25" fmla="*/ 1123 h 1420"/>
                <a:gd name="T26" fmla="*/ 363 w 1405"/>
                <a:gd name="T27" fmla="*/ 1253 h 1420"/>
                <a:gd name="T28" fmla="*/ 441 w 1405"/>
                <a:gd name="T29" fmla="*/ 1229 h 1420"/>
                <a:gd name="T30" fmla="*/ 497 w 1405"/>
                <a:gd name="T31" fmla="*/ 1246 h 1420"/>
                <a:gd name="T32" fmla="*/ 553 w 1405"/>
                <a:gd name="T33" fmla="*/ 1317 h 1420"/>
                <a:gd name="T34" fmla="*/ 706 w 1405"/>
                <a:gd name="T35" fmla="*/ 1415 h 1420"/>
                <a:gd name="T36" fmla="*/ 854 w 1405"/>
                <a:gd name="T37" fmla="*/ 1320 h 1420"/>
                <a:gd name="T38" fmla="*/ 910 w 1405"/>
                <a:gd name="T39" fmla="*/ 1249 h 1420"/>
                <a:gd name="T40" fmla="*/ 991 w 1405"/>
                <a:gd name="T41" fmla="*/ 1237 h 1420"/>
                <a:gd name="T42" fmla="*/ 1068 w 1405"/>
                <a:gd name="T43" fmla="*/ 1265 h 1420"/>
                <a:gd name="T44" fmla="*/ 1145 w 1405"/>
                <a:gd name="T45" fmla="*/ 1261 h 1420"/>
                <a:gd name="T46" fmla="*/ 1275 w 1405"/>
                <a:gd name="T47" fmla="*/ 1135 h 1420"/>
                <a:gd name="T48" fmla="*/ 1226 w 1405"/>
                <a:gd name="T49" fmla="*/ 991 h 1420"/>
                <a:gd name="T50" fmla="*/ 1240 w 1405"/>
                <a:gd name="T51" fmla="*/ 925 h 1420"/>
                <a:gd name="T52" fmla="*/ 1289 w 1405"/>
                <a:gd name="T53" fmla="*/ 876 h 1420"/>
                <a:gd name="T54" fmla="*/ 1405 w 1405"/>
                <a:gd name="T55" fmla="*/ 827 h 1420"/>
                <a:gd name="T56" fmla="*/ 1335 w 1405"/>
                <a:gd name="T57" fmla="*/ 572 h 1420"/>
                <a:gd name="T58" fmla="*/ 1264 w 1405"/>
                <a:gd name="T59" fmla="*/ 532 h 1420"/>
                <a:gd name="T60" fmla="*/ 1232 w 1405"/>
                <a:gd name="T61" fmla="*/ 478 h 1420"/>
                <a:gd name="T62" fmla="*/ 1238 w 1405"/>
                <a:gd name="T63" fmla="*/ 393 h 1420"/>
                <a:gd name="T64" fmla="*/ 1201 w 1405"/>
                <a:gd name="T65" fmla="*/ 218 h 1420"/>
                <a:gd name="T66" fmla="*/ 1030 w 1405"/>
                <a:gd name="T67" fmla="*/ 179 h 1420"/>
                <a:gd name="T68" fmla="*/ 945 w 1405"/>
                <a:gd name="T69" fmla="*/ 189 h 1420"/>
                <a:gd name="T70" fmla="*/ 888 w 1405"/>
                <a:gd name="T71" fmla="*/ 162 h 1420"/>
                <a:gd name="T72" fmla="*/ 848 w 1405"/>
                <a:gd name="T73" fmla="*/ 87 h 1420"/>
                <a:gd name="T74" fmla="*/ 600 w 1405"/>
                <a:gd name="T75" fmla="*/ 0 h 1420"/>
                <a:gd name="T76" fmla="*/ 887 w 1405"/>
                <a:gd name="T77" fmla="*/ 412 h 1420"/>
                <a:gd name="T78" fmla="*/ 991 w 1405"/>
                <a:gd name="T79" fmla="*/ 509 h 1420"/>
                <a:gd name="T80" fmla="*/ 1045 w 1405"/>
                <a:gd name="T81" fmla="*/ 640 h 1420"/>
                <a:gd name="T82" fmla="*/ 1050 w 1405"/>
                <a:gd name="T83" fmla="*/ 748 h 1420"/>
                <a:gd name="T84" fmla="*/ 993 w 1405"/>
                <a:gd name="T85" fmla="*/ 908 h 1420"/>
                <a:gd name="T86" fmla="*/ 866 w 1405"/>
                <a:gd name="T87" fmla="*/ 1021 h 1420"/>
                <a:gd name="T88" fmla="*/ 759 w 1405"/>
                <a:gd name="T89" fmla="*/ 1057 h 1420"/>
                <a:gd name="T90" fmla="*/ 624 w 1405"/>
                <a:gd name="T91" fmla="*/ 1051 h 1420"/>
                <a:gd name="T92" fmla="*/ 505 w 1405"/>
                <a:gd name="T93" fmla="*/ 996 h 1420"/>
                <a:gd name="T94" fmla="*/ 414 w 1405"/>
                <a:gd name="T95" fmla="*/ 902 h 1420"/>
                <a:gd name="T96" fmla="*/ 363 w 1405"/>
                <a:gd name="T97" fmla="*/ 781 h 1420"/>
                <a:gd name="T98" fmla="*/ 362 w 1405"/>
                <a:gd name="T99" fmla="*/ 645 h 1420"/>
                <a:gd name="T100" fmla="*/ 415 w 1405"/>
                <a:gd name="T101" fmla="*/ 524 h 1420"/>
                <a:gd name="T102" fmla="*/ 556 w 1405"/>
                <a:gd name="T103" fmla="*/ 395 h 1420"/>
                <a:gd name="T104" fmla="*/ 666 w 1405"/>
                <a:gd name="T105" fmla="*/ 369 h 1420"/>
                <a:gd name="T106" fmla="*/ 850 w 1405"/>
                <a:gd name="T107" fmla="*/ 393 h 1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05" h="1420">
                  <a:moveTo>
                    <a:pt x="576" y="58"/>
                  </a:moveTo>
                  <a:lnTo>
                    <a:pt x="557" y="108"/>
                  </a:lnTo>
                  <a:lnTo>
                    <a:pt x="551" y="133"/>
                  </a:lnTo>
                  <a:lnTo>
                    <a:pt x="548" y="142"/>
                  </a:lnTo>
                  <a:lnTo>
                    <a:pt x="521" y="166"/>
                  </a:lnTo>
                  <a:lnTo>
                    <a:pt x="501" y="177"/>
                  </a:lnTo>
                  <a:lnTo>
                    <a:pt x="485" y="185"/>
                  </a:lnTo>
                  <a:lnTo>
                    <a:pt x="458" y="193"/>
                  </a:lnTo>
                  <a:lnTo>
                    <a:pt x="431" y="193"/>
                  </a:lnTo>
                  <a:lnTo>
                    <a:pt x="394" y="182"/>
                  </a:lnTo>
                  <a:lnTo>
                    <a:pt x="368" y="173"/>
                  </a:lnTo>
                  <a:lnTo>
                    <a:pt x="285" y="143"/>
                  </a:lnTo>
                  <a:lnTo>
                    <a:pt x="206" y="222"/>
                  </a:lnTo>
                  <a:lnTo>
                    <a:pt x="128" y="300"/>
                  </a:lnTo>
                  <a:lnTo>
                    <a:pt x="163" y="373"/>
                  </a:lnTo>
                  <a:lnTo>
                    <a:pt x="172" y="391"/>
                  </a:lnTo>
                  <a:lnTo>
                    <a:pt x="183" y="425"/>
                  </a:lnTo>
                  <a:lnTo>
                    <a:pt x="187" y="454"/>
                  </a:lnTo>
                  <a:lnTo>
                    <a:pt x="185" y="481"/>
                  </a:lnTo>
                  <a:lnTo>
                    <a:pt x="175" y="504"/>
                  </a:lnTo>
                  <a:lnTo>
                    <a:pt x="159" y="525"/>
                  </a:lnTo>
                  <a:lnTo>
                    <a:pt x="135" y="543"/>
                  </a:lnTo>
                  <a:lnTo>
                    <a:pt x="103" y="559"/>
                  </a:lnTo>
                  <a:lnTo>
                    <a:pt x="85" y="567"/>
                  </a:lnTo>
                  <a:lnTo>
                    <a:pt x="10" y="595"/>
                  </a:lnTo>
                  <a:lnTo>
                    <a:pt x="5" y="712"/>
                  </a:lnTo>
                  <a:lnTo>
                    <a:pt x="0" y="830"/>
                  </a:lnTo>
                  <a:lnTo>
                    <a:pt x="76" y="852"/>
                  </a:lnTo>
                  <a:lnTo>
                    <a:pt x="99" y="858"/>
                  </a:lnTo>
                  <a:lnTo>
                    <a:pt x="131" y="872"/>
                  </a:lnTo>
                  <a:lnTo>
                    <a:pt x="154" y="889"/>
                  </a:lnTo>
                  <a:lnTo>
                    <a:pt x="169" y="914"/>
                  </a:lnTo>
                  <a:lnTo>
                    <a:pt x="176" y="930"/>
                  </a:lnTo>
                  <a:lnTo>
                    <a:pt x="184" y="949"/>
                  </a:lnTo>
                  <a:lnTo>
                    <a:pt x="191" y="977"/>
                  </a:lnTo>
                  <a:lnTo>
                    <a:pt x="190" y="1002"/>
                  </a:lnTo>
                  <a:lnTo>
                    <a:pt x="177" y="1033"/>
                  </a:lnTo>
                  <a:lnTo>
                    <a:pt x="166" y="1055"/>
                  </a:lnTo>
                  <a:lnTo>
                    <a:pt x="131" y="1123"/>
                  </a:lnTo>
                  <a:lnTo>
                    <a:pt x="215" y="1205"/>
                  </a:lnTo>
                  <a:lnTo>
                    <a:pt x="296" y="1288"/>
                  </a:lnTo>
                  <a:lnTo>
                    <a:pt x="363" y="1253"/>
                  </a:lnTo>
                  <a:lnTo>
                    <a:pt x="384" y="1244"/>
                  </a:lnTo>
                  <a:lnTo>
                    <a:pt x="415" y="1232"/>
                  </a:lnTo>
                  <a:lnTo>
                    <a:pt x="441" y="1229"/>
                  </a:lnTo>
                  <a:lnTo>
                    <a:pt x="467" y="1234"/>
                  </a:lnTo>
                  <a:lnTo>
                    <a:pt x="483" y="1240"/>
                  </a:lnTo>
                  <a:lnTo>
                    <a:pt x="497" y="1246"/>
                  </a:lnTo>
                  <a:lnTo>
                    <a:pt x="520" y="1261"/>
                  </a:lnTo>
                  <a:lnTo>
                    <a:pt x="538" y="1283"/>
                  </a:lnTo>
                  <a:lnTo>
                    <a:pt x="553" y="1317"/>
                  </a:lnTo>
                  <a:lnTo>
                    <a:pt x="561" y="1340"/>
                  </a:lnTo>
                  <a:lnTo>
                    <a:pt x="588" y="1420"/>
                  </a:lnTo>
                  <a:lnTo>
                    <a:pt x="706" y="1415"/>
                  </a:lnTo>
                  <a:lnTo>
                    <a:pt x="823" y="1410"/>
                  </a:lnTo>
                  <a:lnTo>
                    <a:pt x="848" y="1338"/>
                  </a:lnTo>
                  <a:lnTo>
                    <a:pt x="854" y="1320"/>
                  </a:lnTo>
                  <a:lnTo>
                    <a:pt x="869" y="1290"/>
                  </a:lnTo>
                  <a:lnTo>
                    <a:pt x="888" y="1266"/>
                  </a:lnTo>
                  <a:lnTo>
                    <a:pt x="910" y="1249"/>
                  </a:lnTo>
                  <a:lnTo>
                    <a:pt x="934" y="1239"/>
                  </a:lnTo>
                  <a:lnTo>
                    <a:pt x="961" y="1235"/>
                  </a:lnTo>
                  <a:lnTo>
                    <a:pt x="991" y="1237"/>
                  </a:lnTo>
                  <a:lnTo>
                    <a:pt x="1024" y="1246"/>
                  </a:lnTo>
                  <a:lnTo>
                    <a:pt x="1041" y="1253"/>
                  </a:lnTo>
                  <a:lnTo>
                    <a:pt x="1068" y="1265"/>
                  </a:lnTo>
                  <a:lnTo>
                    <a:pt x="1100" y="1272"/>
                  </a:lnTo>
                  <a:lnTo>
                    <a:pt x="1118" y="1272"/>
                  </a:lnTo>
                  <a:lnTo>
                    <a:pt x="1145" y="1261"/>
                  </a:lnTo>
                  <a:lnTo>
                    <a:pt x="1188" y="1225"/>
                  </a:lnTo>
                  <a:lnTo>
                    <a:pt x="1216" y="1195"/>
                  </a:lnTo>
                  <a:lnTo>
                    <a:pt x="1275" y="1135"/>
                  </a:lnTo>
                  <a:lnTo>
                    <a:pt x="1245" y="1053"/>
                  </a:lnTo>
                  <a:lnTo>
                    <a:pt x="1236" y="1028"/>
                  </a:lnTo>
                  <a:lnTo>
                    <a:pt x="1226" y="991"/>
                  </a:lnTo>
                  <a:lnTo>
                    <a:pt x="1225" y="964"/>
                  </a:lnTo>
                  <a:lnTo>
                    <a:pt x="1232" y="939"/>
                  </a:lnTo>
                  <a:lnTo>
                    <a:pt x="1240" y="925"/>
                  </a:lnTo>
                  <a:lnTo>
                    <a:pt x="1246" y="914"/>
                  </a:lnTo>
                  <a:lnTo>
                    <a:pt x="1264" y="894"/>
                  </a:lnTo>
                  <a:lnTo>
                    <a:pt x="1289" y="876"/>
                  </a:lnTo>
                  <a:lnTo>
                    <a:pt x="1318" y="860"/>
                  </a:lnTo>
                  <a:lnTo>
                    <a:pt x="1335" y="853"/>
                  </a:lnTo>
                  <a:lnTo>
                    <a:pt x="1405" y="827"/>
                  </a:lnTo>
                  <a:lnTo>
                    <a:pt x="1405" y="710"/>
                  </a:lnTo>
                  <a:lnTo>
                    <a:pt x="1405" y="595"/>
                  </a:lnTo>
                  <a:lnTo>
                    <a:pt x="1335" y="572"/>
                  </a:lnTo>
                  <a:lnTo>
                    <a:pt x="1317" y="565"/>
                  </a:lnTo>
                  <a:lnTo>
                    <a:pt x="1287" y="550"/>
                  </a:lnTo>
                  <a:lnTo>
                    <a:pt x="1264" y="532"/>
                  </a:lnTo>
                  <a:lnTo>
                    <a:pt x="1247" y="509"/>
                  </a:lnTo>
                  <a:lnTo>
                    <a:pt x="1240" y="495"/>
                  </a:lnTo>
                  <a:lnTo>
                    <a:pt x="1232" y="478"/>
                  </a:lnTo>
                  <a:lnTo>
                    <a:pt x="1223" y="451"/>
                  </a:lnTo>
                  <a:lnTo>
                    <a:pt x="1225" y="426"/>
                  </a:lnTo>
                  <a:lnTo>
                    <a:pt x="1238" y="393"/>
                  </a:lnTo>
                  <a:lnTo>
                    <a:pt x="1250" y="370"/>
                  </a:lnTo>
                  <a:lnTo>
                    <a:pt x="1286" y="302"/>
                  </a:lnTo>
                  <a:lnTo>
                    <a:pt x="1201" y="218"/>
                  </a:lnTo>
                  <a:lnTo>
                    <a:pt x="1118" y="133"/>
                  </a:lnTo>
                  <a:lnTo>
                    <a:pt x="1051" y="168"/>
                  </a:lnTo>
                  <a:lnTo>
                    <a:pt x="1030" y="179"/>
                  </a:lnTo>
                  <a:lnTo>
                    <a:pt x="998" y="191"/>
                  </a:lnTo>
                  <a:lnTo>
                    <a:pt x="973" y="194"/>
                  </a:lnTo>
                  <a:lnTo>
                    <a:pt x="945" y="189"/>
                  </a:lnTo>
                  <a:lnTo>
                    <a:pt x="928" y="183"/>
                  </a:lnTo>
                  <a:lnTo>
                    <a:pt x="912" y="177"/>
                  </a:lnTo>
                  <a:lnTo>
                    <a:pt x="888" y="162"/>
                  </a:lnTo>
                  <a:lnTo>
                    <a:pt x="870" y="140"/>
                  </a:lnTo>
                  <a:lnTo>
                    <a:pt x="855" y="108"/>
                  </a:lnTo>
                  <a:lnTo>
                    <a:pt x="848" y="87"/>
                  </a:lnTo>
                  <a:lnTo>
                    <a:pt x="825" y="10"/>
                  </a:lnTo>
                  <a:lnTo>
                    <a:pt x="713" y="5"/>
                  </a:lnTo>
                  <a:lnTo>
                    <a:pt x="600" y="0"/>
                  </a:lnTo>
                  <a:lnTo>
                    <a:pt x="576" y="58"/>
                  </a:lnTo>
                  <a:close/>
                  <a:moveTo>
                    <a:pt x="865" y="400"/>
                  </a:moveTo>
                  <a:lnTo>
                    <a:pt x="887" y="412"/>
                  </a:lnTo>
                  <a:lnTo>
                    <a:pt x="927" y="440"/>
                  </a:lnTo>
                  <a:lnTo>
                    <a:pt x="962" y="473"/>
                  </a:lnTo>
                  <a:lnTo>
                    <a:pt x="991" y="509"/>
                  </a:lnTo>
                  <a:lnTo>
                    <a:pt x="1015" y="549"/>
                  </a:lnTo>
                  <a:lnTo>
                    <a:pt x="1033" y="593"/>
                  </a:lnTo>
                  <a:lnTo>
                    <a:pt x="1045" y="640"/>
                  </a:lnTo>
                  <a:lnTo>
                    <a:pt x="1051" y="691"/>
                  </a:lnTo>
                  <a:lnTo>
                    <a:pt x="1051" y="718"/>
                  </a:lnTo>
                  <a:lnTo>
                    <a:pt x="1050" y="748"/>
                  </a:lnTo>
                  <a:lnTo>
                    <a:pt x="1040" y="805"/>
                  </a:lnTo>
                  <a:lnTo>
                    <a:pt x="1021" y="859"/>
                  </a:lnTo>
                  <a:lnTo>
                    <a:pt x="993" y="908"/>
                  </a:lnTo>
                  <a:lnTo>
                    <a:pt x="957" y="952"/>
                  </a:lnTo>
                  <a:lnTo>
                    <a:pt x="915" y="990"/>
                  </a:lnTo>
                  <a:lnTo>
                    <a:pt x="866" y="1021"/>
                  </a:lnTo>
                  <a:lnTo>
                    <a:pt x="812" y="1044"/>
                  </a:lnTo>
                  <a:lnTo>
                    <a:pt x="783" y="1052"/>
                  </a:lnTo>
                  <a:lnTo>
                    <a:pt x="759" y="1057"/>
                  </a:lnTo>
                  <a:lnTo>
                    <a:pt x="713" y="1061"/>
                  </a:lnTo>
                  <a:lnTo>
                    <a:pt x="668" y="1059"/>
                  </a:lnTo>
                  <a:lnTo>
                    <a:pt x="624" y="1051"/>
                  </a:lnTo>
                  <a:lnTo>
                    <a:pt x="582" y="1038"/>
                  </a:lnTo>
                  <a:lnTo>
                    <a:pt x="542" y="1019"/>
                  </a:lnTo>
                  <a:lnTo>
                    <a:pt x="505" y="996"/>
                  </a:lnTo>
                  <a:lnTo>
                    <a:pt x="471" y="968"/>
                  </a:lnTo>
                  <a:lnTo>
                    <a:pt x="441" y="937"/>
                  </a:lnTo>
                  <a:lnTo>
                    <a:pt x="414" y="902"/>
                  </a:lnTo>
                  <a:lnTo>
                    <a:pt x="392" y="864"/>
                  </a:lnTo>
                  <a:lnTo>
                    <a:pt x="375" y="824"/>
                  </a:lnTo>
                  <a:lnTo>
                    <a:pt x="363" y="781"/>
                  </a:lnTo>
                  <a:lnTo>
                    <a:pt x="357" y="737"/>
                  </a:lnTo>
                  <a:lnTo>
                    <a:pt x="356" y="692"/>
                  </a:lnTo>
                  <a:lnTo>
                    <a:pt x="362" y="645"/>
                  </a:lnTo>
                  <a:lnTo>
                    <a:pt x="368" y="622"/>
                  </a:lnTo>
                  <a:lnTo>
                    <a:pt x="378" y="590"/>
                  </a:lnTo>
                  <a:lnTo>
                    <a:pt x="415" y="524"/>
                  </a:lnTo>
                  <a:lnTo>
                    <a:pt x="467" y="462"/>
                  </a:lnTo>
                  <a:lnTo>
                    <a:pt x="526" y="412"/>
                  </a:lnTo>
                  <a:lnTo>
                    <a:pt x="556" y="395"/>
                  </a:lnTo>
                  <a:lnTo>
                    <a:pt x="571" y="388"/>
                  </a:lnTo>
                  <a:lnTo>
                    <a:pt x="606" y="378"/>
                  </a:lnTo>
                  <a:lnTo>
                    <a:pt x="666" y="369"/>
                  </a:lnTo>
                  <a:lnTo>
                    <a:pt x="753" y="371"/>
                  </a:lnTo>
                  <a:lnTo>
                    <a:pt x="814" y="381"/>
                  </a:lnTo>
                  <a:lnTo>
                    <a:pt x="850" y="393"/>
                  </a:lnTo>
                  <a:lnTo>
                    <a:pt x="865" y="4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780">
              <a:extLst>
                <a:ext uri="{FF2B5EF4-FFF2-40B4-BE49-F238E27FC236}">
                  <a16:creationId xmlns:a16="http://schemas.microsoft.com/office/drawing/2014/main" id="{45D4C9FC-DBAA-6F6C-A9DD-98DCD9376C21}"/>
                </a:ext>
              </a:extLst>
            </p:cNvPr>
            <p:cNvSpPr>
              <a:spLocks/>
            </p:cNvSpPr>
            <p:nvPr/>
          </p:nvSpPr>
          <p:spPr bwMode="auto">
            <a:xfrm>
              <a:off x="635000" y="4838701"/>
              <a:ext cx="223838" cy="222250"/>
            </a:xfrm>
            <a:custGeom>
              <a:avLst/>
              <a:gdLst>
                <a:gd name="T0" fmla="*/ 148 w 398"/>
                <a:gd name="T1" fmla="*/ 75 h 399"/>
                <a:gd name="T2" fmla="*/ 148 w 398"/>
                <a:gd name="T3" fmla="*/ 150 h 399"/>
                <a:gd name="T4" fmla="*/ 72 w 398"/>
                <a:gd name="T5" fmla="*/ 150 h 399"/>
                <a:gd name="T6" fmla="*/ 46 w 398"/>
                <a:gd name="T7" fmla="*/ 150 h 399"/>
                <a:gd name="T8" fmla="*/ 15 w 398"/>
                <a:gd name="T9" fmla="*/ 153 h 399"/>
                <a:gd name="T10" fmla="*/ 2 w 398"/>
                <a:gd name="T11" fmla="*/ 162 h 399"/>
                <a:gd name="T12" fmla="*/ 0 w 398"/>
                <a:gd name="T13" fmla="*/ 180 h 399"/>
                <a:gd name="T14" fmla="*/ 2 w 398"/>
                <a:gd name="T15" fmla="*/ 195 h 399"/>
                <a:gd name="T16" fmla="*/ 4 w 398"/>
                <a:gd name="T17" fmla="*/ 210 h 399"/>
                <a:gd name="T18" fmla="*/ 11 w 398"/>
                <a:gd name="T19" fmla="*/ 229 h 399"/>
                <a:gd name="T20" fmla="*/ 27 w 398"/>
                <a:gd name="T21" fmla="*/ 240 h 399"/>
                <a:gd name="T22" fmla="*/ 55 w 398"/>
                <a:gd name="T23" fmla="*/ 245 h 399"/>
                <a:gd name="T24" fmla="*/ 77 w 398"/>
                <a:gd name="T25" fmla="*/ 247 h 399"/>
                <a:gd name="T26" fmla="*/ 101 w 398"/>
                <a:gd name="T27" fmla="*/ 249 h 399"/>
                <a:gd name="T28" fmla="*/ 130 w 398"/>
                <a:gd name="T29" fmla="*/ 254 h 399"/>
                <a:gd name="T30" fmla="*/ 145 w 398"/>
                <a:gd name="T31" fmla="*/ 268 h 399"/>
                <a:gd name="T32" fmla="*/ 150 w 398"/>
                <a:gd name="T33" fmla="*/ 298 h 399"/>
                <a:gd name="T34" fmla="*/ 152 w 398"/>
                <a:gd name="T35" fmla="*/ 322 h 399"/>
                <a:gd name="T36" fmla="*/ 154 w 398"/>
                <a:gd name="T37" fmla="*/ 343 h 399"/>
                <a:gd name="T38" fmla="*/ 159 w 398"/>
                <a:gd name="T39" fmla="*/ 372 h 399"/>
                <a:gd name="T40" fmla="*/ 170 w 398"/>
                <a:gd name="T41" fmla="*/ 388 h 399"/>
                <a:gd name="T42" fmla="*/ 189 w 398"/>
                <a:gd name="T43" fmla="*/ 395 h 399"/>
                <a:gd name="T44" fmla="*/ 203 w 398"/>
                <a:gd name="T45" fmla="*/ 397 h 399"/>
                <a:gd name="T46" fmla="*/ 218 w 398"/>
                <a:gd name="T47" fmla="*/ 399 h 399"/>
                <a:gd name="T48" fmla="*/ 237 w 398"/>
                <a:gd name="T49" fmla="*/ 397 h 399"/>
                <a:gd name="T50" fmla="*/ 246 w 398"/>
                <a:gd name="T51" fmla="*/ 383 h 399"/>
                <a:gd name="T52" fmla="*/ 248 w 398"/>
                <a:gd name="T53" fmla="*/ 352 h 399"/>
                <a:gd name="T54" fmla="*/ 248 w 398"/>
                <a:gd name="T55" fmla="*/ 327 h 399"/>
                <a:gd name="T56" fmla="*/ 248 w 398"/>
                <a:gd name="T57" fmla="*/ 250 h 399"/>
                <a:gd name="T58" fmla="*/ 323 w 398"/>
                <a:gd name="T59" fmla="*/ 250 h 399"/>
                <a:gd name="T60" fmla="*/ 348 w 398"/>
                <a:gd name="T61" fmla="*/ 250 h 399"/>
                <a:gd name="T62" fmla="*/ 379 w 398"/>
                <a:gd name="T63" fmla="*/ 248 h 399"/>
                <a:gd name="T64" fmla="*/ 394 w 398"/>
                <a:gd name="T65" fmla="*/ 238 h 399"/>
                <a:gd name="T66" fmla="*/ 398 w 398"/>
                <a:gd name="T67" fmla="*/ 218 h 399"/>
                <a:gd name="T68" fmla="*/ 398 w 398"/>
                <a:gd name="T69" fmla="*/ 202 h 399"/>
                <a:gd name="T70" fmla="*/ 398 w 398"/>
                <a:gd name="T71" fmla="*/ 186 h 399"/>
                <a:gd name="T72" fmla="*/ 394 w 398"/>
                <a:gd name="T73" fmla="*/ 165 h 399"/>
                <a:gd name="T74" fmla="*/ 380 w 398"/>
                <a:gd name="T75" fmla="*/ 154 h 399"/>
                <a:gd name="T76" fmla="*/ 351 w 398"/>
                <a:gd name="T77" fmla="*/ 149 h 399"/>
                <a:gd name="T78" fmla="*/ 328 w 398"/>
                <a:gd name="T79" fmla="*/ 147 h 399"/>
                <a:gd name="T80" fmla="*/ 304 w 398"/>
                <a:gd name="T81" fmla="*/ 145 h 399"/>
                <a:gd name="T82" fmla="*/ 273 w 398"/>
                <a:gd name="T83" fmla="*/ 140 h 399"/>
                <a:gd name="T84" fmla="*/ 259 w 398"/>
                <a:gd name="T85" fmla="*/ 125 h 399"/>
                <a:gd name="T86" fmla="*/ 253 w 398"/>
                <a:gd name="T87" fmla="*/ 95 h 399"/>
                <a:gd name="T88" fmla="*/ 252 w 398"/>
                <a:gd name="T89" fmla="*/ 70 h 399"/>
                <a:gd name="T90" fmla="*/ 250 w 398"/>
                <a:gd name="T91" fmla="*/ 48 h 399"/>
                <a:gd name="T92" fmla="*/ 245 w 398"/>
                <a:gd name="T93" fmla="*/ 19 h 399"/>
                <a:gd name="T94" fmla="*/ 234 w 398"/>
                <a:gd name="T95" fmla="*/ 5 h 399"/>
                <a:gd name="T96" fmla="*/ 213 w 398"/>
                <a:gd name="T97" fmla="*/ 0 h 399"/>
                <a:gd name="T98" fmla="*/ 197 w 398"/>
                <a:gd name="T99" fmla="*/ 0 h 399"/>
                <a:gd name="T100" fmla="*/ 181 w 398"/>
                <a:gd name="T101" fmla="*/ 0 h 399"/>
                <a:gd name="T102" fmla="*/ 160 w 398"/>
                <a:gd name="T103" fmla="*/ 5 h 399"/>
                <a:gd name="T104" fmla="*/ 151 w 398"/>
                <a:gd name="T105" fmla="*/ 19 h 399"/>
                <a:gd name="T106" fmla="*/ 148 w 398"/>
                <a:gd name="T107" fmla="*/ 51 h 399"/>
                <a:gd name="T108" fmla="*/ 148 w 398"/>
                <a:gd name="T109" fmla="*/ 75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98" h="399">
                  <a:moveTo>
                    <a:pt x="148" y="75"/>
                  </a:moveTo>
                  <a:lnTo>
                    <a:pt x="148" y="150"/>
                  </a:lnTo>
                  <a:lnTo>
                    <a:pt x="72" y="150"/>
                  </a:lnTo>
                  <a:lnTo>
                    <a:pt x="46" y="150"/>
                  </a:lnTo>
                  <a:lnTo>
                    <a:pt x="15" y="153"/>
                  </a:lnTo>
                  <a:lnTo>
                    <a:pt x="2" y="162"/>
                  </a:lnTo>
                  <a:lnTo>
                    <a:pt x="0" y="180"/>
                  </a:lnTo>
                  <a:lnTo>
                    <a:pt x="2" y="195"/>
                  </a:lnTo>
                  <a:lnTo>
                    <a:pt x="4" y="210"/>
                  </a:lnTo>
                  <a:lnTo>
                    <a:pt x="11" y="229"/>
                  </a:lnTo>
                  <a:lnTo>
                    <a:pt x="27" y="240"/>
                  </a:lnTo>
                  <a:lnTo>
                    <a:pt x="55" y="245"/>
                  </a:lnTo>
                  <a:lnTo>
                    <a:pt x="77" y="247"/>
                  </a:lnTo>
                  <a:lnTo>
                    <a:pt x="101" y="249"/>
                  </a:lnTo>
                  <a:lnTo>
                    <a:pt x="130" y="254"/>
                  </a:lnTo>
                  <a:lnTo>
                    <a:pt x="145" y="268"/>
                  </a:lnTo>
                  <a:lnTo>
                    <a:pt x="150" y="298"/>
                  </a:lnTo>
                  <a:lnTo>
                    <a:pt x="152" y="322"/>
                  </a:lnTo>
                  <a:lnTo>
                    <a:pt x="154" y="343"/>
                  </a:lnTo>
                  <a:lnTo>
                    <a:pt x="159" y="372"/>
                  </a:lnTo>
                  <a:lnTo>
                    <a:pt x="170" y="388"/>
                  </a:lnTo>
                  <a:lnTo>
                    <a:pt x="189" y="395"/>
                  </a:lnTo>
                  <a:lnTo>
                    <a:pt x="203" y="397"/>
                  </a:lnTo>
                  <a:lnTo>
                    <a:pt x="218" y="399"/>
                  </a:lnTo>
                  <a:lnTo>
                    <a:pt x="237" y="397"/>
                  </a:lnTo>
                  <a:lnTo>
                    <a:pt x="246" y="383"/>
                  </a:lnTo>
                  <a:lnTo>
                    <a:pt x="248" y="352"/>
                  </a:lnTo>
                  <a:lnTo>
                    <a:pt x="248" y="327"/>
                  </a:lnTo>
                  <a:lnTo>
                    <a:pt x="248" y="250"/>
                  </a:lnTo>
                  <a:lnTo>
                    <a:pt x="323" y="250"/>
                  </a:lnTo>
                  <a:lnTo>
                    <a:pt x="348" y="250"/>
                  </a:lnTo>
                  <a:lnTo>
                    <a:pt x="379" y="248"/>
                  </a:lnTo>
                  <a:lnTo>
                    <a:pt x="394" y="238"/>
                  </a:lnTo>
                  <a:lnTo>
                    <a:pt x="398" y="218"/>
                  </a:lnTo>
                  <a:lnTo>
                    <a:pt x="398" y="202"/>
                  </a:lnTo>
                  <a:lnTo>
                    <a:pt x="398" y="186"/>
                  </a:lnTo>
                  <a:lnTo>
                    <a:pt x="394" y="165"/>
                  </a:lnTo>
                  <a:lnTo>
                    <a:pt x="380" y="154"/>
                  </a:lnTo>
                  <a:lnTo>
                    <a:pt x="351" y="149"/>
                  </a:lnTo>
                  <a:lnTo>
                    <a:pt x="328" y="147"/>
                  </a:lnTo>
                  <a:lnTo>
                    <a:pt x="304" y="145"/>
                  </a:lnTo>
                  <a:lnTo>
                    <a:pt x="273" y="140"/>
                  </a:lnTo>
                  <a:lnTo>
                    <a:pt x="259" y="125"/>
                  </a:lnTo>
                  <a:lnTo>
                    <a:pt x="253" y="95"/>
                  </a:lnTo>
                  <a:lnTo>
                    <a:pt x="252" y="70"/>
                  </a:lnTo>
                  <a:lnTo>
                    <a:pt x="250" y="48"/>
                  </a:lnTo>
                  <a:lnTo>
                    <a:pt x="245" y="19"/>
                  </a:lnTo>
                  <a:lnTo>
                    <a:pt x="234" y="5"/>
                  </a:lnTo>
                  <a:lnTo>
                    <a:pt x="213" y="0"/>
                  </a:lnTo>
                  <a:lnTo>
                    <a:pt x="197" y="0"/>
                  </a:lnTo>
                  <a:lnTo>
                    <a:pt x="181" y="0"/>
                  </a:lnTo>
                  <a:lnTo>
                    <a:pt x="160" y="5"/>
                  </a:lnTo>
                  <a:lnTo>
                    <a:pt x="151" y="19"/>
                  </a:lnTo>
                  <a:lnTo>
                    <a:pt x="148" y="51"/>
                  </a:lnTo>
                  <a:lnTo>
                    <a:pt x="148"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781">
              <a:extLst>
                <a:ext uri="{FF2B5EF4-FFF2-40B4-BE49-F238E27FC236}">
                  <a16:creationId xmlns:a16="http://schemas.microsoft.com/office/drawing/2014/main" id="{2961381D-01DE-B355-C0BC-CD85AE7F3A92}"/>
                </a:ext>
              </a:extLst>
            </p:cNvPr>
            <p:cNvSpPr>
              <a:spLocks/>
            </p:cNvSpPr>
            <p:nvPr/>
          </p:nvSpPr>
          <p:spPr bwMode="auto">
            <a:xfrm>
              <a:off x="1773238" y="4586288"/>
              <a:ext cx="252413" cy="642938"/>
            </a:xfrm>
            <a:custGeom>
              <a:avLst/>
              <a:gdLst>
                <a:gd name="T0" fmla="*/ 100 w 451"/>
                <a:gd name="T1" fmla="*/ 150 h 1150"/>
                <a:gd name="T2" fmla="*/ 60 w 451"/>
                <a:gd name="T3" fmla="*/ 211 h 1150"/>
                <a:gd name="T4" fmla="*/ 5 w 451"/>
                <a:gd name="T5" fmla="*/ 299 h 1150"/>
                <a:gd name="T6" fmla="*/ 0 w 451"/>
                <a:gd name="T7" fmla="*/ 312 h 1150"/>
                <a:gd name="T8" fmla="*/ 2 w 451"/>
                <a:gd name="T9" fmla="*/ 319 h 1150"/>
                <a:gd name="T10" fmla="*/ 21 w 451"/>
                <a:gd name="T11" fmla="*/ 338 h 1150"/>
                <a:gd name="T12" fmla="*/ 35 w 451"/>
                <a:gd name="T13" fmla="*/ 349 h 1150"/>
                <a:gd name="T14" fmla="*/ 54 w 451"/>
                <a:gd name="T15" fmla="*/ 360 h 1150"/>
                <a:gd name="T16" fmla="*/ 72 w 451"/>
                <a:gd name="T17" fmla="*/ 361 h 1150"/>
                <a:gd name="T18" fmla="*/ 81 w 451"/>
                <a:gd name="T19" fmla="*/ 354 h 1150"/>
                <a:gd name="T20" fmla="*/ 86 w 451"/>
                <a:gd name="T21" fmla="*/ 347 h 1150"/>
                <a:gd name="T22" fmla="*/ 105 w 451"/>
                <a:gd name="T23" fmla="*/ 317 h 1150"/>
                <a:gd name="T24" fmla="*/ 138 w 451"/>
                <a:gd name="T25" fmla="*/ 267 h 1150"/>
                <a:gd name="T26" fmla="*/ 175 w 451"/>
                <a:gd name="T27" fmla="*/ 209 h 1150"/>
                <a:gd name="T28" fmla="*/ 180 w 451"/>
                <a:gd name="T29" fmla="*/ 679 h 1150"/>
                <a:gd name="T30" fmla="*/ 183 w 451"/>
                <a:gd name="T31" fmla="*/ 1150 h 1150"/>
                <a:gd name="T32" fmla="*/ 233 w 451"/>
                <a:gd name="T33" fmla="*/ 1150 h 1150"/>
                <a:gd name="T34" fmla="*/ 283 w 451"/>
                <a:gd name="T35" fmla="*/ 1150 h 1150"/>
                <a:gd name="T36" fmla="*/ 283 w 451"/>
                <a:gd name="T37" fmla="*/ 679 h 1150"/>
                <a:gd name="T38" fmla="*/ 283 w 451"/>
                <a:gd name="T39" fmla="*/ 209 h 1150"/>
                <a:gd name="T40" fmla="*/ 335 w 451"/>
                <a:gd name="T41" fmla="*/ 287 h 1150"/>
                <a:gd name="T42" fmla="*/ 356 w 451"/>
                <a:gd name="T43" fmla="*/ 319 h 1150"/>
                <a:gd name="T44" fmla="*/ 392 w 451"/>
                <a:gd name="T45" fmla="*/ 363 h 1150"/>
                <a:gd name="T46" fmla="*/ 400 w 451"/>
                <a:gd name="T47" fmla="*/ 367 h 1150"/>
                <a:gd name="T48" fmla="*/ 406 w 451"/>
                <a:gd name="T49" fmla="*/ 365 h 1150"/>
                <a:gd name="T50" fmla="*/ 427 w 451"/>
                <a:gd name="T51" fmla="*/ 349 h 1150"/>
                <a:gd name="T52" fmla="*/ 438 w 451"/>
                <a:gd name="T53" fmla="*/ 337 h 1150"/>
                <a:gd name="T54" fmla="*/ 446 w 451"/>
                <a:gd name="T55" fmla="*/ 327 h 1150"/>
                <a:gd name="T56" fmla="*/ 451 w 451"/>
                <a:gd name="T57" fmla="*/ 305 h 1150"/>
                <a:gd name="T58" fmla="*/ 436 w 451"/>
                <a:gd name="T59" fmla="*/ 268 h 1150"/>
                <a:gd name="T60" fmla="*/ 396 w 451"/>
                <a:gd name="T61" fmla="*/ 203 h 1150"/>
                <a:gd name="T62" fmla="*/ 363 w 451"/>
                <a:gd name="T63" fmla="*/ 154 h 1150"/>
                <a:gd name="T64" fmla="*/ 316 w 451"/>
                <a:gd name="T65" fmla="*/ 84 h 1150"/>
                <a:gd name="T66" fmla="*/ 264 w 451"/>
                <a:gd name="T67" fmla="*/ 22 h 1150"/>
                <a:gd name="T68" fmla="*/ 240 w 451"/>
                <a:gd name="T69" fmla="*/ 2 h 1150"/>
                <a:gd name="T70" fmla="*/ 231 w 451"/>
                <a:gd name="T71" fmla="*/ 0 h 1150"/>
                <a:gd name="T72" fmla="*/ 223 w 451"/>
                <a:gd name="T73" fmla="*/ 2 h 1150"/>
                <a:gd name="T74" fmla="*/ 198 w 451"/>
                <a:gd name="T75" fmla="*/ 21 h 1150"/>
                <a:gd name="T76" fmla="*/ 146 w 451"/>
                <a:gd name="T77" fmla="*/ 82 h 1150"/>
                <a:gd name="T78" fmla="*/ 100 w 451"/>
                <a:gd name="T79" fmla="*/ 150 h 1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51" h="1150">
                  <a:moveTo>
                    <a:pt x="100" y="150"/>
                  </a:moveTo>
                  <a:lnTo>
                    <a:pt x="60" y="211"/>
                  </a:lnTo>
                  <a:lnTo>
                    <a:pt x="5" y="299"/>
                  </a:lnTo>
                  <a:lnTo>
                    <a:pt x="0" y="312"/>
                  </a:lnTo>
                  <a:lnTo>
                    <a:pt x="2" y="319"/>
                  </a:lnTo>
                  <a:lnTo>
                    <a:pt x="21" y="338"/>
                  </a:lnTo>
                  <a:lnTo>
                    <a:pt x="35" y="349"/>
                  </a:lnTo>
                  <a:lnTo>
                    <a:pt x="54" y="360"/>
                  </a:lnTo>
                  <a:lnTo>
                    <a:pt x="72" y="361"/>
                  </a:lnTo>
                  <a:lnTo>
                    <a:pt x="81" y="354"/>
                  </a:lnTo>
                  <a:lnTo>
                    <a:pt x="86" y="347"/>
                  </a:lnTo>
                  <a:lnTo>
                    <a:pt x="105" y="317"/>
                  </a:lnTo>
                  <a:lnTo>
                    <a:pt x="138" y="267"/>
                  </a:lnTo>
                  <a:lnTo>
                    <a:pt x="175" y="209"/>
                  </a:lnTo>
                  <a:lnTo>
                    <a:pt x="180" y="679"/>
                  </a:lnTo>
                  <a:lnTo>
                    <a:pt x="183" y="1150"/>
                  </a:lnTo>
                  <a:lnTo>
                    <a:pt x="233" y="1150"/>
                  </a:lnTo>
                  <a:lnTo>
                    <a:pt x="283" y="1150"/>
                  </a:lnTo>
                  <a:lnTo>
                    <a:pt x="283" y="679"/>
                  </a:lnTo>
                  <a:lnTo>
                    <a:pt x="283" y="209"/>
                  </a:lnTo>
                  <a:lnTo>
                    <a:pt x="335" y="287"/>
                  </a:lnTo>
                  <a:lnTo>
                    <a:pt x="356" y="319"/>
                  </a:lnTo>
                  <a:lnTo>
                    <a:pt x="392" y="363"/>
                  </a:lnTo>
                  <a:lnTo>
                    <a:pt x="400" y="367"/>
                  </a:lnTo>
                  <a:lnTo>
                    <a:pt x="406" y="365"/>
                  </a:lnTo>
                  <a:lnTo>
                    <a:pt x="427" y="349"/>
                  </a:lnTo>
                  <a:lnTo>
                    <a:pt x="438" y="337"/>
                  </a:lnTo>
                  <a:lnTo>
                    <a:pt x="446" y="327"/>
                  </a:lnTo>
                  <a:lnTo>
                    <a:pt x="451" y="305"/>
                  </a:lnTo>
                  <a:lnTo>
                    <a:pt x="436" y="268"/>
                  </a:lnTo>
                  <a:lnTo>
                    <a:pt x="396" y="203"/>
                  </a:lnTo>
                  <a:lnTo>
                    <a:pt x="363" y="154"/>
                  </a:lnTo>
                  <a:lnTo>
                    <a:pt x="316" y="84"/>
                  </a:lnTo>
                  <a:lnTo>
                    <a:pt x="264" y="22"/>
                  </a:lnTo>
                  <a:lnTo>
                    <a:pt x="240" y="2"/>
                  </a:lnTo>
                  <a:lnTo>
                    <a:pt x="231" y="0"/>
                  </a:lnTo>
                  <a:lnTo>
                    <a:pt x="223" y="2"/>
                  </a:lnTo>
                  <a:lnTo>
                    <a:pt x="198" y="21"/>
                  </a:lnTo>
                  <a:lnTo>
                    <a:pt x="146" y="82"/>
                  </a:lnTo>
                  <a:lnTo>
                    <a:pt x="100" y="1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782">
              <a:extLst>
                <a:ext uri="{FF2B5EF4-FFF2-40B4-BE49-F238E27FC236}">
                  <a16:creationId xmlns:a16="http://schemas.microsoft.com/office/drawing/2014/main" id="{65C7F03E-681B-7E55-7FAB-F927E9709C12}"/>
                </a:ext>
              </a:extLst>
            </p:cNvPr>
            <p:cNvSpPr>
              <a:spLocks/>
            </p:cNvSpPr>
            <p:nvPr/>
          </p:nvSpPr>
          <p:spPr bwMode="auto">
            <a:xfrm>
              <a:off x="1343025" y="4756151"/>
              <a:ext cx="263525" cy="474663"/>
            </a:xfrm>
            <a:custGeom>
              <a:avLst/>
              <a:gdLst>
                <a:gd name="T0" fmla="*/ 197 w 470"/>
                <a:gd name="T1" fmla="*/ 27 h 850"/>
                <a:gd name="T2" fmla="*/ 158 w 470"/>
                <a:gd name="T3" fmla="*/ 79 h 850"/>
                <a:gd name="T4" fmla="*/ 85 w 470"/>
                <a:gd name="T5" fmla="*/ 185 h 850"/>
                <a:gd name="T6" fmla="*/ 0 w 470"/>
                <a:gd name="T7" fmla="*/ 313 h 850"/>
                <a:gd name="T8" fmla="*/ 43 w 470"/>
                <a:gd name="T9" fmla="*/ 342 h 850"/>
                <a:gd name="T10" fmla="*/ 67 w 470"/>
                <a:gd name="T11" fmla="*/ 357 h 850"/>
                <a:gd name="T12" fmla="*/ 87 w 470"/>
                <a:gd name="T13" fmla="*/ 361 h 850"/>
                <a:gd name="T14" fmla="*/ 97 w 470"/>
                <a:gd name="T15" fmla="*/ 354 h 850"/>
                <a:gd name="T16" fmla="*/ 102 w 470"/>
                <a:gd name="T17" fmla="*/ 347 h 850"/>
                <a:gd name="T18" fmla="*/ 122 w 470"/>
                <a:gd name="T19" fmla="*/ 315 h 850"/>
                <a:gd name="T20" fmla="*/ 155 w 470"/>
                <a:gd name="T21" fmla="*/ 265 h 850"/>
                <a:gd name="T22" fmla="*/ 192 w 470"/>
                <a:gd name="T23" fmla="*/ 207 h 850"/>
                <a:gd name="T24" fmla="*/ 197 w 470"/>
                <a:gd name="T25" fmla="*/ 528 h 850"/>
                <a:gd name="T26" fmla="*/ 200 w 470"/>
                <a:gd name="T27" fmla="*/ 850 h 850"/>
                <a:gd name="T28" fmla="*/ 247 w 470"/>
                <a:gd name="T29" fmla="*/ 845 h 850"/>
                <a:gd name="T30" fmla="*/ 292 w 470"/>
                <a:gd name="T31" fmla="*/ 840 h 850"/>
                <a:gd name="T32" fmla="*/ 300 w 470"/>
                <a:gd name="T33" fmla="*/ 533 h 850"/>
                <a:gd name="T34" fmla="*/ 308 w 470"/>
                <a:gd name="T35" fmla="*/ 225 h 850"/>
                <a:gd name="T36" fmla="*/ 355 w 470"/>
                <a:gd name="T37" fmla="*/ 297 h 850"/>
                <a:gd name="T38" fmla="*/ 371 w 470"/>
                <a:gd name="T39" fmla="*/ 320 h 850"/>
                <a:gd name="T40" fmla="*/ 392 w 470"/>
                <a:gd name="T41" fmla="*/ 348 h 850"/>
                <a:gd name="T42" fmla="*/ 408 w 470"/>
                <a:gd name="T43" fmla="*/ 357 h 850"/>
                <a:gd name="T44" fmla="*/ 426 w 470"/>
                <a:gd name="T45" fmla="*/ 351 h 850"/>
                <a:gd name="T46" fmla="*/ 438 w 470"/>
                <a:gd name="T47" fmla="*/ 343 h 850"/>
                <a:gd name="T48" fmla="*/ 453 w 470"/>
                <a:gd name="T49" fmla="*/ 332 h 850"/>
                <a:gd name="T50" fmla="*/ 470 w 470"/>
                <a:gd name="T51" fmla="*/ 309 h 850"/>
                <a:gd name="T52" fmla="*/ 470 w 470"/>
                <a:gd name="T53" fmla="*/ 300 h 850"/>
                <a:gd name="T54" fmla="*/ 463 w 470"/>
                <a:gd name="T55" fmla="*/ 285 h 850"/>
                <a:gd name="T56" fmla="*/ 410 w 470"/>
                <a:gd name="T57" fmla="*/ 197 h 850"/>
                <a:gd name="T58" fmla="*/ 372 w 470"/>
                <a:gd name="T59" fmla="*/ 140 h 850"/>
                <a:gd name="T60" fmla="*/ 337 w 470"/>
                <a:gd name="T61" fmla="*/ 89 h 850"/>
                <a:gd name="T62" fmla="*/ 286 w 470"/>
                <a:gd name="T63" fmla="*/ 25 h 850"/>
                <a:gd name="T64" fmla="*/ 256 w 470"/>
                <a:gd name="T65" fmla="*/ 3 h 850"/>
                <a:gd name="T66" fmla="*/ 238 w 470"/>
                <a:gd name="T67" fmla="*/ 0 h 850"/>
                <a:gd name="T68" fmla="*/ 222 w 470"/>
                <a:gd name="T69" fmla="*/ 5 h 850"/>
                <a:gd name="T70" fmla="*/ 205 w 470"/>
                <a:gd name="T71" fmla="*/ 17 h 850"/>
                <a:gd name="T72" fmla="*/ 197 w 470"/>
                <a:gd name="T73" fmla="*/ 27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70" h="850">
                  <a:moveTo>
                    <a:pt x="197" y="27"/>
                  </a:moveTo>
                  <a:lnTo>
                    <a:pt x="158" y="79"/>
                  </a:lnTo>
                  <a:lnTo>
                    <a:pt x="85" y="185"/>
                  </a:lnTo>
                  <a:lnTo>
                    <a:pt x="0" y="313"/>
                  </a:lnTo>
                  <a:lnTo>
                    <a:pt x="43" y="342"/>
                  </a:lnTo>
                  <a:lnTo>
                    <a:pt x="67" y="357"/>
                  </a:lnTo>
                  <a:lnTo>
                    <a:pt x="87" y="361"/>
                  </a:lnTo>
                  <a:lnTo>
                    <a:pt x="97" y="354"/>
                  </a:lnTo>
                  <a:lnTo>
                    <a:pt x="102" y="347"/>
                  </a:lnTo>
                  <a:lnTo>
                    <a:pt x="122" y="315"/>
                  </a:lnTo>
                  <a:lnTo>
                    <a:pt x="155" y="265"/>
                  </a:lnTo>
                  <a:lnTo>
                    <a:pt x="192" y="207"/>
                  </a:lnTo>
                  <a:lnTo>
                    <a:pt x="197" y="528"/>
                  </a:lnTo>
                  <a:lnTo>
                    <a:pt x="200" y="850"/>
                  </a:lnTo>
                  <a:lnTo>
                    <a:pt x="247" y="845"/>
                  </a:lnTo>
                  <a:lnTo>
                    <a:pt x="292" y="840"/>
                  </a:lnTo>
                  <a:lnTo>
                    <a:pt x="300" y="533"/>
                  </a:lnTo>
                  <a:lnTo>
                    <a:pt x="308" y="225"/>
                  </a:lnTo>
                  <a:lnTo>
                    <a:pt x="355" y="297"/>
                  </a:lnTo>
                  <a:lnTo>
                    <a:pt x="371" y="320"/>
                  </a:lnTo>
                  <a:lnTo>
                    <a:pt x="392" y="348"/>
                  </a:lnTo>
                  <a:lnTo>
                    <a:pt x="408" y="357"/>
                  </a:lnTo>
                  <a:lnTo>
                    <a:pt x="426" y="351"/>
                  </a:lnTo>
                  <a:lnTo>
                    <a:pt x="438" y="343"/>
                  </a:lnTo>
                  <a:lnTo>
                    <a:pt x="453" y="332"/>
                  </a:lnTo>
                  <a:lnTo>
                    <a:pt x="470" y="309"/>
                  </a:lnTo>
                  <a:lnTo>
                    <a:pt x="470" y="300"/>
                  </a:lnTo>
                  <a:lnTo>
                    <a:pt x="463" y="285"/>
                  </a:lnTo>
                  <a:lnTo>
                    <a:pt x="410" y="197"/>
                  </a:lnTo>
                  <a:lnTo>
                    <a:pt x="372" y="140"/>
                  </a:lnTo>
                  <a:lnTo>
                    <a:pt x="337" y="89"/>
                  </a:lnTo>
                  <a:lnTo>
                    <a:pt x="286" y="25"/>
                  </a:lnTo>
                  <a:lnTo>
                    <a:pt x="256" y="3"/>
                  </a:lnTo>
                  <a:lnTo>
                    <a:pt x="238" y="0"/>
                  </a:lnTo>
                  <a:lnTo>
                    <a:pt x="222" y="5"/>
                  </a:lnTo>
                  <a:lnTo>
                    <a:pt x="205" y="17"/>
                  </a:lnTo>
                  <a:lnTo>
                    <a:pt x="197"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786">
              <a:extLst>
                <a:ext uri="{FF2B5EF4-FFF2-40B4-BE49-F238E27FC236}">
                  <a16:creationId xmlns:a16="http://schemas.microsoft.com/office/drawing/2014/main" id="{256A4E6E-D561-2CC6-A61A-E90A39484338}"/>
                </a:ext>
              </a:extLst>
            </p:cNvPr>
            <p:cNvSpPr>
              <a:spLocks/>
            </p:cNvSpPr>
            <p:nvPr/>
          </p:nvSpPr>
          <p:spPr bwMode="auto">
            <a:xfrm>
              <a:off x="1455738" y="5284788"/>
              <a:ext cx="55563" cy="57150"/>
            </a:xfrm>
            <a:custGeom>
              <a:avLst/>
              <a:gdLst>
                <a:gd name="T0" fmla="*/ 0 w 100"/>
                <a:gd name="T1" fmla="*/ 50 h 100"/>
                <a:gd name="T2" fmla="*/ 0 w 100"/>
                <a:gd name="T3" fmla="*/ 66 h 100"/>
                <a:gd name="T4" fmla="*/ 4 w 100"/>
                <a:gd name="T5" fmla="*/ 86 h 100"/>
                <a:gd name="T6" fmla="*/ 14 w 100"/>
                <a:gd name="T7" fmla="*/ 97 h 100"/>
                <a:gd name="T8" fmla="*/ 34 w 100"/>
                <a:gd name="T9" fmla="*/ 100 h 100"/>
                <a:gd name="T10" fmla="*/ 50 w 100"/>
                <a:gd name="T11" fmla="*/ 100 h 100"/>
                <a:gd name="T12" fmla="*/ 66 w 100"/>
                <a:gd name="T13" fmla="*/ 100 h 100"/>
                <a:gd name="T14" fmla="*/ 86 w 100"/>
                <a:gd name="T15" fmla="*/ 97 h 100"/>
                <a:gd name="T16" fmla="*/ 96 w 100"/>
                <a:gd name="T17" fmla="*/ 86 h 100"/>
                <a:gd name="T18" fmla="*/ 100 w 100"/>
                <a:gd name="T19" fmla="*/ 66 h 100"/>
                <a:gd name="T20" fmla="*/ 100 w 100"/>
                <a:gd name="T21" fmla="*/ 50 h 100"/>
                <a:gd name="T22" fmla="*/ 100 w 100"/>
                <a:gd name="T23" fmla="*/ 35 h 100"/>
                <a:gd name="T24" fmla="*/ 96 w 100"/>
                <a:gd name="T25" fmla="*/ 14 h 100"/>
                <a:gd name="T26" fmla="*/ 86 w 100"/>
                <a:gd name="T27" fmla="*/ 4 h 100"/>
                <a:gd name="T28" fmla="*/ 66 w 100"/>
                <a:gd name="T29" fmla="*/ 0 h 100"/>
                <a:gd name="T30" fmla="*/ 50 w 100"/>
                <a:gd name="T31" fmla="*/ 0 h 100"/>
                <a:gd name="T32" fmla="*/ 34 w 100"/>
                <a:gd name="T33" fmla="*/ 0 h 100"/>
                <a:gd name="T34" fmla="*/ 14 w 100"/>
                <a:gd name="T35" fmla="*/ 4 h 100"/>
                <a:gd name="T36" fmla="*/ 4 w 100"/>
                <a:gd name="T37" fmla="*/ 14 h 100"/>
                <a:gd name="T38" fmla="*/ 0 w 100"/>
                <a:gd name="T39" fmla="*/ 35 h 100"/>
                <a:gd name="T40" fmla="*/ 0 w 100"/>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0" h="100">
                  <a:moveTo>
                    <a:pt x="0" y="50"/>
                  </a:moveTo>
                  <a:lnTo>
                    <a:pt x="0" y="66"/>
                  </a:lnTo>
                  <a:lnTo>
                    <a:pt x="4" y="86"/>
                  </a:lnTo>
                  <a:lnTo>
                    <a:pt x="14" y="97"/>
                  </a:lnTo>
                  <a:lnTo>
                    <a:pt x="34" y="100"/>
                  </a:lnTo>
                  <a:lnTo>
                    <a:pt x="50" y="100"/>
                  </a:lnTo>
                  <a:lnTo>
                    <a:pt x="66" y="100"/>
                  </a:lnTo>
                  <a:lnTo>
                    <a:pt x="86" y="97"/>
                  </a:lnTo>
                  <a:lnTo>
                    <a:pt x="96" y="86"/>
                  </a:lnTo>
                  <a:lnTo>
                    <a:pt x="100" y="66"/>
                  </a:lnTo>
                  <a:lnTo>
                    <a:pt x="100" y="50"/>
                  </a:lnTo>
                  <a:lnTo>
                    <a:pt x="100" y="35"/>
                  </a:lnTo>
                  <a:lnTo>
                    <a:pt x="96" y="14"/>
                  </a:lnTo>
                  <a:lnTo>
                    <a:pt x="86" y="4"/>
                  </a:lnTo>
                  <a:lnTo>
                    <a:pt x="66" y="0"/>
                  </a:lnTo>
                  <a:lnTo>
                    <a:pt x="50" y="0"/>
                  </a:lnTo>
                  <a:lnTo>
                    <a:pt x="34" y="0"/>
                  </a:lnTo>
                  <a:lnTo>
                    <a:pt x="14" y="4"/>
                  </a:lnTo>
                  <a:lnTo>
                    <a:pt x="4" y="14"/>
                  </a:lnTo>
                  <a:lnTo>
                    <a:pt x="0" y="35"/>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787">
              <a:extLst>
                <a:ext uri="{FF2B5EF4-FFF2-40B4-BE49-F238E27FC236}">
                  <a16:creationId xmlns:a16="http://schemas.microsoft.com/office/drawing/2014/main" id="{AB193739-5791-16E2-00DF-00593DD2BEC0}"/>
                </a:ext>
              </a:extLst>
            </p:cNvPr>
            <p:cNvSpPr>
              <a:spLocks/>
            </p:cNvSpPr>
            <p:nvPr/>
          </p:nvSpPr>
          <p:spPr bwMode="auto">
            <a:xfrm>
              <a:off x="1874838" y="5284788"/>
              <a:ext cx="57150" cy="57150"/>
            </a:xfrm>
            <a:custGeom>
              <a:avLst/>
              <a:gdLst>
                <a:gd name="T0" fmla="*/ 0 w 100"/>
                <a:gd name="T1" fmla="*/ 50 h 100"/>
                <a:gd name="T2" fmla="*/ 0 w 100"/>
                <a:gd name="T3" fmla="*/ 66 h 100"/>
                <a:gd name="T4" fmla="*/ 4 w 100"/>
                <a:gd name="T5" fmla="*/ 86 h 100"/>
                <a:gd name="T6" fmla="*/ 14 w 100"/>
                <a:gd name="T7" fmla="*/ 97 h 100"/>
                <a:gd name="T8" fmla="*/ 34 w 100"/>
                <a:gd name="T9" fmla="*/ 100 h 100"/>
                <a:gd name="T10" fmla="*/ 50 w 100"/>
                <a:gd name="T11" fmla="*/ 100 h 100"/>
                <a:gd name="T12" fmla="*/ 66 w 100"/>
                <a:gd name="T13" fmla="*/ 100 h 100"/>
                <a:gd name="T14" fmla="*/ 86 w 100"/>
                <a:gd name="T15" fmla="*/ 97 h 100"/>
                <a:gd name="T16" fmla="*/ 96 w 100"/>
                <a:gd name="T17" fmla="*/ 86 h 100"/>
                <a:gd name="T18" fmla="*/ 100 w 100"/>
                <a:gd name="T19" fmla="*/ 66 h 100"/>
                <a:gd name="T20" fmla="*/ 100 w 100"/>
                <a:gd name="T21" fmla="*/ 50 h 100"/>
                <a:gd name="T22" fmla="*/ 100 w 100"/>
                <a:gd name="T23" fmla="*/ 35 h 100"/>
                <a:gd name="T24" fmla="*/ 96 w 100"/>
                <a:gd name="T25" fmla="*/ 14 h 100"/>
                <a:gd name="T26" fmla="*/ 86 w 100"/>
                <a:gd name="T27" fmla="*/ 4 h 100"/>
                <a:gd name="T28" fmla="*/ 66 w 100"/>
                <a:gd name="T29" fmla="*/ 0 h 100"/>
                <a:gd name="T30" fmla="*/ 50 w 100"/>
                <a:gd name="T31" fmla="*/ 0 h 100"/>
                <a:gd name="T32" fmla="*/ 34 w 100"/>
                <a:gd name="T33" fmla="*/ 0 h 100"/>
                <a:gd name="T34" fmla="*/ 14 w 100"/>
                <a:gd name="T35" fmla="*/ 4 h 100"/>
                <a:gd name="T36" fmla="*/ 4 w 100"/>
                <a:gd name="T37" fmla="*/ 14 h 100"/>
                <a:gd name="T38" fmla="*/ 0 w 100"/>
                <a:gd name="T39" fmla="*/ 35 h 100"/>
                <a:gd name="T40" fmla="*/ 0 w 100"/>
                <a:gd name="T41"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0" h="100">
                  <a:moveTo>
                    <a:pt x="0" y="50"/>
                  </a:moveTo>
                  <a:lnTo>
                    <a:pt x="0" y="66"/>
                  </a:lnTo>
                  <a:lnTo>
                    <a:pt x="4" y="86"/>
                  </a:lnTo>
                  <a:lnTo>
                    <a:pt x="14" y="97"/>
                  </a:lnTo>
                  <a:lnTo>
                    <a:pt x="34" y="100"/>
                  </a:lnTo>
                  <a:lnTo>
                    <a:pt x="50" y="100"/>
                  </a:lnTo>
                  <a:lnTo>
                    <a:pt x="66" y="100"/>
                  </a:lnTo>
                  <a:lnTo>
                    <a:pt x="86" y="97"/>
                  </a:lnTo>
                  <a:lnTo>
                    <a:pt x="96" y="86"/>
                  </a:lnTo>
                  <a:lnTo>
                    <a:pt x="100" y="66"/>
                  </a:lnTo>
                  <a:lnTo>
                    <a:pt x="100" y="50"/>
                  </a:lnTo>
                  <a:lnTo>
                    <a:pt x="100" y="35"/>
                  </a:lnTo>
                  <a:lnTo>
                    <a:pt x="96" y="14"/>
                  </a:lnTo>
                  <a:lnTo>
                    <a:pt x="86" y="4"/>
                  </a:lnTo>
                  <a:lnTo>
                    <a:pt x="66" y="0"/>
                  </a:lnTo>
                  <a:lnTo>
                    <a:pt x="50" y="0"/>
                  </a:lnTo>
                  <a:lnTo>
                    <a:pt x="34" y="0"/>
                  </a:lnTo>
                  <a:lnTo>
                    <a:pt x="14" y="4"/>
                  </a:lnTo>
                  <a:lnTo>
                    <a:pt x="4" y="14"/>
                  </a:lnTo>
                  <a:lnTo>
                    <a:pt x="0" y="35"/>
                  </a:lnTo>
                  <a:lnTo>
                    <a:pt x="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aphicFrame>
        <p:nvGraphicFramePr>
          <p:cNvPr id="34" name="Table 33">
            <a:extLst>
              <a:ext uri="{FF2B5EF4-FFF2-40B4-BE49-F238E27FC236}">
                <a16:creationId xmlns:a16="http://schemas.microsoft.com/office/drawing/2014/main" id="{E777C8E7-B6B3-2D63-6700-098791DA29C6}"/>
              </a:ext>
            </a:extLst>
          </p:cNvPr>
          <p:cNvGraphicFramePr>
            <a:graphicFrameLocks noGrp="1"/>
          </p:cNvGraphicFramePr>
          <p:nvPr>
            <p:extLst>
              <p:ext uri="{D42A27DB-BD31-4B8C-83A1-F6EECF244321}">
                <p14:modId xmlns:p14="http://schemas.microsoft.com/office/powerpoint/2010/main" val="4207448200"/>
              </p:ext>
            </p:extLst>
          </p:nvPr>
        </p:nvGraphicFramePr>
        <p:xfrm>
          <a:off x="2336772" y="4990842"/>
          <a:ext cx="1433985" cy="640080"/>
        </p:xfrm>
        <a:graphic>
          <a:graphicData uri="http://schemas.openxmlformats.org/drawingml/2006/table">
            <a:tbl>
              <a:tblPr firstRow="1" bandRow="1">
                <a:tableStyleId>{5C22544A-7EE6-4342-B048-85BDC9FD1C3A}</a:tableStyleId>
              </a:tblPr>
              <a:tblGrid>
                <a:gridCol w="477995">
                  <a:extLst>
                    <a:ext uri="{9D8B030D-6E8A-4147-A177-3AD203B41FA5}">
                      <a16:colId xmlns:a16="http://schemas.microsoft.com/office/drawing/2014/main" val="3314942607"/>
                    </a:ext>
                  </a:extLst>
                </a:gridCol>
                <a:gridCol w="477995">
                  <a:extLst>
                    <a:ext uri="{9D8B030D-6E8A-4147-A177-3AD203B41FA5}">
                      <a16:colId xmlns:a16="http://schemas.microsoft.com/office/drawing/2014/main" val="2694643210"/>
                    </a:ext>
                  </a:extLst>
                </a:gridCol>
                <a:gridCol w="477995">
                  <a:extLst>
                    <a:ext uri="{9D8B030D-6E8A-4147-A177-3AD203B41FA5}">
                      <a16:colId xmlns:a16="http://schemas.microsoft.com/office/drawing/2014/main" val="1867350649"/>
                    </a:ext>
                  </a:extLst>
                </a:gridCol>
              </a:tblGrid>
              <a:tr h="365760">
                <a:tc>
                  <a:txBody>
                    <a:bodyPr/>
                    <a:lstStyle/>
                    <a:p>
                      <a:pPr algn="ctr" rtl="1"/>
                      <a:r>
                        <a:rPr lang="ar-EG" sz="1200" b="1" baseline="0" dirty="0">
                          <a:solidFill>
                            <a:schemeClr val="accent1"/>
                          </a:solidFill>
                          <a:latin typeface="Sakkal Majalla" panose="02000000000000000000" pitchFamily="2" charset="-78"/>
                          <a:cs typeface="Sakkal Majalla" panose="02000000000000000000" pitchFamily="2" charset="-78"/>
                        </a:rPr>
                        <a:t>2027</a:t>
                      </a:r>
                      <a:endParaRPr lang="en-US" sz="1200" b="1" baseline="0" dirty="0">
                        <a:solidFill>
                          <a:schemeClr val="accent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200" b="1" baseline="0" dirty="0">
                          <a:solidFill>
                            <a:schemeClr val="accent1"/>
                          </a:solidFill>
                          <a:latin typeface="Sakkal Majalla" panose="02000000000000000000" pitchFamily="2" charset="-78"/>
                          <a:cs typeface="Sakkal Majalla" panose="02000000000000000000" pitchFamily="2" charset="-78"/>
                        </a:rPr>
                        <a:t>2026</a:t>
                      </a:r>
                      <a:endParaRPr lang="en-US" sz="1200" b="1" baseline="0" dirty="0">
                        <a:solidFill>
                          <a:schemeClr val="accent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rtl="1"/>
                      <a:r>
                        <a:rPr lang="ar-EG" sz="1200" b="1" baseline="0" dirty="0">
                          <a:solidFill>
                            <a:schemeClr val="accent1"/>
                          </a:solidFill>
                          <a:latin typeface="Sakkal Majalla" panose="02000000000000000000" pitchFamily="2" charset="-78"/>
                          <a:cs typeface="Sakkal Majalla" panose="02000000000000000000" pitchFamily="2" charset="-78"/>
                        </a:rPr>
                        <a:t>2025</a:t>
                      </a:r>
                      <a:endParaRPr lang="en-US" sz="1200" b="1" baseline="0" dirty="0">
                        <a:solidFill>
                          <a:schemeClr val="accent1"/>
                        </a:solidFill>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95495611"/>
                  </a:ext>
                </a:extLst>
              </a:tr>
              <a:tr h="271499">
                <a:tc>
                  <a:txBody>
                    <a:bodyPr/>
                    <a:lstStyle/>
                    <a:p>
                      <a:pPr algn="ctr"/>
                      <a:r>
                        <a:rPr lang="ar-EG" sz="1200" b="1" baseline="0" dirty="0">
                          <a:latin typeface="Sakkal Majalla" panose="02000000000000000000" pitchFamily="2" charset="-78"/>
                          <a:cs typeface="Sakkal Majalla" panose="02000000000000000000" pitchFamily="2" charset="-78"/>
                        </a:rPr>
                        <a:t>90</a:t>
                      </a:r>
                      <a:endParaRPr lang="en-US" sz="1200" b="1" baseline="0" dirty="0">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lang="ar-EG" sz="1200" b="1" baseline="0" dirty="0">
                          <a:latin typeface="Sakkal Majalla" panose="02000000000000000000" pitchFamily="2" charset="-78"/>
                          <a:cs typeface="Sakkal Majalla" panose="02000000000000000000" pitchFamily="2" charset="-78"/>
                        </a:rPr>
                        <a:t>50</a:t>
                      </a:r>
                      <a:endParaRPr lang="en-US" sz="1200" b="1" baseline="0" dirty="0">
                        <a:latin typeface="Sakkal Majalla" panose="02000000000000000000" pitchFamily="2" charset="-78"/>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algn="ctr" defTabSz="914400" rtl="1" eaLnBrk="1" latinLnBrk="0" hangingPunct="1"/>
                      <a:r>
                        <a:rPr lang="ar-EG" sz="1200" b="1" kern="1200" baseline="0" dirty="0">
                          <a:solidFill>
                            <a:schemeClr val="dk1"/>
                          </a:solidFill>
                          <a:latin typeface="Sakkal Majalla" panose="02000000000000000000" pitchFamily="2" charset="-78"/>
                          <a:ea typeface="+mn-ea"/>
                          <a:cs typeface="Sakkal Majalla" panose="02000000000000000000" pitchFamily="2" charset="-78"/>
                        </a:rPr>
                        <a:t>30</a:t>
                      </a:r>
                      <a:endParaRPr lang="en-US" sz="1200" b="1" kern="1200" baseline="0" dirty="0">
                        <a:solidFill>
                          <a:schemeClr val="dk1"/>
                        </a:solidFill>
                        <a:latin typeface="Sakkal Majalla" panose="02000000000000000000" pitchFamily="2" charset="-78"/>
                        <a:ea typeface="+mn-ea"/>
                        <a:cs typeface="Sakkal Majalla" panose="02000000000000000000" pitchFamily="2" charset="-7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398491"/>
                  </a:ext>
                </a:extLst>
              </a:tr>
            </a:tbl>
          </a:graphicData>
        </a:graphic>
      </p:graphicFrame>
    </p:spTree>
    <p:extLst>
      <p:ext uri="{BB962C8B-B14F-4D97-AF65-F5344CB8AC3E}">
        <p14:creationId xmlns:p14="http://schemas.microsoft.com/office/powerpoint/2010/main" val="4401569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2325397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هيئة تقويم التعليم والتدريب">
      <a:dk1>
        <a:sysClr val="windowText" lastClr="000000"/>
      </a:dk1>
      <a:lt1>
        <a:sysClr val="window" lastClr="FFFFFF"/>
      </a:lt1>
      <a:dk2>
        <a:srgbClr val="44546A"/>
      </a:dk2>
      <a:lt2>
        <a:srgbClr val="E7E6E6"/>
      </a:lt2>
      <a:accent1>
        <a:srgbClr val="4C3C8D"/>
      </a:accent1>
      <a:accent2>
        <a:srgbClr val="3FA0D9"/>
      </a:accent2>
      <a:accent3>
        <a:srgbClr val="F5A053"/>
      </a:accent3>
      <a:accent4>
        <a:srgbClr val="44AC52"/>
      </a:accent4>
      <a:accent5>
        <a:srgbClr val="5C79B9"/>
      </a:accent5>
      <a:accent6>
        <a:srgbClr val="8C493C"/>
      </a:accent6>
      <a:hlink>
        <a:srgbClr val="0563C1"/>
      </a:hlink>
      <a:folHlink>
        <a:srgbClr val="954F72"/>
      </a:folHlink>
    </a:clrScheme>
    <a:fontScheme name="Custom 2">
      <a:majorFont>
        <a:latin typeface="Sakkal Majalla"/>
        <a:ea typeface=""/>
        <a:cs typeface="Sakkal Majalla"/>
      </a:majorFont>
      <a:minorFont>
        <a:latin typeface="Sakkal Majalla"/>
        <a:ea typeface=""/>
        <a:cs typeface="Sakkal Majall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قالب هيئة تقويم التعليم والتدريب" id="{9A6817DC-B17F-4D1B-B5C7-111B32FC2AAE}" vid="{4B21A0E3-9419-4B4C-8023-7E7AF5CFDC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قالب هيئة تقويم التعليم والتدريب</Template>
  <TotalTime>17431</TotalTime>
  <Words>2171</Words>
  <Application>Microsoft Office PowerPoint</Application>
  <PresentationFormat>Widescreen</PresentationFormat>
  <Paragraphs>492</Paragraphs>
  <Slides>36</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Wingdings</vt:lpstr>
      <vt:lpstr>Sakkal Majalla</vt:lpstr>
      <vt:lpstr>Arial</vt:lpstr>
      <vt:lpstr>Office Theme</vt:lpstr>
      <vt:lpstr>خطة التوعية للبنية المؤسسية</vt:lpstr>
      <vt:lpstr>PowerPoint Presentation</vt:lpstr>
      <vt:lpstr>PowerPoint Presentation</vt:lpstr>
      <vt:lpstr>PowerPoint Presentation</vt:lpstr>
      <vt:lpstr>جدول المحتويات</vt:lpstr>
      <vt:lpstr>مقدمة عن خطة التوعية للبنية المؤسسية</vt:lpstr>
      <vt:lpstr>PowerPoint Presentation</vt:lpstr>
      <vt:lpstr>PowerPoint Presentation</vt:lpstr>
      <vt:lpstr>الوسائل والقنوات المستخدمة للتوعية</vt:lpstr>
      <vt:lpstr>PowerPoint Presentation</vt:lpstr>
      <vt:lpstr>الخطة الزمنية للتوعية بالبنية المؤسسية</vt:lpstr>
      <vt:lpstr>PowerPoint Presentation</vt:lpstr>
      <vt:lpstr>مخطط لسير التوعية</vt:lpstr>
      <vt:lpstr>مخطط لسير التوعية</vt:lpstr>
      <vt:lpstr>بطاقات التعريف للأنشطة التوعوية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الخدمات المرتبطة بخطة التوعية</vt:lpstr>
      <vt:lpstr>PowerPoint Presentation</vt:lpstr>
      <vt:lpstr>عينة من المواد التوعوية</vt:lpstr>
      <vt:lpstr>PowerPoint Presentation</vt:lpstr>
      <vt:lpstr>PowerPoint Presentation</vt:lpstr>
      <vt:lpstr>PowerPoint Presentation</vt:lpstr>
      <vt:lpstr>PowerPoint Presentation</vt:lpstr>
      <vt:lpstr>مؤشرات الأداء المرتبطة بخطة التوعية</vt:lpstr>
      <vt:lpstr>PowerPoint Presentation</vt:lpstr>
      <vt:lpstr>بطاقة تعريف المؤشر "عدد المواد والنشرات التوعوية التي تم نشرها"</vt:lpstr>
      <vt:lpstr>بطاقة تعريف المؤشر "عدد ورش العمل وجلسات التدريب المنعقدة"</vt:lpstr>
      <vt:lpstr>بطاقة تعريف المؤشر "نسبة الموظفين المشاركين في ورش العمل من إجمالي الموظفين"</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اجتماع إطلاق مشروع</dc:title>
  <dc:creator>ashawky</dc:creator>
  <cp:lastModifiedBy>Hani Adel Ibraheem Rehan</cp:lastModifiedBy>
  <cp:revision>1840</cp:revision>
  <dcterms:created xsi:type="dcterms:W3CDTF">2024-05-29T18:26:52Z</dcterms:created>
  <dcterms:modified xsi:type="dcterms:W3CDTF">2026-04-03T12:02:48Z</dcterms:modified>
</cp:coreProperties>
</file>