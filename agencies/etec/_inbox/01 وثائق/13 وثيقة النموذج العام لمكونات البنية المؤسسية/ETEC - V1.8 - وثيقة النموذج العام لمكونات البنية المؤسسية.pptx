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embedTrueTypeFonts="1" saveSubsetFonts="1">
  <p:sldMasterIdLst>
    <p:sldMasterId id="2147483702" r:id="rId1"/>
  </p:sldMasterIdLst>
  <p:notesMasterIdLst>
    <p:notesMasterId r:id="rId124"/>
  </p:notesMasterIdLst>
  <p:handoutMasterIdLst>
    <p:handoutMasterId r:id="rId125"/>
  </p:handoutMasterIdLst>
  <p:sldIdLst>
    <p:sldId id="542" r:id="rId2"/>
    <p:sldId id="576" r:id="rId3"/>
    <p:sldId id="577" r:id="rId4"/>
    <p:sldId id="578" r:id="rId5"/>
    <p:sldId id="5333" r:id="rId6"/>
    <p:sldId id="597" r:id="rId7"/>
    <p:sldId id="634" r:id="rId8"/>
    <p:sldId id="595" r:id="rId9"/>
    <p:sldId id="5456" r:id="rId10"/>
    <p:sldId id="629" r:id="rId11"/>
    <p:sldId id="5252" r:id="rId12"/>
    <p:sldId id="5458" r:id="rId13"/>
    <p:sldId id="5486" r:id="rId14"/>
    <p:sldId id="5378" r:id="rId15"/>
    <p:sldId id="5459" r:id="rId16"/>
    <p:sldId id="5379" r:id="rId17"/>
    <p:sldId id="5465" r:id="rId18"/>
    <p:sldId id="5409" r:id="rId19"/>
    <p:sldId id="5534" r:id="rId20"/>
    <p:sldId id="5509" r:id="rId21"/>
    <p:sldId id="5532" r:id="rId22"/>
    <p:sldId id="5538" r:id="rId23"/>
    <p:sldId id="5412" r:id="rId24"/>
    <p:sldId id="5533" r:id="rId25"/>
    <p:sldId id="5535" r:id="rId26"/>
    <p:sldId id="5536" r:id="rId27"/>
    <p:sldId id="5537" r:id="rId28"/>
    <p:sldId id="5485" r:id="rId29"/>
    <p:sldId id="5468" r:id="rId30"/>
    <p:sldId id="5469" r:id="rId31"/>
    <p:sldId id="5642" r:id="rId32"/>
    <p:sldId id="5646" r:id="rId33"/>
    <p:sldId id="5613" r:id="rId34"/>
    <p:sldId id="5614" r:id="rId35"/>
    <p:sldId id="5617" r:id="rId36"/>
    <p:sldId id="5618" r:id="rId37"/>
    <p:sldId id="5399" r:id="rId38"/>
    <p:sldId id="5460" r:id="rId39"/>
    <p:sldId id="5447" r:id="rId40"/>
    <p:sldId id="5487" r:id="rId41"/>
    <p:sldId id="5539" r:id="rId42"/>
    <p:sldId id="5420" r:id="rId43"/>
    <p:sldId id="5540" r:id="rId44"/>
    <p:sldId id="5424" r:id="rId45"/>
    <p:sldId id="5422" r:id="rId46"/>
    <p:sldId id="5551" r:id="rId47"/>
    <p:sldId id="5544" r:id="rId48"/>
    <p:sldId id="5425" r:id="rId49"/>
    <p:sldId id="5426" r:id="rId50"/>
    <p:sldId id="5545" r:id="rId51"/>
    <p:sldId id="5546" r:id="rId52"/>
    <p:sldId id="5547" r:id="rId53"/>
    <p:sldId id="5548" r:id="rId54"/>
    <p:sldId id="5619" r:id="rId55"/>
    <p:sldId id="5647" r:id="rId56"/>
    <p:sldId id="5648" r:id="rId57"/>
    <p:sldId id="5649" r:id="rId58"/>
    <p:sldId id="5633" r:id="rId59"/>
    <p:sldId id="5634" r:id="rId60"/>
    <p:sldId id="5575" r:id="rId61"/>
    <p:sldId id="5553" r:id="rId62"/>
    <p:sldId id="5645" r:id="rId63"/>
    <p:sldId id="5562" r:id="rId64"/>
    <p:sldId id="5563" r:id="rId65"/>
    <p:sldId id="5564" r:id="rId66"/>
    <p:sldId id="5643" r:id="rId67"/>
    <p:sldId id="5644" r:id="rId68"/>
    <p:sldId id="5620" r:id="rId69"/>
    <p:sldId id="5635" r:id="rId70"/>
    <p:sldId id="5650" r:id="rId71"/>
    <p:sldId id="5382" r:id="rId72"/>
    <p:sldId id="5461" r:id="rId73"/>
    <p:sldId id="5437" r:id="rId74"/>
    <p:sldId id="5435" r:id="rId75"/>
    <p:sldId id="5438" r:id="rId76"/>
    <p:sldId id="5439" r:id="rId77"/>
    <p:sldId id="5488" r:id="rId78"/>
    <p:sldId id="5622" r:id="rId79"/>
    <p:sldId id="5636" r:id="rId80"/>
    <p:sldId id="5387" r:id="rId81"/>
    <p:sldId id="5388" r:id="rId82"/>
    <p:sldId id="5445" r:id="rId83"/>
    <p:sldId id="5597" r:id="rId84"/>
    <p:sldId id="5525" r:id="rId85"/>
    <p:sldId id="5527" r:id="rId86"/>
    <p:sldId id="5528" r:id="rId87"/>
    <p:sldId id="5452" r:id="rId88"/>
    <p:sldId id="5595" r:id="rId89"/>
    <p:sldId id="5443" r:id="rId90"/>
    <p:sldId id="5526" r:id="rId91"/>
    <p:sldId id="5450" r:id="rId92"/>
    <p:sldId id="5624" r:id="rId93"/>
    <p:sldId id="5651" r:id="rId94"/>
    <p:sldId id="5638" r:id="rId95"/>
    <p:sldId id="5392" r:id="rId96"/>
    <p:sldId id="5463" r:id="rId97"/>
    <p:sldId id="5455" r:id="rId98"/>
    <p:sldId id="5464" r:id="rId99"/>
    <p:sldId id="5471" r:id="rId100"/>
    <p:sldId id="5512" r:id="rId101"/>
    <p:sldId id="5513" r:id="rId102"/>
    <p:sldId id="5514" r:id="rId103"/>
    <p:sldId id="5515" r:id="rId104"/>
    <p:sldId id="5516" r:id="rId105"/>
    <p:sldId id="5517" r:id="rId106"/>
    <p:sldId id="5518" r:id="rId107"/>
    <p:sldId id="5519" r:id="rId108"/>
    <p:sldId id="5520" r:id="rId109"/>
    <p:sldId id="5521" r:id="rId110"/>
    <p:sldId id="5626" r:id="rId111"/>
    <p:sldId id="5639" r:id="rId112"/>
    <p:sldId id="5627" r:id="rId113"/>
    <p:sldId id="5640" r:id="rId114"/>
    <p:sldId id="5576" r:id="rId115"/>
    <p:sldId id="5577" r:id="rId116"/>
    <p:sldId id="5580" r:id="rId117"/>
    <p:sldId id="5591" r:id="rId118"/>
    <p:sldId id="5592" r:id="rId119"/>
    <p:sldId id="5593" r:id="rId120"/>
    <p:sldId id="5628" r:id="rId121"/>
    <p:sldId id="5629" r:id="rId122"/>
    <p:sldId id="5254" r:id="rId123"/>
  </p:sldIdLst>
  <p:sldSz cx="12192000" cy="6858000"/>
  <p:notesSz cx="6858000" cy="9144000"/>
  <p:embeddedFontLst>
    <p:embeddedFont>
      <p:font typeface="Calibri" panose="020F0502020204030204" pitchFamily="34" charset="0"/>
      <p:regular r:id="rId126"/>
      <p:bold r:id="rId127"/>
      <p:italic r:id="rId128"/>
      <p:boldItalic r:id="rId129"/>
    </p:embeddedFont>
    <p:embeddedFont>
      <p:font typeface="DIN Next LT Arabic" panose="020B0503020203050203" pitchFamily="34" charset="-78"/>
      <p:regular r:id="rId130"/>
    </p:embeddedFont>
    <p:embeddedFont>
      <p:font typeface="Sakkal Majalla" panose="02000000000000000000" pitchFamily="2" charset="-78"/>
      <p:regular r:id="rId131"/>
      <p:bold r:id="rId132"/>
    </p:embeddedFont>
    <p:embeddedFont>
      <p:font typeface="Tajawal" panose="020B0604020202020204" charset="-78"/>
      <p:regular r:id="rId133"/>
      <p:bold r:id="rId1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وثيقة النموذج العام لمكونات البنية المؤسسية" id="{6379A7A7-AC00-4837-984B-A208BB03B352}">
          <p14:sldIdLst>
            <p14:sldId id="542"/>
            <p14:sldId id="576"/>
            <p14:sldId id="577"/>
            <p14:sldId id="578"/>
            <p14:sldId id="5333"/>
          </p14:sldIdLst>
        </p14:section>
        <p14:section name="مقدمة حول النموذج العام لمكونات البنية المؤسسية" id="{C10D3DF1-FB9E-4E6B-8328-C9DA3E93948C}">
          <p14:sldIdLst>
            <p14:sldId id="597"/>
            <p14:sldId id="634"/>
            <p14:sldId id="595"/>
            <p14:sldId id="5456"/>
            <p14:sldId id="629"/>
          </p14:sldIdLst>
        </p14:section>
        <p14:section name="نظرة عامة عن النموذج العام لمكونات البنية المؤسسية" id="{C79F56EC-9E94-47B3-8017-32A47F779F6F}">
          <p14:sldIdLst>
            <p14:sldId id="5252"/>
            <p14:sldId id="5458"/>
          </p14:sldIdLst>
        </p14:section>
        <p14:section name="تفاصيل النموذج العام لمكونات البنية المؤسسية" id="{78D51040-EB0C-40FF-8C07-663D05954762}">
          <p14:sldIdLst>
            <p14:sldId id="5486"/>
          </p14:sldIdLst>
        </p14:section>
        <p14:section name="وحدات بناء &quot;عامة / مشتركة&quot;" id="{D1893502-D76C-418D-A68D-55EF7A6B2E1E}">
          <p14:sldIdLst>
            <p14:sldId id="5378"/>
            <p14:sldId id="5459"/>
            <p14:sldId id="5379"/>
            <p14:sldId id="5465"/>
            <p14:sldId id="5409"/>
            <p14:sldId id="5534"/>
            <p14:sldId id="5509"/>
            <p14:sldId id="5532"/>
            <p14:sldId id="5538"/>
            <p14:sldId id="5412"/>
            <p14:sldId id="5533"/>
            <p14:sldId id="5535"/>
            <p14:sldId id="5536"/>
            <p14:sldId id="5537"/>
            <p14:sldId id="5485"/>
            <p14:sldId id="5468"/>
            <p14:sldId id="5469"/>
            <p14:sldId id="5642"/>
            <p14:sldId id="5646"/>
            <p14:sldId id="5613"/>
            <p14:sldId id="5614"/>
            <p14:sldId id="5617"/>
            <p14:sldId id="5618"/>
          </p14:sldIdLst>
        </p14:section>
        <p14:section name="وحدات البناء لمجال بنية الأعمال" id="{495935D3-F0AE-4455-BA0B-03CAE4C78D02}">
          <p14:sldIdLst>
            <p14:sldId id="5399"/>
            <p14:sldId id="5460"/>
            <p14:sldId id="5447"/>
            <p14:sldId id="5487"/>
            <p14:sldId id="5539"/>
            <p14:sldId id="5420"/>
            <p14:sldId id="5540"/>
            <p14:sldId id="5424"/>
            <p14:sldId id="5422"/>
            <p14:sldId id="5551"/>
            <p14:sldId id="5544"/>
            <p14:sldId id="5425"/>
            <p14:sldId id="5426"/>
            <p14:sldId id="5545"/>
            <p14:sldId id="5546"/>
            <p14:sldId id="5547"/>
            <p14:sldId id="5548"/>
            <p14:sldId id="5619"/>
            <p14:sldId id="5647"/>
            <p14:sldId id="5648"/>
            <p14:sldId id="5649"/>
            <p14:sldId id="5633"/>
            <p14:sldId id="5634"/>
          </p14:sldIdLst>
        </p14:section>
        <p14:section name="وحدات البناء - مجال بنية تجربة المستفيد" id="{C7B90A6C-D129-4C44-A524-BA4593BE5344}">
          <p14:sldIdLst>
            <p14:sldId id="5575"/>
            <p14:sldId id="5553"/>
            <p14:sldId id="5645"/>
            <p14:sldId id="5562"/>
            <p14:sldId id="5563"/>
            <p14:sldId id="5564"/>
            <p14:sldId id="5643"/>
            <p14:sldId id="5644"/>
            <p14:sldId id="5620"/>
            <p14:sldId id="5635"/>
            <p14:sldId id="5650"/>
          </p14:sldIdLst>
        </p14:section>
        <p14:section name="وحدات البناء لمجال بنية البيانات" id="{05C5E2DB-94D1-4D3E-A9B0-7939DD88A041}">
          <p14:sldIdLst>
            <p14:sldId id="5382"/>
            <p14:sldId id="5461"/>
            <p14:sldId id="5437"/>
            <p14:sldId id="5435"/>
            <p14:sldId id="5438"/>
            <p14:sldId id="5439"/>
            <p14:sldId id="5488"/>
            <p14:sldId id="5622"/>
            <p14:sldId id="5636"/>
          </p14:sldIdLst>
        </p14:section>
        <p14:section name="وحدات البناء لمجال بنية التطبيقات" id="{E9B1860C-F113-4B53-8D27-2662DF773152}">
          <p14:sldIdLst>
            <p14:sldId id="5387"/>
            <p14:sldId id="5388"/>
            <p14:sldId id="5445"/>
            <p14:sldId id="5597"/>
            <p14:sldId id="5525"/>
            <p14:sldId id="5527"/>
            <p14:sldId id="5528"/>
            <p14:sldId id="5452"/>
            <p14:sldId id="5595"/>
            <p14:sldId id="5443"/>
            <p14:sldId id="5526"/>
            <p14:sldId id="5450"/>
            <p14:sldId id="5624"/>
            <p14:sldId id="5651"/>
            <p14:sldId id="5638"/>
          </p14:sldIdLst>
        </p14:section>
        <p14:section name="وحدات البناء لمجال بنية التقنية" id="{276E85D7-B0F4-4289-9A74-C7C3FBB83E9D}">
          <p14:sldIdLst>
            <p14:sldId id="5392"/>
            <p14:sldId id="5463"/>
            <p14:sldId id="5455"/>
            <p14:sldId id="5464"/>
            <p14:sldId id="5471"/>
            <p14:sldId id="5512"/>
            <p14:sldId id="5513"/>
            <p14:sldId id="5514"/>
            <p14:sldId id="5515"/>
            <p14:sldId id="5516"/>
            <p14:sldId id="5517"/>
            <p14:sldId id="5518"/>
            <p14:sldId id="5519"/>
            <p14:sldId id="5520"/>
            <p14:sldId id="5521"/>
            <p14:sldId id="5626"/>
            <p14:sldId id="5639"/>
            <p14:sldId id="5627"/>
            <p14:sldId id="5640"/>
          </p14:sldIdLst>
        </p14:section>
        <p14:section name="وحدات البناء - مجال بنية الأمن" id="{40013D02-9A22-4495-852F-A5381E6A92EE}">
          <p14:sldIdLst>
            <p14:sldId id="5576"/>
            <p14:sldId id="5577"/>
            <p14:sldId id="5580"/>
            <p14:sldId id="5591"/>
            <p14:sldId id="5592"/>
            <p14:sldId id="5593"/>
            <p14:sldId id="5628"/>
            <p14:sldId id="5629"/>
            <p14:sldId id="525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a  Alghadhban" initials="DA" lastIdx="10" clrIdx="0">
    <p:extLst>
      <p:ext uri="{19B8F6BF-5375-455C-9EA6-DF929625EA0E}">
        <p15:presenceInfo xmlns:p15="http://schemas.microsoft.com/office/powerpoint/2012/main" userId="S-1-5-21-2411063874-488449627-3027057399-11734" providerId="AD"/>
      </p:ext>
    </p:extLst>
  </p:cmAuthor>
  <p:cmAuthor id="2" name="Ahmed Shawky" initials="A" lastIdx="2" clrIdx="1">
    <p:extLst>
      <p:ext uri="{19B8F6BF-5375-455C-9EA6-DF929625EA0E}">
        <p15:presenceInfo xmlns:p15="http://schemas.microsoft.com/office/powerpoint/2012/main" userId="Ahmed Shawky" providerId="None"/>
      </p:ext>
    </p:extLst>
  </p:cmAuthor>
  <p:cmAuthor id="3" name="Ahmed Shawky" initials="AS" lastIdx="18" clrIdx="2">
    <p:extLst>
      <p:ext uri="{19B8F6BF-5375-455C-9EA6-DF929625EA0E}">
        <p15:presenceInfo xmlns:p15="http://schemas.microsoft.com/office/powerpoint/2012/main" userId="S::a.shawky@rmg-sa.com::e8ca3da9-d268-4851-a55d-39b83f2b78e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F5A053"/>
    <a:srgbClr val="3FA0D9"/>
    <a:srgbClr val="4C3C8D"/>
    <a:srgbClr val="E5E5E7"/>
    <a:srgbClr val="392D6A"/>
    <a:srgbClr val="B2D9F0"/>
    <a:srgbClr val="8CC6E8"/>
    <a:srgbClr val="51B4C2"/>
    <a:srgbClr val="2256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86975" autoAdjust="0"/>
    <p:restoredTop sz="95408" autoAdjust="0"/>
  </p:normalViewPr>
  <p:slideViewPr>
    <p:cSldViewPr snapToGrid="0">
      <p:cViewPr varScale="1">
        <p:scale>
          <a:sx n="46" d="100"/>
          <a:sy n="46" d="100"/>
        </p:scale>
        <p:origin x="78" y="825"/>
      </p:cViewPr>
      <p:guideLst/>
    </p:cSldViewPr>
  </p:slideViewPr>
  <p:outlineViewPr>
    <p:cViewPr>
      <p:scale>
        <a:sx n="33" d="100"/>
        <a:sy n="33" d="100"/>
      </p:scale>
      <p:origin x="0" y="-14700"/>
    </p:cViewPr>
  </p:outlineViewPr>
  <p:notesTextViewPr>
    <p:cViewPr>
      <p:scale>
        <a:sx n="3" d="2"/>
        <a:sy n="3" d="2"/>
      </p:scale>
      <p:origin x="0" y="0"/>
    </p:cViewPr>
  </p:notesTextViewPr>
  <p:sorterViewPr>
    <p:cViewPr>
      <p:scale>
        <a:sx n="100" d="100"/>
        <a:sy n="100" d="100"/>
      </p:scale>
      <p:origin x="0" y="-217"/>
    </p:cViewPr>
  </p:sorterViewPr>
  <p:notesViewPr>
    <p:cSldViewPr snapToGrid="0" showGuides="1">
      <p:cViewPr varScale="1">
        <p:scale>
          <a:sx n="82" d="100"/>
          <a:sy n="82" d="100"/>
        </p:scale>
        <p:origin x="3156" y="90"/>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font" Target="fonts/font3.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9.fntdata"/><Relationship Id="rId139"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129" Type="http://schemas.openxmlformats.org/officeDocument/2006/relationships/font" Target="fonts/font4.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5.fntdata"/><Relationship Id="rId135" Type="http://schemas.openxmlformats.org/officeDocument/2006/relationships/commentAuthors" Target="commentAuthor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6.fntdata"/><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1.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7.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8.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F3CCF8-5C26-4AF6-B7BA-B28572CBB7B8}" type="datetimeFigureOut">
              <a:rPr lang="en-US" smtClean="0"/>
              <a:t>2/15/2026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12BC3B-B80E-4787-98A9-8276652C0984}" type="slidenum">
              <a:rPr lang="en-US" smtClean="0"/>
              <a:t>‹#›</a:t>
            </a:fld>
            <a:endParaRPr lang="en-US"/>
          </a:p>
        </p:txBody>
      </p:sp>
    </p:spTree>
    <p:extLst>
      <p:ext uri="{BB962C8B-B14F-4D97-AF65-F5344CB8AC3E}">
        <p14:creationId xmlns:p14="http://schemas.microsoft.com/office/powerpoint/2010/main" val="29127117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A18F3E-C117-429A-B1A6-546895907122}" type="datetimeFigureOut">
              <a:rPr lang="en-US" smtClean="0"/>
              <a:t>2/15/2026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7FDBCA-D751-4A03-819B-45597328ED86}" type="slidenum">
              <a:rPr lang="en-US" smtClean="0"/>
              <a:t>‹#›</a:t>
            </a:fld>
            <a:endParaRPr lang="en-US"/>
          </a:p>
        </p:txBody>
      </p:sp>
    </p:spTree>
    <p:extLst>
      <p:ext uri="{BB962C8B-B14F-4D97-AF65-F5344CB8AC3E}">
        <p14:creationId xmlns:p14="http://schemas.microsoft.com/office/powerpoint/2010/main" val="38722439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r" rtl="1">
              <a:buFont typeface="Arial" panose="020B0604020202020204" pitchFamily="34" charset="0"/>
              <a:buChar char="•"/>
            </a:pPr>
            <a:endParaRPr lang="ar-EG" dirty="0"/>
          </a:p>
        </p:txBody>
      </p:sp>
      <p:sp>
        <p:nvSpPr>
          <p:cNvPr id="4" name="Slide Number Placeholder 3"/>
          <p:cNvSpPr>
            <a:spLocks noGrp="1"/>
          </p:cNvSpPr>
          <p:nvPr>
            <p:ph type="sldNum" sz="quarter" idx="5"/>
          </p:nvPr>
        </p:nvSpPr>
        <p:spPr/>
        <p:txBody>
          <a:bodyPr/>
          <a:lstStyle/>
          <a:p>
            <a:fld id="{B97FDBCA-D751-4A03-819B-45597328ED86}" type="slidenum">
              <a:rPr lang="en-US" smtClean="0"/>
              <a:t>1</a:t>
            </a:fld>
            <a:endParaRPr lang="en-US"/>
          </a:p>
        </p:txBody>
      </p:sp>
    </p:spTree>
    <p:extLst>
      <p:ext uri="{BB962C8B-B14F-4D97-AF65-F5344CB8AC3E}">
        <p14:creationId xmlns:p14="http://schemas.microsoft.com/office/powerpoint/2010/main" val="3800326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a:t>
            </a:fld>
            <a:endParaRPr lang="en-US"/>
          </a:p>
        </p:txBody>
      </p:sp>
    </p:spTree>
    <p:extLst>
      <p:ext uri="{BB962C8B-B14F-4D97-AF65-F5344CB8AC3E}">
        <p14:creationId xmlns:p14="http://schemas.microsoft.com/office/powerpoint/2010/main" val="962646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a:t>
            </a:fld>
            <a:endParaRPr lang="en-US"/>
          </a:p>
        </p:txBody>
      </p:sp>
    </p:spTree>
    <p:extLst>
      <p:ext uri="{BB962C8B-B14F-4D97-AF65-F5344CB8AC3E}">
        <p14:creationId xmlns:p14="http://schemas.microsoft.com/office/powerpoint/2010/main" val="3506166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a:t>
            </a:fld>
            <a:endParaRPr lang="en-US"/>
          </a:p>
        </p:txBody>
      </p:sp>
    </p:spTree>
    <p:extLst>
      <p:ext uri="{BB962C8B-B14F-4D97-AF65-F5344CB8AC3E}">
        <p14:creationId xmlns:p14="http://schemas.microsoft.com/office/powerpoint/2010/main" val="2022903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a:t>
            </a:fld>
            <a:endParaRPr lang="en-US"/>
          </a:p>
        </p:txBody>
      </p:sp>
    </p:spTree>
    <p:extLst>
      <p:ext uri="{BB962C8B-B14F-4D97-AF65-F5344CB8AC3E}">
        <p14:creationId xmlns:p14="http://schemas.microsoft.com/office/powerpoint/2010/main" val="3379209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8</a:t>
            </a:fld>
            <a:endParaRPr lang="en-US"/>
          </a:p>
        </p:txBody>
      </p:sp>
    </p:spTree>
    <p:extLst>
      <p:ext uri="{BB962C8B-B14F-4D97-AF65-F5344CB8AC3E}">
        <p14:creationId xmlns:p14="http://schemas.microsoft.com/office/powerpoint/2010/main" val="3328650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9</a:t>
            </a:fld>
            <a:endParaRPr lang="en-US"/>
          </a:p>
        </p:txBody>
      </p:sp>
    </p:spTree>
    <p:extLst>
      <p:ext uri="{BB962C8B-B14F-4D97-AF65-F5344CB8AC3E}">
        <p14:creationId xmlns:p14="http://schemas.microsoft.com/office/powerpoint/2010/main" val="30307175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10</a:t>
            </a:fld>
            <a:endParaRPr lang="en-US"/>
          </a:p>
        </p:txBody>
      </p:sp>
    </p:spTree>
    <p:extLst>
      <p:ext uri="{BB962C8B-B14F-4D97-AF65-F5344CB8AC3E}">
        <p14:creationId xmlns:p14="http://schemas.microsoft.com/office/powerpoint/2010/main" val="33613053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12</a:t>
            </a:fld>
            <a:endParaRPr lang="en-US"/>
          </a:p>
        </p:txBody>
      </p:sp>
    </p:spTree>
    <p:extLst>
      <p:ext uri="{BB962C8B-B14F-4D97-AF65-F5344CB8AC3E}">
        <p14:creationId xmlns:p14="http://schemas.microsoft.com/office/powerpoint/2010/main" val="22202775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14</a:t>
            </a:fld>
            <a:endParaRPr lang="en-US"/>
          </a:p>
        </p:txBody>
      </p:sp>
    </p:spTree>
    <p:extLst>
      <p:ext uri="{BB962C8B-B14F-4D97-AF65-F5344CB8AC3E}">
        <p14:creationId xmlns:p14="http://schemas.microsoft.com/office/powerpoint/2010/main" val="15161199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15</a:t>
            </a:fld>
            <a:endParaRPr lang="en-US"/>
          </a:p>
        </p:txBody>
      </p:sp>
    </p:spTree>
    <p:extLst>
      <p:ext uri="{BB962C8B-B14F-4D97-AF65-F5344CB8AC3E}">
        <p14:creationId xmlns:p14="http://schemas.microsoft.com/office/powerpoint/2010/main" val="3680866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16</a:t>
            </a:fld>
            <a:endParaRPr lang="en-US"/>
          </a:p>
        </p:txBody>
      </p:sp>
    </p:spTree>
    <p:extLst>
      <p:ext uri="{BB962C8B-B14F-4D97-AF65-F5344CB8AC3E}">
        <p14:creationId xmlns:p14="http://schemas.microsoft.com/office/powerpoint/2010/main" val="19717457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17</a:t>
            </a:fld>
            <a:endParaRPr lang="en-US"/>
          </a:p>
        </p:txBody>
      </p:sp>
    </p:spTree>
    <p:extLst>
      <p:ext uri="{BB962C8B-B14F-4D97-AF65-F5344CB8AC3E}">
        <p14:creationId xmlns:p14="http://schemas.microsoft.com/office/powerpoint/2010/main" val="13993642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18</a:t>
            </a:fld>
            <a:endParaRPr lang="en-US"/>
          </a:p>
        </p:txBody>
      </p:sp>
    </p:spTree>
    <p:extLst>
      <p:ext uri="{BB962C8B-B14F-4D97-AF65-F5344CB8AC3E}">
        <p14:creationId xmlns:p14="http://schemas.microsoft.com/office/powerpoint/2010/main" val="8062992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9112A-4493-0C3E-88B9-F390B6CF77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344C40-A9EE-F885-7A33-417A6B19D4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365F9F-82A5-AF6F-81A7-4EEB4C523AE7}"/>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1A751AF6-4220-E75D-ED19-DCB89CC116D8}"/>
              </a:ext>
            </a:extLst>
          </p:cNvPr>
          <p:cNvSpPr>
            <a:spLocks noGrp="1"/>
          </p:cNvSpPr>
          <p:nvPr>
            <p:ph type="sldNum" sz="quarter" idx="5"/>
          </p:nvPr>
        </p:nvSpPr>
        <p:spPr/>
        <p:txBody>
          <a:bodyPr/>
          <a:lstStyle/>
          <a:p>
            <a:fld id="{B97FDBCA-D751-4A03-819B-45597328ED86}" type="slidenum">
              <a:rPr lang="en-US" smtClean="0"/>
              <a:t>19</a:t>
            </a:fld>
            <a:endParaRPr lang="en-US"/>
          </a:p>
        </p:txBody>
      </p:sp>
    </p:spTree>
    <p:extLst>
      <p:ext uri="{BB962C8B-B14F-4D97-AF65-F5344CB8AC3E}">
        <p14:creationId xmlns:p14="http://schemas.microsoft.com/office/powerpoint/2010/main" val="21233565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33BCB-F755-C249-F538-DD739BE447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99251C-4C7A-0C54-D979-CB4D9B7115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B9340C-C656-89F4-5230-3DEF6F6A9C5B}"/>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9CE9BC0A-FE93-E6CF-E0A9-FD8E2A469D50}"/>
              </a:ext>
            </a:extLst>
          </p:cNvPr>
          <p:cNvSpPr>
            <a:spLocks noGrp="1"/>
          </p:cNvSpPr>
          <p:nvPr>
            <p:ph type="sldNum" sz="quarter" idx="5"/>
          </p:nvPr>
        </p:nvSpPr>
        <p:spPr/>
        <p:txBody>
          <a:bodyPr/>
          <a:lstStyle/>
          <a:p>
            <a:fld id="{B97FDBCA-D751-4A03-819B-45597328ED86}" type="slidenum">
              <a:rPr lang="en-US" smtClean="0"/>
              <a:t>20</a:t>
            </a:fld>
            <a:endParaRPr lang="en-US"/>
          </a:p>
        </p:txBody>
      </p:sp>
    </p:spTree>
    <p:extLst>
      <p:ext uri="{BB962C8B-B14F-4D97-AF65-F5344CB8AC3E}">
        <p14:creationId xmlns:p14="http://schemas.microsoft.com/office/powerpoint/2010/main" val="3718310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21</a:t>
            </a:fld>
            <a:endParaRPr lang="en-US"/>
          </a:p>
        </p:txBody>
      </p:sp>
    </p:spTree>
    <p:extLst>
      <p:ext uri="{BB962C8B-B14F-4D97-AF65-F5344CB8AC3E}">
        <p14:creationId xmlns:p14="http://schemas.microsoft.com/office/powerpoint/2010/main" val="4546039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A019A-B653-A83A-FE18-5DDCFA8BE0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F2F04E-9709-31A1-36EE-B7DD0C9F4F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A96C15-D59F-5E07-E808-DB3737F21890}"/>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7722B837-21CA-646E-43A3-7F7AB471E4E0}"/>
              </a:ext>
            </a:extLst>
          </p:cNvPr>
          <p:cNvSpPr>
            <a:spLocks noGrp="1"/>
          </p:cNvSpPr>
          <p:nvPr>
            <p:ph type="sldNum" sz="quarter" idx="5"/>
          </p:nvPr>
        </p:nvSpPr>
        <p:spPr/>
        <p:txBody>
          <a:bodyPr/>
          <a:lstStyle/>
          <a:p>
            <a:fld id="{B97FDBCA-D751-4A03-819B-45597328ED86}" type="slidenum">
              <a:rPr lang="en-US" smtClean="0"/>
              <a:t>22</a:t>
            </a:fld>
            <a:endParaRPr lang="en-US"/>
          </a:p>
        </p:txBody>
      </p:sp>
    </p:spTree>
    <p:extLst>
      <p:ext uri="{BB962C8B-B14F-4D97-AF65-F5344CB8AC3E}">
        <p14:creationId xmlns:p14="http://schemas.microsoft.com/office/powerpoint/2010/main" val="32809004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23</a:t>
            </a:fld>
            <a:endParaRPr lang="en-US"/>
          </a:p>
        </p:txBody>
      </p:sp>
    </p:spTree>
    <p:extLst>
      <p:ext uri="{BB962C8B-B14F-4D97-AF65-F5344CB8AC3E}">
        <p14:creationId xmlns:p14="http://schemas.microsoft.com/office/powerpoint/2010/main" val="2935575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24</a:t>
            </a:fld>
            <a:endParaRPr lang="en-US"/>
          </a:p>
        </p:txBody>
      </p:sp>
    </p:spTree>
    <p:extLst>
      <p:ext uri="{BB962C8B-B14F-4D97-AF65-F5344CB8AC3E}">
        <p14:creationId xmlns:p14="http://schemas.microsoft.com/office/powerpoint/2010/main" val="24152792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25</a:t>
            </a:fld>
            <a:endParaRPr lang="en-US"/>
          </a:p>
        </p:txBody>
      </p:sp>
    </p:spTree>
    <p:extLst>
      <p:ext uri="{BB962C8B-B14F-4D97-AF65-F5344CB8AC3E}">
        <p14:creationId xmlns:p14="http://schemas.microsoft.com/office/powerpoint/2010/main" val="32513398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26</a:t>
            </a:fld>
            <a:endParaRPr lang="en-US"/>
          </a:p>
        </p:txBody>
      </p:sp>
    </p:spTree>
    <p:extLst>
      <p:ext uri="{BB962C8B-B14F-4D97-AF65-F5344CB8AC3E}">
        <p14:creationId xmlns:p14="http://schemas.microsoft.com/office/powerpoint/2010/main" val="2452273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59754-4BF4-4462-01A7-C89E407198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6A430-1FA2-2D42-88F7-043AE31E76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D91953-778A-12CD-29F0-E89D892BD224}"/>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B69DC92C-5490-CB06-1991-76FAD8F8B9D0}"/>
              </a:ext>
            </a:extLst>
          </p:cNvPr>
          <p:cNvSpPr>
            <a:spLocks noGrp="1"/>
          </p:cNvSpPr>
          <p:nvPr>
            <p:ph type="sldNum" sz="quarter" idx="5"/>
          </p:nvPr>
        </p:nvSpPr>
        <p:spPr/>
        <p:txBody>
          <a:bodyPr/>
          <a:lstStyle/>
          <a:p>
            <a:fld id="{B97FDBCA-D751-4A03-819B-45597328ED86}" type="slidenum">
              <a:rPr lang="en-US" smtClean="0"/>
              <a:t>27</a:t>
            </a:fld>
            <a:endParaRPr lang="en-US"/>
          </a:p>
        </p:txBody>
      </p:sp>
    </p:spTree>
    <p:extLst>
      <p:ext uri="{BB962C8B-B14F-4D97-AF65-F5344CB8AC3E}">
        <p14:creationId xmlns:p14="http://schemas.microsoft.com/office/powerpoint/2010/main" val="38229280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28</a:t>
            </a:fld>
            <a:endParaRPr lang="en-US"/>
          </a:p>
        </p:txBody>
      </p:sp>
    </p:spTree>
    <p:extLst>
      <p:ext uri="{BB962C8B-B14F-4D97-AF65-F5344CB8AC3E}">
        <p14:creationId xmlns:p14="http://schemas.microsoft.com/office/powerpoint/2010/main" val="9637500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29</a:t>
            </a:fld>
            <a:endParaRPr lang="en-US"/>
          </a:p>
        </p:txBody>
      </p:sp>
    </p:spTree>
    <p:extLst>
      <p:ext uri="{BB962C8B-B14F-4D97-AF65-F5344CB8AC3E}">
        <p14:creationId xmlns:p14="http://schemas.microsoft.com/office/powerpoint/2010/main" val="32000873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30</a:t>
            </a:fld>
            <a:endParaRPr lang="en-US"/>
          </a:p>
        </p:txBody>
      </p:sp>
    </p:spTree>
    <p:extLst>
      <p:ext uri="{BB962C8B-B14F-4D97-AF65-F5344CB8AC3E}">
        <p14:creationId xmlns:p14="http://schemas.microsoft.com/office/powerpoint/2010/main" val="27234676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31</a:t>
            </a:fld>
            <a:endParaRPr lang="en-US"/>
          </a:p>
        </p:txBody>
      </p:sp>
    </p:spTree>
    <p:extLst>
      <p:ext uri="{BB962C8B-B14F-4D97-AF65-F5344CB8AC3E}">
        <p14:creationId xmlns:p14="http://schemas.microsoft.com/office/powerpoint/2010/main" val="31157772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32</a:t>
            </a:fld>
            <a:endParaRPr lang="en-US"/>
          </a:p>
        </p:txBody>
      </p:sp>
    </p:spTree>
    <p:extLst>
      <p:ext uri="{BB962C8B-B14F-4D97-AF65-F5344CB8AC3E}">
        <p14:creationId xmlns:p14="http://schemas.microsoft.com/office/powerpoint/2010/main" val="39553434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33</a:t>
            </a:fld>
            <a:endParaRPr lang="en-US"/>
          </a:p>
        </p:txBody>
      </p:sp>
    </p:spTree>
    <p:extLst>
      <p:ext uri="{BB962C8B-B14F-4D97-AF65-F5344CB8AC3E}">
        <p14:creationId xmlns:p14="http://schemas.microsoft.com/office/powerpoint/2010/main" val="40585209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34</a:t>
            </a:fld>
            <a:endParaRPr lang="en-US"/>
          </a:p>
        </p:txBody>
      </p:sp>
    </p:spTree>
    <p:extLst>
      <p:ext uri="{BB962C8B-B14F-4D97-AF65-F5344CB8AC3E}">
        <p14:creationId xmlns:p14="http://schemas.microsoft.com/office/powerpoint/2010/main" val="29175100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35</a:t>
            </a:fld>
            <a:endParaRPr lang="en-US"/>
          </a:p>
        </p:txBody>
      </p:sp>
    </p:spTree>
    <p:extLst>
      <p:ext uri="{BB962C8B-B14F-4D97-AF65-F5344CB8AC3E}">
        <p14:creationId xmlns:p14="http://schemas.microsoft.com/office/powerpoint/2010/main" val="14325044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36</a:t>
            </a:fld>
            <a:endParaRPr lang="en-US"/>
          </a:p>
        </p:txBody>
      </p:sp>
    </p:spTree>
    <p:extLst>
      <p:ext uri="{BB962C8B-B14F-4D97-AF65-F5344CB8AC3E}">
        <p14:creationId xmlns:p14="http://schemas.microsoft.com/office/powerpoint/2010/main" val="14808539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37</a:t>
            </a:fld>
            <a:endParaRPr lang="en-US"/>
          </a:p>
        </p:txBody>
      </p:sp>
    </p:spTree>
    <p:extLst>
      <p:ext uri="{BB962C8B-B14F-4D97-AF65-F5344CB8AC3E}">
        <p14:creationId xmlns:p14="http://schemas.microsoft.com/office/powerpoint/2010/main" val="6676372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38</a:t>
            </a:fld>
            <a:endParaRPr lang="en-US"/>
          </a:p>
        </p:txBody>
      </p:sp>
    </p:spTree>
    <p:extLst>
      <p:ext uri="{BB962C8B-B14F-4D97-AF65-F5344CB8AC3E}">
        <p14:creationId xmlns:p14="http://schemas.microsoft.com/office/powerpoint/2010/main" val="10636401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39</a:t>
            </a:fld>
            <a:endParaRPr lang="en-US"/>
          </a:p>
        </p:txBody>
      </p:sp>
    </p:spTree>
    <p:extLst>
      <p:ext uri="{BB962C8B-B14F-4D97-AF65-F5344CB8AC3E}">
        <p14:creationId xmlns:p14="http://schemas.microsoft.com/office/powerpoint/2010/main" val="22307254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D3351-2BA5-C2B4-14E7-29C0CD65E8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93FD4-1943-6B60-4570-9BB2575AE7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62F01F-7BA4-B360-8067-3AE07EB1A94A}"/>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CB7AC52E-8A9D-B5D3-31E8-AD74FF8FADBC}"/>
              </a:ext>
            </a:extLst>
          </p:cNvPr>
          <p:cNvSpPr>
            <a:spLocks noGrp="1"/>
          </p:cNvSpPr>
          <p:nvPr>
            <p:ph type="sldNum" sz="quarter" idx="5"/>
          </p:nvPr>
        </p:nvSpPr>
        <p:spPr/>
        <p:txBody>
          <a:bodyPr/>
          <a:lstStyle/>
          <a:p>
            <a:fld id="{B97FDBCA-D751-4A03-819B-45597328ED86}" type="slidenum">
              <a:rPr lang="en-US" smtClean="0"/>
              <a:t>40</a:t>
            </a:fld>
            <a:endParaRPr lang="en-US"/>
          </a:p>
        </p:txBody>
      </p:sp>
    </p:spTree>
    <p:extLst>
      <p:ext uri="{BB962C8B-B14F-4D97-AF65-F5344CB8AC3E}">
        <p14:creationId xmlns:p14="http://schemas.microsoft.com/office/powerpoint/2010/main" val="40017504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41</a:t>
            </a:fld>
            <a:endParaRPr lang="en-US"/>
          </a:p>
        </p:txBody>
      </p:sp>
    </p:spTree>
    <p:extLst>
      <p:ext uri="{BB962C8B-B14F-4D97-AF65-F5344CB8AC3E}">
        <p14:creationId xmlns:p14="http://schemas.microsoft.com/office/powerpoint/2010/main" val="39235360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42</a:t>
            </a:fld>
            <a:endParaRPr lang="en-US"/>
          </a:p>
        </p:txBody>
      </p:sp>
    </p:spTree>
    <p:extLst>
      <p:ext uri="{BB962C8B-B14F-4D97-AF65-F5344CB8AC3E}">
        <p14:creationId xmlns:p14="http://schemas.microsoft.com/office/powerpoint/2010/main" val="13450163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43</a:t>
            </a:fld>
            <a:endParaRPr lang="en-US"/>
          </a:p>
        </p:txBody>
      </p:sp>
    </p:spTree>
    <p:extLst>
      <p:ext uri="{BB962C8B-B14F-4D97-AF65-F5344CB8AC3E}">
        <p14:creationId xmlns:p14="http://schemas.microsoft.com/office/powerpoint/2010/main" val="17675665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44</a:t>
            </a:fld>
            <a:endParaRPr lang="en-US"/>
          </a:p>
        </p:txBody>
      </p:sp>
    </p:spTree>
    <p:extLst>
      <p:ext uri="{BB962C8B-B14F-4D97-AF65-F5344CB8AC3E}">
        <p14:creationId xmlns:p14="http://schemas.microsoft.com/office/powerpoint/2010/main" val="3696307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45</a:t>
            </a:fld>
            <a:endParaRPr lang="en-US"/>
          </a:p>
        </p:txBody>
      </p:sp>
    </p:spTree>
    <p:extLst>
      <p:ext uri="{BB962C8B-B14F-4D97-AF65-F5344CB8AC3E}">
        <p14:creationId xmlns:p14="http://schemas.microsoft.com/office/powerpoint/2010/main" val="16137903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E7961-29F5-9D12-1E9F-BB06E47E2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D2ACF1-4F82-2E67-A2AC-7043448905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161B68-B119-A6D4-FBDD-6DC798FFE712}"/>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F9381C99-67DD-6C43-024D-2C0E6EF16CC8}"/>
              </a:ext>
            </a:extLst>
          </p:cNvPr>
          <p:cNvSpPr>
            <a:spLocks noGrp="1"/>
          </p:cNvSpPr>
          <p:nvPr>
            <p:ph type="sldNum" sz="quarter" idx="5"/>
          </p:nvPr>
        </p:nvSpPr>
        <p:spPr/>
        <p:txBody>
          <a:bodyPr/>
          <a:lstStyle/>
          <a:p>
            <a:fld id="{B97FDBCA-D751-4A03-819B-45597328ED86}" type="slidenum">
              <a:rPr lang="en-US" smtClean="0"/>
              <a:t>46</a:t>
            </a:fld>
            <a:endParaRPr lang="en-US"/>
          </a:p>
        </p:txBody>
      </p:sp>
    </p:spTree>
    <p:extLst>
      <p:ext uri="{BB962C8B-B14F-4D97-AF65-F5344CB8AC3E}">
        <p14:creationId xmlns:p14="http://schemas.microsoft.com/office/powerpoint/2010/main" val="31544837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9D206-7207-5B80-068F-61C1C33DFF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FF3CE6-6D3D-0A4A-307B-ABD25F15C5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A1F55-0180-E606-4FA8-90445B6A421F}"/>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25AB7E03-798A-482E-A7B6-7AE08D8D7439}"/>
              </a:ext>
            </a:extLst>
          </p:cNvPr>
          <p:cNvSpPr>
            <a:spLocks noGrp="1"/>
          </p:cNvSpPr>
          <p:nvPr>
            <p:ph type="sldNum" sz="quarter" idx="5"/>
          </p:nvPr>
        </p:nvSpPr>
        <p:spPr/>
        <p:txBody>
          <a:bodyPr/>
          <a:lstStyle/>
          <a:p>
            <a:fld id="{B97FDBCA-D751-4A03-819B-45597328ED86}" type="slidenum">
              <a:rPr lang="en-US" smtClean="0"/>
              <a:t>47</a:t>
            </a:fld>
            <a:endParaRPr lang="en-US"/>
          </a:p>
        </p:txBody>
      </p:sp>
    </p:spTree>
    <p:extLst>
      <p:ext uri="{BB962C8B-B14F-4D97-AF65-F5344CB8AC3E}">
        <p14:creationId xmlns:p14="http://schemas.microsoft.com/office/powerpoint/2010/main" val="19739569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48</a:t>
            </a:fld>
            <a:endParaRPr lang="en-US"/>
          </a:p>
        </p:txBody>
      </p:sp>
    </p:spTree>
    <p:extLst>
      <p:ext uri="{BB962C8B-B14F-4D97-AF65-F5344CB8AC3E}">
        <p14:creationId xmlns:p14="http://schemas.microsoft.com/office/powerpoint/2010/main" val="15799085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49</a:t>
            </a:fld>
            <a:endParaRPr lang="en-US"/>
          </a:p>
        </p:txBody>
      </p:sp>
    </p:spTree>
    <p:extLst>
      <p:ext uri="{BB962C8B-B14F-4D97-AF65-F5344CB8AC3E}">
        <p14:creationId xmlns:p14="http://schemas.microsoft.com/office/powerpoint/2010/main" val="5579234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02A90-1A8B-18E8-586B-66AB4BD7A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DB17D-BA08-A578-9AB4-6BD212466A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C06BDC-F6D3-EEE2-F4DA-AF3C61AA8461}"/>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B1AA5FFE-B1F7-3DB8-A01C-33E7669E2776}"/>
              </a:ext>
            </a:extLst>
          </p:cNvPr>
          <p:cNvSpPr>
            <a:spLocks noGrp="1"/>
          </p:cNvSpPr>
          <p:nvPr>
            <p:ph type="sldNum" sz="quarter" idx="5"/>
          </p:nvPr>
        </p:nvSpPr>
        <p:spPr/>
        <p:txBody>
          <a:bodyPr/>
          <a:lstStyle/>
          <a:p>
            <a:fld id="{B97FDBCA-D751-4A03-819B-45597328ED86}" type="slidenum">
              <a:rPr lang="en-US" smtClean="0"/>
              <a:t>50</a:t>
            </a:fld>
            <a:endParaRPr lang="en-US"/>
          </a:p>
        </p:txBody>
      </p:sp>
    </p:spTree>
    <p:extLst>
      <p:ext uri="{BB962C8B-B14F-4D97-AF65-F5344CB8AC3E}">
        <p14:creationId xmlns:p14="http://schemas.microsoft.com/office/powerpoint/2010/main" val="48315733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610E4-1ED7-AE14-61CF-142D654C0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64CBE-81E6-965D-FDFB-067C3AC9F8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ABBC93-BF00-4964-984E-846D7E74081F}"/>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3D7E091D-294A-2110-00BA-576C247D69F6}"/>
              </a:ext>
            </a:extLst>
          </p:cNvPr>
          <p:cNvSpPr>
            <a:spLocks noGrp="1"/>
          </p:cNvSpPr>
          <p:nvPr>
            <p:ph type="sldNum" sz="quarter" idx="5"/>
          </p:nvPr>
        </p:nvSpPr>
        <p:spPr/>
        <p:txBody>
          <a:bodyPr/>
          <a:lstStyle/>
          <a:p>
            <a:fld id="{B97FDBCA-D751-4A03-819B-45597328ED86}" type="slidenum">
              <a:rPr lang="en-US" smtClean="0"/>
              <a:t>51</a:t>
            </a:fld>
            <a:endParaRPr lang="en-US"/>
          </a:p>
        </p:txBody>
      </p:sp>
    </p:spTree>
    <p:extLst>
      <p:ext uri="{BB962C8B-B14F-4D97-AF65-F5344CB8AC3E}">
        <p14:creationId xmlns:p14="http://schemas.microsoft.com/office/powerpoint/2010/main" val="8448669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57969-5C67-1CE1-BC66-2AFC1E6969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5E5E4-3CDE-D9DF-A130-24B9DDA982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BE2D6-8361-0E48-9150-C8249A085ABD}"/>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967875F8-9D7B-868B-5682-4FBAB34F58A4}"/>
              </a:ext>
            </a:extLst>
          </p:cNvPr>
          <p:cNvSpPr>
            <a:spLocks noGrp="1"/>
          </p:cNvSpPr>
          <p:nvPr>
            <p:ph type="sldNum" sz="quarter" idx="5"/>
          </p:nvPr>
        </p:nvSpPr>
        <p:spPr/>
        <p:txBody>
          <a:bodyPr/>
          <a:lstStyle/>
          <a:p>
            <a:fld id="{B97FDBCA-D751-4A03-819B-45597328ED86}" type="slidenum">
              <a:rPr lang="en-US" smtClean="0"/>
              <a:t>52</a:t>
            </a:fld>
            <a:endParaRPr lang="en-US"/>
          </a:p>
        </p:txBody>
      </p:sp>
    </p:spTree>
    <p:extLst>
      <p:ext uri="{BB962C8B-B14F-4D97-AF65-F5344CB8AC3E}">
        <p14:creationId xmlns:p14="http://schemas.microsoft.com/office/powerpoint/2010/main" val="13703355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ECC2C-F003-0B46-A1AC-D7DB628B22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8670C4-9496-5DC3-8532-81B449FDD6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E2567B-65BA-9287-10FE-F7DB5F4A598A}"/>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F8E659EB-2F15-D9F5-9DD1-A48A142E0AC7}"/>
              </a:ext>
            </a:extLst>
          </p:cNvPr>
          <p:cNvSpPr>
            <a:spLocks noGrp="1"/>
          </p:cNvSpPr>
          <p:nvPr>
            <p:ph type="sldNum" sz="quarter" idx="5"/>
          </p:nvPr>
        </p:nvSpPr>
        <p:spPr/>
        <p:txBody>
          <a:bodyPr/>
          <a:lstStyle/>
          <a:p>
            <a:fld id="{B97FDBCA-D751-4A03-819B-45597328ED86}" type="slidenum">
              <a:rPr lang="en-US" smtClean="0"/>
              <a:t>53</a:t>
            </a:fld>
            <a:endParaRPr lang="en-US"/>
          </a:p>
        </p:txBody>
      </p:sp>
    </p:spTree>
    <p:extLst>
      <p:ext uri="{BB962C8B-B14F-4D97-AF65-F5344CB8AC3E}">
        <p14:creationId xmlns:p14="http://schemas.microsoft.com/office/powerpoint/2010/main" val="323750930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54</a:t>
            </a:fld>
            <a:endParaRPr lang="en-US"/>
          </a:p>
        </p:txBody>
      </p:sp>
    </p:spTree>
    <p:extLst>
      <p:ext uri="{BB962C8B-B14F-4D97-AF65-F5344CB8AC3E}">
        <p14:creationId xmlns:p14="http://schemas.microsoft.com/office/powerpoint/2010/main" val="163341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55</a:t>
            </a:fld>
            <a:endParaRPr lang="en-US"/>
          </a:p>
        </p:txBody>
      </p:sp>
    </p:spTree>
    <p:extLst>
      <p:ext uri="{BB962C8B-B14F-4D97-AF65-F5344CB8AC3E}">
        <p14:creationId xmlns:p14="http://schemas.microsoft.com/office/powerpoint/2010/main" val="14309452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56</a:t>
            </a:fld>
            <a:endParaRPr lang="en-US"/>
          </a:p>
        </p:txBody>
      </p:sp>
    </p:spTree>
    <p:extLst>
      <p:ext uri="{BB962C8B-B14F-4D97-AF65-F5344CB8AC3E}">
        <p14:creationId xmlns:p14="http://schemas.microsoft.com/office/powerpoint/2010/main" val="429257850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57</a:t>
            </a:fld>
            <a:endParaRPr lang="en-US"/>
          </a:p>
        </p:txBody>
      </p:sp>
    </p:spTree>
    <p:extLst>
      <p:ext uri="{BB962C8B-B14F-4D97-AF65-F5344CB8AC3E}">
        <p14:creationId xmlns:p14="http://schemas.microsoft.com/office/powerpoint/2010/main" val="277934901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58</a:t>
            </a:fld>
            <a:endParaRPr lang="en-US"/>
          </a:p>
        </p:txBody>
      </p:sp>
    </p:spTree>
    <p:extLst>
      <p:ext uri="{BB962C8B-B14F-4D97-AF65-F5344CB8AC3E}">
        <p14:creationId xmlns:p14="http://schemas.microsoft.com/office/powerpoint/2010/main" val="4520592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59</a:t>
            </a:fld>
            <a:endParaRPr lang="en-US"/>
          </a:p>
        </p:txBody>
      </p:sp>
    </p:spTree>
    <p:extLst>
      <p:ext uri="{BB962C8B-B14F-4D97-AF65-F5344CB8AC3E}">
        <p14:creationId xmlns:p14="http://schemas.microsoft.com/office/powerpoint/2010/main" val="358472415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60</a:t>
            </a:fld>
            <a:endParaRPr lang="en-US"/>
          </a:p>
        </p:txBody>
      </p:sp>
    </p:spTree>
    <p:extLst>
      <p:ext uri="{BB962C8B-B14F-4D97-AF65-F5344CB8AC3E}">
        <p14:creationId xmlns:p14="http://schemas.microsoft.com/office/powerpoint/2010/main" val="157876726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61</a:t>
            </a:fld>
            <a:endParaRPr lang="en-US"/>
          </a:p>
        </p:txBody>
      </p:sp>
    </p:spTree>
    <p:extLst>
      <p:ext uri="{BB962C8B-B14F-4D97-AF65-F5344CB8AC3E}">
        <p14:creationId xmlns:p14="http://schemas.microsoft.com/office/powerpoint/2010/main" val="40268867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62</a:t>
            </a:fld>
            <a:endParaRPr lang="en-US"/>
          </a:p>
        </p:txBody>
      </p:sp>
    </p:spTree>
    <p:extLst>
      <p:ext uri="{BB962C8B-B14F-4D97-AF65-F5344CB8AC3E}">
        <p14:creationId xmlns:p14="http://schemas.microsoft.com/office/powerpoint/2010/main" val="5626859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63</a:t>
            </a:fld>
            <a:endParaRPr lang="en-US"/>
          </a:p>
        </p:txBody>
      </p:sp>
    </p:spTree>
    <p:extLst>
      <p:ext uri="{BB962C8B-B14F-4D97-AF65-F5344CB8AC3E}">
        <p14:creationId xmlns:p14="http://schemas.microsoft.com/office/powerpoint/2010/main" val="24110681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64</a:t>
            </a:fld>
            <a:endParaRPr lang="en-US"/>
          </a:p>
        </p:txBody>
      </p:sp>
    </p:spTree>
    <p:extLst>
      <p:ext uri="{BB962C8B-B14F-4D97-AF65-F5344CB8AC3E}">
        <p14:creationId xmlns:p14="http://schemas.microsoft.com/office/powerpoint/2010/main" val="355017749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65</a:t>
            </a:fld>
            <a:endParaRPr lang="en-US"/>
          </a:p>
        </p:txBody>
      </p:sp>
    </p:spTree>
    <p:extLst>
      <p:ext uri="{BB962C8B-B14F-4D97-AF65-F5344CB8AC3E}">
        <p14:creationId xmlns:p14="http://schemas.microsoft.com/office/powerpoint/2010/main" val="39195223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66</a:t>
            </a:fld>
            <a:endParaRPr lang="en-US"/>
          </a:p>
        </p:txBody>
      </p:sp>
    </p:spTree>
    <p:extLst>
      <p:ext uri="{BB962C8B-B14F-4D97-AF65-F5344CB8AC3E}">
        <p14:creationId xmlns:p14="http://schemas.microsoft.com/office/powerpoint/2010/main" val="352051360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67</a:t>
            </a:fld>
            <a:endParaRPr lang="en-US"/>
          </a:p>
        </p:txBody>
      </p:sp>
    </p:spTree>
    <p:extLst>
      <p:ext uri="{BB962C8B-B14F-4D97-AF65-F5344CB8AC3E}">
        <p14:creationId xmlns:p14="http://schemas.microsoft.com/office/powerpoint/2010/main" val="123459853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68</a:t>
            </a:fld>
            <a:endParaRPr lang="en-US"/>
          </a:p>
        </p:txBody>
      </p:sp>
    </p:spTree>
    <p:extLst>
      <p:ext uri="{BB962C8B-B14F-4D97-AF65-F5344CB8AC3E}">
        <p14:creationId xmlns:p14="http://schemas.microsoft.com/office/powerpoint/2010/main" val="245977979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69</a:t>
            </a:fld>
            <a:endParaRPr lang="en-US"/>
          </a:p>
        </p:txBody>
      </p:sp>
    </p:spTree>
    <p:extLst>
      <p:ext uri="{BB962C8B-B14F-4D97-AF65-F5344CB8AC3E}">
        <p14:creationId xmlns:p14="http://schemas.microsoft.com/office/powerpoint/2010/main" val="56266063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70</a:t>
            </a:fld>
            <a:endParaRPr lang="en-US"/>
          </a:p>
        </p:txBody>
      </p:sp>
    </p:spTree>
    <p:extLst>
      <p:ext uri="{BB962C8B-B14F-4D97-AF65-F5344CB8AC3E}">
        <p14:creationId xmlns:p14="http://schemas.microsoft.com/office/powerpoint/2010/main" val="61440056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71</a:t>
            </a:fld>
            <a:endParaRPr lang="en-US"/>
          </a:p>
        </p:txBody>
      </p:sp>
    </p:spTree>
    <p:extLst>
      <p:ext uri="{BB962C8B-B14F-4D97-AF65-F5344CB8AC3E}">
        <p14:creationId xmlns:p14="http://schemas.microsoft.com/office/powerpoint/2010/main" val="116848714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72</a:t>
            </a:fld>
            <a:endParaRPr lang="en-US"/>
          </a:p>
        </p:txBody>
      </p:sp>
    </p:spTree>
    <p:extLst>
      <p:ext uri="{BB962C8B-B14F-4D97-AF65-F5344CB8AC3E}">
        <p14:creationId xmlns:p14="http://schemas.microsoft.com/office/powerpoint/2010/main" val="260073380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73</a:t>
            </a:fld>
            <a:endParaRPr lang="en-US"/>
          </a:p>
        </p:txBody>
      </p:sp>
    </p:spTree>
    <p:extLst>
      <p:ext uri="{BB962C8B-B14F-4D97-AF65-F5344CB8AC3E}">
        <p14:creationId xmlns:p14="http://schemas.microsoft.com/office/powerpoint/2010/main" val="106777026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74</a:t>
            </a:fld>
            <a:endParaRPr lang="en-US"/>
          </a:p>
        </p:txBody>
      </p:sp>
    </p:spTree>
    <p:extLst>
      <p:ext uri="{BB962C8B-B14F-4D97-AF65-F5344CB8AC3E}">
        <p14:creationId xmlns:p14="http://schemas.microsoft.com/office/powerpoint/2010/main" val="204109702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75</a:t>
            </a:fld>
            <a:endParaRPr lang="en-US"/>
          </a:p>
        </p:txBody>
      </p:sp>
    </p:spTree>
    <p:extLst>
      <p:ext uri="{BB962C8B-B14F-4D97-AF65-F5344CB8AC3E}">
        <p14:creationId xmlns:p14="http://schemas.microsoft.com/office/powerpoint/2010/main" val="327496859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76</a:t>
            </a:fld>
            <a:endParaRPr lang="en-US"/>
          </a:p>
        </p:txBody>
      </p:sp>
    </p:spTree>
    <p:extLst>
      <p:ext uri="{BB962C8B-B14F-4D97-AF65-F5344CB8AC3E}">
        <p14:creationId xmlns:p14="http://schemas.microsoft.com/office/powerpoint/2010/main" val="81371169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77</a:t>
            </a:fld>
            <a:endParaRPr lang="en-US"/>
          </a:p>
        </p:txBody>
      </p:sp>
    </p:spTree>
    <p:extLst>
      <p:ext uri="{BB962C8B-B14F-4D97-AF65-F5344CB8AC3E}">
        <p14:creationId xmlns:p14="http://schemas.microsoft.com/office/powerpoint/2010/main" val="81371169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78</a:t>
            </a:fld>
            <a:endParaRPr lang="en-US"/>
          </a:p>
        </p:txBody>
      </p:sp>
    </p:spTree>
    <p:extLst>
      <p:ext uri="{BB962C8B-B14F-4D97-AF65-F5344CB8AC3E}">
        <p14:creationId xmlns:p14="http://schemas.microsoft.com/office/powerpoint/2010/main" val="55324587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79</a:t>
            </a:fld>
            <a:endParaRPr lang="en-US"/>
          </a:p>
        </p:txBody>
      </p:sp>
    </p:spTree>
    <p:extLst>
      <p:ext uri="{BB962C8B-B14F-4D97-AF65-F5344CB8AC3E}">
        <p14:creationId xmlns:p14="http://schemas.microsoft.com/office/powerpoint/2010/main" val="356590900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80</a:t>
            </a:fld>
            <a:endParaRPr lang="en-US"/>
          </a:p>
        </p:txBody>
      </p:sp>
    </p:spTree>
    <p:extLst>
      <p:ext uri="{BB962C8B-B14F-4D97-AF65-F5344CB8AC3E}">
        <p14:creationId xmlns:p14="http://schemas.microsoft.com/office/powerpoint/2010/main" val="18623208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81</a:t>
            </a:fld>
            <a:endParaRPr lang="en-US"/>
          </a:p>
        </p:txBody>
      </p:sp>
    </p:spTree>
    <p:extLst>
      <p:ext uri="{BB962C8B-B14F-4D97-AF65-F5344CB8AC3E}">
        <p14:creationId xmlns:p14="http://schemas.microsoft.com/office/powerpoint/2010/main" val="316556170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82</a:t>
            </a:fld>
            <a:endParaRPr lang="en-US"/>
          </a:p>
        </p:txBody>
      </p:sp>
    </p:spTree>
    <p:extLst>
      <p:ext uri="{BB962C8B-B14F-4D97-AF65-F5344CB8AC3E}">
        <p14:creationId xmlns:p14="http://schemas.microsoft.com/office/powerpoint/2010/main" val="190319830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83</a:t>
            </a:fld>
            <a:endParaRPr lang="en-US"/>
          </a:p>
        </p:txBody>
      </p:sp>
    </p:spTree>
    <p:extLst>
      <p:ext uri="{BB962C8B-B14F-4D97-AF65-F5344CB8AC3E}">
        <p14:creationId xmlns:p14="http://schemas.microsoft.com/office/powerpoint/2010/main" val="269123872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FDADF-ED43-93A8-69BD-528BD9C74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2CF10-BFE8-1900-3007-C53BF52FD3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DE95CA-E860-8761-3E6E-4F2963C1DAE5}"/>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23B9AA0D-3773-A6C4-92CC-7A27E81BA46B}"/>
              </a:ext>
            </a:extLst>
          </p:cNvPr>
          <p:cNvSpPr>
            <a:spLocks noGrp="1"/>
          </p:cNvSpPr>
          <p:nvPr>
            <p:ph type="sldNum" sz="quarter" idx="5"/>
          </p:nvPr>
        </p:nvSpPr>
        <p:spPr/>
        <p:txBody>
          <a:bodyPr/>
          <a:lstStyle/>
          <a:p>
            <a:fld id="{B97FDBCA-D751-4A03-819B-45597328ED86}" type="slidenum">
              <a:rPr lang="en-US" smtClean="0"/>
              <a:t>84</a:t>
            </a:fld>
            <a:endParaRPr lang="en-US"/>
          </a:p>
        </p:txBody>
      </p:sp>
    </p:spTree>
    <p:extLst>
      <p:ext uri="{BB962C8B-B14F-4D97-AF65-F5344CB8AC3E}">
        <p14:creationId xmlns:p14="http://schemas.microsoft.com/office/powerpoint/2010/main" val="85173015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C810D-CC7D-F7F3-40E5-68B226C44C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14B79C-CA69-9F4B-87E7-BD4849493E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840C81-F75D-DFBE-99F1-5A0D8E171622}"/>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4739D919-FA0C-61B9-35B1-2AAE013AE9E4}"/>
              </a:ext>
            </a:extLst>
          </p:cNvPr>
          <p:cNvSpPr>
            <a:spLocks noGrp="1"/>
          </p:cNvSpPr>
          <p:nvPr>
            <p:ph type="sldNum" sz="quarter" idx="5"/>
          </p:nvPr>
        </p:nvSpPr>
        <p:spPr/>
        <p:txBody>
          <a:bodyPr/>
          <a:lstStyle/>
          <a:p>
            <a:fld id="{B97FDBCA-D751-4A03-819B-45597328ED86}" type="slidenum">
              <a:rPr lang="en-US" smtClean="0"/>
              <a:t>85</a:t>
            </a:fld>
            <a:endParaRPr lang="en-US"/>
          </a:p>
        </p:txBody>
      </p:sp>
    </p:spTree>
    <p:extLst>
      <p:ext uri="{BB962C8B-B14F-4D97-AF65-F5344CB8AC3E}">
        <p14:creationId xmlns:p14="http://schemas.microsoft.com/office/powerpoint/2010/main" val="28518762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B4A48-563A-E8C6-A149-28E8F7D723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25796F-B5DD-D851-4BE2-B7CFF03736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AF5EC-BADE-A89A-88F1-E871DD5B7CA0}"/>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3AF28C0A-B879-FBDA-3CAF-C0359CAEEBAD}"/>
              </a:ext>
            </a:extLst>
          </p:cNvPr>
          <p:cNvSpPr>
            <a:spLocks noGrp="1"/>
          </p:cNvSpPr>
          <p:nvPr>
            <p:ph type="sldNum" sz="quarter" idx="5"/>
          </p:nvPr>
        </p:nvSpPr>
        <p:spPr/>
        <p:txBody>
          <a:bodyPr/>
          <a:lstStyle/>
          <a:p>
            <a:fld id="{B97FDBCA-D751-4A03-819B-45597328ED86}" type="slidenum">
              <a:rPr lang="en-US" smtClean="0"/>
              <a:t>86</a:t>
            </a:fld>
            <a:endParaRPr lang="en-US"/>
          </a:p>
        </p:txBody>
      </p:sp>
    </p:spTree>
    <p:extLst>
      <p:ext uri="{BB962C8B-B14F-4D97-AF65-F5344CB8AC3E}">
        <p14:creationId xmlns:p14="http://schemas.microsoft.com/office/powerpoint/2010/main" val="121688349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87</a:t>
            </a:fld>
            <a:endParaRPr lang="en-US"/>
          </a:p>
        </p:txBody>
      </p:sp>
    </p:spTree>
    <p:extLst>
      <p:ext uri="{BB962C8B-B14F-4D97-AF65-F5344CB8AC3E}">
        <p14:creationId xmlns:p14="http://schemas.microsoft.com/office/powerpoint/2010/main" val="214104495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88</a:t>
            </a:fld>
            <a:endParaRPr lang="en-US"/>
          </a:p>
        </p:txBody>
      </p:sp>
    </p:spTree>
    <p:extLst>
      <p:ext uri="{BB962C8B-B14F-4D97-AF65-F5344CB8AC3E}">
        <p14:creationId xmlns:p14="http://schemas.microsoft.com/office/powerpoint/2010/main" val="315490295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89</a:t>
            </a:fld>
            <a:endParaRPr lang="en-US"/>
          </a:p>
        </p:txBody>
      </p:sp>
    </p:spTree>
    <p:extLst>
      <p:ext uri="{BB962C8B-B14F-4D97-AF65-F5344CB8AC3E}">
        <p14:creationId xmlns:p14="http://schemas.microsoft.com/office/powerpoint/2010/main" val="263838971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F2FC1-BA4E-32B7-6126-B96115F075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938E55-83E2-1DB9-E8C4-3B037339A2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5E3309-5F3C-80C7-40B5-C0EBAE4A1DE1}"/>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7EFD8128-08A1-F8F0-3B56-19340AC79B5B}"/>
              </a:ext>
            </a:extLst>
          </p:cNvPr>
          <p:cNvSpPr>
            <a:spLocks noGrp="1"/>
          </p:cNvSpPr>
          <p:nvPr>
            <p:ph type="sldNum" sz="quarter" idx="5"/>
          </p:nvPr>
        </p:nvSpPr>
        <p:spPr/>
        <p:txBody>
          <a:bodyPr/>
          <a:lstStyle/>
          <a:p>
            <a:fld id="{B97FDBCA-D751-4A03-819B-45597328ED86}" type="slidenum">
              <a:rPr lang="en-US" smtClean="0"/>
              <a:t>90</a:t>
            </a:fld>
            <a:endParaRPr lang="en-US"/>
          </a:p>
        </p:txBody>
      </p:sp>
    </p:spTree>
    <p:extLst>
      <p:ext uri="{BB962C8B-B14F-4D97-AF65-F5344CB8AC3E}">
        <p14:creationId xmlns:p14="http://schemas.microsoft.com/office/powerpoint/2010/main" val="10133802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91</a:t>
            </a:fld>
            <a:endParaRPr lang="en-US"/>
          </a:p>
        </p:txBody>
      </p:sp>
    </p:spTree>
    <p:extLst>
      <p:ext uri="{BB962C8B-B14F-4D97-AF65-F5344CB8AC3E}">
        <p14:creationId xmlns:p14="http://schemas.microsoft.com/office/powerpoint/2010/main" val="246042268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92</a:t>
            </a:fld>
            <a:endParaRPr lang="en-US"/>
          </a:p>
        </p:txBody>
      </p:sp>
    </p:spTree>
    <p:extLst>
      <p:ext uri="{BB962C8B-B14F-4D97-AF65-F5344CB8AC3E}">
        <p14:creationId xmlns:p14="http://schemas.microsoft.com/office/powerpoint/2010/main" val="279842999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93</a:t>
            </a:fld>
            <a:endParaRPr lang="en-US"/>
          </a:p>
        </p:txBody>
      </p:sp>
    </p:spTree>
    <p:extLst>
      <p:ext uri="{BB962C8B-B14F-4D97-AF65-F5344CB8AC3E}">
        <p14:creationId xmlns:p14="http://schemas.microsoft.com/office/powerpoint/2010/main" val="14116851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94</a:t>
            </a:fld>
            <a:endParaRPr lang="en-US"/>
          </a:p>
        </p:txBody>
      </p:sp>
    </p:spTree>
    <p:extLst>
      <p:ext uri="{BB962C8B-B14F-4D97-AF65-F5344CB8AC3E}">
        <p14:creationId xmlns:p14="http://schemas.microsoft.com/office/powerpoint/2010/main" val="106237459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95</a:t>
            </a:fld>
            <a:endParaRPr lang="en-US"/>
          </a:p>
        </p:txBody>
      </p:sp>
    </p:spTree>
    <p:extLst>
      <p:ext uri="{BB962C8B-B14F-4D97-AF65-F5344CB8AC3E}">
        <p14:creationId xmlns:p14="http://schemas.microsoft.com/office/powerpoint/2010/main" val="201752036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96</a:t>
            </a:fld>
            <a:endParaRPr lang="en-US"/>
          </a:p>
        </p:txBody>
      </p:sp>
    </p:spTree>
    <p:extLst>
      <p:ext uri="{BB962C8B-B14F-4D97-AF65-F5344CB8AC3E}">
        <p14:creationId xmlns:p14="http://schemas.microsoft.com/office/powerpoint/2010/main" val="79981484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97</a:t>
            </a:fld>
            <a:endParaRPr lang="en-US"/>
          </a:p>
        </p:txBody>
      </p:sp>
    </p:spTree>
    <p:extLst>
      <p:ext uri="{BB962C8B-B14F-4D97-AF65-F5344CB8AC3E}">
        <p14:creationId xmlns:p14="http://schemas.microsoft.com/office/powerpoint/2010/main" val="378779552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98</a:t>
            </a:fld>
            <a:endParaRPr lang="en-US"/>
          </a:p>
        </p:txBody>
      </p:sp>
    </p:spTree>
    <p:extLst>
      <p:ext uri="{BB962C8B-B14F-4D97-AF65-F5344CB8AC3E}">
        <p14:creationId xmlns:p14="http://schemas.microsoft.com/office/powerpoint/2010/main" val="287435691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99</a:t>
            </a:fld>
            <a:endParaRPr lang="en-US"/>
          </a:p>
        </p:txBody>
      </p:sp>
    </p:spTree>
    <p:extLst>
      <p:ext uri="{BB962C8B-B14F-4D97-AF65-F5344CB8AC3E}">
        <p14:creationId xmlns:p14="http://schemas.microsoft.com/office/powerpoint/2010/main" val="132524933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7CDC1-1516-D7D2-16C6-DF74321AE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7A064A-7CD3-1276-7DE5-C1A5DF2941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C7D152-F7C7-E2B3-70EA-8F6029FE581A}"/>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CC1CAEA8-B70E-76AE-814B-188C3A17EC1A}"/>
              </a:ext>
            </a:extLst>
          </p:cNvPr>
          <p:cNvSpPr>
            <a:spLocks noGrp="1"/>
          </p:cNvSpPr>
          <p:nvPr>
            <p:ph type="sldNum" sz="quarter" idx="5"/>
          </p:nvPr>
        </p:nvSpPr>
        <p:spPr/>
        <p:txBody>
          <a:bodyPr/>
          <a:lstStyle/>
          <a:p>
            <a:fld id="{B97FDBCA-D751-4A03-819B-45597328ED86}" type="slidenum">
              <a:rPr lang="en-US" smtClean="0"/>
              <a:t>100</a:t>
            </a:fld>
            <a:endParaRPr lang="en-US"/>
          </a:p>
        </p:txBody>
      </p:sp>
    </p:spTree>
    <p:extLst>
      <p:ext uri="{BB962C8B-B14F-4D97-AF65-F5344CB8AC3E}">
        <p14:creationId xmlns:p14="http://schemas.microsoft.com/office/powerpoint/2010/main" val="245756715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14AA5-E6A9-04D6-A48B-6A6B525EBC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5FC1F9-5CA3-CC09-49A8-A0033379D2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5E890B-92C7-06DE-96AC-25D554411570}"/>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4ECC1CF4-8BB3-4A1B-5495-178F655142FF}"/>
              </a:ext>
            </a:extLst>
          </p:cNvPr>
          <p:cNvSpPr>
            <a:spLocks noGrp="1"/>
          </p:cNvSpPr>
          <p:nvPr>
            <p:ph type="sldNum" sz="quarter" idx="5"/>
          </p:nvPr>
        </p:nvSpPr>
        <p:spPr/>
        <p:txBody>
          <a:bodyPr/>
          <a:lstStyle/>
          <a:p>
            <a:fld id="{B97FDBCA-D751-4A03-819B-45597328ED86}" type="slidenum">
              <a:rPr lang="en-US" smtClean="0"/>
              <a:t>101</a:t>
            </a:fld>
            <a:endParaRPr lang="en-US"/>
          </a:p>
        </p:txBody>
      </p:sp>
    </p:spTree>
    <p:extLst>
      <p:ext uri="{BB962C8B-B14F-4D97-AF65-F5344CB8AC3E}">
        <p14:creationId xmlns:p14="http://schemas.microsoft.com/office/powerpoint/2010/main" val="99361655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A7566-EB85-DAFF-CE51-D0742C10B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D681AB-C909-9D27-1EDD-B790346A8E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69FBFC-980A-63F4-0843-B57ED5E2DE6D}"/>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EDB4E122-43F5-45A0-389D-2E47EB5714BD}"/>
              </a:ext>
            </a:extLst>
          </p:cNvPr>
          <p:cNvSpPr>
            <a:spLocks noGrp="1"/>
          </p:cNvSpPr>
          <p:nvPr>
            <p:ph type="sldNum" sz="quarter" idx="5"/>
          </p:nvPr>
        </p:nvSpPr>
        <p:spPr/>
        <p:txBody>
          <a:bodyPr/>
          <a:lstStyle/>
          <a:p>
            <a:fld id="{B97FDBCA-D751-4A03-819B-45597328ED86}" type="slidenum">
              <a:rPr lang="en-US" smtClean="0"/>
              <a:t>102</a:t>
            </a:fld>
            <a:endParaRPr lang="en-US"/>
          </a:p>
        </p:txBody>
      </p:sp>
    </p:spTree>
    <p:extLst>
      <p:ext uri="{BB962C8B-B14F-4D97-AF65-F5344CB8AC3E}">
        <p14:creationId xmlns:p14="http://schemas.microsoft.com/office/powerpoint/2010/main" val="412808788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73DB1-8CCD-E1C0-FEE2-23853FBB31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AB88A-3B62-FFBE-8AA0-147B173DF5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2E2D39-CD46-3964-C8CD-E35BFA64FD6C}"/>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BC75A60C-9B5C-CB0C-3CE4-B2D5BB41A7D6}"/>
              </a:ext>
            </a:extLst>
          </p:cNvPr>
          <p:cNvSpPr>
            <a:spLocks noGrp="1"/>
          </p:cNvSpPr>
          <p:nvPr>
            <p:ph type="sldNum" sz="quarter" idx="5"/>
          </p:nvPr>
        </p:nvSpPr>
        <p:spPr/>
        <p:txBody>
          <a:bodyPr/>
          <a:lstStyle/>
          <a:p>
            <a:fld id="{B97FDBCA-D751-4A03-819B-45597328ED86}" type="slidenum">
              <a:rPr lang="en-US" smtClean="0"/>
              <a:t>103</a:t>
            </a:fld>
            <a:endParaRPr lang="en-US"/>
          </a:p>
        </p:txBody>
      </p:sp>
    </p:spTree>
    <p:extLst>
      <p:ext uri="{BB962C8B-B14F-4D97-AF65-F5344CB8AC3E}">
        <p14:creationId xmlns:p14="http://schemas.microsoft.com/office/powerpoint/2010/main" val="44247191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3A4B0-0150-F24F-725A-2671C84F0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6519BF-706D-CD90-E794-0C65FD1CD1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CF3876-4F68-5E91-5839-262BA4F490A5}"/>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B50CD227-4641-06DE-7A50-E26435E75CF2}"/>
              </a:ext>
            </a:extLst>
          </p:cNvPr>
          <p:cNvSpPr>
            <a:spLocks noGrp="1"/>
          </p:cNvSpPr>
          <p:nvPr>
            <p:ph type="sldNum" sz="quarter" idx="5"/>
          </p:nvPr>
        </p:nvSpPr>
        <p:spPr/>
        <p:txBody>
          <a:bodyPr/>
          <a:lstStyle/>
          <a:p>
            <a:fld id="{B97FDBCA-D751-4A03-819B-45597328ED86}" type="slidenum">
              <a:rPr lang="en-US" smtClean="0"/>
              <a:t>104</a:t>
            </a:fld>
            <a:endParaRPr lang="en-US"/>
          </a:p>
        </p:txBody>
      </p:sp>
    </p:spTree>
    <p:extLst>
      <p:ext uri="{BB962C8B-B14F-4D97-AF65-F5344CB8AC3E}">
        <p14:creationId xmlns:p14="http://schemas.microsoft.com/office/powerpoint/2010/main" val="402184163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2B9D6-59C3-0E6D-8851-F4F49ED171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F8CA80-3937-200B-B031-1CBFEC3115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F8551B-3003-AC7C-D4BD-3A061860942E}"/>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6EAE3F7C-E569-9D49-300B-3BDD5C993B0C}"/>
              </a:ext>
            </a:extLst>
          </p:cNvPr>
          <p:cNvSpPr>
            <a:spLocks noGrp="1"/>
          </p:cNvSpPr>
          <p:nvPr>
            <p:ph type="sldNum" sz="quarter" idx="5"/>
          </p:nvPr>
        </p:nvSpPr>
        <p:spPr/>
        <p:txBody>
          <a:bodyPr/>
          <a:lstStyle/>
          <a:p>
            <a:fld id="{B97FDBCA-D751-4A03-819B-45597328ED86}" type="slidenum">
              <a:rPr lang="en-US" smtClean="0"/>
              <a:t>105</a:t>
            </a:fld>
            <a:endParaRPr lang="en-US"/>
          </a:p>
        </p:txBody>
      </p:sp>
    </p:spTree>
    <p:extLst>
      <p:ext uri="{BB962C8B-B14F-4D97-AF65-F5344CB8AC3E}">
        <p14:creationId xmlns:p14="http://schemas.microsoft.com/office/powerpoint/2010/main" val="236823025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DEDE0-93BE-7454-F791-814BD4182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812617-A0C3-F8CA-F44D-D8EDCE257F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BB32C7-71EE-D959-2484-466FE37BFC22}"/>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89B17E85-AC31-0CE3-9A60-7C7A750328A6}"/>
              </a:ext>
            </a:extLst>
          </p:cNvPr>
          <p:cNvSpPr>
            <a:spLocks noGrp="1"/>
          </p:cNvSpPr>
          <p:nvPr>
            <p:ph type="sldNum" sz="quarter" idx="5"/>
          </p:nvPr>
        </p:nvSpPr>
        <p:spPr/>
        <p:txBody>
          <a:bodyPr/>
          <a:lstStyle/>
          <a:p>
            <a:fld id="{B97FDBCA-D751-4A03-819B-45597328ED86}" type="slidenum">
              <a:rPr lang="en-US" smtClean="0"/>
              <a:t>106</a:t>
            </a:fld>
            <a:endParaRPr lang="en-US"/>
          </a:p>
        </p:txBody>
      </p:sp>
    </p:spTree>
    <p:extLst>
      <p:ext uri="{BB962C8B-B14F-4D97-AF65-F5344CB8AC3E}">
        <p14:creationId xmlns:p14="http://schemas.microsoft.com/office/powerpoint/2010/main" val="177047494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AF12F-2351-3346-3926-88EA6BFF9F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8748E-ABF3-7582-0340-EEC290F738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A2757B-46D8-4E37-DB0D-CCE4634161CD}"/>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4D80EA08-E47D-1A6A-C07F-FD003EEDDEAC}"/>
              </a:ext>
            </a:extLst>
          </p:cNvPr>
          <p:cNvSpPr>
            <a:spLocks noGrp="1"/>
          </p:cNvSpPr>
          <p:nvPr>
            <p:ph type="sldNum" sz="quarter" idx="5"/>
          </p:nvPr>
        </p:nvSpPr>
        <p:spPr/>
        <p:txBody>
          <a:bodyPr/>
          <a:lstStyle/>
          <a:p>
            <a:fld id="{B97FDBCA-D751-4A03-819B-45597328ED86}" type="slidenum">
              <a:rPr lang="en-US" smtClean="0"/>
              <a:t>107</a:t>
            </a:fld>
            <a:endParaRPr lang="en-US"/>
          </a:p>
        </p:txBody>
      </p:sp>
    </p:spTree>
    <p:extLst>
      <p:ext uri="{BB962C8B-B14F-4D97-AF65-F5344CB8AC3E}">
        <p14:creationId xmlns:p14="http://schemas.microsoft.com/office/powerpoint/2010/main" val="421856886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EF4E6-BB1D-C07D-4045-7F9C6FFD87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7765B6-9B26-79F2-061C-A1C2BD40D5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CB8846-D125-F910-377E-22BFF5ED54CE}"/>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EF94E609-A4B1-3F2F-E8E2-E8082B102C26}"/>
              </a:ext>
            </a:extLst>
          </p:cNvPr>
          <p:cNvSpPr>
            <a:spLocks noGrp="1"/>
          </p:cNvSpPr>
          <p:nvPr>
            <p:ph type="sldNum" sz="quarter" idx="5"/>
          </p:nvPr>
        </p:nvSpPr>
        <p:spPr/>
        <p:txBody>
          <a:bodyPr/>
          <a:lstStyle/>
          <a:p>
            <a:fld id="{B97FDBCA-D751-4A03-819B-45597328ED86}" type="slidenum">
              <a:rPr lang="en-US" smtClean="0"/>
              <a:t>108</a:t>
            </a:fld>
            <a:endParaRPr lang="en-US"/>
          </a:p>
        </p:txBody>
      </p:sp>
    </p:spTree>
    <p:extLst>
      <p:ext uri="{BB962C8B-B14F-4D97-AF65-F5344CB8AC3E}">
        <p14:creationId xmlns:p14="http://schemas.microsoft.com/office/powerpoint/2010/main" val="380954530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7EC6F-8956-F3E3-DDDD-6B1FAAB89B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F7C61C-82EF-2880-CADC-D65C13B722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415217-3C2D-0114-42B4-7363799EFB58}"/>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1E7217A7-A157-BD01-D872-407BC4C6B773}"/>
              </a:ext>
            </a:extLst>
          </p:cNvPr>
          <p:cNvSpPr>
            <a:spLocks noGrp="1"/>
          </p:cNvSpPr>
          <p:nvPr>
            <p:ph type="sldNum" sz="quarter" idx="5"/>
          </p:nvPr>
        </p:nvSpPr>
        <p:spPr/>
        <p:txBody>
          <a:bodyPr/>
          <a:lstStyle/>
          <a:p>
            <a:fld id="{B97FDBCA-D751-4A03-819B-45597328ED86}" type="slidenum">
              <a:rPr lang="en-US" smtClean="0"/>
              <a:t>109</a:t>
            </a:fld>
            <a:endParaRPr lang="en-US"/>
          </a:p>
        </p:txBody>
      </p:sp>
    </p:spTree>
    <p:extLst>
      <p:ext uri="{BB962C8B-B14F-4D97-AF65-F5344CB8AC3E}">
        <p14:creationId xmlns:p14="http://schemas.microsoft.com/office/powerpoint/2010/main" val="418104994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110</a:t>
            </a:fld>
            <a:endParaRPr lang="en-US"/>
          </a:p>
        </p:txBody>
      </p:sp>
    </p:spTree>
    <p:extLst>
      <p:ext uri="{BB962C8B-B14F-4D97-AF65-F5344CB8AC3E}">
        <p14:creationId xmlns:p14="http://schemas.microsoft.com/office/powerpoint/2010/main" val="363861444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111</a:t>
            </a:fld>
            <a:endParaRPr lang="en-US"/>
          </a:p>
        </p:txBody>
      </p:sp>
    </p:spTree>
    <p:extLst>
      <p:ext uri="{BB962C8B-B14F-4D97-AF65-F5344CB8AC3E}">
        <p14:creationId xmlns:p14="http://schemas.microsoft.com/office/powerpoint/2010/main" val="230779772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112</a:t>
            </a:fld>
            <a:endParaRPr lang="en-US"/>
          </a:p>
        </p:txBody>
      </p:sp>
    </p:spTree>
    <p:extLst>
      <p:ext uri="{BB962C8B-B14F-4D97-AF65-F5344CB8AC3E}">
        <p14:creationId xmlns:p14="http://schemas.microsoft.com/office/powerpoint/2010/main" val="124169556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113</a:t>
            </a:fld>
            <a:endParaRPr lang="en-US"/>
          </a:p>
        </p:txBody>
      </p:sp>
    </p:spTree>
    <p:extLst>
      <p:ext uri="{BB962C8B-B14F-4D97-AF65-F5344CB8AC3E}">
        <p14:creationId xmlns:p14="http://schemas.microsoft.com/office/powerpoint/2010/main" val="225934903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114</a:t>
            </a:fld>
            <a:endParaRPr lang="en-US"/>
          </a:p>
        </p:txBody>
      </p:sp>
    </p:spTree>
    <p:extLst>
      <p:ext uri="{BB962C8B-B14F-4D97-AF65-F5344CB8AC3E}">
        <p14:creationId xmlns:p14="http://schemas.microsoft.com/office/powerpoint/2010/main" val="119502960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115</a:t>
            </a:fld>
            <a:endParaRPr lang="en-US"/>
          </a:p>
        </p:txBody>
      </p:sp>
    </p:spTree>
    <p:extLst>
      <p:ext uri="{BB962C8B-B14F-4D97-AF65-F5344CB8AC3E}">
        <p14:creationId xmlns:p14="http://schemas.microsoft.com/office/powerpoint/2010/main" val="124448446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116</a:t>
            </a:fld>
            <a:endParaRPr lang="en-US"/>
          </a:p>
        </p:txBody>
      </p:sp>
    </p:spTree>
    <p:extLst>
      <p:ext uri="{BB962C8B-B14F-4D97-AF65-F5344CB8AC3E}">
        <p14:creationId xmlns:p14="http://schemas.microsoft.com/office/powerpoint/2010/main" val="2793030488"/>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105A8-924F-5FCC-D609-5E7751AF8F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BDCE2D-F785-6E60-3D8D-0356CB7783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289DAB-EC04-3845-7044-1A0D8C210C02}"/>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E172F20F-BDD6-9075-B434-3C95418F7E8F}"/>
              </a:ext>
            </a:extLst>
          </p:cNvPr>
          <p:cNvSpPr>
            <a:spLocks noGrp="1"/>
          </p:cNvSpPr>
          <p:nvPr>
            <p:ph type="sldNum" sz="quarter" idx="5"/>
          </p:nvPr>
        </p:nvSpPr>
        <p:spPr/>
        <p:txBody>
          <a:bodyPr/>
          <a:lstStyle/>
          <a:p>
            <a:fld id="{B97FDBCA-D751-4A03-819B-45597328ED86}" type="slidenum">
              <a:rPr lang="en-US" smtClean="0"/>
              <a:t>117</a:t>
            </a:fld>
            <a:endParaRPr lang="en-US"/>
          </a:p>
        </p:txBody>
      </p:sp>
    </p:spTree>
    <p:extLst>
      <p:ext uri="{BB962C8B-B14F-4D97-AF65-F5344CB8AC3E}">
        <p14:creationId xmlns:p14="http://schemas.microsoft.com/office/powerpoint/2010/main" val="2374176220"/>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F1299-E2EA-9F2B-4E1B-496A75965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CD3848-4876-2FF8-570F-A1BDCF32F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D36C35-C7A2-20E7-C850-34BD17E8A454}"/>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71FF6F7D-787D-1639-8E6E-68322EA5449F}"/>
              </a:ext>
            </a:extLst>
          </p:cNvPr>
          <p:cNvSpPr>
            <a:spLocks noGrp="1"/>
          </p:cNvSpPr>
          <p:nvPr>
            <p:ph type="sldNum" sz="quarter" idx="5"/>
          </p:nvPr>
        </p:nvSpPr>
        <p:spPr/>
        <p:txBody>
          <a:bodyPr/>
          <a:lstStyle/>
          <a:p>
            <a:fld id="{B97FDBCA-D751-4A03-819B-45597328ED86}" type="slidenum">
              <a:rPr lang="en-US" smtClean="0"/>
              <a:t>118</a:t>
            </a:fld>
            <a:endParaRPr lang="en-US"/>
          </a:p>
        </p:txBody>
      </p:sp>
    </p:spTree>
    <p:extLst>
      <p:ext uri="{BB962C8B-B14F-4D97-AF65-F5344CB8AC3E}">
        <p14:creationId xmlns:p14="http://schemas.microsoft.com/office/powerpoint/2010/main" val="79994298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FE160-5977-139F-283B-64B242DE10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A75C9D-54E3-7337-814B-5951E52781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59F67C-FB85-6EBD-C697-8FFC0E7B5D8A}"/>
              </a:ext>
            </a:extLst>
          </p:cNvPr>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a:extLst>
              <a:ext uri="{FF2B5EF4-FFF2-40B4-BE49-F238E27FC236}">
                <a16:creationId xmlns:a16="http://schemas.microsoft.com/office/drawing/2014/main" id="{329DC975-41F6-8273-1089-0149EF6A57D9}"/>
              </a:ext>
            </a:extLst>
          </p:cNvPr>
          <p:cNvSpPr>
            <a:spLocks noGrp="1"/>
          </p:cNvSpPr>
          <p:nvPr>
            <p:ph type="sldNum" sz="quarter" idx="5"/>
          </p:nvPr>
        </p:nvSpPr>
        <p:spPr/>
        <p:txBody>
          <a:bodyPr/>
          <a:lstStyle/>
          <a:p>
            <a:fld id="{B97FDBCA-D751-4A03-819B-45597328ED86}" type="slidenum">
              <a:rPr lang="en-US" smtClean="0"/>
              <a:t>119</a:t>
            </a:fld>
            <a:endParaRPr lang="en-US"/>
          </a:p>
        </p:txBody>
      </p:sp>
    </p:spTree>
    <p:extLst>
      <p:ext uri="{BB962C8B-B14F-4D97-AF65-F5344CB8AC3E}">
        <p14:creationId xmlns:p14="http://schemas.microsoft.com/office/powerpoint/2010/main" val="237881101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120</a:t>
            </a:fld>
            <a:endParaRPr lang="en-US"/>
          </a:p>
        </p:txBody>
      </p:sp>
    </p:spTree>
    <p:extLst>
      <p:ext uri="{BB962C8B-B14F-4D97-AF65-F5344CB8AC3E}">
        <p14:creationId xmlns:p14="http://schemas.microsoft.com/office/powerpoint/2010/main" val="130939688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lnSpc>
                <a:spcPct val="150000"/>
              </a:lnSpc>
              <a:spcAft>
                <a:spcPts val="1200"/>
              </a:spcAft>
            </a:pPr>
            <a:br>
              <a:rPr lang="ar-SA" dirty="0"/>
            </a:br>
            <a:endParaRPr lang="en-US" dirty="0"/>
          </a:p>
        </p:txBody>
      </p:sp>
      <p:sp>
        <p:nvSpPr>
          <p:cNvPr id="4" name="Slide Number Placeholder 3"/>
          <p:cNvSpPr>
            <a:spLocks noGrp="1"/>
          </p:cNvSpPr>
          <p:nvPr>
            <p:ph type="sldNum" sz="quarter" idx="5"/>
          </p:nvPr>
        </p:nvSpPr>
        <p:spPr/>
        <p:txBody>
          <a:bodyPr/>
          <a:lstStyle/>
          <a:p>
            <a:fld id="{B97FDBCA-D751-4A03-819B-45597328ED86}" type="slidenum">
              <a:rPr lang="en-US" smtClean="0"/>
              <a:t>121</a:t>
            </a:fld>
            <a:endParaRPr lang="en-US"/>
          </a:p>
        </p:txBody>
      </p:sp>
    </p:spTree>
    <p:extLst>
      <p:ext uri="{BB962C8B-B14F-4D97-AF65-F5344CB8AC3E}">
        <p14:creationId xmlns:p14="http://schemas.microsoft.com/office/powerpoint/2010/main" val="4654035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preserve="1" userDrawn="1">
  <p:cSld name="Title Slide">
    <p:spTree>
      <p:nvGrpSpPr>
        <p:cNvPr id="1" name=""/>
        <p:cNvGrpSpPr/>
        <p:nvPr/>
      </p:nvGrpSpPr>
      <p:grpSpPr>
        <a:xfrm>
          <a:off x="0" y="0"/>
          <a:ext cx="0" cy="0"/>
          <a:chOff x="0" y="0"/>
          <a:chExt cx="0" cy="0"/>
        </a:xfrm>
      </p:grpSpPr>
      <p:pic>
        <p:nvPicPr>
          <p:cNvPr id="56" name="Picture 55" descr="A purple and white background&#10;&#10;Description automatically generated">
            <a:extLst>
              <a:ext uri="{FF2B5EF4-FFF2-40B4-BE49-F238E27FC236}">
                <a16:creationId xmlns:a16="http://schemas.microsoft.com/office/drawing/2014/main" id="{1008D6FD-44B1-6442-D7E1-6FD1426D8DD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1" name="Title 4">
            <a:extLst>
              <a:ext uri="{FF2B5EF4-FFF2-40B4-BE49-F238E27FC236}">
                <a16:creationId xmlns:a16="http://schemas.microsoft.com/office/drawing/2014/main" id="{C1AB8D8F-867E-9D96-D014-2635FC5416F7}"/>
              </a:ext>
            </a:extLst>
          </p:cNvPr>
          <p:cNvSpPr>
            <a:spLocks noGrp="1"/>
          </p:cNvSpPr>
          <p:nvPr>
            <p:ph type="title" hasCustomPrompt="1"/>
          </p:nvPr>
        </p:nvSpPr>
        <p:spPr>
          <a:xfrm>
            <a:off x="7726527" y="3749232"/>
            <a:ext cx="3855873" cy="1204833"/>
          </a:xfrm>
        </p:spPr>
        <p:txBody>
          <a:bodyPr anchor="b" anchorCtr="0"/>
          <a:lstStyle>
            <a:lvl1pPr>
              <a:lnSpc>
                <a:spcPct val="80000"/>
              </a:lnSpc>
              <a:defRPr sz="2800" baseline="0">
                <a:solidFill>
                  <a:schemeClr val="accent3"/>
                </a:solidFill>
                <a:latin typeface="DIN Next LT Arabic" panose="020B0503020203050203" pitchFamily="34" charset="-78"/>
                <a:ea typeface="DIN Next LT Arabic" panose="020B0503020203050203" pitchFamily="34" charset="-78"/>
                <a:cs typeface="DIN Next LT Arabic" panose="020B0503020203050203" pitchFamily="34" charset="-78"/>
              </a:defRPr>
            </a:lvl1pPr>
          </a:lstStyle>
          <a:p>
            <a:r>
              <a:rPr lang="ar-EG" dirty="0"/>
              <a:t>استبدل هذا العنوان بعنوان المستند المراد</a:t>
            </a:r>
          </a:p>
        </p:txBody>
      </p:sp>
      <p:sp>
        <p:nvSpPr>
          <p:cNvPr id="52" name="Subtitle 2">
            <a:extLst>
              <a:ext uri="{FF2B5EF4-FFF2-40B4-BE49-F238E27FC236}">
                <a16:creationId xmlns:a16="http://schemas.microsoft.com/office/drawing/2014/main" id="{83890CF7-C10F-BB3C-914C-AF80ABF44952}"/>
              </a:ext>
            </a:extLst>
          </p:cNvPr>
          <p:cNvSpPr>
            <a:spLocks noGrp="1"/>
          </p:cNvSpPr>
          <p:nvPr>
            <p:ph type="subTitle" idx="1" hasCustomPrompt="1"/>
          </p:nvPr>
        </p:nvSpPr>
        <p:spPr>
          <a:xfrm>
            <a:off x="7726527" y="5000247"/>
            <a:ext cx="3855873" cy="369332"/>
          </a:xfrm>
        </p:spPr>
        <p:txBody>
          <a:bodyPr wrap="square">
            <a:spAutoFit/>
          </a:bodyPr>
          <a:lstStyle>
            <a:lvl1pPr algn="r">
              <a:defRPr lang="en-US" sz="1800" baseline="0">
                <a:solidFill>
                  <a:schemeClr val="bg1"/>
                </a:solidFill>
                <a:latin typeface="DIN Next LT Arabic" panose="020B0503020203050203" pitchFamily="34" charset="-78"/>
                <a:ea typeface="DIN Next LT Arabic" panose="020B0503020203050203" pitchFamily="34" charset="-78"/>
                <a:cs typeface="DIN Next LT Arabic" panose="020B0503020203050203" pitchFamily="34" charset="-78"/>
              </a:defRPr>
            </a:lvl1pPr>
          </a:lstStyle>
          <a:p>
            <a:pPr lvl="0"/>
            <a:r>
              <a:rPr lang="ar-EG" dirty="0"/>
              <a:t>عنوان فرعي</a:t>
            </a:r>
          </a:p>
        </p:txBody>
      </p:sp>
    </p:spTree>
    <p:extLst>
      <p:ext uri="{BB962C8B-B14F-4D97-AF65-F5344CB8AC3E}">
        <p14:creationId xmlns:p14="http://schemas.microsoft.com/office/powerpoint/2010/main" val="826968348"/>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extLst>
    <p:ext uri="{DCECCB84-F9BA-43D5-87BE-67443E8EF086}">
      <p15:sldGuideLst xmlns:p15="http://schemas.microsoft.com/office/powerpoint/2012/main">
        <p15:guide id="1" orient="horz" pos="3288" userDrawn="1">
          <p15:clr>
            <a:srgbClr val="FBAE40"/>
          </p15:clr>
        </p15:guide>
        <p15:guide id="2" pos="3336" userDrawn="1">
          <p15:clr>
            <a:srgbClr val="FBAE40"/>
          </p15:clr>
        </p15:guide>
        <p15:guide id="3" pos="70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2/15/2026</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6" name="Text Placeholder 11"/>
          <p:cNvSpPr>
            <a:spLocks noGrp="1"/>
          </p:cNvSpPr>
          <p:nvPr>
            <p:ph type="body" sz="quarter" idx="23" hasCustomPrompt="1"/>
          </p:nvPr>
        </p:nvSpPr>
        <p:spPr>
          <a:xfrm>
            <a:off x="4664387"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17" name="Text Placeholder 11"/>
          <p:cNvSpPr>
            <a:spLocks noGrp="1"/>
          </p:cNvSpPr>
          <p:nvPr>
            <p:ph type="body" sz="quarter" idx="24" hasCustomPrompt="1"/>
          </p:nvPr>
        </p:nvSpPr>
        <p:spPr>
          <a:xfrm>
            <a:off x="4661165"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50" name="Text Placeholder 6"/>
          <p:cNvSpPr>
            <a:spLocks noGrp="1"/>
          </p:cNvSpPr>
          <p:nvPr>
            <p:ph type="body" sz="quarter" idx="57" hasCustomPrompt="1"/>
          </p:nvPr>
        </p:nvSpPr>
        <p:spPr>
          <a:xfrm>
            <a:off x="7715771"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39" name="Text Placeholder 11"/>
          <p:cNvSpPr>
            <a:spLocks noGrp="1"/>
          </p:cNvSpPr>
          <p:nvPr>
            <p:ph type="body" sz="quarter" idx="58" hasCustomPrompt="1"/>
          </p:nvPr>
        </p:nvSpPr>
        <p:spPr>
          <a:xfrm>
            <a:off x="4664387"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40" name="Text Placeholder 11"/>
          <p:cNvSpPr>
            <a:spLocks noGrp="1"/>
          </p:cNvSpPr>
          <p:nvPr>
            <p:ph type="body" sz="quarter" idx="59" hasCustomPrompt="1"/>
          </p:nvPr>
        </p:nvSpPr>
        <p:spPr>
          <a:xfrm>
            <a:off x="4661165"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1" name="Text Placeholder 6"/>
          <p:cNvSpPr>
            <a:spLocks noGrp="1"/>
          </p:cNvSpPr>
          <p:nvPr>
            <p:ph type="body" sz="quarter" idx="60" hasCustomPrompt="1"/>
          </p:nvPr>
        </p:nvSpPr>
        <p:spPr>
          <a:xfrm>
            <a:off x="7715771"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2" name="Text Placeholder 11"/>
          <p:cNvSpPr>
            <a:spLocks noGrp="1"/>
          </p:cNvSpPr>
          <p:nvPr>
            <p:ph type="body" sz="quarter" idx="61" hasCustomPrompt="1"/>
          </p:nvPr>
        </p:nvSpPr>
        <p:spPr>
          <a:xfrm>
            <a:off x="4664387"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43" name="Text Placeholder 11"/>
          <p:cNvSpPr>
            <a:spLocks noGrp="1"/>
          </p:cNvSpPr>
          <p:nvPr>
            <p:ph type="body" sz="quarter" idx="62" hasCustomPrompt="1"/>
          </p:nvPr>
        </p:nvSpPr>
        <p:spPr>
          <a:xfrm>
            <a:off x="4661165"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5" name="Text Placeholder 6"/>
          <p:cNvSpPr>
            <a:spLocks noGrp="1"/>
          </p:cNvSpPr>
          <p:nvPr>
            <p:ph type="body" sz="quarter" idx="63" hasCustomPrompt="1"/>
          </p:nvPr>
        </p:nvSpPr>
        <p:spPr>
          <a:xfrm>
            <a:off x="7715771"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46" name="Text Placeholder 11"/>
          <p:cNvSpPr>
            <a:spLocks noGrp="1"/>
          </p:cNvSpPr>
          <p:nvPr>
            <p:ph type="body" sz="quarter" idx="64" hasCustomPrompt="1"/>
          </p:nvPr>
        </p:nvSpPr>
        <p:spPr>
          <a:xfrm>
            <a:off x="4664387"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48" name="Text Placeholder 11"/>
          <p:cNvSpPr>
            <a:spLocks noGrp="1"/>
          </p:cNvSpPr>
          <p:nvPr>
            <p:ph type="body" sz="quarter" idx="65" hasCustomPrompt="1"/>
          </p:nvPr>
        </p:nvSpPr>
        <p:spPr>
          <a:xfrm>
            <a:off x="4661165"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49" name="Text Placeholder 6"/>
          <p:cNvSpPr>
            <a:spLocks noGrp="1"/>
          </p:cNvSpPr>
          <p:nvPr>
            <p:ph type="body" sz="quarter" idx="66" hasCustomPrompt="1"/>
          </p:nvPr>
        </p:nvSpPr>
        <p:spPr>
          <a:xfrm>
            <a:off x="7715771"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51" name="Text Placeholder 11"/>
          <p:cNvSpPr>
            <a:spLocks noGrp="1"/>
          </p:cNvSpPr>
          <p:nvPr>
            <p:ph type="body" sz="quarter" idx="67" hasCustomPrompt="1"/>
          </p:nvPr>
        </p:nvSpPr>
        <p:spPr>
          <a:xfrm>
            <a:off x="830980" y="275787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52" name="Text Placeholder 11"/>
          <p:cNvSpPr>
            <a:spLocks noGrp="1"/>
          </p:cNvSpPr>
          <p:nvPr>
            <p:ph type="body" sz="quarter" idx="68" hasCustomPrompt="1"/>
          </p:nvPr>
        </p:nvSpPr>
        <p:spPr>
          <a:xfrm>
            <a:off x="827758" y="301250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5" name="Text Placeholder 6"/>
          <p:cNvSpPr>
            <a:spLocks noGrp="1"/>
          </p:cNvSpPr>
          <p:nvPr>
            <p:ph type="body" sz="quarter" idx="69" hasCustomPrompt="1"/>
          </p:nvPr>
        </p:nvSpPr>
        <p:spPr>
          <a:xfrm>
            <a:off x="3882364" y="267276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6" name="Text Placeholder 11"/>
          <p:cNvSpPr>
            <a:spLocks noGrp="1"/>
          </p:cNvSpPr>
          <p:nvPr>
            <p:ph type="body" sz="quarter" idx="70" hasCustomPrompt="1"/>
          </p:nvPr>
        </p:nvSpPr>
        <p:spPr>
          <a:xfrm>
            <a:off x="830980" y="3531718"/>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7" name="Text Placeholder 11"/>
          <p:cNvSpPr>
            <a:spLocks noGrp="1"/>
          </p:cNvSpPr>
          <p:nvPr>
            <p:ph type="body" sz="quarter" idx="71" hasCustomPrompt="1"/>
          </p:nvPr>
        </p:nvSpPr>
        <p:spPr>
          <a:xfrm>
            <a:off x="827758" y="3786352"/>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8" name="Text Placeholder 6"/>
          <p:cNvSpPr>
            <a:spLocks noGrp="1"/>
          </p:cNvSpPr>
          <p:nvPr>
            <p:ph type="body" sz="quarter" idx="72" hasCustomPrompt="1"/>
          </p:nvPr>
        </p:nvSpPr>
        <p:spPr>
          <a:xfrm>
            <a:off x="3882364" y="3446611"/>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9" name="Text Placeholder 11"/>
          <p:cNvSpPr>
            <a:spLocks noGrp="1"/>
          </p:cNvSpPr>
          <p:nvPr>
            <p:ph type="body" sz="quarter" idx="73" hasCustomPrompt="1"/>
          </p:nvPr>
        </p:nvSpPr>
        <p:spPr>
          <a:xfrm>
            <a:off x="830980" y="430556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0" name="Text Placeholder 11"/>
          <p:cNvSpPr>
            <a:spLocks noGrp="1"/>
          </p:cNvSpPr>
          <p:nvPr>
            <p:ph type="body" sz="quarter" idx="74" hasCustomPrompt="1"/>
          </p:nvPr>
        </p:nvSpPr>
        <p:spPr>
          <a:xfrm>
            <a:off x="827758" y="456019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1" name="Text Placeholder 6"/>
          <p:cNvSpPr>
            <a:spLocks noGrp="1"/>
          </p:cNvSpPr>
          <p:nvPr>
            <p:ph type="body" sz="quarter" idx="75" hasCustomPrompt="1"/>
          </p:nvPr>
        </p:nvSpPr>
        <p:spPr>
          <a:xfrm>
            <a:off x="3882364" y="422045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2" name="Text Placeholder 11"/>
          <p:cNvSpPr>
            <a:spLocks noGrp="1"/>
          </p:cNvSpPr>
          <p:nvPr>
            <p:ph type="body" sz="quarter" idx="76" hasCustomPrompt="1"/>
          </p:nvPr>
        </p:nvSpPr>
        <p:spPr>
          <a:xfrm>
            <a:off x="830980" y="5079408"/>
            <a:ext cx="2754247" cy="228600"/>
          </a:xfrm>
        </p:spPr>
        <p:txBody>
          <a:bodyPr lIns="0" tIns="0" rIns="0" bIns="0">
            <a:noAutofit/>
          </a:bodyPr>
          <a:lstStyle>
            <a:lvl1pPr marL="0" indent="0" algn="r" rtl="0">
              <a:buNone/>
              <a:defRPr sz="1800" b="1">
                <a:solidFill>
                  <a:schemeClr val="accent1"/>
                </a:solidFill>
              </a:defRPr>
            </a:lvl1pPr>
          </a:lstStyle>
          <a:p>
            <a:pPr lvl="0"/>
            <a:r>
              <a:rPr lang="ar-EG" dirty="0"/>
              <a:t>العنوان</a:t>
            </a:r>
            <a:endParaRPr lang="en-US" dirty="0"/>
          </a:p>
        </p:txBody>
      </p:sp>
      <p:sp>
        <p:nvSpPr>
          <p:cNvPr id="74" name="Text Placeholder 6"/>
          <p:cNvSpPr>
            <a:spLocks noGrp="1"/>
          </p:cNvSpPr>
          <p:nvPr>
            <p:ph type="body" sz="quarter" idx="78" hasCustomPrompt="1"/>
          </p:nvPr>
        </p:nvSpPr>
        <p:spPr>
          <a:xfrm>
            <a:off x="3882364" y="4994301"/>
            <a:ext cx="365760" cy="365760"/>
          </a:xfrm>
          <a:prstGeom prst="rect">
            <a:avLst/>
          </a:prstGeom>
          <a:solidFill>
            <a:schemeClr val="accent1"/>
          </a:solidFill>
          <a:ln w="15875">
            <a:noFill/>
          </a:ln>
        </p:spPr>
        <p:txBody>
          <a:bodyPr wrap="square" lIns="0" tIns="64008" rIns="0" bIns="0" anchor="ctr" anchorCtr="0">
            <a:noAutofit/>
          </a:bodyPr>
          <a:lstStyle>
            <a:lvl1pPr marL="0" indent="0" algn="ctr" rtl="0">
              <a:lnSpc>
                <a:spcPct val="100000"/>
              </a:lnSpc>
              <a:spcBef>
                <a:spcPts val="0"/>
              </a:spcBef>
              <a:buNone/>
              <a:defRPr sz="2000" b="1" kern="0" baseline="0">
                <a:solidFill>
                  <a:schemeClr val="bg1"/>
                </a:solidFill>
              </a:defRPr>
            </a:lvl1pPr>
          </a:lstStyle>
          <a:p>
            <a:pPr lvl="0"/>
            <a:r>
              <a:rPr lang="en-US" dirty="0"/>
              <a:t>#</a:t>
            </a:r>
          </a:p>
        </p:txBody>
      </p:sp>
      <p:sp>
        <p:nvSpPr>
          <p:cNvPr id="44" name="Text Placeholder 11"/>
          <p:cNvSpPr>
            <a:spLocks noGrp="1"/>
          </p:cNvSpPr>
          <p:nvPr>
            <p:ph type="body" sz="quarter" idx="79" hasCustomPrompt="1"/>
          </p:nvPr>
        </p:nvSpPr>
        <p:spPr>
          <a:xfrm>
            <a:off x="824657" y="5334042"/>
            <a:ext cx="2766892" cy="270175"/>
          </a:xfrm>
        </p:spPr>
        <p:txBody>
          <a:bodyPr lIns="0" tIns="0" rIns="0" bIns="0">
            <a:noAutofit/>
          </a:bodyPr>
          <a:lstStyle>
            <a:lvl1pPr marL="0" marR="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1" name="Text Placeholder 11"/>
          <p:cNvSpPr>
            <a:spLocks noGrp="1"/>
          </p:cNvSpPr>
          <p:nvPr>
            <p:ph type="body" sz="quarter" idx="86" hasCustomPrompt="1"/>
          </p:nvPr>
        </p:nvSpPr>
        <p:spPr>
          <a:xfrm>
            <a:off x="4664387"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62" name="Text Placeholder 11"/>
          <p:cNvSpPr>
            <a:spLocks noGrp="1"/>
          </p:cNvSpPr>
          <p:nvPr>
            <p:ph type="body" sz="quarter" idx="87" hasCustomPrompt="1"/>
          </p:nvPr>
        </p:nvSpPr>
        <p:spPr>
          <a:xfrm>
            <a:off x="4661165"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63" name="Text Placeholder 6"/>
          <p:cNvSpPr>
            <a:spLocks noGrp="1"/>
          </p:cNvSpPr>
          <p:nvPr>
            <p:ph type="body" sz="quarter" idx="88" hasCustomPrompt="1"/>
          </p:nvPr>
        </p:nvSpPr>
        <p:spPr>
          <a:xfrm>
            <a:off x="7715771"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64" name="Text Placeholder 11"/>
          <p:cNvSpPr>
            <a:spLocks noGrp="1"/>
          </p:cNvSpPr>
          <p:nvPr>
            <p:ph type="body" sz="quarter" idx="89" hasCustomPrompt="1"/>
          </p:nvPr>
        </p:nvSpPr>
        <p:spPr>
          <a:xfrm>
            <a:off x="4664387"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3" name="Text Placeholder 11"/>
          <p:cNvSpPr>
            <a:spLocks noGrp="1"/>
          </p:cNvSpPr>
          <p:nvPr>
            <p:ph type="body" sz="quarter" idx="90" hasCustomPrompt="1"/>
          </p:nvPr>
        </p:nvSpPr>
        <p:spPr>
          <a:xfrm>
            <a:off x="4661165"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5" name="Text Placeholder 6"/>
          <p:cNvSpPr>
            <a:spLocks noGrp="1"/>
          </p:cNvSpPr>
          <p:nvPr>
            <p:ph type="body" sz="quarter" idx="91" hasCustomPrompt="1"/>
          </p:nvPr>
        </p:nvSpPr>
        <p:spPr>
          <a:xfrm>
            <a:off x="7715771"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6" name="Text Placeholder 11"/>
          <p:cNvSpPr>
            <a:spLocks noGrp="1"/>
          </p:cNvSpPr>
          <p:nvPr>
            <p:ph type="body" sz="quarter" idx="92" hasCustomPrompt="1"/>
          </p:nvPr>
        </p:nvSpPr>
        <p:spPr>
          <a:xfrm>
            <a:off x="4664387"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77" name="Text Placeholder 11"/>
          <p:cNvSpPr>
            <a:spLocks noGrp="1"/>
          </p:cNvSpPr>
          <p:nvPr>
            <p:ph type="body" sz="quarter" idx="93" hasCustomPrompt="1"/>
          </p:nvPr>
        </p:nvSpPr>
        <p:spPr>
          <a:xfrm>
            <a:off x="4661165"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78" name="Text Placeholder 6"/>
          <p:cNvSpPr>
            <a:spLocks noGrp="1"/>
          </p:cNvSpPr>
          <p:nvPr>
            <p:ph type="body" sz="quarter" idx="94" hasCustomPrompt="1"/>
          </p:nvPr>
        </p:nvSpPr>
        <p:spPr>
          <a:xfrm>
            <a:off x="7715771"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79" name="Text Placeholder 11"/>
          <p:cNvSpPr>
            <a:spLocks noGrp="1"/>
          </p:cNvSpPr>
          <p:nvPr>
            <p:ph type="body" sz="quarter" idx="95" hasCustomPrompt="1"/>
          </p:nvPr>
        </p:nvSpPr>
        <p:spPr>
          <a:xfrm>
            <a:off x="830980" y="1982676"/>
            <a:ext cx="2754247" cy="228600"/>
          </a:xfrm>
        </p:spPr>
        <p:txBody>
          <a:bodyPr lIns="0" tIns="0" rIns="0" bIns="0">
            <a:noAutofit/>
          </a:bodyPr>
          <a:lstStyle>
            <a:lvl1pPr marL="0" indent="0" algn="r" rtl="1">
              <a:buNone/>
              <a:defRPr sz="1800" b="1">
                <a:solidFill>
                  <a:schemeClr val="accent1"/>
                </a:solidFill>
              </a:defRPr>
            </a:lvl1pPr>
          </a:lstStyle>
          <a:p>
            <a:pPr lvl="0"/>
            <a:r>
              <a:rPr lang="ar-EG" dirty="0"/>
              <a:t>العنوان</a:t>
            </a:r>
            <a:endParaRPr lang="en-US" dirty="0"/>
          </a:p>
        </p:txBody>
      </p:sp>
      <p:sp>
        <p:nvSpPr>
          <p:cNvPr id="80" name="Text Placeholder 11"/>
          <p:cNvSpPr>
            <a:spLocks noGrp="1"/>
          </p:cNvSpPr>
          <p:nvPr>
            <p:ph type="body" sz="quarter" idx="96" hasCustomPrompt="1"/>
          </p:nvPr>
        </p:nvSpPr>
        <p:spPr>
          <a:xfrm>
            <a:off x="827758" y="2237310"/>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1" name="Text Placeholder 6"/>
          <p:cNvSpPr>
            <a:spLocks noGrp="1"/>
          </p:cNvSpPr>
          <p:nvPr>
            <p:ph type="body" sz="quarter" idx="97" hasCustomPrompt="1"/>
          </p:nvPr>
        </p:nvSpPr>
        <p:spPr>
          <a:xfrm>
            <a:off x="3882364" y="1897569"/>
            <a:ext cx="365760" cy="365760"/>
          </a:xfrm>
          <a:prstGeom prst="rect">
            <a:avLst/>
          </a:prstGeom>
          <a:solidFill>
            <a:schemeClr val="accent1"/>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2" name="Text Placeholder 11"/>
          <p:cNvSpPr>
            <a:spLocks noGrp="1"/>
          </p:cNvSpPr>
          <p:nvPr>
            <p:ph type="body" sz="quarter" idx="98" hasCustomPrompt="1"/>
          </p:nvPr>
        </p:nvSpPr>
        <p:spPr>
          <a:xfrm>
            <a:off x="830980" y="1208831"/>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3" name="Text Placeholder 11"/>
          <p:cNvSpPr>
            <a:spLocks noGrp="1"/>
          </p:cNvSpPr>
          <p:nvPr>
            <p:ph type="body" sz="quarter" idx="99" hasCustomPrompt="1"/>
          </p:nvPr>
        </p:nvSpPr>
        <p:spPr>
          <a:xfrm>
            <a:off x="827758" y="1463465"/>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
        <p:nvSpPr>
          <p:cNvPr id="84" name="Text Placeholder 6"/>
          <p:cNvSpPr>
            <a:spLocks noGrp="1"/>
          </p:cNvSpPr>
          <p:nvPr>
            <p:ph type="body" sz="quarter" idx="100" hasCustomPrompt="1"/>
          </p:nvPr>
        </p:nvSpPr>
        <p:spPr>
          <a:xfrm>
            <a:off x="3882364" y="1123724"/>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85" name="Text Placeholder 11"/>
          <p:cNvSpPr>
            <a:spLocks noGrp="1"/>
          </p:cNvSpPr>
          <p:nvPr>
            <p:ph type="body" sz="quarter" idx="101" hasCustomPrompt="1"/>
          </p:nvPr>
        </p:nvSpPr>
        <p:spPr>
          <a:xfrm>
            <a:off x="830980" y="5853253"/>
            <a:ext cx="2754247" cy="228600"/>
          </a:xfrm>
        </p:spPr>
        <p:txBody>
          <a:bodyPr lIns="0" tIns="0" rIns="0" bIns="0">
            <a:noAutofit/>
          </a:bodyPr>
          <a:lstStyle>
            <a:lvl1pPr marL="0" indent="0" algn="r" rtl="1">
              <a:buNone/>
              <a:defRPr sz="1800" b="1">
                <a:solidFill>
                  <a:schemeClr val="accent2">
                    <a:lumMod val="75000"/>
                  </a:schemeClr>
                </a:solidFill>
              </a:defRPr>
            </a:lvl1pPr>
          </a:lstStyle>
          <a:p>
            <a:pPr lvl="0"/>
            <a:r>
              <a:rPr lang="ar-EG" dirty="0"/>
              <a:t>العنوان</a:t>
            </a:r>
            <a:endParaRPr lang="en-US" dirty="0"/>
          </a:p>
        </p:txBody>
      </p:sp>
      <p:sp>
        <p:nvSpPr>
          <p:cNvPr id="86" name="Text Placeholder 11"/>
          <p:cNvSpPr>
            <a:spLocks noGrp="1"/>
          </p:cNvSpPr>
          <p:nvPr>
            <p:ph type="body" sz="quarter" idx="102" hasCustomPrompt="1"/>
          </p:nvPr>
        </p:nvSpPr>
        <p:spPr>
          <a:xfrm>
            <a:off x="827758" y="6107887"/>
            <a:ext cx="2766892" cy="270175"/>
          </a:xfrm>
        </p:spPr>
        <p:txBody>
          <a:bodyPr lIns="0" tIns="0" rIns="0" bIns="0">
            <a:no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baseline="0">
                <a:solidFill>
                  <a:schemeClr val="tx1">
                    <a:lumMod val="50000"/>
                    <a:lumOff val="50000"/>
                  </a:schemeClr>
                </a:solidFill>
              </a:defRPr>
            </a:lvl1pPr>
          </a:lstStyle>
          <a:p>
            <a:pPr lvl="0"/>
            <a:r>
              <a:rPr lang="ar-EG" dirty="0"/>
              <a:t>تعديل النص</a:t>
            </a:r>
            <a:endParaRPr lang="en-US" dirty="0"/>
          </a:p>
        </p:txBody>
      </p:sp>
      <p:sp>
        <p:nvSpPr>
          <p:cNvPr id="87" name="Text Placeholder 6"/>
          <p:cNvSpPr>
            <a:spLocks noGrp="1"/>
          </p:cNvSpPr>
          <p:nvPr>
            <p:ph type="body" sz="quarter" idx="103" hasCustomPrompt="1"/>
          </p:nvPr>
        </p:nvSpPr>
        <p:spPr>
          <a:xfrm>
            <a:off x="3882364" y="5768146"/>
            <a:ext cx="365760" cy="365760"/>
          </a:xfrm>
          <a:prstGeom prst="rect">
            <a:avLst/>
          </a:prstGeom>
          <a:solidFill>
            <a:schemeClr val="accent2"/>
          </a:solidFill>
          <a:ln w="15875">
            <a:noFill/>
          </a:ln>
        </p:spPr>
        <p:txBody>
          <a:bodyPr wrap="square" lIns="0" tIns="64008" rIns="0" bIns="0" anchor="ctr" anchorCtr="0">
            <a:noAutofit/>
          </a:bodyPr>
          <a:lstStyle>
            <a:lvl1pPr marL="0" indent="0" algn="ctr" rtl="1">
              <a:lnSpc>
                <a:spcPct val="100000"/>
              </a:lnSpc>
              <a:spcBef>
                <a:spcPts val="0"/>
              </a:spcBef>
              <a:buNone/>
              <a:defRPr sz="2000" b="1" kern="0" baseline="0">
                <a:solidFill>
                  <a:schemeClr val="bg1"/>
                </a:solidFill>
              </a:defRPr>
            </a:lvl1pPr>
          </a:lstStyle>
          <a:p>
            <a:pPr lvl="0"/>
            <a:r>
              <a:rPr lang="en-US" dirty="0"/>
              <a:t>#</a:t>
            </a:r>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9418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bi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56EA63-0ACA-2641-5B9B-A593E15C93E8}"/>
              </a:ext>
            </a:extLst>
          </p:cNvPr>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79"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2/15/2026</a:t>
            </a:fld>
            <a:endParaRPr lang="en-US"/>
          </a:p>
        </p:txBody>
      </p:sp>
      <p:sp>
        <p:nvSpPr>
          <p:cNvPr id="180"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81" name="Slide Number Placeholder 4"/>
          <p:cNvSpPr>
            <a:spLocks noGrp="1"/>
          </p:cNvSpPr>
          <p:nvPr>
            <p:ph type="sldNum" sz="quarter" idx="12"/>
          </p:nvPr>
        </p:nvSpPr>
        <p:spPr>
          <a:xfrm>
            <a:off x="621452" y="6335328"/>
            <a:ext cx="439703" cy="320040"/>
          </a:xfrm>
        </p:spPr>
        <p:txBody>
          <a:bodyPr/>
          <a:lstStyle>
            <a:lvl1pPr algn="l" rtl="1">
              <a:defRPr sz="1200">
                <a:solidFill>
                  <a:schemeClr val="accent1"/>
                </a:solidFill>
              </a:defRPr>
            </a:lvl1pPr>
          </a:lstStyle>
          <a:p>
            <a:fld id="{46ED658E-7B78-4C3F-B2D4-66856F143B40}" type="slidenum">
              <a:rPr lang="en-US" smtClean="0"/>
              <a:pPr/>
              <a:t>‹#›</a:t>
            </a:fld>
            <a:endParaRPr lang="en-US" dirty="0"/>
          </a:p>
        </p:txBody>
      </p:sp>
      <p:sp>
        <p:nvSpPr>
          <p:cNvPr id="182" name="Title 1"/>
          <p:cNvSpPr>
            <a:spLocks noGrp="1"/>
          </p:cNvSpPr>
          <p:nvPr>
            <p:ph type="title" hasCustomPrompt="1"/>
          </p:nvPr>
        </p:nvSpPr>
        <p:spPr>
          <a:xfrm>
            <a:off x="9207769" y="3185566"/>
            <a:ext cx="2779783" cy="486869"/>
          </a:xfrm>
        </p:spPr>
        <p:txBody>
          <a:bodyPr>
            <a:noAutofit/>
          </a:bodyPr>
          <a:lstStyle>
            <a:lvl1pPr algn="ctr">
              <a:defRPr sz="3600" spc="200" baseline="0">
                <a:solidFill>
                  <a:schemeClr val="bg1"/>
                </a:solidFill>
              </a:defRPr>
            </a:lvl1pPr>
          </a:lstStyle>
          <a:p>
            <a:r>
              <a:rPr lang="ar-EG" dirty="0"/>
              <a:t>جدول المحتويات</a:t>
            </a:r>
            <a:endParaRPr lang="en-US" dirty="0"/>
          </a:p>
        </p:txBody>
      </p:sp>
      <p:sp>
        <p:nvSpPr>
          <p:cNvPr id="183" name="Text Placeholder 11"/>
          <p:cNvSpPr>
            <a:spLocks noGrp="1"/>
          </p:cNvSpPr>
          <p:nvPr>
            <p:ph type="body" sz="quarter" idx="20" hasCustomPrompt="1"/>
          </p:nvPr>
        </p:nvSpPr>
        <p:spPr>
          <a:xfrm>
            <a:off x="1307048"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4" name="Text Placeholder 11"/>
          <p:cNvSpPr>
            <a:spLocks noGrp="1"/>
          </p:cNvSpPr>
          <p:nvPr>
            <p:ph type="body" sz="quarter" idx="23" hasCustomPrompt="1"/>
          </p:nvPr>
        </p:nvSpPr>
        <p:spPr>
          <a:xfrm>
            <a:off x="4980125" y="1477694"/>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5" name="Text Placeholder 11"/>
          <p:cNvSpPr>
            <a:spLocks noGrp="1"/>
          </p:cNvSpPr>
          <p:nvPr>
            <p:ph type="body" sz="quarter" idx="32" hasCustomPrompt="1"/>
          </p:nvPr>
        </p:nvSpPr>
        <p:spPr>
          <a:xfrm>
            <a:off x="1307048"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6" name="Text Placeholder 11"/>
          <p:cNvSpPr>
            <a:spLocks noGrp="1"/>
          </p:cNvSpPr>
          <p:nvPr>
            <p:ph type="body" sz="quarter" idx="35" hasCustomPrompt="1"/>
          </p:nvPr>
        </p:nvSpPr>
        <p:spPr>
          <a:xfrm>
            <a:off x="4980125" y="230476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87" name="Text Placeholder 11"/>
          <p:cNvSpPr>
            <a:spLocks noGrp="1"/>
          </p:cNvSpPr>
          <p:nvPr>
            <p:ph type="body" sz="quarter" idx="44" hasCustomPrompt="1"/>
          </p:nvPr>
        </p:nvSpPr>
        <p:spPr>
          <a:xfrm>
            <a:off x="1307048"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8" name="Text Placeholder 11"/>
          <p:cNvSpPr>
            <a:spLocks noGrp="1"/>
          </p:cNvSpPr>
          <p:nvPr>
            <p:ph type="body" sz="quarter" idx="47" hasCustomPrompt="1"/>
          </p:nvPr>
        </p:nvSpPr>
        <p:spPr>
          <a:xfrm>
            <a:off x="4980125" y="313183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89" name="Text Placeholder 6"/>
          <p:cNvSpPr>
            <a:spLocks noGrp="1"/>
          </p:cNvSpPr>
          <p:nvPr>
            <p:ph type="body" sz="quarter" idx="54" hasCustomPrompt="1"/>
          </p:nvPr>
        </p:nvSpPr>
        <p:spPr>
          <a:xfrm>
            <a:off x="4038533"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0" name="Text Placeholder 6"/>
          <p:cNvSpPr>
            <a:spLocks noGrp="1"/>
          </p:cNvSpPr>
          <p:nvPr>
            <p:ph type="body" sz="quarter" idx="55" hasCustomPrompt="1"/>
          </p:nvPr>
        </p:nvSpPr>
        <p:spPr>
          <a:xfrm>
            <a:off x="4038533"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1" name="Text Placeholder 6"/>
          <p:cNvSpPr>
            <a:spLocks noGrp="1"/>
          </p:cNvSpPr>
          <p:nvPr>
            <p:ph type="body" sz="quarter" idx="56" hasCustomPrompt="1"/>
          </p:nvPr>
        </p:nvSpPr>
        <p:spPr>
          <a:xfrm>
            <a:off x="4038533"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2" name="Text Placeholder 6"/>
          <p:cNvSpPr>
            <a:spLocks noGrp="1"/>
          </p:cNvSpPr>
          <p:nvPr>
            <p:ph type="body" sz="quarter" idx="57" hasCustomPrompt="1"/>
          </p:nvPr>
        </p:nvSpPr>
        <p:spPr>
          <a:xfrm>
            <a:off x="7715771" y="1386812"/>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3" name="Text Placeholder 6"/>
          <p:cNvSpPr>
            <a:spLocks noGrp="1"/>
          </p:cNvSpPr>
          <p:nvPr>
            <p:ph type="body" sz="quarter" idx="58" hasCustomPrompt="1"/>
          </p:nvPr>
        </p:nvSpPr>
        <p:spPr>
          <a:xfrm>
            <a:off x="7715771" y="2216904"/>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4" name="Text Placeholder 6"/>
          <p:cNvSpPr>
            <a:spLocks noGrp="1"/>
          </p:cNvSpPr>
          <p:nvPr>
            <p:ph type="body" sz="quarter" idx="59" hasCustomPrompt="1"/>
          </p:nvPr>
        </p:nvSpPr>
        <p:spPr>
          <a:xfrm>
            <a:off x="7715771" y="3046996"/>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195" name="Text Placeholder 11"/>
          <p:cNvSpPr>
            <a:spLocks noGrp="1"/>
          </p:cNvSpPr>
          <p:nvPr>
            <p:ph type="body" sz="quarter" idx="60" hasCustomPrompt="1"/>
          </p:nvPr>
        </p:nvSpPr>
        <p:spPr>
          <a:xfrm>
            <a:off x="1307048"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6" name="Text Placeholder 11"/>
          <p:cNvSpPr>
            <a:spLocks noGrp="1"/>
          </p:cNvSpPr>
          <p:nvPr>
            <p:ph type="body" sz="quarter" idx="61" hasCustomPrompt="1"/>
          </p:nvPr>
        </p:nvSpPr>
        <p:spPr>
          <a:xfrm>
            <a:off x="4980125" y="3968953"/>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197" name="Text Placeholder 11"/>
          <p:cNvSpPr>
            <a:spLocks noGrp="1"/>
          </p:cNvSpPr>
          <p:nvPr>
            <p:ph type="body" sz="quarter" idx="62" hasCustomPrompt="1"/>
          </p:nvPr>
        </p:nvSpPr>
        <p:spPr>
          <a:xfrm>
            <a:off x="1307048"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8" name="Text Placeholder 11"/>
          <p:cNvSpPr>
            <a:spLocks noGrp="1"/>
          </p:cNvSpPr>
          <p:nvPr>
            <p:ph type="body" sz="quarter" idx="63" hasCustomPrompt="1"/>
          </p:nvPr>
        </p:nvSpPr>
        <p:spPr>
          <a:xfrm>
            <a:off x="4980125" y="4796022"/>
            <a:ext cx="2413319" cy="228600"/>
          </a:xfrm>
        </p:spPr>
        <p:txBody>
          <a:bodyPr vert="horz" lIns="0" tIns="0" rIns="0" bIns="0" rtlCol="0">
            <a:noAutofit/>
          </a:bodyPr>
          <a:lstStyle>
            <a:lvl1pPr>
              <a:defRPr lang="en-US" sz="1800" b="1" dirty="0">
                <a:solidFill>
                  <a:schemeClr val="accent2"/>
                </a:solidFill>
              </a:defRPr>
            </a:lvl1pPr>
          </a:lstStyle>
          <a:p>
            <a:pPr lvl="0"/>
            <a:r>
              <a:rPr lang="ar-EG" dirty="0"/>
              <a:t>العنوان</a:t>
            </a:r>
            <a:endParaRPr lang="en-US" dirty="0"/>
          </a:p>
        </p:txBody>
      </p:sp>
      <p:sp>
        <p:nvSpPr>
          <p:cNvPr id="199" name="Text Placeholder 11"/>
          <p:cNvSpPr>
            <a:spLocks noGrp="1"/>
          </p:cNvSpPr>
          <p:nvPr>
            <p:ph type="body" sz="quarter" idx="64" hasCustomPrompt="1"/>
          </p:nvPr>
        </p:nvSpPr>
        <p:spPr>
          <a:xfrm>
            <a:off x="1307048"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0" name="Text Placeholder 11"/>
          <p:cNvSpPr>
            <a:spLocks noGrp="1"/>
          </p:cNvSpPr>
          <p:nvPr>
            <p:ph type="body" sz="quarter" idx="65" hasCustomPrompt="1"/>
          </p:nvPr>
        </p:nvSpPr>
        <p:spPr>
          <a:xfrm>
            <a:off x="4980125" y="5623091"/>
            <a:ext cx="2413319" cy="228600"/>
          </a:xfrm>
        </p:spPr>
        <p:txBody>
          <a:bodyPr vert="horz" lIns="0" tIns="0" rIns="0" bIns="0" rtlCol="0">
            <a:noAutofit/>
          </a:bodyPr>
          <a:lstStyle>
            <a:lvl1pPr>
              <a:defRPr lang="en-US" sz="1800" b="1" dirty="0">
                <a:solidFill>
                  <a:schemeClr val="accent1"/>
                </a:solidFill>
              </a:defRPr>
            </a:lvl1pPr>
          </a:lstStyle>
          <a:p>
            <a:pPr lvl="0"/>
            <a:r>
              <a:rPr lang="ar-EG" dirty="0"/>
              <a:t>العنوان</a:t>
            </a:r>
            <a:endParaRPr lang="en-US" dirty="0"/>
          </a:p>
        </p:txBody>
      </p:sp>
      <p:sp>
        <p:nvSpPr>
          <p:cNvPr id="201" name="Text Placeholder 6"/>
          <p:cNvSpPr>
            <a:spLocks noGrp="1"/>
          </p:cNvSpPr>
          <p:nvPr>
            <p:ph type="body" sz="quarter" idx="66" hasCustomPrompt="1"/>
          </p:nvPr>
        </p:nvSpPr>
        <p:spPr>
          <a:xfrm>
            <a:off x="4038533"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2" name="Text Placeholder 6"/>
          <p:cNvSpPr>
            <a:spLocks noGrp="1"/>
          </p:cNvSpPr>
          <p:nvPr>
            <p:ph type="body" sz="quarter" idx="67" hasCustomPrompt="1"/>
          </p:nvPr>
        </p:nvSpPr>
        <p:spPr>
          <a:xfrm>
            <a:off x="4038533"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3" name="Text Placeholder 6"/>
          <p:cNvSpPr>
            <a:spLocks noGrp="1"/>
          </p:cNvSpPr>
          <p:nvPr>
            <p:ph type="body" sz="quarter" idx="68" hasCustomPrompt="1"/>
          </p:nvPr>
        </p:nvSpPr>
        <p:spPr>
          <a:xfrm>
            <a:off x="4038533"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4" name="Text Placeholder 6"/>
          <p:cNvSpPr>
            <a:spLocks noGrp="1"/>
          </p:cNvSpPr>
          <p:nvPr>
            <p:ph type="body" sz="quarter" idx="69" hasCustomPrompt="1"/>
          </p:nvPr>
        </p:nvSpPr>
        <p:spPr>
          <a:xfrm>
            <a:off x="7715771" y="3878071"/>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5" name="Text Placeholder 6"/>
          <p:cNvSpPr>
            <a:spLocks noGrp="1"/>
          </p:cNvSpPr>
          <p:nvPr>
            <p:ph type="body" sz="quarter" idx="70" hasCustomPrompt="1"/>
          </p:nvPr>
        </p:nvSpPr>
        <p:spPr>
          <a:xfrm>
            <a:off x="7715771" y="4708163"/>
            <a:ext cx="365760" cy="365760"/>
          </a:xfrm>
          <a:prstGeom prst="rect">
            <a:avLst/>
          </a:prstGeom>
          <a:solidFill>
            <a:schemeClr val="accent2"/>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sp>
        <p:nvSpPr>
          <p:cNvPr id="206" name="Text Placeholder 6"/>
          <p:cNvSpPr>
            <a:spLocks noGrp="1"/>
          </p:cNvSpPr>
          <p:nvPr>
            <p:ph type="body" sz="quarter" idx="71" hasCustomPrompt="1"/>
          </p:nvPr>
        </p:nvSpPr>
        <p:spPr>
          <a:xfrm>
            <a:off x="7715771" y="5538255"/>
            <a:ext cx="365760" cy="365760"/>
          </a:xfrm>
          <a:prstGeom prst="rect">
            <a:avLst/>
          </a:prstGeom>
          <a:solidFill>
            <a:schemeClr val="accent1"/>
          </a:solidFill>
          <a:ln w="15875">
            <a:noFill/>
          </a:ln>
        </p:spPr>
        <p:txBody>
          <a:bodyPr vert="horz" wrap="square" lIns="0" tIns="64008" rIns="0" bIns="0" rtlCol="0" anchor="ctr" anchorCtr="0">
            <a:noAutofit/>
          </a:bodyPr>
          <a:lstStyle>
            <a:lvl1pPr algn="ctr">
              <a:defRPr lang="en-US" sz="2000" b="1" kern="0" baseline="0" dirty="0">
                <a:solidFill>
                  <a:schemeClr val="bg1"/>
                </a:solidFill>
              </a:defRPr>
            </a:lvl1pPr>
          </a:lstStyle>
          <a:p>
            <a:pPr lvl="0" algn="ctr">
              <a:spcBef>
                <a:spcPts val="0"/>
              </a:spcBef>
            </a:pPr>
            <a:r>
              <a:rPr lang="en-US" dirty="0"/>
              <a:t>#</a:t>
            </a:r>
          </a:p>
        </p:txBody>
      </p:sp>
      <p:pic>
        <p:nvPicPr>
          <p:cNvPr id="3" name="Picture 2">
            <a:extLst>
              <a:ext uri="{FF2B5EF4-FFF2-40B4-BE49-F238E27FC236}">
                <a16:creationId xmlns:a16="http://schemas.microsoft.com/office/drawing/2014/main" id="{BDE1AC8B-C2AF-7EC8-8BD1-AD35C320C96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7037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preserve="1" userDrawn="1">
  <p:cSld name="1_Agenda">
    <p:spTree>
      <p:nvGrpSpPr>
        <p:cNvPr id="1" name=""/>
        <p:cNvGrpSpPr/>
        <p:nvPr/>
      </p:nvGrpSpPr>
      <p:grpSpPr>
        <a:xfrm>
          <a:off x="0" y="0"/>
          <a:ext cx="0" cy="0"/>
          <a:chOff x="0" y="0"/>
          <a:chExt cx="0" cy="0"/>
        </a:xfrm>
      </p:grpSpPr>
      <p:sp>
        <p:nvSpPr>
          <p:cNvPr id="6" name="Rectangle 5"/>
          <p:cNvSpPr/>
          <p:nvPr userDrawn="1"/>
        </p:nvSpPr>
        <p:spPr>
          <a:xfrm>
            <a:off x="8153400" y="1352939"/>
            <a:ext cx="4038600" cy="5505061"/>
          </a:xfrm>
          <a:prstGeom prst="rect">
            <a:avLst/>
          </a:prstGeom>
          <a:gradFill>
            <a:gsLst>
              <a:gs pos="100000">
                <a:schemeClr val="accent1"/>
              </a:gs>
              <a:gs pos="0">
                <a:schemeClr val="accent1"/>
              </a:gs>
            </a:gsLst>
            <a:lin ang="3000000" scaled="0"/>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7" name="Rectangle 6"/>
          <p:cNvSpPr/>
          <p:nvPr userDrawn="1"/>
        </p:nvSpPr>
        <p:spPr>
          <a:xfrm>
            <a:off x="8153400" y="-373"/>
            <a:ext cx="4038600" cy="62179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8153400" y="621419"/>
            <a:ext cx="403860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p:cNvSpPr>
            <a:spLocks noGrp="1"/>
          </p:cNvSpPr>
          <p:nvPr>
            <p:ph type="title" hasCustomPrompt="1"/>
          </p:nvPr>
        </p:nvSpPr>
        <p:spPr>
          <a:xfrm>
            <a:off x="8308759" y="621420"/>
            <a:ext cx="3727882" cy="731519"/>
          </a:xfrm>
        </p:spPr>
        <p:txBody>
          <a:bodyPr anchor="ctr" anchorCtr="0"/>
          <a:lstStyle>
            <a:lvl1pPr algn="ctr">
              <a:defRPr sz="4000">
                <a:solidFill>
                  <a:schemeClr val="accent1"/>
                </a:solidFill>
              </a:defRPr>
            </a:lvl1pPr>
          </a:lstStyle>
          <a:p>
            <a:r>
              <a:rPr lang="ar-EG" dirty="0"/>
              <a:t>جدول المحتويات</a:t>
            </a:r>
            <a:endParaRPr lang="en-US" dirty="0"/>
          </a:p>
        </p:txBody>
      </p:sp>
      <p:sp>
        <p:nvSpPr>
          <p:cNvPr id="28" name="Text Placeholder 27"/>
          <p:cNvSpPr>
            <a:spLocks noGrp="1"/>
          </p:cNvSpPr>
          <p:nvPr>
            <p:ph type="body" sz="quarter" idx="13"/>
          </p:nvPr>
        </p:nvSpPr>
        <p:spPr>
          <a:xfrm>
            <a:off x="3196257" y="160496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3" name="Text Placeholder 27"/>
          <p:cNvSpPr>
            <a:spLocks noGrp="1"/>
          </p:cNvSpPr>
          <p:nvPr>
            <p:ph type="body" sz="quarter" idx="14"/>
          </p:nvPr>
        </p:nvSpPr>
        <p:spPr>
          <a:xfrm>
            <a:off x="3196257" y="2010050"/>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6" name="Text Placeholder 27"/>
          <p:cNvSpPr>
            <a:spLocks noGrp="1"/>
          </p:cNvSpPr>
          <p:nvPr>
            <p:ph type="body" sz="quarter" idx="15"/>
          </p:nvPr>
        </p:nvSpPr>
        <p:spPr>
          <a:xfrm>
            <a:off x="3196257" y="2415137"/>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69" name="Text Placeholder 27"/>
          <p:cNvSpPr>
            <a:spLocks noGrp="1"/>
          </p:cNvSpPr>
          <p:nvPr>
            <p:ph type="body" sz="quarter" idx="16"/>
          </p:nvPr>
        </p:nvSpPr>
        <p:spPr>
          <a:xfrm>
            <a:off x="3196257" y="2820224"/>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2" name="Text Placeholder 27"/>
          <p:cNvSpPr>
            <a:spLocks noGrp="1"/>
          </p:cNvSpPr>
          <p:nvPr>
            <p:ph type="body" sz="quarter" idx="17"/>
          </p:nvPr>
        </p:nvSpPr>
        <p:spPr>
          <a:xfrm>
            <a:off x="3196257" y="3225311"/>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5" name="Text Placeholder 27"/>
          <p:cNvSpPr>
            <a:spLocks noGrp="1"/>
          </p:cNvSpPr>
          <p:nvPr>
            <p:ph type="body" sz="quarter" idx="18"/>
          </p:nvPr>
        </p:nvSpPr>
        <p:spPr>
          <a:xfrm>
            <a:off x="3196257" y="363039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78" name="Text Placeholder 27"/>
          <p:cNvSpPr>
            <a:spLocks noGrp="1"/>
          </p:cNvSpPr>
          <p:nvPr>
            <p:ph type="body" sz="quarter" idx="19"/>
          </p:nvPr>
        </p:nvSpPr>
        <p:spPr>
          <a:xfrm>
            <a:off x="3196257" y="4035485"/>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1" name="Text Placeholder 27"/>
          <p:cNvSpPr>
            <a:spLocks noGrp="1"/>
          </p:cNvSpPr>
          <p:nvPr>
            <p:ph type="body" sz="quarter" idx="20"/>
          </p:nvPr>
        </p:nvSpPr>
        <p:spPr>
          <a:xfrm>
            <a:off x="3196257" y="4440572"/>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4" name="Text Placeholder 27"/>
          <p:cNvSpPr>
            <a:spLocks noGrp="1"/>
          </p:cNvSpPr>
          <p:nvPr>
            <p:ph type="body" sz="quarter" idx="21"/>
          </p:nvPr>
        </p:nvSpPr>
        <p:spPr>
          <a:xfrm>
            <a:off x="3196257" y="4845659"/>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7" name="Text Placeholder 27"/>
          <p:cNvSpPr>
            <a:spLocks noGrp="1"/>
          </p:cNvSpPr>
          <p:nvPr>
            <p:ph type="body" sz="quarter" idx="22"/>
          </p:nvPr>
        </p:nvSpPr>
        <p:spPr>
          <a:xfrm>
            <a:off x="3196257" y="5250746"/>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0" name="Text Placeholder 27"/>
          <p:cNvSpPr>
            <a:spLocks noGrp="1"/>
          </p:cNvSpPr>
          <p:nvPr>
            <p:ph type="body" sz="quarter" idx="23"/>
          </p:nvPr>
        </p:nvSpPr>
        <p:spPr>
          <a:xfrm>
            <a:off x="3196257" y="5655833"/>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93" name="Text Placeholder 27"/>
          <p:cNvSpPr>
            <a:spLocks noGrp="1"/>
          </p:cNvSpPr>
          <p:nvPr>
            <p:ph type="body" sz="quarter" idx="24"/>
          </p:nvPr>
        </p:nvSpPr>
        <p:spPr>
          <a:xfrm>
            <a:off x="3196257" y="6060918"/>
            <a:ext cx="4748213" cy="354012"/>
          </a:xfrm>
        </p:spPr>
        <p:txBody>
          <a:bodyPr anchor="ctr" anchorCtr="0">
            <a:noAutofit/>
          </a:bodyPr>
          <a:lstStyle>
            <a:lvl1pPr marL="0" indent="0" algn="r" rtl="1">
              <a:buNone/>
              <a:defRPr sz="1800">
                <a:solidFill>
                  <a:schemeClr val="accent1"/>
                </a:solidFill>
              </a:defRPr>
            </a:lvl1pPr>
          </a:lstStyle>
          <a:p>
            <a:pPr lvl="0"/>
            <a:r>
              <a:rPr lang="en-US"/>
              <a:t>Click to edit Master text styles</a:t>
            </a:r>
          </a:p>
        </p:txBody>
      </p:sp>
      <p:sp>
        <p:nvSpPr>
          <p:cNvPr id="82" name="TextBox 81"/>
          <p:cNvSpPr txBox="1"/>
          <p:nvPr userDrawn="1"/>
        </p:nvSpPr>
        <p:spPr>
          <a:xfrm>
            <a:off x="2214857" y="2716272"/>
            <a:ext cx="1344317" cy="338554"/>
          </a:xfrm>
          <a:prstGeom prst="rect">
            <a:avLst/>
          </a:prstGeom>
          <a:noFill/>
        </p:spPr>
        <p:txBody>
          <a:bodyPr wrap="square" rtlCol="0" anchor="ctr">
            <a:spAutoFit/>
          </a:bodyPr>
          <a:lstStyle/>
          <a:p>
            <a:pPr algn="r" fontAlgn="base"/>
            <a:r>
              <a:rPr lang="en-US" sz="1600" b="1" dirty="0">
                <a:solidFill>
                  <a:schemeClr val="bg1"/>
                </a:solidFill>
                <a:latin typeface="+mj-lt"/>
                <a:ea typeface="Open Sans" panose="020B0606030504020204" pitchFamily="34" charset="0"/>
                <a:cs typeface="Open Sans" panose="020B0606030504020204" pitchFamily="34" charset="0"/>
              </a:rPr>
              <a:t>01</a:t>
            </a:r>
          </a:p>
        </p:txBody>
      </p:sp>
      <p:sp>
        <p:nvSpPr>
          <p:cNvPr id="23"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3" name="Picture 2">
            <a:extLst>
              <a:ext uri="{FF2B5EF4-FFF2-40B4-BE49-F238E27FC236}">
                <a16:creationId xmlns:a16="http://schemas.microsoft.com/office/drawing/2014/main" id="{B100176E-CEC2-70DC-C086-2D881B34126F}"/>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25434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animEffect transition="in" filter="fade">
                                      <p:cBhvr>
                                        <p:cTn id="7" dur="500"/>
                                        <p:tgtEl>
                                          <p:spTgt spid="2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3">
                                            <p:txEl>
                                              <p:pRg st="0" end="0"/>
                                            </p:txEl>
                                          </p:spTgt>
                                        </p:tgtEl>
                                        <p:attrNameLst>
                                          <p:attrName>style.visibility</p:attrName>
                                        </p:attrNameLst>
                                      </p:cBhvr>
                                      <p:to>
                                        <p:strVal val="visible"/>
                                      </p:to>
                                    </p:set>
                                    <p:animEffect transition="in" filter="fade">
                                      <p:cBhvr>
                                        <p:cTn id="10" dur="500"/>
                                        <p:tgtEl>
                                          <p:spTgt spid="6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6">
                                            <p:txEl>
                                              <p:pRg st="0" end="0"/>
                                            </p:txEl>
                                          </p:spTgt>
                                        </p:tgtEl>
                                        <p:attrNameLst>
                                          <p:attrName>style.visibility</p:attrName>
                                        </p:attrNameLst>
                                      </p:cBhvr>
                                      <p:to>
                                        <p:strVal val="visible"/>
                                      </p:to>
                                    </p:set>
                                    <p:animEffect transition="in" filter="fade">
                                      <p:cBhvr>
                                        <p:cTn id="13" dur="500"/>
                                        <p:tgtEl>
                                          <p:spTgt spid="66">
                                            <p:txEl>
                                              <p:pRg st="0" end="0"/>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9">
                                            <p:txEl>
                                              <p:pRg st="0" end="0"/>
                                            </p:txEl>
                                          </p:spTgt>
                                        </p:tgtEl>
                                        <p:attrNameLst>
                                          <p:attrName>style.visibility</p:attrName>
                                        </p:attrNameLst>
                                      </p:cBhvr>
                                      <p:to>
                                        <p:strVal val="visible"/>
                                      </p:to>
                                    </p:set>
                                    <p:animEffect transition="in" filter="fade">
                                      <p:cBhvr>
                                        <p:cTn id="16" dur="500"/>
                                        <p:tgtEl>
                                          <p:spTgt spid="69">
                                            <p:txEl>
                                              <p:pRg st="0" end="0"/>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2">
                                            <p:txEl>
                                              <p:pRg st="0" end="0"/>
                                            </p:txEl>
                                          </p:spTgt>
                                        </p:tgtEl>
                                        <p:attrNameLst>
                                          <p:attrName>style.visibility</p:attrName>
                                        </p:attrNameLst>
                                      </p:cBhvr>
                                      <p:to>
                                        <p:strVal val="visible"/>
                                      </p:to>
                                    </p:set>
                                    <p:animEffect transition="in" filter="fade">
                                      <p:cBhvr>
                                        <p:cTn id="19" dur="500"/>
                                        <p:tgtEl>
                                          <p:spTgt spid="72">
                                            <p:txEl>
                                              <p:pRg st="0" end="0"/>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5">
                                            <p:txEl>
                                              <p:pRg st="0" end="0"/>
                                            </p:txEl>
                                          </p:spTgt>
                                        </p:tgtEl>
                                        <p:attrNameLst>
                                          <p:attrName>style.visibility</p:attrName>
                                        </p:attrNameLst>
                                      </p:cBhvr>
                                      <p:to>
                                        <p:strVal val="visible"/>
                                      </p:to>
                                    </p:set>
                                    <p:animEffect transition="in" filter="fade">
                                      <p:cBhvr>
                                        <p:cTn id="22" dur="500"/>
                                        <p:tgtEl>
                                          <p:spTgt spid="75">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8">
                                            <p:txEl>
                                              <p:pRg st="0" end="0"/>
                                            </p:txEl>
                                          </p:spTgt>
                                        </p:tgtEl>
                                        <p:attrNameLst>
                                          <p:attrName>style.visibility</p:attrName>
                                        </p:attrNameLst>
                                      </p:cBhvr>
                                      <p:to>
                                        <p:strVal val="visible"/>
                                      </p:to>
                                    </p:set>
                                    <p:animEffect transition="in" filter="fade">
                                      <p:cBhvr>
                                        <p:cTn id="25" dur="500"/>
                                        <p:tgtEl>
                                          <p:spTgt spid="78">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1">
                                            <p:txEl>
                                              <p:pRg st="0" end="0"/>
                                            </p:txEl>
                                          </p:spTgt>
                                        </p:tgtEl>
                                        <p:attrNameLst>
                                          <p:attrName>style.visibility</p:attrName>
                                        </p:attrNameLst>
                                      </p:cBhvr>
                                      <p:to>
                                        <p:strVal val="visible"/>
                                      </p:to>
                                    </p:set>
                                    <p:animEffect transition="in" filter="fade">
                                      <p:cBhvr>
                                        <p:cTn id="28" dur="500"/>
                                        <p:tgtEl>
                                          <p:spTgt spid="81">
                                            <p:txEl>
                                              <p:pRg st="0" end="0"/>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4">
                                            <p:txEl>
                                              <p:pRg st="0" end="0"/>
                                            </p:txEl>
                                          </p:spTgt>
                                        </p:tgtEl>
                                        <p:attrNameLst>
                                          <p:attrName>style.visibility</p:attrName>
                                        </p:attrNameLst>
                                      </p:cBhvr>
                                      <p:to>
                                        <p:strVal val="visible"/>
                                      </p:to>
                                    </p:set>
                                    <p:animEffect transition="in" filter="fade">
                                      <p:cBhvr>
                                        <p:cTn id="31" dur="500"/>
                                        <p:tgtEl>
                                          <p:spTgt spid="84">
                                            <p:txEl>
                                              <p:pRg st="0" end="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7">
                                            <p:txEl>
                                              <p:pRg st="0" end="0"/>
                                            </p:txEl>
                                          </p:spTgt>
                                        </p:tgtEl>
                                        <p:attrNameLst>
                                          <p:attrName>style.visibility</p:attrName>
                                        </p:attrNameLst>
                                      </p:cBhvr>
                                      <p:to>
                                        <p:strVal val="visible"/>
                                      </p:to>
                                    </p:set>
                                    <p:animEffect transition="in" filter="fade">
                                      <p:cBhvr>
                                        <p:cTn id="34" dur="500"/>
                                        <p:tgtEl>
                                          <p:spTgt spid="87">
                                            <p:txEl>
                                              <p:pRg st="0" end="0"/>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90">
                                            <p:txEl>
                                              <p:pRg st="0" end="0"/>
                                            </p:txEl>
                                          </p:spTgt>
                                        </p:tgtEl>
                                        <p:attrNameLst>
                                          <p:attrName>style.visibility</p:attrName>
                                        </p:attrNameLst>
                                      </p:cBhvr>
                                      <p:to>
                                        <p:strVal val="visible"/>
                                      </p:to>
                                    </p:set>
                                    <p:animEffect transition="in" filter="fade">
                                      <p:cBhvr>
                                        <p:cTn id="37" dur="500"/>
                                        <p:tgtEl>
                                          <p:spTgt spid="90">
                                            <p:txEl>
                                              <p:pRg st="0" end="0"/>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93">
                                            <p:txEl>
                                              <p:pRg st="0" end="0"/>
                                            </p:txEl>
                                          </p:spTgt>
                                        </p:tgtEl>
                                        <p:attrNameLst>
                                          <p:attrName>style.visibility</p:attrName>
                                        </p:attrNameLst>
                                      </p:cBhvr>
                                      <p:to>
                                        <p:strVal val="visible"/>
                                      </p:to>
                                    </p:set>
                                    <p:animEffect transition="in" filter="fade">
                                      <p:cBhvr>
                                        <p:cTn id="40" dur="500"/>
                                        <p:tgtEl>
                                          <p:spTgt spid="9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uild="allAtOnce">
        <p:tmplLst>
          <p:tmpl lvl="1">
            <p:tnLst>
              <p:par>
                <p:cTn presetID="10" presetClass="entr" presetSubtype="0" fill="hold" nodeType="withEffect">
                  <p:stCondLst>
                    <p:cond delay="0"/>
                  </p:stCondLst>
                  <p:childTnLst>
                    <p:set>
                      <p:cBhvr>
                        <p:cTn dur="1" fill="hold">
                          <p:stCondLst>
                            <p:cond delay="0"/>
                          </p:stCondLst>
                        </p:cTn>
                        <p:tgtEl>
                          <p:spTgt spid="28"/>
                        </p:tgtEl>
                        <p:attrNameLst>
                          <p:attrName>style.visibility</p:attrName>
                        </p:attrNameLst>
                      </p:cBhvr>
                      <p:to>
                        <p:strVal val="visible"/>
                      </p:to>
                    </p:set>
                    <p:animEffect transition="in" filter="fade">
                      <p:cBhvr>
                        <p:cTn dur="500"/>
                        <p:tgtEl>
                          <p:spTgt spid="28"/>
                        </p:tgtEl>
                      </p:cBhvr>
                    </p:animEffect>
                  </p:childTnLst>
                </p:cTn>
              </p:par>
            </p:tnLst>
          </p:tmpl>
        </p:tmplLst>
      </p:bldP>
      <p:bldP spid="63" grpId="0" build="allAtOnce">
        <p:tmplLst>
          <p:tmpl lvl="1">
            <p:tnLst>
              <p:par>
                <p:cTn presetID="10" presetClass="entr" presetSubtype="0" fill="hold" nodeType="withEffect">
                  <p:stCondLst>
                    <p:cond delay="0"/>
                  </p:stCondLst>
                  <p:childTnLst>
                    <p:set>
                      <p:cBhvr>
                        <p:cTn dur="1" fill="hold">
                          <p:stCondLst>
                            <p:cond delay="0"/>
                          </p:stCondLst>
                        </p:cTn>
                        <p:tgtEl>
                          <p:spTgt spid="63"/>
                        </p:tgtEl>
                        <p:attrNameLst>
                          <p:attrName>style.visibility</p:attrName>
                        </p:attrNameLst>
                      </p:cBhvr>
                      <p:to>
                        <p:strVal val="visible"/>
                      </p:to>
                    </p:set>
                    <p:animEffect transition="in" filter="fade">
                      <p:cBhvr>
                        <p:cTn dur="500"/>
                        <p:tgtEl>
                          <p:spTgt spid="63"/>
                        </p:tgtEl>
                      </p:cBhvr>
                    </p:animEffect>
                  </p:childTnLst>
                </p:cTn>
              </p:par>
            </p:tnLst>
          </p:tmpl>
        </p:tmplLst>
      </p:bldP>
      <p:bldP spid="66" grpId="0" build="allAtOnce">
        <p:tmplLst>
          <p:tmpl lvl="1">
            <p:tnLst>
              <p:par>
                <p:cTn presetID="10" presetClass="entr" presetSubtype="0" fill="hold" nodeType="withEffect">
                  <p:stCondLst>
                    <p:cond delay="0"/>
                  </p:stCondLst>
                  <p:childTnLst>
                    <p:set>
                      <p:cBhvr>
                        <p:cTn dur="1" fill="hold">
                          <p:stCondLst>
                            <p:cond delay="0"/>
                          </p:stCondLst>
                        </p:cTn>
                        <p:tgtEl>
                          <p:spTgt spid="66"/>
                        </p:tgtEl>
                        <p:attrNameLst>
                          <p:attrName>style.visibility</p:attrName>
                        </p:attrNameLst>
                      </p:cBhvr>
                      <p:to>
                        <p:strVal val="visible"/>
                      </p:to>
                    </p:set>
                    <p:animEffect transition="in" filter="fade">
                      <p:cBhvr>
                        <p:cTn dur="500"/>
                        <p:tgtEl>
                          <p:spTgt spid="66"/>
                        </p:tgtEl>
                      </p:cBhvr>
                    </p:animEffect>
                  </p:childTnLst>
                </p:cTn>
              </p:par>
            </p:tnLst>
          </p:tmpl>
        </p:tmplLst>
      </p:bldP>
      <p:bldP spid="69" grpId="0" build="allAtOnce">
        <p:tmplLst>
          <p:tmpl lvl="1">
            <p:tnLst>
              <p:par>
                <p:cTn presetID="10" presetClass="entr" presetSubtype="0" fill="hold" nodeType="withEffect">
                  <p:stCondLst>
                    <p:cond delay="0"/>
                  </p:stCondLst>
                  <p:childTnLst>
                    <p:set>
                      <p:cBhvr>
                        <p:cTn dur="1" fill="hold">
                          <p:stCondLst>
                            <p:cond delay="0"/>
                          </p:stCondLst>
                        </p:cTn>
                        <p:tgtEl>
                          <p:spTgt spid="69"/>
                        </p:tgtEl>
                        <p:attrNameLst>
                          <p:attrName>style.visibility</p:attrName>
                        </p:attrNameLst>
                      </p:cBhvr>
                      <p:to>
                        <p:strVal val="visible"/>
                      </p:to>
                    </p:set>
                    <p:animEffect transition="in" filter="fade">
                      <p:cBhvr>
                        <p:cTn dur="500"/>
                        <p:tgtEl>
                          <p:spTgt spid="69"/>
                        </p:tgtEl>
                      </p:cBhvr>
                    </p:animEffect>
                  </p:childTnLst>
                </p:cTn>
              </p:par>
            </p:tnLst>
          </p:tmpl>
        </p:tmplLst>
      </p:bldP>
      <p:bldP spid="72" grpId="0" build="allAtOnce">
        <p:tmplLst>
          <p:tmpl lvl="1">
            <p:tnLst>
              <p:par>
                <p:cTn presetID="10" presetClass="entr" presetSubtype="0" fill="hold" nodeType="withEffect">
                  <p:stCondLst>
                    <p:cond delay="0"/>
                  </p:stCondLst>
                  <p:childTnLst>
                    <p:set>
                      <p:cBhvr>
                        <p:cTn dur="1" fill="hold">
                          <p:stCondLst>
                            <p:cond delay="0"/>
                          </p:stCondLst>
                        </p:cTn>
                        <p:tgtEl>
                          <p:spTgt spid="72"/>
                        </p:tgtEl>
                        <p:attrNameLst>
                          <p:attrName>style.visibility</p:attrName>
                        </p:attrNameLst>
                      </p:cBhvr>
                      <p:to>
                        <p:strVal val="visible"/>
                      </p:to>
                    </p:set>
                    <p:animEffect transition="in" filter="fade">
                      <p:cBhvr>
                        <p:cTn dur="500"/>
                        <p:tgtEl>
                          <p:spTgt spid="72"/>
                        </p:tgtEl>
                      </p:cBhvr>
                    </p:animEffect>
                  </p:childTnLst>
                </p:cTn>
              </p:par>
            </p:tnLst>
          </p:tmpl>
        </p:tmplLst>
      </p:bldP>
      <p:bldP spid="75" grpId="0" build="allAtOnce">
        <p:tmplLst>
          <p:tmpl lvl="1">
            <p:tnLst>
              <p:par>
                <p:cTn presetID="10" presetClass="entr" presetSubtype="0" fill="hold" nodeType="withEffect">
                  <p:stCondLst>
                    <p:cond delay="0"/>
                  </p:stCondLst>
                  <p:childTnLst>
                    <p:set>
                      <p:cBhvr>
                        <p:cTn dur="1" fill="hold">
                          <p:stCondLst>
                            <p:cond delay="0"/>
                          </p:stCondLst>
                        </p:cTn>
                        <p:tgtEl>
                          <p:spTgt spid="75"/>
                        </p:tgtEl>
                        <p:attrNameLst>
                          <p:attrName>style.visibility</p:attrName>
                        </p:attrNameLst>
                      </p:cBhvr>
                      <p:to>
                        <p:strVal val="visible"/>
                      </p:to>
                    </p:set>
                    <p:animEffect transition="in" filter="fade">
                      <p:cBhvr>
                        <p:cTn dur="500"/>
                        <p:tgtEl>
                          <p:spTgt spid="75"/>
                        </p:tgtEl>
                      </p:cBhvr>
                    </p:animEffect>
                  </p:childTnLst>
                </p:cTn>
              </p:par>
            </p:tnLst>
          </p:tmpl>
        </p:tmplLst>
      </p:bldP>
      <p:bldP spid="78" grpId="0" build="allAtOnce">
        <p:tmplLst>
          <p:tmpl lvl="1">
            <p:tnLst>
              <p:par>
                <p:cTn presetID="10" presetClass="entr" presetSubtype="0" fill="hold" nodeType="withEffect">
                  <p:stCondLst>
                    <p:cond delay="0"/>
                  </p:stCondLst>
                  <p:childTnLst>
                    <p:set>
                      <p:cBhvr>
                        <p:cTn dur="1" fill="hold">
                          <p:stCondLst>
                            <p:cond delay="0"/>
                          </p:stCondLst>
                        </p:cTn>
                        <p:tgtEl>
                          <p:spTgt spid="78"/>
                        </p:tgtEl>
                        <p:attrNameLst>
                          <p:attrName>style.visibility</p:attrName>
                        </p:attrNameLst>
                      </p:cBhvr>
                      <p:to>
                        <p:strVal val="visible"/>
                      </p:to>
                    </p:set>
                    <p:animEffect transition="in" filter="fade">
                      <p:cBhvr>
                        <p:cTn dur="500"/>
                        <p:tgtEl>
                          <p:spTgt spid="78"/>
                        </p:tgtEl>
                      </p:cBhvr>
                    </p:animEffect>
                  </p:childTnLst>
                </p:cTn>
              </p:par>
            </p:tnLst>
          </p:tmpl>
        </p:tmplLst>
      </p:bldP>
      <p:bldP spid="81" grpId="0" build="allAtOnce">
        <p:tmplLst>
          <p:tmpl lvl="1">
            <p:tnLst>
              <p:par>
                <p:cTn presetID="10" presetClass="entr" presetSubtype="0" fill="hold" nodeType="withEffect">
                  <p:stCondLst>
                    <p:cond delay="0"/>
                  </p:stCondLst>
                  <p:childTnLst>
                    <p:set>
                      <p:cBhvr>
                        <p:cTn dur="1" fill="hold">
                          <p:stCondLst>
                            <p:cond delay="0"/>
                          </p:stCondLst>
                        </p:cTn>
                        <p:tgtEl>
                          <p:spTgt spid="81"/>
                        </p:tgtEl>
                        <p:attrNameLst>
                          <p:attrName>style.visibility</p:attrName>
                        </p:attrNameLst>
                      </p:cBhvr>
                      <p:to>
                        <p:strVal val="visible"/>
                      </p:to>
                    </p:set>
                    <p:animEffect transition="in" filter="fade">
                      <p:cBhvr>
                        <p:cTn dur="500"/>
                        <p:tgtEl>
                          <p:spTgt spid="81"/>
                        </p:tgtEl>
                      </p:cBhvr>
                    </p:animEffect>
                  </p:childTnLst>
                </p:cTn>
              </p:par>
            </p:tnLst>
          </p:tmpl>
        </p:tmplLst>
      </p:bldP>
      <p:bldP spid="84" grpId="0" build="allAtOnce">
        <p:tmplLst>
          <p:tmpl lvl="1">
            <p:tnLst>
              <p:par>
                <p:cTn presetID="10" presetClass="entr" presetSubtype="0" fill="hold" nodeType="withEffect">
                  <p:stCondLst>
                    <p:cond delay="0"/>
                  </p:stCondLst>
                  <p:childTnLst>
                    <p:set>
                      <p:cBhvr>
                        <p:cTn dur="1" fill="hold">
                          <p:stCondLst>
                            <p:cond delay="0"/>
                          </p:stCondLst>
                        </p:cTn>
                        <p:tgtEl>
                          <p:spTgt spid="84"/>
                        </p:tgtEl>
                        <p:attrNameLst>
                          <p:attrName>style.visibility</p:attrName>
                        </p:attrNameLst>
                      </p:cBhvr>
                      <p:to>
                        <p:strVal val="visible"/>
                      </p:to>
                    </p:set>
                    <p:animEffect transition="in" filter="fade">
                      <p:cBhvr>
                        <p:cTn dur="500"/>
                        <p:tgtEl>
                          <p:spTgt spid="84"/>
                        </p:tgtEl>
                      </p:cBhvr>
                    </p:animEffect>
                  </p:childTnLst>
                </p:cTn>
              </p:par>
            </p:tnLst>
          </p:tmpl>
        </p:tmplLst>
      </p:bldP>
      <p:bldP spid="87" grpId="0" build="allAtOnce">
        <p:tmplLst>
          <p:tmpl lvl="1">
            <p:tnLst>
              <p:par>
                <p:cTn presetID="10" presetClass="entr" presetSubtype="0" fill="hold" nodeType="withEffect">
                  <p:stCondLst>
                    <p:cond delay="0"/>
                  </p:stCondLst>
                  <p:childTnLst>
                    <p:set>
                      <p:cBhvr>
                        <p:cTn dur="1" fill="hold">
                          <p:stCondLst>
                            <p:cond delay="0"/>
                          </p:stCondLst>
                        </p:cTn>
                        <p:tgtEl>
                          <p:spTgt spid="87"/>
                        </p:tgtEl>
                        <p:attrNameLst>
                          <p:attrName>style.visibility</p:attrName>
                        </p:attrNameLst>
                      </p:cBhvr>
                      <p:to>
                        <p:strVal val="visible"/>
                      </p:to>
                    </p:set>
                    <p:animEffect transition="in" filter="fade">
                      <p:cBhvr>
                        <p:cTn dur="500"/>
                        <p:tgtEl>
                          <p:spTgt spid="87"/>
                        </p:tgtEl>
                      </p:cBhvr>
                    </p:animEffect>
                  </p:childTnLst>
                </p:cTn>
              </p:par>
            </p:tnLst>
          </p:tmpl>
        </p:tmplLst>
      </p:bldP>
      <p:bldP spid="90" grpId="0" build="allAtOnce">
        <p:tmplLst>
          <p:tmpl lvl="1">
            <p:tnLst>
              <p:par>
                <p:cTn presetID="10" presetClass="entr" presetSubtype="0" fill="hold" nodeType="withEffect">
                  <p:stCondLst>
                    <p:cond delay="0"/>
                  </p:stCondLst>
                  <p:childTnLst>
                    <p:set>
                      <p:cBhvr>
                        <p:cTn dur="1" fill="hold">
                          <p:stCondLst>
                            <p:cond delay="0"/>
                          </p:stCondLst>
                        </p:cTn>
                        <p:tgtEl>
                          <p:spTgt spid="90"/>
                        </p:tgtEl>
                        <p:attrNameLst>
                          <p:attrName>style.visibility</p:attrName>
                        </p:attrNameLst>
                      </p:cBhvr>
                      <p:to>
                        <p:strVal val="visible"/>
                      </p:to>
                    </p:set>
                    <p:animEffect transition="in" filter="fade">
                      <p:cBhvr>
                        <p:cTn dur="500"/>
                        <p:tgtEl>
                          <p:spTgt spid="90"/>
                        </p:tgtEl>
                      </p:cBhvr>
                    </p:animEffect>
                  </p:childTnLst>
                </p:cTn>
              </p:par>
            </p:tnLst>
          </p:tmpl>
        </p:tmplLst>
      </p:bldP>
      <p:bldP spid="93" grpId="0" build="allAtOnce">
        <p:tmplLst>
          <p:tmpl lvl="1">
            <p:tnLst>
              <p:par>
                <p:cTn presetID="10" presetClass="entr" presetSubtype="0" fill="hold" nodeType="withEffect">
                  <p:stCondLst>
                    <p:cond delay="0"/>
                  </p:stCondLst>
                  <p:childTnLst>
                    <p:set>
                      <p:cBhvr>
                        <p:cTn dur="1" fill="hold">
                          <p:stCondLst>
                            <p:cond delay="0"/>
                          </p:stCondLst>
                        </p:cTn>
                        <p:tgtEl>
                          <p:spTgt spid="93"/>
                        </p:tgtEl>
                        <p:attrNameLst>
                          <p:attrName>style.visibility</p:attrName>
                        </p:attrNameLst>
                      </p:cBhvr>
                      <p:to>
                        <p:strVal val="visible"/>
                      </p:to>
                    </p:set>
                    <p:animEffect transition="in" filter="fade">
                      <p:cBhvr>
                        <p:cTn dur="500"/>
                        <p:tgtEl>
                          <p:spTgt spid="9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2/15/2026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29243560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p:nvSpPr>
          <p:cNvPr id="10" name="Picture Placeholder 9"/>
          <p:cNvSpPr>
            <a:spLocks noGrp="1"/>
          </p:cNvSpPr>
          <p:nvPr>
            <p:ph type="pic" sz="quarter" idx="13"/>
          </p:nvPr>
        </p:nvSpPr>
        <p:spPr>
          <a:xfrm>
            <a:off x="7489825" y="0"/>
            <a:ext cx="4702175" cy="6858000"/>
          </a:xfrm>
        </p:spPr>
        <p:txBody>
          <a:bodyPr/>
          <a:lstStyle/>
          <a:p>
            <a:r>
              <a:rPr lang="en-US"/>
              <a:t>Click icon to add picture</a:t>
            </a:r>
          </a:p>
        </p:txBody>
      </p:sp>
      <p:sp>
        <p:nvSpPr>
          <p:cNvPr id="2" name="Title 1"/>
          <p:cNvSpPr>
            <a:spLocks noGrp="1"/>
          </p:cNvSpPr>
          <p:nvPr>
            <p:ph type="title" hasCustomPrompt="1"/>
          </p:nvPr>
        </p:nvSpPr>
        <p:spPr>
          <a:xfrm>
            <a:off x="838200" y="475918"/>
            <a:ext cx="6115756" cy="666261"/>
          </a:xfrm>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2/15/2026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79341413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Date Placeholder 3"/>
          <p:cNvSpPr>
            <a:spLocks noGrp="1"/>
          </p:cNvSpPr>
          <p:nvPr>
            <p:ph type="dt" sz="half" idx="10"/>
          </p:nvPr>
        </p:nvSpPr>
        <p:spPr>
          <a:xfrm>
            <a:off x="1126155" y="6372408"/>
            <a:ext cx="1875631" cy="365125"/>
          </a:xfrm>
          <a:prstGeom prst="rect">
            <a:avLst/>
          </a:prstGeom>
        </p:spPr>
        <p:txBody>
          <a:bodyPr/>
          <a:lstStyle/>
          <a:p>
            <a:fld id="{F2A58179-A128-427D-87DD-C6A55F04E0A8}" type="datetime1">
              <a:rPr lang="en-US" smtClean="0"/>
              <a:t>2/15/2026</a:t>
            </a:fld>
            <a:endParaRPr lang="en-US"/>
          </a:p>
        </p:txBody>
      </p:sp>
      <p:sp>
        <p:nvSpPr>
          <p:cNvPr id="5" name="Footer Placeholder 4"/>
          <p:cNvSpPr>
            <a:spLocks noGrp="1"/>
          </p:cNvSpPr>
          <p:nvPr>
            <p:ph type="ftr" sz="quarter" idx="11"/>
          </p:nvPr>
        </p:nvSpPr>
        <p:spPr>
          <a:xfrm>
            <a:off x="4250035" y="6367630"/>
            <a:ext cx="3691931"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0BE4EC83-A869-464E-AE9F-881796FB085E}" type="slidenum">
              <a:rPr lang="en-US" smtClean="0"/>
              <a:t>‹#›</a:t>
            </a:fld>
            <a:endParaRPr lang="en-US"/>
          </a:p>
        </p:txBody>
      </p:sp>
      <p:sp>
        <p:nvSpPr>
          <p:cNvPr id="7" name="Title 6"/>
          <p:cNvSpPr>
            <a:spLocks noGrp="1"/>
          </p:cNvSpPr>
          <p:nvPr>
            <p:ph type="title" hasCustomPrompt="1"/>
          </p:nvPr>
        </p:nvSpPr>
        <p:spPr/>
        <p:txBody>
          <a:bodyPr/>
          <a:lstStyle/>
          <a:p>
            <a:r>
              <a:rPr lang="ar-EG" dirty="0"/>
              <a:t>اضغط لتغيير العنوان</a:t>
            </a:r>
            <a:endParaRPr lang="en-US" dirty="0"/>
          </a:p>
        </p:txBody>
      </p:sp>
    </p:spTree>
    <p:extLst>
      <p:ext uri="{BB962C8B-B14F-4D97-AF65-F5344CB8AC3E}">
        <p14:creationId xmlns:p14="http://schemas.microsoft.com/office/powerpoint/2010/main" val="132083401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6" name="Picture 5" descr="A purple and white rectangle&#10;&#10;Description automatically generated">
            <a:extLst>
              <a:ext uri="{FF2B5EF4-FFF2-40B4-BE49-F238E27FC236}">
                <a16:creationId xmlns:a16="http://schemas.microsoft.com/office/drawing/2014/main" id="{5D8E7D26-4E4F-35D7-4CE8-4428C2B6C8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hasCustomPrompt="1"/>
          </p:nvPr>
        </p:nvSpPr>
        <p:spPr>
          <a:xfrm>
            <a:off x="5928634" y="3925452"/>
            <a:ext cx="5615666" cy="641639"/>
          </a:xfrm>
          <a:noFill/>
        </p:spPr>
        <p:txBody>
          <a:bodyPr lIns="0" rIns="0" anchor="t" anchorCtr="0">
            <a:noAutofit/>
          </a:bodyPr>
          <a:lstStyle>
            <a:lvl1pPr algn="r">
              <a:defRPr sz="3600">
                <a:solidFill>
                  <a:schemeClr val="bg1"/>
                </a:solidFill>
                <a:latin typeface="DIN Next LT Arabic" panose="020B0503020203050203" pitchFamily="34" charset="-78"/>
                <a:cs typeface="DIN Next LT Arabic" panose="020B0503020203050203" pitchFamily="34" charset="-78"/>
              </a:defRPr>
            </a:lvl1pPr>
          </a:lstStyle>
          <a:p>
            <a:r>
              <a:rPr lang="ar-EG" dirty="0"/>
              <a:t>اضغط لتغيير العنوان</a:t>
            </a:r>
            <a:endParaRPr lang="en-US" dirty="0"/>
          </a:p>
        </p:txBody>
      </p:sp>
      <p:sp>
        <p:nvSpPr>
          <p:cNvPr id="9" name="Text Placeholder 3"/>
          <p:cNvSpPr>
            <a:spLocks noGrp="1"/>
          </p:cNvSpPr>
          <p:nvPr>
            <p:ph type="body" sz="quarter" idx="12"/>
          </p:nvPr>
        </p:nvSpPr>
        <p:spPr>
          <a:xfrm>
            <a:off x="7292975" y="7016661"/>
            <a:ext cx="4251325" cy="865187"/>
          </a:xfrm>
        </p:spPr>
        <p:txBody>
          <a:bodyPr>
            <a:normAutofit/>
          </a:bodyPr>
          <a:lstStyle>
            <a:lvl1pPr marL="0" indent="0" algn="ctr">
              <a:buNone/>
              <a:defRPr sz="1600">
                <a:solidFill>
                  <a:srgbClr val="E6E6E6"/>
                </a:solidFill>
              </a:defRPr>
            </a:lvl1pPr>
          </a:lstStyle>
          <a:p>
            <a:pPr lvl="0"/>
            <a:r>
              <a:rPr lang="en-US"/>
              <a:t>Click to edit Master text styles</a:t>
            </a:r>
          </a:p>
        </p:txBody>
      </p:sp>
      <p:sp>
        <p:nvSpPr>
          <p:cNvPr id="18" name="Text Placeholder 4"/>
          <p:cNvSpPr>
            <a:spLocks noGrp="1"/>
          </p:cNvSpPr>
          <p:nvPr>
            <p:ph type="body" sz="quarter" idx="14" hasCustomPrompt="1"/>
          </p:nvPr>
        </p:nvSpPr>
        <p:spPr>
          <a:xfrm>
            <a:off x="9601626" y="2343256"/>
            <a:ext cx="1942674" cy="1181919"/>
          </a:xfrm>
          <a:noFill/>
        </p:spPr>
        <p:txBody>
          <a:bodyPr lIns="0" tIns="0" bIns="0" anchor="ctr" anchorCtr="0">
            <a:noAutofit/>
          </a:bodyPr>
          <a:lstStyle>
            <a:lvl1pPr marL="0" indent="0" algn="ctr">
              <a:buNone/>
              <a:defRPr sz="8800" b="1">
                <a:ln w="19050">
                  <a:solidFill>
                    <a:schemeClr val="accent1"/>
                  </a:solidFill>
                </a:ln>
                <a:solidFill>
                  <a:schemeClr val="accent1"/>
                </a:solidFill>
                <a:latin typeface="Arial" panose="020B0604020202020204" pitchFamily="34" charset="0"/>
                <a:cs typeface="Arial" panose="020B0604020202020204" pitchFamily="34" charset="0"/>
              </a:defRPr>
            </a:lvl1pPr>
          </a:lstStyle>
          <a:p>
            <a:pPr lvl="0"/>
            <a:r>
              <a:rPr lang="ar-EG" dirty="0"/>
              <a:t>#</a:t>
            </a:r>
            <a:endParaRPr lang="en-US" dirty="0"/>
          </a:p>
        </p:txBody>
      </p:sp>
    </p:spTree>
    <p:extLst>
      <p:ext uri="{BB962C8B-B14F-4D97-AF65-F5344CB8AC3E}">
        <p14:creationId xmlns:p14="http://schemas.microsoft.com/office/powerpoint/2010/main" val="3162891222"/>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after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extLst>
    <p:ext uri="{DCECCB84-F9BA-43D5-87BE-67443E8EF086}">
      <p15:sldGuideLst xmlns:p15="http://schemas.microsoft.com/office/powerpoint/2012/main">
        <p15:guide id="1" pos="7272" userDrawn="1">
          <p15:clr>
            <a:srgbClr val="FBAE40"/>
          </p15:clr>
        </p15:guide>
        <p15:guide id="2" pos="6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Picture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2/15/2026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7" name="Picture Placeholder 6"/>
          <p:cNvSpPr>
            <a:spLocks noGrp="1"/>
          </p:cNvSpPr>
          <p:nvPr>
            <p:ph type="pic" sz="quarter" idx="13" hasCustomPrompt="1"/>
          </p:nvPr>
        </p:nvSpPr>
        <p:spPr>
          <a:xfrm>
            <a:off x="6197600" y="1447799"/>
            <a:ext cx="5156200" cy="3037381"/>
          </a:xfrm>
        </p:spPr>
        <p:txBody>
          <a:bodyPr/>
          <a:lstStyle/>
          <a:p>
            <a:r>
              <a:rPr lang="ar-EG" dirty="0"/>
              <a:t>اضغط على الأيقونة لإضافة صورة</a:t>
            </a:r>
            <a:endParaRPr lang="en-US" dirty="0"/>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1" name="Picture Placeholder 6"/>
          <p:cNvSpPr>
            <a:spLocks noGrp="1"/>
          </p:cNvSpPr>
          <p:nvPr>
            <p:ph type="pic" sz="quarter" idx="18" hasCustomPrompt="1"/>
          </p:nvPr>
        </p:nvSpPr>
        <p:spPr>
          <a:xfrm>
            <a:off x="838200" y="1447799"/>
            <a:ext cx="5156200" cy="3037381"/>
          </a:xfrm>
        </p:spPr>
        <p:txBody>
          <a:bodyPr/>
          <a:lstStyle/>
          <a:p>
            <a:r>
              <a:rPr lang="ar-EG" dirty="0"/>
              <a:t>اضغط على الأيقونة لإضافة صورة</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523756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ntents with caption">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2/15/2026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1976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17" name="Text Placeholder 15"/>
          <p:cNvSpPr>
            <a:spLocks noGrp="1"/>
          </p:cNvSpPr>
          <p:nvPr>
            <p:ph type="body" sz="quarter" idx="15" hasCustomPrompt="1"/>
          </p:nvPr>
        </p:nvSpPr>
        <p:spPr>
          <a:xfrm>
            <a:off x="8382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p>
        </p:txBody>
      </p:sp>
      <p:sp>
        <p:nvSpPr>
          <p:cNvPr id="18" name="Text Placeholder 15"/>
          <p:cNvSpPr>
            <a:spLocks noGrp="1"/>
          </p:cNvSpPr>
          <p:nvPr>
            <p:ph type="body" sz="quarter" idx="16" hasCustomPrompt="1"/>
          </p:nvPr>
        </p:nvSpPr>
        <p:spPr>
          <a:xfrm>
            <a:off x="6197600" y="5115084"/>
            <a:ext cx="5156200" cy="725416"/>
          </a:xfrm>
        </p:spPr>
        <p:txBody>
          <a:bodyPr>
            <a:normAutofit/>
          </a:bodyPr>
          <a:lstStyle>
            <a:lvl1pPr marL="0" indent="0">
              <a:buNone/>
              <a:defRPr sz="1800" b="0"/>
            </a:lvl1pPr>
            <a:lvl2pPr marL="457200" indent="0">
              <a:buNone/>
              <a:defRPr/>
            </a:lvl2pPr>
            <a:lvl3pPr marL="914400" indent="0">
              <a:buNone/>
              <a:defRPr/>
            </a:lvl3pPr>
            <a:lvl4pPr marL="1371600" indent="0">
              <a:buNone/>
              <a:defRPr/>
            </a:lvl4pPr>
            <a:lvl5pPr marL="1828800" indent="0">
              <a:buNone/>
              <a:defRPr/>
            </a:lvl5pPr>
          </a:lstStyle>
          <a:p>
            <a:pPr lvl="0"/>
            <a:r>
              <a:rPr lang="ar-EG" dirty="0"/>
              <a:t>تعديل النص</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10" name="Text Placeholder 15"/>
          <p:cNvSpPr>
            <a:spLocks noGrp="1"/>
          </p:cNvSpPr>
          <p:nvPr>
            <p:ph type="body" sz="quarter" idx="17" hasCustomPrompt="1"/>
          </p:nvPr>
        </p:nvSpPr>
        <p:spPr>
          <a:xfrm>
            <a:off x="838200" y="4538892"/>
            <a:ext cx="5156200" cy="469900"/>
          </a:xfrm>
        </p:spPr>
        <p:txBody>
          <a:bodyPr anchor="b" anchorCtr="0">
            <a:normAutofit/>
          </a:bodyPr>
          <a:lstStyle>
            <a:lvl1pPr marL="0" indent="0">
              <a:buNone/>
              <a:defRPr sz="2000" b="0">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cxnSp>
        <p:nvCxnSpPr>
          <p:cNvPr id="8" name="Straight Connector 7"/>
          <p:cNvCxnSpPr/>
          <p:nvPr userDrawn="1"/>
        </p:nvCxnSpPr>
        <p:spPr>
          <a:xfrm>
            <a:off x="8382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6197600" y="4512036"/>
            <a:ext cx="5156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a:off x="8382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userDrawn="1"/>
        </p:nvCxnSpPr>
        <p:spPr>
          <a:xfrm>
            <a:off x="6197600" y="5846160"/>
            <a:ext cx="51562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Content Placeholder 8"/>
          <p:cNvSpPr>
            <a:spLocks noGrp="1"/>
          </p:cNvSpPr>
          <p:nvPr>
            <p:ph sz="quarter" idx="19" hasCustomPrompt="1"/>
          </p:nvPr>
        </p:nvSpPr>
        <p:spPr>
          <a:xfrm>
            <a:off x="61976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1" name="Content Placeholder 8"/>
          <p:cNvSpPr>
            <a:spLocks noGrp="1"/>
          </p:cNvSpPr>
          <p:nvPr>
            <p:ph sz="quarter" idx="20" hasCustomPrompt="1"/>
          </p:nvPr>
        </p:nvSpPr>
        <p:spPr>
          <a:xfrm>
            <a:off x="838200" y="1470188"/>
            <a:ext cx="5156200" cy="3063044"/>
          </a:xfrm>
        </p:spPr>
        <p:txBody>
          <a:bodyPr/>
          <a:lstStyle>
            <a:lvl1pPr>
              <a:defRPr baseline="0"/>
            </a:lvl1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Tree>
    <p:extLst>
      <p:ext uri="{BB962C8B-B14F-4D97-AF65-F5344CB8AC3E}">
        <p14:creationId xmlns:p14="http://schemas.microsoft.com/office/powerpoint/2010/main" val="787946525"/>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2/15/2026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6096000" y="1454189"/>
            <a:ext cx="5257800"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6096000"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sp>
        <p:nvSpPr>
          <p:cNvPr id="22" name="Text Placeholder 15"/>
          <p:cNvSpPr>
            <a:spLocks noGrp="1"/>
          </p:cNvSpPr>
          <p:nvPr>
            <p:ph type="body" sz="quarter" idx="27" hasCustomPrompt="1"/>
          </p:nvPr>
        </p:nvSpPr>
        <p:spPr>
          <a:xfrm>
            <a:off x="838169" y="1454189"/>
            <a:ext cx="5257800"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838169" y="1924089"/>
            <a:ext cx="5257800" cy="4160520"/>
          </a:xfrm>
          <a:solidFill>
            <a:schemeClr val="bg1">
              <a:lumMod val="95000"/>
            </a:schemeClr>
          </a:solidFill>
          <a:ln>
            <a:solidFill>
              <a:schemeClr val="bg1"/>
            </a:solidFill>
          </a:ln>
        </p:spPr>
        <p:txBody>
          <a:bodyPr lIns="182880" tIns="182880" rIns="182880">
            <a:normAutofit/>
          </a:bodyPr>
          <a:lstStyle>
            <a:lvl1pPr>
              <a:defRPr sz="1600">
                <a:solidFill>
                  <a:schemeClr val="tx1">
                    <a:lumMod val="75000"/>
                    <a:lumOff val="25000"/>
                  </a:schemeClr>
                </a:solidFill>
              </a:defRPr>
            </a:lvl1pPr>
            <a:lvl2pPr>
              <a:defRPr sz="1400">
                <a:solidFill>
                  <a:schemeClr val="tx1">
                    <a:lumMod val="75000"/>
                    <a:lumOff val="25000"/>
                  </a:schemeClr>
                </a:solidFill>
              </a:defRPr>
            </a:lvl2pPr>
            <a:lvl3pPr>
              <a:defRPr sz="1200">
                <a:solidFill>
                  <a:schemeClr val="tx1">
                    <a:lumMod val="75000"/>
                    <a:lumOff val="25000"/>
                  </a:schemeClr>
                </a:solidFill>
              </a:defRPr>
            </a:lvl3pPr>
            <a:lvl4pPr>
              <a:defRPr sz="1100">
                <a:solidFill>
                  <a:schemeClr val="tx1">
                    <a:lumMod val="75000"/>
                    <a:lumOff val="25000"/>
                  </a:schemeClr>
                </a:solidFill>
              </a:defRPr>
            </a:lvl4pPr>
            <a:lvl5pPr>
              <a:defRPr sz="1100">
                <a:solidFill>
                  <a:schemeClr val="tx1">
                    <a:lumMod val="75000"/>
                    <a:lumOff val="25000"/>
                  </a:schemeClr>
                </a:solidFill>
              </a:defRPr>
            </a:lvl5pPr>
          </a:lstStyle>
          <a:p>
            <a:pPr lvl="0"/>
            <a:r>
              <a:rPr lang="ar-EG" dirty="0"/>
              <a:t>تعديل النص</a:t>
            </a:r>
            <a:endParaRPr lang="en-US" dirty="0"/>
          </a:p>
          <a:p>
            <a:pPr lvl="1"/>
            <a:r>
              <a:rPr lang="ar-EG" dirty="0"/>
              <a:t>مستوى ثان</a:t>
            </a:r>
            <a:endParaRPr lang="en-US" dirty="0"/>
          </a:p>
          <a:p>
            <a:pPr lvl="2"/>
            <a:r>
              <a:rPr lang="ar-EG" dirty="0"/>
              <a:t>مستوى ثالث</a:t>
            </a:r>
            <a:endParaRPr lang="en-US" dirty="0"/>
          </a:p>
          <a:p>
            <a:pPr lvl="3"/>
            <a:r>
              <a:rPr lang="ar-EG" dirty="0"/>
              <a:t>مستوى رابع</a:t>
            </a:r>
            <a:endParaRPr lang="en-US" dirty="0"/>
          </a:p>
          <a:p>
            <a:pPr lvl="4"/>
            <a:r>
              <a:rPr lang="ar-EG" dirty="0"/>
              <a:t>مستوى خامس</a:t>
            </a:r>
            <a:endParaRPr lang="en-US" dirty="0"/>
          </a:p>
        </p:txBody>
      </p:sp>
      <p:cxnSp>
        <p:nvCxnSpPr>
          <p:cNvPr id="10" name="Straight Connector 9"/>
          <p:cNvCxnSpPr/>
          <p:nvPr userDrawn="1"/>
        </p:nvCxnSpPr>
        <p:spPr>
          <a:xfrm>
            <a:off x="6095971" y="6096000"/>
            <a:ext cx="52578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flipV="1">
            <a:off x="838171" y="6095999"/>
            <a:ext cx="5257800" cy="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114524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Text with Titles">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126155" y="6372408"/>
            <a:ext cx="1875631" cy="365125"/>
          </a:xfrm>
          <a:prstGeom prst="rect">
            <a:avLst/>
          </a:prstGeom>
        </p:spPr>
        <p:txBody>
          <a:bodyPr/>
          <a:lstStyle/>
          <a:p>
            <a:fld id="{49C7275D-5BB8-4235-AA87-2A9EA75815F5}" type="datetimeFigureOut">
              <a:rPr lang="en-US" smtClean="0"/>
              <a:t>2/15/2026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5613CAB-C57B-49C6-A95E-89979DFB2EF7}" type="slidenum">
              <a:rPr lang="en-US" smtClean="0"/>
              <a:pPr/>
              <a:t>‹#›</a:t>
            </a:fld>
            <a:endParaRPr lang="en-US"/>
          </a:p>
        </p:txBody>
      </p:sp>
      <p:sp>
        <p:nvSpPr>
          <p:cNvPr id="16" name="Text Placeholder 15"/>
          <p:cNvSpPr>
            <a:spLocks noGrp="1"/>
          </p:cNvSpPr>
          <p:nvPr>
            <p:ph type="body" sz="quarter" idx="14" hasCustomPrompt="1"/>
          </p:nvPr>
        </p:nvSpPr>
        <p:spPr>
          <a:xfrm>
            <a:off x="8719767" y="1465912"/>
            <a:ext cx="2624328" cy="469900"/>
          </a:xfrm>
          <a:solidFill>
            <a:schemeClr val="accent1"/>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7" name="Text Placeholder 6"/>
          <p:cNvSpPr>
            <a:spLocks noGrp="1"/>
          </p:cNvSpPr>
          <p:nvPr>
            <p:ph type="body" sz="quarter" idx="26" hasCustomPrompt="1"/>
          </p:nvPr>
        </p:nvSpPr>
        <p:spPr>
          <a:xfrm>
            <a:off x="8719767"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2" name="Text Placeholder 15"/>
          <p:cNvSpPr>
            <a:spLocks noGrp="1"/>
          </p:cNvSpPr>
          <p:nvPr>
            <p:ph type="body" sz="quarter" idx="27" hasCustomPrompt="1"/>
          </p:nvPr>
        </p:nvSpPr>
        <p:spPr>
          <a:xfrm>
            <a:off x="6098798" y="1465912"/>
            <a:ext cx="2624328" cy="469900"/>
          </a:xfrm>
          <a:solidFill>
            <a:schemeClr val="accent2"/>
          </a:solidFill>
          <a:ln>
            <a:solidFill>
              <a:schemeClr val="bg1"/>
            </a:solidFill>
          </a:ln>
        </p:spPr>
        <p:txBody>
          <a:bodyPr anchor="b" anchorCtr="0">
            <a:normAutofit/>
          </a:bodyPr>
          <a:lstStyle>
            <a:lvl1pPr marL="0" indent="0" algn="ctr">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3" name="Text Placeholder 6"/>
          <p:cNvSpPr>
            <a:spLocks noGrp="1"/>
          </p:cNvSpPr>
          <p:nvPr>
            <p:ph type="body" sz="quarter" idx="28" hasCustomPrompt="1"/>
          </p:nvPr>
        </p:nvSpPr>
        <p:spPr>
          <a:xfrm>
            <a:off x="6098798" y="1935163"/>
            <a:ext cx="2624328" cy="4160837"/>
          </a:xfrm>
          <a:solidFill>
            <a:schemeClr val="bg1">
              <a:lumMod val="95000"/>
            </a:schemeClr>
          </a:solidFill>
          <a:ln>
            <a:solidFill>
              <a:schemeClr val="bg1"/>
            </a:solidFill>
          </a:ln>
        </p:spPr>
        <p:txBody>
          <a:bodyPr tIns="91440" rIns="91440">
            <a:normAutofit/>
          </a:bodyPr>
          <a:lstStyle>
            <a:lvl1pPr marL="285750" indent="-285750">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buNone/>
              <a:defRPr sz="1200"/>
            </a:lvl2pPr>
            <a:lvl3pPr marL="571500" indent="0">
              <a:buNone/>
              <a:defRPr sz="1100"/>
            </a:lvl3pPr>
            <a:lvl4pPr marL="857250" indent="0">
              <a:buNone/>
              <a:defRPr sz="1050"/>
            </a:lvl4pPr>
            <a:lvl5pPr marL="1085850" indent="0">
              <a:buNone/>
              <a:defRPr sz="1050"/>
            </a:lvl5pPr>
          </a:lstStyle>
          <a:p>
            <a:pPr lvl="0"/>
            <a:r>
              <a:rPr lang="ar-EG" dirty="0"/>
              <a:t>تعديل النص</a:t>
            </a:r>
            <a:endParaRPr lang="en-US" dirty="0"/>
          </a:p>
        </p:txBody>
      </p:sp>
      <p:sp>
        <p:nvSpPr>
          <p:cNvPr id="24" name="Text Placeholder 15"/>
          <p:cNvSpPr>
            <a:spLocks noGrp="1"/>
          </p:cNvSpPr>
          <p:nvPr>
            <p:ph type="body" sz="quarter" idx="29" hasCustomPrompt="1"/>
          </p:nvPr>
        </p:nvSpPr>
        <p:spPr>
          <a:xfrm>
            <a:off x="3477830" y="1465912"/>
            <a:ext cx="2624328" cy="469900"/>
          </a:xfrm>
          <a:solidFill>
            <a:schemeClr val="accent1"/>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5" name="Text Placeholder 6"/>
          <p:cNvSpPr>
            <a:spLocks noGrp="1"/>
          </p:cNvSpPr>
          <p:nvPr>
            <p:ph type="body" sz="quarter" idx="30" hasCustomPrompt="1"/>
          </p:nvPr>
        </p:nvSpPr>
        <p:spPr>
          <a:xfrm>
            <a:off x="3477830"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1"/>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sp>
        <p:nvSpPr>
          <p:cNvPr id="26" name="Text Placeholder 15"/>
          <p:cNvSpPr>
            <a:spLocks noGrp="1"/>
          </p:cNvSpPr>
          <p:nvPr>
            <p:ph type="body" sz="quarter" idx="31" hasCustomPrompt="1"/>
          </p:nvPr>
        </p:nvSpPr>
        <p:spPr>
          <a:xfrm>
            <a:off x="856862" y="1465912"/>
            <a:ext cx="2624328" cy="469900"/>
          </a:xfrm>
          <a:solidFill>
            <a:schemeClr val="accent2"/>
          </a:solidFill>
          <a:ln>
            <a:solidFill>
              <a:schemeClr val="bg1"/>
            </a:solidFill>
          </a:ln>
        </p:spPr>
        <p:txBody>
          <a:bodyPr anchor="b" anchorCtr="0">
            <a:normAutofit/>
          </a:bodyPr>
          <a:lstStyle>
            <a:lvl1pPr marL="0" indent="0" algn="ctr" rtl="1">
              <a:buNone/>
              <a:defRPr sz="2000" b="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ar-EG" dirty="0"/>
              <a:t>اضغط لتغيير العنوان</a:t>
            </a:r>
            <a:endParaRPr lang="en-US" dirty="0"/>
          </a:p>
        </p:txBody>
      </p:sp>
      <p:sp>
        <p:nvSpPr>
          <p:cNvPr id="27" name="Text Placeholder 6"/>
          <p:cNvSpPr>
            <a:spLocks noGrp="1"/>
          </p:cNvSpPr>
          <p:nvPr>
            <p:ph type="body" sz="quarter" idx="32" hasCustomPrompt="1"/>
          </p:nvPr>
        </p:nvSpPr>
        <p:spPr>
          <a:xfrm>
            <a:off x="856862" y="1935163"/>
            <a:ext cx="2624328" cy="4160837"/>
          </a:xfrm>
          <a:solidFill>
            <a:schemeClr val="bg1">
              <a:lumMod val="95000"/>
            </a:schemeClr>
          </a:solidFill>
          <a:ln>
            <a:solidFill>
              <a:schemeClr val="bg1"/>
            </a:solidFill>
          </a:ln>
        </p:spPr>
        <p:txBody>
          <a:bodyPr tIns="91440" rIns="91440">
            <a:normAutofit/>
          </a:bodyPr>
          <a:lstStyle>
            <a:lvl1pPr marL="285750" indent="-285750" algn="r" rtl="1">
              <a:lnSpc>
                <a:spcPct val="150000"/>
              </a:lnSpc>
              <a:buClr>
                <a:schemeClr val="accent2"/>
              </a:buClr>
              <a:buFont typeface="Arial" panose="020B0604020202020204" pitchFamily="34" charset="0"/>
              <a:buChar char="•"/>
              <a:defRPr sz="1600">
                <a:solidFill>
                  <a:schemeClr val="tx1">
                    <a:lumMod val="75000"/>
                    <a:lumOff val="25000"/>
                  </a:schemeClr>
                </a:solidFill>
              </a:defRPr>
            </a:lvl1pPr>
            <a:lvl2pPr marL="288925" indent="0" algn="r" rtl="1">
              <a:buNone/>
              <a:defRPr sz="1200"/>
            </a:lvl2pPr>
            <a:lvl3pPr marL="571500" indent="0" algn="r" rtl="1">
              <a:buNone/>
              <a:defRPr sz="1100"/>
            </a:lvl3pPr>
            <a:lvl4pPr marL="857250" indent="0" algn="r" rtl="1">
              <a:buNone/>
              <a:defRPr sz="1050"/>
            </a:lvl4pPr>
            <a:lvl5pPr marL="1085850" indent="0" algn="r" rtl="1">
              <a:buNone/>
              <a:defRPr sz="1050"/>
            </a:lvl5pPr>
          </a:lstStyle>
          <a:p>
            <a:pPr lvl="0"/>
            <a:r>
              <a:rPr lang="ar-EG" dirty="0"/>
              <a:t>تعديل النص</a:t>
            </a:r>
            <a:endParaRPr lang="en-US" dirty="0"/>
          </a:p>
        </p:txBody>
      </p:sp>
      <p:cxnSp>
        <p:nvCxnSpPr>
          <p:cNvPr id="10" name="Straight Connector 9"/>
          <p:cNvCxnSpPr/>
          <p:nvPr userDrawn="1"/>
        </p:nvCxnSpPr>
        <p:spPr>
          <a:xfrm>
            <a:off x="10060884"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7323667"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a:off x="4586451" y="6096000"/>
            <a:ext cx="27432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userDrawn="1"/>
        </p:nvCxnSpPr>
        <p:spPr>
          <a:xfrm>
            <a:off x="1849235" y="6096000"/>
            <a:ext cx="27432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50450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text with titles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2/15/2026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6" name="Text Placeholder 8"/>
          <p:cNvSpPr>
            <a:spLocks noGrp="1"/>
          </p:cNvSpPr>
          <p:nvPr>
            <p:ph type="body" sz="quarter" idx="13" hasCustomPrompt="1"/>
          </p:nvPr>
        </p:nvSpPr>
        <p:spPr>
          <a:xfrm>
            <a:off x="845580"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7" name="Text Placeholder 8"/>
          <p:cNvSpPr>
            <a:spLocks noGrp="1"/>
          </p:cNvSpPr>
          <p:nvPr>
            <p:ph type="body" sz="quarter" idx="14" hasCustomPrompt="1"/>
          </p:nvPr>
        </p:nvSpPr>
        <p:spPr>
          <a:xfrm>
            <a:off x="845580"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8" name="Straight Connector 7"/>
          <p:cNvCxnSpPr/>
          <p:nvPr userDrawn="1"/>
        </p:nvCxnSpPr>
        <p:spPr>
          <a:xfrm>
            <a:off x="5396768"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 Placeholder 8"/>
          <p:cNvSpPr>
            <a:spLocks noGrp="1"/>
          </p:cNvSpPr>
          <p:nvPr>
            <p:ph type="body" sz="quarter" idx="15" hasCustomPrompt="1"/>
          </p:nvPr>
        </p:nvSpPr>
        <p:spPr>
          <a:xfrm>
            <a:off x="6253972" y="1652041"/>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endParaRPr lang="en-US" dirty="0"/>
          </a:p>
        </p:txBody>
      </p:sp>
      <p:sp>
        <p:nvSpPr>
          <p:cNvPr id="10" name="Text Placeholder 8"/>
          <p:cNvSpPr>
            <a:spLocks noGrp="1"/>
          </p:cNvSpPr>
          <p:nvPr>
            <p:ph type="body" sz="quarter" idx="16" hasCustomPrompt="1"/>
          </p:nvPr>
        </p:nvSpPr>
        <p:spPr>
          <a:xfrm>
            <a:off x="6253972" y="2203539"/>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1" name="Straight Connector 10"/>
          <p:cNvCxnSpPr/>
          <p:nvPr userDrawn="1"/>
        </p:nvCxnSpPr>
        <p:spPr>
          <a:xfrm>
            <a:off x="10805160" y="2053486"/>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 Placeholder 8"/>
          <p:cNvSpPr>
            <a:spLocks noGrp="1"/>
          </p:cNvSpPr>
          <p:nvPr>
            <p:ph type="body" sz="quarter" idx="17" hasCustomPrompt="1"/>
          </p:nvPr>
        </p:nvSpPr>
        <p:spPr>
          <a:xfrm>
            <a:off x="845580"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3" name="Text Placeholder 8"/>
          <p:cNvSpPr>
            <a:spLocks noGrp="1"/>
          </p:cNvSpPr>
          <p:nvPr>
            <p:ph type="body" sz="quarter" idx="18" hasCustomPrompt="1"/>
          </p:nvPr>
        </p:nvSpPr>
        <p:spPr>
          <a:xfrm>
            <a:off x="845580"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4" name="Straight Connector 13"/>
          <p:cNvCxnSpPr/>
          <p:nvPr userDrawn="1"/>
        </p:nvCxnSpPr>
        <p:spPr>
          <a:xfrm>
            <a:off x="5396768"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Text Placeholder 8"/>
          <p:cNvSpPr>
            <a:spLocks noGrp="1"/>
          </p:cNvSpPr>
          <p:nvPr>
            <p:ph type="body" sz="quarter" idx="19" hasCustomPrompt="1"/>
          </p:nvPr>
        </p:nvSpPr>
        <p:spPr>
          <a:xfrm>
            <a:off x="6253972" y="3841385"/>
            <a:ext cx="5099828" cy="354790"/>
          </a:xfrm>
        </p:spPr>
        <p:txBody>
          <a:bodyPr>
            <a:normAutofit/>
          </a:bodyPr>
          <a:lstStyle>
            <a:lvl1pPr marL="0" indent="0">
              <a:buNone/>
              <a:defRPr sz="1800" b="1">
                <a:solidFill>
                  <a:schemeClr val="accent1"/>
                </a:solidFill>
              </a:defRPr>
            </a:lvl1pPr>
          </a:lstStyle>
          <a:p>
            <a:pPr lvl="0"/>
            <a:r>
              <a:rPr lang="ar-EG" dirty="0"/>
              <a:t>ادخل النص المناسب هنا</a:t>
            </a:r>
          </a:p>
        </p:txBody>
      </p:sp>
      <p:sp>
        <p:nvSpPr>
          <p:cNvPr id="16" name="Text Placeholder 8"/>
          <p:cNvSpPr>
            <a:spLocks noGrp="1"/>
          </p:cNvSpPr>
          <p:nvPr>
            <p:ph type="body" sz="quarter" idx="20" hasCustomPrompt="1"/>
          </p:nvPr>
        </p:nvSpPr>
        <p:spPr>
          <a:xfrm>
            <a:off x="6253972" y="4392883"/>
            <a:ext cx="5099828" cy="1381156"/>
          </a:xfrm>
        </p:spPr>
        <p:txBody>
          <a:bodyPr>
            <a:normAutofit/>
          </a:bodyPr>
          <a:lstStyle>
            <a:lvl1pPr marL="0" indent="0" rtl="0">
              <a:buNone/>
              <a:defRPr sz="1600"/>
            </a:lvl1pPr>
          </a:lstStyle>
          <a:p>
            <a:pPr lvl="0"/>
            <a:r>
              <a:rPr lang="ar-EG" dirty="0"/>
              <a:t>ادخل النص المناسب هنا</a:t>
            </a:r>
          </a:p>
        </p:txBody>
      </p:sp>
      <p:cxnSp>
        <p:nvCxnSpPr>
          <p:cNvPr id="17" name="Straight Connector 16"/>
          <p:cNvCxnSpPr/>
          <p:nvPr userDrawn="1"/>
        </p:nvCxnSpPr>
        <p:spPr>
          <a:xfrm>
            <a:off x="10805160" y="4242830"/>
            <a:ext cx="54864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842545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2/15/2026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1" name="Text Placeholder 6"/>
          <p:cNvSpPr>
            <a:spLocks noGrp="1"/>
          </p:cNvSpPr>
          <p:nvPr>
            <p:ph type="body" sz="quarter" idx="15" hasCustomPrompt="1"/>
          </p:nvPr>
        </p:nvSpPr>
        <p:spPr>
          <a:xfrm>
            <a:off x="8261577" y="1447800"/>
            <a:ext cx="3092223" cy="4638675"/>
          </a:xfrm>
        </p:spPr>
        <p:txBody>
          <a:bodyPr>
            <a:normAutofit/>
          </a:bodyPr>
          <a:lstStyle>
            <a:lvl1pPr marL="0" indent="0">
              <a:buNone/>
              <a:defRPr sz="2000" baseline="0"/>
            </a:lvl1pPr>
          </a:lstStyle>
          <a:p>
            <a:pPr lvl="0"/>
            <a:r>
              <a:rPr lang="ar-EG" dirty="0"/>
              <a:t>تعديل النص</a:t>
            </a:r>
            <a:endParaRPr lang="en-US" dirty="0"/>
          </a:p>
        </p:txBody>
      </p:sp>
      <p:sp>
        <p:nvSpPr>
          <p:cNvPr id="12" name="Text Placeholder 6"/>
          <p:cNvSpPr>
            <a:spLocks noGrp="1"/>
          </p:cNvSpPr>
          <p:nvPr>
            <p:ph type="body" sz="quarter" idx="16" hasCustomPrompt="1"/>
          </p:nvPr>
        </p:nvSpPr>
        <p:spPr>
          <a:xfrm>
            <a:off x="4572870" y="1447800"/>
            <a:ext cx="3092223"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993102699"/>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84913560-8229-45AB-89CF-A554C7EFF781}" type="datetime1">
              <a:rPr lang="en-US" smtClean="0"/>
              <a:t>2/15/2026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0BE4EC83-A869-464E-AE9F-881796FB085E}" type="slidenum">
              <a:rPr lang="en-US" smtClean="0"/>
              <a:t>‹#›</a:t>
            </a:fld>
            <a:endParaRPr lang="en-US"/>
          </a:p>
        </p:txBody>
      </p:sp>
      <p:sp>
        <p:nvSpPr>
          <p:cNvPr id="8" name="Text Placeholder 6"/>
          <p:cNvSpPr>
            <a:spLocks noGrp="1"/>
          </p:cNvSpPr>
          <p:nvPr>
            <p:ph type="body" sz="quarter" idx="14" hasCustomPrompt="1"/>
          </p:nvPr>
        </p:nvSpPr>
        <p:spPr>
          <a:xfrm>
            <a:off x="850190" y="1447800"/>
            <a:ext cx="4831419" cy="4638675"/>
          </a:xfrm>
        </p:spPr>
        <p:txBody>
          <a:bodyPr>
            <a:normAutofit/>
          </a:bodyPr>
          <a:lstStyle>
            <a:lvl1pPr marL="0" indent="0">
              <a:buNone/>
              <a:defRPr sz="2000" baseline="0"/>
            </a:lvl1pPr>
          </a:lstStyle>
          <a:p>
            <a:pPr lvl="0"/>
            <a:r>
              <a:rPr lang="ar-EG" dirty="0"/>
              <a:t>تعديل النص</a:t>
            </a:r>
            <a:endParaRPr lang="en-US" dirty="0"/>
          </a:p>
        </p:txBody>
      </p:sp>
      <p:sp>
        <p:nvSpPr>
          <p:cNvPr id="9" name="Text Placeholder 6"/>
          <p:cNvSpPr>
            <a:spLocks noGrp="1"/>
          </p:cNvSpPr>
          <p:nvPr>
            <p:ph type="body" sz="quarter" idx="15" hasCustomPrompt="1"/>
          </p:nvPr>
        </p:nvSpPr>
        <p:spPr>
          <a:xfrm>
            <a:off x="6522381" y="1447800"/>
            <a:ext cx="4831419" cy="4638675"/>
          </a:xfrm>
        </p:spPr>
        <p:txBody>
          <a:bodyPr>
            <a:normAutofit/>
          </a:bodyPr>
          <a:lstStyle>
            <a:lvl1pPr marL="0" indent="0">
              <a:buNone/>
              <a:defRPr sz="2000" baseline="0"/>
            </a:lvl1pPr>
          </a:lstStyle>
          <a:p>
            <a:pPr lvl="0"/>
            <a:r>
              <a:rPr lang="ar-EG" dirty="0"/>
              <a:t>تعديل النص</a:t>
            </a:r>
            <a:endParaRPr lang="en-US" dirty="0"/>
          </a:p>
        </p:txBody>
      </p:sp>
    </p:spTree>
    <p:extLst>
      <p:ext uri="{BB962C8B-B14F-4D97-AF65-F5344CB8AC3E}">
        <p14:creationId xmlns:p14="http://schemas.microsoft.com/office/powerpoint/2010/main" val="2379145943"/>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ortfolio/4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p>
            <a:fld id="{D07F32C4-027C-41E7-9CB9-C0506AA6389A}" type="datetime1">
              <a:rPr lang="en-US" smtClean="0"/>
              <a:t>2/15/2026</a:t>
            </a:fld>
            <a:endParaRPr lang="en-US"/>
          </a:p>
        </p:txBody>
      </p:sp>
      <p:sp>
        <p:nvSpPr>
          <p:cNvPr id="4" name="Footer Placeholder 3"/>
          <p:cNvSpPr>
            <a:spLocks noGrp="1"/>
          </p:cNvSpPr>
          <p:nvPr>
            <p:ph type="ftr" sz="quarter" idx="11"/>
          </p:nvPr>
        </p:nvSpPr>
        <p:spPr>
          <a:xfrm>
            <a:off x="4400233" y="6367630"/>
            <a:ext cx="3691931"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46ED658E-7B78-4C3F-B2D4-66856F143B40}" type="slidenum">
              <a:rPr lang="en-US" smtClean="0"/>
              <a:pPr/>
              <a:t>‹#›</a:t>
            </a:fld>
            <a:endParaRPr lang="en-US"/>
          </a:p>
        </p:txBody>
      </p:sp>
      <p:sp>
        <p:nvSpPr>
          <p:cNvPr id="7" name="Picture Placeholder 10">
            <a:extLst>
              <a:ext uri="{FF2B5EF4-FFF2-40B4-BE49-F238E27FC236}">
                <a16:creationId xmlns:a16="http://schemas.microsoft.com/office/drawing/2014/main" id="{1ED86105-1558-4D32-B1A9-5F4D28811B51}"/>
              </a:ext>
            </a:extLst>
          </p:cNvPr>
          <p:cNvSpPr>
            <a:spLocks noGrp="1"/>
          </p:cNvSpPr>
          <p:nvPr>
            <p:ph type="pic" sz="quarter" idx="13" hasCustomPrompt="1"/>
          </p:nvPr>
        </p:nvSpPr>
        <p:spPr>
          <a:xfrm>
            <a:off x="853836"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8" name="Picture Placeholder 12">
            <a:extLst>
              <a:ext uri="{FF2B5EF4-FFF2-40B4-BE49-F238E27FC236}">
                <a16:creationId xmlns:a16="http://schemas.microsoft.com/office/drawing/2014/main" id="{AD11BF4A-2489-4211-84F8-479B8880D427}"/>
              </a:ext>
            </a:extLst>
          </p:cNvPr>
          <p:cNvSpPr>
            <a:spLocks noGrp="1"/>
          </p:cNvSpPr>
          <p:nvPr>
            <p:ph type="pic" sz="quarter" idx="15" hasCustomPrompt="1"/>
          </p:nvPr>
        </p:nvSpPr>
        <p:spPr>
          <a:xfrm>
            <a:off x="9179225" y="1547024"/>
            <a:ext cx="2175731"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9" name="Text Placeholder 21"/>
          <p:cNvSpPr>
            <a:spLocks noGrp="1"/>
          </p:cNvSpPr>
          <p:nvPr>
            <p:ph type="body" sz="quarter" idx="16" hasCustomPrompt="1"/>
          </p:nvPr>
        </p:nvSpPr>
        <p:spPr>
          <a:xfrm>
            <a:off x="846596" y="4793469"/>
            <a:ext cx="2207123" cy="368300"/>
          </a:xfrm>
        </p:spPr>
        <p:txBody>
          <a:bodyPr>
            <a:normAutofit/>
          </a:bodyPr>
          <a:lstStyle>
            <a:lvl1pPr marL="0" indent="0" algn="ctr">
              <a:buNone/>
              <a:defRPr sz="2000" b="1" baseline="0">
                <a:solidFill>
                  <a:schemeClr val="accent1"/>
                </a:solidFill>
              </a:defRPr>
            </a:lvl1pPr>
          </a:lstStyle>
          <a:p>
            <a:pPr lvl="0"/>
            <a:r>
              <a:rPr lang="ar-EG" dirty="0"/>
              <a:t>عنوان 4</a:t>
            </a:r>
            <a:endParaRPr lang="en-US" dirty="0"/>
          </a:p>
        </p:txBody>
      </p:sp>
      <p:sp>
        <p:nvSpPr>
          <p:cNvPr id="11" name="Text Placeholder 21"/>
          <p:cNvSpPr>
            <a:spLocks noGrp="1"/>
          </p:cNvSpPr>
          <p:nvPr>
            <p:ph type="body" sz="quarter" idx="18" hasCustomPrompt="1"/>
          </p:nvPr>
        </p:nvSpPr>
        <p:spPr>
          <a:xfrm>
            <a:off x="3644019" y="4793469"/>
            <a:ext cx="2192642" cy="368300"/>
          </a:xfrm>
        </p:spPr>
        <p:txBody>
          <a:bodyPr>
            <a:normAutofit/>
          </a:bodyPr>
          <a:lstStyle>
            <a:lvl1pPr marL="0" indent="0" algn="ctr">
              <a:buNone/>
              <a:defRPr sz="2000" b="1">
                <a:solidFill>
                  <a:schemeClr val="accent1"/>
                </a:solidFill>
              </a:defRPr>
            </a:lvl1pPr>
          </a:lstStyle>
          <a:p>
            <a:pPr lvl="0"/>
            <a:r>
              <a:rPr lang="ar-EG" dirty="0"/>
              <a:t>عنوان 3</a:t>
            </a:r>
            <a:endParaRPr lang="en-US" dirty="0"/>
          </a:p>
        </p:txBody>
      </p:sp>
      <p:sp>
        <p:nvSpPr>
          <p:cNvPr id="13" name="Text Placeholder 21"/>
          <p:cNvSpPr>
            <a:spLocks noGrp="1"/>
          </p:cNvSpPr>
          <p:nvPr>
            <p:ph type="body" sz="quarter" idx="20" hasCustomPrompt="1"/>
          </p:nvPr>
        </p:nvSpPr>
        <p:spPr>
          <a:xfrm>
            <a:off x="9179225" y="4793469"/>
            <a:ext cx="2175731" cy="368300"/>
          </a:xfrm>
        </p:spPr>
        <p:txBody>
          <a:bodyPr>
            <a:normAutofit/>
          </a:bodyPr>
          <a:lstStyle>
            <a:lvl1pPr marL="0" indent="0" algn="ctr">
              <a:buNone/>
              <a:defRPr sz="2000" b="1">
                <a:solidFill>
                  <a:schemeClr val="accent1"/>
                </a:solidFill>
              </a:defRPr>
            </a:lvl1pPr>
          </a:lstStyle>
          <a:p>
            <a:pPr lvl="0"/>
            <a:r>
              <a:rPr lang="ar-EG" dirty="0"/>
              <a:t>عنوان 1</a:t>
            </a:r>
            <a:endParaRPr lang="en-US" dirty="0"/>
          </a:p>
        </p:txBody>
      </p:sp>
      <p:sp>
        <p:nvSpPr>
          <p:cNvPr id="15" name="Picture Placeholder 10">
            <a:extLst>
              <a:ext uri="{FF2B5EF4-FFF2-40B4-BE49-F238E27FC236}">
                <a16:creationId xmlns:a16="http://schemas.microsoft.com/office/drawing/2014/main" id="{1ED86105-1558-4D32-B1A9-5F4D28811B51}"/>
              </a:ext>
            </a:extLst>
          </p:cNvPr>
          <p:cNvSpPr>
            <a:spLocks noGrp="1"/>
          </p:cNvSpPr>
          <p:nvPr>
            <p:ph type="pic" sz="quarter" idx="23" hasCustomPrompt="1"/>
          </p:nvPr>
        </p:nvSpPr>
        <p:spPr>
          <a:xfrm>
            <a:off x="3644019"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6" name="Picture Placeholder 10">
            <a:extLst>
              <a:ext uri="{FF2B5EF4-FFF2-40B4-BE49-F238E27FC236}">
                <a16:creationId xmlns:a16="http://schemas.microsoft.com/office/drawing/2014/main" id="{1ED86105-1558-4D32-B1A9-5F4D28811B51}"/>
              </a:ext>
            </a:extLst>
          </p:cNvPr>
          <p:cNvSpPr>
            <a:spLocks noGrp="1"/>
          </p:cNvSpPr>
          <p:nvPr>
            <p:ph type="pic" sz="quarter" idx="24" hasCustomPrompt="1"/>
          </p:nvPr>
        </p:nvSpPr>
        <p:spPr>
          <a:xfrm>
            <a:off x="6419301" y="1547024"/>
            <a:ext cx="2192643" cy="3051722"/>
          </a:xfrm>
          <a:prstGeom prst="rect">
            <a:avLst/>
          </a:prstGeom>
        </p:spPr>
        <p:txBody>
          <a:bodyPr wrap="square">
            <a:noAutofit/>
          </a:bodyPr>
          <a:lstStyle>
            <a:lvl1pPr>
              <a:defRPr sz="2000"/>
            </a:lvl1pPr>
          </a:lstStyle>
          <a:p>
            <a:r>
              <a:rPr lang="ar-EG" dirty="0"/>
              <a:t>اضغط على الأيقونة لإضافة صورة</a:t>
            </a:r>
            <a:endParaRPr lang="en-US" dirty="0"/>
          </a:p>
        </p:txBody>
      </p:sp>
      <p:sp>
        <p:nvSpPr>
          <p:cNvPr id="17" name="Text Placeholder 21"/>
          <p:cNvSpPr>
            <a:spLocks noGrp="1"/>
          </p:cNvSpPr>
          <p:nvPr>
            <p:ph type="body" sz="quarter" idx="25" hasCustomPrompt="1"/>
          </p:nvPr>
        </p:nvSpPr>
        <p:spPr>
          <a:xfrm>
            <a:off x="6418380" y="4793469"/>
            <a:ext cx="2194484" cy="368300"/>
          </a:xfrm>
        </p:spPr>
        <p:txBody>
          <a:bodyPr>
            <a:norm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2000" b="1">
                <a:solidFill>
                  <a:schemeClr val="accent1"/>
                </a:solidFill>
              </a:defRPr>
            </a:lvl1pPr>
          </a:lstStyle>
          <a:p>
            <a:pPr lvl="0"/>
            <a:r>
              <a:rPr lang="ar-EG" dirty="0"/>
              <a:t>عنوان 2</a:t>
            </a:r>
            <a:endParaRPr lang="en-US" dirty="0"/>
          </a:p>
        </p:txBody>
      </p:sp>
      <p:sp>
        <p:nvSpPr>
          <p:cNvPr id="20" name="Text Placeholder 19"/>
          <p:cNvSpPr>
            <a:spLocks noGrp="1"/>
          </p:cNvSpPr>
          <p:nvPr>
            <p:ph type="body" sz="quarter" idx="26" hasCustomPrompt="1"/>
          </p:nvPr>
        </p:nvSpPr>
        <p:spPr>
          <a:xfrm>
            <a:off x="846845"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1" name="Text Placeholder 19"/>
          <p:cNvSpPr>
            <a:spLocks noGrp="1"/>
          </p:cNvSpPr>
          <p:nvPr>
            <p:ph type="body" sz="quarter" idx="27" hasCustomPrompt="1"/>
          </p:nvPr>
        </p:nvSpPr>
        <p:spPr>
          <a:xfrm>
            <a:off x="3637028" y="5161763"/>
            <a:ext cx="2206625" cy="728662"/>
          </a:xfrm>
        </p:spPr>
        <p:txBody>
          <a:bodyPr>
            <a:normAutofit/>
          </a:bodyPr>
          <a:lstStyle>
            <a:lvl1pPr marL="0" indent="0" algn="ctr">
              <a:buNone/>
              <a:defRPr sz="1600"/>
            </a:lvl1pPr>
          </a:lstStyle>
          <a:p>
            <a:pPr lvl="0"/>
            <a:r>
              <a:rPr lang="ar-EG" dirty="0"/>
              <a:t>تعديل النص</a:t>
            </a:r>
            <a:endParaRPr lang="en-US" dirty="0"/>
          </a:p>
        </p:txBody>
      </p:sp>
      <p:sp>
        <p:nvSpPr>
          <p:cNvPr id="22" name="Text Placeholder 19"/>
          <p:cNvSpPr>
            <a:spLocks noGrp="1"/>
          </p:cNvSpPr>
          <p:nvPr>
            <p:ph type="body" sz="quarter" idx="28" hasCustomPrompt="1"/>
          </p:nvPr>
        </p:nvSpPr>
        <p:spPr>
          <a:xfrm>
            <a:off x="6421014" y="5161763"/>
            <a:ext cx="2189217" cy="728662"/>
          </a:xfrm>
        </p:spPr>
        <p:txBody>
          <a:bodyPr>
            <a:normAutofit/>
          </a:bodyPr>
          <a:lstStyle>
            <a:lvl1pPr marL="0" indent="0" algn="ctr">
              <a:buNone/>
              <a:defRPr sz="1600"/>
            </a:lvl1pPr>
          </a:lstStyle>
          <a:p>
            <a:pPr lvl="0"/>
            <a:r>
              <a:rPr lang="ar-EG" dirty="0"/>
              <a:t>تعديل النص</a:t>
            </a:r>
            <a:endParaRPr lang="en-US" dirty="0"/>
          </a:p>
        </p:txBody>
      </p:sp>
      <p:sp>
        <p:nvSpPr>
          <p:cNvPr id="23" name="Text Placeholder 19"/>
          <p:cNvSpPr>
            <a:spLocks noGrp="1"/>
          </p:cNvSpPr>
          <p:nvPr>
            <p:ph type="body" sz="quarter" idx="29" hasCustomPrompt="1"/>
          </p:nvPr>
        </p:nvSpPr>
        <p:spPr>
          <a:xfrm>
            <a:off x="9183408" y="5161763"/>
            <a:ext cx="2167364" cy="728662"/>
          </a:xfrm>
        </p:spPr>
        <p:txBody>
          <a:bodyPr>
            <a:normAutofit/>
          </a:bodyPr>
          <a:lstStyle>
            <a:lvl1pPr marL="0" indent="0" algn="ctr">
              <a:buNone/>
              <a:defRPr sz="1600"/>
            </a:lvl1pPr>
          </a:lstStyle>
          <a:p>
            <a:pPr lvl="0"/>
            <a:r>
              <a:rPr lang="ar-EG" dirty="0"/>
              <a:t>تعديل النص</a:t>
            </a:r>
            <a:endParaRPr lang="en-US" dirty="0"/>
          </a:p>
        </p:txBody>
      </p:sp>
      <p:sp>
        <p:nvSpPr>
          <p:cNvPr id="27" name="Rectangle 26"/>
          <p:cNvSpPr/>
          <p:nvPr userDrawn="1"/>
        </p:nvSpPr>
        <p:spPr>
          <a:xfrm>
            <a:off x="980989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8" name="Rectangle 27"/>
          <p:cNvSpPr/>
          <p:nvPr userDrawn="1"/>
        </p:nvSpPr>
        <p:spPr>
          <a:xfrm>
            <a:off x="7058422"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9" name="Rectangle 28"/>
          <p:cNvSpPr/>
          <p:nvPr userDrawn="1"/>
        </p:nvSpPr>
        <p:spPr>
          <a:xfrm>
            <a:off x="4283140"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0" name="Rectangle 29"/>
          <p:cNvSpPr/>
          <p:nvPr userDrawn="1"/>
        </p:nvSpPr>
        <p:spPr>
          <a:xfrm>
            <a:off x="1492957" y="5143475"/>
            <a:ext cx="914400" cy="18288"/>
          </a:xfrm>
          <a:prstGeom prst="rect">
            <a:avLst/>
          </a:prstGeom>
          <a:solidFill>
            <a:schemeClr val="accent1"/>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Tree>
    <p:extLst>
      <p:ext uri="{BB962C8B-B14F-4D97-AF65-F5344CB8AC3E}">
        <p14:creationId xmlns:p14="http://schemas.microsoft.com/office/powerpoint/2010/main" val="151455269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ar-EG" dirty="0"/>
              <a:t>اضغط لتغيير العنوان</a:t>
            </a:r>
            <a:endParaRPr lang="en-US" dirty="0"/>
          </a:p>
        </p:txBody>
      </p:sp>
      <p:sp>
        <p:nvSpPr>
          <p:cNvPr id="3" name="Content Placeholder 2"/>
          <p:cNvSpPr>
            <a:spLocks noGrp="1"/>
          </p:cNvSpPr>
          <p:nvPr>
            <p:ph sz="half" idx="1" hasCustomPrompt="1"/>
          </p:nvPr>
        </p:nvSpPr>
        <p:spPr>
          <a:xfrm>
            <a:off x="838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Content Placeholder 3"/>
          <p:cNvSpPr>
            <a:spLocks noGrp="1"/>
          </p:cNvSpPr>
          <p:nvPr>
            <p:ph sz="half" idx="2" hasCustomPrompt="1"/>
          </p:nvPr>
        </p:nvSpPr>
        <p:spPr>
          <a:xfrm>
            <a:off x="6172200" y="1447801"/>
            <a:ext cx="5181600" cy="4648200"/>
          </a:xfrm>
        </p:spPr>
        <p:txBody>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35BB4A2A-1A89-4F2B-96A8-6DC5A8475B0F}" type="datetime1">
              <a:rPr lang="en-US" smtClean="0"/>
              <a:t>2/15/2026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553776341"/>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4400233" y="6367630"/>
            <a:ext cx="3691931" cy="365125"/>
          </a:xfrm>
          <a:prstGeom prst="rect">
            <a:avLst/>
          </a:prstGeom>
        </p:spPr>
        <p:txBody>
          <a:bodyPr/>
          <a:lstStyle/>
          <a:p>
            <a:endParaRPr lang="en-US"/>
          </a:p>
        </p:txBody>
      </p:sp>
      <p:sp>
        <p:nvSpPr>
          <p:cNvPr id="4" name="Slide Number Placeholder 6"/>
          <p:cNvSpPr>
            <a:spLocks noGrp="1"/>
          </p:cNvSpPr>
          <p:nvPr>
            <p:ph type="sldNum" sz="quarter" idx="12"/>
          </p:nvPr>
        </p:nvSpPr>
        <p:spPr>
          <a:xfrm>
            <a:off x="621453" y="6390919"/>
            <a:ext cx="320040" cy="320040"/>
          </a:xfrm>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1625292832"/>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Absolute">
    <p:spTree>
      <p:nvGrpSpPr>
        <p:cNvPr id="1" name=""/>
        <p:cNvGrpSpPr/>
        <p:nvPr/>
      </p:nvGrpSpPr>
      <p:grpSpPr>
        <a:xfrm>
          <a:off x="0" y="0"/>
          <a:ext cx="0" cy="0"/>
          <a:chOff x="0" y="0"/>
          <a:chExt cx="0" cy="0"/>
        </a:xfrm>
      </p:grpSpPr>
    </p:spTree>
    <p:extLst>
      <p:ext uri="{BB962C8B-B14F-4D97-AF65-F5344CB8AC3E}">
        <p14:creationId xmlns:p14="http://schemas.microsoft.com/office/powerpoint/2010/main" val="83595862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796" y="979084"/>
            <a:ext cx="3932237" cy="1078316"/>
          </a:xfrm>
        </p:spPr>
        <p:txBody>
          <a:bodyPr anchor="b"/>
          <a:lstStyle>
            <a:lvl1pPr algn="r">
              <a:defRPr sz="3200"/>
            </a:lvl1pPr>
          </a:lstStyle>
          <a:p>
            <a:r>
              <a:rPr lang="ar-EG" dirty="0"/>
              <a:t>اضغط لتغيير العنوان</a:t>
            </a:r>
            <a:endParaRPr lang="en-US" dirty="0"/>
          </a:p>
        </p:txBody>
      </p:sp>
      <p:sp>
        <p:nvSpPr>
          <p:cNvPr id="3" name="Content Placeholder 2"/>
          <p:cNvSpPr>
            <a:spLocks noGrp="1"/>
          </p:cNvSpPr>
          <p:nvPr>
            <p:ph idx="1" hasCustomPrompt="1"/>
          </p:nvPr>
        </p:nvSpPr>
        <p:spPr>
          <a:xfrm>
            <a:off x="838200"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sp>
        <p:nvSpPr>
          <p:cNvPr id="4" name="Text Placeholder 3"/>
          <p:cNvSpPr>
            <a:spLocks noGrp="1"/>
          </p:cNvSpPr>
          <p:nvPr>
            <p:ph type="body" sz="half" idx="2" hasCustomPrompt="1"/>
          </p:nvPr>
        </p:nvSpPr>
        <p:spPr>
          <a:xfrm>
            <a:off x="7428796"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D6CC213-28D1-4DA6-A99B-8EB8EB359378}" type="datetime1">
              <a:rPr lang="en-US" smtClean="0"/>
              <a:t>2/15/2026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a:p>
        </p:txBody>
      </p:sp>
    </p:spTree>
    <p:extLst>
      <p:ext uri="{BB962C8B-B14F-4D97-AF65-F5344CB8AC3E}">
        <p14:creationId xmlns:p14="http://schemas.microsoft.com/office/powerpoint/2010/main" val="3967040814"/>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428852" y="1002415"/>
            <a:ext cx="3932237" cy="1010014"/>
          </a:xfrm>
        </p:spPr>
        <p:txBody>
          <a:bodyPr anchor="b" anchorCtr="0"/>
          <a:lstStyle>
            <a:lvl1pPr algn="r">
              <a:defRPr sz="3200"/>
            </a:lvl1pPr>
          </a:lstStyle>
          <a:p>
            <a:r>
              <a:rPr lang="ar-EG" dirty="0"/>
              <a:t>اضغط لتغيير العنوان</a:t>
            </a:r>
            <a:endParaRPr lang="en-US" dirty="0"/>
          </a:p>
        </p:txBody>
      </p:sp>
      <p:sp>
        <p:nvSpPr>
          <p:cNvPr id="3" name="Picture Placeholder 2"/>
          <p:cNvSpPr>
            <a:spLocks noGrp="1"/>
          </p:cNvSpPr>
          <p:nvPr>
            <p:ph type="pic" idx="1" hasCustomPrompt="1"/>
          </p:nvPr>
        </p:nvSpPr>
        <p:spPr>
          <a:xfrm>
            <a:off x="851806"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ar-EG" dirty="0"/>
              <a:t>اضغط على الأيقونة لإضافة صورة</a:t>
            </a:r>
            <a:endParaRPr lang="en-US" dirty="0"/>
          </a:p>
        </p:txBody>
      </p:sp>
      <p:sp>
        <p:nvSpPr>
          <p:cNvPr id="4" name="Text Placeholder 3"/>
          <p:cNvSpPr>
            <a:spLocks noGrp="1"/>
          </p:cNvSpPr>
          <p:nvPr>
            <p:ph type="body" sz="half" idx="2" hasCustomPrompt="1"/>
          </p:nvPr>
        </p:nvSpPr>
        <p:spPr>
          <a:xfrm>
            <a:off x="7428852" y="2057400"/>
            <a:ext cx="391724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EG" dirty="0"/>
              <a:t>تعديل النص</a:t>
            </a:r>
            <a:endParaRPr lang="en-US" dirty="0"/>
          </a:p>
        </p:txBody>
      </p:sp>
      <p:sp>
        <p:nvSpPr>
          <p:cNvPr id="5" name="Date Placeholder 4"/>
          <p:cNvSpPr>
            <a:spLocks noGrp="1"/>
          </p:cNvSpPr>
          <p:nvPr>
            <p:ph type="dt" sz="half" idx="10"/>
          </p:nvPr>
        </p:nvSpPr>
        <p:spPr>
          <a:xfrm>
            <a:off x="1126155" y="6372408"/>
            <a:ext cx="1875631" cy="365125"/>
          </a:xfrm>
          <a:prstGeom prst="rect">
            <a:avLst/>
          </a:prstGeom>
        </p:spPr>
        <p:txBody>
          <a:bodyPr/>
          <a:lstStyle/>
          <a:p>
            <a:fld id="{DF371FAE-8BEF-45E3-BB4F-0DA630E7BA88}" type="datetime1">
              <a:rPr lang="en-US" smtClean="0"/>
              <a:t>2/15/2026</a:t>
            </a:fld>
            <a:endParaRPr lang="en-US"/>
          </a:p>
        </p:txBody>
      </p:sp>
      <p:sp>
        <p:nvSpPr>
          <p:cNvPr id="6" name="Footer Placeholder 5"/>
          <p:cNvSpPr>
            <a:spLocks noGrp="1"/>
          </p:cNvSpPr>
          <p:nvPr>
            <p:ph type="ftr" sz="quarter" idx="11"/>
          </p:nvPr>
        </p:nvSpPr>
        <p:spPr>
          <a:xfrm>
            <a:off x="4400233" y="6367630"/>
            <a:ext cx="3691931"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0BE4EC83-A869-464E-AE9F-881796FB085E}" type="slidenum">
              <a:rPr lang="en-US" smtClean="0"/>
              <a:t>‹#›</a:t>
            </a:fld>
            <a:endParaRPr lang="en-US" dirty="0"/>
          </a:p>
        </p:txBody>
      </p:sp>
    </p:spTree>
    <p:extLst>
      <p:ext uri="{BB962C8B-B14F-4D97-AF65-F5344CB8AC3E}">
        <p14:creationId xmlns:p14="http://schemas.microsoft.com/office/powerpoint/2010/main" val="2860816287"/>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17" name="Picture 16" descr="A blue square with white and blue text&#10;&#10;Description automatically generated">
            <a:extLst>
              <a:ext uri="{FF2B5EF4-FFF2-40B4-BE49-F238E27FC236}">
                <a16:creationId xmlns:a16="http://schemas.microsoft.com/office/drawing/2014/main" id="{06F6661A-8164-8ED8-2B47-BE90673565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35616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extLst>
    <p:ext uri="{DCECCB84-F9BA-43D5-87BE-67443E8EF086}">
      <p15:sldGuideLst xmlns:p15="http://schemas.microsoft.com/office/powerpoint/2012/main">
        <p15:guide id="1" pos="5568">
          <p15:clr>
            <a:srgbClr val="FBAE40"/>
          </p15:clr>
        </p15:guide>
        <p15:guide id="2" pos="2112">
          <p15:clr>
            <a:srgbClr val="FBAE40"/>
          </p15:clr>
        </p15:guide>
        <p15:guide id="3" orient="horz" pos="1992" userDrawn="1">
          <p15:clr>
            <a:srgbClr val="FBAE40"/>
          </p15:clr>
        </p15:guide>
        <p15:guide id="4" orient="horz" pos="22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showMasterPhAnim="0" userDrawn="1">
  <p:cSld name="2_Agenda (big)">
    <p:spTree>
      <p:nvGrpSpPr>
        <p:cNvPr id="1" name=""/>
        <p:cNvGrpSpPr/>
        <p:nvPr/>
      </p:nvGrpSpPr>
      <p:grpSpPr>
        <a:xfrm>
          <a:off x="0" y="0"/>
          <a:ext cx="0" cy="0"/>
          <a:chOff x="0" y="0"/>
          <a:chExt cx="0" cy="0"/>
        </a:xfrm>
      </p:grpSpPr>
      <p:sp>
        <p:nvSpPr>
          <p:cNvPr id="53" name="Rectangle 52"/>
          <p:cNvSpPr/>
          <p:nvPr userDrawn="1"/>
        </p:nvSpPr>
        <p:spPr>
          <a:xfrm>
            <a:off x="9003322" y="0"/>
            <a:ext cx="3188677" cy="6858000"/>
          </a:xfrm>
          <a:prstGeom prst="rect">
            <a:avLst/>
          </a:prstGeom>
          <a:gradFill>
            <a:gsLst>
              <a:gs pos="0">
                <a:schemeClr val="accent2"/>
              </a:gs>
              <a:gs pos="46000">
                <a:schemeClr val="accent1"/>
              </a:gs>
            </a:gsLst>
            <a:lin ang="12000000" scaled="0"/>
          </a:gradFill>
          <a:ln w="0">
            <a:noFill/>
            <a:prstDash val="solid"/>
            <a:round/>
            <a:headEnd/>
            <a:tailEnd/>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9422421" y="923909"/>
            <a:ext cx="2350478" cy="5010182"/>
          </a:xfrm>
        </p:spPr>
        <p:txBody>
          <a:bodyPr vert="horz" lIns="91440" tIns="45720" rIns="91440" bIns="45720" rtlCol="0" anchor="ctr" anchorCtr="0">
            <a:normAutofit/>
          </a:bodyPr>
          <a:lstStyle>
            <a:lvl1pPr>
              <a:defRPr lang="en-US" dirty="0">
                <a:ln>
                  <a:noFill/>
                </a:ln>
                <a:solidFill>
                  <a:schemeClr val="bg1"/>
                </a:solidFill>
              </a:defRPr>
            </a:lvl1pPr>
          </a:lstStyle>
          <a:p>
            <a:pPr marL="0" lvl="0"/>
            <a:r>
              <a:rPr lang="ar-EG" dirty="0"/>
              <a:t>جدول المحتويات</a:t>
            </a:r>
            <a:endParaRPr lang="en-US" dirty="0"/>
          </a:p>
        </p:txBody>
      </p:sp>
      <p:sp>
        <p:nvSpPr>
          <p:cNvPr id="3" name="Date Placeholder 2"/>
          <p:cNvSpPr>
            <a:spLocks noGrp="1"/>
          </p:cNvSpPr>
          <p:nvPr>
            <p:ph type="dt" sz="half" idx="10"/>
          </p:nvPr>
        </p:nvSpPr>
        <p:spPr>
          <a:xfrm>
            <a:off x="1126155" y="6372408"/>
            <a:ext cx="1875631" cy="365125"/>
          </a:xfrm>
          <a:prstGeom prst="rect">
            <a:avLst/>
          </a:prstGeom>
        </p:spPr>
        <p:txBody>
          <a:bodyPr/>
          <a:lstStyle>
            <a:lvl1pPr algn="r" rtl="1">
              <a:defRPr/>
            </a:lvl1pPr>
          </a:lstStyle>
          <a:p>
            <a:fld id="{D07F32C4-027C-41E7-9CB9-C0506AA6389A}" type="datetime1">
              <a:rPr lang="en-US" smtClean="0"/>
              <a:pPr/>
              <a:t>2/15/2026</a:t>
            </a:fld>
            <a:endParaRPr lang="en-US"/>
          </a:p>
        </p:txBody>
      </p:sp>
      <p:sp>
        <p:nvSpPr>
          <p:cNvPr id="4" name="Footer Placeholder 3"/>
          <p:cNvSpPr>
            <a:spLocks noGrp="1"/>
          </p:cNvSpPr>
          <p:nvPr>
            <p:ph type="ftr" sz="quarter" idx="11"/>
          </p:nvPr>
        </p:nvSpPr>
        <p:spPr>
          <a:xfrm>
            <a:off x="4389600" y="6367630"/>
            <a:ext cx="3691931" cy="365125"/>
          </a:xfrm>
          <a:prstGeom prst="rect">
            <a:avLst/>
          </a:prstGeom>
        </p:spPr>
        <p:txBody>
          <a:bodyPr/>
          <a:lstStyle>
            <a:lvl1pPr rtl="1">
              <a:defRPr/>
            </a:lvl1pPr>
          </a:lstStyle>
          <a:p>
            <a:endParaRPr lang="en-US" dirty="0"/>
          </a:p>
        </p:txBody>
      </p:sp>
      <p:sp>
        <p:nvSpPr>
          <p:cNvPr id="129" name="Slide Number Placeholder 5"/>
          <p:cNvSpPr>
            <a:spLocks noGrp="1"/>
          </p:cNvSpPr>
          <p:nvPr>
            <p:ph type="sldNum" sz="quarter" idx="4"/>
          </p:nvPr>
        </p:nvSpPr>
        <p:spPr>
          <a:xfrm>
            <a:off x="621452" y="6335328"/>
            <a:ext cx="439703" cy="320040"/>
          </a:xfrm>
          <a:prstGeom prst="rect">
            <a:avLst/>
          </a:prstGeom>
          <a:noFill/>
          <a:ln>
            <a:noFill/>
          </a:ln>
        </p:spPr>
        <p:txBody>
          <a:bodyPr vert="horz" lIns="0" tIns="0" rIns="0" bIns="0" rtlCol="0" anchor="ctr"/>
          <a:lstStyle>
            <a:lvl1pPr algn="l">
              <a:defRPr lang="en-US" sz="1400" b="1" smtClean="0">
                <a:solidFill>
                  <a:schemeClr val="accent1"/>
                </a:solidFill>
              </a:defRPr>
            </a:lvl1pPr>
          </a:lstStyle>
          <a:p>
            <a:pPr rtl="1"/>
            <a:r>
              <a:rPr lang="en-US"/>
              <a:t>#</a:t>
            </a:r>
            <a:endParaRPr lang="en-US" dirty="0"/>
          </a:p>
        </p:txBody>
      </p:sp>
      <p:pic>
        <p:nvPicPr>
          <p:cNvPr id="5" name="Picture 4">
            <a:extLst>
              <a:ext uri="{FF2B5EF4-FFF2-40B4-BE49-F238E27FC236}">
                <a16:creationId xmlns:a16="http://schemas.microsoft.com/office/drawing/2014/main" id="{4075B88D-BA01-1F9E-6243-DA286D73D28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21452" y="277136"/>
            <a:ext cx="2464906" cy="365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86588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extLst>
    <p:ext uri="{DCECCB84-F9BA-43D5-87BE-67443E8EF086}">
      <p15:sldGuideLst xmlns:p15="http://schemas.microsoft.com/office/powerpoint/2012/main">
        <p15:guide id="1" pos="960">
          <p15:clr>
            <a:srgbClr val="FBAE40"/>
          </p15:clr>
        </p15:guide>
        <p15:guide id="2" pos="672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942982A0-0E12-0CD0-BD26-CCB3496D9500}"/>
              </a:ext>
            </a:extLst>
          </p:cNvPr>
          <p:cNvSpPr/>
          <p:nvPr userDrawn="1"/>
        </p:nvSpPr>
        <p:spPr>
          <a:xfrm>
            <a:off x="426720" y="377261"/>
            <a:ext cx="11338560" cy="576900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Freeform: Shape 32">
            <a:extLst>
              <a:ext uri="{FF2B5EF4-FFF2-40B4-BE49-F238E27FC236}">
                <a16:creationId xmlns:a16="http://schemas.microsoft.com/office/drawing/2014/main" id="{54EA71BE-3CCC-4CFA-DB3E-DFC159419FAF}"/>
              </a:ext>
            </a:extLst>
          </p:cNvPr>
          <p:cNvSpPr/>
          <p:nvPr userDrawn="1"/>
        </p:nvSpPr>
        <p:spPr>
          <a:xfrm rot="10800000" flipV="1">
            <a:off x="619123" y="216443"/>
            <a:ext cx="439704" cy="531176"/>
          </a:xfrm>
          <a:custGeom>
            <a:avLst/>
            <a:gdLst>
              <a:gd name="connsiteX0" fmla="*/ 0 w 439704"/>
              <a:gd name="connsiteY0" fmla="*/ 531176 h 531176"/>
              <a:gd name="connsiteX1" fmla="*/ 439704 w 439704"/>
              <a:gd name="connsiteY1" fmla="*/ 388308 h 531176"/>
              <a:gd name="connsiteX2" fmla="*/ 439704 w 439704"/>
              <a:gd name="connsiteY2" fmla="*/ 0 h 531176"/>
              <a:gd name="connsiteX3" fmla="*/ 0 w 439704"/>
              <a:gd name="connsiteY3" fmla="*/ 0 h 531176"/>
            </a:gdLst>
            <a:ahLst/>
            <a:cxnLst>
              <a:cxn ang="0">
                <a:pos x="connsiteX0" y="connsiteY0"/>
              </a:cxn>
              <a:cxn ang="0">
                <a:pos x="connsiteX1" y="connsiteY1"/>
              </a:cxn>
              <a:cxn ang="0">
                <a:pos x="connsiteX2" y="connsiteY2"/>
              </a:cxn>
              <a:cxn ang="0">
                <a:pos x="connsiteX3" y="connsiteY3"/>
              </a:cxn>
            </a:cxnLst>
            <a:rect l="l" t="t" r="r" b="b"/>
            <a:pathLst>
              <a:path w="439704" h="531176">
                <a:moveTo>
                  <a:pt x="0" y="531176"/>
                </a:moveTo>
                <a:lnTo>
                  <a:pt x="439704" y="388308"/>
                </a:lnTo>
                <a:lnTo>
                  <a:pt x="439704" y="0"/>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en-US"/>
          </a:p>
        </p:txBody>
      </p:sp>
      <p:sp>
        <p:nvSpPr>
          <p:cNvPr id="2" name="Title Placeholder 1"/>
          <p:cNvSpPr>
            <a:spLocks noGrp="1"/>
          </p:cNvSpPr>
          <p:nvPr userDrawn="1">
            <p:ph type="title"/>
          </p:nvPr>
        </p:nvSpPr>
        <p:spPr>
          <a:xfrm>
            <a:off x="609601" y="561078"/>
            <a:ext cx="10972800" cy="666261"/>
          </a:xfrm>
          <a:prstGeom prst="rect">
            <a:avLst/>
          </a:prstGeom>
        </p:spPr>
        <p:txBody>
          <a:bodyPr vert="horz" lIns="91440" tIns="45720" rIns="0" bIns="45720" rtlCol="0" anchor="ctr" anchorCtr="0">
            <a:noAutofit/>
          </a:bodyPr>
          <a:lstStyle/>
          <a:p>
            <a:r>
              <a:rPr lang="ar-EG" dirty="0"/>
              <a:t>اضغط لتغيير العنوان</a:t>
            </a:r>
            <a:endParaRPr lang="en-US" dirty="0"/>
          </a:p>
        </p:txBody>
      </p:sp>
      <p:sp>
        <p:nvSpPr>
          <p:cNvPr id="3" name="Text Placeholder 2"/>
          <p:cNvSpPr>
            <a:spLocks noGrp="1"/>
          </p:cNvSpPr>
          <p:nvPr userDrawn="1">
            <p:ph type="body" idx="1"/>
          </p:nvPr>
        </p:nvSpPr>
        <p:spPr>
          <a:xfrm>
            <a:off x="609600" y="1333501"/>
            <a:ext cx="10972800" cy="4812768"/>
          </a:xfrm>
          <a:prstGeom prst="rect">
            <a:avLst/>
          </a:prstGeom>
        </p:spPr>
        <p:txBody>
          <a:bodyPr vert="horz" lIns="91440" tIns="45720" rIns="0" bIns="45720" rtlCol="0">
            <a:normAutofit/>
          </a:bodyPr>
          <a:lstStyle/>
          <a:p>
            <a:pPr lvl="0"/>
            <a:r>
              <a:rPr lang="ar-EG" dirty="0"/>
              <a:t>تعديل النص</a:t>
            </a:r>
            <a:endParaRPr lang="en-US" dirty="0"/>
          </a:p>
          <a:p>
            <a:pPr lvl="1"/>
            <a:r>
              <a:rPr lang="ar-EG" dirty="0"/>
              <a:t>المستوى الثاني</a:t>
            </a:r>
            <a:endParaRPr lang="en-US" dirty="0"/>
          </a:p>
          <a:p>
            <a:pPr lvl="2"/>
            <a:r>
              <a:rPr lang="ar-EG" dirty="0"/>
              <a:t>المستوى الثالث</a:t>
            </a:r>
            <a:endParaRPr lang="en-US" dirty="0"/>
          </a:p>
          <a:p>
            <a:pPr lvl="3"/>
            <a:r>
              <a:rPr lang="ar-EG" dirty="0"/>
              <a:t>المستوى الرابع</a:t>
            </a:r>
            <a:endParaRPr lang="en-US" dirty="0"/>
          </a:p>
          <a:p>
            <a:pPr lvl="4"/>
            <a:r>
              <a:rPr lang="ar-EG" dirty="0"/>
              <a:t>المستوى الخامس</a:t>
            </a:r>
            <a:endParaRPr lang="en-US" dirty="0"/>
          </a:p>
        </p:txBody>
      </p:sp>
      <p:pic>
        <p:nvPicPr>
          <p:cNvPr id="5" name="Picture 4">
            <a:extLst>
              <a:ext uri="{FF2B5EF4-FFF2-40B4-BE49-F238E27FC236}">
                <a16:creationId xmlns:a16="http://schemas.microsoft.com/office/drawing/2014/main" id="{A0BE4E69-AE0B-085D-5A16-9A00D7D75383}"/>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9105642" y="6335328"/>
            <a:ext cx="2464906" cy="365760"/>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userDrawn="1">
            <p:ph type="sldNum" sz="quarter" idx="4"/>
          </p:nvPr>
        </p:nvSpPr>
        <p:spPr>
          <a:xfrm>
            <a:off x="621452" y="6358188"/>
            <a:ext cx="437375" cy="320040"/>
          </a:xfrm>
          <a:prstGeom prst="rect">
            <a:avLst/>
          </a:prstGeom>
          <a:noFill/>
          <a:ln>
            <a:noFill/>
          </a:ln>
        </p:spPr>
        <p:txBody>
          <a:bodyPr vert="horz" lIns="0" tIns="0" rIns="0" bIns="0" rtlCol="0" anchor="ctr"/>
          <a:lstStyle>
            <a:lvl1pPr algn="ctr">
              <a:defRPr lang="en-US" sz="1400" b="1" smtClean="0">
                <a:solidFill>
                  <a:schemeClr val="accent1"/>
                </a:solidFill>
              </a:defRPr>
            </a:lvl1pPr>
          </a:lstStyle>
          <a:p>
            <a:pPr rtl="1"/>
            <a:r>
              <a:rPr lang="en-GB"/>
              <a:t>#</a:t>
            </a:r>
            <a:endParaRPr lang="en-GB" dirty="0"/>
          </a:p>
        </p:txBody>
      </p:sp>
    </p:spTree>
    <p:extLst>
      <p:ext uri="{BB962C8B-B14F-4D97-AF65-F5344CB8AC3E}">
        <p14:creationId xmlns:p14="http://schemas.microsoft.com/office/powerpoint/2010/main" val="1743026089"/>
      </p:ext>
    </p:extLst>
  </p:cSld>
  <p:clrMap bg1="lt1" tx1="dk1" bg2="lt2" tx2="dk2" accent1="accent1" accent2="accent2" accent3="accent3" accent4="accent4" accent5="accent5" accent6="accent6" hlink="hlink" folHlink="folHlink"/>
  <p:sldLayoutIdLst>
    <p:sldLayoutId id="2147483742" r:id="rId1"/>
    <p:sldLayoutId id="2147483705" r:id="rId2"/>
    <p:sldLayoutId id="2147483749" r:id="rId3"/>
    <p:sldLayoutId id="2147483744" r:id="rId4"/>
    <p:sldLayoutId id="2147483730" r:id="rId5"/>
    <p:sldLayoutId id="2147483741" r:id="rId6"/>
    <p:sldLayoutId id="2147483707" r:id="rId7"/>
    <p:sldLayoutId id="2147483710" r:id="rId8"/>
    <p:sldLayoutId id="2147483711" r:id="rId9"/>
    <p:sldLayoutId id="2147483712" r:id="rId10"/>
    <p:sldLayoutId id="2147483713" r:id="rId11"/>
    <p:sldLayoutId id="2147483715" r:id="rId12"/>
    <p:sldLayoutId id="2147483740" r:id="rId13"/>
    <p:sldLayoutId id="2147483718" r:id="rId14"/>
    <p:sldLayoutId id="2147483719" r:id="rId15"/>
    <p:sldLayoutId id="2147483725" r:id="rId16"/>
    <p:sldLayoutId id="2147483728" r:id="rId17"/>
    <p:sldLayoutId id="2147483735" r:id="rId18"/>
    <p:sldLayoutId id="2147483736" r:id="rId19"/>
    <p:sldLayoutId id="2147483737" r:id="rId20"/>
    <p:sldLayoutId id="2147483738" r:id="rId21"/>
    <p:sldLayoutId id="2147483739" r:id="rId22"/>
    <p:sldLayoutId id="2147483750" r:id="rId2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hdr="0" ftr="0" dt="0"/>
  <p:txStyles>
    <p:title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2000" kern="1200">
          <a:solidFill>
            <a:schemeClr val="tx1">
              <a:lumMod val="85000"/>
              <a:lumOff val="1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6" pos="7296" userDrawn="1">
          <p15:clr>
            <a:srgbClr val="F26B43"/>
          </p15:clr>
        </p15:guide>
        <p15:guide id="7" orient="horz" pos="840" userDrawn="1">
          <p15:clr>
            <a:srgbClr val="F26B43"/>
          </p15:clr>
        </p15:guide>
        <p15:guide id="10" pos="384" userDrawn="1">
          <p15:clr>
            <a:srgbClr val="F26B43"/>
          </p15:clr>
        </p15:guide>
        <p15:guide id="11"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slide" Target="slide71.xml"/><Relationship Id="rId3" Type="http://schemas.openxmlformats.org/officeDocument/2006/relationships/slide" Target="slide11.xml"/><Relationship Id="rId7" Type="http://schemas.openxmlformats.org/officeDocument/2006/relationships/slide" Target="slide37.xml"/><Relationship Id="rId12" Type="http://schemas.openxmlformats.org/officeDocument/2006/relationships/slide" Target="slide60.xml"/><Relationship Id="rId2" Type="http://schemas.openxmlformats.org/officeDocument/2006/relationships/slide" Target="slide6.xml"/><Relationship Id="rId1" Type="http://schemas.openxmlformats.org/officeDocument/2006/relationships/slideLayout" Target="../slideLayouts/slideLayout23.xml"/><Relationship Id="rId6" Type="http://schemas.openxmlformats.org/officeDocument/2006/relationships/slide" Target="slide14.xml"/><Relationship Id="rId11" Type="http://schemas.openxmlformats.org/officeDocument/2006/relationships/slide" Target="slide114.xml"/><Relationship Id="rId5" Type="http://schemas.openxmlformats.org/officeDocument/2006/relationships/slide" Target="slide12.xml"/><Relationship Id="rId10" Type="http://schemas.openxmlformats.org/officeDocument/2006/relationships/slide" Target="slide95.xml"/><Relationship Id="rId4" Type="http://schemas.openxmlformats.org/officeDocument/2006/relationships/slide" Target="slide13.xml"/><Relationship Id="rId9" Type="http://schemas.openxmlformats.org/officeDocument/2006/relationships/slide" Target="slide8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slide" Target="slide18.xml"/><Relationship Id="rId7" Type="http://schemas.openxmlformats.org/officeDocument/2006/relationships/slide" Target="slide22.xm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slide" Target="slide21.xml"/><Relationship Id="rId5" Type="http://schemas.openxmlformats.org/officeDocument/2006/relationships/slide" Target="slide20.xml"/><Relationship Id="rId4" Type="http://schemas.openxmlformats.org/officeDocument/2006/relationships/slide" Target="slide19.xml"/></Relationships>
</file>

<file path=ppt/slides/_rels/slide17.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slide" Target="slide21.xml"/><Relationship Id="rId7" Type="http://schemas.openxmlformats.org/officeDocument/2006/relationships/slide" Target="slide27.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slide" Target="slide26.xml"/><Relationship Id="rId5" Type="http://schemas.openxmlformats.org/officeDocument/2006/relationships/slide" Target="slide25.xml"/><Relationship Id="rId4" Type="http://schemas.openxmlformats.org/officeDocument/2006/relationships/slide" Target="slide24.xml"/><Relationship Id="rId9" Type="http://schemas.openxmlformats.org/officeDocument/2006/relationships/slide" Target="slide2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8" Type="http://schemas.openxmlformats.org/officeDocument/2006/relationships/slide" Target="slide48.xml"/><Relationship Id="rId3" Type="http://schemas.openxmlformats.org/officeDocument/2006/relationships/slide" Target="slide41.xml"/><Relationship Id="rId7" Type="http://schemas.openxmlformats.org/officeDocument/2006/relationships/slide" Target="slide45.xml"/><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slide" Target="slide44.xml"/><Relationship Id="rId5" Type="http://schemas.openxmlformats.org/officeDocument/2006/relationships/slide" Target="slide43.xml"/><Relationship Id="rId4" Type="http://schemas.openxmlformats.org/officeDocument/2006/relationships/slide" Target="slide42.xml"/></Relationships>
</file>

<file path=ppt/slides/_rels/slide40.xml.rels><?xml version="1.0" encoding="UTF-8" standalone="yes"?>
<Relationships xmlns="http://schemas.openxmlformats.org/package/2006/relationships"><Relationship Id="rId3" Type="http://schemas.openxmlformats.org/officeDocument/2006/relationships/slide" Target="slide47.xml"/><Relationship Id="rId7" Type="http://schemas.openxmlformats.org/officeDocument/2006/relationships/slide" Target="slide51.xml"/><Relationship Id="rId2" Type="http://schemas.openxmlformats.org/officeDocument/2006/relationships/notesSlide" Target="../notesSlides/notesSlide36.xml"/><Relationship Id="rId1" Type="http://schemas.openxmlformats.org/officeDocument/2006/relationships/slideLayout" Target="../slideLayouts/slideLayout7.xml"/><Relationship Id="rId6" Type="http://schemas.openxmlformats.org/officeDocument/2006/relationships/slide" Target="slide50.xml"/><Relationship Id="rId5" Type="http://schemas.openxmlformats.org/officeDocument/2006/relationships/slide" Target="slide49.xml"/><Relationship Id="rId4" Type="http://schemas.openxmlformats.org/officeDocument/2006/relationships/slide" Target="slide4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0.xml"/><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57.xml"/><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3" Type="http://schemas.openxmlformats.org/officeDocument/2006/relationships/slide" Target="slide46.xml"/><Relationship Id="rId7" Type="http://schemas.openxmlformats.org/officeDocument/2006/relationships/slide" Target="slide67.xml"/><Relationship Id="rId2" Type="http://schemas.openxmlformats.org/officeDocument/2006/relationships/notesSlide" Target="../notesSlides/notesSlide58.xml"/><Relationship Id="rId1" Type="http://schemas.openxmlformats.org/officeDocument/2006/relationships/slideLayout" Target="../slideLayouts/slideLayout7.xml"/><Relationship Id="rId6" Type="http://schemas.openxmlformats.org/officeDocument/2006/relationships/slide" Target="slide66.xml"/><Relationship Id="rId5" Type="http://schemas.openxmlformats.org/officeDocument/2006/relationships/slide" Target="slide47.xml"/><Relationship Id="rId4" Type="http://schemas.openxmlformats.org/officeDocument/2006/relationships/slide" Target="slide6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4.xml"/><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68.xml"/><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3" Type="http://schemas.openxmlformats.org/officeDocument/2006/relationships/slide" Target="slide74.xml"/><Relationship Id="rId2" Type="http://schemas.openxmlformats.org/officeDocument/2006/relationships/notesSlide" Target="../notesSlides/notesSlide69.xml"/><Relationship Id="rId1" Type="http://schemas.openxmlformats.org/officeDocument/2006/relationships/slideLayout" Target="../slideLayouts/slideLayout7.xml"/><Relationship Id="rId6" Type="http://schemas.openxmlformats.org/officeDocument/2006/relationships/slide" Target="slide77.xml"/><Relationship Id="rId5" Type="http://schemas.openxmlformats.org/officeDocument/2006/relationships/slide" Target="slide76.xml"/><Relationship Id="rId4" Type="http://schemas.openxmlformats.org/officeDocument/2006/relationships/slide" Target="slide7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4.xml"/><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77.xml"/><Relationship Id="rId1"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3" Type="http://schemas.openxmlformats.org/officeDocument/2006/relationships/slide" Target="slide82.xml"/><Relationship Id="rId2" Type="http://schemas.openxmlformats.org/officeDocument/2006/relationships/notesSlide" Target="../notesSlides/notesSlide78.xml"/><Relationship Id="rId1" Type="http://schemas.openxmlformats.org/officeDocument/2006/relationships/slideLayout" Target="../slideLayouts/slideLayout7.xml"/><Relationship Id="rId6" Type="http://schemas.openxmlformats.org/officeDocument/2006/relationships/slide" Target="slide90.xml"/><Relationship Id="rId5" Type="http://schemas.openxmlformats.org/officeDocument/2006/relationships/slide" Target="slide89.xml"/><Relationship Id="rId4" Type="http://schemas.openxmlformats.org/officeDocument/2006/relationships/slide" Target="slide87.xml"/></Relationships>
</file>

<file path=ppt/slides/_rels/slide83.xml.rels><?xml version="1.0" encoding="UTF-8" standalone="yes"?>
<Relationships xmlns="http://schemas.openxmlformats.org/package/2006/relationships"><Relationship Id="rId3" Type="http://schemas.openxmlformats.org/officeDocument/2006/relationships/slide" Target="slide91.xml"/><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8.xml"/><Relationship Id="rId1" Type="http://schemas.openxmlformats.org/officeDocument/2006/relationships/slideLayout" Target="../slideLayouts/slideLayout1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92.xml"/><Relationship Id="rId1" Type="http://schemas.openxmlformats.org/officeDocument/2006/relationships/slideLayout" Target="../slideLayouts/slideLayout17.xml"/></Relationships>
</file>

<file path=ppt/slides/_rels/slide97.xml.rels><?xml version="1.0" encoding="UTF-8" standalone="yes"?>
<Relationships xmlns="http://schemas.openxmlformats.org/package/2006/relationships"><Relationship Id="rId3" Type="http://schemas.openxmlformats.org/officeDocument/2006/relationships/slide" Target="slide98.xml"/><Relationship Id="rId2" Type="http://schemas.openxmlformats.org/officeDocument/2006/relationships/notesSlide" Target="../notesSlides/notesSlide93.xml"/><Relationship Id="rId1" Type="http://schemas.openxmlformats.org/officeDocument/2006/relationships/slideLayout" Target="../slideLayouts/slideLayout7.xml"/><Relationship Id="rId5" Type="http://schemas.openxmlformats.org/officeDocument/2006/relationships/slide" Target="slide100.xml"/><Relationship Id="rId4" Type="http://schemas.openxmlformats.org/officeDocument/2006/relationships/slide" Target="slide99.xml"/></Relationships>
</file>

<file path=ppt/slides/_rels/slide98.xml.rels><?xml version="1.0" encoding="UTF-8" standalone="yes"?>
<Relationships xmlns="http://schemas.openxmlformats.org/package/2006/relationships"><Relationship Id="rId3" Type="http://schemas.openxmlformats.org/officeDocument/2006/relationships/slide" Target="slide99.xml"/><Relationship Id="rId2" Type="http://schemas.openxmlformats.org/officeDocument/2006/relationships/notesSlide" Target="../notesSlides/notesSlide94.xml"/><Relationship Id="rId1" Type="http://schemas.openxmlformats.org/officeDocument/2006/relationships/slideLayout" Target="../slideLayouts/slideLayout7.xml"/><Relationship Id="rId5" Type="http://schemas.openxmlformats.org/officeDocument/2006/relationships/slide" Target="slide101.xml"/><Relationship Id="rId4" Type="http://schemas.openxmlformats.org/officeDocument/2006/relationships/slide" Target="slide100.xml"/></Relationships>
</file>

<file path=ppt/slides/_rels/slide99.xml.rels><?xml version="1.0" encoding="UTF-8" standalone="yes"?>
<Relationships xmlns="http://schemas.openxmlformats.org/package/2006/relationships"><Relationship Id="rId3" Type="http://schemas.openxmlformats.org/officeDocument/2006/relationships/slide" Target="slide102.xml"/><Relationship Id="rId2" Type="http://schemas.openxmlformats.org/officeDocument/2006/relationships/notesSlide" Target="../notesSlides/notesSlide95.xml"/><Relationship Id="rId1" Type="http://schemas.openxmlformats.org/officeDocument/2006/relationships/slideLayout" Target="../slideLayouts/slideLayout7.xml"/><Relationship Id="rId6" Type="http://schemas.openxmlformats.org/officeDocument/2006/relationships/slide" Target="slide105.xml"/><Relationship Id="rId5" Type="http://schemas.openxmlformats.org/officeDocument/2006/relationships/slide" Target="slide104.xml"/><Relationship Id="rId4" Type="http://schemas.openxmlformats.org/officeDocument/2006/relationships/slide" Target="slide10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6.xml"/><Relationship Id="rId1" Type="http://schemas.openxmlformats.org/officeDocument/2006/relationships/slideLayout" Target="../slideLayouts/slideLayout1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8.xml"/></Relationships>
</file>

<file path=ppt/slides/_rels/slide11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11.xml"/><Relationship Id="rId1" Type="http://schemas.openxmlformats.org/officeDocument/2006/relationships/slideLayout" Target="../slideLayouts/slideLayout17.xml"/></Relationships>
</file>

<file path=ppt/slides/_rels/slide116.xml.rels><?xml version="1.0" encoding="UTF-8" standalone="yes"?>
<Relationships xmlns="http://schemas.openxmlformats.org/package/2006/relationships"><Relationship Id="rId3" Type="http://schemas.openxmlformats.org/officeDocument/2006/relationships/slide" Target="slide105.xml"/><Relationship Id="rId2" Type="http://schemas.openxmlformats.org/officeDocument/2006/relationships/notesSlide" Target="../notesSlides/notesSlide112.xml"/><Relationship Id="rId1" Type="http://schemas.openxmlformats.org/officeDocument/2006/relationships/slideLayout" Target="../slideLayouts/slideLayout7.xml"/><Relationship Id="rId5" Type="http://schemas.openxmlformats.org/officeDocument/2006/relationships/slide" Target="slide107.xml"/><Relationship Id="rId4" Type="http://schemas.openxmlformats.org/officeDocument/2006/relationships/slide" Target="slide106.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6.xml"/><Relationship Id="rId1" Type="http://schemas.openxmlformats.org/officeDocument/2006/relationships/slideLayout" Target="../slideLayouts/slideLayout1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9827" y="3749232"/>
            <a:ext cx="5022574" cy="1204833"/>
          </a:xfrm>
        </p:spPr>
        <p:txBody>
          <a:bodyPr/>
          <a:lstStyle/>
          <a:p>
            <a:pPr>
              <a:lnSpc>
                <a:spcPct val="125000"/>
              </a:lnSpc>
            </a:pPr>
            <a:r>
              <a:rPr lang="ar-EG" dirty="0"/>
              <a:t>وثيقة النموذج العام لمكونات البنية المؤسسية</a:t>
            </a:r>
            <a:endParaRPr lang="en-US" dirty="0"/>
          </a:p>
        </p:txBody>
      </p:sp>
      <p:sp>
        <p:nvSpPr>
          <p:cNvPr id="3" name="Subtitle 2"/>
          <p:cNvSpPr>
            <a:spLocks noGrp="1"/>
          </p:cNvSpPr>
          <p:nvPr>
            <p:ph type="subTitle" idx="1"/>
          </p:nvPr>
        </p:nvSpPr>
        <p:spPr/>
        <p:txBody>
          <a:bodyPr>
            <a:normAutofit/>
          </a:bodyPr>
          <a:lstStyle/>
          <a:p>
            <a:r>
              <a:rPr lang="ar-EG" dirty="0"/>
              <a:t>النسخة </a:t>
            </a:r>
            <a:r>
              <a:rPr lang="ar-SA" dirty="0"/>
              <a:t>1.8</a:t>
            </a:r>
            <a:endParaRPr lang="ar-EG" dirty="0"/>
          </a:p>
        </p:txBody>
      </p:sp>
    </p:spTree>
    <p:extLst>
      <p:ext uri="{BB962C8B-B14F-4D97-AF65-F5344CB8AC3E}">
        <p14:creationId xmlns:p14="http://schemas.microsoft.com/office/powerpoint/2010/main" val="2428133689"/>
      </p:ext>
    </p:extLst>
  </p:cSld>
  <p:clrMapOvr>
    <a:masterClrMapping/>
  </p:clrMapOvr>
  <mc:AlternateContent xmlns:mc="http://schemas.openxmlformats.org/markup-compatibility/2006" xmlns:p14="http://schemas.microsoft.com/office/powerpoint/2010/main">
    <mc:Choice Requires="p14">
      <p:transition spd="slow" p14:dur="1750">
        <p14:reveal thruBlk="1"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2</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شروط استخدام الوثيقة</a:t>
            </a:r>
            <a:endParaRPr lang="en-US" dirty="0"/>
          </a:p>
        </p:txBody>
      </p:sp>
      <p:sp>
        <p:nvSpPr>
          <p:cNvPr id="15" name="Rectangle 14">
            <a:extLst>
              <a:ext uri="{FF2B5EF4-FFF2-40B4-BE49-F238E27FC236}">
                <a16:creationId xmlns:a16="http://schemas.microsoft.com/office/drawing/2014/main" id="{7B21A5CB-82AC-F540-2F06-31E6BF4F283A}"/>
              </a:ext>
            </a:extLst>
          </p:cNvPr>
          <p:cNvSpPr/>
          <p:nvPr/>
        </p:nvSpPr>
        <p:spPr>
          <a:xfrm>
            <a:off x="2011680" y="2396756"/>
            <a:ext cx="7202276" cy="1730999"/>
          </a:xfrm>
          <a:prstGeom prst="rect">
            <a:avLst/>
          </a:prstGeom>
        </p:spPr>
        <p:txBody>
          <a:bodyPr anchor="ctr" anchorCtr="0">
            <a:normAutofit/>
          </a:bodyPr>
          <a:lstStyle/>
          <a:p>
            <a:pPr algn="r" rtl="1">
              <a:lnSpc>
                <a:spcPct val="150000"/>
              </a:lnSpc>
              <a:spcAft>
                <a:spcPts val="1200"/>
              </a:spcAft>
            </a:pPr>
            <a:r>
              <a:rPr lang="ar-EG" sz="2400" dirty="0"/>
              <a:t>إن هذه الوثيقة ومحتوياتها هي ملك لهيئة تقويم التعليم والتدريب ولا يجوز نسخها أو الكشف عنها أو تداولها دون الحصول على موافقة كتابية محددة من الهيئة، ويحظر تماما أي استخدام آخر غير الغرض الذي تم إعدادها من أجله.</a:t>
            </a:r>
          </a:p>
        </p:txBody>
      </p:sp>
      <p:grpSp>
        <p:nvGrpSpPr>
          <p:cNvPr id="28" name="Group 27">
            <a:extLst>
              <a:ext uri="{FF2B5EF4-FFF2-40B4-BE49-F238E27FC236}">
                <a16:creationId xmlns:a16="http://schemas.microsoft.com/office/drawing/2014/main" id="{D7350C88-B1EB-C1D4-7BA4-A1A2D371B40C}"/>
              </a:ext>
            </a:extLst>
          </p:cNvPr>
          <p:cNvGrpSpPr>
            <a:grpSpLocks noChangeAspect="1"/>
          </p:cNvGrpSpPr>
          <p:nvPr/>
        </p:nvGrpSpPr>
        <p:grpSpPr>
          <a:xfrm>
            <a:off x="9864957" y="2512209"/>
            <a:ext cx="1256429" cy="1483283"/>
            <a:chOff x="3290888" y="152400"/>
            <a:chExt cx="1600201" cy="1889125"/>
          </a:xfrm>
          <a:solidFill>
            <a:schemeClr val="accent1"/>
          </a:solidFill>
        </p:grpSpPr>
        <p:sp>
          <p:nvSpPr>
            <p:cNvPr id="29" name="Freeform 191">
              <a:extLst>
                <a:ext uri="{FF2B5EF4-FFF2-40B4-BE49-F238E27FC236}">
                  <a16:creationId xmlns:a16="http://schemas.microsoft.com/office/drawing/2014/main" id="{13DD340A-D508-6019-028E-387DF741F95E}"/>
                </a:ext>
              </a:extLst>
            </p:cNvPr>
            <p:cNvSpPr>
              <a:spLocks noEditPoints="1"/>
            </p:cNvSpPr>
            <p:nvPr/>
          </p:nvSpPr>
          <p:spPr bwMode="auto">
            <a:xfrm>
              <a:off x="3290888" y="152400"/>
              <a:ext cx="1427163" cy="1889125"/>
            </a:xfrm>
            <a:custGeom>
              <a:avLst/>
              <a:gdLst>
                <a:gd name="T0" fmla="*/ 320 w 6064"/>
                <a:gd name="T1" fmla="*/ 57 h 8032"/>
                <a:gd name="T2" fmla="*/ 157 w 6064"/>
                <a:gd name="T3" fmla="*/ 172 h 8032"/>
                <a:gd name="T4" fmla="*/ 44 w 6064"/>
                <a:gd name="T5" fmla="*/ 335 h 8032"/>
                <a:gd name="T6" fmla="*/ 17 w 6064"/>
                <a:gd name="T7" fmla="*/ 432 h 8032"/>
                <a:gd name="T8" fmla="*/ 0 w 6064"/>
                <a:gd name="T9" fmla="*/ 4016 h 8032"/>
                <a:gd name="T10" fmla="*/ 10 w 6064"/>
                <a:gd name="T11" fmla="*/ 7503 h 8032"/>
                <a:gd name="T12" fmla="*/ 33 w 6064"/>
                <a:gd name="T13" fmla="*/ 7672 h 8032"/>
                <a:gd name="T14" fmla="*/ 96 w 6064"/>
                <a:gd name="T15" fmla="*/ 7785 h 8032"/>
                <a:gd name="T16" fmla="*/ 210 w 6064"/>
                <a:gd name="T17" fmla="*/ 7905 h 8032"/>
                <a:gd name="T18" fmla="*/ 325 w 6064"/>
                <a:gd name="T19" fmla="*/ 7977 h 8032"/>
                <a:gd name="T20" fmla="*/ 4658 w 6064"/>
                <a:gd name="T21" fmla="*/ 8032 h 8032"/>
                <a:gd name="T22" fmla="*/ 4443 w 6064"/>
                <a:gd name="T23" fmla="*/ 7886 h 8032"/>
                <a:gd name="T24" fmla="*/ 4284 w 6064"/>
                <a:gd name="T25" fmla="*/ 7864 h 8032"/>
                <a:gd name="T26" fmla="*/ 458 w 6064"/>
                <a:gd name="T27" fmla="*/ 7841 h 8032"/>
                <a:gd name="T28" fmla="*/ 305 w 6064"/>
                <a:gd name="T29" fmla="*/ 7743 h 8032"/>
                <a:gd name="T30" fmla="*/ 205 w 6064"/>
                <a:gd name="T31" fmla="*/ 7604 h 8032"/>
                <a:gd name="T32" fmla="*/ 189 w 6064"/>
                <a:gd name="T33" fmla="*/ 6936 h 8032"/>
                <a:gd name="T34" fmla="*/ 189 w 6064"/>
                <a:gd name="T35" fmla="*/ 1096 h 8032"/>
                <a:gd name="T36" fmla="*/ 205 w 6064"/>
                <a:gd name="T37" fmla="*/ 427 h 8032"/>
                <a:gd name="T38" fmla="*/ 305 w 6064"/>
                <a:gd name="T39" fmla="*/ 288 h 8032"/>
                <a:gd name="T40" fmla="*/ 458 w 6064"/>
                <a:gd name="T41" fmla="*/ 191 h 8032"/>
                <a:gd name="T42" fmla="*/ 3626 w 6064"/>
                <a:gd name="T43" fmla="*/ 241 h 8032"/>
                <a:gd name="T44" fmla="*/ 3716 w 6064"/>
                <a:gd name="T45" fmla="*/ 317 h 8032"/>
                <a:gd name="T46" fmla="*/ 3808 w 6064"/>
                <a:gd name="T47" fmla="*/ 454 h 8032"/>
                <a:gd name="T48" fmla="*/ 3880 w 6064"/>
                <a:gd name="T49" fmla="*/ 1736 h 8032"/>
                <a:gd name="T50" fmla="*/ 4027 w 6064"/>
                <a:gd name="T51" fmla="*/ 1928 h 8032"/>
                <a:gd name="T52" fmla="*/ 4175 w 6064"/>
                <a:gd name="T53" fmla="*/ 2017 h 8032"/>
                <a:gd name="T54" fmla="*/ 4908 w 6064"/>
                <a:gd name="T55" fmla="*/ 2049 h 8032"/>
                <a:gd name="T56" fmla="*/ 5569 w 6064"/>
                <a:gd name="T57" fmla="*/ 2066 h 8032"/>
                <a:gd name="T58" fmla="*/ 5687 w 6064"/>
                <a:gd name="T59" fmla="*/ 2110 h 8032"/>
                <a:gd name="T60" fmla="*/ 5814 w 6064"/>
                <a:gd name="T61" fmla="*/ 2244 h 8032"/>
                <a:gd name="T62" fmla="*/ 5848 w 6064"/>
                <a:gd name="T63" fmla="*/ 2319 h 8032"/>
                <a:gd name="T64" fmla="*/ 5866 w 6064"/>
                <a:gd name="T65" fmla="*/ 2870 h 8032"/>
                <a:gd name="T66" fmla="*/ 5955 w 6064"/>
                <a:gd name="T67" fmla="*/ 5146 h 8032"/>
                <a:gd name="T68" fmla="*/ 6057 w 6064"/>
                <a:gd name="T69" fmla="*/ 5162 h 8032"/>
                <a:gd name="T70" fmla="*/ 6063 w 6064"/>
                <a:gd name="T71" fmla="*/ 3744 h 8032"/>
                <a:gd name="T72" fmla="*/ 5995 w 6064"/>
                <a:gd name="T73" fmla="*/ 2178 h 8032"/>
                <a:gd name="T74" fmla="*/ 5887 w 6064"/>
                <a:gd name="T75" fmla="*/ 2042 h 8032"/>
                <a:gd name="T76" fmla="*/ 5221 w 6064"/>
                <a:gd name="T77" fmla="*/ 1422 h 8032"/>
                <a:gd name="T78" fmla="*/ 3752 w 6064"/>
                <a:gd name="T79" fmla="*/ 93 h 8032"/>
                <a:gd name="T80" fmla="*/ 3659 w 6064"/>
                <a:gd name="T81" fmla="*/ 42 h 8032"/>
                <a:gd name="T82" fmla="*/ 3224 w 6064"/>
                <a:gd name="T83" fmla="*/ 3 h 8032"/>
                <a:gd name="T84" fmla="*/ 1235 w 6064"/>
                <a:gd name="T85" fmla="*/ 1 h 8032"/>
                <a:gd name="T86" fmla="*/ 415 w 6064"/>
                <a:gd name="T87" fmla="*/ 22 h 8032"/>
                <a:gd name="T88" fmla="*/ 4873 w 6064"/>
                <a:gd name="T89" fmla="*/ 1862 h 8032"/>
                <a:gd name="T90" fmla="*/ 4286 w 6064"/>
                <a:gd name="T91" fmla="*/ 1854 h 8032"/>
                <a:gd name="T92" fmla="*/ 4173 w 6064"/>
                <a:gd name="T93" fmla="*/ 1803 h 8032"/>
                <a:gd name="T94" fmla="*/ 4045 w 6064"/>
                <a:gd name="T95" fmla="*/ 1661 h 8032"/>
                <a:gd name="T96" fmla="*/ 4009 w 6064"/>
                <a:gd name="T97" fmla="*/ 1467 h 8032"/>
                <a:gd name="T98" fmla="*/ 4001 w 6064"/>
                <a:gd name="T99" fmla="*/ 869 h 8032"/>
                <a:gd name="T100" fmla="*/ 4013 w 6064"/>
                <a:gd name="T101" fmla="*/ 584 h 8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064" h="8032">
                  <a:moveTo>
                    <a:pt x="415" y="22"/>
                  </a:moveTo>
                  <a:lnTo>
                    <a:pt x="382" y="32"/>
                  </a:lnTo>
                  <a:lnTo>
                    <a:pt x="320" y="57"/>
                  </a:lnTo>
                  <a:lnTo>
                    <a:pt x="262" y="89"/>
                  </a:lnTo>
                  <a:lnTo>
                    <a:pt x="207" y="127"/>
                  </a:lnTo>
                  <a:lnTo>
                    <a:pt x="157" y="172"/>
                  </a:lnTo>
                  <a:lnTo>
                    <a:pt x="113" y="221"/>
                  </a:lnTo>
                  <a:lnTo>
                    <a:pt x="75" y="276"/>
                  </a:lnTo>
                  <a:lnTo>
                    <a:pt x="44" y="335"/>
                  </a:lnTo>
                  <a:lnTo>
                    <a:pt x="31" y="366"/>
                  </a:lnTo>
                  <a:lnTo>
                    <a:pt x="26" y="381"/>
                  </a:lnTo>
                  <a:lnTo>
                    <a:pt x="17" y="432"/>
                  </a:lnTo>
                  <a:lnTo>
                    <a:pt x="7" y="619"/>
                  </a:lnTo>
                  <a:lnTo>
                    <a:pt x="0" y="1830"/>
                  </a:lnTo>
                  <a:lnTo>
                    <a:pt x="0" y="4016"/>
                  </a:lnTo>
                  <a:lnTo>
                    <a:pt x="0" y="6238"/>
                  </a:lnTo>
                  <a:lnTo>
                    <a:pt x="6" y="7301"/>
                  </a:lnTo>
                  <a:lnTo>
                    <a:pt x="10" y="7503"/>
                  </a:lnTo>
                  <a:lnTo>
                    <a:pt x="17" y="7608"/>
                  </a:lnTo>
                  <a:lnTo>
                    <a:pt x="27" y="7656"/>
                  </a:lnTo>
                  <a:lnTo>
                    <a:pt x="33" y="7672"/>
                  </a:lnTo>
                  <a:lnTo>
                    <a:pt x="42" y="7695"/>
                  </a:lnTo>
                  <a:lnTo>
                    <a:pt x="66" y="7741"/>
                  </a:lnTo>
                  <a:lnTo>
                    <a:pt x="96" y="7785"/>
                  </a:lnTo>
                  <a:lnTo>
                    <a:pt x="130" y="7828"/>
                  </a:lnTo>
                  <a:lnTo>
                    <a:pt x="168" y="7868"/>
                  </a:lnTo>
                  <a:lnTo>
                    <a:pt x="210" y="7905"/>
                  </a:lnTo>
                  <a:lnTo>
                    <a:pt x="255" y="7938"/>
                  </a:lnTo>
                  <a:lnTo>
                    <a:pt x="301" y="7966"/>
                  </a:lnTo>
                  <a:lnTo>
                    <a:pt x="325" y="7977"/>
                  </a:lnTo>
                  <a:lnTo>
                    <a:pt x="425" y="8024"/>
                  </a:lnTo>
                  <a:lnTo>
                    <a:pt x="2541" y="8029"/>
                  </a:lnTo>
                  <a:lnTo>
                    <a:pt x="4658" y="8032"/>
                  </a:lnTo>
                  <a:lnTo>
                    <a:pt x="4566" y="7972"/>
                  </a:lnTo>
                  <a:lnTo>
                    <a:pt x="4489" y="7920"/>
                  </a:lnTo>
                  <a:lnTo>
                    <a:pt x="4443" y="7886"/>
                  </a:lnTo>
                  <a:lnTo>
                    <a:pt x="4437" y="7881"/>
                  </a:lnTo>
                  <a:lnTo>
                    <a:pt x="4404" y="7873"/>
                  </a:lnTo>
                  <a:lnTo>
                    <a:pt x="4284" y="7864"/>
                  </a:lnTo>
                  <a:lnTo>
                    <a:pt x="3588" y="7854"/>
                  </a:lnTo>
                  <a:lnTo>
                    <a:pt x="2435" y="7849"/>
                  </a:lnTo>
                  <a:lnTo>
                    <a:pt x="458" y="7841"/>
                  </a:lnTo>
                  <a:lnTo>
                    <a:pt x="390" y="7804"/>
                  </a:lnTo>
                  <a:lnTo>
                    <a:pt x="360" y="7787"/>
                  </a:lnTo>
                  <a:lnTo>
                    <a:pt x="305" y="7743"/>
                  </a:lnTo>
                  <a:lnTo>
                    <a:pt x="257" y="7691"/>
                  </a:lnTo>
                  <a:lnTo>
                    <a:pt x="218" y="7633"/>
                  </a:lnTo>
                  <a:lnTo>
                    <a:pt x="205" y="7604"/>
                  </a:lnTo>
                  <a:lnTo>
                    <a:pt x="202" y="7583"/>
                  </a:lnTo>
                  <a:lnTo>
                    <a:pt x="196" y="7416"/>
                  </a:lnTo>
                  <a:lnTo>
                    <a:pt x="189" y="6936"/>
                  </a:lnTo>
                  <a:lnTo>
                    <a:pt x="181" y="5346"/>
                  </a:lnTo>
                  <a:lnTo>
                    <a:pt x="181" y="2685"/>
                  </a:lnTo>
                  <a:lnTo>
                    <a:pt x="189" y="1096"/>
                  </a:lnTo>
                  <a:lnTo>
                    <a:pt x="196" y="616"/>
                  </a:lnTo>
                  <a:lnTo>
                    <a:pt x="202" y="448"/>
                  </a:lnTo>
                  <a:lnTo>
                    <a:pt x="205" y="427"/>
                  </a:lnTo>
                  <a:lnTo>
                    <a:pt x="218" y="398"/>
                  </a:lnTo>
                  <a:lnTo>
                    <a:pt x="257" y="340"/>
                  </a:lnTo>
                  <a:lnTo>
                    <a:pt x="305" y="288"/>
                  </a:lnTo>
                  <a:lnTo>
                    <a:pt x="360" y="244"/>
                  </a:lnTo>
                  <a:lnTo>
                    <a:pt x="390" y="227"/>
                  </a:lnTo>
                  <a:lnTo>
                    <a:pt x="458" y="191"/>
                  </a:lnTo>
                  <a:lnTo>
                    <a:pt x="2001" y="191"/>
                  </a:lnTo>
                  <a:lnTo>
                    <a:pt x="3545" y="191"/>
                  </a:lnTo>
                  <a:lnTo>
                    <a:pt x="3626" y="241"/>
                  </a:lnTo>
                  <a:lnTo>
                    <a:pt x="3645" y="253"/>
                  </a:lnTo>
                  <a:lnTo>
                    <a:pt x="3682" y="283"/>
                  </a:lnTo>
                  <a:lnTo>
                    <a:pt x="3716" y="317"/>
                  </a:lnTo>
                  <a:lnTo>
                    <a:pt x="3746" y="354"/>
                  </a:lnTo>
                  <a:lnTo>
                    <a:pt x="3758" y="372"/>
                  </a:lnTo>
                  <a:lnTo>
                    <a:pt x="3808" y="454"/>
                  </a:lnTo>
                  <a:lnTo>
                    <a:pt x="3816" y="1039"/>
                  </a:lnTo>
                  <a:lnTo>
                    <a:pt x="3825" y="1624"/>
                  </a:lnTo>
                  <a:lnTo>
                    <a:pt x="3880" y="1736"/>
                  </a:lnTo>
                  <a:lnTo>
                    <a:pt x="3903" y="1781"/>
                  </a:lnTo>
                  <a:lnTo>
                    <a:pt x="3959" y="1861"/>
                  </a:lnTo>
                  <a:lnTo>
                    <a:pt x="4027" y="1928"/>
                  </a:lnTo>
                  <a:lnTo>
                    <a:pt x="4106" y="1983"/>
                  </a:lnTo>
                  <a:lnTo>
                    <a:pt x="4150" y="2006"/>
                  </a:lnTo>
                  <a:lnTo>
                    <a:pt x="4175" y="2017"/>
                  </a:lnTo>
                  <a:lnTo>
                    <a:pt x="4246" y="2032"/>
                  </a:lnTo>
                  <a:lnTo>
                    <a:pt x="4495" y="2044"/>
                  </a:lnTo>
                  <a:lnTo>
                    <a:pt x="4908" y="2049"/>
                  </a:lnTo>
                  <a:lnTo>
                    <a:pt x="5136" y="2052"/>
                  </a:lnTo>
                  <a:lnTo>
                    <a:pt x="5424" y="2058"/>
                  </a:lnTo>
                  <a:lnTo>
                    <a:pt x="5569" y="2066"/>
                  </a:lnTo>
                  <a:lnTo>
                    <a:pt x="5635" y="2082"/>
                  </a:lnTo>
                  <a:lnTo>
                    <a:pt x="5658" y="2094"/>
                  </a:lnTo>
                  <a:lnTo>
                    <a:pt x="5687" y="2110"/>
                  </a:lnTo>
                  <a:lnTo>
                    <a:pt x="5737" y="2147"/>
                  </a:lnTo>
                  <a:lnTo>
                    <a:pt x="5778" y="2190"/>
                  </a:lnTo>
                  <a:lnTo>
                    <a:pt x="5814" y="2244"/>
                  </a:lnTo>
                  <a:lnTo>
                    <a:pt x="5831" y="2277"/>
                  </a:lnTo>
                  <a:lnTo>
                    <a:pt x="5838" y="2290"/>
                  </a:lnTo>
                  <a:lnTo>
                    <a:pt x="5848" y="2319"/>
                  </a:lnTo>
                  <a:lnTo>
                    <a:pt x="5855" y="2367"/>
                  </a:lnTo>
                  <a:lnTo>
                    <a:pt x="5860" y="2451"/>
                  </a:lnTo>
                  <a:lnTo>
                    <a:pt x="5866" y="2870"/>
                  </a:lnTo>
                  <a:lnTo>
                    <a:pt x="5866" y="3729"/>
                  </a:lnTo>
                  <a:lnTo>
                    <a:pt x="5866" y="5109"/>
                  </a:lnTo>
                  <a:lnTo>
                    <a:pt x="5955" y="5146"/>
                  </a:lnTo>
                  <a:lnTo>
                    <a:pt x="6025" y="5174"/>
                  </a:lnTo>
                  <a:lnTo>
                    <a:pt x="6055" y="5182"/>
                  </a:lnTo>
                  <a:lnTo>
                    <a:pt x="6057" y="5162"/>
                  </a:lnTo>
                  <a:lnTo>
                    <a:pt x="6061" y="4943"/>
                  </a:lnTo>
                  <a:lnTo>
                    <a:pt x="6064" y="4320"/>
                  </a:lnTo>
                  <a:lnTo>
                    <a:pt x="6063" y="3744"/>
                  </a:lnTo>
                  <a:lnTo>
                    <a:pt x="6058" y="2307"/>
                  </a:lnTo>
                  <a:lnTo>
                    <a:pt x="6005" y="2197"/>
                  </a:lnTo>
                  <a:lnTo>
                    <a:pt x="5995" y="2178"/>
                  </a:lnTo>
                  <a:lnTo>
                    <a:pt x="5972" y="2141"/>
                  </a:lnTo>
                  <a:lnTo>
                    <a:pt x="5939" y="2098"/>
                  </a:lnTo>
                  <a:lnTo>
                    <a:pt x="5887" y="2042"/>
                  </a:lnTo>
                  <a:lnTo>
                    <a:pt x="5763" y="1920"/>
                  </a:lnTo>
                  <a:lnTo>
                    <a:pt x="5458" y="1639"/>
                  </a:lnTo>
                  <a:lnTo>
                    <a:pt x="5221" y="1422"/>
                  </a:lnTo>
                  <a:lnTo>
                    <a:pt x="4390" y="664"/>
                  </a:lnTo>
                  <a:lnTo>
                    <a:pt x="3873" y="197"/>
                  </a:lnTo>
                  <a:lnTo>
                    <a:pt x="3752" y="93"/>
                  </a:lnTo>
                  <a:lnTo>
                    <a:pt x="3730" y="79"/>
                  </a:lnTo>
                  <a:lnTo>
                    <a:pt x="3707" y="65"/>
                  </a:lnTo>
                  <a:lnTo>
                    <a:pt x="3659" y="42"/>
                  </a:lnTo>
                  <a:lnTo>
                    <a:pt x="3593" y="25"/>
                  </a:lnTo>
                  <a:lnTo>
                    <a:pt x="3487" y="13"/>
                  </a:lnTo>
                  <a:lnTo>
                    <a:pt x="3224" y="3"/>
                  </a:lnTo>
                  <a:lnTo>
                    <a:pt x="2541" y="0"/>
                  </a:lnTo>
                  <a:lnTo>
                    <a:pt x="1991" y="1"/>
                  </a:lnTo>
                  <a:lnTo>
                    <a:pt x="1235" y="1"/>
                  </a:lnTo>
                  <a:lnTo>
                    <a:pt x="633" y="8"/>
                  </a:lnTo>
                  <a:lnTo>
                    <a:pt x="447" y="16"/>
                  </a:lnTo>
                  <a:lnTo>
                    <a:pt x="415" y="22"/>
                  </a:lnTo>
                  <a:close/>
                  <a:moveTo>
                    <a:pt x="4725" y="1224"/>
                  </a:moveTo>
                  <a:lnTo>
                    <a:pt x="5421" y="1857"/>
                  </a:lnTo>
                  <a:lnTo>
                    <a:pt x="4873" y="1862"/>
                  </a:lnTo>
                  <a:lnTo>
                    <a:pt x="4633" y="1864"/>
                  </a:lnTo>
                  <a:lnTo>
                    <a:pt x="4383" y="1860"/>
                  </a:lnTo>
                  <a:lnTo>
                    <a:pt x="4286" y="1854"/>
                  </a:lnTo>
                  <a:lnTo>
                    <a:pt x="4266" y="1851"/>
                  </a:lnTo>
                  <a:lnTo>
                    <a:pt x="4236" y="1840"/>
                  </a:lnTo>
                  <a:lnTo>
                    <a:pt x="4173" y="1803"/>
                  </a:lnTo>
                  <a:lnTo>
                    <a:pt x="4113" y="1752"/>
                  </a:lnTo>
                  <a:lnTo>
                    <a:pt x="4063" y="1692"/>
                  </a:lnTo>
                  <a:lnTo>
                    <a:pt x="4045" y="1661"/>
                  </a:lnTo>
                  <a:lnTo>
                    <a:pt x="4033" y="1637"/>
                  </a:lnTo>
                  <a:lnTo>
                    <a:pt x="4017" y="1580"/>
                  </a:lnTo>
                  <a:lnTo>
                    <a:pt x="4009" y="1467"/>
                  </a:lnTo>
                  <a:lnTo>
                    <a:pt x="4005" y="1252"/>
                  </a:lnTo>
                  <a:lnTo>
                    <a:pt x="4003" y="1084"/>
                  </a:lnTo>
                  <a:lnTo>
                    <a:pt x="4001" y="869"/>
                  </a:lnTo>
                  <a:lnTo>
                    <a:pt x="4004" y="658"/>
                  </a:lnTo>
                  <a:lnTo>
                    <a:pt x="4009" y="589"/>
                  </a:lnTo>
                  <a:lnTo>
                    <a:pt x="4013" y="584"/>
                  </a:lnTo>
                  <a:lnTo>
                    <a:pt x="4181" y="731"/>
                  </a:lnTo>
                  <a:lnTo>
                    <a:pt x="4725" y="1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0" name="Freeform 192">
              <a:extLst>
                <a:ext uri="{FF2B5EF4-FFF2-40B4-BE49-F238E27FC236}">
                  <a16:creationId xmlns:a16="http://schemas.microsoft.com/office/drawing/2014/main" id="{A3C20801-CFA8-4B96-9DFA-637FBC91BF6E}"/>
                </a:ext>
              </a:extLst>
            </p:cNvPr>
            <p:cNvSpPr>
              <a:spLocks/>
            </p:cNvSpPr>
            <p:nvPr/>
          </p:nvSpPr>
          <p:spPr bwMode="auto">
            <a:xfrm>
              <a:off x="3543301" y="571500"/>
              <a:ext cx="371475" cy="44450"/>
            </a:xfrm>
            <a:custGeom>
              <a:avLst/>
              <a:gdLst>
                <a:gd name="T0" fmla="*/ 16 w 1582"/>
                <a:gd name="T1" fmla="*/ 32 h 184"/>
                <a:gd name="T2" fmla="*/ 7 w 1582"/>
                <a:gd name="T3" fmla="*/ 51 h 184"/>
                <a:gd name="T4" fmla="*/ 0 w 1582"/>
                <a:gd name="T5" fmla="*/ 87 h 184"/>
                <a:gd name="T6" fmla="*/ 5 w 1582"/>
                <a:gd name="T7" fmla="*/ 120 h 184"/>
                <a:gd name="T8" fmla="*/ 22 w 1582"/>
                <a:gd name="T9" fmla="*/ 146 h 184"/>
                <a:gd name="T10" fmla="*/ 36 w 1582"/>
                <a:gd name="T11" fmla="*/ 157 h 184"/>
                <a:gd name="T12" fmla="*/ 43 w 1582"/>
                <a:gd name="T13" fmla="*/ 161 h 184"/>
                <a:gd name="T14" fmla="*/ 64 w 1582"/>
                <a:gd name="T15" fmla="*/ 168 h 184"/>
                <a:gd name="T16" fmla="*/ 122 w 1582"/>
                <a:gd name="T17" fmla="*/ 176 h 184"/>
                <a:gd name="T18" fmla="*/ 394 w 1582"/>
                <a:gd name="T19" fmla="*/ 183 h 184"/>
                <a:gd name="T20" fmla="*/ 801 w 1582"/>
                <a:gd name="T21" fmla="*/ 184 h 184"/>
                <a:gd name="T22" fmla="*/ 1234 w 1582"/>
                <a:gd name="T23" fmla="*/ 183 h 184"/>
                <a:gd name="T24" fmla="*/ 1489 w 1582"/>
                <a:gd name="T25" fmla="*/ 176 h 184"/>
                <a:gd name="T26" fmla="*/ 1535 w 1582"/>
                <a:gd name="T27" fmla="*/ 167 h 184"/>
                <a:gd name="T28" fmla="*/ 1549 w 1582"/>
                <a:gd name="T29" fmla="*/ 159 h 184"/>
                <a:gd name="T30" fmla="*/ 1554 w 1582"/>
                <a:gd name="T31" fmla="*/ 154 h 184"/>
                <a:gd name="T32" fmla="*/ 1566 w 1582"/>
                <a:gd name="T33" fmla="*/ 139 h 184"/>
                <a:gd name="T34" fmla="*/ 1580 w 1582"/>
                <a:gd name="T35" fmla="*/ 103 h 184"/>
                <a:gd name="T36" fmla="*/ 1582 w 1582"/>
                <a:gd name="T37" fmla="*/ 65 h 184"/>
                <a:gd name="T38" fmla="*/ 1572 w 1582"/>
                <a:gd name="T39" fmla="*/ 32 h 184"/>
                <a:gd name="T40" fmla="*/ 1563 w 1582"/>
                <a:gd name="T41" fmla="*/ 20 h 184"/>
                <a:gd name="T42" fmla="*/ 1551 w 1582"/>
                <a:gd name="T43" fmla="*/ 15 h 184"/>
                <a:gd name="T44" fmla="*/ 1464 w 1582"/>
                <a:gd name="T45" fmla="*/ 7 h 184"/>
                <a:gd name="T46" fmla="*/ 1165 w 1582"/>
                <a:gd name="T47" fmla="*/ 1 h 184"/>
                <a:gd name="T48" fmla="*/ 788 w 1582"/>
                <a:gd name="T49" fmla="*/ 0 h 184"/>
                <a:gd name="T50" fmla="*/ 329 w 1582"/>
                <a:gd name="T51" fmla="*/ 1 h 184"/>
                <a:gd name="T52" fmla="*/ 71 w 1582"/>
                <a:gd name="T53" fmla="*/ 9 h 184"/>
                <a:gd name="T54" fmla="*/ 30 w 1582"/>
                <a:gd name="T55" fmla="*/ 18 h 184"/>
                <a:gd name="T56" fmla="*/ 19 w 1582"/>
                <a:gd name="T57" fmla="*/ 27 h 184"/>
                <a:gd name="T58" fmla="*/ 16 w 1582"/>
                <a:gd name="T59"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4">
                  <a:moveTo>
                    <a:pt x="16" y="32"/>
                  </a:moveTo>
                  <a:lnTo>
                    <a:pt x="7" y="51"/>
                  </a:lnTo>
                  <a:lnTo>
                    <a:pt x="0" y="87"/>
                  </a:lnTo>
                  <a:lnTo>
                    <a:pt x="5" y="120"/>
                  </a:lnTo>
                  <a:lnTo>
                    <a:pt x="22" y="146"/>
                  </a:lnTo>
                  <a:lnTo>
                    <a:pt x="36" y="157"/>
                  </a:lnTo>
                  <a:lnTo>
                    <a:pt x="43" y="161"/>
                  </a:lnTo>
                  <a:lnTo>
                    <a:pt x="64" y="168"/>
                  </a:lnTo>
                  <a:lnTo>
                    <a:pt x="122" y="176"/>
                  </a:lnTo>
                  <a:lnTo>
                    <a:pt x="394" y="183"/>
                  </a:lnTo>
                  <a:lnTo>
                    <a:pt x="801" y="184"/>
                  </a:lnTo>
                  <a:lnTo>
                    <a:pt x="1234" y="183"/>
                  </a:lnTo>
                  <a:lnTo>
                    <a:pt x="1489" y="176"/>
                  </a:lnTo>
                  <a:lnTo>
                    <a:pt x="1535" y="167"/>
                  </a:lnTo>
                  <a:lnTo>
                    <a:pt x="1549" y="159"/>
                  </a:lnTo>
                  <a:lnTo>
                    <a:pt x="1554" y="154"/>
                  </a:lnTo>
                  <a:lnTo>
                    <a:pt x="1566" y="139"/>
                  </a:lnTo>
                  <a:lnTo>
                    <a:pt x="1580" y="103"/>
                  </a:lnTo>
                  <a:lnTo>
                    <a:pt x="1582" y="65"/>
                  </a:lnTo>
                  <a:lnTo>
                    <a:pt x="1572" y="32"/>
                  </a:lnTo>
                  <a:lnTo>
                    <a:pt x="1563" y="20"/>
                  </a:lnTo>
                  <a:lnTo>
                    <a:pt x="1551" y="15"/>
                  </a:lnTo>
                  <a:lnTo>
                    <a:pt x="1464" y="7"/>
                  </a:lnTo>
                  <a:lnTo>
                    <a:pt x="1165" y="1"/>
                  </a:lnTo>
                  <a:lnTo>
                    <a:pt x="788" y="0"/>
                  </a:lnTo>
                  <a:lnTo>
                    <a:pt x="329" y="1"/>
                  </a:lnTo>
                  <a:lnTo>
                    <a:pt x="71" y="9"/>
                  </a:lnTo>
                  <a:lnTo>
                    <a:pt x="30"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1" name="Freeform 193">
              <a:extLst>
                <a:ext uri="{FF2B5EF4-FFF2-40B4-BE49-F238E27FC236}">
                  <a16:creationId xmlns:a16="http://schemas.microsoft.com/office/drawing/2014/main" id="{341BA33C-F8DE-9EE7-6E8E-26BF7767CEBE}"/>
                </a:ext>
              </a:extLst>
            </p:cNvPr>
            <p:cNvSpPr>
              <a:spLocks/>
            </p:cNvSpPr>
            <p:nvPr/>
          </p:nvSpPr>
          <p:spPr bwMode="auto">
            <a:xfrm>
              <a:off x="3543301" y="835025"/>
              <a:ext cx="657225" cy="42863"/>
            </a:xfrm>
            <a:custGeom>
              <a:avLst/>
              <a:gdLst>
                <a:gd name="T0" fmla="*/ 25 w 2796"/>
                <a:gd name="T1" fmla="*/ 27 h 183"/>
                <a:gd name="T2" fmla="*/ 13 w 2796"/>
                <a:gd name="T3" fmla="*/ 41 h 183"/>
                <a:gd name="T4" fmla="*/ 0 w 2796"/>
                <a:gd name="T5" fmla="*/ 74 h 183"/>
                <a:gd name="T6" fmla="*/ 1 w 2796"/>
                <a:gd name="T7" fmla="*/ 109 h 183"/>
                <a:gd name="T8" fmla="*/ 16 w 2796"/>
                <a:gd name="T9" fmla="*/ 142 h 183"/>
                <a:gd name="T10" fmla="*/ 28 w 2796"/>
                <a:gd name="T11" fmla="*/ 155 h 183"/>
                <a:gd name="T12" fmla="*/ 34 w 2796"/>
                <a:gd name="T13" fmla="*/ 160 h 183"/>
                <a:gd name="T14" fmla="*/ 60 w 2796"/>
                <a:gd name="T15" fmla="*/ 168 h 183"/>
                <a:gd name="T16" fmla="*/ 145 w 2796"/>
                <a:gd name="T17" fmla="*/ 176 h 183"/>
                <a:gd name="T18" fmla="*/ 621 w 2796"/>
                <a:gd name="T19" fmla="*/ 183 h 183"/>
                <a:gd name="T20" fmla="*/ 1402 w 2796"/>
                <a:gd name="T21" fmla="*/ 183 h 183"/>
                <a:gd name="T22" fmla="*/ 2209 w 2796"/>
                <a:gd name="T23" fmla="*/ 183 h 183"/>
                <a:gd name="T24" fmla="*/ 2671 w 2796"/>
                <a:gd name="T25" fmla="*/ 176 h 183"/>
                <a:gd name="T26" fmla="*/ 2745 w 2796"/>
                <a:gd name="T27" fmla="*/ 167 h 183"/>
                <a:gd name="T28" fmla="*/ 2765 w 2796"/>
                <a:gd name="T29" fmla="*/ 158 h 183"/>
                <a:gd name="T30" fmla="*/ 2770 w 2796"/>
                <a:gd name="T31" fmla="*/ 153 h 183"/>
                <a:gd name="T32" fmla="*/ 2782 w 2796"/>
                <a:gd name="T33" fmla="*/ 138 h 183"/>
                <a:gd name="T34" fmla="*/ 2796 w 2796"/>
                <a:gd name="T35" fmla="*/ 105 h 183"/>
                <a:gd name="T36" fmla="*/ 2796 w 2796"/>
                <a:gd name="T37" fmla="*/ 71 h 183"/>
                <a:gd name="T38" fmla="*/ 2784 w 2796"/>
                <a:gd name="T39" fmla="*/ 40 h 183"/>
                <a:gd name="T40" fmla="*/ 2772 w 2796"/>
                <a:gd name="T41" fmla="*/ 27 h 183"/>
                <a:gd name="T42" fmla="*/ 2766 w 2796"/>
                <a:gd name="T43" fmla="*/ 22 h 183"/>
                <a:gd name="T44" fmla="*/ 2741 w 2796"/>
                <a:gd name="T45" fmla="*/ 15 h 183"/>
                <a:gd name="T46" fmla="*/ 2652 w 2796"/>
                <a:gd name="T47" fmla="*/ 8 h 183"/>
                <a:gd name="T48" fmla="*/ 2169 w 2796"/>
                <a:gd name="T49" fmla="*/ 0 h 183"/>
                <a:gd name="T50" fmla="*/ 1398 w 2796"/>
                <a:gd name="T51" fmla="*/ 0 h 183"/>
                <a:gd name="T52" fmla="*/ 628 w 2796"/>
                <a:gd name="T53" fmla="*/ 0 h 183"/>
                <a:gd name="T54" fmla="*/ 145 w 2796"/>
                <a:gd name="T55" fmla="*/ 8 h 183"/>
                <a:gd name="T56" fmla="*/ 56 w 2796"/>
                <a:gd name="T57" fmla="*/ 15 h 183"/>
                <a:gd name="T58" fmla="*/ 30 w 2796"/>
                <a:gd name="T59" fmla="*/ 22 h 183"/>
                <a:gd name="T60" fmla="*/ 25 w 2796"/>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96" h="183">
                  <a:moveTo>
                    <a:pt x="25" y="27"/>
                  </a:moveTo>
                  <a:lnTo>
                    <a:pt x="13" y="41"/>
                  </a:lnTo>
                  <a:lnTo>
                    <a:pt x="0" y="74"/>
                  </a:lnTo>
                  <a:lnTo>
                    <a:pt x="1" y="109"/>
                  </a:lnTo>
                  <a:lnTo>
                    <a:pt x="16" y="142"/>
                  </a:lnTo>
                  <a:lnTo>
                    <a:pt x="28" y="155"/>
                  </a:lnTo>
                  <a:lnTo>
                    <a:pt x="34" y="160"/>
                  </a:lnTo>
                  <a:lnTo>
                    <a:pt x="60" y="168"/>
                  </a:lnTo>
                  <a:lnTo>
                    <a:pt x="145" y="176"/>
                  </a:lnTo>
                  <a:lnTo>
                    <a:pt x="621" y="183"/>
                  </a:lnTo>
                  <a:lnTo>
                    <a:pt x="1402" y="183"/>
                  </a:lnTo>
                  <a:lnTo>
                    <a:pt x="2209" y="183"/>
                  </a:lnTo>
                  <a:lnTo>
                    <a:pt x="2671" y="176"/>
                  </a:lnTo>
                  <a:lnTo>
                    <a:pt x="2745" y="167"/>
                  </a:lnTo>
                  <a:lnTo>
                    <a:pt x="2765" y="158"/>
                  </a:lnTo>
                  <a:lnTo>
                    <a:pt x="2770" y="153"/>
                  </a:lnTo>
                  <a:lnTo>
                    <a:pt x="2782" y="138"/>
                  </a:lnTo>
                  <a:lnTo>
                    <a:pt x="2796" y="105"/>
                  </a:lnTo>
                  <a:lnTo>
                    <a:pt x="2796" y="71"/>
                  </a:lnTo>
                  <a:lnTo>
                    <a:pt x="2784" y="40"/>
                  </a:lnTo>
                  <a:lnTo>
                    <a:pt x="2772" y="27"/>
                  </a:lnTo>
                  <a:lnTo>
                    <a:pt x="2766" y="22"/>
                  </a:lnTo>
                  <a:lnTo>
                    <a:pt x="2741" y="15"/>
                  </a:lnTo>
                  <a:lnTo>
                    <a:pt x="2652" y="8"/>
                  </a:lnTo>
                  <a:lnTo>
                    <a:pt x="2169" y="0"/>
                  </a:lnTo>
                  <a:lnTo>
                    <a:pt x="1398" y="0"/>
                  </a:lnTo>
                  <a:lnTo>
                    <a:pt x="628" y="0"/>
                  </a:lnTo>
                  <a:lnTo>
                    <a:pt x="145" y="8"/>
                  </a:lnTo>
                  <a:lnTo>
                    <a:pt x="5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2" name="Freeform 194">
              <a:extLst>
                <a:ext uri="{FF2B5EF4-FFF2-40B4-BE49-F238E27FC236}">
                  <a16:creationId xmlns:a16="http://schemas.microsoft.com/office/drawing/2014/main" id="{E2C848AD-75EF-EC83-2814-E94B50743544}"/>
                </a:ext>
              </a:extLst>
            </p:cNvPr>
            <p:cNvSpPr>
              <a:spLocks/>
            </p:cNvSpPr>
            <p:nvPr/>
          </p:nvSpPr>
          <p:spPr bwMode="auto">
            <a:xfrm>
              <a:off x="3543301" y="944563"/>
              <a:ext cx="877888" cy="42863"/>
            </a:xfrm>
            <a:custGeom>
              <a:avLst/>
              <a:gdLst>
                <a:gd name="T0" fmla="*/ 25 w 3730"/>
                <a:gd name="T1" fmla="*/ 26 h 183"/>
                <a:gd name="T2" fmla="*/ 13 w 3730"/>
                <a:gd name="T3" fmla="*/ 40 h 183"/>
                <a:gd name="T4" fmla="*/ 0 w 3730"/>
                <a:gd name="T5" fmla="*/ 73 h 183"/>
                <a:gd name="T6" fmla="*/ 1 w 3730"/>
                <a:gd name="T7" fmla="*/ 109 h 183"/>
                <a:gd name="T8" fmla="*/ 16 w 3730"/>
                <a:gd name="T9" fmla="*/ 141 h 183"/>
                <a:gd name="T10" fmla="*/ 28 w 3730"/>
                <a:gd name="T11" fmla="*/ 155 h 183"/>
                <a:gd name="T12" fmla="*/ 35 w 3730"/>
                <a:gd name="T13" fmla="*/ 159 h 183"/>
                <a:gd name="T14" fmla="*/ 65 w 3730"/>
                <a:gd name="T15" fmla="*/ 167 h 183"/>
                <a:gd name="T16" fmla="*/ 175 w 3730"/>
                <a:gd name="T17" fmla="*/ 176 h 183"/>
                <a:gd name="T18" fmla="*/ 812 w 3730"/>
                <a:gd name="T19" fmla="*/ 183 h 183"/>
                <a:gd name="T20" fmla="*/ 1868 w 3730"/>
                <a:gd name="T21" fmla="*/ 183 h 183"/>
                <a:gd name="T22" fmla="*/ 2960 w 3730"/>
                <a:gd name="T23" fmla="*/ 183 h 183"/>
                <a:gd name="T24" fmla="*/ 3578 w 3730"/>
                <a:gd name="T25" fmla="*/ 175 h 183"/>
                <a:gd name="T26" fmla="*/ 3674 w 3730"/>
                <a:gd name="T27" fmla="*/ 166 h 183"/>
                <a:gd name="T28" fmla="*/ 3698 w 3730"/>
                <a:gd name="T29" fmla="*/ 158 h 183"/>
                <a:gd name="T30" fmla="*/ 3703 w 3730"/>
                <a:gd name="T31" fmla="*/ 153 h 183"/>
                <a:gd name="T32" fmla="*/ 3715 w 3730"/>
                <a:gd name="T33" fmla="*/ 138 h 183"/>
                <a:gd name="T34" fmla="*/ 3729 w 3730"/>
                <a:gd name="T35" fmla="*/ 105 h 183"/>
                <a:gd name="T36" fmla="*/ 3730 w 3730"/>
                <a:gd name="T37" fmla="*/ 71 h 183"/>
                <a:gd name="T38" fmla="*/ 3717 w 3730"/>
                <a:gd name="T39" fmla="*/ 40 h 183"/>
                <a:gd name="T40" fmla="*/ 3705 w 3730"/>
                <a:gd name="T41" fmla="*/ 26 h 183"/>
                <a:gd name="T42" fmla="*/ 3699 w 3730"/>
                <a:gd name="T43" fmla="*/ 22 h 183"/>
                <a:gd name="T44" fmla="*/ 3668 w 3730"/>
                <a:gd name="T45" fmla="*/ 15 h 183"/>
                <a:gd name="T46" fmla="*/ 3552 w 3730"/>
                <a:gd name="T47" fmla="*/ 7 h 183"/>
                <a:gd name="T48" fmla="*/ 2905 w 3730"/>
                <a:gd name="T49" fmla="*/ 0 h 183"/>
                <a:gd name="T50" fmla="*/ 1865 w 3730"/>
                <a:gd name="T51" fmla="*/ 0 h 183"/>
                <a:gd name="T52" fmla="*/ 825 w 3730"/>
                <a:gd name="T53" fmla="*/ 0 h 183"/>
                <a:gd name="T54" fmla="*/ 178 w 3730"/>
                <a:gd name="T55" fmla="*/ 7 h 183"/>
                <a:gd name="T56" fmla="*/ 62 w 3730"/>
                <a:gd name="T57" fmla="*/ 15 h 183"/>
                <a:gd name="T58" fmla="*/ 31 w 3730"/>
                <a:gd name="T59" fmla="*/ 22 h 183"/>
                <a:gd name="T60" fmla="*/ 25 w 3730"/>
                <a:gd name="T61" fmla="*/ 26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30" h="183">
                  <a:moveTo>
                    <a:pt x="25" y="26"/>
                  </a:moveTo>
                  <a:lnTo>
                    <a:pt x="13" y="40"/>
                  </a:lnTo>
                  <a:lnTo>
                    <a:pt x="0" y="73"/>
                  </a:lnTo>
                  <a:lnTo>
                    <a:pt x="1" y="109"/>
                  </a:lnTo>
                  <a:lnTo>
                    <a:pt x="16" y="141"/>
                  </a:lnTo>
                  <a:lnTo>
                    <a:pt x="28" y="155"/>
                  </a:lnTo>
                  <a:lnTo>
                    <a:pt x="35" y="159"/>
                  </a:lnTo>
                  <a:lnTo>
                    <a:pt x="65" y="167"/>
                  </a:lnTo>
                  <a:lnTo>
                    <a:pt x="175" y="176"/>
                  </a:lnTo>
                  <a:lnTo>
                    <a:pt x="812" y="183"/>
                  </a:lnTo>
                  <a:lnTo>
                    <a:pt x="1868" y="183"/>
                  </a:lnTo>
                  <a:lnTo>
                    <a:pt x="2960" y="183"/>
                  </a:lnTo>
                  <a:lnTo>
                    <a:pt x="3578" y="175"/>
                  </a:lnTo>
                  <a:lnTo>
                    <a:pt x="3674" y="166"/>
                  </a:lnTo>
                  <a:lnTo>
                    <a:pt x="3698" y="158"/>
                  </a:lnTo>
                  <a:lnTo>
                    <a:pt x="3703" y="153"/>
                  </a:lnTo>
                  <a:lnTo>
                    <a:pt x="3715" y="138"/>
                  </a:lnTo>
                  <a:lnTo>
                    <a:pt x="3729" y="105"/>
                  </a:lnTo>
                  <a:lnTo>
                    <a:pt x="3730" y="71"/>
                  </a:lnTo>
                  <a:lnTo>
                    <a:pt x="3717" y="40"/>
                  </a:lnTo>
                  <a:lnTo>
                    <a:pt x="3705" y="26"/>
                  </a:lnTo>
                  <a:lnTo>
                    <a:pt x="3699" y="22"/>
                  </a:lnTo>
                  <a:lnTo>
                    <a:pt x="3668" y="15"/>
                  </a:lnTo>
                  <a:lnTo>
                    <a:pt x="3552" y="7"/>
                  </a:lnTo>
                  <a:lnTo>
                    <a:pt x="2905" y="0"/>
                  </a:lnTo>
                  <a:lnTo>
                    <a:pt x="1865" y="0"/>
                  </a:lnTo>
                  <a:lnTo>
                    <a:pt x="825" y="0"/>
                  </a:lnTo>
                  <a:lnTo>
                    <a:pt x="178" y="7"/>
                  </a:lnTo>
                  <a:lnTo>
                    <a:pt x="62" y="15"/>
                  </a:lnTo>
                  <a:lnTo>
                    <a:pt x="31" y="22"/>
                  </a:lnTo>
                  <a:lnTo>
                    <a:pt x="25"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3" name="Freeform 195">
              <a:extLst>
                <a:ext uri="{FF2B5EF4-FFF2-40B4-BE49-F238E27FC236}">
                  <a16:creationId xmlns:a16="http://schemas.microsoft.com/office/drawing/2014/main" id="{E2D1D724-B567-C2AC-80AC-9BF4DDAB0347}"/>
                </a:ext>
              </a:extLst>
            </p:cNvPr>
            <p:cNvSpPr>
              <a:spLocks/>
            </p:cNvSpPr>
            <p:nvPr/>
          </p:nvSpPr>
          <p:spPr bwMode="auto">
            <a:xfrm>
              <a:off x="3543301" y="1054100"/>
              <a:ext cx="811213" cy="42863"/>
            </a:xfrm>
            <a:custGeom>
              <a:avLst/>
              <a:gdLst>
                <a:gd name="T0" fmla="*/ 25 w 3449"/>
                <a:gd name="T1" fmla="*/ 27 h 184"/>
                <a:gd name="T2" fmla="*/ 13 w 3449"/>
                <a:gd name="T3" fmla="*/ 41 h 184"/>
                <a:gd name="T4" fmla="*/ 0 w 3449"/>
                <a:gd name="T5" fmla="*/ 74 h 184"/>
                <a:gd name="T6" fmla="*/ 1 w 3449"/>
                <a:gd name="T7" fmla="*/ 109 h 184"/>
                <a:gd name="T8" fmla="*/ 16 w 3449"/>
                <a:gd name="T9" fmla="*/ 142 h 184"/>
                <a:gd name="T10" fmla="*/ 28 w 3449"/>
                <a:gd name="T11" fmla="*/ 155 h 184"/>
                <a:gd name="T12" fmla="*/ 35 w 3449"/>
                <a:gd name="T13" fmla="*/ 160 h 184"/>
                <a:gd name="T14" fmla="*/ 63 w 3449"/>
                <a:gd name="T15" fmla="*/ 168 h 184"/>
                <a:gd name="T16" fmla="*/ 166 w 3449"/>
                <a:gd name="T17" fmla="*/ 176 h 184"/>
                <a:gd name="T18" fmla="*/ 754 w 3449"/>
                <a:gd name="T19" fmla="*/ 183 h 184"/>
                <a:gd name="T20" fmla="*/ 1728 w 3449"/>
                <a:gd name="T21" fmla="*/ 184 h 184"/>
                <a:gd name="T22" fmla="*/ 2351 w 3449"/>
                <a:gd name="T23" fmla="*/ 184 h 184"/>
                <a:gd name="T24" fmla="*/ 2939 w 3449"/>
                <a:gd name="T25" fmla="*/ 182 h 184"/>
                <a:gd name="T26" fmla="*/ 3188 w 3449"/>
                <a:gd name="T27" fmla="*/ 178 h 184"/>
                <a:gd name="T28" fmla="*/ 3340 w 3449"/>
                <a:gd name="T29" fmla="*/ 170 h 184"/>
                <a:gd name="T30" fmla="*/ 3402 w 3449"/>
                <a:gd name="T31" fmla="*/ 160 h 184"/>
                <a:gd name="T32" fmla="*/ 3428 w 3449"/>
                <a:gd name="T33" fmla="*/ 152 h 184"/>
                <a:gd name="T34" fmla="*/ 3442 w 3449"/>
                <a:gd name="T35" fmla="*/ 142 h 184"/>
                <a:gd name="T36" fmla="*/ 3448 w 3449"/>
                <a:gd name="T37" fmla="*/ 130 h 184"/>
                <a:gd name="T38" fmla="*/ 3449 w 3449"/>
                <a:gd name="T39" fmla="*/ 109 h 184"/>
                <a:gd name="T40" fmla="*/ 3448 w 3449"/>
                <a:gd name="T41" fmla="*/ 92 h 184"/>
                <a:gd name="T42" fmla="*/ 3449 w 3449"/>
                <a:gd name="T43" fmla="*/ 75 h 184"/>
                <a:gd name="T44" fmla="*/ 3448 w 3449"/>
                <a:gd name="T45" fmla="*/ 54 h 184"/>
                <a:gd name="T46" fmla="*/ 3442 w 3449"/>
                <a:gd name="T47" fmla="*/ 42 h 184"/>
                <a:gd name="T48" fmla="*/ 3427 w 3449"/>
                <a:gd name="T49" fmla="*/ 32 h 184"/>
                <a:gd name="T50" fmla="*/ 3402 w 3449"/>
                <a:gd name="T51" fmla="*/ 24 h 184"/>
                <a:gd name="T52" fmla="*/ 3339 w 3449"/>
                <a:gd name="T53" fmla="*/ 14 h 184"/>
                <a:gd name="T54" fmla="*/ 3187 w 3449"/>
                <a:gd name="T55" fmla="*/ 6 h 184"/>
                <a:gd name="T56" fmla="*/ 2937 w 3449"/>
                <a:gd name="T57" fmla="*/ 2 h 184"/>
                <a:gd name="T58" fmla="*/ 2348 w 3449"/>
                <a:gd name="T59" fmla="*/ 0 h 184"/>
                <a:gd name="T60" fmla="*/ 1723 w 3449"/>
                <a:gd name="T61" fmla="*/ 0 h 184"/>
                <a:gd name="T62" fmla="*/ 765 w 3449"/>
                <a:gd name="T63" fmla="*/ 1 h 184"/>
                <a:gd name="T64" fmla="*/ 168 w 3449"/>
                <a:gd name="T65" fmla="*/ 8 h 184"/>
                <a:gd name="T66" fmla="*/ 61 w 3449"/>
                <a:gd name="T67" fmla="*/ 16 h 184"/>
                <a:gd name="T68" fmla="*/ 31 w 3449"/>
                <a:gd name="T69" fmla="*/ 23 h 184"/>
                <a:gd name="T70" fmla="*/ 25 w 3449"/>
                <a:gd name="T71" fmla="*/ 27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449" h="184">
                  <a:moveTo>
                    <a:pt x="25" y="27"/>
                  </a:moveTo>
                  <a:lnTo>
                    <a:pt x="13" y="41"/>
                  </a:lnTo>
                  <a:lnTo>
                    <a:pt x="0" y="74"/>
                  </a:lnTo>
                  <a:lnTo>
                    <a:pt x="1" y="109"/>
                  </a:lnTo>
                  <a:lnTo>
                    <a:pt x="16" y="142"/>
                  </a:lnTo>
                  <a:lnTo>
                    <a:pt x="28" y="155"/>
                  </a:lnTo>
                  <a:lnTo>
                    <a:pt x="35" y="160"/>
                  </a:lnTo>
                  <a:lnTo>
                    <a:pt x="63" y="168"/>
                  </a:lnTo>
                  <a:lnTo>
                    <a:pt x="166" y="176"/>
                  </a:lnTo>
                  <a:lnTo>
                    <a:pt x="754" y="183"/>
                  </a:lnTo>
                  <a:lnTo>
                    <a:pt x="1728" y="184"/>
                  </a:lnTo>
                  <a:lnTo>
                    <a:pt x="2351" y="184"/>
                  </a:lnTo>
                  <a:lnTo>
                    <a:pt x="2939" y="182"/>
                  </a:lnTo>
                  <a:lnTo>
                    <a:pt x="3188" y="178"/>
                  </a:lnTo>
                  <a:lnTo>
                    <a:pt x="3340" y="170"/>
                  </a:lnTo>
                  <a:lnTo>
                    <a:pt x="3402" y="160"/>
                  </a:lnTo>
                  <a:lnTo>
                    <a:pt x="3428" y="152"/>
                  </a:lnTo>
                  <a:lnTo>
                    <a:pt x="3442" y="142"/>
                  </a:lnTo>
                  <a:lnTo>
                    <a:pt x="3448" y="130"/>
                  </a:lnTo>
                  <a:lnTo>
                    <a:pt x="3449" y="109"/>
                  </a:lnTo>
                  <a:lnTo>
                    <a:pt x="3448" y="92"/>
                  </a:lnTo>
                  <a:lnTo>
                    <a:pt x="3449" y="75"/>
                  </a:lnTo>
                  <a:lnTo>
                    <a:pt x="3448" y="54"/>
                  </a:lnTo>
                  <a:lnTo>
                    <a:pt x="3442" y="42"/>
                  </a:lnTo>
                  <a:lnTo>
                    <a:pt x="3427" y="32"/>
                  </a:lnTo>
                  <a:lnTo>
                    <a:pt x="3402" y="24"/>
                  </a:lnTo>
                  <a:lnTo>
                    <a:pt x="3339" y="14"/>
                  </a:lnTo>
                  <a:lnTo>
                    <a:pt x="3187" y="6"/>
                  </a:lnTo>
                  <a:lnTo>
                    <a:pt x="2937" y="2"/>
                  </a:lnTo>
                  <a:lnTo>
                    <a:pt x="2348" y="0"/>
                  </a:lnTo>
                  <a:lnTo>
                    <a:pt x="1723" y="0"/>
                  </a:lnTo>
                  <a:lnTo>
                    <a:pt x="765" y="1"/>
                  </a:lnTo>
                  <a:lnTo>
                    <a:pt x="168" y="8"/>
                  </a:lnTo>
                  <a:lnTo>
                    <a:pt x="61" y="16"/>
                  </a:lnTo>
                  <a:lnTo>
                    <a:pt x="31" y="23"/>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4" name="Freeform 196">
              <a:extLst>
                <a:ext uri="{FF2B5EF4-FFF2-40B4-BE49-F238E27FC236}">
                  <a16:creationId xmlns:a16="http://schemas.microsoft.com/office/drawing/2014/main" id="{EB7F2890-0AE5-0535-2DDF-78C45E160022}"/>
                </a:ext>
              </a:extLst>
            </p:cNvPr>
            <p:cNvSpPr>
              <a:spLocks/>
            </p:cNvSpPr>
            <p:nvPr/>
          </p:nvSpPr>
          <p:spPr bwMode="auto">
            <a:xfrm>
              <a:off x="3543301" y="1163638"/>
              <a:ext cx="304800" cy="42863"/>
            </a:xfrm>
            <a:custGeom>
              <a:avLst/>
              <a:gdLst>
                <a:gd name="T0" fmla="*/ 25 w 1300"/>
                <a:gd name="T1" fmla="*/ 27 h 183"/>
                <a:gd name="T2" fmla="*/ 13 w 1300"/>
                <a:gd name="T3" fmla="*/ 41 h 183"/>
                <a:gd name="T4" fmla="*/ 0 w 1300"/>
                <a:gd name="T5" fmla="*/ 74 h 183"/>
                <a:gd name="T6" fmla="*/ 1 w 1300"/>
                <a:gd name="T7" fmla="*/ 109 h 183"/>
                <a:gd name="T8" fmla="*/ 16 w 1300"/>
                <a:gd name="T9" fmla="*/ 142 h 183"/>
                <a:gd name="T10" fmla="*/ 28 w 1300"/>
                <a:gd name="T11" fmla="*/ 155 h 183"/>
                <a:gd name="T12" fmla="*/ 34 w 1300"/>
                <a:gd name="T13" fmla="*/ 160 h 183"/>
                <a:gd name="T14" fmla="*/ 51 w 1300"/>
                <a:gd name="T15" fmla="*/ 167 h 183"/>
                <a:gd name="T16" fmla="*/ 95 w 1300"/>
                <a:gd name="T17" fmla="*/ 175 h 183"/>
                <a:gd name="T18" fmla="*/ 311 w 1300"/>
                <a:gd name="T19" fmla="*/ 183 h 183"/>
                <a:gd name="T20" fmla="*/ 647 w 1300"/>
                <a:gd name="T21" fmla="*/ 183 h 183"/>
                <a:gd name="T22" fmla="*/ 908 w 1300"/>
                <a:gd name="T23" fmla="*/ 182 h 183"/>
                <a:gd name="T24" fmla="*/ 1162 w 1300"/>
                <a:gd name="T25" fmla="*/ 176 h 183"/>
                <a:gd name="T26" fmla="*/ 1252 w 1300"/>
                <a:gd name="T27" fmla="*/ 170 h 183"/>
                <a:gd name="T28" fmla="*/ 1267 w 1300"/>
                <a:gd name="T29" fmla="*/ 167 h 183"/>
                <a:gd name="T30" fmla="*/ 1273 w 1300"/>
                <a:gd name="T31" fmla="*/ 162 h 183"/>
                <a:gd name="T32" fmla="*/ 1284 w 1300"/>
                <a:gd name="T33" fmla="*/ 149 h 183"/>
                <a:gd name="T34" fmla="*/ 1296 w 1300"/>
                <a:gd name="T35" fmla="*/ 121 h 183"/>
                <a:gd name="T36" fmla="*/ 1300 w 1300"/>
                <a:gd name="T37" fmla="*/ 76 h 183"/>
                <a:gd name="T38" fmla="*/ 1293 w 1300"/>
                <a:gd name="T39" fmla="*/ 44 h 183"/>
                <a:gd name="T40" fmla="*/ 1284 w 1300"/>
                <a:gd name="T41" fmla="*/ 27 h 183"/>
                <a:gd name="T42" fmla="*/ 1278 w 1300"/>
                <a:gd name="T43" fmla="*/ 20 h 183"/>
                <a:gd name="T44" fmla="*/ 1268 w 1300"/>
                <a:gd name="T45" fmla="*/ 15 h 183"/>
                <a:gd name="T46" fmla="*/ 1195 w 1300"/>
                <a:gd name="T47" fmla="*/ 7 h 183"/>
                <a:gd name="T48" fmla="*/ 954 w 1300"/>
                <a:gd name="T49" fmla="*/ 1 h 183"/>
                <a:gd name="T50" fmla="*/ 655 w 1300"/>
                <a:gd name="T51" fmla="*/ 0 h 183"/>
                <a:gd name="T52" fmla="*/ 316 w 1300"/>
                <a:gd name="T53" fmla="*/ 0 h 183"/>
                <a:gd name="T54" fmla="*/ 92 w 1300"/>
                <a:gd name="T55" fmla="*/ 8 h 183"/>
                <a:gd name="T56" fmla="*/ 46 w 1300"/>
                <a:gd name="T57" fmla="*/ 15 h 183"/>
                <a:gd name="T58" fmla="*/ 30 w 1300"/>
                <a:gd name="T59" fmla="*/ 22 h 183"/>
                <a:gd name="T60" fmla="*/ 25 w 1300"/>
                <a:gd name="T61" fmla="*/ 2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00" h="183">
                  <a:moveTo>
                    <a:pt x="25" y="27"/>
                  </a:moveTo>
                  <a:lnTo>
                    <a:pt x="13" y="41"/>
                  </a:lnTo>
                  <a:lnTo>
                    <a:pt x="0" y="74"/>
                  </a:lnTo>
                  <a:lnTo>
                    <a:pt x="1" y="109"/>
                  </a:lnTo>
                  <a:lnTo>
                    <a:pt x="16" y="142"/>
                  </a:lnTo>
                  <a:lnTo>
                    <a:pt x="28" y="155"/>
                  </a:lnTo>
                  <a:lnTo>
                    <a:pt x="34" y="160"/>
                  </a:lnTo>
                  <a:lnTo>
                    <a:pt x="51" y="167"/>
                  </a:lnTo>
                  <a:lnTo>
                    <a:pt x="95" y="175"/>
                  </a:lnTo>
                  <a:lnTo>
                    <a:pt x="311" y="183"/>
                  </a:lnTo>
                  <a:lnTo>
                    <a:pt x="647" y="183"/>
                  </a:lnTo>
                  <a:lnTo>
                    <a:pt x="908" y="182"/>
                  </a:lnTo>
                  <a:lnTo>
                    <a:pt x="1162" y="176"/>
                  </a:lnTo>
                  <a:lnTo>
                    <a:pt x="1252" y="170"/>
                  </a:lnTo>
                  <a:lnTo>
                    <a:pt x="1267" y="167"/>
                  </a:lnTo>
                  <a:lnTo>
                    <a:pt x="1273" y="162"/>
                  </a:lnTo>
                  <a:lnTo>
                    <a:pt x="1284" y="149"/>
                  </a:lnTo>
                  <a:lnTo>
                    <a:pt x="1296" y="121"/>
                  </a:lnTo>
                  <a:lnTo>
                    <a:pt x="1300" y="76"/>
                  </a:lnTo>
                  <a:lnTo>
                    <a:pt x="1293" y="44"/>
                  </a:lnTo>
                  <a:lnTo>
                    <a:pt x="1284" y="27"/>
                  </a:lnTo>
                  <a:lnTo>
                    <a:pt x="1278" y="20"/>
                  </a:lnTo>
                  <a:lnTo>
                    <a:pt x="1268" y="15"/>
                  </a:lnTo>
                  <a:lnTo>
                    <a:pt x="1195" y="7"/>
                  </a:lnTo>
                  <a:lnTo>
                    <a:pt x="954" y="1"/>
                  </a:lnTo>
                  <a:lnTo>
                    <a:pt x="655" y="0"/>
                  </a:lnTo>
                  <a:lnTo>
                    <a:pt x="316" y="0"/>
                  </a:lnTo>
                  <a:lnTo>
                    <a:pt x="92" y="8"/>
                  </a:lnTo>
                  <a:lnTo>
                    <a:pt x="46" y="15"/>
                  </a:lnTo>
                  <a:lnTo>
                    <a:pt x="30" y="22"/>
                  </a:lnTo>
                  <a:lnTo>
                    <a:pt x="25"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5" name="Freeform 197">
              <a:extLst>
                <a:ext uri="{FF2B5EF4-FFF2-40B4-BE49-F238E27FC236}">
                  <a16:creationId xmlns:a16="http://schemas.microsoft.com/office/drawing/2014/main" id="{3566A8D2-52D7-C292-2516-AABAA50B81D0}"/>
                </a:ext>
              </a:extLst>
            </p:cNvPr>
            <p:cNvSpPr>
              <a:spLocks noEditPoints="1"/>
            </p:cNvSpPr>
            <p:nvPr/>
          </p:nvSpPr>
          <p:spPr bwMode="auto">
            <a:xfrm>
              <a:off x="4235451" y="1384300"/>
              <a:ext cx="655638" cy="654050"/>
            </a:xfrm>
            <a:custGeom>
              <a:avLst/>
              <a:gdLst>
                <a:gd name="T0" fmla="*/ 1014 w 2790"/>
                <a:gd name="T1" fmla="*/ 47 h 2786"/>
                <a:gd name="T2" fmla="*/ 733 w 2790"/>
                <a:gd name="T3" fmla="*/ 165 h 2786"/>
                <a:gd name="T4" fmla="*/ 483 w 2790"/>
                <a:gd name="T5" fmla="*/ 335 h 2786"/>
                <a:gd name="T6" fmla="*/ 353 w 2790"/>
                <a:gd name="T7" fmla="*/ 464 h 2786"/>
                <a:gd name="T8" fmla="*/ 198 w 2790"/>
                <a:gd name="T9" fmla="*/ 675 h 2786"/>
                <a:gd name="T10" fmla="*/ 88 w 2790"/>
                <a:gd name="T11" fmla="*/ 904 h 2786"/>
                <a:gd name="T12" fmla="*/ 22 w 2790"/>
                <a:gd name="T13" fmla="*/ 1143 h 2786"/>
                <a:gd name="T14" fmla="*/ 0 w 2790"/>
                <a:gd name="T15" fmla="*/ 1387 h 2786"/>
                <a:gd name="T16" fmla="*/ 35 w 2790"/>
                <a:gd name="T17" fmla="*/ 1710 h 2786"/>
                <a:gd name="T18" fmla="*/ 110 w 2790"/>
                <a:gd name="T19" fmla="*/ 1942 h 2786"/>
                <a:gd name="T20" fmla="*/ 226 w 2790"/>
                <a:gd name="T21" fmla="*/ 2160 h 2786"/>
                <a:gd name="T22" fmla="*/ 381 w 2790"/>
                <a:gd name="T23" fmla="*/ 2356 h 2786"/>
                <a:gd name="T24" fmla="*/ 575 w 2790"/>
                <a:gd name="T25" fmla="*/ 2524 h 2786"/>
                <a:gd name="T26" fmla="*/ 766 w 2790"/>
                <a:gd name="T27" fmla="*/ 2639 h 2786"/>
                <a:gd name="T28" fmla="*/ 1026 w 2790"/>
                <a:gd name="T29" fmla="*/ 2743 h 2786"/>
                <a:gd name="T30" fmla="*/ 1293 w 2790"/>
                <a:gd name="T31" fmla="*/ 2784 h 2786"/>
                <a:gd name="T32" fmla="*/ 1631 w 2790"/>
                <a:gd name="T33" fmla="*/ 2774 h 2786"/>
                <a:gd name="T34" fmla="*/ 1821 w 2790"/>
                <a:gd name="T35" fmla="*/ 2728 h 2786"/>
                <a:gd name="T36" fmla="*/ 2079 w 2790"/>
                <a:gd name="T37" fmla="*/ 2615 h 2786"/>
                <a:gd name="T38" fmla="*/ 2307 w 2790"/>
                <a:gd name="T39" fmla="*/ 2455 h 2786"/>
                <a:gd name="T40" fmla="*/ 2498 w 2790"/>
                <a:gd name="T41" fmla="*/ 2254 h 2786"/>
                <a:gd name="T42" fmla="*/ 2649 w 2790"/>
                <a:gd name="T43" fmla="*/ 2014 h 2786"/>
                <a:gd name="T44" fmla="*/ 2741 w 2790"/>
                <a:gd name="T45" fmla="*/ 1789 h 2786"/>
                <a:gd name="T46" fmla="*/ 2783 w 2790"/>
                <a:gd name="T47" fmla="*/ 1554 h 2786"/>
                <a:gd name="T48" fmla="*/ 2774 w 2790"/>
                <a:gd name="T49" fmla="*/ 1150 h 2786"/>
                <a:gd name="T50" fmla="*/ 2729 w 2790"/>
                <a:gd name="T51" fmla="*/ 964 h 2786"/>
                <a:gd name="T52" fmla="*/ 2606 w 2790"/>
                <a:gd name="T53" fmla="*/ 689 h 2786"/>
                <a:gd name="T54" fmla="*/ 2420 w 2790"/>
                <a:gd name="T55" fmla="*/ 442 h 2786"/>
                <a:gd name="T56" fmla="*/ 2265 w 2790"/>
                <a:gd name="T57" fmla="*/ 298 h 2786"/>
                <a:gd name="T58" fmla="*/ 2005 w 2790"/>
                <a:gd name="T59" fmla="*/ 133 h 2786"/>
                <a:gd name="T60" fmla="*/ 1713 w 2790"/>
                <a:gd name="T61" fmla="*/ 31 h 2786"/>
                <a:gd name="T62" fmla="*/ 1477 w 2790"/>
                <a:gd name="T63" fmla="*/ 1 h 2786"/>
                <a:gd name="T64" fmla="*/ 1154 w 2790"/>
                <a:gd name="T65" fmla="*/ 14 h 2786"/>
                <a:gd name="T66" fmla="*/ 1794 w 2790"/>
                <a:gd name="T67" fmla="*/ 552 h 2786"/>
                <a:gd name="T68" fmla="*/ 2049 w 2790"/>
                <a:gd name="T69" fmla="*/ 737 h 2786"/>
                <a:gd name="T70" fmla="*/ 2206 w 2790"/>
                <a:gd name="T71" fmla="*/ 932 h 2786"/>
                <a:gd name="T72" fmla="*/ 2305 w 2790"/>
                <a:gd name="T73" fmla="*/ 1189 h 2786"/>
                <a:gd name="T74" fmla="*/ 2319 w 2790"/>
                <a:gd name="T75" fmla="*/ 1439 h 2786"/>
                <a:gd name="T76" fmla="*/ 2286 w 2790"/>
                <a:gd name="T77" fmla="*/ 1667 h 2786"/>
                <a:gd name="T78" fmla="*/ 2201 w 2790"/>
                <a:gd name="T79" fmla="*/ 1861 h 2786"/>
                <a:gd name="T80" fmla="*/ 2079 w 2790"/>
                <a:gd name="T81" fmla="*/ 2024 h 2786"/>
                <a:gd name="T82" fmla="*/ 1874 w 2790"/>
                <a:gd name="T83" fmla="*/ 2191 h 2786"/>
                <a:gd name="T84" fmla="*/ 1626 w 2790"/>
                <a:gd name="T85" fmla="*/ 2295 h 2786"/>
                <a:gd name="T86" fmla="*/ 1440 w 2790"/>
                <a:gd name="T87" fmla="*/ 2327 h 2786"/>
                <a:gd name="T88" fmla="*/ 1216 w 2790"/>
                <a:gd name="T89" fmla="*/ 2306 h 2786"/>
                <a:gd name="T90" fmla="*/ 917 w 2790"/>
                <a:gd name="T91" fmla="*/ 2188 h 2786"/>
                <a:gd name="T92" fmla="*/ 639 w 2790"/>
                <a:gd name="T93" fmla="*/ 1929 h 2786"/>
                <a:gd name="T94" fmla="*/ 499 w 2790"/>
                <a:gd name="T95" fmla="*/ 1641 h 2786"/>
                <a:gd name="T96" fmla="*/ 471 w 2790"/>
                <a:gd name="T97" fmla="*/ 1464 h 2786"/>
                <a:gd name="T98" fmla="*/ 492 w 2790"/>
                <a:gd name="T99" fmla="*/ 1180 h 2786"/>
                <a:gd name="T100" fmla="*/ 569 w 2790"/>
                <a:gd name="T101" fmla="*/ 978 h 2786"/>
                <a:gd name="T102" fmla="*/ 801 w 2790"/>
                <a:gd name="T103" fmla="*/ 684 h 2786"/>
                <a:gd name="T104" fmla="*/ 1120 w 2790"/>
                <a:gd name="T105" fmla="*/ 503 h 2786"/>
                <a:gd name="T106" fmla="*/ 1339 w 2790"/>
                <a:gd name="T107" fmla="*/ 467 h 2786"/>
                <a:gd name="T108" fmla="*/ 1616 w 2790"/>
                <a:gd name="T109" fmla="*/ 489 h 27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790" h="2786">
                  <a:moveTo>
                    <a:pt x="1154" y="14"/>
                  </a:moveTo>
                  <a:lnTo>
                    <a:pt x="1108" y="23"/>
                  </a:lnTo>
                  <a:lnTo>
                    <a:pt x="1014" y="47"/>
                  </a:lnTo>
                  <a:lnTo>
                    <a:pt x="920" y="79"/>
                  </a:lnTo>
                  <a:lnTo>
                    <a:pt x="825" y="119"/>
                  </a:lnTo>
                  <a:lnTo>
                    <a:pt x="733" y="165"/>
                  </a:lnTo>
                  <a:lnTo>
                    <a:pt x="644" y="217"/>
                  </a:lnTo>
                  <a:lnTo>
                    <a:pt x="560" y="274"/>
                  </a:lnTo>
                  <a:lnTo>
                    <a:pt x="483" y="335"/>
                  </a:lnTo>
                  <a:lnTo>
                    <a:pt x="447" y="367"/>
                  </a:lnTo>
                  <a:lnTo>
                    <a:pt x="414" y="399"/>
                  </a:lnTo>
                  <a:lnTo>
                    <a:pt x="353" y="464"/>
                  </a:lnTo>
                  <a:lnTo>
                    <a:pt x="296" y="532"/>
                  </a:lnTo>
                  <a:lnTo>
                    <a:pt x="244" y="603"/>
                  </a:lnTo>
                  <a:lnTo>
                    <a:pt x="198" y="675"/>
                  </a:lnTo>
                  <a:lnTo>
                    <a:pt x="156" y="750"/>
                  </a:lnTo>
                  <a:lnTo>
                    <a:pt x="120" y="826"/>
                  </a:lnTo>
                  <a:lnTo>
                    <a:pt x="88" y="904"/>
                  </a:lnTo>
                  <a:lnTo>
                    <a:pt x="61" y="982"/>
                  </a:lnTo>
                  <a:lnTo>
                    <a:pt x="39" y="1062"/>
                  </a:lnTo>
                  <a:lnTo>
                    <a:pt x="22" y="1143"/>
                  </a:lnTo>
                  <a:lnTo>
                    <a:pt x="10" y="1224"/>
                  </a:lnTo>
                  <a:lnTo>
                    <a:pt x="2" y="1305"/>
                  </a:lnTo>
                  <a:lnTo>
                    <a:pt x="0" y="1387"/>
                  </a:lnTo>
                  <a:lnTo>
                    <a:pt x="4" y="1509"/>
                  </a:lnTo>
                  <a:lnTo>
                    <a:pt x="19" y="1630"/>
                  </a:lnTo>
                  <a:lnTo>
                    <a:pt x="35" y="1710"/>
                  </a:lnTo>
                  <a:lnTo>
                    <a:pt x="56" y="1789"/>
                  </a:lnTo>
                  <a:lnTo>
                    <a:pt x="81" y="1866"/>
                  </a:lnTo>
                  <a:lnTo>
                    <a:pt x="110" y="1942"/>
                  </a:lnTo>
                  <a:lnTo>
                    <a:pt x="144" y="2017"/>
                  </a:lnTo>
                  <a:lnTo>
                    <a:pt x="183" y="2089"/>
                  </a:lnTo>
                  <a:lnTo>
                    <a:pt x="226" y="2160"/>
                  </a:lnTo>
                  <a:lnTo>
                    <a:pt x="273" y="2228"/>
                  </a:lnTo>
                  <a:lnTo>
                    <a:pt x="325" y="2293"/>
                  </a:lnTo>
                  <a:lnTo>
                    <a:pt x="381" y="2356"/>
                  </a:lnTo>
                  <a:lnTo>
                    <a:pt x="441" y="2415"/>
                  </a:lnTo>
                  <a:lnTo>
                    <a:pt x="506" y="2471"/>
                  </a:lnTo>
                  <a:lnTo>
                    <a:pt x="575" y="2524"/>
                  </a:lnTo>
                  <a:lnTo>
                    <a:pt x="648" y="2573"/>
                  </a:lnTo>
                  <a:lnTo>
                    <a:pt x="725" y="2618"/>
                  </a:lnTo>
                  <a:lnTo>
                    <a:pt x="766" y="2639"/>
                  </a:lnTo>
                  <a:lnTo>
                    <a:pt x="844" y="2677"/>
                  </a:lnTo>
                  <a:lnTo>
                    <a:pt x="954" y="2720"/>
                  </a:lnTo>
                  <a:lnTo>
                    <a:pt x="1026" y="2743"/>
                  </a:lnTo>
                  <a:lnTo>
                    <a:pt x="1099" y="2760"/>
                  </a:lnTo>
                  <a:lnTo>
                    <a:pt x="1174" y="2773"/>
                  </a:lnTo>
                  <a:lnTo>
                    <a:pt x="1293" y="2784"/>
                  </a:lnTo>
                  <a:lnTo>
                    <a:pt x="1382" y="2786"/>
                  </a:lnTo>
                  <a:lnTo>
                    <a:pt x="1468" y="2785"/>
                  </a:lnTo>
                  <a:lnTo>
                    <a:pt x="1631" y="2774"/>
                  </a:lnTo>
                  <a:lnTo>
                    <a:pt x="1682" y="2766"/>
                  </a:lnTo>
                  <a:lnTo>
                    <a:pt x="1729" y="2755"/>
                  </a:lnTo>
                  <a:lnTo>
                    <a:pt x="1821" y="2728"/>
                  </a:lnTo>
                  <a:lnTo>
                    <a:pt x="1911" y="2696"/>
                  </a:lnTo>
                  <a:lnTo>
                    <a:pt x="1997" y="2658"/>
                  </a:lnTo>
                  <a:lnTo>
                    <a:pt x="2079" y="2615"/>
                  </a:lnTo>
                  <a:lnTo>
                    <a:pt x="2159" y="2566"/>
                  </a:lnTo>
                  <a:lnTo>
                    <a:pt x="2235" y="2513"/>
                  </a:lnTo>
                  <a:lnTo>
                    <a:pt x="2307" y="2455"/>
                  </a:lnTo>
                  <a:lnTo>
                    <a:pt x="2375" y="2392"/>
                  </a:lnTo>
                  <a:lnTo>
                    <a:pt x="2438" y="2325"/>
                  </a:lnTo>
                  <a:lnTo>
                    <a:pt x="2498" y="2254"/>
                  </a:lnTo>
                  <a:lnTo>
                    <a:pt x="2553" y="2178"/>
                  </a:lnTo>
                  <a:lnTo>
                    <a:pt x="2604" y="2098"/>
                  </a:lnTo>
                  <a:lnTo>
                    <a:pt x="2649" y="2014"/>
                  </a:lnTo>
                  <a:lnTo>
                    <a:pt x="2690" y="1927"/>
                  </a:lnTo>
                  <a:lnTo>
                    <a:pt x="2725" y="1836"/>
                  </a:lnTo>
                  <a:lnTo>
                    <a:pt x="2741" y="1789"/>
                  </a:lnTo>
                  <a:lnTo>
                    <a:pt x="2750" y="1757"/>
                  </a:lnTo>
                  <a:lnTo>
                    <a:pt x="2766" y="1682"/>
                  </a:lnTo>
                  <a:lnTo>
                    <a:pt x="2783" y="1554"/>
                  </a:lnTo>
                  <a:lnTo>
                    <a:pt x="2790" y="1368"/>
                  </a:lnTo>
                  <a:lnTo>
                    <a:pt x="2784" y="1232"/>
                  </a:lnTo>
                  <a:lnTo>
                    <a:pt x="2774" y="1150"/>
                  </a:lnTo>
                  <a:lnTo>
                    <a:pt x="2767" y="1112"/>
                  </a:lnTo>
                  <a:lnTo>
                    <a:pt x="2756" y="1062"/>
                  </a:lnTo>
                  <a:lnTo>
                    <a:pt x="2729" y="964"/>
                  </a:lnTo>
                  <a:lnTo>
                    <a:pt x="2695" y="869"/>
                  </a:lnTo>
                  <a:lnTo>
                    <a:pt x="2654" y="778"/>
                  </a:lnTo>
                  <a:lnTo>
                    <a:pt x="2606" y="689"/>
                  </a:lnTo>
                  <a:lnTo>
                    <a:pt x="2551" y="604"/>
                  </a:lnTo>
                  <a:lnTo>
                    <a:pt x="2489" y="522"/>
                  </a:lnTo>
                  <a:lnTo>
                    <a:pt x="2420" y="442"/>
                  </a:lnTo>
                  <a:lnTo>
                    <a:pt x="2382" y="404"/>
                  </a:lnTo>
                  <a:lnTo>
                    <a:pt x="2344" y="367"/>
                  </a:lnTo>
                  <a:lnTo>
                    <a:pt x="2265" y="298"/>
                  </a:lnTo>
                  <a:lnTo>
                    <a:pt x="2182" y="236"/>
                  </a:lnTo>
                  <a:lnTo>
                    <a:pt x="2095" y="181"/>
                  </a:lnTo>
                  <a:lnTo>
                    <a:pt x="2005" y="133"/>
                  </a:lnTo>
                  <a:lnTo>
                    <a:pt x="1911" y="92"/>
                  </a:lnTo>
                  <a:lnTo>
                    <a:pt x="1813" y="58"/>
                  </a:lnTo>
                  <a:lnTo>
                    <a:pt x="1713" y="31"/>
                  </a:lnTo>
                  <a:lnTo>
                    <a:pt x="1661" y="21"/>
                  </a:lnTo>
                  <a:lnTo>
                    <a:pt x="1608" y="12"/>
                  </a:lnTo>
                  <a:lnTo>
                    <a:pt x="1477" y="1"/>
                  </a:lnTo>
                  <a:lnTo>
                    <a:pt x="1336" y="0"/>
                  </a:lnTo>
                  <a:lnTo>
                    <a:pt x="1206" y="7"/>
                  </a:lnTo>
                  <a:lnTo>
                    <a:pt x="1154" y="14"/>
                  </a:lnTo>
                  <a:close/>
                  <a:moveTo>
                    <a:pt x="1616" y="489"/>
                  </a:moveTo>
                  <a:lnTo>
                    <a:pt x="1679" y="506"/>
                  </a:lnTo>
                  <a:lnTo>
                    <a:pt x="1794" y="552"/>
                  </a:lnTo>
                  <a:lnTo>
                    <a:pt x="1900" y="613"/>
                  </a:lnTo>
                  <a:lnTo>
                    <a:pt x="2000" y="691"/>
                  </a:lnTo>
                  <a:lnTo>
                    <a:pt x="2049" y="737"/>
                  </a:lnTo>
                  <a:lnTo>
                    <a:pt x="2086" y="776"/>
                  </a:lnTo>
                  <a:lnTo>
                    <a:pt x="2152" y="853"/>
                  </a:lnTo>
                  <a:lnTo>
                    <a:pt x="2206" y="932"/>
                  </a:lnTo>
                  <a:lnTo>
                    <a:pt x="2249" y="1014"/>
                  </a:lnTo>
                  <a:lnTo>
                    <a:pt x="2282" y="1099"/>
                  </a:lnTo>
                  <a:lnTo>
                    <a:pt x="2305" y="1189"/>
                  </a:lnTo>
                  <a:lnTo>
                    <a:pt x="2318" y="1284"/>
                  </a:lnTo>
                  <a:lnTo>
                    <a:pt x="2321" y="1385"/>
                  </a:lnTo>
                  <a:lnTo>
                    <a:pt x="2319" y="1439"/>
                  </a:lnTo>
                  <a:lnTo>
                    <a:pt x="2314" y="1512"/>
                  </a:lnTo>
                  <a:lnTo>
                    <a:pt x="2300" y="1608"/>
                  </a:lnTo>
                  <a:lnTo>
                    <a:pt x="2286" y="1667"/>
                  </a:lnTo>
                  <a:lnTo>
                    <a:pt x="2268" y="1724"/>
                  </a:lnTo>
                  <a:lnTo>
                    <a:pt x="2245" y="1779"/>
                  </a:lnTo>
                  <a:lnTo>
                    <a:pt x="2201" y="1861"/>
                  </a:lnTo>
                  <a:lnTo>
                    <a:pt x="2162" y="1919"/>
                  </a:lnTo>
                  <a:lnTo>
                    <a:pt x="2136" y="1956"/>
                  </a:lnTo>
                  <a:lnTo>
                    <a:pt x="2079" y="2024"/>
                  </a:lnTo>
                  <a:lnTo>
                    <a:pt x="2017" y="2086"/>
                  </a:lnTo>
                  <a:lnTo>
                    <a:pt x="1948" y="2142"/>
                  </a:lnTo>
                  <a:lnTo>
                    <a:pt x="1874" y="2191"/>
                  </a:lnTo>
                  <a:lnTo>
                    <a:pt x="1796" y="2233"/>
                  </a:lnTo>
                  <a:lnTo>
                    <a:pt x="1713" y="2268"/>
                  </a:lnTo>
                  <a:lnTo>
                    <a:pt x="1626" y="2295"/>
                  </a:lnTo>
                  <a:lnTo>
                    <a:pt x="1581" y="2306"/>
                  </a:lnTo>
                  <a:lnTo>
                    <a:pt x="1529" y="2316"/>
                  </a:lnTo>
                  <a:lnTo>
                    <a:pt x="1440" y="2327"/>
                  </a:lnTo>
                  <a:lnTo>
                    <a:pt x="1358" y="2327"/>
                  </a:lnTo>
                  <a:lnTo>
                    <a:pt x="1268" y="2316"/>
                  </a:lnTo>
                  <a:lnTo>
                    <a:pt x="1216" y="2306"/>
                  </a:lnTo>
                  <a:lnTo>
                    <a:pt x="1152" y="2291"/>
                  </a:lnTo>
                  <a:lnTo>
                    <a:pt x="1031" y="2247"/>
                  </a:lnTo>
                  <a:lnTo>
                    <a:pt x="917" y="2188"/>
                  </a:lnTo>
                  <a:lnTo>
                    <a:pt x="813" y="2114"/>
                  </a:lnTo>
                  <a:lnTo>
                    <a:pt x="720" y="2028"/>
                  </a:lnTo>
                  <a:lnTo>
                    <a:pt x="639" y="1929"/>
                  </a:lnTo>
                  <a:lnTo>
                    <a:pt x="571" y="1821"/>
                  </a:lnTo>
                  <a:lnTo>
                    <a:pt x="519" y="1703"/>
                  </a:lnTo>
                  <a:lnTo>
                    <a:pt x="499" y="1641"/>
                  </a:lnTo>
                  <a:lnTo>
                    <a:pt x="492" y="1616"/>
                  </a:lnTo>
                  <a:lnTo>
                    <a:pt x="481" y="1559"/>
                  </a:lnTo>
                  <a:lnTo>
                    <a:pt x="471" y="1464"/>
                  </a:lnTo>
                  <a:lnTo>
                    <a:pt x="471" y="1331"/>
                  </a:lnTo>
                  <a:lnTo>
                    <a:pt x="481" y="1237"/>
                  </a:lnTo>
                  <a:lnTo>
                    <a:pt x="492" y="1180"/>
                  </a:lnTo>
                  <a:lnTo>
                    <a:pt x="499" y="1156"/>
                  </a:lnTo>
                  <a:lnTo>
                    <a:pt x="518" y="1095"/>
                  </a:lnTo>
                  <a:lnTo>
                    <a:pt x="569" y="978"/>
                  </a:lnTo>
                  <a:lnTo>
                    <a:pt x="635" y="870"/>
                  </a:lnTo>
                  <a:lnTo>
                    <a:pt x="712" y="772"/>
                  </a:lnTo>
                  <a:lnTo>
                    <a:pt x="801" y="684"/>
                  </a:lnTo>
                  <a:lnTo>
                    <a:pt x="900" y="610"/>
                  </a:lnTo>
                  <a:lnTo>
                    <a:pt x="1007" y="549"/>
                  </a:lnTo>
                  <a:lnTo>
                    <a:pt x="1120" y="503"/>
                  </a:lnTo>
                  <a:lnTo>
                    <a:pt x="1179" y="487"/>
                  </a:lnTo>
                  <a:lnTo>
                    <a:pt x="1226" y="478"/>
                  </a:lnTo>
                  <a:lnTo>
                    <a:pt x="1339" y="467"/>
                  </a:lnTo>
                  <a:lnTo>
                    <a:pt x="1458" y="467"/>
                  </a:lnTo>
                  <a:lnTo>
                    <a:pt x="1569" y="479"/>
                  </a:lnTo>
                  <a:lnTo>
                    <a:pt x="1616" y="48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6" name="Freeform 198">
              <a:extLst>
                <a:ext uri="{FF2B5EF4-FFF2-40B4-BE49-F238E27FC236}">
                  <a16:creationId xmlns:a16="http://schemas.microsoft.com/office/drawing/2014/main" id="{DBE178A9-B74D-21AF-7608-7CC13D418303}"/>
                </a:ext>
              </a:extLst>
            </p:cNvPr>
            <p:cNvSpPr>
              <a:spLocks/>
            </p:cNvSpPr>
            <p:nvPr/>
          </p:nvSpPr>
          <p:spPr bwMode="auto">
            <a:xfrm>
              <a:off x="4389438" y="1536700"/>
              <a:ext cx="292100" cy="288925"/>
            </a:xfrm>
            <a:custGeom>
              <a:avLst/>
              <a:gdLst>
                <a:gd name="T0" fmla="*/ 553 w 1240"/>
                <a:gd name="T1" fmla="*/ 21 h 1230"/>
                <a:gd name="T2" fmla="*/ 513 w 1240"/>
                <a:gd name="T3" fmla="*/ 33 h 1230"/>
                <a:gd name="T4" fmla="*/ 437 w 1240"/>
                <a:gd name="T5" fmla="*/ 64 h 1230"/>
                <a:gd name="T6" fmla="*/ 365 w 1240"/>
                <a:gd name="T7" fmla="*/ 101 h 1230"/>
                <a:gd name="T8" fmla="*/ 299 w 1240"/>
                <a:gd name="T9" fmla="*/ 146 h 1230"/>
                <a:gd name="T10" fmla="*/ 238 w 1240"/>
                <a:gd name="T11" fmla="*/ 198 h 1230"/>
                <a:gd name="T12" fmla="*/ 182 w 1240"/>
                <a:gd name="T13" fmla="*/ 256 h 1230"/>
                <a:gd name="T14" fmla="*/ 133 w 1240"/>
                <a:gd name="T15" fmla="*/ 320 h 1230"/>
                <a:gd name="T16" fmla="*/ 90 w 1240"/>
                <a:gd name="T17" fmla="*/ 391 h 1230"/>
                <a:gd name="T18" fmla="*/ 71 w 1240"/>
                <a:gd name="T19" fmla="*/ 428 h 1230"/>
                <a:gd name="T20" fmla="*/ 57 w 1240"/>
                <a:gd name="T21" fmla="*/ 459 h 1230"/>
                <a:gd name="T22" fmla="*/ 34 w 1240"/>
                <a:gd name="T23" fmla="*/ 523 h 1230"/>
                <a:gd name="T24" fmla="*/ 16 w 1240"/>
                <a:gd name="T25" fmla="*/ 588 h 1230"/>
                <a:gd name="T26" fmla="*/ 5 w 1240"/>
                <a:gd name="T27" fmla="*/ 655 h 1230"/>
                <a:gd name="T28" fmla="*/ 0 w 1240"/>
                <a:gd name="T29" fmla="*/ 722 h 1230"/>
                <a:gd name="T30" fmla="*/ 1 w 1240"/>
                <a:gd name="T31" fmla="*/ 790 h 1230"/>
                <a:gd name="T32" fmla="*/ 8 w 1240"/>
                <a:gd name="T33" fmla="*/ 858 h 1230"/>
                <a:gd name="T34" fmla="*/ 22 w 1240"/>
                <a:gd name="T35" fmla="*/ 925 h 1230"/>
                <a:gd name="T36" fmla="*/ 31 w 1240"/>
                <a:gd name="T37" fmla="*/ 958 h 1230"/>
                <a:gd name="T38" fmla="*/ 46 w 1240"/>
                <a:gd name="T39" fmla="*/ 1001 h 1230"/>
                <a:gd name="T40" fmla="*/ 86 w 1240"/>
                <a:gd name="T41" fmla="*/ 1093 h 1230"/>
                <a:gd name="T42" fmla="*/ 131 w 1240"/>
                <a:gd name="T43" fmla="*/ 1174 h 1230"/>
                <a:gd name="T44" fmla="*/ 159 w 1240"/>
                <a:gd name="T45" fmla="*/ 1214 h 1230"/>
                <a:gd name="T46" fmla="*/ 174 w 1240"/>
                <a:gd name="T47" fmla="*/ 1228 h 1230"/>
                <a:gd name="T48" fmla="*/ 180 w 1240"/>
                <a:gd name="T49" fmla="*/ 1230 h 1230"/>
                <a:gd name="T50" fmla="*/ 215 w 1240"/>
                <a:gd name="T51" fmla="*/ 1200 h 1230"/>
                <a:gd name="T52" fmla="*/ 506 w 1240"/>
                <a:gd name="T53" fmla="*/ 916 h 1230"/>
                <a:gd name="T54" fmla="*/ 716 w 1240"/>
                <a:gd name="T55" fmla="*/ 706 h 1230"/>
                <a:gd name="T56" fmla="*/ 1240 w 1240"/>
                <a:gd name="T57" fmla="*/ 183 h 1230"/>
                <a:gd name="T58" fmla="*/ 1168 w 1240"/>
                <a:gd name="T59" fmla="*/ 131 h 1230"/>
                <a:gd name="T60" fmla="*/ 1137 w 1240"/>
                <a:gd name="T61" fmla="*/ 110 h 1230"/>
                <a:gd name="T62" fmla="*/ 1068 w 1240"/>
                <a:gd name="T63" fmla="*/ 74 h 1230"/>
                <a:gd name="T64" fmla="*/ 993 w 1240"/>
                <a:gd name="T65" fmla="*/ 44 h 1230"/>
                <a:gd name="T66" fmla="*/ 913 w 1240"/>
                <a:gd name="T67" fmla="*/ 21 h 1230"/>
                <a:gd name="T68" fmla="*/ 830 w 1240"/>
                <a:gd name="T69" fmla="*/ 6 h 1230"/>
                <a:gd name="T70" fmla="*/ 748 w 1240"/>
                <a:gd name="T71" fmla="*/ 0 h 1230"/>
                <a:gd name="T72" fmla="*/ 666 w 1240"/>
                <a:gd name="T73" fmla="*/ 1 h 1230"/>
                <a:gd name="T74" fmla="*/ 589 w 1240"/>
                <a:gd name="T75" fmla="*/ 12 h 1230"/>
                <a:gd name="T76" fmla="*/ 553 w 1240"/>
                <a:gd name="T77" fmla="*/ 21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40" h="1230">
                  <a:moveTo>
                    <a:pt x="553" y="21"/>
                  </a:moveTo>
                  <a:lnTo>
                    <a:pt x="513" y="33"/>
                  </a:lnTo>
                  <a:lnTo>
                    <a:pt x="437" y="64"/>
                  </a:lnTo>
                  <a:lnTo>
                    <a:pt x="365" y="101"/>
                  </a:lnTo>
                  <a:lnTo>
                    <a:pt x="299" y="146"/>
                  </a:lnTo>
                  <a:lnTo>
                    <a:pt x="238" y="198"/>
                  </a:lnTo>
                  <a:lnTo>
                    <a:pt x="182" y="256"/>
                  </a:lnTo>
                  <a:lnTo>
                    <a:pt x="133" y="320"/>
                  </a:lnTo>
                  <a:lnTo>
                    <a:pt x="90" y="391"/>
                  </a:lnTo>
                  <a:lnTo>
                    <a:pt x="71" y="428"/>
                  </a:lnTo>
                  <a:lnTo>
                    <a:pt x="57" y="459"/>
                  </a:lnTo>
                  <a:lnTo>
                    <a:pt x="34" y="523"/>
                  </a:lnTo>
                  <a:lnTo>
                    <a:pt x="16" y="588"/>
                  </a:lnTo>
                  <a:lnTo>
                    <a:pt x="5" y="655"/>
                  </a:lnTo>
                  <a:lnTo>
                    <a:pt x="0" y="722"/>
                  </a:lnTo>
                  <a:lnTo>
                    <a:pt x="1" y="790"/>
                  </a:lnTo>
                  <a:lnTo>
                    <a:pt x="8" y="858"/>
                  </a:lnTo>
                  <a:lnTo>
                    <a:pt x="22" y="925"/>
                  </a:lnTo>
                  <a:lnTo>
                    <a:pt x="31" y="958"/>
                  </a:lnTo>
                  <a:lnTo>
                    <a:pt x="46" y="1001"/>
                  </a:lnTo>
                  <a:lnTo>
                    <a:pt x="86" y="1093"/>
                  </a:lnTo>
                  <a:lnTo>
                    <a:pt x="131" y="1174"/>
                  </a:lnTo>
                  <a:lnTo>
                    <a:pt x="159" y="1214"/>
                  </a:lnTo>
                  <a:lnTo>
                    <a:pt x="174" y="1228"/>
                  </a:lnTo>
                  <a:lnTo>
                    <a:pt x="180" y="1230"/>
                  </a:lnTo>
                  <a:lnTo>
                    <a:pt x="215" y="1200"/>
                  </a:lnTo>
                  <a:lnTo>
                    <a:pt x="506" y="916"/>
                  </a:lnTo>
                  <a:lnTo>
                    <a:pt x="716" y="706"/>
                  </a:lnTo>
                  <a:lnTo>
                    <a:pt x="1240" y="183"/>
                  </a:lnTo>
                  <a:lnTo>
                    <a:pt x="1168" y="131"/>
                  </a:lnTo>
                  <a:lnTo>
                    <a:pt x="1137" y="110"/>
                  </a:lnTo>
                  <a:lnTo>
                    <a:pt x="1068" y="74"/>
                  </a:lnTo>
                  <a:lnTo>
                    <a:pt x="993" y="44"/>
                  </a:lnTo>
                  <a:lnTo>
                    <a:pt x="913" y="21"/>
                  </a:lnTo>
                  <a:lnTo>
                    <a:pt x="830" y="6"/>
                  </a:lnTo>
                  <a:lnTo>
                    <a:pt x="748" y="0"/>
                  </a:lnTo>
                  <a:lnTo>
                    <a:pt x="666" y="1"/>
                  </a:lnTo>
                  <a:lnTo>
                    <a:pt x="589" y="12"/>
                  </a:lnTo>
                  <a:lnTo>
                    <a:pt x="553" y="2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7" name="Freeform 199">
              <a:extLst>
                <a:ext uri="{FF2B5EF4-FFF2-40B4-BE49-F238E27FC236}">
                  <a16:creationId xmlns:a16="http://schemas.microsoft.com/office/drawing/2014/main" id="{FB7C3BD4-4663-09DD-5B0F-A7E9D654D139}"/>
                </a:ext>
              </a:extLst>
            </p:cNvPr>
            <p:cNvSpPr>
              <a:spLocks/>
            </p:cNvSpPr>
            <p:nvPr/>
          </p:nvSpPr>
          <p:spPr bwMode="auto">
            <a:xfrm>
              <a:off x="4448176" y="1598613"/>
              <a:ext cx="290513" cy="287338"/>
            </a:xfrm>
            <a:custGeom>
              <a:avLst/>
              <a:gdLst>
                <a:gd name="T0" fmla="*/ 522 w 1234"/>
                <a:gd name="T1" fmla="*/ 523 h 1221"/>
                <a:gd name="T2" fmla="*/ 0 w 1234"/>
                <a:gd name="T3" fmla="*/ 1045 h 1221"/>
                <a:gd name="T4" fmla="*/ 50 w 1234"/>
                <a:gd name="T5" fmla="*/ 1082 h 1221"/>
                <a:gd name="T6" fmla="*/ 84 w 1234"/>
                <a:gd name="T7" fmla="*/ 1105 h 1221"/>
                <a:gd name="T8" fmla="*/ 155 w 1234"/>
                <a:gd name="T9" fmla="*/ 1145 h 1221"/>
                <a:gd name="T10" fmla="*/ 228 w 1234"/>
                <a:gd name="T11" fmla="*/ 1176 h 1221"/>
                <a:gd name="T12" fmla="*/ 303 w 1234"/>
                <a:gd name="T13" fmla="*/ 1199 h 1221"/>
                <a:gd name="T14" fmla="*/ 379 w 1234"/>
                <a:gd name="T15" fmla="*/ 1214 h 1221"/>
                <a:gd name="T16" fmla="*/ 456 w 1234"/>
                <a:gd name="T17" fmla="*/ 1221 h 1221"/>
                <a:gd name="T18" fmla="*/ 533 w 1234"/>
                <a:gd name="T19" fmla="*/ 1220 h 1221"/>
                <a:gd name="T20" fmla="*/ 609 w 1234"/>
                <a:gd name="T21" fmla="*/ 1212 h 1221"/>
                <a:gd name="T22" fmla="*/ 684 w 1234"/>
                <a:gd name="T23" fmla="*/ 1196 h 1221"/>
                <a:gd name="T24" fmla="*/ 758 w 1234"/>
                <a:gd name="T25" fmla="*/ 1173 h 1221"/>
                <a:gd name="T26" fmla="*/ 828 w 1234"/>
                <a:gd name="T27" fmla="*/ 1142 h 1221"/>
                <a:gd name="T28" fmla="*/ 895 w 1234"/>
                <a:gd name="T29" fmla="*/ 1104 h 1221"/>
                <a:gd name="T30" fmla="*/ 959 w 1234"/>
                <a:gd name="T31" fmla="*/ 1060 h 1221"/>
                <a:gd name="T32" fmla="*/ 1018 w 1234"/>
                <a:gd name="T33" fmla="*/ 1008 h 1221"/>
                <a:gd name="T34" fmla="*/ 1072 w 1234"/>
                <a:gd name="T35" fmla="*/ 950 h 1221"/>
                <a:gd name="T36" fmla="*/ 1120 w 1234"/>
                <a:gd name="T37" fmla="*/ 885 h 1221"/>
                <a:gd name="T38" fmla="*/ 1142 w 1234"/>
                <a:gd name="T39" fmla="*/ 850 h 1221"/>
                <a:gd name="T40" fmla="*/ 1159 w 1234"/>
                <a:gd name="T41" fmla="*/ 819 h 1221"/>
                <a:gd name="T42" fmla="*/ 1188 w 1234"/>
                <a:gd name="T43" fmla="*/ 752 h 1221"/>
                <a:gd name="T44" fmla="*/ 1210 w 1234"/>
                <a:gd name="T45" fmla="*/ 680 h 1221"/>
                <a:gd name="T46" fmla="*/ 1225 w 1234"/>
                <a:gd name="T47" fmla="*/ 605 h 1221"/>
                <a:gd name="T48" fmla="*/ 1233 w 1234"/>
                <a:gd name="T49" fmla="*/ 528 h 1221"/>
                <a:gd name="T50" fmla="*/ 1234 w 1234"/>
                <a:gd name="T51" fmla="*/ 450 h 1221"/>
                <a:gd name="T52" fmla="*/ 1228 w 1234"/>
                <a:gd name="T53" fmla="*/ 374 h 1221"/>
                <a:gd name="T54" fmla="*/ 1214 w 1234"/>
                <a:gd name="T55" fmla="*/ 300 h 1221"/>
                <a:gd name="T56" fmla="*/ 1203 w 1234"/>
                <a:gd name="T57" fmla="*/ 265 h 1221"/>
                <a:gd name="T58" fmla="*/ 1190 w 1234"/>
                <a:gd name="T59" fmla="*/ 224 h 1221"/>
                <a:gd name="T60" fmla="*/ 1150 w 1234"/>
                <a:gd name="T61" fmla="*/ 135 h 1221"/>
                <a:gd name="T62" fmla="*/ 1107 w 1234"/>
                <a:gd name="T63" fmla="*/ 55 h 1221"/>
                <a:gd name="T64" fmla="*/ 1078 w 1234"/>
                <a:gd name="T65" fmla="*/ 15 h 1221"/>
                <a:gd name="T66" fmla="*/ 1064 w 1234"/>
                <a:gd name="T67" fmla="*/ 1 h 1221"/>
                <a:gd name="T68" fmla="*/ 1058 w 1234"/>
                <a:gd name="T69" fmla="*/ 0 h 1221"/>
                <a:gd name="T70" fmla="*/ 1023 w 1234"/>
                <a:gd name="T71" fmla="*/ 29 h 1221"/>
                <a:gd name="T72" fmla="*/ 732 w 1234"/>
                <a:gd name="T73" fmla="*/ 314 h 1221"/>
                <a:gd name="T74" fmla="*/ 522 w 1234"/>
                <a:gd name="T75" fmla="*/ 523 h 1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4" h="1221">
                  <a:moveTo>
                    <a:pt x="522" y="523"/>
                  </a:moveTo>
                  <a:lnTo>
                    <a:pt x="0" y="1045"/>
                  </a:lnTo>
                  <a:lnTo>
                    <a:pt x="50" y="1082"/>
                  </a:lnTo>
                  <a:lnTo>
                    <a:pt x="84" y="1105"/>
                  </a:lnTo>
                  <a:lnTo>
                    <a:pt x="155" y="1145"/>
                  </a:lnTo>
                  <a:lnTo>
                    <a:pt x="228" y="1176"/>
                  </a:lnTo>
                  <a:lnTo>
                    <a:pt x="303" y="1199"/>
                  </a:lnTo>
                  <a:lnTo>
                    <a:pt x="379" y="1214"/>
                  </a:lnTo>
                  <a:lnTo>
                    <a:pt x="456" y="1221"/>
                  </a:lnTo>
                  <a:lnTo>
                    <a:pt x="533" y="1220"/>
                  </a:lnTo>
                  <a:lnTo>
                    <a:pt x="609" y="1212"/>
                  </a:lnTo>
                  <a:lnTo>
                    <a:pt x="684" y="1196"/>
                  </a:lnTo>
                  <a:lnTo>
                    <a:pt x="758" y="1173"/>
                  </a:lnTo>
                  <a:lnTo>
                    <a:pt x="828" y="1142"/>
                  </a:lnTo>
                  <a:lnTo>
                    <a:pt x="895" y="1104"/>
                  </a:lnTo>
                  <a:lnTo>
                    <a:pt x="959" y="1060"/>
                  </a:lnTo>
                  <a:lnTo>
                    <a:pt x="1018" y="1008"/>
                  </a:lnTo>
                  <a:lnTo>
                    <a:pt x="1072" y="950"/>
                  </a:lnTo>
                  <a:lnTo>
                    <a:pt x="1120" y="885"/>
                  </a:lnTo>
                  <a:lnTo>
                    <a:pt x="1142" y="850"/>
                  </a:lnTo>
                  <a:lnTo>
                    <a:pt x="1159" y="819"/>
                  </a:lnTo>
                  <a:lnTo>
                    <a:pt x="1188" y="752"/>
                  </a:lnTo>
                  <a:lnTo>
                    <a:pt x="1210" y="680"/>
                  </a:lnTo>
                  <a:lnTo>
                    <a:pt x="1225" y="605"/>
                  </a:lnTo>
                  <a:lnTo>
                    <a:pt x="1233" y="528"/>
                  </a:lnTo>
                  <a:lnTo>
                    <a:pt x="1234" y="450"/>
                  </a:lnTo>
                  <a:lnTo>
                    <a:pt x="1228" y="374"/>
                  </a:lnTo>
                  <a:lnTo>
                    <a:pt x="1214" y="300"/>
                  </a:lnTo>
                  <a:lnTo>
                    <a:pt x="1203" y="265"/>
                  </a:lnTo>
                  <a:lnTo>
                    <a:pt x="1190" y="224"/>
                  </a:lnTo>
                  <a:lnTo>
                    <a:pt x="1150" y="135"/>
                  </a:lnTo>
                  <a:lnTo>
                    <a:pt x="1107" y="55"/>
                  </a:lnTo>
                  <a:lnTo>
                    <a:pt x="1078" y="15"/>
                  </a:lnTo>
                  <a:lnTo>
                    <a:pt x="1064" y="1"/>
                  </a:lnTo>
                  <a:lnTo>
                    <a:pt x="1058" y="0"/>
                  </a:lnTo>
                  <a:lnTo>
                    <a:pt x="1023" y="29"/>
                  </a:lnTo>
                  <a:lnTo>
                    <a:pt x="732" y="314"/>
                  </a:lnTo>
                  <a:lnTo>
                    <a:pt x="522" y="5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8" name="Freeform 200">
              <a:extLst>
                <a:ext uri="{FF2B5EF4-FFF2-40B4-BE49-F238E27FC236}">
                  <a16:creationId xmlns:a16="http://schemas.microsoft.com/office/drawing/2014/main" id="{BFD9A124-8A67-3AB6-FE0C-96FA596BBA02}"/>
                </a:ext>
              </a:extLst>
            </p:cNvPr>
            <p:cNvSpPr>
              <a:spLocks/>
            </p:cNvSpPr>
            <p:nvPr/>
          </p:nvSpPr>
          <p:spPr bwMode="auto">
            <a:xfrm>
              <a:off x="3543301" y="1558925"/>
              <a:ext cx="219075" cy="44450"/>
            </a:xfrm>
            <a:custGeom>
              <a:avLst/>
              <a:gdLst>
                <a:gd name="T0" fmla="*/ 16 w 932"/>
                <a:gd name="T1" fmla="*/ 32 h 184"/>
                <a:gd name="T2" fmla="*/ 7 w 932"/>
                <a:gd name="T3" fmla="*/ 51 h 184"/>
                <a:gd name="T4" fmla="*/ 0 w 932"/>
                <a:gd name="T5" fmla="*/ 87 h 184"/>
                <a:gd name="T6" fmla="*/ 5 w 932"/>
                <a:gd name="T7" fmla="*/ 120 h 184"/>
                <a:gd name="T8" fmla="*/ 22 w 932"/>
                <a:gd name="T9" fmla="*/ 146 h 184"/>
                <a:gd name="T10" fmla="*/ 36 w 932"/>
                <a:gd name="T11" fmla="*/ 157 h 184"/>
                <a:gd name="T12" fmla="*/ 49 w 932"/>
                <a:gd name="T13" fmla="*/ 165 h 184"/>
                <a:gd name="T14" fmla="*/ 98 w 932"/>
                <a:gd name="T15" fmla="*/ 175 h 184"/>
                <a:gd name="T16" fmla="*/ 252 w 932"/>
                <a:gd name="T17" fmla="*/ 183 h 184"/>
                <a:gd name="T18" fmla="*/ 466 w 932"/>
                <a:gd name="T19" fmla="*/ 184 h 184"/>
                <a:gd name="T20" fmla="*/ 680 w 932"/>
                <a:gd name="T21" fmla="*/ 183 h 184"/>
                <a:gd name="T22" fmla="*/ 834 w 932"/>
                <a:gd name="T23" fmla="*/ 175 h 184"/>
                <a:gd name="T24" fmla="*/ 883 w 932"/>
                <a:gd name="T25" fmla="*/ 165 h 184"/>
                <a:gd name="T26" fmla="*/ 896 w 932"/>
                <a:gd name="T27" fmla="*/ 157 h 184"/>
                <a:gd name="T28" fmla="*/ 910 w 932"/>
                <a:gd name="T29" fmla="*/ 146 h 184"/>
                <a:gd name="T30" fmla="*/ 927 w 932"/>
                <a:gd name="T31" fmla="*/ 120 h 184"/>
                <a:gd name="T32" fmla="*/ 932 w 932"/>
                <a:gd name="T33" fmla="*/ 87 h 184"/>
                <a:gd name="T34" fmla="*/ 925 w 932"/>
                <a:gd name="T35" fmla="*/ 51 h 184"/>
                <a:gd name="T36" fmla="*/ 916 w 932"/>
                <a:gd name="T37" fmla="*/ 32 h 184"/>
                <a:gd name="T38" fmla="*/ 913 w 932"/>
                <a:gd name="T39" fmla="*/ 27 h 184"/>
                <a:gd name="T40" fmla="*/ 904 w 932"/>
                <a:gd name="T41" fmla="*/ 18 h 184"/>
                <a:gd name="T42" fmla="*/ 877 w 932"/>
                <a:gd name="T43" fmla="*/ 9 h 184"/>
                <a:gd name="T44" fmla="*/ 725 w 932"/>
                <a:gd name="T45" fmla="*/ 1 h 184"/>
                <a:gd name="T46" fmla="*/ 466 w 932"/>
                <a:gd name="T47" fmla="*/ 0 h 184"/>
                <a:gd name="T48" fmla="*/ 207 w 932"/>
                <a:gd name="T49" fmla="*/ 1 h 184"/>
                <a:gd name="T50" fmla="*/ 55 w 932"/>
                <a:gd name="T51" fmla="*/ 9 h 184"/>
                <a:gd name="T52" fmla="*/ 28 w 932"/>
                <a:gd name="T53" fmla="*/ 18 h 184"/>
                <a:gd name="T54" fmla="*/ 19 w 932"/>
                <a:gd name="T55" fmla="*/ 27 h 184"/>
                <a:gd name="T56" fmla="*/ 16 w 932"/>
                <a:gd name="T57" fmla="*/ 32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32" h="184">
                  <a:moveTo>
                    <a:pt x="16" y="32"/>
                  </a:moveTo>
                  <a:lnTo>
                    <a:pt x="7" y="51"/>
                  </a:lnTo>
                  <a:lnTo>
                    <a:pt x="0" y="87"/>
                  </a:lnTo>
                  <a:lnTo>
                    <a:pt x="5" y="120"/>
                  </a:lnTo>
                  <a:lnTo>
                    <a:pt x="22" y="146"/>
                  </a:lnTo>
                  <a:lnTo>
                    <a:pt x="36" y="157"/>
                  </a:lnTo>
                  <a:lnTo>
                    <a:pt x="49" y="165"/>
                  </a:lnTo>
                  <a:lnTo>
                    <a:pt x="98" y="175"/>
                  </a:lnTo>
                  <a:lnTo>
                    <a:pt x="252" y="183"/>
                  </a:lnTo>
                  <a:lnTo>
                    <a:pt x="466" y="184"/>
                  </a:lnTo>
                  <a:lnTo>
                    <a:pt x="680" y="183"/>
                  </a:lnTo>
                  <a:lnTo>
                    <a:pt x="834" y="175"/>
                  </a:lnTo>
                  <a:lnTo>
                    <a:pt x="883" y="165"/>
                  </a:lnTo>
                  <a:lnTo>
                    <a:pt x="896" y="157"/>
                  </a:lnTo>
                  <a:lnTo>
                    <a:pt x="910" y="146"/>
                  </a:lnTo>
                  <a:lnTo>
                    <a:pt x="927" y="120"/>
                  </a:lnTo>
                  <a:lnTo>
                    <a:pt x="932" y="87"/>
                  </a:lnTo>
                  <a:lnTo>
                    <a:pt x="925" y="51"/>
                  </a:lnTo>
                  <a:lnTo>
                    <a:pt x="916" y="32"/>
                  </a:lnTo>
                  <a:lnTo>
                    <a:pt x="913" y="27"/>
                  </a:lnTo>
                  <a:lnTo>
                    <a:pt x="904" y="18"/>
                  </a:lnTo>
                  <a:lnTo>
                    <a:pt x="877" y="9"/>
                  </a:lnTo>
                  <a:lnTo>
                    <a:pt x="725" y="1"/>
                  </a:lnTo>
                  <a:lnTo>
                    <a:pt x="466" y="0"/>
                  </a:lnTo>
                  <a:lnTo>
                    <a:pt x="207" y="1"/>
                  </a:lnTo>
                  <a:lnTo>
                    <a:pt x="55" y="9"/>
                  </a:lnTo>
                  <a:lnTo>
                    <a:pt x="28" y="18"/>
                  </a:lnTo>
                  <a:lnTo>
                    <a:pt x="19" y="27"/>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sp>
          <p:nvSpPr>
            <p:cNvPr id="39" name="Freeform 201">
              <a:extLst>
                <a:ext uri="{FF2B5EF4-FFF2-40B4-BE49-F238E27FC236}">
                  <a16:creationId xmlns:a16="http://schemas.microsoft.com/office/drawing/2014/main" id="{F90A36E9-B907-EA08-3D49-36FCEAB8D37A}"/>
                </a:ext>
              </a:extLst>
            </p:cNvPr>
            <p:cNvSpPr>
              <a:spLocks/>
            </p:cNvSpPr>
            <p:nvPr/>
          </p:nvSpPr>
          <p:spPr bwMode="auto">
            <a:xfrm>
              <a:off x="3543301" y="1668463"/>
              <a:ext cx="371475" cy="44450"/>
            </a:xfrm>
            <a:custGeom>
              <a:avLst/>
              <a:gdLst>
                <a:gd name="T0" fmla="*/ 16 w 1582"/>
                <a:gd name="T1" fmla="*/ 32 h 183"/>
                <a:gd name="T2" fmla="*/ 7 w 1582"/>
                <a:gd name="T3" fmla="*/ 51 h 183"/>
                <a:gd name="T4" fmla="*/ 0 w 1582"/>
                <a:gd name="T5" fmla="*/ 87 h 183"/>
                <a:gd name="T6" fmla="*/ 5 w 1582"/>
                <a:gd name="T7" fmla="*/ 119 h 183"/>
                <a:gd name="T8" fmla="*/ 22 w 1582"/>
                <a:gd name="T9" fmla="*/ 146 h 183"/>
                <a:gd name="T10" fmla="*/ 36 w 1582"/>
                <a:gd name="T11" fmla="*/ 157 h 183"/>
                <a:gd name="T12" fmla="*/ 43 w 1582"/>
                <a:gd name="T13" fmla="*/ 161 h 183"/>
                <a:gd name="T14" fmla="*/ 64 w 1582"/>
                <a:gd name="T15" fmla="*/ 168 h 183"/>
                <a:gd name="T16" fmla="*/ 122 w 1582"/>
                <a:gd name="T17" fmla="*/ 176 h 183"/>
                <a:gd name="T18" fmla="*/ 394 w 1582"/>
                <a:gd name="T19" fmla="*/ 183 h 183"/>
                <a:gd name="T20" fmla="*/ 801 w 1582"/>
                <a:gd name="T21" fmla="*/ 183 h 183"/>
                <a:gd name="T22" fmla="*/ 1234 w 1582"/>
                <a:gd name="T23" fmla="*/ 183 h 183"/>
                <a:gd name="T24" fmla="*/ 1489 w 1582"/>
                <a:gd name="T25" fmla="*/ 176 h 183"/>
                <a:gd name="T26" fmla="*/ 1535 w 1582"/>
                <a:gd name="T27" fmla="*/ 167 h 183"/>
                <a:gd name="T28" fmla="*/ 1549 w 1582"/>
                <a:gd name="T29" fmla="*/ 158 h 183"/>
                <a:gd name="T30" fmla="*/ 1554 w 1582"/>
                <a:gd name="T31" fmla="*/ 153 h 183"/>
                <a:gd name="T32" fmla="*/ 1566 w 1582"/>
                <a:gd name="T33" fmla="*/ 139 h 183"/>
                <a:gd name="T34" fmla="*/ 1580 w 1582"/>
                <a:gd name="T35" fmla="*/ 103 h 183"/>
                <a:gd name="T36" fmla="*/ 1582 w 1582"/>
                <a:gd name="T37" fmla="*/ 65 h 183"/>
                <a:gd name="T38" fmla="*/ 1572 w 1582"/>
                <a:gd name="T39" fmla="*/ 32 h 183"/>
                <a:gd name="T40" fmla="*/ 1563 w 1582"/>
                <a:gd name="T41" fmla="*/ 20 h 183"/>
                <a:gd name="T42" fmla="*/ 1551 w 1582"/>
                <a:gd name="T43" fmla="*/ 15 h 183"/>
                <a:gd name="T44" fmla="*/ 1464 w 1582"/>
                <a:gd name="T45" fmla="*/ 7 h 183"/>
                <a:gd name="T46" fmla="*/ 1165 w 1582"/>
                <a:gd name="T47" fmla="*/ 1 h 183"/>
                <a:gd name="T48" fmla="*/ 788 w 1582"/>
                <a:gd name="T49" fmla="*/ 0 h 183"/>
                <a:gd name="T50" fmla="*/ 329 w 1582"/>
                <a:gd name="T51" fmla="*/ 0 h 183"/>
                <a:gd name="T52" fmla="*/ 71 w 1582"/>
                <a:gd name="T53" fmla="*/ 8 h 183"/>
                <a:gd name="T54" fmla="*/ 30 w 1582"/>
                <a:gd name="T55" fmla="*/ 18 h 183"/>
                <a:gd name="T56" fmla="*/ 19 w 1582"/>
                <a:gd name="T57" fmla="*/ 26 h 183"/>
                <a:gd name="T58" fmla="*/ 16 w 1582"/>
                <a:gd name="T59" fmla="*/ 3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82" h="183">
                  <a:moveTo>
                    <a:pt x="16" y="32"/>
                  </a:moveTo>
                  <a:lnTo>
                    <a:pt x="7" y="51"/>
                  </a:lnTo>
                  <a:lnTo>
                    <a:pt x="0" y="87"/>
                  </a:lnTo>
                  <a:lnTo>
                    <a:pt x="5" y="119"/>
                  </a:lnTo>
                  <a:lnTo>
                    <a:pt x="22" y="146"/>
                  </a:lnTo>
                  <a:lnTo>
                    <a:pt x="36" y="157"/>
                  </a:lnTo>
                  <a:lnTo>
                    <a:pt x="43" y="161"/>
                  </a:lnTo>
                  <a:lnTo>
                    <a:pt x="64" y="168"/>
                  </a:lnTo>
                  <a:lnTo>
                    <a:pt x="122" y="176"/>
                  </a:lnTo>
                  <a:lnTo>
                    <a:pt x="394" y="183"/>
                  </a:lnTo>
                  <a:lnTo>
                    <a:pt x="801" y="183"/>
                  </a:lnTo>
                  <a:lnTo>
                    <a:pt x="1234" y="183"/>
                  </a:lnTo>
                  <a:lnTo>
                    <a:pt x="1489" y="176"/>
                  </a:lnTo>
                  <a:lnTo>
                    <a:pt x="1535" y="167"/>
                  </a:lnTo>
                  <a:lnTo>
                    <a:pt x="1549" y="158"/>
                  </a:lnTo>
                  <a:lnTo>
                    <a:pt x="1554" y="153"/>
                  </a:lnTo>
                  <a:lnTo>
                    <a:pt x="1566" y="139"/>
                  </a:lnTo>
                  <a:lnTo>
                    <a:pt x="1580" y="103"/>
                  </a:lnTo>
                  <a:lnTo>
                    <a:pt x="1582" y="65"/>
                  </a:lnTo>
                  <a:lnTo>
                    <a:pt x="1572" y="32"/>
                  </a:lnTo>
                  <a:lnTo>
                    <a:pt x="1563" y="20"/>
                  </a:lnTo>
                  <a:lnTo>
                    <a:pt x="1551" y="15"/>
                  </a:lnTo>
                  <a:lnTo>
                    <a:pt x="1464" y="7"/>
                  </a:lnTo>
                  <a:lnTo>
                    <a:pt x="1165" y="1"/>
                  </a:lnTo>
                  <a:lnTo>
                    <a:pt x="788" y="0"/>
                  </a:lnTo>
                  <a:lnTo>
                    <a:pt x="329" y="0"/>
                  </a:lnTo>
                  <a:lnTo>
                    <a:pt x="71" y="8"/>
                  </a:lnTo>
                  <a:lnTo>
                    <a:pt x="30" y="18"/>
                  </a:lnTo>
                  <a:lnTo>
                    <a:pt x="19" y="26"/>
                  </a:lnTo>
                  <a:lnTo>
                    <a:pt x="16"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latin typeface="Tajawal" panose="00000500000000000000" pitchFamily="2" charset="-78"/>
                <a:cs typeface="Tajawal" panose="00000500000000000000" pitchFamily="2" charset="-78"/>
              </a:endParaRPr>
            </a:p>
          </p:txBody>
        </p:sp>
      </p:grpSp>
    </p:spTree>
    <p:extLst>
      <p:ext uri="{BB962C8B-B14F-4D97-AF65-F5344CB8AC3E}">
        <p14:creationId xmlns:p14="http://schemas.microsoft.com/office/powerpoint/2010/main" val="2795669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3</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الإصدارات والمراجعات</a:t>
            </a:r>
            <a:endParaRPr lang="en-US" dirty="0"/>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691467431"/>
              </p:ext>
            </p:extLst>
          </p:nvPr>
        </p:nvGraphicFramePr>
        <p:xfrm>
          <a:off x="692888" y="1141731"/>
          <a:ext cx="10806224" cy="4675981"/>
        </p:xfrm>
        <a:graphic>
          <a:graphicData uri="http://schemas.openxmlformats.org/drawingml/2006/table">
            <a:tbl>
              <a:tblPr rtl="1" firstRow="1" bandRow="1">
                <a:tableStyleId>{2D5ABB26-0587-4C30-8999-92F81FD0307C}</a:tableStyleId>
              </a:tblPr>
              <a:tblGrid>
                <a:gridCol w="1268669">
                  <a:extLst>
                    <a:ext uri="{9D8B030D-6E8A-4147-A177-3AD203B41FA5}">
                      <a16:colId xmlns:a16="http://schemas.microsoft.com/office/drawing/2014/main" val="3246697180"/>
                    </a:ext>
                  </a:extLst>
                </a:gridCol>
                <a:gridCol w="1215147">
                  <a:extLst>
                    <a:ext uri="{9D8B030D-6E8A-4147-A177-3AD203B41FA5}">
                      <a16:colId xmlns:a16="http://schemas.microsoft.com/office/drawing/2014/main" val="1695347223"/>
                    </a:ext>
                  </a:extLst>
                </a:gridCol>
                <a:gridCol w="2547654">
                  <a:extLst>
                    <a:ext uri="{9D8B030D-6E8A-4147-A177-3AD203B41FA5}">
                      <a16:colId xmlns:a16="http://schemas.microsoft.com/office/drawing/2014/main" val="2017486071"/>
                    </a:ext>
                  </a:extLst>
                </a:gridCol>
                <a:gridCol w="2892715">
                  <a:extLst>
                    <a:ext uri="{9D8B030D-6E8A-4147-A177-3AD203B41FA5}">
                      <a16:colId xmlns:a16="http://schemas.microsoft.com/office/drawing/2014/main" val="2702421411"/>
                    </a:ext>
                  </a:extLst>
                </a:gridCol>
                <a:gridCol w="2882039">
                  <a:extLst>
                    <a:ext uri="{9D8B030D-6E8A-4147-A177-3AD203B41FA5}">
                      <a16:colId xmlns:a16="http://schemas.microsoft.com/office/drawing/2014/main" val="3621974949"/>
                    </a:ext>
                  </a:extLst>
                </a:gridCol>
              </a:tblGrid>
              <a:tr h="446312">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إصدار الوثيقة</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A"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إعداد</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الوصف</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597340">
                <a:tc>
                  <a:txBody>
                    <a:bodyPr/>
                    <a:lstStyle/>
                    <a:p>
                      <a:pPr algn="ctr" rtl="1">
                        <a:lnSpc>
                          <a:spcPct val="115000"/>
                        </a:lnSpc>
                        <a:spcAft>
                          <a:spcPts val="0"/>
                        </a:spcAft>
                      </a:pPr>
                      <a:r>
                        <a:rPr lang="ar-SA" sz="1800" dirty="0">
                          <a:solidFill>
                            <a:schemeClr val="tx1"/>
                          </a:solidFill>
                          <a:effectLst/>
                          <a:latin typeface="Sakkal Majalla" panose="02000000000000000000" pitchFamily="2" charset="-78"/>
                          <a:cs typeface="Sakkal Majalla" panose="02000000000000000000" pitchFamily="2" charset="-78"/>
                        </a:rPr>
                        <a:t>1.0</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29-Oct-2024</a:t>
                      </a: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م. أحمد شوقي</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Y" sz="1800" kern="1200" dirty="0">
                          <a:solidFill>
                            <a:schemeClr val="tx1"/>
                          </a:solidFill>
                          <a:effectLst/>
                          <a:latin typeface="Sakkal Majalla" panose="02000000000000000000" pitchFamily="2" charset="-78"/>
                          <a:ea typeface="+mn-ea"/>
                          <a:cs typeface="Sakkal Majalla" panose="02000000000000000000" pitchFamily="2" charset="-78"/>
                        </a:rPr>
                        <a:t>استشاري</a:t>
                      </a:r>
                      <a:r>
                        <a:rPr lang="ar-EG" sz="1800" kern="1200" dirty="0">
                          <a:solidFill>
                            <a:schemeClr val="tx1"/>
                          </a:solidFill>
                          <a:effectLst/>
                          <a:latin typeface="Sakkal Majalla" panose="02000000000000000000" pitchFamily="2" charset="-78"/>
                          <a:ea typeface="+mn-ea"/>
                          <a:cs typeface="Sakkal Majalla" panose="02000000000000000000" pitchFamily="2" charset="-78"/>
                        </a:rPr>
                        <a:t> أول</a:t>
                      </a:r>
                      <a:r>
                        <a:rPr lang="ar-SY" sz="1800" kern="1200" dirty="0">
                          <a:solidFill>
                            <a:schemeClr val="tx1"/>
                          </a:solidFill>
                          <a:effectLst/>
                          <a:latin typeface="Sakkal Majalla" panose="02000000000000000000" pitchFamily="2" charset="-78"/>
                          <a:ea typeface="+mn-ea"/>
                          <a:cs typeface="Sakkal Majalla" panose="02000000000000000000" pitchFamily="2" charset="-78"/>
                        </a:rPr>
                        <a:t> </a:t>
                      </a:r>
                      <a:r>
                        <a:rPr lang="ar-EG" sz="1800" kern="1200" dirty="0">
                          <a:solidFill>
                            <a:schemeClr val="tx1"/>
                          </a:solidFill>
                          <a:effectLst/>
                          <a:latin typeface="Sakkal Majalla" panose="02000000000000000000" pitchFamily="2" charset="-78"/>
                          <a:ea typeface="+mn-ea"/>
                          <a:cs typeface="Sakkal Majalla" panose="02000000000000000000" pitchFamily="2" charset="-78"/>
                        </a:rPr>
                        <a:t>البنية المؤسسية - ريناد المجد</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النسخة الأولي النهائية لاعتماد أول إصدار</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612033">
                <a:tc>
                  <a:txBody>
                    <a:bodyPr/>
                    <a:lstStyle/>
                    <a:p>
                      <a:pPr algn="ctr" rtl="1">
                        <a:lnSpc>
                          <a:spcPct val="115000"/>
                        </a:lnSpc>
                        <a:spcAft>
                          <a:spcPts val="0"/>
                        </a:spcAft>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1.0</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20-11-2024</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فريق البنية</a:t>
                      </a:r>
                      <a:r>
                        <a:rPr lang="ar-SA" sz="1800" kern="1200" baseline="0" dirty="0">
                          <a:solidFill>
                            <a:schemeClr val="tx1"/>
                          </a:solidFill>
                          <a:effectLst/>
                          <a:latin typeface="Sakkal Majalla" panose="02000000000000000000" pitchFamily="2" charset="-78"/>
                          <a:ea typeface="+mn-ea"/>
                          <a:cs typeface="Sakkal Majalla" panose="02000000000000000000" pitchFamily="2" charset="-78"/>
                        </a:rPr>
                        <a:t> المؤسسية في الهيئة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اعتماد الإصدار الأول</a:t>
                      </a: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597340">
                <a:tc>
                  <a:txBody>
                    <a:bodyPr/>
                    <a:lstStyle/>
                    <a:p>
                      <a:pPr algn="ctr" rtl="1">
                        <a:lnSpc>
                          <a:spcPct val="115000"/>
                        </a:lnSpc>
                        <a:spcAft>
                          <a:spcPts val="0"/>
                        </a:spcAft>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1.1</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24-Nov.-2025</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م. أسامة عبد العزيز</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Y" sz="1800" kern="1200" dirty="0">
                          <a:solidFill>
                            <a:schemeClr val="tx1"/>
                          </a:solidFill>
                          <a:effectLst/>
                          <a:latin typeface="Sakkal Majalla" panose="02000000000000000000" pitchFamily="2" charset="-78"/>
                          <a:ea typeface="+mn-ea"/>
                          <a:cs typeface="Sakkal Majalla" panose="02000000000000000000" pitchFamily="2" charset="-78"/>
                        </a:rPr>
                        <a:t>استشاري</a:t>
                      </a:r>
                      <a:r>
                        <a:rPr lang="ar-EG" sz="1800" kern="1200" dirty="0">
                          <a:solidFill>
                            <a:schemeClr val="tx1"/>
                          </a:solidFill>
                          <a:effectLst/>
                          <a:latin typeface="Sakkal Majalla" panose="02000000000000000000" pitchFamily="2" charset="-78"/>
                          <a:ea typeface="+mn-ea"/>
                          <a:cs typeface="Sakkal Majalla" panose="02000000000000000000" pitchFamily="2" charset="-78"/>
                        </a:rPr>
                        <a:t> البنية المؤسسية - ريناد المجد</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فصل مجال بنيتي تجربة المستفيد والأمن</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r h="597340">
                <a:tc>
                  <a:txBody>
                    <a:bodyPr/>
                    <a:lstStyle/>
                    <a:p>
                      <a:pPr algn="ctr" rtl="1">
                        <a:lnSpc>
                          <a:spcPct val="115000"/>
                        </a:lnSpc>
                        <a:spcAft>
                          <a:spcPts val="0"/>
                        </a:spcAft>
                      </a:pPr>
                      <a:r>
                        <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1.2</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25-Nov-2025</a:t>
                      </a: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تحديد مستوى إلزامية ونوع توثيق المكونات، إلزامية السمات</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77945649"/>
                  </a:ext>
                </a:extLst>
              </a:tr>
              <a:tr h="597340">
                <a:tc>
                  <a:txBody>
                    <a:bodyPr/>
                    <a:lstStyle/>
                    <a:p>
                      <a:pPr algn="ctr" rtl="1">
                        <a:lnSpc>
                          <a:spcPct val="115000"/>
                        </a:lnSpc>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88316617"/>
                  </a:ext>
                </a:extLst>
              </a:tr>
              <a:tr h="597340">
                <a:tc>
                  <a:txBody>
                    <a:bodyPr/>
                    <a:lstStyle/>
                    <a:p>
                      <a:pPr algn="ctr" rtl="1">
                        <a:lnSpc>
                          <a:spcPct val="115000"/>
                        </a:lnSpc>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32939493"/>
                  </a:ext>
                </a:extLst>
              </a:tr>
              <a:tr h="597340">
                <a:tc>
                  <a:txBody>
                    <a:bodyPr/>
                    <a:lstStyle/>
                    <a:p>
                      <a:pPr algn="ctr" rtl="1">
                        <a:lnSpc>
                          <a:spcPct val="115000"/>
                        </a:lnSpc>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588482663"/>
                  </a:ext>
                </a:extLst>
              </a:tr>
            </a:tbl>
          </a:graphicData>
        </a:graphic>
      </p:graphicFrame>
    </p:spTree>
    <p:extLst>
      <p:ext uri="{BB962C8B-B14F-4D97-AF65-F5344CB8AC3E}">
        <p14:creationId xmlns:p14="http://schemas.microsoft.com/office/powerpoint/2010/main" val="2854880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4</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جدول الاعتمادات</a:t>
            </a:r>
          </a:p>
        </p:txBody>
      </p:sp>
      <p:sp>
        <p:nvSpPr>
          <p:cNvPr id="3" name="Rounded Rectangle 5">
            <a:extLst>
              <a:ext uri="{FF2B5EF4-FFF2-40B4-BE49-F238E27FC236}">
                <a16:creationId xmlns:a16="http://schemas.microsoft.com/office/drawing/2014/main" id="{BFB3E79F-B49A-BCAF-E7F0-102BCE093C22}"/>
              </a:ext>
            </a:extLst>
          </p:cNvPr>
          <p:cNvSpPr/>
          <p:nvPr/>
        </p:nvSpPr>
        <p:spPr>
          <a:xfrm>
            <a:off x="609600" y="1047592"/>
            <a:ext cx="10972800" cy="4887557"/>
          </a:xfrm>
          <a:prstGeom prst="roundRect">
            <a:avLst>
              <a:gd name="adj" fmla="val 4550"/>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akkal Majalla" panose="02000000000000000000" pitchFamily="2" charset="-78"/>
              <a:cs typeface="Sakkal Majalla" panose="02000000000000000000" pitchFamily="2" charset="-78"/>
            </a:endParaRPr>
          </a:p>
        </p:txBody>
      </p:sp>
      <p:graphicFrame>
        <p:nvGraphicFramePr>
          <p:cNvPr id="4" name="Table 3">
            <a:extLst>
              <a:ext uri="{FF2B5EF4-FFF2-40B4-BE49-F238E27FC236}">
                <a16:creationId xmlns:a16="http://schemas.microsoft.com/office/drawing/2014/main" id="{6FA04D80-D8DF-52E7-5CB9-2E1E837D6047}"/>
              </a:ext>
            </a:extLst>
          </p:cNvPr>
          <p:cNvGraphicFramePr>
            <a:graphicFrameLocks noGrp="1"/>
          </p:cNvGraphicFramePr>
          <p:nvPr>
            <p:extLst>
              <p:ext uri="{D42A27DB-BD31-4B8C-83A1-F6EECF244321}">
                <p14:modId xmlns:p14="http://schemas.microsoft.com/office/powerpoint/2010/main" val="1458641984"/>
              </p:ext>
            </p:extLst>
          </p:nvPr>
        </p:nvGraphicFramePr>
        <p:xfrm>
          <a:off x="609600" y="1237422"/>
          <a:ext cx="10972800" cy="4572985"/>
        </p:xfrm>
        <a:graphic>
          <a:graphicData uri="http://schemas.openxmlformats.org/drawingml/2006/table">
            <a:tbl>
              <a:tblPr rtl="1" firstRow="1" bandRow="1">
                <a:tableStyleId>{2D5ABB26-0587-4C30-8999-92F81FD0307C}</a:tableStyleId>
              </a:tblPr>
              <a:tblGrid>
                <a:gridCol w="1316817">
                  <a:extLst>
                    <a:ext uri="{9D8B030D-6E8A-4147-A177-3AD203B41FA5}">
                      <a16:colId xmlns:a16="http://schemas.microsoft.com/office/drawing/2014/main" val="3246697180"/>
                    </a:ext>
                  </a:extLst>
                </a:gridCol>
                <a:gridCol w="2540543">
                  <a:extLst>
                    <a:ext uri="{9D8B030D-6E8A-4147-A177-3AD203B41FA5}">
                      <a16:colId xmlns:a16="http://schemas.microsoft.com/office/drawing/2014/main" val="1695347223"/>
                    </a:ext>
                  </a:extLst>
                </a:gridCol>
                <a:gridCol w="2685931">
                  <a:extLst>
                    <a:ext uri="{9D8B030D-6E8A-4147-A177-3AD203B41FA5}">
                      <a16:colId xmlns:a16="http://schemas.microsoft.com/office/drawing/2014/main" val="2017486071"/>
                    </a:ext>
                  </a:extLst>
                </a:gridCol>
                <a:gridCol w="2853484">
                  <a:extLst>
                    <a:ext uri="{9D8B030D-6E8A-4147-A177-3AD203B41FA5}">
                      <a16:colId xmlns:a16="http://schemas.microsoft.com/office/drawing/2014/main" val="2702421411"/>
                    </a:ext>
                  </a:extLst>
                </a:gridCol>
                <a:gridCol w="1576025">
                  <a:extLst>
                    <a:ext uri="{9D8B030D-6E8A-4147-A177-3AD203B41FA5}">
                      <a16:colId xmlns:a16="http://schemas.microsoft.com/office/drawing/2014/main" val="3621974949"/>
                    </a:ext>
                  </a:extLst>
                </a:gridCol>
              </a:tblGrid>
              <a:tr h="911830">
                <a:tc>
                  <a:txBody>
                    <a:bodyPr/>
                    <a:lstStyle/>
                    <a:p>
                      <a:pPr algn="ctr" rtl="1">
                        <a:lnSpc>
                          <a:spcPct val="115000"/>
                        </a:lnSpc>
                        <a:spcAft>
                          <a:spcPts val="0"/>
                        </a:spcAft>
                      </a:pP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الاسم</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Y"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المسمى الوظيفي</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rPr>
                        <a:t>التوقيع</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tc>
                  <a:txBody>
                    <a:bodyPr/>
                    <a:lstStyle/>
                    <a:p>
                      <a:pPr algn="ctr" rtl="1">
                        <a:lnSpc>
                          <a:spcPct val="115000"/>
                        </a:lnSpc>
                        <a:spcAft>
                          <a:spcPts val="0"/>
                        </a:spcAft>
                      </a:pPr>
                      <a:r>
                        <a:rPr lang="ar-EG" sz="1800" dirty="0">
                          <a:solidFill>
                            <a:schemeClr val="bg1"/>
                          </a:solidFill>
                          <a:effectLst/>
                          <a:latin typeface="Sakkal Majalla" panose="02000000000000000000" pitchFamily="2" charset="-78"/>
                          <a:cs typeface="Sakkal Majalla" panose="02000000000000000000" pitchFamily="2" charset="-78"/>
                        </a:rPr>
                        <a:t>التاريخ</a:t>
                      </a:r>
                      <a:endParaRPr lang="en-US" sz="1800" dirty="0">
                        <a:solidFill>
                          <a:schemeClr val="bg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solidFill>
                      <a:schemeClr val="accent1"/>
                    </a:solidFill>
                  </a:tcPr>
                </a:tc>
                <a:extLst>
                  <a:ext uri="{0D108BD9-81ED-4DB2-BD59-A6C34878D82A}">
                    <a16:rowId xmlns:a16="http://schemas.microsoft.com/office/drawing/2014/main" val="3404469103"/>
                  </a:ext>
                </a:extLst>
              </a:tr>
              <a:tr h="1220385">
                <a:tc>
                  <a:txBody>
                    <a:bodyPr/>
                    <a:lstStyle/>
                    <a:p>
                      <a:pPr algn="ctr" rtl="1">
                        <a:lnSpc>
                          <a:spcPct val="115000"/>
                        </a:lnSpc>
                        <a:spcAft>
                          <a:spcPts val="0"/>
                        </a:spcAft>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دانا الغضبان</a:t>
                      </a: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r>
                        <a:rPr lang="ar-SA" sz="1800" kern="1200" dirty="0">
                          <a:solidFill>
                            <a:schemeClr val="tx1"/>
                          </a:solidFill>
                          <a:effectLst/>
                          <a:latin typeface="Sakkal Majalla" panose="02000000000000000000" pitchFamily="2" charset="-78"/>
                          <a:ea typeface="+mn-ea"/>
                          <a:cs typeface="Sakkal Majalla" panose="02000000000000000000" pitchFamily="2" charset="-78"/>
                        </a:rPr>
                        <a:t>مدير قسم البنية المؤسسية</a:t>
                      </a: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18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tc>
                  <a:txBody>
                    <a:bodyPr/>
                    <a:lstStyle/>
                    <a:p>
                      <a:pPr marL="635" marR="0" indent="-1905" algn="ctr" rtl="1">
                        <a:lnSpc>
                          <a:spcPct val="115000"/>
                        </a:lnSpc>
                        <a:spcBef>
                          <a:spcPts val="500"/>
                        </a:spcBef>
                        <a:spcAft>
                          <a:spcPts val="0"/>
                        </a:spcAft>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26/11/2025</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949661009"/>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dirty="0">
                          <a:solidFill>
                            <a:schemeClr val="tx1"/>
                          </a:solidFill>
                          <a:effectLst/>
                          <a:latin typeface="Sakkal Majalla" panose="02000000000000000000" pitchFamily="2" charset="-78"/>
                          <a:cs typeface="Sakkal Majalla" panose="02000000000000000000" pitchFamily="2" charset="-78"/>
                        </a:rPr>
                        <a:t>اعتمدت بواسطة</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د. يوسف </a:t>
                      </a:r>
                      <a:r>
                        <a:rPr lang="ar-SA" sz="1800" kern="1200" dirty="0" err="1">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العوهلي</a:t>
                      </a:r>
                      <a:r>
                        <a:rPr lang="ar-SA"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    </a:t>
                      </a:r>
                      <a:endParaRPr lang="en-US" sz="18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r>
                        <a:rPr kumimoji="0" lang="ar-SA"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rPr>
                        <a:t>مساعد الرئيس للبيانات والتحول الرقمي</a:t>
                      </a: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lvl="0" indent="-1905" algn="ctr" defTabSz="914400" rtl="1" eaLnBrk="1" fontAlgn="auto" latinLnBrk="0" hangingPunct="1">
                        <a:lnSpc>
                          <a:spcPct val="115000"/>
                        </a:lnSpc>
                        <a:spcBef>
                          <a:spcPts val="500"/>
                        </a:spcBef>
                        <a:spcAft>
                          <a:spcPts val="0"/>
                        </a:spcAft>
                        <a:buClrTx/>
                        <a:buSzTx/>
                        <a:buFontTx/>
                        <a:buNone/>
                        <a:tabLst/>
                        <a:defRPr/>
                      </a:pPr>
                      <a:r>
                        <a:rPr lang="ar-SA"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rPr>
                        <a:t>27/11/2025</a:t>
                      </a:r>
                      <a:endParaRPr lang="en-US" sz="18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730147388"/>
                  </a:ext>
                </a:extLst>
              </a:tr>
              <a:tr h="1220385">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0" marR="0" lvl="0" indent="0" algn="ctr" defTabSz="914400" rtl="1" eaLnBrk="1" fontAlgn="auto" latinLnBrk="0" hangingPunct="1">
                        <a:lnSpc>
                          <a:spcPct val="115000"/>
                        </a:lnSpc>
                        <a:spcBef>
                          <a:spcPts val="0"/>
                        </a:spcBef>
                        <a:spcAft>
                          <a:spcPts val="0"/>
                        </a:spcAft>
                        <a:buClrTx/>
                        <a:buSzTx/>
                        <a:buFontTx/>
                        <a:buNone/>
                        <a:tabLst/>
                        <a:defRPr/>
                      </a:pPr>
                      <a:endParaRPr lang="en-US" sz="2000" kern="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gn="ctr" rtl="1">
                        <a:lnSpc>
                          <a:spcPct val="115000"/>
                        </a:lnSpc>
                        <a:spcAft>
                          <a:spcPts val="0"/>
                        </a:spcAft>
                      </a:pPr>
                      <a:endParaRPr lang="en-US" sz="2000" kern="1200" dirty="0">
                        <a:solidFill>
                          <a:schemeClr val="tx1"/>
                        </a:solidFill>
                        <a:effectLst/>
                        <a:latin typeface="Sakkal Majalla" panose="02000000000000000000" pitchFamily="2" charset="-78"/>
                        <a:ea typeface="+mn-ea"/>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marL="635" marR="0" indent="-1905" algn="ctr" defTabSz="914400" rtl="1" eaLnBrk="1" latinLnBrk="0" hangingPunct="1">
                        <a:lnSpc>
                          <a:spcPct val="115000"/>
                        </a:lnSpc>
                        <a:spcBef>
                          <a:spcPts val="500"/>
                        </a:spcBef>
                        <a:spcAft>
                          <a:spcPts val="0"/>
                        </a:spcAft>
                      </a:pPr>
                      <a:endParaRPr lang="en-US" sz="1200" dirty="0">
                        <a:solidFill>
                          <a:schemeClr val="tx1"/>
                        </a:solidFill>
                        <a:effectLst/>
                        <a:latin typeface="Sakkal Majalla" panose="02000000000000000000" pitchFamily="2" charset="-78"/>
                        <a:ea typeface="Sakkal Majalla" panose="02000000000000000000" pitchFamily="2" charset="-78"/>
                        <a:cs typeface="Sakkal Majalla" panose="02000000000000000000" pitchFamily="2" charset="-78"/>
                      </a:endParaRPr>
                    </a:p>
                  </a:txBody>
                  <a:tcPr marL="68580" marR="68580" marT="0" marB="0" anchor="ct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048829475"/>
                  </a:ext>
                </a:extLst>
              </a:tr>
            </a:tbl>
          </a:graphicData>
        </a:graphic>
      </p:graphicFrame>
    </p:spTree>
    <p:extLst>
      <p:ext uri="{BB962C8B-B14F-4D97-AF65-F5344CB8AC3E}">
        <p14:creationId xmlns:p14="http://schemas.microsoft.com/office/powerpoint/2010/main" val="340058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itle 127">
            <a:extLst>
              <a:ext uri="{FF2B5EF4-FFF2-40B4-BE49-F238E27FC236}">
                <a16:creationId xmlns:a16="http://schemas.microsoft.com/office/drawing/2014/main" id="{1C6423EB-C4FD-85A8-22C2-F9D9A47AD52D}"/>
              </a:ext>
            </a:extLst>
          </p:cNvPr>
          <p:cNvSpPr>
            <a:spLocks noGrp="1"/>
          </p:cNvSpPr>
          <p:nvPr>
            <p:ph type="title"/>
          </p:nvPr>
        </p:nvSpPr>
        <p:spPr/>
        <p:txBody>
          <a:bodyPr/>
          <a:lstStyle/>
          <a:p>
            <a:pPr algn="ctr"/>
            <a:r>
              <a:rPr lang="ar-EG" dirty="0"/>
              <a:t>جدول المحتويات</a:t>
            </a:r>
            <a:endParaRPr lang="en-GB" dirty="0"/>
          </a:p>
        </p:txBody>
      </p:sp>
      <p:sp>
        <p:nvSpPr>
          <p:cNvPr id="111" name="Text Placeholder 11">
            <a:extLst>
              <a:ext uri="{FF2B5EF4-FFF2-40B4-BE49-F238E27FC236}">
                <a16:creationId xmlns:a16="http://schemas.microsoft.com/office/drawing/2014/main" id="{AC9FBA39-545A-2B44-3B82-F6A05AD587ED}"/>
              </a:ext>
            </a:extLst>
          </p:cNvPr>
          <p:cNvSpPr txBox="1">
            <a:spLocks/>
          </p:cNvSpPr>
          <p:nvPr/>
        </p:nvSpPr>
        <p:spPr>
          <a:xfrm>
            <a:off x="4606633" y="1182749"/>
            <a:ext cx="3141880"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2" action="ppaction://hlinksldjump"/>
              </a:rPr>
              <a:t>مقدمة حول النموذج العام لمكونات البنية المؤسسية</a:t>
            </a:r>
            <a:endParaRPr lang="ar-EG" dirty="0">
              <a:solidFill>
                <a:schemeClr val="accent1"/>
              </a:solidFill>
            </a:endParaRPr>
          </a:p>
        </p:txBody>
      </p:sp>
      <p:sp>
        <p:nvSpPr>
          <p:cNvPr id="113" name="Text Placeholder 6">
            <a:extLst>
              <a:ext uri="{FF2B5EF4-FFF2-40B4-BE49-F238E27FC236}">
                <a16:creationId xmlns:a16="http://schemas.microsoft.com/office/drawing/2014/main" id="{6B10A3DA-6096-5CBC-3C34-1BDB4D3ED90C}"/>
              </a:ext>
            </a:extLst>
          </p:cNvPr>
          <p:cNvSpPr txBox="1">
            <a:spLocks/>
          </p:cNvSpPr>
          <p:nvPr/>
        </p:nvSpPr>
        <p:spPr>
          <a:xfrm>
            <a:off x="7879396" y="1155040"/>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800" dirty="0"/>
              <a:t>1</a:t>
            </a:r>
            <a:endParaRPr lang="en-US" sz="1800" dirty="0"/>
          </a:p>
        </p:txBody>
      </p:sp>
      <p:sp>
        <p:nvSpPr>
          <p:cNvPr id="120" name="Text Placeholder 11">
            <a:extLst>
              <a:ext uri="{FF2B5EF4-FFF2-40B4-BE49-F238E27FC236}">
                <a16:creationId xmlns:a16="http://schemas.microsoft.com/office/drawing/2014/main" id="{7486E810-41A9-8353-E944-7E95541923EF}"/>
              </a:ext>
            </a:extLst>
          </p:cNvPr>
          <p:cNvSpPr txBox="1">
            <a:spLocks/>
          </p:cNvSpPr>
          <p:nvPr/>
        </p:nvSpPr>
        <p:spPr>
          <a:xfrm>
            <a:off x="137025" y="1182749"/>
            <a:ext cx="3662581"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3" action="ppaction://hlinksldjump"/>
              </a:rPr>
              <a:t>نظرة عامة عن النموذج العام لمكونات البنية المؤسسية</a:t>
            </a:r>
            <a:endParaRPr lang="ar-EG" dirty="0">
              <a:solidFill>
                <a:schemeClr val="accent1"/>
              </a:solidFill>
            </a:endParaRPr>
          </a:p>
        </p:txBody>
      </p:sp>
      <p:sp>
        <p:nvSpPr>
          <p:cNvPr id="122" name="Text Placeholder 6">
            <a:extLst>
              <a:ext uri="{FF2B5EF4-FFF2-40B4-BE49-F238E27FC236}">
                <a16:creationId xmlns:a16="http://schemas.microsoft.com/office/drawing/2014/main" id="{98A2FD5D-5EBB-BA9D-4871-8F2CBDB452E1}"/>
              </a:ext>
            </a:extLst>
          </p:cNvPr>
          <p:cNvSpPr txBox="1">
            <a:spLocks/>
          </p:cNvSpPr>
          <p:nvPr/>
        </p:nvSpPr>
        <p:spPr>
          <a:xfrm>
            <a:off x="3930489" y="1155040"/>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800" dirty="0"/>
              <a:t>2</a:t>
            </a:r>
            <a:endParaRPr lang="en-US" sz="1800" dirty="0"/>
          </a:p>
        </p:txBody>
      </p:sp>
      <p:sp>
        <p:nvSpPr>
          <p:cNvPr id="6" name="Text Placeholder 11">
            <a:extLst>
              <a:ext uri="{FF2B5EF4-FFF2-40B4-BE49-F238E27FC236}">
                <a16:creationId xmlns:a16="http://schemas.microsoft.com/office/drawing/2014/main" id="{E672BFDF-BC2C-4D81-F49E-815258EE34C5}"/>
              </a:ext>
            </a:extLst>
          </p:cNvPr>
          <p:cNvSpPr txBox="1">
            <a:spLocks/>
          </p:cNvSpPr>
          <p:nvPr/>
        </p:nvSpPr>
        <p:spPr>
          <a:xfrm>
            <a:off x="4468925" y="2388198"/>
            <a:ext cx="3279588" cy="228600"/>
          </a:xfrm>
          <a:prstGeom prst="rect">
            <a:avLst/>
          </a:prstGeom>
        </p:spPr>
        <p:txBody>
          <a:bodyPr lIns="0" tIns="0" rIns="0" bIns="0">
            <a:noAutofit/>
          </a:bodyPr>
          <a:lstStyle>
            <a:lvl1pPr marL="0" indent="0" algn="r" defTabSz="914400" rtl="1" eaLnBrk="1" latinLnBrk="0" hangingPunct="1">
              <a:lnSpc>
                <a:spcPct val="100000"/>
              </a:lnSpc>
              <a:spcBef>
                <a:spcPts val="1200"/>
              </a:spcBef>
              <a:spcAft>
                <a:spcPts val="1200"/>
              </a:spcAft>
              <a:buSzPct val="80000"/>
              <a:buFont typeface="Arial" panose="020B0604020202020204" pitchFamily="34" charset="0"/>
              <a:buNone/>
              <a:defRPr sz="1800" b="1" kern="1200">
                <a:solidFill>
                  <a:schemeClr val="accent2">
                    <a:lumMod val="75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dirty="0">
                <a:solidFill>
                  <a:schemeClr val="accent1"/>
                </a:solidFill>
                <a:hlinkClick r:id="rId4" action="ppaction://hlinksldjump"/>
              </a:rPr>
              <a:t>تفاصيل النموذج العام لمكونات البنية</a:t>
            </a:r>
            <a:r>
              <a:rPr lang="ar-SA" dirty="0">
                <a:solidFill>
                  <a:schemeClr val="accent1"/>
                </a:solidFill>
                <a:hlinkClick r:id="rId4" action="ppaction://hlinksldjump"/>
              </a:rPr>
              <a:t> </a:t>
            </a:r>
            <a:r>
              <a:rPr lang="ar-EG" dirty="0">
                <a:solidFill>
                  <a:schemeClr val="accent1"/>
                </a:solidFill>
                <a:hlinkClick r:id="rId4" action="ppaction://hlinksldjump"/>
              </a:rPr>
              <a:t>المؤسسية</a:t>
            </a:r>
            <a:endParaRPr lang="ar-EG" dirty="0">
              <a:solidFill>
                <a:schemeClr val="accent1"/>
              </a:solidFill>
            </a:endParaRPr>
          </a:p>
        </p:txBody>
      </p:sp>
      <p:sp>
        <p:nvSpPr>
          <p:cNvPr id="7" name="Text Placeholder 11">
            <a:extLst>
              <a:ext uri="{FF2B5EF4-FFF2-40B4-BE49-F238E27FC236}">
                <a16:creationId xmlns:a16="http://schemas.microsoft.com/office/drawing/2014/main" id="{E2390403-19EA-BD49-4C31-702C4DE2F7EF}"/>
              </a:ext>
            </a:extLst>
          </p:cNvPr>
          <p:cNvSpPr txBox="1">
            <a:spLocks/>
          </p:cNvSpPr>
          <p:nvPr/>
        </p:nvSpPr>
        <p:spPr>
          <a:xfrm>
            <a:off x="643301" y="1513265"/>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5" action="ppaction://hlinksldjump"/>
              </a:rPr>
              <a:t>المشهد العام للنموذج العام</a:t>
            </a:r>
            <a:endParaRPr lang="ar-EG" sz="1400" dirty="0">
              <a:solidFill>
                <a:schemeClr val="accent2"/>
              </a:solidFill>
            </a:endParaRPr>
          </a:p>
        </p:txBody>
      </p:sp>
      <p:sp>
        <p:nvSpPr>
          <p:cNvPr id="8" name="Text Placeholder 6">
            <a:extLst>
              <a:ext uri="{FF2B5EF4-FFF2-40B4-BE49-F238E27FC236}">
                <a16:creationId xmlns:a16="http://schemas.microsoft.com/office/drawing/2014/main" id="{1F70DEF4-D70A-96B4-B917-E2AADE86E876}"/>
              </a:ext>
            </a:extLst>
          </p:cNvPr>
          <p:cNvSpPr txBox="1">
            <a:spLocks/>
          </p:cNvSpPr>
          <p:nvPr/>
        </p:nvSpPr>
        <p:spPr>
          <a:xfrm>
            <a:off x="7879396" y="2360489"/>
            <a:ext cx="280653" cy="280653"/>
          </a:xfrm>
          <a:prstGeom prst="rect">
            <a:avLst/>
          </a:prstGeom>
          <a:solidFill>
            <a:schemeClr val="accent1"/>
          </a:solidFill>
          <a:ln w="15875">
            <a:noFill/>
          </a:ln>
        </p:spPr>
        <p:txBody>
          <a:bodyPr wrap="square" lIns="0" tIns="64008" rIns="0" bIns="0" anchor="ctr" anchorCtr="0">
            <a:noAutofit/>
          </a:bodyPr>
          <a:lstStyle>
            <a:lvl1pPr marL="0" indent="0" algn="ctr" defTabSz="914400" rtl="1" eaLnBrk="1" latinLnBrk="0" hangingPunct="1">
              <a:lnSpc>
                <a:spcPct val="100000"/>
              </a:lnSpc>
              <a:spcBef>
                <a:spcPts val="0"/>
              </a:spcBef>
              <a:spcAft>
                <a:spcPts val="1200"/>
              </a:spcAft>
              <a:buSzPct val="80000"/>
              <a:buFont typeface="Arial" panose="020B0604020202020204" pitchFamily="34" charset="0"/>
              <a:buNone/>
              <a:defRPr sz="2000" b="1" kern="0" baseline="0">
                <a:solidFill>
                  <a:schemeClr val="bg1"/>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3</a:t>
            </a:r>
          </a:p>
        </p:txBody>
      </p:sp>
      <p:sp>
        <p:nvSpPr>
          <p:cNvPr id="9" name="Text Placeholder 11">
            <a:extLst>
              <a:ext uri="{FF2B5EF4-FFF2-40B4-BE49-F238E27FC236}">
                <a16:creationId xmlns:a16="http://schemas.microsoft.com/office/drawing/2014/main" id="{4D8EAE61-4A8F-0F25-ED99-EBA06D7216F8}"/>
              </a:ext>
            </a:extLst>
          </p:cNvPr>
          <p:cNvSpPr txBox="1">
            <a:spLocks/>
          </p:cNvSpPr>
          <p:nvPr/>
        </p:nvSpPr>
        <p:spPr>
          <a:xfrm>
            <a:off x="643301" y="1766490"/>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4" action="ppaction://hlinksldjump"/>
              </a:rPr>
              <a:t>علاقات وحدات البناء في المجالات المختلفة</a:t>
            </a:r>
            <a:endParaRPr lang="ar-EG" sz="1400" dirty="0">
              <a:solidFill>
                <a:schemeClr val="accent2"/>
              </a:solidFill>
            </a:endParaRPr>
          </a:p>
        </p:txBody>
      </p:sp>
      <p:sp>
        <p:nvSpPr>
          <p:cNvPr id="15" name="Text Placeholder 11">
            <a:extLst>
              <a:ext uri="{FF2B5EF4-FFF2-40B4-BE49-F238E27FC236}">
                <a16:creationId xmlns:a16="http://schemas.microsoft.com/office/drawing/2014/main" id="{6931566B-CB78-4422-876A-D892C9B9E2E6}"/>
              </a:ext>
            </a:extLst>
          </p:cNvPr>
          <p:cNvSpPr txBox="1">
            <a:spLocks/>
          </p:cNvSpPr>
          <p:nvPr/>
        </p:nvSpPr>
        <p:spPr>
          <a:xfrm>
            <a:off x="4592208" y="2741703"/>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6" action="ppaction://hlinksldjump"/>
              </a:rPr>
              <a:t>3.1 وحدات بناء "عامة / مشتركة"</a:t>
            </a:r>
            <a:endParaRPr lang="ar-EG" sz="1400" dirty="0">
              <a:solidFill>
                <a:schemeClr val="accent2"/>
              </a:solidFill>
            </a:endParaRPr>
          </a:p>
        </p:txBody>
      </p:sp>
      <p:sp>
        <p:nvSpPr>
          <p:cNvPr id="16" name="Text Placeholder 11">
            <a:extLst>
              <a:ext uri="{FF2B5EF4-FFF2-40B4-BE49-F238E27FC236}">
                <a16:creationId xmlns:a16="http://schemas.microsoft.com/office/drawing/2014/main" id="{B40B65AE-A9A6-421E-B717-EA491A68820C}"/>
              </a:ext>
            </a:extLst>
          </p:cNvPr>
          <p:cNvSpPr txBox="1">
            <a:spLocks/>
          </p:cNvSpPr>
          <p:nvPr/>
        </p:nvSpPr>
        <p:spPr>
          <a:xfrm>
            <a:off x="4592208" y="2994928"/>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7" action="ppaction://hlinksldjump"/>
              </a:rPr>
              <a:t>3.2 وحدات البناء لمجال بنية الأعمال</a:t>
            </a:r>
            <a:endParaRPr lang="ar-EG" sz="1400" dirty="0">
              <a:solidFill>
                <a:schemeClr val="accent2"/>
              </a:solidFill>
            </a:endParaRPr>
          </a:p>
        </p:txBody>
      </p:sp>
      <p:sp>
        <p:nvSpPr>
          <p:cNvPr id="17" name="Text Placeholder 11">
            <a:extLst>
              <a:ext uri="{FF2B5EF4-FFF2-40B4-BE49-F238E27FC236}">
                <a16:creationId xmlns:a16="http://schemas.microsoft.com/office/drawing/2014/main" id="{22BCE263-1BC9-48D4-A3F2-B23AE64B1077}"/>
              </a:ext>
            </a:extLst>
          </p:cNvPr>
          <p:cNvSpPr txBox="1">
            <a:spLocks/>
          </p:cNvSpPr>
          <p:nvPr/>
        </p:nvSpPr>
        <p:spPr>
          <a:xfrm>
            <a:off x="4592208" y="3432728"/>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8" action="ppaction://hlinksldjump"/>
              </a:rPr>
              <a:t>3.</a:t>
            </a:r>
            <a:r>
              <a:rPr lang="ar-SA" sz="1400" dirty="0">
                <a:solidFill>
                  <a:schemeClr val="accent2"/>
                </a:solidFill>
                <a:hlinkClick r:id="rId8" action="ppaction://hlinksldjump"/>
              </a:rPr>
              <a:t>4</a:t>
            </a:r>
            <a:r>
              <a:rPr lang="ar-EG" sz="1400" dirty="0">
                <a:solidFill>
                  <a:schemeClr val="accent2"/>
                </a:solidFill>
                <a:hlinkClick r:id="rId8" action="ppaction://hlinksldjump"/>
              </a:rPr>
              <a:t> وحدات البناء لمجال بنية البيانات</a:t>
            </a:r>
            <a:endParaRPr lang="ar-EG" sz="1400" dirty="0">
              <a:solidFill>
                <a:schemeClr val="accent2"/>
              </a:solidFill>
            </a:endParaRPr>
          </a:p>
        </p:txBody>
      </p:sp>
      <p:sp>
        <p:nvSpPr>
          <p:cNvPr id="18" name="Text Placeholder 11">
            <a:extLst>
              <a:ext uri="{FF2B5EF4-FFF2-40B4-BE49-F238E27FC236}">
                <a16:creationId xmlns:a16="http://schemas.microsoft.com/office/drawing/2014/main" id="{256B5DBE-B7DE-40A9-901D-7D2844BCF0C7}"/>
              </a:ext>
            </a:extLst>
          </p:cNvPr>
          <p:cNvSpPr txBox="1">
            <a:spLocks/>
          </p:cNvSpPr>
          <p:nvPr/>
        </p:nvSpPr>
        <p:spPr>
          <a:xfrm>
            <a:off x="4592208" y="3677075"/>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9" action="ppaction://hlinksldjump"/>
              </a:rPr>
              <a:t>3.</a:t>
            </a:r>
            <a:r>
              <a:rPr lang="ar-SA" sz="1400" dirty="0">
                <a:solidFill>
                  <a:schemeClr val="accent2"/>
                </a:solidFill>
                <a:hlinkClick r:id="rId9" action="ppaction://hlinksldjump"/>
              </a:rPr>
              <a:t>5</a:t>
            </a:r>
            <a:r>
              <a:rPr lang="ar-EG" sz="1400" dirty="0">
                <a:solidFill>
                  <a:schemeClr val="accent2"/>
                </a:solidFill>
                <a:hlinkClick r:id="rId9" action="ppaction://hlinksldjump"/>
              </a:rPr>
              <a:t> وحدات البناء لمجال بنية التطبيقات</a:t>
            </a:r>
            <a:endParaRPr lang="ar-EG" sz="1400" dirty="0">
              <a:solidFill>
                <a:schemeClr val="accent2"/>
              </a:solidFill>
            </a:endParaRPr>
          </a:p>
        </p:txBody>
      </p:sp>
      <p:sp>
        <p:nvSpPr>
          <p:cNvPr id="19" name="Text Placeholder 11">
            <a:extLst>
              <a:ext uri="{FF2B5EF4-FFF2-40B4-BE49-F238E27FC236}">
                <a16:creationId xmlns:a16="http://schemas.microsoft.com/office/drawing/2014/main" id="{4962CE53-18E6-4EF5-96DD-551E15BE2D90}"/>
              </a:ext>
            </a:extLst>
          </p:cNvPr>
          <p:cNvSpPr txBox="1">
            <a:spLocks/>
          </p:cNvSpPr>
          <p:nvPr/>
        </p:nvSpPr>
        <p:spPr>
          <a:xfrm>
            <a:off x="4592207" y="3928218"/>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10" action="ppaction://hlinksldjump"/>
              </a:rPr>
              <a:t>3.</a:t>
            </a:r>
            <a:r>
              <a:rPr lang="ar-SA" sz="1400" dirty="0">
                <a:solidFill>
                  <a:schemeClr val="accent2"/>
                </a:solidFill>
                <a:hlinkClick r:id="rId10" action="ppaction://hlinksldjump"/>
              </a:rPr>
              <a:t>6</a:t>
            </a:r>
            <a:r>
              <a:rPr lang="ar-EG" sz="1400" dirty="0">
                <a:solidFill>
                  <a:schemeClr val="accent2"/>
                </a:solidFill>
                <a:hlinkClick r:id="rId10" action="ppaction://hlinksldjump"/>
              </a:rPr>
              <a:t> وحدات البناء لمجال بنية التقنية</a:t>
            </a:r>
            <a:endParaRPr lang="ar-EG" sz="1400" dirty="0">
              <a:solidFill>
                <a:schemeClr val="accent2"/>
              </a:solidFill>
            </a:endParaRPr>
          </a:p>
        </p:txBody>
      </p:sp>
      <p:sp>
        <p:nvSpPr>
          <p:cNvPr id="20" name="Text Placeholder 11">
            <a:extLst>
              <a:ext uri="{FF2B5EF4-FFF2-40B4-BE49-F238E27FC236}">
                <a16:creationId xmlns:a16="http://schemas.microsoft.com/office/drawing/2014/main" id="{5D6AA3BD-4E9A-44D8-A992-17A98738B7FF}"/>
              </a:ext>
            </a:extLst>
          </p:cNvPr>
          <p:cNvSpPr txBox="1">
            <a:spLocks/>
          </p:cNvSpPr>
          <p:nvPr/>
        </p:nvSpPr>
        <p:spPr>
          <a:xfrm>
            <a:off x="4575931" y="4169398"/>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11" action="ppaction://hlinksldjump"/>
              </a:rPr>
              <a:t>3.</a:t>
            </a:r>
            <a:r>
              <a:rPr lang="ar-SA" sz="1400" dirty="0">
                <a:solidFill>
                  <a:schemeClr val="accent2"/>
                </a:solidFill>
                <a:hlinkClick r:id="rId11" action="ppaction://hlinksldjump"/>
              </a:rPr>
              <a:t>7</a:t>
            </a:r>
            <a:r>
              <a:rPr lang="ar-EG" sz="1400" dirty="0">
                <a:solidFill>
                  <a:schemeClr val="accent2"/>
                </a:solidFill>
                <a:hlinkClick r:id="rId11" action="ppaction://hlinksldjump"/>
              </a:rPr>
              <a:t> وحدات البناء لمجال ب</a:t>
            </a:r>
            <a:r>
              <a:rPr lang="ar-SA" sz="1400" dirty="0">
                <a:solidFill>
                  <a:schemeClr val="accent2"/>
                </a:solidFill>
                <a:hlinkClick r:id="rId11" action="ppaction://hlinksldjump"/>
              </a:rPr>
              <a:t>نية الأمن</a:t>
            </a:r>
            <a:endParaRPr lang="ar-EG" sz="1400" dirty="0">
              <a:solidFill>
                <a:schemeClr val="accent2"/>
              </a:solidFill>
            </a:endParaRPr>
          </a:p>
        </p:txBody>
      </p:sp>
      <p:sp>
        <p:nvSpPr>
          <p:cNvPr id="21" name="Text Placeholder 11">
            <a:extLst>
              <a:ext uri="{FF2B5EF4-FFF2-40B4-BE49-F238E27FC236}">
                <a16:creationId xmlns:a16="http://schemas.microsoft.com/office/drawing/2014/main" id="{44F85D01-2F19-4002-B540-14F36D2DEED0}"/>
              </a:ext>
            </a:extLst>
          </p:cNvPr>
          <p:cNvSpPr txBox="1">
            <a:spLocks/>
          </p:cNvSpPr>
          <p:nvPr/>
        </p:nvSpPr>
        <p:spPr>
          <a:xfrm>
            <a:off x="4602563" y="3200596"/>
            <a:ext cx="3156305" cy="199285"/>
          </a:xfrm>
          <a:prstGeom prst="rect">
            <a:avLst/>
          </a:prstGeom>
        </p:spPr>
        <p:txBody>
          <a:bodyPr lIns="0" tIns="0" rIns="0" bIns="0">
            <a:spAutoFit/>
          </a:bodyPr>
          <a:lstStyle>
            <a:lvl1pPr marL="0" marR="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sz="1600" b="0" kern="1200" baseline="0">
                <a:solidFill>
                  <a:schemeClr val="tx1">
                    <a:lumMod val="50000"/>
                    <a:lumOff val="50000"/>
                  </a:schemeClr>
                </a:solidFill>
                <a:latin typeface="+mn-lt"/>
                <a:ea typeface="+mn-ea"/>
                <a:cs typeface="+mn-cs"/>
              </a:defRPr>
            </a:lvl1pPr>
            <a:lvl2pPr marL="288925" indent="0" algn="r" defTabSz="914400" rtl="1" eaLnBrk="1" latinLnBrk="0" hangingPunct="1">
              <a:lnSpc>
                <a:spcPct val="100000"/>
              </a:lnSpc>
              <a:spcBef>
                <a:spcPts val="600"/>
              </a:spcBef>
              <a:spcAft>
                <a:spcPts val="600"/>
              </a:spcAft>
              <a:buSzPct val="80000"/>
              <a:buFont typeface="Arial" panose="020B0604020202020204" pitchFamily="34" charset="0"/>
              <a:buNone/>
              <a:defRPr sz="1800" kern="1200">
                <a:solidFill>
                  <a:schemeClr val="tx1">
                    <a:lumMod val="85000"/>
                    <a:lumOff val="15000"/>
                  </a:schemeClr>
                </a:solidFill>
                <a:latin typeface="+mn-lt"/>
                <a:ea typeface="+mn-ea"/>
                <a:cs typeface="+mn-cs"/>
              </a:defRPr>
            </a:lvl2pPr>
            <a:lvl3pPr marL="571500" indent="0" algn="r" defTabSz="914400" rtl="1" eaLnBrk="1" latinLnBrk="0" hangingPunct="1">
              <a:lnSpc>
                <a:spcPct val="100000"/>
              </a:lnSpc>
              <a:spcBef>
                <a:spcPts val="600"/>
              </a:spcBef>
              <a:spcAft>
                <a:spcPts val="600"/>
              </a:spcAft>
              <a:buSzPct val="80000"/>
              <a:buFont typeface="Wingdings" panose="05000000000000000000" pitchFamily="2" charset="2"/>
              <a:buNone/>
              <a:defRPr sz="1600" kern="1200">
                <a:solidFill>
                  <a:schemeClr val="tx1">
                    <a:lumMod val="85000"/>
                    <a:lumOff val="15000"/>
                  </a:schemeClr>
                </a:solidFill>
                <a:latin typeface="+mn-lt"/>
                <a:ea typeface="+mn-ea"/>
                <a:cs typeface="+mn-cs"/>
              </a:defRPr>
            </a:lvl3pPr>
            <a:lvl4pPr marL="857250" indent="0" algn="r" defTabSz="914400" rtl="1" eaLnBrk="1" latinLnBrk="0" hangingPunct="1">
              <a:lnSpc>
                <a:spcPct val="90000"/>
              </a:lnSpc>
              <a:spcBef>
                <a:spcPts val="500"/>
              </a:spcBef>
              <a:buClr>
                <a:schemeClr val="accent2">
                  <a:lumMod val="75000"/>
                </a:schemeClr>
              </a:buClr>
              <a:buSzPct val="80000"/>
              <a:buFont typeface="Wingdings" panose="05000000000000000000" pitchFamily="2" charset="2"/>
              <a:buNone/>
              <a:defRPr sz="1400" kern="1200">
                <a:solidFill>
                  <a:schemeClr val="tx1">
                    <a:lumMod val="85000"/>
                    <a:lumOff val="15000"/>
                  </a:schemeClr>
                </a:solidFill>
                <a:latin typeface="+mn-lt"/>
                <a:ea typeface="+mn-ea"/>
                <a:cs typeface="+mn-cs"/>
              </a:defRPr>
            </a:lvl4pPr>
            <a:lvl5pPr marL="1085850" indent="0" algn="r" defTabSz="914400" rtl="1" eaLnBrk="1" latinLnBrk="0" hangingPunct="1">
              <a:lnSpc>
                <a:spcPct val="90000"/>
              </a:lnSpc>
              <a:spcBef>
                <a:spcPts val="500"/>
              </a:spcBef>
              <a:buFont typeface="Arial" panose="020B0604020202020204" pitchFamily="34" charset="0"/>
              <a:buNone/>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ar-EG" sz="1400" dirty="0">
                <a:solidFill>
                  <a:schemeClr val="accent2"/>
                </a:solidFill>
                <a:hlinkClick r:id="rId12" action="ppaction://hlinksldjump"/>
              </a:rPr>
              <a:t>3.</a:t>
            </a:r>
            <a:r>
              <a:rPr lang="ar-SA" sz="1400" dirty="0">
                <a:solidFill>
                  <a:schemeClr val="accent2"/>
                </a:solidFill>
                <a:hlinkClick r:id="rId12" action="ppaction://hlinksldjump"/>
              </a:rPr>
              <a:t>3</a:t>
            </a:r>
            <a:r>
              <a:rPr lang="ar-EG" sz="1400" dirty="0">
                <a:solidFill>
                  <a:schemeClr val="accent2"/>
                </a:solidFill>
                <a:hlinkClick r:id="rId12" action="ppaction://hlinksldjump"/>
              </a:rPr>
              <a:t> وحدات البناء لمجال </a:t>
            </a:r>
            <a:r>
              <a:rPr lang="ar-SA" sz="1400" dirty="0">
                <a:solidFill>
                  <a:schemeClr val="accent2"/>
                </a:solidFill>
                <a:hlinkClick r:id="rId12" action="ppaction://hlinksldjump"/>
              </a:rPr>
              <a:t>تجربة المستفيد</a:t>
            </a:r>
            <a:endParaRPr lang="ar-EG" sz="1400" dirty="0">
              <a:solidFill>
                <a:schemeClr val="accent2"/>
              </a:solidFill>
            </a:endParaRPr>
          </a:p>
        </p:txBody>
      </p:sp>
    </p:spTree>
    <p:extLst>
      <p:ext uri="{BB962C8B-B14F-4D97-AF65-F5344CB8AC3E}">
        <p14:creationId xmlns:p14="http://schemas.microsoft.com/office/powerpoint/2010/main" val="10034671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EG" dirty="0"/>
              <a:t>مقدمة حول النموذج العام لمكونات البنية المؤسسية</a:t>
            </a:r>
            <a:endParaRPr lang="en-US" dirty="0"/>
          </a:p>
        </p:txBody>
      </p:sp>
      <p:sp>
        <p:nvSpPr>
          <p:cNvPr id="4" name="Text Placeholder 3"/>
          <p:cNvSpPr>
            <a:spLocks noGrp="1"/>
          </p:cNvSpPr>
          <p:nvPr>
            <p:ph type="body" sz="quarter" idx="14"/>
          </p:nvPr>
        </p:nvSpPr>
        <p:spPr/>
        <p:txBody>
          <a:bodyPr/>
          <a:lstStyle/>
          <a:p>
            <a:r>
              <a:rPr lang="ar-EG" dirty="0"/>
              <a:t>01</a:t>
            </a:r>
            <a:endParaRPr lang="en-US" dirty="0"/>
          </a:p>
        </p:txBody>
      </p:sp>
    </p:spTree>
    <p:extLst>
      <p:ext uri="{BB962C8B-B14F-4D97-AF65-F5344CB8AC3E}">
        <p14:creationId xmlns:p14="http://schemas.microsoft.com/office/powerpoint/2010/main" val="3281878229"/>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7</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تعريف </a:t>
            </a:r>
            <a:r>
              <a:rPr lang="ar-SA" dirty="0"/>
              <a:t>البنية المؤسسية</a:t>
            </a:r>
            <a:endParaRPr lang="en-US" dirty="0"/>
          </a:p>
        </p:txBody>
      </p:sp>
      <p:sp>
        <p:nvSpPr>
          <p:cNvPr id="3" name="Snip Diagonal Corner Rectangle 4">
            <a:extLst>
              <a:ext uri="{FF2B5EF4-FFF2-40B4-BE49-F238E27FC236}">
                <a16:creationId xmlns:a16="http://schemas.microsoft.com/office/drawing/2014/main" id="{EDC006DF-6C86-A400-657E-C7E28783571B}"/>
              </a:ext>
            </a:extLst>
          </p:cNvPr>
          <p:cNvSpPr/>
          <p:nvPr/>
        </p:nvSpPr>
        <p:spPr>
          <a:xfrm>
            <a:off x="2378677" y="1862019"/>
            <a:ext cx="7434648" cy="3117755"/>
          </a:xfrm>
          <a:prstGeom prst="snip2DiagRect">
            <a:avLst>
              <a:gd name="adj1" fmla="val 8219"/>
              <a:gd name="adj2" fmla="val 7991"/>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sp>
        <p:nvSpPr>
          <p:cNvPr id="16" name="Snip Diagonal Corner Rectangle 13">
            <a:extLst>
              <a:ext uri="{FF2B5EF4-FFF2-40B4-BE49-F238E27FC236}">
                <a16:creationId xmlns:a16="http://schemas.microsoft.com/office/drawing/2014/main" id="{80AE987F-69CD-B600-1409-1D9AE5AA3D98}"/>
              </a:ext>
            </a:extLst>
          </p:cNvPr>
          <p:cNvSpPr/>
          <p:nvPr/>
        </p:nvSpPr>
        <p:spPr>
          <a:xfrm>
            <a:off x="2825410" y="1990146"/>
            <a:ext cx="6809356" cy="2861501"/>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3410" h="2483708">
                <a:moveTo>
                  <a:pt x="0" y="0"/>
                </a:moveTo>
                <a:lnTo>
                  <a:pt x="4984937" y="0"/>
                </a:lnTo>
                <a:lnTo>
                  <a:pt x="5183410" y="198473"/>
                </a:lnTo>
                <a:lnTo>
                  <a:pt x="5183410" y="2279572"/>
                </a:lnTo>
                <a:lnTo>
                  <a:pt x="4979274" y="2483708"/>
                </a:lnTo>
              </a:path>
            </a:pathLst>
          </a:custGeom>
          <a:noFill/>
          <a:ln>
            <a:solidFill>
              <a:schemeClr val="accent2"/>
            </a:solidFill>
            <a:tail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grpSp>
        <p:nvGrpSpPr>
          <p:cNvPr id="17" name="Group 4">
            <a:extLst>
              <a:ext uri="{FF2B5EF4-FFF2-40B4-BE49-F238E27FC236}">
                <a16:creationId xmlns:a16="http://schemas.microsoft.com/office/drawing/2014/main" id="{F7B7C762-1E67-A9BB-FDA1-4B12FE395E39}"/>
              </a:ext>
            </a:extLst>
          </p:cNvPr>
          <p:cNvGrpSpPr>
            <a:grpSpLocks noChangeAspect="1"/>
          </p:cNvGrpSpPr>
          <p:nvPr/>
        </p:nvGrpSpPr>
        <p:grpSpPr bwMode="auto">
          <a:xfrm flipH="1" flipV="1">
            <a:off x="2949146" y="4724778"/>
            <a:ext cx="634365" cy="485276"/>
            <a:chOff x="-305" y="203"/>
            <a:chExt cx="533" cy="470"/>
          </a:xfrm>
          <a:gradFill>
            <a:gsLst>
              <a:gs pos="34000">
                <a:schemeClr val="accent2"/>
              </a:gs>
              <a:gs pos="80000">
                <a:schemeClr val="accent1"/>
              </a:gs>
            </a:gsLst>
            <a:lin ang="8400000" scaled="0"/>
          </a:gradFill>
        </p:grpSpPr>
        <p:sp>
          <p:nvSpPr>
            <p:cNvPr id="18" name="Freeform 6">
              <a:extLst>
                <a:ext uri="{FF2B5EF4-FFF2-40B4-BE49-F238E27FC236}">
                  <a16:creationId xmlns:a16="http://schemas.microsoft.com/office/drawing/2014/main" id="{BD3494F7-9006-6028-3787-9C644214C2E0}"/>
                </a:ext>
              </a:extLst>
            </p:cNvPr>
            <p:cNvSpPr>
              <a:spLocks/>
            </p:cNvSpPr>
            <p:nvPr/>
          </p:nvSpPr>
          <p:spPr bwMode="auto">
            <a:xfrm>
              <a:off x="-1" y="203"/>
              <a:ext cx="229" cy="470"/>
            </a:xfrm>
            <a:custGeom>
              <a:avLst/>
              <a:gdLst>
                <a:gd name="T0" fmla="*/ 1412 w 1603"/>
                <a:gd name="T1" fmla="*/ 0 h 3290"/>
                <a:gd name="T2" fmla="*/ 1479 w 1603"/>
                <a:gd name="T3" fmla="*/ 13 h 3290"/>
                <a:gd name="T4" fmla="*/ 1536 w 1603"/>
                <a:gd name="T5" fmla="*/ 45 h 3290"/>
                <a:gd name="T6" fmla="*/ 1577 w 1603"/>
                <a:gd name="T7" fmla="*/ 95 h 3290"/>
                <a:gd name="T8" fmla="*/ 1600 w 1603"/>
                <a:gd name="T9" fmla="*/ 157 h 3290"/>
                <a:gd name="T10" fmla="*/ 1603 w 1603"/>
                <a:gd name="T11" fmla="*/ 1105 h 3290"/>
                <a:gd name="T12" fmla="*/ 1599 w 1603"/>
                <a:gd name="T13" fmla="*/ 1362 h 3290"/>
                <a:gd name="T14" fmla="*/ 1584 w 1603"/>
                <a:gd name="T15" fmla="*/ 1597 h 3290"/>
                <a:gd name="T16" fmla="*/ 1560 w 1603"/>
                <a:gd name="T17" fmla="*/ 1809 h 3290"/>
                <a:gd name="T18" fmla="*/ 1528 w 1603"/>
                <a:gd name="T19" fmla="*/ 1998 h 3290"/>
                <a:gd name="T20" fmla="*/ 1485 w 1603"/>
                <a:gd name="T21" fmla="*/ 2164 h 3290"/>
                <a:gd name="T22" fmla="*/ 1413 w 1603"/>
                <a:gd name="T23" fmla="*/ 2353 h 3290"/>
                <a:gd name="T24" fmla="*/ 1317 w 1603"/>
                <a:gd name="T25" fmla="*/ 2531 h 3290"/>
                <a:gd name="T26" fmla="*/ 1195 w 1603"/>
                <a:gd name="T27" fmla="*/ 2700 h 3290"/>
                <a:gd name="T28" fmla="*/ 1047 w 1603"/>
                <a:gd name="T29" fmla="*/ 2859 h 3290"/>
                <a:gd name="T30" fmla="*/ 888 w 1603"/>
                <a:gd name="T31" fmla="*/ 2996 h 3290"/>
                <a:gd name="T32" fmla="*/ 710 w 1603"/>
                <a:gd name="T33" fmla="*/ 3118 h 3290"/>
                <a:gd name="T34" fmla="*/ 512 w 1603"/>
                <a:gd name="T35" fmla="*/ 3227 h 3290"/>
                <a:gd name="T36" fmla="*/ 373 w 1603"/>
                <a:gd name="T37" fmla="*/ 3286 h 3290"/>
                <a:gd name="T38" fmla="*/ 309 w 1603"/>
                <a:gd name="T39" fmla="*/ 3290 h 3290"/>
                <a:gd name="T40" fmla="*/ 246 w 1603"/>
                <a:gd name="T41" fmla="*/ 3272 h 3290"/>
                <a:gd name="T42" fmla="*/ 194 w 1603"/>
                <a:gd name="T43" fmla="*/ 3236 h 3290"/>
                <a:gd name="T44" fmla="*/ 156 w 1603"/>
                <a:gd name="T45" fmla="*/ 3182 h 3290"/>
                <a:gd name="T46" fmla="*/ 7 w 1603"/>
                <a:gd name="T47" fmla="*/ 2862 h 3290"/>
                <a:gd name="T48" fmla="*/ 0 w 1603"/>
                <a:gd name="T49" fmla="*/ 2801 h 3290"/>
                <a:gd name="T50" fmla="*/ 12 w 1603"/>
                <a:gd name="T51" fmla="*/ 2743 h 3290"/>
                <a:gd name="T52" fmla="*/ 40 w 1603"/>
                <a:gd name="T53" fmla="*/ 2691 h 3290"/>
                <a:gd name="T54" fmla="*/ 86 w 1603"/>
                <a:gd name="T55" fmla="*/ 2650 h 3290"/>
                <a:gd name="T56" fmla="*/ 191 w 1603"/>
                <a:gd name="T57" fmla="*/ 2598 h 3290"/>
                <a:gd name="T58" fmla="*/ 331 w 1603"/>
                <a:gd name="T59" fmla="*/ 2518 h 3290"/>
                <a:gd name="T60" fmla="*/ 451 w 1603"/>
                <a:gd name="T61" fmla="*/ 2428 h 3290"/>
                <a:gd name="T62" fmla="*/ 551 w 1603"/>
                <a:gd name="T63" fmla="*/ 2329 h 3290"/>
                <a:gd name="T64" fmla="*/ 632 w 1603"/>
                <a:gd name="T65" fmla="*/ 2219 h 3290"/>
                <a:gd name="T66" fmla="*/ 696 w 1603"/>
                <a:gd name="T67" fmla="*/ 2095 h 3290"/>
                <a:gd name="T68" fmla="*/ 746 w 1603"/>
                <a:gd name="T69" fmla="*/ 1956 h 3290"/>
                <a:gd name="T70" fmla="*/ 781 w 1603"/>
                <a:gd name="T71" fmla="*/ 1803 h 3290"/>
                <a:gd name="T72" fmla="*/ 800 w 1603"/>
                <a:gd name="T73" fmla="*/ 1634 h 3290"/>
                <a:gd name="T74" fmla="*/ 248 w 1603"/>
                <a:gd name="T75" fmla="*/ 1545 h 3290"/>
                <a:gd name="T76" fmla="*/ 181 w 1603"/>
                <a:gd name="T77" fmla="*/ 1533 h 3290"/>
                <a:gd name="T78" fmla="*/ 124 w 1603"/>
                <a:gd name="T79" fmla="*/ 1500 h 3290"/>
                <a:gd name="T80" fmla="*/ 82 w 1603"/>
                <a:gd name="T81" fmla="*/ 1450 h 3290"/>
                <a:gd name="T82" fmla="*/ 60 w 1603"/>
                <a:gd name="T83" fmla="*/ 1388 h 3290"/>
                <a:gd name="T84" fmla="*/ 56 w 1603"/>
                <a:gd name="T85" fmla="*/ 191 h 3290"/>
                <a:gd name="T86" fmla="*/ 69 w 1603"/>
                <a:gd name="T87" fmla="*/ 125 h 3290"/>
                <a:gd name="T88" fmla="*/ 101 w 1603"/>
                <a:gd name="T89" fmla="*/ 68 h 3290"/>
                <a:gd name="T90" fmla="*/ 151 w 1603"/>
                <a:gd name="T91" fmla="*/ 26 h 3290"/>
                <a:gd name="T92" fmla="*/ 214 w 1603"/>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3" h="3290">
                  <a:moveTo>
                    <a:pt x="248" y="0"/>
                  </a:moveTo>
                  <a:lnTo>
                    <a:pt x="1412" y="0"/>
                  </a:lnTo>
                  <a:lnTo>
                    <a:pt x="1446" y="4"/>
                  </a:lnTo>
                  <a:lnTo>
                    <a:pt x="1479" y="13"/>
                  </a:lnTo>
                  <a:lnTo>
                    <a:pt x="1508" y="26"/>
                  </a:lnTo>
                  <a:lnTo>
                    <a:pt x="1536" y="45"/>
                  </a:lnTo>
                  <a:lnTo>
                    <a:pt x="1558" y="68"/>
                  </a:lnTo>
                  <a:lnTo>
                    <a:pt x="1577" y="95"/>
                  </a:lnTo>
                  <a:lnTo>
                    <a:pt x="1591" y="125"/>
                  </a:lnTo>
                  <a:lnTo>
                    <a:pt x="1600" y="157"/>
                  </a:lnTo>
                  <a:lnTo>
                    <a:pt x="1603" y="191"/>
                  </a:lnTo>
                  <a:lnTo>
                    <a:pt x="1603" y="1105"/>
                  </a:lnTo>
                  <a:lnTo>
                    <a:pt x="1602" y="1236"/>
                  </a:lnTo>
                  <a:lnTo>
                    <a:pt x="1599" y="1362"/>
                  </a:lnTo>
                  <a:lnTo>
                    <a:pt x="1592" y="1483"/>
                  </a:lnTo>
                  <a:lnTo>
                    <a:pt x="1584" y="1597"/>
                  </a:lnTo>
                  <a:lnTo>
                    <a:pt x="1574" y="1706"/>
                  </a:lnTo>
                  <a:lnTo>
                    <a:pt x="1560" y="1809"/>
                  </a:lnTo>
                  <a:lnTo>
                    <a:pt x="1546" y="1906"/>
                  </a:lnTo>
                  <a:lnTo>
                    <a:pt x="1528" y="1998"/>
                  </a:lnTo>
                  <a:lnTo>
                    <a:pt x="1507" y="2084"/>
                  </a:lnTo>
                  <a:lnTo>
                    <a:pt x="1485" y="2164"/>
                  </a:lnTo>
                  <a:lnTo>
                    <a:pt x="1453" y="2259"/>
                  </a:lnTo>
                  <a:lnTo>
                    <a:pt x="1413" y="2353"/>
                  </a:lnTo>
                  <a:lnTo>
                    <a:pt x="1368" y="2443"/>
                  </a:lnTo>
                  <a:lnTo>
                    <a:pt x="1317" y="2531"/>
                  </a:lnTo>
                  <a:lnTo>
                    <a:pt x="1259" y="2617"/>
                  </a:lnTo>
                  <a:lnTo>
                    <a:pt x="1195" y="2700"/>
                  </a:lnTo>
                  <a:lnTo>
                    <a:pt x="1124" y="2781"/>
                  </a:lnTo>
                  <a:lnTo>
                    <a:pt x="1047" y="2859"/>
                  </a:lnTo>
                  <a:lnTo>
                    <a:pt x="970" y="2930"/>
                  </a:lnTo>
                  <a:lnTo>
                    <a:pt x="888" y="2996"/>
                  </a:lnTo>
                  <a:lnTo>
                    <a:pt x="801" y="3058"/>
                  </a:lnTo>
                  <a:lnTo>
                    <a:pt x="710" y="3118"/>
                  </a:lnTo>
                  <a:lnTo>
                    <a:pt x="612" y="3174"/>
                  </a:lnTo>
                  <a:lnTo>
                    <a:pt x="512" y="3227"/>
                  </a:lnTo>
                  <a:lnTo>
                    <a:pt x="405" y="3276"/>
                  </a:lnTo>
                  <a:lnTo>
                    <a:pt x="373" y="3286"/>
                  </a:lnTo>
                  <a:lnTo>
                    <a:pt x="340" y="3290"/>
                  </a:lnTo>
                  <a:lnTo>
                    <a:pt x="309" y="3290"/>
                  </a:lnTo>
                  <a:lnTo>
                    <a:pt x="277" y="3284"/>
                  </a:lnTo>
                  <a:lnTo>
                    <a:pt x="246" y="3272"/>
                  </a:lnTo>
                  <a:lnTo>
                    <a:pt x="219" y="3256"/>
                  </a:lnTo>
                  <a:lnTo>
                    <a:pt x="194" y="3236"/>
                  </a:lnTo>
                  <a:lnTo>
                    <a:pt x="173" y="3211"/>
                  </a:lnTo>
                  <a:lnTo>
                    <a:pt x="156" y="3182"/>
                  </a:lnTo>
                  <a:lnTo>
                    <a:pt x="18" y="2891"/>
                  </a:lnTo>
                  <a:lnTo>
                    <a:pt x="7" y="2862"/>
                  </a:lnTo>
                  <a:lnTo>
                    <a:pt x="1" y="2831"/>
                  </a:lnTo>
                  <a:lnTo>
                    <a:pt x="0" y="2801"/>
                  </a:lnTo>
                  <a:lnTo>
                    <a:pt x="3" y="2771"/>
                  </a:lnTo>
                  <a:lnTo>
                    <a:pt x="12" y="2743"/>
                  </a:lnTo>
                  <a:lnTo>
                    <a:pt x="24" y="2716"/>
                  </a:lnTo>
                  <a:lnTo>
                    <a:pt x="40" y="2691"/>
                  </a:lnTo>
                  <a:lnTo>
                    <a:pt x="61" y="2668"/>
                  </a:lnTo>
                  <a:lnTo>
                    <a:pt x="86" y="2650"/>
                  </a:lnTo>
                  <a:lnTo>
                    <a:pt x="113" y="2634"/>
                  </a:lnTo>
                  <a:lnTo>
                    <a:pt x="191" y="2598"/>
                  </a:lnTo>
                  <a:lnTo>
                    <a:pt x="263" y="2560"/>
                  </a:lnTo>
                  <a:lnTo>
                    <a:pt x="331" y="2518"/>
                  </a:lnTo>
                  <a:lnTo>
                    <a:pt x="394" y="2474"/>
                  </a:lnTo>
                  <a:lnTo>
                    <a:pt x="451" y="2428"/>
                  </a:lnTo>
                  <a:lnTo>
                    <a:pt x="504" y="2380"/>
                  </a:lnTo>
                  <a:lnTo>
                    <a:pt x="551" y="2329"/>
                  </a:lnTo>
                  <a:lnTo>
                    <a:pt x="593" y="2276"/>
                  </a:lnTo>
                  <a:lnTo>
                    <a:pt x="632" y="2219"/>
                  </a:lnTo>
                  <a:lnTo>
                    <a:pt x="666" y="2159"/>
                  </a:lnTo>
                  <a:lnTo>
                    <a:pt x="696" y="2095"/>
                  </a:lnTo>
                  <a:lnTo>
                    <a:pt x="723" y="2027"/>
                  </a:lnTo>
                  <a:lnTo>
                    <a:pt x="746" y="1956"/>
                  </a:lnTo>
                  <a:lnTo>
                    <a:pt x="765" y="1881"/>
                  </a:lnTo>
                  <a:lnTo>
                    <a:pt x="781" y="1803"/>
                  </a:lnTo>
                  <a:lnTo>
                    <a:pt x="794" y="1720"/>
                  </a:lnTo>
                  <a:lnTo>
                    <a:pt x="800" y="1634"/>
                  </a:lnTo>
                  <a:lnTo>
                    <a:pt x="805" y="1545"/>
                  </a:lnTo>
                  <a:lnTo>
                    <a:pt x="248" y="1545"/>
                  </a:lnTo>
                  <a:lnTo>
                    <a:pt x="214" y="1542"/>
                  </a:lnTo>
                  <a:lnTo>
                    <a:pt x="181" y="1533"/>
                  </a:lnTo>
                  <a:lnTo>
                    <a:pt x="151" y="1519"/>
                  </a:lnTo>
                  <a:lnTo>
                    <a:pt x="124" y="1500"/>
                  </a:lnTo>
                  <a:lnTo>
                    <a:pt x="101" y="1477"/>
                  </a:lnTo>
                  <a:lnTo>
                    <a:pt x="82" y="1450"/>
                  </a:lnTo>
                  <a:lnTo>
                    <a:pt x="69" y="1421"/>
                  </a:lnTo>
                  <a:lnTo>
                    <a:pt x="60" y="1388"/>
                  </a:lnTo>
                  <a:lnTo>
                    <a:pt x="56" y="1354"/>
                  </a:lnTo>
                  <a:lnTo>
                    <a:pt x="56" y="191"/>
                  </a:lnTo>
                  <a:lnTo>
                    <a:pt x="60" y="157"/>
                  </a:lnTo>
                  <a:lnTo>
                    <a:pt x="69" y="125"/>
                  </a:lnTo>
                  <a:lnTo>
                    <a:pt x="82" y="95"/>
                  </a:lnTo>
                  <a:lnTo>
                    <a:pt x="101" y="68"/>
                  </a:lnTo>
                  <a:lnTo>
                    <a:pt x="124" y="45"/>
                  </a:lnTo>
                  <a:lnTo>
                    <a:pt x="151"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ajawal" panose="00000500000000000000" pitchFamily="2" charset="-78"/>
              </a:endParaRPr>
            </a:p>
          </p:txBody>
        </p:sp>
        <p:sp>
          <p:nvSpPr>
            <p:cNvPr id="19" name="Freeform 7">
              <a:extLst>
                <a:ext uri="{FF2B5EF4-FFF2-40B4-BE49-F238E27FC236}">
                  <a16:creationId xmlns:a16="http://schemas.microsoft.com/office/drawing/2014/main" id="{2CB1DCBB-B6CD-C821-C403-443AAA8252B7}"/>
                </a:ext>
              </a:extLst>
            </p:cNvPr>
            <p:cNvSpPr>
              <a:spLocks/>
            </p:cNvSpPr>
            <p:nvPr/>
          </p:nvSpPr>
          <p:spPr bwMode="auto">
            <a:xfrm>
              <a:off x="-305" y="203"/>
              <a:ext cx="229" cy="470"/>
            </a:xfrm>
            <a:custGeom>
              <a:avLst/>
              <a:gdLst>
                <a:gd name="T0" fmla="*/ 1413 w 1604"/>
                <a:gd name="T1" fmla="*/ 0 h 3290"/>
                <a:gd name="T2" fmla="*/ 1479 w 1604"/>
                <a:gd name="T3" fmla="*/ 13 h 3290"/>
                <a:gd name="T4" fmla="*/ 1536 w 1604"/>
                <a:gd name="T5" fmla="*/ 45 h 3290"/>
                <a:gd name="T6" fmla="*/ 1578 w 1604"/>
                <a:gd name="T7" fmla="*/ 95 h 3290"/>
                <a:gd name="T8" fmla="*/ 1601 w 1604"/>
                <a:gd name="T9" fmla="*/ 157 h 3290"/>
                <a:gd name="T10" fmla="*/ 1604 w 1604"/>
                <a:gd name="T11" fmla="*/ 1105 h 3290"/>
                <a:gd name="T12" fmla="*/ 1599 w 1604"/>
                <a:gd name="T13" fmla="*/ 1364 h 3290"/>
                <a:gd name="T14" fmla="*/ 1585 w 1604"/>
                <a:gd name="T15" fmla="*/ 1599 h 3290"/>
                <a:gd name="T16" fmla="*/ 1561 w 1604"/>
                <a:gd name="T17" fmla="*/ 1812 h 3290"/>
                <a:gd name="T18" fmla="*/ 1528 w 1604"/>
                <a:gd name="T19" fmla="*/ 2001 h 3290"/>
                <a:gd name="T20" fmla="*/ 1485 w 1604"/>
                <a:gd name="T21" fmla="*/ 2166 h 3290"/>
                <a:gd name="T22" fmla="*/ 1414 w 1604"/>
                <a:gd name="T23" fmla="*/ 2354 h 3290"/>
                <a:gd name="T24" fmla="*/ 1316 w 1604"/>
                <a:gd name="T25" fmla="*/ 2531 h 3290"/>
                <a:gd name="T26" fmla="*/ 1194 w 1604"/>
                <a:gd name="T27" fmla="*/ 2700 h 3290"/>
                <a:gd name="T28" fmla="*/ 1046 w 1604"/>
                <a:gd name="T29" fmla="*/ 2859 h 3290"/>
                <a:gd name="T30" fmla="*/ 886 w 1604"/>
                <a:gd name="T31" fmla="*/ 2996 h 3290"/>
                <a:gd name="T32" fmla="*/ 707 w 1604"/>
                <a:gd name="T33" fmla="*/ 3118 h 3290"/>
                <a:gd name="T34" fmla="*/ 511 w 1604"/>
                <a:gd name="T35" fmla="*/ 3226 h 3290"/>
                <a:gd name="T36" fmla="*/ 374 w 1604"/>
                <a:gd name="T37" fmla="*/ 3285 h 3290"/>
                <a:gd name="T38" fmla="*/ 309 w 1604"/>
                <a:gd name="T39" fmla="*/ 3289 h 3290"/>
                <a:gd name="T40" fmla="*/ 247 w 1604"/>
                <a:gd name="T41" fmla="*/ 3272 h 3290"/>
                <a:gd name="T42" fmla="*/ 195 w 1604"/>
                <a:gd name="T43" fmla="*/ 3235 h 3290"/>
                <a:gd name="T44" fmla="*/ 156 w 1604"/>
                <a:gd name="T45" fmla="*/ 3181 h 3290"/>
                <a:gd name="T46" fmla="*/ 7 w 1604"/>
                <a:gd name="T47" fmla="*/ 2862 h 3290"/>
                <a:gd name="T48" fmla="*/ 0 w 1604"/>
                <a:gd name="T49" fmla="*/ 2801 h 3290"/>
                <a:gd name="T50" fmla="*/ 11 w 1604"/>
                <a:gd name="T51" fmla="*/ 2743 h 3290"/>
                <a:gd name="T52" fmla="*/ 41 w 1604"/>
                <a:gd name="T53" fmla="*/ 2691 h 3290"/>
                <a:gd name="T54" fmla="*/ 86 w 1604"/>
                <a:gd name="T55" fmla="*/ 2650 h 3290"/>
                <a:gd name="T56" fmla="*/ 191 w 1604"/>
                <a:gd name="T57" fmla="*/ 2598 h 3290"/>
                <a:gd name="T58" fmla="*/ 332 w 1604"/>
                <a:gd name="T59" fmla="*/ 2518 h 3290"/>
                <a:gd name="T60" fmla="*/ 452 w 1604"/>
                <a:gd name="T61" fmla="*/ 2428 h 3290"/>
                <a:gd name="T62" fmla="*/ 551 w 1604"/>
                <a:gd name="T63" fmla="*/ 2329 h 3290"/>
                <a:gd name="T64" fmla="*/ 632 w 1604"/>
                <a:gd name="T65" fmla="*/ 2219 h 3290"/>
                <a:gd name="T66" fmla="*/ 697 w 1604"/>
                <a:gd name="T67" fmla="*/ 2095 h 3290"/>
                <a:gd name="T68" fmla="*/ 746 w 1604"/>
                <a:gd name="T69" fmla="*/ 1956 h 3290"/>
                <a:gd name="T70" fmla="*/ 782 w 1604"/>
                <a:gd name="T71" fmla="*/ 1803 h 3290"/>
                <a:gd name="T72" fmla="*/ 801 w 1604"/>
                <a:gd name="T73" fmla="*/ 1634 h 3290"/>
                <a:gd name="T74" fmla="*/ 248 w 1604"/>
                <a:gd name="T75" fmla="*/ 1545 h 3290"/>
                <a:gd name="T76" fmla="*/ 181 w 1604"/>
                <a:gd name="T77" fmla="*/ 1533 h 3290"/>
                <a:gd name="T78" fmla="*/ 125 w 1604"/>
                <a:gd name="T79" fmla="*/ 1500 h 3290"/>
                <a:gd name="T80" fmla="*/ 83 w 1604"/>
                <a:gd name="T81" fmla="*/ 1450 h 3290"/>
                <a:gd name="T82" fmla="*/ 60 w 1604"/>
                <a:gd name="T83" fmla="*/ 1388 h 3290"/>
                <a:gd name="T84" fmla="*/ 57 w 1604"/>
                <a:gd name="T85" fmla="*/ 191 h 3290"/>
                <a:gd name="T86" fmla="*/ 69 w 1604"/>
                <a:gd name="T87" fmla="*/ 125 h 3290"/>
                <a:gd name="T88" fmla="*/ 102 w 1604"/>
                <a:gd name="T89" fmla="*/ 68 h 3290"/>
                <a:gd name="T90" fmla="*/ 152 w 1604"/>
                <a:gd name="T91" fmla="*/ 26 h 3290"/>
                <a:gd name="T92" fmla="*/ 214 w 1604"/>
                <a:gd name="T93" fmla="*/ 4 h 3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604" h="3290">
                  <a:moveTo>
                    <a:pt x="248" y="0"/>
                  </a:moveTo>
                  <a:lnTo>
                    <a:pt x="1413" y="0"/>
                  </a:lnTo>
                  <a:lnTo>
                    <a:pt x="1446" y="4"/>
                  </a:lnTo>
                  <a:lnTo>
                    <a:pt x="1479" y="13"/>
                  </a:lnTo>
                  <a:lnTo>
                    <a:pt x="1509" y="26"/>
                  </a:lnTo>
                  <a:lnTo>
                    <a:pt x="1536" y="45"/>
                  </a:lnTo>
                  <a:lnTo>
                    <a:pt x="1559" y="68"/>
                  </a:lnTo>
                  <a:lnTo>
                    <a:pt x="1578" y="95"/>
                  </a:lnTo>
                  <a:lnTo>
                    <a:pt x="1591" y="125"/>
                  </a:lnTo>
                  <a:lnTo>
                    <a:pt x="1601" y="157"/>
                  </a:lnTo>
                  <a:lnTo>
                    <a:pt x="1604" y="191"/>
                  </a:lnTo>
                  <a:lnTo>
                    <a:pt x="1604" y="1105"/>
                  </a:lnTo>
                  <a:lnTo>
                    <a:pt x="1603" y="1237"/>
                  </a:lnTo>
                  <a:lnTo>
                    <a:pt x="1599" y="1364"/>
                  </a:lnTo>
                  <a:lnTo>
                    <a:pt x="1593" y="1485"/>
                  </a:lnTo>
                  <a:lnTo>
                    <a:pt x="1585" y="1599"/>
                  </a:lnTo>
                  <a:lnTo>
                    <a:pt x="1574" y="1709"/>
                  </a:lnTo>
                  <a:lnTo>
                    <a:pt x="1561" y="1812"/>
                  </a:lnTo>
                  <a:lnTo>
                    <a:pt x="1546" y="1909"/>
                  </a:lnTo>
                  <a:lnTo>
                    <a:pt x="1528" y="2001"/>
                  </a:lnTo>
                  <a:lnTo>
                    <a:pt x="1508" y="2087"/>
                  </a:lnTo>
                  <a:lnTo>
                    <a:pt x="1485" y="2166"/>
                  </a:lnTo>
                  <a:lnTo>
                    <a:pt x="1452" y="2261"/>
                  </a:lnTo>
                  <a:lnTo>
                    <a:pt x="1414" y="2354"/>
                  </a:lnTo>
                  <a:lnTo>
                    <a:pt x="1368" y="2444"/>
                  </a:lnTo>
                  <a:lnTo>
                    <a:pt x="1316" y="2531"/>
                  </a:lnTo>
                  <a:lnTo>
                    <a:pt x="1258" y="2617"/>
                  </a:lnTo>
                  <a:lnTo>
                    <a:pt x="1194" y="2700"/>
                  </a:lnTo>
                  <a:lnTo>
                    <a:pt x="1123" y="2781"/>
                  </a:lnTo>
                  <a:lnTo>
                    <a:pt x="1046" y="2859"/>
                  </a:lnTo>
                  <a:lnTo>
                    <a:pt x="967" y="2930"/>
                  </a:lnTo>
                  <a:lnTo>
                    <a:pt x="886" y="2996"/>
                  </a:lnTo>
                  <a:lnTo>
                    <a:pt x="799" y="3058"/>
                  </a:lnTo>
                  <a:lnTo>
                    <a:pt x="707" y="3118"/>
                  </a:lnTo>
                  <a:lnTo>
                    <a:pt x="612" y="3174"/>
                  </a:lnTo>
                  <a:lnTo>
                    <a:pt x="511" y="3226"/>
                  </a:lnTo>
                  <a:lnTo>
                    <a:pt x="406" y="3275"/>
                  </a:lnTo>
                  <a:lnTo>
                    <a:pt x="374" y="3285"/>
                  </a:lnTo>
                  <a:lnTo>
                    <a:pt x="341" y="3290"/>
                  </a:lnTo>
                  <a:lnTo>
                    <a:pt x="309" y="3289"/>
                  </a:lnTo>
                  <a:lnTo>
                    <a:pt x="278" y="3284"/>
                  </a:lnTo>
                  <a:lnTo>
                    <a:pt x="247" y="3272"/>
                  </a:lnTo>
                  <a:lnTo>
                    <a:pt x="220" y="3256"/>
                  </a:lnTo>
                  <a:lnTo>
                    <a:pt x="195" y="3235"/>
                  </a:lnTo>
                  <a:lnTo>
                    <a:pt x="173" y="3210"/>
                  </a:lnTo>
                  <a:lnTo>
                    <a:pt x="156" y="3181"/>
                  </a:lnTo>
                  <a:lnTo>
                    <a:pt x="18" y="2891"/>
                  </a:lnTo>
                  <a:lnTo>
                    <a:pt x="7" y="2862"/>
                  </a:lnTo>
                  <a:lnTo>
                    <a:pt x="1" y="2831"/>
                  </a:lnTo>
                  <a:lnTo>
                    <a:pt x="0" y="2801"/>
                  </a:lnTo>
                  <a:lnTo>
                    <a:pt x="3" y="2771"/>
                  </a:lnTo>
                  <a:lnTo>
                    <a:pt x="11" y="2743"/>
                  </a:lnTo>
                  <a:lnTo>
                    <a:pt x="24" y="2716"/>
                  </a:lnTo>
                  <a:lnTo>
                    <a:pt x="41" y="2691"/>
                  </a:lnTo>
                  <a:lnTo>
                    <a:pt x="61" y="2668"/>
                  </a:lnTo>
                  <a:lnTo>
                    <a:pt x="86" y="2650"/>
                  </a:lnTo>
                  <a:lnTo>
                    <a:pt x="113" y="2634"/>
                  </a:lnTo>
                  <a:lnTo>
                    <a:pt x="191" y="2598"/>
                  </a:lnTo>
                  <a:lnTo>
                    <a:pt x="264" y="2560"/>
                  </a:lnTo>
                  <a:lnTo>
                    <a:pt x="332" y="2518"/>
                  </a:lnTo>
                  <a:lnTo>
                    <a:pt x="394" y="2474"/>
                  </a:lnTo>
                  <a:lnTo>
                    <a:pt x="452" y="2428"/>
                  </a:lnTo>
                  <a:lnTo>
                    <a:pt x="504" y="2380"/>
                  </a:lnTo>
                  <a:lnTo>
                    <a:pt x="551" y="2329"/>
                  </a:lnTo>
                  <a:lnTo>
                    <a:pt x="594" y="2276"/>
                  </a:lnTo>
                  <a:lnTo>
                    <a:pt x="632" y="2219"/>
                  </a:lnTo>
                  <a:lnTo>
                    <a:pt x="666" y="2159"/>
                  </a:lnTo>
                  <a:lnTo>
                    <a:pt x="697" y="2095"/>
                  </a:lnTo>
                  <a:lnTo>
                    <a:pt x="724" y="2027"/>
                  </a:lnTo>
                  <a:lnTo>
                    <a:pt x="746" y="1956"/>
                  </a:lnTo>
                  <a:lnTo>
                    <a:pt x="766" y="1881"/>
                  </a:lnTo>
                  <a:lnTo>
                    <a:pt x="782" y="1803"/>
                  </a:lnTo>
                  <a:lnTo>
                    <a:pt x="793" y="1720"/>
                  </a:lnTo>
                  <a:lnTo>
                    <a:pt x="801" y="1634"/>
                  </a:lnTo>
                  <a:lnTo>
                    <a:pt x="805" y="1545"/>
                  </a:lnTo>
                  <a:lnTo>
                    <a:pt x="248" y="1545"/>
                  </a:lnTo>
                  <a:lnTo>
                    <a:pt x="214" y="1542"/>
                  </a:lnTo>
                  <a:lnTo>
                    <a:pt x="181" y="1533"/>
                  </a:lnTo>
                  <a:lnTo>
                    <a:pt x="152" y="1519"/>
                  </a:lnTo>
                  <a:lnTo>
                    <a:pt x="125" y="1500"/>
                  </a:lnTo>
                  <a:lnTo>
                    <a:pt x="102" y="1477"/>
                  </a:lnTo>
                  <a:lnTo>
                    <a:pt x="83" y="1450"/>
                  </a:lnTo>
                  <a:lnTo>
                    <a:pt x="69" y="1421"/>
                  </a:lnTo>
                  <a:lnTo>
                    <a:pt x="60" y="1388"/>
                  </a:lnTo>
                  <a:lnTo>
                    <a:pt x="57" y="1354"/>
                  </a:lnTo>
                  <a:lnTo>
                    <a:pt x="57" y="191"/>
                  </a:lnTo>
                  <a:lnTo>
                    <a:pt x="60" y="157"/>
                  </a:lnTo>
                  <a:lnTo>
                    <a:pt x="69" y="125"/>
                  </a:lnTo>
                  <a:lnTo>
                    <a:pt x="83" y="95"/>
                  </a:lnTo>
                  <a:lnTo>
                    <a:pt x="102" y="68"/>
                  </a:lnTo>
                  <a:lnTo>
                    <a:pt x="125" y="45"/>
                  </a:lnTo>
                  <a:lnTo>
                    <a:pt x="152" y="26"/>
                  </a:lnTo>
                  <a:lnTo>
                    <a:pt x="181" y="13"/>
                  </a:lnTo>
                  <a:lnTo>
                    <a:pt x="214" y="4"/>
                  </a:lnTo>
                  <a:lnTo>
                    <a:pt x="24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Tajawal" panose="00000500000000000000" pitchFamily="2" charset="-78"/>
              </a:endParaRPr>
            </a:p>
          </p:txBody>
        </p:sp>
      </p:grpSp>
      <p:sp>
        <p:nvSpPr>
          <p:cNvPr id="21" name="Snip Diagonal Corner Rectangle 29">
            <a:extLst>
              <a:ext uri="{FF2B5EF4-FFF2-40B4-BE49-F238E27FC236}">
                <a16:creationId xmlns:a16="http://schemas.microsoft.com/office/drawing/2014/main" id="{7538C7A3-9C89-8F71-F1BC-7A407B1496BB}"/>
              </a:ext>
            </a:extLst>
          </p:cNvPr>
          <p:cNvSpPr/>
          <p:nvPr/>
        </p:nvSpPr>
        <p:spPr>
          <a:xfrm>
            <a:off x="2378677" y="1862019"/>
            <a:ext cx="256248" cy="256248"/>
          </a:xfrm>
          <a:custGeom>
            <a:avLst/>
            <a:gdLst>
              <a:gd name="connsiteX0" fmla="*/ 256248 w 7434648"/>
              <a:gd name="connsiteY0" fmla="*/ 0 h 3117755"/>
              <a:gd name="connsiteX1" fmla="*/ 7185508 w 7434648"/>
              <a:gd name="connsiteY1" fmla="*/ 0 h 3117755"/>
              <a:gd name="connsiteX2" fmla="*/ 7434648 w 7434648"/>
              <a:gd name="connsiteY2" fmla="*/ 249140 h 3117755"/>
              <a:gd name="connsiteX3" fmla="*/ 7434648 w 7434648"/>
              <a:gd name="connsiteY3" fmla="*/ 2861507 h 3117755"/>
              <a:gd name="connsiteX4" fmla="*/ 7178400 w 7434648"/>
              <a:gd name="connsiteY4" fmla="*/ 3117755 h 3117755"/>
              <a:gd name="connsiteX5" fmla="*/ 249140 w 7434648"/>
              <a:gd name="connsiteY5" fmla="*/ 3117755 h 3117755"/>
              <a:gd name="connsiteX6" fmla="*/ 0 w 7434648"/>
              <a:gd name="connsiteY6" fmla="*/ 2868615 h 3117755"/>
              <a:gd name="connsiteX7" fmla="*/ 0 w 7434648"/>
              <a:gd name="connsiteY7" fmla="*/ 256248 h 3117755"/>
              <a:gd name="connsiteX8" fmla="*/ 256248 w 7434648"/>
              <a:gd name="connsiteY8" fmla="*/ 0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8" fmla="*/ 91440 w 7434648"/>
              <a:gd name="connsiteY8" fmla="*/ 2960055 h 3117755"/>
              <a:gd name="connsiteX0" fmla="*/ 0 w 7434648"/>
              <a:gd name="connsiteY0" fmla="*/ 2868615 h 3117755"/>
              <a:gd name="connsiteX1" fmla="*/ 0 w 7434648"/>
              <a:gd name="connsiteY1" fmla="*/ 256248 h 3117755"/>
              <a:gd name="connsiteX2" fmla="*/ 256248 w 7434648"/>
              <a:gd name="connsiteY2" fmla="*/ 0 h 3117755"/>
              <a:gd name="connsiteX3" fmla="*/ 7185508 w 7434648"/>
              <a:gd name="connsiteY3" fmla="*/ 0 h 3117755"/>
              <a:gd name="connsiteX4" fmla="*/ 7434648 w 7434648"/>
              <a:gd name="connsiteY4" fmla="*/ 249140 h 3117755"/>
              <a:gd name="connsiteX5" fmla="*/ 7434648 w 7434648"/>
              <a:gd name="connsiteY5" fmla="*/ 2861507 h 3117755"/>
              <a:gd name="connsiteX6" fmla="*/ 7178400 w 7434648"/>
              <a:gd name="connsiteY6" fmla="*/ 3117755 h 3117755"/>
              <a:gd name="connsiteX7" fmla="*/ 249140 w 7434648"/>
              <a:gd name="connsiteY7"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6" fmla="*/ 249140 w 7434648"/>
              <a:gd name="connsiteY6" fmla="*/ 3117755 h 3117755"/>
              <a:gd name="connsiteX0" fmla="*/ 0 w 7434648"/>
              <a:gd name="connsiteY0" fmla="*/ 256248 h 3117755"/>
              <a:gd name="connsiteX1" fmla="*/ 256248 w 7434648"/>
              <a:gd name="connsiteY1" fmla="*/ 0 h 3117755"/>
              <a:gd name="connsiteX2" fmla="*/ 7185508 w 7434648"/>
              <a:gd name="connsiteY2" fmla="*/ 0 h 3117755"/>
              <a:gd name="connsiteX3" fmla="*/ 7434648 w 7434648"/>
              <a:gd name="connsiteY3" fmla="*/ 249140 h 3117755"/>
              <a:gd name="connsiteX4" fmla="*/ 7434648 w 7434648"/>
              <a:gd name="connsiteY4" fmla="*/ 2861507 h 3117755"/>
              <a:gd name="connsiteX5" fmla="*/ 7178400 w 7434648"/>
              <a:gd name="connsiteY5" fmla="*/ 3117755 h 3117755"/>
              <a:gd name="connsiteX0" fmla="*/ 0 w 7434648"/>
              <a:gd name="connsiteY0" fmla="*/ 256248 h 3167183"/>
              <a:gd name="connsiteX1" fmla="*/ 256248 w 7434648"/>
              <a:gd name="connsiteY1" fmla="*/ 0 h 3167183"/>
              <a:gd name="connsiteX2" fmla="*/ 7185508 w 7434648"/>
              <a:gd name="connsiteY2" fmla="*/ 0 h 3167183"/>
              <a:gd name="connsiteX3" fmla="*/ 7434648 w 7434648"/>
              <a:gd name="connsiteY3" fmla="*/ 249140 h 3167183"/>
              <a:gd name="connsiteX4" fmla="*/ 7434648 w 7434648"/>
              <a:gd name="connsiteY4" fmla="*/ 2861507 h 3167183"/>
              <a:gd name="connsiteX5" fmla="*/ 7166043 w 7434648"/>
              <a:gd name="connsiteY5" fmla="*/ 3167183 h 3167183"/>
              <a:gd name="connsiteX0" fmla="*/ 0 w 7434648"/>
              <a:gd name="connsiteY0" fmla="*/ 256248 h 2861507"/>
              <a:gd name="connsiteX1" fmla="*/ 256248 w 7434648"/>
              <a:gd name="connsiteY1" fmla="*/ 0 h 2861507"/>
              <a:gd name="connsiteX2" fmla="*/ 7185508 w 7434648"/>
              <a:gd name="connsiteY2" fmla="*/ 0 h 2861507"/>
              <a:gd name="connsiteX3" fmla="*/ 7434648 w 7434648"/>
              <a:gd name="connsiteY3" fmla="*/ 249140 h 2861507"/>
              <a:gd name="connsiteX4" fmla="*/ 7434648 w 7434648"/>
              <a:gd name="connsiteY4" fmla="*/ 2861507 h 2861507"/>
              <a:gd name="connsiteX0" fmla="*/ 0 w 7434648"/>
              <a:gd name="connsiteY0" fmla="*/ 256248 h 256248"/>
              <a:gd name="connsiteX1" fmla="*/ 256248 w 7434648"/>
              <a:gd name="connsiteY1" fmla="*/ 0 h 256248"/>
              <a:gd name="connsiteX2" fmla="*/ 7185508 w 7434648"/>
              <a:gd name="connsiteY2" fmla="*/ 0 h 256248"/>
              <a:gd name="connsiteX3" fmla="*/ 7434648 w 7434648"/>
              <a:gd name="connsiteY3" fmla="*/ 249140 h 256248"/>
              <a:gd name="connsiteX0" fmla="*/ 0 w 7185508"/>
              <a:gd name="connsiteY0" fmla="*/ 256248 h 256248"/>
              <a:gd name="connsiteX1" fmla="*/ 256248 w 7185508"/>
              <a:gd name="connsiteY1" fmla="*/ 0 h 256248"/>
              <a:gd name="connsiteX2" fmla="*/ 7185508 w 7185508"/>
              <a:gd name="connsiteY2" fmla="*/ 0 h 256248"/>
              <a:gd name="connsiteX0" fmla="*/ 0 w 256248"/>
              <a:gd name="connsiteY0" fmla="*/ 256248 h 256248"/>
              <a:gd name="connsiteX1" fmla="*/ 256248 w 256248"/>
              <a:gd name="connsiteY1" fmla="*/ 0 h 256248"/>
            </a:gdLst>
            <a:ahLst/>
            <a:cxnLst>
              <a:cxn ang="0">
                <a:pos x="connsiteX0" y="connsiteY0"/>
              </a:cxn>
              <a:cxn ang="0">
                <a:pos x="connsiteX1" y="connsiteY1"/>
              </a:cxn>
            </a:cxnLst>
            <a:rect l="l" t="t" r="r" b="b"/>
            <a:pathLst>
              <a:path w="256248" h="256248">
                <a:moveTo>
                  <a:pt x="0" y="256248"/>
                </a:moveTo>
                <a:lnTo>
                  <a:pt x="256248" y="0"/>
                </a:lnTo>
              </a:path>
            </a:pathLst>
          </a:custGeom>
          <a:noFill/>
          <a:ln w="28575">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sp>
        <p:nvSpPr>
          <p:cNvPr id="22" name="Snip Diagonal Corner Rectangle 13">
            <a:extLst>
              <a:ext uri="{FF2B5EF4-FFF2-40B4-BE49-F238E27FC236}">
                <a16:creationId xmlns:a16="http://schemas.microsoft.com/office/drawing/2014/main" id="{CCA6C9D6-09DA-BEA6-0499-8A8CE4123CD6}"/>
              </a:ext>
            </a:extLst>
          </p:cNvPr>
          <p:cNvSpPr/>
          <p:nvPr/>
        </p:nvSpPr>
        <p:spPr>
          <a:xfrm>
            <a:off x="9374035" y="1990146"/>
            <a:ext cx="260731" cy="228662"/>
          </a:xfrm>
          <a:custGeom>
            <a:avLst/>
            <a:gdLst>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04136 w 5387546"/>
              <a:gd name="connsiteY8"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280513 w 5387546"/>
              <a:gd name="connsiteY8" fmla="*/ 9144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0" fmla="*/ 5189073 w 5387546"/>
              <a:gd name="connsiteY0" fmla="*/ 0 h 2483708"/>
              <a:gd name="connsiteX1" fmla="*/ 5387546 w 5387546"/>
              <a:gd name="connsiteY1" fmla="*/ 198473 h 2483708"/>
              <a:gd name="connsiteX2" fmla="*/ 5387546 w 5387546"/>
              <a:gd name="connsiteY2" fmla="*/ 2279572 h 2483708"/>
              <a:gd name="connsiteX3" fmla="*/ 5183410 w 5387546"/>
              <a:gd name="connsiteY3" fmla="*/ 2483708 h 2483708"/>
              <a:gd name="connsiteX4" fmla="*/ 198473 w 5387546"/>
              <a:gd name="connsiteY4" fmla="*/ 2483708 h 2483708"/>
              <a:gd name="connsiteX5" fmla="*/ 0 w 5387546"/>
              <a:gd name="connsiteY5" fmla="*/ 2285235 h 2483708"/>
              <a:gd name="connsiteX6" fmla="*/ 0 w 5387546"/>
              <a:gd name="connsiteY6" fmla="*/ 204136 h 2483708"/>
              <a:gd name="connsiteX7" fmla="*/ 204136 w 5387546"/>
              <a:gd name="connsiteY7" fmla="*/ 0 h 2483708"/>
              <a:gd name="connsiteX8" fmla="*/ 5189073 w 5387546"/>
              <a:gd name="connsiteY8" fmla="*/ 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8" fmla="*/ 295576 w 5387546"/>
              <a:gd name="connsiteY8" fmla="*/ 91440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7" fmla="*/ 0 w 5387546"/>
              <a:gd name="connsiteY7" fmla="*/ 204136 h 2483708"/>
              <a:gd name="connsiteX0" fmla="*/ 204136 w 5387546"/>
              <a:gd name="connsiteY0" fmla="*/ 0 h 2483708"/>
              <a:gd name="connsiteX1" fmla="*/ 5189073 w 5387546"/>
              <a:gd name="connsiteY1" fmla="*/ 0 h 2483708"/>
              <a:gd name="connsiteX2" fmla="*/ 5387546 w 5387546"/>
              <a:gd name="connsiteY2" fmla="*/ 198473 h 2483708"/>
              <a:gd name="connsiteX3" fmla="*/ 5387546 w 5387546"/>
              <a:gd name="connsiteY3" fmla="*/ 2279572 h 2483708"/>
              <a:gd name="connsiteX4" fmla="*/ 5183410 w 5387546"/>
              <a:gd name="connsiteY4" fmla="*/ 2483708 h 2483708"/>
              <a:gd name="connsiteX5" fmla="*/ 198473 w 5387546"/>
              <a:gd name="connsiteY5" fmla="*/ 2483708 h 2483708"/>
              <a:gd name="connsiteX6" fmla="*/ 0 w 5387546"/>
              <a:gd name="connsiteY6" fmla="*/ 2285235 h 2483708"/>
              <a:gd name="connsiteX0" fmla="*/ 5663 w 5189073"/>
              <a:gd name="connsiteY0" fmla="*/ 0 h 2483708"/>
              <a:gd name="connsiteX1" fmla="*/ 4990600 w 5189073"/>
              <a:gd name="connsiteY1" fmla="*/ 0 h 2483708"/>
              <a:gd name="connsiteX2" fmla="*/ 5189073 w 5189073"/>
              <a:gd name="connsiteY2" fmla="*/ 198473 h 2483708"/>
              <a:gd name="connsiteX3" fmla="*/ 5189073 w 5189073"/>
              <a:gd name="connsiteY3" fmla="*/ 2279572 h 2483708"/>
              <a:gd name="connsiteX4" fmla="*/ 4984937 w 5189073"/>
              <a:gd name="connsiteY4" fmla="*/ 2483708 h 2483708"/>
              <a:gd name="connsiteX5" fmla="*/ 0 w 5189073"/>
              <a:gd name="connsiteY5" fmla="*/ 2483708 h 2483708"/>
              <a:gd name="connsiteX0" fmla="*/ 0 w 5183410"/>
              <a:gd name="connsiteY0" fmla="*/ 0 h 2483708"/>
              <a:gd name="connsiteX1" fmla="*/ 4984937 w 5183410"/>
              <a:gd name="connsiteY1" fmla="*/ 0 h 2483708"/>
              <a:gd name="connsiteX2" fmla="*/ 5183410 w 5183410"/>
              <a:gd name="connsiteY2" fmla="*/ 198473 h 2483708"/>
              <a:gd name="connsiteX3" fmla="*/ 5183410 w 5183410"/>
              <a:gd name="connsiteY3" fmla="*/ 2279572 h 2483708"/>
              <a:gd name="connsiteX4" fmla="*/ 4979274 w 5183410"/>
              <a:gd name="connsiteY4" fmla="*/ 2483708 h 2483708"/>
              <a:gd name="connsiteX0" fmla="*/ 5663 w 204136"/>
              <a:gd name="connsiteY0" fmla="*/ 0 h 2483708"/>
              <a:gd name="connsiteX1" fmla="*/ 204136 w 204136"/>
              <a:gd name="connsiteY1" fmla="*/ 198473 h 2483708"/>
              <a:gd name="connsiteX2" fmla="*/ 204136 w 204136"/>
              <a:gd name="connsiteY2" fmla="*/ 2279572 h 2483708"/>
              <a:gd name="connsiteX3" fmla="*/ 0 w 204136"/>
              <a:gd name="connsiteY3" fmla="*/ 2483708 h 2483708"/>
              <a:gd name="connsiteX0" fmla="*/ 0 w 198473"/>
              <a:gd name="connsiteY0" fmla="*/ 0 h 2279572"/>
              <a:gd name="connsiteX1" fmla="*/ 198473 w 198473"/>
              <a:gd name="connsiteY1" fmla="*/ 198473 h 2279572"/>
              <a:gd name="connsiteX2" fmla="*/ 198473 w 198473"/>
              <a:gd name="connsiteY2" fmla="*/ 2279572 h 2279572"/>
              <a:gd name="connsiteX0" fmla="*/ 0 w 198473"/>
              <a:gd name="connsiteY0" fmla="*/ 0 h 198473"/>
              <a:gd name="connsiteX1" fmla="*/ 198473 w 198473"/>
              <a:gd name="connsiteY1" fmla="*/ 198473 h 198473"/>
            </a:gdLst>
            <a:ahLst/>
            <a:cxnLst>
              <a:cxn ang="0">
                <a:pos x="connsiteX0" y="connsiteY0"/>
              </a:cxn>
              <a:cxn ang="0">
                <a:pos x="connsiteX1" y="connsiteY1"/>
              </a:cxn>
            </a:cxnLst>
            <a:rect l="l" t="t" r="r" b="b"/>
            <a:pathLst>
              <a:path w="198473" h="198473">
                <a:moveTo>
                  <a:pt x="0" y="0"/>
                </a:moveTo>
                <a:lnTo>
                  <a:pt x="198473" y="198473"/>
                </a:lnTo>
              </a:path>
            </a:pathLst>
          </a:cu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ajawal" panose="00000500000000000000" pitchFamily="2" charset="-78"/>
              <a:cs typeface="Tajawal" panose="00000500000000000000" pitchFamily="2" charset="-78"/>
            </a:endParaRPr>
          </a:p>
        </p:txBody>
      </p:sp>
      <p:sp>
        <p:nvSpPr>
          <p:cNvPr id="29" name="Rectangle 28">
            <a:extLst>
              <a:ext uri="{FF2B5EF4-FFF2-40B4-BE49-F238E27FC236}">
                <a16:creationId xmlns:a16="http://schemas.microsoft.com/office/drawing/2014/main" id="{FB3D3C8A-8607-C5F8-15B0-61E4100CE9EF}"/>
              </a:ext>
            </a:extLst>
          </p:cNvPr>
          <p:cNvSpPr/>
          <p:nvPr/>
        </p:nvSpPr>
        <p:spPr>
          <a:xfrm>
            <a:off x="2407567" y="2325874"/>
            <a:ext cx="4228901" cy="2275854"/>
          </a:xfrm>
          <a:prstGeom prst="rect">
            <a:avLst/>
          </a:prstGeom>
        </p:spPr>
        <p:txBody>
          <a:bodyPr vert="horz" lIns="91440" tIns="45720" rIns="91440" bIns="45720" rtlCol="0" anchor="ctr" anchorCtr="0">
            <a:noAutofit/>
          </a:bodyPr>
          <a:lstStyle/>
          <a:p>
            <a:pPr algn="just" rtl="1"/>
            <a:r>
              <a:rPr lang="ar-SA" sz="2400" dirty="0">
                <a:latin typeface="Sakkal Majalla" panose="02000000000000000000" pitchFamily="2" charset="-78"/>
                <a:cs typeface="Sakkal Majalla" panose="02000000000000000000" pitchFamily="2" charset="-78"/>
              </a:rPr>
              <a:t>هي ممارسات وضوابط لدراسة الوضع الحالي </a:t>
            </a:r>
            <a:r>
              <a:rPr lang="ar-EG" sz="2400" dirty="0">
                <a:latin typeface="Sakkal Majalla" panose="02000000000000000000" pitchFamily="2" charset="-78"/>
                <a:cs typeface="Sakkal Majalla" panose="02000000000000000000" pitchFamily="2" charset="-78"/>
              </a:rPr>
              <a:t>للهيئة</a:t>
            </a:r>
            <a:r>
              <a:rPr lang="ar-SA" sz="2400" dirty="0">
                <a:latin typeface="Sakkal Majalla" panose="02000000000000000000" pitchFamily="2" charset="-78"/>
                <a:cs typeface="Sakkal Majalla" panose="02000000000000000000" pitchFamily="2" charset="-78"/>
              </a:rPr>
              <a:t>، وبناء خارطة الطريق للتحول إلى الوضع المستقبلي لتحقيق المواءمة بين قطاع الأعمال (الخدمات والإجراءات والمستفيد) وتقنية المعلومات (البيانات، والتطبيقات، والبينة التحتية والأمن) والأهداف الاستراتيجية </a:t>
            </a:r>
            <a:r>
              <a:rPr lang="ar-EG" sz="2400" dirty="0">
                <a:latin typeface="Sakkal Majalla" panose="02000000000000000000" pitchFamily="2" charset="-78"/>
                <a:cs typeface="Sakkal Majalla" panose="02000000000000000000" pitchFamily="2" charset="-78"/>
              </a:rPr>
              <a:t>للهيئة.</a:t>
            </a:r>
            <a:endParaRPr lang="ar-SA" sz="2400" dirty="0">
              <a:latin typeface="Sakkal Majalla" panose="02000000000000000000" pitchFamily="2" charset="-78"/>
              <a:cs typeface="Sakkal Majalla" panose="02000000000000000000" pitchFamily="2" charset="-78"/>
            </a:endParaRPr>
          </a:p>
        </p:txBody>
      </p:sp>
      <p:pic>
        <p:nvPicPr>
          <p:cNvPr id="4" name="Picture 2">
            <a:extLst>
              <a:ext uri="{FF2B5EF4-FFF2-40B4-BE49-F238E27FC236}">
                <a16:creationId xmlns:a16="http://schemas.microsoft.com/office/drawing/2014/main" id="{F39A46C0-CCED-C747-D4D2-D542F746E8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2635" y="2218808"/>
            <a:ext cx="3127528" cy="2599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6982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8</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2670048" y="408242"/>
            <a:ext cx="8683752"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أهمية</a:t>
            </a:r>
            <a:r>
              <a:rPr lang="ar-SA" dirty="0"/>
              <a:t> النموذج العام لمكونات البنية المؤسسية</a:t>
            </a:r>
          </a:p>
        </p:txBody>
      </p:sp>
      <p:grpSp>
        <p:nvGrpSpPr>
          <p:cNvPr id="4" name="Group 3">
            <a:extLst>
              <a:ext uri="{FF2B5EF4-FFF2-40B4-BE49-F238E27FC236}">
                <a16:creationId xmlns:a16="http://schemas.microsoft.com/office/drawing/2014/main" id="{BD4F7724-DFCC-06C6-E541-8B3F93FCC4FD}"/>
              </a:ext>
            </a:extLst>
          </p:cNvPr>
          <p:cNvGrpSpPr/>
          <p:nvPr/>
        </p:nvGrpSpPr>
        <p:grpSpPr>
          <a:xfrm flipH="1">
            <a:off x="9736652" y="2512210"/>
            <a:ext cx="1588573" cy="1483303"/>
            <a:chOff x="1037897" y="2843466"/>
            <a:chExt cx="1588573" cy="1483303"/>
          </a:xfrm>
        </p:grpSpPr>
        <p:grpSp>
          <p:nvGrpSpPr>
            <p:cNvPr id="5" name="Group 4">
              <a:extLst>
                <a:ext uri="{FF2B5EF4-FFF2-40B4-BE49-F238E27FC236}">
                  <a16:creationId xmlns:a16="http://schemas.microsoft.com/office/drawing/2014/main" id="{6F9A729F-B1BF-0228-AD0E-A7D496CFA49C}"/>
                </a:ext>
              </a:extLst>
            </p:cNvPr>
            <p:cNvGrpSpPr/>
            <p:nvPr/>
          </p:nvGrpSpPr>
          <p:grpSpPr>
            <a:xfrm flipH="1">
              <a:off x="1037897" y="2843466"/>
              <a:ext cx="1588573" cy="1483303"/>
              <a:chOff x="9736652" y="2841229"/>
              <a:chExt cx="1588573" cy="1483303"/>
            </a:xfrm>
            <a:solidFill>
              <a:schemeClr val="accent2"/>
            </a:solidFill>
          </p:grpSpPr>
          <p:sp>
            <p:nvSpPr>
              <p:cNvPr id="7" name="Freeform 6">
                <a:extLst>
                  <a:ext uri="{FF2B5EF4-FFF2-40B4-BE49-F238E27FC236}">
                    <a16:creationId xmlns:a16="http://schemas.microsoft.com/office/drawing/2014/main" id="{D9D636D5-63C8-D048-F8E3-A4C3F99A19C1}"/>
                  </a:ext>
                </a:extLst>
              </p:cNvPr>
              <p:cNvSpPr>
                <a:spLocks/>
              </p:cNvSpPr>
              <p:nvPr/>
            </p:nvSpPr>
            <p:spPr bwMode="auto">
              <a:xfrm>
                <a:off x="9736652" y="2841229"/>
                <a:ext cx="1256429" cy="1483303"/>
              </a:xfrm>
              <a:custGeom>
                <a:avLst/>
                <a:gdLst>
                  <a:gd name="T0" fmla="*/ 632 w 7475"/>
                  <a:gd name="T1" fmla="*/ 103 h 8831"/>
                  <a:gd name="T2" fmla="*/ 298 w 7475"/>
                  <a:gd name="T3" fmla="*/ 352 h 8831"/>
                  <a:gd name="T4" fmla="*/ 72 w 7475"/>
                  <a:gd name="T5" fmla="*/ 707 h 8831"/>
                  <a:gd name="T6" fmla="*/ 0 w 7475"/>
                  <a:gd name="T7" fmla="*/ 4422 h 8831"/>
                  <a:gd name="T8" fmla="*/ 73 w 7475"/>
                  <a:gd name="T9" fmla="*/ 8125 h 8831"/>
                  <a:gd name="T10" fmla="*/ 305 w 7475"/>
                  <a:gd name="T11" fmla="*/ 8483 h 8831"/>
                  <a:gd name="T12" fmla="*/ 639 w 7475"/>
                  <a:gd name="T13" fmla="*/ 8727 h 8831"/>
                  <a:gd name="T14" fmla="*/ 858 w 7475"/>
                  <a:gd name="T15" fmla="*/ 8803 h 8831"/>
                  <a:gd name="T16" fmla="*/ 2039 w 7475"/>
                  <a:gd name="T17" fmla="*/ 8831 h 8831"/>
                  <a:gd name="T18" fmla="*/ 5788 w 7475"/>
                  <a:gd name="T19" fmla="*/ 8829 h 8831"/>
                  <a:gd name="T20" fmla="*/ 6608 w 7475"/>
                  <a:gd name="T21" fmla="*/ 8801 h 8831"/>
                  <a:gd name="T22" fmla="*/ 6807 w 7475"/>
                  <a:gd name="T23" fmla="*/ 8736 h 8831"/>
                  <a:gd name="T24" fmla="*/ 7010 w 7475"/>
                  <a:gd name="T25" fmla="*/ 8620 h 8831"/>
                  <a:gd name="T26" fmla="*/ 7265 w 7475"/>
                  <a:gd name="T27" fmla="*/ 8369 h 8831"/>
                  <a:gd name="T28" fmla="*/ 7426 w 7475"/>
                  <a:gd name="T29" fmla="*/ 8047 h 8831"/>
                  <a:gd name="T30" fmla="*/ 7466 w 7475"/>
                  <a:gd name="T31" fmla="*/ 7857 h 8831"/>
                  <a:gd name="T32" fmla="*/ 7475 w 7475"/>
                  <a:gd name="T33" fmla="*/ 6849 h 8831"/>
                  <a:gd name="T34" fmla="*/ 7153 w 7475"/>
                  <a:gd name="T35" fmla="*/ 6842 h 8831"/>
                  <a:gd name="T36" fmla="*/ 7131 w 7475"/>
                  <a:gd name="T37" fmla="*/ 6930 h 8831"/>
                  <a:gd name="T38" fmla="*/ 7125 w 7475"/>
                  <a:gd name="T39" fmla="*/ 7509 h 8831"/>
                  <a:gd name="T40" fmla="*/ 7101 w 7475"/>
                  <a:gd name="T41" fmla="*/ 7917 h 8831"/>
                  <a:gd name="T42" fmla="*/ 7033 w 7475"/>
                  <a:gd name="T43" fmla="*/ 8084 h 8831"/>
                  <a:gd name="T44" fmla="*/ 6859 w 7475"/>
                  <a:gd name="T45" fmla="*/ 8301 h 8831"/>
                  <a:gd name="T46" fmla="*/ 6621 w 7475"/>
                  <a:gd name="T47" fmla="*/ 8440 h 8831"/>
                  <a:gd name="T48" fmla="*/ 6496 w 7475"/>
                  <a:gd name="T49" fmla="*/ 8466 h 8831"/>
                  <a:gd name="T50" fmla="*/ 3699 w 7475"/>
                  <a:gd name="T51" fmla="*/ 8477 h 8831"/>
                  <a:gd name="T52" fmla="*/ 744 w 7475"/>
                  <a:gd name="T53" fmla="*/ 8388 h 8831"/>
                  <a:gd name="T54" fmla="*/ 536 w 7475"/>
                  <a:gd name="T55" fmla="*/ 8219 h 8831"/>
                  <a:gd name="T56" fmla="*/ 399 w 7475"/>
                  <a:gd name="T57" fmla="*/ 7995 h 8831"/>
                  <a:gd name="T58" fmla="*/ 356 w 7475"/>
                  <a:gd name="T59" fmla="*/ 7814 h 8831"/>
                  <a:gd name="T60" fmla="*/ 342 w 7475"/>
                  <a:gd name="T61" fmla="*/ 4409 h 8831"/>
                  <a:gd name="T62" fmla="*/ 357 w 7475"/>
                  <a:gd name="T63" fmla="*/ 1032 h 8831"/>
                  <a:gd name="T64" fmla="*/ 374 w 7475"/>
                  <a:gd name="T65" fmla="*/ 903 h 8831"/>
                  <a:gd name="T66" fmla="*/ 488 w 7475"/>
                  <a:gd name="T67" fmla="*/ 663 h 8831"/>
                  <a:gd name="T68" fmla="*/ 750 w 7475"/>
                  <a:gd name="T69" fmla="*/ 436 h 8831"/>
                  <a:gd name="T70" fmla="*/ 1042 w 7475"/>
                  <a:gd name="T71" fmla="*/ 347 h 8831"/>
                  <a:gd name="T72" fmla="*/ 2627 w 7475"/>
                  <a:gd name="T73" fmla="*/ 333 h 8831"/>
                  <a:gd name="T74" fmla="*/ 6587 w 7475"/>
                  <a:gd name="T75" fmla="*/ 374 h 8831"/>
                  <a:gd name="T76" fmla="*/ 6804 w 7475"/>
                  <a:gd name="T77" fmla="*/ 484 h 8831"/>
                  <a:gd name="T78" fmla="*/ 7000 w 7475"/>
                  <a:gd name="T79" fmla="*/ 684 h 8831"/>
                  <a:gd name="T80" fmla="*/ 7099 w 7475"/>
                  <a:gd name="T81" fmla="*/ 896 h 8831"/>
                  <a:gd name="T82" fmla="*/ 7125 w 7475"/>
                  <a:gd name="T83" fmla="*/ 1191 h 8831"/>
                  <a:gd name="T84" fmla="*/ 7129 w 7475"/>
                  <a:gd name="T85" fmla="*/ 1839 h 8831"/>
                  <a:gd name="T86" fmla="*/ 7240 w 7475"/>
                  <a:gd name="T87" fmla="*/ 1869 h 8831"/>
                  <a:gd name="T88" fmla="*/ 7475 w 7475"/>
                  <a:gd name="T89" fmla="*/ 1416 h 8831"/>
                  <a:gd name="T90" fmla="*/ 7461 w 7475"/>
                  <a:gd name="T91" fmla="*/ 949 h 8831"/>
                  <a:gd name="T92" fmla="*/ 7409 w 7475"/>
                  <a:gd name="T93" fmla="*/ 723 h 8831"/>
                  <a:gd name="T94" fmla="*/ 7336 w 7475"/>
                  <a:gd name="T95" fmla="*/ 569 h 8831"/>
                  <a:gd name="T96" fmla="*/ 7142 w 7475"/>
                  <a:gd name="T97" fmla="*/ 313 h 8831"/>
                  <a:gd name="T98" fmla="*/ 6880 w 7475"/>
                  <a:gd name="T99" fmla="*/ 124 h 8831"/>
                  <a:gd name="T100" fmla="*/ 6600 w 7475"/>
                  <a:gd name="T101" fmla="*/ 6 h 8831"/>
                  <a:gd name="T102" fmla="*/ 1076 w 7475"/>
                  <a:gd name="T103" fmla="*/ 7 h 8831"/>
                  <a:gd name="T104" fmla="*/ 829 w 7475"/>
                  <a:gd name="T105" fmla="*/ 31 h 8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475" h="8831">
                    <a:moveTo>
                      <a:pt x="829" y="31"/>
                    </a:moveTo>
                    <a:lnTo>
                      <a:pt x="761" y="50"/>
                    </a:lnTo>
                    <a:lnTo>
                      <a:pt x="632" y="103"/>
                    </a:lnTo>
                    <a:lnTo>
                      <a:pt x="511" y="172"/>
                    </a:lnTo>
                    <a:lnTo>
                      <a:pt x="399" y="255"/>
                    </a:lnTo>
                    <a:lnTo>
                      <a:pt x="298" y="352"/>
                    </a:lnTo>
                    <a:lnTo>
                      <a:pt x="209" y="460"/>
                    </a:lnTo>
                    <a:lnTo>
                      <a:pt x="133" y="579"/>
                    </a:lnTo>
                    <a:lnTo>
                      <a:pt x="72" y="707"/>
                    </a:lnTo>
                    <a:lnTo>
                      <a:pt x="49" y="774"/>
                    </a:lnTo>
                    <a:lnTo>
                      <a:pt x="0" y="922"/>
                    </a:lnTo>
                    <a:lnTo>
                      <a:pt x="0" y="4422"/>
                    </a:lnTo>
                    <a:lnTo>
                      <a:pt x="0" y="7922"/>
                    </a:lnTo>
                    <a:lnTo>
                      <a:pt x="47" y="8056"/>
                    </a:lnTo>
                    <a:lnTo>
                      <a:pt x="73" y="8125"/>
                    </a:lnTo>
                    <a:lnTo>
                      <a:pt x="137" y="8255"/>
                    </a:lnTo>
                    <a:lnTo>
                      <a:pt x="215" y="8374"/>
                    </a:lnTo>
                    <a:lnTo>
                      <a:pt x="305" y="8483"/>
                    </a:lnTo>
                    <a:lnTo>
                      <a:pt x="407" y="8578"/>
                    </a:lnTo>
                    <a:lnTo>
                      <a:pt x="518" y="8660"/>
                    </a:lnTo>
                    <a:lnTo>
                      <a:pt x="639" y="8727"/>
                    </a:lnTo>
                    <a:lnTo>
                      <a:pt x="768" y="8779"/>
                    </a:lnTo>
                    <a:lnTo>
                      <a:pt x="835" y="8797"/>
                    </a:lnTo>
                    <a:lnTo>
                      <a:pt x="858" y="8803"/>
                    </a:lnTo>
                    <a:lnTo>
                      <a:pt x="916" y="8813"/>
                    </a:lnTo>
                    <a:lnTo>
                      <a:pt x="1080" y="8823"/>
                    </a:lnTo>
                    <a:lnTo>
                      <a:pt x="2039" y="8831"/>
                    </a:lnTo>
                    <a:lnTo>
                      <a:pt x="3740" y="8831"/>
                    </a:lnTo>
                    <a:lnTo>
                      <a:pt x="4795" y="8831"/>
                    </a:lnTo>
                    <a:lnTo>
                      <a:pt x="5788" y="8829"/>
                    </a:lnTo>
                    <a:lnTo>
                      <a:pt x="6213" y="8824"/>
                    </a:lnTo>
                    <a:lnTo>
                      <a:pt x="6483" y="8814"/>
                    </a:lnTo>
                    <a:lnTo>
                      <a:pt x="6608" y="8801"/>
                    </a:lnTo>
                    <a:lnTo>
                      <a:pt x="6668" y="8791"/>
                    </a:lnTo>
                    <a:lnTo>
                      <a:pt x="6735" y="8772"/>
                    </a:lnTo>
                    <a:lnTo>
                      <a:pt x="6807" y="8736"/>
                    </a:lnTo>
                    <a:lnTo>
                      <a:pt x="6850" y="8714"/>
                    </a:lnTo>
                    <a:lnTo>
                      <a:pt x="6906" y="8686"/>
                    </a:lnTo>
                    <a:lnTo>
                      <a:pt x="7010" y="8620"/>
                    </a:lnTo>
                    <a:lnTo>
                      <a:pt x="7104" y="8546"/>
                    </a:lnTo>
                    <a:lnTo>
                      <a:pt x="7190" y="8462"/>
                    </a:lnTo>
                    <a:lnTo>
                      <a:pt x="7265" y="8369"/>
                    </a:lnTo>
                    <a:lnTo>
                      <a:pt x="7329" y="8269"/>
                    </a:lnTo>
                    <a:lnTo>
                      <a:pt x="7383" y="8162"/>
                    </a:lnTo>
                    <a:lnTo>
                      <a:pt x="7426" y="8047"/>
                    </a:lnTo>
                    <a:lnTo>
                      <a:pt x="7442" y="7987"/>
                    </a:lnTo>
                    <a:lnTo>
                      <a:pt x="7452" y="7946"/>
                    </a:lnTo>
                    <a:lnTo>
                      <a:pt x="7466" y="7857"/>
                    </a:lnTo>
                    <a:lnTo>
                      <a:pt x="7475" y="7643"/>
                    </a:lnTo>
                    <a:lnTo>
                      <a:pt x="7475" y="7354"/>
                    </a:lnTo>
                    <a:lnTo>
                      <a:pt x="7475" y="6849"/>
                    </a:lnTo>
                    <a:lnTo>
                      <a:pt x="7314" y="6844"/>
                    </a:lnTo>
                    <a:lnTo>
                      <a:pt x="7248" y="6842"/>
                    </a:lnTo>
                    <a:lnTo>
                      <a:pt x="7153" y="6842"/>
                    </a:lnTo>
                    <a:lnTo>
                      <a:pt x="7139" y="6844"/>
                    </a:lnTo>
                    <a:lnTo>
                      <a:pt x="7136" y="6852"/>
                    </a:lnTo>
                    <a:lnTo>
                      <a:pt x="7131" y="6930"/>
                    </a:lnTo>
                    <a:lnTo>
                      <a:pt x="7126" y="7149"/>
                    </a:lnTo>
                    <a:lnTo>
                      <a:pt x="7125" y="7349"/>
                    </a:lnTo>
                    <a:lnTo>
                      <a:pt x="7125" y="7509"/>
                    </a:lnTo>
                    <a:lnTo>
                      <a:pt x="7123" y="7720"/>
                    </a:lnTo>
                    <a:lnTo>
                      <a:pt x="7116" y="7842"/>
                    </a:lnTo>
                    <a:lnTo>
                      <a:pt x="7101" y="7917"/>
                    </a:lnTo>
                    <a:lnTo>
                      <a:pt x="7090" y="7951"/>
                    </a:lnTo>
                    <a:lnTo>
                      <a:pt x="7074" y="7997"/>
                    </a:lnTo>
                    <a:lnTo>
                      <a:pt x="7033" y="8084"/>
                    </a:lnTo>
                    <a:lnTo>
                      <a:pt x="6983" y="8164"/>
                    </a:lnTo>
                    <a:lnTo>
                      <a:pt x="6925" y="8237"/>
                    </a:lnTo>
                    <a:lnTo>
                      <a:pt x="6859" y="8301"/>
                    </a:lnTo>
                    <a:lnTo>
                      <a:pt x="6786" y="8357"/>
                    </a:lnTo>
                    <a:lnTo>
                      <a:pt x="6706" y="8403"/>
                    </a:lnTo>
                    <a:lnTo>
                      <a:pt x="6621" y="8440"/>
                    </a:lnTo>
                    <a:lnTo>
                      <a:pt x="6575" y="8454"/>
                    </a:lnTo>
                    <a:lnTo>
                      <a:pt x="6558" y="8459"/>
                    </a:lnTo>
                    <a:lnTo>
                      <a:pt x="6496" y="8466"/>
                    </a:lnTo>
                    <a:lnTo>
                      <a:pt x="6304" y="8474"/>
                    </a:lnTo>
                    <a:lnTo>
                      <a:pt x="5299" y="8479"/>
                    </a:lnTo>
                    <a:lnTo>
                      <a:pt x="3699" y="8477"/>
                    </a:lnTo>
                    <a:lnTo>
                      <a:pt x="915" y="8472"/>
                    </a:lnTo>
                    <a:lnTo>
                      <a:pt x="785" y="8409"/>
                    </a:lnTo>
                    <a:lnTo>
                      <a:pt x="744" y="8388"/>
                    </a:lnTo>
                    <a:lnTo>
                      <a:pt x="668" y="8339"/>
                    </a:lnTo>
                    <a:lnTo>
                      <a:pt x="598" y="8282"/>
                    </a:lnTo>
                    <a:lnTo>
                      <a:pt x="536" y="8219"/>
                    </a:lnTo>
                    <a:lnTo>
                      <a:pt x="482" y="8150"/>
                    </a:lnTo>
                    <a:lnTo>
                      <a:pt x="436" y="8075"/>
                    </a:lnTo>
                    <a:lnTo>
                      <a:pt x="399" y="7995"/>
                    </a:lnTo>
                    <a:lnTo>
                      <a:pt x="371" y="7911"/>
                    </a:lnTo>
                    <a:lnTo>
                      <a:pt x="360" y="7867"/>
                    </a:lnTo>
                    <a:lnTo>
                      <a:pt x="356" y="7814"/>
                    </a:lnTo>
                    <a:lnTo>
                      <a:pt x="349" y="7395"/>
                    </a:lnTo>
                    <a:lnTo>
                      <a:pt x="343" y="6032"/>
                    </a:lnTo>
                    <a:lnTo>
                      <a:pt x="342" y="4409"/>
                    </a:lnTo>
                    <a:lnTo>
                      <a:pt x="342" y="2512"/>
                    </a:lnTo>
                    <a:lnTo>
                      <a:pt x="349" y="1278"/>
                    </a:lnTo>
                    <a:lnTo>
                      <a:pt x="357" y="1032"/>
                    </a:lnTo>
                    <a:lnTo>
                      <a:pt x="363" y="953"/>
                    </a:lnTo>
                    <a:lnTo>
                      <a:pt x="367" y="932"/>
                    </a:lnTo>
                    <a:lnTo>
                      <a:pt x="374" y="903"/>
                    </a:lnTo>
                    <a:lnTo>
                      <a:pt x="393" y="845"/>
                    </a:lnTo>
                    <a:lnTo>
                      <a:pt x="428" y="763"/>
                    </a:lnTo>
                    <a:lnTo>
                      <a:pt x="488" y="663"/>
                    </a:lnTo>
                    <a:lnTo>
                      <a:pt x="563" y="575"/>
                    </a:lnTo>
                    <a:lnTo>
                      <a:pt x="651" y="498"/>
                    </a:lnTo>
                    <a:lnTo>
                      <a:pt x="750" y="436"/>
                    </a:lnTo>
                    <a:lnTo>
                      <a:pt x="860" y="388"/>
                    </a:lnTo>
                    <a:lnTo>
                      <a:pt x="979" y="356"/>
                    </a:lnTo>
                    <a:lnTo>
                      <a:pt x="1042" y="347"/>
                    </a:lnTo>
                    <a:lnTo>
                      <a:pt x="1104" y="343"/>
                    </a:lnTo>
                    <a:lnTo>
                      <a:pt x="1495" y="337"/>
                    </a:lnTo>
                    <a:lnTo>
                      <a:pt x="2627" y="333"/>
                    </a:lnTo>
                    <a:lnTo>
                      <a:pt x="3834" y="334"/>
                    </a:lnTo>
                    <a:lnTo>
                      <a:pt x="6484" y="339"/>
                    </a:lnTo>
                    <a:lnTo>
                      <a:pt x="6587" y="374"/>
                    </a:lnTo>
                    <a:lnTo>
                      <a:pt x="6634" y="391"/>
                    </a:lnTo>
                    <a:lnTo>
                      <a:pt x="6722" y="433"/>
                    </a:lnTo>
                    <a:lnTo>
                      <a:pt x="6804" y="484"/>
                    </a:lnTo>
                    <a:lnTo>
                      <a:pt x="6878" y="543"/>
                    </a:lnTo>
                    <a:lnTo>
                      <a:pt x="6943" y="610"/>
                    </a:lnTo>
                    <a:lnTo>
                      <a:pt x="7000" y="684"/>
                    </a:lnTo>
                    <a:lnTo>
                      <a:pt x="7047" y="764"/>
                    </a:lnTo>
                    <a:lnTo>
                      <a:pt x="7084" y="850"/>
                    </a:lnTo>
                    <a:lnTo>
                      <a:pt x="7099" y="896"/>
                    </a:lnTo>
                    <a:lnTo>
                      <a:pt x="7106" y="924"/>
                    </a:lnTo>
                    <a:lnTo>
                      <a:pt x="7117" y="1001"/>
                    </a:lnTo>
                    <a:lnTo>
                      <a:pt x="7125" y="1191"/>
                    </a:lnTo>
                    <a:lnTo>
                      <a:pt x="7125" y="1422"/>
                    </a:lnTo>
                    <a:lnTo>
                      <a:pt x="7126" y="1597"/>
                    </a:lnTo>
                    <a:lnTo>
                      <a:pt x="7129" y="1839"/>
                    </a:lnTo>
                    <a:lnTo>
                      <a:pt x="7132" y="1866"/>
                    </a:lnTo>
                    <a:lnTo>
                      <a:pt x="7144" y="1868"/>
                    </a:lnTo>
                    <a:lnTo>
                      <a:pt x="7240" y="1869"/>
                    </a:lnTo>
                    <a:lnTo>
                      <a:pt x="7307" y="1867"/>
                    </a:lnTo>
                    <a:lnTo>
                      <a:pt x="7475" y="1862"/>
                    </a:lnTo>
                    <a:lnTo>
                      <a:pt x="7475" y="1416"/>
                    </a:lnTo>
                    <a:lnTo>
                      <a:pt x="7475" y="1242"/>
                    </a:lnTo>
                    <a:lnTo>
                      <a:pt x="7469" y="1050"/>
                    </a:lnTo>
                    <a:lnTo>
                      <a:pt x="7461" y="949"/>
                    </a:lnTo>
                    <a:lnTo>
                      <a:pt x="7449" y="864"/>
                    </a:lnTo>
                    <a:lnTo>
                      <a:pt x="7432" y="791"/>
                    </a:lnTo>
                    <a:lnTo>
                      <a:pt x="7409" y="723"/>
                    </a:lnTo>
                    <a:lnTo>
                      <a:pt x="7380" y="655"/>
                    </a:lnTo>
                    <a:lnTo>
                      <a:pt x="7362" y="619"/>
                    </a:lnTo>
                    <a:lnTo>
                      <a:pt x="7336" y="569"/>
                    </a:lnTo>
                    <a:lnTo>
                      <a:pt x="7278" y="476"/>
                    </a:lnTo>
                    <a:lnTo>
                      <a:pt x="7213" y="391"/>
                    </a:lnTo>
                    <a:lnTo>
                      <a:pt x="7142" y="313"/>
                    </a:lnTo>
                    <a:lnTo>
                      <a:pt x="7062" y="243"/>
                    </a:lnTo>
                    <a:lnTo>
                      <a:pt x="6975" y="180"/>
                    </a:lnTo>
                    <a:lnTo>
                      <a:pt x="6880" y="124"/>
                    </a:lnTo>
                    <a:lnTo>
                      <a:pt x="6777" y="74"/>
                    </a:lnTo>
                    <a:lnTo>
                      <a:pt x="6722" y="52"/>
                    </a:lnTo>
                    <a:lnTo>
                      <a:pt x="6600" y="6"/>
                    </a:lnTo>
                    <a:lnTo>
                      <a:pt x="3775" y="2"/>
                    </a:lnTo>
                    <a:lnTo>
                      <a:pt x="2053" y="0"/>
                    </a:lnTo>
                    <a:lnTo>
                      <a:pt x="1076" y="7"/>
                    </a:lnTo>
                    <a:lnTo>
                      <a:pt x="908" y="17"/>
                    </a:lnTo>
                    <a:lnTo>
                      <a:pt x="851" y="25"/>
                    </a:lnTo>
                    <a:lnTo>
                      <a:pt x="829"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8" name="Freeform 7">
                <a:extLst>
                  <a:ext uri="{FF2B5EF4-FFF2-40B4-BE49-F238E27FC236}">
                    <a16:creationId xmlns:a16="http://schemas.microsoft.com/office/drawing/2014/main" id="{8EF45EC1-585E-D164-E91C-015AABDBF08D}"/>
                  </a:ext>
                </a:extLst>
              </p:cNvPr>
              <p:cNvSpPr>
                <a:spLocks/>
              </p:cNvSpPr>
              <p:nvPr/>
            </p:nvSpPr>
            <p:spPr bwMode="auto">
              <a:xfrm>
                <a:off x="10015708" y="3174280"/>
                <a:ext cx="697412" cy="24956"/>
              </a:xfrm>
              <a:custGeom>
                <a:avLst/>
                <a:gdLst>
                  <a:gd name="T0" fmla="*/ 5 w 4150"/>
                  <a:gd name="T1" fmla="*/ 22 h 149"/>
                  <a:gd name="T2" fmla="*/ 2 w 4150"/>
                  <a:gd name="T3" fmla="*/ 34 h 149"/>
                  <a:gd name="T4" fmla="*/ 0 w 4150"/>
                  <a:gd name="T5" fmla="*/ 73 h 149"/>
                  <a:gd name="T6" fmla="*/ 2 w 4150"/>
                  <a:gd name="T7" fmla="*/ 94 h 149"/>
                  <a:gd name="T8" fmla="*/ 7 w 4150"/>
                  <a:gd name="T9" fmla="*/ 140 h 149"/>
                  <a:gd name="T10" fmla="*/ 2079 w 4150"/>
                  <a:gd name="T11" fmla="*/ 145 h 149"/>
                  <a:gd name="T12" fmla="*/ 4150 w 4150"/>
                  <a:gd name="T13" fmla="*/ 149 h 149"/>
                  <a:gd name="T14" fmla="*/ 4145 w 4150"/>
                  <a:gd name="T15" fmla="*/ 79 h 149"/>
                  <a:gd name="T16" fmla="*/ 4140 w 4150"/>
                  <a:gd name="T17" fmla="*/ 7 h 149"/>
                  <a:gd name="T18" fmla="*/ 2077 w 4150"/>
                  <a:gd name="T19" fmla="*/ 2 h 149"/>
                  <a:gd name="T20" fmla="*/ 935 w 4150"/>
                  <a:gd name="T21" fmla="*/ 0 h 149"/>
                  <a:gd name="T22" fmla="*/ 187 w 4150"/>
                  <a:gd name="T23" fmla="*/ 6 h 149"/>
                  <a:gd name="T24" fmla="*/ 46 w 4150"/>
                  <a:gd name="T25" fmla="*/ 12 h 149"/>
                  <a:gd name="T26" fmla="*/ 9 w 4150"/>
                  <a:gd name="T27" fmla="*/ 18 h 149"/>
                  <a:gd name="T28" fmla="*/ 5 w 4150"/>
                  <a:gd name="T29" fmla="*/ 2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50" h="149">
                    <a:moveTo>
                      <a:pt x="5" y="22"/>
                    </a:moveTo>
                    <a:lnTo>
                      <a:pt x="2" y="34"/>
                    </a:lnTo>
                    <a:lnTo>
                      <a:pt x="0" y="73"/>
                    </a:lnTo>
                    <a:lnTo>
                      <a:pt x="2" y="94"/>
                    </a:lnTo>
                    <a:lnTo>
                      <a:pt x="7" y="140"/>
                    </a:lnTo>
                    <a:lnTo>
                      <a:pt x="2079" y="145"/>
                    </a:lnTo>
                    <a:lnTo>
                      <a:pt x="4150" y="149"/>
                    </a:lnTo>
                    <a:lnTo>
                      <a:pt x="4145" y="79"/>
                    </a:lnTo>
                    <a:lnTo>
                      <a:pt x="4140" y="7"/>
                    </a:lnTo>
                    <a:lnTo>
                      <a:pt x="2077" y="2"/>
                    </a:lnTo>
                    <a:lnTo>
                      <a:pt x="935" y="0"/>
                    </a:lnTo>
                    <a:lnTo>
                      <a:pt x="187" y="6"/>
                    </a:lnTo>
                    <a:lnTo>
                      <a:pt x="46"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9" name="Freeform 8">
                <a:extLst>
                  <a:ext uri="{FF2B5EF4-FFF2-40B4-BE49-F238E27FC236}">
                    <a16:creationId xmlns:a16="http://schemas.microsoft.com/office/drawing/2014/main" id="{12EA062D-BB00-E269-A646-A914EE2C8E90}"/>
                  </a:ext>
                </a:extLst>
              </p:cNvPr>
              <p:cNvSpPr>
                <a:spLocks noEditPoints="1"/>
              </p:cNvSpPr>
              <p:nvPr/>
            </p:nvSpPr>
            <p:spPr bwMode="auto">
              <a:xfrm>
                <a:off x="10614202" y="3216932"/>
                <a:ext cx="711023" cy="711023"/>
              </a:xfrm>
              <a:custGeom>
                <a:avLst/>
                <a:gdLst>
                  <a:gd name="T0" fmla="*/ 1447 w 4229"/>
                  <a:gd name="T1" fmla="*/ 106 h 4232"/>
                  <a:gd name="T2" fmla="*/ 819 w 4229"/>
                  <a:gd name="T3" fmla="*/ 442 h 4232"/>
                  <a:gd name="T4" fmla="*/ 456 w 4229"/>
                  <a:gd name="T5" fmla="*/ 801 h 4232"/>
                  <a:gd name="T6" fmla="*/ 145 w 4229"/>
                  <a:gd name="T7" fmla="*/ 1332 h 4232"/>
                  <a:gd name="T8" fmla="*/ 21 w 4229"/>
                  <a:gd name="T9" fmla="*/ 1755 h 4232"/>
                  <a:gd name="T10" fmla="*/ 10 w 4229"/>
                  <a:gd name="T11" fmla="*/ 2393 h 4232"/>
                  <a:gd name="T12" fmla="*/ 92 w 4229"/>
                  <a:gd name="T13" fmla="*/ 2759 h 4232"/>
                  <a:gd name="T14" fmla="*/ 361 w 4229"/>
                  <a:gd name="T15" fmla="*/ 3308 h 4232"/>
                  <a:gd name="T16" fmla="*/ 679 w 4229"/>
                  <a:gd name="T17" fmla="*/ 3670 h 4232"/>
                  <a:gd name="T18" fmla="*/ 1185 w 4229"/>
                  <a:gd name="T19" fmla="*/ 4024 h 4232"/>
                  <a:gd name="T20" fmla="*/ 1714 w 4229"/>
                  <a:gd name="T21" fmla="*/ 4204 h 4232"/>
                  <a:gd name="T22" fmla="*/ 2229 w 4229"/>
                  <a:gd name="T23" fmla="*/ 4232 h 4232"/>
                  <a:gd name="T24" fmla="*/ 2597 w 4229"/>
                  <a:gd name="T25" fmla="*/ 4185 h 4232"/>
                  <a:gd name="T26" fmla="*/ 3176 w 4229"/>
                  <a:gd name="T27" fmla="*/ 3953 h 4232"/>
                  <a:gd name="T28" fmla="*/ 3607 w 4229"/>
                  <a:gd name="T29" fmla="*/ 3612 h 4232"/>
                  <a:gd name="T30" fmla="*/ 3951 w 4229"/>
                  <a:gd name="T31" fmla="*/ 3177 h 4232"/>
                  <a:gd name="T32" fmla="*/ 4182 w 4229"/>
                  <a:gd name="T33" fmla="*/ 2594 h 4232"/>
                  <a:gd name="T34" fmla="*/ 4229 w 4229"/>
                  <a:gd name="T35" fmla="*/ 2228 h 4232"/>
                  <a:gd name="T36" fmla="*/ 4199 w 4229"/>
                  <a:gd name="T37" fmla="*/ 1719 h 4232"/>
                  <a:gd name="T38" fmla="*/ 4017 w 4229"/>
                  <a:gd name="T39" fmla="*/ 1187 h 4232"/>
                  <a:gd name="T40" fmla="*/ 3662 w 4229"/>
                  <a:gd name="T41" fmla="*/ 672 h 4232"/>
                  <a:gd name="T42" fmla="*/ 3179 w 4229"/>
                  <a:gd name="T43" fmla="*/ 284 h 4232"/>
                  <a:gd name="T44" fmla="*/ 2597 w 4229"/>
                  <a:gd name="T45" fmla="*/ 51 h 4232"/>
                  <a:gd name="T46" fmla="*/ 2110 w 4229"/>
                  <a:gd name="T47" fmla="*/ 0 h 4232"/>
                  <a:gd name="T48" fmla="*/ 2421 w 4229"/>
                  <a:gd name="T49" fmla="*/ 373 h 4232"/>
                  <a:gd name="T50" fmla="*/ 2962 w 4229"/>
                  <a:gd name="T51" fmla="*/ 563 h 4232"/>
                  <a:gd name="T52" fmla="*/ 3365 w 4229"/>
                  <a:gd name="T53" fmla="*/ 867 h 4232"/>
                  <a:gd name="T54" fmla="*/ 3716 w 4229"/>
                  <a:gd name="T55" fmla="*/ 1361 h 4232"/>
                  <a:gd name="T56" fmla="*/ 3883 w 4229"/>
                  <a:gd name="T57" fmla="*/ 2003 h 4232"/>
                  <a:gd name="T58" fmla="*/ 3799 w 4229"/>
                  <a:gd name="T59" fmla="*/ 2661 h 4232"/>
                  <a:gd name="T60" fmla="*/ 3464 w 4229"/>
                  <a:gd name="T61" fmla="*/ 3266 h 4232"/>
                  <a:gd name="T62" fmla="*/ 3179 w 4229"/>
                  <a:gd name="T63" fmla="*/ 3532 h 4232"/>
                  <a:gd name="T64" fmla="*/ 2726 w 4229"/>
                  <a:gd name="T65" fmla="*/ 3780 h 4232"/>
                  <a:gd name="T66" fmla="*/ 2408 w 4229"/>
                  <a:gd name="T67" fmla="*/ 3870 h 4232"/>
                  <a:gd name="T68" fmla="*/ 2031 w 4229"/>
                  <a:gd name="T69" fmla="*/ 3882 h 4232"/>
                  <a:gd name="T70" fmla="*/ 1684 w 4229"/>
                  <a:gd name="T71" fmla="*/ 3839 h 4232"/>
                  <a:gd name="T72" fmla="*/ 1289 w 4229"/>
                  <a:gd name="T73" fmla="*/ 3684 h 4232"/>
                  <a:gd name="T74" fmla="*/ 904 w 4229"/>
                  <a:gd name="T75" fmla="*/ 3411 h 4232"/>
                  <a:gd name="T76" fmla="*/ 607 w 4229"/>
                  <a:gd name="T77" fmla="*/ 3048 h 4232"/>
                  <a:gd name="T78" fmla="*/ 410 w 4229"/>
                  <a:gd name="T79" fmla="*/ 2611 h 4232"/>
                  <a:gd name="T80" fmla="*/ 354 w 4229"/>
                  <a:gd name="T81" fmla="*/ 2322 h 4232"/>
                  <a:gd name="T82" fmla="*/ 354 w 4229"/>
                  <a:gd name="T83" fmla="*/ 1916 h 4232"/>
                  <a:gd name="T84" fmla="*/ 410 w 4229"/>
                  <a:gd name="T85" fmla="*/ 1627 h 4232"/>
                  <a:gd name="T86" fmla="*/ 605 w 4229"/>
                  <a:gd name="T87" fmla="*/ 1192 h 4232"/>
                  <a:gd name="T88" fmla="*/ 862 w 4229"/>
                  <a:gd name="T89" fmla="*/ 867 h 4232"/>
                  <a:gd name="T90" fmla="*/ 1142 w 4229"/>
                  <a:gd name="T91" fmla="*/ 639 h 4232"/>
                  <a:gd name="T92" fmla="*/ 1503 w 4229"/>
                  <a:gd name="T93" fmla="*/ 456 h 4232"/>
                  <a:gd name="T94" fmla="*/ 1893 w 4229"/>
                  <a:gd name="T95" fmla="*/ 359 h 4232"/>
                  <a:gd name="T96" fmla="*/ 2298 w 4229"/>
                  <a:gd name="T97" fmla="*/ 355 h 4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229" h="4232">
                    <a:moveTo>
                      <a:pt x="1905" y="4"/>
                    </a:moveTo>
                    <a:lnTo>
                      <a:pt x="1809" y="17"/>
                    </a:lnTo>
                    <a:lnTo>
                      <a:pt x="1624" y="55"/>
                    </a:lnTo>
                    <a:lnTo>
                      <a:pt x="1447" y="106"/>
                    </a:lnTo>
                    <a:lnTo>
                      <a:pt x="1278" y="170"/>
                    </a:lnTo>
                    <a:lnTo>
                      <a:pt x="1117" y="247"/>
                    </a:lnTo>
                    <a:lnTo>
                      <a:pt x="964" y="338"/>
                    </a:lnTo>
                    <a:lnTo>
                      <a:pt x="819" y="442"/>
                    </a:lnTo>
                    <a:lnTo>
                      <a:pt x="681" y="559"/>
                    </a:lnTo>
                    <a:lnTo>
                      <a:pt x="615" y="624"/>
                    </a:lnTo>
                    <a:lnTo>
                      <a:pt x="559" y="682"/>
                    </a:lnTo>
                    <a:lnTo>
                      <a:pt x="456" y="801"/>
                    </a:lnTo>
                    <a:lnTo>
                      <a:pt x="364" y="925"/>
                    </a:lnTo>
                    <a:lnTo>
                      <a:pt x="281" y="1055"/>
                    </a:lnTo>
                    <a:lnTo>
                      <a:pt x="208" y="1190"/>
                    </a:lnTo>
                    <a:lnTo>
                      <a:pt x="145" y="1332"/>
                    </a:lnTo>
                    <a:lnTo>
                      <a:pt x="92" y="1481"/>
                    </a:lnTo>
                    <a:lnTo>
                      <a:pt x="47" y="1637"/>
                    </a:lnTo>
                    <a:lnTo>
                      <a:pt x="29" y="1719"/>
                    </a:lnTo>
                    <a:lnTo>
                      <a:pt x="21" y="1755"/>
                    </a:lnTo>
                    <a:lnTo>
                      <a:pt x="10" y="1845"/>
                    </a:lnTo>
                    <a:lnTo>
                      <a:pt x="0" y="2003"/>
                    </a:lnTo>
                    <a:lnTo>
                      <a:pt x="0" y="2234"/>
                    </a:lnTo>
                    <a:lnTo>
                      <a:pt x="10" y="2393"/>
                    </a:lnTo>
                    <a:lnTo>
                      <a:pt x="21" y="2482"/>
                    </a:lnTo>
                    <a:lnTo>
                      <a:pt x="29" y="2519"/>
                    </a:lnTo>
                    <a:lnTo>
                      <a:pt x="47" y="2602"/>
                    </a:lnTo>
                    <a:lnTo>
                      <a:pt x="92" y="2759"/>
                    </a:lnTo>
                    <a:lnTo>
                      <a:pt x="144" y="2907"/>
                    </a:lnTo>
                    <a:lnTo>
                      <a:pt x="206" y="3047"/>
                    </a:lnTo>
                    <a:lnTo>
                      <a:pt x="278" y="3180"/>
                    </a:lnTo>
                    <a:lnTo>
                      <a:pt x="361" y="3308"/>
                    </a:lnTo>
                    <a:lnTo>
                      <a:pt x="455" y="3431"/>
                    </a:lnTo>
                    <a:lnTo>
                      <a:pt x="562" y="3552"/>
                    </a:lnTo>
                    <a:lnTo>
                      <a:pt x="620" y="3612"/>
                    </a:lnTo>
                    <a:lnTo>
                      <a:pt x="679" y="3670"/>
                    </a:lnTo>
                    <a:lnTo>
                      <a:pt x="799" y="3775"/>
                    </a:lnTo>
                    <a:lnTo>
                      <a:pt x="922" y="3869"/>
                    </a:lnTo>
                    <a:lnTo>
                      <a:pt x="1050" y="3952"/>
                    </a:lnTo>
                    <a:lnTo>
                      <a:pt x="1185" y="4024"/>
                    </a:lnTo>
                    <a:lnTo>
                      <a:pt x="1325" y="4087"/>
                    </a:lnTo>
                    <a:lnTo>
                      <a:pt x="1474" y="4140"/>
                    </a:lnTo>
                    <a:lnTo>
                      <a:pt x="1631" y="4185"/>
                    </a:lnTo>
                    <a:lnTo>
                      <a:pt x="1714" y="4204"/>
                    </a:lnTo>
                    <a:lnTo>
                      <a:pt x="1750" y="4211"/>
                    </a:lnTo>
                    <a:lnTo>
                      <a:pt x="1840" y="4222"/>
                    </a:lnTo>
                    <a:lnTo>
                      <a:pt x="1998" y="4232"/>
                    </a:lnTo>
                    <a:lnTo>
                      <a:pt x="2229" y="4232"/>
                    </a:lnTo>
                    <a:lnTo>
                      <a:pt x="2388" y="4222"/>
                    </a:lnTo>
                    <a:lnTo>
                      <a:pt x="2477" y="4211"/>
                    </a:lnTo>
                    <a:lnTo>
                      <a:pt x="2514" y="4204"/>
                    </a:lnTo>
                    <a:lnTo>
                      <a:pt x="2597" y="4185"/>
                    </a:lnTo>
                    <a:lnTo>
                      <a:pt x="2754" y="4141"/>
                    </a:lnTo>
                    <a:lnTo>
                      <a:pt x="2902" y="4088"/>
                    </a:lnTo>
                    <a:lnTo>
                      <a:pt x="3043" y="4026"/>
                    </a:lnTo>
                    <a:lnTo>
                      <a:pt x="3176" y="3953"/>
                    </a:lnTo>
                    <a:lnTo>
                      <a:pt x="3304" y="3871"/>
                    </a:lnTo>
                    <a:lnTo>
                      <a:pt x="3427" y="3776"/>
                    </a:lnTo>
                    <a:lnTo>
                      <a:pt x="3548" y="3670"/>
                    </a:lnTo>
                    <a:lnTo>
                      <a:pt x="3607" y="3612"/>
                    </a:lnTo>
                    <a:lnTo>
                      <a:pt x="3666" y="3552"/>
                    </a:lnTo>
                    <a:lnTo>
                      <a:pt x="3773" y="3430"/>
                    </a:lnTo>
                    <a:lnTo>
                      <a:pt x="3868" y="3306"/>
                    </a:lnTo>
                    <a:lnTo>
                      <a:pt x="3951" y="3177"/>
                    </a:lnTo>
                    <a:lnTo>
                      <a:pt x="4023" y="3042"/>
                    </a:lnTo>
                    <a:lnTo>
                      <a:pt x="4085" y="2901"/>
                    </a:lnTo>
                    <a:lnTo>
                      <a:pt x="4138" y="2752"/>
                    </a:lnTo>
                    <a:lnTo>
                      <a:pt x="4182" y="2594"/>
                    </a:lnTo>
                    <a:lnTo>
                      <a:pt x="4200" y="2510"/>
                    </a:lnTo>
                    <a:lnTo>
                      <a:pt x="4208" y="2472"/>
                    </a:lnTo>
                    <a:lnTo>
                      <a:pt x="4219" y="2382"/>
                    </a:lnTo>
                    <a:lnTo>
                      <a:pt x="4229" y="2228"/>
                    </a:lnTo>
                    <a:lnTo>
                      <a:pt x="4229" y="2007"/>
                    </a:lnTo>
                    <a:lnTo>
                      <a:pt x="4218" y="1851"/>
                    </a:lnTo>
                    <a:lnTo>
                      <a:pt x="4206" y="1759"/>
                    </a:lnTo>
                    <a:lnTo>
                      <a:pt x="4199" y="1719"/>
                    </a:lnTo>
                    <a:lnTo>
                      <a:pt x="4181" y="1639"/>
                    </a:lnTo>
                    <a:lnTo>
                      <a:pt x="4137" y="1483"/>
                    </a:lnTo>
                    <a:lnTo>
                      <a:pt x="4082" y="1332"/>
                    </a:lnTo>
                    <a:lnTo>
                      <a:pt x="4017" y="1187"/>
                    </a:lnTo>
                    <a:lnTo>
                      <a:pt x="3941" y="1048"/>
                    </a:lnTo>
                    <a:lnTo>
                      <a:pt x="3857" y="916"/>
                    </a:lnTo>
                    <a:lnTo>
                      <a:pt x="3764" y="790"/>
                    </a:lnTo>
                    <a:lnTo>
                      <a:pt x="3662" y="672"/>
                    </a:lnTo>
                    <a:lnTo>
                      <a:pt x="3552" y="562"/>
                    </a:lnTo>
                    <a:lnTo>
                      <a:pt x="3434" y="460"/>
                    </a:lnTo>
                    <a:lnTo>
                      <a:pt x="3310" y="367"/>
                    </a:lnTo>
                    <a:lnTo>
                      <a:pt x="3179" y="284"/>
                    </a:lnTo>
                    <a:lnTo>
                      <a:pt x="3042" y="210"/>
                    </a:lnTo>
                    <a:lnTo>
                      <a:pt x="2899" y="146"/>
                    </a:lnTo>
                    <a:lnTo>
                      <a:pt x="2750" y="93"/>
                    </a:lnTo>
                    <a:lnTo>
                      <a:pt x="2597" y="51"/>
                    </a:lnTo>
                    <a:lnTo>
                      <a:pt x="2519" y="35"/>
                    </a:lnTo>
                    <a:lnTo>
                      <a:pt x="2460" y="26"/>
                    </a:lnTo>
                    <a:lnTo>
                      <a:pt x="2294" y="10"/>
                    </a:lnTo>
                    <a:lnTo>
                      <a:pt x="2110" y="0"/>
                    </a:lnTo>
                    <a:lnTo>
                      <a:pt x="1955" y="0"/>
                    </a:lnTo>
                    <a:lnTo>
                      <a:pt x="1905" y="4"/>
                    </a:lnTo>
                    <a:close/>
                    <a:moveTo>
                      <a:pt x="2349" y="362"/>
                    </a:moveTo>
                    <a:lnTo>
                      <a:pt x="2421" y="373"/>
                    </a:lnTo>
                    <a:lnTo>
                      <a:pt x="2564" y="404"/>
                    </a:lnTo>
                    <a:lnTo>
                      <a:pt x="2701" y="446"/>
                    </a:lnTo>
                    <a:lnTo>
                      <a:pt x="2834" y="499"/>
                    </a:lnTo>
                    <a:lnTo>
                      <a:pt x="2962" y="563"/>
                    </a:lnTo>
                    <a:lnTo>
                      <a:pt x="3084" y="637"/>
                    </a:lnTo>
                    <a:lnTo>
                      <a:pt x="3201" y="721"/>
                    </a:lnTo>
                    <a:lnTo>
                      <a:pt x="3312" y="816"/>
                    </a:lnTo>
                    <a:lnTo>
                      <a:pt x="3365" y="867"/>
                    </a:lnTo>
                    <a:lnTo>
                      <a:pt x="3428" y="932"/>
                    </a:lnTo>
                    <a:lnTo>
                      <a:pt x="3539" y="1068"/>
                    </a:lnTo>
                    <a:lnTo>
                      <a:pt x="3635" y="1211"/>
                    </a:lnTo>
                    <a:lnTo>
                      <a:pt x="3716" y="1361"/>
                    </a:lnTo>
                    <a:lnTo>
                      <a:pt x="3781" y="1516"/>
                    </a:lnTo>
                    <a:lnTo>
                      <a:pt x="3830" y="1676"/>
                    </a:lnTo>
                    <a:lnTo>
                      <a:pt x="3864" y="1838"/>
                    </a:lnTo>
                    <a:lnTo>
                      <a:pt x="3883" y="2003"/>
                    </a:lnTo>
                    <a:lnTo>
                      <a:pt x="3885" y="2169"/>
                    </a:lnTo>
                    <a:lnTo>
                      <a:pt x="3872" y="2334"/>
                    </a:lnTo>
                    <a:lnTo>
                      <a:pt x="3843" y="2499"/>
                    </a:lnTo>
                    <a:lnTo>
                      <a:pt x="3799" y="2661"/>
                    </a:lnTo>
                    <a:lnTo>
                      <a:pt x="3739" y="2820"/>
                    </a:lnTo>
                    <a:lnTo>
                      <a:pt x="3663" y="2974"/>
                    </a:lnTo>
                    <a:lnTo>
                      <a:pt x="3571" y="3123"/>
                    </a:lnTo>
                    <a:lnTo>
                      <a:pt x="3464" y="3266"/>
                    </a:lnTo>
                    <a:lnTo>
                      <a:pt x="3404" y="3334"/>
                    </a:lnTo>
                    <a:lnTo>
                      <a:pt x="3365" y="3375"/>
                    </a:lnTo>
                    <a:lnTo>
                      <a:pt x="3277" y="3455"/>
                    </a:lnTo>
                    <a:lnTo>
                      <a:pt x="3179" y="3532"/>
                    </a:lnTo>
                    <a:lnTo>
                      <a:pt x="3073" y="3604"/>
                    </a:lnTo>
                    <a:lnTo>
                      <a:pt x="2961" y="3670"/>
                    </a:lnTo>
                    <a:lnTo>
                      <a:pt x="2845" y="3729"/>
                    </a:lnTo>
                    <a:lnTo>
                      <a:pt x="2726" y="3780"/>
                    </a:lnTo>
                    <a:lnTo>
                      <a:pt x="2606" y="3822"/>
                    </a:lnTo>
                    <a:lnTo>
                      <a:pt x="2547" y="3839"/>
                    </a:lnTo>
                    <a:lnTo>
                      <a:pt x="2495" y="3852"/>
                    </a:lnTo>
                    <a:lnTo>
                      <a:pt x="2408" y="3870"/>
                    </a:lnTo>
                    <a:lnTo>
                      <a:pt x="2317" y="3879"/>
                    </a:lnTo>
                    <a:lnTo>
                      <a:pt x="2196" y="3882"/>
                    </a:lnTo>
                    <a:lnTo>
                      <a:pt x="2114" y="3882"/>
                    </a:lnTo>
                    <a:lnTo>
                      <a:pt x="2031" y="3882"/>
                    </a:lnTo>
                    <a:lnTo>
                      <a:pt x="1911" y="3879"/>
                    </a:lnTo>
                    <a:lnTo>
                      <a:pt x="1821" y="3870"/>
                    </a:lnTo>
                    <a:lnTo>
                      <a:pt x="1735" y="3852"/>
                    </a:lnTo>
                    <a:lnTo>
                      <a:pt x="1684" y="3839"/>
                    </a:lnTo>
                    <a:lnTo>
                      <a:pt x="1624" y="3822"/>
                    </a:lnTo>
                    <a:lnTo>
                      <a:pt x="1508" y="3783"/>
                    </a:lnTo>
                    <a:lnTo>
                      <a:pt x="1396" y="3737"/>
                    </a:lnTo>
                    <a:lnTo>
                      <a:pt x="1289" y="3684"/>
                    </a:lnTo>
                    <a:lnTo>
                      <a:pt x="1185" y="3625"/>
                    </a:lnTo>
                    <a:lnTo>
                      <a:pt x="1087" y="3560"/>
                    </a:lnTo>
                    <a:lnTo>
                      <a:pt x="993" y="3488"/>
                    </a:lnTo>
                    <a:lnTo>
                      <a:pt x="904" y="3411"/>
                    </a:lnTo>
                    <a:lnTo>
                      <a:pt x="821" y="3328"/>
                    </a:lnTo>
                    <a:lnTo>
                      <a:pt x="744" y="3240"/>
                    </a:lnTo>
                    <a:lnTo>
                      <a:pt x="672" y="3146"/>
                    </a:lnTo>
                    <a:lnTo>
                      <a:pt x="607" y="3048"/>
                    </a:lnTo>
                    <a:lnTo>
                      <a:pt x="547" y="2945"/>
                    </a:lnTo>
                    <a:lnTo>
                      <a:pt x="495" y="2838"/>
                    </a:lnTo>
                    <a:lnTo>
                      <a:pt x="449" y="2727"/>
                    </a:lnTo>
                    <a:lnTo>
                      <a:pt x="410" y="2611"/>
                    </a:lnTo>
                    <a:lnTo>
                      <a:pt x="394" y="2552"/>
                    </a:lnTo>
                    <a:lnTo>
                      <a:pt x="380" y="2500"/>
                    </a:lnTo>
                    <a:lnTo>
                      <a:pt x="363" y="2413"/>
                    </a:lnTo>
                    <a:lnTo>
                      <a:pt x="354" y="2322"/>
                    </a:lnTo>
                    <a:lnTo>
                      <a:pt x="350" y="2201"/>
                    </a:lnTo>
                    <a:lnTo>
                      <a:pt x="350" y="2119"/>
                    </a:lnTo>
                    <a:lnTo>
                      <a:pt x="350" y="2036"/>
                    </a:lnTo>
                    <a:lnTo>
                      <a:pt x="354" y="1916"/>
                    </a:lnTo>
                    <a:lnTo>
                      <a:pt x="363" y="1825"/>
                    </a:lnTo>
                    <a:lnTo>
                      <a:pt x="380" y="1737"/>
                    </a:lnTo>
                    <a:lnTo>
                      <a:pt x="394" y="1685"/>
                    </a:lnTo>
                    <a:lnTo>
                      <a:pt x="410" y="1627"/>
                    </a:lnTo>
                    <a:lnTo>
                      <a:pt x="448" y="1512"/>
                    </a:lnTo>
                    <a:lnTo>
                      <a:pt x="494" y="1401"/>
                    </a:lnTo>
                    <a:lnTo>
                      <a:pt x="546" y="1295"/>
                    </a:lnTo>
                    <a:lnTo>
                      <a:pt x="605" y="1192"/>
                    </a:lnTo>
                    <a:lnTo>
                      <a:pt x="670" y="1094"/>
                    </a:lnTo>
                    <a:lnTo>
                      <a:pt x="742" y="1000"/>
                    </a:lnTo>
                    <a:lnTo>
                      <a:pt x="820" y="910"/>
                    </a:lnTo>
                    <a:lnTo>
                      <a:pt x="862" y="867"/>
                    </a:lnTo>
                    <a:lnTo>
                      <a:pt x="899" y="831"/>
                    </a:lnTo>
                    <a:lnTo>
                      <a:pt x="977" y="762"/>
                    </a:lnTo>
                    <a:lnTo>
                      <a:pt x="1058" y="698"/>
                    </a:lnTo>
                    <a:lnTo>
                      <a:pt x="1142" y="639"/>
                    </a:lnTo>
                    <a:lnTo>
                      <a:pt x="1228" y="585"/>
                    </a:lnTo>
                    <a:lnTo>
                      <a:pt x="1318" y="537"/>
                    </a:lnTo>
                    <a:lnTo>
                      <a:pt x="1409" y="493"/>
                    </a:lnTo>
                    <a:lnTo>
                      <a:pt x="1503" y="456"/>
                    </a:lnTo>
                    <a:lnTo>
                      <a:pt x="1598" y="423"/>
                    </a:lnTo>
                    <a:lnTo>
                      <a:pt x="1695" y="396"/>
                    </a:lnTo>
                    <a:lnTo>
                      <a:pt x="1794" y="375"/>
                    </a:lnTo>
                    <a:lnTo>
                      <a:pt x="1893" y="359"/>
                    </a:lnTo>
                    <a:lnTo>
                      <a:pt x="1994" y="350"/>
                    </a:lnTo>
                    <a:lnTo>
                      <a:pt x="2095" y="346"/>
                    </a:lnTo>
                    <a:lnTo>
                      <a:pt x="2196" y="348"/>
                    </a:lnTo>
                    <a:lnTo>
                      <a:pt x="2298" y="355"/>
                    </a:lnTo>
                    <a:lnTo>
                      <a:pt x="2349" y="3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0" name="Freeform 9">
                <a:extLst>
                  <a:ext uri="{FF2B5EF4-FFF2-40B4-BE49-F238E27FC236}">
                    <a16:creationId xmlns:a16="http://schemas.microsoft.com/office/drawing/2014/main" id="{4F526E35-A804-6DDF-0CBA-D9A088CC786E}"/>
                  </a:ext>
                </a:extLst>
              </p:cNvPr>
              <p:cNvSpPr>
                <a:spLocks/>
              </p:cNvSpPr>
              <p:nvPr/>
            </p:nvSpPr>
            <p:spPr bwMode="auto">
              <a:xfrm>
                <a:off x="10763484"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pPr algn="r" rtl="1"/>
                <a:endParaRPr lang="en-US"/>
              </a:p>
            </p:txBody>
          </p:sp>
          <p:sp>
            <p:nvSpPr>
              <p:cNvPr id="11" name="Freeform 10">
                <a:extLst>
                  <a:ext uri="{FF2B5EF4-FFF2-40B4-BE49-F238E27FC236}">
                    <a16:creationId xmlns:a16="http://schemas.microsoft.com/office/drawing/2014/main" id="{E9ECAAD5-EA4D-B307-EEB8-E468B5637A9E}"/>
                  </a:ext>
                </a:extLst>
              </p:cNvPr>
              <p:cNvSpPr>
                <a:spLocks/>
              </p:cNvSpPr>
              <p:nvPr/>
            </p:nvSpPr>
            <p:spPr bwMode="auto">
              <a:xfrm>
                <a:off x="10015708" y="3364401"/>
                <a:ext cx="588058" cy="24956"/>
              </a:xfrm>
              <a:custGeom>
                <a:avLst/>
                <a:gdLst>
                  <a:gd name="T0" fmla="*/ 5 w 3499"/>
                  <a:gd name="T1" fmla="*/ 23 h 150"/>
                  <a:gd name="T2" fmla="*/ 2 w 3499"/>
                  <a:gd name="T3" fmla="*/ 36 h 150"/>
                  <a:gd name="T4" fmla="*/ 0 w 3499"/>
                  <a:gd name="T5" fmla="*/ 74 h 150"/>
                  <a:gd name="T6" fmla="*/ 2 w 3499"/>
                  <a:gd name="T7" fmla="*/ 95 h 150"/>
                  <a:gd name="T8" fmla="*/ 7 w 3499"/>
                  <a:gd name="T9" fmla="*/ 142 h 150"/>
                  <a:gd name="T10" fmla="*/ 1720 w 3499"/>
                  <a:gd name="T11" fmla="*/ 147 h 150"/>
                  <a:gd name="T12" fmla="*/ 3432 w 3499"/>
                  <a:gd name="T13" fmla="*/ 150 h 150"/>
                  <a:gd name="T14" fmla="*/ 3465 w 3499"/>
                  <a:gd name="T15" fmla="*/ 97 h 150"/>
                  <a:gd name="T16" fmla="*/ 3479 w 3499"/>
                  <a:gd name="T17" fmla="*/ 74 h 150"/>
                  <a:gd name="T18" fmla="*/ 3497 w 3499"/>
                  <a:gd name="T19" fmla="*/ 32 h 150"/>
                  <a:gd name="T20" fmla="*/ 3499 w 3499"/>
                  <a:gd name="T21" fmla="*/ 20 h 150"/>
                  <a:gd name="T22" fmla="*/ 3496 w 3499"/>
                  <a:gd name="T23" fmla="*/ 17 h 150"/>
                  <a:gd name="T24" fmla="*/ 3458 w 3499"/>
                  <a:gd name="T25" fmla="*/ 13 h 150"/>
                  <a:gd name="T26" fmla="*/ 3321 w 3499"/>
                  <a:gd name="T27" fmla="*/ 7 h 150"/>
                  <a:gd name="T28" fmla="*/ 2666 w 3499"/>
                  <a:gd name="T29" fmla="*/ 1 h 150"/>
                  <a:gd name="T30" fmla="*/ 1757 w 3499"/>
                  <a:gd name="T31" fmla="*/ 0 h 150"/>
                  <a:gd name="T32" fmla="*/ 795 w 3499"/>
                  <a:gd name="T33" fmla="*/ 0 h 150"/>
                  <a:gd name="T34" fmla="*/ 161 w 3499"/>
                  <a:gd name="T35" fmla="*/ 7 h 150"/>
                  <a:gd name="T36" fmla="*/ 41 w 3499"/>
                  <a:gd name="T37" fmla="*/ 14 h 150"/>
                  <a:gd name="T38" fmla="*/ 9 w 3499"/>
                  <a:gd name="T39" fmla="*/ 20 h 150"/>
                  <a:gd name="T40" fmla="*/ 5 w 3499"/>
                  <a:gd name="T41"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99" h="150">
                    <a:moveTo>
                      <a:pt x="5" y="23"/>
                    </a:moveTo>
                    <a:lnTo>
                      <a:pt x="2" y="36"/>
                    </a:lnTo>
                    <a:lnTo>
                      <a:pt x="0" y="74"/>
                    </a:lnTo>
                    <a:lnTo>
                      <a:pt x="2" y="95"/>
                    </a:lnTo>
                    <a:lnTo>
                      <a:pt x="7" y="142"/>
                    </a:lnTo>
                    <a:lnTo>
                      <a:pt x="1720" y="147"/>
                    </a:lnTo>
                    <a:lnTo>
                      <a:pt x="3432" y="150"/>
                    </a:lnTo>
                    <a:lnTo>
                      <a:pt x="3465" y="97"/>
                    </a:lnTo>
                    <a:lnTo>
                      <a:pt x="3479" y="74"/>
                    </a:lnTo>
                    <a:lnTo>
                      <a:pt x="3497" y="32"/>
                    </a:lnTo>
                    <a:lnTo>
                      <a:pt x="3499" y="20"/>
                    </a:lnTo>
                    <a:lnTo>
                      <a:pt x="3496" y="17"/>
                    </a:lnTo>
                    <a:lnTo>
                      <a:pt x="3458" y="13"/>
                    </a:lnTo>
                    <a:lnTo>
                      <a:pt x="3321" y="7"/>
                    </a:lnTo>
                    <a:lnTo>
                      <a:pt x="2666" y="1"/>
                    </a:lnTo>
                    <a:lnTo>
                      <a:pt x="1757" y="0"/>
                    </a:lnTo>
                    <a:lnTo>
                      <a:pt x="795" y="0"/>
                    </a:lnTo>
                    <a:lnTo>
                      <a:pt x="161" y="7"/>
                    </a:lnTo>
                    <a:lnTo>
                      <a:pt x="41"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2" name="Freeform 11">
                <a:extLst>
                  <a:ext uri="{FF2B5EF4-FFF2-40B4-BE49-F238E27FC236}">
                    <a16:creationId xmlns:a16="http://schemas.microsoft.com/office/drawing/2014/main" id="{577A4336-646F-DE01-486A-D2ECCAABF4C7}"/>
                  </a:ext>
                </a:extLst>
              </p:cNvPr>
              <p:cNvSpPr>
                <a:spLocks/>
              </p:cNvSpPr>
              <p:nvPr/>
            </p:nvSpPr>
            <p:spPr bwMode="auto">
              <a:xfrm>
                <a:off x="10015708" y="3565865"/>
                <a:ext cx="534969" cy="25410"/>
              </a:xfrm>
              <a:custGeom>
                <a:avLst/>
                <a:gdLst>
                  <a:gd name="T0" fmla="*/ 5 w 3182"/>
                  <a:gd name="T1" fmla="*/ 23 h 150"/>
                  <a:gd name="T2" fmla="*/ 2 w 3182"/>
                  <a:gd name="T3" fmla="*/ 36 h 150"/>
                  <a:gd name="T4" fmla="*/ 0 w 3182"/>
                  <a:gd name="T5" fmla="*/ 74 h 150"/>
                  <a:gd name="T6" fmla="*/ 2 w 3182"/>
                  <a:gd name="T7" fmla="*/ 95 h 150"/>
                  <a:gd name="T8" fmla="*/ 7 w 3182"/>
                  <a:gd name="T9" fmla="*/ 142 h 150"/>
                  <a:gd name="T10" fmla="*/ 1595 w 3182"/>
                  <a:gd name="T11" fmla="*/ 147 h 150"/>
                  <a:gd name="T12" fmla="*/ 3182 w 3182"/>
                  <a:gd name="T13" fmla="*/ 150 h 150"/>
                  <a:gd name="T14" fmla="*/ 3182 w 3182"/>
                  <a:gd name="T15" fmla="*/ 75 h 150"/>
                  <a:gd name="T16" fmla="*/ 3182 w 3182"/>
                  <a:gd name="T17" fmla="*/ 0 h 150"/>
                  <a:gd name="T18" fmla="*/ 1599 w 3182"/>
                  <a:gd name="T19" fmla="*/ 0 h 150"/>
                  <a:gd name="T20" fmla="*/ 725 w 3182"/>
                  <a:gd name="T21" fmla="*/ 0 h 150"/>
                  <a:gd name="T22" fmla="*/ 148 w 3182"/>
                  <a:gd name="T23" fmla="*/ 7 h 150"/>
                  <a:gd name="T24" fmla="*/ 38 w 3182"/>
                  <a:gd name="T25" fmla="*/ 14 h 150"/>
                  <a:gd name="T26" fmla="*/ 9 w 3182"/>
                  <a:gd name="T27" fmla="*/ 20 h 150"/>
                  <a:gd name="T28" fmla="*/ 5 w 3182"/>
                  <a:gd name="T29" fmla="*/ 2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82" h="150">
                    <a:moveTo>
                      <a:pt x="5" y="23"/>
                    </a:moveTo>
                    <a:lnTo>
                      <a:pt x="2" y="36"/>
                    </a:lnTo>
                    <a:lnTo>
                      <a:pt x="0" y="74"/>
                    </a:lnTo>
                    <a:lnTo>
                      <a:pt x="2" y="95"/>
                    </a:lnTo>
                    <a:lnTo>
                      <a:pt x="7" y="142"/>
                    </a:lnTo>
                    <a:lnTo>
                      <a:pt x="1595" y="147"/>
                    </a:lnTo>
                    <a:lnTo>
                      <a:pt x="3182" y="150"/>
                    </a:lnTo>
                    <a:lnTo>
                      <a:pt x="3182" y="75"/>
                    </a:lnTo>
                    <a:lnTo>
                      <a:pt x="3182" y="0"/>
                    </a:lnTo>
                    <a:lnTo>
                      <a:pt x="1599" y="0"/>
                    </a:lnTo>
                    <a:lnTo>
                      <a:pt x="725" y="0"/>
                    </a:lnTo>
                    <a:lnTo>
                      <a:pt x="148" y="7"/>
                    </a:lnTo>
                    <a:lnTo>
                      <a:pt x="38" y="14"/>
                    </a:lnTo>
                    <a:lnTo>
                      <a:pt x="9" y="20"/>
                    </a:lnTo>
                    <a:lnTo>
                      <a:pt x="5"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3" name="Freeform 12">
                <a:extLst>
                  <a:ext uri="{FF2B5EF4-FFF2-40B4-BE49-F238E27FC236}">
                    <a16:creationId xmlns:a16="http://schemas.microsoft.com/office/drawing/2014/main" id="{BD289E4C-C48C-1BDA-42E1-0F400FE65FC1}"/>
                  </a:ext>
                </a:extLst>
              </p:cNvPr>
              <p:cNvSpPr>
                <a:spLocks/>
              </p:cNvSpPr>
              <p:nvPr/>
            </p:nvSpPr>
            <p:spPr bwMode="auto">
              <a:xfrm>
                <a:off x="10015708" y="3756440"/>
                <a:ext cx="591688" cy="24956"/>
              </a:xfrm>
              <a:custGeom>
                <a:avLst/>
                <a:gdLst>
                  <a:gd name="T0" fmla="*/ 5 w 3519"/>
                  <a:gd name="T1" fmla="*/ 22 h 148"/>
                  <a:gd name="T2" fmla="*/ 2 w 3519"/>
                  <a:gd name="T3" fmla="*/ 34 h 148"/>
                  <a:gd name="T4" fmla="*/ 0 w 3519"/>
                  <a:gd name="T5" fmla="*/ 73 h 148"/>
                  <a:gd name="T6" fmla="*/ 2 w 3519"/>
                  <a:gd name="T7" fmla="*/ 93 h 148"/>
                  <a:gd name="T8" fmla="*/ 7 w 3519"/>
                  <a:gd name="T9" fmla="*/ 140 h 148"/>
                  <a:gd name="T10" fmla="*/ 1762 w 3519"/>
                  <a:gd name="T11" fmla="*/ 145 h 148"/>
                  <a:gd name="T12" fmla="*/ 3519 w 3519"/>
                  <a:gd name="T13" fmla="*/ 148 h 148"/>
                  <a:gd name="T14" fmla="*/ 3479 w 3519"/>
                  <a:gd name="T15" fmla="*/ 78 h 148"/>
                  <a:gd name="T16" fmla="*/ 3440 w 3519"/>
                  <a:gd name="T17" fmla="*/ 7 h 148"/>
                  <a:gd name="T18" fmla="*/ 1727 w 3519"/>
                  <a:gd name="T19" fmla="*/ 2 h 148"/>
                  <a:gd name="T20" fmla="*/ 779 w 3519"/>
                  <a:gd name="T21" fmla="*/ 0 h 148"/>
                  <a:gd name="T22" fmla="*/ 158 w 3519"/>
                  <a:gd name="T23" fmla="*/ 5 h 148"/>
                  <a:gd name="T24" fmla="*/ 40 w 3519"/>
                  <a:gd name="T25" fmla="*/ 12 h 148"/>
                  <a:gd name="T26" fmla="*/ 9 w 3519"/>
                  <a:gd name="T27" fmla="*/ 18 h 148"/>
                  <a:gd name="T28" fmla="*/ 5 w 3519"/>
                  <a:gd name="T29" fmla="*/ 2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9" h="148">
                    <a:moveTo>
                      <a:pt x="5" y="22"/>
                    </a:moveTo>
                    <a:lnTo>
                      <a:pt x="2" y="34"/>
                    </a:lnTo>
                    <a:lnTo>
                      <a:pt x="0" y="73"/>
                    </a:lnTo>
                    <a:lnTo>
                      <a:pt x="2" y="93"/>
                    </a:lnTo>
                    <a:lnTo>
                      <a:pt x="7" y="140"/>
                    </a:lnTo>
                    <a:lnTo>
                      <a:pt x="1762" y="145"/>
                    </a:lnTo>
                    <a:lnTo>
                      <a:pt x="3519" y="148"/>
                    </a:lnTo>
                    <a:lnTo>
                      <a:pt x="3479" y="78"/>
                    </a:lnTo>
                    <a:lnTo>
                      <a:pt x="3440" y="7"/>
                    </a:lnTo>
                    <a:lnTo>
                      <a:pt x="1727" y="2"/>
                    </a:lnTo>
                    <a:lnTo>
                      <a:pt x="779" y="0"/>
                    </a:lnTo>
                    <a:lnTo>
                      <a:pt x="158" y="5"/>
                    </a:lnTo>
                    <a:lnTo>
                      <a:pt x="40" y="12"/>
                    </a:lnTo>
                    <a:lnTo>
                      <a:pt x="9" y="18"/>
                    </a:lnTo>
                    <a:lnTo>
                      <a:pt x="5"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sp>
            <p:nvSpPr>
              <p:cNvPr id="14" name="Freeform 13">
                <a:extLst>
                  <a:ext uri="{FF2B5EF4-FFF2-40B4-BE49-F238E27FC236}">
                    <a16:creationId xmlns:a16="http://schemas.microsoft.com/office/drawing/2014/main" id="{0C4D1262-B931-A8A3-9FF3-0573D05C6ECB}"/>
                  </a:ext>
                </a:extLst>
              </p:cNvPr>
              <p:cNvSpPr>
                <a:spLocks/>
              </p:cNvSpPr>
              <p:nvPr/>
            </p:nvSpPr>
            <p:spPr bwMode="auto">
              <a:xfrm>
                <a:off x="10015253" y="3949283"/>
                <a:ext cx="697865" cy="22688"/>
              </a:xfrm>
              <a:custGeom>
                <a:avLst/>
                <a:gdLst>
                  <a:gd name="T0" fmla="*/ 0 w 4150"/>
                  <a:gd name="T1" fmla="*/ 67 h 134"/>
                  <a:gd name="T2" fmla="*/ 0 w 4150"/>
                  <a:gd name="T3" fmla="*/ 134 h 134"/>
                  <a:gd name="T4" fmla="*/ 2075 w 4150"/>
                  <a:gd name="T5" fmla="*/ 134 h 134"/>
                  <a:gd name="T6" fmla="*/ 4150 w 4150"/>
                  <a:gd name="T7" fmla="*/ 134 h 134"/>
                  <a:gd name="T8" fmla="*/ 4150 w 4150"/>
                  <a:gd name="T9" fmla="*/ 67 h 134"/>
                  <a:gd name="T10" fmla="*/ 4150 w 4150"/>
                  <a:gd name="T11" fmla="*/ 0 h 134"/>
                  <a:gd name="T12" fmla="*/ 2075 w 4150"/>
                  <a:gd name="T13" fmla="*/ 0 h 134"/>
                  <a:gd name="T14" fmla="*/ 0 w 4150"/>
                  <a:gd name="T15" fmla="*/ 0 h 134"/>
                  <a:gd name="T16" fmla="*/ 0 w 4150"/>
                  <a:gd name="T17" fmla="*/ 6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50" h="134">
                    <a:moveTo>
                      <a:pt x="0" y="67"/>
                    </a:moveTo>
                    <a:lnTo>
                      <a:pt x="0" y="134"/>
                    </a:lnTo>
                    <a:lnTo>
                      <a:pt x="2075" y="134"/>
                    </a:lnTo>
                    <a:lnTo>
                      <a:pt x="4150" y="134"/>
                    </a:lnTo>
                    <a:lnTo>
                      <a:pt x="4150" y="67"/>
                    </a:lnTo>
                    <a:lnTo>
                      <a:pt x="4150" y="0"/>
                    </a:lnTo>
                    <a:lnTo>
                      <a:pt x="2075" y="0"/>
                    </a:lnTo>
                    <a:lnTo>
                      <a:pt x="0"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a:p>
            </p:txBody>
          </p:sp>
        </p:grpSp>
        <p:sp>
          <p:nvSpPr>
            <p:cNvPr id="6" name="Freeform 9">
              <a:extLst>
                <a:ext uri="{FF2B5EF4-FFF2-40B4-BE49-F238E27FC236}">
                  <a16:creationId xmlns:a16="http://schemas.microsoft.com/office/drawing/2014/main" id="{EB9C351F-0EF2-E5D7-B2D9-31ACD299E002}"/>
                </a:ext>
              </a:extLst>
            </p:cNvPr>
            <p:cNvSpPr>
              <a:spLocks/>
            </p:cNvSpPr>
            <p:nvPr/>
          </p:nvSpPr>
          <p:spPr bwMode="auto">
            <a:xfrm flipH="1">
              <a:off x="1210776" y="3432917"/>
              <a:ext cx="388862" cy="278148"/>
            </a:xfrm>
            <a:custGeom>
              <a:avLst/>
              <a:gdLst>
                <a:gd name="T0" fmla="*/ 2068 w 2313"/>
                <a:gd name="T1" fmla="*/ 3 h 1656"/>
                <a:gd name="T2" fmla="*/ 2054 w 2313"/>
                <a:gd name="T3" fmla="*/ 11 h 1656"/>
                <a:gd name="T4" fmla="*/ 1968 w 2313"/>
                <a:gd name="T5" fmla="*/ 83 h 1656"/>
                <a:gd name="T6" fmla="*/ 1743 w 2313"/>
                <a:gd name="T7" fmla="*/ 289 h 1656"/>
                <a:gd name="T8" fmla="*/ 1535 w 2313"/>
                <a:gd name="T9" fmla="*/ 489 h 1656"/>
                <a:gd name="T10" fmla="*/ 1124 w 2313"/>
                <a:gd name="T11" fmla="*/ 886 h 1656"/>
                <a:gd name="T12" fmla="*/ 915 w 2313"/>
                <a:gd name="T13" fmla="*/ 1088 h 1656"/>
                <a:gd name="T14" fmla="*/ 786 w 2313"/>
                <a:gd name="T15" fmla="*/ 1209 h 1656"/>
                <a:gd name="T16" fmla="*/ 565 w 2313"/>
                <a:gd name="T17" fmla="*/ 974 h 1656"/>
                <a:gd name="T18" fmla="*/ 481 w 2313"/>
                <a:gd name="T19" fmla="*/ 887 h 1656"/>
                <a:gd name="T20" fmla="*/ 360 w 2313"/>
                <a:gd name="T21" fmla="*/ 768 h 1656"/>
                <a:gd name="T22" fmla="*/ 297 w 2313"/>
                <a:gd name="T23" fmla="*/ 716 h 1656"/>
                <a:gd name="T24" fmla="*/ 263 w 2313"/>
                <a:gd name="T25" fmla="*/ 694 h 1656"/>
                <a:gd name="T26" fmla="*/ 234 w 2313"/>
                <a:gd name="T27" fmla="*/ 680 h 1656"/>
                <a:gd name="T28" fmla="*/ 206 w 2313"/>
                <a:gd name="T29" fmla="*/ 675 h 1656"/>
                <a:gd name="T30" fmla="*/ 193 w 2313"/>
                <a:gd name="T31" fmla="*/ 674 h 1656"/>
                <a:gd name="T32" fmla="*/ 166 w 2313"/>
                <a:gd name="T33" fmla="*/ 676 h 1656"/>
                <a:gd name="T34" fmla="*/ 117 w 2313"/>
                <a:gd name="T35" fmla="*/ 690 h 1656"/>
                <a:gd name="T36" fmla="*/ 74 w 2313"/>
                <a:gd name="T37" fmla="*/ 716 h 1656"/>
                <a:gd name="T38" fmla="*/ 40 w 2313"/>
                <a:gd name="T39" fmla="*/ 752 h 1656"/>
                <a:gd name="T40" fmla="*/ 15 w 2313"/>
                <a:gd name="T41" fmla="*/ 794 h 1656"/>
                <a:gd name="T42" fmla="*/ 1 w 2313"/>
                <a:gd name="T43" fmla="*/ 841 h 1656"/>
                <a:gd name="T44" fmla="*/ 0 w 2313"/>
                <a:gd name="T45" fmla="*/ 889 h 1656"/>
                <a:gd name="T46" fmla="*/ 13 w 2313"/>
                <a:gd name="T47" fmla="*/ 936 h 1656"/>
                <a:gd name="T48" fmla="*/ 26 w 2313"/>
                <a:gd name="T49" fmla="*/ 958 h 1656"/>
                <a:gd name="T50" fmla="*/ 60 w 2313"/>
                <a:gd name="T51" fmla="*/ 999 h 1656"/>
                <a:gd name="T52" fmla="*/ 245 w 2313"/>
                <a:gd name="T53" fmla="*/ 1193 h 1656"/>
                <a:gd name="T54" fmla="*/ 482 w 2313"/>
                <a:gd name="T55" fmla="*/ 1429 h 1656"/>
                <a:gd name="T56" fmla="*/ 668 w 2313"/>
                <a:gd name="T57" fmla="*/ 1607 h 1656"/>
                <a:gd name="T58" fmla="*/ 703 w 2313"/>
                <a:gd name="T59" fmla="*/ 1634 h 1656"/>
                <a:gd name="T60" fmla="*/ 724 w 2313"/>
                <a:gd name="T61" fmla="*/ 1644 h 1656"/>
                <a:gd name="T62" fmla="*/ 772 w 2313"/>
                <a:gd name="T63" fmla="*/ 1655 h 1656"/>
                <a:gd name="T64" fmla="*/ 822 w 2313"/>
                <a:gd name="T65" fmla="*/ 1656 h 1656"/>
                <a:gd name="T66" fmla="*/ 868 w 2313"/>
                <a:gd name="T67" fmla="*/ 1647 h 1656"/>
                <a:gd name="T68" fmla="*/ 888 w 2313"/>
                <a:gd name="T69" fmla="*/ 1638 h 1656"/>
                <a:gd name="T70" fmla="*/ 932 w 2313"/>
                <a:gd name="T71" fmla="*/ 1602 h 1656"/>
                <a:gd name="T72" fmla="*/ 1238 w 2313"/>
                <a:gd name="T73" fmla="*/ 1314 h 1656"/>
                <a:gd name="T74" fmla="*/ 1450 w 2313"/>
                <a:gd name="T75" fmla="*/ 1109 h 1656"/>
                <a:gd name="T76" fmla="*/ 1890 w 2313"/>
                <a:gd name="T77" fmla="*/ 681 h 1656"/>
                <a:gd name="T78" fmla="*/ 2128 w 2313"/>
                <a:gd name="T79" fmla="*/ 451 h 1656"/>
                <a:gd name="T80" fmla="*/ 2184 w 2313"/>
                <a:gd name="T81" fmla="*/ 396 h 1656"/>
                <a:gd name="T82" fmla="*/ 2262 w 2313"/>
                <a:gd name="T83" fmla="*/ 307 h 1656"/>
                <a:gd name="T84" fmla="*/ 2295 w 2313"/>
                <a:gd name="T85" fmla="*/ 254 h 1656"/>
                <a:gd name="T86" fmla="*/ 2308 w 2313"/>
                <a:gd name="T87" fmla="*/ 221 h 1656"/>
                <a:gd name="T88" fmla="*/ 2313 w 2313"/>
                <a:gd name="T89" fmla="*/ 190 h 1656"/>
                <a:gd name="T90" fmla="*/ 2311 w 2313"/>
                <a:gd name="T91" fmla="*/ 159 h 1656"/>
                <a:gd name="T92" fmla="*/ 2308 w 2313"/>
                <a:gd name="T93" fmla="*/ 143 h 1656"/>
                <a:gd name="T94" fmla="*/ 2304 w 2313"/>
                <a:gd name="T95" fmla="*/ 125 h 1656"/>
                <a:gd name="T96" fmla="*/ 2288 w 2313"/>
                <a:gd name="T97" fmla="*/ 93 h 1656"/>
                <a:gd name="T98" fmla="*/ 2265 w 2313"/>
                <a:gd name="T99" fmla="*/ 65 h 1656"/>
                <a:gd name="T100" fmla="*/ 2237 w 2313"/>
                <a:gd name="T101" fmla="*/ 40 h 1656"/>
                <a:gd name="T102" fmla="*/ 2204 w 2313"/>
                <a:gd name="T103" fmla="*/ 21 h 1656"/>
                <a:gd name="T104" fmla="*/ 2167 w 2313"/>
                <a:gd name="T105" fmla="*/ 7 h 1656"/>
                <a:gd name="T106" fmla="*/ 2128 w 2313"/>
                <a:gd name="T107" fmla="*/ 0 h 1656"/>
                <a:gd name="T108" fmla="*/ 2088 w 2313"/>
                <a:gd name="T109" fmla="*/ 0 h 1656"/>
                <a:gd name="T110" fmla="*/ 2068 w 2313"/>
                <a:gd name="T111" fmla="*/ 3 h 1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3" h="1656">
                  <a:moveTo>
                    <a:pt x="2068" y="3"/>
                  </a:moveTo>
                  <a:lnTo>
                    <a:pt x="2054" y="11"/>
                  </a:lnTo>
                  <a:lnTo>
                    <a:pt x="1968" y="83"/>
                  </a:lnTo>
                  <a:lnTo>
                    <a:pt x="1743" y="289"/>
                  </a:lnTo>
                  <a:lnTo>
                    <a:pt x="1535" y="489"/>
                  </a:lnTo>
                  <a:lnTo>
                    <a:pt x="1124" y="886"/>
                  </a:lnTo>
                  <a:lnTo>
                    <a:pt x="915" y="1088"/>
                  </a:lnTo>
                  <a:lnTo>
                    <a:pt x="786" y="1209"/>
                  </a:lnTo>
                  <a:lnTo>
                    <a:pt x="565" y="974"/>
                  </a:lnTo>
                  <a:lnTo>
                    <a:pt x="481" y="887"/>
                  </a:lnTo>
                  <a:lnTo>
                    <a:pt x="360" y="768"/>
                  </a:lnTo>
                  <a:lnTo>
                    <a:pt x="297" y="716"/>
                  </a:lnTo>
                  <a:lnTo>
                    <a:pt x="263" y="694"/>
                  </a:lnTo>
                  <a:lnTo>
                    <a:pt x="234" y="680"/>
                  </a:lnTo>
                  <a:lnTo>
                    <a:pt x="206" y="675"/>
                  </a:lnTo>
                  <a:lnTo>
                    <a:pt x="193" y="674"/>
                  </a:lnTo>
                  <a:lnTo>
                    <a:pt x="166" y="676"/>
                  </a:lnTo>
                  <a:lnTo>
                    <a:pt x="117" y="690"/>
                  </a:lnTo>
                  <a:lnTo>
                    <a:pt x="74" y="716"/>
                  </a:lnTo>
                  <a:lnTo>
                    <a:pt x="40" y="752"/>
                  </a:lnTo>
                  <a:lnTo>
                    <a:pt x="15" y="794"/>
                  </a:lnTo>
                  <a:lnTo>
                    <a:pt x="1" y="841"/>
                  </a:lnTo>
                  <a:lnTo>
                    <a:pt x="0" y="889"/>
                  </a:lnTo>
                  <a:lnTo>
                    <a:pt x="13" y="936"/>
                  </a:lnTo>
                  <a:lnTo>
                    <a:pt x="26" y="958"/>
                  </a:lnTo>
                  <a:lnTo>
                    <a:pt x="60" y="999"/>
                  </a:lnTo>
                  <a:lnTo>
                    <a:pt x="245" y="1193"/>
                  </a:lnTo>
                  <a:lnTo>
                    <a:pt x="482" y="1429"/>
                  </a:lnTo>
                  <a:lnTo>
                    <a:pt x="668" y="1607"/>
                  </a:lnTo>
                  <a:lnTo>
                    <a:pt x="703" y="1634"/>
                  </a:lnTo>
                  <a:lnTo>
                    <a:pt x="724" y="1644"/>
                  </a:lnTo>
                  <a:lnTo>
                    <a:pt x="772" y="1655"/>
                  </a:lnTo>
                  <a:lnTo>
                    <a:pt x="822" y="1656"/>
                  </a:lnTo>
                  <a:lnTo>
                    <a:pt x="868" y="1647"/>
                  </a:lnTo>
                  <a:lnTo>
                    <a:pt x="888" y="1638"/>
                  </a:lnTo>
                  <a:lnTo>
                    <a:pt x="932" y="1602"/>
                  </a:lnTo>
                  <a:lnTo>
                    <a:pt x="1238" y="1314"/>
                  </a:lnTo>
                  <a:lnTo>
                    <a:pt x="1450" y="1109"/>
                  </a:lnTo>
                  <a:lnTo>
                    <a:pt x="1890" y="681"/>
                  </a:lnTo>
                  <a:lnTo>
                    <a:pt x="2128" y="451"/>
                  </a:lnTo>
                  <a:lnTo>
                    <a:pt x="2184" y="396"/>
                  </a:lnTo>
                  <a:lnTo>
                    <a:pt x="2262" y="307"/>
                  </a:lnTo>
                  <a:lnTo>
                    <a:pt x="2295" y="254"/>
                  </a:lnTo>
                  <a:lnTo>
                    <a:pt x="2308" y="221"/>
                  </a:lnTo>
                  <a:lnTo>
                    <a:pt x="2313" y="190"/>
                  </a:lnTo>
                  <a:lnTo>
                    <a:pt x="2311" y="159"/>
                  </a:lnTo>
                  <a:lnTo>
                    <a:pt x="2308" y="143"/>
                  </a:lnTo>
                  <a:lnTo>
                    <a:pt x="2304" y="125"/>
                  </a:lnTo>
                  <a:lnTo>
                    <a:pt x="2288" y="93"/>
                  </a:lnTo>
                  <a:lnTo>
                    <a:pt x="2265" y="65"/>
                  </a:lnTo>
                  <a:lnTo>
                    <a:pt x="2237" y="40"/>
                  </a:lnTo>
                  <a:lnTo>
                    <a:pt x="2204" y="21"/>
                  </a:lnTo>
                  <a:lnTo>
                    <a:pt x="2167" y="7"/>
                  </a:lnTo>
                  <a:lnTo>
                    <a:pt x="2128" y="0"/>
                  </a:lnTo>
                  <a:lnTo>
                    <a:pt x="2088" y="0"/>
                  </a:lnTo>
                  <a:lnTo>
                    <a:pt x="2068" y="3"/>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r" rtl="1"/>
              <a:endParaRPr lang="en-US" dirty="0"/>
            </a:p>
          </p:txBody>
        </p:sp>
      </p:grpSp>
      <p:sp>
        <p:nvSpPr>
          <p:cNvPr id="15" name="Rectangle 14">
            <a:extLst>
              <a:ext uri="{FF2B5EF4-FFF2-40B4-BE49-F238E27FC236}">
                <a16:creationId xmlns:a16="http://schemas.microsoft.com/office/drawing/2014/main" id="{7B21A5CB-82AC-F540-2F06-31E6BF4F283A}"/>
              </a:ext>
            </a:extLst>
          </p:cNvPr>
          <p:cNvSpPr/>
          <p:nvPr/>
        </p:nvSpPr>
        <p:spPr>
          <a:xfrm>
            <a:off x="1641323" y="1914805"/>
            <a:ext cx="7572633" cy="2694902"/>
          </a:xfrm>
          <a:prstGeom prst="rect">
            <a:avLst/>
          </a:prstGeom>
        </p:spPr>
        <p:txBody>
          <a:bodyPr anchor="ctr" anchorCtr="0">
            <a:normAutofit/>
          </a:bodyPr>
          <a:lstStyle/>
          <a:p>
            <a:pPr algn="r" rtl="1">
              <a:lnSpc>
                <a:spcPct val="150000"/>
              </a:lnSpc>
              <a:spcAft>
                <a:spcPts val="1200"/>
              </a:spcAft>
            </a:pPr>
            <a:r>
              <a:rPr lang="ar-EG" sz="2400" dirty="0"/>
              <a:t>يمثل النموذج العام (</a:t>
            </a:r>
            <a:r>
              <a:rPr lang="en-US" sz="2400" dirty="0"/>
              <a:t>Metamodel</a:t>
            </a:r>
            <a:r>
              <a:rPr lang="ar-EG" sz="2400" dirty="0"/>
              <a:t>) لمكونات البنية المؤسسية حجر أساس لممارسة البنية المؤسسية في الهيئة؛ حيث يهدف الى تحديد وحدات البناء اللازمة لتوثيق وتطوير مكونات البنية المؤسسية لدى الهيئة، كما يعتبر مرجع يُستخدم في بناء مناظير البنية المؤسسية.</a:t>
            </a:r>
          </a:p>
        </p:txBody>
      </p:sp>
    </p:spTree>
    <p:extLst>
      <p:ext uri="{BB962C8B-B14F-4D97-AF65-F5344CB8AC3E}">
        <p14:creationId xmlns:p14="http://schemas.microsoft.com/office/powerpoint/2010/main" val="39365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BE4EC83-A869-464E-AE9F-881796FB085E}" type="slidenum">
              <a:rPr lang="en-US" smtClean="0"/>
              <a:t>9</a:t>
            </a:fld>
            <a:endParaRPr lang="en-US"/>
          </a:p>
        </p:txBody>
      </p:sp>
      <p:graphicFrame>
        <p:nvGraphicFramePr>
          <p:cNvPr id="4" name="Content Placeholder 5"/>
          <p:cNvGraphicFramePr>
            <a:graphicFrameLocks/>
          </p:cNvGraphicFramePr>
          <p:nvPr>
            <p:extLst>
              <p:ext uri="{D42A27DB-BD31-4B8C-83A1-F6EECF244321}">
                <p14:modId xmlns:p14="http://schemas.microsoft.com/office/powerpoint/2010/main" val="2617434217"/>
              </p:ext>
            </p:extLst>
          </p:nvPr>
        </p:nvGraphicFramePr>
        <p:xfrm>
          <a:off x="1793240" y="1503578"/>
          <a:ext cx="8605520" cy="3355618"/>
        </p:xfrm>
        <a:graphic>
          <a:graphicData uri="http://schemas.openxmlformats.org/drawingml/2006/table">
            <a:tbl>
              <a:tblPr rtl="1" firstRow="1" bandRow="1">
                <a:tableStyleId>{5C22544A-7EE6-4342-B048-85BDC9FD1C3A}</a:tableStyleId>
              </a:tblPr>
              <a:tblGrid>
                <a:gridCol w="8605520">
                  <a:extLst>
                    <a:ext uri="{9D8B030D-6E8A-4147-A177-3AD203B41FA5}">
                      <a16:colId xmlns:a16="http://schemas.microsoft.com/office/drawing/2014/main" val="2225789071"/>
                    </a:ext>
                  </a:extLst>
                </a:gridCol>
              </a:tblGrid>
              <a:tr h="987885">
                <a:tc>
                  <a:txBody>
                    <a:bodyPr/>
                    <a:lstStyle/>
                    <a:p>
                      <a:pPr algn="ctr"/>
                      <a:r>
                        <a:rPr lang="ar-EG" sz="2400" baseline="0" dirty="0">
                          <a:latin typeface="Sakkal Majalla" panose="02000000000000000000" pitchFamily="2" charset="-78"/>
                          <a:cs typeface="Sakkal Majalla" panose="02000000000000000000" pitchFamily="2" charset="-78"/>
                        </a:rPr>
                        <a:t>يتم الاستفادة من بناء النموذج العام لمكونات البنية المؤسسية في توثيق وتطوير مكونات البنية المؤسسية الخاصة بالهيئة، كما يهدف الى:</a:t>
                      </a:r>
                      <a:endParaRPr lang="en-US" sz="1600" b="1" baseline="0" dirty="0">
                        <a:solidFill>
                          <a:srgbClr val="FF0000"/>
                        </a:solidFill>
                        <a:latin typeface="Sakkal Majalla" panose="02000000000000000000" pitchFamily="2" charset="-78"/>
                        <a:cs typeface="Sakkal Majalla" panose="02000000000000000000" pitchFamily="2" charset="-78"/>
                      </a:endParaRPr>
                    </a:p>
                  </a:txBody>
                  <a:tcPr marL="137160" marR="137160" marT="137160" marB="137160" anchor="ctr"/>
                </a:tc>
                <a:extLst>
                  <a:ext uri="{0D108BD9-81ED-4DB2-BD59-A6C34878D82A}">
                    <a16:rowId xmlns:a16="http://schemas.microsoft.com/office/drawing/2014/main" val="3560484865"/>
                  </a:ext>
                </a:extLst>
              </a:tr>
              <a:tr h="117488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توضيح العلاقات بين مكونات البنية المؤسسية التي تنتمي لنفس المجال ومع المكونات الأخرى التابعة لمجالات البنية المؤسسية الأخرى</a:t>
                      </a:r>
                    </a:p>
                  </a:txBody>
                  <a:tcPr marL="137160" marR="137160" marT="137160" marB="137160" anchor="ctr">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425585210"/>
                  </a:ext>
                </a:extLst>
              </a:tr>
              <a:tr h="1174889">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دعم أعمال تهيئة أداة البنية المؤسسية (</a:t>
                      </a:r>
                      <a:r>
                        <a:rPr kumimoji="0" lang="en-US"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EA Tool</a:t>
                      </a:r>
                      <a:r>
                        <a:rPr kumimoji="0" lang="ar-EG" sz="2000" b="1" i="0" u="none" strike="noStrike" kern="1200" cap="none" spc="0" normalizeH="0" baseline="0" noProof="0" dirty="0">
                          <a:ln>
                            <a:noFill/>
                          </a:ln>
                          <a:solidFill>
                            <a:schemeClr val="tx1">
                              <a:lumMod val="75000"/>
                              <a:lumOff val="25000"/>
                            </a:schemeClr>
                          </a:solidFill>
                          <a:effectLst/>
                          <a:uLnTx/>
                          <a:uFillTx/>
                          <a:latin typeface="Sakkal Majalla" panose="02000000000000000000" pitchFamily="2" charset="-78"/>
                          <a:ea typeface="+mn-ea"/>
                          <a:cs typeface="Sakkal Majalla" panose="02000000000000000000" pitchFamily="2" charset="-78"/>
                        </a:rPr>
                        <a:t>) وتسريع رقمنة أعمال ممارسة البنية المؤسسية</a:t>
                      </a:r>
                    </a:p>
                  </a:txBody>
                  <a:tcPr marL="137160" marR="137160" marT="137160" marB="137160" anchor="ct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2847485707"/>
                  </a:ext>
                </a:extLst>
              </a:tr>
            </a:tbl>
          </a:graphicData>
        </a:graphic>
      </p:graphicFrame>
      <p:sp>
        <p:nvSpPr>
          <p:cNvPr id="7" name="Title 1">
            <a:extLst>
              <a:ext uri="{FF2B5EF4-FFF2-40B4-BE49-F238E27FC236}">
                <a16:creationId xmlns:a16="http://schemas.microsoft.com/office/drawing/2014/main" id="{C895D5FA-9A51-9A6F-DCDA-702A2513A0A2}"/>
              </a:ext>
            </a:extLst>
          </p:cNvPr>
          <p:cNvSpPr txBox="1">
            <a:spLocks/>
          </p:cNvSpPr>
          <p:nvPr/>
        </p:nvSpPr>
        <p:spPr>
          <a:xfrm>
            <a:off x="2361733" y="408242"/>
            <a:ext cx="8992067"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أهداف النموذج العام لمكونات البنية المؤسسية</a:t>
            </a:r>
          </a:p>
        </p:txBody>
      </p:sp>
    </p:spTree>
    <p:extLst>
      <p:ext uri="{BB962C8B-B14F-4D97-AF65-F5344CB8AC3E}">
        <p14:creationId xmlns:p14="http://schemas.microsoft.com/office/powerpoint/2010/main" val="2927569178"/>
      </p:ext>
    </p:extLst>
  </p:cSld>
  <p:clrMapOvr>
    <a:masterClrMapping/>
  </p:clrMapOvr>
  <mc:AlternateContent xmlns:mc="http://schemas.openxmlformats.org/markup-compatibility/2006" xmlns:p14="http://schemas.microsoft.com/office/powerpoint/2010/main">
    <mc:Choice Requires="p14">
      <p:transition spd="slow" p14:dur="1300">
        <p14:pan dir="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5B6CBF3A-AED2-428B-8E54-ECD96E40BAAD}"/>
              </a:ext>
            </a:extLst>
          </p:cNvPr>
          <p:cNvSpPr txBox="1"/>
          <p:nvPr/>
        </p:nvSpPr>
        <p:spPr>
          <a:xfrm>
            <a:off x="833442" y="6395664"/>
            <a:ext cx="6097604" cy="307777"/>
          </a:xfrm>
          <a:prstGeom prst="rect">
            <a:avLst/>
          </a:prstGeom>
          <a:noFill/>
        </p:spPr>
        <p:txBody>
          <a:bodyPr wrap="square">
            <a:spAutoFit/>
          </a:bodyPr>
          <a:lstStyle/>
          <a:p>
            <a:fld id="{008E1BDA-5E07-414A-8101-29DABEB15B19}" type="slidenum">
              <a:rPr lang="en-SA" sz="1400" b="1">
                <a:solidFill>
                  <a:schemeClr val="accent1"/>
                </a:solidFill>
              </a:rPr>
              <a:pPr/>
              <a:t>10</a:t>
            </a:fld>
            <a:endParaRPr lang="en-US" sz="1400" b="1" dirty="0">
              <a:solidFill>
                <a:schemeClr val="accent1"/>
              </a:solidFill>
            </a:endParaRPr>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1778000" y="408242"/>
            <a:ext cx="9575800" cy="639350"/>
          </a:xfrm>
          <a:prstGeom prst="rect">
            <a:avLst/>
          </a:prstGeom>
        </p:spPr>
        <p:txBody>
          <a:bodyPr vert="horz" lIns="91440" tIns="45720" rIns="0" bIns="45720" rtlCol="0" anchor="ctr" anchorCtr="0">
            <a:no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r>
              <a:rPr lang="ar-EG" dirty="0"/>
              <a:t>اعتبارات أساسية لإعداد النموذج العام لمكونات البنية المؤسسية في الهيئة</a:t>
            </a:r>
            <a:endParaRPr lang="en-US" dirty="0"/>
          </a:p>
        </p:txBody>
      </p:sp>
      <p:sp>
        <p:nvSpPr>
          <p:cNvPr id="15" name="Rectangle 14">
            <a:extLst>
              <a:ext uri="{FF2B5EF4-FFF2-40B4-BE49-F238E27FC236}">
                <a16:creationId xmlns:a16="http://schemas.microsoft.com/office/drawing/2014/main" id="{7B21A5CB-82AC-F540-2F06-31E6BF4F283A}"/>
              </a:ext>
            </a:extLst>
          </p:cNvPr>
          <p:cNvSpPr/>
          <p:nvPr/>
        </p:nvSpPr>
        <p:spPr>
          <a:xfrm>
            <a:off x="726439" y="1047592"/>
            <a:ext cx="9456763" cy="4987447"/>
          </a:xfrm>
          <a:prstGeom prst="rect">
            <a:avLst/>
          </a:prstGeom>
        </p:spPr>
        <p:txBody>
          <a:bodyPr anchor="ctr" anchorCtr="0">
            <a:normAutofit fontScale="85000" lnSpcReduction="10000"/>
          </a:bodyPr>
          <a:lstStyle/>
          <a:p>
            <a:pPr algn="ctr" rtl="1">
              <a:lnSpc>
                <a:spcPct val="150000"/>
              </a:lnSpc>
              <a:spcAft>
                <a:spcPts val="1200"/>
              </a:spcAft>
            </a:pPr>
            <a:r>
              <a:rPr lang="ar-EG" sz="2600" b="1" dirty="0"/>
              <a:t>لإعداد النموذج العام لمكونات البنية المؤسسية في هيئة تقويم التعليم والتدريب، تم أخذ مجموعة من الاعتبارات الأساسية لضمان تلبية احتياجات الهيئة وتحقيق الكفاءة المطلوبة في بناء وتطوير البنية المؤسسية، وهم كالتالي:</a:t>
            </a:r>
          </a:p>
          <a:p>
            <a:pPr algn="ctr" rtl="1">
              <a:lnSpc>
                <a:spcPct val="150000"/>
              </a:lnSpc>
              <a:spcAft>
                <a:spcPts val="1200"/>
              </a:spcAft>
            </a:pPr>
            <a:endParaRPr lang="ar-EG" sz="1200" b="1" dirty="0"/>
          </a:p>
          <a:p>
            <a:pPr marL="457200" indent="-457200" algn="r" rtl="1">
              <a:lnSpc>
                <a:spcPct val="150000"/>
              </a:lnSpc>
              <a:spcAft>
                <a:spcPts val="1200"/>
              </a:spcAft>
              <a:buFont typeface="Arial" panose="020B0604020202020204" pitchFamily="34" charset="0"/>
              <a:buChar char="•"/>
            </a:pPr>
            <a:r>
              <a:rPr lang="ar-EG" sz="2400" dirty="0"/>
              <a:t>تم تطوير النموذج بحيث يتناسب مع احتياجات الهيئة وتعديل وحدات البناء وفقًا للتوجهات الخاصة بالهيئة.</a:t>
            </a:r>
          </a:p>
          <a:p>
            <a:pPr marL="457200" indent="-457200" algn="r" rtl="1">
              <a:lnSpc>
                <a:spcPct val="150000"/>
              </a:lnSpc>
              <a:spcAft>
                <a:spcPts val="1200"/>
              </a:spcAft>
              <a:buFont typeface="Arial" panose="020B0604020202020204" pitchFamily="34" charset="0"/>
              <a:buChar char="•"/>
            </a:pPr>
            <a:r>
              <a:rPr lang="ar-EG" sz="2400" dirty="0"/>
              <a:t>مراجعة وتحديث النموذج بشكل دوري لضمان ملاءمته للمتغيرات والمستجدات.</a:t>
            </a:r>
          </a:p>
          <a:p>
            <a:pPr marL="457200" indent="-457200" algn="r" rtl="1">
              <a:lnSpc>
                <a:spcPct val="150000"/>
              </a:lnSpc>
              <a:spcAft>
                <a:spcPts val="1200"/>
              </a:spcAft>
              <a:buFont typeface="Arial" panose="020B0604020202020204" pitchFamily="34" charset="0"/>
              <a:buChar char="•"/>
            </a:pPr>
            <a:r>
              <a:rPr lang="ar-EG" sz="2400" dirty="0"/>
              <a:t>التركيز على بناء نموذج شامل يغطي مختلف مجالات البنية المؤسسية، بما في ذلك المجالات المتعلقة بالأعمال، البيانات، التطبيقات، والتقنية.</a:t>
            </a:r>
          </a:p>
          <a:p>
            <a:pPr marL="457200" indent="-457200" algn="r" rtl="1">
              <a:lnSpc>
                <a:spcPct val="150000"/>
              </a:lnSpc>
              <a:spcAft>
                <a:spcPts val="1200"/>
              </a:spcAft>
              <a:buFont typeface="Arial" panose="020B0604020202020204" pitchFamily="34" charset="0"/>
              <a:buChar char="•"/>
            </a:pPr>
            <a:r>
              <a:rPr lang="ar-EG" sz="2400" dirty="0"/>
              <a:t>تحديد القيم الثابتة لبعض السمات الهامة مثل قوائم التصنيفات والأولويات، مع إتاحة خيار التعديل والإضافة حسب الحاجة.</a:t>
            </a:r>
          </a:p>
          <a:p>
            <a:pPr marL="457200" indent="-457200" algn="r" rtl="1">
              <a:lnSpc>
                <a:spcPct val="150000"/>
              </a:lnSpc>
              <a:spcAft>
                <a:spcPts val="1200"/>
              </a:spcAft>
              <a:buFont typeface="Arial" panose="020B0604020202020204" pitchFamily="34" charset="0"/>
              <a:buChar char="•"/>
            </a:pPr>
            <a:r>
              <a:rPr lang="ar-EG" sz="2400" dirty="0"/>
              <a:t>توثيق كافة المكونات وسماتها باللغة المناسبة، مع إمكانية استخدام لغة بديلة إن لزم الأمر.</a:t>
            </a:r>
          </a:p>
        </p:txBody>
      </p:sp>
      <p:grpSp>
        <p:nvGrpSpPr>
          <p:cNvPr id="65" name="Google Shape;122;p13">
            <a:extLst>
              <a:ext uri="{FF2B5EF4-FFF2-40B4-BE49-F238E27FC236}">
                <a16:creationId xmlns:a16="http://schemas.microsoft.com/office/drawing/2014/main" id="{DD4AD3B6-4551-CEE3-9BA4-7C7647EC9ECC}"/>
              </a:ext>
            </a:extLst>
          </p:cNvPr>
          <p:cNvGrpSpPr/>
          <p:nvPr/>
        </p:nvGrpSpPr>
        <p:grpSpPr>
          <a:xfrm>
            <a:off x="10434187" y="2784175"/>
            <a:ext cx="919613" cy="1289649"/>
            <a:chOff x="3648129" y="5460938"/>
            <a:chExt cx="386468" cy="541976"/>
          </a:xfrm>
          <a:solidFill>
            <a:schemeClr val="accent1"/>
          </a:solidFill>
        </p:grpSpPr>
        <p:sp>
          <p:nvSpPr>
            <p:cNvPr id="66" name="Google Shape;123;p13">
              <a:extLst>
                <a:ext uri="{FF2B5EF4-FFF2-40B4-BE49-F238E27FC236}">
                  <a16:creationId xmlns:a16="http://schemas.microsoft.com/office/drawing/2014/main" id="{6E5C1545-323E-566C-EF47-80AED95C072A}"/>
                </a:ext>
              </a:extLst>
            </p:cNvPr>
            <p:cNvSpPr/>
            <p:nvPr/>
          </p:nvSpPr>
          <p:spPr>
            <a:xfrm>
              <a:off x="3648129" y="5515229"/>
              <a:ext cx="386468" cy="487685"/>
            </a:xfrm>
            <a:custGeom>
              <a:avLst/>
              <a:gdLst/>
              <a:ahLst/>
              <a:cxnLst/>
              <a:rect l="l" t="t" r="r" b="b"/>
              <a:pathLst>
                <a:path w="222229" h="280433" extrusionOk="0">
                  <a:moveTo>
                    <a:pt x="215881" y="0"/>
                  </a:moveTo>
                  <a:lnTo>
                    <a:pt x="194187" y="0"/>
                  </a:lnTo>
                  <a:cubicBezTo>
                    <a:pt x="190483" y="0"/>
                    <a:pt x="187837" y="2646"/>
                    <a:pt x="187837" y="6349"/>
                  </a:cubicBezTo>
                  <a:cubicBezTo>
                    <a:pt x="187837" y="10053"/>
                    <a:pt x="190483" y="12699"/>
                    <a:pt x="194187" y="12699"/>
                  </a:cubicBezTo>
                  <a:lnTo>
                    <a:pt x="209531" y="12699"/>
                  </a:lnTo>
                  <a:lnTo>
                    <a:pt x="209531" y="271438"/>
                  </a:lnTo>
                  <a:lnTo>
                    <a:pt x="12699" y="271438"/>
                  </a:lnTo>
                  <a:lnTo>
                    <a:pt x="12699" y="13228"/>
                  </a:lnTo>
                  <a:lnTo>
                    <a:pt x="28572" y="13228"/>
                  </a:lnTo>
                  <a:cubicBezTo>
                    <a:pt x="32276" y="13228"/>
                    <a:pt x="34922" y="10582"/>
                    <a:pt x="34922" y="6878"/>
                  </a:cubicBezTo>
                  <a:cubicBezTo>
                    <a:pt x="34922" y="3175"/>
                    <a:pt x="32276" y="529"/>
                    <a:pt x="28572" y="529"/>
                  </a:cubicBezTo>
                  <a:lnTo>
                    <a:pt x="6349" y="529"/>
                  </a:lnTo>
                  <a:cubicBezTo>
                    <a:pt x="2646" y="529"/>
                    <a:pt x="0" y="3175"/>
                    <a:pt x="0" y="6878"/>
                  </a:cubicBezTo>
                  <a:lnTo>
                    <a:pt x="0" y="278316"/>
                  </a:lnTo>
                  <a:cubicBezTo>
                    <a:pt x="0" y="282020"/>
                    <a:pt x="2646" y="284666"/>
                    <a:pt x="6349" y="284666"/>
                  </a:cubicBezTo>
                  <a:lnTo>
                    <a:pt x="215881" y="284666"/>
                  </a:lnTo>
                  <a:cubicBezTo>
                    <a:pt x="219584" y="284666"/>
                    <a:pt x="222230" y="282020"/>
                    <a:pt x="222230" y="278316"/>
                  </a:cubicBezTo>
                  <a:lnTo>
                    <a:pt x="222230" y="6878"/>
                  </a:lnTo>
                  <a:cubicBezTo>
                    <a:pt x="222759" y="2646"/>
                    <a:pt x="219584" y="0"/>
                    <a:pt x="215881" y="0"/>
                  </a:cubicBezTo>
                  <a:close/>
                </a:path>
              </a:pathLst>
            </a:cu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sp>
          <p:nvSpPr>
            <p:cNvPr id="67" name="Google Shape;124;p13">
              <a:extLst>
                <a:ext uri="{FF2B5EF4-FFF2-40B4-BE49-F238E27FC236}">
                  <a16:creationId xmlns:a16="http://schemas.microsoft.com/office/drawing/2014/main" id="{F3FA2428-B04B-F005-4809-704D684A7CB3}"/>
                </a:ext>
              </a:extLst>
            </p:cNvPr>
            <p:cNvSpPr/>
            <p:nvPr/>
          </p:nvSpPr>
          <p:spPr>
            <a:xfrm>
              <a:off x="3724502" y="5460938"/>
              <a:ext cx="230041" cy="101218"/>
            </a:xfrm>
            <a:custGeom>
              <a:avLst/>
              <a:gdLst/>
              <a:ahLst/>
              <a:cxnLst/>
              <a:rect l="l" t="t" r="r" b="b"/>
              <a:pathLst>
                <a:path w="132279" h="58203" extrusionOk="0">
                  <a:moveTo>
                    <a:pt x="6349" y="59790"/>
                  </a:moveTo>
                  <a:lnTo>
                    <a:pt x="127518" y="59790"/>
                  </a:lnTo>
                  <a:cubicBezTo>
                    <a:pt x="127518" y="59790"/>
                    <a:pt x="127518" y="59790"/>
                    <a:pt x="127518" y="59790"/>
                  </a:cubicBezTo>
                  <a:cubicBezTo>
                    <a:pt x="129105" y="59790"/>
                    <a:pt x="130692" y="59261"/>
                    <a:pt x="132280" y="57674"/>
                  </a:cubicBezTo>
                  <a:cubicBezTo>
                    <a:pt x="133338" y="56616"/>
                    <a:pt x="134396" y="55029"/>
                    <a:pt x="134396" y="52912"/>
                  </a:cubicBezTo>
                  <a:lnTo>
                    <a:pt x="134396" y="21694"/>
                  </a:lnTo>
                  <a:cubicBezTo>
                    <a:pt x="134396" y="20106"/>
                    <a:pt x="133867" y="18519"/>
                    <a:pt x="132280" y="16932"/>
                  </a:cubicBezTo>
                  <a:cubicBezTo>
                    <a:pt x="131221" y="15874"/>
                    <a:pt x="129634" y="14815"/>
                    <a:pt x="127518" y="14815"/>
                  </a:cubicBezTo>
                  <a:lnTo>
                    <a:pt x="86775" y="14815"/>
                  </a:lnTo>
                  <a:cubicBezTo>
                    <a:pt x="84130" y="6349"/>
                    <a:pt x="76193" y="0"/>
                    <a:pt x="66669" y="0"/>
                  </a:cubicBezTo>
                  <a:cubicBezTo>
                    <a:pt x="57145" y="0"/>
                    <a:pt x="49208" y="6349"/>
                    <a:pt x="46562" y="14815"/>
                  </a:cubicBezTo>
                  <a:lnTo>
                    <a:pt x="6349" y="14815"/>
                  </a:lnTo>
                  <a:cubicBezTo>
                    <a:pt x="2646" y="14815"/>
                    <a:pt x="0" y="17461"/>
                    <a:pt x="0" y="21165"/>
                  </a:cubicBezTo>
                  <a:lnTo>
                    <a:pt x="0" y="51854"/>
                  </a:lnTo>
                  <a:cubicBezTo>
                    <a:pt x="0" y="57145"/>
                    <a:pt x="2646" y="59790"/>
                    <a:pt x="6349" y="59790"/>
                  </a:cubicBezTo>
                  <a:close/>
                  <a:moveTo>
                    <a:pt x="12699" y="29102"/>
                  </a:moveTo>
                  <a:lnTo>
                    <a:pt x="51854" y="29102"/>
                  </a:lnTo>
                  <a:cubicBezTo>
                    <a:pt x="55557" y="29102"/>
                    <a:pt x="58203" y="26456"/>
                    <a:pt x="58203" y="22752"/>
                  </a:cubicBezTo>
                  <a:cubicBezTo>
                    <a:pt x="58203" y="17990"/>
                    <a:pt x="61907" y="14286"/>
                    <a:pt x="66669" y="14286"/>
                  </a:cubicBezTo>
                  <a:cubicBezTo>
                    <a:pt x="71431" y="14286"/>
                    <a:pt x="75135" y="17990"/>
                    <a:pt x="75135" y="22752"/>
                  </a:cubicBezTo>
                  <a:cubicBezTo>
                    <a:pt x="75135" y="24340"/>
                    <a:pt x="75664" y="25927"/>
                    <a:pt x="77251" y="27514"/>
                  </a:cubicBezTo>
                  <a:cubicBezTo>
                    <a:pt x="78310" y="28573"/>
                    <a:pt x="79897" y="29631"/>
                    <a:pt x="82013" y="29631"/>
                  </a:cubicBezTo>
                  <a:lnTo>
                    <a:pt x="121697" y="29631"/>
                  </a:lnTo>
                  <a:lnTo>
                    <a:pt x="121697" y="47621"/>
                  </a:lnTo>
                  <a:lnTo>
                    <a:pt x="13757" y="47621"/>
                  </a:lnTo>
                  <a:lnTo>
                    <a:pt x="13757" y="29102"/>
                  </a:lnTo>
                  <a:close/>
                </a:path>
              </a:pathLst>
            </a:cu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sp>
          <p:nvSpPr>
            <p:cNvPr id="68" name="Google Shape;125;p13">
              <a:extLst>
                <a:ext uri="{FF2B5EF4-FFF2-40B4-BE49-F238E27FC236}">
                  <a16:creationId xmlns:a16="http://schemas.microsoft.com/office/drawing/2014/main" id="{74F7F724-2162-7ABB-A6FA-2EA792995F90}"/>
                </a:ext>
              </a:extLst>
            </p:cNvPr>
            <p:cNvSpPr/>
            <p:nvPr/>
          </p:nvSpPr>
          <p:spPr>
            <a:xfrm>
              <a:off x="3699281" y="5622519"/>
              <a:ext cx="73614" cy="64411"/>
            </a:xfrm>
            <a:custGeom>
              <a:avLst/>
              <a:gdLst/>
              <a:ahLst/>
              <a:cxnLst/>
              <a:rect l="l" t="t" r="r" b="b"/>
              <a:pathLst>
                <a:path w="42329" h="37038" extrusionOk="0">
                  <a:moveTo>
                    <a:pt x="746" y="23493"/>
                  </a:moveTo>
                  <a:lnTo>
                    <a:pt x="9212" y="38837"/>
                  </a:lnTo>
                  <a:cubicBezTo>
                    <a:pt x="10270" y="40954"/>
                    <a:pt x="12386" y="42012"/>
                    <a:pt x="14503" y="42012"/>
                  </a:cubicBezTo>
                  <a:cubicBezTo>
                    <a:pt x="14503" y="42012"/>
                    <a:pt x="15032" y="42012"/>
                    <a:pt x="15032" y="42012"/>
                  </a:cubicBezTo>
                  <a:cubicBezTo>
                    <a:pt x="17149" y="42012"/>
                    <a:pt x="19265" y="40954"/>
                    <a:pt x="20323" y="39366"/>
                  </a:cubicBezTo>
                  <a:lnTo>
                    <a:pt x="41488" y="10265"/>
                  </a:lnTo>
                  <a:cubicBezTo>
                    <a:pt x="43605" y="7619"/>
                    <a:pt x="43075" y="3386"/>
                    <a:pt x="39901" y="1270"/>
                  </a:cubicBezTo>
                  <a:cubicBezTo>
                    <a:pt x="37255" y="-847"/>
                    <a:pt x="33022" y="-318"/>
                    <a:pt x="30906" y="2857"/>
                  </a:cubicBezTo>
                  <a:lnTo>
                    <a:pt x="15561" y="24022"/>
                  </a:lnTo>
                  <a:lnTo>
                    <a:pt x="11857" y="17673"/>
                  </a:lnTo>
                  <a:cubicBezTo>
                    <a:pt x="10270" y="14498"/>
                    <a:pt x="6037" y="13440"/>
                    <a:pt x="2862" y="15027"/>
                  </a:cubicBezTo>
                  <a:cubicBezTo>
                    <a:pt x="217" y="16614"/>
                    <a:pt x="-842" y="20318"/>
                    <a:pt x="746" y="23493"/>
                  </a:cubicBezTo>
                  <a:close/>
                </a:path>
              </a:pathLst>
            </a:cu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sp>
          <p:nvSpPr>
            <p:cNvPr id="69" name="Google Shape;126;p13">
              <a:extLst>
                <a:ext uri="{FF2B5EF4-FFF2-40B4-BE49-F238E27FC236}">
                  <a16:creationId xmlns:a16="http://schemas.microsoft.com/office/drawing/2014/main" id="{50D8DB2A-6E69-4EB8-F4D8-4F8AB423EFFF}"/>
                </a:ext>
              </a:extLst>
            </p:cNvPr>
            <p:cNvSpPr/>
            <p:nvPr/>
          </p:nvSpPr>
          <p:spPr>
            <a:xfrm>
              <a:off x="3699309" y="5726497"/>
              <a:ext cx="73614" cy="73614"/>
            </a:xfrm>
            <a:custGeom>
              <a:avLst/>
              <a:gdLst/>
              <a:ahLst/>
              <a:cxnLst/>
              <a:rect l="l" t="t" r="r" b="b"/>
              <a:pathLst>
                <a:path w="42329" h="42329" extrusionOk="0">
                  <a:moveTo>
                    <a:pt x="40413" y="1270"/>
                  </a:moveTo>
                  <a:cubicBezTo>
                    <a:pt x="37768" y="-847"/>
                    <a:pt x="33535" y="-318"/>
                    <a:pt x="31418" y="2857"/>
                  </a:cubicBezTo>
                  <a:lnTo>
                    <a:pt x="16074" y="24022"/>
                  </a:lnTo>
                  <a:lnTo>
                    <a:pt x="12370" y="17673"/>
                  </a:lnTo>
                  <a:cubicBezTo>
                    <a:pt x="10783" y="14498"/>
                    <a:pt x="6550" y="13440"/>
                    <a:pt x="3375" y="15027"/>
                  </a:cubicBezTo>
                  <a:cubicBezTo>
                    <a:pt x="200" y="16614"/>
                    <a:pt x="-858" y="20847"/>
                    <a:pt x="729" y="24022"/>
                  </a:cubicBezTo>
                  <a:lnTo>
                    <a:pt x="9195" y="39366"/>
                  </a:lnTo>
                  <a:cubicBezTo>
                    <a:pt x="10253" y="41483"/>
                    <a:pt x="12370" y="42541"/>
                    <a:pt x="14486" y="42541"/>
                  </a:cubicBezTo>
                  <a:cubicBezTo>
                    <a:pt x="14486" y="42541"/>
                    <a:pt x="15015" y="42541"/>
                    <a:pt x="15015" y="42541"/>
                  </a:cubicBezTo>
                  <a:cubicBezTo>
                    <a:pt x="17132" y="42541"/>
                    <a:pt x="19248" y="41483"/>
                    <a:pt x="20307" y="39896"/>
                  </a:cubicBezTo>
                  <a:lnTo>
                    <a:pt x="41471" y="10794"/>
                  </a:lnTo>
                  <a:cubicBezTo>
                    <a:pt x="43588" y="7619"/>
                    <a:pt x="43059" y="3386"/>
                    <a:pt x="40413" y="1270"/>
                  </a:cubicBezTo>
                  <a:close/>
                </a:path>
              </a:pathLst>
            </a:cu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sp>
          <p:nvSpPr>
            <p:cNvPr id="70" name="Google Shape;127;p13">
              <a:extLst>
                <a:ext uri="{FF2B5EF4-FFF2-40B4-BE49-F238E27FC236}">
                  <a16:creationId xmlns:a16="http://schemas.microsoft.com/office/drawing/2014/main" id="{468F1055-430A-A0B7-6E92-AAB527EF1889}"/>
                </a:ext>
              </a:extLst>
            </p:cNvPr>
            <p:cNvSpPr/>
            <p:nvPr/>
          </p:nvSpPr>
          <p:spPr>
            <a:xfrm>
              <a:off x="3699656" y="5852927"/>
              <a:ext cx="64411" cy="64411"/>
            </a:xfrm>
            <a:custGeom>
              <a:avLst/>
              <a:gdLst/>
              <a:ahLst/>
              <a:cxnLst/>
              <a:rect l="l" t="t" r="r" b="b"/>
              <a:pathLst>
                <a:path w="37038" h="37038" extrusionOk="0">
                  <a:moveTo>
                    <a:pt x="6349" y="0"/>
                  </a:moveTo>
                  <a:cubicBezTo>
                    <a:pt x="2646" y="0"/>
                    <a:pt x="0" y="2646"/>
                    <a:pt x="0" y="6349"/>
                  </a:cubicBezTo>
                  <a:lnTo>
                    <a:pt x="0" y="34922"/>
                  </a:lnTo>
                  <a:cubicBezTo>
                    <a:pt x="0" y="38626"/>
                    <a:pt x="2646" y="41271"/>
                    <a:pt x="6349" y="41271"/>
                  </a:cubicBezTo>
                  <a:lnTo>
                    <a:pt x="34922" y="41271"/>
                  </a:lnTo>
                  <a:cubicBezTo>
                    <a:pt x="38626" y="41271"/>
                    <a:pt x="41271" y="38626"/>
                    <a:pt x="41271" y="34922"/>
                  </a:cubicBezTo>
                  <a:lnTo>
                    <a:pt x="41271" y="6349"/>
                  </a:lnTo>
                  <a:cubicBezTo>
                    <a:pt x="41271" y="2646"/>
                    <a:pt x="38626" y="0"/>
                    <a:pt x="34922" y="0"/>
                  </a:cubicBezTo>
                  <a:lnTo>
                    <a:pt x="6349" y="0"/>
                  </a:lnTo>
                  <a:close/>
                  <a:moveTo>
                    <a:pt x="28043" y="28572"/>
                  </a:moveTo>
                  <a:lnTo>
                    <a:pt x="12170" y="28572"/>
                  </a:lnTo>
                  <a:lnTo>
                    <a:pt x="12170" y="12699"/>
                  </a:lnTo>
                  <a:lnTo>
                    <a:pt x="28043" y="12699"/>
                  </a:lnTo>
                  <a:lnTo>
                    <a:pt x="28043" y="28572"/>
                  </a:lnTo>
                  <a:close/>
                </a:path>
              </a:pathLst>
            </a:cu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sp>
          <p:nvSpPr>
            <p:cNvPr id="71" name="Google Shape;128;p13">
              <a:extLst>
                <a:ext uri="{FF2B5EF4-FFF2-40B4-BE49-F238E27FC236}">
                  <a16:creationId xmlns:a16="http://schemas.microsoft.com/office/drawing/2014/main" id="{6E66D1F5-8329-7B5C-BD67-4A2B00076BF1}"/>
                </a:ext>
              </a:extLst>
            </p:cNvPr>
            <p:cNvSpPr/>
            <p:nvPr/>
          </p:nvSpPr>
          <p:spPr>
            <a:xfrm>
              <a:off x="3803636" y="5644971"/>
              <a:ext cx="156427" cy="18403"/>
            </a:xfrm>
            <a:custGeom>
              <a:avLst/>
              <a:gdLst/>
              <a:ahLst/>
              <a:cxnLst/>
              <a:rect l="l" t="t" r="r" b="b"/>
              <a:pathLst>
                <a:path w="89950" h="10582" extrusionOk="0">
                  <a:moveTo>
                    <a:pt x="6349" y="0"/>
                  </a:moveTo>
                  <a:cubicBezTo>
                    <a:pt x="2646" y="0"/>
                    <a:pt x="0" y="2646"/>
                    <a:pt x="0" y="6349"/>
                  </a:cubicBezTo>
                  <a:cubicBezTo>
                    <a:pt x="0" y="10053"/>
                    <a:pt x="2646" y="12699"/>
                    <a:pt x="6349" y="12699"/>
                  </a:cubicBezTo>
                  <a:lnTo>
                    <a:pt x="88363" y="12699"/>
                  </a:lnTo>
                  <a:cubicBezTo>
                    <a:pt x="92067" y="12699"/>
                    <a:pt x="94712" y="10053"/>
                    <a:pt x="94712" y="6349"/>
                  </a:cubicBezTo>
                  <a:cubicBezTo>
                    <a:pt x="94712" y="2646"/>
                    <a:pt x="92067" y="0"/>
                    <a:pt x="88363" y="0"/>
                  </a:cubicBezTo>
                  <a:lnTo>
                    <a:pt x="6349" y="0"/>
                  </a:lnTo>
                  <a:close/>
                </a:path>
              </a:pathLst>
            </a:cu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sp>
          <p:nvSpPr>
            <p:cNvPr id="72" name="Google Shape;129;p13">
              <a:extLst>
                <a:ext uri="{FF2B5EF4-FFF2-40B4-BE49-F238E27FC236}">
                  <a16:creationId xmlns:a16="http://schemas.microsoft.com/office/drawing/2014/main" id="{95F31CCA-2803-2A23-5429-5517797F5E09}"/>
                </a:ext>
              </a:extLst>
            </p:cNvPr>
            <p:cNvSpPr/>
            <p:nvPr/>
          </p:nvSpPr>
          <p:spPr>
            <a:xfrm>
              <a:off x="3803636" y="5751709"/>
              <a:ext cx="156427" cy="18403"/>
            </a:xfrm>
            <a:custGeom>
              <a:avLst/>
              <a:gdLst/>
              <a:ahLst/>
              <a:cxnLst/>
              <a:rect l="l" t="t" r="r" b="b"/>
              <a:pathLst>
                <a:path w="89950" h="10582" extrusionOk="0">
                  <a:moveTo>
                    <a:pt x="88363" y="0"/>
                  </a:moveTo>
                  <a:lnTo>
                    <a:pt x="6349" y="0"/>
                  </a:lnTo>
                  <a:cubicBezTo>
                    <a:pt x="2646" y="0"/>
                    <a:pt x="0" y="2646"/>
                    <a:pt x="0" y="6349"/>
                  </a:cubicBezTo>
                  <a:cubicBezTo>
                    <a:pt x="0" y="10053"/>
                    <a:pt x="2646" y="12699"/>
                    <a:pt x="6349" y="12699"/>
                  </a:cubicBezTo>
                  <a:lnTo>
                    <a:pt x="88363" y="12699"/>
                  </a:lnTo>
                  <a:cubicBezTo>
                    <a:pt x="92067" y="12699"/>
                    <a:pt x="94712" y="10053"/>
                    <a:pt x="94712" y="6349"/>
                  </a:cubicBezTo>
                  <a:cubicBezTo>
                    <a:pt x="94712" y="2646"/>
                    <a:pt x="92067" y="0"/>
                    <a:pt x="88363" y="0"/>
                  </a:cubicBezTo>
                  <a:close/>
                </a:path>
              </a:pathLst>
            </a:cu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sp>
          <p:nvSpPr>
            <p:cNvPr id="73" name="Google Shape;130;p13">
              <a:extLst>
                <a:ext uri="{FF2B5EF4-FFF2-40B4-BE49-F238E27FC236}">
                  <a16:creationId xmlns:a16="http://schemas.microsoft.com/office/drawing/2014/main" id="{B0BEC34F-5021-0CDE-88A3-AE315D7F38B9}"/>
                </a:ext>
              </a:extLst>
            </p:cNvPr>
            <p:cNvSpPr/>
            <p:nvPr/>
          </p:nvSpPr>
          <p:spPr>
            <a:xfrm>
              <a:off x="3803636" y="5881453"/>
              <a:ext cx="156427" cy="18403"/>
            </a:xfrm>
            <a:custGeom>
              <a:avLst/>
              <a:gdLst/>
              <a:ahLst/>
              <a:cxnLst/>
              <a:rect l="l" t="t" r="r" b="b"/>
              <a:pathLst>
                <a:path w="89950" h="10582" extrusionOk="0">
                  <a:moveTo>
                    <a:pt x="88363" y="0"/>
                  </a:moveTo>
                  <a:lnTo>
                    <a:pt x="6349" y="0"/>
                  </a:lnTo>
                  <a:cubicBezTo>
                    <a:pt x="2646" y="0"/>
                    <a:pt x="0" y="2646"/>
                    <a:pt x="0" y="6349"/>
                  </a:cubicBezTo>
                  <a:cubicBezTo>
                    <a:pt x="0" y="10053"/>
                    <a:pt x="2646" y="12699"/>
                    <a:pt x="6349" y="12699"/>
                  </a:cubicBezTo>
                  <a:lnTo>
                    <a:pt x="88363" y="12699"/>
                  </a:lnTo>
                  <a:cubicBezTo>
                    <a:pt x="92067" y="12699"/>
                    <a:pt x="94712" y="10053"/>
                    <a:pt x="94712" y="6349"/>
                  </a:cubicBezTo>
                  <a:cubicBezTo>
                    <a:pt x="94712" y="2646"/>
                    <a:pt x="92067" y="0"/>
                    <a:pt x="88363" y="0"/>
                  </a:cubicBezTo>
                  <a:close/>
                </a:path>
              </a:pathLst>
            </a:custGeom>
            <a:grp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000" u="none" strike="noStrike" kern="0" cap="none" spc="0" normalizeH="0" baseline="0" noProof="0" dirty="0">
                <a:ln>
                  <a:noFill/>
                </a:ln>
                <a:solidFill>
                  <a:srgbClr val="204C61"/>
                </a:solidFill>
                <a:effectLst/>
                <a:uLnTx/>
                <a:uFillTx/>
                <a:latin typeface="Sakkal Majalla" panose="02000000000000000000" pitchFamily="2" charset="-78"/>
                <a:ea typeface="Calibri"/>
                <a:cs typeface="Sakkal Majalla" panose="02000000000000000000" pitchFamily="2" charset="-78"/>
                <a:sym typeface="Calibri"/>
              </a:endParaRPr>
            </a:p>
          </p:txBody>
        </p:sp>
      </p:grpSp>
    </p:spTree>
    <p:extLst>
      <p:ext uri="{BB962C8B-B14F-4D97-AF65-F5344CB8AC3E}">
        <p14:creationId xmlns:p14="http://schemas.microsoft.com/office/powerpoint/2010/main" val="1603083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SA" dirty="0"/>
              <a:t>نظرة عامة عن</a:t>
            </a:r>
            <a:r>
              <a:rPr lang="ar-EG" dirty="0"/>
              <a:t> النموذج العام لمكونات البنية المؤسسية</a:t>
            </a:r>
            <a:endParaRPr lang="en-US" dirty="0"/>
          </a:p>
        </p:txBody>
      </p:sp>
      <p:sp>
        <p:nvSpPr>
          <p:cNvPr id="4" name="Text Placeholder 3"/>
          <p:cNvSpPr>
            <a:spLocks noGrp="1"/>
          </p:cNvSpPr>
          <p:nvPr>
            <p:ph type="body" sz="quarter" idx="14"/>
          </p:nvPr>
        </p:nvSpPr>
        <p:spPr/>
        <p:txBody>
          <a:bodyPr/>
          <a:lstStyle/>
          <a:p>
            <a:r>
              <a:rPr lang="en-US" dirty="0"/>
              <a:t>02</a:t>
            </a:r>
          </a:p>
        </p:txBody>
      </p:sp>
    </p:spTree>
    <p:extLst>
      <p:ext uri="{BB962C8B-B14F-4D97-AF65-F5344CB8AC3E}">
        <p14:creationId xmlns:p14="http://schemas.microsoft.com/office/powerpoint/2010/main" val="1657789898"/>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المشهد العام للنموذج</a:t>
            </a:r>
            <a:r>
              <a:rPr lang="en-US" dirty="0"/>
              <a:t> </a:t>
            </a:r>
            <a:r>
              <a:rPr lang="ar-SA" dirty="0"/>
              <a:t>العام لمكونات البنية المؤسسية</a:t>
            </a:r>
            <a:endParaRPr lang="en-US" dirty="0"/>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12</a:t>
            </a:fld>
            <a:endParaRPr lang="en-US"/>
          </a:p>
        </p:txBody>
      </p:sp>
      <p:pic>
        <p:nvPicPr>
          <p:cNvPr id="6" name="Picture 5">
            <a:extLst>
              <a:ext uri="{FF2B5EF4-FFF2-40B4-BE49-F238E27FC236}">
                <a16:creationId xmlns:a16="http://schemas.microsoft.com/office/drawing/2014/main" id="{49C0E5AC-9EBC-4BFA-B9A4-6796FACBA77B}"/>
              </a:ext>
            </a:extLst>
          </p:cNvPr>
          <p:cNvPicPr>
            <a:picLocks noChangeAspect="1"/>
          </p:cNvPicPr>
          <p:nvPr/>
        </p:nvPicPr>
        <p:blipFill>
          <a:blip r:embed="rId3"/>
          <a:stretch>
            <a:fillRect/>
          </a:stretch>
        </p:blipFill>
        <p:spPr>
          <a:xfrm>
            <a:off x="2157272" y="1182949"/>
            <a:ext cx="8078679" cy="4818354"/>
          </a:xfrm>
          <a:prstGeom prst="rect">
            <a:avLst/>
          </a:prstGeom>
        </p:spPr>
      </p:pic>
    </p:spTree>
    <p:extLst>
      <p:ext uri="{BB962C8B-B14F-4D97-AF65-F5344CB8AC3E}">
        <p14:creationId xmlns:p14="http://schemas.microsoft.com/office/powerpoint/2010/main" val="2964792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ar-SA" dirty="0"/>
              <a:t>تفاصيل </a:t>
            </a:r>
            <a:r>
              <a:rPr lang="ar-EG" dirty="0"/>
              <a:t>النموذج العام لمكونات البنية المؤسسية</a:t>
            </a:r>
            <a:endParaRPr lang="en-US" dirty="0"/>
          </a:p>
        </p:txBody>
      </p:sp>
      <p:sp>
        <p:nvSpPr>
          <p:cNvPr id="4" name="Text Placeholder 3"/>
          <p:cNvSpPr>
            <a:spLocks noGrp="1"/>
          </p:cNvSpPr>
          <p:nvPr>
            <p:ph type="body" sz="quarter" idx="14"/>
          </p:nvPr>
        </p:nvSpPr>
        <p:spPr/>
        <p:txBody>
          <a:bodyPr/>
          <a:lstStyle/>
          <a:p>
            <a:r>
              <a:rPr lang="ar-SA" dirty="0"/>
              <a:t>03</a:t>
            </a:r>
            <a:endParaRPr lang="en-US" dirty="0"/>
          </a:p>
        </p:txBody>
      </p:sp>
    </p:spTree>
    <p:extLst>
      <p:ext uri="{BB962C8B-B14F-4D97-AF65-F5344CB8AC3E}">
        <p14:creationId xmlns:p14="http://schemas.microsoft.com/office/powerpoint/2010/main" val="4177170339"/>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62880" y="3925452"/>
            <a:ext cx="6281420" cy="641639"/>
          </a:xfrm>
        </p:spPr>
        <p:txBody>
          <a:bodyPr/>
          <a:lstStyle/>
          <a:p>
            <a:r>
              <a:rPr lang="ar-EG" sz="2800" dirty="0"/>
              <a:t>وحدات بناء "</a:t>
            </a:r>
            <a:r>
              <a:rPr lang="ar-SA" sz="2800" dirty="0"/>
              <a:t> الموائمة الاستراتيجية</a:t>
            </a:r>
            <a:r>
              <a:rPr lang="ar-EG" sz="2800" dirty="0"/>
              <a:t>"</a:t>
            </a:r>
            <a:endParaRPr lang="en-US" sz="2800" dirty="0"/>
          </a:p>
        </p:txBody>
      </p:sp>
      <p:sp>
        <p:nvSpPr>
          <p:cNvPr id="4" name="Text Placeholder 3"/>
          <p:cNvSpPr>
            <a:spLocks noGrp="1"/>
          </p:cNvSpPr>
          <p:nvPr>
            <p:ph type="body" sz="quarter" idx="14"/>
          </p:nvPr>
        </p:nvSpPr>
        <p:spPr/>
        <p:txBody>
          <a:bodyPr/>
          <a:lstStyle/>
          <a:p>
            <a:r>
              <a:rPr lang="en-US" sz="7200" dirty="0"/>
              <a:t>3.1</a:t>
            </a:r>
          </a:p>
        </p:txBody>
      </p:sp>
    </p:spTree>
    <p:extLst>
      <p:ext uri="{BB962C8B-B14F-4D97-AF65-F5344CB8AC3E}">
        <p14:creationId xmlns:p14="http://schemas.microsoft.com/office/powerpoint/2010/main" val="2631600518"/>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وحدات بناء "</a:t>
            </a:r>
            <a:r>
              <a:rPr lang="ar-SA" sz="3200" dirty="0"/>
              <a:t> الموائمة الاستراتيجية </a:t>
            </a:r>
            <a:r>
              <a:rPr lang="ar-SA" dirty="0"/>
              <a:t>"</a:t>
            </a:r>
            <a:endParaRPr lang="en-US" dirty="0"/>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15</a:t>
            </a:fld>
            <a:endParaRPr lang="en-US"/>
          </a:p>
        </p:txBody>
      </p:sp>
      <p:sp>
        <p:nvSpPr>
          <p:cNvPr id="3" name="Rectangle 2">
            <a:extLst>
              <a:ext uri="{FF2B5EF4-FFF2-40B4-BE49-F238E27FC236}">
                <a16:creationId xmlns:a16="http://schemas.microsoft.com/office/drawing/2014/main" id="{BBCC3337-01CB-4962-B9FF-78E0A74BFDAE}"/>
              </a:ext>
            </a:extLst>
          </p:cNvPr>
          <p:cNvSpPr/>
          <p:nvPr/>
        </p:nvSpPr>
        <p:spPr>
          <a:xfrm>
            <a:off x="1071158" y="1389169"/>
            <a:ext cx="10508468" cy="369332"/>
          </a:xfrm>
          <a:prstGeom prst="rect">
            <a:avLst/>
          </a:prstGeom>
        </p:spPr>
        <p:txBody>
          <a:bodyPr wrap="square">
            <a:spAutoFit/>
          </a:bodyPr>
          <a:lstStyle/>
          <a:p>
            <a:pPr algn="r" rtl="1"/>
            <a:r>
              <a:rPr lang="ar-SA" b="1" dirty="0">
                <a:latin typeface="Sakkal Majalla" panose="02000000000000000000" pitchFamily="2" charset="-78"/>
                <a:cs typeface="Sakkal Majalla" panose="02000000000000000000" pitchFamily="2" charset="-78"/>
              </a:rPr>
              <a:t>يوضح</a:t>
            </a:r>
            <a:r>
              <a:rPr lang="en-US" b="1" dirty="0">
                <a:latin typeface="Sakkal Majalla" panose="02000000000000000000" pitchFamily="2" charset="-78"/>
                <a:cs typeface="Sakkal Majalla" panose="02000000000000000000" pitchFamily="2" charset="-78"/>
              </a:rPr>
              <a:t> </a:t>
            </a:r>
            <a:r>
              <a:rPr lang="ar-SA" b="1" dirty="0">
                <a:latin typeface="Sakkal Majalla" panose="02000000000000000000" pitchFamily="2" charset="-78"/>
                <a:cs typeface="Sakkal Majalla" panose="02000000000000000000" pitchFamily="2" charset="-78"/>
              </a:rPr>
              <a:t>الشكل</a:t>
            </a:r>
            <a:r>
              <a:rPr lang="en-US" b="1" dirty="0">
                <a:latin typeface="Sakkal Majalla" panose="02000000000000000000" pitchFamily="2" charset="-78"/>
                <a:cs typeface="Sakkal Majalla" panose="02000000000000000000" pitchFamily="2" charset="-78"/>
              </a:rPr>
              <a:t> </a:t>
            </a:r>
            <a:r>
              <a:rPr lang="ar-SA" b="1" dirty="0">
                <a:latin typeface="Sakkal Majalla" panose="02000000000000000000" pitchFamily="2" charset="-78"/>
                <a:cs typeface="Sakkal Majalla" panose="02000000000000000000" pitchFamily="2" charset="-78"/>
              </a:rPr>
              <a:t>وحدات بناء "الموائمة الاستراتيجية":</a:t>
            </a:r>
            <a:endParaRPr lang="en-US" b="1" dirty="0">
              <a:latin typeface="Sakkal Majalla" panose="02000000000000000000" pitchFamily="2" charset="-78"/>
              <a:cs typeface="Sakkal Majalla" panose="02000000000000000000" pitchFamily="2" charset="-78"/>
            </a:endParaRPr>
          </a:p>
        </p:txBody>
      </p:sp>
      <p:pic>
        <p:nvPicPr>
          <p:cNvPr id="5" name="Picture 4">
            <a:extLst>
              <a:ext uri="{FF2B5EF4-FFF2-40B4-BE49-F238E27FC236}">
                <a16:creationId xmlns:a16="http://schemas.microsoft.com/office/drawing/2014/main" id="{99B7EDAB-05CB-4C61-87E7-A42010B8E052}"/>
              </a:ext>
            </a:extLst>
          </p:cNvPr>
          <p:cNvPicPr>
            <a:picLocks noChangeAspect="1"/>
          </p:cNvPicPr>
          <p:nvPr/>
        </p:nvPicPr>
        <p:blipFill>
          <a:blip r:embed="rId3"/>
          <a:stretch>
            <a:fillRect/>
          </a:stretch>
        </p:blipFill>
        <p:spPr>
          <a:xfrm>
            <a:off x="2980287" y="639190"/>
            <a:ext cx="3236381" cy="5397625"/>
          </a:xfrm>
          <a:prstGeom prst="rect">
            <a:avLst/>
          </a:prstGeom>
        </p:spPr>
      </p:pic>
    </p:spTree>
    <p:extLst>
      <p:ext uri="{BB962C8B-B14F-4D97-AF65-F5344CB8AC3E}">
        <p14:creationId xmlns:p14="http://schemas.microsoft.com/office/powerpoint/2010/main" val="2367047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16</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356887"/>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تعريف</a:t>
            </a:r>
            <a:r>
              <a:rPr lang="en-US" dirty="0"/>
              <a:t> </a:t>
            </a:r>
            <a:r>
              <a:rPr lang="ar-SA" dirty="0"/>
              <a:t>وحدات</a:t>
            </a:r>
            <a:r>
              <a:rPr lang="en-US" dirty="0"/>
              <a:t> </a:t>
            </a:r>
            <a:r>
              <a:rPr lang="ar-SA" dirty="0"/>
              <a:t>البناء التابعة لـ</a:t>
            </a:r>
            <a:r>
              <a:rPr lang="en-US" dirty="0"/>
              <a:t> </a:t>
            </a:r>
            <a:r>
              <a:rPr lang="ar-SA" dirty="0"/>
              <a:t>“الموائمة الاستراتيجية"</a:t>
            </a:r>
            <a:endParaRPr lang="en-US" dirty="0"/>
          </a:p>
        </p:txBody>
      </p:sp>
      <p:graphicFrame>
        <p:nvGraphicFramePr>
          <p:cNvPr id="12" name="Table 11">
            <a:extLst>
              <a:ext uri="{FF2B5EF4-FFF2-40B4-BE49-F238E27FC236}">
                <a16:creationId xmlns:a16="http://schemas.microsoft.com/office/drawing/2014/main" id="{716CE2B9-08C8-087A-0FD4-84D4AC499CF8}"/>
              </a:ext>
            </a:extLst>
          </p:cNvPr>
          <p:cNvGraphicFramePr>
            <a:graphicFrameLocks noGrp="1"/>
          </p:cNvGraphicFramePr>
          <p:nvPr>
            <p:extLst>
              <p:ext uri="{D42A27DB-BD31-4B8C-83A1-F6EECF244321}">
                <p14:modId xmlns:p14="http://schemas.microsoft.com/office/powerpoint/2010/main" val="3740363778"/>
              </p:ext>
            </p:extLst>
          </p:nvPr>
        </p:nvGraphicFramePr>
        <p:xfrm>
          <a:off x="452762" y="992668"/>
          <a:ext cx="11301274" cy="4974743"/>
        </p:xfrm>
        <a:graphic>
          <a:graphicData uri="http://schemas.openxmlformats.org/drawingml/2006/table">
            <a:tbl>
              <a:tblPr rtl="1" firstRow="1" bandRow="1">
                <a:tableStyleId>{21E4AEA4-8DFA-4A89-87EB-49C32662AFE0}</a:tableStyleId>
              </a:tblPr>
              <a:tblGrid>
                <a:gridCol w="1300226">
                  <a:extLst>
                    <a:ext uri="{9D8B030D-6E8A-4147-A177-3AD203B41FA5}">
                      <a16:colId xmlns:a16="http://schemas.microsoft.com/office/drawing/2014/main" val="2023822235"/>
                    </a:ext>
                  </a:extLst>
                </a:gridCol>
                <a:gridCol w="7462938">
                  <a:extLst>
                    <a:ext uri="{9D8B030D-6E8A-4147-A177-3AD203B41FA5}">
                      <a16:colId xmlns:a16="http://schemas.microsoft.com/office/drawing/2014/main" val="3711612230"/>
                    </a:ext>
                  </a:extLst>
                </a:gridCol>
                <a:gridCol w="1178401">
                  <a:extLst>
                    <a:ext uri="{9D8B030D-6E8A-4147-A177-3AD203B41FA5}">
                      <a16:colId xmlns:a16="http://schemas.microsoft.com/office/drawing/2014/main" val="2276367593"/>
                    </a:ext>
                  </a:extLst>
                </a:gridCol>
                <a:gridCol w="1359709">
                  <a:extLst>
                    <a:ext uri="{9D8B030D-6E8A-4147-A177-3AD203B41FA5}">
                      <a16:colId xmlns:a16="http://schemas.microsoft.com/office/drawing/2014/main" val="1802842184"/>
                    </a:ext>
                  </a:extLst>
                </a:gridCol>
              </a:tblGrid>
              <a:tr h="502415">
                <a:tc>
                  <a:txBody>
                    <a:bodyPr/>
                    <a:lstStyle/>
                    <a:p>
                      <a:pPr algn="ctr" rtl="1" fontAlgn="b"/>
                      <a:r>
                        <a:rPr lang="ar-SA" sz="2100" u="none" strike="noStrike" dirty="0">
                          <a:effectLst/>
                        </a:rPr>
                        <a:t>وحدة البناء</a:t>
                      </a:r>
                      <a:endParaRPr lang="ar-SA" sz="2100" b="1" i="0" u="none" strike="noStrike" dirty="0">
                        <a:solidFill>
                          <a:srgbClr val="000000"/>
                        </a:solidFill>
                        <a:effectLst/>
                        <a:latin typeface="Arial" panose="020B0604020202020204" pitchFamily="34" charset="0"/>
                      </a:endParaRPr>
                    </a:p>
                  </a:txBody>
                  <a:tcPr anchor="ctr"/>
                </a:tc>
                <a:tc>
                  <a:txBody>
                    <a:bodyPr/>
                    <a:lstStyle/>
                    <a:p>
                      <a:pPr algn="ctr" rtl="1" fontAlgn="b"/>
                      <a:r>
                        <a:rPr lang="ar-SA" sz="2100" u="none" strike="noStrike" dirty="0">
                          <a:effectLst/>
                        </a:rPr>
                        <a:t>التعريف</a:t>
                      </a:r>
                      <a:endParaRPr lang="ar-SA" sz="2100" b="1" i="0" u="none" strike="noStrike" dirty="0">
                        <a:solidFill>
                          <a:srgbClr val="000000"/>
                        </a:solidFill>
                        <a:effectLst/>
                        <a:latin typeface="Arial" panose="020B0604020202020204" pitchFamily="34" charset="0"/>
                      </a:endParaRPr>
                    </a:p>
                  </a:txBody>
                  <a:tcPr anchor="ctr"/>
                </a:tc>
                <a:tc>
                  <a:txBody>
                    <a:bodyPr/>
                    <a:lstStyle/>
                    <a:p>
                      <a:pPr algn="ctr" rtl="1" fontAlgn="b"/>
                      <a:r>
                        <a:rPr lang="ar-SA" sz="2100" b="1" u="none" strike="noStrike" kern="1200" dirty="0">
                          <a:solidFill>
                            <a:schemeClr val="lt1"/>
                          </a:solidFill>
                          <a:effectLst/>
                          <a:latin typeface="+mn-lt"/>
                          <a:ea typeface="+mn-ea"/>
                          <a:cs typeface="+mn-cs"/>
                        </a:rPr>
                        <a:t>مستوى المكون</a:t>
                      </a:r>
                    </a:p>
                  </a:txBody>
                  <a:tcPr anchor="ctr"/>
                </a:tc>
                <a:tc>
                  <a:txBody>
                    <a:bodyPr/>
                    <a:lstStyle/>
                    <a:p>
                      <a:pPr algn="ctr" rtl="1" fontAlgn="b"/>
                      <a:r>
                        <a:rPr lang="ar-SA" sz="2100" b="1" u="none" strike="noStrike" kern="1200" dirty="0">
                          <a:solidFill>
                            <a:schemeClr val="lt1"/>
                          </a:solidFill>
                          <a:effectLst/>
                          <a:latin typeface="+mn-lt"/>
                          <a:ea typeface="+mn-ea"/>
                          <a:cs typeface="+mn-cs"/>
                        </a:rPr>
                        <a:t>مستوى إلزامية التوثيق</a:t>
                      </a:r>
                    </a:p>
                  </a:txBody>
                  <a:tcPr anchor="ctr"/>
                </a:tc>
                <a:extLst>
                  <a:ext uri="{0D108BD9-81ED-4DB2-BD59-A6C34878D82A}">
                    <a16:rowId xmlns:a16="http://schemas.microsoft.com/office/drawing/2014/main" val="2631080347"/>
                  </a:ext>
                </a:extLst>
              </a:tr>
              <a:tr h="500180">
                <a:tc>
                  <a:txBody>
                    <a:bodyPr/>
                    <a:lstStyle/>
                    <a:p>
                      <a:pPr algn="ctr" rtl="1" fontAlgn="b"/>
                      <a:r>
                        <a:rPr lang="ar-SA" sz="2000" b="1" u="none" strike="noStrike" dirty="0">
                          <a:effectLst/>
                          <a:hlinkClick r:id="rId3" action="ppaction://hlinksldjump"/>
                        </a:rPr>
                        <a:t>رؤية</a:t>
                      </a:r>
                      <a:endParaRPr lang="ar-SA" sz="2000" b="1" i="0" u="none" strike="noStrike" dirty="0">
                        <a:solidFill>
                          <a:srgbClr val="000000"/>
                        </a:solidFill>
                        <a:effectLst/>
                        <a:latin typeface="Arial" panose="020B0604020202020204" pitchFamily="34" charset="0"/>
                      </a:endParaRPr>
                    </a:p>
                  </a:txBody>
                  <a:tcPr anchor="ctr"/>
                </a:tc>
                <a:tc>
                  <a:txBody>
                    <a:bodyPr/>
                    <a:lstStyle/>
                    <a:p>
                      <a:pPr algn="r" rtl="1" fontAlgn="ctr"/>
                      <a:r>
                        <a:rPr lang="ar-SA" sz="1900" u="none" strike="noStrike" dirty="0">
                          <a:effectLst/>
                        </a:rPr>
                        <a:t>تمثل الهدف طويل الأمد الذي تسعى </a:t>
                      </a:r>
                      <a:r>
                        <a:rPr lang="ar-EG" sz="1900" u="none" strike="noStrike" dirty="0">
                          <a:effectLst/>
                        </a:rPr>
                        <a:t>الهيئة</a:t>
                      </a:r>
                      <a:r>
                        <a:rPr lang="ar-SA" sz="1900" u="none" strike="noStrike" dirty="0">
                          <a:effectLst/>
                        </a:rPr>
                        <a:t> لتحقيقه بحيث تصف حالة أو فائدة مستقبلية تعكس طموح </a:t>
                      </a:r>
                      <a:r>
                        <a:rPr lang="ar-EG" sz="1900" u="none" strike="noStrike" dirty="0">
                          <a:effectLst/>
                        </a:rPr>
                        <a:t>الهيئة</a:t>
                      </a:r>
                      <a:endParaRPr lang="ar-SA" sz="1900" b="0" i="0" u="none" strike="noStrike" dirty="0">
                        <a:solidFill>
                          <a:srgbClr val="000000"/>
                        </a:solidFill>
                        <a:effectLst/>
                        <a:latin typeface="Arial" panose="020B0604020202020204" pitchFamily="34" charset="0"/>
                      </a:endParaRP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محوري</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مفاهيمي</a:t>
                      </a:r>
                    </a:p>
                  </a:txBody>
                  <a:tcPr anchor="ctr"/>
                </a:tc>
                <a:extLst>
                  <a:ext uri="{0D108BD9-81ED-4DB2-BD59-A6C34878D82A}">
                    <a16:rowId xmlns:a16="http://schemas.microsoft.com/office/drawing/2014/main" val="1101753229"/>
                  </a:ext>
                </a:extLst>
              </a:tr>
              <a:tr h="500180">
                <a:tc>
                  <a:txBody>
                    <a:bodyPr/>
                    <a:lstStyle/>
                    <a:p>
                      <a:pPr algn="ctr" rtl="1" fontAlgn="b"/>
                      <a:r>
                        <a:rPr lang="ar-SA" sz="2000" b="1" u="none" strike="noStrike" dirty="0">
                          <a:effectLst/>
                          <a:hlinkClick r:id="rId4" action="ppaction://hlinksldjump"/>
                        </a:rPr>
                        <a:t>رسالة</a:t>
                      </a:r>
                      <a:endParaRPr lang="ar-SA" sz="2000" b="1" i="0" u="none" strike="noStrike" dirty="0">
                        <a:solidFill>
                          <a:srgbClr val="000000"/>
                        </a:solidFill>
                        <a:effectLst/>
                        <a:latin typeface="Arial" panose="020B0604020202020204" pitchFamily="34" charset="0"/>
                      </a:endParaRPr>
                    </a:p>
                  </a:txBody>
                  <a:tcPr anchor="ctr"/>
                </a:tc>
                <a:tc>
                  <a:txBody>
                    <a:bodyPr/>
                    <a:lstStyle/>
                    <a:p>
                      <a:pPr algn="r" rtl="1" fontAlgn="ctr"/>
                      <a:r>
                        <a:rPr lang="ar-SA" sz="1900" u="none" strike="noStrike" dirty="0">
                          <a:effectLst/>
                        </a:rPr>
                        <a:t>تمثل الغاية والغرض الأساسي من وجود </a:t>
                      </a:r>
                      <a:r>
                        <a:rPr lang="ar-EG" sz="1900" u="none" strike="noStrike" dirty="0">
                          <a:effectLst/>
                        </a:rPr>
                        <a:t>الهيئة</a:t>
                      </a:r>
                      <a:r>
                        <a:rPr lang="ar-SA" sz="1900" u="none" strike="noStrike" dirty="0">
                          <a:effectLst/>
                        </a:rPr>
                        <a:t> بالإضافة إلى القيم والأنشطة الرئيسية التي تعمل عليها </a:t>
                      </a:r>
                      <a:r>
                        <a:rPr lang="ar-EG" sz="1900" u="none" strike="noStrike" dirty="0">
                          <a:effectLst/>
                        </a:rPr>
                        <a:t>الهيئة</a:t>
                      </a:r>
                      <a:r>
                        <a:rPr lang="ar-SA" sz="1900" u="none" strike="noStrike" dirty="0">
                          <a:effectLst/>
                        </a:rPr>
                        <a:t> بما يخدم تحقيق الرؤية</a:t>
                      </a:r>
                      <a:endParaRPr lang="ar-SA" sz="1900" b="0" i="0" u="none" strike="noStrike" dirty="0">
                        <a:solidFill>
                          <a:srgbClr val="000000"/>
                        </a:solidFill>
                        <a:effectLst/>
                        <a:latin typeface="Arial" panose="020B0604020202020204" pitchFamily="34" charset="0"/>
                      </a:endParaRP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محوري</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مفاهيمي</a:t>
                      </a:r>
                    </a:p>
                  </a:txBody>
                  <a:tcPr anchor="ctr"/>
                </a:tc>
                <a:extLst>
                  <a:ext uri="{0D108BD9-81ED-4DB2-BD59-A6C34878D82A}">
                    <a16:rowId xmlns:a16="http://schemas.microsoft.com/office/drawing/2014/main" val="998746437"/>
                  </a:ext>
                </a:extLst>
              </a:tr>
              <a:tr h="500180">
                <a:tc>
                  <a:txBody>
                    <a:bodyPr/>
                    <a:lstStyle/>
                    <a:p>
                      <a:pPr algn="ctr" rtl="1" fontAlgn="b"/>
                      <a:r>
                        <a:rPr lang="ar-EG" sz="2000" b="1" i="0" u="none" strike="noStrike" dirty="0">
                          <a:solidFill>
                            <a:srgbClr val="000000"/>
                          </a:solidFill>
                          <a:effectLst/>
                          <a:latin typeface="Arial" panose="020B0604020202020204" pitchFamily="34" charset="0"/>
                          <a:hlinkClick r:id="rId5" action="ppaction://hlinksldjump"/>
                        </a:rPr>
                        <a:t>استراتيجية</a:t>
                      </a:r>
                      <a:endParaRPr lang="ar-SA" sz="2000" b="1" i="0" u="none" strike="noStrike" dirty="0">
                        <a:solidFill>
                          <a:srgbClr val="000000"/>
                        </a:solidFill>
                        <a:effectLst/>
                        <a:latin typeface="Arial" panose="020B0604020202020204" pitchFamily="34" charset="0"/>
                      </a:endParaRPr>
                    </a:p>
                  </a:txBody>
                  <a:tcPr anchor="ctr"/>
                </a:tc>
                <a:tc>
                  <a:txBody>
                    <a:bodyPr/>
                    <a:lstStyle/>
                    <a:p>
                      <a:pPr algn="r" rtl="1" fontAlgn="ctr"/>
                      <a:r>
                        <a:rPr lang="ar-EG" sz="1900" b="0" i="0" u="none" strike="noStrike" dirty="0">
                          <a:solidFill>
                            <a:srgbClr val="000000"/>
                          </a:solidFill>
                          <a:effectLst/>
                          <a:latin typeface="Arial" panose="020B0604020202020204" pitchFamily="34" charset="0"/>
                        </a:rPr>
                        <a:t>تمثل</a:t>
                      </a:r>
                      <a:r>
                        <a:rPr lang="ar-SA" sz="1900" b="0" i="0" u="none" strike="noStrike" dirty="0">
                          <a:solidFill>
                            <a:srgbClr val="000000"/>
                          </a:solidFill>
                          <a:effectLst/>
                          <a:latin typeface="Arial" panose="020B0604020202020204" pitchFamily="34" charset="0"/>
                        </a:rPr>
                        <a:t> خطة شاملة وطويلة الأمد تحدد اتجاه </a:t>
                      </a:r>
                      <a:r>
                        <a:rPr lang="ar-EG" sz="1900" b="0" i="0" u="none" strike="noStrike" dirty="0">
                          <a:solidFill>
                            <a:srgbClr val="000000"/>
                          </a:solidFill>
                          <a:effectLst/>
                          <a:latin typeface="Arial" panose="020B0604020202020204" pitchFamily="34" charset="0"/>
                        </a:rPr>
                        <a:t>الهيئة</a:t>
                      </a:r>
                      <a:r>
                        <a:rPr lang="ar-SA" sz="1900" b="0" i="0" u="none" strike="noStrike" dirty="0">
                          <a:solidFill>
                            <a:srgbClr val="000000"/>
                          </a:solidFill>
                          <a:effectLst/>
                          <a:latin typeface="Arial" panose="020B0604020202020204" pitchFamily="34" charset="0"/>
                        </a:rPr>
                        <a:t> لتحقيق رؤيتها وأهدافها. تتضمن توجيه الموارد والإجراءات لتحقيق نجاح مستدام ومواجهة التحديات المستقبلية</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محوري</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مفاهيمي</a:t>
                      </a:r>
                    </a:p>
                  </a:txBody>
                  <a:tcPr anchor="ctr"/>
                </a:tc>
                <a:extLst>
                  <a:ext uri="{0D108BD9-81ED-4DB2-BD59-A6C34878D82A}">
                    <a16:rowId xmlns:a16="http://schemas.microsoft.com/office/drawing/2014/main" val="4189823127"/>
                  </a:ext>
                </a:extLst>
              </a:tr>
              <a:tr h="500180">
                <a:tc>
                  <a:txBody>
                    <a:bodyPr/>
                    <a:lstStyle/>
                    <a:p>
                      <a:pPr algn="ctr" rtl="1" fontAlgn="b"/>
                      <a:r>
                        <a:rPr lang="ar-SA" sz="2000" b="1" i="0" u="none" strike="noStrike" dirty="0">
                          <a:solidFill>
                            <a:srgbClr val="000000"/>
                          </a:solidFill>
                          <a:effectLst/>
                          <a:latin typeface="Arial" panose="020B0604020202020204" pitchFamily="34" charset="0"/>
                          <a:hlinkClick r:id="rId6" action="ppaction://hlinksldjump"/>
                        </a:rPr>
                        <a:t>ممكن</a:t>
                      </a:r>
                      <a:endParaRPr lang="ar-SA" sz="2000" b="1" i="0" u="none" strike="noStrike" dirty="0">
                        <a:solidFill>
                          <a:srgbClr val="000000"/>
                        </a:solidFill>
                        <a:effectLst/>
                        <a:latin typeface="Arial" panose="020B0604020202020204" pitchFamily="34" charset="0"/>
                      </a:endParaRPr>
                    </a:p>
                  </a:txBody>
                  <a:tcPr anchor="ctr"/>
                </a:tc>
                <a:tc>
                  <a:txBody>
                    <a:bodyPr/>
                    <a:lstStyle/>
                    <a:p>
                      <a:pPr algn="r" rtl="1" fontAlgn="ctr"/>
                      <a:r>
                        <a:rPr lang="ar-EG" sz="1900" b="0" i="0" u="none" strike="noStrike" kern="1200" dirty="0">
                          <a:solidFill>
                            <a:srgbClr val="000000"/>
                          </a:solidFill>
                          <a:effectLst/>
                          <a:latin typeface="Arial" panose="020B0604020202020204" pitchFamily="34" charset="0"/>
                          <a:ea typeface="+mn-ea"/>
                          <a:cs typeface="+mn-cs"/>
                        </a:rPr>
                        <a:t>عنصر داعم أو قدرة أو مورد يُسهم في تمكين تحقيق الأهداف الإستراتيجية من خلال دعم تنفيذ المبادرات وتعزيز القدرات المؤسسية، وهو حلقة الربط بين توجهات الهيئة والبُنى المؤسسية المختلفة</a:t>
                      </a:r>
                      <a:r>
                        <a:rPr lang="ar-SA" sz="1900" b="0" i="0" u="none" strike="noStrike" kern="1200" dirty="0">
                          <a:solidFill>
                            <a:srgbClr val="000000"/>
                          </a:solidFill>
                          <a:effectLst/>
                          <a:latin typeface="Arial" panose="020B0604020202020204" pitchFamily="34" charset="0"/>
                          <a:ea typeface="+mn-ea"/>
                          <a:cs typeface="+mn-cs"/>
                        </a:rPr>
                        <a:t>، </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داعم</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مفاهيمي</a:t>
                      </a:r>
                    </a:p>
                  </a:txBody>
                  <a:tcPr anchor="ctr"/>
                </a:tc>
                <a:extLst>
                  <a:ext uri="{0D108BD9-81ED-4DB2-BD59-A6C34878D82A}">
                    <a16:rowId xmlns:a16="http://schemas.microsoft.com/office/drawing/2014/main" val="32333663"/>
                  </a:ext>
                </a:extLst>
              </a:tr>
              <a:tr h="771243">
                <a:tc>
                  <a:txBody>
                    <a:bodyPr/>
                    <a:lstStyle/>
                    <a:p>
                      <a:pPr algn="ctr" rtl="1" fontAlgn="b"/>
                      <a:r>
                        <a:rPr lang="ar-SA" sz="2000" b="1" i="0" u="none" strike="noStrike" dirty="0">
                          <a:solidFill>
                            <a:srgbClr val="000000"/>
                          </a:solidFill>
                          <a:effectLst/>
                          <a:latin typeface="Arial" panose="020B0604020202020204" pitchFamily="34" charset="0"/>
                          <a:hlinkClick r:id="rId7" action="ppaction://hlinksldjump"/>
                        </a:rPr>
                        <a:t>مبادرة</a:t>
                      </a:r>
                      <a:endParaRPr lang="ar-SA" sz="2000" b="1" i="0" u="none" strike="noStrike" dirty="0">
                        <a:solidFill>
                          <a:srgbClr val="000000"/>
                        </a:solidFill>
                        <a:effectLst/>
                        <a:latin typeface="Arial" panose="020B0604020202020204" pitchFamily="34" charset="0"/>
                      </a:endParaRPr>
                    </a:p>
                  </a:txBody>
                  <a:tcPr anchor="ctr"/>
                </a:tc>
                <a:tc>
                  <a:txBody>
                    <a:bodyPr/>
                    <a:lstStyle/>
                    <a:p>
                      <a:pPr algn="r" rtl="1" fontAlgn="ctr"/>
                      <a:r>
                        <a:rPr lang="ar-EG" sz="1900" b="0" i="0" u="none" strike="noStrike" kern="1200" dirty="0">
                          <a:solidFill>
                            <a:srgbClr val="000000"/>
                          </a:solidFill>
                          <a:effectLst/>
                          <a:latin typeface="Arial" panose="020B0604020202020204" pitchFamily="34" charset="0"/>
                          <a:ea typeface="+mn-ea"/>
                          <a:cs typeface="+mn-cs"/>
                        </a:rPr>
                        <a:t>مجموعة منظمة من الأنشطة أو المشاريع تُطلق لتحقيق هدف أو أكثر من الأهداف الاستراتيجية للجهة، من خلال تحويل التوجهات والاستراتيجيات إلى خطط تنفيذية قابلة للقياس، وتعمل كحلقة وصل بين الأهداف الاستراتيجية ومحفظة المشاريع والبرامج، مع تحديد نطاق زمني ومسؤوليات ومخرجات متوقعة</a:t>
                      </a:r>
                      <a:endParaRPr lang="ar-SA" sz="1900" b="0" i="0" u="none" strike="noStrike" kern="1200" dirty="0">
                        <a:solidFill>
                          <a:srgbClr val="000000"/>
                        </a:solidFill>
                        <a:effectLst/>
                        <a:latin typeface="Arial" panose="020B0604020202020204" pitchFamily="34" charset="0"/>
                        <a:ea typeface="+mn-ea"/>
                        <a:cs typeface="+mn-cs"/>
                      </a:endParaRP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محوري</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منطقي</a:t>
                      </a:r>
                    </a:p>
                  </a:txBody>
                  <a:tcPr anchor="ctr"/>
                </a:tc>
                <a:extLst>
                  <a:ext uri="{0D108BD9-81ED-4DB2-BD59-A6C34878D82A}">
                    <a16:rowId xmlns:a16="http://schemas.microsoft.com/office/drawing/2014/main" val="2453539079"/>
                  </a:ext>
                </a:extLst>
              </a:tr>
              <a:tr h="771243">
                <a:tc>
                  <a:txBody>
                    <a:bodyPr/>
                    <a:lstStyle/>
                    <a:p>
                      <a:pPr algn="ctr" rtl="1" fontAlgn="b"/>
                      <a:r>
                        <a:rPr lang="ar-SA" sz="2000" b="1" u="none" strike="noStrike" dirty="0">
                          <a:effectLst/>
                          <a:hlinkClick r:id="rId5" action="ppaction://hlinksldjump"/>
                        </a:rPr>
                        <a:t>ركيزة</a:t>
                      </a:r>
                      <a:endParaRPr lang="ar-SA" sz="2000" b="1" i="0" u="none" strike="noStrike" dirty="0">
                        <a:solidFill>
                          <a:srgbClr val="000000"/>
                        </a:solidFill>
                        <a:effectLst/>
                        <a:latin typeface="Arial" panose="020B0604020202020204" pitchFamily="34" charset="0"/>
                      </a:endParaRPr>
                    </a:p>
                  </a:txBody>
                  <a:tcPr anchor="ctr"/>
                </a:tc>
                <a:tc>
                  <a:txBody>
                    <a:bodyPr/>
                    <a:lstStyle/>
                    <a:p>
                      <a:pPr algn="r" rtl="1" fontAlgn="ctr"/>
                      <a:r>
                        <a:rPr lang="ar-SA" sz="1900" u="none" strike="noStrike" dirty="0">
                          <a:effectLst/>
                        </a:rPr>
                        <a:t>تمثل محاور اهتمام محددة لدعم تحقيق أهداف </a:t>
                      </a:r>
                      <a:r>
                        <a:rPr lang="ar-EG" sz="1900" u="none" strike="noStrike" dirty="0">
                          <a:effectLst/>
                        </a:rPr>
                        <a:t>الهيئة</a:t>
                      </a:r>
                      <a:r>
                        <a:rPr lang="ar-SA" sz="1900" u="none" strike="noStrike" dirty="0">
                          <a:effectLst/>
                        </a:rPr>
                        <a:t> من خلال تحديد أولويات العمل وتوجيه الموارد والقدرات المتاحة</a:t>
                      </a:r>
                      <a:endParaRPr lang="ar-SA" sz="1900" b="0" i="0" u="none" strike="noStrike" dirty="0">
                        <a:solidFill>
                          <a:srgbClr val="000000"/>
                        </a:solidFill>
                        <a:effectLst/>
                        <a:latin typeface="Arial" panose="020B0604020202020204" pitchFamily="34" charset="0"/>
                      </a:endParaRP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محوري</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مفاهيمي</a:t>
                      </a:r>
                    </a:p>
                  </a:txBody>
                  <a:tcPr anchor="ctr"/>
                </a:tc>
                <a:extLst>
                  <a:ext uri="{0D108BD9-81ED-4DB2-BD59-A6C34878D82A}">
                    <a16:rowId xmlns:a16="http://schemas.microsoft.com/office/drawing/2014/main" val="168616568"/>
                  </a:ext>
                </a:extLst>
              </a:tr>
            </a:tbl>
          </a:graphicData>
        </a:graphic>
      </p:graphicFrame>
    </p:spTree>
    <p:extLst>
      <p:ext uri="{BB962C8B-B14F-4D97-AF65-F5344CB8AC3E}">
        <p14:creationId xmlns:p14="http://schemas.microsoft.com/office/powerpoint/2010/main" val="344765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17</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374640"/>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تعريف</a:t>
            </a:r>
            <a:r>
              <a:rPr lang="en-US" dirty="0"/>
              <a:t> </a:t>
            </a:r>
            <a:r>
              <a:rPr lang="ar-SA" dirty="0"/>
              <a:t>وحدات</a:t>
            </a:r>
            <a:r>
              <a:rPr lang="en-US" dirty="0"/>
              <a:t> </a:t>
            </a:r>
            <a:r>
              <a:rPr lang="ar-SA" dirty="0"/>
              <a:t>البناء التابعة لـ</a:t>
            </a:r>
            <a:r>
              <a:rPr lang="en-US" dirty="0"/>
              <a:t> </a:t>
            </a:r>
            <a:r>
              <a:rPr lang="ar-SA" dirty="0"/>
              <a:t>“الموائمة الاستراتيجية"</a:t>
            </a:r>
            <a:endParaRPr lang="en-US" dirty="0"/>
          </a:p>
        </p:txBody>
      </p:sp>
      <p:graphicFrame>
        <p:nvGraphicFramePr>
          <p:cNvPr id="12" name="Table 11">
            <a:extLst>
              <a:ext uri="{FF2B5EF4-FFF2-40B4-BE49-F238E27FC236}">
                <a16:creationId xmlns:a16="http://schemas.microsoft.com/office/drawing/2014/main" id="{716CE2B9-08C8-087A-0FD4-84D4AC499CF8}"/>
              </a:ext>
            </a:extLst>
          </p:cNvPr>
          <p:cNvGraphicFramePr>
            <a:graphicFrameLocks noGrp="1"/>
          </p:cNvGraphicFramePr>
          <p:nvPr>
            <p:extLst>
              <p:ext uri="{D42A27DB-BD31-4B8C-83A1-F6EECF244321}">
                <p14:modId xmlns:p14="http://schemas.microsoft.com/office/powerpoint/2010/main" val="2301928899"/>
              </p:ext>
            </p:extLst>
          </p:nvPr>
        </p:nvGraphicFramePr>
        <p:xfrm>
          <a:off x="440930" y="961435"/>
          <a:ext cx="11274639" cy="5397658"/>
        </p:xfrm>
        <a:graphic>
          <a:graphicData uri="http://schemas.openxmlformats.org/drawingml/2006/table">
            <a:tbl>
              <a:tblPr rtl="1" firstRow="1" bandRow="1">
                <a:tableStyleId>{21E4AEA4-8DFA-4A89-87EB-49C32662AFE0}</a:tableStyleId>
              </a:tblPr>
              <a:tblGrid>
                <a:gridCol w="1198510">
                  <a:extLst>
                    <a:ext uri="{9D8B030D-6E8A-4147-A177-3AD203B41FA5}">
                      <a16:colId xmlns:a16="http://schemas.microsoft.com/office/drawing/2014/main" val="2023822235"/>
                    </a:ext>
                  </a:extLst>
                </a:gridCol>
                <a:gridCol w="7649567">
                  <a:extLst>
                    <a:ext uri="{9D8B030D-6E8A-4147-A177-3AD203B41FA5}">
                      <a16:colId xmlns:a16="http://schemas.microsoft.com/office/drawing/2014/main" val="3711612230"/>
                    </a:ext>
                  </a:extLst>
                </a:gridCol>
                <a:gridCol w="989706">
                  <a:extLst>
                    <a:ext uri="{9D8B030D-6E8A-4147-A177-3AD203B41FA5}">
                      <a16:colId xmlns:a16="http://schemas.microsoft.com/office/drawing/2014/main" val="3395398443"/>
                    </a:ext>
                  </a:extLst>
                </a:gridCol>
                <a:gridCol w="1436856">
                  <a:extLst>
                    <a:ext uri="{9D8B030D-6E8A-4147-A177-3AD203B41FA5}">
                      <a16:colId xmlns:a16="http://schemas.microsoft.com/office/drawing/2014/main" val="3817891271"/>
                    </a:ext>
                  </a:extLst>
                </a:gridCol>
              </a:tblGrid>
              <a:tr h="694991">
                <a:tc>
                  <a:txBody>
                    <a:bodyPr/>
                    <a:lstStyle/>
                    <a:p>
                      <a:pPr algn="ctr" rtl="1" fontAlgn="b"/>
                      <a:r>
                        <a:rPr lang="ar-SA" sz="2100" u="none" strike="noStrike" dirty="0">
                          <a:effectLst/>
                        </a:rPr>
                        <a:t>وحدة البناء</a:t>
                      </a:r>
                      <a:endParaRPr lang="ar-SA" sz="2100" b="1" i="0" u="none" strike="noStrike" dirty="0">
                        <a:solidFill>
                          <a:srgbClr val="000000"/>
                        </a:solidFill>
                        <a:effectLst/>
                        <a:latin typeface="Arial" panose="020B0604020202020204" pitchFamily="34" charset="0"/>
                      </a:endParaRPr>
                    </a:p>
                  </a:txBody>
                  <a:tcPr anchor="ctr"/>
                </a:tc>
                <a:tc>
                  <a:txBody>
                    <a:bodyPr/>
                    <a:lstStyle/>
                    <a:p>
                      <a:pPr algn="ctr" rtl="1" fontAlgn="b"/>
                      <a:r>
                        <a:rPr lang="ar-SA" sz="2100" u="none" strike="noStrike" dirty="0">
                          <a:effectLst/>
                        </a:rPr>
                        <a:t>التعريف</a:t>
                      </a:r>
                      <a:endParaRPr lang="ar-SA" sz="2100" b="1" i="0" u="none" strike="noStrike" dirty="0">
                        <a:solidFill>
                          <a:srgbClr val="000000"/>
                        </a:solidFill>
                        <a:effectLst/>
                        <a:latin typeface="Arial" panose="020B0604020202020204" pitchFamily="34" charset="0"/>
                      </a:endParaRPr>
                    </a:p>
                  </a:txBody>
                  <a:tcPr anchor="ctr"/>
                </a:tc>
                <a:tc>
                  <a:txBody>
                    <a:bodyPr/>
                    <a:lstStyle/>
                    <a:p>
                      <a:pPr algn="ctr" rtl="1" fontAlgn="b"/>
                      <a:r>
                        <a:rPr lang="ar-SA" sz="2100" b="1" u="none" strike="noStrike" kern="1200" dirty="0">
                          <a:solidFill>
                            <a:schemeClr val="lt1"/>
                          </a:solidFill>
                          <a:effectLst/>
                          <a:latin typeface="+mn-lt"/>
                          <a:ea typeface="+mn-ea"/>
                          <a:cs typeface="+mn-cs"/>
                        </a:rPr>
                        <a:t>مستوى المكون</a:t>
                      </a:r>
                    </a:p>
                  </a:txBody>
                  <a:tcPr anchor="ctr"/>
                </a:tc>
                <a:tc>
                  <a:txBody>
                    <a:bodyPr/>
                    <a:lstStyle/>
                    <a:p>
                      <a:pPr algn="ctr" rtl="1" fontAlgn="b"/>
                      <a:r>
                        <a:rPr lang="ar-SA" sz="2100" b="1" u="none" strike="noStrike" kern="1200" dirty="0">
                          <a:solidFill>
                            <a:schemeClr val="lt1"/>
                          </a:solidFill>
                          <a:effectLst/>
                          <a:latin typeface="+mn-lt"/>
                          <a:ea typeface="+mn-ea"/>
                          <a:cs typeface="+mn-cs"/>
                        </a:rPr>
                        <a:t>مستوى إلزامية التوثيق</a:t>
                      </a:r>
                    </a:p>
                  </a:txBody>
                  <a:tcPr anchor="ctr"/>
                </a:tc>
                <a:extLst>
                  <a:ext uri="{0D108BD9-81ED-4DB2-BD59-A6C34878D82A}">
                    <a16:rowId xmlns:a16="http://schemas.microsoft.com/office/drawing/2014/main" val="2631080347"/>
                  </a:ext>
                </a:extLst>
              </a:tr>
              <a:tr h="642778">
                <a:tc>
                  <a:txBody>
                    <a:bodyPr/>
                    <a:lstStyle/>
                    <a:p>
                      <a:pPr algn="ctr" rtl="1" fontAlgn="b"/>
                      <a:r>
                        <a:rPr lang="ar-SA" sz="2000" b="1" u="none" strike="noStrike" dirty="0">
                          <a:effectLst/>
                          <a:hlinkClick r:id="rId3" action="ppaction://hlinksldjump"/>
                        </a:rPr>
                        <a:t>مشروع</a:t>
                      </a:r>
                      <a:endParaRPr lang="ar-SA" sz="2000" b="1" i="0" u="none" strike="noStrike" dirty="0">
                        <a:solidFill>
                          <a:srgbClr val="000000"/>
                        </a:solidFill>
                        <a:effectLst/>
                        <a:latin typeface="Arial" panose="020B0604020202020204" pitchFamily="34" charset="0"/>
                      </a:endParaRPr>
                    </a:p>
                  </a:txBody>
                  <a:tcPr anchor="ctr"/>
                </a:tc>
                <a:tc>
                  <a:txBody>
                    <a:bodyPr/>
                    <a:lstStyle/>
                    <a:p>
                      <a:pPr algn="r" rtl="1" fontAlgn="ctr"/>
                      <a:r>
                        <a:rPr lang="ar-SA" sz="1900" u="none" strike="noStrike" dirty="0">
                          <a:effectLst/>
                        </a:rPr>
                        <a:t>يمثل مجموعة من الأنشطة والمهام التي تُنجز خلال فترة زمنية محددة باستخدام موارد محددة مثل الوقت والمال والكوادر البشرية، ويتم تنفيذه لتحقيق هدف معين</a:t>
                      </a:r>
                      <a:endParaRPr lang="ar-SA" sz="1900" b="0" i="0" u="none" strike="noStrike" dirty="0">
                        <a:solidFill>
                          <a:srgbClr val="000000"/>
                        </a:solidFill>
                        <a:effectLst/>
                        <a:latin typeface="Arial" panose="020B0604020202020204" pitchFamily="34" charset="0"/>
                      </a:endParaRP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محوري</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منطقي</a:t>
                      </a:r>
                    </a:p>
                  </a:txBody>
                  <a:tcPr anchor="ctr"/>
                </a:tc>
                <a:extLst>
                  <a:ext uri="{0D108BD9-81ED-4DB2-BD59-A6C34878D82A}">
                    <a16:rowId xmlns:a16="http://schemas.microsoft.com/office/drawing/2014/main" val="760170275"/>
                  </a:ext>
                </a:extLst>
              </a:tr>
              <a:tr h="642778">
                <a:tc>
                  <a:txBody>
                    <a:bodyPr/>
                    <a:lstStyle/>
                    <a:p>
                      <a:pPr algn="ctr" rtl="1" fontAlgn="b"/>
                      <a:r>
                        <a:rPr lang="ar-SA" sz="2000" b="1" u="none" strike="noStrike" dirty="0">
                          <a:effectLst/>
                          <a:hlinkClick r:id="rId4" action="ppaction://hlinksldjump"/>
                        </a:rPr>
                        <a:t>هدف</a:t>
                      </a:r>
                      <a:endParaRPr lang="ar-SA" sz="2000" b="1" i="0" u="none" strike="noStrike" dirty="0">
                        <a:solidFill>
                          <a:srgbClr val="000000"/>
                        </a:solidFill>
                        <a:effectLst/>
                        <a:latin typeface="Arial" panose="020B0604020202020204" pitchFamily="34" charset="0"/>
                      </a:endParaRPr>
                    </a:p>
                  </a:txBody>
                  <a:tcPr anchor="ctr"/>
                </a:tc>
                <a:tc>
                  <a:txBody>
                    <a:bodyPr/>
                    <a:lstStyle/>
                    <a:p>
                      <a:pPr algn="r" rtl="1" fontAlgn="ctr"/>
                      <a:r>
                        <a:rPr lang="ar-SA" sz="1900" u="none" strike="noStrike" dirty="0">
                          <a:effectLst/>
                        </a:rPr>
                        <a:t>تمثل مستويات الأداء والمخرجات النتائج التي تسعى </a:t>
                      </a:r>
                      <a:r>
                        <a:rPr lang="ar-EG" sz="1900" u="none" strike="noStrike" dirty="0">
                          <a:effectLst/>
                        </a:rPr>
                        <a:t>الهيئة</a:t>
                      </a:r>
                      <a:r>
                        <a:rPr lang="ar-SA" sz="1900" u="none" strike="noStrike" dirty="0">
                          <a:effectLst/>
                        </a:rPr>
                        <a:t> إلى تحقيقها ضمن فترة زمنية محددة، بما يتلاءم مع رؤية ورسالة </a:t>
                      </a:r>
                      <a:r>
                        <a:rPr lang="ar-EG" sz="1900" u="none" strike="noStrike" dirty="0">
                          <a:effectLst/>
                        </a:rPr>
                        <a:t>الهيئة</a:t>
                      </a:r>
                      <a:endParaRPr lang="ar-SA" sz="1900" b="0" i="0" u="none" strike="noStrike" dirty="0">
                        <a:solidFill>
                          <a:srgbClr val="000000"/>
                        </a:solidFill>
                        <a:effectLst/>
                        <a:latin typeface="Arial" panose="020B0604020202020204" pitchFamily="34" charset="0"/>
                      </a:endParaRP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محوري</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مفاهيمي</a:t>
                      </a:r>
                    </a:p>
                  </a:txBody>
                  <a:tcPr anchor="ctr"/>
                </a:tc>
                <a:extLst>
                  <a:ext uri="{0D108BD9-81ED-4DB2-BD59-A6C34878D82A}">
                    <a16:rowId xmlns:a16="http://schemas.microsoft.com/office/drawing/2014/main" val="137859264"/>
                  </a:ext>
                </a:extLst>
              </a:tr>
              <a:tr h="642778">
                <a:tc>
                  <a:txBody>
                    <a:bodyPr/>
                    <a:lstStyle/>
                    <a:p>
                      <a:pPr algn="ctr" rtl="1" fontAlgn="b"/>
                      <a:r>
                        <a:rPr lang="ar-SA" sz="2000" b="1" u="none" strike="noStrike" dirty="0">
                          <a:effectLst/>
                          <a:hlinkClick r:id="rId5" action="ppaction://hlinksldjump"/>
                        </a:rPr>
                        <a:t>مؤشر أداء</a:t>
                      </a:r>
                      <a:endParaRPr lang="ar-SA" sz="2000" b="1" i="0" u="none" strike="noStrike" dirty="0">
                        <a:solidFill>
                          <a:srgbClr val="000000"/>
                        </a:solidFill>
                        <a:effectLst/>
                        <a:latin typeface="Arial" panose="020B0604020202020204" pitchFamily="34" charset="0"/>
                      </a:endParaRPr>
                    </a:p>
                  </a:txBody>
                  <a:tcPr anchor="ctr"/>
                </a:tc>
                <a:tc>
                  <a:txBody>
                    <a:bodyPr/>
                    <a:lstStyle/>
                    <a:p>
                      <a:pPr algn="r" rtl="1" fontAlgn="ctr"/>
                      <a:r>
                        <a:rPr lang="ar-SA" sz="1900" u="none" strike="noStrike" dirty="0">
                          <a:effectLst/>
                        </a:rPr>
                        <a:t>يمثل المقياس المستخدم لتقييم مدى النجاح أو التقدم في تحقيق الأهداف المعتمدة أو أحد الأنشطة، كفاءة تنفيذ عمل معين، بناءً على صيغة رياضية ومدخلات محددة</a:t>
                      </a:r>
                      <a:endParaRPr lang="ar-SA" sz="1900" b="0" i="0" u="none" strike="noStrike" dirty="0">
                        <a:solidFill>
                          <a:srgbClr val="000000"/>
                        </a:solidFill>
                        <a:effectLst/>
                        <a:latin typeface="Arial" panose="020B0604020202020204" pitchFamily="34" charset="0"/>
                      </a:endParaRP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محوري</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منطقي</a:t>
                      </a:r>
                    </a:p>
                  </a:txBody>
                  <a:tcPr anchor="ctr"/>
                </a:tc>
                <a:extLst>
                  <a:ext uri="{0D108BD9-81ED-4DB2-BD59-A6C34878D82A}">
                    <a16:rowId xmlns:a16="http://schemas.microsoft.com/office/drawing/2014/main" val="2718848609"/>
                  </a:ext>
                </a:extLst>
              </a:tr>
              <a:tr h="642778">
                <a:tc>
                  <a:txBody>
                    <a:bodyPr/>
                    <a:lstStyle/>
                    <a:p>
                      <a:pPr algn="ctr" rtl="1" fontAlgn="b"/>
                      <a:r>
                        <a:rPr lang="ar-SA" sz="2000" b="1" i="0" u="none" strike="noStrike" dirty="0">
                          <a:solidFill>
                            <a:srgbClr val="000000"/>
                          </a:solidFill>
                          <a:effectLst/>
                          <a:latin typeface="Arial" panose="020B0604020202020204" pitchFamily="34" charset="0"/>
                          <a:hlinkClick r:id="rId6" action="ppaction://hlinksldjump"/>
                        </a:rPr>
                        <a:t>فجوة</a:t>
                      </a:r>
                      <a:endParaRPr lang="ar-SA" sz="2000" b="1" i="0" u="none" strike="noStrike" dirty="0">
                        <a:solidFill>
                          <a:srgbClr val="000000"/>
                        </a:solidFill>
                        <a:effectLst/>
                        <a:latin typeface="Arial" panose="020B0604020202020204" pitchFamily="34" charset="0"/>
                      </a:endParaRP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تمثل الفجوة في البنية المؤسسية</a:t>
                      </a:r>
                      <a:r>
                        <a:rPr lang="ar-EG" sz="1900" b="0" i="0" u="none" strike="noStrike" dirty="0">
                          <a:solidFill>
                            <a:srgbClr val="000000"/>
                          </a:solidFill>
                          <a:effectLst/>
                          <a:latin typeface="Arial" panose="020B0604020202020204" pitchFamily="34" charset="0"/>
                        </a:rPr>
                        <a:t>، حيث تشير إلى </a:t>
                      </a:r>
                      <a:r>
                        <a:rPr lang="ar-SA" sz="1900" b="0" i="0" u="none" strike="noStrike" dirty="0">
                          <a:solidFill>
                            <a:srgbClr val="000000"/>
                          </a:solidFill>
                          <a:effectLst/>
                          <a:latin typeface="Arial" panose="020B0604020202020204" pitchFamily="34" charset="0"/>
                        </a:rPr>
                        <a:t>الفرق بين الوضع الحالي وبين الوضع المستهدف أو الأمثل لتحقيق الأهداف</a:t>
                      </a:r>
                      <a:r>
                        <a:rPr lang="ar-EG" sz="1900" b="0" i="0" u="none" strike="noStrike" dirty="0">
                          <a:solidFill>
                            <a:srgbClr val="000000"/>
                          </a:solidFill>
                          <a:effectLst/>
                          <a:latin typeface="Arial" panose="020B0604020202020204" pitchFamily="34" charset="0"/>
                        </a:rPr>
                        <a:t> </a:t>
                      </a:r>
                      <a:r>
                        <a:rPr lang="ar-SA" sz="1900" b="0" i="0" u="none" strike="noStrike" dirty="0">
                          <a:solidFill>
                            <a:srgbClr val="000000"/>
                          </a:solidFill>
                          <a:effectLst/>
                          <a:latin typeface="Arial" panose="020B0604020202020204" pitchFamily="34" charset="0"/>
                        </a:rPr>
                        <a:t>الاستراتيجية</a:t>
                      </a:r>
                      <a:r>
                        <a:rPr lang="ar-EG" sz="1900" b="0" i="0" u="none" strike="noStrike" dirty="0">
                          <a:solidFill>
                            <a:srgbClr val="000000"/>
                          </a:solidFill>
                          <a:effectLst/>
                          <a:latin typeface="Arial" panose="020B0604020202020204" pitchFamily="34" charset="0"/>
                        </a:rPr>
                        <a:t>، وذلك بكل مجال من مجالات البنية المؤسسية </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محوري</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منطقي</a:t>
                      </a:r>
                    </a:p>
                  </a:txBody>
                  <a:tcPr anchor="ctr"/>
                </a:tc>
                <a:extLst>
                  <a:ext uri="{0D108BD9-81ED-4DB2-BD59-A6C34878D82A}">
                    <a16:rowId xmlns:a16="http://schemas.microsoft.com/office/drawing/2014/main" val="2677411401"/>
                  </a:ext>
                </a:extLst>
              </a:tr>
              <a:tr h="642778">
                <a:tc>
                  <a:txBody>
                    <a:bodyPr/>
                    <a:lstStyle/>
                    <a:p>
                      <a:pPr algn="ctr" rtl="1" fontAlgn="b"/>
                      <a:r>
                        <a:rPr lang="ar-SA" sz="2000" b="1" i="0" u="none" strike="noStrike" dirty="0">
                          <a:solidFill>
                            <a:srgbClr val="000000"/>
                          </a:solidFill>
                          <a:effectLst/>
                          <a:latin typeface="Arial" panose="020B0604020202020204" pitchFamily="34" charset="0"/>
                          <a:hlinkClick r:id="rId7" action="ppaction://hlinksldjump"/>
                        </a:rPr>
                        <a:t>متطلب</a:t>
                      </a:r>
                      <a:endParaRPr lang="ar-SA" sz="2000" b="1" i="0" u="none" strike="noStrike" dirty="0">
                        <a:solidFill>
                          <a:srgbClr val="000000"/>
                        </a:solidFill>
                        <a:effectLst/>
                        <a:latin typeface="Arial" panose="020B0604020202020204" pitchFamily="34" charset="0"/>
                      </a:endParaRPr>
                    </a:p>
                  </a:txBody>
                  <a:tcPr anchor="ctr"/>
                </a:tc>
                <a:tc>
                  <a:txBody>
                    <a:bodyPr/>
                    <a:lstStyle/>
                    <a:p>
                      <a:pPr algn="r" rtl="1" fontAlgn="ctr"/>
                      <a:r>
                        <a:rPr lang="ar-EG" sz="1900" b="0" i="0" u="none" strike="noStrike" dirty="0">
                          <a:solidFill>
                            <a:srgbClr val="000000"/>
                          </a:solidFill>
                          <a:effectLst/>
                          <a:latin typeface="Arial" panose="020B0604020202020204" pitchFamily="34" charset="0"/>
                        </a:rPr>
                        <a:t>يمثل </a:t>
                      </a:r>
                      <a:r>
                        <a:rPr lang="ar-SA" sz="1900" b="0" i="0" u="none" strike="noStrike" dirty="0">
                          <a:solidFill>
                            <a:srgbClr val="000000"/>
                          </a:solidFill>
                          <a:effectLst/>
                          <a:latin typeface="Arial" panose="020B0604020202020204" pitchFamily="34" charset="0"/>
                        </a:rPr>
                        <a:t>المتطلب في سياق البنية المؤسسية</a:t>
                      </a:r>
                      <a:r>
                        <a:rPr lang="ar-EG" sz="1900" b="0" i="0" u="none" strike="noStrike" dirty="0">
                          <a:solidFill>
                            <a:srgbClr val="000000"/>
                          </a:solidFill>
                          <a:effectLst/>
                          <a:latin typeface="Arial" panose="020B0604020202020204" pitchFamily="34" charset="0"/>
                        </a:rPr>
                        <a:t>،</a:t>
                      </a:r>
                      <a:r>
                        <a:rPr lang="ar-SA" sz="1900" b="0" i="0" u="none" strike="noStrike" dirty="0">
                          <a:solidFill>
                            <a:srgbClr val="000000"/>
                          </a:solidFill>
                          <a:effectLst/>
                          <a:latin typeface="Arial" panose="020B0604020202020204" pitchFamily="34" charset="0"/>
                        </a:rPr>
                        <a:t> </a:t>
                      </a:r>
                      <a:r>
                        <a:rPr lang="ar-EG" sz="1900" b="0" i="0" u="none" strike="noStrike" dirty="0">
                          <a:solidFill>
                            <a:srgbClr val="000000"/>
                          </a:solidFill>
                          <a:effectLst/>
                          <a:latin typeface="Arial" panose="020B0604020202020204" pitchFamily="34" charset="0"/>
                        </a:rPr>
                        <a:t>حيث يشير إلى </a:t>
                      </a:r>
                      <a:r>
                        <a:rPr lang="ar-SA" sz="1900" b="0" i="0" u="none" strike="noStrike" dirty="0">
                          <a:solidFill>
                            <a:srgbClr val="000000"/>
                          </a:solidFill>
                          <a:effectLst/>
                          <a:latin typeface="Arial" panose="020B0604020202020204" pitchFamily="34" charset="0"/>
                        </a:rPr>
                        <a:t>الخصائص الواجب توفرها في العمليات أو الأنظمة أو القدرات التقنية لضمان المواءمة مع التوجهات الاستراتيجية</a:t>
                      </a:r>
                      <a:r>
                        <a:rPr lang="ar-EG" sz="1900" b="0" i="0" u="none" strike="noStrike" dirty="0">
                          <a:solidFill>
                            <a:srgbClr val="000000"/>
                          </a:solidFill>
                          <a:effectLst/>
                          <a:latin typeface="Arial" panose="020B0604020202020204" pitchFamily="34" charset="0"/>
                        </a:rPr>
                        <a:t> بناءً على </a:t>
                      </a:r>
                      <a:r>
                        <a:rPr lang="ar-SA" sz="1900" b="0" i="0" u="none" strike="noStrike" dirty="0">
                          <a:solidFill>
                            <a:srgbClr val="000000"/>
                          </a:solidFill>
                          <a:effectLst/>
                          <a:latin typeface="Arial" panose="020B0604020202020204" pitchFamily="34" charset="0"/>
                        </a:rPr>
                        <a:t>تحليل احتياجات </a:t>
                      </a:r>
                      <a:r>
                        <a:rPr lang="ar-EG" sz="1900" b="0" i="0" u="none" strike="noStrike" dirty="0">
                          <a:solidFill>
                            <a:srgbClr val="000000"/>
                          </a:solidFill>
                          <a:effectLst/>
                          <a:latin typeface="Arial" panose="020B0604020202020204" pitchFamily="34" charset="0"/>
                        </a:rPr>
                        <a:t>الأعمال وأصحاب المصلحة</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محوري</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منطقي</a:t>
                      </a:r>
                    </a:p>
                  </a:txBody>
                  <a:tcPr anchor="ctr"/>
                </a:tc>
                <a:extLst>
                  <a:ext uri="{0D108BD9-81ED-4DB2-BD59-A6C34878D82A}">
                    <a16:rowId xmlns:a16="http://schemas.microsoft.com/office/drawing/2014/main" val="3236623700"/>
                  </a:ext>
                </a:extLst>
              </a:tr>
              <a:tr h="642778">
                <a:tc>
                  <a:txBody>
                    <a:bodyPr/>
                    <a:lstStyle/>
                    <a:p>
                      <a:pPr algn="ctr" rtl="1" fontAlgn="b"/>
                      <a:r>
                        <a:rPr lang="ar-SA" sz="2000" b="1" i="0" u="none" strike="noStrike" dirty="0">
                          <a:solidFill>
                            <a:srgbClr val="000000"/>
                          </a:solidFill>
                          <a:effectLst/>
                          <a:latin typeface="Arial" panose="020B0604020202020204" pitchFamily="34" charset="0"/>
                          <a:hlinkClick r:id="rId8" action="ppaction://hlinksldjump"/>
                        </a:rPr>
                        <a:t>مبدأ</a:t>
                      </a:r>
                      <a:endParaRPr lang="ar-SA" sz="2000" b="1" i="0" u="none" strike="noStrike" dirty="0">
                        <a:solidFill>
                          <a:srgbClr val="000000"/>
                        </a:solidFill>
                        <a:effectLst/>
                        <a:latin typeface="Arial" panose="020B0604020202020204" pitchFamily="34" charset="0"/>
                      </a:endParaRPr>
                    </a:p>
                  </a:txBody>
                  <a:tcPr anchor="ctr"/>
                </a:tc>
                <a:tc>
                  <a:txBody>
                    <a:bodyPr/>
                    <a:lstStyle/>
                    <a:p>
                      <a:pPr algn="r" rtl="1" fontAlgn="ctr"/>
                      <a:r>
                        <a:rPr lang="ar-EG" sz="1900" b="0" i="0" u="none" strike="noStrike" dirty="0">
                          <a:solidFill>
                            <a:srgbClr val="000000"/>
                          </a:solidFill>
                          <a:effectLst/>
                          <a:latin typeface="Arial" panose="020B0604020202020204" pitchFamily="34" charset="0"/>
                        </a:rPr>
                        <a:t>يمثل</a:t>
                      </a:r>
                      <a:r>
                        <a:rPr lang="ar-SA" sz="1900" b="0" i="0" u="none" strike="noStrike" dirty="0">
                          <a:solidFill>
                            <a:srgbClr val="000000"/>
                          </a:solidFill>
                          <a:effectLst/>
                          <a:latin typeface="Arial" panose="020B0604020202020204" pitchFamily="34" charset="0"/>
                        </a:rPr>
                        <a:t> مجموعة من القواعد أو التوجيهات الأساسية</a:t>
                      </a:r>
                      <a:r>
                        <a:rPr lang="ar-EG" sz="1900" b="0" i="0" u="none" strike="noStrike" dirty="0">
                          <a:solidFill>
                            <a:srgbClr val="000000"/>
                          </a:solidFill>
                          <a:effectLst/>
                          <a:latin typeface="Arial" panose="020B0604020202020204" pitchFamily="34" charset="0"/>
                        </a:rPr>
                        <a:t> المرتبطة بكل مجال من مجالات البنية المؤسسية</a:t>
                      </a:r>
                      <a:r>
                        <a:rPr lang="ar-SA" sz="1900" b="0" i="0" u="none" strike="noStrike" dirty="0">
                          <a:solidFill>
                            <a:srgbClr val="000000"/>
                          </a:solidFill>
                          <a:effectLst/>
                          <a:latin typeface="Arial" panose="020B0604020202020204" pitchFamily="34" charset="0"/>
                        </a:rPr>
                        <a:t> التي يتم تبنيها لتوجيه عملية اتخاذ القرارات وضمان مواءمة </a:t>
                      </a:r>
                      <a:r>
                        <a:rPr lang="ar-EG" sz="1900" b="0" i="0" u="none" strike="noStrike" dirty="0">
                          <a:solidFill>
                            <a:srgbClr val="000000"/>
                          </a:solidFill>
                          <a:effectLst/>
                          <a:latin typeface="Arial" panose="020B0604020202020204" pitchFamily="34" charset="0"/>
                        </a:rPr>
                        <a:t>تطوير مكونات البنية المؤسسية</a:t>
                      </a:r>
                      <a:r>
                        <a:rPr lang="ar-SA" sz="1900" b="0" i="0" u="none" strike="noStrike" dirty="0">
                          <a:solidFill>
                            <a:srgbClr val="000000"/>
                          </a:solidFill>
                          <a:effectLst/>
                          <a:latin typeface="Arial" panose="020B0604020202020204" pitchFamily="34" charset="0"/>
                        </a:rPr>
                        <a:t> مع الأهداف الاستراتيجية للهيئة</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محوري</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مفاهيمي</a:t>
                      </a:r>
                    </a:p>
                  </a:txBody>
                  <a:tcPr anchor="ctr"/>
                </a:tc>
                <a:extLst>
                  <a:ext uri="{0D108BD9-81ED-4DB2-BD59-A6C34878D82A}">
                    <a16:rowId xmlns:a16="http://schemas.microsoft.com/office/drawing/2014/main" val="1924145066"/>
                  </a:ext>
                </a:extLst>
              </a:tr>
              <a:tr h="642778">
                <a:tc>
                  <a:txBody>
                    <a:bodyPr/>
                    <a:lstStyle/>
                    <a:p>
                      <a:pPr algn="ctr" rtl="1" fontAlgn="b"/>
                      <a:r>
                        <a:rPr lang="ar-SA" sz="2000" b="1" i="0" u="none" strike="noStrike" dirty="0">
                          <a:solidFill>
                            <a:srgbClr val="000000"/>
                          </a:solidFill>
                          <a:effectLst/>
                          <a:latin typeface="Arial" panose="020B0604020202020204" pitchFamily="34" charset="0"/>
                          <a:hlinkClick r:id="rId9" action="ppaction://hlinksldjump"/>
                        </a:rPr>
                        <a:t>موقع</a:t>
                      </a:r>
                      <a:endParaRPr lang="ar-SA" sz="2000" b="1" i="0" u="none" strike="noStrike" dirty="0">
                        <a:solidFill>
                          <a:srgbClr val="000000"/>
                        </a:solidFill>
                        <a:effectLst/>
                        <a:latin typeface="Arial" panose="020B0604020202020204" pitchFamily="34" charset="0"/>
                      </a:endParaRP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يمثل المكان الجغرافي الذي يتم فيه تنفيذ الأنشطة أو العمليات بالهيئة، مثل المباني المرافق أو أي بيئة مادية أخرى</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داعم</a:t>
                      </a:r>
                    </a:p>
                  </a:txBody>
                  <a:tcPr anchor="ctr"/>
                </a:tc>
                <a:tc>
                  <a:txBody>
                    <a:bodyPr/>
                    <a:lstStyle/>
                    <a:p>
                      <a:pPr algn="r" rtl="1" fontAlgn="ctr"/>
                      <a:r>
                        <a:rPr lang="ar-SA" sz="1900" b="0" i="0" u="none" strike="noStrike" dirty="0">
                          <a:solidFill>
                            <a:srgbClr val="000000"/>
                          </a:solidFill>
                          <a:effectLst/>
                          <a:latin typeface="Arial" panose="020B0604020202020204" pitchFamily="34" charset="0"/>
                        </a:rPr>
                        <a:t>منطقي</a:t>
                      </a:r>
                    </a:p>
                  </a:txBody>
                  <a:tcPr anchor="ctr"/>
                </a:tc>
                <a:extLst>
                  <a:ext uri="{0D108BD9-81ED-4DB2-BD59-A6C34878D82A}">
                    <a16:rowId xmlns:a16="http://schemas.microsoft.com/office/drawing/2014/main" val="2978447020"/>
                  </a:ext>
                </a:extLst>
              </a:tr>
            </a:tbl>
          </a:graphicData>
        </a:graphic>
      </p:graphicFrame>
    </p:spTree>
    <p:extLst>
      <p:ext uri="{BB962C8B-B14F-4D97-AF65-F5344CB8AC3E}">
        <p14:creationId xmlns:p14="http://schemas.microsoft.com/office/powerpoint/2010/main" val="1297736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18</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sz="2800" dirty="0"/>
              <a:t>مكونات "</a:t>
            </a:r>
            <a:r>
              <a:rPr lang="ar-SA" sz="2800" dirty="0"/>
              <a:t>الموائمة الاستراتيجية</a:t>
            </a:r>
            <a:r>
              <a:rPr lang="ar-EG" sz="2800" dirty="0"/>
              <a:t>" - </a:t>
            </a:r>
            <a:r>
              <a:rPr lang="en-US" dirty="0"/>
              <a:t>تفصيل سمات </a:t>
            </a:r>
            <a:r>
              <a:rPr lang="ar-SA" dirty="0"/>
              <a:t>وحدة </a:t>
            </a:r>
            <a:r>
              <a:rPr lang="ar-EG" dirty="0"/>
              <a:t>ال</a:t>
            </a:r>
            <a:r>
              <a:rPr lang="ar-SA" dirty="0"/>
              <a:t>بناء "رؤية"</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905147907"/>
              </p:ext>
            </p:extLst>
          </p:nvPr>
        </p:nvGraphicFramePr>
        <p:xfrm>
          <a:off x="609602" y="1335229"/>
          <a:ext cx="10571476" cy="2529840"/>
        </p:xfrm>
        <a:graphic>
          <a:graphicData uri="http://schemas.openxmlformats.org/drawingml/2006/table">
            <a:tbl>
              <a:tblPr rtl="1" firstRow="1" bandRow="1">
                <a:tableStyleId>{5C22544A-7EE6-4342-B048-85BDC9FD1C3A}</a:tableStyleId>
              </a:tblPr>
              <a:tblGrid>
                <a:gridCol w="2177619">
                  <a:extLst>
                    <a:ext uri="{9D8B030D-6E8A-4147-A177-3AD203B41FA5}">
                      <a16:colId xmlns:a16="http://schemas.microsoft.com/office/drawing/2014/main" val="2853404558"/>
                    </a:ext>
                  </a:extLst>
                </a:gridCol>
                <a:gridCol w="5897334">
                  <a:extLst>
                    <a:ext uri="{9D8B030D-6E8A-4147-A177-3AD203B41FA5}">
                      <a16:colId xmlns:a16="http://schemas.microsoft.com/office/drawing/2014/main" val="1866450976"/>
                    </a:ext>
                  </a:extLst>
                </a:gridCol>
                <a:gridCol w="1244668">
                  <a:extLst>
                    <a:ext uri="{9D8B030D-6E8A-4147-A177-3AD203B41FA5}">
                      <a16:colId xmlns:a16="http://schemas.microsoft.com/office/drawing/2014/main" val="751160629"/>
                    </a:ext>
                  </a:extLst>
                </a:gridCol>
                <a:gridCol w="1251855">
                  <a:extLst>
                    <a:ext uri="{9D8B030D-6E8A-4147-A177-3AD203B41FA5}">
                      <a16:colId xmlns:a16="http://schemas.microsoft.com/office/drawing/2014/main" val="771102693"/>
                    </a:ext>
                  </a:extLst>
                </a:gridCol>
              </a:tblGrid>
              <a:tr h="303402">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marL="0" algn="ctr" defTabSz="914400" rtl="1" eaLnBrk="1" fontAlgn="b" latinLnBrk="0" hangingPunct="1"/>
                      <a:r>
                        <a:rPr lang="ar-SA" sz="2000" b="1" u="none" strike="noStrike" kern="1200" dirty="0">
                          <a:solidFill>
                            <a:schemeClr val="lt1"/>
                          </a:solidFill>
                          <a:effectLst/>
                          <a:latin typeface="+mn-lt"/>
                          <a:ea typeface="+mn-ea"/>
                          <a:cs typeface="+mn-cs"/>
                        </a:rPr>
                        <a:t>إلزامية التوثيق</a:t>
                      </a:r>
                    </a:p>
                  </a:txBody>
                  <a:tcPr marL="137160" marR="137160" marT="137160" marB="137160" anchor="ctr"/>
                </a:tc>
                <a:extLst>
                  <a:ext uri="{0D108BD9-81ED-4DB2-BD59-A6C34878D82A}">
                    <a16:rowId xmlns:a16="http://schemas.microsoft.com/office/drawing/2014/main" val="2998368315"/>
                  </a:ext>
                </a:extLst>
              </a:tr>
              <a:tr h="303402">
                <a:tc>
                  <a:txBody>
                    <a:bodyPr/>
                    <a:lstStyle/>
                    <a:p>
                      <a:pPr marL="0" algn="ctr" defTabSz="914400" rtl="1" eaLnBrk="1" fontAlgn="b" latinLnBrk="0" hangingPunct="1"/>
                      <a:r>
                        <a:rPr lang="ar-SA" sz="1800" b="1" u="none" strike="noStrike" kern="1200" dirty="0">
                          <a:solidFill>
                            <a:schemeClr val="dk1"/>
                          </a:solidFill>
                          <a:effectLst/>
                          <a:latin typeface="+mn-lt"/>
                          <a:ea typeface="+mn-ea"/>
                          <a:cs typeface="+mn-cs"/>
                        </a:rPr>
                        <a:t>الرمز</a:t>
                      </a:r>
                    </a:p>
                  </a:txBody>
                  <a:tcPr marL="137160" marR="137160" marT="137160" marB="137160" anchor="ctr"/>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الرمز الفريد </a:t>
                      </a:r>
                      <a:r>
                        <a:rPr lang="ar-EG" sz="1600" u="none" strike="noStrike" kern="1200" dirty="0">
                          <a:solidFill>
                            <a:schemeClr val="dk1"/>
                          </a:solidFill>
                          <a:effectLst/>
                          <a:latin typeface="+mn-lt"/>
                          <a:ea typeface="+mn-ea"/>
                          <a:cs typeface="+mn-cs"/>
                        </a:rPr>
                        <a:t>للرؤية</a:t>
                      </a:r>
                      <a:endParaRPr lang="ar-SA" sz="1600" u="none" strike="noStrike" kern="1200" dirty="0">
                        <a:solidFill>
                          <a:schemeClr val="dk1"/>
                        </a:solidFill>
                        <a:effectLst/>
                        <a:latin typeface="+mn-lt"/>
                        <a:ea typeface="+mn-ea"/>
                        <a:cs typeface="+mn-cs"/>
                      </a:endParaRPr>
                    </a:p>
                  </a:txBody>
                  <a:tcPr marL="137160" marR="137160" marT="137160" marB="137160" anchor="ctr"/>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أحرف و/أو أرقام</a:t>
                      </a:r>
                    </a:p>
                  </a:txBody>
                  <a:tcPr marL="137160" marR="137160" marT="137160" marB="137160" anchor="ctr"/>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إلزامي</a:t>
                      </a:r>
                    </a:p>
                  </a:txBody>
                  <a:tcPr marL="137160" marR="137160" marT="137160" marB="137160" anchor="ctr"/>
                </a:tc>
                <a:extLst>
                  <a:ext uri="{0D108BD9-81ED-4DB2-BD59-A6C34878D82A}">
                    <a16:rowId xmlns:a16="http://schemas.microsoft.com/office/drawing/2014/main" val="2177790647"/>
                  </a:ext>
                </a:extLst>
              </a:tr>
              <a:tr h="303402">
                <a:tc>
                  <a:txBody>
                    <a:bodyPr/>
                    <a:lstStyle/>
                    <a:p>
                      <a:pPr algn="ctr" rtl="1" fontAlgn="b"/>
                      <a:r>
                        <a:rPr lang="ar-SA" sz="1800" b="1" i="0" u="none" strike="noStrike" dirty="0">
                          <a:solidFill>
                            <a:srgbClr val="000000"/>
                          </a:solidFill>
                          <a:effectLst/>
                          <a:latin typeface="Calibri" panose="020F0502020204030204" pitchFamily="34" charset="0"/>
                        </a:rPr>
                        <a:t>نص الرؤية</a:t>
                      </a:r>
                    </a:p>
                  </a:txBody>
                  <a:tcPr marL="137160" marR="137160" marT="137160" marB="137160" anchor="ctr"/>
                </a:tc>
                <a:tc>
                  <a:txBody>
                    <a:bodyPr/>
                    <a:lstStyle/>
                    <a:p>
                      <a:pPr marL="0" algn="r" defTabSz="914400" rtl="1" eaLnBrk="1" fontAlgn="b" latinLnBrk="0" hangingPunct="1"/>
                      <a:r>
                        <a:rPr lang="ar-EG" sz="1600" u="none" strike="noStrike" kern="1200" dirty="0">
                          <a:solidFill>
                            <a:schemeClr val="dk1"/>
                          </a:solidFill>
                          <a:effectLst/>
                          <a:latin typeface="+mn-lt"/>
                          <a:ea typeface="+mn-ea"/>
                          <a:cs typeface="+mn-cs"/>
                        </a:rPr>
                        <a:t>نص الرؤية موضحا </a:t>
                      </a:r>
                      <a:r>
                        <a:rPr lang="ar-SA" sz="1600" u="none" strike="noStrike" kern="1200" dirty="0">
                          <a:solidFill>
                            <a:schemeClr val="dk1"/>
                          </a:solidFill>
                          <a:effectLst/>
                          <a:latin typeface="+mn-lt"/>
                          <a:ea typeface="+mn-ea"/>
                          <a:cs typeface="+mn-cs"/>
                        </a:rPr>
                        <a:t>الغرض والطموح الذي تسعى الهيئة إلى تحقيقه من خلال هذه الرؤية</a:t>
                      </a:r>
                    </a:p>
                  </a:txBody>
                  <a:tcPr marL="137160" marR="137160" marT="137160" marB="137160" anchor="ctr"/>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نص</a:t>
                      </a:r>
                    </a:p>
                  </a:txBody>
                  <a:tcPr marL="137160" marR="137160" marT="137160" marB="137160" anchor="ctr"/>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إلزامي</a:t>
                      </a:r>
                    </a:p>
                  </a:txBody>
                  <a:tcPr marL="137160" marR="137160" marT="137160" marB="137160" anchor="ctr"/>
                </a:tc>
                <a:extLst>
                  <a:ext uri="{0D108BD9-81ED-4DB2-BD59-A6C34878D82A}">
                    <a16:rowId xmlns:a16="http://schemas.microsoft.com/office/drawing/2014/main" val="1426280651"/>
                  </a:ext>
                </a:extLst>
              </a:tr>
              <a:tr h="303402">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lang="ar-SA" sz="1800" b="1" u="none" strike="noStrike" kern="1200" dirty="0">
                          <a:solidFill>
                            <a:schemeClr val="dk1"/>
                          </a:solidFill>
                          <a:effectLst/>
                          <a:latin typeface="+mn-lt"/>
                          <a:ea typeface="+mn-ea"/>
                          <a:cs typeface="+mn-cs"/>
                        </a:rPr>
                        <a:t>الاستراتيجية المرتبط بها</a:t>
                      </a:r>
                    </a:p>
                  </a:txBody>
                  <a:tcPr marL="137160" marR="137160" marT="137160" marB="137160" anchor="ctr"/>
                </a:tc>
                <a:tc>
                  <a:txBody>
                    <a:bodyPr/>
                    <a:lstStyle/>
                    <a:p>
                      <a:pPr marL="0" algn="r" defTabSz="914400" rtl="1" eaLnBrk="1" fontAlgn="b" latinLnBrk="0" hangingPunct="1"/>
                      <a:r>
                        <a:rPr lang="ar-EG" sz="1600" u="none" strike="noStrike" kern="1200" dirty="0">
                          <a:solidFill>
                            <a:schemeClr val="dk1"/>
                          </a:solidFill>
                          <a:effectLst/>
                          <a:latin typeface="+mn-lt"/>
                          <a:ea typeface="+mn-ea"/>
                          <a:cs typeface="+mn-cs"/>
                        </a:rPr>
                        <a:t>ال</a:t>
                      </a:r>
                      <a:r>
                        <a:rPr lang="ar-SA" sz="1600" u="none" strike="noStrike" kern="1200" dirty="0">
                          <a:solidFill>
                            <a:schemeClr val="dk1"/>
                          </a:solidFill>
                          <a:effectLst/>
                          <a:latin typeface="+mn-lt"/>
                          <a:ea typeface="+mn-ea"/>
                          <a:cs typeface="+mn-cs"/>
                        </a:rPr>
                        <a:t>استراتيجية</a:t>
                      </a:r>
                      <a:r>
                        <a:rPr lang="ar-EG" sz="1600" u="none" strike="noStrike" kern="1200" dirty="0">
                          <a:solidFill>
                            <a:schemeClr val="dk1"/>
                          </a:solidFill>
                          <a:effectLst/>
                          <a:latin typeface="+mn-lt"/>
                          <a:ea typeface="+mn-ea"/>
                          <a:cs typeface="+mn-cs"/>
                        </a:rPr>
                        <a:t> التي</a:t>
                      </a:r>
                      <a:r>
                        <a:rPr lang="ar-SA" sz="1600" u="none" strike="noStrike" kern="1200" dirty="0">
                          <a:solidFill>
                            <a:schemeClr val="dk1"/>
                          </a:solidFill>
                          <a:effectLst/>
                          <a:latin typeface="+mn-lt"/>
                          <a:ea typeface="+mn-ea"/>
                          <a:cs typeface="+mn-cs"/>
                        </a:rPr>
                        <a:t> تدعم تحقيق </a:t>
                      </a:r>
                      <a:r>
                        <a:rPr lang="ar-EG" sz="1600" u="none" strike="noStrike" kern="1200" dirty="0">
                          <a:solidFill>
                            <a:schemeClr val="dk1"/>
                          </a:solidFill>
                          <a:effectLst/>
                          <a:latin typeface="+mn-lt"/>
                          <a:ea typeface="+mn-ea"/>
                          <a:cs typeface="+mn-cs"/>
                        </a:rPr>
                        <a:t>ال</a:t>
                      </a:r>
                      <a:r>
                        <a:rPr lang="ar-SA" sz="1600" u="none" strike="noStrike" kern="1200" dirty="0">
                          <a:solidFill>
                            <a:schemeClr val="dk1"/>
                          </a:solidFill>
                          <a:effectLst/>
                          <a:latin typeface="+mn-lt"/>
                          <a:ea typeface="+mn-ea"/>
                          <a:cs typeface="+mn-cs"/>
                        </a:rPr>
                        <a:t>رؤية</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600" u="none" strike="noStrike" kern="1200" dirty="0">
                          <a:solidFill>
                            <a:schemeClr val="dk1"/>
                          </a:solidFill>
                          <a:effectLst/>
                          <a:latin typeface="+mn-lt"/>
                          <a:ea typeface="+mn-ea"/>
                          <a:cs typeface="+mn-cs"/>
                        </a:rPr>
                        <a:t>علاقة ربط</a:t>
                      </a:r>
                      <a:endParaRPr lang="ar-SA" sz="1600" u="none" strike="noStrike" kern="1200" dirty="0">
                        <a:solidFill>
                          <a:schemeClr val="dk1"/>
                        </a:solidFill>
                        <a:effectLst/>
                        <a:latin typeface="+mn-lt"/>
                        <a:ea typeface="+mn-ea"/>
                        <a:cs typeface="+mn-cs"/>
                      </a:endParaRP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u="none" strike="noStrike" kern="1200" dirty="0">
                          <a:solidFill>
                            <a:schemeClr val="dk1"/>
                          </a:solidFill>
                          <a:effectLst/>
                          <a:latin typeface="+mn-lt"/>
                          <a:ea typeface="+mn-ea"/>
                          <a:cs typeface="+mn-cs"/>
                        </a:rPr>
                        <a:t>اختياري</a:t>
                      </a:r>
                    </a:p>
                  </a:txBody>
                  <a:tcPr marL="137160" marR="137160" marT="137160" marB="137160" anchor="ctr"/>
                </a:tc>
                <a:extLst>
                  <a:ext uri="{0D108BD9-81ED-4DB2-BD59-A6C34878D82A}">
                    <a16:rowId xmlns:a16="http://schemas.microsoft.com/office/drawing/2014/main" val="220032958"/>
                  </a:ext>
                </a:extLst>
              </a:tr>
            </a:tbl>
          </a:graphicData>
        </a:graphic>
      </p:graphicFrame>
    </p:spTree>
    <p:extLst>
      <p:ext uri="{BB962C8B-B14F-4D97-AF65-F5344CB8AC3E}">
        <p14:creationId xmlns:p14="http://schemas.microsoft.com/office/powerpoint/2010/main" val="1005511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BAAE2-BAA9-E2C2-8F14-F61FB8C35475}"/>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3EC0704C-427A-0A99-BF0D-2B46AEA037A7}"/>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19</a:t>
            </a:fld>
            <a:endParaRPr lang="en-US"/>
          </a:p>
        </p:txBody>
      </p:sp>
      <p:sp>
        <p:nvSpPr>
          <p:cNvPr id="2" name="Title 1">
            <a:extLst>
              <a:ext uri="{FF2B5EF4-FFF2-40B4-BE49-F238E27FC236}">
                <a16:creationId xmlns:a16="http://schemas.microsoft.com/office/drawing/2014/main" id="{D8CD0FE7-A29E-8FD3-ABF0-E8F0CAEDF58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sz="2800" dirty="0"/>
              <a:t>مكونات "</a:t>
            </a:r>
            <a:r>
              <a:rPr lang="ar-SA" sz="2800" dirty="0"/>
              <a:t> الموائمة الاستراتيجية </a:t>
            </a:r>
            <a:r>
              <a:rPr lang="ar-EG" sz="2800" dirty="0"/>
              <a:t>" - </a:t>
            </a:r>
            <a:r>
              <a:rPr lang="en-US" dirty="0"/>
              <a:t>تفصيل سمات </a:t>
            </a:r>
            <a:r>
              <a:rPr lang="ar-SA" dirty="0"/>
              <a:t>وحدة </a:t>
            </a:r>
            <a:r>
              <a:rPr lang="ar-EG" dirty="0"/>
              <a:t>ال</a:t>
            </a:r>
            <a:r>
              <a:rPr lang="ar-SA" dirty="0"/>
              <a:t>بناء "رسالة"</a:t>
            </a:r>
            <a:endParaRPr lang="en-US" dirty="0"/>
          </a:p>
        </p:txBody>
      </p:sp>
      <p:graphicFrame>
        <p:nvGraphicFramePr>
          <p:cNvPr id="4" name="Table 3">
            <a:extLst>
              <a:ext uri="{FF2B5EF4-FFF2-40B4-BE49-F238E27FC236}">
                <a16:creationId xmlns:a16="http://schemas.microsoft.com/office/drawing/2014/main" id="{AA5FA3B8-6172-1F98-E5A4-27DF2468795C}"/>
              </a:ext>
            </a:extLst>
          </p:cNvPr>
          <p:cNvGraphicFramePr>
            <a:graphicFrameLocks noGrp="1"/>
          </p:cNvGraphicFramePr>
          <p:nvPr>
            <p:extLst>
              <p:ext uri="{D42A27DB-BD31-4B8C-83A1-F6EECF244321}">
                <p14:modId xmlns:p14="http://schemas.microsoft.com/office/powerpoint/2010/main" val="2308443434"/>
              </p:ext>
            </p:extLst>
          </p:nvPr>
        </p:nvGraphicFramePr>
        <p:xfrm>
          <a:off x="685800" y="1335229"/>
          <a:ext cx="10495278" cy="2225040"/>
        </p:xfrm>
        <a:graphic>
          <a:graphicData uri="http://schemas.openxmlformats.org/drawingml/2006/table">
            <a:tbl>
              <a:tblPr rtl="1" firstRow="1" bandRow="1">
                <a:tableStyleId>{5C22544A-7EE6-4342-B048-85BDC9FD1C3A}</a:tableStyleId>
              </a:tblPr>
              <a:tblGrid>
                <a:gridCol w="2175178">
                  <a:extLst>
                    <a:ext uri="{9D8B030D-6E8A-4147-A177-3AD203B41FA5}">
                      <a16:colId xmlns:a16="http://schemas.microsoft.com/office/drawing/2014/main" val="2853404558"/>
                    </a:ext>
                  </a:extLst>
                </a:gridCol>
                <a:gridCol w="5446271">
                  <a:extLst>
                    <a:ext uri="{9D8B030D-6E8A-4147-A177-3AD203B41FA5}">
                      <a16:colId xmlns:a16="http://schemas.microsoft.com/office/drawing/2014/main" val="1866450976"/>
                    </a:ext>
                  </a:extLst>
                </a:gridCol>
                <a:gridCol w="1469572">
                  <a:extLst>
                    <a:ext uri="{9D8B030D-6E8A-4147-A177-3AD203B41FA5}">
                      <a16:colId xmlns:a16="http://schemas.microsoft.com/office/drawing/2014/main" val="751160629"/>
                    </a:ext>
                  </a:extLst>
                </a:gridCol>
                <a:gridCol w="1404257">
                  <a:extLst>
                    <a:ext uri="{9D8B030D-6E8A-4147-A177-3AD203B41FA5}">
                      <a16:colId xmlns:a16="http://schemas.microsoft.com/office/drawing/2014/main" val="351347380"/>
                    </a:ext>
                  </a:extLst>
                </a:gridCol>
              </a:tblGrid>
              <a:tr h="303402">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lang="ar-SA" sz="2000" b="1" u="none" strike="noStrike" kern="1200" dirty="0">
                          <a:solidFill>
                            <a:schemeClr val="lt1"/>
                          </a:solidFill>
                          <a:effectLst/>
                          <a:latin typeface="+mn-lt"/>
                          <a:ea typeface="+mn-ea"/>
                          <a:cs typeface="+mn-cs"/>
                        </a:rPr>
                        <a:t>إلزامية</a:t>
                      </a:r>
                      <a:r>
                        <a:rPr lang="ar-SA" sz="2000" b="0" i="0" u="none" strike="noStrike" dirty="0">
                          <a:solidFill>
                            <a:srgbClr val="000000"/>
                          </a:solidFill>
                          <a:effectLst/>
                          <a:latin typeface="Calibri" panose="020F0502020204030204" pitchFamily="34" charset="0"/>
                        </a:rPr>
                        <a:t> </a:t>
                      </a:r>
                      <a:r>
                        <a:rPr lang="ar-SA" sz="2000" b="1" u="none" strike="noStrike" kern="1200" dirty="0">
                          <a:solidFill>
                            <a:schemeClr val="lt1"/>
                          </a:solidFill>
                          <a:effectLst/>
                          <a:latin typeface="+mn-lt"/>
                          <a:ea typeface="+mn-ea"/>
                          <a:cs typeface="+mn-cs"/>
                        </a:rPr>
                        <a:t>التوثيق</a:t>
                      </a:r>
                    </a:p>
                  </a:txBody>
                  <a:tcPr marL="137160" marR="137160" marT="137160" marB="137160" anchor="ctr"/>
                </a:tc>
                <a:extLst>
                  <a:ext uri="{0D108BD9-81ED-4DB2-BD59-A6C34878D82A}">
                    <a16:rowId xmlns:a16="http://schemas.microsoft.com/office/drawing/2014/main" val="2998368315"/>
                  </a:ext>
                </a:extLst>
              </a:tr>
              <a:tr h="303402">
                <a:tc>
                  <a:txBody>
                    <a:bodyPr/>
                    <a:lstStyle/>
                    <a:p>
                      <a:pPr marL="0" algn="ctr" defTabSz="914400" rtl="1" eaLnBrk="1" fontAlgn="b" latinLnBrk="0" hangingPunct="1"/>
                      <a:r>
                        <a:rPr lang="ar-SA" sz="1800" b="1" u="none" strike="noStrike" kern="1200" dirty="0">
                          <a:solidFill>
                            <a:schemeClr val="dk1"/>
                          </a:solidFill>
                          <a:effectLst/>
                          <a:latin typeface="+mn-lt"/>
                          <a:ea typeface="+mn-ea"/>
                          <a:cs typeface="+mn-cs"/>
                        </a:rPr>
                        <a:t>الرمز</a:t>
                      </a:r>
                    </a:p>
                  </a:txBody>
                  <a:tcPr marL="137160" marR="137160" marT="137160" marB="137160" anchor="ctr"/>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الرمز الفريد </a:t>
                      </a:r>
                      <a:r>
                        <a:rPr lang="ar-EG" sz="1600" u="none" strike="noStrike" kern="1200" dirty="0">
                          <a:solidFill>
                            <a:schemeClr val="dk1"/>
                          </a:solidFill>
                          <a:effectLst/>
                          <a:latin typeface="+mn-lt"/>
                          <a:ea typeface="+mn-ea"/>
                          <a:cs typeface="+mn-cs"/>
                        </a:rPr>
                        <a:t>للرسالة</a:t>
                      </a:r>
                      <a:endParaRPr lang="ar-SA" sz="1600" u="none" strike="noStrike" kern="1200" dirty="0">
                        <a:solidFill>
                          <a:schemeClr val="dk1"/>
                        </a:solidFill>
                        <a:effectLst/>
                        <a:latin typeface="+mn-lt"/>
                        <a:ea typeface="+mn-ea"/>
                        <a:cs typeface="+mn-cs"/>
                      </a:endParaRPr>
                    </a:p>
                  </a:txBody>
                  <a:tcPr marL="137160" marR="137160" marT="137160" marB="137160" anchor="ctr"/>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أحرف و/أو أرقام</a:t>
                      </a:r>
                    </a:p>
                  </a:txBody>
                  <a:tcPr marL="137160" marR="137160" marT="137160" marB="137160" anchor="ctr"/>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إلزامي</a:t>
                      </a:r>
                    </a:p>
                  </a:txBody>
                  <a:tcPr marL="137160" marR="137160" marT="137160" marB="137160" anchor="ctr"/>
                </a:tc>
                <a:extLst>
                  <a:ext uri="{0D108BD9-81ED-4DB2-BD59-A6C34878D82A}">
                    <a16:rowId xmlns:a16="http://schemas.microsoft.com/office/drawing/2014/main" val="2177790647"/>
                  </a:ext>
                </a:extLst>
              </a:tr>
              <a:tr h="303402">
                <a:tc>
                  <a:txBody>
                    <a:bodyPr/>
                    <a:lstStyle/>
                    <a:p>
                      <a:pPr algn="ctr" rtl="1" fontAlgn="b"/>
                      <a:r>
                        <a:rPr lang="ar-SA" sz="1800" b="1" i="0" u="none" strike="noStrike" dirty="0">
                          <a:solidFill>
                            <a:srgbClr val="000000"/>
                          </a:solidFill>
                          <a:effectLst/>
                          <a:latin typeface="Calibri" panose="020F0502020204030204" pitchFamily="34" charset="0"/>
                        </a:rPr>
                        <a:t>نص </a:t>
                      </a:r>
                      <a:r>
                        <a:rPr lang="ar-EG" sz="1800" b="1" i="0" u="none" strike="noStrike" dirty="0">
                          <a:solidFill>
                            <a:srgbClr val="000000"/>
                          </a:solidFill>
                          <a:effectLst/>
                          <a:latin typeface="Calibri" panose="020F0502020204030204" pitchFamily="34" charset="0"/>
                        </a:rPr>
                        <a:t>الرسالة</a:t>
                      </a:r>
                      <a:endParaRPr lang="ar-SA" sz="1800" b="1"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marL="0" algn="r" defTabSz="914400" rtl="1" eaLnBrk="1" fontAlgn="b" latinLnBrk="0" hangingPunct="1"/>
                      <a:r>
                        <a:rPr lang="ar-EG" sz="1600" u="none" strike="noStrike" kern="1200" dirty="0">
                          <a:solidFill>
                            <a:schemeClr val="dk1"/>
                          </a:solidFill>
                          <a:effectLst/>
                          <a:latin typeface="+mn-lt"/>
                          <a:ea typeface="+mn-ea"/>
                          <a:cs typeface="+mn-cs"/>
                        </a:rPr>
                        <a:t>نص الرسالة موضحا </a:t>
                      </a:r>
                      <a:r>
                        <a:rPr lang="ar-SA" sz="1600" u="none" strike="noStrike" kern="1200" dirty="0">
                          <a:solidFill>
                            <a:schemeClr val="dk1"/>
                          </a:solidFill>
                          <a:effectLst/>
                          <a:latin typeface="+mn-lt"/>
                          <a:ea typeface="+mn-ea"/>
                          <a:cs typeface="+mn-cs"/>
                        </a:rPr>
                        <a:t>الغاية الأساسية والقيم والأنشطة الرئيسية التي تعمل عليها الهيئة</a:t>
                      </a:r>
                    </a:p>
                  </a:txBody>
                  <a:tcPr marL="137160" marR="137160" marT="137160" marB="137160" anchor="ctr"/>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نص</a:t>
                      </a:r>
                    </a:p>
                  </a:txBody>
                  <a:tcPr marL="137160" marR="137160" marT="137160" marB="137160" anchor="ctr"/>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إلزامي</a:t>
                      </a:r>
                    </a:p>
                  </a:txBody>
                  <a:tcPr marL="137160" marR="137160" marT="137160" marB="137160" anchor="ctr"/>
                </a:tc>
                <a:extLst>
                  <a:ext uri="{0D108BD9-81ED-4DB2-BD59-A6C34878D82A}">
                    <a16:rowId xmlns:a16="http://schemas.microsoft.com/office/drawing/2014/main" val="1426280651"/>
                  </a:ext>
                </a:extLst>
              </a:tr>
              <a:tr h="303402">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lang="ar-EG" sz="1800" b="1" u="none" strike="noStrike" kern="1200" dirty="0">
                          <a:solidFill>
                            <a:schemeClr val="dk1"/>
                          </a:solidFill>
                          <a:effectLst/>
                          <a:latin typeface="+mn-lt"/>
                          <a:ea typeface="+mn-ea"/>
                          <a:cs typeface="+mn-cs"/>
                        </a:rPr>
                        <a:t>الرؤية</a:t>
                      </a:r>
                      <a:r>
                        <a:rPr lang="ar-SA" sz="1800" b="1" u="none" strike="noStrike" kern="1200" dirty="0">
                          <a:solidFill>
                            <a:schemeClr val="dk1"/>
                          </a:solidFill>
                          <a:effectLst/>
                          <a:latin typeface="+mn-lt"/>
                          <a:ea typeface="+mn-ea"/>
                          <a:cs typeface="+mn-cs"/>
                        </a:rPr>
                        <a:t> المرتبط</a:t>
                      </a:r>
                      <a:r>
                        <a:rPr lang="ar-EG" sz="1800" b="1" u="none" strike="noStrike" kern="1200" dirty="0">
                          <a:solidFill>
                            <a:schemeClr val="dk1"/>
                          </a:solidFill>
                          <a:effectLst/>
                          <a:latin typeface="+mn-lt"/>
                          <a:ea typeface="+mn-ea"/>
                          <a:cs typeface="+mn-cs"/>
                        </a:rPr>
                        <a:t>ة</a:t>
                      </a:r>
                      <a:r>
                        <a:rPr lang="ar-SA" sz="1800" b="1" u="none" strike="noStrike" kern="1200" dirty="0">
                          <a:solidFill>
                            <a:schemeClr val="dk1"/>
                          </a:solidFill>
                          <a:effectLst/>
                          <a:latin typeface="+mn-lt"/>
                          <a:ea typeface="+mn-ea"/>
                          <a:cs typeface="+mn-cs"/>
                        </a:rPr>
                        <a:t> بها</a:t>
                      </a:r>
                    </a:p>
                  </a:txBody>
                  <a:tcPr marL="137160" marR="137160" marT="137160" marB="137160" anchor="ctr"/>
                </a:tc>
                <a:tc>
                  <a:txBody>
                    <a:bodyPr/>
                    <a:lstStyle/>
                    <a:p>
                      <a:pPr marL="0" algn="r" defTabSz="914400" rtl="1" eaLnBrk="1" fontAlgn="b" latinLnBrk="0" hangingPunct="1"/>
                      <a:r>
                        <a:rPr lang="ar-EG" sz="1600" u="none" strike="noStrike" kern="1200" dirty="0">
                          <a:solidFill>
                            <a:schemeClr val="dk1"/>
                          </a:solidFill>
                          <a:effectLst/>
                          <a:latin typeface="+mn-lt"/>
                          <a:ea typeface="+mn-ea"/>
                          <a:cs typeface="+mn-cs"/>
                        </a:rPr>
                        <a:t>الرؤية التي تقود هذه الرسالة</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600" u="none" strike="noStrike" kern="1200" dirty="0">
                          <a:solidFill>
                            <a:schemeClr val="dk1"/>
                          </a:solidFill>
                          <a:effectLst/>
                          <a:latin typeface="+mn-lt"/>
                          <a:ea typeface="+mn-ea"/>
                          <a:cs typeface="+mn-cs"/>
                        </a:rPr>
                        <a:t>علاقة ربط</a:t>
                      </a:r>
                      <a:endParaRPr lang="ar-SA" sz="1600" u="none" strike="noStrike" kern="1200" dirty="0">
                        <a:solidFill>
                          <a:schemeClr val="dk1"/>
                        </a:solidFill>
                        <a:effectLst/>
                        <a:latin typeface="+mn-lt"/>
                        <a:ea typeface="+mn-ea"/>
                        <a:cs typeface="+mn-cs"/>
                      </a:endParaRP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u="none" strike="noStrike" kern="1200" dirty="0">
                          <a:solidFill>
                            <a:schemeClr val="dk1"/>
                          </a:solidFill>
                          <a:effectLst/>
                          <a:latin typeface="+mn-lt"/>
                          <a:ea typeface="+mn-ea"/>
                          <a:cs typeface="+mn-cs"/>
                        </a:rPr>
                        <a:t>اختياري</a:t>
                      </a:r>
                    </a:p>
                  </a:txBody>
                  <a:tcPr marL="137160" marR="137160" marT="137160" marB="137160" anchor="ctr"/>
                </a:tc>
                <a:extLst>
                  <a:ext uri="{0D108BD9-81ED-4DB2-BD59-A6C34878D82A}">
                    <a16:rowId xmlns:a16="http://schemas.microsoft.com/office/drawing/2014/main" val="220032958"/>
                  </a:ext>
                </a:extLst>
              </a:tr>
            </a:tbl>
          </a:graphicData>
        </a:graphic>
      </p:graphicFrame>
    </p:spTree>
    <p:extLst>
      <p:ext uri="{BB962C8B-B14F-4D97-AF65-F5344CB8AC3E}">
        <p14:creationId xmlns:p14="http://schemas.microsoft.com/office/powerpoint/2010/main" val="3901728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99E88-49DA-3DD2-DD6F-F41AAE29BCB4}"/>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AD22B9C5-BF41-5B75-95D1-890E3B31BB7B}"/>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20</a:t>
            </a:fld>
            <a:endParaRPr lang="en-US"/>
          </a:p>
        </p:txBody>
      </p:sp>
      <p:sp>
        <p:nvSpPr>
          <p:cNvPr id="2" name="Title 1">
            <a:extLst>
              <a:ext uri="{FF2B5EF4-FFF2-40B4-BE49-F238E27FC236}">
                <a16:creationId xmlns:a16="http://schemas.microsoft.com/office/drawing/2014/main" id="{93540044-1A3F-8567-1B39-703B75F47BDA}"/>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sz="2800" dirty="0"/>
              <a:t>مكونات "</a:t>
            </a:r>
            <a:r>
              <a:rPr lang="ar-SA" sz="2800" dirty="0"/>
              <a:t> الموائمة الاستراتيجية </a:t>
            </a:r>
            <a:r>
              <a:rPr lang="ar-EG" sz="2800" dirty="0"/>
              <a:t>" - </a:t>
            </a:r>
            <a:r>
              <a:rPr lang="en-US" dirty="0"/>
              <a:t>تفصيل سمات </a:t>
            </a:r>
            <a:r>
              <a:rPr lang="ar-SA" dirty="0"/>
              <a:t>وحدة </a:t>
            </a:r>
            <a:r>
              <a:rPr lang="ar-EG" dirty="0"/>
              <a:t>ال</a:t>
            </a:r>
            <a:r>
              <a:rPr lang="ar-SA" dirty="0"/>
              <a:t>بناء "استراتيجية"</a:t>
            </a:r>
            <a:endParaRPr lang="en-US" dirty="0"/>
          </a:p>
        </p:txBody>
      </p:sp>
      <p:graphicFrame>
        <p:nvGraphicFramePr>
          <p:cNvPr id="4" name="Table 3">
            <a:extLst>
              <a:ext uri="{FF2B5EF4-FFF2-40B4-BE49-F238E27FC236}">
                <a16:creationId xmlns:a16="http://schemas.microsoft.com/office/drawing/2014/main" id="{D74E8814-64D3-705D-9413-DE816945788C}"/>
              </a:ext>
            </a:extLst>
          </p:cNvPr>
          <p:cNvGraphicFramePr>
            <a:graphicFrameLocks noGrp="1"/>
          </p:cNvGraphicFramePr>
          <p:nvPr>
            <p:extLst>
              <p:ext uri="{D42A27DB-BD31-4B8C-83A1-F6EECF244321}">
                <p14:modId xmlns:p14="http://schemas.microsoft.com/office/powerpoint/2010/main" val="3224482131"/>
              </p:ext>
            </p:extLst>
          </p:nvPr>
        </p:nvGraphicFramePr>
        <p:xfrm>
          <a:off x="621452" y="1360629"/>
          <a:ext cx="10204027" cy="2225040"/>
        </p:xfrm>
        <a:graphic>
          <a:graphicData uri="http://schemas.openxmlformats.org/drawingml/2006/table">
            <a:tbl>
              <a:tblPr rtl="1" firstRow="1" bandRow="1">
                <a:tableStyleId>{5C22544A-7EE6-4342-B048-85BDC9FD1C3A}</a:tableStyleId>
              </a:tblPr>
              <a:tblGrid>
                <a:gridCol w="2358756">
                  <a:extLst>
                    <a:ext uri="{9D8B030D-6E8A-4147-A177-3AD203B41FA5}">
                      <a16:colId xmlns:a16="http://schemas.microsoft.com/office/drawing/2014/main" val="2853404558"/>
                    </a:ext>
                  </a:extLst>
                </a:gridCol>
                <a:gridCol w="4939752">
                  <a:extLst>
                    <a:ext uri="{9D8B030D-6E8A-4147-A177-3AD203B41FA5}">
                      <a16:colId xmlns:a16="http://schemas.microsoft.com/office/drawing/2014/main" val="1866450976"/>
                    </a:ext>
                  </a:extLst>
                </a:gridCol>
                <a:gridCol w="1502228">
                  <a:extLst>
                    <a:ext uri="{9D8B030D-6E8A-4147-A177-3AD203B41FA5}">
                      <a16:colId xmlns:a16="http://schemas.microsoft.com/office/drawing/2014/main" val="751160629"/>
                    </a:ext>
                  </a:extLst>
                </a:gridCol>
                <a:gridCol w="1403291">
                  <a:extLst>
                    <a:ext uri="{9D8B030D-6E8A-4147-A177-3AD203B41FA5}">
                      <a16:colId xmlns:a16="http://schemas.microsoft.com/office/drawing/2014/main" val="3263165468"/>
                    </a:ext>
                  </a:extLst>
                </a:gridCol>
              </a:tblGrid>
              <a:tr h="303402">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137160" marR="137160" marT="137160" marB="137160"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137160" marR="137160" marT="137160" marB="137160" anchor="b"/>
                </a:tc>
                <a:tc>
                  <a:txBody>
                    <a:bodyPr/>
                    <a:lstStyle/>
                    <a:p>
                      <a:pPr algn="ctr" rtl="1" fontAlgn="b"/>
                      <a:r>
                        <a:rPr lang="ar-SA" sz="2000" b="1" u="none" strike="noStrike" kern="1200" dirty="0">
                          <a:solidFill>
                            <a:schemeClr val="lt1"/>
                          </a:solidFill>
                          <a:effectLst/>
                          <a:latin typeface="+mn-lt"/>
                          <a:ea typeface="+mn-ea"/>
                          <a:cs typeface="+mn-cs"/>
                        </a:rPr>
                        <a:t>نوع السمة</a:t>
                      </a:r>
                    </a:p>
                  </a:txBody>
                  <a:tcPr marL="137160" marR="137160" marT="137160" marB="137160"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137160" marR="137160" marT="137160" marB="137160" anchor="b"/>
                </a:tc>
                <a:extLst>
                  <a:ext uri="{0D108BD9-81ED-4DB2-BD59-A6C34878D82A}">
                    <a16:rowId xmlns:a16="http://schemas.microsoft.com/office/drawing/2014/main" val="2998368315"/>
                  </a:ext>
                </a:extLst>
              </a:tr>
              <a:tr h="303402">
                <a:tc>
                  <a:txBody>
                    <a:bodyPr/>
                    <a:lstStyle/>
                    <a:p>
                      <a:pPr marL="0" algn="ctr" defTabSz="914400" rtl="1" eaLnBrk="1" fontAlgn="b" latinLnBrk="0" hangingPunct="1"/>
                      <a:r>
                        <a:rPr lang="ar-SA" sz="1800" b="1" u="none" strike="noStrike" kern="1200" dirty="0">
                          <a:solidFill>
                            <a:schemeClr val="dk1"/>
                          </a:solidFill>
                          <a:effectLst/>
                          <a:latin typeface="+mn-lt"/>
                          <a:ea typeface="+mn-ea"/>
                          <a:cs typeface="+mn-cs"/>
                        </a:rPr>
                        <a:t>الرمز</a:t>
                      </a:r>
                    </a:p>
                  </a:txBody>
                  <a:tcPr marL="137160" marR="137160" marT="137160" marB="137160" anchor="b"/>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الرمز الفريد </a:t>
                      </a:r>
                      <a:r>
                        <a:rPr lang="ar-EG" sz="1600" u="none" strike="noStrike" kern="1200" dirty="0">
                          <a:solidFill>
                            <a:schemeClr val="dk1"/>
                          </a:solidFill>
                          <a:effectLst/>
                          <a:latin typeface="+mn-lt"/>
                          <a:ea typeface="+mn-ea"/>
                          <a:cs typeface="+mn-cs"/>
                        </a:rPr>
                        <a:t>للاستراتيجية</a:t>
                      </a:r>
                      <a:endParaRPr lang="ar-SA" sz="1600" u="none" strike="noStrike" kern="1200" dirty="0">
                        <a:solidFill>
                          <a:schemeClr val="dk1"/>
                        </a:solidFill>
                        <a:effectLst/>
                        <a:latin typeface="+mn-lt"/>
                        <a:ea typeface="+mn-ea"/>
                        <a:cs typeface="+mn-cs"/>
                      </a:endParaRP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u="none" strike="noStrike" kern="1200" dirty="0">
                          <a:solidFill>
                            <a:schemeClr val="dk1"/>
                          </a:solidFill>
                          <a:effectLst/>
                          <a:latin typeface="+mn-lt"/>
                          <a:ea typeface="+mn-ea"/>
                          <a:cs typeface="+mn-cs"/>
                        </a:rPr>
                        <a:t>أحرف و/أو أرقام</a:t>
                      </a: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u="none" strike="noStrike" kern="1200" dirty="0">
                          <a:solidFill>
                            <a:schemeClr val="dk1"/>
                          </a:solidFill>
                          <a:effectLst/>
                          <a:latin typeface="+mn-lt"/>
                          <a:ea typeface="+mn-ea"/>
                          <a:cs typeface="+mn-cs"/>
                        </a:rPr>
                        <a:t>إلزامي</a:t>
                      </a:r>
                    </a:p>
                  </a:txBody>
                  <a:tcPr marL="137160" marR="137160" marT="137160" marB="137160" anchor="b"/>
                </a:tc>
                <a:extLst>
                  <a:ext uri="{0D108BD9-81ED-4DB2-BD59-A6C34878D82A}">
                    <a16:rowId xmlns:a16="http://schemas.microsoft.com/office/drawing/2014/main" val="2177790647"/>
                  </a:ext>
                </a:extLst>
              </a:tr>
              <a:tr h="303402">
                <a:tc>
                  <a:txBody>
                    <a:bodyPr/>
                    <a:lstStyle/>
                    <a:p>
                      <a:pPr marL="0" algn="ctr" defTabSz="914400" rtl="1" eaLnBrk="1" fontAlgn="b" latinLnBrk="0" hangingPunct="1"/>
                      <a:r>
                        <a:rPr lang="ar-SA" sz="1800" b="1" u="none" strike="noStrike" kern="1200" dirty="0">
                          <a:solidFill>
                            <a:schemeClr val="dk1"/>
                          </a:solidFill>
                          <a:effectLst/>
                          <a:latin typeface="+mn-lt"/>
                          <a:ea typeface="+mn-ea"/>
                          <a:cs typeface="+mn-cs"/>
                        </a:rPr>
                        <a:t>الاسم</a:t>
                      </a:r>
                    </a:p>
                  </a:txBody>
                  <a:tcPr marL="137160" marR="137160" marT="137160" marB="137160" anchor="b"/>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اسم الاستراتيجية كما هو معرف لدى </a:t>
                      </a:r>
                      <a:r>
                        <a:rPr lang="ar-EG" sz="1600" u="none" strike="noStrike" kern="1200" dirty="0">
                          <a:solidFill>
                            <a:schemeClr val="dk1"/>
                          </a:solidFill>
                          <a:effectLst/>
                          <a:latin typeface="+mn-lt"/>
                          <a:ea typeface="+mn-ea"/>
                          <a:cs typeface="+mn-cs"/>
                        </a:rPr>
                        <a:t>الهيئة</a:t>
                      </a:r>
                      <a:endParaRPr lang="ar-SA" sz="1600" u="none" strike="noStrike" kern="1200" dirty="0">
                        <a:solidFill>
                          <a:schemeClr val="dk1"/>
                        </a:solidFill>
                        <a:effectLst/>
                        <a:latin typeface="+mn-lt"/>
                        <a:ea typeface="+mn-ea"/>
                        <a:cs typeface="+mn-cs"/>
                      </a:endParaRPr>
                    </a:p>
                  </a:txBody>
                  <a:tcPr marL="137160" marR="137160" marT="137160" marB="137160" anchor="b"/>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نص</a:t>
                      </a:r>
                    </a:p>
                  </a:txBody>
                  <a:tcPr marL="137160" marR="137160" marT="137160" marB="137160" anchor="b"/>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إلزامي</a:t>
                      </a:r>
                    </a:p>
                  </a:txBody>
                  <a:tcPr marL="137160" marR="137160" marT="137160" marB="137160" anchor="b"/>
                </a:tc>
                <a:extLst>
                  <a:ext uri="{0D108BD9-81ED-4DB2-BD59-A6C34878D82A}">
                    <a16:rowId xmlns:a16="http://schemas.microsoft.com/office/drawing/2014/main" val="1742742327"/>
                  </a:ext>
                </a:extLst>
              </a:tr>
              <a:tr h="303402">
                <a:tc>
                  <a:txBody>
                    <a:bodyPr/>
                    <a:lstStyle/>
                    <a:p>
                      <a:pPr marL="0" algn="ctr" defTabSz="914400" rtl="1" eaLnBrk="1" fontAlgn="b" latinLnBrk="0" hangingPunct="1"/>
                      <a:r>
                        <a:rPr lang="ar-SA" sz="1800" b="1" u="none" strike="noStrike" kern="1200">
                          <a:solidFill>
                            <a:schemeClr val="dk1"/>
                          </a:solidFill>
                          <a:effectLst/>
                          <a:latin typeface="+mn-lt"/>
                          <a:ea typeface="+mn-ea"/>
                          <a:cs typeface="+mn-cs"/>
                        </a:rPr>
                        <a:t>الوصف</a:t>
                      </a:r>
                    </a:p>
                  </a:txBody>
                  <a:tcPr marL="137160" marR="137160" marT="137160" marB="137160" anchor="b"/>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وصف مختصر يعبر عن الاستراتيجية وأهدافها</a:t>
                      </a:r>
                    </a:p>
                  </a:txBody>
                  <a:tcPr marL="137160" marR="137160" marT="137160" marB="137160" anchor="b"/>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نص</a:t>
                      </a:r>
                    </a:p>
                  </a:txBody>
                  <a:tcPr marL="137160" marR="137160" marT="137160" marB="137160" anchor="b"/>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اختياري</a:t>
                      </a:r>
                    </a:p>
                  </a:txBody>
                  <a:tcPr marL="137160" marR="137160" marT="137160" marB="137160" anchor="b"/>
                </a:tc>
                <a:extLst>
                  <a:ext uri="{0D108BD9-81ED-4DB2-BD59-A6C34878D82A}">
                    <a16:rowId xmlns:a16="http://schemas.microsoft.com/office/drawing/2014/main" val="2208212757"/>
                  </a:ext>
                </a:extLst>
              </a:tr>
            </a:tbl>
          </a:graphicData>
        </a:graphic>
      </p:graphicFrame>
    </p:spTree>
    <p:extLst>
      <p:ext uri="{BB962C8B-B14F-4D97-AF65-F5344CB8AC3E}">
        <p14:creationId xmlns:p14="http://schemas.microsoft.com/office/powerpoint/2010/main" val="679639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21</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sz="2800" dirty="0"/>
              <a:t>مكونات "</a:t>
            </a:r>
            <a:r>
              <a:rPr lang="ar-SA" sz="2800" dirty="0"/>
              <a:t> الموائمة الاستراتيجية </a:t>
            </a:r>
            <a:r>
              <a:rPr lang="ar-EG" sz="2800" dirty="0"/>
              <a:t>" -</a:t>
            </a:r>
            <a:r>
              <a:rPr lang="ar-EG" sz="3200" dirty="0"/>
              <a:t> </a:t>
            </a:r>
            <a:r>
              <a:rPr lang="en-US" dirty="0"/>
              <a:t>تفصيل سمات </a:t>
            </a:r>
            <a:r>
              <a:rPr lang="ar-SA" dirty="0"/>
              <a:t>وحدة </a:t>
            </a:r>
            <a:r>
              <a:rPr lang="ar-EG" dirty="0"/>
              <a:t>ال</a:t>
            </a:r>
            <a:r>
              <a:rPr lang="ar-SA" dirty="0"/>
              <a:t>بناء "ممكن"</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3074381119"/>
              </p:ext>
            </p:extLst>
          </p:nvPr>
        </p:nvGraphicFramePr>
        <p:xfrm>
          <a:off x="1249681" y="1226528"/>
          <a:ext cx="9692638" cy="2682240"/>
        </p:xfrm>
        <a:graphic>
          <a:graphicData uri="http://schemas.openxmlformats.org/drawingml/2006/table">
            <a:tbl>
              <a:tblPr rtl="1" firstRow="1" bandRow="1">
                <a:tableStyleId>{5C22544A-7EE6-4342-B048-85BDC9FD1C3A}</a:tableStyleId>
              </a:tblPr>
              <a:tblGrid>
                <a:gridCol w="1876584">
                  <a:extLst>
                    <a:ext uri="{9D8B030D-6E8A-4147-A177-3AD203B41FA5}">
                      <a16:colId xmlns:a16="http://schemas.microsoft.com/office/drawing/2014/main" val="2853404558"/>
                    </a:ext>
                  </a:extLst>
                </a:gridCol>
                <a:gridCol w="4854242">
                  <a:extLst>
                    <a:ext uri="{9D8B030D-6E8A-4147-A177-3AD203B41FA5}">
                      <a16:colId xmlns:a16="http://schemas.microsoft.com/office/drawing/2014/main" val="1866450976"/>
                    </a:ext>
                  </a:extLst>
                </a:gridCol>
                <a:gridCol w="1480906">
                  <a:extLst>
                    <a:ext uri="{9D8B030D-6E8A-4147-A177-3AD203B41FA5}">
                      <a16:colId xmlns:a16="http://schemas.microsoft.com/office/drawing/2014/main" val="751160629"/>
                    </a:ext>
                  </a:extLst>
                </a:gridCol>
                <a:gridCol w="1480906">
                  <a:extLst>
                    <a:ext uri="{9D8B030D-6E8A-4147-A177-3AD203B41FA5}">
                      <a16:colId xmlns:a16="http://schemas.microsoft.com/office/drawing/2014/main" val="4074843608"/>
                    </a:ext>
                  </a:extLst>
                </a:gridCol>
              </a:tblGrid>
              <a:tr h="303402">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137160" marR="137160" marT="137160" marB="137160" anchor="b"/>
                </a:tc>
                <a:extLst>
                  <a:ext uri="{0D108BD9-81ED-4DB2-BD59-A6C34878D82A}">
                    <a16:rowId xmlns:a16="http://schemas.microsoft.com/office/drawing/2014/main" val="2998368315"/>
                  </a:ext>
                </a:extLst>
              </a:tr>
              <a:tr h="548640">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الرمز الفريد </a:t>
                      </a:r>
                      <a:r>
                        <a:rPr lang="ar-EG" sz="1600" b="0" i="0" u="none" strike="noStrike" dirty="0">
                          <a:solidFill>
                            <a:srgbClr val="000000"/>
                          </a:solidFill>
                          <a:effectLst/>
                          <a:latin typeface="Calibri" panose="020F0502020204030204" pitchFamily="34" charset="0"/>
                        </a:rPr>
                        <a:t>ل</a:t>
                      </a:r>
                      <a:r>
                        <a:rPr lang="ar-SA" sz="1600" b="0" i="0" u="none" strike="noStrike" dirty="0">
                          <a:solidFill>
                            <a:srgbClr val="000000"/>
                          </a:solidFill>
                          <a:effectLst/>
                          <a:latin typeface="Calibri" panose="020F0502020204030204" pitchFamily="34" charset="0"/>
                        </a:rPr>
                        <a:t>لممكن</a:t>
                      </a: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u="none" strike="noStrike" kern="1200" dirty="0">
                          <a:solidFill>
                            <a:schemeClr val="dk1"/>
                          </a:solidFill>
                          <a:effectLst/>
                          <a:latin typeface="+mn-lt"/>
                          <a:ea typeface="+mn-ea"/>
                          <a:cs typeface="+mn-cs"/>
                        </a:rPr>
                        <a:t>أحرف و/أو أرقام</a:t>
                      </a: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u="none" strike="noStrike" kern="1200" dirty="0">
                          <a:solidFill>
                            <a:schemeClr val="dk1"/>
                          </a:solidFill>
                          <a:effectLst/>
                          <a:latin typeface="+mn-lt"/>
                          <a:ea typeface="+mn-ea"/>
                          <a:cs typeface="+mn-cs"/>
                        </a:rPr>
                        <a:t>إلزامي</a:t>
                      </a:r>
                    </a:p>
                  </a:txBody>
                  <a:tcPr marL="137160" marR="137160" marT="137160" marB="137160" anchor="b"/>
                </a:tc>
                <a:extLst>
                  <a:ext uri="{0D108BD9-81ED-4DB2-BD59-A6C34878D82A}">
                    <a16:rowId xmlns:a16="http://schemas.microsoft.com/office/drawing/2014/main" val="2177790647"/>
                  </a:ext>
                </a:extLst>
              </a:tr>
              <a:tr h="548640">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اسم الممكن كما هو معرف لدى الجهة</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إلزامي</a:t>
                      </a:r>
                    </a:p>
                  </a:txBody>
                  <a:tcPr marL="137160" marR="137160" marT="137160" marB="137160" anchor="b"/>
                </a:tc>
                <a:extLst>
                  <a:ext uri="{0D108BD9-81ED-4DB2-BD59-A6C34878D82A}">
                    <a16:rowId xmlns:a16="http://schemas.microsoft.com/office/drawing/2014/main" val="1518070336"/>
                  </a:ext>
                </a:extLst>
              </a:tr>
              <a:tr h="548640">
                <a:tc>
                  <a:txBody>
                    <a:bodyPr/>
                    <a:lstStyle/>
                    <a:p>
                      <a:pPr algn="ctr" rtl="1" fontAlgn="b"/>
                      <a:r>
                        <a:rPr lang="ar-SA" sz="1800" b="1" i="0" u="none" strike="noStrike">
                          <a:solidFill>
                            <a:srgbClr val="000000"/>
                          </a:solidFill>
                          <a:effectLst/>
                          <a:latin typeface="Calibri" panose="020F0502020204030204" pitchFamily="34" charset="0"/>
                        </a:rPr>
                        <a:t>الوصف</a:t>
                      </a:r>
                    </a:p>
                  </a:txBody>
                  <a:tcPr marL="137160" marR="137160" marT="137160" marB="137160" anchor="b"/>
                </a:tc>
                <a:tc>
                  <a:txBody>
                    <a:bodyPr/>
                    <a:lstStyle/>
                    <a:p>
                      <a:pPr algn="r" rtl="1" fontAlgn="b"/>
                      <a:r>
                        <a:rPr lang="ar-SA" sz="1600" dirty="0"/>
                        <a:t>ع</a:t>
                      </a:r>
                      <a:r>
                        <a:rPr lang="ar-EG" sz="1600" dirty="0"/>
                        <a:t>نصر أو قدرة أو تقنية أو عامل تنظيمي يسهّل تحقيق الأهداف الاستراتيجية ويمكّن تنفيذ المبادرات وتحسين القدرات والخدمات، من خلال توفير إمكانيات أو بيئة أو أدوات أو موارد داعمة</a:t>
                      </a:r>
                      <a:endParaRPr lang="ar-SA" sz="1600" b="0" i="0" u="none" strike="noStrike" dirty="0">
                        <a:solidFill>
                          <a:srgbClr val="000000"/>
                        </a:solidFill>
                        <a:effectLst/>
                        <a:latin typeface="Calibri" panose="020F0502020204030204" pitchFamily="34" charset="0"/>
                      </a:endParaRP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إلزامي</a:t>
                      </a:r>
                    </a:p>
                  </a:txBody>
                  <a:tcPr marL="137160" marR="137160" marT="137160" marB="137160" anchor="b"/>
                </a:tc>
                <a:extLst>
                  <a:ext uri="{0D108BD9-81ED-4DB2-BD59-A6C34878D82A}">
                    <a16:rowId xmlns:a16="http://schemas.microsoft.com/office/drawing/2014/main" val="1426280651"/>
                  </a:ext>
                </a:extLst>
              </a:tr>
            </a:tbl>
          </a:graphicData>
        </a:graphic>
      </p:graphicFrame>
    </p:spTree>
    <p:extLst>
      <p:ext uri="{BB962C8B-B14F-4D97-AF65-F5344CB8AC3E}">
        <p14:creationId xmlns:p14="http://schemas.microsoft.com/office/powerpoint/2010/main" val="15939010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3E0EA-2DE1-20E6-7292-F46B073D93F2}"/>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FBFCCC47-78B7-6F82-0FA4-68DCBEDB25E0}"/>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22</a:t>
            </a:fld>
            <a:endParaRPr lang="en-US"/>
          </a:p>
        </p:txBody>
      </p:sp>
      <p:sp>
        <p:nvSpPr>
          <p:cNvPr id="2" name="Title 1">
            <a:extLst>
              <a:ext uri="{FF2B5EF4-FFF2-40B4-BE49-F238E27FC236}">
                <a16:creationId xmlns:a16="http://schemas.microsoft.com/office/drawing/2014/main" id="{825E39AD-CD41-4F3C-F5FF-387DF75F675E}"/>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sz="2800" dirty="0"/>
              <a:t>مكونات "</a:t>
            </a:r>
            <a:r>
              <a:rPr lang="ar-SA" sz="2800" dirty="0"/>
              <a:t> الموائمة الاستراتيجية </a:t>
            </a:r>
            <a:r>
              <a:rPr lang="ar-EG" sz="2800" dirty="0"/>
              <a:t>" -</a:t>
            </a:r>
            <a:r>
              <a:rPr lang="ar-EG" sz="3200" dirty="0"/>
              <a:t> </a:t>
            </a:r>
            <a:r>
              <a:rPr lang="en-US" dirty="0"/>
              <a:t>تفصيل سمات </a:t>
            </a:r>
            <a:r>
              <a:rPr lang="ar-SA" dirty="0"/>
              <a:t>وحدة </a:t>
            </a:r>
            <a:r>
              <a:rPr lang="ar-EG" dirty="0"/>
              <a:t>ال</a:t>
            </a:r>
            <a:r>
              <a:rPr lang="ar-SA" dirty="0"/>
              <a:t>بناء "مبادرة"</a:t>
            </a:r>
            <a:endParaRPr lang="en-US" dirty="0"/>
          </a:p>
        </p:txBody>
      </p:sp>
      <p:graphicFrame>
        <p:nvGraphicFramePr>
          <p:cNvPr id="4" name="Table 3">
            <a:extLst>
              <a:ext uri="{FF2B5EF4-FFF2-40B4-BE49-F238E27FC236}">
                <a16:creationId xmlns:a16="http://schemas.microsoft.com/office/drawing/2014/main" id="{D0CC662E-7C55-67AC-590A-A73FAF8078C7}"/>
              </a:ext>
            </a:extLst>
          </p:cNvPr>
          <p:cNvGraphicFramePr>
            <a:graphicFrameLocks noGrp="1"/>
          </p:cNvGraphicFramePr>
          <p:nvPr>
            <p:extLst>
              <p:ext uri="{D42A27DB-BD31-4B8C-83A1-F6EECF244321}">
                <p14:modId xmlns:p14="http://schemas.microsoft.com/office/powerpoint/2010/main" val="360675520"/>
              </p:ext>
            </p:extLst>
          </p:nvPr>
        </p:nvGraphicFramePr>
        <p:xfrm>
          <a:off x="621452" y="1274268"/>
          <a:ext cx="10376747" cy="3504114"/>
        </p:xfrm>
        <a:graphic>
          <a:graphicData uri="http://schemas.openxmlformats.org/drawingml/2006/table">
            <a:tbl>
              <a:tblPr rtl="1" firstRow="1" bandRow="1">
                <a:tableStyleId>{5C22544A-7EE6-4342-B048-85BDC9FD1C3A}</a:tableStyleId>
              </a:tblPr>
              <a:tblGrid>
                <a:gridCol w="2458581">
                  <a:extLst>
                    <a:ext uri="{9D8B030D-6E8A-4147-A177-3AD203B41FA5}">
                      <a16:colId xmlns:a16="http://schemas.microsoft.com/office/drawing/2014/main" val="2853404558"/>
                    </a:ext>
                  </a:extLst>
                </a:gridCol>
                <a:gridCol w="4735061">
                  <a:extLst>
                    <a:ext uri="{9D8B030D-6E8A-4147-A177-3AD203B41FA5}">
                      <a16:colId xmlns:a16="http://schemas.microsoft.com/office/drawing/2014/main" val="1866450976"/>
                    </a:ext>
                  </a:extLst>
                </a:gridCol>
                <a:gridCol w="1714500">
                  <a:extLst>
                    <a:ext uri="{9D8B030D-6E8A-4147-A177-3AD203B41FA5}">
                      <a16:colId xmlns:a16="http://schemas.microsoft.com/office/drawing/2014/main" val="751160629"/>
                    </a:ext>
                  </a:extLst>
                </a:gridCol>
                <a:gridCol w="1468605">
                  <a:extLst>
                    <a:ext uri="{9D8B030D-6E8A-4147-A177-3AD203B41FA5}">
                      <a16:colId xmlns:a16="http://schemas.microsoft.com/office/drawing/2014/main" val="3703409839"/>
                    </a:ext>
                  </a:extLst>
                </a:gridCol>
              </a:tblGrid>
              <a:tr h="476219">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T="73152" marB="73152"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T="73152" marB="73152"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T="73152" marB="73152" anchor="b"/>
                </a:tc>
                <a:tc>
                  <a:txBody>
                    <a:bodyPr/>
                    <a:lstStyle/>
                    <a:p>
                      <a:pPr marL="0" algn="ctr" defTabSz="914400" rtl="1" eaLnBrk="1" fontAlgn="ctr" latinLnBrk="0" hangingPunct="1">
                        <a:lnSpc>
                          <a:spcPct val="115000"/>
                        </a:lnSpc>
                        <a:spcAft>
                          <a:spcPts val="0"/>
                        </a:spcAft>
                      </a:pPr>
                      <a:r>
                        <a:rPr lang="ar-SA" sz="1800" b="1" kern="1200" dirty="0">
                          <a:solidFill>
                            <a:schemeClr val="bg1"/>
                          </a:solidFill>
                          <a:effectLst/>
                          <a:latin typeface="+mn-lt"/>
                          <a:ea typeface="+mn-ea"/>
                          <a:cs typeface="+mn-cs"/>
                        </a:rPr>
                        <a:t>الزامية التوثيق</a:t>
                      </a:r>
                    </a:p>
                  </a:txBody>
                  <a:tcPr marT="73152" marB="73152" anchor="b"/>
                </a:tc>
                <a:extLst>
                  <a:ext uri="{0D108BD9-81ED-4DB2-BD59-A6C34878D82A}">
                    <a16:rowId xmlns:a16="http://schemas.microsoft.com/office/drawing/2014/main" val="2998368315"/>
                  </a:ext>
                </a:extLst>
              </a:tr>
              <a:tr h="386123">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الرمز الفريد لوحدة البناء "مبادرة"</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أحرف و/أو أرقام</a:t>
                      </a: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2177790647"/>
                  </a:ext>
                </a:extLst>
              </a:tr>
              <a:tr h="386123">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الاسم المحدد لوحدة البناء "مبادرة"</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3362933796"/>
                  </a:ext>
                </a:extLst>
              </a:tr>
              <a:tr h="386123">
                <a:tc>
                  <a:txBody>
                    <a:bodyPr/>
                    <a:lstStyle/>
                    <a:p>
                      <a:pPr marL="0" algn="ctr" defTabSz="914400" rtl="1" eaLnBrk="1" fontAlgn="b" latinLnBrk="0" hangingPunct="1"/>
                      <a:r>
                        <a:rPr lang="ar-EG" sz="1800" b="1" i="0" u="none" strike="noStrike" kern="1200">
                          <a:solidFill>
                            <a:srgbClr val="000000"/>
                          </a:solidFill>
                          <a:effectLst/>
                          <a:latin typeface="Calibri" panose="020F0502020204030204" pitchFamily="34" charset="0"/>
                          <a:ea typeface="+mn-ea"/>
                          <a:cs typeface="+mn-cs"/>
                        </a:rPr>
                        <a:t>الوصف</a:t>
                      </a:r>
                    </a:p>
                  </a:txBody>
                  <a:tcPr anchor="ctr"/>
                </a:tc>
                <a:tc>
                  <a:txBody>
                    <a:bodyPr/>
                    <a:lstStyle/>
                    <a:p>
                      <a:pPr marL="0" algn="r" defTabSz="914400" rtl="1" eaLnBrk="1" fontAlgn="b" latinLnBrk="0" hangingPunct="1"/>
                      <a:r>
                        <a:rPr lang="ar-EG" sz="1600" b="0" i="0" u="none" strike="noStrike" kern="1200" dirty="0">
                          <a:solidFill>
                            <a:srgbClr val="000000"/>
                          </a:solidFill>
                          <a:effectLst/>
                          <a:latin typeface="Calibri" panose="020F0502020204030204" pitchFamily="34" charset="0"/>
                          <a:ea typeface="+mn-ea"/>
                          <a:cs typeface="+mn-cs"/>
                        </a:rPr>
                        <a:t>وصف مختصر يوضح مضمون المبادرة ونطاقها والغرض منها</a:t>
                      </a:r>
                    </a:p>
                  </a:txBody>
                  <a:tcPr anchor="ctr"/>
                </a:tc>
                <a:tc>
                  <a:txBody>
                    <a:bodyPr/>
                    <a:lstStyle/>
                    <a:p>
                      <a:pPr marL="0" algn="r" defTabSz="914400" rtl="1" eaLnBrk="1" fontAlgn="b" latinLnBrk="0" hangingPunct="1"/>
                      <a:r>
                        <a:rPr lang="ar-EG" sz="1600" b="0" i="0" u="none" strike="noStrike" kern="1200">
                          <a:solidFill>
                            <a:srgbClr val="000000"/>
                          </a:solidFill>
                          <a:effectLst/>
                          <a:latin typeface="Calibri" panose="020F0502020204030204" pitchFamily="34" charset="0"/>
                          <a:ea typeface="+mn-ea"/>
                          <a:cs typeface="+mn-cs"/>
                        </a:rPr>
                        <a:t>نص</a:t>
                      </a:r>
                    </a:p>
                  </a:txBody>
                  <a:tcPr anchor="ctr"/>
                </a:tc>
                <a:tc>
                  <a:txBody>
                    <a:bodyPr/>
                    <a:lstStyle/>
                    <a:p>
                      <a:pPr marL="0" algn="r" defTabSz="914400" rtl="1" eaLnBrk="1" fontAlgn="b" latinLnBrk="0" hangingPunct="1"/>
                      <a:r>
                        <a:rPr lang="ar-EG" sz="1600" b="0" i="0" u="none" strike="noStrike" kern="1200" dirty="0">
                          <a:solidFill>
                            <a:srgbClr val="000000"/>
                          </a:solidFill>
                          <a:effectLst/>
                          <a:latin typeface="Calibri" panose="020F0502020204030204" pitchFamily="34" charset="0"/>
                          <a:ea typeface="+mn-ea"/>
                          <a:cs typeface="+mn-cs"/>
                        </a:rPr>
                        <a:t>إلزامي</a:t>
                      </a:r>
                    </a:p>
                  </a:txBody>
                  <a:tcPr anchor="ctr"/>
                </a:tc>
                <a:extLst>
                  <a:ext uri="{0D108BD9-81ED-4DB2-BD59-A6C34878D82A}">
                    <a16:rowId xmlns:a16="http://schemas.microsoft.com/office/drawing/2014/main" val="3866325692"/>
                  </a:ext>
                </a:extLst>
              </a:tr>
              <a:tr h="386123">
                <a:tc>
                  <a:txBody>
                    <a:bodyPr/>
                    <a:lstStyle/>
                    <a:p>
                      <a:pPr marL="0" algn="ctr" defTabSz="914400" rtl="1" eaLnBrk="1" fontAlgn="b" latinLnBrk="0" hangingPunct="1"/>
                      <a:r>
                        <a:rPr lang="ar-EG" sz="1800" b="1" i="0" u="none" strike="noStrike" kern="1200">
                          <a:solidFill>
                            <a:srgbClr val="000000"/>
                          </a:solidFill>
                          <a:effectLst/>
                          <a:latin typeface="Calibri" panose="020F0502020204030204" pitchFamily="34" charset="0"/>
                          <a:ea typeface="+mn-ea"/>
                          <a:cs typeface="+mn-cs"/>
                        </a:rPr>
                        <a:t>اسم البرنامج</a:t>
                      </a:r>
                    </a:p>
                  </a:txBody>
                  <a:tcPr anchor="ctr"/>
                </a:tc>
                <a:tc>
                  <a:txBody>
                    <a:bodyPr/>
                    <a:lstStyle/>
                    <a:p>
                      <a:pPr marL="0" algn="r" defTabSz="914400" rtl="1" eaLnBrk="1" fontAlgn="b" latinLnBrk="0" hangingPunct="1"/>
                      <a:r>
                        <a:rPr lang="ar-EG" sz="1600" b="0" i="0" u="none" strike="noStrike" kern="1200" dirty="0">
                          <a:solidFill>
                            <a:srgbClr val="000000"/>
                          </a:solidFill>
                          <a:effectLst/>
                          <a:latin typeface="Calibri" panose="020F0502020204030204" pitchFamily="34" charset="0"/>
                          <a:ea typeface="+mn-ea"/>
                          <a:cs typeface="+mn-cs"/>
                        </a:rPr>
                        <a:t>اسم البرنامج الذي تندرج تحته المبادرة (إن وجد)</a:t>
                      </a:r>
                    </a:p>
                  </a:txBody>
                  <a:tcPr anchor="ctr"/>
                </a:tc>
                <a:tc>
                  <a:txBody>
                    <a:bodyPr/>
                    <a:lstStyle/>
                    <a:p>
                      <a:pPr marL="0" algn="r" defTabSz="914400" rtl="1" eaLnBrk="1" fontAlgn="b" latinLnBrk="0" hangingPunct="1"/>
                      <a:r>
                        <a:rPr lang="ar-EG" sz="1600" b="0" i="0" u="none" strike="noStrike" kern="1200" dirty="0">
                          <a:solidFill>
                            <a:srgbClr val="000000"/>
                          </a:solidFill>
                          <a:effectLst/>
                          <a:latin typeface="Calibri" panose="020F0502020204030204" pitchFamily="34" charset="0"/>
                          <a:ea typeface="+mn-ea"/>
                          <a:cs typeface="+mn-cs"/>
                        </a:rPr>
                        <a:t>نص</a:t>
                      </a:r>
                    </a:p>
                  </a:txBody>
                  <a:tcPr anchor="ctr"/>
                </a:tc>
                <a:tc>
                  <a:txBody>
                    <a:bodyPr/>
                    <a:lstStyle/>
                    <a:p>
                      <a:pPr marL="0" algn="r" defTabSz="914400" rtl="1" eaLnBrk="1" fontAlgn="b" latinLnBrk="0" hangingPunct="1"/>
                      <a:r>
                        <a:rPr lang="ar-EG" sz="1600" b="0" i="0" u="none" strike="noStrike" kern="1200" dirty="0">
                          <a:solidFill>
                            <a:srgbClr val="000000"/>
                          </a:solidFill>
                          <a:effectLst/>
                          <a:latin typeface="Calibri" panose="020F0502020204030204" pitchFamily="34" charset="0"/>
                          <a:ea typeface="+mn-ea"/>
                          <a:cs typeface="+mn-cs"/>
                        </a:rPr>
                        <a:t>اختياري</a:t>
                      </a:r>
                    </a:p>
                  </a:txBody>
                  <a:tcPr anchor="ctr"/>
                </a:tc>
                <a:extLst>
                  <a:ext uri="{0D108BD9-81ED-4DB2-BD59-A6C34878D82A}">
                    <a16:rowId xmlns:a16="http://schemas.microsoft.com/office/drawing/2014/main" val="3230402435"/>
                  </a:ext>
                </a:extLst>
              </a:tr>
              <a:tr h="386123">
                <a:tc>
                  <a:txBody>
                    <a:bodyPr/>
                    <a:lstStyle/>
                    <a:p>
                      <a:pPr marL="0" algn="ctr" defTabSz="914400" rtl="1" eaLnBrk="1" fontAlgn="b" latinLnBrk="0" hangingPunct="1"/>
                      <a:r>
                        <a:rPr lang="ar-EG" sz="1800" b="1" i="0" u="none" strike="noStrike" kern="1200">
                          <a:solidFill>
                            <a:srgbClr val="000000"/>
                          </a:solidFill>
                          <a:effectLst/>
                          <a:latin typeface="Calibri" panose="020F0502020204030204" pitchFamily="34" charset="0"/>
                          <a:ea typeface="+mn-ea"/>
                          <a:cs typeface="+mn-cs"/>
                        </a:rPr>
                        <a:t>الهدف الاستراتيجي للمبادرة</a:t>
                      </a:r>
                    </a:p>
                  </a:txBody>
                  <a:tcPr anchor="ctr"/>
                </a:tc>
                <a:tc>
                  <a:txBody>
                    <a:bodyPr/>
                    <a:lstStyle/>
                    <a:p>
                      <a:pPr marL="0" algn="r" defTabSz="914400" rtl="1" eaLnBrk="1" fontAlgn="b" latinLnBrk="0" hangingPunct="1"/>
                      <a:r>
                        <a:rPr lang="ar-EG" sz="1600" b="0" i="0" u="none" strike="noStrike" kern="1200" dirty="0">
                          <a:solidFill>
                            <a:srgbClr val="000000"/>
                          </a:solidFill>
                          <a:effectLst/>
                          <a:latin typeface="Calibri" panose="020F0502020204030204" pitchFamily="34" charset="0"/>
                          <a:ea typeface="+mn-ea"/>
                          <a:cs typeface="+mn-cs"/>
                        </a:rPr>
                        <a:t>الهدف أو الأهداف الاستراتيجية التي تسهم المبادرة في تحقيقها</a:t>
                      </a:r>
                    </a:p>
                  </a:txBody>
                  <a:tcPr anchor="ctr"/>
                </a:tc>
                <a:tc>
                  <a:txBody>
                    <a:bodyPr/>
                    <a:lstStyle/>
                    <a:p>
                      <a:pPr marL="0" algn="r" defTabSz="914400" rtl="1" eaLnBrk="1" fontAlgn="b" latinLnBrk="0" hangingPunct="1"/>
                      <a:r>
                        <a:rPr lang="ar-EG" sz="1600" b="0" i="0" u="none" strike="noStrike" kern="1200">
                          <a:solidFill>
                            <a:srgbClr val="000000"/>
                          </a:solidFill>
                          <a:effectLst/>
                          <a:latin typeface="Calibri" panose="020F0502020204030204" pitchFamily="34" charset="0"/>
                          <a:ea typeface="+mn-ea"/>
                          <a:cs typeface="+mn-cs"/>
                        </a:rPr>
                        <a:t>نص</a:t>
                      </a:r>
                    </a:p>
                  </a:txBody>
                  <a:tcPr anchor="ctr"/>
                </a:tc>
                <a:tc>
                  <a:txBody>
                    <a:bodyPr/>
                    <a:lstStyle/>
                    <a:p>
                      <a:pPr marL="0" algn="r" defTabSz="914400" rtl="1" eaLnBrk="1" fontAlgn="b" latinLnBrk="0" hangingPunct="1"/>
                      <a:r>
                        <a:rPr lang="ar-EG" sz="1600" b="0" i="0" u="none" strike="noStrike" kern="1200" dirty="0">
                          <a:solidFill>
                            <a:srgbClr val="000000"/>
                          </a:solidFill>
                          <a:effectLst/>
                          <a:latin typeface="Calibri" panose="020F0502020204030204" pitchFamily="34" charset="0"/>
                          <a:ea typeface="+mn-ea"/>
                          <a:cs typeface="+mn-cs"/>
                        </a:rPr>
                        <a:t>إلزامي</a:t>
                      </a:r>
                    </a:p>
                  </a:txBody>
                  <a:tcPr anchor="ctr"/>
                </a:tc>
                <a:extLst>
                  <a:ext uri="{0D108BD9-81ED-4DB2-BD59-A6C34878D82A}">
                    <a16:rowId xmlns:a16="http://schemas.microsoft.com/office/drawing/2014/main" val="1283530266"/>
                  </a:ext>
                </a:extLst>
              </a:tr>
              <a:tr h="386123">
                <a:tc>
                  <a:txBody>
                    <a:bodyPr/>
                    <a:lstStyle/>
                    <a:p>
                      <a:pPr marL="0" algn="ctr" defTabSz="914400" rtl="1" eaLnBrk="1" fontAlgn="b" latinLnBrk="0" hangingPunct="1"/>
                      <a:r>
                        <a:rPr lang="ar-EG" sz="1800" b="1" i="0" u="none" strike="noStrike" kern="1200">
                          <a:solidFill>
                            <a:srgbClr val="000000"/>
                          </a:solidFill>
                          <a:effectLst/>
                          <a:latin typeface="Calibri" panose="020F0502020204030204" pitchFamily="34" charset="0"/>
                          <a:ea typeface="+mn-ea"/>
                          <a:cs typeface="+mn-cs"/>
                        </a:rPr>
                        <a:t>عدد المشاريع</a:t>
                      </a:r>
                    </a:p>
                  </a:txBody>
                  <a:tcPr anchor="ctr"/>
                </a:tc>
                <a:tc>
                  <a:txBody>
                    <a:bodyPr/>
                    <a:lstStyle/>
                    <a:p>
                      <a:pPr marL="0" algn="r" defTabSz="914400" rtl="1" eaLnBrk="1" fontAlgn="b" latinLnBrk="0" hangingPunct="1"/>
                      <a:r>
                        <a:rPr lang="ar-EG" sz="1600" b="0" i="0" u="none" strike="noStrike" kern="1200" dirty="0">
                          <a:solidFill>
                            <a:srgbClr val="000000"/>
                          </a:solidFill>
                          <a:effectLst/>
                          <a:latin typeface="Calibri" panose="020F0502020204030204" pitchFamily="34" charset="0"/>
                          <a:ea typeface="+mn-ea"/>
                          <a:cs typeface="+mn-cs"/>
                        </a:rPr>
                        <a:t>عدد المشاريع المرتبطة بتنفيذ المبادرة</a:t>
                      </a:r>
                    </a:p>
                  </a:txBody>
                  <a:tcPr anchor="ctr"/>
                </a:tc>
                <a:tc>
                  <a:txBody>
                    <a:bodyPr/>
                    <a:lstStyle/>
                    <a:p>
                      <a:pPr marL="0" algn="r" defTabSz="914400" rtl="1" eaLnBrk="1" fontAlgn="b" latinLnBrk="0" hangingPunct="1"/>
                      <a:r>
                        <a:rPr lang="ar-EG" sz="1600" b="0" i="0" u="none" strike="noStrike" kern="1200">
                          <a:solidFill>
                            <a:srgbClr val="000000"/>
                          </a:solidFill>
                          <a:effectLst/>
                          <a:latin typeface="Calibri" panose="020F0502020204030204" pitchFamily="34" charset="0"/>
                          <a:ea typeface="+mn-ea"/>
                          <a:cs typeface="+mn-cs"/>
                        </a:rPr>
                        <a:t>رقم</a:t>
                      </a:r>
                    </a:p>
                  </a:txBody>
                  <a:tcPr anchor="ctr"/>
                </a:tc>
                <a:tc>
                  <a:txBody>
                    <a:bodyPr/>
                    <a:lstStyle/>
                    <a:p>
                      <a:pPr marL="0" algn="r" defTabSz="914400" rtl="1" eaLnBrk="1" fontAlgn="b" latinLnBrk="0" hangingPunct="1"/>
                      <a:r>
                        <a:rPr lang="ar-EG" sz="1600" b="0" i="0" u="none" strike="noStrike" kern="1200" dirty="0">
                          <a:solidFill>
                            <a:srgbClr val="000000"/>
                          </a:solidFill>
                          <a:effectLst/>
                          <a:latin typeface="Calibri" panose="020F0502020204030204" pitchFamily="34" charset="0"/>
                          <a:ea typeface="+mn-ea"/>
                          <a:cs typeface="+mn-cs"/>
                        </a:rPr>
                        <a:t>إلزامي</a:t>
                      </a:r>
                    </a:p>
                  </a:txBody>
                  <a:tcPr anchor="ctr"/>
                </a:tc>
                <a:extLst>
                  <a:ext uri="{0D108BD9-81ED-4DB2-BD59-A6C34878D82A}">
                    <a16:rowId xmlns:a16="http://schemas.microsoft.com/office/drawing/2014/main" val="3603808463"/>
                  </a:ext>
                </a:extLst>
              </a:tr>
              <a:tr h="386123">
                <a:tc>
                  <a:txBody>
                    <a:bodyPr/>
                    <a:lstStyle/>
                    <a:p>
                      <a:pPr marL="0" algn="ctr" defTabSz="914400" rtl="1" eaLnBrk="1" fontAlgn="b" latinLnBrk="0" hangingPunct="1"/>
                      <a:r>
                        <a:rPr lang="ar-EG" sz="1800" b="1" i="0" u="none" strike="noStrike" kern="1200">
                          <a:solidFill>
                            <a:srgbClr val="000000"/>
                          </a:solidFill>
                          <a:effectLst/>
                          <a:latin typeface="Calibri" panose="020F0502020204030204" pitchFamily="34" charset="0"/>
                          <a:ea typeface="+mn-ea"/>
                          <a:cs typeface="+mn-cs"/>
                        </a:rPr>
                        <a:t>الميزانية</a:t>
                      </a:r>
                    </a:p>
                  </a:txBody>
                  <a:tcPr anchor="ctr"/>
                </a:tc>
                <a:tc>
                  <a:txBody>
                    <a:bodyPr/>
                    <a:lstStyle/>
                    <a:p>
                      <a:pPr marL="0" algn="r" defTabSz="914400" rtl="1" eaLnBrk="1" fontAlgn="b" latinLnBrk="0" hangingPunct="1"/>
                      <a:r>
                        <a:rPr lang="ar-EG" sz="1600" b="0" i="0" u="none" strike="noStrike" kern="1200" dirty="0">
                          <a:solidFill>
                            <a:srgbClr val="000000"/>
                          </a:solidFill>
                          <a:effectLst/>
                          <a:latin typeface="Calibri" panose="020F0502020204030204" pitchFamily="34" charset="0"/>
                          <a:ea typeface="+mn-ea"/>
                          <a:cs typeface="+mn-cs"/>
                        </a:rPr>
                        <a:t>الميزانية التقديرية المعتمدة لتنفيذ المبادرة</a:t>
                      </a:r>
                    </a:p>
                  </a:txBody>
                  <a:tcPr anchor="ctr"/>
                </a:tc>
                <a:tc>
                  <a:txBody>
                    <a:bodyPr/>
                    <a:lstStyle/>
                    <a:p>
                      <a:pPr marL="0" algn="r" defTabSz="914400" rtl="1" eaLnBrk="1" fontAlgn="b" latinLnBrk="0" hangingPunct="1"/>
                      <a:r>
                        <a:rPr lang="ar-EG" sz="1600" b="0" i="0" u="none" strike="noStrike" kern="1200" dirty="0">
                          <a:solidFill>
                            <a:srgbClr val="000000"/>
                          </a:solidFill>
                          <a:effectLst/>
                          <a:latin typeface="Calibri" panose="020F0502020204030204" pitchFamily="34" charset="0"/>
                          <a:ea typeface="+mn-ea"/>
                          <a:cs typeface="+mn-cs"/>
                        </a:rPr>
                        <a:t>رقم / عملة</a:t>
                      </a:r>
                    </a:p>
                  </a:txBody>
                  <a:tcPr anchor="ctr"/>
                </a:tc>
                <a:tc>
                  <a:txBody>
                    <a:bodyPr/>
                    <a:lstStyle/>
                    <a:p>
                      <a:pPr marL="0" algn="r" defTabSz="914400" rtl="1" eaLnBrk="1" fontAlgn="b" latinLnBrk="0" hangingPunct="1"/>
                      <a:r>
                        <a:rPr lang="ar-EG" sz="1600" b="0" i="0" u="none" strike="noStrike" kern="1200" dirty="0">
                          <a:solidFill>
                            <a:srgbClr val="000000"/>
                          </a:solidFill>
                          <a:effectLst/>
                          <a:latin typeface="Calibri" panose="020F0502020204030204" pitchFamily="34" charset="0"/>
                          <a:ea typeface="+mn-ea"/>
                          <a:cs typeface="+mn-cs"/>
                        </a:rPr>
                        <a:t>إلزامي</a:t>
                      </a:r>
                    </a:p>
                  </a:txBody>
                  <a:tcPr anchor="ctr"/>
                </a:tc>
                <a:extLst>
                  <a:ext uri="{0D108BD9-81ED-4DB2-BD59-A6C34878D82A}">
                    <a16:rowId xmlns:a16="http://schemas.microsoft.com/office/drawing/2014/main" val="338126951"/>
                  </a:ext>
                </a:extLst>
              </a:tr>
            </a:tbl>
          </a:graphicData>
        </a:graphic>
      </p:graphicFrame>
    </p:spTree>
    <p:extLst>
      <p:ext uri="{BB962C8B-B14F-4D97-AF65-F5344CB8AC3E}">
        <p14:creationId xmlns:p14="http://schemas.microsoft.com/office/powerpoint/2010/main" val="32423738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23</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sz="2800" dirty="0"/>
              <a:t>مكونات "</a:t>
            </a:r>
            <a:r>
              <a:rPr lang="ar-SA" sz="2800" dirty="0"/>
              <a:t> الموائمة الاستراتيجية </a:t>
            </a:r>
            <a:r>
              <a:rPr lang="ar-EG" sz="2800" dirty="0"/>
              <a:t>" -</a:t>
            </a:r>
            <a:r>
              <a:rPr lang="ar-EG" sz="3200" dirty="0"/>
              <a:t> </a:t>
            </a:r>
            <a:r>
              <a:rPr lang="en-US" dirty="0"/>
              <a:t>تفصيل سمات </a:t>
            </a:r>
            <a:r>
              <a:rPr lang="ar-SA" dirty="0"/>
              <a:t>وحدة </a:t>
            </a:r>
            <a:r>
              <a:rPr lang="ar-EG" dirty="0"/>
              <a:t>ال</a:t>
            </a:r>
            <a:r>
              <a:rPr lang="ar-SA" dirty="0"/>
              <a:t>بناء "</a:t>
            </a:r>
            <a:r>
              <a:rPr lang="ar-EG" dirty="0"/>
              <a:t>ركيزة</a:t>
            </a:r>
            <a:r>
              <a:rPr lang="ar-SA" dirty="0"/>
              <a:t>"</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123947850"/>
              </p:ext>
            </p:extLst>
          </p:nvPr>
        </p:nvGraphicFramePr>
        <p:xfrm>
          <a:off x="1058826" y="1350469"/>
          <a:ext cx="9473707" cy="2225040"/>
        </p:xfrm>
        <a:graphic>
          <a:graphicData uri="http://schemas.openxmlformats.org/drawingml/2006/table">
            <a:tbl>
              <a:tblPr rtl="1" firstRow="1" bandRow="1">
                <a:tableStyleId>{5C22544A-7EE6-4342-B048-85BDC9FD1C3A}</a:tableStyleId>
              </a:tblPr>
              <a:tblGrid>
                <a:gridCol w="1889453">
                  <a:extLst>
                    <a:ext uri="{9D8B030D-6E8A-4147-A177-3AD203B41FA5}">
                      <a16:colId xmlns:a16="http://schemas.microsoft.com/office/drawing/2014/main" val="2853404558"/>
                    </a:ext>
                  </a:extLst>
                </a:gridCol>
                <a:gridCol w="4689342">
                  <a:extLst>
                    <a:ext uri="{9D8B030D-6E8A-4147-A177-3AD203B41FA5}">
                      <a16:colId xmlns:a16="http://schemas.microsoft.com/office/drawing/2014/main" val="1866450976"/>
                    </a:ext>
                  </a:extLst>
                </a:gridCol>
                <a:gridCol w="1447456">
                  <a:extLst>
                    <a:ext uri="{9D8B030D-6E8A-4147-A177-3AD203B41FA5}">
                      <a16:colId xmlns:a16="http://schemas.microsoft.com/office/drawing/2014/main" val="751160629"/>
                    </a:ext>
                  </a:extLst>
                </a:gridCol>
                <a:gridCol w="1447456">
                  <a:extLst>
                    <a:ext uri="{9D8B030D-6E8A-4147-A177-3AD203B41FA5}">
                      <a16:colId xmlns:a16="http://schemas.microsoft.com/office/drawing/2014/main" val="3965009552"/>
                    </a:ext>
                  </a:extLst>
                </a:gridCol>
              </a:tblGrid>
              <a:tr h="303402">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137160" marR="137160" marT="137160" marB="137160"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137160" marR="137160" marT="137160" marB="137160"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137160" marR="137160" marT="137160" marB="137160"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137160" marR="137160" marT="137160" marB="137160" anchor="b"/>
                </a:tc>
                <a:extLst>
                  <a:ext uri="{0D108BD9-81ED-4DB2-BD59-A6C34878D82A}">
                    <a16:rowId xmlns:a16="http://schemas.microsoft.com/office/drawing/2014/main" val="2998368315"/>
                  </a:ext>
                </a:extLst>
              </a:tr>
              <a:tr h="548640">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الرمز </a:t>
                      </a:r>
                      <a:r>
                        <a:rPr lang="ar-EG" sz="1600" b="0" i="0" u="none" strike="noStrike" dirty="0">
                          <a:solidFill>
                            <a:srgbClr val="000000"/>
                          </a:solidFill>
                          <a:effectLst/>
                          <a:latin typeface="Calibri" panose="020F0502020204030204" pitchFamily="34" charset="0"/>
                        </a:rPr>
                        <a:t>الفريد</a:t>
                      </a:r>
                      <a:r>
                        <a:rPr lang="ar-SA" sz="1600" b="0" i="0" u="none" strike="noStrike" dirty="0">
                          <a:solidFill>
                            <a:srgbClr val="000000"/>
                          </a:solidFill>
                          <a:effectLst/>
                          <a:latin typeface="Calibri" panose="020F0502020204030204" pitchFamily="34" charset="0"/>
                        </a:rPr>
                        <a:t> للركيزة</a:t>
                      </a: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u="none" strike="noStrike" kern="1200" dirty="0">
                          <a:solidFill>
                            <a:schemeClr val="dk1"/>
                          </a:solidFill>
                          <a:effectLst/>
                          <a:latin typeface="+mn-lt"/>
                          <a:ea typeface="+mn-ea"/>
                          <a:cs typeface="+mn-cs"/>
                        </a:rPr>
                        <a:t>أحرف و/أو أرقام</a:t>
                      </a: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u="none" strike="noStrike" kern="1200" dirty="0">
                          <a:solidFill>
                            <a:schemeClr val="dk1"/>
                          </a:solidFill>
                          <a:effectLst/>
                          <a:latin typeface="+mn-lt"/>
                          <a:ea typeface="+mn-ea"/>
                          <a:cs typeface="+mn-cs"/>
                        </a:rPr>
                        <a:t>إلزامي</a:t>
                      </a:r>
                    </a:p>
                  </a:txBody>
                  <a:tcPr marL="137160" marR="137160" marT="137160" marB="137160" anchor="b"/>
                </a:tc>
                <a:extLst>
                  <a:ext uri="{0D108BD9-81ED-4DB2-BD59-A6C34878D82A}">
                    <a16:rowId xmlns:a16="http://schemas.microsoft.com/office/drawing/2014/main" val="2177790647"/>
                  </a:ext>
                </a:extLst>
              </a:tr>
              <a:tr h="548640">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الاسم الوصفي للركيزة الذي يعكس محور الاهتمام الرئيسي</a:t>
                      </a:r>
                    </a:p>
                  </a:txBody>
                  <a:tcPr marL="137160" marR="137160" marT="137160" marB="137160" anchor="b"/>
                </a:tc>
                <a:tc>
                  <a:txBody>
                    <a:bodyPr/>
                    <a:lstStyle/>
                    <a:p>
                      <a:pPr algn="r" rtl="1" fontAlgn="b"/>
                      <a:r>
                        <a:rPr lang="ar-SA" sz="1600" b="0" i="0" u="none" strike="noStrike">
                          <a:solidFill>
                            <a:srgbClr val="000000"/>
                          </a:solidFill>
                          <a:effectLst/>
                          <a:latin typeface="Calibri" panose="020F0502020204030204" pitchFamily="34" charset="0"/>
                        </a:rPr>
                        <a:t>نص</a:t>
                      </a:r>
                    </a:p>
                  </a:txBody>
                  <a:tcPr marL="137160" marR="137160" marT="137160" marB="137160" anchor="b"/>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إلزامي</a:t>
                      </a:r>
                    </a:p>
                  </a:txBody>
                  <a:tcPr marL="137160" marR="137160" marT="137160" marB="137160" anchor="b"/>
                </a:tc>
                <a:extLst>
                  <a:ext uri="{0D108BD9-81ED-4DB2-BD59-A6C34878D82A}">
                    <a16:rowId xmlns:a16="http://schemas.microsoft.com/office/drawing/2014/main" val="1426280651"/>
                  </a:ext>
                </a:extLst>
              </a:tr>
              <a:tr h="548640">
                <a:tc>
                  <a:txBody>
                    <a:bodyPr/>
                    <a:lstStyle/>
                    <a:p>
                      <a:pPr algn="ctr" rtl="1" fontAlgn="b"/>
                      <a:r>
                        <a:rPr lang="ar-SA" sz="1800" b="1" i="0" u="none" strike="noStrike" dirty="0">
                          <a:solidFill>
                            <a:srgbClr val="000000"/>
                          </a:solidFill>
                          <a:effectLst/>
                          <a:latin typeface="Calibri" panose="020F0502020204030204" pitchFamily="34" charset="0"/>
                        </a:rPr>
                        <a:t>الأهداف </a:t>
                      </a:r>
                      <a:r>
                        <a:rPr lang="ar-EG" sz="1800" b="1" i="0" u="none" strike="noStrike" dirty="0">
                          <a:solidFill>
                            <a:srgbClr val="000000"/>
                          </a:solidFill>
                          <a:effectLst/>
                          <a:latin typeface="Calibri" panose="020F0502020204030204" pitchFamily="34" charset="0"/>
                        </a:rPr>
                        <a:t>المرتبطة</a:t>
                      </a:r>
                      <a:endParaRPr lang="ar-SA" sz="1800" b="1" i="0" u="none" strike="noStrike" dirty="0">
                        <a:solidFill>
                          <a:srgbClr val="000000"/>
                        </a:solidFill>
                        <a:effectLst/>
                        <a:latin typeface="Calibri" panose="020F0502020204030204" pitchFamily="34" charset="0"/>
                      </a:endParaRP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الأهداف </a:t>
                      </a:r>
                      <a:r>
                        <a:rPr lang="ar-EG" sz="1600" b="0" i="0" u="none" strike="noStrike" dirty="0">
                          <a:solidFill>
                            <a:srgbClr val="000000"/>
                          </a:solidFill>
                          <a:effectLst/>
                          <a:latin typeface="Calibri" panose="020F0502020204030204" pitchFamily="34" charset="0"/>
                        </a:rPr>
                        <a:t>المرتبطة بهذه </a:t>
                      </a:r>
                      <a:r>
                        <a:rPr lang="ar-SA" sz="1600" b="0" i="0" u="none" strike="noStrike" dirty="0">
                          <a:solidFill>
                            <a:srgbClr val="000000"/>
                          </a:solidFill>
                          <a:effectLst/>
                          <a:latin typeface="Calibri" panose="020F0502020204030204" pitchFamily="34" charset="0"/>
                        </a:rPr>
                        <a:t>الركيزة</a:t>
                      </a:r>
                    </a:p>
                  </a:txBody>
                  <a:tcPr marL="137160" marR="137160" marT="137160" marB="137160" anchor="b"/>
                </a:tc>
                <a:tc>
                  <a:txBody>
                    <a:bodyPr/>
                    <a:lstStyle/>
                    <a:p>
                      <a:pPr marL="0" algn="r" defTabSz="914400" rtl="1" eaLnBrk="1" fontAlgn="b" latinLnBrk="0" hangingPunct="1"/>
                      <a:r>
                        <a:rPr lang="ar-EG" sz="1600" u="none" strike="noStrike" kern="1200" dirty="0">
                          <a:solidFill>
                            <a:schemeClr val="dk1"/>
                          </a:solidFill>
                          <a:effectLst/>
                          <a:latin typeface="+mn-lt"/>
                          <a:ea typeface="+mn-ea"/>
                          <a:cs typeface="+mn-cs"/>
                        </a:rPr>
                        <a:t>علاقة ربط</a:t>
                      </a:r>
                      <a:endParaRPr lang="ar-SA" sz="1600" u="none" strike="noStrike" kern="1200" dirty="0">
                        <a:solidFill>
                          <a:schemeClr val="dk1"/>
                        </a:solidFill>
                        <a:effectLst/>
                        <a:latin typeface="+mn-lt"/>
                        <a:ea typeface="+mn-ea"/>
                        <a:cs typeface="+mn-cs"/>
                      </a:endParaRPr>
                    </a:p>
                  </a:txBody>
                  <a:tcPr marL="137160" marR="137160" marT="137160" marB="137160" anchor="b"/>
                </a:tc>
                <a:tc>
                  <a:txBody>
                    <a:bodyPr/>
                    <a:lstStyle/>
                    <a:p>
                      <a:pPr marL="0" algn="r" defTabSz="914400" rtl="1" eaLnBrk="1" fontAlgn="b" latinLnBrk="0" hangingPunct="1"/>
                      <a:r>
                        <a:rPr lang="ar-SA" sz="1600" u="none" strike="noStrike" kern="1200" dirty="0">
                          <a:solidFill>
                            <a:schemeClr val="dk1"/>
                          </a:solidFill>
                          <a:effectLst/>
                          <a:latin typeface="+mn-lt"/>
                          <a:ea typeface="+mn-ea"/>
                          <a:cs typeface="+mn-cs"/>
                        </a:rPr>
                        <a:t>اختياري</a:t>
                      </a:r>
                    </a:p>
                  </a:txBody>
                  <a:tcPr marL="137160" marR="137160" marT="137160" marB="137160" anchor="b"/>
                </a:tc>
                <a:extLst>
                  <a:ext uri="{0D108BD9-81ED-4DB2-BD59-A6C34878D82A}">
                    <a16:rowId xmlns:a16="http://schemas.microsoft.com/office/drawing/2014/main" val="2719192168"/>
                  </a:ext>
                </a:extLst>
              </a:tr>
            </a:tbl>
          </a:graphicData>
        </a:graphic>
      </p:graphicFrame>
    </p:spTree>
    <p:extLst>
      <p:ext uri="{BB962C8B-B14F-4D97-AF65-F5344CB8AC3E}">
        <p14:creationId xmlns:p14="http://schemas.microsoft.com/office/powerpoint/2010/main" val="8881326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24</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sz="2800" dirty="0"/>
              <a:t>مكونات "</a:t>
            </a:r>
            <a:r>
              <a:rPr lang="ar-SA" sz="2800" dirty="0"/>
              <a:t> الموائمة الاستراتيجية </a:t>
            </a:r>
            <a:r>
              <a:rPr lang="ar-EG" sz="2800" dirty="0"/>
              <a:t>" -</a:t>
            </a:r>
            <a:r>
              <a:rPr lang="ar-EG" sz="3200" dirty="0"/>
              <a:t> </a:t>
            </a:r>
            <a:r>
              <a:rPr lang="en-US" dirty="0"/>
              <a:t>تفصيل سمات </a:t>
            </a:r>
            <a:r>
              <a:rPr lang="ar-SA" dirty="0"/>
              <a:t>وحدة </a:t>
            </a:r>
            <a:r>
              <a:rPr lang="ar-EG" dirty="0"/>
              <a:t>ال</a:t>
            </a:r>
            <a:r>
              <a:rPr lang="ar-SA" dirty="0"/>
              <a:t>بناء "</a:t>
            </a:r>
            <a:r>
              <a:rPr lang="ar-EG" dirty="0"/>
              <a:t>مشروع</a:t>
            </a:r>
            <a:r>
              <a:rPr lang="ar-SA" dirty="0"/>
              <a:t>"</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1381807804"/>
              </p:ext>
            </p:extLst>
          </p:nvPr>
        </p:nvGraphicFramePr>
        <p:xfrm>
          <a:off x="800099" y="1139911"/>
          <a:ext cx="9949180" cy="4931278"/>
        </p:xfrm>
        <a:graphic>
          <a:graphicData uri="http://schemas.openxmlformats.org/drawingml/2006/table">
            <a:tbl>
              <a:tblPr rtl="1" firstRow="1" bandRow="1">
                <a:tableStyleId>{5C22544A-7EE6-4342-B048-85BDC9FD1C3A}</a:tableStyleId>
              </a:tblPr>
              <a:tblGrid>
                <a:gridCol w="2248202">
                  <a:extLst>
                    <a:ext uri="{9D8B030D-6E8A-4147-A177-3AD203B41FA5}">
                      <a16:colId xmlns:a16="http://schemas.microsoft.com/office/drawing/2014/main" val="2853404558"/>
                    </a:ext>
                  </a:extLst>
                </a:gridCol>
                <a:gridCol w="4631206">
                  <a:extLst>
                    <a:ext uri="{9D8B030D-6E8A-4147-A177-3AD203B41FA5}">
                      <a16:colId xmlns:a16="http://schemas.microsoft.com/office/drawing/2014/main" val="1866450976"/>
                    </a:ext>
                  </a:extLst>
                </a:gridCol>
                <a:gridCol w="1812471">
                  <a:extLst>
                    <a:ext uri="{9D8B030D-6E8A-4147-A177-3AD203B41FA5}">
                      <a16:colId xmlns:a16="http://schemas.microsoft.com/office/drawing/2014/main" val="751160629"/>
                    </a:ext>
                  </a:extLst>
                </a:gridCol>
                <a:gridCol w="1257301">
                  <a:extLst>
                    <a:ext uri="{9D8B030D-6E8A-4147-A177-3AD203B41FA5}">
                      <a16:colId xmlns:a16="http://schemas.microsoft.com/office/drawing/2014/main" val="1819984333"/>
                    </a:ext>
                  </a:extLst>
                </a:gridCol>
              </a:tblGrid>
              <a:tr h="433153">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anchor="b"/>
                </a:tc>
                <a:tc>
                  <a:txBody>
                    <a:bodyPr/>
                    <a:lstStyle/>
                    <a:p>
                      <a:pPr marL="0" algn="ctr" defTabSz="914400" rtl="1" eaLnBrk="1" fontAlgn="ctr" latinLnBrk="0" hangingPunct="1">
                        <a:lnSpc>
                          <a:spcPct val="115000"/>
                        </a:lnSpc>
                        <a:spcAft>
                          <a:spcPts val="0"/>
                        </a:spcAft>
                      </a:pPr>
                      <a:r>
                        <a:rPr lang="ar-SA" sz="1800" b="1" kern="1200" dirty="0">
                          <a:solidFill>
                            <a:schemeClr val="bg1"/>
                          </a:solidFill>
                          <a:effectLst/>
                          <a:latin typeface="+mn-lt"/>
                          <a:ea typeface="+mn-ea"/>
                          <a:cs typeface="+mn-cs"/>
                        </a:rPr>
                        <a:t>الزامية التوثيق</a:t>
                      </a:r>
                    </a:p>
                  </a:txBody>
                  <a:tcPr anchor="b"/>
                </a:tc>
                <a:extLst>
                  <a:ext uri="{0D108BD9-81ED-4DB2-BD59-A6C34878D82A}">
                    <a16:rowId xmlns:a16="http://schemas.microsoft.com/office/drawing/2014/main" val="2998368315"/>
                  </a:ext>
                </a:extLst>
              </a:tr>
              <a:tr h="299875">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الرمز الفريد </a:t>
                      </a:r>
                      <a:r>
                        <a:rPr lang="ar-EG" sz="1600" b="0" i="0" u="none" strike="noStrike" dirty="0">
                          <a:solidFill>
                            <a:srgbClr val="000000"/>
                          </a:solidFill>
                          <a:effectLst/>
                          <a:latin typeface="Calibri" panose="020F0502020204030204" pitchFamily="34" charset="0"/>
                        </a:rPr>
                        <a:t>للمشروع</a:t>
                      </a:r>
                      <a:endParaRPr lang="ar-SA" sz="1600" b="0" i="0" u="none" strike="noStrike" dirty="0">
                        <a:solidFill>
                          <a:srgbClr val="000000"/>
                        </a:solidFill>
                        <a:effectLst/>
                        <a:latin typeface="Calibri" panose="020F0502020204030204" pitchFamily="34" charset="0"/>
                      </a:endParaRP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T="0" marB="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T="0" marB="0" anchor="b"/>
                </a:tc>
                <a:extLst>
                  <a:ext uri="{0D108BD9-81ED-4DB2-BD59-A6C34878D82A}">
                    <a16:rowId xmlns:a16="http://schemas.microsoft.com/office/drawing/2014/main" val="2177790647"/>
                  </a:ext>
                </a:extLst>
              </a:tr>
              <a:tr h="299875">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اسم المشروع</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T="0" marB="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T="0" marB="0" anchor="b"/>
                </a:tc>
                <a:extLst>
                  <a:ext uri="{0D108BD9-81ED-4DB2-BD59-A6C34878D82A}">
                    <a16:rowId xmlns:a16="http://schemas.microsoft.com/office/drawing/2014/main" val="3401315638"/>
                  </a:ext>
                </a:extLst>
              </a:tr>
              <a:tr h="299875">
                <a:tc>
                  <a:txBody>
                    <a:bodyPr/>
                    <a:lstStyle/>
                    <a:p>
                      <a:pPr algn="ctr" rtl="1" fontAlgn="b"/>
                      <a:r>
                        <a:rPr lang="ar-SA" sz="1800" b="1" i="0" u="none" strike="noStrike" dirty="0">
                          <a:solidFill>
                            <a:srgbClr val="000000"/>
                          </a:solidFill>
                          <a:effectLst/>
                          <a:latin typeface="Calibri" panose="020F0502020204030204" pitchFamily="34" charset="0"/>
                        </a:rPr>
                        <a:t>الوصف</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وصف مختصر للمشروع</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T="0" marB="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T="0" marB="0" anchor="b"/>
                </a:tc>
                <a:extLst>
                  <a:ext uri="{0D108BD9-81ED-4DB2-BD59-A6C34878D82A}">
                    <a16:rowId xmlns:a16="http://schemas.microsoft.com/office/drawing/2014/main" val="3587081759"/>
                  </a:ext>
                </a:extLst>
              </a:tr>
              <a:tr h="299875">
                <a:tc>
                  <a:txBody>
                    <a:bodyPr/>
                    <a:lstStyle/>
                    <a:p>
                      <a:pPr algn="ctr" rtl="1" fontAlgn="b"/>
                      <a:r>
                        <a:rPr lang="ar-SA" sz="1800" b="1" i="0" u="none" strike="noStrike">
                          <a:solidFill>
                            <a:srgbClr val="000000"/>
                          </a:solidFill>
                          <a:effectLst/>
                          <a:latin typeface="Calibri" panose="020F0502020204030204" pitchFamily="34" charset="0"/>
                        </a:rPr>
                        <a:t>الهدف الاستراتيجي</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الهدف الاستراتيجي المرتبط بالمشروع</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p>
                  </a:txBody>
                  <a:tcPr marT="0" marB="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T="0" marB="0" anchor="b"/>
                </a:tc>
                <a:extLst>
                  <a:ext uri="{0D108BD9-81ED-4DB2-BD59-A6C34878D82A}">
                    <a16:rowId xmlns:a16="http://schemas.microsoft.com/office/drawing/2014/main" val="2768189738"/>
                  </a:ext>
                </a:extLst>
              </a:tr>
              <a:tr h="299875">
                <a:tc>
                  <a:txBody>
                    <a:bodyPr/>
                    <a:lstStyle/>
                    <a:p>
                      <a:pPr algn="ctr" rtl="1" fontAlgn="b"/>
                      <a:r>
                        <a:rPr lang="ar-SA" sz="1800" b="1" i="0" u="none" strike="noStrike" dirty="0">
                          <a:solidFill>
                            <a:srgbClr val="000000"/>
                          </a:solidFill>
                          <a:effectLst/>
                          <a:latin typeface="Calibri" panose="020F0502020204030204" pitchFamily="34" charset="0"/>
                        </a:rPr>
                        <a:t>محفظة المشاريع المرتبطة</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المحفظة التي ينتمي إليها المشروع</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p>
                  </a:txBody>
                  <a:tcPr marT="0" marB="0" anchor="b"/>
                </a:tc>
                <a:tc>
                  <a:txBody>
                    <a:bodyPr/>
                    <a:lstStyle/>
                    <a:p>
                      <a:pPr marL="0" algn="r" defTabSz="914400" rtl="1" eaLnBrk="1" fontAlgn="b" latinLnBrk="0" hangingPunct="1"/>
                      <a:r>
                        <a:rPr lang="ar-SA" sz="1400" b="0" kern="1200" dirty="0">
                          <a:solidFill>
                            <a:schemeClr val="tx1"/>
                          </a:solidFill>
                          <a:effectLst/>
                          <a:latin typeface="+mn-lt"/>
                          <a:ea typeface="+mn-ea"/>
                          <a:cs typeface="+mn-cs"/>
                        </a:rPr>
                        <a:t>اختياري</a:t>
                      </a:r>
                    </a:p>
                  </a:txBody>
                  <a:tcPr marT="0" marB="0" anchor="b"/>
                </a:tc>
                <a:extLst>
                  <a:ext uri="{0D108BD9-81ED-4DB2-BD59-A6C34878D82A}">
                    <a16:rowId xmlns:a16="http://schemas.microsoft.com/office/drawing/2014/main" val="1426280651"/>
                  </a:ext>
                </a:extLst>
              </a:tr>
              <a:tr h="299875">
                <a:tc>
                  <a:txBody>
                    <a:bodyPr/>
                    <a:lstStyle/>
                    <a:p>
                      <a:pPr algn="ctr" rtl="1" fontAlgn="b"/>
                      <a:r>
                        <a:rPr lang="ar-SA" sz="1800" b="1" i="0" u="none" strike="noStrike" dirty="0">
                          <a:solidFill>
                            <a:srgbClr val="000000"/>
                          </a:solidFill>
                          <a:effectLst/>
                          <a:latin typeface="Calibri" panose="020F0502020204030204" pitchFamily="34" charset="0"/>
                        </a:rPr>
                        <a:t>مؤشرات الأداء المرتبطة</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مؤشرات الأداء المستخدمة لتقييم نجاح المشروع</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p>
                  </a:txBody>
                  <a:tcPr marT="0" marB="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T="0" marB="0" anchor="b"/>
                </a:tc>
                <a:extLst>
                  <a:ext uri="{0D108BD9-81ED-4DB2-BD59-A6C34878D82A}">
                    <a16:rowId xmlns:a16="http://schemas.microsoft.com/office/drawing/2014/main" val="220032958"/>
                  </a:ext>
                </a:extLst>
              </a:tr>
              <a:tr h="299875">
                <a:tc>
                  <a:txBody>
                    <a:bodyPr/>
                    <a:lstStyle/>
                    <a:p>
                      <a:pPr algn="ctr" rtl="1" fontAlgn="b"/>
                      <a:r>
                        <a:rPr lang="ar-SA" sz="1800" b="1" i="0" u="none" strike="noStrike">
                          <a:solidFill>
                            <a:srgbClr val="000000"/>
                          </a:solidFill>
                          <a:effectLst/>
                          <a:latin typeface="Calibri" panose="020F0502020204030204" pitchFamily="34" charset="0"/>
                        </a:rPr>
                        <a:t>نطاق عمل المشروع</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النطاق العام لعمل المشروع</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T="0" marB="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اختياري</a:t>
                      </a:r>
                      <a:endParaRPr lang="ar-SA" sz="1400" b="0" kern="1200" dirty="0">
                        <a:solidFill>
                          <a:schemeClr val="tx1"/>
                        </a:solidFill>
                        <a:effectLst/>
                        <a:latin typeface="+mn-lt"/>
                        <a:ea typeface="+mn-ea"/>
                        <a:cs typeface="+mn-cs"/>
                      </a:endParaRPr>
                    </a:p>
                  </a:txBody>
                  <a:tcPr marT="0" marB="0" anchor="b"/>
                </a:tc>
                <a:extLst>
                  <a:ext uri="{0D108BD9-81ED-4DB2-BD59-A6C34878D82A}">
                    <a16:rowId xmlns:a16="http://schemas.microsoft.com/office/drawing/2014/main" val="2719192168"/>
                  </a:ext>
                </a:extLst>
              </a:tr>
              <a:tr h="299875">
                <a:tc>
                  <a:txBody>
                    <a:bodyPr/>
                    <a:lstStyle/>
                    <a:p>
                      <a:pPr algn="ctr" rtl="1" fontAlgn="b"/>
                      <a:r>
                        <a:rPr lang="ar-SA" sz="1800" b="1" i="0" u="none" strike="noStrike" dirty="0">
                          <a:solidFill>
                            <a:srgbClr val="000000"/>
                          </a:solidFill>
                          <a:effectLst/>
                          <a:latin typeface="Calibri" panose="020F0502020204030204" pitchFamily="34" charset="0"/>
                        </a:rPr>
                        <a:t>الإدارة المالكة للمشروع</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الإدارة التي تملك المشروع</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p>
                  </a:txBody>
                  <a:tcPr marT="0" marB="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اختياري</a:t>
                      </a:r>
                      <a:endParaRPr lang="ar-SA" sz="1400" b="0" kern="1200" dirty="0">
                        <a:solidFill>
                          <a:schemeClr val="tx1"/>
                        </a:solidFill>
                        <a:effectLst/>
                        <a:latin typeface="+mn-lt"/>
                        <a:ea typeface="+mn-ea"/>
                        <a:cs typeface="+mn-cs"/>
                      </a:endParaRPr>
                    </a:p>
                  </a:txBody>
                  <a:tcPr marT="0" marB="0" anchor="b"/>
                </a:tc>
                <a:extLst>
                  <a:ext uri="{0D108BD9-81ED-4DB2-BD59-A6C34878D82A}">
                    <a16:rowId xmlns:a16="http://schemas.microsoft.com/office/drawing/2014/main" val="1996831406"/>
                  </a:ext>
                </a:extLst>
              </a:tr>
              <a:tr h="299875">
                <a:tc>
                  <a:txBody>
                    <a:bodyPr/>
                    <a:lstStyle/>
                    <a:p>
                      <a:pPr algn="ctr" rtl="1" fontAlgn="b"/>
                      <a:r>
                        <a:rPr lang="ar-SA" sz="1800" b="1" i="0" u="none" strike="noStrike">
                          <a:solidFill>
                            <a:srgbClr val="000000"/>
                          </a:solidFill>
                          <a:effectLst/>
                          <a:latin typeface="Calibri" panose="020F0502020204030204" pitchFamily="34" charset="0"/>
                        </a:rPr>
                        <a:t>الأولوية</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أولوية المشروع (عالي - متوسط - منخفض)</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قائمة معرفة سابقًا</a:t>
                      </a:r>
                    </a:p>
                  </a:txBody>
                  <a:tcPr marT="0" marB="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اختياري</a:t>
                      </a:r>
                      <a:endParaRPr lang="ar-SA" sz="1400" b="0" kern="1200" dirty="0">
                        <a:solidFill>
                          <a:schemeClr val="tx1"/>
                        </a:solidFill>
                        <a:effectLst/>
                        <a:latin typeface="+mn-lt"/>
                        <a:ea typeface="+mn-ea"/>
                        <a:cs typeface="+mn-cs"/>
                      </a:endParaRPr>
                    </a:p>
                  </a:txBody>
                  <a:tcPr marT="0" marB="0" anchor="b"/>
                </a:tc>
                <a:extLst>
                  <a:ext uri="{0D108BD9-81ED-4DB2-BD59-A6C34878D82A}">
                    <a16:rowId xmlns:a16="http://schemas.microsoft.com/office/drawing/2014/main" val="2527114550"/>
                  </a:ext>
                </a:extLst>
              </a:tr>
              <a:tr h="299875">
                <a:tc>
                  <a:txBody>
                    <a:bodyPr/>
                    <a:lstStyle/>
                    <a:p>
                      <a:pPr algn="ctr" rtl="1" fontAlgn="b"/>
                      <a:r>
                        <a:rPr lang="ar-SA" sz="1800" b="1" i="0" u="none" strike="noStrike" dirty="0">
                          <a:solidFill>
                            <a:srgbClr val="000000"/>
                          </a:solidFill>
                          <a:effectLst/>
                          <a:latin typeface="Calibri" panose="020F0502020204030204" pitchFamily="34" charset="0"/>
                        </a:rPr>
                        <a:t>مدة المشروع (أشهر)</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عدد الأشهر المطلوبة لإكمال المشروع</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أرقام</a:t>
                      </a:r>
                    </a:p>
                  </a:txBody>
                  <a:tcPr marT="0" marB="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اختياري</a:t>
                      </a:r>
                      <a:endParaRPr lang="ar-SA" sz="1400" b="0" kern="1200" dirty="0">
                        <a:solidFill>
                          <a:schemeClr val="tx1"/>
                        </a:solidFill>
                        <a:effectLst/>
                        <a:latin typeface="+mn-lt"/>
                        <a:ea typeface="+mn-ea"/>
                        <a:cs typeface="+mn-cs"/>
                      </a:endParaRPr>
                    </a:p>
                  </a:txBody>
                  <a:tcPr marT="0" marB="0" anchor="b"/>
                </a:tc>
                <a:extLst>
                  <a:ext uri="{0D108BD9-81ED-4DB2-BD59-A6C34878D82A}">
                    <a16:rowId xmlns:a16="http://schemas.microsoft.com/office/drawing/2014/main" val="3603808463"/>
                  </a:ext>
                </a:extLst>
              </a:tr>
              <a:tr h="299875">
                <a:tc>
                  <a:txBody>
                    <a:bodyPr/>
                    <a:lstStyle/>
                    <a:p>
                      <a:pPr algn="ctr" rtl="1" fontAlgn="b"/>
                      <a:r>
                        <a:rPr lang="ar-SA" sz="1800" b="1" i="0" u="none" strike="noStrike" dirty="0">
                          <a:solidFill>
                            <a:srgbClr val="000000"/>
                          </a:solidFill>
                          <a:effectLst/>
                          <a:latin typeface="Calibri" panose="020F0502020204030204" pitchFamily="34" charset="0"/>
                        </a:rPr>
                        <a:t>سنة البدء</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السنة التي بدأ فيها المشروع</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أرقام</a:t>
                      </a:r>
                    </a:p>
                  </a:txBody>
                  <a:tcPr marT="0" marB="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T="0" marB="0" anchor="b"/>
                </a:tc>
                <a:extLst>
                  <a:ext uri="{0D108BD9-81ED-4DB2-BD59-A6C34878D82A}">
                    <a16:rowId xmlns:a16="http://schemas.microsoft.com/office/drawing/2014/main" val="1644484661"/>
                  </a:ext>
                </a:extLst>
              </a:tr>
              <a:tr h="299875">
                <a:tc>
                  <a:txBody>
                    <a:bodyPr/>
                    <a:lstStyle/>
                    <a:p>
                      <a:pPr algn="ctr" rtl="1" fontAlgn="b"/>
                      <a:r>
                        <a:rPr lang="ar-SA" sz="1800" b="1" i="0" u="none" strike="noStrike" dirty="0">
                          <a:solidFill>
                            <a:srgbClr val="000000"/>
                          </a:solidFill>
                          <a:effectLst/>
                          <a:latin typeface="Calibri" panose="020F0502020204030204" pitchFamily="34" charset="0"/>
                        </a:rPr>
                        <a:t>فترة البدء</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الربع الذي بدأ فيه المشروع (الأول-الثاني-الثالث-الرابع)</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قائمة معرفة سابقًا</a:t>
                      </a:r>
                    </a:p>
                  </a:txBody>
                  <a:tcPr marT="0" marB="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T="0" marB="0" anchor="b"/>
                </a:tc>
                <a:extLst>
                  <a:ext uri="{0D108BD9-81ED-4DB2-BD59-A6C34878D82A}">
                    <a16:rowId xmlns:a16="http://schemas.microsoft.com/office/drawing/2014/main" val="3583919253"/>
                  </a:ext>
                </a:extLst>
              </a:tr>
              <a:tr h="299875">
                <a:tc>
                  <a:txBody>
                    <a:bodyPr/>
                    <a:lstStyle/>
                    <a:p>
                      <a:pPr algn="ctr" rtl="1" fontAlgn="b"/>
                      <a:r>
                        <a:rPr lang="ar-SA" sz="1800" b="1" i="0" u="none" strike="noStrike" dirty="0">
                          <a:solidFill>
                            <a:srgbClr val="000000"/>
                          </a:solidFill>
                          <a:effectLst/>
                          <a:latin typeface="Calibri" panose="020F0502020204030204" pitchFamily="34" charset="0"/>
                        </a:rPr>
                        <a:t>قيمة المشروع (ريال سعودي)</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التكلفة الإجمالية للمشروع بالريال السعودي</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أرقام</a:t>
                      </a:r>
                    </a:p>
                  </a:txBody>
                  <a:tcPr marT="0" marB="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حسب التوفر</a:t>
                      </a:r>
                      <a:endParaRPr lang="ar-SA" sz="1400" b="0" kern="1200" dirty="0">
                        <a:solidFill>
                          <a:schemeClr val="tx1"/>
                        </a:solidFill>
                        <a:effectLst/>
                        <a:latin typeface="+mn-lt"/>
                        <a:ea typeface="+mn-ea"/>
                        <a:cs typeface="+mn-cs"/>
                      </a:endParaRPr>
                    </a:p>
                  </a:txBody>
                  <a:tcPr marT="0" marB="0" anchor="b"/>
                </a:tc>
                <a:extLst>
                  <a:ext uri="{0D108BD9-81ED-4DB2-BD59-A6C34878D82A}">
                    <a16:rowId xmlns:a16="http://schemas.microsoft.com/office/drawing/2014/main" val="2737220416"/>
                  </a:ext>
                </a:extLst>
              </a:tr>
              <a:tr h="299875">
                <a:tc>
                  <a:txBody>
                    <a:bodyPr/>
                    <a:lstStyle/>
                    <a:p>
                      <a:pPr algn="ctr" rtl="1" fontAlgn="b"/>
                      <a:r>
                        <a:rPr lang="ar-SA" sz="1800" b="1" i="0" u="none" strike="noStrike" dirty="0">
                          <a:solidFill>
                            <a:srgbClr val="000000"/>
                          </a:solidFill>
                          <a:effectLst/>
                          <a:latin typeface="Calibri" panose="020F0502020204030204" pitchFamily="34" charset="0"/>
                        </a:rPr>
                        <a:t>الفجوات المرتبطة</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الفجوات التي يسعى المشروع لسدها</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p>
                  </a:txBody>
                  <a:tcPr marT="0" marB="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T="0" marB="0" anchor="b"/>
                </a:tc>
                <a:extLst>
                  <a:ext uri="{0D108BD9-81ED-4DB2-BD59-A6C34878D82A}">
                    <a16:rowId xmlns:a16="http://schemas.microsoft.com/office/drawing/2014/main" val="4056626556"/>
                  </a:ext>
                </a:extLst>
              </a:tr>
              <a:tr h="299875">
                <a:tc>
                  <a:txBody>
                    <a:bodyPr/>
                    <a:lstStyle/>
                    <a:p>
                      <a:pPr algn="ctr" rtl="1" fontAlgn="b"/>
                      <a:r>
                        <a:rPr lang="ar-SA" sz="1800" b="1" i="0" u="none" strike="noStrike" dirty="0">
                          <a:solidFill>
                            <a:srgbClr val="000000"/>
                          </a:solidFill>
                          <a:effectLst/>
                          <a:latin typeface="Calibri" panose="020F0502020204030204" pitchFamily="34" charset="0"/>
                        </a:rPr>
                        <a:t>المتطلبات المرتبطة</a:t>
                      </a:r>
                    </a:p>
                  </a:txBody>
                  <a:tcPr marT="0" marB="0" anchor="b"/>
                </a:tc>
                <a:tc>
                  <a:txBody>
                    <a:bodyPr/>
                    <a:lstStyle/>
                    <a:p>
                      <a:pPr algn="r" rtl="1" fontAlgn="b"/>
                      <a:r>
                        <a:rPr lang="ar-SA" sz="1600" b="0" i="0" u="none" strike="noStrike">
                          <a:solidFill>
                            <a:srgbClr val="000000"/>
                          </a:solidFill>
                          <a:effectLst/>
                          <a:latin typeface="Calibri" panose="020F0502020204030204" pitchFamily="34" charset="0"/>
                        </a:rPr>
                        <a:t>المتطلبات التي يعتمد عليها المشروع</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p>
                  </a:txBody>
                  <a:tcPr marT="0" marB="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T="0" marB="0" anchor="b"/>
                </a:tc>
                <a:extLst>
                  <a:ext uri="{0D108BD9-81ED-4DB2-BD59-A6C34878D82A}">
                    <a16:rowId xmlns:a16="http://schemas.microsoft.com/office/drawing/2014/main" val="3664485979"/>
                  </a:ext>
                </a:extLst>
              </a:tr>
            </a:tbl>
          </a:graphicData>
        </a:graphic>
      </p:graphicFrame>
    </p:spTree>
    <p:extLst>
      <p:ext uri="{BB962C8B-B14F-4D97-AF65-F5344CB8AC3E}">
        <p14:creationId xmlns:p14="http://schemas.microsoft.com/office/powerpoint/2010/main" val="24747242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25</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sz="2800" dirty="0"/>
              <a:t>مكونات "</a:t>
            </a:r>
            <a:r>
              <a:rPr lang="ar-SA" sz="2800" dirty="0"/>
              <a:t> الموائمة الاستراتيجية </a:t>
            </a:r>
            <a:r>
              <a:rPr lang="ar-EG" sz="2800" dirty="0"/>
              <a:t>" -</a:t>
            </a:r>
            <a:r>
              <a:rPr lang="ar-EG" sz="3200" dirty="0"/>
              <a:t> </a:t>
            </a:r>
            <a:r>
              <a:rPr lang="en-US" dirty="0"/>
              <a:t>تفصيل سمات </a:t>
            </a:r>
            <a:r>
              <a:rPr lang="ar-SA" dirty="0"/>
              <a:t>وحدة </a:t>
            </a:r>
            <a:r>
              <a:rPr lang="ar-EG" dirty="0"/>
              <a:t>ال</a:t>
            </a:r>
            <a:r>
              <a:rPr lang="ar-SA" dirty="0"/>
              <a:t>بناء "</a:t>
            </a:r>
            <a:r>
              <a:rPr lang="ar-EG" dirty="0"/>
              <a:t>هدف</a:t>
            </a:r>
            <a:r>
              <a:rPr lang="ar-SA" dirty="0"/>
              <a:t>"</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3939861409"/>
              </p:ext>
            </p:extLst>
          </p:nvPr>
        </p:nvGraphicFramePr>
        <p:xfrm>
          <a:off x="609603" y="1274269"/>
          <a:ext cx="10388597" cy="3204972"/>
        </p:xfrm>
        <a:graphic>
          <a:graphicData uri="http://schemas.openxmlformats.org/drawingml/2006/table">
            <a:tbl>
              <a:tblPr rtl="1" firstRow="1" bandRow="1">
                <a:tableStyleId>{5C22544A-7EE6-4342-B048-85BDC9FD1C3A}</a:tableStyleId>
              </a:tblPr>
              <a:tblGrid>
                <a:gridCol w="2461389">
                  <a:extLst>
                    <a:ext uri="{9D8B030D-6E8A-4147-A177-3AD203B41FA5}">
                      <a16:colId xmlns:a16="http://schemas.microsoft.com/office/drawing/2014/main" val="2853404558"/>
                    </a:ext>
                  </a:extLst>
                </a:gridCol>
                <a:gridCol w="5247396">
                  <a:extLst>
                    <a:ext uri="{9D8B030D-6E8A-4147-A177-3AD203B41FA5}">
                      <a16:colId xmlns:a16="http://schemas.microsoft.com/office/drawing/2014/main" val="1866450976"/>
                    </a:ext>
                  </a:extLst>
                </a:gridCol>
                <a:gridCol w="1362644">
                  <a:extLst>
                    <a:ext uri="{9D8B030D-6E8A-4147-A177-3AD203B41FA5}">
                      <a16:colId xmlns:a16="http://schemas.microsoft.com/office/drawing/2014/main" val="751160629"/>
                    </a:ext>
                  </a:extLst>
                </a:gridCol>
                <a:gridCol w="1317168">
                  <a:extLst>
                    <a:ext uri="{9D8B030D-6E8A-4147-A177-3AD203B41FA5}">
                      <a16:colId xmlns:a16="http://schemas.microsoft.com/office/drawing/2014/main" val="103862389"/>
                    </a:ext>
                  </a:extLst>
                </a:gridCol>
              </a:tblGrid>
              <a:tr h="303402">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T="73152" marB="73152"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T="73152" marB="73152"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T="73152" marB="73152" anchor="b"/>
                </a:tc>
                <a:tc>
                  <a:txBody>
                    <a:bodyPr/>
                    <a:lstStyle/>
                    <a:p>
                      <a:pPr marL="0" marR="0" lvl="0" indent="0" algn="ctr" defTabSz="914400" rtl="1" eaLnBrk="1" fontAlgn="ctr" latinLnBrk="0" hangingPunct="1">
                        <a:lnSpc>
                          <a:spcPct val="115000"/>
                        </a:lnSpc>
                        <a:spcBef>
                          <a:spcPts val="0"/>
                        </a:spcBef>
                        <a:spcAft>
                          <a:spcPts val="0"/>
                        </a:spcAft>
                        <a:buClrTx/>
                        <a:buSzTx/>
                        <a:buFontTx/>
                        <a:buNone/>
                        <a:tabLst/>
                        <a:defRPr/>
                      </a:pPr>
                      <a:r>
                        <a:rPr lang="ar-SA" sz="1800" b="1" kern="1200" dirty="0">
                          <a:solidFill>
                            <a:schemeClr val="bg1"/>
                          </a:solidFill>
                          <a:effectLst/>
                          <a:latin typeface="+mn-lt"/>
                          <a:ea typeface="+mn-ea"/>
                          <a:cs typeface="+mn-cs"/>
                        </a:rPr>
                        <a:t>الزامية التوثيق</a:t>
                      </a:r>
                    </a:p>
                  </a:txBody>
                  <a:tcPr marT="73152" marB="73152" anchor="b"/>
                </a:tc>
                <a:extLst>
                  <a:ext uri="{0D108BD9-81ED-4DB2-BD59-A6C34878D82A}">
                    <a16:rowId xmlns:a16="http://schemas.microsoft.com/office/drawing/2014/main" val="2998368315"/>
                  </a:ext>
                </a:extLst>
              </a:tr>
              <a:tr h="548640">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الرمز </a:t>
                      </a:r>
                      <a:r>
                        <a:rPr lang="ar-SA" sz="1600" u="none" strike="noStrike" kern="1200" dirty="0">
                          <a:solidFill>
                            <a:schemeClr val="dk1"/>
                          </a:solidFill>
                          <a:effectLst/>
                          <a:latin typeface="+mn-lt"/>
                          <a:ea typeface="+mn-ea"/>
                          <a:cs typeface="+mn-cs"/>
                        </a:rPr>
                        <a:t>الفريد</a:t>
                      </a:r>
                      <a:r>
                        <a:rPr lang="ar-SA" sz="1600" b="0" i="0" u="none" strike="noStrike" dirty="0">
                          <a:solidFill>
                            <a:srgbClr val="000000"/>
                          </a:solidFill>
                          <a:effectLst/>
                          <a:latin typeface="Calibri" panose="020F0502020204030204" pitchFamily="34" charset="0"/>
                        </a:rPr>
                        <a:t> للهدف</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أحرف و/أو أرقام</a:t>
                      </a:r>
                    </a:p>
                  </a:txBody>
                  <a:tcPr marL="137160" marR="137160" marT="137160" marB="13716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2177790647"/>
                  </a:ext>
                </a:extLst>
              </a:tr>
              <a:tr h="548640">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الاسم الوصفي للهدف الذي يعكس مستوى الأداء أو النتيجة المستهدفة</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1426280651"/>
                  </a:ext>
                </a:extLst>
              </a:tr>
              <a:tr h="548640">
                <a:tc>
                  <a:txBody>
                    <a:bodyPr/>
                    <a:lstStyle/>
                    <a:p>
                      <a:pPr algn="ctr" rtl="1" fontAlgn="b"/>
                      <a:r>
                        <a:rPr lang="ar-SA" sz="1800" b="1" i="0" u="none" strike="noStrike" dirty="0">
                          <a:solidFill>
                            <a:srgbClr val="000000"/>
                          </a:solidFill>
                          <a:effectLst/>
                          <a:latin typeface="Calibri" panose="020F0502020204030204" pitchFamily="34" charset="0"/>
                        </a:rPr>
                        <a:t>الوصف</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وصف مختصر يوضح ما يسعى الهدف إلى تحقيقه خلال فترة زمنية محددة</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اختياري</a:t>
                      </a:r>
                      <a:endParaRPr lang="ar-SA" sz="14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220032958"/>
                  </a:ext>
                </a:extLst>
              </a:tr>
              <a:tr h="548640">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lang="ar-SA" sz="1800" b="1" u="none" strike="noStrike" kern="1200" dirty="0">
                          <a:solidFill>
                            <a:schemeClr val="dk1"/>
                          </a:solidFill>
                          <a:effectLst/>
                          <a:latin typeface="+mn-lt"/>
                          <a:ea typeface="+mn-ea"/>
                          <a:cs typeface="+mn-cs"/>
                        </a:rPr>
                        <a:t>الاستراتيجية المرتبط بها</a:t>
                      </a:r>
                    </a:p>
                  </a:txBody>
                  <a:tcPr marL="137160" marR="137160" marT="137160" marB="137160" anchor="ctr"/>
                </a:tc>
                <a:tc>
                  <a:txBody>
                    <a:bodyPr/>
                    <a:lstStyle/>
                    <a:p>
                      <a:pPr marL="0" algn="r" defTabSz="914400" rtl="1" eaLnBrk="1" fontAlgn="b" latinLnBrk="0" hangingPunct="1"/>
                      <a:r>
                        <a:rPr lang="ar-EG" sz="1600" u="none" strike="noStrike" kern="1200" dirty="0">
                          <a:solidFill>
                            <a:schemeClr val="dk1"/>
                          </a:solidFill>
                          <a:effectLst/>
                          <a:latin typeface="+mn-lt"/>
                          <a:ea typeface="+mn-ea"/>
                          <a:cs typeface="+mn-cs"/>
                        </a:rPr>
                        <a:t>الاستراتيجية التي تشمل على تحقيق هذا الهدف</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600" u="none" strike="noStrike" kern="1200" dirty="0">
                          <a:solidFill>
                            <a:schemeClr val="dk1"/>
                          </a:solidFill>
                          <a:effectLst/>
                          <a:latin typeface="+mn-lt"/>
                          <a:ea typeface="+mn-ea"/>
                          <a:cs typeface="+mn-cs"/>
                        </a:rPr>
                        <a:t>علاقة ربط</a:t>
                      </a:r>
                      <a:endParaRPr lang="ar-SA" sz="1600" u="none" strike="noStrike" kern="1200" dirty="0">
                        <a:solidFill>
                          <a:schemeClr val="dk1"/>
                        </a:solidFill>
                        <a:effectLst/>
                        <a:latin typeface="+mn-lt"/>
                        <a:ea typeface="+mn-ea"/>
                        <a:cs typeface="+mn-cs"/>
                      </a:endParaRP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2719192168"/>
                  </a:ext>
                </a:extLst>
              </a:tr>
              <a:tr h="548640">
                <a:tc>
                  <a:txBody>
                    <a:bodyPr/>
                    <a:lstStyle/>
                    <a:p>
                      <a:pPr algn="ctr" rtl="1" fontAlgn="b"/>
                      <a:r>
                        <a:rPr lang="ar-SA" sz="1800" b="1" i="0" u="none" strike="noStrike" dirty="0">
                          <a:solidFill>
                            <a:srgbClr val="000000"/>
                          </a:solidFill>
                          <a:effectLst/>
                          <a:latin typeface="Calibri" panose="020F0502020204030204" pitchFamily="34" charset="0"/>
                        </a:rPr>
                        <a:t>مؤشرات الأداء</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مؤشرات الأداء التي سيتم قياس تحقيق الهدف من خلالها</a:t>
                      </a:r>
                    </a:p>
                  </a:txBody>
                  <a:tcPr marL="137160" marR="137160" marT="137160" marB="137160" anchor="b"/>
                </a:tc>
                <a:tc>
                  <a:txBody>
                    <a:bodyPr/>
                    <a:lstStyle/>
                    <a:p>
                      <a:pPr marL="0" algn="r" defTabSz="914400" rtl="1" eaLnBrk="1" fontAlgn="b" latinLnBrk="0" hangingPunct="1"/>
                      <a:r>
                        <a:rPr lang="ar-EG" sz="1600" u="none" strike="noStrike" kern="1200" dirty="0">
                          <a:solidFill>
                            <a:schemeClr val="dk1"/>
                          </a:solidFill>
                          <a:effectLst/>
                          <a:latin typeface="+mn-lt"/>
                          <a:ea typeface="+mn-ea"/>
                          <a:cs typeface="+mn-cs"/>
                        </a:rPr>
                        <a:t>علاقة ربط</a:t>
                      </a:r>
                      <a:endParaRPr lang="ar-SA" sz="1600" u="none" strike="noStrike" kern="1200" dirty="0">
                        <a:solidFill>
                          <a:schemeClr val="dk1"/>
                        </a:solidFill>
                        <a:effectLst/>
                        <a:latin typeface="+mn-lt"/>
                        <a:ea typeface="+mn-ea"/>
                        <a:cs typeface="+mn-cs"/>
                      </a:endParaRPr>
                    </a:p>
                  </a:txBody>
                  <a:tcPr marL="137160" marR="137160" marT="137160" marB="13716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3603808463"/>
                  </a:ext>
                </a:extLst>
              </a:tr>
            </a:tbl>
          </a:graphicData>
        </a:graphic>
      </p:graphicFrame>
    </p:spTree>
    <p:extLst>
      <p:ext uri="{BB962C8B-B14F-4D97-AF65-F5344CB8AC3E}">
        <p14:creationId xmlns:p14="http://schemas.microsoft.com/office/powerpoint/2010/main" val="3454774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26</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sz="2800" dirty="0"/>
              <a:t>مكونات "</a:t>
            </a:r>
            <a:r>
              <a:rPr lang="ar-SA" sz="2800" dirty="0"/>
              <a:t> الموائمة الاستراتيجية </a:t>
            </a:r>
            <a:r>
              <a:rPr lang="ar-EG" sz="2800" dirty="0"/>
              <a:t>" - </a:t>
            </a:r>
            <a:r>
              <a:rPr lang="en-US" dirty="0"/>
              <a:t>تفصيل سمات </a:t>
            </a:r>
            <a:r>
              <a:rPr lang="ar-SA" dirty="0"/>
              <a:t>وحدة </a:t>
            </a:r>
            <a:r>
              <a:rPr lang="ar-EG" dirty="0"/>
              <a:t>ال</a:t>
            </a:r>
            <a:r>
              <a:rPr lang="ar-SA" dirty="0"/>
              <a:t>بناء "مؤشر أداء"</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3219518642"/>
              </p:ext>
            </p:extLst>
          </p:nvPr>
        </p:nvGraphicFramePr>
        <p:xfrm>
          <a:off x="767442" y="1139088"/>
          <a:ext cx="10049101" cy="4889474"/>
        </p:xfrm>
        <a:graphic>
          <a:graphicData uri="http://schemas.openxmlformats.org/drawingml/2006/table">
            <a:tbl>
              <a:tblPr rtl="1" firstRow="1" bandRow="1">
                <a:tableStyleId>{5C22544A-7EE6-4342-B048-85BDC9FD1C3A}</a:tableStyleId>
              </a:tblPr>
              <a:tblGrid>
                <a:gridCol w="2536064">
                  <a:extLst>
                    <a:ext uri="{9D8B030D-6E8A-4147-A177-3AD203B41FA5}">
                      <a16:colId xmlns:a16="http://schemas.microsoft.com/office/drawing/2014/main" val="2853404558"/>
                    </a:ext>
                  </a:extLst>
                </a:gridCol>
                <a:gridCol w="4684178">
                  <a:extLst>
                    <a:ext uri="{9D8B030D-6E8A-4147-A177-3AD203B41FA5}">
                      <a16:colId xmlns:a16="http://schemas.microsoft.com/office/drawing/2014/main" val="1866450976"/>
                    </a:ext>
                  </a:extLst>
                </a:gridCol>
                <a:gridCol w="1529453">
                  <a:extLst>
                    <a:ext uri="{9D8B030D-6E8A-4147-A177-3AD203B41FA5}">
                      <a16:colId xmlns:a16="http://schemas.microsoft.com/office/drawing/2014/main" val="751160629"/>
                    </a:ext>
                  </a:extLst>
                </a:gridCol>
                <a:gridCol w="1299406">
                  <a:extLst>
                    <a:ext uri="{9D8B030D-6E8A-4147-A177-3AD203B41FA5}">
                      <a16:colId xmlns:a16="http://schemas.microsoft.com/office/drawing/2014/main" val="1058513890"/>
                    </a:ext>
                  </a:extLst>
                </a:gridCol>
              </a:tblGrid>
              <a:tr h="500354">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0" marR="0" marT="0" marB="0" anchor="ctr"/>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0" marR="0" marT="0" marB="0" anchor="ctr"/>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0" marR="0" marT="0" marB="0" anchor="ctr"/>
                </a:tc>
                <a:tc>
                  <a:txBody>
                    <a:bodyPr/>
                    <a:lstStyle/>
                    <a:p>
                      <a:pPr marL="0" algn="ctr" defTabSz="914400" rtl="1" eaLnBrk="1" fontAlgn="ctr" latinLnBrk="0" hangingPunct="1">
                        <a:lnSpc>
                          <a:spcPct val="115000"/>
                        </a:lnSpc>
                        <a:spcAft>
                          <a:spcPts val="0"/>
                        </a:spcAft>
                      </a:pPr>
                      <a:r>
                        <a:rPr lang="ar-SA" sz="1800" b="1" kern="1200" dirty="0">
                          <a:solidFill>
                            <a:schemeClr val="bg1"/>
                          </a:solidFill>
                          <a:effectLst/>
                          <a:latin typeface="+mn-lt"/>
                          <a:ea typeface="+mn-ea"/>
                          <a:cs typeface="+mn-cs"/>
                        </a:rPr>
                        <a:t>الزامية التوثيق</a:t>
                      </a:r>
                    </a:p>
                  </a:txBody>
                  <a:tcPr marL="0" marR="0" marT="0" marB="0" anchor="ctr"/>
                </a:tc>
                <a:extLst>
                  <a:ext uri="{0D108BD9-81ED-4DB2-BD59-A6C34878D82A}">
                    <a16:rowId xmlns:a16="http://schemas.microsoft.com/office/drawing/2014/main" val="2998368315"/>
                  </a:ext>
                </a:extLst>
              </a:tr>
              <a:tr h="548640">
                <a:tc>
                  <a:txBody>
                    <a:bodyPr/>
                    <a:lstStyle/>
                    <a:p>
                      <a:pPr algn="ctr" rtl="1" fontAlgn="ctr"/>
                      <a:r>
                        <a:rPr lang="ar-SA" sz="1800" b="1" i="0" u="none" strike="noStrike" dirty="0">
                          <a:solidFill>
                            <a:srgbClr val="000000"/>
                          </a:solidFill>
                          <a:effectLst/>
                          <a:latin typeface="Calibri" panose="020F0502020204030204" pitchFamily="34" charset="0"/>
                        </a:rPr>
                        <a:t>الرمز</a:t>
                      </a:r>
                      <a:endParaRPr lang="ar-SA" sz="18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r" rtl="1" fontAlgn="b"/>
                      <a:r>
                        <a:rPr lang="ar-SA" sz="1600" u="none" strike="noStrike" dirty="0">
                          <a:effectLst/>
                        </a:rPr>
                        <a:t>الرمز الفريد لمؤشر الأداء</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u="none" strike="noStrike" dirty="0">
                          <a:effectLst/>
                        </a:rPr>
                        <a:t>أحرف و/أو أرقام</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2177790647"/>
                  </a:ext>
                </a:extLst>
              </a:tr>
              <a:tr h="548640">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ctr"/>
                </a:tc>
                <a:tc>
                  <a:txBody>
                    <a:bodyPr/>
                    <a:lstStyle/>
                    <a:p>
                      <a:pPr algn="r" rtl="1" fontAlgn="b"/>
                      <a:r>
                        <a:rPr lang="ar-SA" sz="1600" u="none" strike="noStrike" dirty="0">
                          <a:effectLst/>
                        </a:rPr>
                        <a:t>اسم المؤشر</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u="none" strike="noStrike">
                          <a:effectLst/>
                        </a:rPr>
                        <a:t>نص</a:t>
                      </a:r>
                      <a:endParaRPr lang="ar-SA" sz="1600" b="0" i="0" u="none" strike="noStrike">
                        <a:solidFill>
                          <a:srgbClr val="000000"/>
                        </a:solidFill>
                        <a:effectLst/>
                        <a:latin typeface="Calibri" panose="020F0502020204030204" pitchFamily="34" charset="0"/>
                      </a:endParaRPr>
                    </a:p>
                  </a:txBody>
                  <a:tcPr marL="137160" marR="137160" marT="137160" marB="137160" anchor="ctr"/>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1426280651"/>
                  </a:ext>
                </a:extLst>
              </a:tr>
              <a:tr h="548640">
                <a:tc>
                  <a:txBody>
                    <a:bodyPr/>
                    <a:lstStyle/>
                    <a:p>
                      <a:pPr algn="ctr" rtl="1" fontAlgn="b"/>
                      <a:r>
                        <a:rPr lang="ar-SA" sz="1800" b="1" i="0" u="none" strike="noStrike" dirty="0">
                          <a:solidFill>
                            <a:srgbClr val="000000"/>
                          </a:solidFill>
                          <a:effectLst/>
                          <a:latin typeface="Calibri" panose="020F0502020204030204" pitchFamily="34" charset="0"/>
                        </a:rPr>
                        <a:t>الوصف</a:t>
                      </a:r>
                    </a:p>
                  </a:txBody>
                  <a:tcPr marL="137160" marR="137160" marT="137160" marB="137160" anchor="ctr"/>
                </a:tc>
                <a:tc>
                  <a:txBody>
                    <a:bodyPr/>
                    <a:lstStyle/>
                    <a:p>
                      <a:pPr algn="r" rtl="1" fontAlgn="b"/>
                      <a:r>
                        <a:rPr lang="ar-SA" sz="1600" u="none" strike="noStrike" dirty="0">
                          <a:effectLst/>
                        </a:rPr>
                        <a:t>وصف موجز للمؤشر</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u="none" strike="noStrike" dirty="0">
                          <a:effectLst/>
                        </a:rPr>
                        <a:t>نص</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marL="0" algn="r" defTabSz="914400" rtl="1" eaLnBrk="1" fontAlgn="b" latinLnBrk="0" hangingPunct="1"/>
                      <a:r>
                        <a:rPr lang="ar-EG" sz="1400" b="0" kern="1200" dirty="0">
                          <a:solidFill>
                            <a:schemeClr val="tx1"/>
                          </a:solidFill>
                          <a:effectLst/>
                          <a:latin typeface="+mn-lt"/>
                          <a:ea typeface="+mn-ea"/>
                          <a:cs typeface="+mn-cs"/>
                        </a:rPr>
                        <a:t>اختياري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220032958"/>
                  </a:ext>
                </a:extLst>
              </a:tr>
              <a:tr h="548640">
                <a:tc>
                  <a:txBody>
                    <a:bodyPr/>
                    <a:lstStyle/>
                    <a:p>
                      <a:pPr algn="ctr" rtl="1" fontAlgn="ctr"/>
                      <a:r>
                        <a:rPr lang="ar-SA" sz="1800" b="1" u="none" strike="noStrike" dirty="0">
                          <a:effectLst/>
                        </a:rPr>
                        <a:t>مستوى المؤشر</a:t>
                      </a:r>
                      <a:endParaRPr lang="ar-SA" sz="18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r" rtl="1" fontAlgn="b"/>
                      <a:r>
                        <a:rPr lang="ar-SA" sz="1600" u="none" strike="noStrike" dirty="0">
                          <a:effectLst/>
                        </a:rPr>
                        <a:t>تحديد المستوى الذي يعمل المؤشر على قياسه (مثل: استراتيجي، تشغيلي)</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u="none" strike="noStrike" dirty="0">
                          <a:effectLst/>
                        </a:rPr>
                        <a:t>قائمة معرّفة مسبقاً</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2719192168"/>
                  </a:ext>
                </a:extLst>
              </a:tr>
              <a:tr h="548640">
                <a:tc>
                  <a:txBody>
                    <a:bodyPr/>
                    <a:lstStyle/>
                    <a:p>
                      <a:pPr algn="ctr" rtl="1" fontAlgn="ctr"/>
                      <a:r>
                        <a:rPr lang="ar-SA" sz="1800" b="1" u="none" strike="noStrike" dirty="0">
                          <a:effectLst/>
                        </a:rPr>
                        <a:t>معادلة الاحتساب</a:t>
                      </a:r>
                      <a:endParaRPr lang="ar-SA" sz="18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r" rtl="1" fontAlgn="b"/>
                      <a:r>
                        <a:rPr lang="ar-SA" sz="1600" u="none" strike="noStrike" dirty="0">
                          <a:effectLst/>
                        </a:rPr>
                        <a:t>معادلة احتساب المؤشر</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u="none" strike="noStrike" dirty="0">
                          <a:effectLst/>
                        </a:rPr>
                        <a:t>نص</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3256083373"/>
                  </a:ext>
                </a:extLst>
              </a:tr>
              <a:tr h="548640">
                <a:tc>
                  <a:txBody>
                    <a:bodyPr/>
                    <a:lstStyle/>
                    <a:p>
                      <a:pPr algn="ctr" rtl="1" fontAlgn="ctr"/>
                      <a:r>
                        <a:rPr lang="ar-SA" sz="1800" b="1" u="none" strike="noStrike" dirty="0">
                          <a:effectLst/>
                        </a:rPr>
                        <a:t>دورية القياس</a:t>
                      </a:r>
                      <a:endParaRPr lang="ar-SA" sz="18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r" rtl="1" fontAlgn="b"/>
                      <a:r>
                        <a:rPr lang="ar-SA" sz="1600" u="none" strike="noStrike" dirty="0">
                          <a:effectLst/>
                        </a:rPr>
                        <a:t>تحديد الفترة التي يتم فيها قياس المؤشر (مثل: يومي، شهري، ربع سنوي)</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u="none" strike="noStrike" dirty="0">
                          <a:effectLst/>
                        </a:rPr>
                        <a:t>قائمة معرّفة مسبقاً</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653200319"/>
                  </a:ext>
                </a:extLst>
              </a:tr>
              <a:tr h="548640">
                <a:tc>
                  <a:txBody>
                    <a:bodyPr/>
                    <a:lstStyle/>
                    <a:p>
                      <a:pPr algn="ctr" rtl="1" fontAlgn="b"/>
                      <a:r>
                        <a:rPr lang="ar-SA" sz="1800" b="1" u="none" strike="noStrike" dirty="0">
                          <a:effectLst/>
                        </a:rPr>
                        <a:t>وحدة القياس</a:t>
                      </a:r>
                      <a:endParaRPr lang="ar-SA" sz="1800" b="1"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u="none" strike="noStrike" dirty="0">
                          <a:effectLst/>
                        </a:rPr>
                        <a:t>تحديد الوحدة التي يتم بها احتساب قيمة المؤشر (مثل: نسبة مئوية، عدد)</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u="none" strike="noStrike" dirty="0">
                          <a:effectLst/>
                        </a:rPr>
                        <a:t>قائمة معرّفة مسبقاً</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1996831406"/>
                  </a:ext>
                </a:extLst>
              </a:tr>
              <a:tr h="548640">
                <a:tc>
                  <a:txBody>
                    <a:bodyPr/>
                    <a:lstStyle/>
                    <a:p>
                      <a:pPr algn="ctr" rtl="1" fontAlgn="b"/>
                      <a:r>
                        <a:rPr lang="ar-SA" sz="1800" b="1" u="none" strike="noStrike" dirty="0">
                          <a:effectLst/>
                        </a:rPr>
                        <a:t>القيمة المستهدفة</a:t>
                      </a:r>
                      <a:endParaRPr lang="ar-SA" sz="1800" b="1"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u="none" strike="noStrike" dirty="0">
                          <a:effectLst/>
                        </a:rPr>
                        <a:t>تحديد القيمة المستهدفة</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u="none" strike="noStrike" dirty="0">
                          <a:effectLst/>
                        </a:rPr>
                        <a:t>رقم</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3597103163"/>
                  </a:ext>
                </a:extLst>
              </a:tr>
            </a:tbl>
          </a:graphicData>
        </a:graphic>
      </p:graphicFrame>
    </p:spTree>
    <p:extLst>
      <p:ext uri="{BB962C8B-B14F-4D97-AF65-F5344CB8AC3E}">
        <p14:creationId xmlns:p14="http://schemas.microsoft.com/office/powerpoint/2010/main" val="24694458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DF957-9E7C-664D-7E33-9FBAEC18680D}"/>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7F3D56ED-1613-D7D3-AC55-1E95A5C86B52}"/>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27</a:t>
            </a:fld>
            <a:endParaRPr lang="en-US"/>
          </a:p>
        </p:txBody>
      </p:sp>
      <p:sp>
        <p:nvSpPr>
          <p:cNvPr id="2" name="Title 1">
            <a:extLst>
              <a:ext uri="{FF2B5EF4-FFF2-40B4-BE49-F238E27FC236}">
                <a16:creationId xmlns:a16="http://schemas.microsoft.com/office/drawing/2014/main" id="{E751C294-5985-6960-9BF6-7DEF9C5466CA}"/>
              </a:ext>
            </a:extLst>
          </p:cNvPr>
          <p:cNvSpPr txBox="1">
            <a:spLocks/>
          </p:cNvSpPr>
          <p:nvPr/>
        </p:nvSpPr>
        <p:spPr>
          <a:xfrm>
            <a:off x="625930" y="365130"/>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sz="2800" dirty="0"/>
              <a:t>مكونات "</a:t>
            </a:r>
            <a:r>
              <a:rPr lang="ar-SA" sz="2800" dirty="0"/>
              <a:t> الموائمة الاستراتيجية </a:t>
            </a:r>
            <a:r>
              <a:rPr lang="ar-EG" sz="2800" dirty="0"/>
              <a:t>" - </a:t>
            </a:r>
            <a:r>
              <a:rPr lang="en-US" dirty="0"/>
              <a:t>تفصيل سمات </a:t>
            </a:r>
            <a:r>
              <a:rPr lang="ar-SA" dirty="0"/>
              <a:t>وحدة </a:t>
            </a:r>
            <a:r>
              <a:rPr lang="ar-EG" dirty="0"/>
              <a:t>ال</a:t>
            </a:r>
            <a:r>
              <a:rPr lang="ar-SA" dirty="0"/>
              <a:t>بناء "فجوة"</a:t>
            </a:r>
            <a:endParaRPr lang="en-US" dirty="0"/>
          </a:p>
        </p:txBody>
      </p:sp>
      <p:graphicFrame>
        <p:nvGraphicFramePr>
          <p:cNvPr id="4" name="Table 3">
            <a:extLst>
              <a:ext uri="{FF2B5EF4-FFF2-40B4-BE49-F238E27FC236}">
                <a16:creationId xmlns:a16="http://schemas.microsoft.com/office/drawing/2014/main" id="{6380517C-B03E-E8D6-C58E-8187CA961939}"/>
              </a:ext>
            </a:extLst>
          </p:cNvPr>
          <p:cNvGraphicFramePr>
            <a:graphicFrameLocks noGrp="1"/>
          </p:cNvGraphicFramePr>
          <p:nvPr>
            <p:extLst>
              <p:ext uri="{D42A27DB-BD31-4B8C-83A1-F6EECF244321}">
                <p14:modId xmlns:p14="http://schemas.microsoft.com/office/powerpoint/2010/main" val="1608340812"/>
              </p:ext>
            </p:extLst>
          </p:nvPr>
        </p:nvGraphicFramePr>
        <p:xfrm>
          <a:off x="506187" y="906205"/>
          <a:ext cx="11293928" cy="5588508"/>
        </p:xfrm>
        <a:graphic>
          <a:graphicData uri="http://schemas.openxmlformats.org/drawingml/2006/table">
            <a:tbl>
              <a:tblPr rtl="1" firstRow="1" bandRow="1">
                <a:tableStyleId>{5C22544A-7EE6-4342-B048-85BDC9FD1C3A}</a:tableStyleId>
              </a:tblPr>
              <a:tblGrid>
                <a:gridCol w="1905611">
                  <a:extLst>
                    <a:ext uri="{9D8B030D-6E8A-4147-A177-3AD203B41FA5}">
                      <a16:colId xmlns:a16="http://schemas.microsoft.com/office/drawing/2014/main" val="2853404558"/>
                    </a:ext>
                  </a:extLst>
                </a:gridCol>
                <a:gridCol w="6857389">
                  <a:extLst>
                    <a:ext uri="{9D8B030D-6E8A-4147-A177-3AD203B41FA5}">
                      <a16:colId xmlns:a16="http://schemas.microsoft.com/office/drawing/2014/main" val="1866450976"/>
                    </a:ext>
                  </a:extLst>
                </a:gridCol>
                <a:gridCol w="1404257">
                  <a:extLst>
                    <a:ext uri="{9D8B030D-6E8A-4147-A177-3AD203B41FA5}">
                      <a16:colId xmlns:a16="http://schemas.microsoft.com/office/drawing/2014/main" val="751160629"/>
                    </a:ext>
                  </a:extLst>
                </a:gridCol>
                <a:gridCol w="1126671">
                  <a:extLst>
                    <a:ext uri="{9D8B030D-6E8A-4147-A177-3AD203B41FA5}">
                      <a16:colId xmlns:a16="http://schemas.microsoft.com/office/drawing/2014/main" val="1889013239"/>
                    </a:ext>
                  </a:extLst>
                </a:gridCol>
              </a:tblGrid>
              <a:tr h="303402">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السمة</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وصف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نوع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0" marR="0" marT="0" marB="0" anchor="b"/>
                </a:tc>
                <a:tc>
                  <a:txBody>
                    <a:bodyPr/>
                    <a:lstStyle/>
                    <a:p>
                      <a:pPr marL="0" algn="ctr" defTabSz="914400" rtl="1" eaLnBrk="1" fontAlgn="ctr" latinLnBrk="0" hangingPunct="1">
                        <a:lnSpc>
                          <a:spcPct val="115000"/>
                        </a:lnSpc>
                        <a:spcAft>
                          <a:spcPts val="0"/>
                        </a:spcAft>
                      </a:pPr>
                      <a:r>
                        <a:rPr lang="ar-SA" sz="1800" b="1" kern="1200" dirty="0">
                          <a:solidFill>
                            <a:schemeClr val="bg1"/>
                          </a:solidFill>
                          <a:effectLst/>
                          <a:latin typeface="+mn-lt"/>
                          <a:ea typeface="+mn-ea"/>
                          <a:cs typeface="+mn-cs"/>
                        </a:rPr>
                        <a:t>الزامية التوثيق</a:t>
                      </a:r>
                    </a:p>
                  </a:txBody>
                  <a:tcPr marL="0" marR="0" marT="0" marB="0" anchor="b"/>
                </a:tc>
                <a:extLst>
                  <a:ext uri="{0D108BD9-81ED-4DB2-BD59-A6C34878D82A}">
                    <a16:rowId xmlns:a16="http://schemas.microsoft.com/office/drawing/2014/main" val="2998368315"/>
                  </a:ext>
                </a:extLst>
              </a:tr>
              <a:tr h="365760">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الرمز</a:t>
                      </a: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الرمز الفريد للفجوة</a:t>
                      </a: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أحرف وأرقام</a:t>
                      </a:r>
                    </a:p>
                  </a:txBody>
                  <a:tcPr anchor="ctr"/>
                </a:tc>
                <a:tc>
                  <a:txBody>
                    <a:bodyPr/>
                    <a:lstStyle/>
                    <a:p>
                      <a:pPr marL="0" algn="r" defTabSz="914400" rtl="1" eaLnBrk="1" fontAlgn="b" latinLnBrk="0" hangingPunct="1"/>
                      <a:r>
                        <a:rPr lang="ar-EG" sz="1200" b="0" kern="1200" dirty="0">
                          <a:solidFill>
                            <a:schemeClr val="tx1"/>
                          </a:solidFill>
                          <a:effectLst/>
                          <a:latin typeface="+mn-lt"/>
                          <a:ea typeface="+mn-ea"/>
                          <a:cs typeface="+mn-cs"/>
                        </a:rPr>
                        <a:t>الزامي</a:t>
                      </a:r>
                      <a:endParaRPr lang="ar-SA" sz="1200" b="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2177790647"/>
                  </a:ext>
                </a:extLst>
              </a:tr>
              <a:tr h="365760">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الاسم</a:t>
                      </a: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يمثل اسم الفجوة الذي يصفها بشكل مختصر</a:t>
                      </a:r>
                    </a:p>
                  </a:txBody>
                  <a:tcPr anchor="ctr"/>
                </a:tc>
                <a:tc>
                  <a:txBody>
                    <a:bodyPr/>
                    <a:lstStyle/>
                    <a:p>
                      <a:pPr algn="r" rtl="1" fontAlgn="b"/>
                      <a:r>
                        <a:rPr lang="ar-SA" sz="1600" b="0" i="0" u="none" strike="noStrike" baseline="0">
                          <a:solidFill>
                            <a:srgbClr val="000000"/>
                          </a:solidFill>
                          <a:effectLst/>
                          <a:latin typeface="Sakkal Majalla" panose="02000000000000000000" pitchFamily="2" charset="-78"/>
                          <a:cs typeface="Sakkal Majalla" panose="02000000000000000000" pitchFamily="2" charset="-78"/>
                        </a:rPr>
                        <a:t>نص</a:t>
                      </a:r>
                    </a:p>
                  </a:txBody>
                  <a:tcPr anchor="ctr"/>
                </a:tc>
                <a:tc>
                  <a:txBody>
                    <a:bodyPr/>
                    <a:lstStyle/>
                    <a:p>
                      <a:pPr marL="0" algn="r" defTabSz="914400" rtl="1" eaLnBrk="1" fontAlgn="b" latinLnBrk="0" hangingPunct="1"/>
                      <a:r>
                        <a:rPr lang="ar-EG" sz="1200" b="0" kern="1200" dirty="0">
                          <a:solidFill>
                            <a:schemeClr val="tx1"/>
                          </a:solidFill>
                          <a:effectLst/>
                          <a:latin typeface="+mn-lt"/>
                          <a:ea typeface="+mn-ea"/>
                          <a:cs typeface="+mn-cs"/>
                        </a:rPr>
                        <a:t>الزامي</a:t>
                      </a:r>
                      <a:endParaRPr lang="ar-SA" sz="1200" b="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3795891314"/>
                  </a:ext>
                </a:extLst>
              </a:tr>
              <a:tr h="365760">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الوصف</a:t>
                      </a: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وصف الفجوة وتفاصيل الفرق بين الوضع الحالي والوضع المستهدف</a:t>
                      </a: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p>
                  </a:txBody>
                  <a:tcPr anchor="ctr"/>
                </a:tc>
                <a:tc>
                  <a:txBody>
                    <a:bodyPr/>
                    <a:lstStyle/>
                    <a:p>
                      <a:pPr marL="0" algn="r" defTabSz="914400" rtl="1" eaLnBrk="1" fontAlgn="b" latinLnBrk="0" hangingPunct="1"/>
                      <a:r>
                        <a:rPr lang="ar-EG" sz="1200" b="0" kern="1200" dirty="0">
                          <a:solidFill>
                            <a:schemeClr val="tx1"/>
                          </a:solidFill>
                          <a:effectLst/>
                          <a:latin typeface="+mn-lt"/>
                          <a:ea typeface="+mn-ea"/>
                          <a:cs typeface="+mn-cs"/>
                        </a:rPr>
                        <a:t>الزامي</a:t>
                      </a:r>
                      <a:endParaRPr lang="ar-SA" sz="1200" b="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1468906867"/>
                  </a:ext>
                </a:extLst>
              </a:tr>
              <a:tr h="365760">
                <a:tc>
                  <a:txBody>
                    <a:bodyPr/>
                    <a:lstStyle/>
                    <a:p>
                      <a:pPr algn="ctr" rtl="1" fontAlgn="b"/>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المجال</a:t>
                      </a: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تحديد المجال الذي تنتمي إليه الفجوة (مثل: بنية الأعمال، بنية التطبيقات ، التقنية)</a:t>
                      </a: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مسبقًا</a:t>
                      </a:r>
                    </a:p>
                  </a:txBody>
                  <a:tcPr anchor="ctr"/>
                </a:tc>
                <a:tc>
                  <a:txBody>
                    <a:bodyPr/>
                    <a:lstStyle/>
                    <a:p>
                      <a:pPr marL="0" algn="r" defTabSz="914400" rtl="1" eaLnBrk="1" fontAlgn="b" latinLnBrk="0" hangingPunct="1"/>
                      <a:r>
                        <a:rPr lang="ar-EG" sz="1200" b="0" kern="1200" dirty="0">
                          <a:solidFill>
                            <a:schemeClr val="tx1"/>
                          </a:solidFill>
                          <a:effectLst/>
                          <a:latin typeface="+mn-lt"/>
                          <a:ea typeface="+mn-ea"/>
                          <a:cs typeface="+mn-cs"/>
                        </a:rPr>
                        <a:t>الزامي</a:t>
                      </a:r>
                      <a:endParaRPr lang="ar-SA" sz="1200" b="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1426280651"/>
                  </a:ext>
                </a:extLst>
              </a:tr>
              <a:tr h="365760">
                <a:tc>
                  <a:txBody>
                    <a:bodyPr/>
                    <a:lstStyle/>
                    <a:p>
                      <a:pPr algn="ctr" rtl="1" fontAlgn="b"/>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الأثر  الحالي</a:t>
                      </a: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وصف الأثر الحالي للفجوة</a:t>
                      </a:r>
                    </a:p>
                  </a:txBody>
                  <a:tcPr anchor="ctr"/>
                </a:tc>
                <a:tc>
                  <a:txBody>
                    <a:bodyPr/>
                    <a:lstStyle/>
                    <a:p>
                      <a:pPr algn="r" rtl="1" fontAlgn="b"/>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نص</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algn="r" defTabSz="914400" rtl="1" eaLnBrk="1" fontAlgn="b" latinLnBrk="0" hangingPunct="1"/>
                      <a:r>
                        <a:rPr lang="ar-EG" sz="1200" b="0" kern="1200" dirty="0">
                          <a:solidFill>
                            <a:schemeClr val="tx1"/>
                          </a:solidFill>
                          <a:effectLst/>
                          <a:latin typeface="+mn-lt"/>
                          <a:ea typeface="+mn-ea"/>
                          <a:cs typeface="+mn-cs"/>
                        </a:rPr>
                        <a:t>اختياري</a:t>
                      </a:r>
                      <a:endParaRPr lang="ar-SA" sz="1200" b="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220032958"/>
                  </a:ext>
                </a:extLst>
              </a:tr>
              <a:tr h="365760">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lang="ar-EG" sz="1800" b="1" i="0" u="none" strike="noStrike" kern="1200" baseline="0" noProof="0" dirty="0">
                          <a:solidFill>
                            <a:srgbClr val="000000"/>
                          </a:solidFill>
                          <a:effectLst/>
                          <a:latin typeface="Sakkal Majalla" panose="02000000000000000000" pitchFamily="2" charset="-78"/>
                          <a:ea typeface="+mn-ea"/>
                          <a:cs typeface="Sakkal Majalla" panose="02000000000000000000" pitchFamily="2" charset="-78"/>
                        </a:rPr>
                        <a:t>الأثر بعد الردم</a:t>
                      </a:r>
                      <a:r>
                        <a:rPr lang="ar-SA" sz="1800" b="1" i="0" u="none" strike="noStrike" kern="1200" baseline="0" noProof="0" dirty="0">
                          <a:solidFill>
                            <a:srgbClr val="000000"/>
                          </a:solidFill>
                          <a:effectLst/>
                          <a:latin typeface="Sakkal Majalla" panose="02000000000000000000" pitchFamily="2" charset="-78"/>
                          <a:ea typeface="+mn-ea"/>
                          <a:cs typeface="Sakkal Majalla" panose="02000000000000000000" pitchFamily="2" charset="-78"/>
                        </a:rPr>
                        <a:t> (المعالجة)</a:t>
                      </a: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وصف الأثر بعد ردم الفجوة</a:t>
                      </a:r>
                    </a:p>
                  </a:txBody>
                  <a:tcPr anchor="ctr"/>
                </a:tc>
                <a:tc>
                  <a:txBody>
                    <a:bodyPr/>
                    <a:lstStyle/>
                    <a:p>
                      <a:pPr algn="r" rtl="1" fontAlgn="b"/>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نص</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algn="r" defTabSz="914400" rtl="1" eaLnBrk="1" fontAlgn="b" latinLnBrk="0" hangingPunct="1"/>
                      <a:r>
                        <a:rPr lang="ar-EG" sz="1200" b="0" kern="1200" dirty="0">
                          <a:solidFill>
                            <a:schemeClr val="tx1"/>
                          </a:solidFill>
                          <a:effectLst/>
                          <a:latin typeface="+mn-lt"/>
                          <a:ea typeface="+mn-ea"/>
                          <a:cs typeface="+mn-cs"/>
                        </a:rPr>
                        <a:t>اختياري</a:t>
                      </a:r>
                      <a:endParaRPr lang="ar-SA" sz="1200" b="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2719192168"/>
                  </a:ext>
                </a:extLst>
              </a:tr>
              <a:tr h="365760">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lang="ar-EG" sz="1800" b="1" i="0" u="none" strike="noStrike" kern="1200" baseline="0" noProof="0" dirty="0">
                          <a:solidFill>
                            <a:srgbClr val="000000"/>
                          </a:solidFill>
                          <a:effectLst/>
                          <a:latin typeface="Sakkal Majalla" panose="02000000000000000000" pitchFamily="2" charset="-78"/>
                          <a:ea typeface="+mn-ea"/>
                          <a:cs typeface="Sakkal Majalla" panose="02000000000000000000" pitchFamily="2" charset="-78"/>
                        </a:rPr>
                        <a:t>تغطية الفجوة</a:t>
                      </a:r>
                      <a:r>
                        <a:rPr lang="ar-SA" sz="1800" b="1" i="0" u="none" strike="noStrike" kern="1200" baseline="0" noProof="0" dirty="0">
                          <a:solidFill>
                            <a:srgbClr val="000000"/>
                          </a:solidFill>
                          <a:effectLst/>
                          <a:latin typeface="Sakkal Majalla" panose="02000000000000000000" pitchFamily="2" charset="-78"/>
                          <a:ea typeface="+mn-ea"/>
                          <a:cs typeface="Sakkal Majalla" panose="02000000000000000000" pitchFamily="2" charset="-78"/>
                        </a:rPr>
                        <a:t> </a:t>
                      </a:r>
                    </a:p>
                  </a:txBody>
                  <a:tcPr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وصف كيفية يتم تغطية الفجوة</a:t>
                      </a:r>
                    </a:p>
                  </a:txBody>
                  <a:tcPr anchor="ctr"/>
                </a:tc>
                <a:tc>
                  <a:txBody>
                    <a:bodyPr/>
                    <a:lstStyle/>
                    <a:p>
                      <a:pPr algn="r" rtl="1" fontAlgn="b"/>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نص</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algn="r" defTabSz="914400" rtl="1" eaLnBrk="1" fontAlgn="b" latinLnBrk="0" hangingPunct="1"/>
                      <a:r>
                        <a:rPr lang="ar-EG" sz="1200" b="0" kern="1200" dirty="0">
                          <a:solidFill>
                            <a:schemeClr val="tx1"/>
                          </a:solidFill>
                          <a:effectLst/>
                          <a:latin typeface="+mn-lt"/>
                          <a:ea typeface="+mn-ea"/>
                          <a:cs typeface="+mn-cs"/>
                        </a:rPr>
                        <a:t>الزامي</a:t>
                      </a:r>
                      <a:endParaRPr lang="ar-SA" sz="1200" b="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3256083373"/>
                  </a:ext>
                </a:extLst>
              </a:tr>
              <a:tr h="365760">
                <a:tc>
                  <a:txBody>
                    <a:bodyPr/>
                    <a:lstStyle/>
                    <a:p>
                      <a:pPr algn="ctr" rtl="1" fontAlgn="b"/>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الأولوية</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aseline="0" dirty="0">
                          <a:latin typeface="Sakkal Majalla" panose="02000000000000000000" pitchFamily="2" charset="-78"/>
                          <a:cs typeface="Sakkal Majalla" panose="02000000000000000000" pitchFamily="2" charset="-78"/>
                        </a:rPr>
                        <a:t>تعني الدرجة التي يجب منحها لفجوة محددة في بنية الأعمال مقارنةً بالفجوات الأخرى. على سبيل المثال، إذا كان لديك فجوتان في بنية الأعمال: الأولى هي عدم وجود توثيق للإجراءات، والثانية هي عدم توفر تقارير إحصائية . إذا كان عدم وجود توثيق للإجراءات  يؤدي إلى تأثير أكبر على أعمال </a:t>
                      </a:r>
                      <a:r>
                        <a:rPr lang="ar-EG" sz="1600" baseline="0" dirty="0">
                          <a:latin typeface="Sakkal Majalla" panose="02000000000000000000" pitchFamily="2" charset="-78"/>
                          <a:cs typeface="Sakkal Majalla" panose="02000000000000000000" pitchFamily="2" charset="-78"/>
                        </a:rPr>
                        <a:t>الهيئة</a:t>
                      </a:r>
                      <a:r>
                        <a:rPr lang="ar-SA" sz="1600" baseline="0" dirty="0">
                          <a:latin typeface="Sakkal Majalla" panose="02000000000000000000" pitchFamily="2" charset="-78"/>
                          <a:cs typeface="Sakkal Majalla" panose="02000000000000000000" pitchFamily="2" charset="-78"/>
                        </a:rPr>
                        <a:t> بشكل عام، فإن هذه الفجوة تحتل مكانة أولوية أعلى بالمقارنة بفجوة عدم توفر تقارير إحصائية ، حيث يوجد 3 مستويات (</a:t>
                      </a:r>
                      <a:r>
                        <a:rPr lang="ar-SA" sz="1600" b="1" baseline="0" dirty="0">
                          <a:latin typeface="Sakkal Majalla" panose="02000000000000000000" pitchFamily="2" charset="-78"/>
                          <a:cs typeface="Sakkal Majalla" panose="02000000000000000000" pitchFamily="2" charset="-78"/>
                        </a:rPr>
                        <a:t>عالي ، متوسط ، منخفض</a:t>
                      </a:r>
                      <a:r>
                        <a:rPr lang="ar-SA" sz="1600" baseline="0" dirty="0">
                          <a:latin typeface="Sakkal Majalla" panose="02000000000000000000" pitchFamily="2" charset="-78"/>
                          <a:cs typeface="Sakkal Majalla" panose="02000000000000000000" pitchFamily="2" charset="-78"/>
                        </a:rPr>
                        <a:t>) </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قائمة معرفة مسبقًا</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200" b="0" kern="1200" dirty="0">
                          <a:solidFill>
                            <a:schemeClr val="tx1"/>
                          </a:solidFill>
                          <a:effectLst/>
                          <a:latin typeface="+mn-lt"/>
                          <a:ea typeface="+mn-ea"/>
                          <a:cs typeface="+mn-cs"/>
                        </a:rPr>
                        <a:t>اختياري</a:t>
                      </a:r>
                      <a:endParaRPr lang="ar-SA" sz="1200" b="0" kern="1200" noProof="0" dirty="0">
                        <a:solidFill>
                          <a:schemeClr val="tx1"/>
                        </a:solidFill>
                        <a:effectLst/>
                        <a:latin typeface="+mn-lt"/>
                        <a:ea typeface="+mn-ea"/>
                        <a:cs typeface="+mn-cs"/>
                      </a:endParaRPr>
                    </a:p>
                  </a:txBody>
                  <a:tcPr anchor="ctr"/>
                </a:tc>
                <a:extLst>
                  <a:ext uri="{0D108BD9-81ED-4DB2-BD59-A6C34878D82A}">
                    <a16:rowId xmlns:a16="http://schemas.microsoft.com/office/drawing/2014/main" val="653200319"/>
                  </a:ext>
                </a:extLst>
              </a:tr>
              <a:tr h="365760">
                <a:tc>
                  <a:txBody>
                    <a:bodyPr/>
                    <a:lstStyle/>
                    <a:p>
                      <a:pPr algn="ctr" rtl="1" fontAlgn="b"/>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الأهمية</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aseline="0" dirty="0">
                          <a:latin typeface="Sakkal Majalla" panose="02000000000000000000" pitchFamily="2" charset="-78"/>
                          <a:cs typeface="Sakkal Majalla" panose="02000000000000000000" pitchFamily="2" charset="-78"/>
                        </a:rPr>
                        <a:t>تعني درجة الأهمية العامة لفجوة معينة في بنية الأعمال. على سبيل المثال، إذا كان لا يوجد توثيق للإجراءات بشكل كامل وموحد ، فإن هذا يمثل فجوة مهمة في بنية الأعمال، حيث يؤثر سلبًا على فهم وتطبيق الإجراءات وقد يؤدي إلى </a:t>
                      </a:r>
                      <a:r>
                        <a:rPr lang="ar-EG" sz="1600" baseline="0" dirty="0">
                          <a:latin typeface="Sakkal Majalla" panose="02000000000000000000" pitchFamily="2" charset="-78"/>
                          <a:cs typeface="Sakkal Majalla" panose="02000000000000000000" pitchFamily="2" charset="-78"/>
                        </a:rPr>
                        <a:t>خلل </a:t>
                      </a:r>
                      <a:r>
                        <a:rPr lang="ar-SA" sz="1600" baseline="0" dirty="0">
                          <a:latin typeface="Sakkal Majalla" panose="02000000000000000000" pitchFamily="2" charset="-78"/>
                          <a:cs typeface="Sakkal Majalla" panose="02000000000000000000" pitchFamily="2" charset="-78"/>
                        </a:rPr>
                        <a:t>تنفيذ </a:t>
                      </a:r>
                      <a:r>
                        <a:rPr lang="ar-EG" sz="1600" baseline="0" dirty="0">
                          <a:latin typeface="Sakkal Majalla" panose="02000000000000000000" pitchFamily="2" charset="-78"/>
                          <a:cs typeface="Sakkal Majalla" panose="02000000000000000000" pitchFamily="2" charset="-78"/>
                        </a:rPr>
                        <a:t>ووضوح</a:t>
                      </a:r>
                      <a:r>
                        <a:rPr lang="ar-SA" sz="1600" baseline="0" dirty="0">
                          <a:latin typeface="Sakkal Majalla" panose="02000000000000000000" pitchFamily="2" charset="-78"/>
                          <a:cs typeface="Sakkal Majalla" panose="02000000000000000000" pitchFamily="2" charset="-78"/>
                        </a:rPr>
                        <a:t> تلك الإجراءات. بالتالي، تحتل هذه الفجوة مكانة مهمة وعالية في درجة الأهمية، ، حيث يوجد 3 مستويات (</a:t>
                      </a:r>
                      <a:r>
                        <a:rPr lang="ar-SA" sz="1600" b="1" baseline="0" dirty="0">
                          <a:latin typeface="Sakkal Majalla" panose="02000000000000000000" pitchFamily="2" charset="-78"/>
                          <a:cs typeface="Sakkal Majalla" panose="02000000000000000000" pitchFamily="2" charset="-78"/>
                        </a:rPr>
                        <a:t>عالي ، متوسط ، منخفض</a:t>
                      </a:r>
                      <a:r>
                        <a:rPr lang="ar-SA" sz="1600" baseline="0" dirty="0">
                          <a:latin typeface="Sakkal Majalla" panose="02000000000000000000" pitchFamily="2" charset="-78"/>
                          <a:cs typeface="Sakkal Majalla" panose="02000000000000000000" pitchFamily="2" charset="-78"/>
                        </a:rPr>
                        <a:t>) </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قائمة معرفة مسبقًا</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200" b="0" kern="1200" noProof="0" dirty="0">
                          <a:solidFill>
                            <a:schemeClr val="tx1"/>
                          </a:solidFill>
                          <a:effectLst/>
                          <a:latin typeface="+mn-lt"/>
                          <a:ea typeface="+mn-ea"/>
                          <a:cs typeface="+mn-cs"/>
                        </a:rPr>
                        <a:t>اختياري</a:t>
                      </a:r>
                      <a:endParaRPr lang="ar-SA" sz="1200" b="0" kern="1200" noProof="0" dirty="0">
                        <a:solidFill>
                          <a:schemeClr val="tx1"/>
                        </a:solidFill>
                        <a:effectLst/>
                        <a:latin typeface="+mn-lt"/>
                        <a:ea typeface="+mn-ea"/>
                        <a:cs typeface="+mn-cs"/>
                      </a:endParaRPr>
                    </a:p>
                  </a:txBody>
                  <a:tcPr anchor="ctr"/>
                </a:tc>
                <a:extLst>
                  <a:ext uri="{0D108BD9-81ED-4DB2-BD59-A6C34878D82A}">
                    <a16:rowId xmlns:a16="http://schemas.microsoft.com/office/drawing/2014/main" val="1996831406"/>
                  </a:ext>
                </a:extLst>
              </a:tr>
              <a:tr h="365760">
                <a:tc>
                  <a:txBody>
                    <a:bodyPr/>
                    <a:lstStyle/>
                    <a:p>
                      <a:pPr algn="ctr" rtl="1" fontAlgn="b"/>
                      <a:r>
                        <a:rPr lang="ar-SA" sz="18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المصدر</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مصدر الفجوة مثل </a:t>
                      </a:r>
                      <a:r>
                        <a:rPr lang="ar-SA" sz="1600" baseline="0" noProof="0" dirty="0">
                          <a:latin typeface="Sakkal Majalla" panose="02000000000000000000" pitchFamily="2" charset="-78"/>
                          <a:cs typeface="Sakkal Majalla" panose="02000000000000000000" pitchFamily="2" charset="-78"/>
                        </a:rPr>
                        <a:t>ملف الحصر، دراسة وثائق الأعمال للجهة المتوفرة بالوضع الحالي ، ورش العمل الخاصة بالحصر مع الوحدات الإدارية المعنية ،تطلعات أصحاب المصلحة</a:t>
                      </a:r>
                    </a:p>
                  </a:txBody>
                  <a:tcPr anchor="ctr"/>
                </a:tc>
                <a:tc>
                  <a:txBody>
                    <a:bodyPr/>
                    <a:lstStyle/>
                    <a:p>
                      <a:pPr algn="r" rtl="1" fontAlgn="b"/>
                      <a:r>
                        <a:rPr kumimoji="0" lang="ar-SA" sz="16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نص</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ctr"/>
                </a:tc>
                <a:tc>
                  <a:txBody>
                    <a:bodyPr/>
                    <a:lstStyle/>
                    <a:p>
                      <a:pPr marL="0" algn="r" defTabSz="914400" rtl="1" eaLnBrk="1" fontAlgn="b" latinLnBrk="0" hangingPunct="1"/>
                      <a:r>
                        <a:rPr lang="ar-EG" sz="1200" b="0" kern="1200" dirty="0">
                          <a:solidFill>
                            <a:schemeClr val="tx1"/>
                          </a:solidFill>
                          <a:effectLst/>
                          <a:latin typeface="+mn-lt"/>
                          <a:ea typeface="+mn-ea"/>
                          <a:cs typeface="+mn-cs"/>
                        </a:rPr>
                        <a:t>الزامي</a:t>
                      </a:r>
                      <a:endParaRPr lang="ar-SA" sz="1200" b="0" kern="1200" dirty="0">
                        <a:solidFill>
                          <a:schemeClr val="tx1"/>
                        </a:solidFill>
                        <a:effectLst/>
                        <a:latin typeface="+mn-lt"/>
                        <a:ea typeface="+mn-ea"/>
                        <a:cs typeface="+mn-cs"/>
                      </a:endParaRPr>
                    </a:p>
                  </a:txBody>
                  <a:tcPr anchor="ctr"/>
                </a:tc>
                <a:extLst>
                  <a:ext uri="{0D108BD9-81ED-4DB2-BD59-A6C34878D82A}">
                    <a16:rowId xmlns:a16="http://schemas.microsoft.com/office/drawing/2014/main" val="3597103163"/>
                  </a:ext>
                </a:extLst>
              </a:tr>
            </a:tbl>
          </a:graphicData>
        </a:graphic>
      </p:graphicFrame>
    </p:spTree>
    <p:extLst>
      <p:ext uri="{BB962C8B-B14F-4D97-AF65-F5344CB8AC3E}">
        <p14:creationId xmlns:p14="http://schemas.microsoft.com/office/powerpoint/2010/main" val="9071915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28</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sz="2800" dirty="0"/>
              <a:t>مكونات "</a:t>
            </a:r>
            <a:r>
              <a:rPr lang="ar-SA" sz="2800" dirty="0"/>
              <a:t> الموائمة الاستراتيجية </a:t>
            </a:r>
            <a:r>
              <a:rPr lang="ar-EG" sz="2800" dirty="0"/>
              <a:t>" -</a:t>
            </a:r>
            <a:r>
              <a:rPr lang="ar-EG" sz="3200" dirty="0"/>
              <a:t> </a:t>
            </a:r>
            <a:r>
              <a:rPr lang="en-US" dirty="0"/>
              <a:t>تفصيل سمات </a:t>
            </a:r>
            <a:r>
              <a:rPr lang="ar-SA" dirty="0"/>
              <a:t>وحدة </a:t>
            </a:r>
            <a:r>
              <a:rPr lang="ar-EG" dirty="0"/>
              <a:t>ال</a:t>
            </a:r>
            <a:r>
              <a:rPr lang="ar-SA" dirty="0"/>
              <a:t>بناء "متطلب"</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1040802775"/>
              </p:ext>
            </p:extLst>
          </p:nvPr>
        </p:nvGraphicFramePr>
        <p:xfrm>
          <a:off x="669477" y="1176294"/>
          <a:ext cx="10804924" cy="4762025"/>
        </p:xfrm>
        <a:graphic>
          <a:graphicData uri="http://schemas.openxmlformats.org/drawingml/2006/table">
            <a:tbl>
              <a:tblPr rtl="1" firstRow="1" bandRow="1">
                <a:tableStyleId>{5C22544A-7EE6-4342-B048-85BDC9FD1C3A}</a:tableStyleId>
              </a:tblPr>
              <a:tblGrid>
                <a:gridCol w="2069139">
                  <a:extLst>
                    <a:ext uri="{9D8B030D-6E8A-4147-A177-3AD203B41FA5}">
                      <a16:colId xmlns:a16="http://schemas.microsoft.com/office/drawing/2014/main" val="2853404558"/>
                    </a:ext>
                  </a:extLst>
                </a:gridCol>
                <a:gridCol w="5910943">
                  <a:extLst>
                    <a:ext uri="{9D8B030D-6E8A-4147-A177-3AD203B41FA5}">
                      <a16:colId xmlns:a16="http://schemas.microsoft.com/office/drawing/2014/main" val="1866450976"/>
                    </a:ext>
                  </a:extLst>
                </a:gridCol>
                <a:gridCol w="1502228">
                  <a:extLst>
                    <a:ext uri="{9D8B030D-6E8A-4147-A177-3AD203B41FA5}">
                      <a16:colId xmlns:a16="http://schemas.microsoft.com/office/drawing/2014/main" val="751160629"/>
                    </a:ext>
                  </a:extLst>
                </a:gridCol>
                <a:gridCol w="1322614">
                  <a:extLst>
                    <a:ext uri="{9D8B030D-6E8A-4147-A177-3AD203B41FA5}">
                      <a16:colId xmlns:a16="http://schemas.microsoft.com/office/drawing/2014/main" val="1706493339"/>
                    </a:ext>
                  </a:extLst>
                </a:gridCol>
              </a:tblGrid>
              <a:tr h="460519">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T="73152" marB="73152"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T="73152" marB="73152"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T="73152" marB="73152" anchor="b"/>
                </a:tc>
                <a:tc>
                  <a:txBody>
                    <a:bodyPr/>
                    <a:lstStyle/>
                    <a:p>
                      <a:pPr marL="0" algn="ctr" defTabSz="914400" rtl="1" eaLnBrk="1" fontAlgn="ctr" latinLnBrk="0" hangingPunct="1">
                        <a:lnSpc>
                          <a:spcPct val="115000"/>
                        </a:lnSpc>
                        <a:spcAft>
                          <a:spcPts val="0"/>
                        </a:spcAft>
                      </a:pPr>
                      <a:r>
                        <a:rPr lang="ar-SA" sz="1800" b="1" kern="1200" dirty="0">
                          <a:solidFill>
                            <a:schemeClr val="bg1"/>
                          </a:solidFill>
                          <a:effectLst/>
                          <a:latin typeface="+mn-lt"/>
                          <a:ea typeface="+mn-ea"/>
                          <a:cs typeface="+mn-cs"/>
                        </a:rPr>
                        <a:t>الزامية التوثيق</a:t>
                      </a:r>
                    </a:p>
                  </a:txBody>
                  <a:tcPr marT="73152" marB="73152" anchor="b"/>
                </a:tc>
                <a:extLst>
                  <a:ext uri="{0D108BD9-81ED-4DB2-BD59-A6C34878D82A}">
                    <a16:rowId xmlns:a16="http://schemas.microsoft.com/office/drawing/2014/main" val="2998368315"/>
                  </a:ext>
                </a:extLst>
              </a:tr>
              <a:tr h="429403">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T="73152" marB="73152" anchor="ctr"/>
                </a:tc>
                <a:tc>
                  <a:txBody>
                    <a:bodyPr/>
                    <a:lstStyle/>
                    <a:p>
                      <a:pPr algn="r" rtl="1" fontAlgn="b"/>
                      <a:r>
                        <a:rPr lang="ar-SA" sz="1600" b="0" i="0" u="none" strike="noStrike" dirty="0">
                          <a:solidFill>
                            <a:srgbClr val="000000"/>
                          </a:solidFill>
                          <a:effectLst/>
                          <a:latin typeface="Calibri" panose="020F0502020204030204" pitchFamily="34" charset="0"/>
                        </a:rPr>
                        <a:t>الرمز الفريد للمتطلب الذي سيتم استخدامه للمتابعة</a:t>
                      </a:r>
                    </a:p>
                  </a:txBody>
                  <a:tcPr marT="73152" marB="73152" anchor="ctr"/>
                </a:tc>
                <a:tc>
                  <a:txBody>
                    <a:bodyPr/>
                    <a:lstStyle/>
                    <a:p>
                      <a:pPr algn="r" rtl="1" fontAlgn="b"/>
                      <a:r>
                        <a:rPr lang="ar-SA" sz="1600" b="0" i="0" u="none" strike="noStrike" dirty="0">
                          <a:solidFill>
                            <a:srgbClr val="000000"/>
                          </a:solidFill>
                          <a:effectLst/>
                          <a:latin typeface="Calibri" panose="020F0502020204030204" pitchFamily="34" charset="0"/>
                        </a:rPr>
                        <a:t>أحرف و/أو أرقام</a:t>
                      </a:r>
                    </a:p>
                  </a:txBody>
                  <a:tcPr marT="73152" marB="73152" anchor="ctr"/>
                </a:tc>
                <a:tc>
                  <a:txBody>
                    <a:bodyPr/>
                    <a:lstStyle/>
                    <a:p>
                      <a:pPr algn="r" rtl="1" fontAlgn="b"/>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T="73152" marB="73152" anchor="ctr"/>
                </a:tc>
                <a:extLst>
                  <a:ext uri="{0D108BD9-81ED-4DB2-BD59-A6C34878D82A}">
                    <a16:rowId xmlns:a16="http://schemas.microsoft.com/office/drawing/2014/main" val="2177790647"/>
                  </a:ext>
                </a:extLst>
              </a:tr>
              <a:tr h="398287">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اسم المتطلب الذي يصفها بشكل مختصر</a:t>
                      </a:r>
                    </a:p>
                  </a:txBody>
                  <a:tcPr marT="73152" marB="73152"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T="73152" marB="73152" anchor="ctr"/>
                </a:tc>
                <a:tc>
                  <a:txBody>
                    <a:bodyPr/>
                    <a:lstStyle/>
                    <a:p>
                      <a:pPr algn="r" rtl="1" fontAlgn="b"/>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T="73152" marB="73152" anchor="ctr"/>
                </a:tc>
                <a:extLst>
                  <a:ext uri="{0D108BD9-81ED-4DB2-BD59-A6C34878D82A}">
                    <a16:rowId xmlns:a16="http://schemas.microsoft.com/office/drawing/2014/main" val="1426280651"/>
                  </a:ext>
                </a:extLst>
              </a:tr>
              <a:tr h="398287">
                <a:tc>
                  <a:txBody>
                    <a:bodyPr/>
                    <a:lstStyle/>
                    <a:p>
                      <a:pPr algn="ctr" rtl="1" fontAlgn="b"/>
                      <a:r>
                        <a:rPr lang="ar-SA" sz="1800" b="1" i="0" u="none" strike="noStrike" dirty="0">
                          <a:solidFill>
                            <a:srgbClr val="000000"/>
                          </a:solidFill>
                          <a:effectLst/>
                          <a:latin typeface="Calibri" panose="020F0502020204030204" pitchFamily="34" charset="0"/>
                        </a:rPr>
                        <a:t>الوصف</a:t>
                      </a: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شرح المتطلب الذي يصف التحدي الذي يتطلب معالجته من خلال مكونات البنية المؤسسية</a:t>
                      </a:r>
                    </a:p>
                  </a:txBody>
                  <a:tcPr marT="73152" marB="73152"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T="73152" marB="73152" anchor="ctr"/>
                </a:tc>
                <a:tc>
                  <a:txBody>
                    <a:bodyPr/>
                    <a:lstStyle/>
                    <a:p>
                      <a:pPr algn="r" rtl="1" fontAlgn="b"/>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T="73152" marB="73152" anchor="ctr"/>
                </a:tc>
                <a:extLst>
                  <a:ext uri="{0D108BD9-81ED-4DB2-BD59-A6C34878D82A}">
                    <a16:rowId xmlns:a16="http://schemas.microsoft.com/office/drawing/2014/main" val="220032958"/>
                  </a:ext>
                </a:extLst>
              </a:tr>
              <a:tr h="429403">
                <a:tc>
                  <a:txBody>
                    <a:bodyPr/>
                    <a:lstStyle/>
                    <a:p>
                      <a:pPr algn="ctr" rtl="1" fontAlgn="b"/>
                      <a:r>
                        <a:rPr lang="ar-SA" sz="1800" b="1" i="0" u="none" strike="noStrike" dirty="0">
                          <a:solidFill>
                            <a:srgbClr val="000000"/>
                          </a:solidFill>
                          <a:effectLst/>
                          <a:latin typeface="Calibri" panose="020F0502020204030204" pitchFamily="34" charset="0"/>
                        </a:rPr>
                        <a:t>مصدر المتطلب</a:t>
                      </a:r>
                    </a:p>
                  </a:txBody>
                  <a:tcPr marT="73152" marB="73152" anchor="ctr"/>
                </a:tc>
                <a:tc>
                  <a:txBody>
                    <a:bodyPr/>
                    <a:lstStyle/>
                    <a:p>
                      <a:pPr algn="r" rtl="1" fontAlgn="b"/>
                      <a:r>
                        <a:rPr lang="ar-SA" sz="1600" b="0" i="0" u="none" strike="noStrike" dirty="0">
                          <a:solidFill>
                            <a:srgbClr val="000000"/>
                          </a:solidFill>
                          <a:effectLst/>
                          <a:latin typeface="Calibri" panose="020F0502020204030204" pitchFamily="34" charset="0"/>
                        </a:rPr>
                        <a:t>تحديد المصدر الذي نتج عنه هذا المتطلب</a:t>
                      </a:r>
                    </a:p>
                  </a:txBody>
                  <a:tcPr marT="73152" marB="73152"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T="73152" marB="73152" anchor="ctr"/>
                </a:tc>
                <a:tc>
                  <a:txBody>
                    <a:bodyPr/>
                    <a:lstStyle/>
                    <a:p>
                      <a:pPr algn="r" rtl="1" fontAlgn="b"/>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T="73152" marB="73152" anchor="ctr"/>
                </a:tc>
                <a:extLst>
                  <a:ext uri="{0D108BD9-81ED-4DB2-BD59-A6C34878D82A}">
                    <a16:rowId xmlns:a16="http://schemas.microsoft.com/office/drawing/2014/main" val="2719192168"/>
                  </a:ext>
                </a:extLst>
              </a:tr>
              <a:tr h="429403">
                <a:tc>
                  <a:txBody>
                    <a:bodyPr/>
                    <a:lstStyle/>
                    <a:p>
                      <a:pPr algn="ctr" rtl="1" fontAlgn="b"/>
                      <a:r>
                        <a:rPr lang="ar-SA" sz="1800" b="1" i="0" u="none" strike="noStrike" dirty="0">
                          <a:solidFill>
                            <a:srgbClr val="000000"/>
                          </a:solidFill>
                          <a:effectLst/>
                          <a:latin typeface="Calibri" panose="020F0502020204030204" pitchFamily="34" charset="0"/>
                        </a:rPr>
                        <a:t>مجال المتطلب</a:t>
                      </a:r>
                    </a:p>
                  </a:txBody>
                  <a:tcPr marT="73152" marB="73152" anchor="ctr"/>
                </a:tc>
                <a:tc>
                  <a:txBody>
                    <a:bodyPr/>
                    <a:lstStyle/>
                    <a:p>
                      <a:pPr algn="r" rtl="1" fontAlgn="b"/>
                      <a:r>
                        <a:rPr lang="ar-SA" sz="1600" b="0" i="0" u="none" strike="noStrike" dirty="0">
                          <a:solidFill>
                            <a:srgbClr val="000000"/>
                          </a:solidFill>
                          <a:effectLst/>
                          <a:latin typeface="Calibri" panose="020F0502020204030204" pitchFamily="34" charset="0"/>
                        </a:rPr>
                        <a:t>تحديد مجال البنية المؤسسية الرئيسي الذي يرتبط به المتطلب</a:t>
                      </a:r>
                    </a:p>
                  </a:txBody>
                  <a:tcPr marT="73152" marB="73152"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قائمة معرفة مسبقًا</a:t>
                      </a:r>
                    </a:p>
                  </a:txBody>
                  <a:tcPr marT="73152" marB="73152"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T="73152" marB="73152" anchor="ctr"/>
                </a:tc>
                <a:extLst>
                  <a:ext uri="{0D108BD9-81ED-4DB2-BD59-A6C34878D82A}">
                    <a16:rowId xmlns:a16="http://schemas.microsoft.com/office/drawing/2014/main" val="3256083373"/>
                  </a:ext>
                </a:extLst>
              </a:tr>
              <a:tr h="709448">
                <a:tc>
                  <a:txBody>
                    <a:bodyPr/>
                    <a:lstStyle/>
                    <a:p>
                      <a:pPr algn="ctr" rtl="1" fontAlgn="b"/>
                      <a:r>
                        <a:rPr lang="ar-SA" sz="1800" b="1" i="0" u="none" strike="noStrike" dirty="0">
                          <a:solidFill>
                            <a:srgbClr val="000000"/>
                          </a:solidFill>
                          <a:effectLst/>
                          <a:latin typeface="Calibri" panose="020F0502020204030204" pitchFamily="34" charset="0"/>
                        </a:rPr>
                        <a:t>مجالات البنية المؤسسية المتأثرة بالمتطلب</a:t>
                      </a:r>
                    </a:p>
                  </a:txBody>
                  <a:tcPr marT="73152" marB="73152" anchor="ctr"/>
                </a:tc>
                <a:tc>
                  <a:txBody>
                    <a:bodyPr/>
                    <a:lstStyle/>
                    <a:p>
                      <a:pPr algn="r" rtl="1" fontAlgn="b"/>
                      <a:r>
                        <a:rPr lang="ar-SA" sz="1600" b="0" i="0" u="none" strike="noStrike" dirty="0">
                          <a:solidFill>
                            <a:srgbClr val="000000"/>
                          </a:solidFill>
                          <a:effectLst/>
                          <a:latin typeface="Calibri" panose="020F0502020204030204" pitchFamily="34" charset="0"/>
                        </a:rPr>
                        <a:t>مجال/مجالات البنية المؤسسية التي يجب أن يتم تطوير مكوناتها لمعالجة التحدي (وذلك بناء على نتيجة تحليل فريق عمل البنية المؤسسية)</a:t>
                      </a:r>
                    </a:p>
                  </a:txBody>
                  <a:tcPr marT="73152" marB="73152"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قائمة معرفة مسبقًا</a:t>
                      </a:r>
                    </a:p>
                  </a:txBody>
                  <a:tcPr marT="73152" marB="73152"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T="73152" marB="73152" anchor="ctr"/>
                </a:tc>
                <a:extLst>
                  <a:ext uri="{0D108BD9-81ED-4DB2-BD59-A6C34878D82A}">
                    <a16:rowId xmlns:a16="http://schemas.microsoft.com/office/drawing/2014/main" val="1589904935"/>
                  </a:ext>
                </a:extLst>
              </a:tr>
              <a:tr h="429403">
                <a:tc>
                  <a:txBody>
                    <a:bodyPr/>
                    <a:lstStyle/>
                    <a:p>
                      <a:pPr algn="ctr" rtl="1" fontAlgn="b"/>
                      <a:r>
                        <a:rPr lang="ar-SA" sz="1800" b="1" i="0" u="none" strike="noStrike" dirty="0">
                          <a:solidFill>
                            <a:srgbClr val="000000"/>
                          </a:solidFill>
                          <a:effectLst/>
                          <a:latin typeface="Calibri" panose="020F0502020204030204" pitchFamily="34" charset="0"/>
                        </a:rPr>
                        <a:t>المتطلبات ذات العلاقة</a:t>
                      </a:r>
                    </a:p>
                  </a:txBody>
                  <a:tcPr marT="73152" marB="73152" anchor="ctr"/>
                </a:tc>
                <a:tc>
                  <a:txBody>
                    <a:bodyPr/>
                    <a:lstStyle/>
                    <a:p>
                      <a:pPr algn="r" rtl="1" fontAlgn="b"/>
                      <a:r>
                        <a:rPr lang="ar-SA" sz="1600" b="0" i="0" u="none" strike="noStrike" dirty="0">
                          <a:solidFill>
                            <a:srgbClr val="000000"/>
                          </a:solidFill>
                          <a:effectLst/>
                          <a:latin typeface="Calibri" panose="020F0502020204030204" pitchFamily="34" charset="0"/>
                        </a:rPr>
                        <a:t>توضيح رمز / رموز المتطلبات المرتبطة بهذا المتطلب والتي قد تؤثر فيه</a:t>
                      </a:r>
                    </a:p>
                  </a:txBody>
                  <a:tcPr marT="73152" marB="73152" anchor="ctr"/>
                </a:tc>
                <a:tc>
                  <a:txBody>
                    <a:bodyPr/>
                    <a:lstStyle/>
                    <a:p>
                      <a:pPr marL="0" algn="r" defTabSz="914400" rtl="1" eaLnBrk="1" fontAlgn="b" latinLnBrk="0" hangingPunct="1"/>
                      <a:r>
                        <a:rPr lang="ar-EG" sz="1600" u="none" strike="noStrike" kern="1200" dirty="0">
                          <a:solidFill>
                            <a:schemeClr val="dk1"/>
                          </a:solidFill>
                          <a:effectLst/>
                          <a:latin typeface="+mn-lt"/>
                          <a:ea typeface="+mn-ea"/>
                          <a:cs typeface="+mn-cs"/>
                        </a:rPr>
                        <a:t>علاقة ربط</a:t>
                      </a:r>
                      <a:endParaRPr lang="ar-SA" sz="1600" u="none" strike="noStrike" kern="1200" dirty="0">
                        <a:solidFill>
                          <a:schemeClr val="dk1"/>
                        </a:solidFill>
                        <a:effectLst/>
                        <a:latin typeface="+mn-lt"/>
                        <a:ea typeface="+mn-ea"/>
                        <a:cs typeface="+mn-cs"/>
                      </a:endParaRPr>
                    </a:p>
                  </a:txBody>
                  <a:tcPr marT="73152" marB="73152" anchor="ctr"/>
                </a:tc>
                <a:tc>
                  <a:txBody>
                    <a:bodyPr/>
                    <a:lstStyle/>
                    <a:p>
                      <a:pPr marL="0" algn="r" defTabSz="914400" rtl="1" eaLnBrk="1" fontAlgn="b" latinLnBrk="0" hangingPunct="1"/>
                      <a:r>
                        <a:rPr lang="ar-EG" sz="1400" b="0" kern="1200" dirty="0">
                          <a:solidFill>
                            <a:schemeClr val="tx1"/>
                          </a:solidFill>
                          <a:effectLst/>
                          <a:latin typeface="+mn-lt"/>
                          <a:ea typeface="+mn-ea"/>
                          <a:cs typeface="+mn-cs"/>
                        </a:rPr>
                        <a:t>اختيارية</a:t>
                      </a:r>
                      <a:endParaRPr lang="ar-SA" sz="1400" b="0" kern="1200" dirty="0">
                        <a:solidFill>
                          <a:schemeClr val="tx1"/>
                        </a:solidFill>
                        <a:effectLst/>
                        <a:latin typeface="+mn-lt"/>
                        <a:ea typeface="+mn-ea"/>
                        <a:cs typeface="+mn-cs"/>
                      </a:endParaRPr>
                    </a:p>
                  </a:txBody>
                  <a:tcPr marT="73152" marB="73152" anchor="ctr"/>
                </a:tc>
                <a:extLst>
                  <a:ext uri="{0D108BD9-81ED-4DB2-BD59-A6C34878D82A}">
                    <a16:rowId xmlns:a16="http://schemas.microsoft.com/office/drawing/2014/main" val="2527114550"/>
                  </a:ext>
                </a:extLst>
              </a:tr>
              <a:tr h="647216">
                <a:tc>
                  <a:txBody>
                    <a:bodyPr/>
                    <a:lstStyle/>
                    <a:p>
                      <a:pPr algn="ctr" rtl="1" fontAlgn="b"/>
                      <a:r>
                        <a:rPr lang="ar-SA" sz="1800" b="1" i="0" u="none" strike="noStrike" dirty="0">
                          <a:solidFill>
                            <a:srgbClr val="000000"/>
                          </a:solidFill>
                          <a:effectLst/>
                          <a:latin typeface="Calibri" panose="020F0502020204030204" pitchFamily="34" charset="0"/>
                        </a:rPr>
                        <a:t>حالة المتطلب</a:t>
                      </a:r>
                    </a:p>
                  </a:txBody>
                  <a:tcPr marT="73152" marB="73152" anchor="ctr"/>
                </a:tc>
                <a:tc>
                  <a:txBody>
                    <a:bodyPr/>
                    <a:lstStyle/>
                    <a:p>
                      <a:pPr algn="r" rtl="1" fontAlgn="b"/>
                      <a:r>
                        <a:rPr lang="ar-SA" sz="1600" b="0" i="0" u="none" strike="noStrike" dirty="0">
                          <a:solidFill>
                            <a:srgbClr val="000000"/>
                          </a:solidFill>
                          <a:effectLst/>
                          <a:latin typeface="Calibri" panose="020F0502020204030204" pitchFamily="34" charset="0"/>
                        </a:rPr>
                        <a:t>توصيف مدى التقدم في معالجة المتطلب، بحيث تحتمل حالة المتطلب أحد الحالات التالية: معتمد، موقوف، ملغي، مرحلة الوضع الراهن، مرحلة الوضع المستقبلي، مخطط للتنفيذ، قيد التنفيذ، منجز</a:t>
                      </a:r>
                    </a:p>
                  </a:txBody>
                  <a:tcPr marT="73152" marB="73152"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قائمة معرفة مسبقًا</a:t>
                      </a:r>
                    </a:p>
                  </a:txBody>
                  <a:tcPr marT="73152" marB="73152"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T="73152" marB="73152" anchor="ctr"/>
                </a:tc>
                <a:extLst>
                  <a:ext uri="{0D108BD9-81ED-4DB2-BD59-A6C34878D82A}">
                    <a16:rowId xmlns:a16="http://schemas.microsoft.com/office/drawing/2014/main" val="3603808463"/>
                  </a:ext>
                </a:extLst>
              </a:tr>
              <a:tr h="429403">
                <a:tc>
                  <a:txBody>
                    <a:bodyPr/>
                    <a:lstStyle/>
                    <a:p>
                      <a:pPr algn="ctr" rtl="1" fontAlgn="b"/>
                      <a:r>
                        <a:rPr lang="ar-SA" sz="1800" b="1" i="0" u="none" strike="noStrike" dirty="0">
                          <a:solidFill>
                            <a:srgbClr val="000000"/>
                          </a:solidFill>
                          <a:effectLst/>
                          <a:latin typeface="Calibri" panose="020F0502020204030204" pitchFamily="34" charset="0"/>
                        </a:rPr>
                        <a:t>أولوية التنفيذ</a:t>
                      </a:r>
                    </a:p>
                  </a:txBody>
                  <a:tcPr marT="73152" marB="73152" anchor="ctr"/>
                </a:tc>
                <a:tc>
                  <a:txBody>
                    <a:bodyPr/>
                    <a:lstStyle/>
                    <a:p>
                      <a:pPr algn="r" rtl="1" fontAlgn="b"/>
                      <a:r>
                        <a:rPr lang="ar-SA" sz="1600" b="0" i="0" u="none" strike="noStrike" dirty="0">
                          <a:solidFill>
                            <a:srgbClr val="000000"/>
                          </a:solidFill>
                          <a:effectLst/>
                          <a:latin typeface="Calibri" panose="020F0502020204030204" pitchFamily="34" charset="0"/>
                        </a:rPr>
                        <a:t>تحديد درجة أهمية/أولوية معالجة المتطلب (مثل: مرتفع، متوسط، متدني)</a:t>
                      </a:r>
                    </a:p>
                  </a:txBody>
                  <a:tcPr marT="73152" marB="73152"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قائمة معرفة مسبقًا</a:t>
                      </a:r>
                    </a:p>
                  </a:txBody>
                  <a:tcPr marT="73152" marB="73152"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400" b="0" kern="1200" dirty="0">
                          <a:solidFill>
                            <a:schemeClr val="tx1"/>
                          </a:solidFill>
                          <a:effectLst/>
                          <a:latin typeface="+mn-lt"/>
                          <a:ea typeface="+mn-ea"/>
                          <a:cs typeface="+mn-cs"/>
                        </a:rPr>
                        <a:t>اختيارية</a:t>
                      </a:r>
                      <a:endParaRPr lang="ar-SA" sz="1400" b="0" kern="1200" dirty="0">
                        <a:solidFill>
                          <a:schemeClr val="tx1"/>
                        </a:solidFill>
                        <a:effectLst/>
                        <a:latin typeface="+mn-lt"/>
                        <a:ea typeface="+mn-ea"/>
                        <a:cs typeface="+mn-cs"/>
                      </a:endParaRPr>
                    </a:p>
                  </a:txBody>
                  <a:tcPr marT="73152" marB="73152" anchor="ctr"/>
                </a:tc>
                <a:extLst>
                  <a:ext uri="{0D108BD9-81ED-4DB2-BD59-A6C34878D82A}">
                    <a16:rowId xmlns:a16="http://schemas.microsoft.com/office/drawing/2014/main" val="4056626556"/>
                  </a:ext>
                </a:extLst>
              </a:tr>
            </a:tbl>
          </a:graphicData>
        </a:graphic>
      </p:graphicFrame>
    </p:spTree>
    <p:extLst>
      <p:ext uri="{BB962C8B-B14F-4D97-AF65-F5344CB8AC3E}">
        <p14:creationId xmlns:p14="http://schemas.microsoft.com/office/powerpoint/2010/main" val="37386754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29</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sz="2800" dirty="0"/>
              <a:t>مكونات "</a:t>
            </a:r>
            <a:r>
              <a:rPr lang="ar-SA" sz="2800" dirty="0"/>
              <a:t> الموائمة الاستراتيجية </a:t>
            </a:r>
            <a:r>
              <a:rPr lang="ar-EG" sz="2800" dirty="0"/>
              <a:t>" -</a:t>
            </a:r>
            <a:r>
              <a:rPr lang="ar-EG" sz="3200" dirty="0"/>
              <a:t> </a:t>
            </a:r>
            <a:r>
              <a:rPr lang="en-US" dirty="0"/>
              <a:t>تفصيل سمات </a:t>
            </a:r>
            <a:r>
              <a:rPr lang="ar-SA" dirty="0"/>
              <a:t>وحدة </a:t>
            </a:r>
            <a:r>
              <a:rPr lang="ar-EG" dirty="0"/>
              <a:t>ال</a:t>
            </a:r>
            <a:r>
              <a:rPr lang="ar-SA" dirty="0"/>
              <a:t>بناء "مبدأ"</a:t>
            </a:r>
            <a:endParaRPr lang="en-US" dirty="0"/>
          </a:p>
        </p:txBody>
      </p:sp>
      <p:graphicFrame>
        <p:nvGraphicFramePr>
          <p:cNvPr id="5" name="Table 4">
            <a:extLst>
              <a:ext uri="{FF2B5EF4-FFF2-40B4-BE49-F238E27FC236}">
                <a16:creationId xmlns:a16="http://schemas.microsoft.com/office/drawing/2014/main" id="{75D8E262-893A-4C42-AD6D-1B6ECFE3936E}"/>
              </a:ext>
            </a:extLst>
          </p:cNvPr>
          <p:cNvGraphicFramePr>
            <a:graphicFrameLocks noGrp="1"/>
          </p:cNvGraphicFramePr>
          <p:nvPr>
            <p:extLst>
              <p:ext uri="{D42A27DB-BD31-4B8C-83A1-F6EECF244321}">
                <p14:modId xmlns:p14="http://schemas.microsoft.com/office/powerpoint/2010/main" val="2146905838"/>
              </p:ext>
            </p:extLst>
          </p:nvPr>
        </p:nvGraphicFramePr>
        <p:xfrm>
          <a:off x="588794" y="1795897"/>
          <a:ext cx="11042493" cy="3387852"/>
        </p:xfrm>
        <a:graphic>
          <a:graphicData uri="http://schemas.openxmlformats.org/drawingml/2006/table">
            <a:tbl>
              <a:tblPr rtl="1" firstRow="1" bandRow="1">
                <a:tableStyleId>{5C22544A-7EE6-4342-B048-85BDC9FD1C3A}</a:tableStyleId>
              </a:tblPr>
              <a:tblGrid>
                <a:gridCol w="2216580">
                  <a:extLst>
                    <a:ext uri="{9D8B030D-6E8A-4147-A177-3AD203B41FA5}">
                      <a16:colId xmlns:a16="http://schemas.microsoft.com/office/drawing/2014/main" val="2853404558"/>
                    </a:ext>
                  </a:extLst>
                </a:gridCol>
                <a:gridCol w="5451623">
                  <a:extLst>
                    <a:ext uri="{9D8B030D-6E8A-4147-A177-3AD203B41FA5}">
                      <a16:colId xmlns:a16="http://schemas.microsoft.com/office/drawing/2014/main" val="1866450976"/>
                    </a:ext>
                  </a:extLst>
                </a:gridCol>
                <a:gridCol w="1687145">
                  <a:extLst>
                    <a:ext uri="{9D8B030D-6E8A-4147-A177-3AD203B41FA5}">
                      <a16:colId xmlns:a16="http://schemas.microsoft.com/office/drawing/2014/main" val="751160629"/>
                    </a:ext>
                  </a:extLst>
                </a:gridCol>
                <a:gridCol w="1687145">
                  <a:extLst>
                    <a:ext uri="{9D8B030D-6E8A-4147-A177-3AD203B41FA5}">
                      <a16:colId xmlns:a16="http://schemas.microsoft.com/office/drawing/2014/main" val="384581536"/>
                    </a:ext>
                  </a:extLst>
                </a:gridCol>
              </a:tblGrid>
              <a:tr h="404760">
                <a:tc>
                  <a:txBody>
                    <a:bodyPr/>
                    <a:lstStyle/>
                    <a:p>
                      <a:pPr marL="0" algn="ctr" defTabSz="914400" rtl="1" eaLnBrk="1" fontAlgn="ctr" latinLnBrk="0" hangingPunct="1">
                        <a:lnSpc>
                          <a:spcPct val="115000"/>
                        </a:lnSpc>
                        <a:spcAft>
                          <a:spcPts val="0"/>
                        </a:spcAft>
                      </a:pPr>
                      <a:r>
                        <a:rPr lang="ar-SA" sz="1800" b="1" kern="1200" dirty="0">
                          <a:solidFill>
                            <a:schemeClr val="bg1"/>
                          </a:solidFill>
                          <a:effectLst/>
                          <a:latin typeface="+mn-lt"/>
                          <a:ea typeface="+mn-ea"/>
                          <a:cs typeface="+mn-cs"/>
                        </a:rPr>
                        <a:t>السمة</a:t>
                      </a:r>
                    </a:p>
                  </a:txBody>
                  <a:tcPr marT="73152" marB="73152" anchor="b"/>
                </a:tc>
                <a:tc>
                  <a:txBody>
                    <a:bodyPr/>
                    <a:lstStyle/>
                    <a:p>
                      <a:pPr marL="0" algn="ctr" defTabSz="914400" rtl="1" eaLnBrk="1" fontAlgn="ctr" latinLnBrk="0" hangingPunct="1">
                        <a:lnSpc>
                          <a:spcPct val="115000"/>
                        </a:lnSpc>
                        <a:spcAft>
                          <a:spcPts val="0"/>
                        </a:spcAft>
                      </a:pPr>
                      <a:r>
                        <a:rPr lang="ar-SA" sz="1800" b="1" kern="1200" dirty="0">
                          <a:solidFill>
                            <a:schemeClr val="bg1"/>
                          </a:solidFill>
                          <a:effectLst/>
                          <a:latin typeface="+mn-lt"/>
                          <a:ea typeface="+mn-ea"/>
                          <a:cs typeface="+mn-cs"/>
                        </a:rPr>
                        <a:t>وصف السمة</a:t>
                      </a:r>
                    </a:p>
                  </a:txBody>
                  <a:tcPr marT="73152" marB="73152" anchor="b"/>
                </a:tc>
                <a:tc>
                  <a:txBody>
                    <a:bodyPr/>
                    <a:lstStyle/>
                    <a:p>
                      <a:pPr marL="0" algn="ctr" defTabSz="914400" rtl="1" eaLnBrk="1" fontAlgn="ctr" latinLnBrk="0" hangingPunct="1">
                        <a:lnSpc>
                          <a:spcPct val="115000"/>
                        </a:lnSpc>
                        <a:spcAft>
                          <a:spcPts val="0"/>
                        </a:spcAft>
                      </a:pPr>
                      <a:r>
                        <a:rPr lang="ar-SA" sz="1800" b="1" kern="1200" dirty="0">
                          <a:solidFill>
                            <a:schemeClr val="bg1"/>
                          </a:solidFill>
                          <a:effectLst/>
                          <a:latin typeface="+mn-lt"/>
                          <a:ea typeface="+mn-ea"/>
                          <a:cs typeface="+mn-cs"/>
                        </a:rPr>
                        <a:t>نوع السمة</a:t>
                      </a:r>
                    </a:p>
                  </a:txBody>
                  <a:tcPr marT="73152" marB="73152" anchor="b"/>
                </a:tc>
                <a:tc>
                  <a:txBody>
                    <a:bodyPr/>
                    <a:lstStyle/>
                    <a:p>
                      <a:pPr marL="0" algn="ctr" defTabSz="914400" rtl="1" eaLnBrk="1" fontAlgn="ctr" latinLnBrk="0" hangingPunct="1">
                        <a:lnSpc>
                          <a:spcPct val="115000"/>
                        </a:lnSpc>
                        <a:spcAft>
                          <a:spcPts val="0"/>
                        </a:spcAft>
                      </a:pPr>
                      <a:r>
                        <a:rPr lang="ar-SA" sz="1800" b="1" kern="1200" dirty="0">
                          <a:solidFill>
                            <a:schemeClr val="bg1"/>
                          </a:solidFill>
                          <a:effectLst/>
                          <a:latin typeface="+mn-lt"/>
                          <a:ea typeface="+mn-ea"/>
                          <a:cs typeface="+mn-cs"/>
                        </a:rPr>
                        <a:t>الزامية التوثيق</a:t>
                      </a:r>
                    </a:p>
                  </a:txBody>
                  <a:tcPr marT="73152" marB="73152" anchor="b"/>
                </a:tc>
                <a:extLst>
                  <a:ext uri="{0D108BD9-81ED-4DB2-BD59-A6C34878D82A}">
                    <a16:rowId xmlns:a16="http://schemas.microsoft.com/office/drawing/2014/main" val="2998368315"/>
                  </a:ext>
                </a:extLst>
              </a:tr>
              <a:tr h="483762">
                <a:tc>
                  <a:txBody>
                    <a:bodyPr/>
                    <a:lstStyle/>
                    <a:p>
                      <a:pPr algn="ctr" rtl="1" fontAlgn="b"/>
                      <a:r>
                        <a:rPr lang="ar-SA" sz="1400" b="1" kern="1200" dirty="0">
                          <a:solidFill>
                            <a:schemeClr val="tx1"/>
                          </a:solidFill>
                          <a:effectLst/>
                          <a:latin typeface="+mn-lt"/>
                          <a:ea typeface="+mn-ea"/>
                          <a:cs typeface="+mn-cs"/>
                        </a:rPr>
                        <a:t>الرمز</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الرمز الفريد</a:t>
                      </a:r>
                      <a:r>
                        <a:rPr lang="ar-EG" sz="1400" b="0" kern="1200" dirty="0">
                          <a:solidFill>
                            <a:schemeClr val="tx1"/>
                          </a:solidFill>
                          <a:effectLst/>
                          <a:latin typeface="+mn-lt"/>
                          <a:ea typeface="+mn-ea"/>
                          <a:cs typeface="+mn-cs"/>
                        </a:rPr>
                        <a:t> لل</a:t>
                      </a:r>
                      <a:r>
                        <a:rPr lang="ar-SA" sz="1400" b="0" kern="1200" dirty="0">
                          <a:solidFill>
                            <a:schemeClr val="tx1"/>
                          </a:solidFill>
                          <a:effectLst/>
                          <a:latin typeface="+mn-lt"/>
                          <a:ea typeface="+mn-ea"/>
                          <a:cs typeface="+mn-cs"/>
                        </a:rPr>
                        <a:t>مبدأ</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أحرف وأرقام</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2177790647"/>
                  </a:ext>
                </a:extLst>
              </a:tr>
              <a:tr h="483762">
                <a:tc>
                  <a:txBody>
                    <a:bodyPr/>
                    <a:lstStyle/>
                    <a:p>
                      <a:pPr algn="ctr" rtl="1" fontAlgn="b"/>
                      <a:r>
                        <a:rPr lang="ar-SA" sz="1400" b="1" kern="1200" dirty="0">
                          <a:solidFill>
                            <a:schemeClr val="tx1"/>
                          </a:solidFill>
                          <a:effectLst/>
                          <a:latin typeface="+mn-lt"/>
                          <a:ea typeface="+mn-ea"/>
                          <a:cs typeface="+mn-cs"/>
                        </a:rPr>
                        <a:t>الاسم</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اسم المبدأ الذي يحدد بوضوح ما يمثله أو يتعلق به</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نص</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4078129550"/>
                  </a:ext>
                </a:extLst>
              </a:tr>
              <a:tr h="483762">
                <a:tc>
                  <a:txBody>
                    <a:bodyPr/>
                    <a:lstStyle/>
                    <a:p>
                      <a:pPr algn="ctr" rtl="1" fontAlgn="b"/>
                      <a:r>
                        <a:rPr lang="ar-SA" sz="1400" b="1" kern="1200" dirty="0">
                          <a:solidFill>
                            <a:schemeClr val="tx1"/>
                          </a:solidFill>
                          <a:effectLst/>
                          <a:latin typeface="+mn-lt"/>
                          <a:ea typeface="+mn-ea"/>
                          <a:cs typeface="+mn-cs"/>
                        </a:rPr>
                        <a:t>الوصف</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وصف موجز للمبدأ</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نص</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423492707"/>
                  </a:ext>
                </a:extLst>
              </a:tr>
              <a:tr h="483762">
                <a:tc>
                  <a:txBody>
                    <a:bodyPr/>
                    <a:lstStyle/>
                    <a:p>
                      <a:pPr algn="ctr" rtl="1" fontAlgn="b"/>
                      <a:r>
                        <a:rPr lang="ar-SA" sz="1400" b="1" kern="1200" dirty="0">
                          <a:solidFill>
                            <a:schemeClr val="tx1"/>
                          </a:solidFill>
                          <a:effectLst/>
                          <a:latin typeface="+mn-lt"/>
                          <a:ea typeface="+mn-ea"/>
                          <a:cs typeface="+mn-cs"/>
                        </a:rPr>
                        <a:t>مجال المبدأ</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تحديد مجال المبدأ (مثل: بنية الأعمال، تجربة المستفيد، بنية البيانات، بنية التطبيقات، الامن)</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قائمة معرفة مسبقًا</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3475398803"/>
                  </a:ext>
                </a:extLst>
              </a:tr>
              <a:tr h="483762">
                <a:tc>
                  <a:txBody>
                    <a:bodyPr/>
                    <a:lstStyle/>
                    <a:p>
                      <a:pPr algn="ctr" rtl="1" fontAlgn="b"/>
                      <a:r>
                        <a:rPr lang="ar-SA" sz="1400" b="1" kern="1200" dirty="0">
                          <a:solidFill>
                            <a:schemeClr val="tx1"/>
                          </a:solidFill>
                          <a:effectLst/>
                          <a:latin typeface="+mn-lt"/>
                          <a:ea typeface="+mn-ea"/>
                          <a:cs typeface="+mn-cs"/>
                        </a:rPr>
                        <a:t>مبررات المبدأ</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الأهداف المُكتسبة من اتباع تطبيق المبدأ</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نص</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2038158093"/>
                  </a:ext>
                </a:extLst>
              </a:tr>
              <a:tr h="483762">
                <a:tc>
                  <a:txBody>
                    <a:bodyPr/>
                    <a:lstStyle/>
                    <a:p>
                      <a:pPr algn="ctr" rtl="1" fontAlgn="b"/>
                      <a:r>
                        <a:rPr lang="ar-SA" sz="1400" b="1" kern="1200" dirty="0">
                          <a:solidFill>
                            <a:schemeClr val="tx1"/>
                          </a:solidFill>
                          <a:effectLst/>
                          <a:latin typeface="+mn-lt"/>
                          <a:ea typeface="+mn-ea"/>
                          <a:cs typeface="+mn-cs"/>
                        </a:rPr>
                        <a:t>تبعات تطبيق المبدأ</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400" b="0" kern="1200" dirty="0">
                          <a:solidFill>
                            <a:schemeClr val="tx1"/>
                          </a:solidFill>
                          <a:effectLst/>
                          <a:latin typeface="+mn-lt"/>
                          <a:ea typeface="+mn-ea"/>
                          <a:cs typeface="+mn-cs"/>
                        </a:rPr>
                        <a:t>التأثير المتوقع لتطبيق المبدأ على أداء الإمارة أو المجالات المختلفة</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نص</a:t>
                      </a:r>
                    </a:p>
                  </a:txBody>
                  <a:tcPr marL="137160" marR="137160" marT="137160" marB="137160" anchor="ctr"/>
                </a:tc>
                <a:tc>
                  <a:txBody>
                    <a:bodyPr/>
                    <a:lstStyle/>
                    <a:p>
                      <a:pPr algn="r" rtl="1" fontAlgn="b"/>
                      <a:r>
                        <a:rPr lang="ar-EG" sz="1400" b="0" kern="1200" dirty="0">
                          <a:solidFill>
                            <a:schemeClr val="tx1"/>
                          </a:solidFill>
                          <a:effectLst/>
                          <a:latin typeface="+mn-lt"/>
                          <a:ea typeface="+mn-ea"/>
                          <a:cs typeface="+mn-cs"/>
                        </a:rPr>
                        <a:t>اختياري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1099825204"/>
                  </a:ext>
                </a:extLst>
              </a:tr>
            </a:tbl>
          </a:graphicData>
        </a:graphic>
      </p:graphicFrame>
    </p:spTree>
    <p:extLst>
      <p:ext uri="{BB962C8B-B14F-4D97-AF65-F5344CB8AC3E}">
        <p14:creationId xmlns:p14="http://schemas.microsoft.com/office/powerpoint/2010/main" val="2502403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30</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sz="2800" dirty="0"/>
              <a:t>مكونات "</a:t>
            </a:r>
            <a:r>
              <a:rPr lang="ar-SA" sz="2800" dirty="0"/>
              <a:t> الموائمة الاستراتيجية </a:t>
            </a:r>
            <a:r>
              <a:rPr lang="ar-EG" sz="2800" dirty="0"/>
              <a:t>" -</a:t>
            </a:r>
            <a:r>
              <a:rPr lang="ar-EG" sz="3200" dirty="0"/>
              <a:t> </a:t>
            </a:r>
            <a:r>
              <a:rPr lang="en-US" dirty="0"/>
              <a:t>تفصيل سمات </a:t>
            </a:r>
            <a:r>
              <a:rPr lang="ar-SA" dirty="0"/>
              <a:t>وحدة </a:t>
            </a:r>
            <a:r>
              <a:rPr lang="ar-EG" dirty="0"/>
              <a:t>ال</a:t>
            </a:r>
            <a:r>
              <a:rPr lang="ar-SA" dirty="0"/>
              <a:t>بناء "موقع"</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3494355357"/>
              </p:ext>
            </p:extLst>
          </p:nvPr>
        </p:nvGraphicFramePr>
        <p:xfrm>
          <a:off x="1193800" y="1421229"/>
          <a:ext cx="9804399" cy="3432779"/>
        </p:xfrm>
        <a:graphic>
          <a:graphicData uri="http://schemas.openxmlformats.org/drawingml/2006/table">
            <a:tbl>
              <a:tblPr rtl="1" firstRow="1" bandRow="1">
                <a:tableStyleId>{5C22544A-7EE6-4342-B048-85BDC9FD1C3A}</a:tableStyleId>
              </a:tblPr>
              <a:tblGrid>
                <a:gridCol w="2322974">
                  <a:extLst>
                    <a:ext uri="{9D8B030D-6E8A-4147-A177-3AD203B41FA5}">
                      <a16:colId xmlns:a16="http://schemas.microsoft.com/office/drawing/2014/main" val="2853404558"/>
                    </a:ext>
                  </a:extLst>
                </a:gridCol>
                <a:gridCol w="4952311">
                  <a:extLst>
                    <a:ext uri="{9D8B030D-6E8A-4147-A177-3AD203B41FA5}">
                      <a16:colId xmlns:a16="http://schemas.microsoft.com/office/drawing/2014/main" val="1866450976"/>
                    </a:ext>
                  </a:extLst>
                </a:gridCol>
                <a:gridCol w="1289957">
                  <a:extLst>
                    <a:ext uri="{9D8B030D-6E8A-4147-A177-3AD203B41FA5}">
                      <a16:colId xmlns:a16="http://schemas.microsoft.com/office/drawing/2014/main" val="751160629"/>
                    </a:ext>
                  </a:extLst>
                </a:gridCol>
                <a:gridCol w="1239157">
                  <a:extLst>
                    <a:ext uri="{9D8B030D-6E8A-4147-A177-3AD203B41FA5}">
                      <a16:colId xmlns:a16="http://schemas.microsoft.com/office/drawing/2014/main" val="4204088450"/>
                    </a:ext>
                  </a:extLst>
                </a:gridCol>
              </a:tblGrid>
              <a:tr h="476219">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T="73152" marB="73152"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T="73152" marB="73152"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T="73152" marB="73152" anchor="b"/>
                </a:tc>
                <a:tc>
                  <a:txBody>
                    <a:bodyPr/>
                    <a:lstStyle/>
                    <a:p>
                      <a:pPr marL="0" algn="ctr" defTabSz="914400" rtl="1" eaLnBrk="1" fontAlgn="ctr" latinLnBrk="0" hangingPunct="1">
                        <a:lnSpc>
                          <a:spcPct val="115000"/>
                        </a:lnSpc>
                        <a:spcAft>
                          <a:spcPts val="0"/>
                        </a:spcAft>
                      </a:pPr>
                      <a:r>
                        <a:rPr lang="ar-SA" sz="1800" b="1" kern="1200" dirty="0">
                          <a:solidFill>
                            <a:schemeClr val="bg1"/>
                          </a:solidFill>
                          <a:effectLst/>
                          <a:latin typeface="+mn-lt"/>
                          <a:ea typeface="+mn-ea"/>
                          <a:cs typeface="+mn-cs"/>
                        </a:rPr>
                        <a:t>الزامية التوثيق</a:t>
                      </a:r>
                    </a:p>
                  </a:txBody>
                  <a:tcPr marT="73152" marB="73152" anchor="b"/>
                </a:tc>
                <a:extLst>
                  <a:ext uri="{0D108BD9-81ED-4DB2-BD59-A6C34878D82A}">
                    <a16:rowId xmlns:a16="http://schemas.microsoft.com/office/drawing/2014/main" val="2998368315"/>
                  </a:ext>
                </a:extLst>
              </a:tr>
              <a:tr h="386123">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الرمز الفريد لتعريف الموقع داخل الهيئة</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أحرف وأرقام</a:t>
                      </a: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2177790647"/>
                  </a:ext>
                </a:extLst>
              </a:tr>
              <a:tr h="386123">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اسم الموقع الذي يتم فيه تنفيذ الأنشطة أو العمليات</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2899010774"/>
                  </a:ext>
                </a:extLst>
              </a:tr>
              <a:tr h="386123">
                <a:tc>
                  <a:txBody>
                    <a:bodyPr/>
                    <a:lstStyle/>
                    <a:p>
                      <a:pPr algn="ctr" rtl="1" fontAlgn="b"/>
                      <a:r>
                        <a:rPr lang="ar-SA" sz="1800" b="1" i="0" u="none" strike="noStrike" dirty="0">
                          <a:solidFill>
                            <a:srgbClr val="000000"/>
                          </a:solidFill>
                          <a:effectLst/>
                          <a:latin typeface="Calibri" panose="020F0502020204030204" pitchFamily="34" charset="0"/>
                        </a:rPr>
                        <a:t>الوصف</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وصف تفصيلي يحدد خصائص الموقع الجغرافي مثل المباني أو المرافق المادية التابعة للهيئة</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400" b="0" kern="1200" dirty="0">
                          <a:solidFill>
                            <a:schemeClr val="tx1"/>
                          </a:solidFill>
                          <a:effectLst/>
                          <a:latin typeface="+mn-lt"/>
                          <a:ea typeface="+mn-ea"/>
                          <a:cs typeface="+mn-cs"/>
                        </a:rPr>
                        <a:t>اختياري</a:t>
                      </a:r>
                    </a:p>
                  </a:txBody>
                  <a:tcPr marL="137160" marR="137160" marT="137160" marB="137160" anchor="ctr"/>
                </a:tc>
                <a:extLst>
                  <a:ext uri="{0D108BD9-81ED-4DB2-BD59-A6C34878D82A}">
                    <a16:rowId xmlns:a16="http://schemas.microsoft.com/office/drawing/2014/main" val="3230402435"/>
                  </a:ext>
                </a:extLst>
              </a:tr>
              <a:tr h="386123">
                <a:tc>
                  <a:txBody>
                    <a:bodyPr/>
                    <a:lstStyle/>
                    <a:p>
                      <a:pPr algn="ctr" rtl="1" fontAlgn="b"/>
                      <a:r>
                        <a:rPr lang="ar-SA" sz="1800" b="1" i="0" u="none" strike="noStrike">
                          <a:solidFill>
                            <a:srgbClr val="000000"/>
                          </a:solidFill>
                          <a:effectLst/>
                          <a:latin typeface="Calibri" panose="020F0502020204030204" pitchFamily="34" charset="0"/>
                        </a:rPr>
                        <a:t>العنوان</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العنوان الجغرافي الكامل للموقع (مثل: المدينة، الشارع، الرمز البريدي)</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1283530266"/>
                  </a:ext>
                </a:extLst>
              </a:tr>
              <a:tr h="386123">
                <a:tc>
                  <a:txBody>
                    <a:bodyPr/>
                    <a:lstStyle/>
                    <a:p>
                      <a:pPr algn="ctr" rtl="1" fontAlgn="b"/>
                      <a:r>
                        <a:rPr lang="ar-SA" sz="1800" b="1" i="0" u="none" strike="noStrike" dirty="0">
                          <a:solidFill>
                            <a:srgbClr val="000000"/>
                          </a:solidFill>
                          <a:effectLst/>
                          <a:latin typeface="Calibri" panose="020F0502020204030204" pitchFamily="34" charset="0"/>
                        </a:rPr>
                        <a:t>مراكز البيانات</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مراكز البيانات الموجودة في الموقع</a:t>
                      </a: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600" u="none" strike="noStrike" kern="1200" dirty="0">
                          <a:solidFill>
                            <a:schemeClr val="dk1"/>
                          </a:solidFill>
                          <a:effectLst/>
                          <a:latin typeface="+mn-lt"/>
                          <a:ea typeface="+mn-ea"/>
                          <a:cs typeface="+mn-cs"/>
                        </a:rPr>
                        <a:t>علاقة ربط</a:t>
                      </a:r>
                      <a:endParaRPr lang="ar-SA" sz="1600" u="none" strike="noStrike" kern="1200" dirty="0">
                        <a:solidFill>
                          <a:schemeClr val="dk1"/>
                        </a:solidFill>
                        <a:effectLst/>
                        <a:latin typeface="+mn-lt"/>
                        <a:ea typeface="+mn-ea"/>
                        <a:cs typeface="+mn-cs"/>
                      </a:endParaRP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400" b="0" kern="1200" dirty="0">
                          <a:solidFill>
                            <a:schemeClr val="tx1"/>
                          </a:solidFill>
                          <a:effectLst/>
                          <a:latin typeface="+mn-lt"/>
                          <a:ea typeface="+mn-ea"/>
                          <a:cs typeface="+mn-cs"/>
                        </a:rPr>
                        <a:t>اختياري</a:t>
                      </a:r>
                    </a:p>
                  </a:txBody>
                  <a:tcPr marL="137160" marR="137160" marT="137160" marB="137160" anchor="ctr"/>
                </a:tc>
                <a:extLst>
                  <a:ext uri="{0D108BD9-81ED-4DB2-BD59-A6C34878D82A}">
                    <a16:rowId xmlns:a16="http://schemas.microsoft.com/office/drawing/2014/main" val="3603808463"/>
                  </a:ext>
                </a:extLst>
              </a:tr>
            </a:tbl>
          </a:graphicData>
        </a:graphic>
      </p:graphicFrame>
    </p:spTree>
    <p:extLst>
      <p:ext uri="{BB962C8B-B14F-4D97-AF65-F5344CB8AC3E}">
        <p14:creationId xmlns:p14="http://schemas.microsoft.com/office/powerpoint/2010/main" val="27945358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b="1" kern="1200"/>
              <a:t>علاقات مكونات البناء التابعة لـ "الموائمة الإستراتيجية"</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nchor="ctr">
            <a:normAutofit/>
          </a:bodyPr>
          <a:lstStyle/>
          <a:p>
            <a:pPr>
              <a:spcAft>
                <a:spcPts val="600"/>
              </a:spcAft>
            </a:pPr>
            <a:fld id="{0BE4EC83-A869-464E-AE9F-881796FB085E}" type="slidenum">
              <a:rPr lang="en-US" smtClean="0"/>
              <a:pPr>
                <a:spcAft>
                  <a:spcPts val="600"/>
                </a:spcAft>
              </a:pPr>
              <a:t>31</a:t>
            </a:fld>
            <a:endParaRPr lang="en-US"/>
          </a:p>
        </p:txBody>
      </p:sp>
      <p:pic>
        <p:nvPicPr>
          <p:cNvPr id="5" name="Picture 4" descr="A screenshot of a computer&#10;&#10;Description automatically generated">
            <a:extLst>
              <a:ext uri="{FF2B5EF4-FFF2-40B4-BE49-F238E27FC236}">
                <a16:creationId xmlns:a16="http://schemas.microsoft.com/office/drawing/2014/main" id="{F9415017-5A26-4451-ADC3-9F9172520C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2940" y="1146267"/>
            <a:ext cx="6218260" cy="4950995"/>
          </a:xfrm>
          <a:prstGeom prst="rect">
            <a:avLst/>
          </a:prstGeom>
        </p:spPr>
      </p:pic>
    </p:spTree>
    <p:extLst>
      <p:ext uri="{BB962C8B-B14F-4D97-AF65-F5344CB8AC3E}">
        <p14:creationId xmlns:p14="http://schemas.microsoft.com/office/powerpoint/2010/main" val="26312684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a:t>ال</a:t>
            </a:r>
            <a:r>
              <a:rPr lang="ar-EG" dirty="0"/>
              <a:t>بناء </a:t>
            </a:r>
            <a:r>
              <a:rPr lang="ar-SA" dirty="0"/>
              <a:t>في "الموائمة الاستراتيجية</a:t>
            </a:r>
            <a:r>
              <a:rPr lang="ar-EG" dirty="0"/>
              <a:t> (</a:t>
            </a:r>
            <a:r>
              <a:rPr lang="en-US" dirty="0"/>
              <a:t>5</a:t>
            </a:r>
            <a:r>
              <a:rPr lang="ar-EG" dirty="0"/>
              <a:t> / </a:t>
            </a:r>
            <a:r>
              <a:rPr lang="en-US" dirty="0"/>
              <a:t>1</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32</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2484647197"/>
              </p:ext>
            </p:extLst>
          </p:nvPr>
        </p:nvGraphicFramePr>
        <p:xfrm>
          <a:off x="609600" y="1282290"/>
          <a:ext cx="11070774" cy="4874103"/>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293968">
                  <a:extLst>
                    <a:ext uri="{9D8B030D-6E8A-4147-A177-3AD203B41FA5}">
                      <a16:colId xmlns:a16="http://schemas.microsoft.com/office/drawing/2014/main" val="1302061076"/>
                    </a:ext>
                  </a:extLst>
                </a:gridCol>
                <a:gridCol w="3949700">
                  <a:extLst>
                    <a:ext uri="{9D8B030D-6E8A-4147-A177-3AD203B41FA5}">
                      <a16:colId xmlns:a16="http://schemas.microsoft.com/office/drawing/2014/main" val="1509377109"/>
                    </a:ext>
                  </a:extLst>
                </a:gridCol>
                <a:gridCol w="1974850">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707513">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1</a:t>
                      </a:r>
                    </a:p>
                  </a:txBody>
                  <a:tcPr marL="3810" marR="3810" marT="3810" marB="0" anchor="ctr"/>
                </a:tc>
                <a:tc rowSpan="6">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استراتيجية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تحدد</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استراتيجية</a:t>
                      </a:r>
                      <a:r>
                        <a:rPr lang="ar-SA" sz="2000" b="0" i="0" u="none" strike="noStrike" dirty="0">
                          <a:solidFill>
                            <a:srgbClr val="000000"/>
                          </a:solidFill>
                          <a:effectLst/>
                          <a:latin typeface="Calibri" panose="020F0502020204030204" pitchFamily="34" charset="0"/>
                        </a:rPr>
                        <a:t>" تحدد "</a:t>
                      </a:r>
                      <a:r>
                        <a:rPr lang="ar-SA" sz="2000" b="1" i="0" u="none" strike="noStrike" dirty="0">
                          <a:solidFill>
                            <a:srgbClr val="000000"/>
                          </a:solidFill>
                          <a:effectLst/>
                          <a:latin typeface="Calibri" panose="020F0502020204030204" pitchFamily="34" charset="0"/>
                        </a:rPr>
                        <a:t>هدف</a:t>
                      </a:r>
                      <a:r>
                        <a:rPr lang="ar-SA" sz="2000" b="0" i="0" u="none" strike="noStrike" dirty="0">
                          <a:solidFill>
                            <a:srgbClr val="000000"/>
                          </a:solidFill>
                          <a:effectLst/>
                          <a:latin typeface="Calibri" panose="020F0502020204030204" pitchFamily="34" charset="0"/>
                        </a:rPr>
                        <a:t>"</a:t>
                      </a:r>
                    </a:p>
                  </a:txBody>
                  <a:tcPr marL="3810" marR="3810" marT="3810" marB="0" anchor="ctr"/>
                </a:tc>
                <a:tc>
                  <a:txBody>
                    <a:bodyPr/>
                    <a:lstStyle/>
                    <a:p>
                      <a:pPr algn="ctr" rtl="0" fontAlgn="ct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هدف</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5">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الموائمة الاستراتيجية</a:t>
                      </a: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2</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تُحقق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استراتيجية</a:t>
                      </a:r>
                      <a:r>
                        <a:rPr lang="ar-SA" sz="2000" b="0" i="0" u="none" strike="noStrike" dirty="0">
                          <a:solidFill>
                            <a:srgbClr val="000000"/>
                          </a:solidFill>
                          <a:effectLst/>
                          <a:latin typeface="Calibri" panose="020F0502020204030204" pitchFamily="34" charset="0"/>
                        </a:rPr>
                        <a:t>" تُحقق "</a:t>
                      </a:r>
                      <a:r>
                        <a:rPr lang="ar-SA" sz="2000" b="1" i="0" u="none" strike="noStrike" dirty="0">
                          <a:solidFill>
                            <a:srgbClr val="000000"/>
                          </a:solidFill>
                          <a:effectLst/>
                          <a:latin typeface="Calibri" panose="020F0502020204030204" pitchFamily="34" charset="0"/>
                        </a:rPr>
                        <a:t>رؤية</a:t>
                      </a:r>
                      <a:r>
                        <a:rPr lang="ar-SA" sz="2000" b="0" i="0" u="none" strike="noStrike" dirty="0">
                          <a:solidFill>
                            <a:srgbClr val="000000"/>
                          </a:solidFill>
                          <a:effectLst/>
                          <a:latin typeface="Calibri" panose="020F0502020204030204" pitchFamily="34" charset="0"/>
                        </a:rPr>
                        <a:t>"</a:t>
                      </a:r>
                    </a:p>
                  </a:txBody>
                  <a:tcPr marL="3810" marR="3810" marT="381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رؤية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3</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توجه</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استراتيجية</a:t>
                      </a:r>
                      <a:r>
                        <a:rPr lang="ar-SA" sz="2000" b="0" i="0" u="none" strike="noStrike" dirty="0">
                          <a:solidFill>
                            <a:srgbClr val="000000"/>
                          </a:solidFill>
                          <a:effectLst/>
                          <a:latin typeface="Calibri" panose="020F0502020204030204" pitchFamily="34" charset="0"/>
                        </a:rPr>
                        <a:t>" توجه "</a:t>
                      </a:r>
                      <a:r>
                        <a:rPr lang="ar-SA" sz="2000" b="1" i="0" u="none" strike="noStrike" dirty="0">
                          <a:solidFill>
                            <a:srgbClr val="000000"/>
                          </a:solidFill>
                          <a:effectLst/>
                          <a:latin typeface="Calibri" panose="020F0502020204030204" pitchFamily="34" charset="0"/>
                        </a:rPr>
                        <a:t>ركيزة</a:t>
                      </a:r>
                      <a:r>
                        <a:rPr lang="ar-SA" sz="2000" b="0" i="0" u="none" strike="noStrike" dirty="0">
                          <a:solidFill>
                            <a:srgbClr val="000000"/>
                          </a:solidFill>
                          <a:effectLst/>
                          <a:latin typeface="Calibri" panose="020F0502020204030204" pitchFamily="34" charset="0"/>
                        </a:rPr>
                        <a:t>"</a:t>
                      </a:r>
                    </a:p>
                  </a:txBody>
                  <a:tcPr marL="3810" marR="3810" marT="381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ركيزة</a:t>
                      </a: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4</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توجه</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استراتيجية</a:t>
                      </a:r>
                      <a:r>
                        <a:rPr lang="ar-SA" sz="2000" b="0" i="0" u="none" strike="noStrike" dirty="0">
                          <a:solidFill>
                            <a:srgbClr val="000000"/>
                          </a:solidFill>
                          <a:effectLst/>
                          <a:latin typeface="Calibri" panose="020F0502020204030204" pitchFamily="34" charset="0"/>
                        </a:rPr>
                        <a:t>" توجه "</a:t>
                      </a:r>
                      <a:r>
                        <a:rPr lang="ar-SA" sz="2000" b="1" i="0" u="none" strike="noStrike" dirty="0">
                          <a:solidFill>
                            <a:srgbClr val="000000"/>
                          </a:solidFill>
                          <a:effectLst/>
                          <a:latin typeface="Calibri" panose="020F0502020204030204" pitchFamily="34" charset="0"/>
                        </a:rPr>
                        <a:t>ممكن</a:t>
                      </a:r>
                      <a:r>
                        <a:rPr lang="ar-SA" sz="2000" b="0" i="0" u="none" strike="noStrike" dirty="0">
                          <a:solidFill>
                            <a:srgbClr val="000000"/>
                          </a:solidFill>
                          <a:effectLst/>
                          <a:latin typeface="Calibri" panose="020F0502020204030204" pitchFamily="34" charset="0"/>
                        </a:rPr>
                        <a:t>"</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ممكن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4193838665"/>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5</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تترجم</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استراتيجية</a:t>
                      </a:r>
                      <a:r>
                        <a:rPr lang="ar-SA" sz="2000" b="0" i="0" u="none" strike="noStrike" dirty="0">
                          <a:solidFill>
                            <a:srgbClr val="000000"/>
                          </a:solidFill>
                          <a:effectLst/>
                          <a:latin typeface="Calibri" panose="020F0502020204030204" pitchFamily="34" charset="0"/>
                        </a:rPr>
                        <a:t>" تترجم "</a:t>
                      </a:r>
                      <a:r>
                        <a:rPr lang="ar-SA" sz="2000" b="1" i="0" u="none" strike="noStrike" dirty="0">
                          <a:solidFill>
                            <a:srgbClr val="000000"/>
                          </a:solidFill>
                          <a:effectLst/>
                          <a:latin typeface="Calibri" panose="020F0502020204030204" pitchFamily="34" charset="0"/>
                        </a:rPr>
                        <a:t>رسالة</a:t>
                      </a:r>
                      <a:r>
                        <a:rPr lang="ar-SA" sz="2000" b="0" i="0" u="none" strike="noStrike" dirty="0">
                          <a:solidFill>
                            <a:srgbClr val="000000"/>
                          </a:solidFill>
                          <a:effectLst/>
                          <a:latin typeface="Calibri" panose="020F0502020204030204" pitchFamily="34" charset="0"/>
                        </a:rPr>
                        <a:t>"</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رسالة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456641915"/>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6</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تُمتلك من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استراتيجية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تُمتلك من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761637634"/>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7</a:t>
                      </a:r>
                    </a:p>
                  </a:txBody>
                  <a:tcPr marL="3810" marR="3810" marT="3810" marB="0" anchor="ctr"/>
                </a:tc>
                <a:tc rowSpan="3">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رسالة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تُوجه</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رسالة</a:t>
                      </a:r>
                      <a:r>
                        <a:rPr lang="ar-SA" sz="2000" b="0" i="0" u="none" strike="noStrike" dirty="0">
                          <a:solidFill>
                            <a:srgbClr val="000000"/>
                          </a:solidFill>
                          <a:effectLst/>
                          <a:latin typeface="Calibri" panose="020F0502020204030204" pitchFamily="34" charset="0"/>
                        </a:rPr>
                        <a:t>" تُوجه "</a:t>
                      </a:r>
                      <a:r>
                        <a:rPr lang="ar-SA" sz="2000" b="1" i="0" u="none" strike="noStrike" dirty="0">
                          <a:solidFill>
                            <a:srgbClr val="000000"/>
                          </a:solidFill>
                          <a:effectLst/>
                          <a:latin typeface="Calibri" panose="020F0502020204030204" pitchFamily="34" charset="0"/>
                        </a:rPr>
                        <a:t>استراتيجية</a:t>
                      </a:r>
                      <a:r>
                        <a:rPr lang="ar-SA" sz="2000" b="0" i="0" u="none" strike="noStrike" dirty="0">
                          <a:solidFill>
                            <a:srgbClr val="000000"/>
                          </a:solidFill>
                          <a:effectLst/>
                          <a:latin typeface="Calibri" panose="020F0502020204030204" pitchFamily="34" charset="0"/>
                        </a:rPr>
                        <a:t>"</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استراتيجية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3">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الموائمة الاستراتيجية</a:t>
                      </a:r>
                    </a:p>
                  </a:txBody>
                  <a:tcPr marL="3810" marR="3810" marT="3810" marB="0" anchor="ctr"/>
                </a:tc>
                <a:extLst>
                  <a:ext uri="{0D108BD9-81ED-4DB2-BD59-A6C34878D82A}">
                    <a16:rowId xmlns:a16="http://schemas.microsoft.com/office/drawing/2014/main" val="1472548560"/>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8</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تساهم في تحقيق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رسالة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تساهم</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في تحقيق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رؤية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رؤية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99687734"/>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9</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تُترجم إلى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رسالة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تُترجم إلى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هدف</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هدف</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182130939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10</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ممكن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يُمكن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ممكن</a:t>
                      </a:r>
                      <a:r>
                        <a:rPr lang="ar-SA" sz="2000" b="0" i="0" u="none" strike="noStrike" dirty="0">
                          <a:solidFill>
                            <a:srgbClr val="000000"/>
                          </a:solidFill>
                          <a:effectLst/>
                          <a:latin typeface="Calibri" panose="020F0502020204030204" pitchFamily="34" charset="0"/>
                        </a:rPr>
                        <a:t>" يٌمكن "</a:t>
                      </a:r>
                      <a:r>
                        <a:rPr lang="ar-SA" sz="2000" b="1" i="0" u="none" strike="noStrike" dirty="0">
                          <a:solidFill>
                            <a:srgbClr val="000000"/>
                          </a:solidFill>
                          <a:effectLst/>
                          <a:latin typeface="Calibri" panose="020F0502020204030204" pitchFamily="34" charset="0"/>
                        </a:rPr>
                        <a:t>استراتيجية</a:t>
                      </a:r>
                      <a:r>
                        <a:rPr lang="ar-SA" sz="2000" b="0" i="0" u="none" strike="noStrike" dirty="0">
                          <a:solidFill>
                            <a:srgbClr val="000000"/>
                          </a:solidFill>
                          <a:effectLst/>
                          <a:latin typeface="Calibri" panose="020F0502020204030204" pitchFamily="34" charset="0"/>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استراتيجية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الموائمة الاستراتيجية</a:t>
                      </a:r>
                    </a:p>
                  </a:txBody>
                  <a:tcPr marL="3810" marR="3810" marT="3810" marB="0" anchor="ctr"/>
                </a:tc>
                <a:extLst>
                  <a:ext uri="{0D108BD9-81ED-4DB2-BD59-A6C34878D82A}">
                    <a16:rowId xmlns:a16="http://schemas.microsoft.com/office/drawing/2014/main" val="317407409"/>
                  </a:ext>
                </a:extLst>
              </a:tr>
            </a:tbl>
          </a:graphicData>
        </a:graphic>
      </p:graphicFrame>
    </p:spTree>
    <p:extLst>
      <p:ext uri="{BB962C8B-B14F-4D97-AF65-F5344CB8AC3E}">
        <p14:creationId xmlns:p14="http://schemas.microsoft.com/office/powerpoint/2010/main" val="32006545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a:t>ال</a:t>
            </a:r>
            <a:r>
              <a:rPr lang="ar-EG" dirty="0"/>
              <a:t>بناء </a:t>
            </a:r>
            <a:r>
              <a:rPr lang="ar-SA" dirty="0"/>
              <a:t>في "الموائمة الاستراتيجية</a:t>
            </a:r>
            <a:r>
              <a:rPr lang="ar-EG" dirty="0"/>
              <a:t> (</a:t>
            </a:r>
            <a:r>
              <a:rPr lang="en-US" dirty="0"/>
              <a:t>5</a:t>
            </a:r>
            <a:r>
              <a:rPr lang="ar-EG" dirty="0"/>
              <a:t> / </a:t>
            </a:r>
            <a:r>
              <a:rPr lang="ar-SA" dirty="0"/>
              <a:t>2</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33</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1631742097"/>
              </p:ext>
            </p:extLst>
          </p:nvPr>
        </p:nvGraphicFramePr>
        <p:xfrm>
          <a:off x="609600" y="1282290"/>
          <a:ext cx="11070774" cy="4766054"/>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293968">
                  <a:extLst>
                    <a:ext uri="{9D8B030D-6E8A-4147-A177-3AD203B41FA5}">
                      <a16:colId xmlns:a16="http://schemas.microsoft.com/office/drawing/2014/main" val="1302061076"/>
                    </a:ext>
                  </a:extLst>
                </a:gridCol>
                <a:gridCol w="3949700">
                  <a:extLst>
                    <a:ext uri="{9D8B030D-6E8A-4147-A177-3AD203B41FA5}">
                      <a16:colId xmlns:a16="http://schemas.microsoft.com/office/drawing/2014/main" val="1509377109"/>
                    </a:ext>
                  </a:extLst>
                </a:gridCol>
                <a:gridCol w="1974850">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707513">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11</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رؤية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a:solidFill>
                            <a:srgbClr val="000000"/>
                          </a:solidFill>
                          <a:effectLst/>
                          <a:latin typeface="Sakkal Majalla" panose="02000000000000000000" pitchFamily="2" charset="-78"/>
                          <a:cs typeface="Sakkal Majalla" panose="02000000000000000000" pitchFamily="2" charset="-78"/>
                        </a:rPr>
                        <a:t>تقود</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a:solidFill>
                            <a:srgbClr val="000000"/>
                          </a:solidFill>
                          <a:effectLst/>
                          <a:latin typeface="Sakkal Majalla" panose="02000000000000000000" pitchFamily="2" charset="-78"/>
                          <a:cs typeface="Sakkal Majalla" panose="02000000000000000000" pitchFamily="2" charset="-78"/>
                        </a:rPr>
                        <a:t>رؤية</a:t>
                      </a:r>
                      <a:r>
                        <a:rPr lang="ar-EG" sz="2000" b="0" i="0" u="none" strike="noStrike" baseline="0">
                          <a:solidFill>
                            <a:srgbClr val="000000"/>
                          </a:solidFill>
                          <a:effectLst/>
                          <a:latin typeface="Sakkal Majalla" panose="02000000000000000000" pitchFamily="2" charset="-78"/>
                          <a:cs typeface="Sakkal Majalla" panose="02000000000000000000" pitchFamily="2" charset="-78"/>
                        </a:rPr>
                        <a:t>" تقود "</a:t>
                      </a:r>
                      <a:r>
                        <a:rPr lang="ar-EG" sz="2000" b="1" i="0" u="none" strike="noStrike" baseline="0">
                          <a:solidFill>
                            <a:srgbClr val="000000"/>
                          </a:solidFill>
                          <a:effectLst/>
                          <a:latin typeface="Sakkal Majalla" panose="02000000000000000000" pitchFamily="2" charset="-78"/>
                          <a:cs typeface="Sakkal Majalla" panose="02000000000000000000" pitchFamily="2" charset="-78"/>
                        </a:rPr>
                        <a:t>رسالة</a:t>
                      </a:r>
                      <a:r>
                        <a:rPr lang="ar-EG" sz="2000" b="0" i="0" u="none" strike="noStrike" baseline="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a:solidFill>
                            <a:srgbClr val="000000"/>
                          </a:solidFill>
                          <a:effectLst/>
                          <a:latin typeface="Sakkal Majalla" panose="02000000000000000000" pitchFamily="2" charset="-78"/>
                          <a:cs typeface="Sakkal Majalla" panose="02000000000000000000" pitchFamily="2" charset="-78"/>
                        </a:rPr>
                        <a:t>رسالة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a:solidFill>
                            <a:srgbClr val="000000"/>
                          </a:solidFill>
                          <a:effectLst/>
                          <a:latin typeface="Sakkal Majalla" panose="02000000000000000000" pitchFamily="2" charset="-78"/>
                          <a:cs typeface="Sakkal Majalla" panose="02000000000000000000" pitchFamily="2" charset="-78"/>
                        </a:rPr>
                        <a:t>الموائمة الاستراتيجية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12</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a:solidFill>
                            <a:srgbClr val="000000"/>
                          </a:solidFill>
                          <a:effectLst/>
                          <a:latin typeface="Sakkal Majalla" panose="02000000000000000000" pitchFamily="2" charset="-78"/>
                          <a:cs typeface="Sakkal Majalla" panose="02000000000000000000" pitchFamily="2" charset="-78"/>
                        </a:rPr>
                        <a:t>تُوجه</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a:solidFill>
                            <a:srgbClr val="000000"/>
                          </a:solidFill>
                          <a:effectLst/>
                          <a:latin typeface="Calibri" panose="020F0502020204030204" pitchFamily="34" charset="0"/>
                        </a:rPr>
                        <a:t>"</a:t>
                      </a:r>
                      <a:r>
                        <a:rPr lang="ar-SA" sz="2000" b="1" i="0" u="none" strike="noStrike">
                          <a:solidFill>
                            <a:srgbClr val="000000"/>
                          </a:solidFill>
                          <a:effectLst/>
                          <a:latin typeface="Calibri" panose="020F0502020204030204" pitchFamily="34" charset="0"/>
                        </a:rPr>
                        <a:t>رؤية</a:t>
                      </a:r>
                      <a:r>
                        <a:rPr lang="ar-SA" sz="2000" b="0" i="0" u="none" strike="noStrike">
                          <a:solidFill>
                            <a:srgbClr val="000000"/>
                          </a:solidFill>
                          <a:effectLst/>
                          <a:latin typeface="Calibri" panose="020F0502020204030204" pitchFamily="34" charset="0"/>
                        </a:rPr>
                        <a:t>" تُوجه "</a:t>
                      </a:r>
                      <a:r>
                        <a:rPr lang="ar-SA" sz="2000" b="1" i="0" u="none" strike="noStrike">
                          <a:solidFill>
                            <a:srgbClr val="000000"/>
                          </a:solidFill>
                          <a:effectLst/>
                          <a:latin typeface="Calibri" panose="020F0502020204030204" pitchFamily="34" charset="0"/>
                        </a:rPr>
                        <a:t>استراتيجية</a:t>
                      </a:r>
                      <a:r>
                        <a:rPr lang="ar-SA" sz="2000" b="0" i="0" u="none" strike="noStrike">
                          <a:solidFill>
                            <a:srgbClr val="000000"/>
                          </a:solidFill>
                          <a:effectLst/>
                          <a:latin typeface="Calibri" panose="020F0502020204030204" pitchFamily="34" charset="0"/>
                        </a:rPr>
                        <a:t>"</a:t>
                      </a:r>
                      <a:endParaRPr lang="ar-SA" sz="2000" b="0" i="0" u="none" strike="noStrike" dirty="0">
                        <a:solidFill>
                          <a:srgbClr val="000000"/>
                        </a:solidFill>
                        <a:effectLst/>
                        <a:latin typeface="Calibri" panose="020F0502020204030204" pitchFamily="34" charset="0"/>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استراتيجية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13</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4">
                  <a:txBody>
                    <a:bodyPr/>
                    <a:lstStyle/>
                    <a:p>
                      <a:pPr algn="ctr" rtl="1"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متطلب</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يُوجَّه بواسطة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متطلب</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يُوجَّه بواسطة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مبدأ</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مبدأ</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4">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الموائمة الاستراتيجية</a:t>
                      </a: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14</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يحقق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مُتطلب</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يحقق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هدف</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هدف</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4193838665"/>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15</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يسد</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متطلب</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يسد</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فجوة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فجوة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456641915"/>
                  </a:ext>
                </a:extLst>
              </a:tr>
              <a:tr h="1375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16</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يُولد</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متطلب</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يُولد</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مشروع</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مشروع</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76163763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17</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ركيزة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تحتوي على</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ركيزة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تحتوي على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هدف</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هدف</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الموائمة الاستراتيجية</a:t>
                      </a:r>
                    </a:p>
                  </a:txBody>
                  <a:tcPr marL="3810" marR="3810" marT="3810" marB="0" anchor="ctr"/>
                </a:tc>
                <a:extLst>
                  <a:ext uri="{0D108BD9-81ED-4DB2-BD59-A6C34878D82A}">
                    <a16:rowId xmlns:a16="http://schemas.microsoft.com/office/drawing/2014/main" val="1472548560"/>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18</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تُمكن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ركيزة</a:t>
                      </a:r>
                      <a:r>
                        <a:rPr lang="ar-SA" sz="2000" b="0" i="0" u="none" strike="noStrike" dirty="0">
                          <a:solidFill>
                            <a:srgbClr val="000000"/>
                          </a:solidFill>
                          <a:effectLst/>
                          <a:latin typeface="Calibri" panose="020F0502020204030204" pitchFamily="34" charset="0"/>
                        </a:rPr>
                        <a:t>" تمكن "</a:t>
                      </a:r>
                      <a:r>
                        <a:rPr lang="ar-SA" sz="2000" b="1" i="0" u="none" strike="noStrike" dirty="0">
                          <a:solidFill>
                            <a:srgbClr val="000000"/>
                          </a:solidFill>
                          <a:effectLst/>
                          <a:latin typeface="Calibri" panose="020F0502020204030204" pitchFamily="34" charset="0"/>
                        </a:rPr>
                        <a:t>استراتيجية</a:t>
                      </a:r>
                      <a:r>
                        <a:rPr lang="ar-SA" sz="2000" b="0" i="0" u="none" strike="noStrike" dirty="0">
                          <a:solidFill>
                            <a:srgbClr val="000000"/>
                          </a:solidFill>
                          <a:effectLst/>
                          <a:latin typeface="Calibri" panose="020F0502020204030204" pitchFamily="34" charset="0"/>
                        </a:rPr>
                        <a:t>"</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استراتيجية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9968773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19</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algn="ctr" rtl="0"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فجوة</a:t>
                      </a:r>
                      <a:endParaRPr lang="en-US"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157" marR="4157" marT="4157" marB="0" anchor="ctr"/>
                </a:tc>
                <a:tc>
                  <a:txBody>
                    <a:bodyPr/>
                    <a:lstStyle/>
                    <a:p>
                      <a:pPr algn="ctr" rtl="0" fontAlgn="ct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تُسد عبر</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endParaRPr lang="en-US"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157" marR="4157" marT="4157"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2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200" b="1" i="0" u="none" strike="noStrike" baseline="0" dirty="0">
                          <a:solidFill>
                            <a:srgbClr val="000000"/>
                          </a:solidFill>
                          <a:effectLst/>
                          <a:latin typeface="Sakkal Majalla" panose="02000000000000000000" pitchFamily="2" charset="-78"/>
                          <a:cs typeface="Sakkal Majalla" panose="02000000000000000000" pitchFamily="2" charset="-78"/>
                        </a:rPr>
                        <a:t>فجوة</a:t>
                      </a:r>
                      <a:r>
                        <a:rPr lang="ar-EG" sz="22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200" b="0" i="0" u="none" strike="noStrike" baseline="0" dirty="0">
                          <a:solidFill>
                            <a:srgbClr val="000000"/>
                          </a:solidFill>
                          <a:effectLst/>
                          <a:latin typeface="Sakkal Majalla" panose="02000000000000000000" pitchFamily="2" charset="-78"/>
                          <a:cs typeface="Sakkal Majalla" panose="02000000000000000000" pitchFamily="2" charset="-78"/>
                        </a:rPr>
                        <a:t>تُسد عبر</a:t>
                      </a:r>
                      <a:r>
                        <a:rPr lang="ar-EG" sz="22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200" b="1" i="0" u="none" strike="noStrike" baseline="0" dirty="0">
                          <a:solidFill>
                            <a:srgbClr val="000000"/>
                          </a:solidFill>
                          <a:effectLst/>
                          <a:latin typeface="Sakkal Majalla" panose="02000000000000000000" pitchFamily="2" charset="-78"/>
                          <a:cs typeface="Sakkal Majalla" panose="02000000000000000000" pitchFamily="2" charset="-78"/>
                        </a:rPr>
                        <a:t>متطلب</a:t>
                      </a:r>
                      <a:r>
                        <a:rPr lang="ar-EG" sz="22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2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157" marR="4157" marT="4157" marB="0" anchor="ctr"/>
                </a:tc>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متطلب</a:t>
                      </a:r>
                      <a:endParaRPr lang="en-US"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157" marR="4157" marT="4157" marB="0" anchor="ctr"/>
                </a:tc>
                <a:tc rowSpan="2">
                  <a:txBody>
                    <a:bodyPr/>
                    <a:lstStyle/>
                    <a:p>
                      <a:pPr algn="ctr" rtl="1" fontAlgn="ctr"/>
                      <a:r>
                        <a:rPr lang="ar-SA" sz="2200" b="0" i="0" u="none" strike="noStrike" baseline="0" dirty="0">
                          <a:solidFill>
                            <a:srgbClr val="000000"/>
                          </a:solidFill>
                          <a:effectLst/>
                          <a:latin typeface="Sakkal Majalla" panose="02000000000000000000" pitchFamily="2" charset="-78"/>
                          <a:cs typeface="Sakkal Majalla" panose="02000000000000000000" pitchFamily="2" charset="-78"/>
                        </a:rPr>
                        <a:t>الموائمة الاستراتيجية</a:t>
                      </a:r>
                    </a:p>
                  </a:txBody>
                  <a:tcPr marL="4157" marR="4157" marT="4157" marB="0" anchor="ctr"/>
                </a:tc>
                <a:extLst>
                  <a:ext uri="{0D108BD9-81ED-4DB2-BD59-A6C34878D82A}">
                    <a16:rowId xmlns:a16="http://schemas.microsoft.com/office/drawing/2014/main" val="182130939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20</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2000" b="0" i="0" u="none" strike="noStrike" baseline="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a:solidFill>
                            <a:srgbClr val="000000"/>
                          </a:solidFill>
                          <a:effectLst/>
                          <a:latin typeface="Sakkal Majalla" panose="02000000000000000000" pitchFamily="2" charset="-78"/>
                          <a:cs typeface="Sakkal Majalla" panose="02000000000000000000" pitchFamily="2" charset="-78"/>
                        </a:rPr>
                        <a:t>تُسد عبر</a:t>
                      </a:r>
                      <a:r>
                        <a:rPr lang="ar-EG" sz="2000" b="0" i="0" u="none" strike="noStrike" baseline="0">
                          <a:solidFill>
                            <a:srgbClr val="000000"/>
                          </a:solidFill>
                          <a:effectLst/>
                          <a:latin typeface="Sakkal Majalla" panose="02000000000000000000" pitchFamily="2" charset="-78"/>
                          <a:cs typeface="Sakkal Majalla" panose="02000000000000000000" pitchFamily="2" charset="-78"/>
                        </a:rPr>
                        <a:t> </a:t>
                      </a:r>
                      <a:endParaRPr lang="en-US" sz="2000" b="0" i="0" u="none" strike="noStrike" baseline="0">
                        <a:solidFill>
                          <a:srgbClr val="000000"/>
                        </a:solidFill>
                        <a:effectLst/>
                        <a:latin typeface="Sakkal Majalla" panose="02000000000000000000" pitchFamily="2" charset="-78"/>
                        <a:cs typeface="Sakkal Majalla" panose="02000000000000000000" pitchFamily="2" charset="-78"/>
                      </a:endParaRPr>
                    </a:p>
                  </a:txBody>
                  <a:tcPr marL="4157" marR="4157" marT="4157"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200" b="0" i="0" u="none" strike="noStrike" baseline="0">
                          <a:solidFill>
                            <a:srgbClr val="000000"/>
                          </a:solidFill>
                          <a:effectLst/>
                          <a:latin typeface="Sakkal Majalla" panose="02000000000000000000" pitchFamily="2" charset="-78"/>
                          <a:cs typeface="Sakkal Majalla" panose="02000000000000000000" pitchFamily="2" charset="-78"/>
                        </a:rPr>
                        <a:t>"</a:t>
                      </a:r>
                      <a:r>
                        <a:rPr lang="ar-SA" sz="2200" b="1" i="0" u="none" strike="noStrike" baseline="0">
                          <a:solidFill>
                            <a:srgbClr val="000000"/>
                          </a:solidFill>
                          <a:effectLst/>
                          <a:latin typeface="Sakkal Majalla" panose="02000000000000000000" pitchFamily="2" charset="-78"/>
                          <a:cs typeface="Sakkal Majalla" panose="02000000000000000000" pitchFamily="2" charset="-78"/>
                        </a:rPr>
                        <a:t>فجوة</a:t>
                      </a:r>
                      <a:r>
                        <a:rPr lang="ar-EG" sz="2200" b="0" i="0" u="none" strike="noStrike" baseline="0">
                          <a:solidFill>
                            <a:srgbClr val="000000"/>
                          </a:solidFill>
                          <a:effectLst/>
                          <a:latin typeface="Sakkal Majalla" panose="02000000000000000000" pitchFamily="2" charset="-78"/>
                          <a:cs typeface="Sakkal Majalla" panose="02000000000000000000" pitchFamily="2" charset="-78"/>
                        </a:rPr>
                        <a:t>" </a:t>
                      </a:r>
                      <a:r>
                        <a:rPr lang="ar-SA" sz="2200" b="0" i="0" u="none" strike="noStrike" baseline="0">
                          <a:solidFill>
                            <a:srgbClr val="000000"/>
                          </a:solidFill>
                          <a:effectLst/>
                          <a:latin typeface="Sakkal Majalla" panose="02000000000000000000" pitchFamily="2" charset="-78"/>
                          <a:cs typeface="Sakkal Majalla" panose="02000000000000000000" pitchFamily="2" charset="-78"/>
                        </a:rPr>
                        <a:t>تُسد عبر </a:t>
                      </a:r>
                      <a:r>
                        <a:rPr lang="ar-EG" sz="2200" b="0" i="0" u="none" strike="noStrike" baseline="0">
                          <a:solidFill>
                            <a:srgbClr val="000000"/>
                          </a:solidFill>
                          <a:effectLst/>
                          <a:latin typeface="Sakkal Majalla" panose="02000000000000000000" pitchFamily="2" charset="-78"/>
                          <a:cs typeface="Sakkal Majalla" panose="02000000000000000000" pitchFamily="2" charset="-78"/>
                        </a:rPr>
                        <a:t>"</a:t>
                      </a:r>
                      <a:r>
                        <a:rPr lang="ar-SA" sz="2200" b="1" i="0" u="none" strike="noStrike" baseline="0">
                          <a:solidFill>
                            <a:srgbClr val="000000"/>
                          </a:solidFill>
                          <a:effectLst/>
                          <a:latin typeface="Sakkal Majalla" panose="02000000000000000000" pitchFamily="2" charset="-78"/>
                          <a:cs typeface="Sakkal Majalla" panose="02000000000000000000" pitchFamily="2" charset="-78"/>
                        </a:rPr>
                        <a:t>مشروع</a:t>
                      </a:r>
                      <a:r>
                        <a:rPr lang="ar-EG" sz="2200" b="0" i="0" u="none" strike="noStrike" baseline="0">
                          <a:solidFill>
                            <a:srgbClr val="000000"/>
                          </a:solidFill>
                          <a:effectLst/>
                          <a:latin typeface="Sakkal Majalla" panose="02000000000000000000" pitchFamily="2" charset="-78"/>
                          <a:cs typeface="Sakkal Majalla" panose="02000000000000000000" pitchFamily="2" charset="-78"/>
                        </a:rPr>
                        <a:t>"</a:t>
                      </a:r>
                      <a:endParaRPr lang="ar-SA" sz="2200" b="0" i="0" u="none" strike="noStrike">
                        <a:solidFill>
                          <a:srgbClr val="000000"/>
                        </a:solidFill>
                        <a:effectLst/>
                        <a:latin typeface="Calibri" panose="020F0502020204030204" pitchFamily="34" charset="0"/>
                      </a:endParaRPr>
                    </a:p>
                  </a:txBody>
                  <a:tcPr marL="4157" marR="4157" marT="4157" marB="0" anchor="ctr"/>
                </a:tc>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مشروع</a:t>
                      </a:r>
                      <a:endParaRPr lang="en-US"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157" marR="4157" marT="4157"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243285888"/>
                  </a:ext>
                </a:extLst>
              </a:tr>
            </a:tbl>
          </a:graphicData>
        </a:graphic>
      </p:graphicFrame>
    </p:spTree>
    <p:extLst>
      <p:ext uri="{BB962C8B-B14F-4D97-AF65-F5344CB8AC3E}">
        <p14:creationId xmlns:p14="http://schemas.microsoft.com/office/powerpoint/2010/main" val="14093086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a:t>ال</a:t>
            </a:r>
            <a:r>
              <a:rPr lang="ar-EG" dirty="0"/>
              <a:t>بناء </a:t>
            </a:r>
            <a:r>
              <a:rPr lang="ar-SA" dirty="0"/>
              <a:t>في "الموائمة الاستراتيجية</a:t>
            </a:r>
            <a:r>
              <a:rPr lang="ar-EG" dirty="0"/>
              <a:t> (</a:t>
            </a:r>
            <a:r>
              <a:rPr lang="en-US" dirty="0"/>
              <a:t>5</a:t>
            </a:r>
            <a:r>
              <a:rPr lang="ar-EG" dirty="0"/>
              <a:t> / </a:t>
            </a:r>
            <a:r>
              <a:rPr lang="ar-SA" dirty="0"/>
              <a:t>3</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34</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26667877"/>
              </p:ext>
            </p:extLst>
          </p:nvPr>
        </p:nvGraphicFramePr>
        <p:xfrm>
          <a:off x="609600" y="1282290"/>
          <a:ext cx="11070774" cy="5070854"/>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293968">
                  <a:extLst>
                    <a:ext uri="{9D8B030D-6E8A-4147-A177-3AD203B41FA5}">
                      <a16:colId xmlns:a16="http://schemas.microsoft.com/office/drawing/2014/main" val="1302061076"/>
                    </a:ext>
                  </a:extLst>
                </a:gridCol>
                <a:gridCol w="3949700">
                  <a:extLst>
                    <a:ext uri="{9D8B030D-6E8A-4147-A177-3AD203B41FA5}">
                      <a16:colId xmlns:a16="http://schemas.microsoft.com/office/drawing/2014/main" val="1509377109"/>
                    </a:ext>
                  </a:extLst>
                </a:gridCol>
                <a:gridCol w="1974850">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707513">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21</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9">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هدف</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يُحقق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هدف</a:t>
                      </a:r>
                      <a:r>
                        <a:rPr lang="ar-SA" sz="2000" b="0" i="0" u="none" strike="noStrike" dirty="0">
                          <a:solidFill>
                            <a:srgbClr val="000000"/>
                          </a:solidFill>
                          <a:effectLst/>
                          <a:latin typeface="Calibri" panose="020F0502020204030204" pitchFamily="34" charset="0"/>
                        </a:rPr>
                        <a:t>" يُحقق "</a:t>
                      </a:r>
                      <a:r>
                        <a:rPr lang="ar-SA" sz="2000" b="1" i="0" u="none" strike="noStrike" dirty="0">
                          <a:solidFill>
                            <a:srgbClr val="000000"/>
                          </a:solidFill>
                          <a:effectLst/>
                          <a:latin typeface="Calibri" panose="020F0502020204030204" pitchFamily="34" charset="0"/>
                        </a:rPr>
                        <a:t>استراتيجية</a:t>
                      </a:r>
                      <a:r>
                        <a:rPr lang="ar-SA" sz="2000" b="0" i="0" u="none" strike="noStrike" dirty="0">
                          <a:solidFill>
                            <a:srgbClr val="000000"/>
                          </a:solidFill>
                          <a:effectLst/>
                          <a:latin typeface="Calibri" panose="020F0502020204030204" pitchFamily="34" charset="0"/>
                        </a:rPr>
                        <a:t>"</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استراتيجية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8">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الموائمة الاستراتيجية</a:t>
                      </a:r>
                      <a:endParaRPr lang="en-US"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22</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يساهم في تحقيق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هدف</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ساهم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في تحقيق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رسالة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رسالة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23</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يساهم</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هدف</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يساهم في تحقيق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هدف</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هدف</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الموائمة الاستراتيجية</a:t>
                      </a: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24</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يتحقق عبر</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هدف</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يتحقق عبر</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مشروع</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مشروع</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4193838665"/>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25</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يُقاس عبر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هدف</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يُقاس عبر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مؤشر أداء</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مؤشر أداء</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456641915"/>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26</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1800" b="0" i="0" u="none" strike="noStrike" baseline="0" dirty="0">
                          <a:solidFill>
                            <a:srgbClr val="000000"/>
                          </a:solidFill>
                          <a:effectLst/>
                          <a:latin typeface="Calibri" panose="020F0502020204030204" pitchFamily="34" charset="0"/>
                          <a:cs typeface="Sakkal Majalla" panose="02000000000000000000" pitchFamily="2" charset="-78"/>
                        </a:rPr>
                        <a:t>يطلق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هدف</a:t>
                      </a:r>
                      <a:r>
                        <a:rPr lang="ar-SA" sz="2000" b="0" i="0" u="none" strike="noStrike" dirty="0">
                          <a:solidFill>
                            <a:srgbClr val="000000"/>
                          </a:solidFill>
                          <a:effectLst/>
                          <a:latin typeface="Calibri" panose="020F0502020204030204" pitchFamily="34" charset="0"/>
                        </a:rPr>
                        <a:t>" يطلق "</a:t>
                      </a:r>
                      <a:r>
                        <a:rPr lang="ar-SA" sz="2000" b="1" i="0" u="none" strike="noStrike" dirty="0">
                          <a:solidFill>
                            <a:srgbClr val="000000"/>
                          </a:solidFill>
                          <a:effectLst/>
                          <a:latin typeface="Calibri" panose="020F0502020204030204" pitchFamily="34" charset="0"/>
                        </a:rPr>
                        <a:t>مبادرة</a:t>
                      </a:r>
                      <a:r>
                        <a:rPr lang="ar-SA" sz="2000" b="0" i="0" u="none" strike="noStrike" dirty="0">
                          <a:solidFill>
                            <a:srgbClr val="000000"/>
                          </a:solidFill>
                          <a:effectLst/>
                          <a:latin typeface="Calibri" panose="020F0502020204030204" pitchFamily="34" charset="0"/>
                        </a:rPr>
                        <a:t>"</a:t>
                      </a:r>
                    </a:p>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مبادرة</a:t>
                      </a:r>
                      <a:r>
                        <a:rPr lang="ar-SA" sz="2000" b="0" i="0" u="none" strike="noStrike" dirty="0">
                          <a:solidFill>
                            <a:srgbClr val="000000"/>
                          </a:solidFill>
                          <a:effectLst/>
                          <a:latin typeface="Calibri" panose="020F0502020204030204" pitchFamily="34" charset="0"/>
                        </a:rPr>
                        <a:t>" تحقق "</a:t>
                      </a:r>
                      <a:r>
                        <a:rPr lang="ar-SA" sz="2000" b="1" i="0" u="none" strike="noStrike" dirty="0">
                          <a:solidFill>
                            <a:srgbClr val="000000"/>
                          </a:solidFill>
                          <a:effectLst/>
                          <a:latin typeface="Calibri" panose="020F0502020204030204" pitchFamily="34" charset="0"/>
                        </a:rPr>
                        <a:t>هدف</a:t>
                      </a:r>
                      <a:r>
                        <a:rPr lang="ar-SA" sz="2000" b="0" i="0" u="none" strike="noStrike" dirty="0">
                          <a:solidFill>
                            <a:srgbClr val="000000"/>
                          </a:solidFill>
                          <a:effectLst/>
                          <a:latin typeface="Calibri" panose="020F0502020204030204" pitchFamily="34" charset="0"/>
                        </a:rPr>
                        <a:t>"</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مبادرة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76163763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27</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يتحقق عبر</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هدف</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يتحقق عبر</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مُتطلب</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متطلب</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1472548560"/>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28</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ينتمي إلى</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هدف</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ينتمي إلى</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ركيزة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ركيزة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9968773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29</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ينتمي إلى</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هدف</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ينتمي الى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182130939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30</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مبدأ</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يوجه</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مبدأ</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يوجِّه</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متطلب</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متطلب</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الموائمة الاستراتيجية</a:t>
                      </a:r>
                    </a:p>
                  </a:txBody>
                  <a:tcPr marL="3810" marR="3810" marT="3810" marB="0" anchor="ctr"/>
                </a:tc>
                <a:extLst>
                  <a:ext uri="{0D108BD9-81ED-4DB2-BD59-A6C34878D82A}">
                    <a16:rowId xmlns:a16="http://schemas.microsoft.com/office/drawing/2014/main" val="3243285888"/>
                  </a:ext>
                </a:extLst>
              </a:tr>
            </a:tbl>
          </a:graphicData>
        </a:graphic>
      </p:graphicFrame>
    </p:spTree>
    <p:extLst>
      <p:ext uri="{BB962C8B-B14F-4D97-AF65-F5344CB8AC3E}">
        <p14:creationId xmlns:p14="http://schemas.microsoft.com/office/powerpoint/2010/main" val="25679484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a:t>ال</a:t>
            </a:r>
            <a:r>
              <a:rPr lang="ar-EG" dirty="0"/>
              <a:t>بناء </a:t>
            </a:r>
            <a:r>
              <a:rPr lang="ar-SA" dirty="0"/>
              <a:t>في "الموائمة الاستراتيجية</a:t>
            </a:r>
            <a:r>
              <a:rPr lang="ar-EG" dirty="0"/>
              <a:t> (</a:t>
            </a:r>
            <a:r>
              <a:rPr lang="en-US" dirty="0"/>
              <a:t>5</a:t>
            </a:r>
            <a:r>
              <a:rPr lang="ar-EG" dirty="0"/>
              <a:t> / </a:t>
            </a:r>
            <a:r>
              <a:rPr lang="ar-SA" dirty="0"/>
              <a:t>4</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35</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1244954688"/>
              </p:ext>
            </p:extLst>
          </p:nvPr>
        </p:nvGraphicFramePr>
        <p:xfrm>
          <a:off x="609600" y="1282290"/>
          <a:ext cx="11070774" cy="4874103"/>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293968">
                  <a:extLst>
                    <a:ext uri="{9D8B030D-6E8A-4147-A177-3AD203B41FA5}">
                      <a16:colId xmlns:a16="http://schemas.microsoft.com/office/drawing/2014/main" val="1302061076"/>
                    </a:ext>
                  </a:extLst>
                </a:gridCol>
                <a:gridCol w="3949700">
                  <a:extLst>
                    <a:ext uri="{9D8B030D-6E8A-4147-A177-3AD203B41FA5}">
                      <a16:colId xmlns:a16="http://schemas.microsoft.com/office/drawing/2014/main" val="1509377109"/>
                    </a:ext>
                  </a:extLst>
                </a:gridCol>
                <a:gridCol w="1974850">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707513">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31</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مؤشر أداء</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يقيس</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مؤشر أداء</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يقيس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هدف</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هدف</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الموائمة الاستراتيجية</a:t>
                      </a: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32</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يقيس</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مؤشر أداء</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يقيس</a:t>
                      </a:r>
                      <a:r>
                        <a:rPr lang="en-US"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مشر</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و</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ع</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مشروع</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33</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يقيس</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مؤشر أداء</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يقيس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إجراء أعمال</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خدمة </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أعمال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34</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يقيس</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مؤشر أداء</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يقيس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إجراء أعمال</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إجراء أعمال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4193838665"/>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35</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6">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مشروع</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يحقق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مشروع</a:t>
                      </a:r>
                      <a:r>
                        <a:rPr lang="ar-SA" sz="2000" b="0" i="0" u="none" strike="noStrike" dirty="0">
                          <a:solidFill>
                            <a:srgbClr val="000000"/>
                          </a:solidFill>
                          <a:effectLst/>
                          <a:latin typeface="Calibri" panose="020F0502020204030204" pitchFamily="34" charset="0"/>
                        </a:rPr>
                        <a:t>" يحقق "</a:t>
                      </a:r>
                      <a:r>
                        <a:rPr lang="ar-SA" sz="2000" b="1" i="0" u="none" strike="noStrike" dirty="0">
                          <a:solidFill>
                            <a:srgbClr val="000000"/>
                          </a:solidFill>
                          <a:effectLst/>
                          <a:latin typeface="Calibri" panose="020F0502020204030204" pitchFamily="34" charset="0"/>
                        </a:rPr>
                        <a:t>هدف</a:t>
                      </a:r>
                      <a:r>
                        <a:rPr lang="ar-SA" sz="2000" b="0" i="0" u="none" strike="noStrike" dirty="0">
                          <a:solidFill>
                            <a:srgbClr val="000000"/>
                          </a:solidFill>
                          <a:effectLst/>
                          <a:latin typeface="Calibri" panose="020F0502020204030204" pitchFamily="34" charset="0"/>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1" i="0" u="none" strike="noStrike" baseline="0" dirty="0">
                          <a:solidFill>
                            <a:srgbClr val="000000"/>
                          </a:solidFill>
                          <a:effectLst/>
                          <a:latin typeface="Calibri" panose="020F0502020204030204" pitchFamily="34" charset="0"/>
                          <a:cs typeface="Sakkal Majalla" panose="02000000000000000000" pitchFamily="2" charset="-78"/>
                        </a:rPr>
                        <a:t>هدف</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5">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الموائمة الاستراتيجية</a:t>
                      </a:r>
                    </a:p>
                  </a:txBody>
                  <a:tcPr marL="3810" marR="3810" marT="3810" marB="0" anchor="ctr"/>
                </a:tc>
                <a:extLst>
                  <a:ext uri="{0D108BD9-81ED-4DB2-BD59-A6C34878D82A}">
                    <a16:rowId xmlns:a16="http://schemas.microsoft.com/office/drawing/2014/main" val="3456641915"/>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36</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يسد</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مشروع</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يسد </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فجوة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فجوة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76163763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37</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يُقاس عبر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مشروع</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يُقاس عبر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مؤشر أداء</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مؤشر أداء</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1472548560"/>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38</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يندرج من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مشروع</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يندرج</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من</a:t>
                      </a:r>
                      <a:r>
                        <a:rPr lang="en-US"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مبادرة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مبادرة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9968773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39</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يحقق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مشروع</a:t>
                      </a:r>
                      <a:r>
                        <a:rPr lang="ar-SA" sz="2000" b="0" i="0" u="none" strike="noStrike" dirty="0">
                          <a:solidFill>
                            <a:srgbClr val="000000"/>
                          </a:solidFill>
                          <a:effectLst/>
                          <a:latin typeface="Calibri" panose="020F0502020204030204" pitchFamily="34" charset="0"/>
                        </a:rPr>
                        <a:t>" يحقق "</a:t>
                      </a:r>
                      <a:r>
                        <a:rPr lang="ar-SA" sz="2000" b="1" i="0" u="none" strike="noStrike" dirty="0">
                          <a:solidFill>
                            <a:srgbClr val="000000"/>
                          </a:solidFill>
                          <a:effectLst/>
                          <a:latin typeface="Calibri" panose="020F0502020204030204" pitchFamily="34" charset="0"/>
                        </a:rPr>
                        <a:t>متطلب</a:t>
                      </a:r>
                      <a:r>
                        <a:rPr lang="ar-SA" sz="2000" b="0" i="0" u="none" strike="noStrike" dirty="0">
                          <a:solidFill>
                            <a:srgbClr val="000000"/>
                          </a:solidFill>
                          <a:effectLst/>
                          <a:latin typeface="Calibri" panose="020F0502020204030204" pitchFamily="34" charset="0"/>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متطلب</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182130939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40</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kumimoji="0" lang="ar-EG" sz="18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يُنفذ من قبل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EG" sz="2000" b="1"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مشروع</a:t>
                      </a: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يُنفذ من قبل "</a:t>
                      </a:r>
                      <a:r>
                        <a:rPr kumimoji="0" lang="ar-EG" sz="2000" b="1"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مزود خدمة</a:t>
                      </a: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ar-SA"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0" fontAlgn="ctr"/>
                      <a:r>
                        <a:rPr kumimoji="0" lang="ar-EG" sz="1800" b="1"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مزود خدمة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3243285888"/>
                  </a:ext>
                </a:extLst>
              </a:tr>
            </a:tbl>
          </a:graphicData>
        </a:graphic>
      </p:graphicFrame>
    </p:spTree>
    <p:extLst>
      <p:ext uri="{BB962C8B-B14F-4D97-AF65-F5344CB8AC3E}">
        <p14:creationId xmlns:p14="http://schemas.microsoft.com/office/powerpoint/2010/main" val="12992754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nchor="ctr">
            <a:normAutofit/>
          </a:bodyPr>
          <a:lstStyle/>
          <a:p>
            <a:pPr>
              <a:spcAft>
                <a:spcPts val="600"/>
              </a:spcAft>
            </a:pPr>
            <a:fld id="{0BE4EC83-A869-464E-AE9F-881796FB085E}" type="slidenum">
              <a:rPr lang="en-US" smtClean="0"/>
              <a:pPr>
                <a:spcAft>
                  <a:spcPts val="600"/>
                </a:spcAft>
              </a:pPr>
              <a:t>36</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b="1" kern="1200"/>
              <a:t>علاقات مكونات البناء في "الموائمة الاستراتيجية (5 / 5)</a:t>
            </a:r>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3904367202"/>
              </p:ext>
            </p:extLst>
          </p:nvPr>
        </p:nvGraphicFramePr>
        <p:xfrm>
          <a:off x="609599" y="1634871"/>
          <a:ext cx="10972801" cy="1573596"/>
        </p:xfrm>
        <a:graphic>
          <a:graphicData uri="http://schemas.openxmlformats.org/drawingml/2006/table">
            <a:tbl>
              <a:tblPr rtl="1" firstRow="1" bandRow="1">
                <a:tableStyleId>{00A15C55-8517-42AA-B614-E9B94910E393}</a:tableStyleId>
              </a:tblPr>
              <a:tblGrid>
                <a:gridCol w="566121">
                  <a:extLst>
                    <a:ext uri="{9D8B030D-6E8A-4147-A177-3AD203B41FA5}">
                      <a16:colId xmlns:a16="http://schemas.microsoft.com/office/drawing/2014/main" val="3903813106"/>
                    </a:ext>
                  </a:extLst>
                </a:gridCol>
                <a:gridCol w="1411852">
                  <a:extLst>
                    <a:ext uri="{9D8B030D-6E8A-4147-A177-3AD203B41FA5}">
                      <a16:colId xmlns:a16="http://schemas.microsoft.com/office/drawing/2014/main" val="2405616672"/>
                    </a:ext>
                  </a:extLst>
                </a:gridCol>
                <a:gridCol w="1378869">
                  <a:extLst>
                    <a:ext uri="{9D8B030D-6E8A-4147-A177-3AD203B41FA5}">
                      <a16:colId xmlns:a16="http://schemas.microsoft.com/office/drawing/2014/main" val="1302061076"/>
                    </a:ext>
                  </a:extLst>
                </a:gridCol>
                <a:gridCol w="3531250">
                  <a:extLst>
                    <a:ext uri="{9D8B030D-6E8A-4147-A177-3AD203B41FA5}">
                      <a16:colId xmlns:a16="http://schemas.microsoft.com/office/drawing/2014/main" val="1509377109"/>
                    </a:ext>
                  </a:extLst>
                </a:gridCol>
                <a:gridCol w="1929944">
                  <a:extLst>
                    <a:ext uri="{9D8B030D-6E8A-4147-A177-3AD203B41FA5}">
                      <a16:colId xmlns:a16="http://schemas.microsoft.com/office/drawing/2014/main" val="3531987255"/>
                    </a:ext>
                  </a:extLst>
                </a:gridCol>
                <a:gridCol w="2154765">
                  <a:extLst>
                    <a:ext uri="{9D8B030D-6E8A-4147-A177-3AD203B41FA5}">
                      <a16:colId xmlns:a16="http://schemas.microsoft.com/office/drawing/2014/main" val="221393129"/>
                    </a:ext>
                  </a:extLst>
                </a:gridCol>
              </a:tblGrid>
              <a:tr h="443694">
                <a:tc>
                  <a:txBody>
                    <a:bodyPr/>
                    <a:lstStyle/>
                    <a:p>
                      <a:pPr algn="ctr" rtl="1" fontAlgn="ctr"/>
                      <a:r>
                        <a:rPr lang="ar-SA" sz="2600" u="none" strike="noStrike" baseline="0">
                          <a:effectLst/>
                        </a:rPr>
                        <a:t>#</a:t>
                      </a:r>
                      <a:endParaRPr lang="ar-SA" sz="2600" b="1" i="0" u="none" strike="noStrike" baseline="0">
                        <a:solidFill>
                          <a:srgbClr val="FFFFFF"/>
                        </a:solidFill>
                        <a:effectLst/>
                        <a:latin typeface="Sakkal Majalla" panose="02000000000000000000" pitchFamily="2" charset="-78"/>
                        <a:cs typeface="Sakkal Majalla" panose="02000000000000000000" pitchFamily="2" charset="-78"/>
                      </a:endParaRPr>
                    </a:p>
                  </a:txBody>
                  <a:tcPr marL="4704" marR="4704" marT="4704" marB="0" anchor="ctr"/>
                </a:tc>
                <a:tc>
                  <a:txBody>
                    <a:bodyPr/>
                    <a:lstStyle/>
                    <a:p>
                      <a:pPr algn="ctr" rtl="1" fontAlgn="ctr"/>
                      <a:r>
                        <a:rPr lang="ar-EG" sz="2600" b="1" i="0" u="none" strike="noStrike" baseline="0">
                          <a:solidFill>
                            <a:srgbClr val="FFFFFF"/>
                          </a:solidFill>
                          <a:effectLst/>
                          <a:latin typeface="Sakkal Majalla" panose="02000000000000000000" pitchFamily="2" charset="-78"/>
                          <a:cs typeface="Sakkal Majalla" panose="02000000000000000000" pitchFamily="2" charset="-78"/>
                        </a:rPr>
                        <a:t>وحد</a:t>
                      </a:r>
                      <a:r>
                        <a:rPr lang="ar-SA" sz="2600" b="1" i="0" u="none" strike="noStrike" baseline="0">
                          <a:solidFill>
                            <a:srgbClr val="FFFFFF"/>
                          </a:solidFill>
                          <a:effectLst/>
                          <a:latin typeface="Sakkal Majalla" panose="02000000000000000000" pitchFamily="2" charset="-78"/>
                          <a:cs typeface="Sakkal Majalla" panose="02000000000000000000" pitchFamily="2" charset="-78"/>
                        </a:rPr>
                        <a:t>ة</a:t>
                      </a:r>
                      <a:r>
                        <a:rPr lang="ar-EG" sz="2600" b="1" i="0" u="none" strike="noStrike" baseline="0">
                          <a:solidFill>
                            <a:srgbClr val="FFFFFF"/>
                          </a:solidFill>
                          <a:effectLst/>
                          <a:latin typeface="Sakkal Majalla" panose="02000000000000000000" pitchFamily="2" charset="-78"/>
                          <a:cs typeface="Sakkal Majalla" panose="02000000000000000000" pitchFamily="2" charset="-78"/>
                        </a:rPr>
                        <a:t> البناء</a:t>
                      </a:r>
                      <a:endParaRPr lang="ar-SA" sz="2600" b="1" i="0" u="none" strike="noStrike" baseline="0">
                        <a:solidFill>
                          <a:srgbClr val="FFFFFF"/>
                        </a:solidFill>
                        <a:effectLst/>
                        <a:latin typeface="Sakkal Majalla" panose="02000000000000000000" pitchFamily="2" charset="-78"/>
                        <a:cs typeface="Sakkal Majalla" panose="02000000000000000000" pitchFamily="2" charset="-78"/>
                      </a:endParaRPr>
                    </a:p>
                  </a:txBody>
                  <a:tcPr marL="4704" marR="4704" marT="4704" marB="0" anchor="ctr"/>
                </a:tc>
                <a:tc>
                  <a:txBody>
                    <a:bodyPr/>
                    <a:lstStyle/>
                    <a:p>
                      <a:pPr algn="ctr" rtl="1" fontAlgn="ctr"/>
                      <a:r>
                        <a:rPr lang="ar-SA" sz="2600" b="1" i="0" u="none" strike="noStrike" baseline="0">
                          <a:solidFill>
                            <a:srgbClr val="FFFFFF"/>
                          </a:solidFill>
                          <a:effectLst/>
                          <a:latin typeface="Sakkal Majalla" panose="02000000000000000000" pitchFamily="2" charset="-78"/>
                          <a:cs typeface="Sakkal Majalla" panose="02000000000000000000" pitchFamily="2" charset="-78"/>
                        </a:rPr>
                        <a:t>العلاقة</a:t>
                      </a:r>
                    </a:p>
                  </a:txBody>
                  <a:tcPr marL="4704" marR="4704" marT="4704" marB="0" anchor="ctr"/>
                </a:tc>
                <a:tc>
                  <a:txBody>
                    <a:bodyPr/>
                    <a:lstStyle/>
                    <a:p>
                      <a:pPr algn="ctr" rtl="1" fontAlgn="ctr"/>
                      <a:r>
                        <a:rPr lang="ar-SA" sz="2600" u="none" strike="noStrike" baseline="0">
                          <a:effectLst/>
                        </a:rPr>
                        <a:t>وصف العلاقة</a:t>
                      </a:r>
                      <a:endParaRPr lang="ar-SA" sz="2600" b="0" i="0" u="none" strike="noStrike" baseline="0">
                        <a:solidFill>
                          <a:srgbClr val="FFFFFF"/>
                        </a:solidFill>
                        <a:effectLst/>
                        <a:latin typeface="Sakkal Majalla" panose="02000000000000000000" pitchFamily="2" charset="-78"/>
                        <a:cs typeface="Sakkal Majalla" panose="02000000000000000000" pitchFamily="2" charset="-78"/>
                      </a:endParaRPr>
                    </a:p>
                  </a:txBody>
                  <a:tcPr marL="4704" marR="4704" marT="4704" marB="0" anchor="ctr"/>
                </a:tc>
                <a:tc>
                  <a:txBody>
                    <a:bodyPr/>
                    <a:lstStyle/>
                    <a:p>
                      <a:pPr algn="ctr" rtl="1" fontAlgn="ctr"/>
                      <a:r>
                        <a:rPr lang="ar-SA" sz="2600" b="0" i="0" u="none" strike="noStrike" baseline="0">
                          <a:solidFill>
                            <a:srgbClr val="FFFFFF"/>
                          </a:solidFill>
                          <a:effectLst/>
                          <a:latin typeface="Sakkal Majalla" panose="02000000000000000000" pitchFamily="2" charset="-78"/>
                          <a:cs typeface="Sakkal Majalla" panose="02000000000000000000" pitchFamily="2" charset="-78"/>
                        </a:rPr>
                        <a:t>وحدة البناء</a:t>
                      </a:r>
                    </a:p>
                  </a:txBody>
                  <a:tcPr marL="4704" marR="4704" marT="4704" marB="0" anchor="ctr"/>
                </a:tc>
                <a:tc>
                  <a:txBody>
                    <a:bodyPr/>
                    <a:lstStyle/>
                    <a:p>
                      <a:pPr algn="ctr" rtl="1" fontAlgn="ctr"/>
                      <a:r>
                        <a:rPr lang="ar-SA" sz="2600" b="0" i="0" u="none" strike="noStrike" baseline="0">
                          <a:solidFill>
                            <a:srgbClr val="FFFFFF"/>
                          </a:solidFill>
                          <a:effectLst/>
                          <a:latin typeface="Sakkal Majalla" panose="02000000000000000000" pitchFamily="2" charset="-78"/>
                          <a:cs typeface="Sakkal Majalla" panose="02000000000000000000" pitchFamily="2" charset="-78"/>
                        </a:rPr>
                        <a:t>المجال</a:t>
                      </a:r>
                    </a:p>
                  </a:txBody>
                  <a:tcPr marL="4704" marR="4704" marT="4704" marB="0" anchor="ctr"/>
                </a:tc>
                <a:extLst>
                  <a:ext uri="{0D108BD9-81ED-4DB2-BD59-A6C34878D82A}">
                    <a16:rowId xmlns:a16="http://schemas.microsoft.com/office/drawing/2014/main" val="2314702902"/>
                  </a:ext>
                </a:extLst>
              </a:tr>
              <a:tr h="376634">
                <a:tc>
                  <a:txBody>
                    <a:bodyPr/>
                    <a:lstStyle/>
                    <a:p>
                      <a:pPr algn="ctr" rtl="0" fontAlgn="ctr"/>
                      <a:r>
                        <a:rPr lang="ar-SA" sz="2200" b="1" i="0" u="none" strike="noStrike" baseline="0" dirty="0">
                          <a:solidFill>
                            <a:srgbClr val="000000"/>
                          </a:solidFill>
                          <a:effectLst/>
                          <a:latin typeface="Sakkal Majalla" panose="02000000000000000000" pitchFamily="2" charset="-78"/>
                          <a:cs typeface="Sakkal Majalla" panose="02000000000000000000" pitchFamily="2" charset="-78"/>
                        </a:rPr>
                        <a:t>41</a:t>
                      </a:r>
                      <a:endParaRPr lang="en-US" sz="22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157" marR="4157" marT="4157"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موقع</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يحتوى على</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موقع</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يحتوي على</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مركز بيانات</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مركز بيانات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البيانات</a:t>
                      </a:r>
                    </a:p>
                  </a:txBody>
                  <a:tcPr marL="3810" marR="3810" marT="3810" marB="0" anchor="ctr"/>
                </a:tc>
                <a:extLst>
                  <a:ext uri="{0D108BD9-81ED-4DB2-BD59-A6C34878D82A}">
                    <a16:rowId xmlns:a16="http://schemas.microsoft.com/office/drawing/2014/main" val="2489963446"/>
                  </a:ext>
                </a:extLst>
              </a:tr>
              <a:tr h="376634">
                <a:tc>
                  <a:txBody>
                    <a:bodyPr/>
                    <a:lstStyle/>
                    <a:p>
                      <a:pPr algn="ctr" rtl="0" fontAlgn="ctr"/>
                      <a:r>
                        <a:rPr lang="ar-SA" sz="2200" b="1" i="0" u="none" strike="noStrike" baseline="0" dirty="0">
                          <a:solidFill>
                            <a:srgbClr val="000000"/>
                          </a:solidFill>
                          <a:effectLst/>
                          <a:latin typeface="Sakkal Majalla" panose="02000000000000000000" pitchFamily="2" charset="-78"/>
                          <a:cs typeface="Sakkal Majalla" panose="02000000000000000000" pitchFamily="2" charset="-78"/>
                        </a:rPr>
                        <a:t>42</a:t>
                      </a:r>
                      <a:endParaRPr lang="en-US" sz="22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157" marR="4157" marT="4157"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مبادرة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تحقق</a:t>
                      </a:r>
                      <a:endParaRPr lang="en-US"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157" marR="4157" marT="4157"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400" b="1" i="0" u="none" strike="noStrike" baseline="0" dirty="0">
                          <a:solidFill>
                            <a:srgbClr val="000000"/>
                          </a:solidFill>
                          <a:effectLst/>
                          <a:latin typeface="Sakkal Majalla" panose="02000000000000000000" pitchFamily="2" charset="-78"/>
                          <a:cs typeface="Sakkal Majalla" panose="02000000000000000000" pitchFamily="2" charset="-78"/>
                        </a:rPr>
                        <a:t>مبادرة</a:t>
                      </a:r>
                      <a:r>
                        <a:rPr lang="ar-EG" sz="24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400" b="0" i="0" u="none" strike="noStrike" baseline="0" dirty="0">
                          <a:solidFill>
                            <a:srgbClr val="000000"/>
                          </a:solidFill>
                          <a:effectLst/>
                          <a:latin typeface="Sakkal Majalla" panose="02000000000000000000" pitchFamily="2" charset="-78"/>
                          <a:cs typeface="Sakkal Majalla" panose="02000000000000000000" pitchFamily="2" charset="-78"/>
                        </a:rPr>
                        <a:t>تحقق</a:t>
                      </a:r>
                      <a:r>
                        <a:rPr lang="ar-EG" sz="2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400" b="1" i="0" u="none" strike="noStrike" baseline="0" dirty="0">
                          <a:solidFill>
                            <a:srgbClr val="000000"/>
                          </a:solidFill>
                          <a:effectLst/>
                          <a:latin typeface="Sakkal Majalla" panose="02000000000000000000" pitchFamily="2" charset="-78"/>
                          <a:cs typeface="Sakkal Majalla" panose="02000000000000000000" pitchFamily="2" charset="-78"/>
                        </a:rPr>
                        <a:t>هدف</a:t>
                      </a:r>
                      <a:r>
                        <a:rPr lang="ar-EG" sz="24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200" b="0" i="0" u="none" strike="noStrike" dirty="0">
                        <a:solidFill>
                          <a:srgbClr val="000000"/>
                        </a:solidFill>
                        <a:effectLst/>
                        <a:latin typeface="Calibri" panose="020F0502020204030204" pitchFamily="34" charset="0"/>
                      </a:endParaRPr>
                    </a:p>
                  </a:txBody>
                  <a:tcPr marL="4157" marR="4157" marT="4157" marB="0" anchor="ctr"/>
                </a:tc>
                <a:tc>
                  <a:txBody>
                    <a:bodyPr/>
                    <a:lstStyle/>
                    <a:p>
                      <a:pPr algn="ctr" rtl="0"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هدف</a:t>
                      </a:r>
                      <a:endParaRPr lang="en-US"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157" marR="4157" marT="4157" marB="0" anchor="ctr"/>
                </a:tc>
                <a:tc rowSpan="2">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الموائمة الاستراتيجية</a:t>
                      </a:r>
                    </a:p>
                  </a:txBody>
                  <a:tcPr marL="3810" marR="3810" marT="3810" marB="0" anchor="ctr"/>
                </a:tc>
                <a:extLst>
                  <a:ext uri="{0D108BD9-81ED-4DB2-BD59-A6C34878D82A}">
                    <a16:rowId xmlns:a16="http://schemas.microsoft.com/office/drawing/2014/main" val="665810392"/>
                  </a:ext>
                </a:extLst>
              </a:tr>
              <a:tr h="376634">
                <a:tc>
                  <a:txBody>
                    <a:bodyPr/>
                    <a:lstStyle/>
                    <a:p>
                      <a:pPr algn="ctr" rtl="0" fontAlgn="ctr"/>
                      <a:r>
                        <a:rPr lang="ar-SA" sz="2200" b="1" i="0" u="none" strike="noStrike" baseline="0" dirty="0">
                          <a:solidFill>
                            <a:srgbClr val="000000"/>
                          </a:solidFill>
                          <a:effectLst/>
                          <a:latin typeface="Sakkal Majalla" panose="02000000000000000000" pitchFamily="2" charset="-78"/>
                          <a:cs typeface="Sakkal Majalla" panose="02000000000000000000" pitchFamily="2" charset="-78"/>
                        </a:rPr>
                        <a:t>43</a:t>
                      </a:r>
                      <a:endParaRPr lang="en-US" sz="22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157" marR="4157" marT="4157"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تحتوي على</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مبادرة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تحتوي على</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مشروع</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مشروع</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2512632214"/>
                  </a:ext>
                </a:extLst>
              </a:tr>
            </a:tbl>
          </a:graphicData>
        </a:graphic>
      </p:graphicFrame>
    </p:spTree>
    <p:extLst>
      <p:ext uri="{BB962C8B-B14F-4D97-AF65-F5344CB8AC3E}">
        <p14:creationId xmlns:p14="http://schemas.microsoft.com/office/powerpoint/2010/main" val="5544500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62880" y="3925452"/>
            <a:ext cx="6281420" cy="641639"/>
          </a:xfrm>
        </p:spPr>
        <p:txBody>
          <a:bodyPr/>
          <a:lstStyle/>
          <a:p>
            <a:r>
              <a:rPr lang="ar-EG" sz="2800" dirty="0"/>
              <a:t>وحدات البناء لمجال "بنية الأعمال"</a:t>
            </a:r>
            <a:endParaRPr lang="en-US" sz="2800" dirty="0"/>
          </a:p>
        </p:txBody>
      </p:sp>
      <p:sp>
        <p:nvSpPr>
          <p:cNvPr id="4" name="Text Placeholder 3"/>
          <p:cNvSpPr>
            <a:spLocks noGrp="1"/>
          </p:cNvSpPr>
          <p:nvPr>
            <p:ph type="body" sz="quarter" idx="14"/>
          </p:nvPr>
        </p:nvSpPr>
        <p:spPr/>
        <p:txBody>
          <a:bodyPr/>
          <a:lstStyle/>
          <a:p>
            <a:r>
              <a:rPr lang="en-US" sz="7200" dirty="0"/>
              <a:t>3.2</a:t>
            </a:r>
          </a:p>
        </p:txBody>
      </p:sp>
    </p:spTree>
    <p:extLst>
      <p:ext uri="{BB962C8B-B14F-4D97-AF65-F5344CB8AC3E}">
        <p14:creationId xmlns:p14="http://schemas.microsoft.com/office/powerpoint/2010/main" val="3532169484"/>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وحدات البناء التابعة لمجال </a:t>
            </a:r>
            <a:r>
              <a:rPr lang="ar-EG" dirty="0"/>
              <a:t>"</a:t>
            </a:r>
            <a:r>
              <a:rPr lang="ar-SA" dirty="0"/>
              <a:t>بنية الأعمال</a:t>
            </a:r>
            <a:r>
              <a:rPr lang="ar-EG" dirty="0"/>
              <a:t>"</a:t>
            </a:r>
            <a:endParaRPr lang="en-US" dirty="0"/>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38</a:t>
            </a:fld>
            <a:endParaRPr lang="en-US"/>
          </a:p>
        </p:txBody>
      </p:sp>
      <p:sp>
        <p:nvSpPr>
          <p:cNvPr id="3" name="Rectangle 2">
            <a:extLst>
              <a:ext uri="{FF2B5EF4-FFF2-40B4-BE49-F238E27FC236}">
                <a16:creationId xmlns:a16="http://schemas.microsoft.com/office/drawing/2014/main" id="{8D9CE795-A12F-7C98-BF54-5279E8F1DDA2}"/>
              </a:ext>
            </a:extLst>
          </p:cNvPr>
          <p:cNvSpPr/>
          <p:nvPr/>
        </p:nvSpPr>
        <p:spPr>
          <a:xfrm>
            <a:off x="1071158" y="1389169"/>
            <a:ext cx="10508468" cy="369332"/>
          </a:xfrm>
          <a:prstGeom prst="rect">
            <a:avLst/>
          </a:prstGeom>
        </p:spPr>
        <p:txBody>
          <a:bodyPr wrap="square">
            <a:spAutoFit/>
          </a:bodyPr>
          <a:lstStyle/>
          <a:p>
            <a:pPr algn="r" rtl="1"/>
            <a:r>
              <a:rPr lang="ar-SA" b="1" dirty="0">
                <a:latin typeface="Sakkal Majalla" panose="02000000000000000000" pitchFamily="2" charset="-78"/>
                <a:cs typeface="Sakkal Majalla" panose="02000000000000000000" pitchFamily="2" charset="-78"/>
              </a:rPr>
              <a:t>ي</a:t>
            </a:r>
            <a:r>
              <a:rPr lang="en-US" b="1" dirty="0">
                <a:latin typeface="Sakkal Majalla" panose="02000000000000000000" pitchFamily="2" charset="-78"/>
                <a:cs typeface="Sakkal Majalla" panose="02000000000000000000" pitchFamily="2" charset="-78"/>
              </a:rPr>
              <a:t>وضح </a:t>
            </a:r>
            <a:r>
              <a:rPr lang="en-US" b="1" dirty="0" err="1">
                <a:latin typeface="Sakkal Majalla" panose="02000000000000000000" pitchFamily="2" charset="-78"/>
                <a:cs typeface="Sakkal Majalla" panose="02000000000000000000" pitchFamily="2" charset="-78"/>
              </a:rPr>
              <a:t>الشكل</a:t>
            </a:r>
            <a:r>
              <a:rPr lang="en-US" b="1" dirty="0">
                <a:latin typeface="Sakkal Majalla" panose="02000000000000000000" pitchFamily="2" charset="-78"/>
                <a:cs typeface="Sakkal Majalla" panose="02000000000000000000" pitchFamily="2" charset="-78"/>
              </a:rPr>
              <a:t> </a:t>
            </a:r>
            <a:r>
              <a:rPr lang="en-US" b="1" dirty="0" err="1">
                <a:latin typeface="Sakkal Majalla" panose="02000000000000000000" pitchFamily="2" charset="-78"/>
                <a:cs typeface="Sakkal Majalla" panose="02000000000000000000" pitchFamily="2" charset="-78"/>
              </a:rPr>
              <a:t>أدناه</a:t>
            </a:r>
            <a:r>
              <a:rPr lang="en-US" b="1" dirty="0">
                <a:latin typeface="Sakkal Majalla" panose="02000000000000000000" pitchFamily="2" charset="-78"/>
                <a:cs typeface="Sakkal Majalla" panose="02000000000000000000" pitchFamily="2" charset="-78"/>
              </a:rPr>
              <a:t> </a:t>
            </a:r>
            <a:r>
              <a:rPr lang="ar-SA" b="1" dirty="0">
                <a:latin typeface="Sakkal Majalla" panose="02000000000000000000" pitchFamily="2" charset="-78"/>
                <a:cs typeface="Sakkal Majalla" panose="02000000000000000000" pitchFamily="2" charset="-78"/>
              </a:rPr>
              <a:t>وحدات البناء التابعة لمجال "بنية الأعمال":</a:t>
            </a:r>
            <a:endParaRPr lang="en-US" b="1" dirty="0">
              <a:latin typeface="Sakkal Majalla" panose="02000000000000000000" pitchFamily="2" charset="-78"/>
              <a:cs typeface="Sakkal Majalla" panose="02000000000000000000" pitchFamily="2" charset="-78"/>
            </a:endParaRPr>
          </a:p>
        </p:txBody>
      </p:sp>
      <p:pic>
        <p:nvPicPr>
          <p:cNvPr id="5" name="Picture 4">
            <a:extLst>
              <a:ext uri="{FF2B5EF4-FFF2-40B4-BE49-F238E27FC236}">
                <a16:creationId xmlns:a16="http://schemas.microsoft.com/office/drawing/2014/main" id="{56E4E62A-1BCE-401A-953C-98C46CAE584C}"/>
              </a:ext>
            </a:extLst>
          </p:cNvPr>
          <p:cNvPicPr>
            <a:picLocks noChangeAspect="1"/>
          </p:cNvPicPr>
          <p:nvPr/>
        </p:nvPicPr>
        <p:blipFill>
          <a:blip r:embed="rId3"/>
          <a:stretch>
            <a:fillRect/>
          </a:stretch>
        </p:blipFill>
        <p:spPr>
          <a:xfrm>
            <a:off x="1350493" y="2158464"/>
            <a:ext cx="9597542" cy="3606394"/>
          </a:xfrm>
          <a:prstGeom prst="rect">
            <a:avLst/>
          </a:prstGeom>
        </p:spPr>
      </p:pic>
    </p:spTree>
    <p:extLst>
      <p:ext uri="{BB962C8B-B14F-4D97-AF65-F5344CB8AC3E}">
        <p14:creationId xmlns:p14="http://schemas.microsoft.com/office/powerpoint/2010/main" val="38700477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39</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dirty="0"/>
              <a:t>تعريف وحدات البناء </a:t>
            </a:r>
            <a:r>
              <a:rPr lang="ar-SA" dirty="0"/>
              <a:t>التابعة لمجال "بنية الأعمال"</a:t>
            </a:r>
            <a:endParaRPr lang="en-US" dirty="0"/>
          </a:p>
        </p:txBody>
      </p:sp>
      <p:graphicFrame>
        <p:nvGraphicFramePr>
          <p:cNvPr id="12" name="Table 11">
            <a:extLst>
              <a:ext uri="{FF2B5EF4-FFF2-40B4-BE49-F238E27FC236}">
                <a16:creationId xmlns:a16="http://schemas.microsoft.com/office/drawing/2014/main" id="{716CE2B9-08C8-087A-0FD4-84D4AC499CF8}"/>
              </a:ext>
            </a:extLst>
          </p:cNvPr>
          <p:cNvGraphicFramePr>
            <a:graphicFrameLocks noGrp="1"/>
          </p:cNvGraphicFramePr>
          <p:nvPr>
            <p:extLst>
              <p:ext uri="{D42A27DB-BD31-4B8C-83A1-F6EECF244321}">
                <p14:modId xmlns:p14="http://schemas.microsoft.com/office/powerpoint/2010/main" val="249105270"/>
              </p:ext>
            </p:extLst>
          </p:nvPr>
        </p:nvGraphicFramePr>
        <p:xfrm>
          <a:off x="477517" y="1333674"/>
          <a:ext cx="11236964" cy="4919274"/>
        </p:xfrm>
        <a:graphic>
          <a:graphicData uri="http://schemas.openxmlformats.org/drawingml/2006/table">
            <a:tbl>
              <a:tblPr rtl="1" firstRow="1" bandRow="1">
                <a:tableStyleId>{21E4AEA4-8DFA-4A89-87EB-49C32662AFE0}</a:tableStyleId>
              </a:tblPr>
              <a:tblGrid>
                <a:gridCol w="1559561">
                  <a:extLst>
                    <a:ext uri="{9D8B030D-6E8A-4147-A177-3AD203B41FA5}">
                      <a16:colId xmlns:a16="http://schemas.microsoft.com/office/drawing/2014/main" val="2023822235"/>
                    </a:ext>
                  </a:extLst>
                </a:gridCol>
                <a:gridCol w="7264763">
                  <a:extLst>
                    <a:ext uri="{9D8B030D-6E8A-4147-A177-3AD203B41FA5}">
                      <a16:colId xmlns:a16="http://schemas.microsoft.com/office/drawing/2014/main" val="3711612230"/>
                    </a:ext>
                  </a:extLst>
                </a:gridCol>
                <a:gridCol w="1061357">
                  <a:extLst>
                    <a:ext uri="{9D8B030D-6E8A-4147-A177-3AD203B41FA5}">
                      <a16:colId xmlns:a16="http://schemas.microsoft.com/office/drawing/2014/main" val="3392807632"/>
                    </a:ext>
                  </a:extLst>
                </a:gridCol>
                <a:gridCol w="1351283">
                  <a:extLst>
                    <a:ext uri="{9D8B030D-6E8A-4147-A177-3AD203B41FA5}">
                      <a16:colId xmlns:a16="http://schemas.microsoft.com/office/drawing/2014/main" val="3494791112"/>
                    </a:ext>
                  </a:extLst>
                </a:gridCol>
              </a:tblGrid>
              <a:tr h="420318">
                <a:tc>
                  <a:txBody>
                    <a:bodyPr/>
                    <a:lstStyle/>
                    <a:p>
                      <a:pPr algn="ctr" rtl="1" fontAlgn="b"/>
                      <a:r>
                        <a:rPr lang="ar-SA" sz="2100" u="none" strike="noStrike" dirty="0">
                          <a:effectLst/>
                        </a:rPr>
                        <a:t>وحدة البناء</a:t>
                      </a:r>
                      <a:endParaRPr lang="ar-SA" sz="2100" b="1" i="0" u="none" strike="noStrike" dirty="0">
                        <a:solidFill>
                          <a:srgbClr val="000000"/>
                        </a:solidFill>
                        <a:effectLst/>
                        <a:latin typeface="Arial" panose="020B0604020202020204" pitchFamily="34" charset="0"/>
                      </a:endParaRPr>
                    </a:p>
                  </a:txBody>
                  <a:tcPr anchor="ctr"/>
                </a:tc>
                <a:tc>
                  <a:txBody>
                    <a:bodyPr/>
                    <a:lstStyle/>
                    <a:p>
                      <a:pPr algn="ctr" rtl="1" fontAlgn="b"/>
                      <a:r>
                        <a:rPr lang="ar-SA" sz="2100" u="none" strike="noStrike" dirty="0">
                          <a:effectLst/>
                        </a:rPr>
                        <a:t>التعريف</a:t>
                      </a:r>
                      <a:endParaRPr lang="ar-SA" sz="2100" b="1" i="0" u="none" strike="noStrike" dirty="0">
                        <a:solidFill>
                          <a:srgbClr val="000000"/>
                        </a:solidFill>
                        <a:effectLst/>
                        <a:latin typeface="Arial" panose="020B0604020202020204" pitchFamily="34" charset="0"/>
                      </a:endParaRPr>
                    </a:p>
                  </a:txBody>
                  <a:tcPr anchor="ctr"/>
                </a:tc>
                <a:tc>
                  <a:txBody>
                    <a:bodyPr/>
                    <a:lstStyle/>
                    <a:p>
                      <a:pPr algn="ctr" rtl="1" fontAlgn="b"/>
                      <a:r>
                        <a:rPr lang="ar-SA" sz="2100" b="1" u="none" strike="noStrike" kern="1200" dirty="0">
                          <a:solidFill>
                            <a:schemeClr val="lt1"/>
                          </a:solidFill>
                          <a:effectLst/>
                          <a:latin typeface="+mn-lt"/>
                          <a:ea typeface="+mn-ea"/>
                          <a:cs typeface="+mn-cs"/>
                        </a:rPr>
                        <a:t>مستوى المكون</a:t>
                      </a:r>
                    </a:p>
                  </a:txBody>
                  <a:tcPr anchor="ctr"/>
                </a:tc>
                <a:tc>
                  <a:txBody>
                    <a:bodyPr/>
                    <a:lstStyle/>
                    <a:p>
                      <a:pPr algn="ctr" rtl="1" fontAlgn="b"/>
                      <a:r>
                        <a:rPr lang="ar-SA" sz="2100" b="1" u="none" strike="noStrike" kern="1200" dirty="0">
                          <a:solidFill>
                            <a:schemeClr val="lt1"/>
                          </a:solidFill>
                          <a:effectLst/>
                          <a:latin typeface="+mn-lt"/>
                          <a:ea typeface="+mn-ea"/>
                          <a:cs typeface="+mn-cs"/>
                        </a:rPr>
                        <a:t>مستوى إلزامية التوثيق</a:t>
                      </a:r>
                    </a:p>
                  </a:txBody>
                  <a:tcPr anchor="ctr"/>
                </a:tc>
                <a:extLst>
                  <a:ext uri="{0D108BD9-81ED-4DB2-BD59-A6C34878D82A}">
                    <a16:rowId xmlns:a16="http://schemas.microsoft.com/office/drawing/2014/main" val="2631080347"/>
                  </a:ext>
                </a:extLst>
              </a:tr>
              <a:tr h="647601">
                <a:tc>
                  <a:txBody>
                    <a:bodyPr/>
                    <a:lstStyle/>
                    <a:p>
                      <a:pPr algn="ctr" rtl="1" fontAlgn="b"/>
                      <a:r>
                        <a:rPr lang="ar-SA" sz="2000" b="1" i="0" u="none" strike="noStrike" dirty="0">
                          <a:solidFill>
                            <a:srgbClr val="000000"/>
                          </a:solidFill>
                          <a:effectLst/>
                          <a:latin typeface="Calibri" panose="020F0502020204030204" pitchFamily="34" charset="0"/>
                          <a:hlinkClick r:id="rId3" action="ppaction://hlinksldjump"/>
                        </a:rPr>
                        <a:t>وحدة تنظيمية</a:t>
                      </a:r>
                      <a:endParaRPr lang="ar-SA" sz="2000" b="1" i="0" u="none" strike="noStrike" dirty="0">
                        <a:solidFill>
                          <a:srgbClr val="000000"/>
                        </a:solidFill>
                        <a:effectLst/>
                        <a:latin typeface="Calibri" panose="020F0502020204030204" pitchFamily="34" charset="0"/>
                      </a:endParaRP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تمثل جزءا من الهيكل التنظيمي</a:t>
                      </a:r>
                      <a:r>
                        <a:rPr lang="ar-EG" sz="1900" b="0" i="0" u="none" strike="noStrike" dirty="0">
                          <a:solidFill>
                            <a:srgbClr val="000000"/>
                          </a:solidFill>
                          <a:effectLst/>
                          <a:latin typeface="Calibri" panose="020F0502020204030204" pitchFamily="34" charset="0"/>
                        </a:rPr>
                        <a:t> الداخلي الخاص بالهيئة، </a:t>
                      </a:r>
                      <a:r>
                        <a:rPr lang="ar-SA" sz="1900" b="0" i="0" u="none" strike="noStrike" dirty="0">
                          <a:solidFill>
                            <a:srgbClr val="000000"/>
                          </a:solidFill>
                          <a:effectLst/>
                          <a:latin typeface="Calibri" panose="020F0502020204030204" pitchFamily="34" charset="0"/>
                        </a:rPr>
                        <a:t>أو تابعا لجهة خارجية</a:t>
                      </a:r>
                      <a:r>
                        <a:rPr lang="ar-EG" sz="1900" b="0" i="0" u="none" strike="noStrike" dirty="0">
                          <a:solidFill>
                            <a:srgbClr val="000000"/>
                          </a:solidFill>
                          <a:effectLst/>
                          <a:latin typeface="Calibri" panose="020F0502020204030204" pitchFamily="34" charset="0"/>
                        </a:rPr>
                        <a:t>، و</a:t>
                      </a:r>
                      <a:r>
                        <a:rPr lang="ar-SA" sz="1900" b="0" i="0" u="none" strike="noStrike" dirty="0">
                          <a:solidFill>
                            <a:srgbClr val="000000"/>
                          </a:solidFill>
                          <a:effectLst/>
                          <a:latin typeface="Calibri" panose="020F0502020204030204" pitchFamily="34" charset="0"/>
                        </a:rPr>
                        <a:t>تمتلك مهام محددة تعنى بتنفيذها</a:t>
                      </a:r>
                      <a:r>
                        <a:rPr lang="ar-EG" sz="1900" b="0" i="0" u="none" strike="noStrike" dirty="0">
                          <a:solidFill>
                            <a:srgbClr val="000000"/>
                          </a:solidFill>
                          <a:effectLst/>
                          <a:latin typeface="Calibri" panose="020F0502020204030204" pitchFamily="34" charset="0"/>
                        </a:rPr>
                        <a:t>، ومن الممكن أن تتكون الوحدة من عدد من الوحدات التنظيمية الفرعية</a:t>
                      </a:r>
                      <a:r>
                        <a:rPr lang="ar-SA" sz="1900" b="0" i="0" u="none" strike="noStrike" dirty="0">
                          <a:solidFill>
                            <a:srgbClr val="000000"/>
                          </a:solidFill>
                          <a:effectLst/>
                          <a:latin typeface="Calibri" panose="020F0502020204030204" pitchFamily="34" charset="0"/>
                        </a:rPr>
                        <a:t>، وقد تتعامل مع أطراف خارجية لتحقيق الأهداف المشتركة والمهام المتبادلة بين </a:t>
                      </a:r>
                      <a:r>
                        <a:rPr lang="ar-EG" sz="1900" b="0" i="0" u="none" strike="noStrike" dirty="0">
                          <a:solidFill>
                            <a:srgbClr val="000000"/>
                          </a:solidFill>
                          <a:effectLst/>
                          <a:latin typeface="Calibri" panose="020F0502020204030204" pitchFamily="34" charset="0"/>
                        </a:rPr>
                        <a:t>مختلف </a:t>
                      </a:r>
                      <a:r>
                        <a:rPr lang="ar-SA" sz="1900" b="0" i="0" u="none" strike="noStrike" dirty="0">
                          <a:solidFill>
                            <a:srgbClr val="000000"/>
                          </a:solidFill>
                          <a:effectLst/>
                          <a:latin typeface="Calibri" panose="020F0502020204030204" pitchFamily="34" charset="0"/>
                        </a:rPr>
                        <a:t>الجهات</a:t>
                      </a: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مادي</a:t>
                      </a:r>
                    </a:p>
                  </a:txBody>
                  <a:tcPr marT="27432" marB="27432" anchor="ctr"/>
                </a:tc>
                <a:extLst>
                  <a:ext uri="{0D108BD9-81ED-4DB2-BD59-A6C34878D82A}">
                    <a16:rowId xmlns:a16="http://schemas.microsoft.com/office/drawing/2014/main" val="1101753229"/>
                  </a:ext>
                </a:extLst>
              </a:tr>
              <a:tr h="647601">
                <a:tc>
                  <a:txBody>
                    <a:bodyPr/>
                    <a:lstStyle/>
                    <a:p>
                      <a:pPr algn="ctr" rtl="1" fontAlgn="b"/>
                      <a:r>
                        <a:rPr lang="ar-SA" sz="2000" b="1" i="0" u="none" strike="noStrike" dirty="0">
                          <a:solidFill>
                            <a:srgbClr val="000000"/>
                          </a:solidFill>
                          <a:effectLst/>
                          <a:latin typeface="Calibri" panose="020F0502020204030204" pitchFamily="34" charset="0"/>
                          <a:hlinkClick r:id="rId4" action="ppaction://hlinksldjump"/>
                        </a:rPr>
                        <a:t>قدرة </a:t>
                      </a:r>
                      <a:r>
                        <a:rPr lang="ar-EG" sz="2000" b="1" i="0" u="none" strike="noStrike" dirty="0">
                          <a:solidFill>
                            <a:srgbClr val="000000"/>
                          </a:solidFill>
                          <a:effectLst/>
                          <a:latin typeface="Calibri" panose="020F0502020204030204" pitchFamily="34" charset="0"/>
                          <a:hlinkClick r:id="rId4" action="ppaction://hlinksldjump"/>
                        </a:rPr>
                        <a:t>أعمال</a:t>
                      </a:r>
                      <a:endParaRPr lang="ar-SA" sz="2000" b="1" i="0" u="none" strike="noStrike" dirty="0">
                        <a:solidFill>
                          <a:srgbClr val="000000"/>
                        </a:solidFill>
                        <a:effectLst/>
                        <a:latin typeface="Calibri" panose="020F0502020204030204" pitchFamily="34" charset="0"/>
                      </a:endParaRP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تمثل القدرة الاستراتيجية والتشغيلية التي تميز </a:t>
                      </a:r>
                      <a:r>
                        <a:rPr lang="ar-EG" sz="1900" b="0" i="0" u="none" strike="noStrike" dirty="0">
                          <a:solidFill>
                            <a:srgbClr val="000000"/>
                          </a:solidFill>
                          <a:effectLst/>
                          <a:latin typeface="Calibri" panose="020F0502020204030204" pitchFamily="34" charset="0"/>
                        </a:rPr>
                        <a:t>الهيئة</a:t>
                      </a:r>
                      <a:r>
                        <a:rPr lang="ar-SA" sz="1900" b="0" i="0" u="none" strike="noStrike" dirty="0">
                          <a:solidFill>
                            <a:srgbClr val="000000"/>
                          </a:solidFill>
                          <a:effectLst/>
                          <a:latin typeface="Calibri" panose="020F0502020204030204" pitchFamily="34" charset="0"/>
                        </a:rPr>
                        <a:t> وتمكنها من تحقيق أهدافها. تتضمن القدرات مجموعة متكاملة من الجوانب مثل المهارات، والمعرفة، والتقنيات، والموارد المالية، والعلاقات</a:t>
                      </a: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منطقي</a:t>
                      </a:r>
                    </a:p>
                  </a:txBody>
                  <a:tcPr marT="27432" marB="27432" anchor="ctr"/>
                </a:tc>
                <a:extLst>
                  <a:ext uri="{0D108BD9-81ED-4DB2-BD59-A6C34878D82A}">
                    <a16:rowId xmlns:a16="http://schemas.microsoft.com/office/drawing/2014/main" val="952295507"/>
                  </a:ext>
                </a:extLst>
              </a:tr>
              <a:tr h="484792">
                <a:tc>
                  <a:txBody>
                    <a:bodyPr/>
                    <a:lstStyle/>
                    <a:p>
                      <a:pPr algn="ctr" rtl="1" fontAlgn="b"/>
                      <a:r>
                        <a:rPr lang="ar-SA" sz="2000" b="1" i="0" u="none" strike="noStrike" dirty="0">
                          <a:solidFill>
                            <a:srgbClr val="000000"/>
                          </a:solidFill>
                          <a:effectLst/>
                          <a:latin typeface="Calibri" panose="020F0502020204030204" pitchFamily="34" charset="0"/>
                          <a:hlinkClick r:id="rId5" action="ppaction://hlinksldjump"/>
                        </a:rPr>
                        <a:t>مجموعة إجراءات العمل</a:t>
                      </a:r>
                      <a:endParaRPr lang="ar-SA" sz="2000" b="1" i="0" u="none" strike="noStrike" dirty="0">
                        <a:solidFill>
                          <a:srgbClr val="000000"/>
                        </a:solidFill>
                        <a:effectLst/>
                        <a:latin typeface="Calibri" panose="020F0502020204030204" pitchFamily="34" charset="0"/>
                      </a:endParaRPr>
                    </a:p>
                  </a:txBody>
                  <a:tcPr marT="27432" marB="27432" anchor="ctr"/>
                </a:tc>
                <a:tc>
                  <a:txBody>
                    <a:bodyPr/>
                    <a:lstStyle/>
                    <a:p>
                      <a:pPr algn="r" rtl="1" fontAlgn="b"/>
                      <a:r>
                        <a:rPr lang="ar-EG" sz="1900" b="0" i="0" u="none" strike="noStrike" dirty="0">
                          <a:solidFill>
                            <a:srgbClr val="000000"/>
                          </a:solidFill>
                          <a:effectLst/>
                          <a:latin typeface="Calibri" panose="020F0502020204030204" pitchFamily="34" charset="0"/>
                        </a:rPr>
                        <a:t>تمثل مجموعة منطقية من إجراءات العمل المترابطة فيما بينها والتي تخدم قدرة عمل معينة أو أكثر</a:t>
                      </a:r>
                      <a:endParaRPr lang="ar-SA" sz="1900" b="0" i="0" u="none" strike="noStrike" dirty="0">
                        <a:solidFill>
                          <a:srgbClr val="000000"/>
                        </a:solidFill>
                        <a:effectLst/>
                        <a:latin typeface="Calibri" panose="020F0502020204030204" pitchFamily="34" charset="0"/>
                      </a:endParaRP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منطقي</a:t>
                      </a:r>
                    </a:p>
                  </a:txBody>
                  <a:tcPr marT="27432" marB="27432" anchor="ctr"/>
                </a:tc>
                <a:extLst>
                  <a:ext uri="{0D108BD9-81ED-4DB2-BD59-A6C34878D82A}">
                    <a16:rowId xmlns:a16="http://schemas.microsoft.com/office/drawing/2014/main" val="1705072545"/>
                  </a:ext>
                </a:extLst>
              </a:tr>
              <a:tr h="647601">
                <a:tc>
                  <a:txBody>
                    <a:bodyPr/>
                    <a:lstStyle/>
                    <a:p>
                      <a:pPr algn="ctr" rtl="1" fontAlgn="b"/>
                      <a:r>
                        <a:rPr lang="ar-EG" sz="2000" b="1" i="0" u="none" strike="noStrike" dirty="0">
                          <a:solidFill>
                            <a:srgbClr val="000000"/>
                          </a:solidFill>
                          <a:effectLst/>
                          <a:latin typeface="Calibri" panose="020F0502020204030204" pitchFamily="34" charset="0"/>
                          <a:hlinkClick r:id="rId6" action="ppaction://hlinksldjump"/>
                        </a:rPr>
                        <a:t>إجراء عمل</a:t>
                      </a:r>
                      <a:endParaRPr lang="ar-SA" sz="2000" b="1" i="0" u="none" strike="noStrike" dirty="0">
                        <a:solidFill>
                          <a:srgbClr val="000000"/>
                        </a:solidFill>
                        <a:effectLst/>
                        <a:latin typeface="Calibri" panose="020F0502020204030204" pitchFamily="34" charset="0"/>
                      </a:endParaRP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تمثل سلسلة من الخطوات أو الأنشطة التي يقوم بها فرد أو مجموعة من الأفراد بغرض تحقيق هدف أو نتيجة محددة</a:t>
                      </a:r>
                      <a:r>
                        <a:rPr lang="ar-EG" sz="1900" b="0" i="0" u="none" strike="noStrike" dirty="0">
                          <a:solidFill>
                            <a:srgbClr val="000000"/>
                          </a:solidFill>
                          <a:effectLst/>
                          <a:latin typeface="Calibri" panose="020F0502020204030204" pitchFamily="34" charset="0"/>
                        </a:rPr>
                        <a:t>، وذلك بناءً على مستوى التفصيل لتوثيق الإجراء</a:t>
                      </a:r>
                      <a:endParaRPr lang="ar-SA" sz="1900" b="0" i="0" u="none" strike="noStrike" dirty="0">
                        <a:solidFill>
                          <a:srgbClr val="000000"/>
                        </a:solidFill>
                        <a:effectLst/>
                        <a:latin typeface="Calibri" panose="020F0502020204030204" pitchFamily="34" charset="0"/>
                      </a:endParaRP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منطقي</a:t>
                      </a:r>
                    </a:p>
                  </a:txBody>
                  <a:tcPr marT="27432" marB="27432" anchor="ctr"/>
                </a:tc>
                <a:extLst>
                  <a:ext uri="{0D108BD9-81ED-4DB2-BD59-A6C34878D82A}">
                    <a16:rowId xmlns:a16="http://schemas.microsoft.com/office/drawing/2014/main" val="4096911043"/>
                  </a:ext>
                </a:extLst>
              </a:tr>
              <a:tr h="484792">
                <a:tc>
                  <a:txBody>
                    <a:bodyPr/>
                    <a:lstStyle/>
                    <a:p>
                      <a:pPr algn="ctr" rtl="1" fontAlgn="b"/>
                      <a:r>
                        <a:rPr lang="ar-SA" sz="2000" b="1" i="0" u="none" strike="noStrike" dirty="0">
                          <a:solidFill>
                            <a:srgbClr val="000000"/>
                          </a:solidFill>
                          <a:effectLst/>
                          <a:latin typeface="Calibri" panose="020F0502020204030204" pitchFamily="34" charset="0"/>
                          <a:hlinkClick r:id="rId7" action="ppaction://hlinksldjump"/>
                        </a:rPr>
                        <a:t>خدمة</a:t>
                      </a:r>
                      <a:endParaRPr lang="ar-SA" sz="2000" b="1" i="0" u="none" strike="noStrike" dirty="0">
                        <a:solidFill>
                          <a:srgbClr val="000000"/>
                        </a:solidFill>
                        <a:effectLst/>
                        <a:latin typeface="Calibri" panose="020F0502020204030204" pitchFamily="34" charset="0"/>
                      </a:endParaRP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تمثل القيمة التي تقدمها </a:t>
                      </a:r>
                      <a:r>
                        <a:rPr lang="ar-EG" sz="1900" b="0" i="0" u="none" strike="noStrike" dirty="0">
                          <a:solidFill>
                            <a:srgbClr val="000000"/>
                          </a:solidFill>
                          <a:effectLst/>
                          <a:latin typeface="Calibri" panose="020F0502020204030204" pitchFamily="34" charset="0"/>
                        </a:rPr>
                        <a:t>الهيئة</a:t>
                      </a:r>
                      <a:r>
                        <a:rPr lang="ar-SA" sz="1900" b="0" i="0" u="none" strike="noStrike" dirty="0">
                          <a:solidFill>
                            <a:srgbClr val="000000"/>
                          </a:solidFill>
                          <a:effectLst/>
                          <a:latin typeface="Calibri" panose="020F0502020204030204" pitchFamily="34" charset="0"/>
                        </a:rPr>
                        <a:t> (أو وحدة تنظيمية) للمستفيد من خلال تنفيذ مجموعة من الأنشطة أو الإجراءات</a:t>
                      </a: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منطقي</a:t>
                      </a:r>
                    </a:p>
                  </a:txBody>
                  <a:tcPr marT="27432" marB="27432" anchor="ctr"/>
                </a:tc>
                <a:extLst>
                  <a:ext uri="{0D108BD9-81ED-4DB2-BD59-A6C34878D82A}">
                    <a16:rowId xmlns:a16="http://schemas.microsoft.com/office/drawing/2014/main" val="998746437"/>
                  </a:ext>
                </a:extLst>
              </a:tr>
              <a:tr h="484792">
                <a:tc>
                  <a:txBody>
                    <a:bodyPr/>
                    <a:lstStyle/>
                    <a:p>
                      <a:pPr algn="ctr" rtl="1" fontAlgn="b"/>
                      <a:r>
                        <a:rPr lang="ar-SA" sz="2000" b="1" i="0" u="none" strike="noStrike" dirty="0">
                          <a:solidFill>
                            <a:srgbClr val="000000"/>
                          </a:solidFill>
                          <a:effectLst/>
                          <a:latin typeface="Calibri" panose="020F0502020204030204" pitchFamily="34" charset="0"/>
                          <a:hlinkClick r:id="rId8" action="ppaction://hlinksldjump"/>
                        </a:rPr>
                        <a:t>مزود الخدمة</a:t>
                      </a:r>
                      <a:endParaRPr lang="ar-SA" sz="2000" b="1" i="0" u="none" strike="noStrike" dirty="0">
                        <a:solidFill>
                          <a:srgbClr val="000000"/>
                        </a:solidFill>
                        <a:effectLst/>
                        <a:latin typeface="Calibri" panose="020F0502020204030204" pitchFamily="34" charset="0"/>
                      </a:endParaRP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يمثل أي كيان أو فرد خارجي يشارك في تنفيذ أعمال أو خدمات خاصة </a:t>
                      </a:r>
                      <a:r>
                        <a:rPr lang="ar-EG" sz="1900" b="0" i="0" u="none" strike="noStrike" dirty="0">
                          <a:solidFill>
                            <a:srgbClr val="000000"/>
                          </a:solidFill>
                          <a:effectLst/>
                          <a:latin typeface="Calibri" panose="020F0502020204030204" pitchFamily="34" charset="0"/>
                        </a:rPr>
                        <a:t>بالهيئة</a:t>
                      </a:r>
                      <a:r>
                        <a:rPr lang="ar-SA" sz="1900" b="0" i="0" u="none" strike="noStrike" dirty="0">
                          <a:solidFill>
                            <a:srgbClr val="000000"/>
                          </a:solidFill>
                          <a:effectLst/>
                          <a:latin typeface="Calibri" panose="020F0502020204030204" pitchFamily="34" charset="0"/>
                        </a:rPr>
                        <a:t> وذلك ضمن اتفاقية عمل مشتركة تحدد مهام ومسؤوليات كل طرف</a:t>
                      </a: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منطقي</a:t>
                      </a:r>
                    </a:p>
                  </a:txBody>
                  <a:tcPr anchor="ctr"/>
                </a:tc>
                <a:extLst>
                  <a:ext uri="{0D108BD9-81ED-4DB2-BD59-A6C34878D82A}">
                    <a16:rowId xmlns:a16="http://schemas.microsoft.com/office/drawing/2014/main" val="1847379970"/>
                  </a:ext>
                </a:extLst>
              </a:tr>
            </a:tbl>
          </a:graphicData>
        </a:graphic>
      </p:graphicFrame>
    </p:spTree>
    <p:extLst>
      <p:ext uri="{BB962C8B-B14F-4D97-AF65-F5344CB8AC3E}">
        <p14:creationId xmlns:p14="http://schemas.microsoft.com/office/powerpoint/2010/main" val="1505728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82CC2-883C-3072-73D3-F46458F37EEC}"/>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6915CF33-B310-0C4B-5AFD-1C1365DC250B}"/>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40</a:t>
            </a:fld>
            <a:endParaRPr lang="en-US"/>
          </a:p>
        </p:txBody>
      </p:sp>
      <p:sp>
        <p:nvSpPr>
          <p:cNvPr id="2" name="Title 1">
            <a:extLst>
              <a:ext uri="{FF2B5EF4-FFF2-40B4-BE49-F238E27FC236}">
                <a16:creationId xmlns:a16="http://schemas.microsoft.com/office/drawing/2014/main" id="{D59AE74B-DFAE-225C-D1AD-8774279BB0B4}"/>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dirty="0"/>
              <a:t>تعريف وحدات البناء </a:t>
            </a:r>
            <a:r>
              <a:rPr lang="ar-SA" dirty="0"/>
              <a:t>التابعة لمجال "بنية الأعمال"</a:t>
            </a:r>
            <a:endParaRPr lang="en-US" dirty="0"/>
          </a:p>
        </p:txBody>
      </p:sp>
      <p:graphicFrame>
        <p:nvGraphicFramePr>
          <p:cNvPr id="12" name="Table 11">
            <a:extLst>
              <a:ext uri="{FF2B5EF4-FFF2-40B4-BE49-F238E27FC236}">
                <a16:creationId xmlns:a16="http://schemas.microsoft.com/office/drawing/2014/main" id="{8F8577EB-ABDC-E3E1-A2FE-B915C9F2EA0F}"/>
              </a:ext>
            </a:extLst>
          </p:cNvPr>
          <p:cNvGraphicFramePr>
            <a:graphicFrameLocks noGrp="1"/>
          </p:cNvGraphicFramePr>
          <p:nvPr>
            <p:extLst>
              <p:ext uri="{D42A27DB-BD31-4B8C-83A1-F6EECF244321}">
                <p14:modId xmlns:p14="http://schemas.microsoft.com/office/powerpoint/2010/main" val="831193945"/>
              </p:ext>
            </p:extLst>
          </p:nvPr>
        </p:nvGraphicFramePr>
        <p:xfrm>
          <a:off x="473528" y="1164614"/>
          <a:ext cx="11240953" cy="4266512"/>
        </p:xfrm>
        <a:graphic>
          <a:graphicData uri="http://schemas.openxmlformats.org/drawingml/2006/table">
            <a:tbl>
              <a:tblPr rtl="1" firstRow="1" bandRow="1">
                <a:tableStyleId>{21E4AEA4-8DFA-4A89-87EB-49C32662AFE0}</a:tableStyleId>
              </a:tblPr>
              <a:tblGrid>
                <a:gridCol w="1560115">
                  <a:extLst>
                    <a:ext uri="{9D8B030D-6E8A-4147-A177-3AD203B41FA5}">
                      <a16:colId xmlns:a16="http://schemas.microsoft.com/office/drawing/2014/main" val="2023822235"/>
                    </a:ext>
                  </a:extLst>
                </a:gridCol>
                <a:gridCol w="6832063">
                  <a:extLst>
                    <a:ext uri="{9D8B030D-6E8A-4147-A177-3AD203B41FA5}">
                      <a16:colId xmlns:a16="http://schemas.microsoft.com/office/drawing/2014/main" val="3711612230"/>
                    </a:ext>
                  </a:extLst>
                </a:gridCol>
                <a:gridCol w="1191013">
                  <a:extLst>
                    <a:ext uri="{9D8B030D-6E8A-4147-A177-3AD203B41FA5}">
                      <a16:colId xmlns:a16="http://schemas.microsoft.com/office/drawing/2014/main" val="1649646393"/>
                    </a:ext>
                  </a:extLst>
                </a:gridCol>
                <a:gridCol w="1657762">
                  <a:extLst>
                    <a:ext uri="{9D8B030D-6E8A-4147-A177-3AD203B41FA5}">
                      <a16:colId xmlns:a16="http://schemas.microsoft.com/office/drawing/2014/main" val="3630113316"/>
                    </a:ext>
                  </a:extLst>
                </a:gridCol>
              </a:tblGrid>
              <a:tr h="423743">
                <a:tc>
                  <a:txBody>
                    <a:bodyPr/>
                    <a:lstStyle/>
                    <a:p>
                      <a:pPr algn="ctr" rtl="1" fontAlgn="b"/>
                      <a:r>
                        <a:rPr lang="ar-SA" sz="2100" u="none" strike="noStrike" dirty="0">
                          <a:effectLst/>
                        </a:rPr>
                        <a:t>وحدة البناء</a:t>
                      </a:r>
                      <a:endParaRPr lang="ar-SA" sz="2100" b="1" i="0" u="none" strike="noStrike" dirty="0">
                        <a:solidFill>
                          <a:srgbClr val="000000"/>
                        </a:solidFill>
                        <a:effectLst/>
                        <a:latin typeface="Arial" panose="020B0604020202020204" pitchFamily="34" charset="0"/>
                      </a:endParaRPr>
                    </a:p>
                  </a:txBody>
                  <a:tcPr anchor="ctr"/>
                </a:tc>
                <a:tc>
                  <a:txBody>
                    <a:bodyPr/>
                    <a:lstStyle/>
                    <a:p>
                      <a:pPr algn="ctr" rtl="1" fontAlgn="b"/>
                      <a:r>
                        <a:rPr lang="ar-SA" sz="2100" u="none" strike="noStrike" dirty="0">
                          <a:effectLst/>
                        </a:rPr>
                        <a:t>التعريف</a:t>
                      </a:r>
                      <a:endParaRPr lang="ar-SA" sz="2100" b="1" i="0" u="none" strike="noStrike" dirty="0">
                        <a:solidFill>
                          <a:srgbClr val="000000"/>
                        </a:solidFill>
                        <a:effectLst/>
                        <a:latin typeface="Arial" panose="020B0604020202020204" pitchFamily="34" charset="0"/>
                      </a:endParaRPr>
                    </a:p>
                  </a:txBody>
                  <a:tcPr anchor="ctr"/>
                </a:tc>
                <a:tc>
                  <a:txBody>
                    <a:bodyPr/>
                    <a:lstStyle/>
                    <a:p>
                      <a:pPr algn="ctr" rtl="1" fontAlgn="b"/>
                      <a:r>
                        <a:rPr lang="ar-SA" sz="2100" b="1" u="none" strike="noStrike" kern="1200" dirty="0">
                          <a:solidFill>
                            <a:schemeClr val="lt1"/>
                          </a:solidFill>
                          <a:effectLst/>
                          <a:latin typeface="+mn-lt"/>
                          <a:ea typeface="+mn-ea"/>
                          <a:cs typeface="+mn-cs"/>
                        </a:rPr>
                        <a:t>مستوى المكون</a:t>
                      </a:r>
                    </a:p>
                  </a:txBody>
                  <a:tcPr anchor="ctr"/>
                </a:tc>
                <a:tc>
                  <a:txBody>
                    <a:bodyPr/>
                    <a:lstStyle/>
                    <a:p>
                      <a:pPr algn="ctr" rtl="1" fontAlgn="b"/>
                      <a:r>
                        <a:rPr lang="ar-SA" sz="2100" b="1" u="none" strike="noStrike" kern="1200" dirty="0">
                          <a:solidFill>
                            <a:schemeClr val="lt1"/>
                          </a:solidFill>
                          <a:effectLst/>
                          <a:latin typeface="+mn-lt"/>
                          <a:ea typeface="+mn-ea"/>
                          <a:cs typeface="+mn-cs"/>
                        </a:rPr>
                        <a:t>مستوى إلزامية التوثيق</a:t>
                      </a:r>
                    </a:p>
                  </a:txBody>
                  <a:tcPr anchor="ctr"/>
                </a:tc>
                <a:extLst>
                  <a:ext uri="{0D108BD9-81ED-4DB2-BD59-A6C34878D82A}">
                    <a16:rowId xmlns:a16="http://schemas.microsoft.com/office/drawing/2014/main" val="2631080347"/>
                  </a:ext>
                </a:extLst>
              </a:tr>
              <a:tr h="416384">
                <a:tc>
                  <a:txBody>
                    <a:bodyPr/>
                    <a:lstStyle/>
                    <a:p>
                      <a:pPr algn="ctr" rtl="1" fontAlgn="b"/>
                      <a:r>
                        <a:rPr lang="ar-SA" sz="2000" b="1" i="0" u="none" strike="noStrike" dirty="0">
                          <a:solidFill>
                            <a:srgbClr val="000000"/>
                          </a:solidFill>
                          <a:effectLst/>
                          <a:latin typeface="Calibri" panose="020F0502020204030204" pitchFamily="34" charset="0"/>
                          <a:hlinkClick r:id="rId3" action="ppaction://hlinksldjump"/>
                        </a:rPr>
                        <a:t>منتج</a:t>
                      </a:r>
                      <a:endParaRPr lang="ar-SA" sz="2000" b="1" i="0" u="none" strike="noStrike" dirty="0">
                        <a:solidFill>
                          <a:srgbClr val="000000"/>
                        </a:solidFill>
                        <a:effectLst/>
                        <a:latin typeface="Calibri" panose="020F0502020204030204" pitchFamily="34" charset="0"/>
                      </a:endParaRPr>
                    </a:p>
                  </a:txBody>
                  <a:tcPr anchor="ctr"/>
                </a:tc>
                <a:tc>
                  <a:txBody>
                    <a:bodyPr/>
                    <a:lstStyle/>
                    <a:p>
                      <a:pPr algn="r" rtl="1" fontAlgn="b"/>
                      <a:r>
                        <a:rPr lang="ar-EG" sz="1900" b="0" i="0" u="none" strike="noStrike" dirty="0">
                          <a:solidFill>
                            <a:srgbClr val="000000"/>
                          </a:solidFill>
                          <a:effectLst/>
                          <a:latin typeface="Calibri" panose="020F0502020204030204" pitchFamily="34" charset="0"/>
                        </a:rPr>
                        <a:t>ي</a:t>
                      </a:r>
                      <a:r>
                        <a:rPr lang="ar-SA" sz="1900" b="0" i="0" u="none" strike="noStrike" dirty="0">
                          <a:solidFill>
                            <a:srgbClr val="000000"/>
                          </a:solidFill>
                          <a:effectLst/>
                          <a:latin typeface="Calibri" panose="020F0502020204030204" pitchFamily="34" charset="0"/>
                        </a:rPr>
                        <a:t>مثل المخرج النهائي الناتج عن تنفيذ نشاط أو تقديم خدمة بنجاح، وقد يكون المنتج هو رقمي أو ملموس</a:t>
                      </a: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منطقي</a:t>
                      </a:r>
                    </a:p>
                  </a:txBody>
                  <a:tcPr anchor="ctr"/>
                </a:tc>
                <a:extLst>
                  <a:ext uri="{0D108BD9-81ED-4DB2-BD59-A6C34878D82A}">
                    <a16:rowId xmlns:a16="http://schemas.microsoft.com/office/drawing/2014/main" val="952295507"/>
                  </a:ext>
                </a:extLst>
              </a:tr>
              <a:tr h="416384">
                <a:tc>
                  <a:txBody>
                    <a:bodyPr/>
                    <a:lstStyle/>
                    <a:p>
                      <a:pPr algn="ctr" rtl="1" fontAlgn="b"/>
                      <a:r>
                        <a:rPr lang="ar-SA" sz="2000" b="1" i="0" u="none" strike="noStrike" dirty="0">
                          <a:solidFill>
                            <a:srgbClr val="000000"/>
                          </a:solidFill>
                          <a:effectLst/>
                          <a:latin typeface="Calibri" panose="020F0502020204030204" pitchFamily="34" charset="0"/>
                          <a:hlinkClick r:id="rId4" action="ppaction://hlinksldjump"/>
                        </a:rPr>
                        <a:t>مسمى وظيفي</a:t>
                      </a:r>
                      <a:endParaRPr lang="ar-SA" sz="2000" b="1" i="0" u="none" strike="noStrike" dirty="0">
                        <a:solidFill>
                          <a:srgbClr val="000000"/>
                        </a:solidFill>
                        <a:effectLst/>
                        <a:latin typeface="Calibri" panose="020F0502020204030204" pitchFamily="34" charset="0"/>
                      </a:endParaRPr>
                    </a:p>
                  </a:txBody>
                  <a:tcPr anchor="ctr"/>
                </a:tc>
                <a:tc>
                  <a:txBody>
                    <a:bodyPr/>
                    <a:lstStyle/>
                    <a:p>
                      <a:pPr algn="r" rtl="1" fontAlgn="b"/>
                      <a:r>
                        <a:rPr lang="ar-EG" sz="1900" b="0" i="0" u="none" strike="noStrike" dirty="0">
                          <a:solidFill>
                            <a:srgbClr val="000000"/>
                          </a:solidFill>
                          <a:effectLst/>
                          <a:latin typeface="Calibri" panose="020F0502020204030204" pitchFamily="34" charset="0"/>
                        </a:rPr>
                        <a:t>ي</a:t>
                      </a:r>
                      <a:r>
                        <a:rPr lang="ar-SA" sz="1900" b="0" i="0" u="none" strike="noStrike" dirty="0">
                          <a:solidFill>
                            <a:srgbClr val="000000"/>
                          </a:solidFill>
                          <a:effectLst/>
                          <a:latin typeface="Calibri" panose="020F0502020204030204" pitchFamily="34" charset="0"/>
                        </a:rPr>
                        <a:t>مثل التكوين التنظيمي لمهام ومسؤوليات موظفي </a:t>
                      </a:r>
                      <a:r>
                        <a:rPr lang="ar-EG" sz="1900" b="0" i="0" u="none" strike="noStrike" dirty="0">
                          <a:solidFill>
                            <a:srgbClr val="000000"/>
                          </a:solidFill>
                          <a:effectLst/>
                          <a:latin typeface="Calibri" panose="020F0502020204030204" pitchFamily="34" charset="0"/>
                        </a:rPr>
                        <a:t>الهيئة</a:t>
                      </a:r>
                      <a:r>
                        <a:rPr lang="ar-SA" sz="1900" b="0" i="0" u="none" strike="noStrike" dirty="0">
                          <a:solidFill>
                            <a:srgbClr val="000000"/>
                          </a:solidFill>
                          <a:effectLst/>
                          <a:latin typeface="Calibri" panose="020F0502020204030204" pitchFamily="34" charset="0"/>
                        </a:rPr>
                        <a:t> ضمن سياق العمل</a:t>
                      </a: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داعم</a:t>
                      </a: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منطقي</a:t>
                      </a:r>
                    </a:p>
                  </a:txBody>
                  <a:tcPr anchor="ctr"/>
                </a:tc>
                <a:extLst>
                  <a:ext uri="{0D108BD9-81ED-4DB2-BD59-A6C34878D82A}">
                    <a16:rowId xmlns:a16="http://schemas.microsoft.com/office/drawing/2014/main" val="1705072545"/>
                  </a:ext>
                </a:extLst>
              </a:tr>
              <a:tr h="416384">
                <a:tc>
                  <a:txBody>
                    <a:bodyPr/>
                    <a:lstStyle/>
                    <a:p>
                      <a:pPr algn="ctr" rtl="1" fontAlgn="b"/>
                      <a:r>
                        <a:rPr lang="ar-SA" sz="2000" b="1" i="0" u="none" strike="noStrike" dirty="0">
                          <a:solidFill>
                            <a:srgbClr val="000000"/>
                          </a:solidFill>
                          <a:effectLst/>
                          <a:latin typeface="Calibri" panose="020F0502020204030204" pitchFamily="34" charset="0"/>
                          <a:hlinkClick r:id="rId4" action="ppaction://hlinksldjump"/>
                        </a:rPr>
                        <a:t>دور</a:t>
                      </a:r>
                      <a:endParaRPr lang="ar-SA" sz="2000" b="1" i="0" u="none" strike="noStrike" dirty="0">
                        <a:solidFill>
                          <a:srgbClr val="000000"/>
                        </a:solidFill>
                        <a:effectLst/>
                        <a:latin typeface="Calibri" panose="020F0502020204030204" pitchFamily="34" charset="0"/>
                      </a:endParaRPr>
                    </a:p>
                  </a:txBody>
                  <a:tcPr anchor="ctr"/>
                </a:tc>
                <a:tc>
                  <a:txBody>
                    <a:bodyPr/>
                    <a:lstStyle/>
                    <a:p>
                      <a:pPr algn="r" rtl="1" fontAlgn="b"/>
                      <a:r>
                        <a:rPr lang="ar-EG" sz="1900" b="0" i="0" u="none" strike="noStrike" dirty="0">
                          <a:solidFill>
                            <a:srgbClr val="000000"/>
                          </a:solidFill>
                          <a:effectLst/>
                          <a:latin typeface="Calibri" panose="020F0502020204030204" pitchFamily="34" charset="0"/>
                        </a:rPr>
                        <a:t>ي</a:t>
                      </a:r>
                      <a:r>
                        <a:rPr lang="ar-SA" sz="1900" b="0" i="0" u="none" strike="noStrike" dirty="0">
                          <a:solidFill>
                            <a:srgbClr val="000000"/>
                          </a:solidFill>
                          <a:effectLst/>
                          <a:latin typeface="Calibri" panose="020F0502020204030204" pitchFamily="34" charset="0"/>
                        </a:rPr>
                        <a:t>مثل السلوك الذي يُجسده منصب محدد عند المساهمة في تنفيذ إجراء أو خدمة محددة</a:t>
                      </a:r>
                      <a:r>
                        <a:rPr lang="ar-EG" sz="1900" b="0" i="0" u="none" strike="noStrike" dirty="0">
                          <a:solidFill>
                            <a:srgbClr val="000000"/>
                          </a:solidFill>
                          <a:effectLst/>
                          <a:latin typeface="Calibri" panose="020F0502020204030204" pitchFamily="34" charset="0"/>
                        </a:rPr>
                        <a:t>، ويمكن للمنصب أن يكون لديه عدة أدوار مختلفة</a:t>
                      </a:r>
                      <a:endParaRPr lang="ar-SA" sz="1900" b="0" i="0" u="none" strike="noStrike" dirty="0">
                        <a:solidFill>
                          <a:srgbClr val="000000"/>
                        </a:solidFill>
                        <a:effectLst/>
                        <a:latin typeface="Calibri" panose="020F0502020204030204" pitchFamily="34" charset="0"/>
                      </a:endParaRP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منطقي</a:t>
                      </a:r>
                    </a:p>
                  </a:txBody>
                  <a:tcPr anchor="ctr"/>
                </a:tc>
                <a:extLst>
                  <a:ext uri="{0D108BD9-81ED-4DB2-BD59-A6C34878D82A}">
                    <a16:rowId xmlns:a16="http://schemas.microsoft.com/office/drawing/2014/main" val="4096911043"/>
                  </a:ext>
                </a:extLst>
              </a:tr>
              <a:tr h="690544">
                <a:tc>
                  <a:txBody>
                    <a:bodyPr/>
                    <a:lstStyle/>
                    <a:p>
                      <a:pPr algn="ctr" rtl="1" fontAlgn="b"/>
                      <a:r>
                        <a:rPr lang="ar-SA" sz="2000" b="1" i="0" u="none" strike="noStrike" dirty="0">
                          <a:solidFill>
                            <a:srgbClr val="000000"/>
                          </a:solidFill>
                          <a:effectLst/>
                          <a:latin typeface="Calibri" panose="020F0502020204030204" pitchFamily="34" charset="0"/>
                          <a:hlinkClick r:id="rId5" action="ppaction://hlinksldjump"/>
                        </a:rPr>
                        <a:t>سياسة</a:t>
                      </a:r>
                      <a:endParaRPr lang="ar-SA" sz="2000" b="1" i="0" u="none" strike="noStrike" dirty="0">
                        <a:solidFill>
                          <a:srgbClr val="000000"/>
                        </a:solidFill>
                        <a:effectLst/>
                        <a:latin typeface="Calibri" panose="020F0502020204030204" pitchFamily="34" charset="0"/>
                      </a:endParaRP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تمثل الإطار التنظيمي الذي يحدد المبادئ والضوابط التي يجب اتباعها أثناء تنفيذ </a:t>
                      </a:r>
                      <a:r>
                        <a:rPr lang="ar-EG" sz="1900" b="0" i="0" u="none" strike="noStrike" dirty="0">
                          <a:solidFill>
                            <a:srgbClr val="000000"/>
                          </a:solidFill>
                          <a:effectLst/>
                          <a:latin typeface="Calibri" panose="020F0502020204030204" pitchFamily="34" charset="0"/>
                        </a:rPr>
                        <a:t>إجراءات الأعمال</a:t>
                      </a:r>
                      <a:r>
                        <a:rPr lang="ar-SA" sz="1900" b="0" i="0" u="none" strike="noStrike" dirty="0">
                          <a:solidFill>
                            <a:srgbClr val="000000"/>
                          </a:solidFill>
                          <a:effectLst/>
                          <a:latin typeface="Calibri" panose="020F0502020204030204" pitchFamily="34" charset="0"/>
                        </a:rPr>
                        <a:t>، وتوفير إرشادات توضيحية لنطاق عمل وحدة تنظيمية</a:t>
                      </a: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منطقي</a:t>
                      </a:r>
                    </a:p>
                  </a:txBody>
                  <a:tcPr anchor="ctr"/>
                </a:tc>
                <a:extLst>
                  <a:ext uri="{0D108BD9-81ED-4DB2-BD59-A6C34878D82A}">
                    <a16:rowId xmlns:a16="http://schemas.microsoft.com/office/drawing/2014/main" val="998746437"/>
                  </a:ext>
                </a:extLst>
              </a:tr>
              <a:tr h="416384">
                <a:tc>
                  <a:txBody>
                    <a:bodyPr/>
                    <a:lstStyle/>
                    <a:p>
                      <a:pPr algn="ctr" rtl="1" fontAlgn="b"/>
                      <a:r>
                        <a:rPr lang="ar-SA" sz="2000" b="1" i="0" u="none" strike="noStrike" dirty="0">
                          <a:solidFill>
                            <a:srgbClr val="000000"/>
                          </a:solidFill>
                          <a:effectLst/>
                          <a:latin typeface="Calibri" panose="020F0502020204030204" pitchFamily="34" charset="0"/>
                          <a:hlinkClick r:id="rId6" action="ppaction://hlinksldjump"/>
                        </a:rPr>
                        <a:t>نموذج / قالب</a:t>
                      </a:r>
                      <a:endParaRPr lang="ar-SA" sz="2000" b="1" i="0" u="none" strike="noStrike" dirty="0">
                        <a:solidFill>
                          <a:srgbClr val="000000"/>
                        </a:solidFill>
                        <a:effectLst/>
                        <a:latin typeface="Calibri" panose="020F0502020204030204" pitchFamily="34" charset="0"/>
                      </a:endParaRP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تمثل النموذج المستخدم في تقديم الخدمات أو تنفيذ إجراءات العمل ويعتبر وعاء منطقي لجمع البيانات المطلوبة</a:t>
                      </a: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داعم</a:t>
                      </a: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مادي</a:t>
                      </a:r>
                    </a:p>
                  </a:txBody>
                  <a:tcPr anchor="ctr"/>
                </a:tc>
                <a:extLst>
                  <a:ext uri="{0D108BD9-81ED-4DB2-BD59-A6C34878D82A}">
                    <a16:rowId xmlns:a16="http://schemas.microsoft.com/office/drawing/2014/main" val="2524175704"/>
                  </a:ext>
                </a:extLst>
              </a:tr>
              <a:tr h="416384">
                <a:tc>
                  <a:txBody>
                    <a:bodyPr/>
                    <a:lstStyle/>
                    <a:p>
                      <a:pPr algn="ctr" rtl="1" fontAlgn="b"/>
                      <a:r>
                        <a:rPr lang="ar-SA" sz="2000" b="1" i="0" u="none" strike="noStrike" dirty="0">
                          <a:solidFill>
                            <a:srgbClr val="000000"/>
                          </a:solidFill>
                          <a:effectLst/>
                          <a:latin typeface="Calibri" panose="020F0502020204030204" pitchFamily="34" charset="0"/>
                          <a:hlinkClick r:id="rId7" action="ppaction://hlinksldjump"/>
                        </a:rPr>
                        <a:t>نشاط</a:t>
                      </a:r>
                      <a:endParaRPr lang="ar-SA" sz="2000" b="1" i="0" u="none" strike="noStrike" dirty="0">
                        <a:solidFill>
                          <a:srgbClr val="000000"/>
                        </a:solidFill>
                        <a:effectLst/>
                        <a:latin typeface="Calibri" panose="020F0502020204030204" pitchFamily="34" charset="0"/>
                      </a:endParaRP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تمثل خطوة من خطوات  تنفيذ إجراء محدد</a:t>
                      </a: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anchor="ctr"/>
                </a:tc>
                <a:tc>
                  <a:txBody>
                    <a:bodyPr/>
                    <a:lstStyle/>
                    <a:p>
                      <a:pPr algn="r" rtl="1" fontAlgn="b"/>
                      <a:r>
                        <a:rPr lang="ar-SA" sz="1900" b="0" i="0" u="none" strike="noStrike" dirty="0">
                          <a:solidFill>
                            <a:srgbClr val="000000"/>
                          </a:solidFill>
                          <a:effectLst/>
                          <a:latin typeface="Calibri" panose="020F0502020204030204" pitchFamily="34" charset="0"/>
                        </a:rPr>
                        <a:t>منطقي</a:t>
                      </a:r>
                    </a:p>
                  </a:txBody>
                  <a:tcPr anchor="ctr"/>
                </a:tc>
                <a:extLst>
                  <a:ext uri="{0D108BD9-81ED-4DB2-BD59-A6C34878D82A}">
                    <a16:rowId xmlns:a16="http://schemas.microsoft.com/office/drawing/2014/main" val="2715435218"/>
                  </a:ext>
                </a:extLst>
              </a:tr>
            </a:tbl>
          </a:graphicData>
        </a:graphic>
      </p:graphicFrame>
    </p:spTree>
    <p:extLst>
      <p:ext uri="{BB962C8B-B14F-4D97-AF65-F5344CB8AC3E}">
        <p14:creationId xmlns:p14="http://schemas.microsoft.com/office/powerpoint/2010/main" val="23953119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41</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الأعمال"</a:t>
            </a:r>
            <a:r>
              <a:rPr lang="ar-EG" sz="2800" dirty="0"/>
              <a:t> -</a:t>
            </a:r>
            <a:r>
              <a:rPr lang="ar-EG" dirty="0"/>
              <a:t> </a:t>
            </a:r>
            <a:r>
              <a:rPr lang="en-US" dirty="0"/>
              <a:t>تفصيل سمات </a:t>
            </a:r>
            <a:r>
              <a:rPr lang="ar-SA" dirty="0"/>
              <a:t>وحدة </a:t>
            </a:r>
            <a:r>
              <a:rPr lang="ar-EG" dirty="0"/>
              <a:t>ال</a:t>
            </a:r>
            <a:r>
              <a:rPr lang="ar-SA" dirty="0"/>
              <a:t>بناء "وحدة تنظيمية"</a:t>
            </a:r>
            <a:endParaRPr lang="en-US" dirty="0"/>
          </a:p>
        </p:txBody>
      </p:sp>
      <p:graphicFrame>
        <p:nvGraphicFramePr>
          <p:cNvPr id="5" name="Table 4">
            <a:extLst>
              <a:ext uri="{FF2B5EF4-FFF2-40B4-BE49-F238E27FC236}">
                <a16:creationId xmlns:a16="http://schemas.microsoft.com/office/drawing/2014/main" id="{1151AE0D-985A-48B4-85E6-A4121A535A16}"/>
              </a:ext>
            </a:extLst>
          </p:cNvPr>
          <p:cNvGraphicFramePr>
            <a:graphicFrameLocks noGrp="1"/>
          </p:cNvGraphicFramePr>
          <p:nvPr>
            <p:extLst>
              <p:ext uri="{D42A27DB-BD31-4B8C-83A1-F6EECF244321}">
                <p14:modId xmlns:p14="http://schemas.microsoft.com/office/powerpoint/2010/main" val="130975992"/>
              </p:ext>
            </p:extLst>
          </p:nvPr>
        </p:nvGraphicFramePr>
        <p:xfrm>
          <a:off x="865210" y="1535726"/>
          <a:ext cx="10508083" cy="3028105"/>
        </p:xfrm>
        <a:graphic>
          <a:graphicData uri="http://schemas.openxmlformats.org/drawingml/2006/table">
            <a:tbl>
              <a:tblPr rtl="1" firstRow="1" bandRow="1">
                <a:tableStyleId>{5C22544A-7EE6-4342-B048-85BDC9FD1C3A}</a:tableStyleId>
              </a:tblPr>
              <a:tblGrid>
                <a:gridCol w="1946187">
                  <a:extLst>
                    <a:ext uri="{9D8B030D-6E8A-4147-A177-3AD203B41FA5}">
                      <a16:colId xmlns:a16="http://schemas.microsoft.com/office/drawing/2014/main" val="2853404558"/>
                    </a:ext>
                  </a:extLst>
                </a:gridCol>
                <a:gridCol w="5785304">
                  <a:extLst>
                    <a:ext uri="{9D8B030D-6E8A-4147-A177-3AD203B41FA5}">
                      <a16:colId xmlns:a16="http://schemas.microsoft.com/office/drawing/2014/main" val="1866450976"/>
                    </a:ext>
                  </a:extLst>
                </a:gridCol>
                <a:gridCol w="1388296">
                  <a:extLst>
                    <a:ext uri="{9D8B030D-6E8A-4147-A177-3AD203B41FA5}">
                      <a16:colId xmlns:a16="http://schemas.microsoft.com/office/drawing/2014/main" val="751160629"/>
                    </a:ext>
                  </a:extLst>
                </a:gridCol>
                <a:gridCol w="1388296">
                  <a:extLst>
                    <a:ext uri="{9D8B030D-6E8A-4147-A177-3AD203B41FA5}">
                      <a16:colId xmlns:a16="http://schemas.microsoft.com/office/drawing/2014/main" val="2476806959"/>
                    </a:ext>
                  </a:extLst>
                </a:gridCol>
              </a:tblGrid>
              <a:tr h="376345">
                <a:tc>
                  <a:txBody>
                    <a:bodyPr/>
                    <a:lstStyle/>
                    <a:p>
                      <a:pPr marL="0" algn="ctr" defTabSz="914400" rtl="1" eaLnBrk="1" fontAlgn="ctr" latinLnBrk="0" hangingPunct="1">
                        <a:lnSpc>
                          <a:spcPct val="115000"/>
                        </a:lnSpc>
                        <a:spcAft>
                          <a:spcPts val="0"/>
                        </a:spcAft>
                      </a:pPr>
                      <a:r>
                        <a:rPr lang="ar-SA" sz="1800" b="1" kern="1200" dirty="0">
                          <a:solidFill>
                            <a:schemeClr val="bg1"/>
                          </a:solidFill>
                          <a:effectLst/>
                          <a:latin typeface="+mn-lt"/>
                          <a:ea typeface="+mn-ea"/>
                          <a:cs typeface="+mn-cs"/>
                        </a:rPr>
                        <a:t>السمة</a:t>
                      </a:r>
                    </a:p>
                  </a:txBody>
                  <a:tcPr marL="45720" marR="45720" marT="18288" marB="18288" anchor="b"/>
                </a:tc>
                <a:tc>
                  <a:txBody>
                    <a:bodyPr/>
                    <a:lstStyle/>
                    <a:p>
                      <a:pPr marL="0" algn="ctr" defTabSz="914400" rtl="1" eaLnBrk="1" fontAlgn="ctr" latinLnBrk="0" hangingPunct="1">
                        <a:lnSpc>
                          <a:spcPct val="115000"/>
                        </a:lnSpc>
                        <a:spcAft>
                          <a:spcPts val="0"/>
                        </a:spcAft>
                      </a:pPr>
                      <a:r>
                        <a:rPr lang="ar-SA" sz="1800" b="1" kern="1200" dirty="0">
                          <a:solidFill>
                            <a:schemeClr val="bg1"/>
                          </a:solidFill>
                          <a:effectLst/>
                          <a:latin typeface="+mn-lt"/>
                          <a:ea typeface="+mn-ea"/>
                          <a:cs typeface="+mn-cs"/>
                        </a:rPr>
                        <a:t>وصف السمة</a:t>
                      </a:r>
                    </a:p>
                  </a:txBody>
                  <a:tcPr marL="45720" marR="45720" marT="18288" marB="18288" anchor="b"/>
                </a:tc>
                <a:tc>
                  <a:txBody>
                    <a:bodyPr/>
                    <a:lstStyle/>
                    <a:p>
                      <a:pPr marL="0" algn="ctr" defTabSz="914400" rtl="1" eaLnBrk="1" fontAlgn="ctr" latinLnBrk="0" hangingPunct="1">
                        <a:lnSpc>
                          <a:spcPct val="115000"/>
                        </a:lnSpc>
                        <a:spcAft>
                          <a:spcPts val="0"/>
                        </a:spcAft>
                      </a:pPr>
                      <a:r>
                        <a:rPr lang="ar-SA" sz="1800" b="1" kern="1200" dirty="0">
                          <a:solidFill>
                            <a:schemeClr val="bg1"/>
                          </a:solidFill>
                          <a:effectLst/>
                          <a:latin typeface="+mn-lt"/>
                          <a:ea typeface="+mn-ea"/>
                          <a:cs typeface="+mn-cs"/>
                        </a:rPr>
                        <a:t>نوع السمة</a:t>
                      </a:r>
                    </a:p>
                  </a:txBody>
                  <a:tcPr marL="45720" marR="45720" marT="18288" marB="18288" anchor="b"/>
                </a:tc>
                <a:tc>
                  <a:txBody>
                    <a:bodyPr/>
                    <a:lstStyle/>
                    <a:p>
                      <a:pPr marL="0" algn="ctr" defTabSz="914400" rtl="1" eaLnBrk="1" fontAlgn="ctr" latinLnBrk="0" hangingPunct="1">
                        <a:lnSpc>
                          <a:spcPct val="115000"/>
                        </a:lnSpc>
                        <a:spcAft>
                          <a:spcPts val="0"/>
                        </a:spcAft>
                      </a:pPr>
                      <a:r>
                        <a:rPr lang="ar-EG" sz="1800" b="1" kern="1200" dirty="0">
                          <a:solidFill>
                            <a:schemeClr val="bg1"/>
                          </a:solidFill>
                          <a:effectLst/>
                          <a:latin typeface="+mn-lt"/>
                          <a:ea typeface="+mn-ea"/>
                          <a:cs typeface="+mn-cs"/>
                        </a:rPr>
                        <a:t>الزامية التوثيق</a:t>
                      </a:r>
                      <a:endParaRPr lang="ar-SA" sz="1800" b="1" kern="1200" dirty="0">
                        <a:solidFill>
                          <a:schemeClr val="bg1"/>
                        </a:solidFill>
                        <a:effectLst/>
                        <a:latin typeface="+mn-lt"/>
                        <a:ea typeface="+mn-ea"/>
                        <a:cs typeface="+mn-cs"/>
                      </a:endParaRPr>
                    </a:p>
                  </a:txBody>
                  <a:tcPr marL="45720" marR="45720" marT="18288" marB="18288" anchor="b"/>
                </a:tc>
                <a:extLst>
                  <a:ext uri="{0D108BD9-81ED-4DB2-BD59-A6C34878D82A}">
                    <a16:rowId xmlns:a16="http://schemas.microsoft.com/office/drawing/2014/main" val="2998368315"/>
                  </a:ext>
                </a:extLst>
              </a:tr>
              <a:tr h="306620">
                <a:tc>
                  <a:txBody>
                    <a:bodyPr/>
                    <a:lstStyle/>
                    <a:p>
                      <a:pPr algn="ctr" rtl="1" fontAlgn="b"/>
                      <a:r>
                        <a:rPr lang="ar-SA" sz="1400" b="1" kern="1200" dirty="0">
                          <a:solidFill>
                            <a:schemeClr val="tx1"/>
                          </a:solidFill>
                          <a:effectLst/>
                          <a:latin typeface="+mn-lt"/>
                          <a:ea typeface="+mn-ea"/>
                          <a:cs typeface="+mn-cs"/>
                        </a:rPr>
                        <a:t>الرمز</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الرمز الفريد </a:t>
                      </a:r>
                      <a:r>
                        <a:rPr lang="ar-EG" sz="1400" b="0" kern="1200" dirty="0">
                          <a:solidFill>
                            <a:schemeClr val="tx1"/>
                          </a:solidFill>
                          <a:effectLst/>
                          <a:latin typeface="+mn-lt"/>
                          <a:ea typeface="+mn-ea"/>
                          <a:cs typeface="+mn-cs"/>
                        </a:rPr>
                        <a:t>للوحدة التنظيمية</a:t>
                      </a:r>
                      <a:endParaRPr lang="ar-SA" sz="1400" b="0" kern="1200" dirty="0">
                        <a:solidFill>
                          <a:schemeClr val="tx1"/>
                        </a:solidFill>
                        <a:effectLst/>
                        <a:latin typeface="+mn-lt"/>
                        <a:ea typeface="+mn-ea"/>
                        <a:cs typeface="+mn-cs"/>
                      </a:endParaRP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أحرف و/أو أرقام</a:t>
                      </a:r>
                    </a:p>
                  </a:txBody>
                  <a:tcPr marL="137160" marR="137160" marT="137160" marB="137160" anchor="ctr"/>
                </a:tc>
                <a:tc>
                  <a:txBody>
                    <a:bodyPr/>
                    <a:lstStyle/>
                    <a:p>
                      <a:pPr algn="r" rtl="1" fontAlgn="b"/>
                      <a:r>
                        <a:rPr lang="ar-EG" sz="1400" b="0" kern="1200" dirty="0">
                          <a:solidFill>
                            <a:schemeClr val="tx1"/>
                          </a:solidFill>
                          <a:effectLst/>
                          <a:latin typeface="+mn-lt"/>
                          <a:ea typeface="+mn-ea"/>
                          <a:cs typeface="+mn-cs"/>
                        </a:rPr>
                        <a:t>اختيارية/حسب التوفر</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679774426"/>
                  </a:ext>
                </a:extLst>
              </a:tr>
              <a:tr h="306620">
                <a:tc>
                  <a:txBody>
                    <a:bodyPr/>
                    <a:lstStyle/>
                    <a:p>
                      <a:pPr algn="ctr" rtl="1" fontAlgn="b"/>
                      <a:r>
                        <a:rPr lang="ar-SA" sz="1400" b="1" kern="1200" dirty="0">
                          <a:solidFill>
                            <a:schemeClr val="tx1"/>
                          </a:solidFill>
                          <a:effectLst/>
                          <a:latin typeface="+mn-lt"/>
                          <a:ea typeface="+mn-ea"/>
                          <a:cs typeface="+mn-cs"/>
                        </a:rPr>
                        <a:t>الاسم</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اسم الوحدة التنظيمية</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نص</a:t>
                      </a:r>
                    </a:p>
                  </a:txBody>
                  <a:tcPr marL="137160" marR="137160" marT="137160" marB="137160" anchor="ctr"/>
                </a:tc>
                <a:tc>
                  <a:txBody>
                    <a:bodyPr/>
                    <a:lstStyle/>
                    <a:p>
                      <a:pPr algn="r" rtl="1" fontAlgn="b"/>
                      <a:r>
                        <a:rPr lang="ar-EG" sz="1400" b="0" kern="1200" dirty="0">
                          <a:solidFill>
                            <a:schemeClr val="tx1"/>
                          </a:solidFill>
                          <a:effectLst/>
                          <a:latin typeface="+mn-lt"/>
                          <a:ea typeface="+mn-ea"/>
                          <a:cs typeface="+mn-cs"/>
                        </a:rPr>
                        <a:t>الزامي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2177790647"/>
                  </a:ext>
                </a:extLst>
              </a:tr>
              <a:tr h="306620">
                <a:tc>
                  <a:txBody>
                    <a:bodyPr/>
                    <a:lstStyle/>
                    <a:p>
                      <a:pPr algn="ctr" rtl="1" fontAlgn="b"/>
                      <a:r>
                        <a:rPr lang="ar-SA" sz="1400" b="1" kern="1200" dirty="0">
                          <a:solidFill>
                            <a:schemeClr val="tx1"/>
                          </a:solidFill>
                          <a:effectLst/>
                          <a:latin typeface="+mn-lt"/>
                          <a:ea typeface="+mn-ea"/>
                          <a:cs typeface="+mn-cs"/>
                        </a:rPr>
                        <a:t>الوصف</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وصف مختصر للوحدة التنظيمية ومهامها المحددة التي تعنى بتنفيذها</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نص</a:t>
                      </a:r>
                    </a:p>
                  </a:txBody>
                  <a:tcPr marL="137160" marR="137160" marT="137160" marB="137160" anchor="ctr"/>
                </a:tc>
                <a:tc>
                  <a:txBody>
                    <a:bodyPr/>
                    <a:lstStyle/>
                    <a:p>
                      <a:pPr algn="r" rtl="1" fontAlgn="b"/>
                      <a:r>
                        <a:rPr lang="ar-EG" sz="1400" b="0" kern="1200" dirty="0">
                          <a:solidFill>
                            <a:schemeClr val="tx1"/>
                          </a:solidFill>
                          <a:effectLst/>
                          <a:latin typeface="+mn-lt"/>
                          <a:ea typeface="+mn-ea"/>
                          <a:cs typeface="+mn-cs"/>
                        </a:rPr>
                        <a:t>اختياري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3194816594"/>
                  </a:ext>
                </a:extLst>
              </a:tr>
              <a:tr h="306620">
                <a:tc>
                  <a:txBody>
                    <a:bodyPr/>
                    <a:lstStyle/>
                    <a:p>
                      <a:pPr algn="ctr" rtl="1" fontAlgn="b"/>
                      <a:r>
                        <a:rPr lang="ar-EG" sz="1400" b="1" kern="1200" dirty="0">
                          <a:solidFill>
                            <a:schemeClr val="tx1"/>
                          </a:solidFill>
                          <a:effectLst/>
                          <a:latin typeface="+mn-lt"/>
                          <a:ea typeface="+mn-ea"/>
                          <a:cs typeface="+mn-cs"/>
                        </a:rPr>
                        <a:t>مستوى</a:t>
                      </a:r>
                      <a:r>
                        <a:rPr lang="ar-SA" sz="1400" b="1" kern="1200" dirty="0">
                          <a:solidFill>
                            <a:schemeClr val="tx1"/>
                          </a:solidFill>
                          <a:effectLst/>
                          <a:latin typeface="+mn-lt"/>
                          <a:ea typeface="+mn-ea"/>
                          <a:cs typeface="+mn-cs"/>
                        </a:rPr>
                        <a:t> الوحدة التنظيمية</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تحديد مستوى الوحدة التنظيمية</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400" b="0" kern="1200" dirty="0">
                          <a:solidFill>
                            <a:schemeClr val="tx1"/>
                          </a:solidFill>
                          <a:effectLst/>
                          <a:latin typeface="+mn-lt"/>
                          <a:ea typeface="+mn-ea"/>
                          <a:cs typeface="+mn-cs"/>
                        </a:rPr>
                        <a:t>قائمة معرفة مسبقًا</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400" b="0" kern="1200" dirty="0">
                          <a:solidFill>
                            <a:schemeClr val="tx1"/>
                          </a:solidFill>
                          <a:effectLst/>
                          <a:latin typeface="+mn-lt"/>
                          <a:ea typeface="+mn-ea"/>
                          <a:cs typeface="+mn-cs"/>
                        </a:rPr>
                        <a:t>اختياري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1766500947"/>
                  </a:ext>
                </a:extLst>
              </a:tr>
              <a:tr h="306620">
                <a:tc>
                  <a:txBody>
                    <a:bodyPr/>
                    <a:lstStyle/>
                    <a:p>
                      <a:pPr algn="ctr" rtl="1" fontAlgn="b"/>
                      <a:r>
                        <a:rPr lang="ar-SA" sz="1400" b="1" kern="1200" dirty="0">
                          <a:solidFill>
                            <a:schemeClr val="tx1"/>
                          </a:solidFill>
                          <a:effectLst/>
                          <a:latin typeface="+mn-lt"/>
                          <a:ea typeface="+mn-ea"/>
                          <a:cs typeface="+mn-cs"/>
                        </a:rPr>
                        <a:t>عدد الموظفين</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عدد الموظفين المتاحين أو المرتبطين بالوحدة التنظيمية</a:t>
                      </a: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رقم</a:t>
                      </a:r>
                    </a:p>
                  </a:txBody>
                  <a:tcPr marL="137160" marR="137160" marT="137160" marB="137160" anchor="ctr"/>
                </a:tc>
                <a:tc>
                  <a:txBody>
                    <a:bodyPr/>
                    <a:lstStyle/>
                    <a:p>
                      <a:pPr algn="r" rtl="1" fontAlgn="b"/>
                      <a:r>
                        <a:rPr lang="ar-EG" sz="1400" b="0" kern="1200" dirty="0">
                          <a:solidFill>
                            <a:schemeClr val="tx1"/>
                          </a:solidFill>
                          <a:effectLst/>
                          <a:latin typeface="+mn-lt"/>
                          <a:ea typeface="+mn-ea"/>
                          <a:cs typeface="+mn-cs"/>
                        </a:rPr>
                        <a:t>اختياري</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1426280651"/>
                  </a:ext>
                </a:extLst>
              </a:tr>
            </a:tbl>
          </a:graphicData>
        </a:graphic>
      </p:graphicFrame>
    </p:spTree>
    <p:extLst>
      <p:ext uri="{BB962C8B-B14F-4D97-AF65-F5344CB8AC3E}">
        <p14:creationId xmlns:p14="http://schemas.microsoft.com/office/powerpoint/2010/main" val="24491934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42</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الأعمال"</a:t>
            </a:r>
            <a:r>
              <a:rPr lang="ar-EG" sz="2800" dirty="0"/>
              <a:t> -</a:t>
            </a:r>
            <a:r>
              <a:rPr lang="ar-EG" dirty="0"/>
              <a:t> </a:t>
            </a:r>
            <a:r>
              <a:rPr lang="en-US" dirty="0"/>
              <a:t>تفصيل سمات </a:t>
            </a:r>
            <a:r>
              <a:rPr lang="ar-SA" dirty="0"/>
              <a:t>وحدة </a:t>
            </a:r>
            <a:r>
              <a:rPr lang="ar-EG" dirty="0"/>
              <a:t>ال</a:t>
            </a:r>
            <a:r>
              <a:rPr lang="ar-SA" dirty="0"/>
              <a:t>بناء "</a:t>
            </a:r>
            <a:r>
              <a:rPr lang="ar-EG" dirty="0"/>
              <a:t>قدرة أعمال</a:t>
            </a:r>
            <a:r>
              <a:rPr lang="ar-SA" dirty="0"/>
              <a:t>"</a:t>
            </a:r>
            <a:endParaRPr lang="en-US" dirty="0"/>
          </a:p>
        </p:txBody>
      </p:sp>
      <p:graphicFrame>
        <p:nvGraphicFramePr>
          <p:cNvPr id="5" name="Table 4">
            <a:extLst>
              <a:ext uri="{FF2B5EF4-FFF2-40B4-BE49-F238E27FC236}">
                <a16:creationId xmlns:a16="http://schemas.microsoft.com/office/drawing/2014/main" id="{387E6B07-12E8-4663-A057-46284AC76A72}"/>
              </a:ext>
            </a:extLst>
          </p:cNvPr>
          <p:cNvGraphicFramePr>
            <a:graphicFrameLocks noGrp="1"/>
          </p:cNvGraphicFramePr>
          <p:nvPr>
            <p:extLst>
              <p:ext uri="{D42A27DB-BD31-4B8C-83A1-F6EECF244321}">
                <p14:modId xmlns:p14="http://schemas.microsoft.com/office/powerpoint/2010/main" val="2746837564"/>
              </p:ext>
            </p:extLst>
          </p:nvPr>
        </p:nvGraphicFramePr>
        <p:xfrm>
          <a:off x="880221" y="1446494"/>
          <a:ext cx="10431558" cy="3965012"/>
        </p:xfrm>
        <a:graphic>
          <a:graphicData uri="http://schemas.openxmlformats.org/drawingml/2006/table">
            <a:tbl>
              <a:tblPr rtl="1" firstRow="1" bandRow="1">
                <a:tableStyleId>{5C22544A-7EE6-4342-B048-85BDC9FD1C3A}</a:tableStyleId>
              </a:tblPr>
              <a:tblGrid>
                <a:gridCol w="2367397">
                  <a:extLst>
                    <a:ext uri="{9D8B030D-6E8A-4147-A177-3AD203B41FA5}">
                      <a16:colId xmlns:a16="http://schemas.microsoft.com/office/drawing/2014/main" val="2853404558"/>
                    </a:ext>
                  </a:extLst>
                </a:gridCol>
                <a:gridCol w="4876555">
                  <a:extLst>
                    <a:ext uri="{9D8B030D-6E8A-4147-A177-3AD203B41FA5}">
                      <a16:colId xmlns:a16="http://schemas.microsoft.com/office/drawing/2014/main" val="1866450976"/>
                    </a:ext>
                  </a:extLst>
                </a:gridCol>
                <a:gridCol w="1593803">
                  <a:extLst>
                    <a:ext uri="{9D8B030D-6E8A-4147-A177-3AD203B41FA5}">
                      <a16:colId xmlns:a16="http://schemas.microsoft.com/office/drawing/2014/main" val="751160629"/>
                    </a:ext>
                  </a:extLst>
                </a:gridCol>
                <a:gridCol w="1593803">
                  <a:extLst>
                    <a:ext uri="{9D8B030D-6E8A-4147-A177-3AD203B41FA5}">
                      <a16:colId xmlns:a16="http://schemas.microsoft.com/office/drawing/2014/main" val="2388869772"/>
                    </a:ext>
                  </a:extLst>
                </a:gridCol>
              </a:tblGrid>
              <a:tr h="429332">
                <a:tc>
                  <a:txBody>
                    <a:bodyPr/>
                    <a:lstStyle/>
                    <a:p>
                      <a:pPr marL="0" algn="ctr" defTabSz="914400" rtl="1" eaLnBrk="1" fontAlgn="ctr" latinLnBrk="0" hangingPunct="1">
                        <a:lnSpc>
                          <a:spcPct val="115000"/>
                        </a:lnSpc>
                        <a:spcAft>
                          <a:spcPts val="0"/>
                        </a:spcAft>
                      </a:pPr>
                      <a:r>
                        <a:rPr lang="ar-SA" sz="1800" b="1" kern="1200" dirty="0">
                          <a:solidFill>
                            <a:schemeClr val="bg1"/>
                          </a:solidFill>
                          <a:effectLst/>
                          <a:latin typeface="+mn-lt"/>
                          <a:ea typeface="+mn-ea"/>
                          <a:cs typeface="+mn-cs"/>
                        </a:rPr>
                        <a:t>السمة</a:t>
                      </a:r>
                    </a:p>
                  </a:txBody>
                  <a:tcPr anchor="b"/>
                </a:tc>
                <a:tc>
                  <a:txBody>
                    <a:bodyPr/>
                    <a:lstStyle/>
                    <a:p>
                      <a:pPr marL="0" algn="ctr" defTabSz="914400" rtl="1" eaLnBrk="1" fontAlgn="ctr" latinLnBrk="0" hangingPunct="1">
                        <a:lnSpc>
                          <a:spcPct val="115000"/>
                        </a:lnSpc>
                        <a:spcAft>
                          <a:spcPts val="0"/>
                        </a:spcAft>
                      </a:pPr>
                      <a:r>
                        <a:rPr lang="ar-SA" sz="1800" b="1" kern="1200" dirty="0">
                          <a:solidFill>
                            <a:schemeClr val="bg1"/>
                          </a:solidFill>
                          <a:effectLst/>
                          <a:latin typeface="+mn-lt"/>
                          <a:ea typeface="+mn-ea"/>
                          <a:cs typeface="+mn-cs"/>
                        </a:rPr>
                        <a:t>وصف السمة</a:t>
                      </a:r>
                    </a:p>
                  </a:txBody>
                  <a:tcPr anchor="b"/>
                </a:tc>
                <a:tc>
                  <a:txBody>
                    <a:bodyPr/>
                    <a:lstStyle/>
                    <a:p>
                      <a:pPr marL="0" algn="ctr" defTabSz="914400" rtl="1" eaLnBrk="1" fontAlgn="ctr" latinLnBrk="0" hangingPunct="1">
                        <a:lnSpc>
                          <a:spcPct val="115000"/>
                        </a:lnSpc>
                        <a:spcAft>
                          <a:spcPts val="0"/>
                        </a:spcAft>
                      </a:pPr>
                      <a:r>
                        <a:rPr lang="ar-SA" sz="1800" b="1" kern="1200" dirty="0">
                          <a:solidFill>
                            <a:schemeClr val="bg1"/>
                          </a:solidFill>
                          <a:effectLst/>
                          <a:latin typeface="+mn-lt"/>
                          <a:ea typeface="+mn-ea"/>
                          <a:cs typeface="+mn-cs"/>
                        </a:rPr>
                        <a:t>نوع السمة</a:t>
                      </a:r>
                    </a:p>
                  </a:txBody>
                  <a:tcPr anchor="b"/>
                </a:tc>
                <a:tc>
                  <a:txBody>
                    <a:bodyPr/>
                    <a:lstStyle/>
                    <a:p>
                      <a:pPr marL="0" algn="ctr" defTabSz="914400" rtl="1" eaLnBrk="1" fontAlgn="ctr" latinLnBrk="0" hangingPunct="1">
                        <a:lnSpc>
                          <a:spcPct val="115000"/>
                        </a:lnSpc>
                        <a:spcAft>
                          <a:spcPts val="0"/>
                        </a:spcAft>
                      </a:pPr>
                      <a:r>
                        <a:rPr lang="ar-EG" sz="1800" b="1" kern="1200" dirty="0">
                          <a:solidFill>
                            <a:schemeClr val="bg1"/>
                          </a:solidFill>
                          <a:effectLst/>
                          <a:latin typeface="+mn-lt"/>
                          <a:ea typeface="+mn-ea"/>
                          <a:cs typeface="+mn-cs"/>
                        </a:rPr>
                        <a:t>الزامية التوثيق </a:t>
                      </a:r>
                      <a:endParaRPr lang="ar-SA" sz="1800" b="1" kern="1200" dirty="0">
                        <a:solidFill>
                          <a:schemeClr val="bg1"/>
                        </a:solidFill>
                        <a:effectLst/>
                        <a:latin typeface="+mn-lt"/>
                        <a:ea typeface="+mn-ea"/>
                        <a:cs typeface="+mn-cs"/>
                      </a:endParaRPr>
                    </a:p>
                  </a:txBody>
                  <a:tcPr anchor="b"/>
                </a:tc>
                <a:extLst>
                  <a:ext uri="{0D108BD9-81ED-4DB2-BD59-A6C34878D82A}">
                    <a16:rowId xmlns:a16="http://schemas.microsoft.com/office/drawing/2014/main" val="2998368315"/>
                  </a:ext>
                </a:extLst>
              </a:tr>
              <a:tr h="0">
                <a:tc>
                  <a:txBody>
                    <a:bodyPr/>
                    <a:lstStyle/>
                    <a:p>
                      <a:pPr marL="0" algn="ctr" defTabSz="914400" rtl="1" eaLnBrk="1" fontAlgn="b" latinLnBrk="0" hangingPunct="1"/>
                      <a:r>
                        <a:rPr lang="ar-SA" sz="1400" b="1" kern="1200" dirty="0">
                          <a:solidFill>
                            <a:schemeClr val="tx1"/>
                          </a:solidFill>
                          <a:effectLst/>
                          <a:latin typeface="+mn-lt"/>
                          <a:ea typeface="+mn-ea"/>
                          <a:cs typeface="+mn-cs"/>
                        </a:rPr>
                        <a:t>الرمز</a:t>
                      </a:r>
                    </a:p>
                  </a:txBody>
                  <a:tcPr marL="137160" marR="137160" marT="137160" marB="137160" anchor="b"/>
                </a:tc>
                <a:tc>
                  <a:txBody>
                    <a:bodyPr/>
                    <a:lstStyle/>
                    <a:p>
                      <a:pPr marL="0" algn="r" defTabSz="914400" rtl="1" eaLnBrk="1" fontAlgn="b" latinLnBrk="0" hangingPunct="1"/>
                      <a:r>
                        <a:rPr lang="ar-SA" sz="1400" b="0" kern="1200" dirty="0">
                          <a:solidFill>
                            <a:schemeClr val="tx1"/>
                          </a:solidFill>
                          <a:effectLst/>
                          <a:latin typeface="+mn-lt"/>
                          <a:ea typeface="+mn-ea"/>
                          <a:cs typeface="+mn-cs"/>
                        </a:rPr>
                        <a:t>الرمز الفريد </a:t>
                      </a:r>
                      <a:r>
                        <a:rPr lang="ar-EG" sz="1400" b="0" kern="1200" dirty="0">
                          <a:solidFill>
                            <a:schemeClr val="tx1"/>
                          </a:solidFill>
                          <a:effectLst/>
                          <a:latin typeface="+mn-lt"/>
                          <a:ea typeface="+mn-ea"/>
                          <a:cs typeface="+mn-cs"/>
                        </a:rPr>
                        <a:t>ل</a:t>
                      </a:r>
                      <a:r>
                        <a:rPr lang="ar-SA" sz="1400" b="0" kern="1200" dirty="0">
                          <a:solidFill>
                            <a:schemeClr val="tx1"/>
                          </a:solidFill>
                          <a:effectLst/>
                          <a:latin typeface="+mn-lt"/>
                          <a:ea typeface="+mn-ea"/>
                          <a:cs typeface="+mn-cs"/>
                        </a:rPr>
                        <a:t>قدرة الأعمال</a:t>
                      </a:r>
                    </a:p>
                  </a:txBody>
                  <a:tcPr marL="137160" marR="137160" marT="137160" marB="137160" anchor="b"/>
                </a:tc>
                <a:tc>
                  <a:txBody>
                    <a:bodyPr/>
                    <a:lstStyle/>
                    <a:p>
                      <a:pPr marL="0" algn="r" defTabSz="914400" rtl="1" eaLnBrk="1" fontAlgn="b" latinLnBrk="0" hangingPunct="1"/>
                      <a:r>
                        <a:rPr lang="ar-SA" sz="1400" b="0" kern="1200" dirty="0">
                          <a:solidFill>
                            <a:schemeClr val="tx1"/>
                          </a:solidFill>
                          <a:effectLst/>
                          <a:latin typeface="+mn-lt"/>
                          <a:ea typeface="+mn-ea"/>
                          <a:cs typeface="+mn-cs"/>
                        </a:rPr>
                        <a:t>أحرف و/أو أرقام</a:t>
                      </a:r>
                    </a:p>
                  </a:txBody>
                  <a:tcPr marL="137160" marR="137160" marT="137160" marB="13716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اختيارية</a:t>
                      </a:r>
                      <a:endParaRPr lang="ar-SA" sz="14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540723046"/>
                  </a:ext>
                </a:extLst>
              </a:tr>
              <a:tr h="0">
                <a:tc>
                  <a:txBody>
                    <a:bodyPr/>
                    <a:lstStyle/>
                    <a:p>
                      <a:pPr marL="0" algn="ctr" defTabSz="914400" rtl="1" eaLnBrk="1" fontAlgn="b" latinLnBrk="0" hangingPunct="1"/>
                      <a:r>
                        <a:rPr lang="ar-SA" sz="1400" b="1" kern="1200" dirty="0">
                          <a:solidFill>
                            <a:schemeClr val="tx1"/>
                          </a:solidFill>
                          <a:effectLst/>
                          <a:latin typeface="+mn-lt"/>
                          <a:ea typeface="+mn-ea"/>
                          <a:cs typeface="+mn-cs"/>
                        </a:rPr>
                        <a:t>الاسم</a:t>
                      </a:r>
                    </a:p>
                  </a:txBody>
                  <a:tcPr marL="137160" marR="137160" marT="137160" marB="137160" anchor="b"/>
                </a:tc>
                <a:tc>
                  <a:txBody>
                    <a:bodyPr/>
                    <a:lstStyle/>
                    <a:p>
                      <a:pPr marL="0" algn="r" defTabSz="914400" rtl="1" eaLnBrk="1" fontAlgn="b" latinLnBrk="0" hangingPunct="1"/>
                      <a:r>
                        <a:rPr lang="ar-SA" sz="1400" b="0" kern="1200" dirty="0">
                          <a:solidFill>
                            <a:schemeClr val="tx1"/>
                          </a:solidFill>
                          <a:effectLst/>
                          <a:latin typeface="+mn-lt"/>
                          <a:ea typeface="+mn-ea"/>
                          <a:cs typeface="+mn-cs"/>
                        </a:rPr>
                        <a:t>اسم قدرة الأعمال</a:t>
                      </a:r>
                    </a:p>
                  </a:txBody>
                  <a:tcPr marL="137160" marR="137160" marT="137160" marB="137160" anchor="b"/>
                </a:tc>
                <a:tc>
                  <a:txBody>
                    <a:bodyPr/>
                    <a:lstStyle/>
                    <a:p>
                      <a:pPr marL="0" algn="r" defTabSz="914400" rtl="1" eaLnBrk="1" fontAlgn="b" latinLnBrk="0" hangingPunct="1"/>
                      <a:r>
                        <a:rPr lang="ar-SA" sz="1400" b="0" kern="1200" dirty="0">
                          <a:solidFill>
                            <a:schemeClr val="tx1"/>
                          </a:solidFill>
                          <a:effectLst/>
                          <a:latin typeface="+mn-lt"/>
                          <a:ea typeface="+mn-ea"/>
                          <a:cs typeface="+mn-cs"/>
                        </a:rPr>
                        <a:t>نص</a:t>
                      </a:r>
                    </a:p>
                  </a:txBody>
                  <a:tcPr marL="137160" marR="137160" marT="137160" marB="13716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2177790647"/>
                  </a:ext>
                </a:extLst>
              </a:tr>
              <a:tr h="0">
                <a:tc>
                  <a:txBody>
                    <a:bodyPr/>
                    <a:lstStyle/>
                    <a:p>
                      <a:pPr marL="0" algn="ctr" defTabSz="914400" rtl="1" eaLnBrk="1" fontAlgn="b" latinLnBrk="0" hangingPunct="1"/>
                      <a:r>
                        <a:rPr lang="ar-SA" sz="1400" b="1" kern="1200" dirty="0">
                          <a:solidFill>
                            <a:schemeClr val="tx1"/>
                          </a:solidFill>
                          <a:effectLst/>
                          <a:latin typeface="+mn-lt"/>
                          <a:ea typeface="+mn-ea"/>
                          <a:cs typeface="+mn-cs"/>
                        </a:rPr>
                        <a:t>الوصف</a:t>
                      </a:r>
                    </a:p>
                  </a:txBody>
                  <a:tcPr marL="137160" marR="137160" marT="137160" marB="137160" anchor="b"/>
                </a:tc>
                <a:tc>
                  <a:txBody>
                    <a:bodyPr/>
                    <a:lstStyle/>
                    <a:p>
                      <a:pPr marL="0" algn="r" defTabSz="914400" rtl="1" eaLnBrk="1" fontAlgn="b" latinLnBrk="0" hangingPunct="1"/>
                      <a:r>
                        <a:rPr lang="ar-SA" sz="1400" b="0" kern="1200" dirty="0">
                          <a:solidFill>
                            <a:schemeClr val="tx1"/>
                          </a:solidFill>
                          <a:effectLst/>
                          <a:latin typeface="+mn-lt"/>
                          <a:ea typeface="+mn-ea"/>
                          <a:cs typeface="+mn-cs"/>
                        </a:rPr>
                        <a:t>وصف مختصر لقدرة الأعمال</a:t>
                      </a:r>
                    </a:p>
                  </a:txBody>
                  <a:tcPr marL="137160" marR="137160" marT="137160" marB="137160" anchor="b"/>
                </a:tc>
                <a:tc>
                  <a:txBody>
                    <a:bodyPr/>
                    <a:lstStyle/>
                    <a:p>
                      <a:pPr marL="0" algn="r" defTabSz="914400" rtl="1" eaLnBrk="1" fontAlgn="b" latinLnBrk="0" hangingPunct="1"/>
                      <a:r>
                        <a:rPr lang="ar-SA" sz="1400" b="0" kern="1200">
                          <a:solidFill>
                            <a:schemeClr val="tx1"/>
                          </a:solidFill>
                          <a:effectLst/>
                          <a:latin typeface="+mn-lt"/>
                          <a:ea typeface="+mn-ea"/>
                          <a:cs typeface="+mn-cs"/>
                        </a:rPr>
                        <a:t>نص</a:t>
                      </a:r>
                    </a:p>
                  </a:txBody>
                  <a:tcPr marL="137160" marR="137160" marT="137160" marB="13716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1182433253"/>
                  </a:ext>
                </a:extLst>
              </a:tr>
              <a:tr h="528409">
                <a:tc>
                  <a:txBody>
                    <a:bodyPr/>
                    <a:lstStyle/>
                    <a:p>
                      <a:pPr algn="ctr" rtl="1" fontAlgn="b"/>
                      <a:r>
                        <a:rPr lang="ar-SA" sz="1800" b="1" i="0" u="none" strike="noStrike" dirty="0">
                          <a:solidFill>
                            <a:srgbClr val="000000"/>
                          </a:solidFill>
                          <a:effectLst/>
                          <a:latin typeface="Calibri" panose="020F0502020204030204" pitchFamily="34" charset="0"/>
                        </a:rPr>
                        <a:t>الوحدة التنظيمية المرتبطة</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الوحدة التنظيمية المسؤولة عن هذه القدرة</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p>
                  </a:txBody>
                  <a:tcPr marL="137160" marR="137160" marT="137160" marB="137160" anchor="b"/>
                </a:tc>
                <a:tc>
                  <a:txBody>
                    <a:bodyPr/>
                    <a:lstStyle/>
                    <a:p>
                      <a:pPr marL="0" algn="r" defTabSz="914400" rtl="1" eaLnBrk="1" fontAlgn="b" latinLnBrk="0" hangingPunct="1"/>
                      <a:r>
                        <a:rPr lang="ar-SA" sz="1400" b="0" kern="1200" dirty="0">
                          <a:solidFill>
                            <a:schemeClr val="tx1"/>
                          </a:solidFill>
                          <a:effectLst/>
                          <a:latin typeface="+mn-lt"/>
                          <a:ea typeface="+mn-ea"/>
                          <a:cs typeface="+mn-cs"/>
                        </a:rPr>
                        <a:t>اختياري</a:t>
                      </a:r>
                    </a:p>
                  </a:txBody>
                  <a:tcPr marL="137160" marR="137160" marT="137160" marB="137160" anchor="b"/>
                </a:tc>
                <a:extLst>
                  <a:ext uri="{0D108BD9-81ED-4DB2-BD59-A6C34878D82A}">
                    <a16:rowId xmlns:a16="http://schemas.microsoft.com/office/drawing/2014/main" val="1474392785"/>
                  </a:ext>
                </a:extLst>
              </a:tr>
              <a:tr h="0">
                <a:tc>
                  <a:txBody>
                    <a:bodyPr/>
                    <a:lstStyle/>
                    <a:p>
                      <a:pPr marL="0" algn="ctr" defTabSz="914400" rtl="1" eaLnBrk="1" fontAlgn="b" latinLnBrk="0" hangingPunct="1"/>
                      <a:r>
                        <a:rPr lang="ar-SA" sz="1400" b="1" kern="1200" dirty="0">
                          <a:solidFill>
                            <a:schemeClr val="tx1"/>
                          </a:solidFill>
                          <a:effectLst/>
                          <a:latin typeface="+mn-lt"/>
                          <a:ea typeface="+mn-ea"/>
                          <a:cs typeface="+mn-cs"/>
                        </a:rPr>
                        <a:t>تصنيف قدرة الأعمال</a:t>
                      </a:r>
                    </a:p>
                  </a:txBody>
                  <a:tcPr marL="137160" marR="137160" marT="137160" marB="137160" anchor="b"/>
                </a:tc>
                <a:tc>
                  <a:txBody>
                    <a:bodyPr/>
                    <a:lstStyle/>
                    <a:p>
                      <a:pPr marL="0" algn="r" defTabSz="914400" rtl="1" eaLnBrk="1" fontAlgn="b" latinLnBrk="0" hangingPunct="1"/>
                      <a:r>
                        <a:rPr lang="ar-SA" sz="1400" b="0" kern="1200" dirty="0">
                          <a:solidFill>
                            <a:schemeClr val="tx1"/>
                          </a:solidFill>
                          <a:effectLst/>
                          <a:latin typeface="+mn-lt"/>
                          <a:ea typeface="+mn-ea"/>
                          <a:cs typeface="+mn-cs"/>
                        </a:rPr>
                        <a:t>تحديد ما إذا كانت قدرة الأعمال (استراتيجية-محورية-داعمة)</a:t>
                      </a:r>
                    </a:p>
                  </a:txBody>
                  <a:tcPr marL="137160" marR="137160" marT="137160" marB="137160" anchor="b"/>
                </a:tc>
                <a:tc>
                  <a:txBody>
                    <a:bodyPr/>
                    <a:lstStyle/>
                    <a:p>
                      <a:pPr marL="0" algn="r" defTabSz="914400" rtl="1" eaLnBrk="1" fontAlgn="b" latinLnBrk="0" hangingPunct="1"/>
                      <a:r>
                        <a:rPr lang="ar-SA" sz="1400" b="0" kern="1200" dirty="0">
                          <a:solidFill>
                            <a:schemeClr val="tx1"/>
                          </a:solidFill>
                          <a:effectLst/>
                          <a:latin typeface="+mn-lt"/>
                          <a:ea typeface="+mn-ea"/>
                          <a:cs typeface="+mn-cs"/>
                        </a:rPr>
                        <a:t>قائمة معرفة سابقًا</a:t>
                      </a:r>
                    </a:p>
                  </a:txBody>
                  <a:tcPr marL="137160" marR="137160" marT="137160" marB="13716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1426280651"/>
                  </a:ext>
                </a:extLst>
              </a:tr>
              <a:tr h="0">
                <a:tc>
                  <a:txBody>
                    <a:bodyPr/>
                    <a:lstStyle/>
                    <a:p>
                      <a:pPr marL="0" algn="ctr" defTabSz="914400" rtl="1" eaLnBrk="1" fontAlgn="b" latinLnBrk="0" hangingPunct="1"/>
                      <a:r>
                        <a:rPr lang="ar-SA" sz="1400" b="1" kern="1200" dirty="0">
                          <a:solidFill>
                            <a:schemeClr val="tx1"/>
                          </a:solidFill>
                          <a:effectLst/>
                          <a:latin typeface="+mn-lt"/>
                          <a:ea typeface="+mn-ea"/>
                          <a:cs typeface="+mn-cs"/>
                        </a:rPr>
                        <a:t>نوع قدرة الأعمال</a:t>
                      </a:r>
                    </a:p>
                  </a:txBody>
                  <a:tcPr marL="137160" marR="137160" marT="137160" marB="137160" anchor="b"/>
                </a:tc>
                <a:tc>
                  <a:txBody>
                    <a:bodyPr/>
                    <a:lstStyle/>
                    <a:p>
                      <a:pPr marL="0" algn="r" defTabSz="914400" rtl="1" eaLnBrk="1" fontAlgn="b" latinLnBrk="0" hangingPunct="1"/>
                      <a:r>
                        <a:rPr lang="ar-SA" sz="1400" b="0" kern="1200" dirty="0">
                          <a:solidFill>
                            <a:schemeClr val="tx1"/>
                          </a:solidFill>
                          <a:effectLst/>
                          <a:latin typeface="+mn-lt"/>
                          <a:ea typeface="+mn-ea"/>
                          <a:cs typeface="+mn-cs"/>
                        </a:rPr>
                        <a:t>تحديد ما إذا كانت قدرة الأعمال (رئيسية-فرعية)</a:t>
                      </a:r>
                    </a:p>
                  </a:txBody>
                  <a:tcPr marL="137160" marR="137160" marT="137160" marB="137160" anchor="b"/>
                </a:tc>
                <a:tc>
                  <a:txBody>
                    <a:bodyPr/>
                    <a:lstStyle/>
                    <a:p>
                      <a:pPr marL="0" algn="r" defTabSz="914400" rtl="1" eaLnBrk="1" fontAlgn="b" latinLnBrk="0" hangingPunct="1"/>
                      <a:r>
                        <a:rPr lang="ar-SA" sz="1400" b="0" kern="1200" dirty="0">
                          <a:solidFill>
                            <a:schemeClr val="tx1"/>
                          </a:solidFill>
                          <a:effectLst/>
                          <a:latin typeface="+mn-lt"/>
                          <a:ea typeface="+mn-ea"/>
                          <a:cs typeface="+mn-cs"/>
                        </a:rPr>
                        <a:t>قائمة معرفة سابقًا</a:t>
                      </a:r>
                    </a:p>
                  </a:txBody>
                  <a:tcPr marL="137160" marR="137160" marT="137160" marB="137160"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اختيارية </a:t>
                      </a:r>
                      <a:endParaRPr lang="ar-SA" sz="14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4041775805"/>
                  </a:ext>
                </a:extLst>
              </a:tr>
              <a:tr h="0">
                <a:tc>
                  <a:txBody>
                    <a:bodyPr/>
                    <a:lstStyle/>
                    <a:p>
                      <a:pPr algn="ctr" rtl="1" fontAlgn="b"/>
                      <a:r>
                        <a:rPr lang="ar-SA" sz="1800" b="1" i="0" u="none" strike="noStrike" dirty="0">
                          <a:solidFill>
                            <a:srgbClr val="000000"/>
                          </a:solidFill>
                          <a:effectLst/>
                          <a:latin typeface="Calibri" panose="020F0502020204030204" pitchFamily="34" charset="0"/>
                        </a:rPr>
                        <a:t>القدرة الرئيسية المرتبطة بها</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القدرة الرئيسية التي ترتبط بها القدرة الفرعية</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p>
                  </a:txBody>
                  <a:tcPr marL="137160" marR="137160" marT="137160" marB="137160" anchor="b"/>
                </a:tc>
                <a:tc>
                  <a:txBody>
                    <a:bodyPr/>
                    <a:lstStyle/>
                    <a:p>
                      <a:pPr marL="0" algn="r" defTabSz="914400" rtl="1" eaLnBrk="1" fontAlgn="b" latinLnBrk="0" hangingPunct="1"/>
                      <a:r>
                        <a:rPr lang="ar-SA" sz="1400" b="0" kern="1200" dirty="0">
                          <a:solidFill>
                            <a:schemeClr val="tx1"/>
                          </a:solidFill>
                          <a:effectLst/>
                          <a:latin typeface="+mn-lt"/>
                          <a:ea typeface="+mn-ea"/>
                          <a:cs typeface="+mn-cs"/>
                        </a:rPr>
                        <a:t>اختياري</a:t>
                      </a:r>
                    </a:p>
                  </a:txBody>
                  <a:tcPr marL="137160" marR="137160" marT="137160" marB="137160" anchor="b"/>
                </a:tc>
                <a:extLst>
                  <a:ext uri="{0D108BD9-81ED-4DB2-BD59-A6C34878D82A}">
                    <a16:rowId xmlns:a16="http://schemas.microsoft.com/office/drawing/2014/main" val="4224673423"/>
                  </a:ext>
                </a:extLst>
              </a:tr>
            </a:tbl>
          </a:graphicData>
        </a:graphic>
      </p:graphicFrame>
    </p:spTree>
    <p:extLst>
      <p:ext uri="{BB962C8B-B14F-4D97-AF65-F5344CB8AC3E}">
        <p14:creationId xmlns:p14="http://schemas.microsoft.com/office/powerpoint/2010/main" val="29231447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43</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sz="2800" dirty="0"/>
              <a:t>مكونات "بنية الأعمال" -</a:t>
            </a:r>
            <a:r>
              <a:rPr lang="ar-EG" sz="3200" dirty="0"/>
              <a:t> </a:t>
            </a:r>
            <a:r>
              <a:rPr lang="en-US" dirty="0"/>
              <a:t>تفصيل سمات </a:t>
            </a:r>
            <a:r>
              <a:rPr lang="ar-SA" dirty="0"/>
              <a:t>وحدة </a:t>
            </a:r>
            <a:r>
              <a:rPr lang="ar-EG" dirty="0"/>
              <a:t>ال</a:t>
            </a:r>
            <a:r>
              <a:rPr lang="ar-SA" dirty="0"/>
              <a:t>بناء "مجموعة إجراءات العمل"</a:t>
            </a:r>
            <a:endParaRPr lang="en-US" dirty="0"/>
          </a:p>
        </p:txBody>
      </p:sp>
      <p:graphicFrame>
        <p:nvGraphicFramePr>
          <p:cNvPr id="5" name="Table 4">
            <a:extLst>
              <a:ext uri="{FF2B5EF4-FFF2-40B4-BE49-F238E27FC236}">
                <a16:creationId xmlns:a16="http://schemas.microsoft.com/office/drawing/2014/main" id="{9CB5B9D2-72AB-4B7D-ADA5-AC6F8964E0EF}"/>
              </a:ext>
            </a:extLst>
          </p:cNvPr>
          <p:cNvGraphicFramePr>
            <a:graphicFrameLocks noGrp="1"/>
          </p:cNvGraphicFramePr>
          <p:nvPr>
            <p:extLst>
              <p:ext uri="{D42A27DB-BD31-4B8C-83A1-F6EECF244321}">
                <p14:modId xmlns:p14="http://schemas.microsoft.com/office/powerpoint/2010/main" val="3986305960"/>
              </p:ext>
            </p:extLst>
          </p:nvPr>
        </p:nvGraphicFramePr>
        <p:xfrm>
          <a:off x="534144" y="1415882"/>
          <a:ext cx="11079792" cy="3398577"/>
        </p:xfrm>
        <a:graphic>
          <a:graphicData uri="http://schemas.openxmlformats.org/drawingml/2006/table">
            <a:tbl>
              <a:tblPr rtl="1" firstRow="1" bandRow="1">
                <a:tableStyleId>{5C22544A-7EE6-4342-B048-85BDC9FD1C3A}</a:tableStyleId>
              </a:tblPr>
              <a:tblGrid>
                <a:gridCol w="2196224">
                  <a:extLst>
                    <a:ext uri="{9D8B030D-6E8A-4147-A177-3AD203B41FA5}">
                      <a16:colId xmlns:a16="http://schemas.microsoft.com/office/drawing/2014/main" val="2853404558"/>
                    </a:ext>
                  </a:extLst>
                </a:gridCol>
                <a:gridCol w="5567604">
                  <a:extLst>
                    <a:ext uri="{9D8B030D-6E8A-4147-A177-3AD203B41FA5}">
                      <a16:colId xmlns:a16="http://schemas.microsoft.com/office/drawing/2014/main" val="1866450976"/>
                    </a:ext>
                  </a:extLst>
                </a:gridCol>
                <a:gridCol w="1556084">
                  <a:extLst>
                    <a:ext uri="{9D8B030D-6E8A-4147-A177-3AD203B41FA5}">
                      <a16:colId xmlns:a16="http://schemas.microsoft.com/office/drawing/2014/main" val="751160629"/>
                    </a:ext>
                  </a:extLst>
                </a:gridCol>
                <a:gridCol w="1759880">
                  <a:extLst>
                    <a:ext uri="{9D8B030D-6E8A-4147-A177-3AD203B41FA5}">
                      <a16:colId xmlns:a16="http://schemas.microsoft.com/office/drawing/2014/main" val="2440661347"/>
                    </a:ext>
                  </a:extLst>
                </a:gridCol>
              </a:tblGrid>
              <a:tr h="506593">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marL="0" algn="ctr" defTabSz="914400" rtl="1" eaLnBrk="1" fontAlgn="b" latinLnBrk="0" hangingPunct="1"/>
                      <a:r>
                        <a:rPr lang="ar-EG" sz="2000" b="1" u="none" strike="noStrike" kern="1200" dirty="0">
                          <a:solidFill>
                            <a:schemeClr val="lt1"/>
                          </a:solidFill>
                          <a:effectLst/>
                          <a:latin typeface="+mn-lt"/>
                          <a:ea typeface="+mn-ea"/>
                          <a:cs typeface="+mn-cs"/>
                        </a:rPr>
                        <a:t>الزامية</a:t>
                      </a:r>
                      <a:r>
                        <a:rPr lang="ar-SA" sz="2000" b="1" u="none" strike="noStrike" kern="1200" dirty="0">
                          <a:solidFill>
                            <a:schemeClr val="lt1"/>
                          </a:solidFill>
                          <a:effectLst/>
                          <a:latin typeface="+mn-lt"/>
                          <a:ea typeface="+mn-ea"/>
                          <a:cs typeface="+mn-cs"/>
                        </a:rPr>
                        <a:t> التوثيق</a:t>
                      </a:r>
                    </a:p>
                  </a:txBody>
                  <a:tcPr marL="45720" marR="45720" marT="18288" marB="18288" anchor="b"/>
                </a:tc>
                <a:extLst>
                  <a:ext uri="{0D108BD9-81ED-4DB2-BD59-A6C34878D82A}">
                    <a16:rowId xmlns:a16="http://schemas.microsoft.com/office/drawing/2014/main" val="2998368315"/>
                  </a:ext>
                </a:extLst>
              </a:tr>
              <a:tr h="915185">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يمثل الرمز الفريد الذي يميز مجموعة الإجراءات</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أحرف و/أو أرقام</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650443948"/>
                  </a:ext>
                </a:extLst>
              </a:tr>
              <a:tr h="658933">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يمثل اسم مجموعة الإجراءات</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algn="r" rtl="1" fontAlgn="b"/>
                      <a:r>
                        <a:rPr lang="ar-EG" sz="1600" b="0" i="0" u="none" strike="noStrike" dirty="0">
                          <a:solidFill>
                            <a:srgbClr val="000000"/>
                          </a:solidFill>
                          <a:effectLst/>
                          <a:latin typeface="Calibri" panose="020F0502020204030204" pitchFamily="34" charset="0"/>
                        </a:rPr>
                        <a:t>الزامية</a:t>
                      </a:r>
                      <a:endParaRPr lang="ar-SA" sz="1600" b="0" i="0" u="none" strike="noStrike" dirty="0">
                        <a:solidFill>
                          <a:srgbClr val="000000"/>
                        </a:solidFill>
                        <a:effectLst/>
                        <a:latin typeface="Calibri" panose="020F0502020204030204" pitchFamily="34" charset="0"/>
                      </a:endParaRPr>
                    </a:p>
                  </a:txBody>
                  <a:tcPr marL="137160" marR="137160" marT="137160" marB="137160" anchor="b"/>
                </a:tc>
                <a:extLst>
                  <a:ext uri="{0D108BD9-81ED-4DB2-BD59-A6C34878D82A}">
                    <a16:rowId xmlns:a16="http://schemas.microsoft.com/office/drawing/2014/main" val="2177790647"/>
                  </a:ext>
                </a:extLst>
              </a:tr>
              <a:tr h="658933">
                <a:tc>
                  <a:txBody>
                    <a:bodyPr/>
                    <a:lstStyle/>
                    <a:p>
                      <a:pPr algn="ctr" rtl="1" fontAlgn="b"/>
                      <a:r>
                        <a:rPr lang="ar-SA" sz="1800" b="1" i="0" u="none" strike="noStrike">
                          <a:solidFill>
                            <a:srgbClr val="000000"/>
                          </a:solidFill>
                          <a:effectLst/>
                          <a:latin typeface="Calibri" panose="020F0502020204030204" pitchFamily="34" charset="0"/>
                        </a:rPr>
                        <a:t>الوصف</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وصف نصي شامل لمجموعة الإجراءات وتفاصيلها الرئيسية</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algn="r" rtl="1" fontAlgn="b"/>
                      <a:r>
                        <a:rPr lang="ar-EG" sz="1600" b="0" i="0" u="none" strike="noStrike" dirty="0">
                          <a:solidFill>
                            <a:srgbClr val="000000"/>
                          </a:solidFill>
                          <a:effectLst/>
                          <a:latin typeface="Calibri" panose="020F0502020204030204" pitchFamily="34" charset="0"/>
                        </a:rPr>
                        <a:t>الزامية</a:t>
                      </a:r>
                      <a:endParaRPr lang="ar-SA" sz="1600" b="0" i="0" u="none" strike="noStrike" dirty="0">
                        <a:solidFill>
                          <a:srgbClr val="000000"/>
                        </a:solidFill>
                        <a:effectLst/>
                        <a:latin typeface="Calibri" panose="020F0502020204030204" pitchFamily="34" charset="0"/>
                      </a:endParaRPr>
                    </a:p>
                  </a:txBody>
                  <a:tcPr marL="137160" marR="137160" marT="137160" marB="137160" anchor="b"/>
                </a:tc>
                <a:extLst>
                  <a:ext uri="{0D108BD9-81ED-4DB2-BD59-A6C34878D82A}">
                    <a16:rowId xmlns:a16="http://schemas.microsoft.com/office/drawing/2014/main" val="4288224322"/>
                  </a:ext>
                </a:extLst>
              </a:tr>
              <a:tr h="658933">
                <a:tc>
                  <a:txBody>
                    <a:bodyPr/>
                    <a:lstStyle/>
                    <a:p>
                      <a:pPr algn="ctr" rtl="1" fontAlgn="b"/>
                      <a:r>
                        <a:rPr lang="ar-SA" sz="1800" b="1" i="0" u="none" strike="noStrike" dirty="0">
                          <a:solidFill>
                            <a:srgbClr val="000000"/>
                          </a:solidFill>
                          <a:effectLst/>
                          <a:latin typeface="Calibri" panose="020F0502020204030204" pitchFamily="34" charset="0"/>
                        </a:rPr>
                        <a:t>قدرة الأعمال</a:t>
                      </a:r>
                      <a:r>
                        <a:rPr lang="ar-EG" sz="1800" b="1" i="0" u="none" strike="noStrike" dirty="0">
                          <a:solidFill>
                            <a:srgbClr val="000000"/>
                          </a:solidFill>
                          <a:effectLst/>
                          <a:latin typeface="Calibri" panose="020F0502020204030204" pitchFamily="34" charset="0"/>
                        </a:rPr>
                        <a:t> </a:t>
                      </a:r>
                      <a:r>
                        <a:rPr lang="ar-SA" sz="1800" b="1" i="0" u="none" strike="noStrike" dirty="0">
                          <a:solidFill>
                            <a:srgbClr val="000000"/>
                          </a:solidFill>
                          <a:effectLst/>
                          <a:latin typeface="Calibri" panose="020F0502020204030204" pitchFamily="34" charset="0"/>
                        </a:rPr>
                        <a:t>المرتبطة</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تمثل قدر</a:t>
                      </a:r>
                      <a:r>
                        <a:rPr lang="ar-EG" sz="1600" b="0" i="0" u="none" strike="noStrike" dirty="0">
                          <a:solidFill>
                            <a:srgbClr val="000000"/>
                          </a:solidFill>
                          <a:effectLst/>
                          <a:latin typeface="Calibri" panose="020F0502020204030204" pitchFamily="34" charset="0"/>
                        </a:rPr>
                        <a:t>ة</a:t>
                      </a:r>
                      <a:r>
                        <a:rPr lang="ar-SA" sz="1600" b="0" i="0" u="none" strike="noStrike" dirty="0">
                          <a:solidFill>
                            <a:srgbClr val="000000"/>
                          </a:solidFill>
                          <a:effectLst/>
                          <a:latin typeface="Calibri" panose="020F0502020204030204" pitchFamily="34" charset="0"/>
                        </a:rPr>
                        <a:t> الأعمال التي تخدمها مجموعة الإجراءات وتدعمها لتحقيق الأهداف</a:t>
                      </a: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علاقة ربط</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اختياري</a:t>
                      </a:r>
                    </a:p>
                  </a:txBody>
                  <a:tcPr marL="137160" marR="137160" marT="137160" marB="137160" anchor="b"/>
                </a:tc>
                <a:extLst>
                  <a:ext uri="{0D108BD9-81ED-4DB2-BD59-A6C34878D82A}">
                    <a16:rowId xmlns:a16="http://schemas.microsoft.com/office/drawing/2014/main" val="3681657492"/>
                  </a:ext>
                </a:extLst>
              </a:tr>
            </a:tbl>
          </a:graphicData>
        </a:graphic>
      </p:graphicFrame>
    </p:spTree>
    <p:extLst>
      <p:ext uri="{BB962C8B-B14F-4D97-AF65-F5344CB8AC3E}">
        <p14:creationId xmlns:p14="http://schemas.microsoft.com/office/powerpoint/2010/main" val="4003095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44</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الأعمال"</a:t>
            </a:r>
            <a:r>
              <a:rPr lang="ar-EG" sz="2800" dirty="0"/>
              <a:t> -</a:t>
            </a:r>
            <a:r>
              <a:rPr lang="ar-EG" dirty="0"/>
              <a:t> </a:t>
            </a:r>
            <a:r>
              <a:rPr lang="en-US" dirty="0"/>
              <a:t>تفصيل سمات </a:t>
            </a:r>
            <a:r>
              <a:rPr lang="ar-SA" dirty="0"/>
              <a:t>وحدة </a:t>
            </a:r>
            <a:r>
              <a:rPr lang="ar-EG" dirty="0"/>
              <a:t>ال</a:t>
            </a:r>
            <a:r>
              <a:rPr lang="ar-SA" dirty="0"/>
              <a:t>بناء "إجراء عمل"</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3138766211"/>
              </p:ext>
            </p:extLst>
          </p:nvPr>
        </p:nvGraphicFramePr>
        <p:xfrm>
          <a:off x="876578" y="1063806"/>
          <a:ext cx="10473679" cy="4917001"/>
        </p:xfrm>
        <a:graphic>
          <a:graphicData uri="http://schemas.openxmlformats.org/drawingml/2006/table">
            <a:tbl>
              <a:tblPr rtl="1" firstRow="1" bandRow="1">
                <a:tableStyleId>{5C22544A-7EE6-4342-B048-85BDC9FD1C3A}</a:tableStyleId>
              </a:tblPr>
              <a:tblGrid>
                <a:gridCol w="2805617">
                  <a:extLst>
                    <a:ext uri="{9D8B030D-6E8A-4147-A177-3AD203B41FA5}">
                      <a16:colId xmlns:a16="http://schemas.microsoft.com/office/drawing/2014/main" val="2853404558"/>
                    </a:ext>
                  </a:extLst>
                </a:gridCol>
                <a:gridCol w="4854383">
                  <a:extLst>
                    <a:ext uri="{9D8B030D-6E8A-4147-A177-3AD203B41FA5}">
                      <a16:colId xmlns:a16="http://schemas.microsoft.com/office/drawing/2014/main" val="1866450976"/>
                    </a:ext>
                  </a:extLst>
                </a:gridCol>
                <a:gridCol w="1616528">
                  <a:extLst>
                    <a:ext uri="{9D8B030D-6E8A-4147-A177-3AD203B41FA5}">
                      <a16:colId xmlns:a16="http://schemas.microsoft.com/office/drawing/2014/main" val="751160629"/>
                    </a:ext>
                  </a:extLst>
                </a:gridCol>
                <a:gridCol w="1197151">
                  <a:extLst>
                    <a:ext uri="{9D8B030D-6E8A-4147-A177-3AD203B41FA5}">
                      <a16:colId xmlns:a16="http://schemas.microsoft.com/office/drawing/2014/main" val="285282852"/>
                    </a:ext>
                  </a:extLst>
                </a:gridCol>
              </a:tblGrid>
              <a:tr h="371159">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45720" marR="45720" marT="18288" marB="18288" anchor="b"/>
                </a:tc>
                <a:extLst>
                  <a:ext uri="{0D108BD9-81ED-4DB2-BD59-A6C34878D82A}">
                    <a16:rowId xmlns:a16="http://schemas.microsoft.com/office/drawing/2014/main" val="2998368315"/>
                  </a:ext>
                </a:extLst>
              </a:tr>
              <a:tr h="324703">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الرمز الفريد </a:t>
                      </a:r>
                      <a:r>
                        <a:rPr lang="ar-EG" sz="1600" b="0" i="0" u="none" strike="noStrike" dirty="0">
                          <a:solidFill>
                            <a:srgbClr val="000000"/>
                          </a:solidFill>
                          <a:effectLst/>
                          <a:latin typeface="Calibri" panose="020F0502020204030204" pitchFamily="34" charset="0"/>
                        </a:rPr>
                        <a:t>ل</a:t>
                      </a:r>
                      <a:r>
                        <a:rPr lang="ar-SA" sz="1600" b="0" i="0" u="none" strike="noStrike" dirty="0">
                          <a:solidFill>
                            <a:srgbClr val="000000"/>
                          </a:solidFill>
                          <a:effectLst/>
                          <a:latin typeface="Calibri" panose="020F0502020204030204" pitchFamily="34" charset="0"/>
                        </a:rPr>
                        <a:t>لإجراء</a:t>
                      </a:r>
                    </a:p>
                  </a:txBody>
                  <a:tcPr marT="0" marB="0" anchor="b"/>
                </a:tc>
                <a:tc>
                  <a:txBody>
                    <a:bodyPr/>
                    <a:lstStyle/>
                    <a:p>
                      <a:pPr algn="r" rtl="1" fontAlgn="b"/>
                      <a:r>
                        <a:rPr lang="ar-SA" sz="1600" u="none" strike="noStrike" kern="1200" dirty="0">
                          <a:solidFill>
                            <a:schemeClr val="dk1"/>
                          </a:solidFill>
                          <a:effectLst/>
                          <a:latin typeface="+mn-lt"/>
                          <a:ea typeface="+mn-ea"/>
                          <a:cs typeface="+mn-cs"/>
                        </a:rPr>
                        <a:t>أحرف و/أو أرقام</a:t>
                      </a:r>
                      <a:endParaRPr lang="ar-SA" sz="1600" b="0" i="0" u="none" strike="noStrike" dirty="0">
                        <a:solidFill>
                          <a:srgbClr val="000000"/>
                        </a:solidFill>
                        <a:effectLst/>
                        <a:latin typeface="Calibri" panose="020F0502020204030204" pitchFamily="34" charset="0"/>
                      </a:endParaRP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T="0" marB="0" anchor="b"/>
                </a:tc>
                <a:extLst>
                  <a:ext uri="{0D108BD9-81ED-4DB2-BD59-A6C34878D82A}">
                    <a16:rowId xmlns:a16="http://schemas.microsoft.com/office/drawing/2014/main" val="4035162491"/>
                  </a:ext>
                </a:extLst>
              </a:tr>
              <a:tr h="324703">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اسم الإجراء</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T="0" marB="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إلزامي</a:t>
                      </a:r>
                    </a:p>
                  </a:txBody>
                  <a:tcPr marT="0" marB="0" anchor="b"/>
                </a:tc>
                <a:extLst>
                  <a:ext uri="{0D108BD9-81ED-4DB2-BD59-A6C34878D82A}">
                    <a16:rowId xmlns:a16="http://schemas.microsoft.com/office/drawing/2014/main" val="2177790647"/>
                  </a:ext>
                </a:extLst>
              </a:tr>
              <a:tr h="324703">
                <a:tc>
                  <a:txBody>
                    <a:bodyPr/>
                    <a:lstStyle/>
                    <a:p>
                      <a:pPr algn="ctr" rtl="1" fontAlgn="b"/>
                      <a:r>
                        <a:rPr lang="ar-SA" sz="1800" b="1" i="0" u="none" strike="noStrike" dirty="0">
                          <a:solidFill>
                            <a:srgbClr val="000000"/>
                          </a:solidFill>
                          <a:effectLst/>
                          <a:latin typeface="Calibri" panose="020F0502020204030204" pitchFamily="34" charset="0"/>
                        </a:rPr>
                        <a:t>الوصف</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وصف مختصر للإجراء</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T="0" marB="0" anchor="b"/>
                </a:tc>
                <a:extLst>
                  <a:ext uri="{0D108BD9-81ED-4DB2-BD59-A6C34878D82A}">
                    <a16:rowId xmlns:a16="http://schemas.microsoft.com/office/drawing/2014/main" val="1872514950"/>
                  </a:ext>
                </a:extLst>
              </a:tr>
              <a:tr h="324703">
                <a:tc>
                  <a:txBody>
                    <a:bodyPr/>
                    <a:lstStyle/>
                    <a:p>
                      <a:pPr algn="ctr" rtl="1" fontAlgn="b"/>
                      <a:r>
                        <a:rPr lang="ar-SA" sz="1800" b="1" i="0" u="none" strike="noStrike" dirty="0">
                          <a:solidFill>
                            <a:srgbClr val="000000"/>
                          </a:solidFill>
                          <a:effectLst/>
                          <a:latin typeface="Calibri" panose="020F0502020204030204" pitchFamily="34" charset="0"/>
                        </a:rPr>
                        <a:t>الخدمة المرتبطة</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الخدمة التي يرتبط بها هذا الإجراء</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حسب التوفر</a:t>
                      </a:r>
                    </a:p>
                  </a:txBody>
                  <a:tcPr marT="0" marB="0" anchor="b"/>
                </a:tc>
                <a:extLst>
                  <a:ext uri="{0D108BD9-81ED-4DB2-BD59-A6C34878D82A}">
                    <a16:rowId xmlns:a16="http://schemas.microsoft.com/office/drawing/2014/main" val="812713892"/>
                  </a:ext>
                </a:extLst>
              </a:tr>
              <a:tr h="324703">
                <a:tc>
                  <a:txBody>
                    <a:bodyPr/>
                    <a:lstStyle/>
                    <a:p>
                      <a:pPr algn="ctr" rtl="1" fontAlgn="b"/>
                      <a:r>
                        <a:rPr lang="ar-SA" sz="1800" b="1" i="0" u="none" strike="noStrike" dirty="0">
                          <a:solidFill>
                            <a:srgbClr val="000000"/>
                          </a:solidFill>
                          <a:effectLst/>
                          <a:latin typeface="Calibri" panose="020F0502020204030204" pitchFamily="34" charset="0"/>
                        </a:rPr>
                        <a:t>الإدارة المالكة للإجراء</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الإدارة المسؤولة عن تنفيذ الإجراء</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T="0" marB="0" anchor="b"/>
                </a:tc>
                <a:extLst>
                  <a:ext uri="{0D108BD9-81ED-4DB2-BD59-A6C34878D82A}">
                    <a16:rowId xmlns:a16="http://schemas.microsoft.com/office/drawing/2014/main" val="4241025106"/>
                  </a:ext>
                </a:extLst>
              </a:tr>
              <a:tr h="324703">
                <a:tc>
                  <a:txBody>
                    <a:bodyPr/>
                    <a:lstStyle/>
                    <a:p>
                      <a:pPr algn="ctr" rtl="1" fontAlgn="b"/>
                      <a:r>
                        <a:rPr lang="ar-SA" sz="1800" b="1" i="0" u="none" strike="noStrike">
                          <a:solidFill>
                            <a:srgbClr val="000000"/>
                          </a:solidFill>
                          <a:effectLst/>
                          <a:latin typeface="Calibri" panose="020F0502020204030204" pitchFamily="34" charset="0"/>
                        </a:rPr>
                        <a:t>حالة مستوى توثيق الإجراء</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مستوى التوثيق المتاح للإجراء (لا يوجد توثيق-جزئي-كلي)</a:t>
                      </a:r>
                    </a:p>
                  </a:txBody>
                  <a:tcPr marT="0" marB="0" anchor="b"/>
                </a:tc>
                <a:tc>
                  <a:txBody>
                    <a:bodyPr/>
                    <a:lstStyle/>
                    <a:p>
                      <a:pPr algn="r" rtl="1" fontAlgn="b"/>
                      <a:r>
                        <a:rPr lang="ar-SA" sz="1600" b="0" i="0" u="none" strike="noStrike">
                          <a:solidFill>
                            <a:srgbClr val="000000"/>
                          </a:solidFill>
                          <a:effectLst/>
                          <a:latin typeface="Calibri" panose="020F0502020204030204" pitchFamily="34" charset="0"/>
                        </a:rPr>
                        <a:t>قائمة معرفة سابقًا</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T="0" marB="0" anchor="b"/>
                </a:tc>
                <a:extLst>
                  <a:ext uri="{0D108BD9-81ED-4DB2-BD59-A6C34878D82A}">
                    <a16:rowId xmlns:a16="http://schemas.microsoft.com/office/drawing/2014/main" val="666626201"/>
                  </a:ext>
                </a:extLst>
              </a:tr>
              <a:tr h="324703">
                <a:tc>
                  <a:txBody>
                    <a:bodyPr/>
                    <a:lstStyle/>
                    <a:p>
                      <a:pPr algn="ctr" rtl="1" fontAlgn="b"/>
                      <a:r>
                        <a:rPr lang="ar-SA" sz="1800" b="1" i="0" u="none" strike="noStrike" dirty="0">
                          <a:solidFill>
                            <a:srgbClr val="000000"/>
                          </a:solidFill>
                          <a:effectLst/>
                          <a:latin typeface="Calibri" panose="020F0502020204030204" pitchFamily="34" charset="0"/>
                        </a:rPr>
                        <a:t>المدة الزمنية لتنفيذ الإجراء</a:t>
                      </a:r>
                    </a:p>
                  </a:txBody>
                  <a:tcPr marT="0" marB="0" anchor="b"/>
                </a:tc>
                <a:tc>
                  <a:txBody>
                    <a:bodyPr/>
                    <a:lstStyle/>
                    <a:p>
                      <a:pPr algn="r" rtl="1" fontAlgn="b"/>
                      <a:r>
                        <a:rPr lang="ar-SA" sz="1600" b="0" i="0" u="none" strike="noStrike">
                          <a:solidFill>
                            <a:srgbClr val="000000"/>
                          </a:solidFill>
                          <a:effectLst/>
                          <a:latin typeface="Calibri" panose="020F0502020204030204" pitchFamily="34" charset="0"/>
                        </a:rPr>
                        <a:t>الفترة الزمنية المطلوبة لتنفيذ الإجراء</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أرقام</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اختياري</a:t>
                      </a:r>
                    </a:p>
                  </a:txBody>
                  <a:tcPr marT="0" marB="0" anchor="b"/>
                </a:tc>
                <a:extLst>
                  <a:ext uri="{0D108BD9-81ED-4DB2-BD59-A6C34878D82A}">
                    <a16:rowId xmlns:a16="http://schemas.microsoft.com/office/drawing/2014/main" val="2829123337"/>
                  </a:ext>
                </a:extLst>
              </a:tr>
              <a:tr h="324703">
                <a:tc>
                  <a:txBody>
                    <a:bodyPr/>
                    <a:lstStyle/>
                    <a:p>
                      <a:pPr algn="ctr" rtl="1" fontAlgn="b"/>
                      <a:r>
                        <a:rPr lang="ar-SA" sz="1800" b="1" i="0" u="none" strike="noStrike" dirty="0">
                          <a:solidFill>
                            <a:srgbClr val="000000"/>
                          </a:solidFill>
                          <a:effectLst/>
                          <a:latin typeface="Calibri" panose="020F0502020204030204" pitchFamily="34" charset="0"/>
                        </a:rPr>
                        <a:t>مستوى الأتمتة في الوضع الحالي</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مستوى الأتمتة الحالي (تقليدي-جزئي-كلي)</a:t>
                      </a:r>
                    </a:p>
                  </a:txBody>
                  <a:tcPr marT="0" marB="0" anchor="b"/>
                </a:tc>
                <a:tc>
                  <a:txBody>
                    <a:bodyPr/>
                    <a:lstStyle/>
                    <a:p>
                      <a:pPr algn="r" rtl="1" fontAlgn="b"/>
                      <a:r>
                        <a:rPr lang="ar-SA" sz="1600" b="0" i="0" u="none" strike="noStrike">
                          <a:solidFill>
                            <a:srgbClr val="000000"/>
                          </a:solidFill>
                          <a:effectLst/>
                          <a:latin typeface="Calibri" panose="020F0502020204030204" pitchFamily="34" charset="0"/>
                        </a:rPr>
                        <a:t>قائمة معرفة سابقًا</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T="0" marB="0" anchor="b"/>
                </a:tc>
                <a:extLst>
                  <a:ext uri="{0D108BD9-81ED-4DB2-BD59-A6C34878D82A}">
                    <a16:rowId xmlns:a16="http://schemas.microsoft.com/office/drawing/2014/main" val="2729761492"/>
                  </a:ext>
                </a:extLst>
              </a:tr>
              <a:tr h="324703">
                <a:tc>
                  <a:txBody>
                    <a:bodyPr/>
                    <a:lstStyle/>
                    <a:p>
                      <a:pPr algn="ctr" rtl="1" fontAlgn="b"/>
                      <a:r>
                        <a:rPr lang="ar-SA" sz="1800" b="1" i="0" u="none" strike="noStrike" dirty="0">
                          <a:solidFill>
                            <a:srgbClr val="000000"/>
                          </a:solidFill>
                          <a:effectLst/>
                          <a:latin typeface="Calibri" panose="020F0502020204030204" pitchFamily="34" charset="0"/>
                        </a:rPr>
                        <a:t>مستوى الأتمتة في الوضع المستقبلي</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مستوى الأتمتة المستقبلي المخطط له</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قائمة معرفة سابقًا</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T="0" marB="0" anchor="b"/>
                </a:tc>
                <a:extLst>
                  <a:ext uri="{0D108BD9-81ED-4DB2-BD59-A6C34878D82A}">
                    <a16:rowId xmlns:a16="http://schemas.microsoft.com/office/drawing/2014/main" val="1399414011"/>
                  </a:ext>
                </a:extLst>
              </a:tr>
              <a:tr h="324703">
                <a:tc>
                  <a:txBody>
                    <a:bodyPr/>
                    <a:lstStyle/>
                    <a:p>
                      <a:pPr algn="ctr" rtl="1" fontAlgn="b"/>
                      <a:r>
                        <a:rPr lang="ar-SA" sz="1800" b="1" i="0" u="none" strike="noStrike">
                          <a:solidFill>
                            <a:srgbClr val="000000"/>
                          </a:solidFill>
                          <a:effectLst/>
                          <a:latin typeface="Calibri" panose="020F0502020204030204" pitchFamily="34" charset="0"/>
                        </a:rPr>
                        <a:t>التطبيقات الداعمة في الوضح الحالي</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التطبيقات التي تدعم الإجراء حاليا</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T="0" marB="0" anchor="b"/>
                </a:tc>
                <a:extLst>
                  <a:ext uri="{0D108BD9-81ED-4DB2-BD59-A6C34878D82A}">
                    <a16:rowId xmlns:a16="http://schemas.microsoft.com/office/drawing/2014/main" val="1426280651"/>
                  </a:ext>
                </a:extLst>
              </a:tr>
              <a:tr h="324703">
                <a:tc>
                  <a:txBody>
                    <a:bodyPr/>
                    <a:lstStyle/>
                    <a:p>
                      <a:pPr algn="ctr" rtl="1" fontAlgn="b"/>
                      <a:r>
                        <a:rPr lang="ar-SA" sz="1800" b="1" i="0" u="none" strike="noStrike" dirty="0">
                          <a:solidFill>
                            <a:srgbClr val="000000"/>
                          </a:solidFill>
                          <a:effectLst/>
                          <a:latin typeface="Calibri" panose="020F0502020204030204" pitchFamily="34" charset="0"/>
                        </a:rPr>
                        <a:t>التطبيقات الداعمة في الوضح المستقبلي</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التطبيقات المخطط لها لدعم الإجراء في المستقبل</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اختياري</a:t>
                      </a:r>
                    </a:p>
                  </a:txBody>
                  <a:tcPr marT="0" marB="0" anchor="b"/>
                </a:tc>
                <a:extLst>
                  <a:ext uri="{0D108BD9-81ED-4DB2-BD59-A6C34878D82A}">
                    <a16:rowId xmlns:a16="http://schemas.microsoft.com/office/drawing/2014/main" val="220032958"/>
                  </a:ext>
                </a:extLst>
              </a:tr>
              <a:tr h="324703">
                <a:tc>
                  <a:txBody>
                    <a:bodyPr/>
                    <a:lstStyle/>
                    <a:p>
                      <a:pPr algn="ctr" rtl="1" fontAlgn="b"/>
                      <a:r>
                        <a:rPr lang="ar-SA" sz="1800" b="1" i="0" u="none" strike="noStrike" dirty="0">
                          <a:solidFill>
                            <a:srgbClr val="000000"/>
                          </a:solidFill>
                          <a:effectLst/>
                          <a:latin typeface="Calibri" panose="020F0502020204030204" pitchFamily="34" charset="0"/>
                        </a:rPr>
                        <a:t>مجموعة إجراءات العمل المرتبطة</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مجموعة إجراءات الأعمال المرتبطة بالإجراء</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اختياري</a:t>
                      </a:r>
                    </a:p>
                  </a:txBody>
                  <a:tcPr marT="0" marB="0" anchor="b"/>
                </a:tc>
                <a:extLst>
                  <a:ext uri="{0D108BD9-81ED-4DB2-BD59-A6C34878D82A}">
                    <a16:rowId xmlns:a16="http://schemas.microsoft.com/office/drawing/2014/main" val="2719192168"/>
                  </a:ext>
                </a:extLst>
              </a:tr>
              <a:tr h="324703">
                <a:tc>
                  <a:txBody>
                    <a:bodyPr/>
                    <a:lstStyle/>
                    <a:p>
                      <a:pPr algn="ctr" rtl="1" fontAlgn="b"/>
                      <a:r>
                        <a:rPr lang="ar-SA" sz="1800" b="1" i="0" u="none" strike="noStrike" dirty="0">
                          <a:solidFill>
                            <a:srgbClr val="000000"/>
                          </a:solidFill>
                          <a:effectLst/>
                          <a:latin typeface="Calibri" panose="020F0502020204030204" pitchFamily="34" charset="0"/>
                        </a:rPr>
                        <a:t>مؤشرات قياس أداء الإجراء</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مؤشرات قياس الأداء الخاصة بالإجراء (إن وجدت)</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اختياري</a:t>
                      </a:r>
                    </a:p>
                  </a:txBody>
                  <a:tcPr marT="0" marB="0" anchor="b"/>
                </a:tc>
                <a:extLst>
                  <a:ext uri="{0D108BD9-81ED-4DB2-BD59-A6C34878D82A}">
                    <a16:rowId xmlns:a16="http://schemas.microsoft.com/office/drawing/2014/main" val="3256083373"/>
                  </a:ext>
                </a:extLst>
              </a:tr>
              <a:tr h="324703">
                <a:tc>
                  <a:txBody>
                    <a:bodyPr/>
                    <a:lstStyle/>
                    <a:p>
                      <a:pPr algn="ctr" rtl="1" fontAlgn="b"/>
                      <a:r>
                        <a:rPr lang="ar-SA" sz="1800" b="1" i="0" u="none" strike="noStrike" dirty="0">
                          <a:solidFill>
                            <a:srgbClr val="000000"/>
                          </a:solidFill>
                          <a:effectLst/>
                          <a:latin typeface="Calibri" panose="020F0502020204030204" pitchFamily="34" charset="0"/>
                        </a:rPr>
                        <a:t>ملاحظات / متطلبات التحسين للإجراء</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ملاحظات أو متطلبات لتحسين الإجراء</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نص </a:t>
                      </a:r>
                    </a:p>
                  </a:txBody>
                  <a:tcPr marT="0" marB="0" anchor="b"/>
                </a:tc>
                <a:tc>
                  <a:txBody>
                    <a:bodyPr/>
                    <a:lstStyle/>
                    <a:p>
                      <a:pPr algn="r" rtl="1" fontAlgn="b"/>
                      <a:r>
                        <a:rPr lang="ar-SA" sz="1600" b="0" i="0" u="none" strike="noStrike" dirty="0">
                          <a:solidFill>
                            <a:srgbClr val="000000"/>
                          </a:solidFill>
                          <a:effectLst/>
                          <a:latin typeface="Calibri" panose="020F0502020204030204" pitchFamily="34" charset="0"/>
                        </a:rPr>
                        <a:t>اختياري</a:t>
                      </a:r>
                    </a:p>
                  </a:txBody>
                  <a:tcPr marT="0" marB="0" anchor="b"/>
                </a:tc>
                <a:extLst>
                  <a:ext uri="{0D108BD9-81ED-4DB2-BD59-A6C34878D82A}">
                    <a16:rowId xmlns:a16="http://schemas.microsoft.com/office/drawing/2014/main" val="1589904935"/>
                  </a:ext>
                </a:extLst>
              </a:tr>
            </a:tbl>
          </a:graphicData>
        </a:graphic>
      </p:graphicFrame>
    </p:spTree>
    <p:extLst>
      <p:ext uri="{BB962C8B-B14F-4D97-AF65-F5344CB8AC3E}">
        <p14:creationId xmlns:p14="http://schemas.microsoft.com/office/powerpoint/2010/main" val="35021787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45</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الأعمال"</a:t>
            </a:r>
            <a:r>
              <a:rPr lang="ar-EG" sz="2800" dirty="0"/>
              <a:t> -</a:t>
            </a:r>
            <a:r>
              <a:rPr lang="ar-EG" dirty="0"/>
              <a:t> </a:t>
            </a:r>
            <a:r>
              <a:rPr lang="en-US" dirty="0"/>
              <a:t>تفصيل سمات </a:t>
            </a:r>
            <a:r>
              <a:rPr lang="ar-SA" dirty="0"/>
              <a:t>وحدة </a:t>
            </a:r>
            <a:r>
              <a:rPr lang="ar-EG" dirty="0"/>
              <a:t>ال</a:t>
            </a:r>
            <a:r>
              <a:rPr lang="ar-SA" dirty="0"/>
              <a:t>بناء "خدمة</a:t>
            </a:r>
            <a:r>
              <a:rPr lang="ar-EG" dirty="0"/>
              <a:t> أعمال</a:t>
            </a:r>
            <a:r>
              <a:rPr lang="ar-SA" dirty="0"/>
              <a:t>"</a:t>
            </a:r>
            <a:r>
              <a:rPr lang="ar-EG" dirty="0"/>
              <a:t> (2 </a:t>
            </a:r>
            <a:r>
              <a:rPr lang="en-US" dirty="0"/>
              <a:t>/</a:t>
            </a:r>
            <a:r>
              <a:rPr lang="ar-EG" dirty="0"/>
              <a:t> </a:t>
            </a:r>
            <a:r>
              <a:rPr lang="en-US" dirty="0"/>
              <a:t>1</a:t>
            </a:r>
            <a:r>
              <a:rPr lang="ar-EG" dirty="0"/>
              <a:t>)</a:t>
            </a:r>
            <a:endParaRPr lang="en-US" dirty="0"/>
          </a:p>
        </p:txBody>
      </p:sp>
      <p:graphicFrame>
        <p:nvGraphicFramePr>
          <p:cNvPr id="5" name="Table 4">
            <a:extLst>
              <a:ext uri="{FF2B5EF4-FFF2-40B4-BE49-F238E27FC236}">
                <a16:creationId xmlns:a16="http://schemas.microsoft.com/office/drawing/2014/main" id="{A2B121E6-9A1E-48C4-9F15-D40FA637985B}"/>
              </a:ext>
            </a:extLst>
          </p:cNvPr>
          <p:cNvGraphicFramePr>
            <a:graphicFrameLocks noGrp="1"/>
          </p:cNvGraphicFramePr>
          <p:nvPr>
            <p:extLst>
              <p:ext uri="{D42A27DB-BD31-4B8C-83A1-F6EECF244321}">
                <p14:modId xmlns:p14="http://schemas.microsoft.com/office/powerpoint/2010/main" val="1206966607"/>
              </p:ext>
            </p:extLst>
          </p:nvPr>
        </p:nvGraphicFramePr>
        <p:xfrm>
          <a:off x="685795" y="1112057"/>
          <a:ext cx="10817816" cy="5087104"/>
        </p:xfrm>
        <a:graphic>
          <a:graphicData uri="http://schemas.openxmlformats.org/drawingml/2006/table">
            <a:tbl>
              <a:tblPr rtl="1" firstRow="1" bandRow="1">
                <a:tableStyleId>{5C22544A-7EE6-4342-B048-85BDC9FD1C3A}</a:tableStyleId>
              </a:tblPr>
              <a:tblGrid>
                <a:gridCol w="3098949">
                  <a:extLst>
                    <a:ext uri="{9D8B030D-6E8A-4147-A177-3AD203B41FA5}">
                      <a16:colId xmlns:a16="http://schemas.microsoft.com/office/drawing/2014/main" val="2853404558"/>
                    </a:ext>
                  </a:extLst>
                </a:gridCol>
                <a:gridCol w="4413231">
                  <a:extLst>
                    <a:ext uri="{9D8B030D-6E8A-4147-A177-3AD203B41FA5}">
                      <a16:colId xmlns:a16="http://schemas.microsoft.com/office/drawing/2014/main" val="1866450976"/>
                    </a:ext>
                  </a:extLst>
                </a:gridCol>
                <a:gridCol w="1652818">
                  <a:extLst>
                    <a:ext uri="{9D8B030D-6E8A-4147-A177-3AD203B41FA5}">
                      <a16:colId xmlns:a16="http://schemas.microsoft.com/office/drawing/2014/main" val="751160629"/>
                    </a:ext>
                  </a:extLst>
                </a:gridCol>
                <a:gridCol w="1652818">
                  <a:extLst>
                    <a:ext uri="{9D8B030D-6E8A-4147-A177-3AD203B41FA5}">
                      <a16:colId xmlns:a16="http://schemas.microsoft.com/office/drawing/2014/main" val="1081969829"/>
                    </a:ext>
                  </a:extLst>
                </a:gridCol>
              </a:tblGrid>
              <a:tr h="321533">
                <a:tc>
                  <a:txBody>
                    <a:bodyPr/>
                    <a:lstStyle/>
                    <a:p>
                      <a:pPr marL="0" algn="ctr" defTabSz="914400" rtl="1" eaLnBrk="1" fontAlgn="b" latinLnBrk="0" hangingPunct="1"/>
                      <a:r>
                        <a:rPr lang="ar-SA" sz="1800" b="1" u="none" strike="noStrike" kern="1200" dirty="0">
                          <a:solidFill>
                            <a:schemeClr val="lt1"/>
                          </a:solidFill>
                          <a:effectLst/>
                          <a:latin typeface="+mn-lt"/>
                          <a:ea typeface="+mn-ea"/>
                          <a:cs typeface="+mn-cs"/>
                        </a:rPr>
                        <a:t>السمة</a:t>
                      </a:r>
                    </a:p>
                  </a:txBody>
                  <a:tcPr marL="45720" marR="45720" marT="18288" marB="18288" anchor="b"/>
                </a:tc>
                <a:tc>
                  <a:txBody>
                    <a:bodyPr/>
                    <a:lstStyle/>
                    <a:p>
                      <a:pPr marL="0" algn="ctr" defTabSz="914400" rtl="1" eaLnBrk="1" fontAlgn="b" latinLnBrk="0" hangingPunct="1"/>
                      <a:r>
                        <a:rPr lang="ar-SA" sz="1800" b="1" u="none" strike="noStrike" kern="1200" dirty="0">
                          <a:solidFill>
                            <a:schemeClr val="lt1"/>
                          </a:solidFill>
                          <a:effectLst/>
                          <a:latin typeface="+mn-lt"/>
                          <a:ea typeface="+mn-ea"/>
                          <a:cs typeface="+mn-cs"/>
                        </a:rPr>
                        <a:t>وصف السمة</a:t>
                      </a:r>
                    </a:p>
                  </a:txBody>
                  <a:tcPr marL="45720" marR="45720" marT="18288" marB="18288" anchor="b"/>
                </a:tc>
                <a:tc>
                  <a:txBody>
                    <a:bodyPr/>
                    <a:lstStyle/>
                    <a:p>
                      <a:pPr marL="0" algn="ctr" defTabSz="914400" rtl="1" eaLnBrk="1" fontAlgn="b" latinLnBrk="0" hangingPunct="1"/>
                      <a:r>
                        <a:rPr lang="ar-SA" sz="1800" b="1" u="none" strike="noStrike" kern="1200" dirty="0">
                          <a:solidFill>
                            <a:schemeClr val="lt1"/>
                          </a:solidFill>
                          <a:effectLst/>
                          <a:latin typeface="+mn-lt"/>
                          <a:ea typeface="+mn-ea"/>
                          <a:cs typeface="+mn-cs"/>
                        </a:rPr>
                        <a:t>نوع السمة</a:t>
                      </a:r>
                    </a:p>
                  </a:txBody>
                  <a:tcPr marL="45720" marR="45720" marT="18288" marB="18288" anchor="b"/>
                </a:tc>
                <a:tc>
                  <a:txBody>
                    <a:bodyPr/>
                    <a:lstStyle/>
                    <a:p>
                      <a:pPr marL="0" algn="ctr" defTabSz="914400" rtl="1" eaLnBrk="1" fontAlgn="b" latinLnBrk="0" hangingPunct="1"/>
                      <a:r>
                        <a:rPr lang="ar-EG" sz="1800" b="1" u="none" strike="noStrike" kern="1200" dirty="0">
                          <a:solidFill>
                            <a:schemeClr val="lt1"/>
                          </a:solidFill>
                          <a:effectLst/>
                          <a:latin typeface="+mn-lt"/>
                          <a:ea typeface="+mn-ea"/>
                          <a:cs typeface="+mn-cs"/>
                        </a:rPr>
                        <a:t>الزامية التوثيق</a:t>
                      </a:r>
                      <a:endParaRPr lang="ar-SA" sz="1800" b="1" u="none" strike="noStrike" kern="1200" dirty="0">
                        <a:solidFill>
                          <a:schemeClr val="lt1"/>
                        </a:solidFill>
                        <a:effectLst/>
                        <a:latin typeface="+mn-lt"/>
                        <a:ea typeface="+mn-ea"/>
                        <a:cs typeface="+mn-cs"/>
                      </a:endParaRPr>
                    </a:p>
                  </a:txBody>
                  <a:tcPr marL="45720" marR="45720" marT="18288" marB="18288" anchor="b"/>
                </a:tc>
                <a:extLst>
                  <a:ext uri="{0D108BD9-81ED-4DB2-BD59-A6C34878D82A}">
                    <a16:rowId xmlns:a16="http://schemas.microsoft.com/office/drawing/2014/main" val="2998368315"/>
                  </a:ext>
                </a:extLst>
              </a:tr>
              <a:tr h="344499">
                <a:tc>
                  <a:txBody>
                    <a:bodyPr/>
                    <a:lstStyle/>
                    <a:p>
                      <a:pPr algn="ctr" rtl="1" fontAlgn="b"/>
                      <a:r>
                        <a:rPr lang="ar-SA" sz="1200" b="1" kern="1200" dirty="0">
                          <a:solidFill>
                            <a:schemeClr val="tx1"/>
                          </a:solidFill>
                          <a:effectLst/>
                          <a:latin typeface="+mn-lt"/>
                          <a:ea typeface="+mn-ea"/>
                          <a:cs typeface="+mn-cs"/>
                        </a:rPr>
                        <a:t>الرمز</a:t>
                      </a:r>
                    </a:p>
                  </a:txBody>
                  <a:tcPr anchor="b"/>
                </a:tc>
                <a:tc>
                  <a:txBody>
                    <a:bodyPr/>
                    <a:lstStyle/>
                    <a:p>
                      <a:pPr algn="r" rtl="1" fontAlgn="b"/>
                      <a:r>
                        <a:rPr lang="ar-SA" sz="1200" b="0" kern="1200" dirty="0">
                          <a:solidFill>
                            <a:schemeClr val="tx1"/>
                          </a:solidFill>
                          <a:effectLst/>
                          <a:latin typeface="+mn-lt"/>
                          <a:ea typeface="+mn-ea"/>
                          <a:cs typeface="+mn-cs"/>
                        </a:rPr>
                        <a:t>الرمز الفريد </a:t>
                      </a:r>
                      <a:r>
                        <a:rPr lang="ar-EG" sz="1200" b="0" kern="1200" dirty="0">
                          <a:solidFill>
                            <a:schemeClr val="tx1"/>
                          </a:solidFill>
                          <a:effectLst/>
                          <a:latin typeface="+mn-lt"/>
                          <a:ea typeface="+mn-ea"/>
                          <a:cs typeface="+mn-cs"/>
                        </a:rPr>
                        <a:t>ل</a:t>
                      </a:r>
                      <a:r>
                        <a:rPr lang="ar-SA" sz="1200" b="0" kern="1200" dirty="0">
                          <a:solidFill>
                            <a:schemeClr val="tx1"/>
                          </a:solidFill>
                          <a:effectLst/>
                          <a:latin typeface="+mn-lt"/>
                          <a:ea typeface="+mn-ea"/>
                          <a:cs typeface="+mn-cs"/>
                        </a:rPr>
                        <a:t>لخدمة</a:t>
                      </a:r>
                    </a:p>
                  </a:txBody>
                  <a:tcPr anchor="b"/>
                </a:tc>
                <a:tc>
                  <a:txBody>
                    <a:bodyPr/>
                    <a:lstStyle/>
                    <a:p>
                      <a:pPr algn="r" rtl="1" fontAlgn="b"/>
                      <a:r>
                        <a:rPr lang="ar-SA" sz="1200" b="0" kern="1200" dirty="0">
                          <a:solidFill>
                            <a:schemeClr val="tx1"/>
                          </a:solidFill>
                          <a:effectLst/>
                          <a:latin typeface="+mn-lt"/>
                          <a:ea typeface="+mn-ea"/>
                          <a:cs typeface="+mn-cs"/>
                        </a:rPr>
                        <a:t>أحرف و/أو أرقام</a:t>
                      </a:r>
                    </a:p>
                  </a:txBody>
                  <a:tcPr anchor="b"/>
                </a:tc>
                <a:tc>
                  <a:txBody>
                    <a:bodyPr/>
                    <a:lstStyle/>
                    <a:p>
                      <a:pPr algn="r" rtl="1" fontAlgn="b"/>
                      <a:r>
                        <a:rPr lang="ar-EG" sz="1200" b="0" kern="1200" dirty="0">
                          <a:solidFill>
                            <a:schemeClr val="tx1"/>
                          </a:solidFill>
                          <a:effectLst/>
                          <a:latin typeface="+mn-lt"/>
                          <a:ea typeface="+mn-ea"/>
                          <a:cs typeface="+mn-cs"/>
                        </a:rPr>
                        <a:t>حسب التوفر من الادارات</a:t>
                      </a:r>
                      <a:endParaRPr lang="ar-SA" sz="12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4169301466"/>
                  </a:ext>
                </a:extLst>
              </a:tr>
              <a:tr h="344499">
                <a:tc>
                  <a:txBody>
                    <a:bodyPr/>
                    <a:lstStyle/>
                    <a:p>
                      <a:pPr algn="ctr" rtl="1" fontAlgn="b"/>
                      <a:r>
                        <a:rPr lang="ar-SA" sz="1200" b="1" kern="1200" dirty="0">
                          <a:solidFill>
                            <a:schemeClr val="tx1"/>
                          </a:solidFill>
                          <a:effectLst/>
                          <a:latin typeface="+mn-lt"/>
                          <a:ea typeface="+mn-ea"/>
                          <a:cs typeface="+mn-cs"/>
                        </a:rPr>
                        <a:t>الاسم</a:t>
                      </a:r>
                    </a:p>
                  </a:txBody>
                  <a:tcPr anchor="b"/>
                </a:tc>
                <a:tc>
                  <a:txBody>
                    <a:bodyPr/>
                    <a:lstStyle/>
                    <a:p>
                      <a:pPr algn="r" rtl="1" fontAlgn="b"/>
                      <a:r>
                        <a:rPr lang="ar-SA" sz="1200" b="0" kern="1200" dirty="0">
                          <a:solidFill>
                            <a:schemeClr val="tx1"/>
                          </a:solidFill>
                          <a:effectLst/>
                          <a:latin typeface="+mn-lt"/>
                          <a:ea typeface="+mn-ea"/>
                          <a:cs typeface="+mn-cs"/>
                        </a:rPr>
                        <a:t>اسم الخدمة</a:t>
                      </a:r>
                    </a:p>
                  </a:txBody>
                  <a:tcPr anchor="b"/>
                </a:tc>
                <a:tc>
                  <a:txBody>
                    <a:bodyPr/>
                    <a:lstStyle/>
                    <a:p>
                      <a:pPr algn="r" rtl="1" fontAlgn="b"/>
                      <a:r>
                        <a:rPr lang="ar-SA" sz="1200" b="0" kern="1200">
                          <a:solidFill>
                            <a:schemeClr val="tx1"/>
                          </a:solidFill>
                          <a:effectLst/>
                          <a:latin typeface="+mn-lt"/>
                          <a:ea typeface="+mn-ea"/>
                          <a:cs typeface="+mn-cs"/>
                        </a:rPr>
                        <a:t>نص</a:t>
                      </a:r>
                    </a:p>
                  </a:txBody>
                  <a:tcPr anchor="b"/>
                </a:tc>
                <a:tc>
                  <a:txBody>
                    <a:bodyPr/>
                    <a:lstStyle/>
                    <a:p>
                      <a:pPr algn="r" rtl="1" fontAlgn="b"/>
                      <a:r>
                        <a:rPr lang="ar-EG" sz="1200" b="0" kern="1200" dirty="0">
                          <a:solidFill>
                            <a:schemeClr val="tx1"/>
                          </a:solidFill>
                          <a:effectLst/>
                          <a:latin typeface="+mn-lt"/>
                          <a:ea typeface="+mn-ea"/>
                          <a:cs typeface="+mn-cs"/>
                        </a:rPr>
                        <a:t>الزامية</a:t>
                      </a:r>
                      <a:endParaRPr lang="ar-SA" sz="12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2177790647"/>
                  </a:ext>
                </a:extLst>
              </a:tr>
              <a:tr h="344499">
                <a:tc>
                  <a:txBody>
                    <a:bodyPr/>
                    <a:lstStyle/>
                    <a:p>
                      <a:pPr algn="ctr" rtl="1" fontAlgn="b"/>
                      <a:r>
                        <a:rPr lang="ar-SA" sz="1200" b="1" kern="1200" dirty="0">
                          <a:solidFill>
                            <a:schemeClr val="tx1"/>
                          </a:solidFill>
                          <a:effectLst/>
                          <a:latin typeface="+mn-lt"/>
                          <a:ea typeface="+mn-ea"/>
                          <a:cs typeface="+mn-cs"/>
                        </a:rPr>
                        <a:t>الوصف</a:t>
                      </a:r>
                    </a:p>
                  </a:txBody>
                  <a:tcPr anchor="b"/>
                </a:tc>
                <a:tc>
                  <a:txBody>
                    <a:bodyPr/>
                    <a:lstStyle/>
                    <a:p>
                      <a:pPr algn="r" rtl="1" fontAlgn="b"/>
                      <a:r>
                        <a:rPr lang="ar-SA" sz="1200" b="0" kern="1200" dirty="0">
                          <a:solidFill>
                            <a:schemeClr val="tx1"/>
                          </a:solidFill>
                          <a:effectLst/>
                          <a:latin typeface="+mn-lt"/>
                          <a:ea typeface="+mn-ea"/>
                          <a:cs typeface="+mn-cs"/>
                        </a:rPr>
                        <a:t>وصف مختصر للخدمة</a:t>
                      </a:r>
                    </a:p>
                  </a:txBody>
                  <a:tcPr anchor="b"/>
                </a:tc>
                <a:tc>
                  <a:txBody>
                    <a:bodyPr/>
                    <a:lstStyle/>
                    <a:p>
                      <a:pPr algn="r" rtl="1" fontAlgn="b"/>
                      <a:r>
                        <a:rPr lang="ar-SA" sz="1200" b="0" kern="1200">
                          <a:solidFill>
                            <a:schemeClr val="tx1"/>
                          </a:solidFill>
                          <a:effectLst/>
                          <a:latin typeface="+mn-lt"/>
                          <a:ea typeface="+mn-ea"/>
                          <a:cs typeface="+mn-cs"/>
                        </a:rPr>
                        <a:t>نص</a:t>
                      </a:r>
                    </a:p>
                  </a:txBody>
                  <a:tcPr anchor="b"/>
                </a:tc>
                <a:tc>
                  <a:txBody>
                    <a:bodyPr/>
                    <a:lstStyle/>
                    <a:p>
                      <a:pPr algn="r" rtl="1" fontAlgn="b"/>
                      <a:r>
                        <a:rPr lang="ar-EG" sz="1200" b="0" kern="1200" dirty="0">
                          <a:solidFill>
                            <a:schemeClr val="tx1"/>
                          </a:solidFill>
                          <a:effectLst/>
                          <a:latin typeface="+mn-lt"/>
                          <a:ea typeface="+mn-ea"/>
                          <a:cs typeface="+mn-cs"/>
                        </a:rPr>
                        <a:t>الزامية</a:t>
                      </a:r>
                      <a:endParaRPr lang="ar-SA" sz="12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2606741067"/>
                  </a:ext>
                </a:extLst>
              </a:tr>
              <a:tr h="344499">
                <a:tc>
                  <a:txBody>
                    <a:bodyPr/>
                    <a:lstStyle/>
                    <a:p>
                      <a:pPr algn="ctr" rtl="1" fontAlgn="b"/>
                      <a:r>
                        <a:rPr lang="ar-SA" sz="1200" b="1" kern="1200" dirty="0">
                          <a:solidFill>
                            <a:schemeClr val="tx1"/>
                          </a:solidFill>
                          <a:effectLst/>
                          <a:latin typeface="+mn-lt"/>
                          <a:ea typeface="+mn-ea"/>
                          <a:cs typeface="+mn-cs"/>
                        </a:rPr>
                        <a:t>تصنيف الخدمة</a:t>
                      </a:r>
                    </a:p>
                  </a:txBody>
                  <a:tcPr anchor="b"/>
                </a:tc>
                <a:tc>
                  <a:txBody>
                    <a:bodyPr/>
                    <a:lstStyle/>
                    <a:p>
                      <a:pPr algn="r" rtl="1" fontAlgn="b"/>
                      <a:r>
                        <a:rPr lang="ar-SA" sz="1200" b="0" kern="1200" dirty="0">
                          <a:solidFill>
                            <a:schemeClr val="tx1"/>
                          </a:solidFill>
                          <a:effectLst/>
                          <a:latin typeface="+mn-lt"/>
                          <a:ea typeface="+mn-ea"/>
                          <a:cs typeface="+mn-cs"/>
                        </a:rPr>
                        <a:t>أساسية أو داعمة</a:t>
                      </a:r>
                    </a:p>
                  </a:txBody>
                  <a:tcPr anchor="b"/>
                </a:tc>
                <a:tc>
                  <a:txBody>
                    <a:bodyPr/>
                    <a:lstStyle/>
                    <a:p>
                      <a:pPr algn="r" rtl="1" fontAlgn="b"/>
                      <a:r>
                        <a:rPr lang="ar-SA" sz="1200" b="0" kern="1200" dirty="0">
                          <a:solidFill>
                            <a:schemeClr val="tx1"/>
                          </a:solidFill>
                          <a:effectLst/>
                          <a:latin typeface="+mn-lt"/>
                          <a:ea typeface="+mn-ea"/>
                          <a:cs typeface="+mn-cs"/>
                        </a:rPr>
                        <a:t>قائمة معرفة سابقًا</a:t>
                      </a:r>
                    </a:p>
                  </a:txBody>
                  <a:tcPr anchor="b"/>
                </a:tc>
                <a:tc>
                  <a:txBody>
                    <a:bodyPr/>
                    <a:lstStyle/>
                    <a:p>
                      <a:pPr algn="r" rtl="1" fontAlgn="b"/>
                      <a:r>
                        <a:rPr lang="ar-EG" sz="1200" b="0" kern="1200" dirty="0">
                          <a:solidFill>
                            <a:schemeClr val="tx1"/>
                          </a:solidFill>
                          <a:effectLst/>
                          <a:latin typeface="+mn-lt"/>
                          <a:ea typeface="+mn-ea"/>
                          <a:cs typeface="+mn-cs"/>
                        </a:rPr>
                        <a:t>الزامية</a:t>
                      </a:r>
                      <a:endParaRPr lang="ar-SA" sz="12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2773478600"/>
                  </a:ext>
                </a:extLst>
              </a:tr>
              <a:tr h="344499">
                <a:tc>
                  <a:txBody>
                    <a:bodyPr/>
                    <a:lstStyle/>
                    <a:p>
                      <a:pPr algn="ctr" rtl="1" fontAlgn="b"/>
                      <a:r>
                        <a:rPr lang="ar-SA" sz="1200" b="1" kern="1200" dirty="0">
                          <a:solidFill>
                            <a:schemeClr val="tx1"/>
                          </a:solidFill>
                          <a:effectLst/>
                          <a:latin typeface="+mn-lt"/>
                          <a:ea typeface="+mn-ea"/>
                          <a:cs typeface="+mn-cs"/>
                        </a:rPr>
                        <a:t>مدخلات الخدمة</a:t>
                      </a:r>
                    </a:p>
                  </a:txBody>
                  <a:tcPr anchor="b"/>
                </a:tc>
                <a:tc>
                  <a:txBody>
                    <a:bodyPr/>
                    <a:lstStyle/>
                    <a:p>
                      <a:pPr algn="r" rtl="1" fontAlgn="b"/>
                      <a:r>
                        <a:rPr lang="ar-SA" sz="1200" b="0" kern="1200" dirty="0">
                          <a:solidFill>
                            <a:schemeClr val="tx1"/>
                          </a:solidFill>
                          <a:effectLst/>
                          <a:latin typeface="+mn-lt"/>
                          <a:ea typeface="+mn-ea"/>
                          <a:cs typeface="+mn-cs"/>
                        </a:rPr>
                        <a:t>الموارد أو المعلومات اللازمة لتقديم الخدمة</a:t>
                      </a:r>
                    </a:p>
                  </a:txBody>
                  <a:tcPr anchor="b"/>
                </a:tc>
                <a:tc>
                  <a:txBody>
                    <a:bodyPr/>
                    <a:lstStyle/>
                    <a:p>
                      <a:pPr algn="r" rtl="1" fontAlgn="b"/>
                      <a:r>
                        <a:rPr lang="ar-SA" sz="1200" b="0" kern="1200" dirty="0">
                          <a:solidFill>
                            <a:schemeClr val="tx1"/>
                          </a:solidFill>
                          <a:effectLst/>
                          <a:latin typeface="+mn-lt"/>
                          <a:ea typeface="+mn-ea"/>
                          <a:cs typeface="+mn-cs"/>
                        </a:rPr>
                        <a:t>نص</a:t>
                      </a:r>
                    </a:p>
                  </a:txBody>
                  <a:tcPr anchor="b"/>
                </a:tc>
                <a:tc>
                  <a:txBody>
                    <a:bodyPr/>
                    <a:lstStyle/>
                    <a:p>
                      <a:pPr algn="r" rtl="1" fontAlgn="b"/>
                      <a:r>
                        <a:rPr lang="ar-EG" sz="1200" b="0" kern="1200" dirty="0">
                          <a:solidFill>
                            <a:schemeClr val="tx1"/>
                          </a:solidFill>
                          <a:effectLst/>
                          <a:latin typeface="+mn-lt"/>
                          <a:ea typeface="+mn-ea"/>
                          <a:cs typeface="+mn-cs"/>
                        </a:rPr>
                        <a:t>اختيارية</a:t>
                      </a:r>
                      <a:endParaRPr lang="ar-SA" sz="12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2293260855"/>
                  </a:ext>
                </a:extLst>
              </a:tr>
              <a:tr h="344499">
                <a:tc>
                  <a:txBody>
                    <a:bodyPr/>
                    <a:lstStyle/>
                    <a:p>
                      <a:pPr algn="ctr" rtl="1" fontAlgn="b"/>
                      <a:r>
                        <a:rPr lang="ar-SA" sz="1200" b="1" kern="1200" dirty="0">
                          <a:solidFill>
                            <a:schemeClr val="tx1"/>
                          </a:solidFill>
                          <a:effectLst/>
                          <a:latin typeface="+mn-lt"/>
                          <a:ea typeface="+mn-ea"/>
                          <a:cs typeface="+mn-cs"/>
                        </a:rPr>
                        <a:t>الإدارة المرتبطة مالكة للخدمة</a:t>
                      </a:r>
                    </a:p>
                  </a:txBody>
                  <a:tcPr anchor="b"/>
                </a:tc>
                <a:tc>
                  <a:txBody>
                    <a:bodyPr/>
                    <a:lstStyle/>
                    <a:p>
                      <a:pPr algn="r" rtl="1" fontAlgn="b"/>
                      <a:r>
                        <a:rPr lang="ar-SA" sz="1200" b="0" kern="1200" dirty="0">
                          <a:solidFill>
                            <a:schemeClr val="tx1"/>
                          </a:solidFill>
                          <a:effectLst/>
                          <a:latin typeface="+mn-lt"/>
                          <a:ea typeface="+mn-ea"/>
                          <a:cs typeface="+mn-cs"/>
                        </a:rPr>
                        <a:t>الإدارة المسؤولة عن تقديم الخدمة</a:t>
                      </a:r>
                    </a:p>
                  </a:txBody>
                  <a:tcPr anchor="b"/>
                </a:tc>
                <a:tc>
                  <a:txBody>
                    <a:bodyPr/>
                    <a:lstStyle/>
                    <a:p>
                      <a:pPr algn="r" rtl="1" fontAlgn="b"/>
                      <a:r>
                        <a:rPr lang="ar-SA" sz="1200" b="0" kern="1200" dirty="0">
                          <a:solidFill>
                            <a:schemeClr val="tx1"/>
                          </a:solidFill>
                          <a:effectLst/>
                          <a:latin typeface="+mn-lt"/>
                          <a:ea typeface="+mn-ea"/>
                          <a:cs typeface="+mn-cs"/>
                        </a:rPr>
                        <a:t>علاقة ربط</a:t>
                      </a:r>
                    </a:p>
                  </a:txBody>
                  <a:tcPr anchor="b"/>
                </a:tc>
                <a:tc>
                  <a:txBody>
                    <a:bodyPr/>
                    <a:lstStyle/>
                    <a:p>
                      <a:pPr algn="r" rtl="1" fontAlgn="b"/>
                      <a:r>
                        <a:rPr lang="ar-EG" sz="1200" b="0" kern="1200" dirty="0">
                          <a:solidFill>
                            <a:schemeClr val="tx1"/>
                          </a:solidFill>
                          <a:effectLst/>
                          <a:latin typeface="+mn-lt"/>
                          <a:ea typeface="+mn-ea"/>
                          <a:cs typeface="+mn-cs"/>
                        </a:rPr>
                        <a:t>الزامية</a:t>
                      </a:r>
                      <a:endParaRPr lang="ar-SA" sz="12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1486248475"/>
                  </a:ext>
                </a:extLst>
              </a:tr>
              <a:tr h="344499">
                <a:tc>
                  <a:txBody>
                    <a:bodyPr/>
                    <a:lstStyle/>
                    <a:p>
                      <a:pPr algn="ctr" rtl="1" fontAlgn="b"/>
                      <a:r>
                        <a:rPr lang="ar-SA" sz="1200" b="1" kern="1200" dirty="0">
                          <a:solidFill>
                            <a:schemeClr val="tx1"/>
                          </a:solidFill>
                          <a:effectLst/>
                          <a:latin typeface="+mn-lt"/>
                          <a:ea typeface="+mn-ea"/>
                          <a:cs typeface="+mn-cs"/>
                        </a:rPr>
                        <a:t>حالة دليل المستخدم للخدمة</a:t>
                      </a:r>
                    </a:p>
                  </a:txBody>
                  <a:tcPr anchor="b"/>
                </a:tc>
                <a:tc>
                  <a:txBody>
                    <a:bodyPr/>
                    <a:lstStyle/>
                    <a:p>
                      <a:pPr algn="r" rtl="1" fontAlgn="b"/>
                      <a:r>
                        <a:rPr lang="ar-SA" sz="1200" b="0" kern="1200" dirty="0">
                          <a:solidFill>
                            <a:schemeClr val="tx1"/>
                          </a:solidFill>
                          <a:effectLst/>
                          <a:latin typeface="+mn-lt"/>
                          <a:ea typeface="+mn-ea"/>
                          <a:cs typeface="+mn-cs"/>
                        </a:rPr>
                        <a:t>حالة توفر دليل المستخدم (جزئي-كلي)</a:t>
                      </a:r>
                    </a:p>
                  </a:txBody>
                  <a:tcPr anchor="b"/>
                </a:tc>
                <a:tc>
                  <a:txBody>
                    <a:bodyPr/>
                    <a:lstStyle/>
                    <a:p>
                      <a:pPr algn="r" rtl="1" fontAlgn="b"/>
                      <a:r>
                        <a:rPr lang="ar-SA" sz="1200" b="0" kern="1200">
                          <a:solidFill>
                            <a:schemeClr val="tx1"/>
                          </a:solidFill>
                          <a:effectLst/>
                          <a:latin typeface="+mn-lt"/>
                          <a:ea typeface="+mn-ea"/>
                          <a:cs typeface="+mn-cs"/>
                        </a:rPr>
                        <a:t>قائمة معرفة سابقًا</a:t>
                      </a:r>
                    </a:p>
                  </a:txBody>
                  <a:tcPr anchor="b"/>
                </a:tc>
                <a:tc>
                  <a:txBody>
                    <a:bodyPr/>
                    <a:lstStyle/>
                    <a:p>
                      <a:pPr algn="r" rtl="1" fontAlgn="b"/>
                      <a:r>
                        <a:rPr lang="ar-EG" sz="1200" b="0" kern="1200" dirty="0">
                          <a:solidFill>
                            <a:schemeClr val="tx1"/>
                          </a:solidFill>
                          <a:effectLst/>
                          <a:latin typeface="+mn-lt"/>
                          <a:ea typeface="+mn-ea"/>
                          <a:cs typeface="+mn-cs"/>
                        </a:rPr>
                        <a:t>اختيارية</a:t>
                      </a:r>
                      <a:endParaRPr lang="ar-SA" sz="12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3688651612"/>
                  </a:ext>
                </a:extLst>
              </a:tr>
              <a:tr h="488041">
                <a:tc>
                  <a:txBody>
                    <a:bodyPr/>
                    <a:lstStyle/>
                    <a:p>
                      <a:pPr algn="ctr" rtl="1" fontAlgn="b"/>
                      <a:r>
                        <a:rPr lang="ar-SA" sz="1200" b="1" kern="1200" dirty="0">
                          <a:solidFill>
                            <a:schemeClr val="tx1"/>
                          </a:solidFill>
                          <a:effectLst/>
                          <a:latin typeface="+mn-lt"/>
                          <a:ea typeface="+mn-ea"/>
                          <a:cs typeface="+mn-cs"/>
                        </a:rPr>
                        <a:t>تصنيف نضج الخدمة في الوضع الحالي</a:t>
                      </a:r>
                    </a:p>
                  </a:txBody>
                  <a:tcPr anchor="b"/>
                </a:tc>
                <a:tc>
                  <a:txBody>
                    <a:bodyPr/>
                    <a:lstStyle/>
                    <a:p>
                      <a:pPr algn="r" rtl="1" fontAlgn="b"/>
                      <a:r>
                        <a:rPr lang="ar-SA" sz="1200" b="0" kern="1200" dirty="0">
                          <a:solidFill>
                            <a:schemeClr val="tx1"/>
                          </a:solidFill>
                          <a:effectLst/>
                          <a:latin typeface="+mn-lt"/>
                          <a:ea typeface="+mn-ea"/>
                          <a:cs typeface="+mn-cs"/>
                        </a:rPr>
                        <a:t>مستوى نضج الخدمة الحالي (تقليدية-معلوماتية-تفاعلية-إجرائية-تكاملية)</a:t>
                      </a:r>
                    </a:p>
                  </a:txBody>
                  <a:tcPr anchor="b"/>
                </a:tc>
                <a:tc>
                  <a:txBody>
                    <a:bodyPr/>
                    <a:lstStyle/>
                    <a:p>
                      <a:pPr algn="r" rtl="1" fontAlgn="b"/>
                      <a:r>
                        <a:rPr lang="ar-SA" sz="1200" b="0" kern="1200">
                          <a:solidFill>
                            <a:schemeClr val="tx1"/>
                          </a:solidFill>
                          <a:effectLst/>
                          <a:latin typeface="+mn-lt"/>
                          <a:ea typeface="+mn-ea"/>
                          <a:cs typeface="+mn-cs"/>
                        </a:rPr>
                        <a:t>قائمة معرفة سابقًا</a:t>
                      </a:r>
                    </a:p>
                  </a:txBody>
                  <a:tcPr anchor="b"/>
                </a:tc>
                <a:tc>
                  <a:txBody>
                    <a:bodyPr/>
                    <a:lstStyle/>
                    <a:p>
                      <a:pPr algn="r" rtl="1" fontAlgn="b"/>
                      <a:r>
                        <a:rPr lang="ar-EG" sz="1200" b="0" kern="1200" dirty="0">
                          <a:solidFill>
                            <a:schemeClr val="tx1"/>
                          </a:solidFill>
                          <a:effectLst/>
                          <a:latin typeface="+mn-lt"/>
                          <a:ea typeface="+mn-ea"/>
                          <a:cs typeface="+mn-cs"/>
                        </a:rPr>
                        <a:t>الزامية</a:t>
                      </a:r>
                      <a:endParaRPr lang="ar-SA" sz="12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1207580594"/>
                  </a:ext>
                </a:extLst>
              </a:tr>
              <a:tr h="488041">
                <a:tc>
                  <a:txBody>
                    <a:bodyPr/>
                    <a:lstStyle/>
                    <a:p>
                      <a:pPr algn="ctr" rtl="1" fontAlgn="b"/>
                      <a:r>
                        <a:rPr lang="ar-SA" sz="1200" b="1" kern="1200" dirty="0">
                          <a:solidFill>
                            <a:schemeClr val="tx1"/>
                          </a:solidFill>
                          <a:effectLst/>
                          <a:latin typeface="+mn-lt"/>
                          <a:ea typeface="+mn-ea"/>
                          <a:cs typeface="+mn-cs"/>
                        </a:rPr>
                        <a:t>أعلى مستوى تصنيف نضج للخدمة في المستقبل</a:t>
                      </a:r>
                    </a:p>
                  </a:txBody>
                  <a:tcPr anchor="b"/>
                </a:tc>
                <a:tc>
                  <a:txBody>
                    <a:bodyPr/>
                    <a:lstStyle/>
                    <a:p>
                      <a:pPr algn="r" rtl="1" fontAlgn="b"/>
                      <a:r>
                        <a:rPr lang="ar-SA" sz="1200" b="0" kern="1200" dirty="0">
                          <a:solidFill>
                            <a:schemeClr val="tx1"/>
                          </a:solidFill>
                          <a:effectLst/>
                          <a:latin typeface="+mn-lt"/>
                          <a:ea typeface="+mn-ea"/>
                          <a:cs typeface="+mn-cs"/>
                        </a:rPr>
                        <a:t>مستوى نضج الخدمة المستقبلي</a:t>
                      </a:r>
                    </a:p>
                  </a:txBody>
                  <a:tcPr anchor="b"/>
                </a:tc>
                <a:tc>
                  <a:txBody>
                    <a:bodyPr/>
                    <a:lstStyle/>
                    <a:p>
                      <a:pPr algn="r" rtl="1" fontAlgn="b"/>
                      <a:r>
                        <a:rPr lang="ar-SA" sz="1200" b="0" kern="1200" dirty="0">
                          <a:solidFill>
                            <a:schemeClr val="tx1"/>
                          </a:solidFill>
                          <a:effectLst/>
                          <a:latin typeface="+mn-lt"/>
                          <a:ea typeface="+mn-ea"/>
                          <a:cs typeface="+mn-cs"/>
                        </a:rPr>
                        <a:t>قائمة معرفة سابقًا</a:t>
                      </a:r>
                    </a:p>
                  </a:txBody>
                  <a:tcPr anchor="b"/>
                </a:tc>
                <a:tc>
                  <a:txBody>
                    <a:bodyPr/>
                    <a:lstStyle/>
                    <a:p>
                      <a:pPr algn="r" rtl="1" fontAlgn="b"/>
                      <a:r>
                        <a:rPr lang="ar-EG" sz="1200" b="0" kern="1200" dirty="0">
                          <a:solidFill>
                            <a:schemeClr val="tx1"/>
                          </a:solidFill>
                          <a:effectLst/>
                          <a:latin typeface="+mn-lt"/>
                          <a:ea typeface="+mn-ea"/>
                          <a:cs typeface="+mn-cs"/>
                        </a:rPr>
                        <a:t>الزامية</a:t>
                      </a:r>
                      <a:endParaRPr lang="ar-SA" sz="12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1426280651"/>
                  </a:ext>
                </a:extLst>
              </a:tr>
              <a:tr h="344499">
                <a:tc>
                  <a:txBody>
                    <a:bodyPr/>
                    <a:lstStyle/>
                    <a:p>
                      <a:pPr algn="ctr" rtl="1" fontAlgn="b"/>
                      <a:r>
                        <a:rPr lang="ar-SA" sz="1200" b="1" kern="1200" dirty="0">
                          <a:solidFill>
                            <a:schemeClr val="tx1"/>
                          </a:solidFill>
                          <a:effectLst/>
                          <a:latin typeface="+mn-lt"/>
                          <a:ea typeface="+mn-ea"/>
                          <a:cs typeface="+mn-cs"/>
                        </a:rPr>
                        <a:t>قنوات التقديم على الخدمة</a:t>
                      </a:r>
                    </a:p>
                  </a:txBody>
                  <a:tcPr anchor="b"/>
                </a:tc>
                <a:tc>
                  <a:txBody>
                    <a:bodyPr/>
                    <a:lstStyle/>
                    <a:p>
                      <a:pPr algn="r" rtl="1" fontAlgn="b"/>
                      <a:r>
                        <a:rPr lang="ar-SA" sz="1200" b="0" kern="1200" dirty="0">
                          <a:solidFill>
                            <a:schemeClr val="tx1"/>
                          </a:solidFill>
                          <a:effectLst/>
                          <a:latin typeface="+mn-lt"/>
                          <a:ea typeface="+mn-ea"/>
                          <a:cs typeface="+mn-cs"/>
                        </a:rPr>
                        <a:t>القنوات التي يمكن من خلالها الوصول إلى الخدمة</a:t>
                      </a:r>
                    </a:p>
                  </a:txBody>
                  <a:tcPr anchor="b"/>
                </a:tc>
                <a:tc>
                  <a:txBody>
                    <a:bodyPr/>
                    <a:lstStyle/>
                    <a:p>
                      <a:pPr algn="r" rtl="1" fontAlgn="b"/>
                      <a:r>
                        <a:rPr lang="ar-SA" sz="1200" b="0" kern="1200">
                          <a:solidFill>
                            <a:schemeClr val="tx1"/>
                          </a:solidFill>
                          <a:effectLst/>
                          <a:latin typeface="+mn-lt"/>
                          <a:ea typeface="+mn-ea"/>
                          <a:cs typeface="+mn-cs"/>
                        </a:rPr>
                        <a:t>نص</a:t>
                      </a:r>
                    </a:p>
                  </a:txBody>
                  <a:tcPr anchor="b"/>
                </a:tc>
                <a:tc>
                  <a:txBody>
                    <a:bodyPr/>
                    <a:lstStyle/>
                    <a:p>
                      <a:pPr algn="r" rtl="1" fontAlgn="b"/>
                      <a:r>
                        <a:rPr lang="ar-EG" sz="1200" b="0" kern="1200" dirty="0">
                          <a:solidFill>
                            <a:schemeClr val="tx1"/>
                          </a:solidFill>
                          <a:effectLst/>
                          <a:latin typeface="+mn-lt"/>
                          <a:ea typeface="+mn-ea"/>
                          <a:cs typeface="+mn-cs"/>
                        </a:rPr>
                        <a:t>اختيارية</a:t>
                      </a:r>
                      <a:endParaRPr lang="ar-SA" sz="12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220032958"/>
                  </a:ext>
                </a:extLst>
              </a:tr>
              <a:tr h="344499">
                <a:tc>
                  <a:txBody>
                    <a:bodyPr/>
                    <a:lstStyle/>
                    <a:p>
                      <a:pPr algn="ctr" rtl="1" fontAlgn="b"/>
                      <a:r>
                        <a:rPr lang="ar-SA" sz="1200" b="1" kern="1200" dirty="0">
                          <a:solidFill>
                            <a:schemeClr val="tx1"/>
                          </a:solidFill>
                          <a:effectLst/>
                          <a:latin typeface="+mn-lt"/>
                          <a:ea typeface="+mn-ea"/>
                          <a:cs typeface="+mn-cs"/>
                        </a:rPr>
                        <a:t>رابط الخدمة</a:t>
                      </a:r>
                    </a:p>
                  </a:txBody>
                  <a:tcPr anchor="b"/>
                </a:tc>
                <a:tc>
                  <a:txBody>
                    <a:bodyPr/>
                    <a:lstStyle/>
                    <a:p>
                      <a:pPr algn="r" rtl="1" fontAlgn="b"/>
                      <a:r>
                        <a:rPr lang="ar-SA" sz="1200" b="0" kern="1200" dirty="0">
                          <a:solidFill>
                            <a:schemeClr val="tx1"/>
                          </a:solidFill>
                          <a:effectLst/>
                          <a:latin typeface="+mn-lt"/>
                          <a:ea typeface="+mn-ea"/>
                          <a:cs typeface="+mn-cs"/>
                        </a:rPr>
                        <a:t>رابط الوصول إلى الخدمة عبر الإنترنت</a:t>
                      </a:r>
                    </a:p>
                  </a:txBody>
                  <a:tcPr anchor="b"/>
                </a:tc>
                <a:tc>
                  <a:txBody>
                    <a:bodyPr/>
                    <a:lstStyle/>
                    <a:p>
                      <a:pPr algn="r" rtl="1" fontAlgn="b"/>
                      <a:r>
                        <a:rPr lang="ar-SA" sz="1200" b="0" kern="1200" dirty="0">
                          <a:solidFill>
                            <a:schemeClr val="tx1"/>
                          </a:solidFill>
                          <a:effectLst/>
                          <a:latin typeface="+mn-lt"/>
                          <a:ea typeface="+mn-ea"/>
                          <a:cs typeface="+mn-cs"/>
                        </a:rPr>
                        <a:t>نص</a:t>
                      </a:r>
                    </a:p>
                  </a:txBody>
                  <a:tcPr anchor="b"/>
                </a:tc>
                <a:tc>
                  <a:txBody>
                    <a:bodyPr/>
                    <a:lstStyle/>
                    <a:p>
                      <a:pPr algn="r" rtl="1" fontAlgn="b"/>
                      <a:r>
                        <a:rPr lang="ar-EG" sz="1200" b="0" kern="1200" dirty="0">
                          <a:solidFill>
                            <a:schemeClr val="tx1"/>
                          </a:solidFill>
                          <a:effectLst/>
                          <a:latin typeface="+mn-lt"/>
                          <a:ea typeface="+mn-ea"/>
                          <a:cs typeface="+mn-cs"/>
                        </a:rPr>
                        <a:t>اختيارية</a:t>
                      </a:r>
                      <a:endParaRPr lang="ar-SA" sz="12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2719192168"/>
                  </a:ext>
                </a:extLst>
              </a:tr>
              <a:tr h="344499">
                <a:tc>
                  <a:txBody>
                    <a:bodyPr/>
                    <a:lstStyle/>
                    <a:p>
                      <a:pPr algn="ctr" rtl="1" fontAlgn="b"/>
                      <a:r>
                        <a:rPr lang="ar-SA" sz="1200" b="1" kern="1200" dirty="0">
                          <a:solidFill>
                            <a:schemeClr val="tx1"/>
                          </a:solidFill>
                          <a:effectLst/>
                          <a:latin typeface="+mn-lt"/>
                          <a:ea typeface="+mn-ea"/>
                          <a:cs typeface="+mn-cs"/>
                        </a:rPr>
                        <a:t>الخطوات الرئيسية للحصول على الخدمة</a:t>
                      </a:r>
                    </a:p>
                  </a:txBody>
                  <a:tcPr anchor="b"/>
                </a:tc>
                <a:tc>
                  <a:txBody>
                    <a:bodyPr/>
                    <a:lstStyle/>
                    <a:p>
                      <a:pPr algn="r" rtl="1" fontAlgn="b"/>
                      <a:r>
                        <a:rPr lang="ar-SA" sz="1200" b="0" kern="1200" dirty="0">
                          <a:solidFill>
                            <a:schemeClr val="tx1"/>
                          </a:solidFill>
                          <a:effectLst/>
                          <a:latin typeface="+mn-lt"/>
                          <a:ea typeface="+mn-ea"/>
                          <a:cs typeface="+mn-cs"/>
                        </a:rPr>
                        <a:t>الإجراءات الرئيسية المطلوبة للحصول على الخدمة</a:t>
                      </a:r>
                    </a:p>
                  </a:txBody>
                  <a:tcPr anchor="b"/>
                </a:tc>
                <a:tc>
                  <a:txBody>
                    <a:bodyPr/>
                    <a:lstStyle/>
                    <a:p>
                      <a:pPr algn="r" rtl="1" fontAlgn="b"/>
                      <a:r>
                        <a:rPr lang="ar-SA" sz="1200" b="0" kern="1200" dirty="0">
                          <a:solidFill>
                            <a:schemeClr val="tx1"/>
                          </a:solidFill>
                          <a:effectLst/>
                          <a:latin typeface="+mn-lt"/>
                          <a:ea typeface="+mn-ea"/>
                          <a:cs typeface="+mn-cs"/>
                        </a:rPr>
                        <a:t>علاقة ربط</a:t>
                      </a:r>
                    </a:p>
                  </a:txBody>
                  <a:tcPr anchor="b"/>
                </a:tc>
                <a:tc>
                  <a:txBody>
                    <a:bodyPr/>
                    <a:lstStyle/>
                    <a:p>
                      <a:pPr algn="r" rtl="1" fontAlgn="b"/>
                      <a:r>
                        <a:rPr lang="ar-EG" sz="1200" b="0" kern="1200" dirty="0">
                          <a:solidFill>
                            <a:schemeClr val="tx1"/>
                          </a:solidFill>
                          <a:effectLst/>
                          <a:latin typeface="+mn-lt"/>
                          <a:ea typeface="+mn-ea"/>
                          <a:cs typeface="+mn-cs"/>
                        </a:rPr>
                        <a:t>اختيارية</a:t>
                      </a:r>
                      <a:endParaRPr lang="ar-SA" sz="12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3440810167"/>
                  </a:ext>
                </a:extLst>
              </a:tr>
              <a:tr h="344499">
                <a:tc>
                  <a:txBody>
                    <a:bodyPr/>
                    <a:lstStyle/>
                    <a:p>
                      <a:pPr algn="ctr" rtl="1" fontAlgn="b"/>
                      <a:r>
                        <a:rPr lang="ar-SA" sz="1200" b="1" kern="1200" dirty="0">
                          <a:solidFill>
                            <a:schemeClr val="tx1"/>
                          </a:solidFill>
                          <a:effectLst/>
                          <a:latin typeface="+mn-lt"/>
                          <a:ea typeface="+mn-ea"/>
                          <a:cs typeface="+mn-cs"/>
                        </a:rPr>
                        <a:t>متطلبات / شروط الخدمة</a:t>
                      </a:r>
                    </a:p>
                  </a:txBody>
                  <a:tcPr anchor="b"/>
                </a:tc>
                <a:tc>
                  <a:txBody>
                    <a:bodyPr/>
                    <a:lstStyle/>
                    <a:p>
                      <a:pPr algn="r" rtl="1" fontAlgn="b"/>
                      <a:r>
                        <a:rPr lang="ar-SA" sz="1200" b="0" kern="1200">
                          <a:solidFill>
                            <a:schemeClr val="tx1"/>
                          </a:solidFill>
                          <a:effectLst/>
                          <a:latin typeface="+mn-lt"/>
                          <a:ea typeface="+mn-ea"/>
                          <a:cs typeface="+mn-cs"/>
                        </a:rPr>
                        <a:t>المتطلبات أو الشروط اللازمة لتقديم الخدمة</a:t>
                      </a:r>
                    </a:p>
                  </a:txBody>
                  <a:tcPr anchor="b"/>
                </a:tc>
                <a:tc>
                  <a:txBody>
                    <a:bodyPr/>
                    <a:lstStyle/>
                    <a:p>
                      <a:pPr algn="r" rtl="1" fontAlgn="b"/>
                      <a:r>
                        <a:rPr lang="ar-SA" sz="1200" b="0" kern="1200" dirty="0">
                          <a:solidFill>
                            <a:schemeClr val="tx1"/>
                          </a:solidFill>
                          <a:effectLst/>
                          <a:latin typeface="+mn-lt"/>
                          <a:ea typeface="+mn-ea"/>
                          <a:cs typeface="+mn-cs"/>
                        </a:rPr>
                        <a:t>نص </a:t>
                      </a:r>
                    </a:p>
                  </a:txBody>
                  <a:tcPr anchor="b"/>
                </a:tc>
                <a:tc>
                  <a:txBody>
                    <a:bodyPr/>
                    <a:lstStyle/>
                    <a:p>
                      <a:pPr algn="r" rtl="1" fontAlgn="b"/>
                      <a:r>
                        <a:rPr lang="ar-EG" sz="1200" b="0" kern="1200" dirty="0">
                          <a:solidFill>
                            <a:schemeClr val="tx1"/>
                          </a:solidFill>
                          <a:effectLst/>
                          <a:latin typeface="+mn-lt"/>
                          <a:ea typeface="+mn-ea"/>
                          <a:cs typeface="+mn-cs"/>
                        </a:rPr>
                        <a:t>الزامية</a:t>
                      </a:r>
                      <a:endParaRPr lang="ar-SA" sz="12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3256083373"/>
                  </a:ext>
                </a:extLst>
              </a:tr>
            </a:tbl>
          </a:graphicData>
        </a:graphic>
      </p:graphicFrame>
    </p:spTree>
    <p:extLst>
      <p:ext uri="{BB962C8B-B14F-4D97-AF65-F5344CB8AC3E}">
        <p14:creationId xmlns:p14="http://schemas.microsoft.com/office/powerpoint/2010/main" val="7673179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5A504-CB9B-709A-053A-03146C1A3322}"/>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42CE5B76-CB27-984C-CB61-707C0C9E17BA}"/>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46</a:t>
            </a:fld>
            <a:endParaRPr lang="en-US"/>
          </a:p>
        </p:txBody>
      </p:sp>
      <p:sp>
        <p:nvSpPr>
          <p:cNvPr id="2" name="Title 1">
            <a:extLst>
              <a:ext uri="{FF2B5EF4-FFF2-40B4-BE49-F238E27FC236}">
                <a16:creationId xmlns:a16="http://schemas.microsoft.com/office/drawing/2014/main" id="{98FFDA57-C2BE-0F66-F414-4F25E0329DA5}"/>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الأعمال"</a:t>
            </a:r>
            <a:r>
              <a:rPr lang="ar-EG" sz="2800" dirty="0"/>
              <a:t> -</a:t>
            </a:r>
            <a:r>
              <a:rPr lang="ar-EG" dirty="0"/>
              <a:t> </a:t>
            </a:r>
            <a:r>
              <a:rPr lang="en-US" dirty="0"/>
              <a:t>تفصيل سمات </a:t>
            </a:r>
            <a:r>
              <a:rPr lang="ar-SA" dirty="0"/>
              <a:t>وحدة </a:t>
            </a:r>
            <a:r>
              <a:rPr lang="ar-EG" dirty="0"/>
              <a:t>ال</a:t>
            </a:r>
            <a:r>
              <a:rPr lang="ar-SA" dirty="0"/>
              <a:t>بناء "خدمة</a:t>
            </a:r>
            <a:r>
              <a:rPr lang="ar-EG" dirty="0"/>
              <a:t> أعمال</a:t>
            </a:r>
            <a:r>
              <a:rPr lang="ar-SA" dirty="0"/>
              <a:t>"</a:t>
            </a:r>
            <a:r>
              <a:rPr lang="ar-EG" dirty="0"/>
              <a:t> (2 </a:t>
            </a:r>
            <a:r>
              <a:rPr lang="en-US" dirty="0"/>
              <a:t>/</a:t>
            </a:r>
            <a:r>
              <a:rPr lang="ar-EG" dirty="0"/>
              <a:t> 2)</a:t>
            </a:r>
            <a:endParaRPr lang="en-US" dirty="0"/>
          </a:p>
        </p:txBody>
      </p:sp>
      <p:graphicFrame>
        <p:nvGraphicFramePr>
          <p:cNvPr id="5" name="Table 4">
            <a:extLst>
              <a:ext uri="{FF2B5EF4-FFF2-40B4-BE49-F238E27FC236}">
                <a16:creationId xmlns:a16="http://schemas.microsoft.com/office/drawing/2014/main" id="{1C9E2725-8561-4F82-9A83-32B48597F6D7}"/>
              </a:ext>
            </a:extLst>
          </p:cNvPr>
          <p:cNvGraphicFramePr>
            <a:graphicFrameLocks noGrp="1"/>
          </p:cNvGraphicFramePr>
          <p:nvPr>
            <p:extLst>
              <p:ext uri="{D42A27DB-BD31-4B8C-83A1-F6EECF244321}">
                <p14:modId xmlns:p14="http://schemas.microsoft.com/office/powerpoint/2010/main" val="3897812867"/>
              </p:ext>
            </p:extLst>
          </p:nvPr>
        </p:nvGraphicFramePr>
        <p:xfrm>
          <a:off x="661683" y="1396641"/>
          <a:ext cx="10787321" cy="4425696"/>
        </p:xfrm>
        <a:graphic>
          <a:graphicData uri="http://schemas.openxmlformats.org/drawingml/2006/table">
            <a:tbl>
              <a:tblPr rtl="1" firstRow="1" bandRow="1">
                <a:tableStyleId>{5C22544A-7EE6-4342-B048-85BDC9FD1C3A}</a:tableStyleId>
              </a:tblPr>
              <a:tblGrid>
                <a:gridCol w="3349298">
                  <a:extLst>
                    <a:ext uri="{9D8B030D-6E8A-4147-A177-3AD203B41FA5}">
                      <a16:colId xmlns:a16="http://schemas.microsoft.com/office/drawing/2014/main" val="2853404558"/>
                    </a:ext>
                  </a:extLst>
                </a:gridCol>
                <a:gridCol w="4141705">
                  <a:extLst>
                    <a:ext uri="{9D8B030D-6E8A-4147-A177-3AD203B41FA5}">
                      <a16:colId xmlns:a16="http://schemas.microsoft.com/office/drawing/2014/main" val="1866450976"/>
                    </a:ext>
                  </a:extLst>
                </a:gridCol>
                <a:gridCol w="1648159">
                  <a:extLst>
                    <a:ext uri="{9D8B030D-6E8A-4147-A177-3AD203B41FA5}">
                      <a16:colId xmlns:a16="http://schemas.microsoft.com/office/drawing/2014/main" val="751160629"/>
                    </a:ext>
                  </a:extLst>
                </a:gridCol>
                <a:gridCol w="1648159">
                  <a:extLst>
                    <a:ext uri="{9D8B030D-6E8A-4147-A177-3AD203B41FA5}">
                      <a16:colId xmlns:a16="http://schemas.microsoft.com/office/drawing/2014/main" val="2301599301"/>
                    </a:ext>
                  </a:extLst>
                </a:gridCol>
              </a:tblGrid>
              <a:tr h="290006">
                <a:tc>
                  <a:txBody>
                    <a:bodyPr/>
                    <a:lstStyle/>
                    <a:p>
                      <a:pPr marL="0" algn="ctr" defTabSz="914400" rtl="1" eaLnBrk="1" fontAlgn="b" latinLnBrk="0" hangingPunct="1"/>
                      <a:r>
                        <a:rPr lang="ar-SA" sz="1800" b="1" u="none" strike="noStrike" kern="1200" dirty="0">
                          <a:solidFill>
                            <a:schemeClr val="lt1"/>
                          </a:solidFill>
                          <a:effectLst/>
                          <a:latin typeface="+mn-lt"/>
                          <a:ea typeface="+mn-ea"/>
                          <a:cs typeface="+mn-cs"/>
                        </a:rPr>
                        <a:t>السمة</a:t>
                      </a:r>
                    </a:p>
                  </a:txBody>
                  <a:tcPr marL="45720" marR="45720" marT="18288" marB="18288" anchor="b"/>
                </a:tc>
                <a:tc>
                  <a:txBody>
                    <a:bodyPr/>
                    <a:lstStyle/>
                    <a:p>
                      <a:pPr marL="0" algn="ctr" defTabSz="914400" rtl="1" eaLnBrk="1" fontAlgn="b" latinLnBrk="0" hangingPunct="1"/>
                      <a:r>
                        <a:rPr lang="ar-SA" sz="1800" b="1" u="none" strike="noStrike" kern="1200" dirty="0">
                          <a:solidFill>
                            <a:schemeClr val="lt1"/>
                          </a:solidFill>
                          <a:effectLst/>
                          <a:latin typeface="+mn-lt"/>
                          <a:ea typeface="+mn-ea"/>
                          <a:cs typeface="+mn-cs"/>
                        </a:rPr>
                        <a:t>وصف السمة</a:t>
                      </a:r>
                    </a:p>
                  </a:txBody>
                  <a:tcPr marL="45720" marR="45720" marT="18288" marB="18288" anchor="b"/>
                </a:tc>
                <a:tc>
                  <a:txBody>
                    <a:bodyPr/>
                    <a:lstStyle/>
                    <a:p>
                      <a:pPr marL="0" algn="ctr" defTabSz="914400" rtl="1" eaLnBrk="1" fontAlgn="b" latinLnBrk="0" hangingPunct="1"/>
                      <a:r>
                        <a:rPr lang="ar-SA" sz="1800" b="1" u="none" strike="noStrike" kern="1200" dirty="0">
                          <a:solidFill>
                            <a:schemeClr val="lt1"/>
                          </a:solidFill>
                          <a:effectLst/>
                          <a:latin typeface="+mn-lt"/>
                          <a:ea typeface="+mn-ea"/>
                          <a:cs typeface="+mn-cs"/>
                        </a:rPr>
                        <a:t>نوع السمة</a:t>
                      </a:r>
                    </a:p>
                  </a:txBody>
                  <a:tcPr marL="45720" marR="45720" marT="18288" marB="18288" anchor="b"/>
                </a:tc>
                <a:tc>
                  <a:txBody>
                    <a:bodyPr/>
                    <a:lstStyle/>
                    <a:p>
                      <a:pPr marL="0" algn="ctr" defTabSz="914400" rtl="1" eaLnBrk="1" fontAlgn="b" latinLnBrk="0" hangingPunct="1"/>
                      <a:r>
                        <a:rPr lang="ar-EG" sz="1800" b="1" u="none" strike="noStrike" kern="1200" dirty="0">
                          <a:solidFill>
                            <a:schemeClr val="lt1"/>
                          </a:solidFill>
                          <a:effectLst/>
                          <a:latin typeface="+mn-lt"/>
                          <a:ea typeface="+mn-ea"/>
                          <a:cs typeface="+mn-cs"/>
                        </a:rPr>
                        <a:t>الية التوثيق</a:t>
                      </a:r>
                      <a:endParaRPr lang="ar-SA" sz="1800" b="1" u="none" strike="noStrike" kern="1200" dirty="0">
                        <a:solidFill>
                          <a:schemeClr val="lt1"/>
                        </a:solidFill>
                        <a:effectLst/>
                        <a:latin typeface="+mn-lt"/>
                        <a:ea typeface="+mn-ea"/>
                        <a:cs typeface="+mn-cs"/>
                      </a:endParaRPr>
                    </a:p>
                  </a:txBody>
                  <a:tcPr marL="45720" marR="45720" marT="18288" marB="18288" anchor="b"/>
                </a:tc>
                <a:extLst>
                  <a:ext uri="{0D108BD9-81ED-4DB2-BD59-A6C34878D82A}">
                    <a16:rowId xmlns:a16="http://schemas.microsoft.com/office/drawing/2014/main" val="2998368315"/>
                  </a:ext>
                </a:extLst>
              </a:tr>
              <a:tr h="0">
                <a:tc>
                  <a:txBody>
                    <a:bodyPr/>
                    <a:lstStyle/>
                    <a:p>
                      <a:pPr marL="0" algn="ctr" defTabSz="914400" rtl="1" eaLnBrk="1" fontAlgn="b" latinLnBrk="0" hangingPunct="1"/>
                      <a:r>
                        <a:rPr lang="ar-SA" sz="1200" b="1" kern="1200" dirty="0">
                          <a:solidFill>
                            <a:schemeClr val="tx1"/>
                          </a:solidFill>
                          <a:effectLst/>
                          <a:latin typeface="+mn-lt"/>
                          <a:ea typeface="+mn-ea"/>
                          <a:cs typeface="+mn-cs"/>
                        </a:rPr>
                        <a:t>المقابل المالي للخدمة</a:t>
                      </a:r>
                    </a:p>
                  </a:txBody>
                  <a:tcPr marL="137160" marR="137160" marT="137160" marB="137160" anchor="b"/>
                </a:tc>
                <a:tc>
                  <a:txBody>
                    <a:bodyPr/>
                    <a:lstStyle/>
                    <a:p>
                      <a:pPr marL="0" algn="r" defTabSz="914400" rtl="1" eaLnBrk="1" fontAlgn="b" latinLnBrk="0" hangingPunct="1"/>
                      <a:r>
                        <a:rPr lang="ar-SA" sz="1200" b="0" kern="1200">
                          <a:solidFill>
                            <a:schemeClr val="tx1"/>
                          </a:solidFill>
                          <a:effectLst/>
                          <a:latin typeface="+mn-lt"/>
                          <a:ea typeface="+mn-ea"/>
                          <a:cs typeface="+mn-cs"/>
                        </a:rPr>
                        <a:t>الرسوم المالية التي يجب دفعها للحصول على الخدمة</a:t>
                      </a:r>
                    </a:p>
                  </a:txBody>
                  <a:tcPr marL="137160" marR="137160" marT="137160" marB="137160" anchor="b"/>
                </a:tc>
                <a:tc>
                  <a:txBody>
                    <a:bodyPr/>
                    <a:lstStyle/>
                    <a:p>
                      <a:pPr marL="0" algn="r" defTabSz="914400" rtl="1" eaLnBrk="1" fontAlgn="b" latinLnBrk="0" hangingPunct="1"/>
                      <a:r>
                        <a:rPr lang="ar-SA" sz="1200" b="0" kern="1200" dirty="0">
                          <a:solidFill>
                            <a:schemeClr val="tx1"/>
                          </a:solidFill>
                          <a:effectLst/>
                          <a:latin typeface="+mn-lt"/>
                          <a:ea typeface="+mn-ea"/>
                          <a:cs typeface="+mn-cs"/>
                        </a:rPr>
                        <a:t>أحرف و/أو أرقام</a:t>
                      </a:r>
                    </a:p>
                  </a:txBody>
                  <a:tcPr marL="137160" marR="137160" marT="137160" marB="137160" anchor="b"/>
                </a:tc>
                <a:tc>
                  <a:txBody>
                    <a:bodyPr/>
                    <a:lstStyle/>
                    <a:p>
                      <a:pPr marL="0" algn="r" defTabSz="914400" rtl="1" eaLnBrk="1" fontAlgn="b" latinLnBrk="0" hangingPunct="1"/>
                      <a:r>
                        <a:rPr lang="ar-EG" sz="1200" b="0" kern="1200" dirty="0">
                          <a:solidFill>
                            <a:schemeClr val="tx1"/>
                          </a:solidFill>
                          <a:effectLst/>
                          <a:latin typeface="+mn-lt"/>
                          <a:ea typeface="+mn-ea"/>
                          <a:cs typeface="+mn-cs"/>
                        </a:rPr>
                        <a:t>اختيارية</a:t>
                      </a:r>
                      <a:endParaRPr lang="ar-SA" sz="12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4169301466"/>
                  </a:ext>
                </a:extLst>
              </a:tr>
              <a:tr h="0">
                <a:tc>
                  <a:txBody>
                    <a:bodyPr/>
                    <a:lstStyle/>
                    <a:p>
                      <a:pPr marL="0" algn="ctr" defTabSz="914400" rtl="1" eaLnBrk="1" fontAlgn="b" latinLnBrk="0" hangingPunct="1"/>
                      <a:r>
                        <a:rPr lang="ar-SA" sz="1200" b="1" kern="1200" dirty="0">
                          <a:solidFill>
                            <a:schemeClr val="tx1"/>
                          </a:solidFill>
                          <a:effectLst/>
                          <a:latin typeface="+mn-lt"/>
                          <a:ea typeface="+mn-ea"/>
                          <a:cs typeface="+mn-cs"/>
                        </a:rPr>
                        <a:t>التطبيقات الداعمة للخدمة في الوضع الحالي</a:t>
                      </a:r>
                    </a:p>
                  </a:txBody>
                  <a:tcPr marL="137160" marR="137160" marT="137160" marB="137160" anchor="b"/>
                </a:tc>
                <a:tc>
                  <a:txBody>
                    <a:bodyPr/>
                    <a:lstStyle/>
                    <a:p>
                      <a:pPr marL="0" algn="r" defTabSz="914400" rtl="1" eaLnBrk="1" fontAlgn="b" latinLnBrk="0" hangingPunct="1"/>
                      <a:r>
                        <a:rPr lang="ar-SA" sz="1200" b="0" kern="1200" dirty="0">
                          <a:solidFill>
                            <a:schemeClr val="tx1"/>
                          </a:solidFill>
                          <a:effectLst/>
                          <a:latin typeface="+mn-lt"/>
                          <a:ea typeface="+mn-ea"/>
                          <a:cs typeface="+mn-cs"/>
                        </a:rPr>
                        <a:t>التطبيقات المستخدمة حاليا لدعم تقديم الخدمة</a:t>
                      </a:r>
                    </a:p>
                  </a:txBody>
                  <a:tcPr marL="137160" marR="137160" marT="137160" marB="137160" anchor="b"/>
                </a:tc>
                <a:tc>
                  <a:txBody>
                    <a:bodyPr/>
                    <a:lstStyle/>
                    <a:p>
                      <a:pPr marL="0" algn="r" defTabSz="914400" rtl="1" eaLnBrk="1" fontAlgn="b" latinLnBrk="0" hangingPunct="1"/>
                      <a:r>
                        <a:rPr lang="ar-SA" sz="1200" b="0" kern="1200" dirty="0">
                          <a:solidFill>
                            <a:schemeClr val="tx1"/>
                          </a:solidFill>
                          <a:effectLst/>
                          <a:latin typeface="+mn-lt"/>
                          <a:ea typeface="+mn-ea"/>
                          <a:cs typeface="+mn-cs"/>
                        </a:rPr>
                        <a:t>علاقة ربط</a:t>
                      </a:r>
                    </a:p>
                  </a:txBody>
                  <a:tcPr marL="137160" marR="137160" marT="137160" marB="137160" anchor="b"/>
                </a:tc>
                <a:tc>
                  <a:txBody>
                    <a:bodyPr/>
                    <a:lstStyle/>
                    <a:p>
                      <a:pPr marL="0" algn="r" defTabSz="914400" rtl="1" eaLnBrk="1" fontAlgn="b" latinLnBrk="0" hangingPunct="1"/>
                      <a:r>
                        <a:rPr lang="ar-EG" sz="1200" b="0" kern="1200" dirty="0">
                          <a:solidFill>
                            <a:schemeClr val="tx1"/>
                          </a:solidFill>
                          <a:effectLst/>
                          <a:latin typeface="+mn-lt"/>
                          <a:ea typeface="+mn-ea"/>
                          <a:cs typeface="+mn-cs"/>
                        </a:rPr>
                        <a:t>الزامية</a:t>
                      </a:r>
                      <a:endParaRPr lang="ar-SA" sz="12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2177790647"/>
                  </a:ext>
                </a:extLst>
              </a:tr>
              <a:tr h="0">
                <a:tc>
                  <a:txBody>
                    <a:bodyPr/>
                    <a:lstStyle/>
                    <a:p>
                      <a:pPr marL="0" algn="ctr" defTabSz="914400" rtl="1" eaLnBrk="1" fontAlgn="b" latinLnBrk="0" hangingPunct="1"/>
                      <a:r>
                        <a:rPr lang="ar-SA" sz="1200" b="1" kern="1200" dirty="0">
                          <a:solidFill>
                            <a:schemeClr val="tx1"/>
                          </a:solidFill>
                          <a:effectLst/>
                          <a:latin typeface="+mn-lt"/>
                          <a:ea typeface="+mn-ea"/>
                          <a:cs typeface="+mn-cs"/>
                        </a:rPr>
                        <a:t>التطبيقات الداعمة للخدمة في الوضع المستقبلي</a:t>
                      </a:r>
                    </a:p>
                  </a:txBody>
                  <a:tcPr marL="137160" marR="137160" marT="137160" marB="137160" anchor="b"/>
                </a:tc>
                <a:tc>
                  <a:txBody>
                    <a:bodyPr/>
                    <a:lstStyle/>
                    <a:p>
                      <a:pPr marL="0" algn="r" defTabSz="914400" rtl="1" eaLnBrk="1" fontAlgn="b" latinLnBrk="0" hangingPunct="1"/>
                      <a:r>
                        <a:rPr lang="ar-SA" sz="1200" b="0" kern="1200" dirty="0">
                          <a:solidFill>
                            <a:schemeClr val="tx1"/>
                          </a:solidFill>
                          <a:effectLst/>
                          <a:latin typeface="+mn-lt"/>
                          <a:ea typeface="+mn-ea"/>
                          <a:cs typeface="+mn-cs"/>
                        </a:rPr>
                        <a:t>التطبيقات التي سيتم استخدامها لدعم تقديم الخدمة في المستقبل</a:t>
                      </a:r>
                    </a:p>
                  </a:txBody>
                  <a:tcPr marL="137160" marR="137160" marT="137160" marB="137160" anchor="b"/>
                </a:tc>
                <a:tc>
                  <a:txBody>
                    <a:bodyPr/>
                    <a:lstStyle/>
                    <a:p>
                      <a:pPr marL="0" algn="r" defTabSz="914400" rtl="1" eaLnBrk="1" fontAlgn="b" latinLnBrk="0" hangingPunct="1"/>
                      <a:r>
                        <a:rPr lang="ar-SA" sz="1200" b="0" kern="1200" dirty="0">
                          <a:solidFill>
                            <a:schemeClr val="tx1"/>
                          </a:solidFill>
                          <a:effectLst/>
                          <a:latin typeface="+mn-lt"/>
                          <a:ea typeface="+mn-ea"/>
                          <a:cs typeface="+mn-cs"/>
                        </a:rPr>
                        <a:t>علاقة ربط</a:t>
                      </a:r>
                    </a:p>
                  </a:txBody>
                  <a:tcPr marL="137160" marR="137160" marT="137160" marB="137160" anchor="b"/>
                </a:tc>
                <a:tc>
                  <a:txBody>
                    <a:bodyPr/>
                    <a:lstStyle/>
                    <a:p>
                      <a:pPr marL="0" algn="r" defTabSz="914400" rtl="1" eaLnBrk="1" fontAlgn="b" latinLnBrk="0" hangingPunct="1"/>
                      <a:r>
                        <a:rPr lang="ar-EG" sz="1200" b="0" kern="1200" dirty="0">
                          <a:solidFill>
                            <a:schemeClr val="tx1"/>
                          </a:solidFill>
                          <a:effectLst/>
                          <a:latin typeface="+mn-lt"/>
                          <a:ea typeface="+mn-ea"/>
                          <a:cs typeface="+mn-cs"/>
                        </a:rPr>
                        <a:t>اختيارية</a:t>
                      </a:r>
                      <a:endParaRPr lang="ar-SA" sz="12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2606741067"/>
                  </a:ext>
                </a:extLst>
              </a:tr>
              <a:tr h="0">
                <a:tc>
                  <a:txBody>
                    <a:bodyPr/>
                    <a:lstStyle/>
                    <a:p>
                      <a:pPr marL="0" algn="ctr" defTabSz="914400" rtl="1" eaLnBrk="1" fontAlgn="b" latinLnBrk="0" hangingPunct="1"/>
                      <a:r>
                        <a:rPr lang="ar-SA" sz="1200" b="1" kern="1200">
                          <a:solidFill>
                            <a:schemeClr val="tx1"/>
                          </a:solidFill>
                          <a:effectLst/>
                          <a:latin typeface="+mn-lt"/>
                          <a:ea typeface="+mn-ea"/>
                          <a:cs typeface="+mn-cs"/>
                        </a:rPr>
                        <a:t>المدة الزمنية لتنفيذ الخدمة</a:t>
                      </a:r>
                    </a:p>
                  </a:txBody>
                  <a:tcPr marL="137160" marR="137160" marT="137160" marB="137160" anchor="b"/>
                </a:tc>
                <a:tc>
                  <a:txBody>
                    <a:bodyPr/>
                    <a:lstStyle/>
                    <a:p>
                      <a:pPr marL="0" algn="r" defTabSz="914400" rtl="1" eaLnBrk="1" fontAlgn="b" latinLnBrk="0" hangingPunct="1"/>
                      <a:r>
                        <a:rPr lang="ar-SA" sz="1200" b="0" kern="1200" dirty="0">
                          <a:solidFill>
                            <a:schemeClr val="tx1"/>
                          </a:solidFill>
                          <a:effectLst/>
                          <a:latin typeface="+mn-lt"/>
                          <a:ea typeface="+mn-ea"/>
                          <a:cs typeface="+mn-cs"/>
                        </a:rPr>
                        <a:t>الوقت المتوقع لإتمام الخدمة</a:t>
                      </a:r>
                    </a:p>
                  </a:txBody>
                  <a:tcPr marL="137160" marR="137160" marT="137160" marB="137160" anchor="b"/>
                </a:tc>
                <a:tc>
                  <a:txBody>
                    <a:bodyPr/>
                    <a:lstStyle/>
                    <a:p>
                      <a:pPr marL="0" algn="r" defTabSz="914400" rtl="1" eaLnBrk="1" fontAlgn="b" latinLnBrk="0" hangingPunct="1"/>
                      <a:r>
                        <a:rPr lang="ar-SA" sz="1200" b="0" kern="1200">
                          <a:solidFill>
                            <a:schemeClr val="tx1"/>
                          </a:solidFill>
                          <a:effectLst/>
                          <a:latin typeface="+mn-lt"/>
                          <a:ea typeface="+mn-ea"/>
                          <a:cs typeface="+mn-cs"/>
                        </a:rPr>
                        <a:t>نص</a:t>
                      </a:r>
                    </a:p>
                  </a:txBody>
                  <a:tcPr marL="137160" marR="137160" marT="137160" marB="137160" anchor="b"/>
                </a:tc>
                <a:tc>
                  <a:txBody>
                    <a:bodyPr/>
                    <a:lstStyle/>
                    <a:p>
                      <a:pPr marL="0" algn="r" defTabSz="914400" rtl="1" eaLnBrk="1" fontAlgn="b" latinLnBrk="0" hangingPunct="1"/>
                      <a:r>
                        <a:rPr lang="ar-EG" sz="1200" b="0" kern="1200" dirty="0">
                          <a:solidFill>
                            <a:schemeClr val="tx1"/>
                          </a:solidFill>
                          <a:effectLst/>
                          <a:latin typeface="+mn-lt"/>
                          <a:ea typeface="+mn-ea"/>
                          <a:cs typeface="+mn-cs"/>
                        </a:rPr>
                        <a:t>اختيارية</a:t>
                      </a:r>
                      <a:endParaRPr lang="ar-SA" sz="12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2773478600"/>
                  </a:ext>
                </a:extLst>
              </a:tr>
              <a:tr h="0">
                <a:tc>
                  <a:txBody>
                    <a:bodyPr/>
                    <a:lstStyle/>
                    <a:p>
                      <a:pPr marL="0" algn="ctr" defTabSz="914400" rtl="1" eaLnBrk="1" fontAlgn="b" latinLnBrk="0" hangingPunct="1"/>
                      <a:r>
                        <a:rPr lang="ar-SA" sz="1200" b="1" kern="1200" dirty="0">
                          <a:solidFill>
                            <a:schemeClr val="tx1"/>
                          </a:solidFill>
                          <a:effectLst/>
                          <a:latin typeface="+mn-lt"/>
                          <a:ea typeface="+mn-ea"/>
                          <a:cs typeface="+mn-cs"/>
                        </a:rPr>
                        <a:t>اتفاقية مستوى الخدمة في الوضع الحالي</a:t>
                      </a:r>
                    </a:p>
                  </a:txBody>
                  <a:tcPr marL="137160" marR="137160" marT="137160" marB="137160" anchor="b"/>
                </a:tc>
                <a:tc>
                  <a:txBody>
                    <a:bodyPr/>
                    <a:lstStyle/>
                    <a:p>
                      <a:pPr marL="0" algn="r" defTabSz="914400" rtl="1" eaLnBrk="1" fontAlgn="b" latinLnBrk="0" hangingPunct="1"/>
                      <a:r>
                        <a:rPr lang="ar-SA" sz="1200" b="0" kern="1200" dirty="0">
                          <a:solidFill>
                            <a:schemeClr val="tx1"/>
                          </a:solidFill>
                          <a:effectLst/>
                          <a:latin typeface="+mn-lt"/>
                          <a:ea typeface="+mn-ea"/>
                          <a:cs typeface="+mn-cs"/>
                        </a:rPr>
                        <a:t>مستوى الاتفاقية المتاحة حاليا لتقديم الخدمة (لا توجد-جزئي-كلي)</a:t>
                      </a:r>
                    </a:p>
                  </a:txBody>
                  <a:tcPr marL="137160" marR="137160" marT="137160" marB="137160" anchor="b"/>
                </a:tc>
                <a:tc>
                  <a:txBody>
                    <a:bodyPr/>
                    <a:lstStyle/>
                    <a:p>
                      <a:pPr marL="0" algn="r" defTabSz="914400" rtl="1" eaLnBrk="1" fontAlgn="b" latinLnBrk="0" hangingPunct="1"/>
                      <a:r>
                        <a:rPr lang="ar-SA" sz="1200" b="0" kern="1200" dirty="0">
                          <a:solidFill>
                            <a:schemeClr val="tx1"/>
                          </a:solidFill>
                          <a:effectLst/>
                          <a:latin typeface="+mn-lt"/>
                          <a:ea typeface="+mn-ea"/>
                          <a:cs typeface="+mn-cs"/>
                        </a:rPr>
                        <a:t>قائمة معرفة سابقًا</a:t>
                      </a:r>
                    </a:p>
                  </a:txBody>
                  <a:tcPr marL="137160" marR="137160" marT="137160" marB="137160" anchor="b"/>
                </a:tc>
                <a:tc>
                  <a:txBody>
                    <a:bodyPr/>
                    <a:lstStyle/>
                    <a:p>
                      <a:pPr marL="0" algn="r" defTabSz="914400" rtl="1" eaLnBrk="1" fontAlgn="b" latinLnBrk="0" hangingPunct="1"/>
                      <a:r>
                        <a:rPr lang="ar-EG" sz="1200" b="0" kern="1200" dirty="0">
                          <a:solidFill>
                            <a:schemeClr val="tx1"/>
                          </a:solidFill>
                          <a:effectLst/>
                          <a:latin typeface="+mn-lt"/>
                          <a:ea typeface="+mn-ea"/>
                          <a:cs typeface="+mn-cs"/>
                        </a:rPr>
                        <a:t>حسب التوافر</a:t>
                      </a:r>
                      <a:endParaRPr lang="ar-SA" sz="12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2293260855"/>
                  </a:ext>
                </a:extLst>
              </a:tr>
              <a:tr h="0">
                <a:tc>
                  <a:txBody>
                    <a:bodyPr/>
                    <a:lstStyle/>
                    <a:p>
                      <a:pPr marL="0" algn="ctr" defTabSz="914400" rtl="1" eaLnBrk="1" fontAlgn="b" latinLnBrk="0" hangingPunct="1"/>
                      <a:r>
                        <a:rPr lang="ar-SA" sz="1200" b="1" kern="1200" dirty="0">
                          <a:solidFill>
                            <a:schemeClr val="tx1"/>
                          </a:solidFill>
                          <a:effectLst/>
                          <a:latin typeface="+mn-lt"/>
                          <a:ea typeface="+mn-ea"/>
                          <a:cs typeface="+mn-cs"/>
                        </a:rPr>
                        <a:t>اتفاقية مستوى الخدمة في الوضع المستقبلي</a:t>
                      </a:r>
                    </a:p>
                  </a:txBody>
                  <a:tcPr marL="137160" marR="137160" marT="137160" marB="137160" anchor="b"/>
                </a:tc>
                <a:tc>
                  <a:txBody>
                    <a:bodyPr/>
                    <a:lstStyle/>
                    <a:p>
                      <a:pPr marL="0" algn="r" defTabSz="914400" rtl="1" eaLnBrk="1" fontAlgn="b" latinLnBrk="0" hangingPunct="1"/>
                      <a:r>
                        <a:rPr lang="ar-SA" sz="1200" b="0" kern="1200" dirty="0">
                          <a:solidFill>
                            <a:schemeClr val="tx1"/>
                          </a:solidFill>
                          <a:effectLst/>
                          <a:latin typeface="+mn-lt"/>
                          <a:ea typeface="+mn-ea"/>
                          <a:cs typeface="+mn-cs"/>
                        </a:rPr>
                        <a:t>مستوى الاتفاقية التي سيتم تنفيذها في المستقبل لتقديم الخدمة</a:t>
                      </a:r>
                    </a:p>
                  </a:txBody>
                  <a:tcPr marL="137160" marR="137160" marT="137160" marB="137160" anchor="b"/>
                </a:tc>
                <a:tc>
                  <a:txBody>
                    <a:bodyPr/>
                    <a:lstStyle/>
                    <a:p>
                      <a:pPr marL="0" algn="r" defTabSz="914400" rtl="1" eaLnBrk="1" fontAlgn="b" latinLnBrk="0" hangingPunct="1"/>
                      <a:r>
                        <a:rPr lang="ar-SA" sz="1200" b="0" kern="1200" dirty="0">
                          <a:solidFill>
                            <a:schemeClr val="tx1"/>
                          </a:solidFill>
                          <a:effectLst/>
                          <a:latin typeface="+mn-lt"/>
                          <a:ea typeface="+mn-ea"/>
                          <a:cs typeface="+mn-cs"/>
                        </a:rPr>
                        <a:t>قائمة معرفة سابقًا</a:t>
                      </a:r>
                    </a:p>
                  </a:txBody>
                  <a:tcPr marL="137160" marR="137160" marT="137160" marB="137160" anchor="b"/>
                </a:tc>
                <a:tc>
                  <a:txBody>
                    <a:bodyPr/>
                    <a:lstStyle/>
                    <a:p>
                      <a:pPr marL="0" algn="r" defTabSz="914400" rtl="1" eaLnBrk="1" fontAlgn="b" latinLnBrk="0" hangingPunct="1"/>
                      <a:r>
                        <a:rPr lang="ar-EG" sz="1200" b="0" kern="1200" dirty="0">
                          <a:solidFill>
                            <a:schemeClr val="tx1"/>
                          </a:solidFill>
                          <a:effectLst/>
                          <a:latin typeface="+mn-lt"/>
                          <a:ea typeface="+mn-ea"/>
                          <a:cs typeface="+mn-cs"/>
                        </a:rPr>
                        <a:t>حسب التوافر</a:t>
                      </a:r>
                      <a:endParaRPr lang="ar-SA" sz="12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1486248475"/>
                  </a:ext>
                </a:extLst>
              </a:tr>
              <a:tr h="0">
                <a:tc>
                  <a:txBody>
                    <a:bodyPr/>
                    <a:lstStyle/>
                    <a:p>
                      <a:pPr marL="0" algn="ctr" defTabSz="914400" rtl="1" eaLnBrk="1" fontAlgn="b" latinLnBrk="0" hangingPunct="1"/>
                      <a:r>
                        <a:rPr lang="ar-SA" sz="1200" b="1" kern="1200" dirty="0">
                          <a:solidFill>
                            <a:schemeClr val="tx1"/>
                          </a:solidFill>
                          <a:effectLst/>
                          <a:latin typeface="+mn-lt"/>
                          <a:ea typeface="+mn-ea"/>
                          <a:cs typeface="+mn-cs"/>
                        </a:rPr>
                        <a:t>المستفيد من الخدمة المرتبط</a:t>
                      </a:r>
                    </a:p>
                  </a:txBody>
                  <a:tcPr marL="137160" marR="137160" marT="137160" marB="137160" anchor="b"/>
                </a:tc>
                <a:tc>
                  <a:txBody>
                    <a:bodyPr/>
                    <a:lstStyle/>
                    <a:p>
                      <a:pPr marL="0" algn="r" defTabSz="914400" rtl="1" eaLnBrk="1" fontAlgn="b" latinLnBrk="0" hangingPunct="1"/>
                      <a:r>
                        <a:rPr lang="ar-SA" sz="1200" b="0" kern="1200" dirty="0">
                          <a:solidFill>
                            <a:schemeClr val="tx1"/>
                          </a:solidFill>
                          <a:effectLst/>
                          <a:latin typeface="+mn-lt"/>
                          <a:ea typeface="+mn-ea"/>
                          <a:cs typeface="+mn-cs"/>
                        </a:rPr>
                        <a:t>الجهة أو الأفراد الذين يستفيدون من الخدمة</a:t>
                      </a:r>
                    </a:p>
                  </a:txBody>
                  <a:tcPr marL="137160" marR="137160" marT="137160" marB="137160" anchor="b"/>
                </a:tc>
                <a:tc>
                  <a:txBody>
                    <a:bodyPr/>
                    <a:lstStyle/>
                    <a:p>
                      <a:pPr marL="0" algn="r" defTabSz="914400" rtl="1" eaLnBrk="1" fontAlgn="b" latinLnBrk="0" hangingPunct="1"/>
                      <a:r>
                        <a:rPr lang="ar-SA" sz="1200" b="0" kern="1200" dirty="0">
                          <a:solidFill>
                            <a:schemeClr val="tx1"/>
                          </a:solidFill>
                          <a:effectLst/>
                          <a:latin typeface="+mn-lt"/>
                          <a:ea typeface="+mn-ea"/>
                          <a:cs typeface="+mn-cs"/>
                        </a:rPr>
                        <a:t>علاقة ربط</a:t>
                      </a:r>
                    </a:p>
                  </a:txBody>
                  <a:tcPr marL="137160" marR="137160" marT="137160" marB="137160" anchor="b"/>
                </a:tc>
                <a:tc>
                  <a:txBody>
                    <a:bodyPr/>
                    <a:lstStyle/>
                    <a:p>
                      <a:pPr marL="0" algn="r" defTabSz="914400" rtl="1" eaLnBrk="1" fontAlgn="b" latinLnBrk="0" hangingPunct="1"/>
                      <a:r>
                        <a:rPr lang="ar-EG" sz="1200" b="0" kern="1200" dirty="0">
                          <a:solidFill>
                            <a:schemeClr val="tx1"/>
                          </a:solidFill>
                          <a:effectLst/>
                          <a:latin typeface="+mn-lt"/>
                          <a:ea typeface="+mn-ea"/>
                          <a:cs typeface="+mn-cs"/>
                        </a:rPr>
                        <a:t>الزامية</a:t>
                      </a:r>
                      <a:endParaRPr lang="ar-SA" sz="12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3688651612"/>
                  </a:ext>
                </a:extLst>
              </a:tr>
              <a:tr h="0">
                <a:tc>
                  <a:txBody>
                    <a:bodyPr/>
                    <a:lstStyle/>
                    <a:p>
                      <a:pPr marL="0" algn="ctr" defTabSz="914400" rtl="1" eaLnBrk="1" fontAlgn="b" latinLnBrk="0" hangingPunct="1"/>
                      <a:r>
                        <a:rPr lang="ar-SA" sz="1200" b="1" kern="1200" dirty="0">
                          <a:solidFill>
                            <a:schemeClr val="tx1"/>
                          </a:solidFill>
                          <a:effectLst/>
                          <a:latin typeface="+mn-lt"/>
                          <a:ea typeface="+mn-ea"/>
                          <a:cs typeface="+mn-cs"/>
                        </a:rPr>
                        <a:t>مؤشرات قياس أداء الخدمة المرتبطة</a:t>
                      </a:r>
                    </a:p>
                  </a:txBody>
                  <a:tcPr marL="137160" marR="137160" marT="137160" marB="137160" anchor="b"/>
                </a:tc>
                <a:tc>
                  <a:txBody>
                    <a:bodyPr/>
                    <a:lstStyle/>
                    <a:p>
                      <a:pPr marL="0" algn="r" defTabSz="914400" rtl="1" eaLnBrk="1" fontAlgn="b" latinLnBrk="0" hangingPunct="1"/>
                      <a:r>
                        <a:rPr lang="ar-SA" sz="1200" b="0" kern="1200" dirty="0">
                          <a:solidFill>
                            <a:schemeClr val="tx1"/>
                          </a:solidFill>
                          <a:effectLst/>
                          <a:latin typeface="+mn-lt"/>
                          <a:ea typeface="+mn-ea"/>
                          <a:cs typeface="+mn-cs"/>
                        </a:rPr>
                        <a:t>المؤشرات المستخدمة لتقييم أداء الخدمة</a:t>
                      </a:r>
                    </a:p>
                  </a:txBody>
                  <a:tcPr marL="137160" marR="137160" marT="137160" marB="137160" anchor="b"/>
                </a:tc>
                <a:tc>
                  <a:txBody>
                    <a:bodyPr/>
                    <a:lstStyle/>
                    <a:p>
                      <a:pPr marL="0" algn="r" defTabSz="914400" rtl="1" eaLnBrk="1" fontAlgn="b" latinLnBrk="0" hangingPunct="1"/>
                      <a:r>
                        <a:rPr lang="ar-SA" sz="1200" b="0" kern="1200" dirty="0">
                          <a:solidFill>
                            <a:schemeClr val="tx1"/>
                          </a:solidFill>
                          <a:effectLst/>
                          <a:latin typeface="+mn-lt"/>
                          <a:ea typeface="+mn-ea"/>
                          <a:cs typeface="+mn-cs"/>
                        </a:rPr>
                        <a:t>علاقة ربط</a:t>
                      </a:r>
                    </a:p>
                  </a:txBody>
                  <a:tcPr marL="137160" marR="137160" marT="137160" marB="137160" anchor="b"/>
                </a:tc>
                <a:tc>
                  <a:txBody>
                    <a:bodyPr/>
                    <a:lstStyle/>
                    <a:p>
                      <a:pPr marL="0" algn="r" defTabSz="914400" rtl="1" eaLnBrk="1" fontAlgn="b" latinLnBrk="0" hangingPunct="1"/>
                      <a:r>
                        <a:rPr lang="ar-EG" sz="1200" b="0" kern="1200" dirty="0">
                          <a:solidFill>
                            <a:schemeClr val="tx1"/>
                          </a:solidFill>
                          <a:effectLst/>
                          <a:latin typeface="+mn-lt"/>
                          <a:ea typeface="+mn-ea"/>
                          <a:cs typeface="+mn-cs"/>
                        </a:rPr>
                        <a:t>اختيارية</a:t>
                      </a:r>
                      <a:endParaRPr lang="ar-SA" sz="12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1207580594"/>
                  </a:ext>
                </a:extLst>
              </a:tr>
              <a:tr h="0">
                <a:tc>
                  <a:txBody>
                    <a:bodyPr/>
                    <a:lstStyle/>
                    <a:p>
                      <a:pPr marL="0" algn="ctr" defTabSz="914400" rtl="1" eaLnBrk="1" fontAlgn="b" latinLnBrk="0" hangingPunct="1"/>
                      <a:r>
                        <a:rPr lang="ar-SA" sz="1200" b="1" kern="1200" dirty="0">
                          <a:solidFill>
                            <a:schemeClr val="tx1"/>
                          </a:solidFill>
                          <a:effectLst/>
                          <a:latin typeface="+mn-lt"/>
                          <a:ea typeface="+mn-ea"/>
                          <a:cs typeface="+mn-cs"/>
                        </a:rPr>
                        <a:t>الملاحظات / التحديات / التحسينات الخاصة بالخدمة</a:t>
                      </a:r>
                    </a:p>
                  </a:txBody>
                  <a:tcPr marL="137160" marR="137160" marT="137160" marB="137160" anchor="b"/>
                </a:tc>
                <a:tc>
                  <a:txBody>
                    <a:bodyPr/>
                    <a:lstStyle/>
                    <a:p>
                      <a:pPr marL="0" algn="r" defTabSz="914400" rtl="1" eaLnBrk="1" fontAlgn="b" latinLnBrk="0" hangingPunct="1"/>
                      <a:r>
                        <a:rPr lang="ar-SA" sz="1200" b="0" kern="1200" dirty="0">
                          <a:solidFill>
                            <a:schemeClr val="tx1"/>
                          </a:solidFill>
                          <a:effectLst/>
                          <a:latin typeface="+mn-lt"/>
                          <a:ea typeface="+mn-ea"/>
                          <a:cs typeface="+mn-cs"/>
                        </a:rPr>
                        <a:t>الملاحظات المتعلقة بالخدمة أو التحديات التي تواجهها وأية تحسينات مقترحة</a:t>
                      </a:r>
                    </a:p>
                  </a:txBody>
                  <a:tcPr marL="137160" marR="137160" marT="137160" marB="137160" anchor="b"/>
                </a:tc>
                <a:tc>
                  <a:txBody>
                    <a:bodyPr/>
                    <a:lstStyle/>
                    <a:p>
                      <a:pPr marL="0" algn="r" defTabSz="914400" rtl="1" eaLnBrk="1" fontAlgn="b" latinLnBrk="0" hangingPunct="1"/>
                      <a:r>
                        <a:rPr lang="ar-SA" sz="1200" b="0" kern="1200" dirty="0">
                          <a:solidFill>
                            <a:schemeClr val="tx1"/>
                          </a:solidFill>
                          <a:effectLst/>
                          <a:latin typeface="+mn-lt"/>
                          <a:ea typeface="+mn-ea"/>
                          <a:cs typeface="+mn-cs"/>
                        </a:rPr>
                        <a:t>نص </a:t>
                      </a:r>
                    </a:p>
                  </a:txBody>
                  <a:tcPr marL="137160" marR="137160" marT="137160" marB="137160" anchor="b"/>
                </a:tc>
                <a:tc>
                  <a:txBody>
                    <a:bodyPr/>
                    <a:lstStyle/>
                    <a:p>
                      <a:pPr marL="0" algn="r" defTabSz="914400" rtl="1" eaLnBrk="1" fontAlgn="b" latinLnBrk="0" hangingPunct="1"/>
                      <a:r>
                        <a:rPr lang="ar-EG" sz="1200" b="0" kern="1200" dirty="0">
                          <a:solidFill>
                            <a:schemeClr val="tx1"/>
                          </a:solidFill>
                          <a:effectLst/>
                          <a:latin typeface="+mn-lt"/>
                          <a:ea typeface="+mn-ea"/>
                          <a:cs typeface="+mn-cs"/>
                        </a:rPr>
                        <a:t>الزامية</a:t>
                      </a:r>
                      <a:endParaRPr lang="ar-SA" sz="1200" b="0" kern="1200" dirty="0">
                        <a:solidFill>
                          <a:schemeClr val="tx1"/>
                        </a:solidFill>
                        <a:effectLst/>
                        <a:latin typeface="+mn-lt"/>
                        <a:ea typeface="+mn-ea"/>
                        <a:cs typeface="+mn-cs"/>
                      </a:endParaRPr>
                    </a:p>
                  </a:txBody>
                  <a:tcPr marL="137160" marR="137160" marT="137160" marB="137160" anchor="b"/>
                </a:tc>
                <a:extLst>
                  <a:ext uri="{0D108BD9-81ED-4DB2-BD59-A6C34878D82A}">
                    <a16:rowId xmlns:a16="http://schemas.microsoft.com/office/drawing/2014/main" val="1426280651"/>
                  </a:ext>
                </a:extLst>
              </a:tr>
            </a:tbl>
          </a:graphicData>
        </a:graphic>
      </p:graphicFrame>
    </p:spTree>
    <p:extLst>
      <p:ext uri="{BB962C8B-B14F-4D97-AF65-F5344CB8AC3E}">
        <p14:creationId xmlns:p14="http://schemas.microsoft.com/office/powerpoint/2010/main" val="26349185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DF317-793B-8331-8CE7-F185A54A8002}"/>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FFBE1C26-4796-AE61-3E90-015207827602}"/>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47</a:t>
            </a:fld>
            <a:endParaRPr lang="en-US"/>
          </a:p>
        </p:txBody>
      </p:sp>
      <p:sp>
        <p:nvSpPr>
          <p:cNvPr id="2" name="Title 1">
            <a:extLst>
              <a:ext uri="{FF2B5EF4-FFF2-40B4-BE49-F238E27FC236}">
                <a16:creationId xmlns:a16="http://schemas.microsoft.com/office/drawing/2014/main" id="{2AC91DD7-07F4-6B90-CD42-368FEF2518F6}"/>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الأعمال"</a:t>
            </a:r>
            <a:r>
              <a:rPr lang="ar-EG" sz="2800" dirty="0"/>
              <a:t> -</a:t>
            </a:r>
            <a:r>
              <a:rPr lang="ar-EG" dirty="0"/>
              <a:t> </a:t>
            </a:r>
            <a:r>
              <a:rPr lang="en-US" dirty="0"/>
              <a:t>تفصيل سمات </a:t>
            </a:r>
            <a:r>
              <a:rPr lang="ar-SA" dirty="0"/>
              <a:t>وحدة </a:t>
            </a:r>
            <a:r>
              <a:rPr lang="ar-EG" dirty="0"/>
              <a:t>ال</a:t>
            </a:r>
            <a:r>
              <a:rPr lang="ar-SA" dirty="0"/>
              <a:t>بناء "مزود الخدمة"</a:t>
            </a:r>
            <a:endParaRPr lang="en-US" dirty="0"/>
          </a:p>
        </p:txBody>
      </p:sp>
      <p:graphicFrame>
        <p:nvGraphicFramePr>
          <p:cNvPr id="4" name="Table 3">
            <a:extLst>
              <a:ext uri="{FF2B5EF4-FFF2-40B4-BE49-F238E27FC236}">
                <a16:creationId xmlns:a16="http://schemas.microsoft.com/office/drawing/2014/main" id="{52B847C6-B1F9-F686-2085-EA97A1F08212}"/>
              </a:ext>
            </a:extLst>
          </p:cNvPr>
          <p:cNvGraphicFramePr>
            <a:graphicFrameLocks noGrp="1"/>
          </p:cNvGraphicFramePr>
          <p:nvPr>
            <p:extLst>
              <p:ext uri="{D42A27DB-BD31-4B8C-83A1-F6EECF244321}">
                <p14:modId xmlns:p14="http://schemas.microsoft.com/office/powerpoint/2010/main" val="3814239055"/>
              </p:ext>
            </p:extLst>
          </p:nvPr>
        </p:nvGraphicFramePr>
        <p:xfrm>
          <a:off x="1058827" y="1517372"/>
          <a:ext cx="10074345" cy="3084576"/>
        </p:xfrm>
        <a:graphic>
          <a:graphicData uri="http://schemas.openxmlformats.org/drawingml/2006/table">
            <a:tbl>
              <a:tblPr rtl="1" firstRow="1" bandRow="1">
                <a:tableStyleId>{5C22544A-7EE6-4342-B048-85BDC9FD1C3A}</a:tableStyleId>
              </a:tblPr>
              <a:tblGrid>
                <a:gridCol w="2281272">
                  <a:extLst>
                    <a:ext uri="{9D8B030D-6E8A-4147-A177-3AD203B41FA5}">
                      <a16:colId xmlns:a16="http://schemas.microsoft.com/office/drawing/2014/main" val="2853404558"/>
                    </a:ext>
                  </a:extLst>
                </a:gridCol>
                <a:gridCol w="4965700">
                  <a:extLst>
                    <a:ext uri="{9D8B030D-6E8A-4147-A177-3AD203B41FA5}">
                      <a16:colId xmlns:a16="http://schemas.microsoft.com/office/drawing/2014/main" val="1866450976"/>
                    </a:ext>
                  </a:extLst>
                </a:gridCol>
                <a:gridCol w="1534886">
                  <a:extLst>
                    <a:ext uri="{9D8B030D-6E8A-4147-A177-3AD203B41FA5}">
                      <a16:colId xmlns:a16="http://schemas.microsoft.com/office/drawing/2014/main" val="751160629"/>
                    </a:ext>
                  </a:extLst>
                </a:gridCol>
                <a:gridCol w="1292487">
                  <a:extLst>
                    <a:ext uri="{9D8B030D-6E8A-4147-A177-3AD203B41FA5}">
                      <a16:colId xmlns:a16="http://schemas.microsoft.com/office/drawing/2014/main" val="2843618380"/>
                    </a:ext>
                  </a:extLst>
                </a:gridCol>
              </a:tblGrid>
              <a:tr h="64975">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b="1" u="none" strike="noStrike" kern="1200" dirty="0">
                          <a:solidFill>
                            <a:schemeClr val="lt1"/>
                          </a:solidFill>
                          <a:effectLst/>
                          <a:latin typeface="+mn-lt"/>
                          <a:ea typeface="+mn-ea"/>
                          <a:cs typeface="+mn-cs"/>
                        </a:rPr>
                        <a:t>نوع السمة</a:t>
                      </a:r>
                    </a:p>
                  </a:txBody>
                  <a:tcPr marL="45720" marR="45720" marT="18288" marB="18288"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45720" marR="45720" marT="18288" marB="18288" anchor="b"/>
                </a:tc>
                <a:extLst>
                  <a:ext uri="{0D108BD9-81ED-4DB2-BD59-A6C34878D82A}">
                    <a16:rowId xmlns:a16="http://schemas.microsoft.com/office/drawing/2014/main" val="2998368315"/>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الرمز الفريد لمزود خدمة</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u="none" strike="noStrike" kern="1200" dirty="0">
                          <a:solidFill>
                            <a:schemeClr val="dk1"/>
                          </a:solidFill>
                          <a:effectLst/>
                          <a:latin typeface="+mn-lt"/>
                          <a:ea typeface="+mn-ea"/>
                          <a:cs typeface="+mn-cs"/>
                        </a:rPr>
                        <a:t>أحرف و/أو أرقام</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650443948"/>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اسم مزود الخدمة سواء كان كيان خارجي أو فرد</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2177790647"/>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الوصف</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وصف مختصر لمزود الخدمة ودوره في تقديم الخدمات للهيئة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اختياري</a:t>
                      </a:r>
                    </a:p>
                  </a:txBody>
                  <a:tcPr marL="137160" marR="137160" marT="137160" marB="137160" anchor="ctr"/>
                </a:tc>
                <a:extLst>
                  <a:ext uri="{0D108BD9-81ED-4DB2-BD59-A6C34878D82A}">
                    <a16:rowId xmlns:a16="http://schemas.microsoft.com/office/drawing/2014/main" val="4288224322"/>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نوع مزود الخدمة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تحديد نوع مزود الخدمة (</a:t>
                      </a:r>
                      <a:r>
                        <a:rPr lang="ar-EG" sz="1600" b="0" i="0" u="none" strike="noStrike" dirty="0">
                          <a:solidFill>
                            <a:srgbClr val="000000"/>
                          </a:solidFill>
                          <a:effectLst/>
                          <a:latin typeface="Calibri" panose="020F0502020204030204" pitchFamily="34" charset="0"/>
                        </a:rPr>
                        <a:t>مثال: </a:t>
                      </a:r>
                      <a:r>
                        <a:rPr lang="ar-SA" sz="1600" b="0" i="0" u="none" strike="noStrike" dirty="0">
                          <a:solidFill>
                            <a:srgbClr val="000000"/>
                          </a:solidFill>
                          <a:effectLst/>
                          <a:latin typeface="Calibri" panose="020F0502020204030204" pitchFamily="34" charset="0"/>
                        </a:rPr>
                        <a:t>فرد، شركة، مؤسسة حكومية، مؤسسة غير ربحية)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قائمة معرفة مسبقًا</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867269573"/>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اسم الخدمة المرتبطة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اسم الخدمة التي يتم تقديمها للهيئة من قبل مزود الخدمة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عند الحاجة</a:t>
                      </a:r>
                    </a:p>
                  </a:txBody>
                  <a:tcPr marL="137160" marR="137160" marT="137160" marB="137160" anchor="ctr"/>
                </a:tc>
                <a:extLst>
                  <a:ext uri="{0D108BD9-81ED-4DB2-BD59-A6C34878D82A}">
                    <a16:rowId xmlns:a16="http://schemas.microsoft.com/office/drawing/2014/main" val="220032958"/>
                  </a:ext>
                </a:extLst>
              </a:tr>
            </a:tbl>
          </a:graphicData>
        </a:graphic>
      </p:graphicFrame>
    </p:spTree>
    <p:extLst>
      <p:ext uri="{BB962C8B-B14F-4D97-AF65-F5344CB8AC3E}">
        <p14:creationId xmlns:p14="http://schemas.microsoft.com/office/powerpoint/2010/main" val="36748691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48</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الأعمال"</a:t>
            </a:r>
            <a:r>
              <a:rPr lang="ar-EG" sz="2800" dirty="0"/>
              <a:t> -</a:t>
            </a:r>
            <a:r>
              <a:rPr lang="ar-EG" dirty="0"/>
              <a:t> </a:t>
            </a:r>
            <a:r>
              <a:rPr lang="en-US" dirty="0"/>
              <a:t>تفصيل سمات </a:t>
            </a:r>
            <a:r>
              <a:rPr lang="ar-SA" dirty="0"/>
              <a:t>وحدة </a:t>
            </a:r>
            <a:r>
              <a:rPr lang="ar-EG" dirty="0"/>
              <a:t>ال</a:t>
            </a:r>
            <a:r>
              <a:rPr lang="ar-SA" dirty="0"/>
              <a:t>بناء "منتج"</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1457647377"/>
              </p:ext>
            </p:extLst>
          </p:nvPr>
        </p:nvGraphicFramePr>
        <p:xfrm>
          <a:off x="816429" y="1317451"/>
          <a:ext cx="10584180" cy="3326719"/>
        </p:xfrm>
        <a:graphic>
          <a:graphicData uri="http://schemas.openxmlformats.org/drawingml/2006/table">
            <a:tbl>
              <a:tblPr rtl="1" firstRow="1" bandRow="1">
                <a:tableStyleId>{5C22544A-7EE6-4342-B048-85BDC9FD1C3A}</a:tableStyleId>
              </a:tblPr>
              <a:tblGrid>
                <a:gridCol w="2487340">
                  <a:extLst>
                    <a:ext uri="{9D8B030D-6E8A-4147-A177-3AD203B41FA5}">
                      <a16:colId xmlns:a16="http://schemas.microsoft.com/office/drawing/2014/main" val="2853404558"/>
                    </a:ext>
                  </a:extLst>
                </a:gridCol>
                <a:gridCol w="5320981">
                  <a:extLst>
                    <a:ext uri="{9D8B030D-6E8A-4147-A177-3AD203B41FA5}">
                      <a16:colId xmlns:a16="http://schemas.microsoft.com/office/drawing/2014/main" val="1866450976"/>
                    </a:ext>
                  </a:extLst>
                </a:gridCol>
                <a:gridCol w="1518558">
                  <a:extLst>
                    <a:ext uri="{9D8B030D-6E8A-4147-A177-3AD203B41FA5}">
                      <a16:colId xmlns:a16="http://schemas.microsoft.com/office/drawing/2014/main" val="751160629"/>
                    </a:ext>
                  </a:extLst>
                </a:gridCol>
                <a:gridCol w="1257301">
                  <a:extLst>
                    <a:ext uri="{9D8B030D-6E8A-4147-A177-3AD203B41FA5}">
                      <a16:colId xmlns:a16="http://schemas.microsoft.com/office/drawing/2014/main" val="80757102"/>
                    </a:ext>
                  </a:extLst>
                </a:gridCol>
              </a:tblGrid>
              <a:tr h="370159">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45720" marR="45720" marT="18288" marB="18288" anchor="b"/>
                </a:tc>
                <a:extLst>
                  <a:ext uri="{0D108BD9-81ED-4DB2-BD59-A6C34878D82A}">
                    <a16:rowId xmlns:a16="http://schemas.microsoft.com/office/drawing/2014/main" val="2998368315"/>
                  </a:ext>
                </a:extLst>
              </a:tr>
              <a:tr h="0">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الرمز الفريد للمنتج</a:t>
                      </a:r>
                    </a:p>
                  </a:txBody>
                  <a:tcPr marL="137160" marR="137160" marT="137160" marB="137160" anchor="ctr"/>
                </a:tc>
                <a:tc>
                  <a:txBody>
                    <a:bodyPr/>
                    <a:lstStyle/>
                    <a:p>
                      <a:pPr algn="r" rtl="1" fontAlgn="b"/>
                      <a:r>
                        <a:rPr lang="ar-SA" sz="1600" u="none" strike="noStrike" kern="1200" dirty="0">
                          <a:solidFill>
                            <a:schemeClr val="dk1"/>
                          </a:solidFill>
                          <a:effectLst/>
                          <a:latin typeface="+mn-lt"/>
                          <a:ea typeface="+mn-ea"/>
                          <a:cs typeface="+mn-cs"/>
                        </a:rPr>
                        <a:t>أحرف و/أو أرقام</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2914621656"/>
                  </a:ext>
                </a:extLst>
              </a:tr>
              <a:tr h="0">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اسم المنتج الذي يعبر عن المخرج النهائي </a:t>
                      </a:r>
                      <a:r>
                        <a:rPr lang="ar-EG" sz="1600" b="0" i="0" u="none" strike="noStrike" dirty="0">
                          <a:solidFill>
                            <a:srgbClr val="000000"/>
                          </a:solidFill>
                          <a:effectLst/>
                          <a:latin typeface="Calibri" panose="020F0502020204030204" pitchFamily="34" charset="0"/>
                        </a:rPr>
                        <a:t>لإجراء</a:t>
                      </a:r>
                      <a:r>
                        <a:rPr lang="ar-SA" sz="1600" b="0" i="0" u="none" strike="noStrike" dirty="0">
                          <a:solidFill>
                            <a:srgbClr val="000000"/>
                          </a:solidFill>
                          <a:effectLst/>
                          <a:latin typeface="Calibri" panose="020F0502020204030204" pitchFamily="34" charset="0"/>
                        </a:rPr>
                        <a:t> أو خدمة معينة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2177790647"/>
                  </a:ext>
                </a:extLst>
              </a:tr>
              <a:tr h="0">
                <a:tc>
                  <a:txBody>
                    <a:bodyPr/>
                    <a:lstStyle/>
                    <a:p>
                      <a:pPr algn="ctr" rtl="1" fontAlgn="b"/>
                      <a:r>
                        <a:rPr lang="ar-SA" sz="1800" b="1" i="0" u="none" strike="noStrike" dirty="0">
                          <a:solidFill>
                            <a:srgbClr val="000000"/>
                          </a:solidFill>
                          <a:effectLst/>
                          <a:latin typeface="Calibri" panose="020F0502020204030204" pitchFamily="34" charset="0"/>
                        </a:rPr>
                        <a:t>الوصف</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وصف مختصر للمنتج يوضح الغرض منه وطبيعته (ملموس أو رقمي) ومدى تحقيقه للأهداف المطلوبة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712383108"/>
                  </a:ext>
                </a:extLst>
              </a:tr>
              <a:tr h="0">
                <a:tc>
                  <a:txBody>
                    <a:bodyPr/>
                    <a:lstStyle/>
                    <a:p>
                      <a:pPr algn="ctr" rtl="1" fontAlgn="b"/>
                      <a:r>
                        <a:rPr lang="ar-SA" sz="1800" b="1" i="0" u="none" strike="noStrike">
                          <a:solidFill>
                            <a:srgbClr val="000000"/>
                          </a:solidFill>
                          <a:effectLst/>
                          <a:latin typeface="Calibri" panose="020F0502020204030204" pitchFamily="34" charset="0"/>
                        </a:rPr>
                        <a:t>النوع</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نوع المنتج: </a:t>
                      </a:r>
                      <a:r>
                        <a:rPr lang="ar-EG" sz="1600" b="0" i="0" u="none" strike="noStrike" dirty="0">
                          <a:solidFill>
                            <a:srgbClr val="000000"/>
                          </a:solidFill>
                          <a:effectLst/>
                          <a:latin typeface="Calibri" panose="020F0502020204030204" pitchFamily="34" charset="0"/>
                        </a:rPr>
                        <a:t>مثال </a:t>
                      </a:r>
                      <a:r>
                        <a:rPr lang="ar-SA" sz="1600" b="0" i="0" u="none" strike="noStrike" dirty="0">
                          <a:solidFill>
                            <a:srgbClr val="000000"/>
                          </a:solidFill>
                          <a:effectLst/>
                          <a:latin typeface="Calibri" panose="020F0502020204030204" pitchFamily="34" charset="0"/>
                        </a:rPr>
                        <a:t>هل هو مخرجات ملموسة، خدمة رقمية، أو منتج رقمي</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قائمة معرفة مسبقًا</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1217778203"/>
                  </a:ext>
                </a:extLst>
              </a:tr>
              <a:tr h="0">
                <a:tc>
                  <a:txBody>
                    <a:bodyPr/>
                    <a:lstStyle/>
                    <a:p>
                      <a:pPr algn="ctr" rtl="1" fontAlgn="b"/>
                      <a:r>
                        <a:rPr lang="ar-SA" sz="1800" b="1" i="0" u="none" strike="noStrike" dirty="0">
                          <a:solidFill>
                            <a:srgbClr val="000000"/>
                          </a:solidFill>
                          <a:effectLst/>
                          <a:latin typeface="Calibri" panose="020F0502020204030204" pitchFamily="34" charset="0"/>
                        </a:rPr>
                        <a:t>التطبيقات المرتبطة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الأدوات أو الأنظمة المستخدمة في عملية إنتاج </a:t>
                      </a:r>
                      <a:r>
                        <a:rPr lang="ar-EG" sz="1600" b="0" i="0" u="none" strike="noStrike" dirty="0">
                          <a:solidFill>
                            <a:srgbClr val="000000"/>
                          </a:solidFill>
                          <a:effectLst/>
                          <a:latin typeface="Calibri" panose="020F0502020204030204" pitchFamily="34" charset="0"/>
                        </a:rPr>
                        <a:t>وتقديم </a:t>
                      </a:r>
                      <a:r>
                        <a:rPr lang="ar-SA" sz="1600" b="0" i="0" u="none" strike="noStrike" dirty="0">
                          <a:solidFill>
                            <a:srgbClr val="000000"/>
                          </a:solidFill>
                          <a:effectLst/>
                          <a:latin typeface="Calibri" panose="020F0502020204030204" pitchFamily="34" charset="0"/>
                        </a:rPr>
                        <a:t>المنتج</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علاقة ربط</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عند الحاجة</a:t>
                      </a:r>
                    </a:p>
                  </a:txBody>
                  <a:tcPr marL="137160" marR="137160" marT="137160" marB="137160" anchor="ctr"/>
                </a:tc>
                <a:extLst>
                  <a:ext uri="{0D108BD9-81ED-4DB2-BD59-A6C34878D82A}">
                    <a16:rowId xmlns:a16="http://schemas.microsoft.com/office/drawing/2014/main" val="1049090660"/>
                  </a:ext>
                </a:extLst>
              </a:tr>
            </a:tbl>
          </a:graphicData>
        </a:graphic>
      </p:graphicFrame>
    </p:spTree>
    <p:extLst>
      <p:ext uri="{BB962C8B-B14F-4D97-AF65-F5344CB8AC3E}">
        <p14:creationId xmlns:p14="http://schemas.microsoft.com/office/powerpoint/2010/main" val="31912514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49</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الأعمال"</a:t>
            </a:r>
            <a:r>
              <a:rPr lang="ar-EG" sz="2800" dirty="0"/>
              <a:t> -</a:t>
            </a:r>
            <a:r>
              <a:rPr lang="ar-EG" dirty="0"/>
              <a:t> </a:t>
            </a:r>
            <a:r>
              <a:rPr lang="en-US" dirty="0"/>
              <a:t>تفصيل سمات </a:t>
            </a:r>
            <a:r>
              <a:rPr lang="ar-SA" dirty="0"/>
              <a:t>وحدة </a:t>
            </a:r>
            <a:r>
              <a:rPr lang="ar-EG" dirty="0"/>
              <a:t>ال</a:t>
            </a:r>
            <a:r>
              <a:rPr lang="ar-SA" dirty="0"/>
              <a:t>بناء "مسمى وظيفي"</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4101843555"/>
              </p:ext>
            </p:extLst>
          </p:nvPr>
        </p:nvGraphicFramePr>
        <p:xfrm>
          <a:off x="621452" y="1512864"/>
          <a:ext cx="10960949" cy="2569389"/>
        </p:xfrm>
        <a:graphic>
          <a:graphicData uri="http://schemas.openxmlformats.org/drawingml/2006/table">
            <a:tbl>
              <a:tblPr rtl="1" firstRow="1" bandRow="1">
                <a:tableStyleId>{5C22544A-7EE6-4342-B048-85BDC9FD1C3A}</a:tableStyleId>
              </a:tblPr>
              <a:tblGrid>
                <a:gridCol w="2936143">
                  <a:extLst>
                    <a:ext uri="{9D8B030D-6E8A-4147-A177-3AD203B41FA5}">
                      <a16:colId xmlns:a16="http://schemas.microsoft.com/office/drawing/2014/main" val="2853404558"/>
                    </a:ext>
                  </a:extLst>
                </a:gridCol>
                <a:gridCol w="5495057">
                  <a:extLst>
                    <a:ext uri="{9D8B030D-6E8A-4147-A177-3AD203B41FA5}">
                      <a16:colId xmlns:a16="http://schemas.microsoft.com/office/drawing/2014/main" val="1866450976"/>
                    </a:ext>
                  </a:extLst>
                </a:gridCol>
                <a:gridCol w="1233911">
                  <a:extLst>
                    <a:ext uri="{9D8B030D-6E8A-4147-A177-3AD203B41FA5}">
                      <a16:colId xmlns:a16="http://schemas.microsoft.com/office/drawing/2014/main" val="751160629"/>
                    </a:ext>
                  </a:extLst>
                </a:gridCol>
                <a:gridCol w="1295838">
                  <a:extLst>
                    <a:ext uri="{9D8B030D-6E8A-4147-A177-3AD203B41FA5}">
                      <a16:colId xmlns:a16="http://schemas.microsoft.com/office/drawing/2014/main" val="321857085"/>
                    </a:ext>
                  </a:extLst>
                </a:gridCol>
              </a:tblGrid>
              <a:tr h="374829">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45720" marR="45720" marT="18288" marB="18288" anchor="b"/>
                </a:tc>
                <a:extLst>
                  <a:ext uri="{0D108BD9-81ED-4DB2-BD59-A6C34878D82A}">
                    <a16:rowId xmlns:a16="http://schemas.microsoft.com/office/drawing/2014/main" val="2998368315"/>
                  </a:ext>
                </a:extLst>
              </a:tr>
              <a:tr h="301201">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الرمز الفريد للمسمى الوظيفي</a:t>
                      </a:r>
                    </a:p>
                  </a:txBody>
                  <a:tcPr marL="137160" marR="137160" marT="137160" marB="137160" anchor="ctr"/>
                </a:tc>
                <a:tc>
                  <a:txBody>
                    <a:bodyPr/>
                    <a:lstStyle/>
                    <a:p>
                      <a:pPr algn="r" rtl="1" fontAlgn="b"/>
                      <a:r>
                        <a:rPr lang="ar-SA" sz="1600" u="none" strike="noStrike" kern="1200" dirty="0">
                          <a:solidFill>
                            <a:schemeClr val="dk1"/>
                          </a:solidFill>
                          <a:effectLst/>
                          <a:latin typeface="+mn-lt"/>
                          <a:ea typeface="+mn-ea"/>
                          <a:cs typeface="+mn-cs"/>
                        </a:rPr>
                        <a:t>أحرف و/أو أرقام</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3316288721"/>
                  </a:ext>
                </a:extLst>
              </a:tr>
              <a:tr h="301201">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اسم المسمى الوظيفي الذي يحدد دور الشخص في التنظيم</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2177790647"/>
                  </a:ext>
                </a:extLst>
              </a:tr>
              <a:tr h="301201">
                <a:tc>
                  <a:txBody>
                    <a:bodyPr/>
                    <a:lstStyle/>
                    <a:p>
                      <a:pPr algn="ctr" rtl="1" fontAlgn="b"/>
                      <a:r>
                        <a:rPr lang="ar-SA" sz="1800" b="1" i="0" u="none" strike="noStrike" dirty="0">
                          <a:solidFill>
                            <a:srgbClr val="000000"/>
                          </a:solidFill>
                          <a:effectLst/>
                          <a:latin typeface="Calibri" panose="020F0502020204030204" pitchFamily="34" charset="0"/>
                        </a:rPr>
                        <a:t>الوصف</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وصف مختصر يوضح المهام والمسؤوليات الرئيسية المرتبطة بالمسمى الوظيفي</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اختياري</a:t>
                      </a:r>
                    </a:p>
                  </a:txBody>
                  <a:tcPr marL="137160" marR="137160" marT="137160" marB="137160" anchor="ctr"/>
                </a:tc>
                <a:extLst>
                  <a:ext uri="{0D108BD9-81ED-4DB2-BD59-A6C34878D82A}">
                    <a16:rowId xmlns:a16="http://schemas.microsoft.com/office/drawing/2014/main" val="677787916"/>
                  </a:ext>
                </a:extLst>
              </a:tr>
              <a:tr h="301201">
                <a:tc>
                  <a:txBody>
                    <a:bodyPr/>
                    <a:lstStyle/>
                    <a:p>
                      <a:pPr algn="ctr" rtl="1" fontAlgn="b"/>
                      <a:r>
                        <a:rPr lang="ar-EG" sz="1800" b="1" i="0" u="none" strike="noStrike" dirty="0">
                          <a:solidFill>
                            <a:srgbClr val="000000"/>
                          </a:solidFill>
                          <a:effectLst/>
                          <a:latin typeface="Calibri" panose="020F0502020204030204" pitchFamily="34" charset="0"/>
                        </a:rPr>
                        <a:t>الوحدة التنظيمية</a:t>
                      </a:r>
                      <a:endParaRPr lang="ar-SA" sz="1800" b="1"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القسم أو الوحدة التنظيمية التي ينتمي إليها هذا المسمى الوظيفي</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علاقة ربط</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2245073653"/>
                  </a:ext>
                </a:extLst>
              </a:tr>
            </a:tbl>
          </a:graphicData>
        </a:graphic>
      </p:graphicFrame>
    </p:spTree>
    <p:extLst>
      <p:ext uri="{BB962C8B-B14F-4D97-AF65-F5344CB8AC3E}">
        <p14:creationId xmlns:p14="http://schemas.microsoft.com/office/powerpoint/2010/main" val="27769546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53377-D663-86AD-A157-4E648C9C125B}"/>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B6E5C828-8393-072D-B727-A6297100D184}"/>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50</a:t>
            </a:fld>
            <a:endParaRPr lang="en-US"/>
          </a:p>
        </p:txBody>
      </p:sp>
      <p:sp>
        <p:nvSpPr>
          <p:cNvPr id="2" name="Title 1">
            <a:extLst>
              <a:ext uri="{FF2B5EF4-FFF2-40B4-BE49-F238E27FC236}">
                <a16:creationId xmlns:a16="http://schemas.microsoft.com/office/drawing/2014/main" id="{D5DD1EED-C4E4-6EF3-AC36-637762685176}"/>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الأعمال"</a:t>
            </a:r>
            <a:r>
              <a:rPr lang="ar-EG" sz="2800" dirty="0"/>
              <a:t> -</a:t>
            </a:r>
            <a:r>
              <a:rPr lang="ar-EG" dirty="0"/>
              <a:t> </a:t>
            </a:r>
            <a:r>
              <a:rPr lang="en-US" dirty="0"/>
              <a:t>تفصيل سمات </a:t>
            </a:r>
            <a:r>
              <a:rPr lang="ar-SA" dirty="0"/>
              <a:t>وحدة </a:t>
            </a:r>
            <a:r>
              <a:rPr lang="ar-EG" dirty="0"/>
              <a:t>ال</a:t>
            </a:r>
            <a:r>
              <a:rPr lang="ar-SA" dirty="0"/>
              <a:t>بناء "دور"</a:t>
            </a:r>
            <a:endParaRPr lang="en-US" dirty="0"/>
          </a:p>
        </p:txBody>
      </p:sp>
      <p:graphicFrame>
        <p:nvGraphicFramePr>
          <p:cNvPr id="4" name="Table 3">
            <a:extLst>
              <a:ext uri="{FF2B5EF4-FFF2-40B4-BE49-F238E27FC236}">
                <a16:creationId xmlns:a16="http://schemas.microsoft.com/office/drawing/2014/main" id="{644B9E02-04AC-EB7C-8F45-FF607AD0F37B}"/>
              </a:ext>
            </a:extLst>
          </p:cNvPr>
          <p:cNvGraphicFramePr>
            <a:graphicFrameLocks noGrp="1"/>
          </p:cNvGraphicFramePr>
          <p:nvPr>
            <p:extLst>
              <p:ext uri="{D42A27DB-BD31-4B8C-83A1-F6EECF244321}">
                <p14:modId xmlns:p14="http://schemas.microsoft.com/office/powerpoint/2010/main" val="1309392778"/>
              </p:ext>
            </p:extLst>
          </p:nvPr>
        </p:nvGraphicFramePr>
        <p:xfrm>
          <a:off x="1058826" y="1401097"/>
          <a:ext cx="10074346" cy="2535936"/>
        </p:xfrm>
        <a:graphic>
          <a:graphicData uri="http://schemas.openxmlformats.org/drawingml/2006/table">
            <a:tbl>
              <a:tblPr rtl="1" firstRow="1" bandRow="1">
                <a:tableStyleId>{5C22544A-7EE6-4342-B048-85BDC9FD1C3A}</a:tableStyleId>
              </a:tblPr>
              <a:tblGrid>
                <a:gridCol w="2281272">
                  <a:extLst>
                    <a:ext uri="{9D8B030D-6E8A-4147-A177-3AD203B41FA5}">
                      <a16:colId xmlns:a16="http://schemas.microsoft.com/office/drawing/2014/main" val="2853404558"/>
                    </a:ext>
                  </a:extLst>
                </a:gridCol>
                <a:gridCol w="4825590">
                  <a:extLst>
                    <a:ext uri="{9D8B030D-6E8A-4147-A177-3AD203B41FA5}">
                      <a16:colId xmlns:a16="http://schemas.microsoft.com/office/drawing/2014/main" val="1866450976"/>
                    </a:ext>
                  </a:extLst>
                </a:gridCol>
                <a:gridCol w="1483742">
                  <a:extLst>
                    <a:ext uri="{9D8B030D-6E8A-4147-A177-3AD203B41FA5}">
                      <a16:colId xmlns:a16="http://schemas.microsoft.com/office/drawing/2014/main" val="751160629"/>
                    </a:ext>
                  </a:extLst>
                </a:gridCol>
                <a:gridCol w="1483742">
                  <a:extLst>
                    <a:ext uri="{9D8B030D-6E8A-4147-A177-3AD203B41FA5}">
                      <a16:colId xmlns:a16="http://schemas.microsoft.com/office/drawing/2014/main" val="360461346"/>
                    </a:ext>
                  </a:extLst>
                </a:gridCol>
              </a:tblGrid>
              <a:tr h="100792">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45720" marR="45720" marT="18288" marB="18288" anchor="b"/>
                </a:tc>
                <a:extLst>
                  <a:ext uri="{0D108BD9-81ED-4DB2-BD59-A6C34878D82A}">
                    <a16:rowId xmlns:a16="http://schemas.microsoft.com/office/drawing/2014/main" val="2998368315"/>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الرمز الفريد للدور</a:t>
                      </a:r>
                    </a:p>
                  </a:txBody>
                  <a:tcPr marL="137160" marR="137160" marT="137160" marB="137160" anchor="ctr"/>
                </a:tc>
                <a:tc>
                  <a:txBody>
                    <a:bodyPr/>
                    <a:lstStyle/>
                    <a:p>
                      <a:pPr algn="r" rtl="1" fontAlgn="b"/>
                      <a:r>
                        <a:rPr lang="ar-SA" sz="1600" u="none" strike="noStrike" kern="1200" dirty="0">
                          <a:solidFill>
                            <a:schemeClr val="dk1"/>
                          </a:solidFill>
                          <a:effectLst/>
                          <a:latin typeface="+mn-lt"/>
                          <a:ea typeface="+mn-ea"/>
                          <a:cs typeface="+mn-cs"/>
                        </a:rPr>
                        <a:t>أحرف و/أو أرقام</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650443948"/>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اسم الدور الذي يؤديه الفرد في سياق معين داخل </a:t>
                      </a:r>
                      <a:r>
                        <a:rPr lang="ar-EG" sz="1600" b="0" i="0" u="none" strike="noStrike" dirty="0">
                          <a:solidFill>
                            <a:srgbClr val="000000"/>
                          </a:solidFill>
                          <a:effectLst/>
                          <a:latin typeface="Calibri" panose="020F0502020204030204" pitchFamily="34" charset="0"/>
                        </a:rPr>
                        <a:t>الهيئة</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2177790647"/>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الوصف</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وصف مختصر يوضح طبيعة الدور والمسؤوليات الرئيسية المرتبطة به</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اختياري</a:t>
                      </a:r>
                    </a:p>
                  </a:txBody>
                  <a:tcPr marL="137160" marR="137160" marT="137160" marB="137160" anchor="ctr"/>
                </a:tc>
                <a:extLst>
                  <a:ext uri="{0D108BD9-81ED-4DB2-BD59-A6C34878D82A}">
                    <a16:rowId xmlns:a16="http://schemas.microsoft.com/office/drawing/2014/main" val="4288224322"/>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الإجراءات المرتبطة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قائمة بالإجراءات التي يكون الدور مسؤولاً عن تنفيذها أو الإشراف عليها</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علاقة ربط</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اختياري</a:t>
                      </a:r>
                    </a:p>
                  </a:txBody>
                  <a:tcPr marL="137160" marR="137160" marT="137160" marB="137160" anchor="ctr"/>
                </a:tc>
                <a:extLst>
                  <a:ext uri="{0D108BD9-81ED-4DB2-BD59-A6C34878D82A}">
                    <a16:rowId xmlns:a16="http://schemas.microsoft.com/office/drawing/2014/main" val="867269573"/>
                  </a:ext>
                </a:extLst>
              </a:tr>
            </a:tbl>
          </a:graphicData>
        </a:graphic>
      </p:graphicFrame>
    </p:spTree>
    <p:extLst>
      <p:ext uri="{BB962C8B-B14F-4D97-AF65-F5344CB8AC3E}">
        <p14:creationId xmlns:p14="http://schemas.microsoft.com/office/powerpoint/2010/main" val="40750709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1F081-558D-01B1-8115-D77D6F2ABD57}"/>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D932B388-FC23-AA1A-F4B0-18B543F75C31}"/>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51</a:t>
            </a:fld>
            <a:endParaRPr lang="en-US"/>
          </a:p>
        </p:txBody>
      </p:sp>
      <p:sp>
        <p:nvSpPr>
          <p:cNvPr id="2" name="Title 1">
            <a:extLst>
              <a:ext uri="{FF2B5EF4-FFF2-40B4-BE49-F238E27FC236}">
                <a16:creationId xmlns:a16="http://schemas.microsoft.com/office/drawing/2014/main" id="{72B30584-5077-8910-5516-F00609B435BB}"/>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الأعمال"</a:t>
            </a:r>
            <a:r>
              <a:rPr lang="ar-EG" sz="2800" dirty="0"/>
              <a:t> -</a:t>
            </a:r>
            <a:r>
              <a:rPr lang="ar-EG" dirty="0"/>
              <a:t> </a:t>
            </a:r>
            <a:r>
              <a:rPr lang="en-US" dirty="0"/>
              <a:t>تفصيل سمات </a:t>
            </a:r>
            <a:r>
              <a:rPr lang="ar-SA" dirty="0"/>
              <a:t>وحدة </a:t>
            </a:r>
            <a:r>
              <a:rPr lang="ar-EG" dirty="0"/>
              <a:t>ال</a:t>
            </a:r>
            <a:r>
              <a:rPr lang="ar-SA" dirty="0"/>
              <a:t>بناء "سياسة"</a:t>
            </a:r>
            <a:endParaRPr lang="en-US" dirty="0"/>
          </a:p>
        </p:txBody>
      </p:sp>
      <p:graphicFrame>
        <p:nvGraphicFramePr>
          <p:cNvPr id="4" name="Table 3">
            <a:extLst>
              <a:ext uri="{FF2B5EF4-FFF2-40B4-BE49-F238E27FC236}">
                <a16:creationId xmlns:a16="http://schemas.microsoft.com/office/drawing/2014/main" id="{477FCE89-F31A-0DA0-2668-B73D89C91662}"/>
              </a:ext>
            </a:extLst>
          </p:cNvPr>
          <p:cNvGraphicFramePr>
            <a:graphicFrameLocks noGrp="1"/>
          </p:cNvGraphicFramePr>
          <p:nvPr>
            <p:extLst>
              <p:ext uri="{D42A27DB-BD31-4B8C-83A1-F6EECF244321}">
                <p14:modId xmlns:p14="http://schemas.microsoft.com/office/powerpoint/2010/main" val="3842356462"/>
              </p:ext>
            </p:extLst>
          </p:nvPr>
        </p:nvGraphicFramePr>
        <p:xfrm>
          <a:off x="1129512" y="1460091"/>
          <a:ext cx="10074346" cy="3511296"/>
        </p:xfrm>
        <a:graphic>
          <a:graphicData uri="http://schemas.openxmlformats.org/drawingml/2006/table">
            <a:tbl>
              <a:tblPr rtl="1" firstRow="1" bandRow="1">
                <a:tableStyleId>{5C22544A-7EE6-4342-B048-85BDC9FD1C3A}</a:tableStyleId>
              </a:tblPr>
              <a:tblGrid>
                <a:gridCol w="2281272">
                  <a:extLst>
                    <a:ext uri="{9D8B030D-6E8A-4147-A177-3AD203B41FA5}">
                      <a16:colId xmlns:a16="http://schemas.microsoft.com/office/drawing/2014/main" val="2853404558"/>
                    </a:ext>
                  </a:extLst>
                </a:gridCol>
                <a:gridCol w="5032068">
                  <a:extLst>
                    <a:ext uri="{9D8B030D-6E8A-4147-A177-3AD203B41FA5}">
                      <a16:colId xmlns:a16="http://schemas.microsoft.com/office/drawing/2014/main" val="1866450976"/>
                    </a:ext>
                  </a:extLst>
                </a:gridCol>
                <a:gridCol w="1380503">
                  <a:extLst>
                    <a:ext uri="{9D8B030D-6E8A-4147-A177-3AD203B41FA5}">
                      <a16:colId xmlns:a16="http://schemas.microsoft.com/office/drawing/2014/main" val="751160629"/>
                    </a:ext>
                  </a:extLst>
                </a:gridCol>
                <a:gridCol w="1380503">
                  <a:extLst>
                    <a:ext uri="{9D8B030D-6E8A-4147-A177-3AD203B41FA5}">
                      <a16:colId xmlns:a16="http://schemas.microsoft.com/office/drawing/2014/main" val="2660003922"/>
                    </a:ext>
                  </a:extLst>
                </a:gridCol>
              </a:tblGrid>
              <a:tr h="71295">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45720" marR="45720" marT="18288" marB="18288" anchor="b"/>
                </a:tc>
                <a:extLst>
                  <a:ext uri="{0D108BD9-81ED-4DB2-BD59-A6C34878D82A}">
                    <a16:rowId xmlns:a16="http://schemas.microsoft.com/office/drawing/2014/main" val="2998368315"/>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الرمز الفريد للسياسة</a:t>
                      </a:r>
                    </a:p>
                  </a:txBody>
                  <a:tcPr marL="137160" marR="137160" marT="137160" marB="137160" anchor="ctr"/>
                </a:tc>
                <a:tc>
                  <a:txBody>
                    <a:bodyPr/>
                    <a:lstStyle/>
                    <a:p>
                      <a:pPr algn="r" rtl="1" fontAlgn="b"/>
                      <a:r>
                        <a:rPr lang="ar-SA" sz="1600" u="none" strike="noStrike" kern="1200" dirty="0">
                          <a:solidFill>
                            <a:schemeClr val="dk1"/>
                          </a:solidFill>
                          <a:effectLst/>
                          <a:latin typeface="+mn-lt"/>
                          <a:ea typeface="+mn-ea"/>
                          <a:cs typeface="+mn-cs"/>
                        </a:rPr>
                        <a:t>أحرف و/أو أرقام</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650443948"/>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عنوان السياسة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اسم السياسة التي تحدد المبادئ والضوابط المرتبطة بالمهام أو الأنشطة داخل </a:t>
                      </a:r>
                      <a:r>
                        <a:rPr lang="ar-EG" sz="1600" b="0" i="0" u="none" strike="noStrike" dirty="0">
                          <a:solidFill>
                            <a:srgbClr val="000000"/>
                          </a:solidFill>
                          <a:effectLst/>
                          <a:latin typeface="Calibri" panose="020F0502020204030204" pitchFamily="34" charset="0"/>
                        </a:rPr>
                        <a:t>الوحدات </a:t>
                      </a:r>
                      <a:r>
                        <a:rPr lang="ar-SA" sz="1600" b="0" i="0" u="none" strike="noStrike" dirty="0">
                          <a:solidFill>
                            <a:srgbClr val="000000"/>
                          </a:solidFill>
                          <a:effectLst/>
                          <a:latin typeface="Calibri" panose="020F0502020204030204" pitchFamily="34" charset="0"/>
                        </a:rPr>
                        <a:t>التنظيمية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2177790647"/>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الأهداف</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الأهداف التي تسعى السياسة لتحقيقها فيما يتعلق بالالتزام بالضوابط وتوجيه المهام</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4288224322"/>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نطاق التطبيق</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النطاق الذي تغطيه السياسة داخل المؤسسة (مثل: مهام محددة، إجراءات معينة، وحدات تنظيمية محددة)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867269573"/>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الإجراءات المرتبطة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الإجراءات التي ترتبط بتطبيق السياسة وتحديد من يقوم بها</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علاقة ربط</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اختياري</a:t>
                      </a:r>
                    </a:p>
                  </a:txBody>
                  <a:tcPr marL="137160" marR="137160" marT="137160" marB="137160" anchor="ctr"/>
                </a:tc>
                <a:extLst>
                  <a:ext uri="{0D108BD9-81ED-4DB2-BD59-A6C34878D82A}">
                    <a16:rowId xmlns:a16="http://schemas.microsoft.com/office/drawing/2014/main" val="220032958"/>
                  </a:ext>
                </a:extLst>
              </a:tr>
            </a:tbl>
          </a:graphicData>
        </a:graphic>
      </p:graphicFrame>
    </p:spTree>
    <p:extLst>
      <p:ext uri="{BB962C8B-B14F-4D97-AF65-F5344CB8AC3E}">
        <p14:creationId xmlns:p14="http://schemas.microsoft.com/office/powerpoint/2010/main" val="33123524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7219F-368F-02FC-C0DE-9ADFA9B5CCC3}"/>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4D212A00-AAA3-AECF-C7DF-9F68CB33CD12}"/>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52</a:t>
            </a:fld>
            <a:endParaRPr lang="en-US"/>
          </a:p>
        </p:txBody>
      </p:sp>
      <p:sp>
        <p:nvSpPr>
          <p:cNvPr id="2" name="Title 1">
            <a:extLst>
              <a:ext uri="{FF2B5EF4-FFF2-40B4-BE49-F238E27FC236}">
                <a16:creationId xmlns:a16="http://schemas.microsoft.com/office/drawing/2014/main" id="{DBF33F20-1851-9125-51E9-D7D6DE3002A9}"/>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الأعمال"</a:t>
            </a:r>
            <a:r>
              <a:rPr lang="ar-EG" sz="2800" dirty="0"/>
              <a:t> -</a:t>
            </a:r>
            <a:r>
              <a:rPr lang="ar-EG" dirty="0"/>
              <a:t> </a:t>
            </a:r>
            <a:r>
              <a:rPr lang="en-US" dirty="0"/>
              <a:t>تفصيل سمات </a:t>
            </a:r>
            <a:r>
              <a:rPr lang="ar-SA" dirty="0"/>
              <a:t>وحدة </a:t>
            </a:r>
            <a:r>
              <a:rPr lang="ar-EG" dirty="0"/>
              <a:t>ال</a:t>
            </a:r>
            <a:r>
              <a:rPr lang="ar-SA" dirty="0"/>
              <a:t>بناء "نموذج / قالب"</a:t>
            </a:r>
            <a:endParaRPr lang="en-US" dirty="0"/>
          </a:p>
        </p:txBody>
      </p:sp>
      <p:graphicFrame>
        <p:nvGraphicFramePr>
          <p:cNvPr id="4" name="Table 3">
            <a:extLst>
              <a:ext uri="{FF2B5EF4-FFF2-40B4-BE49-F238E27FC236}">
                <a16:creationId xmlns:a16="http://schemas.microsoft.com/office/drawing/2014/main" id="{2CAFA652-077F-DCB8-4367-E395D1210703}"/>
              </a:ext>
            </a:extLst>
          </p:cNvPr>
          <p:cNvGraphicFramePr>
            <a:graphicFrameLocks noGrp="1"/>
          </p:cNvGraphicFramePr>
          <p:nvPr>
            <p:extLst>
              <p:ext uri="{D42A27DB-BD31-4B8C-83A1-F6EECF244321}">
                <p14:modId xmlns:p14="http://schemas.microsoft.com/office/powerpoint/2010/main" val="2406213513"/>
              </p:ext>
            </p:extLst>
          </p:nvPr>
        </p:nvGraphicFramePr>
        <p:xfrm>
          <a:off x="1058827" y="1135355"/>
          <a:ext cx="10074345" cy="3323094"/>
        </p:xfrm>
        <a:graphic>
          <a:graphicData uri="http://schemas.openxmlformats.org/drawingml/2006/table">
            <a:tbl>
              <a:tblPr rtl="1" firstRow="1" bandRow="1">
                <a:tableStyleId>{5C22544A-7EE6-4342-B048-85BDC9FD1C3A}</a:tableStyleId>
              </a:tblPr>
              <a:tblGrid>
                <a:gridCol w="2281272">
                  <a:extLst>
                    <a:ext uri="{9D8B030D-6E8A-4147-A177-3AD203B41FA5}">
                      <a16:colId xmlns:a16="http://schemas.microsoft.com/office/drawing/2014/main" val="2853404558"/>
                    </a:ext>
                  </a:extLst>
                </a:gridCol>
                <a:gridCol w="5091061">
                  <a:extLst>
                    <a:ext uri="{9D8B030D-6E8A-4147-A177-3AD203B41FA5}">
                      <a16:colId xmlns:a16="http://schemas.microsoft.com/office/drawing/2014/main" val="1866450976"/>
                    </a:ext>
                  </a:extLst>
                </a:gridCol>
                <a:gridCol w="1351006">
                  <a:extLst>
                    <a:ext uri="{9D8B030D-6E8A-4147-A177-3AD203B41FA5}">
                      <a16:colId xmlns:a16="http://schemas.microsoft.com/office/drawing/2014/main" val="751160629"/>
                    </a:ext>
                  </a:extLst>
                </a:gridCol>
                <a:gridCol w="1351006">
                  <a:extLst>
                    <a:ext uri="{9D8B030D-6E8A-4147-A177-3AD203B41FA5}">
                      <a16:colId xmlns:a16="http://schemas.microsoft.com/office/drawing/2014/main" val="3852101394"/>
                    </a:ext>
                  </a:extLst>
                </a:gridCol>
              </a:tblGrid>
              <a:tr h="366534">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45720" marR="45720" marT="18288" marB="18288" anchor="b"/>
                </a:tc>
                <a:extLst>
                  <a:ext uri="{0D108BD9-81ED-4DB2-BD59-A6C34878D82A}">
                    <a16:rowId xmlns:a16="http://schemas.microsoft.com/office/drawing/2014/main" val="2998368315"/>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الرمز الفريد للنموذج</a:t>
                      </a:r>
                    </a:p>
                  </a:txBody>
                  <a:tcPr marL="137160" marR="137160" marT="137160" marB="137160" anchor="ctr"/>
                </a:tc>
                <a:tc>
                  <a:txBody>
                    <a:bodyPr/>
                    <a:lstStyle/>
                    <a:p>
                      <a:pPr algn="r" rtl="1" fontAlgn="b"/>
                      <a:r>
                        <a:rPr lang="ar-SA" sz="1600" u="none" strike="noStrike" kern="1200" dirty="0">
                          <a:solidFill>
                            <a:schemeClr val="dk1"/>
                          </a:solidFill>
                          <a:effectLst/>
                          <a:latin typeface="+mn-lt"/>
                          <a:ea typeface="+mn-ea"/>
                          <a:cs typeface="+mn-cs"/>
                        </a:rPr>
                        <a:t>أحرف و/أو أرقام</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650443948"/>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اسم النموذج أو القالب المستخدم في تقديم الخدمات أو جمع البيانات المطلوبة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2177790647"/>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الوصف</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وصف مختصر للنموذج أو القالب والغرض منه وطريقة استخدامه</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اختياري</a:t>
                      </a:r>
                    </a:p>
                  </a:txBody>
                  <a:tcPr marL="137160" marR="137160" marT="137160" marB="137160" anchor="ctr"/>
                </a:tc>
                <a:extLst>
                  <a:ext uri="{0D108BD9-81ED-4DB2-BD59-A6C34878D82A}">
                    <a16:rowId xmlns:a16="http://schemas.microsoft.com/office/drawing/2014/main" val="4288224322"/>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نوع النموذج</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نوع النموذج (مثال: نموذج إدخال بيانات، قالب تقرير، نموذج طلب خدمة)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قائمة معرفة مسبقًا</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867269573"/>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اسم الخدمة المرتبطة </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اسم الخدمة المرتبطة  من خلال النموذج أو القالب المستخدم </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 عند الحاجة</a:t>
                      </a:r>
                    </a:p>
                  </a:txBody>
                  <a:tcPr marL="137160" marR="137160" marT="137160" marB="137160" anchor="ctr"/>
                </a:tc>
                <a:extLst>
                  <a:ext uri="{0D108BD9-81ED-4DB2-BD59-A6C34878D82A}">
                    <a16:rowId xmlns:a16="http://schemas.microsoft.com/office/drawing/2014/main" val="220032958"/>
                  </a:ext>
                </a:extLst>
              </a:tr>
            </a:tbl>
          </a:graphicData>
        </a:graphic>
      </p:graphicFrame>
    </p:spTree>
    <p:extLst>
      <p:ext uri="{BB962C8B-B14F-4D97-AF65-F5344CB8AC3E}">
        <p14:creationId xmlns:p14="http://schemas.microsoft.com/office/powerpoint/2010/main" val="34838199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9672C-DED3-25A9-5FE1-5CD3FB8214E8}"/>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0273FCD5-324D-ECF7-C117-44C95CA67C80}"/>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53</a:t>
            </a:fld>
            <a:endParaRPr lang="en-US"/>
          </a:p>
        </p:txBody>
      </p:sp>
      <p:sp>
        <p:nvSpPr>
          <p:cNvPr id="2" name="Title 1">
            <a:extLst>
              <a:ext uri="{FF2B5EF4-FFF2-40B4-BE49-F238E27FC236}">
                <a16:creationId xmlns:a16="http://schemas.microsoft.com/office/drawing/2014/main" id="{04666EF3-93A1-79BF-95CB-31F1602F67DB}"/>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الأعمال"</a:t>
            </a:r>
            <a:r>
              <a:rPr lang="ar-EG" sz="2800" dirty="0"/>
              <a:t> -</a:t>
            </a:r>
            <a:r>
              <a:rPr lang="ar-EG" dirty="0"/>
              <a:t> </a:t>
            </a:r>
            <a:r>
              <a:rPr lang="en-US" dirty="0"/>
              <a:t>تفصيل سمات </a:t>
            </a:r>
            <a:r>
              <a:rPr lang="ar-SA" dirty="0"/>
              <a:t>وحدة </a:t>
            </a:r>
            <a:r>
              <a:rPr lang="ar-EG" dirty="0"/>
              <a:t>ال</a:t>
            </a:r>
            <a:r>
              <a:rPr lang="ar-SA" dirty="0"/>
              <a:t>بناء "نشاط"</a:t>
            </a:r>
            <a:endParaRPr lang="en-US" dirty="0"/>
          </a:p>
        </p:txBody>
      </p:sp>
      <p:graphicFrame>
        <p:nvGraphicFramePr>
          <p:cNvPr id="4" name="Table 3">
            <a:extLst>
              <a:ext uri="{FF2B5EF4-FFF2-40B4-BE49-F238E27FC236}">
                <a16:creationId xmlns:a16="http://schemas.microsoft.com/office/drawing/2014/main" id="{DDA04E8C-78D7-5E35-18F3-4C2C280263C1}"/>
              </a:ext>
            </a:extLst>
          </p:cNvPr>
          <p:cNvGraphicFramePr>
            <a:graphicFrameLocks noGrp="1"/>
          </p:cNvGraphicFramePr>
          <p:nvPr>
            <p:extLst>
              <p:ext uri="{D42A27DB-BD31-4B8C-83A1-F6EECF244321}">
                <p14:modId xmlns:p14="http://schemas.microsoft.com/office/powerpoint/2010/main" val="3368209612"/>
              </p:ext>
            </p:extLst>
          </p:nvPr>
        </p:nvGraphicFramePr>
        <p:xfrm>
          <a:off x="1058827" y="1135355"/>
          <a:ext cx="10074345" cy="2012454"/>
        </p:xfrm>
        <a:graphic>
          <a:graphicData uri="http://schemas.openxmlformats.org/drawingml/2006/table">
            <a:tbl>
              <a:tblPr rtl="1" firstRow="1" bandRow="1">
                <a:tableStyleId>{5C22544A-7EE6-4342-B048-85BDC9FD1C3A}</a:tableStyleId>
              </a:tblPr>
              <a:tblGrid>
                <a:gridCol w="2281272">
                  <a:extLst>
                    <a:ext uri="{9D8B030D-6E8A-4147-A177-3AD203B41FA5}">
                      <a16:colId xmlns:a16="http://schemas.microsoft.com/office/drawing/2014/main" val="2853404558"/>
                    </a:ext>
                  </a:extLst>
                </a:gridCol>
                <a:gridCol w="4619113">
                  <a:extLst>
                    <a:ext uri="{9D8B030D-6E8A-4147-A177-3AD203B41FA5}">
                      <a16:colId xmlns:a16="http://schemas.microsoft.com/office/drawing/2014/main" val="1866450976"/>
                    </a:ext>
                  </a:extLst>
                </a:gridCol>
                <a:gridCol w="1586980">
                  <a:extLst>
                    <a:ext uri="{9D8B030D-6E8A-4147-A177-3AD203B41FA5}">
                      <a16:colId xmlns:a16="http://schemas.microsoft.com/office/drawing/2014/main" val="751160629"/>
                    </a:ext>
                  </a:extLst>
                </a:gridCol>
                <a:gridCol w="1586980">
                  <a:extLst>
                    <a:ext uri="{9D8B030D-6E8A-4147-A177-3AD203B41FA5}">
                      <a16:colId xmlns:a16="http://schemas.microsoft.com/office/drawing/2014/main" val="333510156"/>
                    </a:ext>
                  </a:extLst>
                </a:gridCol>
              </a:tblGrid>
              <a:tr h="366534">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45720" marR="45720" marT="18288" marB="18288" anchor="b"/>
                </a:tc>
                <a:extLst>
                  <a:ext uri="{0D108BD9-81ED-4DB2-BD59-A6C34878D82A}">
                    <a16:rowId xmlns:a16="http://schemas.microsoft.com/office/drawing/2014/main" val="2998368315"/>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الرمز الفريد للنشاط</a:t>
                      </a:r>
                    </a:p>
                  </a:txBody>
                  <a:tcPr marL="137160" marR="137160" marT="137160" marB="137160" anchor="ctr"/>
                </a:tc>
                <a:tc>
                  <a:txBody>
                    <a:bodyPr/>
                    <a:lstStyle/>
                    <a:p>
                      <a:pPr algn="r" rtl="1" fontAlgn="b"/>
                      <a:r>
                        <a:rPr lang="ar-SA" sz="1600" u="none" strike="noStrike" kern="1200" dirty="0">
                          <a:solidFill>
                            <a:schemeClr val="dk1"/>
                          </a:solidFill>
                          <a:effectLst/>
                          <a:latin typeface="+mn-lt"/>
                          <a:ea typeface="+mn-ea"/>
                          <a:cs typeface="+mn-cs"/>
                        </a:rPr>
                        <a:t>أحرف و/أو أرقام</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650443948"/>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اسم النشاط الذي يتم تنفيذه</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2177790647"/>
                  </a:ext>
                </a:extLst>
              </a:tr>
              <a:tr h="326907">
                <a:tc>
                  <a:txBody>
                    <a:bodyPr/>
                    <a:lstStyle/>
                    <a:p>
                      <a:pPr algn="ctr" rtl="1" fontAlgn="b"/>
                      <a:r>
                        <a:rPr lang="ar-SA" sz="1800" b="1" i="0" u="none" strike="noStrike" dirty="0">
                          <a:solidFill>
                            <a:srgbClr val="000000"/>
                          </a:solidFill>
                          <a:effectLst/>
                          <a:latin typeface="Calibri" panose="020F0502020204030204" pitchFamily="34" charset="0"/>
                        </a:rPr>
                        <a:t>الإجراء المرتبط</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اسم الإجراء المرتبط</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علاقة ربط</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إلزامي عند الحاجة</a:t>
                      </a:r>
                    </a:p>
                  </a:txBody>
                  <a:tcPr marL="137160" marR="137160" marT="137160" marB="137160" anchor="ctr"/>
                </a:tc>
                <a:extLst>
                  <a:ext uri="{0D108BD9-81ED-4DB2-BD59-A6C34878D82A}">
                    <a16:rowId xmlns:a16="http://schemas.microsoft.com/office/drawing/2014/main" val="4288224322"/>
                  </a:ext>
                </a:extLst>
              </a:tr>
            </a:tbl>
          </a:graphicData>
        </a:graphic>
      </p:graphicFrame>
    </p:spTree>
    <p:extLst>
      <p:ext uri="{BB962C8B-B14F-4D97-AF65-F5344CB8AC3E}">
        <p14:creationId xmlns:p14="http://schemas.microsoft.com/office/powerpoint/2010/main" val="39664713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8245929" y="561078"/>
            <a:ext cx="3336472" cy="5594794"/>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علاقات مكونات البناء التابعة لمجال </a:t>
            </a:r>
            <a:r>
              <a:rPr lang="ar-EG" dirty="0"/>
              <a:t>"</a:t>
            </a:r>
            <a:r>
              <a:rPr lang="ar-SA" dirty="0"/>
              <a:t>بنية الأعمال</a:t>
            </a:r>
            <a:r>
              <a:rPr lang="ar-EG" dirty="0"/>
              <a:t>"</a:t>
            </a:r>
            <a:endParaRPr lang="en-US" dirty="0"/>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54</a:t>
            </a:fld>
            <a:endParaRPr lang="en-US"/>
          </a:p>
        </p:txBody>
      </p:sp>
      <p:pic>
        <p:nvPicPr>
          <p:cNvPr id="5" name="Picture 4" descr="A diagram of a computer&#10;&#10;Description automatically generated">
            <a:extLst>
              <a:ext uri="{FF2B5EF4-FFF2-40B4-BE49-F238E27FC236}">
                <a16:creationId xmlns:a16="http://schemas.microsoft.com/office/drawing/2014/main" id="{F537EA07-E87B-4E3F-9A89-3C38A6533D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1548" y="440871"/>
            <a:ext cx="6957393" cy="5715001"/>
          </a:xfrm>
          <a:prstGeom prst="rect">
            <a:avLst/>
          </a:prstGeom>
        </p:spPr>
      </p:pic>
    </p:spTree>
    <p:extLst>
      <p:ext uri="{BB962C8B-B14F-4D97-AF65-F5344CB8AC3E}">
        <p14:creationId xmlns:p14="http://schemas.microsoft.com/office/powerpoint/2010/main" val="33883968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err="1"/>
              <a:t>ال</a:t>
            </a:r>
            <a:r>
              <a:rPr lang="ar-EG" dirty="0"/>
              <a:t>بناء </a:t>
            </a:r>
            <a:r>
              <a:rPr lang="ar-SA" dirty="0"/>
              <a:t>في مجال "بنية الأعمال"</a:t>
            </a:r>
            <a:r>
              <a:rPr lang="ar-EG" dirty="0"/>
              <a:t> (</a:t>
            </a:r>
            <a:r>
              <a:rPr lang="ar-SA" dirty="0"/>
              <a:t>5</a:t>
            </a:r>
            <a:r>
              <a:rPr lang="ar-EG" dirty="0"/>
              <a:t> / </a:t>
            </a:r>
            <a:r>
              <a:rPr lang="en-US" dirty="0"/>
              <a:t>1</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55</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2350869969"/>
              </p:ext>
            </p:extLst>
          </p:nvPr>
        </p:nvGraphicFramePr>
        <p:xfrm>
          <a:off x="609600" y="1282290"/>
          <a:ext cx="11070774" cy="4874103"/>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715608">
                  <a:extLst>
                    <a:ext uri="{9D8B030D-6E8A-4147-A177-3AD203B41FA5}">
                      <a16:colId xmlns:a16="http://schemas.microsoft.com/office/drawing/2014/main" val="1302061076"/>
                    </a:ext>
                  </a:extLst>
                </a:gridCol>
                <a:gridCol w="4165600">
                  <a:extLst>
                    <a:ext uri="{9D8B030D-6E8A-4147-A177-3AD203B41FA5}">
                      <a16:colId xmlns:a16="http://schemas.microsoft.com/office/drawing/2014/main" val="1509377109"/>
                    </a:ext>
                  </a:extLst>
                </a:gridCol>
                <a:gridCol w="1337310">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707513">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10">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تملك</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ت</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ملك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استراتيجية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استراتيجية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الموائمة الاستراتيجية</a:t>
                      </a:r>
                    </a:p>
                  </a:txBody>
                  <a:tcPr marL="3810" marR="3810" marT="3810" marB="0" anchor="ctr"/>
                </a:tc>
                <a:extLst>
                  <a:ext uri="{0D108BD9-81ED-4DB2-BD59-A6C34878D82A}">
                    <a16:rowId xmlns:a16="http://schemas.microsoft.com/office/drawing/2014/main" val="182130939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تملك</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تملك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خدمة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خدمة أعمال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7">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1711690958"/>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تملك</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تملك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إجراء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إجراء عمل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2460955246"/>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4</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a:solidFill>
                            <a:srgbClr val="000000"/>
                          </a:solidFill>
                          <a:effectLst/>
                          <a:latin typeface="Sakkal Majalla" panose="02000000000000000000" pitchFamily="2" charset="-78"/>
                          <a:cs typeface="Sakkal Majalla" panose="02000000000000000000" pitchFamily="2" charset="-78"/>
                        </a:rPr>
                        <a:t>يتعاقد مع</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EG" sz="2000" b="1"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وحدة تنظيمية</a:t>
                      </a: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يتعاقد مع "</a:t>
                      </a:r>
                      <a:r>
                        <a:rPr kumimoji="0" lang="ar-EG" sz="2000" b="1"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مزود خدمة</a:t>
                      </a: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ar-SA"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0" fontAlgn="ctr"/>
                      <a:r>
                        <a:rPr kumimoji="0" lang="ar-EG" sz="1800" b="1"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مزود خدمة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4223405227"/>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5</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تحتوي على</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وحدة تنظيمية</a:t>
                      </a:r>
                      <a:r>
                        <a:rPr lang="ar-SA" sz="2000" b="0" i="0" u="none" strike="noStrike" dirty="0">
                          <a:solidFill>
                            <a:srgbClr val="000000"/>
                          </a:solidFill>
                          <a:effectLst/>
                          <a:latin typeface="Calibri" panose="020F0502020204030204" pitchFamily="34" charset="0"/>
                        </a:rPr>
                        <a:t>" تحتوي على "</a:t>
                      </a:r>
                      <a:r>
                        <a:rPr lang="ar-SA" sz="2000" b="1" i="0" u="none" strike="noStrike" dirty="0">
                          <a:solidFill>
                            <a:srgbClr val="000000"/>
                          </a:solidFill>
                          <a:effectLst/>
                          <a:latin typeface="Calibri" panose="020F0502020204030204" pitchFamily="34" charset="0"/>
                        </a:rPr>
                        <a:t>مسمى وظيفي</a:t>
                      </a:r>
                      <a:r>
                        <a:rPr lang="ar-SA" sz="2000" b="0" i="0" u="none" strike="noStrike" dirty="0">
                          <a:solidFill>
                            <a:srgbClr val="000000"/>
                          </a:solidFill>
                          <a:effectLst/>
                          <a:latin typeface="Calibri" panose="020F0502020204030204" pitchFamily="34" charset="0"/>
                        </a:rPr>
                        <a:t>"</a:t>
                      </a:r>
                    </a:p>
                  </a:txBody>
                  <a:tcPr marL="3810" marR="3810" marT="3810" marB="0" anchor="ctr"/>
                </a:tc>
                <a:tc>
                  <a:txBody>
                    <a:bodyPr/>
                    <a:lstStyle/>
                    <a:p>
                      <a:pPr algn="ctr" rtl="0" fontAlgn="ctr"/>
                      <a:r>
                        <a:rPr lang="ar-SA" sz="1800" b="1" i="0" u="none" strike="noStrike" dirty="0">
                          <a:solidFill>
                            <a:srgbClr val="000000"/>
                          </a:solidFill>
                          <a:effectLst/>
                          <a:latin typeface="Calibri" panose="020F0502020204030204" pitchFamily="34" charset="0"/>
                        </a:rPr>
                        <a:t>مسمى وظيفي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48256218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6</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يتفاعل مع</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r>
                        <a:rPr kumimoji="0" lang="ar-SA" sz="20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وحدة تنظيمية</a:t>
                      </a:r>
                      <a:r>
                        <a:rPr kumimoji="0" lang="ar-SA"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يتفاعل مع</a:t>
                      </a:r>
                      <a:r>
                        <a:rPr kumimoji="0" lang="ar-EG"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ar-SA"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r>
                        <a:rPr kumimoji="0" lang="ar-SA" sz="20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وحدة تنظيمية</a:t>
                      </a:r>
                      <a:r>
                        <a:rPr kumimoji="0" lang="ar-SA"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endPar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0" fontAlgn="ctr"/>
                      <a:r>
                        <a:rPr kumimoji="0" lang="ar-SA" sz="18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وحدة تنظيمية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050246275"/>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7</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تملك</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تملك</a:t>
                      </a:r>
                      <a:r>
                        <a:rPr lang="en-US"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قدرة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قدرة أعمال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243285888"/>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8</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يقدم</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يقدم</a:t>
                      </a:r>
                      <a:r>
                        <a:rPr lang="en-US"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منتج</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منتج</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1425916333"/>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9</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تملك</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تملك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تطبيق</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التطبيقات</a:t>
                      </a:r>
                    </a:p>
                  </a:txBody>
                  <a:tcPr marL="3810" marR="3810" marT="3810" marB="0" anchor="ctr"/>
                </a:tc>
                <a:extLst>
                  <a:ext uri="{0D108BD9-81ED-4DB2-BD59-A6C34878D82A}">
                    <a16:rowId xmlns:a16="http://schemas.microsoft.com/office/drawing/2014/main" val="184770241"/>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10</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تخدم</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تخدم</a:t>
                      </a:r>
                      <a:r>
                        <a:rPr lang="en-US"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مستفيد</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مستفيد</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المستفيد</a:t>
                      </a:r>
                    </a:p>
                  </a:txBody>
                  <a:tcPr marL="3810" marR="3810" marT="3810" marB="0" anchor="ctr"/>
                </a:tc>
                <a:extLst>
                  <a:ext uri="{0D108BD9-81ED-4DB2-BD59-A6C34878D82A}">
                    <a16:rowId xmlns:a16="http://schemas.microsoft.com/office/drawing/2014/main" val="399696629"/>
                  </a:ext>
                </a:extLst>
              </a:tr>
            </a:tbl>
          </a:graphicData>
        </a:graphic>
      </p:graphicFrame>
    </p:spTree>
    <p:extLst>
      <p:ext uri="{BB962C8B-B14F-4D97-AF65-F5344CB8AC3E}">
        <p14:creationId xmlns:p14="http://schemas.microsoft.com/office/powerpoint/2010/main" val="8249931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err="1"/>
              <a:t>ال</a:t>
            </a:r>
            <a:r>
              <a:rPr lang="ar-EG" dirty="0"/>
              <a:t>بناء </a:t>
            </a:r>
            <a:r>
              <a:rPr lang="ar-SA" dirty="0"/>
              <a:t>في مجال "بنية الأعمال"</a:t>
            </a:r>
            <a:r>
              <a:rPr lang="ar-EG" dirty="0"/>
              <a:t> (</a:t>
            </a:r>
            <a:r>
              <a:rPr lang="ar-SA" dirty="0"/>
              <a:t>5</a:t>
            </a:r>
            <a:r>
              <a:rPr lang="ar-EG" dirty="0"/>
              <a:t> / </a:t>
            </a:r>
            <a:r>
              <a:rPr lang="ar-SA" dirty="0"/>
              <a:t>2</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56</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2045674379"/>
              </p:ext>
            </p:extLst>
          </p:nvPr>
        </p:nvGraphicFramePr>
        <p:xfrm>
          <a:off x="609600" y="1282290"/>
          <a:ext cx="11070774" cy="5206645"/>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715608">
                  <a:extLst>
                    <a:ext uri="{9D8B030D-6E8A-4147-A177-3AD203B41FA5}">
                      <a16:colId xmlns:a16="http://schemas.microsoft.com/office/drawing/2014/main" val="1302061076"/>
                    </a:ext>
                  </a:extLst>
                </a:gridCol>
                <a:gridCol w="4165600">
                  <a:extLst>
                    <a:ext uri="{9D8B030D-6E8A-4147-A177-3AD203B41FA5}">
                      <a16:colId xmlns:a16="http://schemas.microsoft.com/office/drawing/2014/main" val="1509377109"/>
                    </a:ext>
                  </a:extLst>
                </a:gridCol>
                <a:gridCol w="1337310">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707513">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11</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تملك</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تملك</a:t>
                      </a:r>
                      <a:r>
                        <a:rPr lang="en-US"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كيان بيانات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كيان بيانات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البيانات</a:t>
                      </a:r>
                    </a:p>
                  </a:txBody>
                  <a:tcPr marL="3810" marR="3810" marT="3810" marB="0" anchor="ctr"/>
                </a:tc>
                <a:extLst>
                  <a:ext uri="{0D108BD9-81ED-4DB2-BD59-A6C34878D82A}">
                    <a16:rowId xmlns:a16="http://schemas.microsoft.com/office/drawing/2014/main" val="182130939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12</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قدرة أعمال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تتحقق من خلال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قدرة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تتحقق من خلال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3">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1711690958"/>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13</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تطبق من خلال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قدرة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تُطبق من خلال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مجموعة إجراءات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مجموعة إجراءات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2460955246"/>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14</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تدعم</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قدرة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تدعم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قدرة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قدرة أعمال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4223405227"/>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15</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مجموعة إجراءات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تحقق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مجموعة إجراءات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تُحقق</a:t>
                      </a:r>
                      <a:r>
                        <a:rPr lang="en-US"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قدرة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قدرة أعمال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48256218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16</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تتكون من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مجموعة إجراءات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تتكون من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إجراء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إجراء أعمال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050246275"/>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17</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مزود خدمة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مرتبط</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EG" sz="20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EG" sz="2000" b="1"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مزود خدمة</a:t>
                      </a:r>
                      <a:r>
                        <a:rPr kumimoji="0" lang="ar-EG" sz="20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مرتبط بـ "</a:t>
                      </a:r>
                      <a:r>
                        <a:rPr kumimoji="0" lang="ar-EG" sz="2000" b="1"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وحدة تنظيمية</a:t>
                      </a:r>
                      <a:r>
                        <a:rPr kumimoji="0" lang="ar-EG" sz="20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ar-SA"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0" fontAlgn="ctr"/>
                      <a:r>
                        <a:rPr kumimoji="0" lang="ar-EG" sz="1800" b="1"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وحدة تنظيمية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3243285888"/>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18</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endParaRPr lang="en-US" dirty="0"/>
                    </a:p>
                  </a:txBody>
                  <a:tcPr marL="3810" marR="3810" marT="3810" marB="0" anchor="ctr"/>
                </a:tc>
                <a:tc>
                  <a:txBody>
                    <a:bodyPr/>
                    <a:lstStyle/>
                    <a:p>
                      <a:pPr 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يخضع لضوابط</a:t>
                      </a:r>
                      <a:endParaRPr lang="en-US" dirty="0"/>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EG" sz="2000" b="1"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مزود خدمة</a:t>
                      </a: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يخضع لضوابط</a:t>
                      </a: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2000" b="1"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مكونات بنية الأمن</a:t>
                      </a: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ar-SA"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p>
                      <a:pPr marL="0" marR="0" lvl="0" indent="0" algn="ctr" defTabSz="914400" rtl="1" eaLnBrk="1" fontAlgn="ctr" latinLnBrk="0" hangingPunct="1">
                        <a:lnSpc>
                          <a:spcPct val="100000"/>
                        </a:lnSpc>
                        <a:spcBef>
                          <a:spcPts val="0"/>
                        </a:spcBef>
                        <a:spcAft>
                          <a:spcPts val="0"/>
                        </a:spcAft>
                        <a:buClrTx/>
                        <a:buSzTx/>
                        <a:buFontTx/>
                        <a:buNone/>
                        <a:tabLst/>
                        <a:defRPr/>
                      </a:pP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SA" sz="2000" b="1"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مكونات بنية الأمن</a:t>
                      </a: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تؤمن</a:t>
                      </a: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EG" sz="2000" b="1"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مزود خدمة</a:t>
                      </a: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lang="en-US" dirty="0"/>
                    </a:p>
                  </a:txBody>
                  <a:tcPr marL="3810" marR="3810" marT="3810" marB="0" anchor="ctr"/>
                </a:tc>
                <a:tc>
                  <a:txBody>
                    <a:bodyPr/>
                    <a:lstStyle/>
                    <a:p>
                      <a:r>
                        <a:rPr kumimoji="0" lang="ar-SA" sz="1800" b="1"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مكونات بنية الأمن</a:t>
                      </a:r>
                      <a:endParaRPr lang="en-US" dirty="0"/>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1425916333"/>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19</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a:solidFill>
                            <a:srgbClr val="000000"/>
                          </a:solidFill>
                          <a:effectLst/>
                          <a:latin typeface="Sakkal Majalla" panose="02000000000000000000" pitchFamily="2" charset="-78"/>
                          <a:cs typeface="Sakkal Majalla" panose="02000000000000000000" pitchFamily="2" charset="-78"/>
                        </a:rPr>
                        <a:t>يساهم</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EG" sz="2000" b="1"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مزود خدمة</a:t>
                      </a: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يساهم في "</a:t>
                      </a:r>
                      <a:r>
                        <a:rPr kumimoji="0" lang="ar-EG" sz="2000" b="1"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مشروع</a:t>
                      </a: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ar-SA"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0" fontAlgn="ctr"/>
                      <a:r>
                        <a:rPr kumimoji="0" lang="ar-EG" sz="1800" b="1"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مشروع</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الموائمة الاستراتيجية</a:t>
                      </a:r>
                    </a:p>
                  </a:txBody>
                  <a:tcPr marL="3810" marR="3810" marT="3810" marB="0" anchor="ctr"/>
                </a:tc>
                <a:extLst>
                  <a:ext uri="{0D108BD9-81ED-4DB2-BD59-A6C34878D82A}">
                    <a16:rowId xmlns:a16="http://schemas.microsoft.com/office/drawing/2014/main" val="184770241"/>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20</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يزود</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EG" sz="20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EG" sz="2000" b="1"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مزود خدمة</a:t>
                      </a:r>
                      <a:r>
                        <a:rPr kumimoji="0" lang="ar-EG" sz="20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 يُزود "</a:t>
                      </a:r>
                      <a:r>
                        <a:rPr kumimoji="0" lang="ar-EG" sz="2000" b="1"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مكونات البنية التحتية</a:t>
                      </a:r>
                      <a:r>
                        <a:rPr kumimoji="0" lang="ar-EG" sz="2000" b="0" i="0" u="none" strike="noStrike" kern="1200" cap="none" spc="0" normalizeH="0" baseline="0" noProof="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ar-SA"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0" fontAlgn="ctr"/>
                      <a:r>
                        <a:rPr kumimoji="0" lang="ar-EG" sz="1800" b="1"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مكونات البنية التحتية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التقنية</a:t>
                      </a:r>
                    </a:p>
                  </a:txBody>
                  <a:tcPr marL="3810" marR="3810" marT="3810" marB="0" anchor="ctr"/>
                </a:tc>
                <a:extLst>
                  <a:ext uri="{0D108BD9-81ED-4DB2-BD59-A6C34878D82A}">
                    <a16:rowId xmlns:a16="http://schemas.microsoft.com/office/drawing/2014/main" val="399696629"/>
                  </a:ext>
                </a:extLst>
              </a:tr>
            </a:tbl>
          </a:graphicData>
        </a:graphic>
      </p:graphicFrame>
    </p:spTree>
    <p:extLst>
      <p:ext uri="{BB962C8B-B14F-4D97-AF65-F5344CB8AC3E}">
        <p14:creationId xmlns:p14="http://schemas.microsoft.com/office/powerpoint/2010/main" val="35608215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a:t>ال</a:t>
            </a:r>
            <a:r>
              <a:rPr lang="ar-EG" dirty="0"/>
              <a:t>بناء </a:t>
            </a:r>
            <a:r>
              <a:rPr lang="ar-SA" dirty="0"/>
              <a:t>في مجال "بنية الأعمال"</a:t>
            </a:r>
            <a:r>
              <a:rPr lang="ar-EG" dirty="0"/>
              <a:t> (</a:t>
            </a:r>
            <a:r>
              <a:rPr lang="ar-SA" dirty="0"/>
              <a:t>5</a:t>
            </a:r>
            <a:r>
              <a:rPr lang="ar-EG" dirty="0"/>
              <a:t> / </a:t>
            </a:r>
            <a:r>
              <a:rPr lang="ar-SA" dirty="0"/>
              <a:t>3</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57</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2337655646"/>
              </p:ext>
            </p:extLst>
          </p:nvPr>
        </p:nvGraphicFramePr>
        <p:xfrm>
          <a:off x="609600" y="1282290"/>
          <a:ext cx="11070774" cy="4795552"/>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715608">
                  <a:extLst>
                    <a:ext uri="{9D8B030D-6E8A-4147-A177-3AD203B41FA5}">
                      <a16:colId xmlns:a16="http://schemas.microsoft.com/office/drawing/2014/main" val="1302061076"/>
                    </a:ext>
                  </a:extLst>
                </a:gridCol>
                <a:gridCol w="4005217">
                  <a:extLst>
                    <a:ext uri="{9D8B030D-6E8A-4147-A177-3AD203B41FA5}">
                      <a16:colId xmlns:a16="http://schemas.microsoft.com/office/drawing/2014/main" val="1509377109"/>
                    </a:ext>
                  </a:extLst>
                </a:gridCol>
                <a:gridCol w="1497693">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432210">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515035">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1</a:t>
                      </a:r>
                    </a:p>
                  </a:txBody>
                  <a:tcPr marL="3810" marR="3810" marT="3810" marB="0" anchor="ctr"/>
                </a:tc>
                <a:tc rowSpan="7">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خدمة أعمال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تُقاس عبر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خدمة أعمال</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تُقاس عبر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مؤشر أداء</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مؤشر أداء</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الموائمة الاستراتيجية</a:t>
                      </a:r>
                    </a:p>
                  </a:txBody>
                  <a:tcPr marL="3810" marR="3810" marT="3810" marB="0" anchor="ctr"/>
                </a:tc>
                <a:extLst>
                  <a:ext uri="{0D108BD9-81ED-4DB2-BD59-A6C34878D82A}">
                    <a16:rowId xmlns:a16="http://schemas.microsoft.com/office/drawing/2014/main" val="2489963446"/>
                  </a:ext>
                </a:extLst>
              </a:tr>
              <a:tr h="515035">
                <a:tc>
                  <a:txBody>
                    <a:bodyPr/>
                    <a:lstStyle/>
                    <a:p>
                      <a:pPr 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2</a:t>
                      </a:r>
                      <a:endParaRPr lang="en-US" dirty="0"/>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 تُملك من قبل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خدمة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تُملك من قبل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3">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815465298"/>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3</a:t>
                      </a: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 تُقدم من خلال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خدمة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تُقدم من خلال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إجراء عمل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إجراء عمل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4</a:t>
                      </a: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يستخدم</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EG" sz="2000" b="1"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خدمة أعمال</a:t>
                      </a: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يستخدم</a:t>
                      </a: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SA" sz="2000" b="1"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نموذج/قالب</a:t>
                      </a:r>
                      <a:r>
                        <a:rPr kumimoji="0" lang="ar-EG"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endParaRPr kumimoji="0" lang="ar-SA" sz="2000" b="0" i="0" u="none" strike="noStrike" kern="1200" cap="none" spc="0" normalizeH="0" baseline="0" noProof="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نموذج / قالب</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4193838665"/>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5</a:t>
                      </a: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 تستخدم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خدمة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تستخدم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كيان بيانات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كيان بيانات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بيانات</a:t>
                      </a:r>
                    </a:p>
                  </a:txBody>
                  <a:tcPr marL="3810" marR="3810" marT="3810" marB="0" anchor="ctr"/>
                </a:tc>
                <a:extLst>
                  <a:ext uri="{0D108BD9-81ED-4DB2-BD59-A6C34878D82A}">
                    <a16:rowId xmlns:a16="http://schemas.microsoft.com/office/drawing/2014/main" val="3456641915"/>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6</a:t>
                      </a: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 تُقدم إلى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خدمة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تُقدم إلى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مستفيد</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مستفيد</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بنية المستفيد</a:t>
                      </a:r>
                    </a:p>
                  </a:txBody>
                  <a:tcPr marL="3810" marR="3810" marT="3810" marB="0" anchor="ctr"/>
                </a:tc>
                <a:extLst>
                  <a:ext uri="{0D108BD9-81ED-4DB2-BD59-A6C34878D82A}">
                    <a16:rowId xmlns:a16="http://schemas.microsoft.com/office/drawing/2014/main" val="76163763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7</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تُؤتمت من خلال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خدمة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تُؤتمت من خلال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تطبيق</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dirty="0">
                        <a:solidFill>
                          <a:srgbClr val="000000"/>
                        </a:solidFill>
                        <a:effectLst/>
                        <a:latin typeface="Calibri" panose="020F0502020204030204" pitchFamily="34" charset="0"/>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التطبيقات</a:t>
                      </a:r>
                    </a:p>
                  </a:txBody>
                  <a:tcPr marL="3810" marR="3810" marT="3810" marB="0" anchor="ctr"/>
                </a:tc>
                <a:extLst>
                  <a:ext uri="{0D108BD9-81ED-4DB2-BD59-A6C34878D82A}">
                    <a16:rowId xmlns:a16="http://schemas.microsoft.com/office/drawing/2014/main" val="1472548560"/>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8</a:t>
                      </a:r>
                    </a:p>
                  </a:txBody>
                  <a:tcPr marL="3810" marR="3810" marT="3810" marB="0" anchor="ctr"/>
                </a:tc>
                <a:tc rowSpan="2">
                  <a:txBody>
                    <a:bodyPr/>
                    <a:lstStyle/>
                    <a:p>
                      <a:pPr algn="ctr" rtl="0" fontAlgn="ctr"/>
                      <a:r>
                        <a:rPr lang="ar-SA" sz="1800" b="0"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نموذج/قالب</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kumimoji="0" lang="ar-EG"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يتكون من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نموذج</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EG"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يتكون من </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كيان بيانات</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p>
                  </a:txBody>
                  <a:tcPr marL="3810" marR="3810" marT="3810" marB="0" anchor="ctr"/>
                </a:tc>
                <a:tc>
                  <a:txBody>
                    <a:bodyPr/>
                    <a:lstStyle/>
                    <a:p>
                      <a:pPr algn="ctr" rtl="0" fontAlgn="ctr"/>
                      <a:r>
                        <a:rPr kumimoji="0" lang="ar-SA"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خدمة أعمال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39968773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9</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kumimoji="0" lang="ar-SA"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EG"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مُدخل</a:t>
                      </a:r>
                      <a:r>
                        <a:rPr kumimoji="0" lang="ar-SA"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لـ</a:t>
                      </a:r>
                      <a:r>
                        <a:rPr kumimoji="0" lang="en-US"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EG"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مُخرج </a:t>
                      </a:r>
                      <a:r>
                        <a:rPr kumimoji="0" lang="ar-SA"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نموذج</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EG"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مُدخل</a:t>
                      </a:r>
                      <a:r>
                        <a:rPr kumimoji="0" lang="en-US"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EG"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مُخرج إلى</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إجراء عمل</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p>
                  </a:txBody>
                  <a:tcPr marL="3810" marR="3810" marT="3810" marB="0" anchor="ctr"/>
                </a:tc>
                <a:tc>
                  <a:txBody>
                    <a:bodyPr/>
                    <a:lstStyle/>
                    <a:p>
                      <a:pPr algn="ctr" rtl="0" fontAlgn="ctr"/>
                      <a:r>
                        <a:rPr kumimoji="0" lang="ar-SA" sz="18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إجراء عمل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182130939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0</a:t>
                      </a:r>
                    </a:p>
                  </a:txBody>
                  <a:tcPr marL="3810" marR="3810" marT="381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سياسة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kumimoji="0" lang="ar-EG"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تُحوكم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سياسة</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EG"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تُحوكم </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إجراء أعمال</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p>
                  </a:txBody>
                  <a:tcPr marL="3810" marR="3810" marT="3810" marB="0" anchor="ctr"/>
                </a:tc>
                <a:tc>
                  <a:txBody>
                    <a:bodyPr/>
                    <a:lstStyle/>
                    <a:p>
                      <a:pPr algn="ctr" rtl="0" fontAlgn="ctr"/>
                      <a:r>
                        <a:rPr kumimoji="0" lang="ar-SA" sz="18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إجراء أعمال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3243285888"/>
                  </a:ext>
                </a:extLst>
              </a:tr>
            </a:tbl>
          </a:graphicData>
        </a:graphic>
      </p:graphicFrame>
    </p:spTree>
    <p:extLst>
      <p:ext uri="{BB962C8B-B14F-4D97-AF65-F5344CB8AC3E}">
        <p14:creationId xmlns:p14="http://schemas.microsoft.com/office/powerpoint/2010/main" val="6175898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a:t>ال</a:t>
            </a:r>
            <a:r>
              <a:rPr lang="ar-EG" dirty="0"/>
              <a:t>بناء </a:t>
            </a:r>
            <a:r>
              <a:rPr lang="ar-SA" dirty="0"/>
              <a:t>في مجال "بنية الأعمال"</a:t>
            </a:r>
            <a:r>
              <a:rPr lang="ar-EG" dirty="0"/>
              <a:t> (</a:t>
            </a:r>
            <a:r>
              <a:rPr lang="ar-SA" dirty="0"/>
              <a:t>5</a:t>
            </a:r>
            <a:r>
              <a:rPr lang="ar-EG" dirty="0"/>
              <a:t> / </a:t>
            </a:r>
            <a:r>
              <a:rPr lang="ar-SA" dirty="0"/>
              <a:t>4</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58</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888864574"/>
              </p:ext>
            </p:extLst>
          </p:nvPr>
        </p:nvGraphicFramePr>
        <p:xfrm>
          <a:off x="609600" y="1282290"/>
          <a:ext cx="11070774" cy="4874103"/>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715608">
                  <a:extLst>
                    <a:ext uri="{9D8B030D-6E8A-4147-A177-3AD203B41FA5}">
                      <a16:colId xmlns:a16="http://schemas.microsoft.com/office/drawing/2014/main" val="1302061076"/>
                    </a:ext>
                  </a:extLst>
                </a:gridCol>
                <a:gridCol w="4165600">
                  <a:extLst>
                    <a:ext uri="{9D8B030D-6E8A-4147-A177-3AD203B41FA5}">
                      <a16:colId xmlns:a16="http://schemas.microsoft.com/office/drawing/2014/main" val="1509377109"/>
                    </a:ext>
                  </a:extLst>
                </a:gridCol>
                <a:gridCol w="1337310">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707513">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1</a:t>
                      </a:r>
                    </a:p>
                  </a:txBody>
                  <a:tcPr marL="3810" marR="3810" marT="3810" marB="0" anchor="ctr"/>
                </a:tc>
                <a:tc rowSpan="9">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إجراء عمل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يُقاس عبر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إجراء أعمال</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يُقاس عبر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مؤشر أداء</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مؤشر أداء</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الموائمة الاستراتيجية</a:t>
                      </a: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2</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err="1">
                          <a:solidFill>
                            <a:srgbClr val="000000"/>
                          </a:solidFill>
                          <a:effectLst/>
                          <a:latin typeface="Sakkal Majalla" panose="02000000000000000000" pitchFamily="2" charset="-78"/>
                          <a:cs typeface="Sakkal Majalla" panose="02000000000000000000" pitchFamily="2" charset="-78"/>
                        </a:rPr>
                        <a:t>يُؤتمت</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 من خلال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إجراء أعمال</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err="1">
                          <a:solidFill>
                            <a:srgbClr val="000000"/>
                          </a:solidFill>
                          <a:effectLst/>
                          <a:latin typeface="Sakkal Majalla" panose="02000000000000000000" pitchFamily="2" charset="-78"/>
                          <a:cs typeface="Sakkal Majalla" panose="02000000000000000000" pitchFamily="2" charset="-78"/>
                        </a:rPr>
                        <a:t>يؤتمت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من خلال</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تطبيق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التطبيقات</a:t>
                      </a: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3</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ينتمي إلى</a:t>
                      </a:r>
                      <a:r>
                        <a:rPr lang="en-US" sz="1800" b="0" i="0" u="none" strike="noStrike" baseline="0" dirty="0">
                          <a:solidFill>
                            <a:srgbClr val="000000"/>
                          </a:solidFill>
                          <a:effectLst/>
                          <a:latin typeface="Sakkal Majalla" panose="02000000000000000000" pitchFamily="2" charset="-78"/>
                          <a:cs typeface="Sakkal Majalla" panose="02000000000000000000" pitchFamily="2" charset="-78"/>
                        </a:rPr>
                        <a:t> </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إجراء أعمال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ينتمي إلى</a:t>
                      </a:r>
                      <a:r>
                        <a:rPr lang="en-US"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مجموعة إجراءات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مجموعة إجراءات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7">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4</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يُنفذ</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إجراء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يُنفذ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خدمة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خدمة أعمال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4193838665"/>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5</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 تُملك من قبل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إجراء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تُملك من قبل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456641915"/>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6</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dirty="0">
                          <a:solidFill>
                            <a:srgbClr val="000000"/>
                          </a:solidFill>
                          <a:effectLst/>
                          <a:latin typeface="Calibri" panose="020F0502020204030204" pitchFamily="34" charset="0"/>
                        </a:rPr>
                        <a:t> </a:t>
                      </a:r>
                      <a:r>
                        <a:rPr lang="ar-EG" sz="1800" b="0" i="0" u="none" strike="noStrike" dirty="0">
                          <a:solidFill>
                            <a:srgbClr val="000000"/>
                          </a:solidFill>
                          <a:effectLst/>
                          <a:latin typeface="Calibri" panose="020F0502020204030204" pitchFamily="34" charset="0"/>
                        </a:rPr>
                        <a:t>يُنفذ من قبل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إجراء أعمال</a:t>
                      </a:r>
                      <a:r>
                        <a:rPr lang="ar-SA" sz="2000" b="0" i="0" u="none" strike="noStrike" dirty="0">
                          <a:solidFill>
                            <a:srgbClr val="000000"/>
                          </a:solidFill>
                          <a:effectLst/>
                          <a:latin typeface="Calibri" panose="020F0502020204030204" pitchFamily="34" charset="0"/>
                        </a:rPr>
                        <a:t>" </a:t>
                      </a:r>
                      <a:r>
                        <a:rPr lang="ar-EG" sz="2000" b="0" i="0" u="none" strike="noStrike" dirty="0">
                          <a:solidFill>
                            <a:srgbClr val="000000"/>
                          </a:solidFill>
                          <a:effectLst/>
                          <a:latin typeface="Calibri" panose="020F0502020204030204" pitchFamily="34" charset="0"/>
                        </a:rPr>
                        <a:t>يُنفذ من قبل </a:t>
                      </a: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دور</a:t>
                      </a:r>
                      <a:r>
                        <a:rPr lang="ar-SA" sz="2000" b="0" i="0" u="none" strike="noStrike" dirty="0">
                          <a:solidFill>
                            <a:srgbClr val="000000"/>
                          </a:solidFill>
                          <a:effectLst/>
                          <a:latin typeface="Calibri" panose="020F0502020204030204" pitchFamily="34" charset="0"/>
                        </a:rPr>
                        <a:t>"</a:t>
                      </a:r>
                    </a:p>
                  </a:txBody>
                  <a:tcPr marL="3810" marR="3810" marT="3810" marB="0" anchor="ctr"/>
                </a:tc>
                <a:tc>
                  <a:txBody>
                    <a:bodyPr/>
                    <a:lstStyle/>
                    <a:p>
                      <a:pPr algn="ctr" rtl="0" fontAlgn="ctr"/>
                      <a:r>
                        <a:rPr lang="ar-SA" sz="1800" b="1" i="0" u="none" strike="noStrike" dirty="0">
                          <a:solidFill>
                            <a:srgbClr val="000000"/>
                          </a:solidFill>
                          <a:effectLst/>
                          <a:latin typeface="Calibri" panose="020F0502020204030204" pitchFamily="34" charset="0"/>
                        </a:rPr>
                        <a:t>دور</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76163763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7</a:t>
                      </a: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kumimoji="0" lang="ar-SA"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EG"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يُحوكم من خلال</a:t>
                      </a:r>
                      <a:r>
                        <a:rPr kumimoji="0" lang="ar-SA"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إجراء أعمال</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EG"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يُحوكم من خلال</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سياسة</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p>
                  </a:txBody>
                  <a:tcPr marL="3810" marR="3810" marT="3810" marB="0" anchor="ctr"/>
                </a:tc>
                <a:tc>
                  <a:txBody>
                    <a:bodyPr/>
                    <a:lstStyle/>
                    <a:p>
                      <a:pPr algn="ctr" rtl="0" fontAlgn="ctr"/>
                      <a:r>
                        <a:rPr kumimoji="0" lang="ar-SA" sz="18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سياسة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1472548560"/>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8</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kumimoji="0" lang="ar-SA"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EG"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يُقدم من خلال</a:t>
                      </a:r>
                      <a:r>
                        <a:rPr kumimoji="0" lang="ar-SA"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إجراء أعمال</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EG"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يُقدم من خلال</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نشاط</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p>
                  </a:txBody>
                  <a:tcPr marL="3810" marR="3810" marT="3810" marB="0" anchor="ctr"/>
                </a:tc>
                <a:tc>
                  <a:txBody>
                    <a:bodyPr/>
                    <a:lstStyle/>
                    <a:p>
                      <a:pPr algn="ctr" rtl="0" fontAlgn="ctr"/>
                      <a:r>
                        <a:rPr kumimoji="0" lang="ar-SA" sz="18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نشاط</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9968773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3</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9</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kumimoji="0" lang="ar-EG"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يستخدم</a:t>
                      </a:r>
                      <a:r>
                        <a:rPr kumimoji="0" lang="ar-SA"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إجراء أعمال</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EG"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يستخدم</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نموذج/قالب</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p>
                  </a:txBody>
                  <a:tcPr marL="3810" marR="3810" marT="3810" marB="0" anchor="ctr"/>
                </a:tc>
                <a:tc>
                  <a:txBody>
                    <a:bodyPr/>
                    <a:lstStyle/>
                    <a:p>
                      <a:pPr algn="ctr" rtl="0" fontAlgn="ctr"/>
                      <a:r>
                        <a:rPr kumimoji="0" lang="ar-SA" sz="18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نموذج/قالب</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182130939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4</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0</a:t>
                      </a:r>
                    </a:p>
                  </a:txBody>
                  <a:tcPr marL="3810" marR="3810" marT="381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منتج</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kumimoji="0" lang="ar-SA"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يُقدم من خلال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منتج</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يُقدم من خلال "</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وحدة تنظيمية</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p>
                  </a:txBody>
                  <a:tcPr marL="3810" marR="3810" marT="3810" marB="0" anchor="ctr"/>
                </a:tc>
                <a:tc>
                  <a:txBody>
                    <a:bodyPr/>
                    <a:lstStyle/>
                    <a:p>
                      <a:pPr algn="ctr" rtl="0" fontAlgn="ctr"/>
                      <a:r>
                        <a:rPr kumimoji="0" lang="ar-SA" sz="18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وحدة تنظيمه</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3243285888"/>
                  </a:ext>
                </a:extLst>
              </a:tr>
            </a:tbl>
          </a:graphicData>
        </a:graphic>
      </p:graphicFrame>
    </p:spTree>
    <p:extLst>
      <p:ext uri="{BB962C8B-B14F-4D97-AF65-F5344CB8AC3E}">
        <p14:creationId xmlns:p14="http://schemas.microsoft.com/office/powerpoint/2010/main" val="38844919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a:t>ال</a:t>
            </a:r>
            <a:r>
              <a:rPr lang="ar-EG" dirty="0"/>
              <a:t>بناء </a:t>
            </a:r>
            <a:r>
              <a:rPr lang="ar-SA" dirty="0"/>
              <a:t>في مجال "بنية الأعمال"</a:t>
            </a:r>
            <a:r>
              <a:rPr lang="ar-EG" dirty="0"/>
              <a:t> (</a:t>
            </a:r>
            <a:r>
              <a:rPr lang="ar-SA" dirty="0"/>
              <a:t>5</a:t>
            </a:r>
            <a:r>
              <a:rPr lang="ar-EG" dirty="0"/>
              <a:t> / </a:t>
            </a:r>
            <a:r>
              <a:rPr lang="ar-SA" dirty="0"/>
              <a:t>5</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59</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1942805172"/>
              </p:ext>
            </p:extLst>
          </p:nvPr>
        </p:nvGraphicFramePr>
        <p:xfrm>
          <a:off x="609600" y="1282290"/>
          <a:ext cx="11070774" cy="2790808"/>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715608">
                  <a:extLst>
                    <a:ext uri="{9D8B030D-6E8A-4147-A177-3AD203B41FA5}">
                      <a16:colId xmlns:a16="http://schemas.microsoft.com/office/drawing/2014/main" val="1302061076"/>
                    </a:ext>
                  </a:extLst>
                </a:gridCol>
                <a:gridCol w="4165600">
                  <a:extLst>
                    <a:ext uri="{9D8B030D-6E8A-4147-A177-3AD203B41FA5}">
                      <a16:colId xmlns:a16="http://schemas.microsoft.com/office/drawing/2014/main" val="1509377109"/>
                    </a:ext>
                  </a:extLst>
                </a:gridCol>
                <a:gridCol w="1337310">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707513">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4</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1</a:t>
                      </a:r>
                    </a:p>
                  </a:txBody>
                  <a:tcPr marL="3810" marR="3810" marT="381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dirty="0">
                          <a:solidFill>
                            <a:srgbClr val="000000"/>
                          </a:solidFill>
                          <a:effectLst/>
                          <a:latin typeface="Calibri" panose="020F0502020204030204" pitchFamily="34" charset="0"/>
                        </a:rPr>
                        <a:t>مسمى وظيفي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dirty="0">
                          <a:solidFill>
                            <a:srgbClr val="000000"/>
                          </a:solidFill>
                          <a:effectLst/>
                          <a:latin typeface="Calibri" panose="020F0502020204030204" pitchFamily="34" charset="0"/>
                        </a:rPr>
                        <a:t> ينتمي إلى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مسمى وظيفي</a:t>
                      </a:r>
                      <a:r>
                        <a:rPr lang="ar-SA" sz="2000" b="0" i="0" u="none" strike="noStrike" dirty="0">
                          <a:solidFill>
                            <a:srgbClr val="000000"/>
                          </a:solidFill>
                          <a:effectLst/>
                          <a:latin typeface="Calibri" panose="020F0502020204030204" pitchFamily="34" charset="0"/>
                        </a:rPr>
                        <a:t>" ينتمي إلى "</a:t>
                      </a:r>
                      <a:r>
                        <a:rPr lang="ar-SA" sz="2000" b="1" i="0" u="none" strike="noStrike" dirty="0">
                          <a:solidFill>
                            <a:srgbClr val="000000"/>
                          </a:solidFill>
                          <a:effectLst/>
                          <a:latin typeface="Calibri" panose="020F0502020204030204" pitchFamily="34" charset="0"/>
                        </a:rPr>
                        <a:t>وحدة تنظيمية</a:t>
                      </a:r>
                      <a:r>
                        <a:rPr lang="ar-SA" sz="2000" b="0" i="0" u="none" strike="noStrike" dirty="0">
                          <a:solidFill>
                            <a:srgbClr val="000000"/>
                          </a:solidFill>
                          <a:effectLst/>
                          <a:latin typeface="Calibri" panose="020F0502020204030204" pitchFamily="34" charset="0"/>
                        </a:rPr>
                        <a:t>"</a:t>
                      </a:r>
                    </a:p>
                  </a:txBody>
                  <a:tcPr marL="3810" marR="3810" marT="3810" marB="0" anchor="ctr"/>
                </a:tc>
                <a:tc>
                  <a:txBody>
                    <a:bodyPr/>
                    <a:lstStyle/>
                    <a:p>
                      <a:pPr algn="ctr" rtl="0" fontAlgn="ctr"/>
                      <a:r>
                        <a:rPr lang="ar-SA" sz="1800" b="1" i="0" u="none" strike="noStrike" dirty="0">
                          <a:solidFill>
                            <a:srgbClr val="000000"/>
                          </a:solidFill>
                          <a:effectLst/>
                          <a:latin typeface="Calibri" panose="020F0502020204030204" pitchFamily="34" charset="0"/>
                        </a:rPr>
                        <a:t>وحدة تنظيمية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4</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2</a:t>
                      </a:r>
                    </a:p>
                  </a:txBody>
                  <a:tcPr marL="3810" marR="3810" marT="3810" marB="0" anchor="ctr"/>
                </a:tc>
                <a:tc rowSpan="2">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دور</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0" i="0" u="none" strike="noStrike" dirty="0">
                          <a:solidFill>
                            <a:srgbClr val="000000"/>
                          </a:solidFill>
                          <a:effectLst/>
                          <a:latin typeface="Calibri" panose="020F0502020204030204" pitchFamily="34" charset="0"/>
                        </a:rPr>
                        <a:t>يؤدي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دور</a:t>
                      </a:r>
                      <a:r>
                        <a:rPr lang="ar-SA" sz="2000" b="0" i="0" u="none" strike="noStrike" dirty="0">
                          <a:solidFill>
                            <a:srgbClr val="000000"/>
                          </a:solidFill>
                          <a:effectLst/>
                          <a:latin typeface="Calibri" panose="020F0502020204030204" pitchFamily="34" charset="0"/>
                        </a:rPr>
                        <a:t>" </a:t>
                      </a:r>
                      <a:r>
                        <a:rPr lang="ar-EG" sz="2000" b="0" i="0" u="none" strike="noStrike" dirty="0">
                          <a:solidFill>
                            <a:srgbClr val="000000"/>
                          </a:solidFill>
                          <a:effectLst/>
                          <a:latin typeface="Calibri" panose="020F0502020204030204" pitchFamily="34" charset="0"/>
                        </a:rPr>
                        <a:t>يؤدي </a:t>
                      </a: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إجراء أعمال</a:t>
                      </a:r>
                      <a:r>
                        <a:rPr lang="ar-SA" sz="2000" b="0" i="0" u="none" strike="noStrike" dirty="0">
                          <a:solidFill>
                            <a:srgbClr val="000000"/>
                          </a:solidFill>
                          <a:effectLst/>
                          <a:latin typeface="Calibri" panose="020F0502020204030204" pitchFamily="34" charset="0"/>
                        </a:rPr>
                        <a:t>"</a:t>
                      </a:r>
                    </a:p>
                  </a:txBody>
                  <a:tcPr marL="3810" marR="3810" marT="3810" marB="0" anchor="ctr"/>
                </a:tc>
                <a:tc>
                  <a:txBody>
                    <a:bodyPr/>
                    <a:lstStyle/>
                    <a:p>
                      <a:pPr algn="ctr" rtl="0" fontAlgn="ctr"/>
                      <a:r>
                        <a:rPr lang="ar-SA" sz="1800" b="1" i="0" u="none" strike="noStrike" dirty="0">
                          <a:solidFill>
                            <a:srgbClr val="000000"/>
                          </a:solidFill>
                          <a:effectLst/>
                          <a:latin typeface="Calibri" panose="020F0502020204030204" pitchFamily="34" charset="0"/>
                        </a:rPr>
                        <a:t>إجراء أعمال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4</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3</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dirty="0">
                          <a:solidFill>
                            <a:srgbClr val="000000"/>
                          </a:solidFill>
                          <a:effectLst/>
                          <a:latin typeface="Calibri" panose="020F0502020204030204" pitchFamily="34" charset="0"/>
                        </a:rPr>
                        <a:t>يؤدي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دور</a:t>
                      </a:r>
                      <a:r>
                        <a:rPr lang="ar-SA" sz="2000" b="0" i="0" u="none" strike="noStrike" dirty="0">
                          <a:solidFill>
                            <a:srgbClr val="000000"/>
                          </a:solidFill>
                          <a:effectLst/>
                          <a:latin typeface="Calibri" panose="020F0502020204030204" pitchFamily="34" charset="0"/>
                        </a:rPr>
                        <a:t>" يؤدي "</a:t>
                      </a:r>
                      <a:r>
                        <a:rPr lang="ar-SA" sz="2000" b="1" i="0" u="none" strike="noStrike" dirty="0">
                          <a:solidFill>
                            <a:srgbClr val="000000"/>
                          </a:solidFill>
                          <a:effectLst/>
                          <a:latin typeface="Calibri" panose="020F0502020204030204" pitchFamily="34" charset="0"/>
                        </a:rPr>
                        <a:t>نشاط</a:t>
                      </a:r>
                      <a:r>
                        <a:rPr lang="ar-SA" sz="2000" b="0" i="0" u="none" strike="noStrike" dirty="0">
                          <a:solidFill>
                            <a:srgbClr val="000000"/>
                          </a:solidFill>
                          <a:effectLst/>
                          <a:latin typeface="Calibri" panose="020F0502020204030204" pitchFamily="34" charset="0"/>
                        </a:rPr>
                        <a:t>"</a:t>
                      </a:r>
                    </a:p>
                  </a:txBody>
                  <a:tcPr marL="3810" marR="3810" marT="3810" marB="0" anchor="ctr"/>
                </a:tc>
                <a:tc>
                  <a:txBody>
                    <a:bodyPr/>
                    <a:lstStyle/>
                    <a:p>
                      <a:pPr algn="ctr" rtl="0" fontAlgn="ctr"/>
                      <a:r>
                        <a:rPr lang="ar-SA" sz="1800" b="1" i="0" u="none" strike="noStrike" dirty="0">
                          <a:solidFill>
                            <a:srgbClr val="000000"/>
                          </a:solidFill>
                          <a:effectLst/>
                          <a:latin typeface="Calibri" panose="020F0502020204030204" pitchFamily="34" charset="0"/>
                        </a:rPr>
                        <a:t>نشاط</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4</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4</a:t>
                      </a:r>
                    </a:p>
                  </a:txBody>
                  <a:tcPr marL="3810" marR="3810" marT="3810" marB="0" anchor="ctr"/>
                </a:tc>
                <a:tc rowSpan="2">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نشاط</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0" i="0" u="none" strike="noStrike" dirty="0">
                          <a:solidFill>
                            <a:srgbClr val="000000"/>
                          </a:solidFill>
                          <a:effectLst/>
                          <a:latin typeface="Calibri" panose="020F0502020204030204" pitchFamily="34" charset="0"/>
                        </a:rPr>
                        <a:t>يُنفذ من قبل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نشاط</a:t>
                      </a:r>
                      <a:r>
                        <a:rPr lang="ar-SA" sz="2000" b="0" i="0" u="none" strike="noStrike" dirty="0">
                          <a:solidFill>
                            <a:srgbClr val="000000"/>
                          </a:solidFill>
                          <a:effectLst/>
                          <a:latin typeface="Calibri" panose="020F0502020204030204" pitchFamily="34" charset="0"/>
                        </a:rPr>
                        <a:t>" </a:t>
                      </a:r>
                      <a:r>
                        <a:rPr lang="ar-EG" sz="2000" b="0" i="0" u="none" strike="noStrike" dirty="0">
                          <a:solidFill>
                            <a:srgbClr val="000000"/>
                          </a:solidFill>
                          <a:effectLst/>
                          <a:latin typeface="Calibri" panose="020F0502020204030204" pitchFamily="34" charset="0"/>
                        </a:rPr>
                        <a:t>يُنفذ من قبل </a:t>
                      </a:r>
                      <a:r>
                        <a:rPr lang="ar-SA" sz="2000" b="0" i="0" u="none" strike="noStrike" dirty="0">
                          <a:solidFill>
                            <a:srgbClr val="000000"/>
                          </a:solidFill>
                          <a:effectLst/>
                          <a:latin typeface="Calibri" panose="020F0502020204030204" pitchFamily="34" charset="0"/>
                        </a:rPr>
                        <a:t>"</a:t>
                      </a:r>
                      <a:r>
                        <a:rPr lang="ar-SA" sz="2000" b="1" i="0" u="none" strike="noStrike" dirty="0">
                          <a:solidFill>
                            <a:srgbClr val="000000"/>
                          </a:solidFill>
                          <a:effectLst/>
                          <a:latin typeface="Calibri" panose="020F0502020204030204" pitchFamily="34" charset="0"/>
                        </a:rPr>
                        <a:t>دور</a:t>
                      </a:r>
                      <a:r>
                        <a:rPr lang="ar-SA" sz="2000" b="0" i="0" u="none" strike="noStrike" dirty="0">
                          <a:solidFill>
                            <a:srgbClr val="000000"/>
                          </a:solidFill>
                          <a:effectLst/>
                          <a:latin typeface="Calibri" panose="020F0502020204030204" pitchFamily="34" charset="0"/>
                        </a:rPr>
                        <a:t>"</a:t>
                      </a:r>
                    </a:p>
                  </a:txBody>
                  <a:tcPr marL="3810" marR="3810" marT="3810" marB="0" anchor="ctr"/>
                </a:tc>
                <a:tc>
                  <a:txBody>
                    <a:bodyPr/>
                    <a:lstStyle/>
                    <a:p>
                      <a:pPr algn="ctr" rtl="0" fontAlgn="ctr"/>
                      <a:r>
                        <a:rPr lang="ar-SA" sz="1800" b="0" i="0" u="none" strike="noStrike" dirty="0">
                          <a:solidFill>
                            <a:srgbClr val="000000"/>
                          </a:solidFill>
                          <a:effectLst/>
                          <a:latin typeface="Calibri" panose="020F0502020204030204" pitchFamily="34" charset="0"/>
                        </a:rPr>
                        <a:t>"</a:t>
                      </a:r>
                      <a:r>
                        <a:rPr lang="ar-SA" sz="1800" b="1" i="0" u="none" strike="noStrike" dirty="0">
                          <a:solidFill>
                            <a:srgbClr val="000000"/>
                          </a:solidFill>
                          <a:effectLst/>
                          <a:latin typeface="Calibri" panose="020F0502020204030204" pitchFamily="34" charset="0"/>
                        </a:rPr>
                        <a:t>دور</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4193838665"/>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4</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5</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kumimoji="0" lang="ar-EG"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ينتمي إلى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نشاط</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EG"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ينتمي إلى </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إجراء أعمال</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p>
                  </a:txBody>
                  <a:tcPr marL="3810" marR="3810" marT="3810" marB="0" anchor="ctr"/>
                </a:tc>
                <a:tc>
                  <a:txBody>
                    <a:bodyPr/>
                    <a:lstStyle/>
                    <a:p>
                      <a:pPr algn="ctr" rtl="0" fontAlgn="ctr"/>
                      <a:r>
                        <a:rPr kumimoji="0" lang="ar-SA" sz="18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إجراء أعمال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456641915"/>
                  </a:ext>
                </a:extLst>
              </a:tr>
            </a:tbl>
          </a:graphicData>
        </a:graphic>
      </p:graphicFrame>
    </p:spTree>
    <p:extLst>
      <p:ext uri="{BB962C8B-B14F-4D97-AF65-F5344CB8AC3E}">
        <p14:creationId xmlns:p14="http://schemas.microsoft.com/office/powerpoint/2010/main" val="33106457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62880" y="3925452"/>
            <a:ext cx="6281420" cy="641639"/>
          </a:xfrm>
        </p:spPr>
        <p:txBody>
          <a:bodyPr/>
          <a:lstStyle/>
          <a:p>
            <a:r>
              <a:rPr lang="ar-EG" sz="2800" dirty="0"/>
              <a:t>وحدات البناء لمجال "بنية </a:t>
            </a:r>
            <a:r>
              <a:rPr lang="ar-SA" sz="2800" dirty="0"/>
              <a:t>تجربة المستفيد</a:t>
            </a:r>
            <a:r>
              <a:rPr lang="ar-EG" sz="2800" dirty="0"/>
              <a:t>"</a:t>
            </a:r>
            <a:endParaRPr lang="en-US" sz="2800" dirty="0"/>
          </a:p>
        </p:txBody>
      </p:sp>
      <p:sp>
        <p:nvSpPr>
          <p:cNvPr id="4" name="Text Placeholder 3"/>
          <p:cNvSpPr>
            <a:spLocks noGrp="1"/>
          </p:cNvSpPr>
          <p:nvPr>
            <p:ph type="body" sz="quarter" idx="14"/>
          </p:nvPr>
        </p:nvSpPr>
        <p:spPr/>
        <p:txBody>
          <a:bodyPr/>
          <a:lstStyle/>
          <a:p>
            <a:r>
              <a:rPr lang="ar-SA" sz="7200" dirty="0"/>
              <a:t>3.3</a:t>
            </a:r>
            <a:endParaRPr lang="en-US" sz="7200" dirty="0"/>
          </a:p>
        </p:txBody>
      </p:sp>
    </p:spTree>
    <p:extLst>
      <p:ext uri="{BB962C8B-B14F-4D97-AF65-F5344CB8AC3E}">
        <p14:creationId xmlns:p14="http://schemas.microsoft.com/office/powerpoint/2010/main" val="1552009469"/>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وحدات البناء التابعة لمجال </a:t>
            </a:r>
            <a:r>
              <a:rPr lang="ar-EG" dirty="0"/>
              <a:t>"</a:t>
            </a:r>
            <a:r>
              <a:rPr lang="ar-SA" dirty="0"/>
              <a:t>بنية تجربة المستفيد</a:t>
            </a:r>
            <a:r>
              <a:rPr lang="ar-EG" dirty="0"/>
              <a:t>"</a:t>
            </a:r>
            <a:endParaRPr lang="en-US" dirty="0"/>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61</a:t>
            </a:fld>
            <a:endParaRPr lang="en-US"/>
          </a:p>
        </p:txBody>
      </p:sp>
      <p:sp>
        <p:nvSpPr>
          <p:cNvPr id="3" name="Rectangle 2">
            <a:extLst>
              <a:ext uri="{FF2B5EF4-FFF2-40B4-BE49-F238E27FC236}">
                <a16:creationId xmlns:a16="http://schemas.microsoft.com/office/drawing/2014/main" id="{8D9CE795-A12F-7C98-BF54-5279E8F1DDA2}"/>
              </a:ext>
            </a:extLst>
          </p:cNvPr>
          <p:cNvSpPr/>
          <p:nvPr/>
        </p:nvSpPr>
        <p:spPr>
          <a:xfrm>
            <a:off x="1071158" y="1389169"/>
            <a:ext cx="10508468" cy="369332"/>
          </a:xfrm>
          <a:prstGeom prst="rect">
            <a:avLst/>
          </a:prstGeom>
        </p:spPr>
        <p:txBody>
          <a:bodyPr wrap="square">
            <a:spAutoFit/>
          </a:bodyPr>
          <a:lstStyle/>
          <a:p>
            <a:pPr algn="r" rtl="1"/>
            <a:r>
              <a:rPr lang="ar-SA" b="1" dirty="0">
                <a:latin typeface="Sakkal Majalla" panose="02000000000000000000" pitchFamily="2" charset="-78"/>
                <a:cs typeface="Sakkal Majalla" panose="02000000000000000000" pitchFamily="2" charset="-78"/>
              </a:rPr>
              <a:t>ي</a:t>
            </a:r>
            <a:r>
              <a:rPr lang="en-US" b="1" dirty="0">
                <a:latin typeface="Sakkal Majalla" panose="02000000000000000000" pitchFamily="2" charset="-78"/>
                <a:cs typeface="Sakkal Majalla" panose="02000000000000000000" pitchFamily="2" charset="-78"/>
              </a:rPr>
              <a:t>وضح </a:t>
            </a:r>
            <a:r>
              <a:rPr lang="en-US" b="1" dirty="0" err="1">
                <a:latin typeface="Sakkal Majalla" panose="02000000000000000000" pitchFamily="2" charset="-78"/>
                <a:cs typeface="Sakkal Majalla" panose="02000000000000000000" pitchFamily="2" charset="-78"/>
              </a:rPr>
              <a:t>الشكل</a:t>
            </a:r>
            <a:r>
              <a:rPr lang="en-US" b="1" dirty="0">
                <a:latin typeface="Sakkal Majalla" panose="02000000000000000000" pitchFamily="2" charset="-78"/>
                <a:cs typeface="Sakkal Majalla" panose="02000000000000000000" pitchFamily="2" charset="-78"/>
              </a:rPr>
              <a:t> </a:t>
            </a:r>
            <a:r>
              <a:rPr lang="ar-SA" b="1" dirty="0">
                <a:latin typeface="Sakkal Majalla" panose="02000000000000000000" pitchFamily="2" charset="-78"/>
                <a:cs typeface="Sakkal Majalla" panose="02000000000000000000" pitchFamily="2" charset="-78"/>
              </a:rPr>
              <a:t>وحدات البناء التابعة لمجال "تجربة المستفيد":</a:t>
            </a:r>
            <a:endParaRPr lang="en-US" b="1" dirty="0">
              <a:latin typeface="Sakkal Majalla" panose="02000000000000000000" pitchFamily="2" charset="-78"/>
              <a:cs typeface="Sakkal Majalla" panose="02000000000000000000" pitchFamily="2" charset="-78"/>
            </a:endParaRPr>
          </a:p>
        </p:txBody>
      </p:sp>
      <p:pic>
        <p:nvPicPr>
          <p:cNvPr id="5" name="Picture 4">
            <a:extLst>
              <a:ext uri="{FF2B5EF4-FFF2-40B4-BE49-F238E27FC236}">
                <a16:creationId xmlns:a16="http://schemas.microsoft.com/office/drawing/2014/main" id="{D973809C-11F5-41E4-9C89-5B33349BCFEE}"/>
              </a:ext>
            </a:extLst>
          </p:cNvPr>
          <p:cNvPicPr>
            <a:picLocks noChangeAspect="1"/>
          </p:cNvPicPr>
          <p:nvPr/>
        </p:nvPicPr>
        <p:blipFill>
          <a:blip r:embed="rId3"/>
          <a:stretch>
            <a:fillRect/>
          </a:stretch>
        </p:blipFill>
        <p:spPr>
          <a:xfrm>
            <a:off x="5086856" y="2147065"/>
            <a:ext cx="2604211" cy="3291840"/>
          </a:xfrm>
          <a:prstGeom prst="rect">
            <a:avLst/>
          </a:prstGeom>
        </p:spPr>
      </p:pic>
    </p:spTree>
    <p:extLst>
      <p:ext uri="{BB962C8B-B14F-4D97-AF65-F5344CB8AC3E}">
        <p14:creationId xmlns:p14="http://schemas.microsoft.com/office/powerpoint/2010/main" val="33833380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62</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en-US" dirty="0"/>
              <a:t>تعريف وحدات البناء </a:t>
            </a:r>
            <a:r>
              <a:rPr lang="ar-SA" dirty="0"/>
              <a:t>التابعة لمجال "بنية تجربة المستفيد"</a:t>
            </a:r>
            <a:endParaRPr lang="en-US" dirty="0"/>
          </a:p>
        </p:txBody>
      </p:sp>
      <p:graphicFrame>
        <p:nvGraphicFramePr>
          <p:cNvPr id="12" name="Table 11">
            <a:extLst>
              <a:ext uri="{FF2B5EF4-FFF2-40B4-BE49-F238E27FC236}">
                <a16:creationId xmlns:a16="http://schemas.microsoft.com/office/drawing/2014/main" id="{716CE2B9-08C8-087A-0FD4-84D4AC499CF8}"/>
              </a:ext>
            </a:extLst>
          </p:cNvPr>
          <p:cNvGraphicFramePr>
            <a:graphicFrameLocks noGrp="1"/>
          </p:cNvGraphicFramePr>
          <p:nvPr>
            <p:extLst>
              <p:ext uri="{D42A27DB-BD31-4B8C-83A1-F6EECF244321}">
                <p14:modId xmlns:p14="http://schemas.microsoft.com/office/powerpoint/2010/main" val="1248724345"/>
              </p:ext>
            </p:extLst>
          </p:nvPr>
        </p:nvGraphicFramePr>
        <p:xfrm>
          <a:off x="477517" y="1366012"/>
          <a:ext cx="11236964" cy="4712368"/>
        </p:xfrm>
        <a:graphic>
          <a:graphicData uri="http://schemas.openxmlformats.org/drawingml/2006/table">
            <a:tbl>
              <a:tblPr rtl="1" firstRow="1" bandRow="1">
                <a:tableStyleId>{21E4AEA4-8DFA-4A89-87EB-49C32662AFE0}</a:tableStyleId>
              </a:tblPr>
              <a:tblGrid>
                <a:gridCol w="1559561">
                  <a:extLst>
                    <a:ext uri="{9D8B030D-6E8A-4147-A177-3AD203B41FA5}">
                      <a16:colId xmlns:a16="http://schemas.microsoft.com/office/drawing/2014/main" val="2023822235"/>
                    </a:ext>
                  </a:extLst>
                </a:gridCol>
                <a:gridCol w="6807563">
                  <a:extLst>
                    <a:ext uri="{9D8B030D-6E8A-4147-A177-3AD203B41FA5}">
                      <a16:colId xmlns:a16="http://schemas.microsoft.com/office/drawing/2014/main" val="3711612230"/>
                    </a:ext>
                  </a:extLst>
                </a:gridCol>
                <a:gridCol w="1434920">
                  <a:extLst>
                    <a:ext uri="{9D8B030D-6E8A-4147-A177-3AD203B41FA5}">
                      <a16:colId xmlns:a16="http://schemas.microsoft.com/office/drawing/2014/main" val="3713443915"/>
                    </a:ext>
                  </a:extLst>
                </a:gridCol>
                <a:gridCol w="1434920">
                  <a:extLst>
                    <a:ext uri="{9D8B030D-6E8A-4147-A177-3AD203B41FA5}">
                      <a16:colId xmlns:a16="http://schemas.microsoft.com/office/drawing/2014/main" val="2758288418"/>
                    </a:ext>
                  </a:extLst>
                </a:gridCol>
              </a:tblGrid>
              <a:tr h="420318">
                <a:tc>
                  <a:txBody>
                    <a:bodyPr/>
                    <a:lstStyle/>
                    <a:p>
                      <a:pPr algn="ctr" rtl="1" fontAlgn="b"/>
                      <a:r>
                        <a:rPr lang="ar-SA" sz="2100" u="none" strike="noStrike" dirty="0">
                          <a:effectLst/>
                        </a:rPr>
                        <a:t>وحدة البناء</a:t>
                      </a:r>
                      <a:endParaRPr lang="ar-SA" sz="2100" b="1" i="0" u="none" strike="noStrike" dirty="0">
                        <a:solidFill>
                          <a:srgbClr val="000000"/>
                        </a:solidFill>
                        <a:effectLst/>
                        <a:latin typeface="Arial" panose="020B0604020202020204" pitchFamily="34" charset="0"/>
                      </a:endParaRPr>
                    </a:p>
                  </a:txBody>
                  <a:tcPr anchor="ctr"/>
                </a:tc>
                <a:tc>
                  <a:txBody>
                    <a:bodyPr/>
                    <a:lstStyle/>
                    <a:p>
                      <a:pPr algn="ctr" rtl="1" fontAlgn="b"/>
                      <a:r>
                        <a:rPr lang="ar-SA" sz="2100" u="none" strike="noStrike" dirty="0">
                          <a:effectLst/>
                        </a:rPr>
                        <a:t>التعريف</a:t>
                      </a:r>
                      <a:endParaRPr lang="ar-SA" sz="2100" b="1" i="0" u="none" strike="noStrike" dirty="0">
                        <a:solidFill>
                          <a:srgbClr val="000000"/>
                        </a:solidFill>
                        <a:effectLst/>
                        <a:latin typeface="Arial" panose="020B0604020202020204" pitchFamily="34" charset="0"/>
                      </a:endParaRPr>
                    </a:p>
                  </a:txBody>
                  <a:tcPr anchor="ctr"/>
                </a:tc>
                <a:tc>
                  <a:txBody>
                    <a:bodyPr/>
                    <a:lstStyle/>
                    <a:p>
                      <a:pPr algn="ctr" rtl="1" fontAlgn="b"/>
                      <a:r>
                        <a:rPr lang="ar-SA" sz="2100" b="1" u="none" strike="noStrike" kern="1200" dirty="0">
                          <a:solidFill>
                            <a:schemeClr val="lt1"/>
                          </a:solidFill>
                          <a:effectLst/>
                          <a:latin typeface="+mn-lt"/>
                          <a:ea typeface="+mn-ea"/>
                          <a:cs typeface="+mn-cs"/>
                        </a:rPr>
                        <a:t>مستوى المكون</a:t>
                      </a:r>
                    </a:p>
                  </a:txBody>
                  <a:tcPr anchor="ctr"/>
                </a:tc>
                <a:tc>
                  <a:txBody>
                    <a:bodyPr/>
                    <a:lstStyle/>
                    <a:p>
                      <a:pPr algn="ctr" rtl="1" fontAlgn="b"/>
                      <a:r>
                        <a:rPr lang="ar-SA" sz="2100" b="1" u="none" strike="noStrike" kern="1200" dirty="0">
                          <a:solidFill>
                            <a:schemeClr val="lt1"/>
                          </a:solidFill>
                          <a:effectLst/>
                          <a:latin typeface="+mn-lt"/>
                          <a:ea typeface="+mn-ea"/>
                          <a:cs typeface="+mn-cs"/>
                        </a:rPr>
                        <a:t>مستوى إلزامية التوثيق</a:t>
                      </a:r>
                    </a:p>
                  </a:txBody>
                  <a:tcPr anchor="ctr"/>
                </a:tc>
                <a:extLst>
                  <a:ext uri="{0D108BD9-81ED-4DB2-BD59-A6C34878D82A}">
                    <a16:rowId xmlns:a16="http://schemas.microsoft.com/office/drawing/2014/main" val="2631080347"/>
                  </a:ext>
                </a:extLst>
              </a:tr>
              <a:tr h="484792">
                <a:tc>
                  <a:txBody>
                    <a:bodyPr/>
                    <a:lstStyle/>
                    <a:p>
                      <a:pPr algn="ctr" rtl="1" fontAlgn="b"/>
                      <a:r>
                        <a:rPr lang="ar-SA" sz="2000" b="1" i="0" u="none" strike="noStrike" dirty="0">
                          <a:solidFill>
                            <a:srgbClr val="000000"/>
                          </a:solidFill>
                          <a:effectLst/>
                          <a:latin typeface="Calibri" panose="020F0502020204030204" pitchFamily="34" charset="0"/>
                          <a:hlinkClick r:id="rId3" action="ppaction://hlinksldjump"/>
                        </a:rPr>
                        <a:t>مستفيد</a:t>
                      </a:r>
                      <a:endParaRPr lang="ar-SA" sz="2000" b="1" i="0" u="none" strike="noStrike" dirty="0">
                        <a:solidFill>
                          <a:srgbClr val="000000"/>
                        </a:solidFill>
                        <a:effectLst/>
                        <a:latin typeface="Calibri" panose="020F0502020204030204" pitchFamily="34" charset="0"/>
                      </a:endParaRPr>
                    </a:p>
                  </a:txBody>
                  <a:tcPr marT="27432" marB="27432" anchor="ctr"/>
                </a:tc>
                <a:tc>
                  <a:txBody>
                    <a:bodyPr/>
                    <a:lstStyle/>
                    <a:p>
                      <a:pPr algn="r" rtl="1" fontAlgn="b"/>
                      <a:r>
                        <a:rPr lang="ar-EG" sz="1900" b="0" i="0" u="none" strike="noStrike" dirty="0">
                          <a:solidFill>
                            <a:srgbClr val="000000"/>
                          </a:solidFill>
                          <a:effectLst/>
                          <a:latin typeface="Calibri" panose="020F0502020204030204" pitchFamily="34" charset="0"/>
                        </a:rPr>
                        <a:t>ي</a:t>
                      </a:r>
                      <a:r>
                        <a:rPr lang="ar-SA" sz="1900" b="0" i="0" u="none" strike="noStrike" dirty="0">
                          <a:solidFill>
                            <a:srgbClr val="000000"/>
                          </a:solidFill>
                          <a:effectLst/>
                          <a:latin typeface="Calibri" panose="020F0502020204030204" pitchFamily="34" charset="0"/>
                        </a:rPr>
                        <a:t>مثل أي فرد أو جهة تستفيد من الخدمات التي يتم تقديمها من قبل </a:t>
                      </a:r>
                      <a:r>
                        <a:rPr lang="ar-EG" sz="1900" b="0" i="0" u="none" strike="noStrike" dirty="0">
                          <a:solidFill>
                            <a:srgbClr val="000000"/>
                          </a:solidFill>
                          <a:effectLst/>
                          <a:latin typeface="Calibri" panose="020F0502020204030204" pitchFamily="34" charset="0"/>
                        </a:rPr>
                        <a:t>الهيئة</a:t>
                      </a:r>
                      <a:r>
                        <a:rPr lang="ar-SA" sz="1900" b="0" i="0" u="none" strike="noStrike" dirty="0">
                          <a:solidFill>
                            <a:srgbClr val="000000"/>
                          </a:solidFill>
                          <a:effectLst/>
                          <a:latin typeface="Calibri" panose="020F0502020204030204" pitchFamily="34" charset="0"/>
                        </a:rPr>
                        <a:t> (أو وحدة تنظيمية داخل </a:t>
                      </a:r>
                      <a:r>
                        <a:rPr lang="ar-EG" sz="1900" b="0" i="0" u="none" strike="noStrike" dirty="0">
                          <a:solidFill>
                            <a:srgbClr val="000000"/>
                          </a:solidFill>
                          <a:effectLst/>
                          <a:latin typeface="Calibri" panose="020F0502020204030204" pitchFamily="34" charset="0"/>
                        </a:rPr>
                        <a:t>الهيئة</a:t>
                      </a:r>
                      <a:r>
                        <a:rPr lang="ar-SA" sz="1900" b="0" i="0" u="none" strike="noStrike" dirty="0">
                          <a:solidFill>
                            <a:srgbClr val="000000"/>
                          </a:solidFill>
                          <a:effectLst/>
                          <a:latin typeface="Calibri" panose="020F0502020204030204" pitchFamily="34" charset="0"/>
                        </a:rPr>
                        <a:t>)</a:t>
                      </a: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مفاهيمي</a:t>
                      </a:r>
                    </a:p>
                  </a:txBody>
                  <a:tcPr marT="27432" marB="27432" anchor="ctr"/>
                </a:tc>
                <a:extLst>
                  <a:ext uri="{0D108BD9-81ED-4DB2-BD59-A6C34878D82A}">
                    <a16:rowId xmlns:a16="http://schemas.microsoft.com/office/drawing/2014/main" val="2524175704"/>
                  </a:ext>
                </a:extLst>
              </a:tr>
              <a:tr h="647601">
                <a:tc>
                  <a:txBody>
                    <a:bodyPr/>
                    <a:lstStyle/>
                    <a:p>
                      <a:pPr algn="ctr" rtl="1" fontAlgn="b"/>
                      <a:r>
                        <a:rPr lang="ar-SA" sz="2000" b="1" i="0" u="none" strike="noStrike" dirty="0">
                          <a:solidFill>
                            <a:srgbClr val="000000"/>
                          </a:solidFill>
                          <a:effectLst/>
                          <a:latin typeface="Arial" panose="020B0604020202020204" pitchFamily="34" charset="0"/>
                          <a:hlinkClick r:id="rId4" action="ppaction://hlinksldjump"/>
                        </a:rPr>
                        <a:t>الشخصية</a:t>
                      </a:r>
                      <a:endParaRPr lang="ar-SA" sz="2000" b="1" i="0" u="none" strike="noStrike" dirty="0">
                        <a:solidFill>
                          <a:srgbClr val="000000"/>
                        </a:solidFill>
                        <a:effectLst/>
                        <a:latin typeface="Arial" panose="020B0604020202020204" pitchFamily="34" charset="0"/>
                      </a:endParaRPr>
                    </a:p>
                  </a:txBody>
                  <a:tcPr marT="27432" marB="27432" anchor="ctr"/>
                </a:tc>
                <a:tc>
                  <a:txBody>
                    <a:bodyPr/>
                    <a:lstStyle/>
                    <a:p>
                      <a:pPr algn="r" rtl="1" fontAlgn="ctr"/>
                      <a:r>
                        <a:rPr lang="ar-SA" sz="1900" b="0" i="0" u="none" strike="noStrike" dirty="0">
                          <a:solidFill>
                            <a:srgbClr val="000000"/>
                          </a:solidFill>
                          <a:effectLst/>
                          <a:latin typeface="Arial" panose="020B0604020202020204" pitchFamily="34" charset="0"/>
                        </a:rPr>
                        <a:t>تمثل عينة ممثلة لفئة أو شريحة من المستفيدين تتشارك في الأهداف والاحتياجات والتجارب والسلوكيات، ويتم تصنيفها بناءً على احتياجاتها وتفاعلها مع الهيئة. يساعد تصنيف المستفيدين في تخصيص الخدمات والموارد بشكل أكثر فعالية لضمان تقديم تجربة متميزة لكل فئة</a:t>
                      </a: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مفاهيمي</a:t>
                      </a:r>
                    </a:p>
                  </a:txBody>
                  <a:tcPr marT="27432" marB="27432" anchor="ctr"/>
                </a:tc>
                <a:extLst>
                  <a:ext uri="{0D108BD9-81ED-4DB2-BD59-A6C34878D82A}">
                    <a16:rowId xmlns:a16="http://schemas.microsoft.com/office/drawing/2014/main" val="2715435218"/>
                  </a:ext>
                </a:extLst>
              </a:tr>
              <a:tr h="484792">
                <a:tc>
                  <a:txBody>
                    <a:bodyPr/>
                    <a:lstStyle/>
                    <a:p>
                      <a:pPr algn="ctr" rtl="1" fontAlgn="b"/>
                      <a:r>
                        <a:rPr lang="ar-SA" sz="2000" b="1" i="0" u="none" strike="noStrike" dirty="0">
                          <a:solidFill>
                            <a:srgbClr val="000000"/>
                          </a:solidFill>
                          <a:effectLst/>
                          <a:latin typeface="Calibri" panose="020F0502020204030204" pitchFamily="34" charset="0"/>
                          <a:hlinkClick r:id="rId5" action="ppaction://hlinksldjump"/>
                        </a:rPr>
                        <a:t>رحلة المستفيد</a:t>
                      </a:r>
                      <a:endParaRPr lang="ar-SA" sz="2000" b="1" i="0" u="none" strike="noStrike" dirty="0">
                        <a:solidFill>
                          <a:srgbClr val="000000"/>
                        </a:solidFill>
                        <a:effectLst/>
                        <a:latin typeface="Calibri" panose="020F0502020204030204" pitchFamily="34" charset="0"/>
                      </a:endParaRP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تمثل آلية تفاعل المستفيد مع </a:t>
                      </a:r>
                      <a:r>
                        <a:rPr lang="ar-EG" sz="1900" b="0" i="0" u="none" strike="noStrike" dirty="0">
                          <a:solidFill>
                            <a:srgbClr val="000000"/>
                          </a:solidFill>
                          <a:effectLst/>
                          <a:latin typeface="Calibri" panose="020F0502020204030204" pitchFamily="34" charset="0"/>
                        </a:rPr>
                        <a:t>الهيئة</a:t>
                      </a:r>
                      <a:r>
                        <a:rPr lang="ar-SA" sz="1900" b="0" i="0" u="none" strike="noStrike" dirty="0">
                          <a:solidFill>
                            <a:srgbClr val="000000"/>
                          </a:solidFill>
                          <a:effectLst/>
                          <a:latin typeface="Calibri" panose="020F0502020204030204" pitchFamily="34" charset="0"/>
                        </a:rPr>
                        <a:t> خلال كافة مراحل تقديم الخدمة</a:t>
                      </a: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مفاهيمي</a:t>
                      </a:r>
                    </a:p>
                  </a:txBody>
                  <a:tcPr marT="27432" marB="27432" anchor="ctr"/>
                </a:tc>
                <a:extLst>
                  <a:ext uri="{0D108BD9-81ED-4DB2-BD59-A6C34878D82A}">
                    <a16:rowId xmlns:a16="http://schemas.microsoft.com/office/drawing/2014/main" val="557919799"/>
                  </a:ext>
                </a:extLst>
              </a:tr>
              <a:tr h="484792">
                <a:tc>
                  <a:txBody>
                    <a:bodyPr/>
                    <a:lstStyle/>
                    <a:p>
                      <a:pPr algn="ctr" rtl="1" fontAlgn="b"/>
                      <a:r>
                        <a:rPr lang="ar-SA" sz="2000" b="1" i="0" u="none" strike="noStrike" dirty="0">
                          <a:solidFill>
                            <a:srgbClr val="000000"/>
                          </a:solidFill>
                          <a:effectLst/>
                          <a:latin typeface="Calibri" panose="020F0502020204030204" pitchFamily="34" charset="0"/>
                          <a:hlinkClick r:id="rId6" action="ppaction://hlinksldjump"/>
                        </a:rPr>
                        <a:t>مرحلة المستفيد</a:t>
                      </a:r>
                      <a:endParaRPr lang="ar-SA" sz="2000" b="1" i="0" u="none" strike="noStrike" dirty="0">
                        <a:solidFill>
                          <a:srgbClr val="000000"/>
                        </a:solidFill>
                        <a:effectLst/>
                        <a:latin typeface="Calibri" panose="020F0502020204030204" pitchFamily="34" charset="0"/>
                      </a:endParaRPr>
                    </a:p>
                  </a:txBody>
                  <a:tcPr marT="27432" marB="27432" anchor="ctr"/>
                </a:tc>
                <a:tc>
                  <a:txBody>
                    <a:bodyPr/>
                    <a:lstStyle/>
                    <a:p>
                      <a:pPr algn="r" rtl="1" fontAlgn="b"/>
                      <a:r>
                        <a:rPr lang="ar-EG" sz="2000" dirty="0"/>
                        <a:t>تمثل محطة رئيسية في رحلة المستفيد تعكس هدفًا أو حالة يمر بها، وتتميز بوضوح الغاية، وترابطها مع المراحل الأخرى، وقياسها بمؤشرات تجربة مثل الرضا والزمن والقيمة المتحققة</a:t>
                      </a:r>
                      <a:r>
                        <a:rPr lang="ar-SA" sz="2000" dirty="0"/>
                        <a:t>، تركز على الرؤية والقيمة.</a:t>
                      </a:r>
                      <a:endParaRPr lang="ar-SA" sz="1900" b="0" i="0" u="none" strike="noStrike" dirty="0">
                        <a:solidFill>
                          <a:srgbClr val="000000"/>
                        </a:solidFill>
                        <a:effectLst/>
                        <a:latin typeface="Calibri" panose="020F0502020204030204" pitchFamily="34" charset="0"/>
                      </a:endParaRP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marT="27432" marB="27432" anchor="ctr"/>
                </a:tc>
                <a:tc>
                  <a:txBody>
                    <a:bodyPr/>
                    <a:lstStyle/>
                    <a:p>
                      <a:pPr algn="r" rtl="1" fontAlgn="b"/>
                      <a:r>
                        <a:rPr lang="ar-SA" sz="1900" b="0" i="0" u="none" strike="noStrike" dirty="0">
                          <a:solidFill>
                            <a:srgbClr val="000000"/>
                          </a:solidFill>
                          <a:effectLst/>
                          <a:latin typeface="Calibri" panose="020F0502020204030204" pitchFamily="34" charset="0"/>
                        </a:rPr>
                        <a:t>مفاهيمي</a:t>
                      </a:r>
                    </a:p>
                  </a:txBody>
                  <a:tcPr marT="27432" marB="27432" anchor="ctr"/>
                </a:tc>
                <a:extLst>
                  <a:ext uri="{0D108BD9-81ED-4DB2-BD59-A6C34878D82A}">
                    <a16:rowId xmlns:a16="http://schemas.microsoft.com/office/drawing/2014/main" val="2308400433"/>
                  </a:ext>
                </a:extLst>
              </a:tr>
              <a:tr h="484792">
                <a:tc>
                  <a:txBody>
                    <a:bodyPr/>
                    <a:lstStyle/>
                    <a:p>
                      <a:pPr algn="ctr" rtl="1" fontAlgn="b"/>
                      <a:r>
                        <a:rPr lang="ar-SA" sz="2000" b="1" i="0" u="none" strike="noStrike" dirty="0">
                          <a:solidFill>
                            <a:srgbClr val="000000"/>
                          </a:solidFill>
                          <a:effectLst/>
                          <a:latin typeface="Arial" panose="020B0604020202020204" pitchFamily="34" charset="0"/>
                          <a:hlinkClick r:id="rId7" action="ppaction://hlinksldjump"/>
                        </a:rPr>
                        <a:t>خطوة</a:t>
                      </a:r>
                      <a:endParaRPr lang="ar-SA" sz="2000" b="1" i="0" u="none" strike="noStrike" dirty="0">
                        <a:solidFill>
                          <a:srgbClr val="000000"/>
                        </a:solidFill>
                        <a:effectLst/>
                        <a:latin typeface="Arial" panose="020B0604020202020204" pitchFamily="34" charset="0"/>
                      </a:endParaRPr>
                    </a:p>
                  </a:txBody>
                  <a:tcPr marT="27432" marB="27432" anchor="ctr"/>
                </a:tc>
                <a:tc>
                  <a:txBody>
                    <a:bodyPr/>
                    <a:lstStyle/>
                    <a:p>
                      <a:pPr algn="r" rtl="1" fontAlgn="ctr"/>
                      <a:r>
                        <a:rPr lang="ar-EG" sz="2000" dirty="0"/>
                        <a:t>تمثل إجراءً تفصيليًا داخل مرحلة المستفيد يصف تفاعلًا محددًا أو نشاطًا واحدًا، وتتميز بالتتابع الزمني، ووضوح المدخلات والمخرجات، وقابليتها للتنفيذ والقياس التشغيلي</a:t>
                      </a:r>
                      <a:r>
                        <a:rPr lang="ar-SA" sz="2000" dirty="0"/>
                        <a:t>، تركز على التنفيذ والتفاعل</a:t>
                      </a:r>
                      <a:endParaRPr lang="ar-SA" sz="1900" b="0" i="0" u="none" strike="noStrike" dirty="0">
                        <a:solidFill>
                          <a:srgbClr val="000000"/>
                        </a:solidFill>
                        <a:effectLst/>
                        <a:latin typeface="Arial" panose="020B0604020202020204" pitchFamily="34" charset="0"/>
                      </a:endParaRPr>
                    </a:p>
                  </a:txBody>
                  <a:tcPr marT="27432" marB="27432" anchor="ctr"/>
                </a:tc>
                <a:tc>
                  <a:txBody>
                    <a:bodyPr/>
                    <a:lstStyle/>
                    <a:p>
                      <a:pPr algn="r" rtl="1" fontAlgn="ctr"/>
                      <a:r>
                        <a:rPr lang="ar-SA" sz="1900" b="0" i="0" u="none" strike="noStrike" dirty="0">
                          <a:solidFill>
                            <a:srgbClr val="000000"/>
                          </a:solidFill>
                          <a:effectLst/>
                          <a:latin typeface="Arial" panose="020B0604020202020204" pitchFamily="34" charset="0"/>
                        </a:rPr>
                        <a:t>داعم</a:t>
                      </a:r>
                    </a:p>
                  </a:txBody>
                  <a:tcPr marT="27432" marB="27432" anchor="ctr"/>
                </a:tc>
                <a:tc>
                  <a:txBody>
                    <a:bodyPr/>
                    <a:lstStyle/>
                    <a:p>
                      <a:pPr algn="r" rtl="1" fontAlgn="ctr"/>
                      <a:r>
                        <a:rPr lang="ar-SA" sz="1900" b="0" i="0" u="none" strike="noStrike" dirty="0">
                          <a:solidFill>
                            <a:srgbClr val="000000"/>
                          </a:solidFill>
                          <a:effectLst/>
                          <a:latin typeface="Arial" panose="020B0604020202020204" pitchFamily="34" charset="0"/>
                        </a:rPr>
                        <a:t>منطقي</a:t>
                      </a:r>
                    </a:p>
                  </a:txBody>
                  <a:tcPr marT="27432" marB="27432" anchor="ctr"/>
                </a:tc>
                <a:extLst>
                  <a:ext uri="{0D108BD9-81ED-4DB2-BD59-A6C34878D82A}">
                    <a16:rowId xmlns:a16="http://schemas.microsoft.com/office/drawing/2014/main" val="3343849193"/>
                  </a:ext>
                </a:extLst>
              </a:tr>
            </a:tbl>
          </a:graphicData>
        </a:graphic>
      </p:graphicFrame>
    </p:spTree>
    <p:extLst>
      <p:ext uri="{BB962C8B-B14F-4D97-AF65-F5344CB8AC3E}">
        <p14:creationId xmlns:p14="http://schemas.microsoft.com/office/powerpoint/2010/main" val="26026795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63</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تجربة المستفيد"</a:t>
            </a:r>
            <a:r>
              <a:rPr lang="ar-EG" sz="2800" dirty="0"/>
              <a:t> -</a:t>
            </a:r>
            <a:r>
              <a:rPr lang="ar-EG" dirty="0"/>
              <a:t> </a:t>
            </a:r>
            <a:r>
              <a:rPr lang="en-US" dirty="0"/>
              <a:t>تفصيل سمات </a:t>
            </a:r>
            <a:r>
              <a:rPr lang="ar-SA" dirty="0"/>
              <a:t>وحدة </a:t>
            </a:r>
            <a:r>
              <a:rPr lang="ar-EG" dirty="0"/>
              <a:t>ال</a:t>
            </a:r>
            <a:r>
              <a:rPr lang="ar-SA" dirty="0"/>
              <a:t>بناء "مستفيد"</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2450443227"/>
              </p:ext>
            </p:extLst>
          </p:nvPr>
        </p:nvGraphicFramePr>
        <p:xfrm>
          <a:off x="1058826" y="1072519"/>
          <a:ext cx="10074346" cy="1987296"/>
        </p:xfrm>
        <a:graphic>
          <a:graphicData uri="http://schemas.openxmlformats.org/drawingml/2006/table">
            <a:tbl>
              <a:tblPr rtl="1" firstRow="1" bandRow="1">
                <a:tableStyleId>{5C22544A-7EE6-4342-B048-85BDC9FD1C3A}</a:tableStyleId>
              </a:tblPr>
              <a:tblGrid>
                <a:gridCol w="2332072">
                  <a:extLst>
                    <a:ext uri="{9D8B030D-6E8A-4147-A177-3AD203B41FA5}">
                      <a16:colId xmlns:a16="http://schemas.microsoft.com/office/drawing/2014/main" val="2853404558"/>
                    </a:ext>
                  </a:extLst>
                </a:gridCol>
                <a:gridCol w="4907526">
                  <a:extLst>
                    <a:ext uri="{9D8B030D-6E8A-4147-A177-3AD203B41FA5}">
                      <a16:colId xmlns:a16="http://schemas.microsoft.com/office/drawing/2014/main" val="1866450976"/>
                    </a:ext>
                  </a:extLst>
                </a:gridCol>
                <a:gridCol w="1417374">
                  <a:extLst>
                    <a:ext uri="{9D8B030D-6E8A-4147-A177-3AD203B41FA5}">
                      <a16:colId xmlns:a16="http://schemas.microsoft.com/office/drawing/2014/main" val="751160629"/>
                    </a:ext>
                  </a:extLst>
                </a:gridCol>
                <a:gridCol w="1417374">
                  <a:extLst>
                    <a:ext uri="{9D8B030D-6E8A-4147-A177-3AD203B41FA5}">
                      <a16:colId xmlns:a16="http://schemas.microsoft.com/office/drawing/2014/main" val="1581586326"/>
                    </a:ext>
                  </a:extLst>
                </a:gridCol>
              </a:tblGrid>
              <a:tr h="329945">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45720" marR="45720" marT="18288" marB="18288" anchor="b"/>
                </a:tc>
                <a:extLst>
                  <a:ext uri="{0D108BD9-81ED-4DB2-BD59-A6C34878D82A}">
                    <a16:rowId xmlns:a16="http://schemas.microsoft.com/office/drawing/2014/main" val="2998368315"/>
                  </a:ext>
                </a:extLst>
              </a:tr>
              <a:tr h="312902">
                <a:tc>
                  <a:txBody>
                    <a:bodyPr/>
                    <a:lstStyle/>
                    <a:p>
                      <a:pPr algn="ctr" rtl="1" fontAlgn="b"/>
                      <a:r>
                        <a:rPr lang="ar-SA" sz="1800" b="1" u="none" strike="noStrike" kern="1200" dirty="0">
                          <a:solidFill>
                            <a:schemeClr val="dk1"/>
                          </a:solidFill>
                          <a:effectLst/>
                          <a:latin typeface="+mn-lt"/>
                          <a:ea typeface="+mn-ea"/>
                          <a:cs typeface="+mn-cs"/>
                        </a:rPr>
                        <a:t>الرمز</a:t>
                      </a:r>
                      <a:endParaRPr lang="ar-SA" sz="1800" b="1"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الرمز الفريد </a:t>
                      </a:r>
                      <a:r>
                        <a:rPr lang="ar-EG" sz="1600" b="0" i="0" u="none" strike="noStrike" dirty="0">
                          <a:solidFill>
                            <a:srgbClr val="000000"/>
                          </a:solidFill>
                          <a:effectLst/>
                          <a:latin typeface="Calibri" panose="020F0502020204030204" pitchFamily="34" charset="0"/>
                        </a:rPr>
                        <a:t>للمستفيد</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u="none" strike="noStrike" kern="1200" dirty="0">
                          <a:solidFill>
                            <a:schemeClr val="dk1"/>
                          </a:solidFill>
                          <a:effectLst/>
                          <a:latin typeface="+mn-lt"/>
                          <a:ea typeface="+mn-ea"/>
                          <a:cs typeface="+mn-cs"/>
                        </a:rPr>
                        <a:t>أحرف و/أو أرقام</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3474648113"/>
                  </a:ext>
                </a:extLst>
              </a:tr>
              <a:tr h="312902">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اسم المستفيد الذي يستفيد من الخدمات التي تقدمها الهيئة أو الوحدة التنظيمية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2177790647"/>
                  </a:ext>
                </a:extLst>
              </a:tr>
              <a:tr h="312902">
                <a:tc>
                  <a:txBody>
                    <a:bodyPr/>
                    <a:lstStyle/>
                    <a:p>
                      <a:pPr algn="ctr" rtl="1" fontAlgn="b"/>
                      <a:r>
                        <a:rPr lang="ar-SA" sz="1800" b="1" i="0" u="none" strike="noStrike" dirty="0">
                          <a:solidFill>
                            <a:srgbClr val="000000"/>
                          </a:solidFill>
                          <a:effectLst/>
                          <a:latin typeface="Calibri" panose="020F0502020204030204" pitchFamily="34" charset="0"/>
                        </a:rPr>
                        <a:t>فئة المستفيد</a:t>
                      </a:r>
                    </a:p>
                  </a:txBody>
                  <a:tcPr marL="137160" marR="137160" marT="137160" marB="137160" anchor="ctr"/>
                </a:tc>
                <a:tc>
                  <a:txBody>
                    <a:bodyPr/>
                    <a:lstStyle/>
                    <a:p>
                      <a:pPr algn="r" rtl="1" fontAlgn="b"/>
                      <a:r>
                        <a:rPr lang="ar-EG" sz="1600" b="0" i="0" u="none" strike="noStrike" dirty="0">
                          <a:solidFill>
                            <a:srgbClr val="000000"/>
                          </a:solidFill>
                          <a:effectLst/>
                          <a:latin typeface="Calibri" panose="020F0502020204030204" pitchFamily="34" charset="0"/>
                        </a:rPr>
                        <a:t>ربط مع وحدة الفئة التي ينتمي إليها المستفيد</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علاقة ربط</a:t>
                      </a: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230728962"/>
                  </a:ext>
                </a:extLst>
              </a:tr>
            </a:tbl>
          </a:graphicData>
        </a:graphic>
      </p:graphicFrame>
    </p:spTree>
    <p:extLst>
      <p:ext uri="{BB962C8B-B14F-4D97-AF65-F5344CB8AC3E}">
        <p14:creationId xmlns:p14="http://schemas.microsoft.com/office/powerpoint/2010/main" val="5635056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64</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تجربة المستفيد"</a:t>
            </a:r>
            <a:r>
              <a:rPr lang="ar-EG" sz="2800" dirty="0"/>
              <a:t> -</a:t>
            </a:r>
            <a:r>
              <a:rPr lang="ar-EG" dirty="0"/>
              <a:t> </a:t>
            </a:r>
            <a:r>
              <a:rPr lang="en-US" dirty="0"/>
              <a:t>تفصيل سمات </a:t>
            </a:r>
            <a:r>
              <a:rPr lang="ar-SA" dirty="0"/>
              <a:t>وحدة </a:t>
            </a:r>
            <a:r>
              <a:rPr lang="ar-EG" dirty="0"/>
              <a:t>ال</a:t>
            </a:r>
            <a:r>
              <a:rPr lang="ar-SA" dirty="0"/>
              <a:t>بناء "الشخصية"</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3049280266"/>
              </p:ext>
            </p:extLst>
          </p:nvPr>
        </p:nvGraphicFramePr>
        <p:xfrm>
          <a:off x="1061883" y="1203148"/>
          <a:ext cx="10071289" cy="1948462"/>
        </p:xfrm>
        <a:graphic>
          <a:graphicData uri="http://schemas.openxmlformats.org/drawingml/2006/table">
            <a:tbl>
              <a:tblPr rtl="1" firstRow="1" bandRow="1">
                <a:tableStyleId>{5C22544A-7EE6-4342-B048-85BDC9FD1C3A}</a:tableStyleId>
              </a:tblPr>
              <a:tblGrid>
                <a:gridCol w="2332072">
                  <a:extLst>
                    <a:ext uri="{9D8B030D-6E8A-4147-A177-3AD203B41FA5}">
                      <a16:colId xmlns:a16="http://schemas.microsoft.com/office/drawing/2014/main" val="2853404558"/>
                    </a:ext>
                  </a:extLst>
                </a:gridCol>
                <a:gridCol w="4730545">
                  <a:extLst>
                    <a:ext uri="{9D8B030D-6E8A-4147-A177-3AD203B41FA5}">
                      <a16:colId xmlns:a16="http://schemas.microsoft.com/office/drawing/2014/main" val="1866450976"/>
                    </a:ext>
                  </a:extLst>
                </a:gridCol>
                <a:gridCol w="1504336">
                  <a:extLst>
                    <a:ext uri="{9D8B030D-6E8A-4147-A177-3AD203B41FA5}">
                      <a16:colId xmlns:a16="http://schemas.microsoft.com/office/drawing/2014/main" val="751160629"/>
                    </a:ext>
                  </a:extLst>
                </a:gridCol>
                <a:gridCol w="1504336">
                  <a:extLst>
                    <a:ext uri="{9D8B030D-6E8A-4147-A177-3AD203B41FA5}">
                      <a16:colId xmlns:a16="http://schemas.microsoft.com/office/drawing/2014/main" val="1154898250"/>
                    </a:ext>
                  </a:extLst>
                </a:gridCol>
              </a:tblGrid>
              <a:tr h="506746">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45720" marR="45720" marT="18288" marB="18288" anchor="b"/>
                </a:tc>
                <a:extLst>
                  <a:ext uri="{0D108BD9-81ED-4DB2-BD59-A6C34878D82A}">
                    <a16:rowId xmlns:a16="http://schemas.microsoft.com/office/drawing/2014/main" val="2998368315"/>
                  </a:ext>
                </a:extLst>
              </a:tr>
              <a:tr h="480572">
                <a:tc>
                  <a:txBody>
                    <a:bodyPr/>
                    <a:lstStyle/>
                    <a:p>
                      <a:pPr algn="ctr" rtl="1" fontAlgn="b"/>
                      <a:r>
                        <a:rPr lang="ar-SA" sz="1800" b="1" u="none" strike="noStrike" kern="1200" dirty="0">
                          <a:solidFill>
                            <a:schemeClr val="dk1"/>
                          </a:solidFill>
                          <a:effectLst/>
                          <a:latin typeface="+mn-lt"/>
                          <a:ea typeface="+mn-ea"/>
                          <a:cs typeface="+mn-cs"/>
                        </a:rPr>
                        <a:t>الرمز</a:t>
                      </a:r>
                      <a:endParaRPr lang="ar-SA" sz="1800" b="1" i="0" u="none" strike="noStrike" dirty="0">
                        <a:solidFill>
                          <a:srgbClr val="000000"/>
                        </a:solidFill>
                        <a:effectLst/>
                        <a:latin typeface="Calibri" panose="020F0502020204030204" pitchFamily="34" charset="0"/>
                      </a:endParaRP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الرمز الفريد لشخصية</a:t>
                      </a:r>
                      <a:r>
                        <a:rPr lang="ar-EG" sz="1600" b="0" i="0" u="none" strike="noStrike" dirty="0">
                          <a:solidFill>
                            <a:srgbClr val="000000"/>
                          </a:solidFill>
                          <a:effectLst/>
                          <a:latin typeface="Calibri" panose="020F0502020204030204" pitchFamily="34" charset="0"/>
                        </a:rPr>
                        <a:t> المستفيد</a:t>
                      </a:r>
                      <a:endParaRPr lang="ar-SA" sz="1600" b="0" i="0" u="none" strike="noStrike" dirty="0">
                        <a:solidFill>
                          <a:srgbClr val="000000"/>
                        </a:solidFill>
                        <a:effectLst/>
                        <a:latin typeface="Calibri" panose="020F0502020204030204" pitchFamily="34" charset="0"/>
                      </a:endParaRPr>
                    </a:p>
                  </a:txBody>
                  <a:tcPr anchor="ctr"/>
                </a:tc>
                <a:tc>
                  <a:txBody>
                    <a:bodyPr/>
                    <a:lstStyle/>
                    <a:p>
                      <a:pPr algn="r" rtl="1" fontAlgn="b"/>
                      <a:r>
                        <a:rPr lang="ar-SA" sz="1600" u="none" strike="noStrike" kern="1200" dirty="0">
                          <a:solidFill>
                            <a:schemeClr val="dk1"/>
                          </a:solidFill>
                          <a:effectLst/>
                          <a:latin typeface="+mn-lt"/>
                          <a:ea typeface="+mn-ea"/>
                          <a:cs typeface="+mn-cs"/>
                        </a:rPr>
                        <a:t>أحرف و/أو أرقام</a:t>
                      </a:r>
                      <a:endParaRPr lang="ar-SA" sz="1600" b="0" i="0" u="none" strike="noStrike" dirty="0">
                        <a:solidFill>
                          <a:srgbClr val="000000"/>
                        </a:solidFill>
                        <a:effectLst/>
                        <a:latin typeface="Calibri" panose="020F0502020204030204" pitchFamily="34" charset="0"/>
                      </a:endParaRP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anchor="ctr"/>
                </a:tc>
                <a:extLst>
                  <a:ext uri="{0D108BD9-81ED-4DB2-BD59-A6C34878D82A}">
                    <a16:rowId xmlns:a16="http://schemas.microsoft.com/office/drawing/2014/main" val="3732919933"/>
                  </a:ext>
                </a:extLst>
              </a:tr>
              <a:tr h="480572">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الاسم المتعارف عليه لشخصية المستفيد داخل الهيئة</a:t>
                      </a: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anchor="ctr"/>
                </a:tc>
                <a:extLst>
                  <a:ext uri="{0D108BD9-81ED-4DB2-BD59-A6C34878D82A}">
                    <a16:rowId xmlns:a16="http://schemas.microsoft.com/office/drawing/2014/main" val="3345381821"/>
                  </a:ext>
                </a:extLst>
              </a:tr>
              <a:tr h="480572">
                <a:tc>
                  <a:txBody>
                    <a:bodyPr/>
                    <a:lstStyle/>
                    <a:p>
                      <a:pPr algn="ctr" rtl="1" fontAlgn="b"/>
                      <a:r>
                        <a:rPr lang="ar-SA" sz="1800" b="1" i="0" u="none" strike="noStrike" dirty="0">
                          <a:solidFill>
                            <a:srgbClr val="000000"/>
                          </a:solidFill>
                          <a:effectLst/>
                          <a:latin typeface="Calibri" panose="020F0502020204030204" pitchFamily="34" charset="0"/>
                        </a:rPr>
                        <a:t>الوصف</a:t>
                      </a: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وصف خصائص وأهداف الشخصية التي تساعد على تمييزها عن الفئات الأخرى</a:t>
                      </a: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اختياري</a:t>
                      </a:r>
                    </a:p>
                  </a:txBody>
                  <a:tcPr anchor="ctr"/>
                </a:tc>
                <a:extLst>
                  <a:ext uri="{0D108BD9-81ED-4DB2-BD59-A6C34878D82A}">
                    <a16:rowId xmlns:a16="http://schemas.microsoft.com/office/drawing/2014/main" val="2211771291"/>
                  </a:ext>
                </a:extLst>
              </a:tr>
            </a:tbl>
          </a:graphicData>
        </a:graphic>
      </p:graphicFrame>
    </p:spTree>
    <p:extLst>
      <p:ext uri="{BB962C8B-B14F-4D97-AF65-F5344CB8AC3E}">
        <p14:creationId xmlns:p14="http://schemas.microsoft.com/office/powerpoint/2010/main" val="13254660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65</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تجربة المستفيد"</a:t>
            </a:r>
            <a:r>
              <a:rPr lang="ar-EG" sz="2800" dirty="0"/>
              <a:t> -</a:t>
            </a:r>
            <a:r>
              <a:rPr lang="ar-EG" dirty="0"/>
              <a:t> </a:t>
            </a:r>
            <a:r>
              <a:rPr lang="en-US" dirty="0"/>
              <a:t>تفصيل سمات </a:t>
            </a:r>
            <a:r>
              <a:rPr lang="ar-SA" dirty="0"/>
              <a:t>وحدة </a:t>
            </a:r>
            <a:r>
              <a:rPr lang="ar-EG" dirty="0"/>
              <a:t>ال</a:t>
            </a:r>
            <a:r>
              <a:rPr lang="ar-SA" dirty="0"/>
              <a:t>بناء "رحلة المستفيد"</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2067502861"/>
              </p:ext>
            </p:extLst>
          </p:nvPr>
        </p:nvGraphicFramePr>
        <p:xfrm>
          <a:off x="1058826" y="1135354"/>
          <a:ext cx="10074346" cy="5069839"/>
        </p:xfrm>
        <a:graphic>
          <a:graphicData uri="http://schemas.openxmlformats.org/drawingml/2006/table">
            <a:tbl>
              <a:tblPr rtl="1" firstRow="1" bandRow="1">
                <a:tableStyleId>{5C22544A-7EE6-4342-B048-85BDC9FD1C3A}</a:tableStyleId>
              </a:tblPr>
              <a:tblGrid>
                <a:gridCol w="2281272">
                  <a:extLst>
                    <a:ext uri="{9D8B030D-6E8A-4147-A177-3AD203B41FA5}">
                      <a16:colId xmlns:a16="http://schemas.microsoft.com/office/drawing/2014/main" val="2853404558"/>
                    </a:ext>
                  </a:extLst>
                </a:gridCol>
                <a:gridCol w="4751848">
                  <a:extLst>
                    <a:ext uri="{9D8B030D-6E8A-4147-A177-3AD203B41FA5}">
                      <a16:colId xmlns:a16="http://schemas.microsoft.com/office/drawing/2014/main" val="1866450976"/>
                    </a:ext>
                  </a:extLst>
                </a:gridCol>
                <a:gridCol w="1520613">
                  <a:extLst>
                    <a:ext uri="{9D8B030D-6E8A-4147-A177-3AD203B41FA5}">
                      <a16:colId xmlns:a16="http://schemas.microsoft.com/office/drawing/2014/main" val="751160629"/>
                    </a:ext>
                  </a:extLst>
                </a:gridCol>
                <a:gridCol w="1520613">
                  <a:extLst>
                    <a:ext uri="{9D8B030D-6E8A-4147-A177-3AD203B41FA5}">
                      <a16:colId xmlns:a16="http://schemas.microsoft.com/office/drawing/2014/main" val="3760383388"/>
                    </a:ext>
                  </a:extLst>
                </a:gridCol>
              </a:tblGrid>
              <a:tr h="393826">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45720" marR="45720" marT="18288" marB="18288" anchor="b"/>
                </a:tc>
                <a:extLst>
                  <a:ext uri="{0D108BD9-81ED-4DB2-BD59-A6C34878D82A}">
                    <a16:rowId xmlns:a16="http://schemas.microsoft.com/office/drawing/2014/main" val="2998368315"/>
                  </a:ext>
                </a:extLst>
              </a:tr>
              <a:tr h="490852">
                <a:tc>
                  <a:txBody>
                    <a:bodyPr/>
                    <a:lstStyle/>
                    <a:p>
                      <a:pPr algn="ctr" rtl="1" fontAlgn="b"/>
                      <a:r>
                        <a:rPr lang="ar-SA" sz="1800" b="1" u="none" strike="noStrike" kern="1200" dirty="0">
                          <a:solidFill>
                            <a:schemeClr val="dk1"/>
                          </a:solidFill>
                          <a:effectLst/>
                          <a:latin typeface="+mn-lt"/>
                          <a:ea typeface="+mn-ea"/>
                          <a:cs typeface="+mn-cs"/>
                        </a:rPr>
                        <a:t>الرمز</a:t>
                      </a:r>
                      <a:endParaRPr lang="ar-SA" sz="1800" b="1" i="0" u="none" strike="noStrike" dirty="0">
                        <a:solidFill>
                          <a:srgbClr val="000000"/>
                        </a:solidFill>
                        <a:effectLst/>
                        <a:latin typeface="Calibri" panose="020F0502020204030204" pitchFamily="34" charset="0"/>
                      </a:endParaRP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الرمز الفريد </a:t>
                      </a:r>
                      <a:r>
                        <a:rPr lang="ar-EG" sz="1600" b="0" i="0" u="none" strike="noStrike" dirty="0">
                          <a:solidFill>
                            <a:srgbClr val="000000"/>
                          </a:solidFill>
                          <a:effectLst/>
                          <a:latin typeface="Calibri" panose="020F0502020204030204" pitchFamily="34" charset="0"/>
                        </a:rPr>
                        <a:t>لرحلة المستفيد</a:t>
                      </a:r>
                      <a:endParaRPr lang="ar-SA" sz="1600" b="0" i="0" u="none" strike="noStrike" dirty="0">
                        <a:solidFill>
                          <a:srgbClr val="000000"/>
                        </a:solidFill>
                        <a:effectLst/>
                        <a:latin typeface="Calibri" panose="020F0502020204030204" pitchFamily="34" charset="0"/>
                      </a:endParaRPr>
                    </a:p>
                  </a:txBody>
                  <a:tcPr anchor="ctr"/>
                </a:tc>
                <a:tc>
                  <a:txBody>
                    <a:bodyPr/>
                    <a:lstStyle/>
                    <a:p>
                      <a:pPr algn="r" rtl="1" fontAlgn="b"/>
                      <a:r>
                        <a:rPr lang="ar-SA" sz="1600" u="none" strike="noStrike" kern="1200" dirty="0">
                          <a:solidFill>
                            <a:schemeClr val="dk1"/>
                          </a:solidFill>
                          <a:effectLst/>
                          <a:latin typeface="+mn-lt"/>
                          <a:ea typeface="+mn-ea"/>
                          <a:cs typeface="+mn-cs"/>
                        </a:rPr>
                        <a:t>أحرف و/أو أرقام</a:t>
                      </a:r>
                      <a:endParaRPr lang="ar-SA" sz="1600" b="0" i="0" u="none" strike="noStrike" dirty="0">
                        <a:solidFill>
                          <a:srgbClr val="000000"/>
                        </a:solidFill>
                        <a:effectLst/>
                        <a:latin typeface="Calibri" panose="020F0502020204030204" pitchFamily="34" charset="0"/>
                      </a:endParaRP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anchor="ctr"/>
                </a:tc>
                <a:extLst>
                  <a:ext uri="{0D108BD9-81ED-4DB2-BD59-A6C34878D82A}">
                    <a16:rowId xmlns:a16="http://schemas.microsoft.com/office/drawing/2014/main" val="650443948"/>
                  </a:ext>
                </a:extLst>
              </a:tr>
              <a:tr h="490852">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اسم يحدد مسار رحلة المستفيد خلال التفاعل مع الهيئة</a:t>
                      </a: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anchor="ctr"/>
                </a:tc>
                <a:extLst>
                  <a:ext uri="{0D108BD9-81ED-4DB2-BD59-A6C34878D82A}">
                    <a16:rowId xmlns:a16="http://schemas.microsoft.com/office/drawing/2014/main" val="2177790647"/>
                  </a:ext>
                </a:extLst>
              </a:tr>
              <a:tr h="490852">
                <a:tc>
                  <a:txBody>
                    <a:bodyPr/>
                    <a:lstStyle/>
                    <a:p>
                      <a:pPr algn="ctr" rtl="1" fontAlgn="b"/>
                      <a:r>
                        <a:rPr lang="ar-SA" sz="1800" b="1" i="0" u="none" strike="noStrike" dirty="0">
                          <a:solidFill>
                            <a:srgbClr val="000000"/>
                          </a:solidFill>
                          <a:effectLst/>
                          <a:latin typeface="Calibri" panose="020F0502020204030204" pitchFamily="34" charset="0"/>
                        </a:rPr>
                        <a:t>الوصف</a:t>
                      </a: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وصف شامل للرحلة التي يمر بها المستفيد، موضحا مراحل التفاعل والخدمات المقدمة</a:t>
                      </a: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anchor="ctr"/>
                </a:tc>
                <a:extLst>
                  <a:ext uri="{0D108BD9-81ED-4DB2-BD59-A6C34878D82A}">
                    <a16:rowId xmlns:a16="http://schemas.microsoft.com/office/drawing/2014/main" val="4288224322"/>
                  </a:ext>
                </a:extLst>
              </a:tr>
              <a:tr h="490852">
                <a:tc>
                  <a:txBody>
                    <a:bodyPr/>
                    <a:lstStyle/>
                    <a:p>
                      <a:pPr algn="ctr" rtl="1" fontAlgn="b"/>
                      <a:r>
                        <a:rPr lang="ar-SA" sz="1800" b="1" i="0" u="none" strike="noStrike" dirty="0">
                          <a:solidFill>
                            <a:srgbClr val="000000"/>
                          </a:solidFill>
                          <a:effectLst/>
                          <a:latin typeface="Calibri" panose="020F0502020204030204" pitchFamily="34" charset="0"/>
                        </a:rPr>
                        <a:t>مراحل الرحلة</a:t>
                      </a:r>
                    </a:p>
                  </a:txBody>
                  <a:tcPr anchor="ctr"/>
                </a:tc>
                <a:tc>
                  <a:txBody>
                    <a:bodyPr/>
                    <a:lstStyle/>
                    <a:p>
                      <a:pPr algn="r" rtl="1" fontAlgn="b"/>
                      <a:r>
                        <a:rPr lang="ar-EG" sz="1600" b="0" i="0" u="none" strike="noStrike" dirty="0">
                          <a:solidFill>
                            <a:srgbClr val="000000"/>
                          </a:solidFill>
                          <a:effectLst/>
                          <a:latin typeface="Calibri" panose="020F0502020204030204" pitchFamily="34" charset="0"/>
                        </a:rPr>
                        <a:t>وصف لل</a:t>
                      </a:r>
                      <a:r>
                        <a:rPr lang="ar-SA" sz="1600" b="0" i="0" u="none" strike="noStrike" dirty="0">
                          <a:solidFill>
                            <a:srgbClr val="000000"/>
                          </a:solidFill>
                          <a:effectLst/>
                          <a:latin typeface="Calibri" panose="020F0502020204030204" pitchFamily="34" charset="0"/>
                        </a:rPr>
                        <a:t>مراحل التي يمر بها المستفيد خلال رحلته (مثل التسجيل، تقديم الخدمة، التقييم)</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نص</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اختياري</a:t>
                      </a:r>
                    </a:p>
                  </a:txBody>
                  <a:tcPr anchor="ctr"/>
                </a:tc>
                <a:extLst>
                  <a:ext uri="{0D108BD9-81ED-4DB2-BD59-A6C34878D82A}">
                    <a16:rowId xmlns:a16="http://schemas.microsoft.com/office/drawing/2014/main" val="867269573"/>
                  </a:ext>
                </a:extLst>
              </a:tr>
              <a:tr h="490852">
                <a:tc>
                  <a:txBody>
                    <a:bodyPr/>
                    <a:lstStyle/>
                    <a:p>
                      <a:pPr algn="ctr" rtl="1" fontAlgn="b"/>
                      <a:r>
                        <a:rPr lang="ar-SA" sz="1800" b="1" i="0" u="none" strike="noStrike" dirty="0">
                          <a:solidFill>
                            <a:srgbClr val="000000"/>
                          </a:solidFill>
                          <a:effectLst/>
                          <a:latin typeface="Calibri" panose="020F0502020204030204" pitchFamily="34" charset="0"/>
                        </a:rPr>
                        <a:t>المستفيد المرتبط</a:t>
                      </a:r>
                    </a:p>
                  </a:txBody>
                  <a:tcPr anchor="ctr"/>
                </a:tc>
                <a:tc>
                  <a:txBody>
                    <a:bodyPr/>
                    <a:lstStyle/>
                    <a:p>
                      <a:pPr algn="r" rtl="1" fontAlgn="b"/>
                      <a:r>
                        <a:rPr lang="ar-EG" sz="1600" b="0" i="0" u="none" strike="noStrike" dirty="0">
                          <a:solidFill>
                            <a:srgbClr val="000000"/>
                          </a:solidFill>
                          <a:effectLst/>
                          <a:latin typeface="Calibri" panose="020F0502020204030204" pitchFamily="34" charset="0"/>
                        </a:rPr>
                        <a:t>المستفيد المرتبط بهذه الرحلة</a:t>
                      </a:r>
                      <a:endParaRPr lang="ar-SA" sz="1600" b="0" i="0" u="none" strike="noStrike" dirty="0">
                        <a:solidFill>
                          <a:srgbClr val="000000"/>
                        </a:solidFill>
                        <a:effectLst/>
                        <a:latin typeface="Calibri" panose="020F0502020204030204" pitchFamily="34" charset="0"/>
                      </a:endParaRP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علاقة ربط</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إلزامي</a:t>
                      </a:r>
                    </a:p>
                  </a:txBody>
                  <a:tcPr anchor="ctr"/>
                </a:tc>
                <a:extLst>
                  <a:ext uri="{0D108BD9-81ED-4DB2-BD59-A6C34878D82A}">
                    <a16:rowId xmlns:a16="http://schemas.microsoft.com/office/drawing/2014/main" val="220032958"/>
                  </a:ext>
                </a:extLst>
              </a:tr>
              <a:tr h="681739">
                <a:tc>
                  <a:txBody>
                    <a:bodyPr/>
                    <a:lstStyle/>
                    <a:p>
                      <a:pPr algn="ctr" rtl="1" fontAlgn="b"/>
                      <a:r>
                        <a:rPr lang="ar-SA" sz="1800" b="1" i="0" u="none" strike="noStrike" dirty="0">
                          <a:solidFill>
                            <a:srgbClr val="000000"/>
                          </a:solidFill>
                          <a:effectLst/>
                          <a:latin typeface="Calibri" panose="020F0502020204030204" pitchFamily="34" charset="0"/>
                        </a:rPr>
                        <a:t>المشاعر</a:t>
                      </a:r>
                      <a:r>
                        <a:rPr lang="ar-EG" sz="1800" b="1" i="0" u="none" strike="noStrike" dirty="0">
                          <a:solidFill>
                            <a:srgbClr val="000000"/>
                          </a:solidFill>
                          <a:effectLst/>
                          <a:latin typeface="Calibri" panose="020F0502020204030204" pitchFamily="34" charset="0"/>
                        </a:rPr>
                        <a:t> خلال المراحل</a:t>
                      </a:r>
                      <a:endParaRPr lang="ar-SA" sz="1800" b="1" i="0" u="none" strike="noStrike" dirty="0">
                        <a:solidFill>
                          <a:srgbClr val="000000"/>
                        </a:solidFill>
                        <a:effectLst/>
                        <a:latin typeface="Calibri" panose="020F0502020204030204" pitchFamily="34" charset="0"/>
                      </a:endParaRP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المشاعر التي يمر بها المستفيد خلال المراحل المختلفة</a:t>
                      </a:r>
                      <a:r>
                        <a:rPr lang="ar-EG" sz="1600" b="0" i="0" u="none" strike="noStrike" dirty="0">
                          <a:solidFill>
                            <a:srgbClr val="000000"/>
                          </a:solidFill>
                          <a:effectLst/>
                          <a:latin typeface="Calibri" panose="020F0502020204030204" pitchFamily="34" charset="0"/>
                        </a:rPr>
                        <a:t> </a:t>
                      </a:r>
                      <a:r>
                        <a:rPr lang="ar-SA" sz="1600" b="0" i="0" u="none" strike="noStrike" dirty="0">
                          <a:solidFill>
                            <a:srgbClr val="000000"/>
                          </a:solidFill>
                          <a:effectLst/>
                          <a:latin typeface="Calibri" panose="020F0502020204030204" pitchFamily="34" charset="0"/>
                        </a:rPr>
                        <a:t>من رحلته مع الخدمة</a:t>
                      </a:r>
                      <a:r>
                        <a:rPr lang="ar-EG" sz="1600" b="0" i="0" u="none" strike="noStrike" dirty="0">
                          <a:solidFill>
                            <a:srgbClr val="000000"/>
                          </a:solidFill>
                          <a:effectLst/>
                          <a:latin typeface="Calibri" panose="020F0502020204030204" pitchFamily="34" charset="0"/>
                        </a:rPr>
                        <a:t> (</a:t>
                      </a:r>
                      <a:r>
                        <a:rPr lang="ar-SA" sz="1600" b="0" i="0" u="none" strike="noStrike" dirty="0">
                          <a:solidFill>
                            <a:srgbClr val="000000"/>
                          </a:solidFill>
                          <a:effectLst/>
                          <a:latin typeface="Calibri" panose="020F0502020204030204" pitchFamily="34" charset="0"/>
                        </a:rPr>
                        <a:t>مثل</a:t>
                      </a:r>
                      <a:r>
                        <a:rPr lang="ar-EG" sz="1600" b="0" i="0" u="none" strike="noStrike" dirty="0">
                          <a:solidFill>
                            <a:srgbClr val="000000"/>
                          </a:solidFill>
                          <a:effectLst/>
                          <a:latin typeface="Calibri" panose="020F0502020204030204" pitchFamily="34" charset="0"/>
                        </a:rPr>
                        <a:t>:</a:t>
                      </a:r>
                      <a:r>
                        <a:rPr lang="ar-SA" sz="1600" b="0" i="0" u="none" strike="noStrike" dirty="0">
                          <a:solidFill>
                            <a:srgbClr val="000000"/>
                          </a:solidFill>
                          <a:effectLst/>
                          <a:latin typeface="Calibri" panose="020F0502020204030204" pitchFamily="34" charset="0"/>
                        </a:rPr>
                        <a:t> السعادة، الإحباط، الثقة، القلق</a:t>
                      </a:r>
                      <a:r>
                        <a:rPr lang="ar-EG" sz="1600" b="0" i="0" u="none" strike="noStrike" dirty="0">
                          <a:solidFill>
                            <a:srgbClr val="000000"/>
                          </a:solidFill>
                          <a:effectLst/>
                          <a:latin typeface="Calibri" panose="020F0502020204030204" pitchFamily="34" charset="0"/>
                        </a:rPr>
                        <a:t>)</a:t>
                      </a:r>
                      <a:endParaRPr lang="ar-SA" sz="1600" b="0" i="0" u="none" strike="noStrike" dirty="0">
                        <a:solidFill>
                          <a:srgbClr val="000000"/>
                        </a:solidFill>
                        <a:effectLst/>
                        <a:latin typeface="Calibri" panose="020F0502020204030204" pitchFamily="34" charset="0"/>
                      </a:endParaRP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نص</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اختياري</a:t>
                      </a:r>
                    </a:p>
                  </a:txBody>
                  <a:tcPr anchor="ctr"/>
                </a:tc>
                <a:extLst>
                  <a:ext uri="{0D108BD9-81ED-4DB2-BD59-A6C34878D82A}">
                    <a16:rowId xmlns:a16="http://schemas.microsoft.com/office/drawing/2014/main" val="123197882"/>
                  </a:ext>
                </a:extLst>
              </a:tr>
              <a:tr h="681739">
                <a:tc>
                  <a:txBody>
                    <a:bodyPr/>
                    <a:lstStyle/>
                    <a:p>
                      <a:pPr algn="ctr" rtl="1" fontAlgn="b"/>
                      <a:r>
                        <a:rPr lang="ar-SA" sz="1800" b="1" i="0" u="none" strike="noStrike" dirty="0">
                          <a:solidFill>
                            <a:srgbClr val="000000"/>
                          </a:solidFill>
                          <a:effectLst/>
                          <a:latin typeface="Calibri" panose="020F0502020204030204" pitchFamily="34" charset="0"/>
                        </a:rPr>
                        <a:t>التوقعات</a:t>
                      </a:r>
                      <a:r>
                        <a:rPr lang="ar-EG" sz="1800" b="1" i="0" u="none" strike="noStrike" dirty="0">
                          <a:solidFill>
                            <a:srgbClr val="000000"/>
                          </a:solidFill>
                          <a:effectLst/>
                          <a:latin typeface="Calibri" panose="020F0502020204030204" pitchFamily="34" charset="0"/>
                        </a:rPr>
                        <a:t> خلال المراحل</a:t>
                      </a:r>
                      <a:endParaRPr lang="ar-SA" sz="1800" b="1" i="0" u="none" strike="noStrike" dirty="0">
                        <a:solidFill>
                          <a:srgbClr val="000000"/>
                        </a:solidFill>
                        <a:effectLst/>
                        <a:latin typeface="Calibri" panose="020F0502020204030204" pitchFamily="34" charset="0"/>
                      </a:endParaRP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توقعات المستفيد فيما يتعلق بالخدمة خلال المراحل المختلفة</a:t>
                      </a:r>
                      <a:r>
                        <a:rPr lang="ar-EG" sz="1600" b="0" i="0" u="none" strike="noStrike" dirty="0">
                          <a:solidFill>
                            <a:srgbClr val="000000"/>
                          </a:solidFill>
                          <a:effectLst/>
                          <a:latin typeface="Calibri" panose="020F0502020204030204" pitchFamily="34" charset="0"/>
                        </a:rPr>
                        <a:t>  </a:t>
                      </a:r>
                      <a:r>
                        <a:rPr lang="ar-SA" sz="1600" b="0" i="0" u="none" strike="noStrike" dirty="0">
                          <a:solidFill>
                            <a:srgbClr val="000000"/>
                          </a:solidFill>
                          <a:effectLst/>
                          <a:latin typeface="Calibri" panose="020F0502020204030204" pitchFamily="34" charset="0"/>
                        </a:rPr>
                        <a:t>من الرحلة، مثل توقع سرعة الخدمة، جودة معينة، أو تجربة محددة</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نص</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اختياري</a:t>
                      </a:r>
                    </a:p>
                  </a:txBody>
                  <a:tcPr anchor="ctr"/>
                </a:tc>
                <a:extLst>
                  <a:ext uri="{0D108BD9-81ED-4DB2-BD59-A6C34878D82A}">
                    <a16:rowId xmlns:a16="http://schemas.microsoft.com/office/drawing/2014/main" val="3281792136"/>
                  </a:ext>
                </a:extLst>
              </a:tr>
              <a:tr h="681739">
                <a:tc>
                  <a:txBody>
                    <a:bodyPr/>
                    <a:lstStyle/>
                    <a:p>
                      <a:pPr algn="ctr" rtl="1" fontAlgn="b"/>
                      <a:r>
                        <a:rPr lang="ar-SA" sz="1800" b="1" i="0" u="none" strike="noStrike" dirty="0">
                          <a:solidFill>
                            <a:srgbClr val="000000"/>
                          </a:solidFill>
                          <a:effectLst/>
                          <a:latin typeface="Calibri" panose="020F0502020204030204" pitchFamily="34" charset="0"/>
                        </a:rPr>
                        <a:t>التجارب</a:t>
                      </a:r>
                      <a:r>
                        <a:rPr lang="ar-EG" sz="1800" b="1" i="0" u="none" strike="noStrike" dirty="0">
                          <a:solidFill>
                            <a:srgbClr val="000000"/>
                          </a:solidFill>
                          <a:effectLst/>
                          <a:latin typeface="Calibri" panose="020F0502020204030204" pitchFamily="34" charset="0"/>
                        </a:rPr>
                        <a:t> خلال المراحل</a:t>
                      </a:r>
                      <a:endParaRPr lang="ar-SA" sz="1800" b="1" i="0" u="none" strike="noStrike" dirty="0">
                        <a:solidFill>
                          <a:srgbClr val="000000"/>
                        </a:solidFill>
                        <a:effectLst/>
                        <a:latin typeface="Calibri" panose="020F0502020204030204" pitchFamily="34" charset="0"/>
                      </a:endParaRPr>
                    </a:p>
                  </a:txBody>
                  <a:tcPr anchor="ctr"/>
                </a:tc>
                <a:tc>
                  <a:txBody>
                    <a:bodyPr/>
                    <a:lstStyle/>
                    <a:p>
                      <a:pPr algn="r" rtl="1" fontAlgn="b"/>
                      <a:r>
                        <a:rPr lang="ar-SA" sz="1600" b="0" i="0" u="none" strike="noStrike" dirty="0">
                          <a:solidFill>
                            <a:srgbClr val="000000"/>
                          </a:solidFill>
                          <a:effectLst/>
                          <a:latin typeface="Calibri" panose="020F0502020204030204" pitchFamily="34" charset="0"/>
                        </a:rPr>
                        <a:t>التجارب الفعلية التي مر بها المستفيد خلال تفاعله مع الخدمة خلال المراحل المختلفة، بما في ذلك الأحداث الإيجابية أو السلبية التي أثرت على رضاه</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نص</a:t>
                      </a:r>
                    </a:p>
                  </a:txBody>
                  <a:tcPr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اختياري</a:t>
                      </a:r>
                    </a:p>
                  </a:txBody>
                  <a:tcPr anchor="ctr"/>
                </a:tc>
                <a:extLst>
                  <a:ext uri="{0D108BD9-81ED-4DB2-BD59-A6C34878D82A}">
                    <a16:rowId xmlns:a16="http://schemas.microsoft.com/office/drawing/2014/main" val="3417437890"/>
                  </a:ext>
                </a:extLst>
              </a:tr>
            </a:tbl>
          </a:graphicData>
        </a:graphic>
      </p:graphicFrame>
    </p:spTree>
    <p:extLst>
      <p:ext uri="{BB962C8B-B14F-4D97-AF65-F5344CB8AC3E}">
        <p14:creationId xmlns:p14="http://schemas.microsoft.com/office/powerpoint/2010/main" val="13315621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66</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تجربة المستفيد"</a:t>
            </a:r>
            <a:r>
              <a:rPr lang="ar-EG" sz="2800" dirty="0"/>
              <a:t> -</a:t>
            </a:r>
            <a:r>
              <a:rPr lang="ar-EG" dirty="0"/>
              <a:t> </a:t>
            </a:r>
            <a:r>
              <a:rPr lang="en-US" dirty="0"/>
              <a:t>تفصيل سمات </a:t>
            </a:r>
            <a:r>
              <a:rPr lang="ar-SA" dirty="0"/>
              <a:t>وحدة </a:t>
            </a:r>
            <a:r>
              <a:rPr lang="ar-EG" dirty="0"/>
              <a:t>ال</a:t>
            </a:r>
            <a:r>
              <a:rPr lang="ar-SA" dirty="0"/>
              <a:t>بناء "مرحلة المستفيد"</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3706963649"/>
              </p:ext>
            </p:extLst>
          </p:nvPr>
        </p:nvGraphicFramePr>
        <p:xfrm>
          <a:off x="1058826" y="1072519"/>
          <a:ext cx="10074346" cy="2170176"/>
        </p:xfrm>
        <a:graphic>
          <a:graphicData uri="http://schemas.openxmlformats.org/drawingml/2006/table">
            <a:tbl>
              <a:tblPr rtl="1" firstRow="1" bandRow="1">
                <a:tableStyleId>{5C22544A-7EE6-4342-B048-85BDC9FD1C3A}</a:tableStyleId>
              </a:tblPr>
              <a:tblGrid>
                <a:gridCol w="2332072">
                  <a:extLst>
                    <a:ext uri="{9D8B030D-6E8A-4147-A177-3AD203B41FA5}">
                      <a16:colId xmlns:a16="http://schemas.microsoft.com/office/drawing/2014/main" val="2853404558"/>
                    </a:ext>
                  </a:extLst>
                </a:gridCol>
                <a:gridCol w="4907526">
                  <a:extLst>
                    <a:ext uri="{9D8B030D-6E8A-4147-A177-3AD203B41FA5}">
                      <a16:colId xmlns:a16="http://schemas.microsoft.com/office/drawing/2014/main" val="1866450976"/>
                    </a:ext>
                  </a:extLst>
                </a:gridCol>
                <a:gridCol w="1417374">
                  <a:extLst>
                    <a:ext uri="{9D8B030D-6E8A-4147-A177-3AD203B41FA5}">
                      <a16:colId xmlns:a16="http://schemas.microsoft.com/office/drawing/2014/main" val="751160629"/>
                    </a:ext>
                  </a:extLst>
                </a:gridCol>
                <a:gridCol w="1417374">
                  <a:extLst>
                    <a:ext uri="{9D8B030D-6E8A-4147-A177-3AD203B41FA5}">
                      <a16:colId xmlns:a16="http://schemas.microsoft.com/office/drawing/2014/main" val="1581586326"/>
                    </a:ext>
                  </a:extLst>
                </a:gridCol>
              </a:tblGrid>
              <a:tr h="329945">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45720" marR="45720" marT="18288" marB="18288" anchor="b"/>
                </a:tc>
                <a:extLst>
                  <a:ext uri="{0D108BD9-81ED-4DB2-BD59-A6C34878D82A}">
                    <a16:rowId xmlns:a16="http://schemas.microsoft.com/office/drawing/2014/main" val="2998368315"/>
                  </a:ext>
                </a:extLst>
              </a:tr>
              <a:tr h="312902">
                <a:tc>
                  <a:txBody>
                    <a:bodyPr/>
                    <a:lstStyle/>
                    <a:p>
                      <a:pPr algn="ctr" rtl="1" fontAlgn="b"/>
                      <a:r>
                        <a:rPr lang="ar-SA" sz="1800" b="1" u="none" strike="noStrike" kern="1200" dirty="0">
                          <a:solidFill>
                            <a:schemeClr val="dk1"/>
                          </a:solidFill>
                          <a:effectLst/>
                          <a:latin typeface="+mn-lt"/>
                          <a:ea typeface="+mn-ea"/>
                          <a:cs typeface="+mn-cs"/>
                        </a:rPr>
                        <a:t>الرمز</a:t>
                      </a:r>
                      <a:endParaRPr lang="ar-SA" sz="1800" b="1"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الرمز الفريد </a:t>
                      </a:r>
                      <a:r>
                        <a:rPr lang="ar-EG" sz="1600" b="0" i="0" u="none" strike="noStrike" dirty="0">
                          <a:solidFill>
                            <a:srgbClr val="000000"/>
                          </a:solidFill>
                          <a:effectLst/>
                          <a:latin typeface="Calibri" panose="020F0502020204030204" pitchFamily="34" charset="0"/>
                        </a:rPr>
                        <a:t>ل</a:t>
                      </a:r>
                      <a:r>
                        <a:rPr lang="ar-SA" sz="1600" b="0" i="0" u="none" strike="noStrike" dirty="0">
                          <a:solidFill>
                            <a:srgbClr val="000000"/>
                          </a:solidFill>
                          <a:effectLst/>
                          <a:latin typeface="Calibri" panose="020F0502020204030204" pitchFamily="34" charset="0"/>
                        </a:rPr>
                        <a:t>مرحلة ا</a:t>
                      </a:r>
                      <a:r>
                        <a:rPr lang="ar-EG" sz="1600" b="0" i="0" u="none" strike="noStrike" dirty="0">
                          <a:solidFill>
                            <a:srgbClr val="000000"/>
                          </a:solidFill>
                          <a:effectLst/>
                          <a:latin typeface="Calibri" panose="020F0502020204030204" pitchFamily="34" charset="0"/>
                        </a:rPr>
                        <a:t>لمستفيد</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u="none" strike="noStrike" kern="1200" dirty="0">
                          <a:solidFill>
                            <a:schemeClr val="dk1"/>
                          </a:solidFill>
                          <a:effectLst/>
                          <a:latin typeface="+mn-lt"/>
                          <a:ea typeface="+mn-ea"/>
                          <a:cs typeface="+mn-cs"/>
                        </a:rPr>
                        <a:t>أحرف و/أو أرقام</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3474648113"/>
                  </a:ext>
                </a:extLst>
              </a:tr>
              <a:tr h="312902">
                <a:tc>
                  <a:txBody>
                    <a:bodyPr/>
                    <a:lstStyle/>
                    <a:p>
                      <a:pPr algn="ctr" rtl="1" fontAlgn="b"/>
                      <a:r>
                        <a:rPr lang="ar-SA" sz="1800" b="1" i="0" u="none" strike="noStrike" dirty="0">
                          <a:solidFill>
                            <a:srgbClr val="000000"/>
                          </a:solidFill>
                          <a:effectLst/>
                          <a:latin typeface="Calibri" panose="020F0502020204030204" pitchFamily="34" charset="0"/>
                        </a:rPr>
                        <a:t>اسم المرحلة</a:t>
                      </a:r>
                    </a:p>
                  </a:txBody>
                  <a:tcPr marL="137160" marR="137160" marT="137160" marB="137160" anchor="ctr"/>
                </a:tc>
                <a:tc>
                  <a:txBody>
                    <a:bodyPr/>
                    <a:lstStyle/>
                    <a:p>
                      <a:pPr algn="r" rtl="1" fontAlgn="b"/>
                      <a:r>
                        <a:rPr lang="ar-EG" sz="1600" dirty="0"/>
                        <a:t>اسم يعبر عن حالة أو هدف المستفيد</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2177790647"/>
                  </a:ext>
                </a:extLst>
              </a:tr>
              <a:tr h="312902">
                <a:tc>
                  <a:txBody>
                    <a:bodyPr/>
                    <a:lstStyle/>
                    <a:p>
                      <a:pPr marL="0" algn="ctr" defTabSz="914400" rtl="1" eaLnBrk="1" fontAlgn="b" latinLnBrk="0" hangingPunct="1"/>
                      <a:r>
                        <a:rPr lang="ar-EG" sz="1800" b="1" i="0" u="none" strike="noStrike" kern="1200" dirty="0">
                          <a:solidFill>
                            <a:srgbClr val="000000"/>
                          </a:solidFill>
                          <a:effectLst/>
                          <a:latin typeface="Calibri" panose="020F0502020204030204" pitchFamily="34" charset="0"/>
                          <a:ea typeface="+mn-ea"/>
                          <a:cs typeface="+mn-cs"/>
                        </a:rPr>
                        <a:t>وصف المرحلة</a:t>
                      </a:r>
                    </a:p>
                  </a:txBody>
                  <a:tcPr anchor="ctr"/>
                </a:tc>
                <a:tc>
                  <a:txBody>
                    <a:bodyPr/>
                    <a:lstStyle/>
                    <a:p>
                      <a:pPr algn="r" rtl="1"/>
                      <a:r>
                        <a:rPr lang="ar-EG" dirty="0"/>
                        <a:t>شرح مختصر لطبيعة المرحلة</a:t>
                      </a:r>
                    </a:p>
                  </a:txBody>
                  <a:tcPr anchor="ctr"/>
                </a:tc>
                <a:tc>
                  <a:txBody>
                    <a:bodyPr/>
                    <a:lstStyle/>
                    <a:p>
                      <a:pPr algn="r" rtl="1"/>
                      <a:r>
                        <a:rPr lang="ar-EG"/>
                        <a:t>نص</a:t>
                      </a:r>
                    </a:p>
                  </a:txBody>
                  <a:tcPr anchor="ctr"/>
                </a:tc>
                <a:tc>
                  <a:txBody>
                    <a:bodyPr/>
                    <a:lstStyle/>
                    <a:p>
                      <a:pPr algn="r" rtl="1"/>
                      <a:r>
                        <a:rPr lang="ar-EG" dirty="0"/>
                        <a:t>إلزامي</a:t>
                      </a:r>
                    </a:p>
                  </a:txBody>
                  <a:tcPr anchor="ctr"/>
                </a:tc>
                <a:extLst>
                  <a:ext uri="{0D108BD9-81ED-4DB2-BD59-A6C34878D82A}">
                    <a16:rowId xmlns:a16="http://schemas.microsoft.com/office/drawing/2014/main" val="230728962"/>
                  </a:ext>
                </a:extLst>
              </a:tr>
              <a:tr h="312902">
                <a:tc>
                  <a:txBody>
                    <a:bodyPr/>
                    <a:lstStyle/>
                    <a:p>
                      <a:pPr marL="0" algn="ctr" defTabSz="914400" rtl="1" eaLnBrk="1" fontAlgn="b" latinLnBrk="0" hangingPunct="1"/>
                      <a:r>
                        <a:rPr lang="ar-EG" sz="1800" b="1" i="0" u="none" strike="noStrike" kern="1200" dirty="0">
                          <a:solidFill>
                            <a:srgbClr val="000000"/>
                          </a:solidFill>
                          <a:effectLst/>
                          <a:latin typeface="Calibri" panose="020F0502020204030204" pitchFamily="34" charset="0"/>
                          <a:ea typeface="+mn-ea"/>
                          <a:cs typeface="+mn-cs"/>
                        </a:rPr>
                        <a:t>هدف المرحلة</a:t>
                      </a:r>
                    </a:p>
                  </a:txBody>
                  <a:tcPr anchor="ctr"/>
                </a:tc>
                <a:tc>
                  <a:txBody>
                    <a:bodyPr/>
                    <a:lstStyle/>
                    <a:p>
                      <a:pPr algn="r" rtl="1"/>
                      <a:r>
                        <a:rPr lang="ar-SA" dirty="0"/>
                        <a:t>القيمة أو النتيجة المتوقعة للمستفيد</a:t>
                      </a:r>
                      <a:endParaRPr lang="ar-EG" dirty="0"/>
                    </a:p>
                  </a:txBody>
                  <a:tcPr anchor="ctr"/>
                </a:tc>
                <a:tc>
                  <a:txBody>
                    <a:bodyPr/>
                    <a:lstStyle/>
                    <a:p>
                      <a:pPr algn="r" rtl="1"/>
                      <a:r>
                        <a:rPr lang="ar-SA" dirty="0"/>
                        <a:t>نص</a:t>
                      </a:r>
                      <a:endParaRPr lang="ar-EG" dirty="0"/>
                    </a:p>
                  </a:txBody>
                  <a:tcPr anchor="ctr"/>
                </a:tc>
                <a:tc>
                  <a:txBody>
                    <a:bodyPr/>
                    <a:lstStyle/>
                    <a:p>
                      <a:pPr algn="r" rtl="1"/>
                      <a:r>
                        <a:rPr lang="ar-SA" dirty="0"/>
                        <a:t>إلزامي</a:t>
                      </a:r>
                      <a:endParaRPr lang="ar-EG" dirty="0"/>
                    </a:p>
                  </a:txBody>
                  <a:tcPr anchor="ctr"/>
                </a:tc>
                <a:extLst>
                  <a:ext uri="{0D108BD9-81ED-4DB2-BD59-A6C34878D82A}">
                    <a16:rowId xmlns:a16="http://schemas.microsoft.com/office/drawing/2014/main" val="764846926"/>
                  </a:ext>
                </a:extLst>
              </a:tr>
            </a:tbl>
          </a:graphicData>
        </a:graphic>
      </p:graphicFrame>
    </p:spTree>
    <p:extLst>
      <p:ext uri="{BB962C8B-B14F-4D97-AF65-F5344CB8AC3E}">
        <p14:creationId xmlns:p14="http://schemas.microsoft.com/office/powerpoint/2010/main" val="41849475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67</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تجربة المستفيد"</a:t>
            </a:r>
            <a:r>
              <a:rPr lang="ar-EG" sz="2800" dirty="0"/>
              <a:t> -</a:t>
            </a:r>
            <a:r>
              <a:rPr lang="ar-EG" dirty="0"/>
              <a:t> </a:t>
            </a:r>
            <a:r>
              <a:rPr lang="en-US" dirty="0"/>
              <a:t>تفصيل سمات </a:t>
            </a:r>
            <a:r>
              <a:rPr lang="ar-SA" dirty="0"/>
              <a:t>وحدة </a:t>
            </a:r>
            <a:r>
              <a:rPr lang="ar-EG" dirty="0"/>
              <a:t>ال</a:t>
            </a:r>
            <a:r>
              <a:rPr lang="ar-SA" dirty="0"/>
              <a:t>بناء "خطوة"</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2733860992"/>
              </p:ext>
            </p:extLst>
          </p:nvPr>
        </p:nvGraphicFramePr>
        <p:xfrm>
          <a:off x="1061883" y="1203148"/>
          <a:ext cx="10071289" cy="2429034"/>
        </p:xfrm>
        <a:graphic>
          <a:graphicData uri="http://schemas.openxmlformats.org/drawingml/2006/table">
            <a:tbl>
              <a:tblPr rtl="1" firstRow="1" bandRow="1">
                <a:tableStyleId>{5C22544A-7EE6-4342-B048-85BDC9FD1C3A}</a:tableStyleId>
              </a:tblPr>
              <a:tblGrid>
                <a:gridCol w="2332072">
                  <a:extLst>
                    <a:ext uri="{9D8B030D-6E8A-4147-A177-3AD203B41FA5}">
                      <a16:colId xmlns:a16="http://schemas.microsoft.com/office/drawing/2014/main" val="2853404558"/>
                    </a:ext>
                  </a:extLst>
                </a:gridCol>
                <a:gridCol w="4730545">
                  <a:extLst>
                    <a:ext uri="{9D8B030D-6E8A-4147-A177-3AD203B41FA5}">
                      <a16:colId xmlns:a16="http://schemas.microsoft.com/office/drawing/2014/main" val="1866450976"/>
                    </a:ext>
                  </a:extLst>
                </a:gridCol>
                <a:gridCol w="1504336">
                  <a:extLst>
                    <a:ext uri="{9D8B030D-6E8A-4147-A177-3AD203B41FA5}">
                      <a16:colId xmlns:a16="http://schemas.microsoft.com/office/drawing/2014/main" val="751160629"/>
                    </a:ext>
                  </a:extLst>
                </a:gridCol>
                <a:gridCol w="1504336">
                  <a:extLst>
                    <a:ext uri="{9D8B030D-6E8A-4147-A177-3AD203B41FA5}">
                      <a16:colId xmlns:a16="http://schemas.microsoft.com/office/drawing/2014/main" val="1154898250"/>
                    </a:ext>
                  </a:extLst>
                </a:gridCol>
              </a:tblGrid>
              <a:tr h="506746">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45720" marR="45720" marT="18288" marB="18288" anchor="b"/>
                </a:tc>
                <a:extLst>
                  <a:ext uri="{0D108BD9-81ED-4DB2-BD59-A6C34878D82A}">
                    <a16:rowId xmlns:a16="http://schemas.microsoft.com/office/drawing/2014/main" val="2998368315"/>
                  </a:ext>
                </a:extLst>
              </a:tr>
              <a:tr h="480572">
                <a:tc>
                  <a:txBody>
                    <a:bodyPr/>
                    <a:lstStyle/>
                    <a:p>
                      <a:pPr marL="0" algn="ctr" defTabSz="914400" rtl="1" eaLnBrk="1" fontAlgn="b" latinLnBrk="0" hangingPunct="1"/>
                      <a:r>
                        <a:rPr lang="ar-EG" sz="1800" b="1" u="none" strike="noStrike" kern="1200" dirty="0">
                          <a:solidFill>
                            <a:schemeClr val="dk1"/>
                          </a:solidFill>
                          <a:effectLst/>
                          <a:latin typeface="+mn-lt"/>
                          <a:ea typeface="+mn-ea"/>
                          <a:cs typeface="+mn-cs"/>
                        </a:rPr>
                        <a:t>معرف الخطوة</a:t>
                      </a:r>
                    </a:p>
                  </a:txBody>
                  <a:tcPr anchor="ctr"/>
                </a:tc>
                <a:tc>
                  <a:txBody>
                    <a:bodyPr/>
                    <a:lstStyle/>
                    <a:p>
                      <a:pPr algn="r" rtl="1"/>
                      <a:r>
                        <a:rPr lang="ar-EG" dirty="0"/>
                        <a:t>رمز فريد للخطوة</a:t>
                      </a:r>
                    </a:p>
                  </a:txBody>
                  <a:tcPr anchor="ctr"/>
                </a:tc>
                <a:tc>
                  <a:txBody>
                    <a:bodyPr/>
                    <a:lstStyle/>
                    <a:p>
                      <a:pPr algn="r" rtl="1"/>
                      <a:r>
                        <a:rPr lang="ar-EG" dirty="0"/>
                        <a:t>أحرف/رقم</a:t>
                      </a:r>
                    </a:p>
                  </a:txBody>
                  <a:tcPr anchor="ctr"/>
                </a:tc>
                <a:tc>
                  <a:txBody>
                    <a:bodyPr/>
                    <a:lstStyle/>
                    <a:p>
                      <a:pPr algn="r" rtl="1"/>
                      <a:r>
                        <a:rPr lang="ar-EG" dirty="0"/>
                        <a:t>إلزامي</a:t>
                      </a:r>
                    </a:p>
                  </a:txBody>
                  <a:tcPr anchor="ctr"/>
                </a:tc>
                <a:extLst>
                  <a:ext uri="{0D108BD9-81ED-4DB2-BD59-A6C34878D82A}">
                    <a16:rowId xmlns:a16="http://schemas.microsoft.com/office/drawing/2014/main" val="562304024"/>
                  </a:ext>
                </a:extLst>
              </a:tr>
              <a:tr h="480572">
                <a:tc>
                  <a:txBody>
                    <a:bodyPr/>
                    <a:lstStyle/>
                    <a:p>
                      <a:pPr marL="0" algn="ctr" defTabSz="914400" rtl="1" eaLnBrk="1" fontAlgn="b" latinLnBrk="0" hangingPunct="1"/>
                      <a:r>
                        <a:rPr lang="ar-SA" sz="1800" b="1" u="none" strike="noStrike" kern="1200" dirty="0">
                          <a:solidFill>
                            <a:schemeClr val="dk1"/>
                          </a:solidFill>
                          <a:effectLst/>
                          <a:latin typeface="+mn-lt"/>
                          <a:ea typeface="+mn-ea"/>
                          <a:cs typeface="+mn-cs"/>
                        </a:rPr>
                        <a:t>ا</a:t>
                      </a:r>
                      <a:r>
                        <a:rPr lang="ar-EG" sz="1800" b="1" u="none" strike="noStrike" kern="1200" dirty="0">
                          <a:solidFill>
                            <a:schemeClr val="dk1"/>
                          </a:solidFill>
                          <a:effectLst/>
                          <a:latin typeface="+mn-lt"/>
                          <a:ea typeface="+mn-ea"/>
                          <a:cs typeface="+mn-cs"/>
                        </a:rPr>
                        <a:t>سم الخطوة</a:t>
                      </a:r>
                    </a:p>
                  </a:txBody>
                  <a:tcPr anchor="ctr"/>
                </a:tc>
                <a:tc>
                  <a:txBody>
                    <a:bodyPr/>
                    <a:lstStyle/>
                    <a:p>
                      <a:pPr algn="r" rtl="1"/>
                      <a:r>
                        <a:rPr lang="ar-EG" dirty="0"/>
                        <a:t>اسم يوضح الإجراء أو التفاعل</a:t>
                      </a:r>
                    </a:p>
                  </a:txBody>
                  <a:tcPr anchor="ctr"/>
                </a:tc>
                <a:tc>
                  <a:txBody>
                    <a:bodyPr/>
                    <a:lstStyle/>
                    <a:p>
                      <a:pPr algn="r" rtl="1"/>
                      <a:r>
                        <a:rPr lang="ar-EG"/>
                        <a:t>نص</a:t>
                      </a:r>
                    </a:p>
                  </a:txBody>
                  <a:tcPr anchor="ctr"/>
                </a:tc>
                <a:tc>
                  <a:txBody>
                    <a:bodyPr/>
                    <a:lstStyle/>
                    <a:p>
                      <a:pPr algn="r" rtl="1"/>
                      <a:r>
                        <a:rPr lang="ar-EG" dirty="0"/>
                        <a:t>إلزامي</a:t>
                      </a:r>
                    </a:p>
                  </a:txBody>
                  <a:tcPr anchor="ctr"/>
                </a:tc>
                <a:extLst>
                  <a:ext uri="{0D108BD9-81ED-4DB2-BD59-A6C34878D82A}">
                    <a16:rowId xmlns:a16="http://schemas.microsoft.com/office/drawing/2014/main" val="3534330700"/>
                  </a:ext>
                </a:extLst>
              </a:tr>
              <a:tr h="480572">
                <a:tc>
                  <a:txBody>
                    <a:bodyPr/>
                    <a:lstStyle/>
                    <a:p>
                      <a:pPr marL="0" algn="ctr" defTabSz="914400" rtl="1" eaLnBrk="1" fontAlgn="b" latinLnBrk="0" hangingPunct="1"/>
                      <a:r>
                        <a:rPr lang="ar-SA" sz="1800" b="1" u="none" strike="noStrike" kern="1200" dirty="0">
                          <a:solidFill>
                            <a:schemeClr val="dk1"/>
                          </a:solidFill>
                          <a:effectLst/>
                          <a:latin typeface="+mn-lt"/>
                          <a:ea typeface="+mn-ea"/>
                          <a:cs typeface="+mn-cs"/>
                        </a:rPr>
                        <a:t>و</a:t>
                      </a:r>
                      <a:r>
                        <a:rPr lang="ar-EG" sz="1800" b="1" u="none" strike="noStrike" kern="1200" dirty="0">
                          <a:solidFill>
                            <a:schemeClr val="dk1"/>
                          </a:solidFill>
                          <a:effectLst/>
                          <a:latin typeface="+mn-lt"/>
                          <a:ea typeface="+mn-ea"/>
                          <a:cs typeface="+mn-cs"/>
                        </a:rPr>
                        <a:t>صف الخطوة</a:t>
                      </a:r>
                    </a:p>
                  </a:txBody>
                  <a:tcPr anchor="ctr"/>
                </a:tc>
                <a:tc>
                  <a:txBody>
                    <a:bodyPr/>
                    <a:lstStyle/>
                    <a:p>
                      <a:pPr algn="r" rtl="1"/>
                      <a:r>
                        <a:rPr lang="ar-EG" dirty="0"/>
                        <a:t>شرح مختصر لما يحدث في الخطوة</a:t>
                      </a:r>
                    </a:p>
                  </a:txBody>
                  <a:tcPr anchor="ctr"/>
                </a:tc>
                <a:tc>
                  <a:txBody>
                    <a:bodyPr/>
                    <a:lstStyle/>
                    <a:p>
                      <a:pPr algn="r" rtl="1"/>
                      <a:r>
                        <a:rPr lang="ar-EG" dirty="0"/>
                        <a:t>نص</a:t>
                      </a:r>
                    </a:p>
                  </a:txBody>
                  <a:tcPr anchor="ctr"/>
                </a:tc>
                <a:tc>
                  <a:txBody>
                    <a:bodyPr/>
                    <a:lstStyle/>
                    <a:p>
                      <a:pPr algn="r" rtl="1"/>
                      <a:r>
                        <a:rPr lang="ar-EG" dirty="0"/>
                        <a:t>إلزامي</a:t>
                      </a:r>
                    </a:p>
                  </a:txBody>
                  <a:tcPr anchor="ctr"/>
                </a:tc>
                <a:extLst>
                  <a:ext uri="{0D108BD9-81ED-4DB2-BD59-A6C34878D82A}">
                    <a16:rowId xmlns:a16="http://schemas.microsoft.com/office/drawing/2014/main" val="3346854828"/>
                  </a:ext>
                </a:extLst>
              </a:tr>
              <a:tr h="480572">
                <a:tc>
                  <a:txBody>
                    <a:bodyPr/>
                    <a:lstStyle/>
                    <a:p>
                      <a:pPr marL="0" algn="ctr" defTabSz="914400" rtl="1" eaLnBrk="1" fontAlgn="b" latinLnBrk="0" hangingPunct="1"/>
                      <a:r>
                        <a:rPr lang="ar-SA" sz="1800" b="1" u="none" strike="noStrike" kern="1200" dirty="0">
                          <a:solidFill>
                            <a:schemeClr val="dk1"/>
                          </a:solidFill>
                          <a:effectLst/>
                          <a:latin typeface="+mn-lt"/>
                          <a:ea typeface="+mn-ea"/>
                          <a:cs typeface="+mn-cs"/>
                        </a:rPr>
                        <a:t>ت</a:t>
                      </a:r>
                      <a:r>
                        <a:rPr lang="ar-EG" sz="1800" b="1" u="none" strike="noStrike" kern="1200" dirty="0">
                          <a:solidFill>
                            <a:schemeClr val="dk1"/>
                          </a:solidFill>
                          <a:effectLst/>
                          <a:latin typeface="+mn-lt"/>
                          <a:ea typeface="+mn-ea"/>
                          <a:cs typeface="+mn-cs"/>
                        </a:rPr>
                        <a:t>رتيب الخطوة</a:t>
                      </a:r>
                    </a:p>
                  </a:txBody>
                  <a:tcPr anchor="ctr"/>
                </a:tc>
                <a:tc>
                  <a:txBody>
                    <a:bodyPr/>
                    <a:lstStyle/>
                    <a:p>
                      <a:pPr algn="r" rtl="1"/>
                      <a:r>
                        <a:rPr lang="ar-EG"/>
                        <a:t>تسلسلها داخل المرحلة</a:t>
                      </a:r>
                    </a:p>
                  </a:txBody>
                  <a:tcPr anchor="ctr"/>
                </a:tc>
                <a:tc>
                  <a:txBody>
                    <a:bodyPr/>
                    <a:lstStyle/>
                    <a:p>
                      <a:pPr algn="r" rtl="1"/>
                      <a:r>
                        <a:rPr lang="ar-EG"/>
                        <a:t>رقم</a:t>
                      </a:r>
                    </a:p>
                  </a:txBody>
                  <a:tcPr anchor="ctr"/>
                </a:tc>
                <a:tc>
                  <a:txBody>
                    <a:bodyPr/>
                    <a:lstStyle/>
                    <a:p>
                      <a:pPr algn="r" rtl="1"/>
                      <a:r>
                        <a:rPr lang="ar-EG" dirty="0"/>
                        <a:t>إلزامي</a:t>
                      </a:r>
                    </a:p>
                  </a:txBody>
                  <a:tcPr anchor="ctr"/>
                </a:tc>
                <a:extLst>
                  <a:ext uri="{0D108BD9-81ED-4DB2-BD59-A6C34878D82A}">
                    <a16:rowId xmlns:a16="http://schemas.microsoft.com/office/drawing/2014/main" val="2803322327"/>
                  </a:ext>
                </a:extLst>
              </a:tr>
            </a:tbl>
          </a:graphicData>
        </a:graphic>
      </p:graphicFrame>
    </p:spTree>
    <p:extLst>
      <p:ext uri="{BB962C8B-B14F-4D97-AF65-F5344CB8AC3E}">
        <p14:creationId xmlns:p14="http://schemas.microsoft.com/office/powerpoint/2010/main" val="20641896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علاقات مكونات البناء التابعة لمجال </a:t>
            </a:r>
            <a:r>
              <a:rPr lang="ar-EG" dirty="0"/>
              <a:t>"</a:t>
            </a:r>
            <a:r>
              <a:rPr lang="ar-SA" dirty="0"/>
              <a:t>بنية تجربة المستفيد</a:t>
            </a:r>
            <a:r>
              <a:rPr lang="ar-EG" dirty="0"/>
              <a:t>"</a:t>
            </a:r>
            <a:endParaRPr lang="en-US" dirty="0"/>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68</a:t>
            </a:fld>
            <a:endParaRPr lang="en-US"/>
          </a:p>
        </p:txBody>
      </p:sp>
      <p:sp>
        <p:nvSpPr>
          <p:cNvPr id="3" name="Rectangle 2">
            <a:extLst>
              <a:ext uri="{FF2B5EF4-FFF2-40B4-BE49-F238E27FC236}">
                <a16:creationId xmlns:a16="http://schemas.microsoft.com/office/drawing/2014/main" id="{8D9CE795-A12F-7C98-BF54-5279E8F1DDA2}"/>
              </a:ext>
            </a:extLst>
          </p:cNvPr>
          <p:cNvSpPr/>
          <p:nvPr/>
        </p:nvSpPr>
        <p:spPr>
          <a:xfrm>
            <a:off x="1071158" y="1389169"/>
            <a:ext cx="10508468" cy="369332"/>
          </a:xfrm>
          <a:prstGeom prst="rect">
            <a:avLst/>
          </a:prstGeom>
        </p:spPr>
        <p:txBody>
          <a:bodyPr wrap="square">
            <a:spAutoFit/>
          </a:bodyPr>
          <a:lstStyle/>
          <a:p>
            <a:pPr algn="r" rtl="1"/>
            <a:r>
              <a:rPr lang="ar-SA" b="1" dirty="0">
                <a:latin typeface="Sakkal Majalla" panose="02000000000000000000" pitchFamily="2" charset="-78"/>
                <a:cs typeface="Sakkal Majalla" panose="02000000000000000000" pitchFamily="2" charset="-78"/>
              </a:rPr>
              <a:t>ي</a:t>
            </a:r>
            <a:r>
              <a:rPr lang="en-US" b="1" dirty="0">
                <a:latin typeface="Sakkal Majalla" panose="02000000000000000000" pitchFamily="2" charset="-78"/>
                <a:cs typeface="Sakkal Majalla" panose="02000000000000000000" pitchFamily="2" charset="-78"/>
              </a:rPr>
              <a:t>وضح </a:t>
            </a:r>
            <a:r>
              <a:rPr lang="en-US" b="1" dirty="0" err="1">
                <a:latin typeface="Sakkal Majalla" panose="02000000000000000000" pitchFamily="2" charset="-78"/>
                <a:cs typeface="Sakkal Majalla" panose="02000000000000000000" pitchFamily="2" charset="-78"/>
              </a:rPr>
              <a:t>الشكل</a:t>
            </a:r>
            <a:r>
              <a:rPr lang="en-US" b="1" dirty="0">
                <a:latin typeface="Sakkal Majalla" panose="02000000000000000000" pitchFamily="2" charset="-78"/>
                <a:cs typeface="Sakkal Majalla" panose="02000000000000000000" pitchFamily="2" charset="-78"/>
              </a:rPr>
              <a:t> </a:t>
            </a:r>
            <a:r>
              <a:rPr lang="ar-SA" b="1" dirty="0">
                <a:latin typeface="Sakkal Majalla" panose="02000000000000000000" pitchFamily="2" charset="-78"/>
                <a:cs typeface="Sakkal Majalla" panose="02000000000000000000" pitchFamily="2" charset="-78"/>
              </a:rPr>
              <a:t>علاقات وحدات البناء التابعة لمجال "بنية تجربة المستفيد":</a:t>
            </a:r>
            <a:endParaRPr lang="en-US" b="1" dirty="0">
              <a:latin typeface="Sakkal Majalla" panose="02000000000000000000" pitchFamily="2" charset="-78"/>
              <a:cs typeface="Sakkal Majalla" panose="02000000000000000000" pitchFamily="2" charset="-78"/>
            </a:endParaRPr>
          </a:p>
        </p:txBody>
      </p:sp>
      <p:pic>
        <p:nvPicPr>
          <p:cNvPr id="5" name="Picture 4" descr="A screenshot of a computer screen&#10;&#10;Description automatically generated">
            <a:extLst>
              <a:ext uri="{FF2B5EF4-FFF2-40B4-BE49-F238E27FC236}">
                <a16:creationId xmlns:a16="http://schemas.microsoft.com/office/drawing/2014/main" id="{7B29FF67-6145-4CF6-BAAC-4F13286847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8509" y="1227340"/>
            <a:ext cx="3440827" cy="4863217"/>
          </a:xfrm>
          <a:prstGeom prst="rect">
            <a:avLst/>
          </a:prstGeom>
        </p:spPr>
      </p:pic>
    </p:spTree>
    <p:extLst>
      <p:ext uri="{BB962C8B-B14F-4D97-AF65-F5344CB8AC3E}">
        <p14:creationId xmlns:p14="http://schemas.microsoft.com/office/powerpoint/2010/main" val="19009975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a:t>ال</a:t>
            </a:r>
            <a:r>
              <a:rPr lang="ar-EG" dirty="0"/>
              <a:t>بناء </a:t>
            </a:r>
            <a:r>
              <a:rPr lang="ar-SA" dirty="0"/>
              <a:t>في مجال "بنية تجربة المستفيد"</a:t>
            </a:r>
            <a:r>
              <a:rPr lang="ar-EG" dirty="0"/>
              <a:t> (</a:t>
            </a:r>
            <a:r>
              <a:rPr lang="ar-SA" dirty="0"/>
              <a:t>2</a:t>
            </a:r>
            <a:r>
              <a:rPr lang="ar-EG" dirty="0"/>
              <a:t> / </a:t>
            </a:r>
            <a:r>
              <a:rPr lang="en-US" dirty="0"/>
              <a:t>1</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69</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499835399"/>
              </p:ext>
            </p:extLst>
          </p:nvPr>
        </p:nvGraphicFramePr>
        <p:xfrm>
          <a:off x="609600" y="1282290"/>
          <a:ext cx="11070774" cy="4874103"/>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715608">
                  <a:extLst>
                    <a:ext uri="{9D8B030D-6E8A-4147-A177-3AD203B41FA5}">
                      <a16:colId xmlns:a16="http://schemas.microsoft.com/office/drawing/2014/main" val="1302061076"/>
                    </a:ext>
                  </a:extLst>
                </a:gridCol>
                <a:gridCol w="4165600">
                  <a:extLst>
                    <a:ext uri="{9D8B030D-6E8A-4147-A177-3AD203B41FA5}">
                      <a16:colId xmlns:a16="http://schemas.microsoft.com/office/drawing/2014/main" val="1509377109"/>
                    </a:ext>
                  </a:extLst>
                </a:gridCol>
                <a:gridCol w="1337310">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707513">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1</a:t>
                      </a:r>
                    </a:p>
                  </a:txBody>
                  <a:tcPr marL="3810" marR="3810" marT="3810" marB="0" anchor="ctr"/>
                </a:tc>
                <a:tc rowSpan="4">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مستفيد</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يستفيد من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مستفيد</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يستفيد من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2</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 يستفيد من</a:t>
                      </a:r>
                      <a:r>
                        <a:rPr lang="en-US" sz="1800" b="0" i="0" u="none" strike="noStrike" baseline="0" dirty="0">
                          <a:solidFill>
                            <a:srgbClr val="000000"/>
                          </a:solidFill>
                          <a:effectLst/>
                          <a:latin typeface="Sakkal Majalla" panose="02000000000000000000" pitchFamily="2" charset="-78"/>
                          <a:cs typeface="Sakkal Majalla" panose="02000000000000000000" pitchFamily="2" charset="-78"/>
                        </a:rPr>
                        <a:t> </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مستفيد</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يستفيد من</a:t>
                      </a:r>
                      <a:r>
                        <a:rPr lang="en-US"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خدمة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خدمة أعمال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3</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يمثل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4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400" b="1" i="0" u="none" strike="noStrike" baseline="0" dirty="0">
                          <a:solidFill>
                            <a:srgbClr val="000000"/>
                          </a:solidFill>
                          <a:effectLst/>
                          <a:latin typeface="Sakkal Majalla" panose="02000000000000000000" pitchFamily="2" charset="-78"/>
                          <a:cs typeface="Sakkal Majalla" panose="02000000000000000000" pitchFamily="2" charset="-78"/>
                        </a:rPr>
                        <a:t>مستفيد</a:t>
                      </a:r>
                      <a:r>
                        <a:rPr lang="ar-SA" sz="2400" b="0" i="0" u="none" strike="noStrike" baseline="0" dirty="0">
                          <a:solidFill>
                            <a:srgbClr val="000000"/>
                          </a:solidFill>
                          <a:effectLst/>
                          <a:latin typeface="Sakkal Majalla" panose="02000000000000000000" pitchFamily="2" charset="-78"/>
                          <a:cs typeface="Sakkal Majalla" panose="02000000000000000000" pitchFamily="2" charset="-78"/>
                        </a:rPr>
                        <a:t>" يمثل "</a:t>
                      </a:r>
                      <a:r>
                        <a:rPr lang="ar-SA" sz="2400" b="1" i="0" u="none" strike="noStrike" baseline="0" dirty="0">
                          <a:solidFill>
                            <a:srgbClr val="000000"/>
                          </a:solidFill>
                          <a:effectLst/>
                          <a:latin typeface="Sakkal Majalla" panose="02000000000000000000" pitchFamily="2" charset="-78"/>
                          <a:cs typeface="Sakkal Majalla" panose="02000000000000000000" pitchFamily="2" charset="-78"/>
                        </a:rPr>
                        <a:t>الشخصية</a:t>
                      </a:r>
                      <a:r>
                        <a:rPr lang="ar-SA" sz="24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400" u="none" strike="noStrike" baseline="0" dirty="0">
                        <a:effectLst/>
                      </a:endParaRPr>
                    </a:p>
                  </a:txBody>
                  <a:tcPr marL="4311" marR="4311" marT="4311"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1800" b="0" dirty="0"/>
                        <a:t>الشخصية</a:t>
                      </a:r>
                      <a:endParaRPr lang="en-US" sz="1800" b="0" dirty="0"/>
                    </a:p>
                  </a:txBody>
                  <a:tcPr marL="4311" marR="4311" marT="4311" marB="0" anchor="ctr"/>
                </a:tc>
                <a:tc rowSpan="2">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بنية المستفيد</a:t>
                      </a: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4</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يخوض</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مستفيد</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يخوض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رحلة مستفيد</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رحلة مستفيد</a:t>
                      </a:r>
                      <a:endParaRPr lang="en-US" dirty="0"/>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4193838665"/>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5</a:t>
                      </a:r>
                    </a:p>
                  </a:txBody>
                  <a:tcPr marL="3810" marR="3810" marT="3810" marB="0" anchor="ctr"/>
                </a:tc>
                <a:tc rowSpan="3">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رحلة المستفيد</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تشمل</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رحلة مستفيد</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تشمل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مستفيد</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مرحلة المستفيد</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3">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بنية المستفيد</a:t>
                      </a:r>
                    </a:p>
                  </a:txBody>
                  <a:tcPr marL="3810" marR="3810" marT="3810" marB="0" anchor="ctr"/>
                </a:tc>
                <a:extLst>
                  <a:ext uri="{0D108BD9-81ED-4DB2-BD59-A6C34878D82A}">
                    <a16:rowId xmlns:a16="http://schemas.microsoft.com/office/drawing/2014/main" val="3456641915"/>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6</a:t>
                      </a: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تنتمي إلى</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رحلة مستفيد</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ينتمي إلى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الشخصية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الشخصية</a:t>
                      </a: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761637634"/>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7</a:t>
                      </a: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مصممة لـ</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رحلة مستفيد</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مصممة لـ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مستفيد</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مستفيد</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1472548560"/>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8</a:t>
                      </a:r>
                    </a:p>
                  </a:txBody>
                  <a:tcPr marL="3810" marR="3810" marT="381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مرحلة المستفيد</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تكون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مرحلة المستفيد</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تكون</a:t>
                      </a:r>
                      <a:r>
                        <a:rPr lang="en-US"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رحلة المستفيد</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رحلة المستفيد</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بنية المستفيد</a:t>
                      </a:r>
                    </a:p>
                  </a:txBody>
                  <a:tcPr marL="3810" marR="3810" marT="3810" marB="0" anchor="ctr"/>
                </a:tc>
                <a:extLst>
                  <a:ext uri="{0D108BD9-81ED-4DB2-BD59-A6C34878D82A}">
                    <a16:rowId xmlns:a16="http://schemas.microsoft.com/office/drawing/2014/main" val="39968773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9</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تشمل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مرحلة المستفيد</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تشمل "</a:t>
                      </a:r>
                      <a:r>
                        <a:rPr lang="ar-SA" sz="20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خطوة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خطوة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1489003685"/>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10</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خطوة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جزء من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خطوة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جزء من</a:t>
                      </a:r>
                      <a:r>
                        <a:rPr lang="en-US"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مرحلة المستفيد</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مرحلة المستفيد</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بنية المستفيد</a:t>
                      </a:r>
                    </a:p>
                  </a:txBody>
                  <a:tcPr marL="3810" marR="3810" marT="3810" marB="0" anchor="ctr"/>
                </a:tc>
                <a:extLst>
                  <a:ext uri="{0D108BD9-81ED-4DB2-BD59-A6C34878D82A}">
                    <a16:rowId xmlns:a16="http://schemas.microsoft.com/office/drawing/2014/main" val="4192577113"/>
                  </a:ext>
                </a:extLst>
              </a:tr>
            </a:tbl>
          </a:graphicData>
        </a:graphic>
      </p:graphicFrame>
    </p:spTree>
    <p:extLst>
      <p:ext uri="{BB962C8B-B14F-4D97-AF65-F5344CB8AC3E}">
        <p14:creationId xmlns:p14="http://schemas.microsoft.com/office/powerpoint/2010/main" val="25967765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a:t>ال</a:t>
            </a:r>
            <a:r>
              <a:rPr lang="ar-EG" dirty="0"/>
              <a:t>بناء </a:t>
            </a:r>
            <a:r>
              <a:rPr lang="ar-SA" dirty="0"/>
              <a:t>في مجال "بنية تجربة المستفيد"</a:t>
            </a:r>
            <a:r>
              <a:rPr lang="ar-EG" dirty="0"/>
              <a:t> (</a:t>
            </a:r>
            <a:r>
              <a:rPr lang="ar-SA" dirty="0"/>
              <a:t>2</a:t>
            </a:r>
            <a:r>
              <a:rPr lang="ar-EG" dirty="0"/>
              <a:t> / </a:t>
            </a:r>
            <a:r>
              <a:rPr lang="en-US" dirty="0"/>
              <a:t>1</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70</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3302026117"/>
              </p:ext>
            </p:extLst>
          </p:nvPr>
        </p:nvGraphicFramePr>
        <p:xfrm>
          <a:off x="609600" y="1282290"/>
          <a:ext cx="11070774" cy="1540831"/>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715608">
                  <a:extLst>
                    <a:ext uri="{9D8B030D-6E8A-4147-A177-3AD203B41FA5}">
                      <a16:colId xmlns:a16="http://schemas.microsoft.com/office/drawing/2014/main" val="1302061076"/>
                    </a:ext>
                  </a:extLst>
                </a:gridCol>
                <a:gridCol w="4165600">
                  <a:extLst>
                    <a:ext uri="{9D8B030D-6E8A-4147-A177-3AD203B41FA5}">
                      <a16:colId xmlns:a16="http://schemas.microsoft.com/office/drawing/2014/main" val="1509377109"/>
                    </a:ext>
                  </a:extLst>
                </a:gridCol>
                <a:gridCol w="1337310">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707513">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11</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الشخصية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تمثل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الشخصية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تمثل</a:t>
                      </a:r>
                      <a:r>
                        <a:rPr lang="en-US"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مستفيد</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مستفيد</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بنية المستفيد</a:t>
                      </a:r>
                    </a:p>
                  </a:txBody>
                  <a:tcPr marL="3810" marR="3810" marT="3810" marB="0" anchor="ctr"/>
                </a:tc>
                <a:extLst>
                  <a:ext uri="{0D108BD9-81ED-4DB2-BD59-A6C34878D82A}">
                    <a16:rowId xmlns:a16="http://schemas.microsoft.com/office/drawing/2014/main" val="39968773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12</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تمتلك</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الشخصية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تمتلك</a:t>
                      </a:r>
                      <a:r>
                        <a:rPr lang="en-US"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مستفيد</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رحلة المستفيد</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1489003685"/>
                  </a:ext>
                </a:extLst>
              </a:tr>
            </a:tbl>
          </a:graphicData>
        </a:graphic>
      </p:graphicFrame>
    </p:spTree>
    <p:extLst>
      <p:ext uri="{BB962C8B-B14F-4D97-AF65-F5344CB8AC3E}">
        <p14:creationId xmlns:p14="http://schemas.microsoft.com/office/powerpoint/2010/main" val="38707599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62880" y="3925452"/>
            <a:ext cx="6281420" cy="641639"/>
          </a:xfrm>
        </p:spPr>
        <p:txBody>
          <a:bodyPr/>
          <a:lstStyle/>
          <a:p>
            <a:r>
              <a:rPr lang="ar-EG" sz="2800" dirty="0"/>
              <a:t>وحدات البناء لمجال "بنية البيانات"</a:t>
            </a:r>
            <a:endParaRPr lang="en-US" sz="2800" dirty="0"/>
          </a:p>
        </p:txBody>
      </p:sp>
      <p:sp>
        <p:nvSpPr>
          <p:cNvPr id="4" name="Text Placeholder 3"/>
          <p:cNvSpPr>
            <a:spLocks noGrp="1"/>
          </p:cNvSpPr>
          <p:nvPr>
            <p:ph type="body" sz="quarter" idx="14"/>
          </p:nvPr>
        </p:nvSpPr>
        <p:spPr/>
        <p:txBody>
          <a:bodyPr/>
          <a:lstStyle/>
          <a:p>
            <a:r>
              <a:rPr lang="ar-SA" sz="7200" dirty="0"/>
              <a:t>3.4</a:t>
            </a:r>
            <a:endParaRPr lang="en-US" sz="7200" dirty="0"/>
          </a:p>
        </p:txBody>
      </p:sp>
    </p:spTree>
    <p:extLst>
      <p:ext uri="{BB962C8B-B14F-4D97-AF65-F5344CB8AC3E}">
        <p14:creationId xmlns:p14="http://schemas.microsoft.com/office/powerpoint/2010/main" val="2022578945"/>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وحدات البناء التابعة لمجال </a:t>
            </a:r>
            <a:r>
              <a:rPr lang="ar-EG" dirty="0"/>
              <a:t>"</a:t>
            </a:r>
            <a:r>
              <a:rPr lang="ar-SA" dirty="0"/>
              <a:t>بنية البيانات</a:t>
            </a:r>
            <a:r>
              <a:rPr lang="ar-EG" dirty="0"/>
              <a:t>"</a:t>
            </a:r>
            <a:endParaRPr lang="en-US" dirty="0"/>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72</a:t>
            </a:fld>
            <a:endParaRPr lang="en-US"/>
          </a:p>
        </p:txBody>
      </p:sp>
      <p:sp>
        <p:nvSpPr>
          <p:cNvPr id="10" name="Rectangle 9">
            <a:extLst>
              <a:ext uri="{FF2B5EF4-FFF2-40B4-BE49-F238E27FC236}">
                <a16:creationId xmlns:a16="http://schemas.microsoft.com/office/drawing/2014/main" id="{7756BB63-1B51-9C98-40D1-1F48F2AA8EC0}"/>
              </a:ext>
            </a:extLst>
          </p:cNvPr>
          <p:cNvSpPr/>
          <p:nvPr/>
        </p:nvSpPr>
        <p:spPr>
          <a:xfrm>
            <a:off x="1071158" y="1389169"/>
            <a:ext cx="10508468" cy="369332"/>
          </a:xfrm>
          <a:prstGeom prst="rect">
            <a:avLst/>
          </a:prstGeom>
        </p:spPr>
        <p:txBody>
          <a:bodyPr wrap="square">
            <a:spAutoFit/>
          </a:bodyPr>
          <a:lstStyle/>
          <a:p>
            <a:pPr algn="r" rtl="1"/>
            <a:r>
              <a:rPr lang="ar-SA" b="1" dirty="0">
                <a:latin typeface="Sakkal Majalla" panose="02000000000000000000" pitchFamily="2" charset="-78"/>
                <a:cs typeface="Sakkal Majalla" panose="02000000000000000000" pitchFamily="2" charset="-78"/>
              </a:rPr>
              <a:t>ي</a:t>
            </a:r>
            <a:r>
              <a:rPr lang="en-US" b="1" dirty="0">
                <a:latin typeface="Sakkal Majalla" panose="02000000000000000000" pitchFamily="2" charset="-78"/>
                <a:cs typeface="Sakkal Majalla" panose="02000000000000000000" pitchFamily="2" charset="-78"/>
              </a:rPr>
              <a:t>وضح الشكل أدناه </a:t>
            </a:r>
            <a:r>
              <a:rPr lang="ar-SA" b="1" dirty="0">
                <a:latin typeface="Sakkal Majalla" panose="02000000000000000000" pitchFamily="2" charset="-78"/>
                <a:cs typeface="Sakkal Majalla" panose="02000000000000000000" pitchFamily="2" charset="-78"/>
              </a:rPr>
              <a:t>وحدات البناء التابعة لمجال "بنية البيانات":</a:t>
            </a:r>
            <a:endParaRPr lang="en-US" b="1" dirty="0">
              <a:latin typeface="Sakkal Majalla" panose="02000000000000000000" pitchFamily="2" charset="-78"/>
              <a:cs typeface="Sakkal Majalla" panose="02000000000000000000" pitchFamily="2" charset="-78"/>
            </a:endParaRPr>
          </a:p>
        </p:txBody>
      </p:sp>
      <p:pic>
        <p:nvPicPr>
          <p:cNvPr id="4" name="Picture 3">
            <a:extLst>
              <a:ext uri="{FF2B5EF4-FFF2-40B4-BE49-F238E27FC236}">
                <a16:creationId xmlns:a16="http://schemas.microsoft.com/office/drawing/2014/main" id="{A5A889E6-1FA7-4E9D-86C7-E2B679D9934A}"/>
              </a:ext>
            </a:extLst>
          </p:cNvPr>
          <p:cNvPicPr>
            <a:picLocks noChangeAspect="1"/>
          </p:cNvPicPr>
          <p:nvPr/>
        </p:nvPicPr>
        <p:blipFill>
          <a:blip r:embed="rId3"/>
          <a:stretch>
            <a:fillRect/>
          </a:stretch>
        </p:blipFill>
        <p:spPr>
          <a:xfrm>
            <a:off x="2907462" y="2609697"/>
            <a:ext cx="6927494" cy="1638605"/>
          </a:xfrm>
          <a:prstGeom prst="rect">
            <a:avLst/>
          </a:prstGeom>
        </p:spPr>
      </p:pic>
    </p:spTree>
    <p:extLst>
      <p:ext uri="{BB962C8B-B14F-4D97-AF65-F5344CB8AC3E}">
        <p14:creationId xmlns:p14="http://schemas.microsoft.com/office/powerpoint/2010/main" val="839288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73</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تعريف وحدات البناء التابعة لمجال "بنية البيانات</a:t>
            </a:r>
            <a:r>
              <a:rPr lang="ar-EG" dirty="0"/>
              <a:t>"</a:t>
            </a:r>
            <a:endParaRPr lang="en-US" dirty="0"/>
          </a:p>
        </p:txBody>
      </p:sp>
      <p:graphicFrame>
        <p:nvGraphicFramePr>
          <p:cNvPr id="12" name="Table 11">
            <a:extLst>
              <a:ext uri="{FF2B5EF4-FFF2-40B4-BE49-F238E27FC236}">
                <a16:creationId xmlns:a16="http://schemas.microsoft.com/office/drawing/2014/main" id="{716CE2B9-08C8-087A-0FD4-84D4AC499CF8}"/>
              </a:ext>
            </a:extLst>
          </p:cNvPr>
          <p:cNvGraphicFramePr>
            <a:graphicFrameLocks noGrp="1"/>
          </p:cNvGraphicFramePr>
          <p:nvPr>
            <p:extLst>
              <p:ext uri="{D42A27DB-BD31-4B8C-83A1-F6EECF244321}">
                <p14:modId xmlns:p14="http://schemas.microsoft.com/office/powerpoint/2010/main" val="1192567330"/>
              </p:ext>
            </p:extLst>
          </p:nvPr>
        </p:nvGraphicFramePr>
        <p:xfrm>
          <a:off x="609599" y="1227338"/>
          <a:ext cx="10622280" cy="4189784"/>
        </p:xfrm>
        <a:graphic>
          <a:graphicData uri="http://schemas.openxmlformats.org/drawingml/2006/table">
            <a:tbl>
              <a:tblPr rtl="1" firstRow="1" bandRow="1">
                <a:tableStyleId>{21E4AEA4-8DFA-4A89-87EB-49C32662AFE0}</a:tableStyleId>
              </a:tblPr>
              <a:tblGrid>
                <a:gridCol w="1584635">
                  <a:extLst>
                    <a:ext uri="{9D8B030D-6E8A-4147-A177-3AD203B41FA5}">
                      <a16:colId xmlns:a16="http://schemas.microsoft.com/office/drawing/2014/main" val="2023822235"/>
                    </a:ext>
                  </a:extLst>
                </a:gridCol>
                <a:gridCol w="5882373">
                  <a:extLst>
                    <a:ext uri="{9D8B030D-6E8A-4147-A177-3AD203B41FA5}">
                      <a16:colId xmlns:a16="http://schemas.microsoft.com/office/drawing/2014/main" val="3711612230"/>
                    </a:ext>
                  </a:extLst>
                </a:gridCol>
                <a:gridCol w="1577636">
                  <a:extLst>
                    <a:ext uri="{9D8B030D-6E8A-4147-A177-3AD203B41FA5}">
                      <a16:colId xmlns:a16="http://schemas.microsoft.com/office/drawing/2014/main" val="3906502211"/>
                    </a:ext>
                  </a:extLst>
                </a:gridCol>
                <a:gridCol w="1577636">
                  <a:extLst>
                    <a:ext uri="{9D8B030D-6E8A-4147-A177-3AD203B41FA5}">
                      <a16:colId xmlns:a16="http://schemas.microsoft.com/office/drawing/2014/main" val="3315366064"/>
                    </a:ext>
                  </a:extLst>
                </a:gridCol>
              </a:tblGrid>
              <a:tr h="602108">
                <a:tc>
                  <a:txBody>
                    <a:bodyPr/>
                    <a:lstStyle/>
                    <a:p>
                      <a:pPr algn="ctr" rtl="1" fontAlgn="b"/>
                      <a:r>
                        <a:rPr lang="ar-SA" sz="2100" u="none" strike="noStrike" dirty="0">
                          <a:effectLst/>
                        </a:rPr>
                        <a:t>وحدة البناء</a:t>
                      </a:r>
                      <a:endParaRPr lang="ar-SA" sz="21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ctr" rtl="1" fontAlgn="b"/>
                      <a:r>
                        <a:rPr lang="ar-SA" sz="2100" u="none" strike="noStrike" dirty="0">
                          <a:effectLst/>
                        </a:rPr>
                        <a:t>التعريف</a:t>
                      </a:r>
                      <a:endParaRPr lang="ar-SA" sz="21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ctr" rtl="1" fontAlgn="b"/>
                      <a:r>
                        <a:rPr lang="ar-SA" sz="2100" b="1" u="none" strike="noStrike" kern="1200" dirty="0">
                          <a:solidFill>
                            <a:schemeClr val="lt1"/>
                          </a:solidFill>
                          <a:effectLst/>
                          <a:latin typeface="+mn-lt"/>
                          <a:ea typeface="+mn-ea"/>
                          <a:cs typeface="+mn-cs"/>
                        </a:rPr>
                        <a:t>مستوى المكون</a:t>
                      </a:r>
                    </a:p>
                  </a:txBody>
                  <a:tcPr anchor="ctr"/>
                </a:tc>
                <a:tc>
                  <a:txBody>
                    <a:bodyPr/>
                    <a:lstStyle/>
                    <a:p>
                      <a:pPr algn="ctr" rtl="1" fontAlgn="b"/>
                      <a:r>
                        <a:rPr lang="ar-SA" sz="2100" b="1" u="none" strike="noStrike" kern="1200" dirty="0">
                          <a:solidFill>
                            <a:schemeClr val="lt1"/>
                          </a:solidFill>
                          <a:effectLst/>
                          <a:latin typeface="+mn-lt"/>
                          <a:ea typeface="+mn-ea"/>
                          <a:cs typeface="+mn-cs"/>
                        </a:rPr>
                        <a:t>مستوى إلزامية التوثيق</a:t>
                      </a:r>
                    </a:p>
                  </a:txBody>
                  <a:tcPr anchor="ctr"/>
                </a:tc>
                <a:extLst>
                  <a:ext uri="{0D108BD9-81ED-4DB2-BD59-A6C34878D82A}">
                    <a16:rowId xmlns:a16="http://schemas.microsoft.com/office/drawing/2014/main" val="2631080347"/>
                  </a:ext>
                </a:extLst>
              </a:tr>
              <a:tr h="864566">
                <a:tc>
                  <a:txBody>
                    <a:bodyPr/>
                    <a:lstStyle/>
                    <a:p>
                      <a:pPr algn="ctr" rtl="1" fontAlgn="b"/>
                      <a:r>
                        <a:rPr lang="ar-SA" sz="2000" b="1" i="0" u="none" strike="noStrike" dirty="0">
                          <a:solidFill>
                            <a:srgbClr val="000000"/>
                          </a:solidFill>
                          <a:effectLst/>
                          <a:latin typeface="Calibri" panose="020F0502020204030204" pitchFamily="34" charset="0"/>
                          <a:hlinkClick r:id="rId3" action="ppaction://hlinksldjump"/>
                        </a:rPr>
                        <a:t>كيان بيانات</a:t>
                      </a:r>
                      <a:endParaRPr lang="ar-SA" sz="2000" b="1"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يمثل كيان البيانات مجموعة من البيانات التي تشترك في نفس الخصائص ولها سلوك مماثل، وهي عناصر تستخدم لتمثيل نشاط </a:t>
                      </a:r>
                      <a:r>
                        <a:rPr lang="ar-EG" sz="1900" b="0" i="0" u="none" strike="noStrike" dirty="0">
                          <a:solidFill>
                            <a:srgbClr val="000000"/>
                          </a:solidFill>
                          <a:effectLst/>
                          <a:latin typeface="Calibri" panose="020F0502020204030204" pitchFamily="34" charset="0"/>
                        </a:rPr>
                        <a:t>الهيئة</a:t>
                      </a:r>
                      <a:r>
                        <a:rPr lang="ar-SA" sz="1900" b="0" i="0" u="none" strike="noStrike" dirty="0">
                          <a:solidFill>
                            <a:srgbClr val="000000"/>
                          </a:solidFill>
                          <a:effectLst/>
                          <a:latin typeface="Calibri" panose="020F0502020204030204" pitchFamily="34" charset="0"/>
                        </a:rPr>
                        <a:t> في خدمة أو عمل أو إجراء</a:t>
                      </a: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مفاهيمي</a:t>
                      </a:r>
                    </a:p>
                  </a:txBody>
                  <a:tcPr marL="137160" marR="137160" marT="137160" marB="137160" anchor="ctr"/>
                </a:tc>
                <a:extLst>
                  <a:ext uri="{0D108BD9-81ED-4DB2-BD59-A6C34878D82A}">
                    <a16:rowId xmlns:a16="http://schemas.microsoft.com/office/drawing/2014/main" val="1101753229"/>
                  </a:ext>
                </a:extLst>
              </a:tr>
              <a:tr h="864566">
                <a:tc>
                  <a:txBody>
                    <a:bodyPr/>
                    <a:lstStyle/>
                    <a:p>
                      <a:pPr algn="ctr" rtl="1" fontAlgn="b"/>
                      <a:r>
                        <a:rPr lang="ar-SA" sz="2000" b="1" i="0" u="none" strike="noStrike" dirty="0">
                          <a:solidFill>
                            <a:srgbClr val="000000"/>
                          </a:solidFill>
                          <a:effectLst/>
                          <a:latin typeface="Calibri" panose="020F0502020204030204" pitchFamily="34" charset="0"/>
                          <a:hlinkClick r:id="rId4" action="ppaction://hlinksldjump"/>
                        </a:rPr>
                        <a:t>خزينة بيانات</a:t>
                      </a:r>
                      <a:endParaRPr lang="ar-SA" sz="2000" b="1"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تمثل المعلومات الخاصة بأماكن تخزين وحفظ البيانات سواءً الإلكترونية أو الورقية، بما يشمل البيانات المهيكلة وشبه المهيكلة وغير المهيكلة</a:t>
                      </a: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منطقي</a:t>
                      </a:r>
                    </a:p>
                  </a:txBody>
                  <a:tcPr marL="137160" marR="137160" marT="137160" marB="137160" anchor="ctr"/>
                </a:tc>
                <a:extLst>
                  <a:ext uri="{0D108BD9-81ED-4DB2-BD59-A6C34878D82A}">
                    <a16:rowId xmlns:a16="http://schemas.microsoft.com/office/drawing/2014/main" val="998746437"/>
                  </a:ext>
                </a:extLst>
              </a:tr>
              <a:tr h="864566">
                <a:tc>
                  <a:txBody>
                    <a:bodyPr/>
                    <a:lstStyle/>
                    <a:p>
                      <a:pPr algn="ctr" rtl="1" fontAlgn="b"/>
                      <a:r>
                        <a:rPr lang="ar-SA" sz="2000" b="1" i="0" u="none" strike="noStrike" dirty="0">
                          <a:solidFill>
                            <a:srgbClr val="000000"/>
                          </a:solidFill>
                          <a:effectLst/>
                          <a:latin typeface="Calibri" panose="020F0502020204030204" pitchFamily="34" charset="0"/>
                          <a:hlinkClick r:id="rId5" action="ppaction://hlinksldjump"/>
                        </a:rPr>
                        <a:t>مجموعة بيانات</a:t>
                      </a:r>
                      <a:endParaRPr lang="ar-SA" sz="2000" b="1"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تمثل مجموعة من البيانات المتجانسة التي تشترك في خصائص معينة وتخدم غرضا محددا، سواء كان لتحليل أو لدعم قرارات معينة أو لتنفيذ عمليات محددة</a:t>
                      </a: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منطقي</a:t>
                      </a:r>
                    </a:p>
                  </a:txBody>
                  <a:tcPr marL="137160" marR="137160" marT="137160" marB="137160" anchor="ctr"/>
                </a:tc>
                <a:extLst>
                  <a:ext uri="{0D108BD9-81ED-4DB2-BD59-A6C34878D82A}">
                    <a16:rowId xmlns:a16="http://schemas.microsoft.com/office/drawing/2014/main" val="2715435218"/>
                  </a:ext>
                </a:extLst>
              </a:tr>
              <a:tr h="864566">
                <a:tc>
                  <a:txBody>
                    <a:bodyPr/>
                    <a:lstStyle/>
                    <a:p>
                      <a:pPr algn="ctr" rtl="1" fontAlgn="b"/>
                      <a:r>
                        <a:rPr lang="ar-SA" sz="2000" b="1" i="0" u="none" strike="noStrike" dirty="0">
                          <a:solidFill>
                            <a:srgbClr val="000000"/>
                          </a:solidFill>
                          <a:effectLst/>
                          <a:latin typeface="Calibri" panose="020F0502020204030204" pitchFamily="34" charset="0"/>
                          <a:hlinkClick r:id="rId6" action="ppaction://hlinksldjump"/>
                        </a:rPr>
                        <a:t>سمات بيانات</a:t>
                      </a:r>
                      <a:endParaRPr lang="ar-SA" sz="2000" b="1"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مجموعة من المكونات المشتركة والتي تشكل في مجملها كيان البيانات</a:t>
                      </a: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منطقي</a:t>
                      </a:r>
                    </a:p>
                  </a:txBody>
                  <a:tcPr marL="137160" marR="137160" marT="137160" marB="137160" anchor="ctr"/>
                </a:tc>
                <a:extLst>
                  <a:ext uri="{0D108BD9-81ED-4DB2-BD59-A6C34878D82A}">
                    <a16:rowId xmlns:a16="http://schemas.microsoft.com/office/drawing/2014/main" val="1895078925"/>
                  </a:ext>
                </a:extLst>
              </a:tr>
            </a:tbl>
          </a:graphicData>
        </a:graphic>
      </p:graphicFrame>
    </p:spTree>
    <p:extLst>
      <p:ext uri="{BB962C8B-B14F-4D97-AF65-F5344CB8AC3E}">
        <p14:creationId xmlns:p14="http://schemas.microsoft.com/office/powerpoint/2010/main" val="33333702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74</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البيانات"</a:t>
            </a:r>
            <a:r>
              <a:rPr lang="ar-EG" sz="2800" dirty="0"/>
              <a:t> -</a:t>
            </a:r>
            <a:r>
              <a:rPr lang="ar-EG" dirty="0"/>
              <a:t> </a:t>
            </a:r>
            <a:r>
              <a:rPr lang="en-US" dirty="0"/>
              <a:t>تفصيل سمات </a:t>
            </a:r>
            <a:r>
              <a:rPr lang="ar-SA" dirty="0"/>
              <a:t>وحدة </a:t>
            </a:r>
            <a:r>
              <a:rPr lang="ar-EG" dirty="0"/>
              <a:t>ال</a:t>
            </a:r>
            <a:r>
              <a:rPr lang="ar-SA" dirty="0"/>
              <a:t>بناء "كيان بيانات"</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1719754262"/>
              </p:ext>
            </p:extLst>
          </p:nvPr>
        </p:nvGraphicFramePr>
        <p:xfrm>
          <a:off x="828041" y="1203149"/>
          <a:ext cx="10535920" cy="4664118"/>
        </p:xfrm>
        <a:graphic>
          <a:graphicData uri="http://schemas.openxmlformats.org/drawingml/2006/table">
            <a:tbl>
              <a:tblPr rtl="1" firstRow="1" bandRow="1">
                <a:tableStyleId>{5C22544A-7EE6-4342-B048-85BDC9FD1C3A}</a:tableStyleId>
              </a:tblPr>
              <a:tblGrid>
                <a:gridCol w="2438401">
                  <a:extLst>
                    <a:ext uri="{9D8B030D-6E8A-4147-A177-3AD203B41FA5}">
                      <a16:colId xmlns:a16="http://schemas.microsoft.com/office/drawing/2014/main" val="2853404558"/>
                    </a:ext>
                  </a:extLst>
                </a:gridCol>
                <a:gridCol w="4840257">
                  <a:extLst>
                    <a:ext uri="{9D8B030D-6E8A-4147-A177-3AD203B41FA5}">
                      <a16:colId xmlns:a16="http://schemas.microsoft.com/office/drawing/2014/main" val="1866450976"/>
                    </a:ext>
                  </a:extLst>
                </a:gridCol>
                <a:gridCol w="1628631">
                  <a:extLst>
                    <a:ext uri="{9D8B030D-6E8A-4147-A177-3AD203B41FA5}">
                      <a16:colId xmlns:a16="http://schemas.microsoft.com/office/drawing/2014/main" val="751160629"/>
                    </a:ext>
                  </a:extLst>
                </a:gridCol>
                <a:gridCol w="1628631">
                  <a:extLst>
                    <a:ext uri="{9D8B030D-6E8A-4147-A177-3AD203B41FA5}">
                      <a16:colId xmlns:a16="http://schemas.microsoft.com/office/drawing/2014/main" val="533040089"/>
                    </a:ext>
                  </a:extLst>
                </a:gridCol>
              </a:tblGrid>
              <a:tr h="396918">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السمة</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وصف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نوع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b="1" u="none" strike="noStrike" kern="1200" baseline="0" dirty="0">
                          <a:solidFill>
                            <a:schemeClr val="lt1"/>
                          </a:solidFill>
                          <a:effectLst/>
                          <a:latin typeface="Sakkal Majalla" panose="02000000000000000000" pitchFamily="2" charset="-78"/>
                          <a:ea typeface="+mn-ea"/>
                          <a:cs typeface="Sakkal Majalla" panose="02000000000000000000" pitchFamily="2" charset="-78"/>
                        </a:rPr>
                        <a:t>إلزامية التوثيق</a:t>
                      </a:r>
                    </a:p>
                  </a:txBody>
                  <a:tcPr marL="45720" marR="45720" marT="18288" marB="18288" anchor="b"/>
                </a:tc>
                <a:extLst>
                  <a:ext uri="{0D108BD9-81ED-4DB2-BD59-A6C34878D82A}">
                    <a16:rowId xmlns:a16="http://schemas.microsoft.com/office/drawing/2014/main" val="2998368315"/>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الرمز الفريد الذي يميز كيان البيانات</a:t>
                      </a:r>
                    </a:p>
                  </a:txBody>
                  <a:tcPr marL="137160" marR="137160" marT="137160" marB="13716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أحرف و/أو أرقام</a:t>
                      </a:r>
                      <a:endParaRPr lang="ar-SA" sz="1600" b="0" i="0" u="none" strike="noStrike" dirty="0">
                        <a:solidFill>
                          <a:srgbClr val="000000"/>
                        </a:solidFill>
                        <a:effectLst/>
                        <a:latin typeface="Calibri" panose="020F0502020204030204" pitchFamily="34" charset="0"/>
                      </a:endParaRP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2177790647"/>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اسم كيان البيانات</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1426280651"/>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الوصف</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وصف شامل لبيان محتوى كيان البيانات</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220032958"/>
                  </a:ext>
                </a:extLst>
              </a:tr>
              <a:tr h="361479">
                <a:tc>
                  <a:txBody>
                    <a:bodyPr/>
                    <a:lstStyle/>
                    <a:p>
                      <a:pPr algn="ctr" rtl="1" fontAlgn="b"/>
                      <a:r>
                        <a:rPr lang="ar-SA" sz="1800" b="1" i="0" u="none" strike="noStrike">
                          <a:solidFill>
                            <a:srgbClr val="000000"/>
                          </a:solidFill>
                          <a:effectLst/>
                          <a:latin typeface="Calibri" panose="020F0502020204030204" pitchFamily="34" charset="0"/>
                        </a:rPr>
                        <a:t>الإدارة المالكة للكيان</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الوحدة أو الإدارة المسؤولة عن إدارة كيان البيانات</a:t>
                      </a:r>
                    </a:p>
                  </a:txBody>
                  <a:tcPr marL="137160" marR="137160" marT="137160" marB="137160" anchor="b"/>
                </a:tc>
                <a:tc>
                  <a:txBody>
                    <a:bodyPr/>
                    <a:lstStyle/>
                    <a:p>
                      <a:pPr algn="r" rtl="1" fontAlgn="b"/>
                      <a:r>
                        <a:rPr lang="ar-EG" sz="1600" b="0" i="0" u="none" strike="noStrike" dirty="0">
                          <a:solidFill>
                            <a:srgbClr val="000000"/>
                          </a:solidFill>
                          <a:effectLst/>
                          <a:latin typeface="Calibri" panose="020F0502020204030204" pitchFamily="34" charset="0"/>
                        </a:rPr>
                        <a:t>علاقة ربط</a:t>
                      </a:r>
                      <a:endParaRPr lang="ar-SA" sz="1600" b="0" i="0" u="none" strike="noStrike" dirty="0">
                        <a:solidFill>
                          <a:srgbClr val="000000"/>
                        </a:solidFill>
                        <a:effectLst/>
                        <a:latin typeface="Calibri" panose="020F0502020204030204" pitchFamily="34" charset="0"/>
                      </a:endParaRP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2719192168"/>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تصنيف الكيان</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تصنيف </a:t>
                      </a:r>
                      <a:r>
                        <a:rPr lang="ar-EG" sz="1600" b="0" i="0" u="none" strike="noStrike" dirty="0">
                          <a:solidFill>
                            <a:srgbClr val="000000"/>
                          </a:solidFill>
                          <a:effectLst/>
                          <a:latin typeface="Calibri" panose="020F0502020204030204" pitchFamily="34" charset="0"/>
                        </a:rPr>
                        <a:t>و</a:t>
                      </a:r>
                      <a:r>
                        <a:rPr lang="ar-SA" sz="1600" b="0" i="0" u="none" strike="noStrike" dirty="0">
                          <a:solidFill>
                            <a:srgbClr val="000000"/>
                          </a:solidFill>
                          <a:effectLst/>
                          <a:latin typeface="Calibri" panose="020F0502020204030204" pitchFamily="34" charset="0"/>
                        </a:rPr>
                        <a:t>تحديد مستوى سرية الكيان حسب مكتب إدارة البيانات</a:t>
                      </a:r>
                      <a:r>
                        <a:rPr lang="ar-EG" sz="1600" b="0" i="0" u="none" strike="noStrike" dirty="0">
                          <a:solidFill>
                            <a:srgbClr val="000000"/>
                          </a:solidFill>
                          <a:effectLst/>
                          <a:latin typeface="Calibri" panose="020F0502020204030204" pitchFamily="34" charset="0"/>
                        </a:rPr>
                        <a:t> </a:t>
                      </a:r>
                      <a:r>
                        <a:rPr lang="ar-SA" sz="1600" b="0" i="0" u="none" strike="noStrike" dirty="0">
                          <a:solidFill>
                            <a:srgbClr val="000000"/>
                          </a:solidFill>
                          <a:effectLst/>
                          <a:latin typeface="Calibri" panose="020F0502020204030204" pitchFamily="34" charset="0"/>
                        </a:rPr>
                        <a:t>مثل البيانات الحساسة، البيانات العامة</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قائمة معرفة سابقًا</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3256083373"/>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مجموعة البيانات</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مجموعة البيانات التي ينتمي إليها الكيان</a:t>
                      </a:r>
                    </a:p>
                  </a:txBody>
                  <a:tcPr marL="137160" marR="137160" marT="137160" marB="137160" anchor="b"/>
                </a:tc>
                <a:tc>
                  <a:txBody>
                    <a:bodyPr/>
                    <a:lstStyle/>
                    <a:p>
                      <a:pPr algn="r" rtl="1" fontAlgn="b"/>
                      <a:r>
                        <a:rPr lang="ar-EG" sz="1600" b="0" i="0" u="none" strike="noStrike" dirty="0">
                          <a:solidFill>
                            <a:srgbClr val="000000"/>
                          </a:solidFill>
                          <a:effectLst/>
                          <a:latin typeface="Calibri" panose="020F0502020204030204" pitchFamily="34" charset="0"/>
                        </a:rPr>
                        <a:t>علاقة ربط</a:t>
                      </a:r>
                      <a:endParaRPr lang="ar-SA" sz="1600" b="0" i="0" u="none" strike="noStrike" dirty="0">
                        <a:solidFill>
                          <a:srgbClr val="000000"/>
                        </a:solidFill>
                        <a:effectLst/>
                        <a:latin typeface="Calibri" panose="020F0502020204030204" pitchFamily="34" charset="0"/>
                      </a:endParaRP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اختياري</a:t>
                      </a:r>
                    </a:p>
                  </a:txBody>
                  <a:tcPr marL="137160" marR="137160" marT="137160" marB="137160" anchor="b"/>
                </a:tc>
                <a:extLst>
                  <a:ext uri="{0D108BD9-81ED-4DB2-BD59-A6C34878D82A}">
                    <a16:rowId xmlns:a16="http://schemas.microsoft.com/office/drawing/2014/main" val="1589904935"/>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خزينة البيانات</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تحديد مخزن البيانات الذي يحتوي على هذا الكيان مثل قاعدة بيانات مركزية أو سحابة</a:t>
                      </a:r>
                      <a:r>
                        <a:rPr lang="ar-EG" sz="1600" b="0" i="0" u="none" strike="noStrike" dirty="0">
                          <a:solidFill>
                            <a:srgbClr val="000000"/>
                          </a:solidFill>
                          <a:effectLst/>
                          <a:latin typeface="Calibri" panose="020F0502020204030204" pitchFamily="34" charset="0"/>
                        </a:rPr>
                        <a:t> أو غير رقمي</a:t>
                      </a:r>
                      <a:endParaRPr lang="ar-SA" sz="1600" b="0" i="0" u="none" strike="noStrike" dirty="0">
                        <a:solidFill>
                          <a:srgbClr val="000000"/>
                        </a:solidFill>
                        <a:effectLst/>
                        <a:latin typeface="Calibri" panose="020F0502020204030204" pitchFamily="34" charset="0"/>
                      </a:endParaRPr>
                    </a:p>
                  </a:txBody>
                  <a:tcPr marL="137160" marR="137160" marT="137160" marB="137160" anchor="b"/>
                </a:tc>
                <a:tc>
                  <a:txBody>
                    <a:bodyPr/>
                    <a:lstStyle/>
                    <a:p>
                      <a:pPr algn="r" rtl="1" fontAlgn="b"/>
                      <a:r>
                        <a:rPr lang="ar-EG" sz="1600" b="0" i="0" u="none" strike="noStrike" dirty="0">
                          <a:solidFill>
                            <a:srgbClr val="000000"/>
                          </a:solidFill>
                          <a:effectLst/>
                          <a:latin typeface="Calibri" panose="020F0502020204030204" pitchFamily="34" charset="0"/>
                        </a:rPr>
                        <a:t>علاقة ربط</a:t>
                      </a:r>
                      <a:endParaRPr lang="ar-SA" sz="1600" b="0" i="0" u="none" strike="noStrike" dirty="0">
                        <a:solidFill>
                          <a:srgbClr val="000000"/>
                        </a:solidFill>
                        <a:effectLst/>
                        <a:latin typeface="Calibri" panose="020F0502020204030204" pitchFamily="34" charset="0"/>
                      </a:endParaRP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اختياري</a:t>
                      </a:r>
                    </a:p>
                  </a:txBody>
                  <a:tcPr marL="137160" marR="137160" marT="137160" marB="137160" anchor="b"/>
                </a:tc>
                <a:extLst>
                  <a:ext uri="{0D108BD9-81ED-4DB2-BD59-A6C34878D82A}">
                    <a16:rowId xmlns:a16="http://schemas.microsoft.com/office/drawing/2014/main" val="653200319"/>
                  </a:ext>
                </a:extLst>
              </a:tr>
            </a:tbl>
          </a:graphicData>
        </a:graphic>
      </p:graphicFrame>
    </p:spTree>
    <p:extLst>
      <p:ext uri="{BB962C8B-B14F-4D97-AF65-F5344CB8AC3E}">
        <p14:creationId xmlns:p14="http://schemas.microsoft.com/office/powerpoint/2010/main" val="38518357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75</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البيانات"</a:t>
            </a:r>
            <a:r>
              <a:rPr lang="ar-EG" sz="2800" dirty="0"/>
              <a:t> -</a:t>
            </a:r>
            <a:r>
              <a:rPr lang="ar-EG" dirty="0"/>
              <a:t> </a:t>
            </a:r>
            <a:r>
              <a:rPr lang="en-US" dirty="0"/>
              <a:t>تفصيل سمات </a:t>
            </a:r>
            <a:r>
              <a:rPr lang="ar-SA" dirty="0"/>
              <a:t>وحدة </a:t>
            </a:r>
            <a:r>
              <a:rPr lang="ar-EG" dirty="0"/>
              <a:t>ال</a:t>
            </a:r>
            <a:r>
              <a:rPr lang="ar-SA" dirty="0"/>
              <a:t>بناء "خزينة بيانات"</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2942733961"/>
              </p:ext>
            </p:extLst>
          </p:nvPr>
        </p:nvGraphicFramePr>
        <p:xfrm>
          <a:off x="802641" y="1077347"/>
          <a:ext cx="10586718" cy="4967258"/>
        </p:xfrm>
        <a:graphic>
          <a:graphicData uri="http://schemas.openxmlformats.org/drawingml/2006/table">
            <a:tbl>
              <a:tblPr rtl="1" firstRow="1" bandRow="1">
                <a:tableStyleId>{5C22544A-7EE6-4342-B048-85BDC9FD1C3A}</a:tableStyleId>
              </a:tblPr>
              <a:tblGrid>
                <a:gridCol w="2057399">
                  <a:extLst>
                    <a:ext uri="{9D8B030D-6E8A-4147-A177-3AD203B41FA5}">
                      <a16:colId xmlns:a16="http://schemas.microsoft.com/office/drawing/2014/main" val="2853404558"/>
                    </a:ext>
                  </a:extLst>
                </a:gridCol>
                <a:gridCol w="5571121">
                  <a:extLst>
                    <a:ext uri="{9D8B030D-6E8A-4147-A177-3AD203B41FA5}">
                      <a16:colId xmlns:a16="http://schemas.microsoft.com/office/drawing/2014/main" val="1866450976"/>
                    </a:ext>
                  </a:extLst>
                </a:gridCol>
                <a:gridCol w="1479099">
                  <a:extLst>
                    <a:ext uri="{9D8B030D-6E8A-4147-A177-3AD203B41FA5}">
                      <a16:colId xmlns:a16="http://schemas.microsoft.com/office/drawing/2014/main" val="751160629"/>
                    </a:ext>
                  </a:extLst>
                </a:gridCol>
                <a:gridCol w="1479099">
                  <a:extLst>
                    <a:ext uri="{9D8B030D-6E8A-4147-A177-3AD203B41FA5}">
                      <a16:colId xmlns:a16="http://schemas.microsoft.com/office/drawing/2014/main" val="1509736075"/>
                    </a:ext>
                  </a:extLst>
                </a:gridCol>
              </a:tblGrid>
              <a:tr h="373942">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السمة</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وصف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نوع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b="1" u="none" strike="noStrike" kern="1200" baseline="0" dirty="0">
                          <a:solidFill>
                            <a:schemeClr val="lt1"/>
                          </a:solidFill>
                          <a:effectLst/>
                          <a:latin typeface="Sakkal Majalla" panose="02000000000000000000" pitchFamily="2" charset="-78"/>
                          <a:ea typeface="+mn-ea"/>
                          <a:cs typeface="Sakkal Majalla" panose="02000000000000000000" pitchFamily="2" charset="-78"/>
                        </a:rPr>
                        <a:t>إلزامية السمة</a:t>
                      </a:r>
                    </a:p>
                  </a:txBody>
                  <a:tcPr marL="45720" marR="45720" marT="18288" marB="18288" anchor="b"/>
                </a:tc>
                <a:extLst>
                  <a:ext uri="{0D108BD9-81ED-4DB2-BD59-A6C34878D82A}">
                    <a16:rowId xmlns:a16="http://schemas.microsoft.com/office/drawing/2014/main" val="2998368315"/>
                  </a:ext>
                </a:extLst>
              </a:tr>
              <a:tr h="328094">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الرمز</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الرمز الفريد الذي يميز خزينة البيانات</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أحرف و/أو أرقام</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T="0" marB="0" anchor="b"/>
                </a:tc>
                <a:extLst>
                  <a:ext uri="{0D108BD9-81ED-4DB2-BD59-A6C34878D82A}">
                    <a16:rowId xmlns:a16="http://schemas.microsoft.com/office/drawing/2014/main" val="930853191"/>
                  </a:ext>
                </a:extLst>
              </a:tr>
              <a:tr h="328094">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الاسم</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اسم خزينة البيانات</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T="0" marB="0" anchor="b"/>
                </a:tc>
                <a:extLst>
                  <a:ext uri="{0D108BD9-81ED-4DB2-BD59-A6C34878D82A}">
                    <a16:rowId xmlns:a16="http://schemas.microsoft.com/office/drawing/2014/main" val="2177790647"/>
                  </a:ext>
                </a:extLst>
              </a:tr>
              <a:tr h="328094">
                <a:tc>
                  <a:txBody>
                    <a:bodyPr/>
                    <a:lstStyle/>
                    <a:p>
                      <a:pPr algn="ctr" rtl="1" fontAlgn="b"/>
                      <a:r>
                        <a:rPr lang="ar-SA" sz="1800" b="1" i="0" u="none" strike="noStrike" baseline="0">
                          <a:solidFill>
                            <a:srgbClr val="000000"/>
                          </a:solidFill>
                          <a:effectLst/>
                          <a:latin typeface="Sakkal Majalla" panose="02000000000000000000" pitchFamily="2" charset="-78"/>
                          <a:cs typeface="Sakkal Majalla" panose="02000000000000000000" pitchFamily="2" charset="-78"/>
                        </a:rPr>
                        <a:t>الوصف</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وصف شامل لمحتوى خزينة البيانات ودورها</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T="0" marB="0" anchor="b"/>
                </a:tc>
                <a:extLst>
                  <a:ext uri="{0D108BD9-81ED-4DB2-BD59-A6C34878D82A}">
                    <a16:rowId xmlns:a16="http://schemas.microsoft.com/office/drawing/2014/main" val="1262844542"/>
                  </a:ext>
                </a:extLst>
              </a:tr>
              <a:tr h="328094">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نوع التخزين</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تحديد ما إذا كان التخزين إلكتروني أو ورقي</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T="0" marB="0" anchor="b"/>
                </a:tc>
                <a:extLst>
                  <a:ext uri="{0D108BD9-81ED-4DB2-BD59-A6C34878D82A}">
                    <a16:rowId xmlns:a16="http://schemas.microsoft.com/office/drawing/2014/main" val="2209312115"/>
                  </a:ext>
                </a:extLst>
              </a:tr>
              <a:tr h="328094">
                <a:tc>
                  <a:txBody>
                    <a:bodyPr/>
                    <a:lstStyle/>
                    <a:p>
                      <a:pPr algn="ctr" rtl="1" fontAlgn="b"/>
                      <a:r>
                        <a:rPr lang="ar-SA" sz="1800" b="1" i="0" u="none" strike="noStrike" baseline="0">
                          <a:solidFill>
                            <a:srgbClr val="000000"/>
                          </a:solidFill>
                          <a:effectLst/>
                          <a:latin typeface="Sakkal Majalla" panose="02000000000000000000" pitchFamily="2" charset="-78"/>
                          <a:cs typeface="Sakkal Majalla" panose="02000000000000000000" pitchFamily="2" charset="-78"/>
                        </a:rPr>
                        <a:t>تصنيف الهيكلة</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تصنيف كيانات البيانات حسب هيكلتها: مهيكلة، شبه مهيكلة، غير مهيكلة</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T="0" marB="0" anchor="b"/>
                </a:tc>
                <a:extLst>
                  <a:ext uri="{0D108BD9-81ED-4DB2-BD59-A6C34878D82A}">
                    <a16:rowId xmlns:a16="http://schemas.microsoft.com/office/drawing/2014/main" val="1426280651"/>
                  </a:ext>
                </a:extLst>
              </a:tr>
              <a:tr h="328094">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نوع خزينة البيانات</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نوع التخزين مثل قواعد بيانات علائقية، مستودع بيانات، مستندات، وسائط تخزين</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T="0" marB="0" anchor="b"/>
                </a:tc>
                <a:extLst>
                  <a:ext uri="{0D108BD9-81ED-4DB2-BD59-A6C34878D82A}">
                    <a16:rowId xmlns:a16="http://schemas.microsoft.com/office/drawing/2014/main" val="459979591"/>
                  </a:ext>
                </a:extLst>
              </a:tr>
              <a:tr h="328094">
                <a:tc>
                  <a:txBody>
                    <a:bodyPr/>
                    <a:lstStyle/>
                    <a:p>
                      <a:pPr algn="ctr" rtl="1" fontAlgn="b"/>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ماركة </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قاعدة البيانات</a:t>
                      </a:r>
                      <a:endParaRPr lang="en-US"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اسم المنتج الخاص بقاعدة البيانات مثل </a:t>
                      </a:r>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Oracle, SQL, MYSQL</a:t>
                      </a:r>
                    </a:p>
                  </a:txBody>
                  <a:tcPr marT="0" marB="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marT="0" marB="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T="0" marB="0" anchor="b"/>
                </a:tc>
                <a:extLst>
                  <a:ext uri="{0D108BD9-81ED-4DB2-BD59-A6C34878D82A}">
                    <a16:rowId xmlns:a16="http://schemas.microsoft.com/office/drawing/2014/main" val="3794602827"/>
                  </a:ext>
                </a:extLst>
              </a:tr>
              <a:tr h="328094">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الإصدار</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إصدار قاعدة البيانات أو الخزينة</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T="0" marB="0" anchor="b"/>
                </a:tc>
                <a:extLst>
                  <a:ext uri="{0D108BD9-81ED-4DB2-BD59-A6C34878D82A}">
                    <a16:rowId xmlns:a16="http://schemas.microsoft.com/office/drawing/2014/main" val="220032958"/>
                  </a:ext>
                </a:extLst>
              </a:tr>
              <a:tr h="328094">
                <a:tc>
                  <a:txBody>
                    <a:bodyPr/>
                    <a:lstStyle/>
                    <a:p>
                      <a:pPr algn="ctr" rtl="1" fontAlgn="b"/>
                      <a:r>
                        <a:rPr lang="ar-SA" sz="1800" b="1" i="0" u="none" strike="noStrike" baseline="0">
                          <a:solidFill>
                            <a:srgbClr val="000000"/>
                          </a:solidFill>
                          <a:effectLst/>
                          <a:latin typeface="Sakkal Majalla" panose="02000000000000000000" pitchFamily="2" charset="-78"/>
                          <a:cs typeface="Sakkal Majalla" panose="02000000000000000000" pitchFamily="2" charset="-78"/>
                        </a:rPr>
                        <a:t>الاستضافة</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مكان استضافة خزينة البيانات مثل أرشيف، سيرفر داخلي، استضافة سحابية</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T="0" marB="0" anchor="b"/>
                </a:tc>
                <a:extLst>
                  <a:ext uri="{0D108BD9-81ED-4DB2-BD59-A6C34878D82A}">
                    <a16:rowId xmlns:a16="http://schemas.microsoft.com/office/drawing/2014/main" val="2719192168"/>
                  </a:ext>
                </a:extLst>
              </a:tr>
              <a:tr h="328094">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موقع التخزين</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الموقع الجغرافي أو المكان الإلكتروني لخزينة البيانات</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 في غير السحابية</a:t>
                      </a:r>
                    </a:p>
                  </a:txBody>
                  <a:tcPr marT="0" marB="0" anchor="b"/>
                </a:tc>
                <a:extLst>
                  <a:ext uri="{0D108BD9-81ED-4DB2-BD59-A6C34878D82A}">
                    <a16:rowId xmlns:a16="http://schemas.microsoft.com/office/drawing/2014/main" val="3256083373"/>
                  </a:ext>
                </a:extLst>
              </a:tr>
              <a:tr h="328094">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الخادم المستضيف</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الخادم الذي يستضيف خزينة البيانات إذا كانت إلكترونية</a:t>
                      </a:r>
                    </a:p>
                  </a:txBody>
                  <a:tcPr marT="0" marB="0" anchor="b"/>
                </a:tc>
                <a:tc>
                  <a:txBody>
                    <a:bodyPr/>
                    <a:lstStyle/>
                    <a:p>
                      <a:pPr algn="r" rtl="1" fontAlgn="b"/>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علاقة ربط</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 غير السحابية</a:t>
                      </a:r>
                    </a:p>
                  </a:txBody>
                  <a:tcPr marT="0" marB="0" anchor="b"/>
                </a:tc>
                <a:extLst>
                  <a:ext uri="{0D108BD9-81ED-4DB2-BD59-A6C34878D82A}">
                    <a16:rowId xmlns:a16="http://schemas.microsoft.com/office/drawing/2014/main" val="1589904935"/>
                  </a:ext>
                </a:extLst>
              </a:tr>
              <a:tr h="328094">
                <a:tc>
                  <a:txBody>
                    <a:bodyPr/>
                    <a:lstStyle/>
                    <a:p>
                      <a:pPr algn="ctr" rtl="1" fontAlgn="b"/>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التخزين</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 المستضيف</a:t>
                      </a:r>
                    </a:p>
                  </a:txBody>
                  <a:tcPr marT="0" marB="0" anchor="b"/>
                </a:tc>
                <a:tc>
                  <a:txBody>
                    <a:bodyPr/>
                    <a:lstStyle/>
                    <a:p>
                      <a:pPr algn="r" rtl="1" fontAlgn="b"/>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مكون "التخزين" التقني</a:t>
                      </a: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 الذي يستضيف </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ملفات</a:t>
                      </a: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 البيانات إذا كانت إلكترونية</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 (مثل: </a:t>
                      </a:r>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SAN - NAS</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tc>
                  <a:txBody>
                    <a:bodyPr/>
                    <a:lstStyle/>
                    <a:p>
                      <a:pPr algn="r" rtl="1" fontAlgn="b"/>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علاقة ربط</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 غير السحابية</a:t>
                      </a:r>
                    </a:p>
                  </a:txBody>
                  <a:tcPr marT="0" marB="0" anchor="b"/>
                </a:tc>
                <a:extLst>
                  <a:ext uri="{0D108BD9-81ED-4DB2-BD59-A6C34878D82A}">
                    <a16:rowId xmlns:a16="http://schemas.microsoft.com/office/drawing/2014/main" val="3947135388"/>
                  </a:ext>
                </a:extLst>
              </a:tr>
              <a:tr h="328094">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تكرار</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تحديد ما إذا كانت خزينة البيانات مكررة</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Replicated</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أو لا</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T="0" marB="0" anchor="b"/>
                </a:tc>
                <a:extLst>
                  <a:ext uri="{0D108BD9-81ED-4DB2-BD59-A6C34878D82A}">
                    <a16:rowId xmlns:a16="http://schemas.microsoft.com/office/drawing/2014/main" val="653200319"/>
                  </a:ext>
                </a:extLst>
              </a:tr>
              <a:tr h="328094">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طريقة النسخ الاحتياطية</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الطريقة المتبعة لإجراء النسخ الاحتياطية مثل يومية، أسبوعية، شهرية</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marT="0" marB="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T="0" marB="0" anchor="b"/>
                </a:tc>
                <a:extLst>
                  <a:ext uri="{0D108BD9-81ED-4DB2-BD59-A6C34878D82A}">
                    <a16:rowId xmlns:a16="http://schemas.microsoft.com/office/drawing/2014/main" val="1996831406"/>
                  </a:ext>
                </a:extLst>
              </a:tr>
            </a:tbl>
          </a:graphicData>
        </a:graphic>
      </p:graphicFrame>
    </p:spTree>
    <p:extLst>
      <p:ext uri="{BB962C8B-B14F-4D97-AF65-F5344CB8AC3E}">
        <p14:creationId xmlns:p14="http://schemas.microsoft.com/office/powerpoint/2010/main" val="28790857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76</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البيانات"</a:t>
            </a:r>
            <a:r>
              <a:rPr lang="ar-EG" sz="2800" dirty="0"/>
              <a:t> -</a:t>
            </a:r>
            <a:r>
              <a:rPr lang="ar-EG" dirty="0"/>
              <a:t> </a:t>
            </a:r>
            <a:r>
              <a:rPr lang="en-US" dirty="0"/>
              <a:t>تفصيل سمات </a:t>
            </a:r>
            <a:r>
              <a:rPr lang="ar-SA" dirty="0"/>
              <a:t>وحدة </a:t>
            </a:r>
            <a:r>
              <a:rPr lang="ar-EG" dirty="0"/>
              <a:t>ال</a:t>
            </a:r>
            <a:r>
              <a:rPr lang="ar-SA" dirty="0"/>
              <a:t>بناء "مجموعة بيانات"</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1999219576"/>
              </p:ext>
            </p:extLst>
          </p:nvPr>
        </p:nvGraphicFramePr>
        <p:xfrm>
          <a:off x="868680" y="1098244"/>
          <a:ext cx="10454639" cy="1987296"/>
        </p:xfrm>
        <a:graphic>
          <a:graphicData uri="http://schemas.openxmlformats.org/drawingml/2006/table">
            <a:tbl>
              <a:tblPr rtl="1" firstRow="1" bandRow="1">
                <a:tableStyleId>{5C22544A-7EE6-4342-B048-85BDC9FD1C3A}</a:tableStyleId>
              </a:tblPr>
              <a:tblGrid>
                <a:gridCol w="2800516">
                  <a:extLst>
                    <a:ext uri="{9D8B030D-6E8A-4147-A177-3AD203B41FA5}">
                      <a16:colId xmlns:a16="http://schemas.microsoft.com/office/drawing/2014/main" val="2853404558"/>
                    </a:ext>
                  </a:extLst>
                </a:gridCol>
                <a:gridCol w="4481745">
                  <a:extLst>
                    <a:ext uri="{9D8B030D-6E8A-4147-A177-3AD203B41FA5}">
                      <a16:colId xmlns:a16="http://schemas.microsoft.com/office/drawing/2014/main" val="1866450976"/>
                    </a:ext>
                  </a:extLst>
                </a:gridCol>
                <a:gridCol w="1586189">
                  <a:extLst>
                    <a:ext uri="{9D8B030D-6E8A-4147-A177-3AD203B41FA5}">
                      <a16:colId xmlns:a16="http://schemas.microsoft.com/office/drawing/2014/main" val="751160629"/>
                    </a:ext>
                  </a:extLst>
                </a:gridCol>
                <a:gridCol w="1586189">
                  <a:extLst>
                    <a:ext uri="{9D8B030D-6E8A-4147-A177-3AD203B41FA5}">
                      <a16:colId xmlns:a16="http://schemas.microsoft.com/office/drawing/2014/main" val="3045429425"/>
                    </a:ext>
                  </a:extLst>
                </a:gridCol>
              </a:tblGrid>
              <a:tr h="292665">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السمة</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وصف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نوع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b="1" u="none" strike="noStrike" kern="1200" baseline="0" dirty="0">
                          <a:solidFill>
                            <a:schemeClr val="lt1"/>
                          </a:solidFill>
                          <a:effectLst/>
                          <a:latin typeface="Sakkal Majalla" panose="02000000000000000000" pitchFamily="2" charset="-78"/>
                          <a:ea typeface="+mn-ea"/>
                          <a:cs typeface="Sakkal Majalla" panose="02000000000000000000" pitchFamily="2" charset="-78"/>
                        </a:rPr>
                        <a:t>إلزامية التوثيق</a:t>
                      </a:r>
                    </a:p>
                  </a:txBody>
                  <a:tcPr marL="45720" marR="45720" marT="18288" marB="18288" anchor="b"/>
                </a:tc>
                <a:extLst>
                  <a:ext uri="{0D108BD9-81ED-4DB2-BD59-A6C34878D82A}">
                    <a16:rowId xmlns:a16="http://schemas.microsoft.com/office/drawing/2014/main" val="2998368315"/>
                  </a:ext>
                </a:extLst>
              </a:tr>
              <a:tr h="313570">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الرمز الفريد الذي يميز </a:t>
                      </a:r>
                      <a:r>
                        <a:rPr lang="ar-EG" sz="1600" b="0" i="0" u="none" strike="noStrike" dirty="0">
                          <a:solidFill>
                            <a:srgbClr val="000000"/>
                          </a:solidFill>
                          <a:effectLst/>
                          <a:latin typeface="Calibri" panose="020F0502020204030204" pitchFamily="34" charset="0"/>
                        </a:rPr>
                        <a:t>مجموعة</a:t>
                      </a:r>
                      <a:r>
                        <a:rPr lang="ar-SA" sz="1600" b="0" i="0" u="none" strike="noStrike" dirty="0">
                          <a:solidFill>
                            <a:srgbClr val="000000"/>
                          </a:solidFill>
                          <a:effectLst/>
                          <a:latin typeface="Calibri" panose="020F0502020204030204" pitchFamily="34" charset="0"/>
                        </a:rPr>
                        <a:t> البيانات</a:t>
                      </a:r>
                    </a:p>
                  </a:txBody>
                  <a:tcPr marL="137160" marR="137160" marT="137160" marB="13716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أحرف و/أو أرقام</a:t>
                      </a:r>
                      <a:endParaRPr lang="ar-SA" sz="1600" b="0" i="0" u="none" strike="noStrike" dirty="0">
                        <a:solidFill>
                          <a:srgbClr val="000000"/>
                        </a:solidFill>
                        <a:effectLst/>
                        <a:latin typeface="Calibri" panose="020F0502020204030204" pitchFamily="34" charset="0"/>
                      </a:endParaRP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3876882517"/>
                  </a:ext>
                </a:extLst>
              </a:tr>
              <a:tr h="313570">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اسم </a:t>
                      </a:r>
                      <a:r>
                        <a:rPr lang="ar-EG" sz="1600" b="0" i="0" u="none" strike="noStrike" dirty="0">
                          <a:solidFill>
                            <a:srgbClr val="000000"/>
                          </a:solidFill>
                          <a:effectLst/>
                          <a:latin typeface="Calibri" panose="020F0502020204030204" pitchFamily="34" charset="0"/>
                        </a:rPr>
                        <a:t>مجموعة</a:t>
                      </a:r>
                      <a:r>
                        <a:rPr lang="ar-SA" sz="1600" b="0" i="0" u="none" strike="noStrike" dirty="0">
                          <a:solidFill>
                            <a:srgbClr val="000000"/>
                          </a:solidFill>
                          <a:effectLst/>
                          <a:latin typeface="Calibri" panose="020F0502020204030204" pitchFamily="34" charset="0"/>
                        </a:rPr>
                        <a:t> البيانات</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2177790647"/>
                  </a:ext>
                </a:extLst>
              </a:tr>
              <a:tr h="313570">
                <a:tc>
                  <a:txBody>
                    <a:bodyPr/>
                    <a:lstStyle/>
                    <a:p>
                      <a:pPr algn="ctr" rtl="1" fontAlgn="b"/>
                      <a:r>
                        <a:rPr lang="ar-SA" sz="1800" b="1" i="0" u="none" strike="noStrike" dirty="0">
                          <a:solidFill>
                            <a:srgbClr val="000000"/>
                          </a:solidFill>
                          <a:effectLst/>
                          <a:latin typeface="Calibri" panose="020F0502020204030204" pitchFamily="34" charset="0"/>
                        </a:rPr>
                        <a:t>الوصف</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وصف شامل </a:t>
                      </a:r>
                      <a:r>
                        <a:rPr lang="ar-EG" sz="1600" b="0" i="0" u="none" strike="noStrike" dirty="0">
                          <a:solidFill>
                            <a:srgbClr val="000000"/>
                          </a:solidFill>
                          <a:effectLst/>
                          <a:latin typeface="Calibri" panose="020F0502020204030204" pitchFamily="34" charset="0"/>
                        </a:rPr>
                        <a:t>لمجموعة البيانات</a:t>
                      </a:r>
                      <a:endParaRPr lang="ar-SA" sz="1600" b="0" i="0" u="none" strike="noStrike" dirty="0">
                        <a:solidFill>
                          <a:srgbClr val="000000"/>
                        </a:solidFill>
                        <a:effectLst/>
                        <a:latin typeface="Calibri" panose="020F0502020204030204" pitchFamily="34" charset="0"/>
                      </a:endParaRP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اختياري</a:t>
                      </a:r>
                    </a:p>
                  </a:txBody>
                  <a:tcPr marL="137160" marR="137160" marT="137160" marB="137160" anchor="b"/>
                </a:tc>
                <a:extLst>
                  <a:ext uri="{0D108BD9-81ED-4DB2-BD59-A6C34878D82A}">
                    <a16:rowId xmlns:a16="http://schemas.microsoft.com/office/drawing/2014/main" val="3626797708"/>
                  </a:ext>
                </a:extLst>
              </a:tr>
            </a:tbl>
          </a:graphicData>
        </a:graphic>
      </p:graphicFrame>
    </p:spTree>
    <p:extLst>
      <p:ext uri="{BB962C8B-B14F-4D97-AF65-F5344CB8AC3E}">
        <p14:creationId xmlns:p14="http://schemas.microsoft.com/office/powerpoint/2010/main" val="18494278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77</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البيانات"</a:t>
            </a:r>
            <a:r>
              <a:rPr lang="ar-EG" sz="2800" dirty="0"/>
              <a:t> -</a:t>
            </a:r>
            <a:r>
              <a:rPr lang="ar-EG" dirty="0"/>
              <a:t> </a:t>
            </a:r>
            <a:r>
              <a:rPr lang="en-US" dirty="0"/>
              <a:t>تفصيل سمات </a:t>
            </a:r>
            <a:r>
              <a:rPr lang="ar-SA" dirty="0"/>
              <a:t>وحدة </a:t>
            </a:r>
            <a:r>
              <a:rPr lang="ar-EG" dirty="0"/>
              <a:t>ال</a:t>
            </a:r>
            <a:r>
              <a:rPr lang="ar-SA" dirty="0"/>
              <a:t>بناء "سمات بيانات"</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2500914125"/>
              </p:ext>
            </p:extLst>
          </p:nvPr>
        </p:nvGraphicFramePr>
        <p:xfrm>
          <a:off x="868681" y="1106898"/>
          <a:ext cx="10454638" cy="2792242"/>
        </p:xfrm>
        <a:graphic>
          <a:graphicData uri="http://schemas.openxmlformats.org/drawingml/2006/table">
            <a:tbl>
              <a:tblPr rtl="1" firstRow="1" bandRow="1">
                <a:tableStyleId>{5C22544A-7EE6-4342-B048-85BDC9FD1C3A}</a:tableStyleId>
              </a:tblPr>
              <a:tblGrid>
                <a:gridCol w="2800516">
                  <a:extLst>
                    <a:ext uri="{9D8B030D-6E8A-4147-A177-3AD203B41FA5}">
                      <a16:colId xmlns:a16="http://schemas.microsoft.com/office/drawing/2014/main" val="2853404558"/>
                    </a:ext>
                  </a:extLst>
                </a:gridCol>
                <a:gridCol w="4437500">
                  <a:extLst>
                    <a:ext uri="{9D8B030D-6E8A-4147-A177-3AD203B41FA5}">
                      <a16:colId xmlns:a16="http://schemas.microsoft.com/office/drawing/2014/main" val="1866450976"/>
                    </a:ext>
                  </a:extLst>
                </a:gridCol>
                <a:gridCol w="1608311">
                  <a:extLst>
                    <a:ext uri="{9D8B030D-6E8A-4147-A177-3AD203B41FA5}">
                      <a16:colId xmlns:a16="http://schemas.microsoft.com/office/drawing/2014/main" val="751160629"/>
                    </a:ext>
                  </a:extLst>
                </a:gridCol>
                <a:gridCol w="1608311">
                  <a:extLst>
                    <a:ext uri="{9D8B030D-6E8A-4147-A177-3AD203B41FA5}">
                      <a16:colId xmlns:a16="http://schemas.microsoft.com/office/drawing/2014/main" val="375354940"/>
                    </a:ext>
                  </a:extLst>
                </a:gridCol>
              </a:tblGrid>
              <a:tr h="597682">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السمة</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وصف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نوع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b="1" u="none" strike="noStrike" kern="1200" baseline="0" dirty="0">
                          <a:solidFill>
                            <a:schemeClr val="lt1"/>
                          </a:solidFill>
                          <a:effectLst/>
                          <a:latin typeface="Sakkal Majalla" panose="02000000000000000000" pitchFamily="2" charset="-78"/>
                          <a:ea typeface="+mn-ea"/>
                          <a:cs typeface="Sakkal Majalla" panose="02000000000000000000" pitchFamily="2" charset="-78"/>
                        </a:rPr>
                        <a:t>إلزامية التوثيق</a:t>
                      </a:r>
                    </a:p>
                  </a:txBody>
                  <a:tcPr marL="45720" marR="45720" marT="18288" marB="18288" anchor="b"/>
                </a:tc>
                <a:extLst>
                  <a:ext uri="{0D108BD9-81ED-4DB2-BD59-A6C34878D82A}">
                    <a16:rowId xmlns:a16="http://schemas.microsoft.com/office/drawing/2014/main" val="2998368315"/>
                  </a:ext>
                </a:extLst>
              </a:tr>
              <a:tr h="480280">
                <a:tc>
                  <a:txBody>
                    <a:bodyPr/>
                    <a:lstStyle/>
                    <a:p>
                      <a:pPr algn="ctr" rtl="1" fontAlgn="b"/>
                      <a:r>
                        <a:rPr lang="ar-SA" sz="1800" b="1" u="none" strike="noStrike" kern="1200" dirty="0">
                          <a:solidFill>
                            <a:schemeClr val="dk1"/>
                          </a:solidFill>
                          <a:effectLst/>
                          <a:latin typeface="+mn-lt"/>
                          <a:ea typeface="+mn-ea"/>
                          <a:cs typeface="+mn-cs"/>
                        </a:rPr>
                        <a:t>الرمز</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الرمز الفريد لسمة</a:t>
                      </a:r>
                      <a:r>
                        <a:rPr lang="ar-EG" sz="1600" b="0" i="0" u="none" strike="noStrike" dirty="0">
                          <a:solidFill>
                            <a:srgbClr val="000000"/>
                          </a:solidFill>
                          <a:effectLst/>
                          <a:latin typeface="Calibri" panose="020F0502020204030204" pitchFamily="34" charset="0"/>
                        </a:rPr>
                        <a:t> البيانات</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u="none" strike="noStrike" kern="1200" dirty="0">
                          <a:solidFill>
                            <a:schemeClr val="dk1"/>
                          </a:solidFill>
                          <a:effectLst/>
                          <a:latin typeface="+mn-lt"/>
                          <a:ea typeface="+mn-ea"/>
                          <a:cs typeface="+mn-cs"/>
                        </a:rPr>
                        <a:t>أحرف و/أو أرقام</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L="137160" marR="137160" marT="137160" marB="137160" anchor="b"/>
                </a:tc>
                <a:extLst>
                  <a:ext uri="{0D108BD9-81ED-4DB2-BD59-A6C34878D82A}">
                    <a16:rowId xmlns:a16="http://schemas.microsoft.com/office/drawing/2014/main" val="384785482"/>
                  </a:ext>
                </a:extLst>
              </a:tr>
              <a:tr h="480280">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اسم السمة</a:t>
                      </a:r>
                    </a:p>
                  </a:txBody>
                  <a:tcPr marL="137160" marR="137160" marT="137160" marB="13716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الاسم الخاص بالسمة التي تمثل عنصرا في كيان البيانات</a:t>
                      </a:r>
                    </a:p>
                  </a:txBody>
                  <a:tcPr marL="137160" marR="137160" marT="137160" marB="13716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p>
                  </a:txBody>
                  <a:tcPr marL="137160" marR="137160" marT="137160" marB="13716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L="137160" marR="137160" marT="137160" marB="137160" anchor="b"/>
                </a:tc>
                <a:extLst>
                  <a:ext uri="{0D108BD9-81ED-4DB2-BD59-A6C34878D82A}">
                    <a16:rowId xmlns:a16="http://schemas.microsoft.com/office/drawing/2014/main" val="2177790647"/>
                  </a:ext>
                </a:extLst>
              </a:tr>
              <a:tr h="480280">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الوصف</a:t>
                      </a:r>
                    </a:p>
                  </a:txBody>
                  <a:tcPr marL="137160" marR="137160" marT="137160" marB="13716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شرح مختصر للغرض من السمة وأهميتها داخل كيان البيانات</a:t>
                      </a:r>
                    </a:p>
                  </a:txBody>
                  <a:tcPr marL="137160" marR="137160" marT="137160" marB="13716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p>
                  </a:txBody>
                  <a:tcPr marL="137160" marR="137160" marT="137160" marB="13716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اختياري</a:t>
                      </a:r>
                    </a:p>
                  </a:txBody>
                  <a:tcPr marL="137160" marR="137160" marT="137160" marB="137160" anchor="b"/>
                </a:tc>
                <a:extLst>
                  <a:ext uri="{0D108BD9-81ED-4DB2-BD59-A6C34878D82A}">
                    <a16:rowId xmlns:a16="http://schemas.microsoft.com/office/drawing/2014/main" val="2579280612"/>
                  </a:ext>
                </a:extLst>
              </a:tr>
              <a:tr h="480280">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نوع السمة</a:t>
                      </a:r>
                    </a:p>
                  </a:txBody>
                  <a:tcPr marL="137160" marR="137160" marT="137160" marB="13716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تصنيف السمة حسب نوع البيانات (مثل: نص، رقم، تاريخ، منطقي، إلخ)</a:t>
                      </a:r>
                    </a:p>
                  </a:txBody>
                  <a:tcPr marL="137160" marR="137160" marT="137160" marB="13716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مسبقًا</a:t>
                      </a:r>
                    </a:p>
                  </a:txBody>
                  <a:tcPr marL="137160" marR="137160" marT="137160" marB="137160"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marL="137160" marR="137160" marT="137160" marB="137160" anchor="b"/>
                </a:tc>
                <a:extLst>
                  <a:ext uri="{0D108BD9-81ED-4DB2-BD59-A6C34878D82A}">
                    <a16:rowId xmlns:a16="http://schemas.microsoft.com/office/drawing/2014/main" val="2253437534"/>
                  </a:ext>
                </a:extLst>
              </a:tr>
            </a:tbl>
          </a:graphicData>
        </a:graphic>
      </p:graphicFrame>
    </p:spTree>
    <p:extLst>
      <p:ext uri="{BB962C8B-B14F-4D97-AF65-F5344CB8AC3E}">
        <p14:creationId xmlns:p14="http://schemas.microsoft.com/office/powerpoint/2010/main" val="95496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علاقات مكونات البناء التابعة لمجال </a:t>
            </a:r>
            <a:r>
              <a:rPr lang="ar-EG" dirty="0"/>
              <a:t>"</a:t>
            </a:r>
            <a:r>
              <a:rPr lang="ar-SA" dirty="0"/>
              <a:t>بنية البيانات</a:t>
            </a:r>
            <a:r>
              <a:rPr lang="ar-EG" dirty="0"/>
              <a:t>"</a:t>
            </a:r>
            <a:endParaRPr lang="en-US" dirty="0"/>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78</a:t>
            </a:fld>
            <a:endParaRPr lang="en-US"/>
          </a:p>
        </p:txBody>
      </p:sp>
      <p:sp>
        <p:nvSpPr>
          <p:cNvPr id="3" name="Rectangle 2">
            <a:extLst>
              <a:ext uri="{FF2B5EF4-FFF2-40B4-BE49-F238E27FC236}">
                <a16:creationId xmlns:a16="http://schemas.microsoft.com/office/drawing/2014/main" id="{8D9CE795-A12F-7C98-BF54-5279E8F1DDA2}"/>
              </a:ext>
            </a:extLst>
          </p:cNvPr>
          <p:cNvSpPr/>
          <p:nvPr/>
        </p:nvSpPr>
        <p:spPr>
          <a:xfrm>
            <a:off x="1071158" y="1389169"/>
            <a:ext cx="10508468" cy="369332"/>
          </a:xfrm>
          <a:prstGeom prst="rect">
            <a:avLst/>
          </a:prstGeom>
        </p:spPr>
        <p:txBody>
          <a:bodyPr wrap="square">
            <a:spAutoFit/>
          </a:bodyPr>
          <a:lstStyle/>
          <a:p>
            <a:pPr algn="r" rtl="1"/>
            <a:r>
              <a:rPr lang="ar-SA" b="1" dirty="0">
                <a:latin typeface="Sakkal Majalla" panose="02000000000000000000" pitchFamily="2" charset="-78"/>
                <a:cs typeface="Sakkal Majalla" panose="02000000000000000000" pitchFamily="2" charset="-78"/>
              </a:rPr>
              <a:t>ي</a:t>
            </a:r>
            <a:r>
              <a:rPr lang="en-US" b="1" dirty="0" err="1">
                <a:latin typeface="Sakkal Majalla" panose="02000000000000000000" pitchFamily="2" charset="-78"/>
                <a:cs typeface="Sakkal Majalla" panose="02000000000000000000" pitchFamily="2" charset="-78"/>
              </a:rPr>
              <a:t>وضح</a:t>
            </a:r>
            <a:r>
              <a:rPr lang="en-US" b="1" dirty="0">
                <a:latin typeface="Sakkal Majalla" panose="02000000000000000000" pitchFamily="2" charset="-78"/>
                <a:cs typeface="Sakkal Majalla" panose="02000000000000000000" pitchFamily="2" charset="-78"/>
              </a:rPr>
              <a:t> </a:t>
            </a:r>
            <a:r>
              <a:rPr lang="en-US" b="1" dirty="0" err="1">
                <a:latin typeface="Sakkal Majalla" panose="02000000000000000000" pitchFamily="2" charset="-78"/>
                <a:cs typeface="Sakkal Majalla" panose="02000000000000000000" pitchFamily="2" charset="-78"/>
              </a:rPr>
              <a:t>الشكل</a:t>
            </a:r>
            <a:r>
              <a:rPr lang="ar-SA" b="1" dirty="0">
                <a:latin typeface="Sakkal Majalla" panose="02000000000000000000" pitchFamily="2" charset="-78"/>
                <a:cs typeface="Sakkal Majalla" panose="02000000000000000000" pitchFamily="2" charset="-78"/>
              </a:rPr>
              <a:t> وحدات البناء التابعة لمجال "بنية البيانات":</a:t>
            </a:r>
            <a:endParaRPr lang="en-US" b="1" dirty="0">
              <a:latin typeface="Sakkal Majalla" panose="02000000000000000000" pitchFamily="2" charset="-78"/>
              <a:cs typeface="Sakkal Majalla" panose="02000000000000000000" pitchFamily="2" charset="-78"/>
            </a:endParaRPr>
          </a:p>
        </p:txBody>
      </p:sp>
      <p:pic>
        <p:nvPicPr>
          <p:cNvPr id="6" name="Picture 5" descr="A computer screen shot of a diagram&#10;&#10;Description automatically generated">
            <a:extLst>
              <a:ext uri="{FF2B5EF4-FFF2-40B4-BE49-F238E27FC236}">
                <a16:creationId xmlns:a16="http://schemas.microsoft.com/office/drawing/2014/main" id="{B31633BA-C8BD-4967-8453-957110B3F8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2889" y="1764616"/>
            <a:ext cx="5819510" cy="4293284"/>
          </a:xfrm>
          <a:prstGeom prst="rect">
            <a:avLst/>
          </a:prstGeom>
        </p:spPr>
      </p:pic>
    </p:spTree>
    <p:extLst>
      <p:ext uri="{BB962C8B-B14F-4D97-AF65-F5344CB8AC3E}">
        <p14:creationId xmlns:p14="http://schemas.microsoft.com/office/powerpoint/2010/main" val="70085187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a:t>ال</a:t>
            </a:r>
            <a:r>
              <a:rPr lang="ar-EG" dirty="0"/>
              <a:t>بناء </a:t>
            </a:r>
            <a:r>
              <a:rPr lang="ar-SA" dirty="0"/>
              <a:t>في مجال "بنية البيانات"</a:t>
            </a:r>
            <a:r>
              <a:rPr lang="ar-EG" dirty="0"/>
              <a:t> (</a:t>
            </a:r>
            <a:r>
              <a:rPr lang="ar-SA" dirty="0"/>
              <a:t>1</a:t>
            </a:r>
            <a:r>
              <a:rPr lang="ar-EG" dirty="0"/>
              <a:t> / </a:t>
            </a:r>
            <a:r>
              <a:rPr lang="en-US" dirty="0"/>
              <a:t>1</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79</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1208083053"/>
              </p:ext>
            </p:extLst>
          </p:nvPr>
        </p:nvGraphicFramePr>
        <p:xfrm>
          <a:off x="609600" y="1282290"/>
          <a:ext cx="11070774" cy="4272498"/>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293968">
                  <a:extLst>
                    <a:ext uri="{9D8B030D-6E8A-4147-A177-3AD203B41FA5}">
                      <a16:colId xmlns:a16="http://schemas.microsoft.com/office/drawing/2014/main" val="1302061076"/>
                    </a:ext>
                  </a:extLst>
                </a:gridCol>
                <a:gridCol w="3949700">
                  <a:extLst>
                    <a:ext uri="{9D8B030D-6E8A-4147-A177-3AD203B41FA5}">
                      <a16:colId xmlns:a16="http://schemas.microsoft.com/office/drawing/2014/main" val="1509377109"/>
                    </a:ext>
                  </a:extLst>
                </a:gridCol>
                <a:gridCol w="1974850">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707513">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1</a:t>
                      </a:r>
                    </a:p>
                  </a:txBody>
                  <a:tcPr marL="3810" marR="3810" marT="3810" marB="0" anchor="ctr"/>
                </a:tc>
                <a:tc rowSpan="6">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كيان بيانات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مرتبط بـ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كيان بيانات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مرتبط بـ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2</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يُنفذ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كيان بيانات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يُنفذ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خدمة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خدمة أعمال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3</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يُخزن في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كيان بيانات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يُخزن في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خزينة بيانات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خزينة بيانات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3">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البيانات</a:t>
                      </a: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4</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يتكون من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كيان بيانات</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يتكون من "سمات</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البيانات"</a:t>
                      </a:r>
                      <a:endPar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سمات البيانات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4193838665"/>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5</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ينتمي إل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كيان بيانات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ينتمي إلى</a:t>
                      </a:r>
                      <a:r>
                        <a:rPr lang="en-US"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مجموعة بيانات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مجموعة بيانات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456641915"/>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6</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يُستخدم في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كيان بيانات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يُستخدم في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التطبيقات</a:t>
                      </a:r>
                    </a:p>
                  </a:txBody>
                  <a:tcPr marL="3810" marR="3810" marT="3810" marB="0" anchor="ctr"/>
                </a:tc>
                <a:extLst>
                  <a:ext uri="{0D108BD9-81ED-4DB2-BD59-A6C34878D82A}">
                    <a16:rowId xmlns:a16="http://schemas.microsoft.com/office/drawing/2014/main" val="761637634"/>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7</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خزينة بيانات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تحتوي على</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خزينة بيانات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تحتوي على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كيان البيانات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كيان البيانات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كيان البيانات</a:t>
                      </a:r>
                    </a:p>
                  </a:txBody>
                  <a:tcPr marL="3810" marR="3810" marT="3810" marB="0" anchor="ctr"/>
                </a:tc>
                <a:extLst>
                  <a:ext uri="{0D108BD9-81ED-4DB2-BD59-A6C34878D82A}">
                    <a16:rowId xmlns:a16="http://schemas.microsoft.com/office/drawing/2014/main" val="1472548560"/>
                  </a:ext>
                </a:extLst>
              </a:tr>
              <a:tr h="310552">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8</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مجموعة بيانات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تتكون من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مجموعة بيانات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تتكون من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كيان بيانات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rowSpan="2">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كيان بيانات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البيانات</a:t>
                      </a:r>
                    </a:p>
                  </a:txBody>
                  <a:tcPr marL="3810" marR="3810" marT="3810" marB="0" anchor="ctr"/>
                </a:tc>
                <a:extLst>
                  <a:ext uri="{0D108BD9-81ED-4DB2-BD59-A6C34878D82A}">
                    <a16:rowId xmlns:a16="http://schemas.microsoft.com/office/drawing/2014/main" val="399687734"/>
                  </a:ext>
                </a:extLst>
              </a:tr>
              <a:tr h="0">
                <a:tc rowSpan="2">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9</a:t>
                      </a:r>
                      <a:endParaRPr lang="en-US"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75234283"/>
                  </a:ext>
                </a:extLst>
              </a:tr>
              <a:tr h="0">
                <a:tc vMerge="1">
                  <a:txBody>
                    <a:bodyPr/>
                    <a:lstStyle/>
                    <a:p>
                      <a:endParaRPr lang="en-US"/>
                    </a:p>
                  </a:txBody>
                  <a:tcP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سمات البيانات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kumimoji="0" lang="ar-SA" sz="18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تُعرف</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سمات بيانات</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تُعرف "كيان</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البيانات</a:t>
                      </a:r>
                      <a:endPar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كيان بيانات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البيانات</a:t>
                      </a:r>
                    </a:p>
                  </a:txBody>
                  <a:tcPr marL="3810" marR="3810" marT="3810" marB="0" anchor="ctr"/>
                </a:tc>
                <a:extLst>
                  <a:ext uri="{0D108BD9-81ED-4DB2-BD59-A6C34878D82A}">
                    <a16:rowId xmlns:a16="http://schemas.microsoft.com/office/drawing/2014/main" val="3664051550"/>
                  </a:ext>
                </a:extLst>
              </a:tr>
            </a:tbl>
          </a:graphicData>
        </a:graphic>
      </p:graphicFrame>
    </p:spTree>
    <p:extLst>
      <p:ext uri="{BB962C8B-B14F-4D97-AF65-F5344CB8AC3E}">
        <p14:creationId xmlns:p14="http://schemas.microsoft.com/office/powerpoint/2010/main" val="36763551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62880" y="3925452"/>
            <a:ext cx="6281420" cy="641639"/>
          </a:xfrm>
        </p:spPr>
        <p:txBody>
          <a:bodyPr/>
          <a:lstStyle/>
          <a:p>
            <a:r>
              <a:rPr lang="ar-EG" sz="2800" dirty="0"/>
              <a:t>وحدات البناء لمجال "بنية التطبيقات"</a:t>
            </a:r>
            <a:endParaRPr lang="en-US" sz="2800" dirty="0"/>
          </a:p>
        </p:txBody>
      </p:sp>
      <p:sp>
        <p:nvSpPr>
          <p:cNvPr id="4" name="Text Placeholder 3"/>
          <p:cNvSpPr>
            <a:spLocks noGrp="1"/>
          </p:cNvSpPr>
          <p:nvPr>
            <p:ph type="body" sz="quarter" idx="14"/>
          </p:nvPr>
        </p:nvSpPr>
        <p:spPr/>
        <p:txBody>
          <a:bodyPr/>
          <a:lstStyle/>
          <a:p>
            <a:r>
              <a:rPr lang="ar-SA" sz="7200" dirty="0"/>
              <a:t>3.5</a:t>
            </a:r>
            <a:endParaRPr lang="en-US" sz="7200" dirty="0"/>
          </a:p>
        </p:txBody>
      </p:sp>
    </p:spTree>
    <p:extLst>
      <p:ext uri="{BB962C8B-B14F-4D97-AF65-F5344CB8AC3E}">
        <p14:creationId xmlns:p14="http://schemas.microsoft.com/office/powerpoint/2010/main" val="2111612449"/>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وحدات البناء التابعة لمجال </a:t>
            </a:r>
            <a:r>
              <a:rPr lang="ar-EG" dirty="0"/>
              <a:t>"</a:t>
            </a:r>
            <a:r>
              <a:rPr lang="ar-SA" dirty="0"/>
              <a:t>بنية التطبيقات</a:t>
            </a:r>
            <a:r>
              <a:rPr lang="ar-EG" dirty="0"/>
              <a:t>"</a:t>
            </a:r>
            <a:endParaRPr lang="en-US" dirty="0"/>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81</a:t>
            </a:fld>
            <a:endParaRPr lang="en-US"/>
          </a:p>
        </p:txBody>
      </p:sp>
      <p:sp>
        <p:nvSpPr>
          <p:cNvPr id="14" name="Rectangle 13">
            <a:extLst>
              <a:ext uri="{FF2B5EF4-FFF2-40B4-BE49-F238E27FC236}">
                <a16:creationId xmlns:a16="http://schemas.microsoft.com/office/drawing/2014/main" id="{DF54B28E-1838-F020-CE53-0AC44A9C9A63}"/>
              </a:ext>
            </a:extLst>
          </p:cNvPr>
          <p:cNvSpPr/>
          <p:nvPr/>
        </p:nvSpPr>
        <p:spPr>
          <a:xfrm>
            <a:off x="1071158" y="1389169"/>
            <a:ext cx="10508468" cy="369332"/>
          </a:xfrm>
          <a:prstGeom prst="rect">
            <a:avLst/>
          </a:prstGeom>
        </p:spPr>
        <p:txBody>
          <a:bodyPr wrap="square">
            <a:spAutoFit/>
          </a:bodyPr>
          <a:lstStyle/>
          <a:p>
            <a:pPr algn="r" rtl="1"/>
            <a:r>
              <a:rPr lang="ar-SA" b="1" dirty="0">
                <a:latin typeface="Sakkal Majalla" panose="02000000000000000000" pitchFamily="2" charset="-78"/>
                <a:cs typeface="Sakkal Majalla" panose="02000000000000000000" pitchFamily="2" charset="-78"/>
              </a:rPr>
              <a:t>ي</a:t>
            </a:r>
            <a:r>
              <a:rPr lang="en-US" b="1" dirty="0">
                <a:latin typeface="Sakkal Majalla" panose="02000000000000000000" pitchFamily="2" charset="-78"/>
                <a:cs typeface="Sakkal Majalla" panose="02000000000000000000" pitchFamily="2" charset="-78"/>
              </a:rPr>
              <a:t>وضح الشكل أدناه </a:t>
            </a:r>
            <a:r>
              <a:rPr lang="ar-SA" b="1" dirty="0">
                <a:latin typeface="Sakkal Majalla" panose="02000000000000000000" pitchFamily="2" charset="-78"/>
                <a:cs typeface="Sakkal Majalla" panose="02000000000000000000" pitchFamily="2" charset="-78"/>
              </a:rPr>
              <a:t>وحدات البناء التابعة لمجال "بنية التطبيقات":</a:t>
            </a:r>
            <a:endParaRPr lang="en-US" b="1" dirty="0">
              <a:latin typeface="Sakkal Majalla" panose="02000000000000000000" pitchFamily="2" charset="-78"/>
              <a:cs typeface="Sakkal Majalla" panose="02000000000000000000" pitchFamily="2" charset="-78"/>
            </a:endParaRPr>
          </a:p>
        </p:txBody>
      </p:sp>
      <p:pic>
        <p:nvPicPr>
          <p:cNvPr id="5" name="Picture 4">
            <a:extLst>
              <a:ext uri="{FF2B5EF4-FFF2-40B4-BE49-F238E27FC236}">
                <a16:creationId xmlns:a16="http://schemas.microsoft.com/office/drawing/2014/main" id="{A67B5447-EC64-42F7-9831-3A22800AAEDE}"/>
              </a:ext>
            </a:extLst>
          </p:cNvPr>
          <p:cNvPicPr>
            <a:picLocks noChangeAspect="1"/>
          </p:cNvPicPr>
          <p:nvPr/>
        </p:nvPicPr>
        <p:blipFill>
          <a:blip r:embed="rId3"/>
          <a:stretch>
            <a:fillRect/>
          </a:stretch>
        </p:blipFill>
        <p:spPr>
          <a:xfrm>
            <a:off x="2900147" y="2620138"/>
            <a:ext cx="6942125" cy="1653235"/>
          </a:xfrm>
          <a:prstGeom prst="rect">
            <a:avLst/>
          </a:prstGeom>
        </p:spPr>
      </p:pic>
    </p:spTree>
    <p:extLst>
      <p:ext uri="{BB962C8B-B14F-4D97-AF65-F5344CB8AC3E}">
        <p14:creationId xmlns:p14="http://schemas.microsoft.com/office/powerpoint/2010/main" val="346003321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82</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تعريف وحدات البناء التابعة لمجال "بنية التطبيقات</a:t>
            </a:r>
            <a:r>
              <a:rPr lang="ar-EG" dirty="0"/>
              <a:t>"</a:t>
            </a:r>
            <a:endParaRPr lang="en-US" dirty="0"/>
          </a:p>
        </p:txBody>
      </p:sp>
      <p:graphicFrame>
        <p:nvGraphicFramePr>
          <p:cNvPr id="12" name="Table 11">
            <a:extLst>
              <a:ext uri="{FF2B5EF4-FFF2-40B4-BE49-F238E27FC236}">
                <a16:creationId xmlns:a16="http://schemas.microsoft.com/office/drawing/2014/main" id="{716CE2B9-08C8-087A-0FD4-84D4AC499CF8}"/>
              </a:ext>
            </a:extLst>
          </p:cNvPr>
          <p:cNvGraphicFramePr>
            <a:graphicFrameLocks noGrp="1"/>
          </p:cNvGraphicFramePr>
          <p:nvPr>
            <p:extLst>
              <p:ext uri="{D42A27DB-BD31-4B8C-83A1-F6EECF244321}">
                <p14:modId xmlns:p14="http://schemas.microsoft.com/office/powerpoint/2010/main" val="3092685456"/>
              </p:ext>
            </p:extLst>
          </p:nvPr>
        </p:nvGraphicFramePr>
        <p:xfrm>
          <a:off x="623651" y="1227338"/>
          <a:ext cx="11100262" cy="4724400"/>
        </p:xfrm>
        <a:graphic>
          <a:graphicData uri="http://schemas.openxmlformats.org/drawingml/2006/table">
            <a:tbl>
              <a:tblPr rtl="1" firstRow="1" bandRow="1">
                <a:tableStyleId>{21E4AEA4-8DFA-4A89-87EB-49C32662AFE0}</a:tableStyleId>
              </a:tblPr>
              <a:tblGrid>
                <a:gridCol w="1725162">
                  <a:extLst>
                    <a:ext uri="{9D8B030D-6E8A-4147-A177-3AD203B41FA5}">
                      <a16:colId xmlns:a16="http://schemas.microsoft.com/office/drawing/2014/main" val="2023822235"/>
                    </a:ext>
                  </a:extLst>
                </a:gridCol>
                <a:gridCol w="5743446">
                  <a:extLst>
                    <a:ext uri="{9D8B030D-6E8A-4147-A177-3AD203B41FA5}">
                      <a16:colId xmlns:a16="http://schemas.microsoft.com/office/drawing/2014/main" val="3711612230"/>
                    </a:ext>
                  </a:extLst>
                </a:gridCol>
                <a:gridCol w="1815827">
                  <a:extLst>
                    <a:ext uri="{9D8B030D-6E8A-4147-A177-3AD203B41FA5}">
                      <a16:colId xmlns:a16="http://schemas.microsoft.com/office/drawing/2014/main" val="4264421029"/>
                    </a:ext>
                  </a:extLst>
                </a:gridCol>
                <a:gridCol w="1815827">
                  <a:extLst>
                    <a:ext uri="{9D8B030D-6E8A-4147-A177-3AD203B41FA5}">
                      <a16:colId xmlns:a16="http://schemas.microsoft.com/office/drawing/2014/main" val="4001268106"/>
                    </a:ext>
                  </a:extLst>
                </a:gridCol>
              </a:tblGrid>
              <a:tr h="572697">
                <a:tc>
                  <a:txBody>
                    <a:bodyPr/>
                    <a:lstStyle/>
                    <a:p>
                      <a:pPr algn="ctr" rtl="1" fontAlgn="b"/>
                      <a:r>
                        <a:rPr lang="ar-SA" sz="2100" u="none" strike="noStrike" dirty="0">
                          <a:effectLst/>
                        </a:rPr>
                        <a:t>وحدة البناء</a:t>
                      </a:r>
                      <a:endParaRPr lang="ar-SA" sz="21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ctr" rtl="1" fontAlgn="b"/>
                      <a:r>
                        <a:rPr lang="ar-SA" sz="2100" u="none" strike="noStrike" dirty="0">
                          <a:effectLst/>
                        </a:rPr>
                        <a:t>التعريف</a:t>
                      </a:r>
                      <a:endParaRPr lang="ar-SA" sz="21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ctr" rtl="1" fontAlgn="b"/>
                      <a:r>
                        <a:rPr lang="ar-SA" sz="2100" b="1" u="none" strike="noStrike" kern="1200" dirty="0">
                          <a:solidFill>
                            <a:schemeClr val="lt1"/>
                          </a:solidFill>
                          <a:effectLst/>
                          <a:latin typeface="+mn-lt"/>
                          <a:ea typeface="+mn-ea"/>
                          <a:cs typeface="+mn-cs"/>
                        </a:rPr>
                        <a:t>مستوى المكون</a:t>
                      </a:r>
                    </a:p>
                  </a:txBody>
                  <a:tcPr anchor="ctr"/>
                </a:tc>
                <a:tc>
                  <a:txBody>
                    <a:bodyPr/>
                    <a:lstStyle/>
                    <a:p>
                      <a:pPr algn="ctr" rtl="1" fontAlgn="b"/>
                      <a:r>
                        <a:rPr lang="ar-SA" sz="2100" b="1" u="none" strike="noStrike" kern="1200" dirty="0">
                          <a:solidFill>
                            <a:schemeClr val="lt1"/>
                          </a:solidFill>
                          <a:effectLst/>
                          <a:latin typeface="+mn-lt"/>
                          <a:ea typeface="+mn-ea"/>
                          <a:cs typeface="+mn-cs"/>
                        </a:rPr>
                        <a:t>مستوى إلزامية التوثيق</a:t>
                      </a:r>
                    </a:p>
                  </a:txBody>
                  <a:tcPr anchor="ctr"/>
                </a:tc>
                <a:extLst>
                  <a:ext uri="{0D108BD9-81ED-4DB2-BD59-A6C34878D82A}">
                    <a16:rowId xmlns:a16="http://schemas.microsoft.com/office/drawing/2014/main" val="2631080347"/>
                  </a:ext>
                </a:extLst>
              </a:tr>
              <a:tr h="853440">
                <a:tc>
                  <a:txBody>
                    <a:bodyPr/>
                    <a:lstStyle/>
                    <a:p>
                      <a:pPr algn="ctr" rtl="1"/>
                      <a:r>
                        <a:rPr lang="ar-EG" sz="2100" b="1" dirty="0">
                          <a:hlinkClick r:id="rId3" action="ppaction://hlinksldjump"/>
                        </a:rPr>
                        <a:t>التطبيق</a:t>
                      </a:r>
                      <a:endParaRPr lang="en-US" sz="2100" b="1" dirty="0"/>
                    </a:p>
                  </a:txBody>
                  <a:tcPr marL="137160" marR="137160" marT="137160" marB="137160" anchor="ctr"/>
                </a:tc>
                <a:tc>
                  <a:txBody>
                    <a:bodyPr/>
                    <a:lstStyle/>
                    <a:p>
                      <a:pPr algn="r" rtl="1"/>
                      <a:r>
                        <a:rPr lang="ar-EG" sz="1900" dirty="0"/>
                        <a:t>يمثل برنامج أو أداة تقنية مصممة لتنفيذ وظائف محددة للمستخدم بشكل مباشر من خ</a:t>
                      </a:r>
                      <a:r>
                        <a:rPr lang="ar-SA" sz="1900" dirty="0"/>
                        <a:t>لال</a:t>
                      </a:r>
                      <a:r>
                        <a:rPr lang="ar-EG" sz="1900" dirty="0"/>
                        <a:t> تنفيذ مراحل دورة حياة البرمجيات </a:t>
                      </a:r>
                      <a:endParaRPr lang="en-US" sz="1900" dirty="0"/>
                    </a:p>
                  </a:txBody>
                  <a:tcPr marL="137160" marR="137160" marT="137160" marB="137160" anchor="ctr"/>
                </a:tc>
                <a:tc>
                  <a:txBody>
                    <a:bodyPr/>
                    <a:lstStyle/>
                    <a:p>
                      <a:pPr algn="r" rtl="1"/>
                      <a:r>
                        <a:rPr lang="ar-SA" sz="1900" dirty="0"/>
                        <a:t>محوري</a:t>
                      </a:r>
                      <a:endParaRPr lang="en-US" sz="1900" dirty="0"/>
                    </a:p>
                  </a:txBody>
                  <a:tcPr marL="137160" marR="137160" marT="137160" marB="137160" anchor="ctr"/>
                </a:tc>
                <a:tc>
                  <a:txBody>
                    <a:bodyPr/>
                    <a:lstStyle/>
                    <a:p>
                      <a:pPr algn="r" rtl="1"/>
                      <a:r>
                        <a:rPr lang="ar-SA" sz="1900" dirty="0"/>
                        <a:t>مفاهيمي</a:t>
                      </a:r>
                      <a:endParaRPr lang="en-US" sz="1900" dirty="0"/>
                    </a:p>
                  </a:txBody>
                  <a:tcPr marL="137160" marR="137160" marT="137160" marB="137160" anchor="ctr"/>
                </a:tc>
                <a:extLst>
                  <a:ext uri="{0D108BD9-81ED-4DB2-BD59-A6C34878D82A}">
                    <a16:rowId xmlns:a16="http://schemas.microsoft.com/office/drawing/2014/main" val="1101753229"/>
                  </a:ext>
                </a:extLst>
              </a:tr>
              <a:tr h="853440">
                <a:tc>
                  <a:txBody>
                    <a:bodyPr/>
                    <a:lstStyle/>
                    <a:p>
                      <a:pPr algn="ctr" rtl="1"/>
                      <a:r>
                        <a:rPr lang="ar-SA" sz="2100" b="1" dirty="0">
                          <a:hlinkClick r:id="rId4" action="ppaction://hlinksldjump"/>
                        </a:rPr>
                        <a:t>تكامل</a:t>
                      </a:r>
                      <a:r>
                        <a:rPr lang="ar-EG" sz="2100" b="1" dirty="0">
                          <a:hlinkClick r:id="rId4" action="ppaction://hlinksldjump"/>
                        </a:rPr>
                        <a:t> ال</a:t>
                      </a:r>
                      <a:r>
                        <a:rPr lang="ar-SA" sz="2100" b="1" dirty="0">
                          <a:hlinkClick r:id="rId4" action="ppaction://hlinksldjump"/>
                        </a:rPr>
                        <a:t>تطبيق</a:t>
                      </a:r>
                      <a:endParaRPr lang="en-US" sz="2100" b="1" dirty="0"/>
                    </a:p>
                  </a:txBody>
                  <a:tcPr marL="137160" marR="137160" marT="137160" marB="137160" anchor="ctr"/>
                </a:tc>
                <a:tc>
                  <a:txBody>
                    <a:bodyPr/>
                    <a:lstStyle/>
                    <a:p>
                      <a:pPr algn="r" rtl="1"/>
                      <a:r>
                        <a:rPr lang="ar-EG" sz="1900" dirty="0"/>
                        <a:t>تمثل نقطة ربط تقني يتم استخدامها من التطبيق إما لتبادل البيانات أو أتمتة الترابط التقني بين الوظائف وا</a:t>
                      </a:r>
                      <a:r>
                        <a:rPr lang="ar-SA" sz="1900" dirty="0"/>
                        <a:t>ل</a:t>
                      </a:r>
                      <a:r>
                        <a:rPr lang="ar-EG" sz="1900" dirty="0"/>
                        <a:t>إجراءات أو إدارة تدفق ا</a:t>
                      </a:r>
                      <a:r>
                        <a:rPr lang="ar-SA" sz="1900" dirty="0"/>
                        <a:t>ل</a:t>
                      </a:r>
                      <a:r>
                        <a:rPr lang="ar-EG" sz="1900" dirty="0"/>
                        <a:t>أحداث</a:t>
                      </a:r>
                      <a:endParaRPr lang="en-US" sz="1900" dirty="0"/>
                    </a:p>
                  </a:txBody>
                  <a:tcPr marL="137160" marR="137160" marT="137160" marB="137160" anchor="ctr"/>
                </a:tc>
                <a:tc>
                  <a:txBody>
                    <a:bodyPr/>
                    <a:lstStyle/>
                    <a:p>
                      <a:pPr algn="r" rtl="1"/>
                      <a:r>
                        <a:rPr lang="ar-SA" sz="1900" dirty="0"/>
                        <a:t>محوري</a:t>
                      </a:r>
                      <a:endParaRPr lang="en-US" sz="1900" dirty="0"/>
                    </a:p>
                  </a:txBody>
                  <a:tcPr marL="137160" marR="137160" marT="137160" marB="137160" anchor="ctr"/>
                </a:tc>
                <a:tc>
                  <a:txBody>
                    <a:bodyPr/>
                    <a:lstStyle/>
                    <a:p>
                      <a:pPr algn="r" rtl="1"/>
                      <a:r>
                        <a:rPr lang="ar-SA" sz="1900" dirty="0"/>
                        <a:t>منطقي</a:t>
                      </a:r>
                      <a:endParaRPr lang="en-US" sz="1900" dirty="0"/>
                    </a:p>
                  </a:txBody>
                  <a:tcPr marL="137160" marR="137160" marT="137160" marB="137160" anchor="ctr"/>
                </a:tc>
                <a:extLst>
                  <a:ext uri="{0D108BD9-81ED-4DB2-BD59-A6C34878D82A}">
                    <a16:rowId xmlns:a16="http://schemas.microsoft.com/office/drawing/2014/main" val="3557221425"/>
                  </a:ext>
                </a:extLst>
              </a:tr>
              <a:tr h="853440">
                <a:tc>
                  <a:txBody>
                    <a:bodyPr/>
                    <a:lstStyle/>
                    <a:p>
                      <a:pPr algn="ctr" rtl="1" fontAlgn="b"/>
                      <a:r>
                        <a:rPr lang="ar-SA" sz="2000" b="1" i="0" u="none" strike="noStrike" dirty="0">
                          <a:solidFill>
                            <a:srgbClr val="000000"/>
                          </a:solidFill>
                          <a:effectLst/>
                          <a:latin typeface="Calibri" panose="020F0502020204030204" pitchFamily="34" charset="0"/>
                          <a:hlinkClick r:id="rId5" action="ppaction://hlinksldjump"/>
                        </a:rPr>
                        <a:t>وظيفة التطبيق</a:t>
                      </a:r>
                      <a:endParaRPr lang="ar-SA" sz="2000" b="1"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تمثل مهمة أو عملية أكثر دقة ومحددة يقوم بها التطبيق. حيث يتم تنفيذها عادة كوظيفة في البرنامج. وتكون الوظيفة عبارة عن مجموعة من العمليات البرمجية التي تؤدي مهمة معينة</a:t>
                      </a: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منطقي</a:t>
                      </a:r>
                    </a:p>
                  </a:txBody>
                  <a:tcPr marL="137160" marR="137160" marT="137160" marB="137160" anchor="ctr"/>
                </a:tc>
                <a:extLst>
                  <a:ext uri="{0D108BD9-81ED-4DB2-BD59-A6C34878D82A}">
                    <a16:rowId xmlns:a16="http://schemas.microsoft.com/office/drawing/2014/main" val="2455965300"/>
                  </a:ext>
                </a:extLst>
              </a:tr>
              <a:tr h="853440">
                <a:tc>
                  <a:txBody>
                    <a:bodyPr/>
                    <a:lstStyle/>
                    <a:p>
                      <a:pPr algn="ctr" rtl="1" fontAlgn="b"/>
                      <a:r>
                        <a:rPr lang="ar-SA" sz="2000" b="1" i="0" u="none" strike="noStrike" dirty="0">
                          <a:solidFill>
                            <a:srgbClr val="000000"/>
                          </a:solidFill>
                          <a:effectLst/>
                          <a:latin typeface="Calibri" panose="020F0502020204030204" pitchFamily="34" charset="0"/>
                          <a:hlinkClick r:id="rId6" action="ppaction://hlinksldjump"/>
                        </a:rPr>
                        <a:t>بيئة التطبيق</a:t>
                      </a:r>
                      <a:endParaRPr lang="ar-SA" sz="2000" b="1"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تمثل مجموعة من الظروف والمكونات التقنية التي يتم فيها تشغيل "التطبيق"، بما في ذلك الخوادم، أنظمة التشغيل، قواعد البيانات، والشبكات. يمكن أن يتواجد تطبيق واحد في عدة بيئات مثل بيئة الإنتاج، الاختبار أو التطوير</a:t>
                      </a: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منطقي</a:t>
                      </a:r>
                    </a:p>
                  </a:txBody>
                  <a:tcPr marL="137160" marR="137160" marT="137160" marB="137160" anchor="ctr"/>
                </a:tc>
                <a:extLst>
                  <a:ext uri="{0D108BD9-81ED-4DB2-BD59-A6C34878D82A}">
                    <a16:rowId xmlns:a16="http://schemas.microsoft.com/office/drawing/2014/main" val="1062058594"/>
                  </a:ext>
                </a:extLst>
              </a:tr>
            </a:tbl>
          </a:graphicData>
        </a:graphic>
      </p:graphicFrame>
    </p:spTree>
    <p:extLst>
      <p:ext uri="{BB962C8B-B14F-4D97-AF65-F5344CB8AC3E}">
        <p14:creationId xmlns:p14="http://schemas.microsoft.com/office/powerpoint/2010/main" val="31481738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83</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تعريف وحدات البناء التابعة لمجال "بنية التطبيقات</a:t>
            </a:r>
            <a:r>
              <a:rPr lang="ar-EG" dirty="0"/>
              <a:t>"</a:t>
            </a:r>
            <a:endParaRPr lang="en-US" dirty="0"/>
          </a:p>
        </p:txBody>
      </p:sp>
      <p:graphicFrame>
        <p:nvGraphicFramePr>
          <p:cNvPr id="12" name="Table 11">
            <a:extLst>
              <a:ext uri="{FF2B5EF4-FFF2-40B4-BE49-F238E27FC236}">
                <a16:creationId xmlns:a16="http://schemas.microsoft.com/office/drawing/2014/main" id="{716CE2B9-08C8-087A-0FD4-84D4AC499CF8}"/>
              </a:ext>
            </a:extLst>
          </p:cNvPr>
          <p:cNvGraphicFramePr>
            <a:graphicFrameLocks noGrp="1"/>
          </p:cNvGraphicFramePr>
          <p:nvPr>
            <p:extLst>
              <p:ext uri="{D42A27DB-BD31-4B8C-83A1-F6EECF244321}">
                <p14:modId xmlns:p14="http://schemas.microsoft.com/office/powerpoint/2010/main" val="436947091"/>
              </p:ext>
            </p:extLst>
          </p:nvPr>
        </p:nvGraphicFramePr>
        <p:xfrm>
          <a:off x="482137" y="1357970"/>
          <a:ext cx="11241776" cy="1874520"/>
        </p:xfrm>
        <a:graphic>
          <a:graphicData uri="http://schemas.openxmlformats.org/drawingml/2006/table">
            <a:tbl>
              <a:tblPr rtl="1" firstRow="1" bandRow="1">
                <a:tableStyleId>{21E4AEA4-8DFA-4A89-87EB-49C32662AFE0}</a:tableStyleId>
              </a:tblPr>
              <a:tblGrid>
                <a:gridCol w="1747156">
                  <a:extLst>
                    <a:ext uri="{9D8B030D-6E8A-4147-A177-3AD203B41FA5}">
                      <a16:colId xmlns:a16="http://schemas.microsoft.com/office/drawing/2014/main" val="2023822235"/>
                    </a:ext>
                  </a:extLst>
                </a:gridCol>
                <a:gridCol w="5816668">
                  <a:extLst>
                    <a:ext uri="{9D8B030D-6E8A-4147-A177-3AD203B41FA5}">
                      <a16:colId xmlns:a16="http://schemas.microsoft.com/office/drawing/2014/main" val="3711612230"/>
                    </a:ext>
                  </a:extLst>
                </a:gridCol>
                <a:gridCol w="1838976">
                  <a:extLst>
                    <a:ext uri="{9D8B030D-6E8A-4147-A177-3AD203B41FA5}">
                      <a16:colId xmlns:a16="http://schemas.microsoft.com/office/drawing/2014/main" val="4264421029"/>
                    </a:ext>
                  </a:extLst>
                </a:gridCol>
                <a:gridCol w="1838976">
                  <a:extLst>
                    <a:ext uri="{9D8B030D-6E8A-4147-A177-3AD203B41FA5}">
                      <a16:colId xmlns:a16="http://schemas.microsoft.com/office/drawing/2014/main" val="4001268106"/>
                    </a:ext>
                  </a:extLst>
                </a:gridCol>
              </a:tblGrid>
              <a:tr h="572697">
                <a:tc>
                  <a:txBody>
                    <a:bodyPr/>
                    <a:lstStyle/>
                    <a:p>
                      <a:pPr algn="ctr" rtl="1" fontAlgn="b"/>
                      <a:r>
                        <a:rPr lang="ar-SA" sz="2100" u="none" strike="noStrike" dirty="0">
                          <a:effectLst/>
                        </a:rPr>
                        <a:t>وحدة البناء</a:t>
                      </a:r>
                      <a:endParaRPr lang="ar-SA" sz="21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ctr" rtl="1" fontAlgn="b"/>
                      <a:r>
                        <a:rPr lang="ar-SA" sz="2100" u="none" strike="noStrike" dirty="0">
                          <a:effectLst/>
                        </a:rPr>
                        <a:t>التعريف</a:t>
                      </a:r>
                      <a:endParaRPr lang="ar-SA" sz="21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ctr" rtl="1" fontAlgn="b"/>
                      <a:r>
                        <a:rPr lang="ar-SA" sz="2100" b="1" u="none" strike="noStrike" kern="1200" dirty="0">
                          <a:solidFill>
                            <a:schemeClr val="lt1"/>
                          </a:solidFill>
                          <a:effectLst/>
                          <a:latin typeface="+mn-lt"/>
                          <a:ea typeface="+mn-ea"/>
                          <a:cs typeface="+mn-cs"/>
                        </a:rPr>
                        <a:t>مستوى المكون</a:t>
                      </a:r>
                    </a:p>
                  </a:txBody>
                  <a:tcPr anchor="ctr"/>
                </a:tc>
                <a:tc>
                  <a:txBody>
                    <a:bodyPr/>
                    <a:lstStyle/>
                    <a:p>
                      <a:pPr algn="ctr" rtl="1" fontAlgn="b"/>
                      <a:r>
                        <a:rPr lang="ar-SA" sz="2100" b="1" u="none" strike="noStrike" kern="1200" dirty="0">
                          <a:solidFill>
                            <a:schemeClr val="lt1"/>
                          </a:solidFill>
                          <a:effectLst/>
                          <a:latin typeface="+mn-lt"/>
                          <a:ea typeface="+mn-ea"/>
                          <a:cs typeface="+mn-cs"/>
                        </a:rPr>
                        <a:t>مستوى إلزامية التوثيق</a:t>
                      </a:r>
                    </a:p>
                  </a:txBody>
                  <a:tcPr anchor="ctr"/>
                </a:tc>
                <a:extLst>
                  <a:ext uri="{0D108BD9-81ED-4DB2-BD59-A6C34878D82A}">
                    <a16:rowId xmlns:a16="http://schemas.microsoft.com/office/drawing/2014/main" val="2631080347"/>
                  </a:ext>
                </a:extLst>
              </a:tr>
              <a:tr h="853440">
                <a:tc>
                  <a:txBody>
                    <a:bodyPr/>
                    <a:lstStyle/>
                    <a:p>
                      <a:pPr algn="ctr" rtl="1" fontAlgn="b"/>
                      <a:r>
                        <a:rPr lang="ar-SA" sz="2000" b="1" i="0" u="none" strike="noStrike" dirty="0">
                          <a:solidFill>
                            <a:srgbClr val="000000"/>
                          </a:solidFill>
                          <a:effectLst/>
                          <a:latin typeface="Calibri" panose="020F0502020204030204" pitchFamily="34" charset="0"/>
                          <a:hlinkClick r:id="rId3" action="ppaction://hlinksldjump"/>
                        </a:rPr>
                        <a:t>تقنية التطبيق </a:t>
                      </a:r>
                      <a:endParaRPr lang="ar-SA" sz="2000" b="1"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تمثل مجموعة من المنهجيات والأدوات المستخدمة في تصميم وتطوير وتشغيل التطبيقات البرمجية. تتضمن هذه التقنيات مجموعة واسعة من اللغات البرمجية، الأطر، الأدوات، والأنظمة التي تساهم في تحقيق أفضل أداء واستدامة للتطبيقات</a:t>
                      </a: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محوري</a:t>
                      </a:r>
                    </a:p>
                  </a:txBody>
                  <a:tcPr marL="137160" marR="137160" marT="137160" marB="137160" anchor="ctr"/>
                </a:tc>
                <a:tc>
                  <a:txBody>
                    <a:bodyPr/>
                    <a:lstStyle/>
                    <a:p>
                      <a:pPr algn="r" rtl="1" fontAlgn="b"/>
                      <a:r>
                        <a:rPr lang="ar-SA" sz="1900" b="0" i="0" u="none" strike="noStrike" dirty="0">
                          <a:solidFill>
                            <a:srgbClr val="000000"/>
                          </a:solidFill>
                          <a:effectLst/>
                          <a:latin typeface="Calibri" panose="020F0502020204030204" pitchFamily="34" charset="0"/>
                        </a:rPr>
                        <a:t>منطقي</a:t>
                      </a:r>
                    </a:p>
                  </a:txBody>
                  <a:tcPr marL="137160" marR="137160" marT="137160" marB="137160" anchor="ctr"/>
                </a:tc>
                <a:extLst>
                  <a:ext uri="{0D108BD9-81ED-4DB2-BD59-A6C34878D82A}">
                    <a16:rowId xmlns:a16="http://schemas.microsoft.com/office/drawing/2014/main" val="3013500968"/>
                  </a:ext>
                </a:extLst>
              </a:tr>
            </a:tbl>
          </a:graphicData>
        </a:graphic>
      </p:graphicFrame>
    </p:spTree>
    <p:extLst>
      <p:ext uri="{BB962C8B-B14F-4D97-AF65-F5344CB8AC3E}">
        <p14:creationId xmlns:p14="http://schemas.microsoft.com/office/powerpoint/2010/main" val="344006336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B3791-DA3B-E3FF-DA18-895D1100B77E}"/>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EBA174D9-8F76-C7B9-650C-E2B2EAF6BB20}"/>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84</a:t>
            </a:fld>
            <a:endParaRPr lang="en-US"/>
          </a:p>
        </p:txBody>
      </p:sp>
      <p:sp>
        <p:nvSpPr>
          <p:cNvPr id="2" name="Title 1">
            <a:extLst>
              <a:ext uri="{FF2B5EF4-FFF2-40B4-BE49-F238E27FC236}">
                <a16:creationId xmlns:a16="http://schemas.microsoft.com/office/drawing/2014/main" id="{17DB5C87-0CF6-4CAE-E826-CD6DDB271F2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التطبيقات"</a:t>
            </a:r>
            <a:r>
              <a:rPr lang="ar-EG" sz="2800" dirty="0"/>
              <a:t> -</a:t>
            </a:r>
            <a:r>
              <a:rPr lang="ar-EG" dirty="0"/>
              <a:t> </a:t>
            </a:r>
            <a:r>
              <a:rPr lang="en-US" dirty="0"/>
              <a:t>تفصيل سمات </a:t>
            </a:r>
            <a:r>
              <a:rPr lang="ar-SA" dirty="0"/>
              <a:t>وحدة </a:t>
            </a:r>
            <a:r>
              <a:rPr lang="ar-EG" dirty="0"/>
              <a:t>ال</a:t>
            </a:r>
            <a:r>
              <a:rPr lang="ar-SA" dirty="0"/>
              <a:t>بناء “التطبيق"</a:t>
            </a:r>
            <a:r>
              <a:rPr lang="ar-EG" dirty="0"/>
              <a:t> (</a:t>
            </a:r>
            <a:r>
              <a:rPr lang="en-US" dirty="0"/>
              <a:t>3</a:t>
            </a:r>
            <a:r>
              <a:rPr lang="ar-EG" dirty="0"/>
              <a:t> </a:t>
            </a:r>
            <a:r>
              <a:rPr lang="en-US" dirty="0"/>
              <a:t>/</a:t>
            </a:r>
            <a:r>
              <a:rPr lang="ar-EG" dirty="0"/>
              <a:t> </a:t>
            </a:r>
            <a:r>
              <a:rPr lang="en-US" dirty="0"/>
              <a:t>1</a:t>
            </a:r>
            <a:r>
              <a:rPr lang="ar-EG" dirty="0"/>
              <a:t>)</a:t>
            </a:r>
            <a:endParaRPr lang="en-US" dirty="0"/>
          </a:p>
        </p:txBody>
      </p:sp>
      <p:graphicFrame>
        <p:nvGraphicFramePr>
          <p:cNvPr id="4" name="Table 3">
            <a:extLst>
              <a:ext uri="{FF2B5EF4-FFF2-40B4-BE49-F238E27FC236}">
                <a16:creationId xmlns:a16="http://schemas.microsoft.com/office/drawing/2014/main" id="{C509AB35-0DFE-6E12-1C9A-C278F2AE4455}"/>
              </a:ext>
            </a:extLst>
          </p:cNvPr>
          <p:cNvGraphicFramePr>
            <a:graphicFrameLocks noGrp="1"/>
          </p:cNvGraphicFramePr>
          <p:nvPr>
            <p:extLst>
              <p:ext uri="{D42A27DB-BD31-4B8C-83A1-F6EECF244321}">
                <p14:modId xmlns:p14="http://schemas.microsoft.com/office/powerpoint/2010/main" val="3251357498"/>
              </p:ext>
            </p:extLst>
          </p:nvPr>
        </p:nvGraphicFramePr>
        <p:xfrm>
          <a:off x="675190" y="1203149"/>
          <a:ext cx="10841620" cy="4883679"/>
        </p:xfrm>
        <a:graphic>
          <a:graphicData uri="http://schemas.openxmlformats.org/drawingml/2006/table">
            <a:tbl>
              <a:tblPr rtl="1" firstRow="1" bandRow="1">
                <a:tableStyleId>{5C22544A-7EE6-4342-B048-85BDC9FD1C3A}</a:tableStyleId>
              </a:tblPr>
              <a:tblGrid>
                <a:gridCol w="2361235">
                  <a:extLst>
                    <a:ext uri="{9D8B030D-6E8A-4147-A177-3AD203B41FA5}">
                      <a16:colId xmlns:a16="http://schemas.microsoft.com/office/drawing/2014/main" val="2853404558"/>
                    </a:ext>
                  </a:extLst>
                </a:gridCol>
                <a:gridCol w="4981781">
                  <a:extLst>
                    <a:ext uri="{9D8B030D-6E8A-4147-A177-3AD203B41FA5}">
                      <a16:colId xmlns:a16="http://schemas.microsoft.com/office/drawing/2014/main" val="1866450976"/>
                    </a:ext>
                  </a:extLst>
                </a:gridCol>
                <a:gridCol w="1749302">
                  <a:extLst>
                    <a:ext uri="{9D8B030D-6E8A-4147-A177-3AD203B41FA5}">
                      <a16:colId xmlns:a16="http://schemas.microsoft.com/office/drawing/2014/main" val="751160629"/>
                    </a:ext>
                  </a:extLst>
                </a:gridCol>
                <a:gridCol w="1749302">
                  <a:extLst>
                    <a:ext uri="{9D8B030D-6E8A-4147-A177-3AD203B41FA5}">
                      <a16:colId xmlns:a16="http://schemas.microsoft.com/office/drawing/2014/main" val="1791579260"/>
                    </a:ext>
                  </a:extLst>
                </a:gridCol>
              </a:tblGrid>
              <a:tr h="405015">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السمة</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وصف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نوع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b="1" u="none" strike="noStrike" kern="1200" baseline="0" dirty="0">
                          <a:solidFill>
                            <a:schemeClr val="lt1"/>
                          </a:solidFill>
                          <a:effectLst/>
                          <a:latin typeface="Sakkal Majalla" panose="02000000000000000000" pitchFamily="2" charset="-78"/>
                          <a:ea typeface="+mn-ea"/>
                          <a:cs typeface="Sakkal Majalla" panose="02000000000000000000" pitchFamily="2" charset="-78"/>
                        </a:rPr>
                        <a:t>إلزامية التوثيق</a:t>
                      </a:r>
                    </a:p>
                  </a:txBody>
                  <a:tcPr marL="45720" marR="45720" marT="18288" marB="18288" anchor="b"/>
                </a:tc>
                <a:extLst>
                  <a:ext uri="{0D108BD9-81ED-4DB2-BD59-A6C34878D82A}">
                    <a16:rowId xmlns:a16="http://schemas.microsoft.com/office/drawing/2014/main" val="2998368315"/>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الرمز</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الرقم أو المعرف الفريد الذي يستخدم لتمييز التطبيق عن غيره</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أحرف و/أو أرقام</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anchor="b"/>
                </a:tc>
                <a:extLst>
                  <a:ext uri="{0D108BD9-81ED-4DB2-BD59-A6C34878D82A}">
                    <a16:rowId xmlns:a16="http://schemas.microsoft.com/office/drawing/2014/main" val="2177790647"/>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الاسم</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الاسم الرسمي للتطبيق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anchor="b"/>
                </a:tc>
                <a:extLst>
                  <a:ext uri="{0D108BD9-81ED-4DB2-BD59-A6C34878D82A}">
                    <a16:rowId xmlns:a16="http://schemas.microsoft.com/office/drawing/2014/main" val="807806458"/>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الوصف</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شرح مختصر يصف التطبيق ووظيفته العامة</a:t>
                      </a:r>
                    </a:p>
                  </a:txBody>
                  <a:tcPr anchor="b"/>
                </a:tc>
                <a:tc>
                  <a:txBody>
                    <a:bodyPr/>
                    <a:lstStyle/>
                    <a:p>
                      <a:pPr algn="r" rtl="1" fontAlgn="b"/>
                      <a:r>
                        <a:rPr lang="ar-SA" sz="1600" b="0" i="0" u="none" strike="noStrike" baseline="0">
                          <a:solidFill>
                            <a:srgbClr val="000000"/>
                          </a:solidFill>
                          <a:effectLst/>
                          <a:latin typeface="Sakkal Majalla" panose="02000000000000000000" pitchFamily="2" charset="-78"/>
                          <a:cs typeface="Sakkal Majalla" panose="02000000000000000000" pitchFamily="2" charset="-78"/>
                        </a:rPr>
                        <a:t>نص</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anchor="b"/>
                </a:tc>
                <a:extLst>
                  <a:ext uri="{0D108BD9-81ED-4DB2-BD59-A6C34878D82A}">
                    <a16:rowId xmlns:a16="http://schemas.microsoft.com/office/drawing/2014/main" val="3854867706"/>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اسم التطبيق (بالإنجليزية)</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الاسم الإنجليزي للتطبيق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anchor="b"/>
                </a:tc>
                <a:extLst>
                  <a:ext uri="{0D108BD9-81ED-4DB2-BD59-A6C34878D82A}">
                    <a16:rowId xmlns:a16="http://schemas.microsoft.com/office/drawing/2014/main" val="3623711210"/>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اسم التطبيق (بالعربية)</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الاسم العربي للتطبيق</a:t>
                      </a:r>
                    </a:p>
                  </a:txBody>
                  <a:tcPr anchor="b"/>
                </a:tc>
                <a:tc>
                  <a:txBody>
                    <a:bodyPr/>
                    <a:lstStyle/>
                    <a:p>
                      <a:pPr algn="r" rtl="1" fontAlgn="b"/>
                      <a:r>
                        <a:rPr lang="ar-SA" sz="1600" b="0" i="0" u="none" strike="noStrike" baseline="0">
                          <a:solidFill>
                            <a:srgbClr val="000000"/>
                          </a:solidFill>
                          <a:effectLst/>
                          <a:latin typeface="Sakkal Majalla" panose="02000000000000000000" pitchFamily="2" charset="-78"/>
                          <a:cs typeface="Sakkal Majalla" panose="02000000000000000000" pitchFamily="2" charset="-78"/>
                        </a:rPr>
                        <a:t>نص</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anchor="b"/>
                </a:tc>
                <a:extLst>
                  <a:ext uri="{0D108BD9-81ED-4DB2-BD59-A6C34878D82A}">
                    <a16:rowId xmlns:a16="http://schemas.microsoft.com/office/drawing/2014/main" val="3241289099"/>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وظائف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الوظائف التي يؤديها التطبيق عبر قنواته المختلفة (ويب، مكتبي، محمول)</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600" b="0" i="0" u="none" strike="noStrike" dirty="0">
                          <a:solidFill>
                            <a:srgbClr val="000000"/>
                          </a:solidFill>
                          <a:effectLst/>
                          <a:latin typeface="Calibri" panose="020F0502020204030204" pitchFamily="34" charset="0"/>
                        </a:rPr>
                        <a:t>علاقة ربط</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anchor="b"/>
                </a:tc>
                <a:extLst>
                  <a:ext uri="{0D108BD9-81ED-4DB2-BD59-A6C34878D82A}">
                    <a16:rowId xmlns:a16="http://schemas.microsoft.com/office/drawing/2014/main" val="1204850594"/>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اسم الوحدة الإدارية المالكة</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الوحدة الإدارية المسؤولة عن التطبيق</a:t>
                      </a:r>
                    </a:p>
                  </a:txBody>
                  <a:tcPr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anchor="b"/>
                </a:tc>
                <a:extLst>
                  <a:ext uri="{0D108BD9-81ED-4DB2-BD59-A6C34878D82A}">
                    <a16:rowId xmlns:a16="http://schemas.microsoft.com/office/drawing/2014/main" val="2410310798"/>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اسم الوحدة الإدارية المشغلة</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الوحدة المسؤولة عن تشغيل التطبيق</a:t>
                      </a:r>
                    </a:p>
                  </a:txBody>
                  <a:tcPr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anchor="b"/>
                </a:tc>
                <a:extLst>
                  <a:ext uri="{0D108BD9-81ED-4DB2-BD59-A6C34878D82A}">
                    <a16:rowId xmlns:a16="http://schemas.microsoft.com/office/drawing/2014/main" val="2982064706"/>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إصدار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تفصيل إصدارات التطبيق لكل قناة (ويب، مكتبي، محمول)</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anchor="b"/>
                </a:tc>
                <a:extLst>
                  <a:ext uri="{0D108BD9-81ED-4DB2-BD59-A6C34878D82A}">
                    <a16:rowId xmlns:a16="http://schemas.microsoft.com/office/drawing/2014/main" val="3546797635"/>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حالة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تحديد الحالة الحالية للتطبيق (نشط، غير نشط)</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anchor="b"/>
                </a:tc>
                <a:extLst>
                  <a:ext uri="{0D108BD9-81ED-4DB2-BD59-A6C34878D82A}">
                    <a16:rowId xmlns:a16="http://schemas.microsoft.com/office/drawing/2014/main" val="576077082"/>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حرجية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مدى أهمية التطبيق بالنسبة للأعمال (حرج، متوسط، غير حرج)</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anchor="b"/>
                </a:tc>
                <a:extLst>
                  <a:ext uri="{0D108BD9-81ED-4DB2-BD59-A6C34878D82A}">
                    <a16:rowId xmlns:a16="http://schemas.microsoft.com/office/drawing/2014/main" val="3687166150"/>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لغات واجهة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اللغات المدعومة في واجهة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اختياري</a:t>
                      </a:r>
                    </a:p>
                  </a:txBody>
                  <a:tcPr anchor="b"/>
                </a:tc>
                <a:extLst>
                  <a:ext uri="{0D108BD9-81ED-4DB2-BD59-A6C34878D82A}">
                    <a16:rowId xmlns:a16="http://schemas.microsoft.com/office/drawing/2014/main" val="1945650111"/>
                  </a:ext>
                </a:extLst>
              </a:tr>
            </a:tbl>
          </a:graphicData>
        </a:graphic>
      </p:graphicFrame>
    </p:spTree>
    <p:extLst>
      <p:ext uri="{BB962C8B-B14F-4D97-AF65-F5344CB8AC3E}">
        <p14:creationId xmlns:p14="http://schemas.microsoft.com/office/powerpoint/2010/main" val="233884629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6DA80-A4B4-3408-9D96-A9826AF64506}"/>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92912B8E-A968-C556-02A8-617C241993A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85</a:t>
            </a:fld>
            <a:endParaRPr lang="en-US"/>
          </a:p>
        </p:txBody>
      </p:sp>
      <p:sp>
        <p:nvSpPr>
          <p:cNvPr id="2" name="Title 1">
            <a:extLst>
              <a:ext uri="{FF2B5EF4-FFF2-40B4-BE49-F238E27FC236}">
                <a16:creationId xmlns:a16="http://schemas.microsoft.com/office/drawing/2014/main" id="{B5024D68-DEF9-99DA-96B3-AD98C1BA91B5}"/>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التطبيقات"</a:t>
            </a:r>
            <a:r>
              <a:rPr lang="ar-EG" sz="2800" dirty="0"/>
              <a:t> -</a:t>
            </a:r>
            <a:r>
              <a:rPr lang="ar-EG" dirty="0"/>
              <a:t> </a:t>
            </a:r>
            <a:r>
              <a:rPr lang="en-US" dirty="0"/>
              <a:t>تفصيل سمات </a:t>
            </a:r>
            <a:r>
              <a:rPr lang="ar-SA" dirty="0"/>
              <a:t>وحدة </a:t>
            </a:r>
            <a:r>
              <a:rPr lang="ar-EG" dirty="0"/>
              <a:t>ال</a:t>
            </a:r>
            <a:r>
              <a:rPr lang="ar-SA" dirty="0"/>
              <a:t>بناء "التطبيق"</a:t>
            </a:r>
            <a:r>
              <a:rPr lang="ar-EG" dirty="0"/>
              <a:t> (</a:t>
            </a:r>
            <a:r>
              <a:rPr lang="en-US" dirty="0"/>
              <a:t>3</a:t>
            </a:r>
            <a:r>
              <a:rPr lang="ar-EG" dirty="0"/>
              <a:t> </a:t>
            </a:r>
            <a:r>
              <a:rPr lang="en-US" dirty="0"/>
              <a:t>/</a:t>
            </a:r>
            <a:r>
              <a:rPr lang="ar-EG" dirty="0"/>
              <a:t> </a:t>
            </a:r>
            <a:r>
              <a:rPr lang="en-US" dirty="0"/>
              <a:t>2</a:t>
            </a:r>
            <a:r>
              <a:rPr lang="ar-EG" dirty="0"/>
              <a:t>)</a:t>
            </a:r>
            <a:endParaRPr lang="en-US" dirty="0"/>
          </a:p>
        </p:txBody>
      </p:sp>
      <p:graphicFrame>
        <p:nvGraphicFramePr>
          <p:cNvPr id="4" name="Table 3">
            <a:extLst>
              <a:ext uri="{FF2B5EF4-FFF2-40B4-BE49-F238E27FC236}">
                <a16:creationId xmlns:a16="http://schemas.microsoft.com/office/drawing/2014/main" id="{E57B7042-E5D7-D635-54A6-108A5BB287CE}"/>
              </a:ext>
            </a:extLst>
          </p:cNvPr>
          <p:cNvGraphicFramePr>
            <a:graphicFrameLocks noGrp="1"/>
          </p:cNvGraphicFramePr>
          <p:nvPr>
            <p:extLst>
              <p:ext uri="{D42A27DB-BD31-4B8C-83A1-F6EECF244321}">
                <p14:modId xmlns:p14="http://schemas.microsoft.com/office/powerpoint/2010/main" val="1508577978"/>
              </p:ext>
            </p:extLst>
          </p:nvPr>
        </p:nvGraphicFramePr>
        <p:xfrm>
          <a:off x="675190" y="1203149"/>
          <a:ext cx="10841620" cy="5089577"/>
        </p:xfrm>
        <a:graphic>
          <a:graphicData uri="http://schemas.openxmlformats.org/drawingml/2006/table">
            <a:tbl>
              <a:tblPr rtl="1" firstRow="1" bandRow="1">
                <a:tableStyleId>{5C22544A-7EE6-4342-B048-85BDC9FD1C3A}</a:tableStyleId>
              </a:tblPr>
              <a:tblGrid>
                <a:gridCol w="2361235">
                  <a:extLst>
                    <a:ext uri="{9D8B030D-6E8A-4147-A177-3AD203B41FA5}">
                      <a16:colId xmlns:a16="http://schemas.microsoft.com/office/drawing/2014/main" val="2853404558"/>
                    </a:ext>
                  </a:extLst>
                </a:gridCol>
                <a:gridCol w="5512723">
                  <a:extLst>
                    <a:ext uri="{9D8B030D-6E8A-4147-A177-3AD203B41FA5}">
                      <a16:colId xmlns:a16="http://schemas.microsoft.com/office/drawing/2014/main" val="1866450976"/>
                    </a:ext>
                  </a:extLst>
                </a:gridCol>
                <a:gridCol w="1483831">
                  <a:extLst>
                    <a:ext uri="{9D8B030D-6E8A-4147-A177-3AD203B41FA5}">
                      <a16:colId xmlns:a16="http://schemas.microsoft.com/office/drawing/2014/main" val="751160629"/>
                    </a:ext>
                  </a:extLst>
                </a:gridCol>
                <a:gridCol w="1483831">
                  <a:extLst>
                    <a:ext uri="{9D8B030D-6E8A-4147-A177-3AD203B41FA5}">
                      <a16:colId xmlns:a16="http://schemas.microsoft.com/office/drawing/2014/main" val="3195862996"/>
                    </a:ext>
                  </a:extLst>
                </a:gridCol>
              </a:tblGrid>
              <a:tr h="405015">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السمة</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وصف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نوع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b="1" u="none" strike="noStrike" kern="1200" baseline="0" dirty="0">
                          <a:solidFill>
                            <a:schemeClr val="lt1"/>
                          </a:solidFill>
                          <a:effectLst/>
                          <a:latin typeface="Sakkal Majalla" panose="02000000000000000000" pitchFamily="2" charset="-78"/>
                          <a:ea typeface="+mn-ea"/>
                          <a:cs typeface="Sakkal Majalla" panose="02000000000000000000" pitchFamily="2" charset="-78"/>
                        </a:rPr>
                        <a:t>إلزامية التوثيق</a:t>
                      </a:r>
                    </a:p>
                  </a:txBody>
                  <a:tcPr marL="45720" marR="45720" marT="18288" marB="18288" anchor="b"/>
                </a:tc>
                <a:extLst>
                  <a:ext uri="{0D108BD9-81ED-4DB2-BD59-A6C34878D82A}">
                    <a16:rowId xmlns:a16="http://schemas.microsoft.com/office/drawing/2014/main" val="2998368315"/>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فئة</a:t>
                      </a:r>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طبقة</a:t>
                      </a: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تحديد الفئة والطبقة التي ينتمي إليها التطبيق</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 (مثل: طبقة الوصول، طبقة ذكاء الأعمال، طبقة الأعمال الداعمة...)</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296689721"/>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نوع التطوير</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تحديد نوع التطوير (جاهز، تطوير داخلي، تطوير خارجي، مفتوح المصدر)</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1480491136"/>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اسم مزود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الشركة المزودة للتطبيق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p>
                  </a:txBody>
                  <a:tcPr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660202490"/>
                  </a:ext>
                </a:extLst>
              </a:tr>
              <a:tr h="373222">
                <a:tc>
                  <a:txBody>
                    <a:bodyPr/>
                    <a:lstStyle/>
                    <a:p>
                      <a:pPr algn="ctr" rtl="1" fontAlgn="b"/>
                      <a:r>
                        <a:rPr lang="ar-SA" sz="1800" b="1" i="0" u="none" strike="noStrike" baseline="0">
                          <a:solidFill>
                            <a:srgbClr val="000000"/>
                          </a:solidFill>
                          <a:effectLst/>
                          <a:latin typeface="Sakkal Majalla" panose="02000000000000000000" pitchFamily="2" charset="-78"/>
                          <a:cs typeface="Sakkal Majalla" panose="02000000000000000000" pitchFamily="2" charset="-78"/>
                        </a:rPr>
                        <a:t>اسم مقاول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الشركة التي قامت بتطوير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p>
                  </a:txBody>
                  <a:tcPr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37597698"/>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نمط الهيكلية المعمارية</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نوع الهيكلية المعمارية للتطبيق</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SOA، 2-Tier، 3-Tier، Microservices</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اختيارية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1780648918"/>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قنوات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قنوات التشغيل التي يدعمها التطبيق (ويب، مكتبي، محمول)</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4154590565"/>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الوصول إلى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قنوات الوصول إلى التطبيق (داخلي، خارجي)</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626110763"/>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تاريخ الإطلاق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التاريخ الذي تم فيه إطلاق التطبيق رسمياً للمستخدمين</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تاريخ</a:t>
                      </a:r>
                    </a:p>
                  </a:txBody>
                  <a:tcPr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اختيارية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2688813935"/>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نموذج ترخيص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نموذج ترخيص التطبيق (اشتراك دوري، دائم)</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اختيارية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4054707697"/>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دورية اشتراك ترخيص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دورية الاشتراك لرخصة التطبيق (دائم، شهري، سنوي)</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2132914008"/>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عدد الرخص</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عدد الرخص المتوفرة للتطبيق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أرقام</a:t>
                      </a:r>
                    </a:p>
                  </a:txBody>
                  <a:tcPr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اختيارية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4127963711"/>
                  </a:ext>
                </a:extLst>
              </a:tr>
              <a:tr h="373222">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نوع المصادقة</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نوع المصادقة المطلوبة للوصول إلى التطبيق</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Local، AD، IAM، </a:t>
                      </a:r>
                      <a:r>
                        <a:rPr lang="en-US" sz="1600" b="0" i="0" u="none" strike="noStrike" baseline="0" dirty="0" err="1">
                          <a:solidFill>
                            <a:srgbClr val="000000"/>
                          </a:solidFill>
                          <a:effectLst/>
                          <a:latin typeface="Sakkal Majalla" panose="02000000000000000000" pitchFamily="2" charset="-78"/>
                          <a:cs typeface="Sakkal Majalla" panose="02000000000000000000" pitchFamily="2" charset="-78"/>
                        </a:rPr>
                        <a:t>Nafath</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anchor="b"/>
                </a:tc>
                <a:tc>
                  <a:txBody>
                    <a:bodyPr/>
                    <a:lstStyle/>
                    <a:p>
                      <a:pPr marL="0" algn="r" defTabSz="914400" rtl="1" eaLnBrk="1" fontAlgn="b" latinLnBrk="0" hangingPunct="1"/>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2271722467"/>
                  </a:ext>
                </a:extLst>
              </a:tr>
            </a:tbl>
          </a:graphicData>
        </a:graphic>
      </p:graphicFrame>
    </p:spTree>
    <p:extLst>
      <p:ext uri="{BB962C8B-B14F-4D97-AF65-F5344CB8AC3E}">
        <p14:creationId xmlns:p14="http://schemas.microsoft.com/office/powerpoint/2010/main" val="3312696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D2B29-C1E3-4038-AEC0-D16BCFFBECEF}"/>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9867C739-9AFC-1327-1C96-DD11E4669BE2}"/>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86</a:t>
            </a:fld>
            <a:endParaRPr lang="en-US"/>
          </a:p>
        </p:txBody>
      </p:sp>
      <p:sp>
        <p:nvSpPr>
          <p:cNvPr id="2" name="Title 1">
            <a:extLst>
              <a:ext uri="{FF2B5EF4-FFF2-40B4-BE49-F238E27FC236}">
                <a16:creationId xmlns:a16="http://schemas.microsoft.com/office/drawing/2014/main" id="{4C8B45B9-5221-7A0E-9D0F-FDA7A48E1C27}"/>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التطبيقات"</a:t>
            </a:r>
            <a:r>
              <a:rPr lang="ar-EG" sz="2800" dirty="0"/>
              <a:t> -</a:t>
            </a:r>
            <a:r>
              <a:rPr lang="ar-EG" dirty="0"/>
              <a:t> </a:t>
            </a:r>
            <a:r>
              <a:rPr lang="en-US" dirty="0"/>
              <a:t>تفصيل سمات </a:t>
            </a:r>
            <a:r>
              <a:rPr lang="ar-SA" dirty="0"/>
              <a:t>وحدة </a:t>
            </a:r>
            <a:r>
              <a:rPr lang="ar-EG" dirty="0"/>
              <a:t>ال</a:t>
            </a:r>
            <a:r>
              <a:rPr lang="ar-SA" dirty="0"/>
              <a:t>بناء "التطبيق"</a:t>
            </a:r>
            <a:r>
              <a:rPr lang="ar-EG" dirty="0"/>
              <a:t> (</a:t>
            </a:r>
            <a:r>
              <a:rPr lang="en-US" dirty="0"/>
              <a:t>3</a:t>
            </a:r>
            <a:r>
              <a:rPr lang="ar-EG" dirty="0"/>
              <a:t> </a:t>
            </a:r>
            <a:r>
              <a:rPr lang="en-US" dirty="0"/>
              <a:t>/</a:t>
            </a:r>
            <a:r>
              <a:rPr lang="ar-EG" dirty="0"/>
              <a:t> </a:t>
            </a:r>
            <a:r>
              <a:rPr lang="en-US" dirty="0"/>
              <a:t>3</a:t>
            </a:r>
            <a:r>
              <a:rPr lang="ar-EG" dirty="0"/>
              <a:t>)</a:t>
            </a:r>
            <a:endParaRPr lang="en-US" dirty="0"/>
          </a:p>
        </p:txBody>
      </p:sp>
      <p:graphicFrame>
        <p:nvGraphicFramePr>
          <p:cNvPr id="4" name="Table 3">
            <a:extLst>
              <a:ext uri="{FF2B5EF4-FFF2-40B4-BE49-F238E27FC236}">
                <a16:creationId xmlns:a16="http://schemas.microsoft.com/office/drawing/2014/main" id="{DB2A7FE7-0D51-5581-2F06-7E12E27A0CFA}"/>
              </a:ext>
            </a:extLst>
          </p:cNvPr>
          <p:cNvGraphicFramePr>
            <a:graphicFrameLocks noGrp="1"/>
          </p:cNvGraphicFramePr>
          <p:nvPr>
            <p:extLst>
              <p:ext uri="{D42A27DB-BD31-4B8C-83A1-F6EECF244321}">
                <p14:modId xmlns:p14="http://schemas.microsoft.com/office/powerpoint/2010/main" val="834760446"/>
              </p:ext>
            </p:extLst>
          </p:nvPr>
        </p:nvGraphicFramePr>
        <p:xfrm>
          <a:off x="675190" y="1070142"/>
          <a:ext cx="10841620" cy="5110671"/>
        </p:xfrm>
        <a:graphic>
          <a:graphicData uri="http://schemas.openxmlformats.org/drawingml/2006/table">
            <a:tbl>
              <a:tblPr rtl="1" firstRow="1" bandRow="1">
                <a:tableStyleId>{5C22544A-7EE6-4342-B048-85BDC9FD1C3A}</a:tableStyleId>
              </a:tblPr>
              <a:tblGrid>
                <a:gridCol w="2361235">
                  <a:extLst>
                    <a:ext uri="{9D8B030D-6E8A-4147-A177-3AD203B41FA5}">
                      <a16:colId xmlns:a16="http://schemas.microsoft.com/office/drawing/2014/main" val="2853404558"/>
                    </a:ext>
                  </a:extLst>
                </a:gridCol>
                <a:gridCol w="5335743">
                  <a:extLst>
                    <a:ext uri="{9D8B030D-6E8A-4147-A177-3AD203B41FA5}">
                      <a16:colId xmlns:a16="http://schemas.microsoft.com/office/drawing/2014/main" val="1866450976"/>
                    </a:ext>
                  </a:extLst>
                </a:gridCol>
                <a:gridCol w="1572321">
                  <a:extLst>
                    <a:ext uri="{9D8B030D-6E8A-4147-A177-3AD203B41FA5}">
                      <a16:colId xmlns:a16="http://schemas.microsoft.com/office/drawing/2014/main" val="751160629"/>
                    </a:ext>
                  </a:extLst>
                </a:gridCol>
                <a:gridCol w="1572321">
                  <a:extLst>
                    <a:ext uri="{9D8B030D-6E8A-4147-A177-3AD203B41FA5}">
                      <a16:colId xmlns:a16="http://schemas.microsoft.com/office/drawing/2014/main" val="1756426810"/>
                    </a:ext>
                  </a:extLst>
                </a:gridCol>
              </a:tblGrid>
              <a:tr h="248509">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السمة</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وصف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نوع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marL="0" algn="ctr" defTabSz="914400" rtl="1" eaLnBrk="1" fontAlgn="b" latinLnBrk="0" hangingPunct="1">
                        <a:lnSpc>
                          <a:spcPct val="115000"/>
                        </a:lnSpc>
                        <a:spcAft>
                          <a:spcPts val="0"/>
                        </a:spcAft>
                      </a:pPr>
                      <a:r>
                        <a:rPr lang="ar-SA" sz="2000" b="1" u="none" strike="noStrike" kern="1200" dirty="0">
                          <a:solidFill>
                            <a:schemeClr val="lt1"/>
                          </a:solidFill>
                          <a:effectLst/>
                          <a:latin typeface="+mn-lt"/>
                          <a:ea typeface="+mn-ea"/>
                          <a:cs typeface="+mn-cs"/>
                        </a:rPr>
                        <a:t>الزامية التوثيق</a:t>
                      </a:r>
                    </a:p>
                  </a:txBody>
                  <a:tcPr marL="45720" marR="45720" marT="18288" marB="18288" anchor="b"/>
                </a:tc>
                <a:extLst>
                  <a:ext uri="{0D108BD9-81ED-4DB2-BD59-A6C34878D82A}">
                    <a16:rowId xmlns:a16="http://schemas.microsoft.com/office/drawing/2014/main" val="2998368315"/>
                  </a:ext>
                </a:extLst>
              </a:tr>
              <a:tr h="302867">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تاريخ انتهاء ترخيص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تاريخ انتهاء رخصة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تاريخ</a:t>
                      </a:r>
                    </a:p>
                  </a:txBody>
                  <a:tcPr anchor="b"/>
                </a:tc>
                <a:tc>
                  <a:txBody>
                    <a:bodyPr/>
                    <a:lstStyle/>
                    <a:p>
                      <a:pPr algn="r" rtl="1" fontAlgn="b"/>
                      <a:r>
                        <a:rPr lang="ar-EG" sz="1400" b="0" kern="1200" dirty="0">
                          <a:solidFill>
                            <a:schemeClr val="tx1"/>
                          </a:solidFill>
                          <a:effectLst/>
                          <a:latin typeface="+mn-lt"/>
                          <a:ea typeface="+mn-ea"/>
                          <a:cs typeface="+mn-cs"/>
                        </a:rPr>
                        <a:t>اختيارية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2164934309"/>
                  </a:ext>
                </a:extLst>
              </a:tr>
              <a:tr h="302867">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إشعارات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دعم التطبيق لإرسال الإشعارات عبر رسائل </a:t>
                      </a:r>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SMS</a:t>
                      </a:r>
                    </a:p>
                  </a:txBody>
                  <a:tcPr anchor="b"/>
                </a:tc>
                <a:tc>
                  <a:txBody>
                    <a:bodyPr/>
                    <a:lstStyle/>
                    <a:p>
                      <a:pPr algn="r" rtl="1" fontAlgn="b"/>
                      <a:r>
                        <a:rPr lang="ar-SA" sz="1600" b="0" i="0" u="none" strike="noStrike" baseline="0">
                          <a:solidFill>
                            <a:srgbClr val="000000"/>
                          </a:solidFill>
                          <a:effectLst/>
                          <a:latin typeface="Sakkal Majalla" panose="02000000000000000000" pitchFamily="2" charset="-78"/>
                          <a:cs typeface="Sakkal Majalla" panose="02000000000000000000" pitchFamily="2" charset="-78"/>
                        </a:rPr>
                        <a:t>نص</a:t>
                      </a:r>
                    </a:p>
                  </a:txBody>
                  <a:tcPr anchor="b"/>
                </a:tc>
                <a:tc>
                  <a:txBody>
                    <a:bodyPr/>
                    <a:lstStyle/>
                    <a:p>
                      <a:pPr algn="r" rtl="1" fontAlgn="b"/>
                      <a:r>
                        <a:rPr lang="ar-EG" sz="1400" b="0" kern="1200" dirty="0">
                          <a:solidFill>
                            <a:schemeClr val="tx1"/>
                          </a:solidFill>
                          <a:effectLst/>
                          <a:latin typeface="+mn-lt"/>
                          <a:ea typeface="+mn-ea"/>
                          <a:cs typeface="+mn-cs"/>
                        </a:rPr>
                        <a:t>اختيارية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3270573486"/>
                  </a:ext>
                </a:extLst>
              </a:tr>
              <a:tr h="302867">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الخوادم المستضيفة</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تحديد الخوادم المستضيفة للتطبيق</a:t>
                      </a:r>
                    </a:p>
                  </a:txBody>
                  <a:tcPr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b"/>
                </a:tc>
                <a:tc>
                  <a:txBody>
                    <a:bodyPr/>
                    <a:lstStyle/>
                    <a:p>
                      <a:pPr algn="r" rtl="1" fontAlgn="b"/>
                      <a:r>
                        <a:rPr lang="ar-EG" sz="1400" b="0" kern="1200" dirty="0">
                          <a:solidFill>
                            <a:schemeClr val="tx1"/>
                          </a:solidFill>
                          <a:effectLst/>
                          <a:latin typeface="+mn-lt"/>
                          <a:ea typeface="+mn-ea"/>
                          <a:cs typeface="+mn-cs"/>
                        </a:rPr>
                        <a:t>اختيارية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3077235910"/>
                  </a:ext>
                </a:extLst>
              </a:tr>
              <a:tr h="302867">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خوادم قاعدة البيانات</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تحديد خوادم قواعد بيانات التطبيق</a:t>
                      </a:r>
                    </a:p>
                  </a:txBody>
                  <a:tcPr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b"/>
                </a:tc>
                <a:tc>
                  <a:txBody>
                    <a:bodyPr/>
                    <a:lstStyle/>
                    <a:p>
                      <a:pPr algn="r" rtl="1" fontAlgn="b"/>
                      <a:r>
                        <a:rPr lang="ar-EG" sz="1400" b="0" kern="1200" dirty="0">
                          <a:solidFill>
                            <a:schemeClr val="tx1"/>
                          </a:solidFill>
                          <a:effectLst/>
                          <a:latin typeface="+mn-lt"/>
                          <a:ea typeface="+mn-ea"/>
                          <a:cs typeface="+mn-cs"/>
                        </a:rPr>
                        <a:t>اختيارية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3622486773"/>
                  </a:ext>
                </a:extLst>
              </a:tr>
              <a:tr h="302867">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قواعد البيانات</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قواعد البيانات المستخدمة في التطبيق</a:t>
                      </a:r>
                    </a:p>
                  </a:txBody>
                  <a:tcPr anchor="b"/>
                </a:tc>
                <a:tc>
                  <a:txBody>
                    <a:bodyPr/>
                    <a:lstStyle/>
                    <a:p>
                      <a:pPr algn="r" rtl="1" fontAlgn="b"/>
                      <a:r>
                        <a:rPr lang="ar-SA" sz="1600" b="0" i="0" u="none" strike="noStrike" dirty="0">
                          <a:solidFill>
                            <a:srgbClr val="000000"/>
                          </a:solidFill>
                          <a:effectLst/>
                          <a:latin typeface="Calibri" panose="020F0502020204030204" pitchFamily="34" charset="0"/>
                        </a:rPr>
                        <a:t>علاقة ربط</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b"/>
                </a:tc>
                <a:tc>
                  <a:txBody>
                    <a:bodyPr/>
                    <a:lstStyle/>
                    <a:p>
                      <a:pPr algn="r" rtl="1" fontAlgn="b"/>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2690612606"/>
                  </a:ext>
                </a:extLst>
              </a:tr>
              <a:tr h="302867">
                <a:tc>
                  <a:txBody>
                    <a:bodyPr/>
                    <a:lstStyle/>
                    <a:p>
                      <a:pPr algn="ctr" rtl="1" fontAlgn="b"/>
                      <a:r>
                        <a:rPr lang="ar-SA" sz="1800" b="1" i="0" u="none" strike="noStrike" baseline="0">
                          <a:solidFill>
                            <a:srgbClr val="000000"/>
                          </a:solidFill>
                          <a:effectLst/>
                          <a:latin typeface="Sakkal Majalla" panose="02000000000000000000" pitchFamily="2" charset="-78"/>
                          <a:cs typeface="Sakkal Majalla" panose="02000000000000000000" pitchFamily="2" charset="-78"/>
                        </a:rPr>
                        <a:t>أنواع قواعد البيانات</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تحديد نوع قواعد البيانات (أوراكل، مايكروسوفت)</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anchor="b"/>
                </a:tc>
                <a:tc>
                  <a:txBody>
                    <a:bodyPr/>
                    <a:lstStyle/>
                    <a:p>
                      <a:pPr algn="r" rtl="1" fontAlgn="b"/>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3231743368"/>
                  </a:ext>
                </a:extLst>
              </a:tr>
              <a:tr h="302867">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التكلفة الرأسمالية</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النفقات المستثمرة في التمويل لإيجاد التطبيق</a:t>
                      </a:r>
                    </a:p>
                  </a:txBody>
                  <a:tcPr anchor="b"/>
                </a:tc>
                <a:tc>
                  <a:txBody>
                    <a:bodyPr/>
                    <a:lstStyle/>
                    <a:p>
                      <a:pPr algn="r" rtl="1" fontAlgn="b"/>
                      <a:r>
                        <a:rPr lang="ar-SA" sz="1600" b="0" i="0" u="none" strike="noStrike" baseline="0">
                          <a:solidFill>
                            <a:srgbClr val="000000"/>
                          </a:solidFill>
                          <a:effectLst/>
                          <a:latin typeface="Sakkal Majalla" panose="02000000000000000000" pitchFamily="2" charset="-78"/>
                          <a:cs typeface="Sakkal Majalla" panose="02000000000000000000" pitchFamily="2" charset="-78"/>
                        </a:rPr>
                        <a:t>أرقام</a:t>
                      </a:r>
                    </a:p>
                  </a:txBody>
                  <a:tcPr anchor="b"/>
                </a:tc>
                <a:tc>
                  <a:txBody>
                    <a:bodyPr/>
                    <a:lstStyle/>
                    <a:p>
                      <a:pPr algn="r" rtl="1" fontAlgn="b"/>
                      <a:r>
                        <a:rPr lang="ar-EG" sz="1400" b="0" kern="1200" dirty="0">
                          <a:solidFill>
                            <a:schemeClr val="tx1"/>
                          </a:solidFill>
                          <a:effectLst/>
                          <a:latin typeface="+mn-lt"/>
                          <a:ea typeface="+mn-ea"/>
                          <a:cs typeface="+mn-cs"/>
                        </a:rPr>
                        <a:t>اختيارية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4104257643"/>
                  </a:ext>
                </a:extLst>
              </a:tr>
              <a:tr h="302867">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التكلفة التشغيلية</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القيمة المطلوبة سنوياً لتشغيل وصيانة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أرقام</a:t>
                      </a:r>
                    </a:p>
                  </a:txBody>
                  <a:tcPr anchor="b"/>
                </a:tc>
                <a:tc>
                  <a:txBody>
                    <a:bodyPr/>
                    <a:lstStyle/>
                    <a:p>
                      <a:pPr algn="r" rtl="1" fontAlgn="b"/>
                      <a:r>
                        <a:rPr lang="ar-EG" sz="1400" b="0" kern="1200" dirty="0">
                          <a:solidFill>
                            <a:schemeClr val="tx1"/>
                          </a:solidFill>
                          <a:effectLst/>
                          <a:latin typeface="+mn-lt"/>
                          <a:ea typeface="+mn-ea"/>
                          <a:cs typeface="+mn-cs"/>
                        </a:rPr>
                        <a:t>اختيارية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134662306"/>
                  </a:ext>
                </a:extLst>
              </a:tr>
              <a:tr h="302867">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الاحتياجات غير المتوفرة</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ذكر الاحتياجات التي لم يتم تلبيتها</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p>
                  </a:txBody>
                  <a:tcPr anchor="b"/>
                </a:tc>
                <a:tc>
                  <a:txBody>
                    <a:bodyPr/>
                    <a:lstStyle/>
                    <a:p>
                      <a:pPr algn="r" rtl="1" fontAlgn="b"/>
                      <a:r>
                        <a:rPr lang="ar-EG" sz="1400" b="0" kern="1200" dirty="0">
                          <a:solidFill>
                            <a:schemeClr val="tx1"/>
                          </a:solidFill>
                          <a:effectLst/>
                          <a:latin typeface="+mn-lt"/>
                          <a:ea typeface="+mn-ea"/>
                          <a:cs typeface="+mn-cs"/>
                        </a:rPr>
                        <a:t>اختيارية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4104501416"/>
                  </a:ext>
                </a:extLst>
              </a:tr>
              <a:tr h="302867">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المشاكل القائمة</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المشاكل التي يواجهها التطبيق حاليا</a:t>
                      </a:r>
                    </a:p>
                  </a:txBody>
                  <a:tcPr anchor="b"/>
                </a:tc>
                <a:tc>
                  <a:txBody>
                    <a:bodyPr/>
                    <a:lstStyle/>
                    <a:p>
                      <a:pPr algn="r" rtl="1" fontAlgn="b"/>
                      <a:r>
                        <a:rPr lang="ar-SA" sz="1600" b="0" i="0" u="none" strike="noStrike" baseline="0">
                          <a:solidFill>
                            <a:srgbClr val="000000"/>
                          </a:solidFill>
                          <a:effectLst/>
                          <a:latin typeface="Sakkal Majalla" panose="02000000000000000000" pitchFamily="2" charset="-78"/>
                          <a:cs typeface="Sakkal Majalla" panose="02000000000000000000" pitchFamily="2" charset="-78"/>
                        </a:rPr>
                        <a:t>نص</a:t>
                      </a:r>
                    </a:p>
                  </a:txBody>
                  <a:tcPr anchor="b"/>
                </a:tc>
                <a:tc>
                  <a:txBody>
                    <a:bodyPr/>
                    <a:lstStyle/>
                    <a:p>
                      <a:pPr algn="r" rtl="1" fontAlgn="b"/>
                      <a:r>
                        <a:rPr lang="ar-EG" sz="1400" b="0" kern="1200" dirty="0">
                          <a:solidFill>
                            <a:schemeClr val="tx1"/>
                          </a:solidFill>
                          <a:effectLst/>
                          <a:latin typeface="+mn-lt"/>
                          <a:ea typeface="+mn-ea"/>
                          <a:cs typeface="+mn-cs"/>
                        </a:rPr>
                        <a:t>اختيارية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2865668744"/>
                  </a:ext>
                </a:extLst>
              </a:tr>
              <a:tr h="302867">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التحسينات المرغوبة</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التحسينات المقترحة لأداء التطبيق</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p>
                  </a:txBody>
                  <a:tcPr anchor="b"/>
                </a:tc>
                <a:tc>
                  <a:txBody>
                    <a:bodyPr/>
                    <a:lstStyle/>
                    <a:p>
                      <a:pPr algn="r" rtl="1" fontAlgn="b"/>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624960452"/>
                  </a:ext>
                </a:extLst>
              </a:tr>
              <a:tr h="302867">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اسم التقنية المستخدمة</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تحديد التقنية البرمجية التي يستخدمها التطبيق في عمله</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مثل .</a:t>
                      </a:r>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NET, Java, Python</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p>
                  </a:txBody>
                  <a:tcPr anchor="b"/>
                </a:tc>
                <a:tc>
                  <a:txBody>
                    <a:bodyPr/>
                    <a:lstStyle/>
                    <a:p>
                      <a:pPr algn="r" rtl="1" fontAlgn="b"/>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anchor="b"/>
                </a:tc>
                <a:extLst>
                  <a:ext uri="{0D108BD9-81ED-4DB2-BD59-A6C34878D82A}">
                    <a16:rowId xmlns:a16="http://schemas.microsoft.com/office/drawing/2014/main" val="3101988052"/>
                  </a:ext>
                </a:extLst>
              </a:tr>
              <a:tr h="302867">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إتاحة الشفرة المصدرية؟</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هل الشفرة المصدرية للتطبيق متاحة للوصول والاستخدام أو مغلقة المصدر</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سابقاً</a:t>
                      </a:r>
                    </a:p>
                  </a:txBody>
                  <a:tcPr anchor="b"/>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a:t>
                      </a:r>
                    </a:p>
                  </a:txBody>
                  <a:tcPr anchor="b"/>
                </a:tc>
                <a:extLst>
                  <a:ext uri="{0D108BD9-81ED-4DB2-BD59-A6C34878D82A}">
                    <a16:rowId xmlns:a16="http://schemas.microsoft.com/office/drawing/2014/main" val="2940355410"/>
                  </a:ext>
                </a:extLst>
              </a:tr>
            </a:tbl>
          </a:graphicData>
        </a:graphic>
      </p:graphicFrame>
    </p:spTree>
    <p:extLst>
      <p:ext uri="{BB962C8B-B14F-4D97-AF65-F5344CB8AC3E}">
        <p14:creationId xmlns:p14="http://schemas.microsoft.com/office/powerpoint/2010/main" val="62306330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87</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التطبيقات"</a:t>
            </a:r>
            <a:r>
              <a:rPr lang="ar-EG" sz="2800" dirty="0"/>
              <a:t> -</a:t>
            </a:r>
            <a:r>
              <a:rPr lang="ar-EG" dirty="0"/>
              <a:t> </a:t>
            </a:r>
            <a:r>
              <a:rPr lang="en-US" dirty="0"/>
              <a:t>تفصيل سمات </a:t>
            </a:r>
            <a:r>
              <a:rPr lang="ar-SA" dirty="0"/>
              <a:t>وحدة </a:t>
            </a:r>
            <a:r>
              <a:rPr lang="ar-EG" dirty="0"/>
              <a:t>ال</a:t>
            </a:r>
            <a:r>
              <a:rPr lang="ar-SA" dirty="0"/>
              <a:t>بناء "تكامل </a:t>
            </a:r>
            <a:r>
              <a:rPr lang="ar-EG" dirty="0"/>
              <a:t>ال</a:t>
            </a:r>
            <a:r>
              <a:rPr lang="ar-SA" dirty="0"/>
              <a:t>تطبيق" (1/2)</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2905121575"/>
              </p:ext>
            </p:extLst>
          </p:nvPr>
        </p:nvGraphicFramePr>
        <p:xfrm>
          <a:off x="653844" y="1601355"/>
          <a:ext cx="10820399" cy="3688758"/>
        </p:xfrm>
        <a:graphic>
          <a:graphicData uri="http://schemas.openxmlformats.org/drawingml/2006/table">
            <a:tbl>
              <a:tblPr rtl="1" firstRow="1" bandRow="1">
                <a:tableStyleId>{5C22544A-7EE6-4342-B048-85BDC9FD1C3A}</a:tableStyleId>
              </a:tblPr>
              <a:tblGrid>
                <a:gridCol w="2123767">
                  <a:extLst>
                    <a:ext uri="{9D8B030D-6E8A-4147-A177-3AD203B41FA5}">
                      <a16:colId xmlns:a16="http://schemas.microsoft.com/office/drawing/2014/main" val="2853404558"/>
                    </a:ext>
                  </a:extLst>
                </a:gridCol>
                <a:gridCol w="5338916">
                  <a:extLst>
                    <a:ext uri="{9D8B030D-6E8A-4147-A177-3AD203B41FA5}">
                      <a16:colId xmlns:a16="http://schemas.microsoft.com/office/drawing/2014/main" val="1866450976"/>
                    </a:ext>
                  </a:extLst>
                </a:gridCol>
                <a:gridCol w="1651819">
                  <a:extLst>
                    <a:ext uri="{9D8B030D-6E8A-4147-A177-3AD203B41FA5}">
                      <a16:colId xmlns:a16="http://schemas.microsoft.com/office/drawing/2014/main" val="751160629"/>
                    </a:ext>
                  </a:extLst>
                </a:gridCol>
                <a:gridCol w="1705897">
                  <a:extLst>
                    <a:ext uri="{9D8B030D-6E8A-4147-A177-3AD203B41FA5}">
                      <a16:colId xmlns:a16="http://schemas.microsoft.com/office/drawing/2014/main" val="3450526316"/>
                    </a:ext>
                  </a:extLst>
                </a:gridCol>
              </a:tblGrid>
              <a:tr h="396918">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45720" marR="45720" marT="18288" marB="18288" anchor="b"/>
                </a:tc>
                <a:extLst>
                  <a:ext uri="{0D108BD9-81ED-4DB2-BD59-A6C34878D82A}">
                    <a16:rowId xmlns:a16="http://schemas.microsoft.com/office/drawing/2014/main" val="2998368315"/>
                  </a:ext>
                </a:extLst>
              </a:tr>
              <a:tr h="0">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الرمز الفريد الذي يحدد التكامل بين التطبيقات</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أحرف و/أو أرقام</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2177790647"/>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اسم التكامل بين التطبيقات</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596692347"/>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الوصف</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وصف عام للتكامل والغرض منه</a:t>
                      </a:r>
                    </a:p>
                  </a:txBody>
                  <a:tcPr marL="137160" marR="137160" marT="137160" marB="137160" anchor="b"/>
                </a:tc>
                <a:tc>
                  <a:txBody>
                    <a:bodyPr/>
                    <a:lstStyle/>
                    <a:p>
                      <a:pPr algn="r" rtl="1" fontAlgn="b"/>
                      <a:r>
                        <a:rPr lang="ar-SA" sz="1600" b="0" i="0" u="none" strike="noStrike">
                          <a:solidFill>
                            <a:srgbClr val="000000"/>
                          </a:solidFill>
                          <a:effectLst/>
                          <a:latin typeface="Calibri" panose="020F0502020204030204" pitchFamily="34" charset="0"/>
                        </a:rPr>
                        <a:t>نص</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2757802296"/>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المصدر</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تحديد اسم التطبيق الذي يزود البيانات لهذا التطبيق</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1132300956"/>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اسم التكامل</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اسم التكامل المستخدم بين التطبيقين (المصدر والوجهة)</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2419060703"/>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وصف التكامل</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وصف كيفية عمل التكامل بين التطبيقين</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2865668744"/>
                  </a:ext>
                </a:extLst>
              </a:tr>
            </a:tbl>
          </a:graphicData>
        </a:graphic>
      </p:graphicFrame>
    </p:spTree>
    <p:extLst>
      <p:ext uri="{BB962C8B-B14F-4D97-AF65-F5344CB8AC3E}">
        <p14:creationId xmlns:p14="http://schemas.microsoft.com/office/powerpoint/2010/main" val="50664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88</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التطبيقات"</a:t>
            </a:r>
            <a:r>
              <a:rPr lang="ar-EG" sz="2800" dirty="0"/>
              <a:t> -</a:t>
            </a:r>
            <a:r>
              <a:rPr lang="ar-EG" dirty="0"/>
              <a:t> </a:t>
            </a:r>
            <a:r>
              <a:rPr lang="en-US" dirty="0"/>
              <a:t>تفصيل سمات </a:t>
            </a:r>
            <a:r>
              <a:rPr lang="ar-SA" dirty="0"/>
              <a:t>وحدة </a:t>
            </a:r>
            <a:r>
              <a:rPr lang="ar-EG" dirty="0"/>
              <a:t>ال</a:t>
            </a:r>
            <a:r>
              <a:rPr lang="ar-SA" dirty="0"/>
              <a:t>بناء "تكامل </a:t>
            </a:r>
            <a:r>
              <a:rPr lang="ar-EG" dirty="0"/>
              <a:t>ال</a:t>
            </a:r>
            <a:r>
              <a:rPr lang="ar-SA" dirty="0"/>
              <a:t>تطبيق" (2/2)</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2479993316"/>
              </p:ext>
            </p:extLst>
          </p:nvPr>
        </p:nvGraphicFramePr>
        <p:xfrm>
          <a:off x="609600" y="1301123"/>
          <a:ext cx="10820399" cy="3475398"/>
        </p:xfrm>
        <a:graphic>
          <a:graphicData uri="http://schemas.openxmlformats.org/drawingml/2006/table">
            <a:tbl>
              <a:tblPr rtl="1" firstRow="1" bandRow="1">
                <a:tableStyleId>{5C22544A-7EE6-4342-B048-85BDC9FD1C3A}</a:tableStyleId>
              </a:tblPr>
              <a:tblGrid>
                <a:gridCol w="2123767">
                  <a:extLst>
                    <a:ext uri="{9D8B030D-6E8A-4147-A177-3AD203B41FA5}">
                      <a16:colId xmlns:a16="http://schemas.microsoft.com/office/drawing/2014/main" val="2853404558"/>
                    </a:ext>
                  </a:extLst>
                </a:gridCol>
                <a:gridCol w="5338916">
                  <a:extLst>
                    <a:ext uri="{9D8B030D-6E8A-4147-A177-3AD203B41FA5}">
                      <a16:colId xmlns:a16="http://schemas.microsoft.com/office/drawing/2014/main" val="1866450976"/>
                    </a:ext>
                  </a:extLst>
                </a:gridCol>
                <a:gridCol w="1651819">
                  <a:extLst>
                    <a:ext uri="{9D8B030D-6E8A-4147-A177-3AD203B41FA5}">
                      <a16:colId xmlns:a16="http://schemas.microsoft.com/office/drawing/2014/main" val="751160629"/>
                    </a:ext>
                  </a:extLst>
                </a:gridCol>
                <a:gridCol w="1705897">
                  <a:extLst>
                    <a:ext uri="{9D8B030D-6E8A-4147-A177-3AD203B41FA5}">
                      <a16:colId xmlns:a16="http://schemas.microsoft.com/office/drawing/2014/main" val="3450526316"/>
                    </a:ext>
                  </a:extLst>
                </a:gridCol>
              </a:tblGrid>
              <a:tr h="396918">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b="1" u="none" strike="noStrike" kern="1200" dirty="0">
                          <a:solidFill>
                            <a:schemeClr val="lt1"/>
                          </a:solidFill>
                          <a:effectLst/>
                          <a:latin typeface="+mn-lt"/>
                          <a:ea typeface="+mn-ea"/>
                          <a:cs typeface="+mn-cs"/>
                        </a:rPr>
                        <a:t>إلزامية التوثيق</a:t>
                      </a:r>
                    </a:p>
                  </a:txBody>
                  <a:tcPr marL="45720" marR="45720" marT="18288" marB="18288" anchor="b"/>
                </a:tc>
                <a:extLst>
                  <a:ext uri="{0D108BD9-81ED-4DB2-BD59-A6C34878D82A}">
                    <a16:rowId xmlns:a16="http://schemas.microsoft.com/office/drawing/2014/main" val="2998368315"/>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الوجهة</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تحديد اسم التطبيق الذي يقرأ البيانات من هذا التطبيق</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624960452"/>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آلية التكامل</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تحديد آلية التكامل مثل (واجهة تطبيق البرمجيات، خدمة ويب، رابط مباشر مع قاعدة البيانات)</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قائمة معرفة سابقاً</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796647602"/>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اتجاه التكامل</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توضيح اتجاه انتقال البيانات داخل/خراج/اتجاهين</a:t>
                      </a:r>
                      <a:br>
                        <a:rPr lang="en-US" sz="1600" dirty="0"/>
                      </a:br>
                      <a:endParaRPr lang="ar-SA" sz="1600" b="0" i="0" u="none" strike="noStrike" dirty="0">
                        <a:solidFill>
                          <a:srgbClr val="000000"/>
                        </a:solidFill>
                        <a:effectLst/>
                        <a:latin typeface="Calibri" panose="020F0502020204030204" pitchFamily="34" charset="0"/>
                      </a:endParaRPr>
                    </a:p>
                  </a:txBody>
                  <a:tcPr marL="137160" marR="137160" marT="137160" marB="137160" anchor="b"/>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b="0" i="0" u="none" strike="noStrike" dirty="0">
                          <a:solidFill>
                            <a:srgbClr val="000000"/>
                          </a:solidFill>
                          <a:effectLst/>
                          <a:latin typeface="Calibri" panose="020F0502020204030204" pitchFamily="34" charset="0"/>
                        </a:rPr>
                        <a:t>قائمة معرفة سابقاً</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3285581182"/>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تكرار التكامل</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يحدد دورية التكامل بناء على طبيعة التطبيق والحساسية للتغيرات بالبيانات وفقا لدورة العمل وله طرقا عدة مثل أن يكون مجدول (</a:t>
                      </a:r>
                      <a:r>
                        <a:rPr lang="en-US" sz="1600" dirty="0"/>
                        <a:t>Scheduled</a:t>
                      </a:r>
                      <a:r>
                        <a:rPr lang="ar-SA" sz="1600" b="0" i="0" u="none" strike="noStrike" dirty="0">
                          <a:solidFill>
                            <a:srgbClr val="000000"/>
                          </a:solidFill>
                          <a:effectLst/>
                          <a:latin typeface="Calibri" panose="020F0502020204030204" pitchFamily="34" charset="0"/>
                        </a:rPr>
                        <a:t>)، أو في صورة</a:t>
                      </a:r>
                      <a:r>
                        <a:rPr lang="en-US" sz="1600" b="0" i="0" u="none" strike="noStrike" dirty="0">
                          <a:solidFill>
                            <a:srgbClr val="000000"/>
                          </a:solidFill>
                          <a:effectLst/>
                          <a:latin typeface="Calibri" panose="020F0502020204030204" pitchFamily="34" charset="0"/>
                        </a:rPr>
                        <a:t> </a:t>
                      </a:r>
                      <a:r>
                        <a:rPr lang="ar-SA" sz="1600" b="0" i="0" u="none" strike="noStrike" dirty="0">
                          <a:solidFill>
                            <a:srgbClr val="000000"/>
                          </a:solidFill>
                          <a:effectLst/>
                          <a:latin typeface="Calibri" panose="020F0502020204030204" pitchFamily="34" charset="0"/>
                        </a:rPr>
                        <a:t> حزمات (</a:t>
                      </a:r>
                      <a:r>
                        <a:rPr lang="en-US" sz="1600" dirty="0"/>
                        <a:t>Batch </a:t>
                      </a:r>
                      <a:r>
                        <a:rPr lang="ar-SA" sz="1600" b="0" i="0" u="none" strike="noStrike" dirty="0">
                          <a:solidFill>
                            <a:srgbClr val="000000"/>
                          </a:solidFill>
                          <a:effectLst/>
                          <a:latin typeface="Calibri" panose="020F0502020204030204" pitchFamily="34" charset="0"/>
                        </a:rPr>
                        <a:t>)، أو يكون بناء على أحداث (</a:t>
                      </a:r>
                      <a:r>
                        <a:rPr lang="en-US" sz="1600" dirty="0"/>
                        <a:t>Event-driven</a:t>
                      </a:r>
                      <a:r>
                        <a:rPr lang="ar-SA" sz="1600" b="0" i="0" u="none" strike="noStrike" dirty="0">
                          <a:solidFill>
                            <a:srgbClr val="000000"/>
                          </a:solidFill>
                          <a:effectLst/>
                          <a:latin typeface="Calibri" panose="020F0502020204030204" pitchFamily="34" charset="0"/>
                        </a:rPr>
                        <a:t>)، أو يكون في الوقت الحقيقي (</a:t>
                      </a:r>
                      <a:r>
                        <a:rPr lang="en-US" sz="1600" dirty="0"/>
                        <a:t>Real-time</a:t>
                      </a:r>
                      <a:r>
                        <a:rPr lang="ar-SA" sz="1600" b="0" i="0" u="none" strike="noStrike" dirty="0">
                          <a:solidFill>
                            <a:srgbClr val="000000"/>
                          </a:solidFill>
                          <a:effectLst/>
                          <a:latin typeface="Calibri" panose="020F0502020204030204" pitchFamily="34" charset="0"/>
                        </a:rPr>
                        <a:t>).</a:t>
                      </a:r>
                    </a:p>
                  </a:txBody>
                  <a:tcPr marL="137160" marR="137160" marT="137160" marB="137160" anchor="b"/>
                </a:tc>
                <a:tc>
                  <a:txBody>
                    <a:bodyPr/>
                    <a:lstStyle/>
                    <a:p>
                      <a:pPr algn="r" rtl="1" fontAlgn="b"/>
                      <a:endParaRPr lang="ar-SA" sz="1600" b="0" i="0" u="none" strike="noStrike" dirty="0">
                        <a:solidFill>
                          <a:srgbClr val="000000"/>
                        </a:solidFill>
                        <a:effectLst/>
                        <a:latin typeface="Calibri" panose="020F0502020204030204" pitchFamily="34" charset="0"/>
                      </a:endParaRP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اختياري عندما يكون </a:t>
                      </a:r>
                      <a:r>
                        <a:rPr lang="en-US" sz="1600" b="0" i="0" u="none" strike="noStrike" dirty="0">
                          <a:solidFill>
                            <a:srgbClr val="000000"/>
                          </a:solidFill>
                          <a:effectLst/>
                          <a:latin typeface="Calibri" panose="020F0502020204030204" pitchFamily="34" charset="0"/>
                        </a:rPr>
                        <a:t>Real-time </a:t>
                      </a:r>
                      <a:r>
                        <a:rPr lang="ar-SA" sz="1600" b="0" i="0" u="none" strike="noStrike" dirty="0">
                          <a:solidFill>
                            <a:srgbClr val="000000"/>
                          </a:solidFill>
                          <a:effectLst/>
                          <a:latin typeface="Calibri" panose="020F0502020204030204" pitchFamily="34" charset="0"/>
                        </a:rPr>
                        <a:t>أو </a:t>
                      </a:r>
                      <a:r>
                        <a:rPr lang="en-US" sz="1600" b="0" i="0" u="none" strike="noStrike" dirty="0">
                          <a:solidFill>
                            <a:srgbClr val="000000"/>
                          </a:solidFill>
                          <a:effectLst/>
                          <a:latin typeface="Calibri" panose="020F0502020204030204" pitchFamily="34" charset="0"/>
                        </a:rPr>
                        <a:t>Event Based</a:t>
                      </a:r>
                      <a:endParaRPr lang="ar-SA" sz="1600" b="0" i="0" u="none" strike="noStrike" dirty="0">
                        <a:solidFill>
                          <a:srgbClr val="000000"/>
                        </a:solidFill>
                        <a:effectLst/>
                        <a:latin typeface="Calibri" panose="020F0502020204030204" pitchFamily="34" charset="0"/>
                      </a:endParaRPr>
                    </a:p>
                  </a:txBody>
                  <a:tcPr marL="137160" marR="137160" marT="137160" marB="137160" anchor="b"/>
                </a:tc>
                <a:extLst>
                  <a:ext uri="{0D108BD9-81ED-4DB2-BD59-A6C34878D82A}">
                    <a16:rowId xmlns:a16="http://schemas.microsoft.com/office/drawing/2014/main" val="1871860525"/>
                  </a:ext>
                </a:extLst>
              </a:tr>
            </a:tbl>
          </a:graphicData>
        </a:graphic>
      </p:graphicFrame>
    </p:spTree>
    <p:extLst>
      <p:ext uri="{BB962C8B-B14F-4D97-AF65-F5344CB8AC3E}">
        <p14:creationId xmlns:p14="http://schemas.microsoft.com/office/powerpoint/2010/main" val="61853617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89</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التطبيقات"</a:t>
            </a:r>
            <a:r>
              <a:rPr lang="ar-EG" sz="2800" dirty="0"/>
              <a:t> -</a:t>
            </a:r>
            <a:r>
              <a:rPr lang="ar-EG" dirty="0"/>
              <a:t> </a:t>
            </a:r>
            <a:r>
              <a:rPr lang="en-US" dirty="0"/>
              <a:t>تفصيل سمات </a:t>
            </a:r>
            <a:r>
              <a:rPr lang="ar-SA" dirty="0"/>
              <a:t>وحدة </a:t>
            </a:r>
            <a:r>
              <a:rPr lang="ar-EG" dirty="0"/>
              <a:t>ال</a:t>
            </a:r>
            <a:r>
              <a:rPr lang="ar-SA" dirty="0"/>
              <a:t>بناء "وظيفة التطبيق"</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889147377"/>
              </p:ext>
            </p:extLst>
          </p:nvPr>
        </p:nvGraphicFramePr>
        <p:xfrm>
          <a:off x="822689" y="1203148"/>
          <a:ext cx="10546621" cy="3428153"/>
        </p:xfrm>
        <a:graphic>
          <a:graphicData uri="http://schemas.openxmlformats.org/drawingml/2006/table">
            <a:tbl>
              <a:tblPr rtl="1" firstRow="1" bandRow="1">
                <a:tableStyleId>{5C22544A-7EE6-4342-B048-85BDC9FD1C3A}</a:tableStyleId>
              </a:tblPr>
              <a:tblGrid>
                <a:gridCol w="2112022">
                  <a:extLst>
                    <a:ext uri="{9D8B030D-6E8A-4147-A177-3AD203B41FA5}">
                      <a16:colId xmlns:a16="http://schemas.microsoft.com/office/drawing/2014/main" val="2853404558"/>
                    </a:ext>
                  </a:extLst>
                </a:gridCol>
                <a:gridCol w="5273117">
                  <a:extLst>
                    <a:ext uri="{9D8B030D-6E8A-4147-A177-3AD203B41FA5}">
                      <a16:colId xmlns:a16="http://schemas.microsoft.com/office/drawing/2014/main" val="1866450976"/>
                    </a:ext>
                  </a:extLst>
                </a:gridCol>
                <a:gridCol w="1580741">
                  <a:extLst>
                    <a:ext uri="{9D8B030D-6E8A-4147-A177-3AD203B41FA5}">
                      <a16:colId xmlns:a16="http://schemas.microsoft.com/office/drawing/2014/main" val="751160629"/>
                    </a:ext>
                  </a:extLst>
                </a:gridCol>
                <a:gridCol w="1580741">
                  <a:extLst>
                    <a:ext uri="{9D8B030D-6E8A-4147-A177-3AD203B41FA5}">
                      <a16:colId xmlns:a16="http://schemas.microsoft.com/office/drawing/2014/main" val="1484819853"/>
                    </a:ext>
                  </a:extLst>
                </a:gridCol>
              </a:tblGrid>
              <a:tr h="471593">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السمة</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وصف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u="none" strike="noStrike" baseline="0" dirty="0">
                          <a:effectLst/>
                          <a:latin typeface="Sakkal Majalla" panose="02000000000000000000" pitchFamily="2" charset="-78"/>
                          <a:cs typeface="Sakkal Majalla" panose="02000000000000000000" pitchFamily="2" charset="-78"/>
                        </a:rPr>
                        <a:t>نوع السمة</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1" fontAlgn="b"/>
                      <a:r>
                        <a:rPr lang="ar-SA" sz="2000" b="1" u="none" strike="noStrike" kern="1200" baseline="0" dirty="0">
                          <a:solidFill>
                            <a:schemeClr val="lt1"/>
                          </a:solidFill>
                          <a:effectLst/>
                          <a:latin typeface="Sakkal Majalla" panose="02000000000000000000" pitchFamily="2" charset="-78"/>
                          <a:ea typeface="+mn-ea"/>
                          <a:cs typeface="Sakkal Majalla" panose="02000000000000000000" pitchFamily="2" charset="-78"/>
                        </a:rPr>
                        <a:t>إلزامية التوثيق</a:t>
                      </a:r>
                    </a:p>
                  </a:txBody>
                  <a:tcPr marL="45720" marR="45720" marT="18288" marB="18288" anchor="b"/>
                </a:tc>
                <a:extLst>
                  <a:ext uri="{0D108BD9-81ED-4DB2-BD59-A6C34878D82A}">
                    <a16:rowId xmlns:a16="http://schemas.microsoft.com/office/drawing/2014/main" val="2998368315"/>
                  </a:ext>
                </a:extLst>
              </a:tr>
              <a:tr h="434573">
                <a:tc>
                  <a:txBody>
                    <a:bodyPr/>
                    <a:lstStyle/>
                    <a:p>
                      <a:pPr algn="ctr" rtl="1" fontAlgn="b"/>
                      <a:r>
                        <a:rPr lang="ar-SA" sz="1800" b="1" u="none" strike="noStrike" kern="1200" dirty="0">
                          <a:solidFill>
                            <a:schemeClr val="dk1"/>
                          </a:solidFill>
                          <a:effectLst/>
                          <a:latin typeface="+mn-lt"/>
                          <a:ea typeface="+mn-ea"/>
                          <a:cs typeface="+mn-cs"/>
                        </a:rPr>
                        <a:t>الرمز</a:t>
                      </a:r>
                      <a:endParaRPr lang="ar-SA" sz="18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الرمز </a:t>
                      </a:r>
                      <a:r>
                        <a:rPr lang="ar-EG" sz="1600" b="0" i="0" u="none" strike="noStrike" dirty="0">
                          <a:solidFill>
                            <a:srgbClr val="000000"/>
                          </a:solidFill>
                          <a:effectLst/>
                          <a:latin typeface="Calibri" panose="020F0502020204030204" pitchFamily="34" charset="0"/>
                        </a:rPr>
                        <a:t>الفريد</a:t>
                      </a:r>
                      <a:r>
                        <a:rPr lang="ar-SA" sz="1600" b="0" i="0" u="none" strike="noStrike" dirty="0">
                          <a:solidFill>
                            <a:srgbClr val="000000"/>
                          </a:solidFill>
                          <a:effectLst/>
                          <a:latin typeface="Calibri" panose="020F0502020204030204" pitchFamily="34" charset="0"/>
                        </a:rPr>
                        <a:t> لوظيفة التطبيق</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SA" sz="1600" u="none" strike="noStrike" kern="1200" dirty="0">
                          <a:solidFill>
                            <a:schemeClr val="dk1"/>
                          </a:solidFill>
                          <a:effectLst/>
                          <a:latin typeface="+mn-lt"/>
                          <a:ea typeface="+mn-ea"/>
                          <a:cs typeface="+mn-cs"/>
                        </a:rPr>
                        <a:t>أحرف و/أو أرقام</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marL="0" marR="0" lvl="0" indent="0" algn="r" defTabSz="914400" rtl="1" eaLnBrk="1" fontAlgn="b" latinLnBrk="0" hangingPunct="1">
                        <a:lnSpc>
                          <a:spcPct val="100000"/>
                        </a:lnSpc>
                        <a:spcBef>
                          <a:spcPts val="0"/>
                        </a:spcBef>
                        <a:spcAft>
                          <a:spcPts val="0"/>
                        </a:spcAft>
                        <a:buClrTx/>
                        <a:buSzTx/>
                        <a:buFontTx/>
                        <a:buNone/>
                        <a:tabLst/>
                        <a:defRPr/>
                      </a:pPr>
                      <a:r>
                        <a:rPr lang="ar-EG" sz="1400" b="0" kern="1200" dirty="0">
                          <a:solidFill>
                            <a:schemeClr val="tx1"/>
                          </a:solidFill>
                          <a:effectLst/>
                          <a:latin typeface="+mn-lt"/>
                          <a:ea typeface="+mn-ea"/>
                          <a:cs typeface="+mn-cs"/>
                        </a:rPr>
                        <a:t>اختيارية</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2598872137"/>
                  </a:ext>
                </a:extLst>
              </a:tr>
              <a:tr h="434573">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الاسم</a:t>
                      </a:r>
                    </a:p>
                  </a:txBody>
                  <a:tcPr marL="137160" marR="137160" marT="137160" marB="137160"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الاسم المتعارف عليه لوظيفة التطبيق</a:t>
                      </a:r>
                    </a:p>
                  </a:txBody>
                  <a:tcPr marL="137160" marR="137160" marT="137160" marB="137160"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p>
                  </a:txBody>
                  <a:tcPr marL="137160" marR="137160" marT="137160" marB="137160" anchor="ctr"/>
                </a:tc>
                <a:tc>
                  <a:txBody>
                    <a:bodyPr/>
                    <a:lstStyle/>
                    <a:p>
                      <a:pPr algn="r" rtl="1" fontAlgn="b"/>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2177790647"/>
                  </a:ext>
                </a:extLst>
              </a:tr>
              <a:tr h="434573">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الوصف</a:t>
                      </a:r>
                    </a:p>
                  </a:txBody>
                  <a:tcPr marL="137160" marR="137160" marT="137160" marB="137160"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وصف مختصر يشرح ما تقوم به وظيفة التطبيق</a:t>
                      </a:r>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مع تحديد </a:t>
                      </a: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نوع البيانات أو المعلومات التي تستقبلها</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 وتنتجها</a:t>
                      </a:r>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 الوظيفة</a:t>
                      </a:r>
                    </a:p>
                  </a:txBody>
                  <a:tcPr marL="137160" marR="137160" marT="137160" marB="137160"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نص</a:t>
                      </a:r>
                    </a:p>
                  </a:txBody>
                  <a:tcPr marL="137160" marR="137160" marT="137160" marB="137160" anchor="ctr"/>
                </a:tc>
                <a:tc>
                  <a:txBody>
                    <a:bodyPr/>
                    <a:lstStyle/>
                    <a:p>
                      <a:pPr algn="r" rtl="1" fontAlgn="b"/>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2405104843"/>
                  </a:ext>
                </a:extLst>
              </a:tr>
              <a:tr h="434573">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الاعتماديات</a:t>
                      </a:r>
                    </a:p>
                  </a:txBody>
                  <a:tcPr marL="137160" marR="137160" marT="137160" marB="137160"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تحديد المكونات أو الوظائف الأخرى التي تعتمد عليها الوظيفة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علاقة ربط</a:t>
                      </a:r>
                      <a:endParaRPr lang="ar-SA"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137160" marR="137160" marT="137160" marB="137160" anchor="ctr"/>
                </a:tc>
                <a:tc>
                  <a:txBody>
                    <a:bodyPr/>
                    <a:lstStyle/>
                    <a:p>
                      <a:pPr algn="r" rtl="1" fontAlgn="b"/>
                      <a:r>
                        <a:rPr lang="ar-EG" sz="1400" b="0" kern="1200" dirty="0">
                          <a:solidFill>
                            <a:schemeClr val="tx1"/>
                          </a:solidFill>
                          <a:effectLst/>
                          <a:latin typeface="+mn-lt"/>
                          <a:ea typeface="+mn-ea"/>
                          <a:cs typeface="+mn-cs"/>
                        </a:rPr>
                        <a:t>الزامية</a:t>
                      </a:r>
                      <a:endParaRPr lang="ar-SA" sz="1400" b="0" kern="1200" dirty="0">
                        <a:solidFill>
                          <a:schemeClr val="tx1"/>
                        </a:solidFill>
                        <a:effectLst/>
                        <a:latin typeface="+mn-lt"/>
                        <a:ea typeface="+mn-ea"/>
                        <a:cs typeface="+mn-cs"/>
                      </a:endParaRPr>
                    </a:p>
                  </a:txBody>
                  <a:tcPr marL="137160" marR="137160" marT="137160" marB="137160" anchor="ctr"/>
                </a:tc>
                <a:extLst>
                  <a:ext uri="{0D108BD9-81ED-4DB2-BD59-A6C34878D82A}">
                    <a16:rowId xmlns:a16="http://schemas.microsoft.com/office/drawing/2014/main" val="2719192168"/>
                  </a:ext>
                </a:extLst>
              </a:tr>
              <a:tr h="434573">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حالة الوظيفة</a:t>
                      </a:r>
                    </a:p>
                  </a:txBody>
                  <a:tcPr marL="137160" marR="137160" marT="137160" marB="137160"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تحديد الحالة الحالية لوظيفة التطبيق (مثال: نشطة، غير نشطة، تحت الصيانة)</a:t>
                      </a:r>
                    </a:p>
                  </a:txBody>
                  <a:tcPr marL="137160" marR="137160" marT="137160" marB="137160"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قائمة معرفة مسبقًا</a:t>
                      </a:r>
                    </a:p>
                  </a:txBody>
                  <a:tcPr marL="137160" marR="137160" marT="137160" marB="137160"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إلزامية</a:t>
                      </a:r>
                    </a:p>
                  </a:txBody>
                  <a:tcPr marL="137160" marR="137160" marT="137160" marB="137160" anchor="ctr"/>
                </a:tc>
                <a:extLst>
                  <a:ext uri="{0D108BD9-81ED-4DB2-BD59-A6C34878D82A}">
                    <a16:rowId xmlns:a16="http://schemas.microsoft.com/office/drawing/2014/main" val="653200319"/>
                  </a:ext>
                </a:extLst>
              </a:tr>
            </a:tbl>
          </a:graphicData>
        </a:graphic>
      </p:graphicFrame>
    </p:spTree>
    <p:extLst>
      <p:ext uri="{BB962C8B-B14F-4D97-AF65-F5344CB8AC3E}">
        <p14:creationId xmlns:p14="http://schemas.microsoft.com/office/powerpoint/2010/main" val="113038978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97DE3-A31D-8F1B-8D7E-AA3422E25C83}"/>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4C8E1664-8252-7364-9C03-B1EB2BE336F7}"/>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90</a:t>
            </a:fld>
            <a:endParaRPr lang="en-US"/>
          </a:p>
        </p:txBody>
      </p:sp>
      <p:sp>
        <p:nvSpPr>
          <p:cNvPr id="2" name="Title 1">
            <a:extLst>
              <a:ext uri="{FF2B5EF4-FFF2-40B4-BE49-F238E27FC236}">
                <a16:creationId xmlns:a16="http://schemas.microsoft.com/office/drawing/2014/main" id="{9F8D5001-B32B-90F7-E0C1-4881DF26E063}"/>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التطبيقات"</a:t>
            </a:r>
            <a:r>
              <a:rPr lang="ar-EG" sz="2800" dirty="0"/>
              <a:t> -</a:t>
            </a:r>
            <a:r>
              <a:rPr lang="ar-EG" dirty="0"/>
              <a:t> </a:t>
            </a:r>
            <a:r>
              <a:rPr lang="en-US" dirty="0"/>
              <a:t>تفصيل سمات </a:t>
            </a:r>
            <a:r>
              <a:rPr lang="ar-SA" dirty="0"/>
              <a:t>وحدة </a:t>
            </a:r>
            <a:r>
              <a:rPr lang="ar-EG" dirty="0"/>
              <a:t>ال</a:t>
            </a:r>
            <a:r>
              <a:rPr lang="ar-SA" dirty="0"/>
              <a:t>بناء "</a:t>
            </a:r>
            <a:r>
              <a:rPr lang="ar-EG" dirty="0"/>
              <a:t>بيئة</a:t>
            </a:r>
            <a:r>
              <a:rPr lang="ar-SA" dirty="0"/>
              <a:t> </a:t>
            </a:r>
            <a:r>
              <a:rPr lang="ar-EG" dirty="0"/>
              <a:t>ال</a:t>
            </a:r>
            <a:r>
              <a:rPr lang="ar-SA" dirty="0"/>
              <a:t>تطبيق"</a:t>
            </a:r>
            <a:endParaRPr lang="en-US" dirty="0"/>
          </a:p>
        </p:txBody>
      </p:sp>
      <p:graphicFrame>
        <p:nvGraphicFramePr>
          <p:cNvPr id="4" name="Table 3">
            <a:extLst>
              <a:ext uri="{FF2B5EF4-FFF2-40B4-BE49-F238E27FC236}">
                <a16:creationId xmlns:a16="http://schemas.microsoft.com/office/drawing/2014/main" id="{3CB598B7-D111-513D-37F5-21EA3682CA7E}"/>
              </a:ext>
            </a:extLst>
          </p:cNvPr>
          <p:cNvGraphicFramePr>
            <a:graphicFrameLocks noGrp="1"/>
          </p:cNvGraphicFramePr>
          <p:nvPr>
            <p:extLst>
              <p:ext uri="{D42A27DB-BD31-4B8C-83A1-F6EECF244321}">
                <p14:modId xmlns:p14="http://schemas.microsoft.com/office/powerpoint/2010/main" val="2348564710"/>
              </p:ext>
            </p:extLst>
          </p:nvPr>
        </p:nvGraphicFramePr>
        <p:xfrm>
          <a:off x="762001" y="1203149"/>
          <a:ext cx="10667998" cy="3688758"/>
        </p:xfrm>
        <a:graphic>
          <a:graphicData uri="http://schemas.openxmlformats.org/drawingml/2006/table">
            <a:tbl>
              <a:tblPr rtl="1" firstRow="1" bandRow="1">
                <a:tableStyleId>{5C22544A-7EE6-4342-B048-85BDC9FD1C3A}</a:tableStyleId>
              </a:tblPr>
              <a:tblGrid>
                <a:gridCol w="2857670">
                  <a:extLst>
                    <a:ext uri="{9D8B030D-6E8A-4147-A177-3AD203B41FA5}">
                      <a16:colId xmlns:a16="http://schemas.microsoft.com/office/drawing/2014/main" val="2853404558"/>
                    </a:ext>
                  </a:extLst>
                </a:gridCol>
                <a:gridCol w="4555500">
                  <a:extLst>
                    <a:ext uri="{9D8B030D-6E8A-4147-A177-3AD203B41FA5}">
                      <a16:colId xmlns:a16="http://schemas.microsoft.com/office/drawing/2014/main" val="1866450976"/>
                    </a:ext>
                  </a:extLst>
                </a:gridCol>
                <a:gridCol w="1627414">
                  <a:extLst>
                    <a:ext uri="{9D8B030D-6E8A-4147-A177-3AD203B41FA5}">
                      <a16:colId xmlns:a16="http://schemas.microsoft.com/office/drawing/2014/main" val="751160629"/>
                    </a:ext>
                  </a:extLst>
                </a:gridCol>
                <a:gridCol w="1627414">
                  <a:extLst>
                    <a:ext uri="{9D8B030D-6E8A-4147-A177-3AD203B41FA5}">
                      <a16:colId xmlns:a16="http://schemas.microsoft.com/office/drawing/2014/main" val="2256219389"/>
                    </a:ext>
                  </a:extLst>
                </a:gridCol>
              </a:tblGrid>
              <a:tr h="396918">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marL="0" algn="ctr" defTabSz="914400" rtl="1" eaLnBrk="1" fontAlgn="b" latinLnBrk="0" hangingPunct="1">
                        <a:lnSpc>
                          <a:spcPct val="115000"/>
                        </a:lnSpc>
                        <a:spcAft>
                          <a:spcPts val="0"/>
                        </a:spcAft>
                      </a:pPr>
                      <a:r>
                        <a:rPr lang="ar-EG" sz="2000" b="1" u="none" strike="noStrike" kern="1200" dirty="0">
                          <a:solidFill>
                            <a:schemeClr val="lt1"/>
                          </a:solidFill>
                          <a:effectLst/>
                          <a:latin typeface="+mn-lt"/>
                          <a:ea typeface="+mn-ea"/>
                          <a:cs typeface="+mn-cs"/>
                        </a:rPr>
                        <a:t>الزامية التوثيق</a:t>
                      </a:r>
                      <a:endParaRPr lang="ar-SA" sz="2000" b="1" u="none" strike="noStrike" kern="1200" dirty="0">
                        <a:solidFill>
                          <a:schemeClr val="lt1"/>
                        </a:solidFill>
                        <a:effectLst/>
                        <a:latin typeface="+mn-lt"/>
                        <a:ea typeface="+mn-ea"/>
                        <a:cs typeface="+mn-cs"/>
                      </a:endParaRPr>
                    </a:p>
                  </a:txBody>
                  <a:tcPr marL="45720" marR="45720" marT="18288" marB="18288" anchor="b"/>
                </a:tc>
                <a:extLst>
                  <a:ext uri="{0D108BD9-81ED-4DB2-BD59-A6C34878D82A}">
                    <a16:rowId xmlns:a16="http://schemas.microsoft.com/office/drawing/2014/main" val="2998368315"/>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الرمز</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الرمز الفريد الذي يميز بيئة التطبيق</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أحرف و/أو أرقام</a:t>
                      </a:r>
                    </a:p>
                  </a:txBody>
                  <a:tcPr marL="137160" marR="137160" marT="137160" marB="137160" anchor="b"/>
                </a:tc>
                <a:tc>
                  <a:txBody>
                    <a:bodyPr/>
                    <a:lstStyle/>
                    <a:p>
                      <a:pPr algn="r" rtl="1" fontAlgn="b"/>
                      <a:r>
                        <a:rPr lang="ar-SA" sz="1400" b="0" kern="1200" dirty="0">
                          <a:solidFill>
                            <a:schemeClr val="tx1"/>
                          </a:solidFill>
                          <a:effectLst/>
                          <a:latin typeface="+mn-lt"/>
                          <a:ea typeface="+mn-ea"/>
                          <a:cs typeface="+mn-cs"/>
                        </a:rPr>
                        <a:t>إلزامي</a:t>
                      </a:r>
                    </a:p>
                  </a:txBody>
                  <a:tcPr marL="137160" marR="137160" marT="137160" marB="137160" anchor="b"/>
                </a:tc>
                <a:extLst>
                  <a:ext uri="{0D108BD9-81ED-4DB2-BD59-A6C34878D82A}">
                    <a16:rowId xmlns:a16="http://schemas.microsoft.com/office/drawing/2014/main" val="2177790647"/>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الاسم</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اسم البيئة الخاصة بالتطبيق</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algn="r" rtl="1" fontAlgn="b"/>
                      <a:r>
                        <a:rPr lang="ar-SA" sz="1400" b="0" kern="1200" dirty="0">
                          <a:solidFill>
                            <a:schemeClr val="tx1"/>
                          </a:solidFill>
                          <a:effectLst/>
                          <a:latin typeface="+mn-lt"/>
                          <a:ea typeface="+mn-ea"/>
                          <a:cs typeface="+mn-cs"/>
                        </a:rPr>
                        <a:t>إلزامي</a:t>
                      </a:r>
                    </a:p>
                  </a:txBody>
                  <a:tcPr marL="137160" marR="137160" marT="137160" marB="137160" anchor="b"/>
                </a:tc>
                <a:extLst>
                  <a:ext uri="{0D108BD9-81ED-4DB2-BD59-A6C34878D82A}">
                    <a16:rowId xmlns:a16="http://schemas.microsoft.com/office/drawing/2014/main" val="1132300956"/>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الوصف</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وصف لبيئة التطبيق ودورها في العملية (مثل التطوير، الاختبار، الإنتاج)</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اختياري</a:t>
                      </a:r>
                    </a:p>
                  </a:txBody>
                  <a:tcPr marL="137160" marR="137160" marT="137160" marB="137160" anchor="b"/>
                </a:tc>
                <a:extLst>
                  <a:ext uri="{0D108BD9-81ED-4DB2-BD59-A6C34878D82A}">
                    <a16:rowId xmlns:a16="http://schemas.microsoft.com/office/drawing/2014/main" val="2419060703"/>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نوع البيئة</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تحديد نوع البيئة المستضيفة للتطبيق مثل (تطوير، اختبار، إنتاج)</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قائمة معرفة سابقًا</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2865668744"/>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الرابط</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يمثل عنوان موقع المتصفح للوصول إلى بيئة التطبيق</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اختياري</a:t>
                      </a:r>
                    </a:p>
                  </a:txBody>
                  <a:tcPr marL="137160" marR="137160" marT="137160" marB="137160" anchor="b"/>
                </a:tc>
                <a:extLst>
                  <a:ext uri="{0D108BD9-81ED-4DB2-BD59-A6C34878D82A}">
                    <a16:rowId xmlns:a16="http://schemas.microsoft.com/office/drawing/2014/main" val="624960452"/>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الاستضافة</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تحديد نوع الاستضافة المستخدمة مثل (محلي، سحابي، هجين)</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قائمة معرفة سابقًا</a:t>
                      </a:r>
                    </a:p>
                  </a:txBody>
                  <a:tcPr marL="137160" marR="137160" marT="137160" marB="137160" anchor="b"/>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b"/>
                </a:tc>
                <a:extLst>
                  <a:ext uri="{0D108BD9-81ED-4DB2-BD59-A6C34878D82A}">
                    <a16:rowId xmlns:a16="http://schemas.microsoft.com/office/drawing/2014/main" val="796647602"/>
                  </a:ext>
                </a:extLst>
              </a:tr>
            </a:tbl>
          </a:graphicData>
        </a:graphic>
      </p:graphicFrame>
    </p:spTree>
    <p:extLst>
      <p:ext uri="{BB962C8B-B14F-4D97-AF65-F5344CB8AC3E}">
        <p14:creationId xmlns:p14="http://schemas.microsoft.com/office/powerpoint/2010/main" val="194679775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91</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التطبيقات"</a:t>
            </a:r>
            <a:r>
              <a:rPr lang="ar-EG" sz="2800" dirty="0"/>
              <a:t> -</a:t>
            </a:r>
            <a:r>
              <a:rPr lang="ar-EG" dirty="0"/>
              <a:t> </a:t>
            </a:r>
            <a:r>
              <a:rPr lang="en-US" dirty="0"/>
              <a:t>تفصيل سمات </a:t>
            </a:r>
            <a:r>
              <a:rPr lang="ar-SA" dirty="0"/>
              <a:t>وحدة </a:t>
            </a:r>
            <a:r>
              <a:rPr lang="ar-EG" dirty="0"/>
              <a:t>ال</a:t>
            </a:r>
            <a:r>
              <a:rPr lang="ar-SA" dirty="0"/>
              <a:t>بناء "تقنية </a:t>
            </a:r>
            <a:r>
              <a:rPr lang="ar-EG" dirty="0"/>
              <a:t>ال</a:t>
            </a:r>
            <a:r>
              <a:rPr lang="ar-SA" dirty="0"/>
              <a:t>تطبيق"</a:t>
            </a:r>
            <a:endParaRPr lang="en-US" dirty="0"/>
          </a:p>
        </p:txBody>
      </p:sp>
      <p:graphicFrame>
        <p:nvGraphicFramePr>
          <p:cNvPr id="4" name="Table 3">
            <a:extLst>
              <a:ext uri="{FF2B5EF4-FFF2-40B4-BE49-F238E27FC236}">
                <a16:creationId xmlns:a16="http://schemas.microsoft.com/office/drawing/2014/main" id="{CA4B2B2E-0A00-EEA6-B0DB-4B189B72A462}"/>
              </a:ext>
            </a:extLst>
          </p:cNvPr>
          <p:cNvGraphicFramePr>
            <a:graphicFrameLocks noGrp="1"/>
          </p:cNvGraphicFramePr>
          <p:nvPr>
            <p:extLst>
              <p:ext uri="{D42A27DB-BD31-4B8C-83A1-F6EECF244321}">
                <p14:modId xmlns:p14="http://schemas.microsoft.com/office/powerpoint/2010/main" val="3754626286"/>
              </p:ext>
            </p:extLst>
          </p:nvPr>
        </p:nvGraphicFramePr>
        <p:xfrm>
          <a:off x="762000" y="1203149"/>
          <a:ext cx="10667999" cy="3140118"/>
        </p:xfrm>
        <a:graphic>
          <a:graphicData uri="http://schemas.openxmlformats.org/drawingml/2006/table">
            <a:tbl>
              <a:tblPr rtl="1" firstRow="1" bandRow="1">
                <a:tableStyleId>{5C22544A-7EE6-4342-B048-85BDC9FD1C3A}</a:tableStyleId>
              </a:tblPr>
              <a:tblGrid>
                <a:gridCol w="2857670">
                  <a:extLst>
                    <a:ext uri="{9D8B030D-6E8A-4147-A177-3AD203B41FA5}">
                      <a16:colId xmlns:a16="http://schemas.microsoft.com/office/drawing/2014/main" val="2853404558"/>
                    </a:ext>
                  </a:extLst>
                </a:gridCol>
                <a:gridCol w="4620815">
                  <a:extLst>
                    <a:ext uri="{9D8B030D-6E8A-4147-A177-3AD203B41FA5}">
                      <a16:colId xmlns:a16="http://schemas.microsoft.com/office/drawing/2014/main" val="1866450976"/>
                    </a:ext>
                  </a:extLst>
                </a:gridCol>
                <a:gridCol w="1594757">
                  <a:extLst>
                    <a:ext uri="{9D8B030D-6E8A-4147-A177-3AD203B41FA5}">
                      <a16:colId xmlns:a16="http://schemas.microsoft.com/office/drawing/2014/main" val="751160629"/>
                    </a:ext>
                  </a:extLst>
                </a:gridCol>
                <a:gridCol w="1594757">
                  <a:extLst>
                    <a:ext uri="{9D8B030D-6E8A-4147-A177-3AD203B41FA5}">
                      <a16:colId xmlns:a16="http://schemas.microsoft.com/office/drawing/2014/main" val="3215007084"/>
                    </a:ext>
                  </a:extLst>
                </a:gridCol>
              </a:tblGrid>
              <a:tr h="396918">
                <a:tc>
                  <a:txBody>
                    <a:bodyPr/>
                    <a:lstStyle/>
                    <a:p>
                      <a:pPr algn="ctr" rtl="1" fontAlgn="b"/>
                      <a:r>
                        <a:rPr lang="ar-SA" sz="2000" u="none" strike="noStrike" dirty="0">
                          <a:effectLst/>
                        </a:rPr>
                        <a:t>السمة</a:t>
                      </a:r>
                      <a:endParaRPr lang="ar-SA" sz="2000" b="1" i="0" u="none" strike="noStrike" dirty="0">
                        <a:solidFill>
                          <a:srgbClr val="000000"/>
                        </a:solidFill>
                        <a:effectLst/>
                        <a:latin typeface="Arial" panose="020B0604020202020204" pitchFamily="34" charset="0"/>
                      </a:endParaRPr>
                    </a:p>
                  </a:txBody>
                  <a:tcPr marL="45720" marR="45720" marT="18288" marB="18288" anchor="b"/>
                </a:tc>
                <a:tc>
                  <a:txBody>
                    <a:bodyPr/>
                    <a:lstStyle/>
                    <a:p>
                      <a:pPr algn="ctr" rtl="1" fontAlgn="b"/>
                      <a:r>
                        <a:rPr lang="ar-SA" sz="2000" u="none" strike="noStrike" dirty="0">
                          <a:effectLst/>
                        </a:rPr>
                        <a:t>وصف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algn="ctr" rtl="1" fontAlgn="b"/>
                      <a:r>
                        <a:rPr lang="ar-SA" sz="2000" u="none" strike="noStrike" dirty="0">
                          <a:effectLst/>
                        </a:rPr>
                        <a:t>نوع السمة</a:t>
                      </a:r>
                      <a:endParaRPr lang="ar-SA" sz="2000" b="0" i="0" u="none" strike="noStrike" dirty="0">
                        <a:solidFill>
                          <a:srgbClr val="000000"/>
                        </a:solidFill>
                        <a:effectLst/>
                        <a:latin typeface="Calibri" panose="020F0502020204030204" pitchFamily="34" charset="0"/>
                      </a:endParaRPr>
                    </a:p>
                  </a:txBody>
                  <a:tcPr marL="45720" marR="45720" marT="18288" marB="18288" anchor="b"/>
                </a:tc>
                <a:tc>
                  <a:txBody>
                    <a:bodyPr/>
                    <a:lstStyle/>
                    <a:p>
                      <a:pPr marL="0" algn="ctr" defTabSz="914400" rtl="1" eaLnBrk="1" fontAlgn="b" latinLnBrk="0" hangingPunct="1">
                        <a:lnSpc>
                          <a:spcPct val="115000"/>
                        </a:lnSpc>
                        <a:spcAft>
                          <a:spcPts val="0"/>
                        </a:spcAft>
                      </a:pPr>
                      <a:r>
                        <a:rPr lang="ar-EG" sz="2000" b="1" u="none" strike="noStrike" kern="1200" dirty="0">
                          <a:solidFill>
                            <a:schemeClr val="lt1"/>
                          </a:solidFill>
                          <a:effectLst/>
                          <a:latin typeface="+mn-lt"/>
                          <a:ea typeface="+mn-ea"/>
                          <a:cs typeface="+mn-cs"/>
                        </a:rPr>
                        <a:t>الزامية التوثيق</a:t>
                      </a:r>
                      <a:endParaRPr lang="ar-SA" sz="2000" b="1" u="none" strike="noStrike" kern="1200" dirty="0">
                        <a:solidFill>
                          <a:schemeClr val="lt1"/>
                        </a:solidFill>
                        <a:effectLst/>
                        <a:latin typeface="+mn-lt"/>
                        <a:ea typeface="+mn-ea"/>
                        <a:cs typeface="+mn-cs"/>
                      </a:endParaRPr>
                    </a:p>
                  </a:txBody>
                  <a:tcPr marL="45720" marR="45720" marT="18288" marB="18288" anchor="b"/>
                </a:tc>
                <a:extLst>
                  <a:ext uri="{0D108BD9-81ED-4DB2-BD59-A6C34878D82A}">
                    <a16:rowId xmlns:a16="http://schemas.microsoft.com/office/drawing/2014/main" val="2998368315"/>
                  </a:ext>
                </a:extLst>
              </a:tr>
              <a:tr h="361479">
                <a:tc>
                  <a:txBody>
                    <a:bodyPr/>
                    <a:lstStyle/>
                    <a:p>
                      <a:pPr algn="ctr" rtl="1" fontAlgn="b"/>
                      <a:r>
                        <a:rPr lang="ar-SA" sz="1800" b="1" u="none" strike="noStrike" kern="1200" dirty="0">
                          <a:solidFill>
                            <a:schemeClr val="dk1"/>
                          </a:solidFill>
                          <a:effectLst/>
                          <a:latin typeface="+mn-lt"/>
                          <a:ea typeface="+mn-ea"/>
                          <a:cs typeface="+mn-cs"/>
                        </a:rPr>
                        <a:t>الرمز</a:t>
                      </a:r>
                      <a:endParaRPr lang="ar-SA" sz="1800" b="1"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الرمز الفريد </a:t>
                      </a:r>
                      <a:r>
                        <a:rPr lang="ar-EG" sz="1600" b="0" i="0" u="none" strike="noStrike" dirty="0">
                          <a:solidFill>
                            <a:srgbClr val="000000"/>
                          </a:solidFill>
                          <a:effectLst/>
                          <a:latin typeface="Calibri" panose="020F0502020204030204" pitchFamily="34" charset="0"/>
                        </a:rPr>
                        <a:t>لتقنية التطبيق</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u="none" strike="noStrike" kern="1200" dirty="0">
                          <a:solidFill>
                            <a:schemeClr val="dk1"/>
                          </a:solidFill>
                          <a:effectLst/>
                          <a:latin typeface="+mn-lt"/>
                          <a:ea typeface="+mn-ea"/>
                          <a:cs typeface="+mn-cs"/>
                        </a:rPr>
                        <a:t>أحرف و/أو أرقام</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400" b="0" kern="1200" dirty="0">
                          <a:solidFill>
                            <a:schemeClr val="tx1"/>
                          </a:solidFill>
                          <a:effectLst/>
                          <a:latin typeface="+mn-lt"/>
                          <a:ea typeface="+mn-ea"/>
                          <a:cs typeface="+mn-cs"/>
                        </a:rPr>
                        <a:t>إلزامي</a:t>
                      </a:r>
                    </a:p>
                  </a:txBody>
                  <a:tcPr marL="137160" marR="137160" marT="137160" marB="137160" anchor="b"/>
                </a:tc>
                <a:extLst>
                  <a:ext uri="{0D108BD9-81ED-4DB2-BD59-A6C34878D82A}">
                    <a16:rowId xmlns:a16="http://schemas.microsoft.com/office/drawing/2014/main" val="2177790647"/>
                  </a:ext>
                </a:extLst>
              </a:tr>
              <a:tr h="361479">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الاسم</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اسم تقنية التطبيق</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2865668744"/>
                  </a:ext>
                </a:extLst>
              </a:tr>
              <a:tr h="361479">
                <a:tc>
                  <a:txBody>
                    <a:bodyPr/>
                    <a:lstStyle/>
                    <a:p>
                      <a:pPr algn="ctr" rtl="1" fontAlgn="b"/>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الوصف</a:t>
                      </a:r>
                    </a:p>
                  </a:txBody>
                  <a:tcPr marL="137160" marR="137160" marT="137160" marB="137160" anchor="ctr"/>
                </a:tc>
                <a:tc>
                  <a:txBody>
                    <a:bodyPr/>
                    <a:lstStyle/>
                    <a:p>
                      <a:pPr algn="r" rtl="1" fontAlgn="b"/>
                      <a:r>
                        <a:rPr lang="ar-SA" sz="1600" b="0" i="0" u="none" strike="noStrike" baseline="0" dirty="0">
                          <a:solidFill>
                            <a:srgbClr val="000000"/>
                          </a:solidFill>
                          <a:effectLst/>
                          <a:latin typeface="Sakkal Majalla" panose="02000000000000000000" pitchFamily="2" charset="-78"/>
                          <a:cs typeface="Sakkal Majalla" panose="02000000000000000000" pitchFamily="2" charset="-78"/>
                        </a:rPr>
                        <a:t>الوصف النصي </a:t>
                      </a:r>
                      <a:r>
                        <a:rPr lang="ar-EG" sz="1600" b="0" i="0" u="none" strike="noStrike" baseline="0" dirty="0">
                          <a:solidFill>
                            <a:srgbClr val="000000"/>
                          </a:solidFill>
                          <a:effectLst/>
                          <a:latin typeface="Sakkal Majalla" panose="02000000000000000000" pitchFamily="2" charset="-78"/>
                          <a:cs typeface="Sakkal Majalla" panose="02000000000000000000" pitchFamily="2" charset="-78"/>
                        </a:rPr>
                        <a:t>لتقنية التطبيق</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a:t>
                      </a:r>
                    </a:p>
                  </a:txBody>
                  <a:tcPr marL="137160" marR="137160" marT="137160" marB="137160" anchor="ctr"/>
                </a:tc>
                <a:extLst>
                  <a:ext uri="{0D108BD9-81ED-4DB2-BD59-A6C34878D82A}">
                    <a16:rowId xmlns:a16="http://schemas.microsoft.com/office/drawing/2014/main" val="4232910609"/>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الشركة المالكة للتقنية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تحديد الشركة المالكة والمطورة للتقنية</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نص</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إلزامي عند الحاجة </a:t>
                      </a:r>
                    </a:p>
                  </a:txBody>
                  <a:tcPr marL="137160" marR="137160" marT="137160" marB="137160" anchor="ctr"/>
                </a:tc>
                <a:extLst>
                  <a:ext uri="{0D108BD9-81ED-4DB2-BD59-A6C34878D82A}">
                    <a16:rowId xmlns:a16="http://schemas.microsoft.com/office/drawing/2014/main" val="624960452"/>
                  </a:ext>
                </a:extLst>
              </a:tr>
              <a:tr h="361479">
                <a:tc>
                  <a:txBody>
                    <a:bodyPr/>
                    <a:lstStyle/>
                    <a:p>
                      <a:pPr algn="ctr" rtl="1" fontAlgn="b"/>
                      <a:r>
                        <a:rPr lang="ar-SA" sz="1800" b="1" i="0" u="none" strike="noStrike" dirty="0">
                          <a:solidFill>
                            <a:srgbClr val="000000"/>
                          </a:solidFill>
                          <a:effectLst/>
                          <a:latin typeface="Calibri" panose="020F0502020204030204" pitchFamily="34" charset="0"/>
                        </a:rPr>
                        <a:t>هل قابل للتطوير</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هل التقنية قابلة ومفتوحة للتطوير من قبل </a:t>
                      </a:r>
                      <a:r>
                        <a:rPr lang="ar-EG" sz="1600" b="0" i="0" u="none" strike="noStrike" dirty="0">
                          <a:solidFill>
                            <a:srgbClr val="000000"/>
                          </a:solidFill>
                          <a:effectLst/>
                          <a:latin typeface="Calibri" panose="020F0502020204030204" pitchFamily="34" charset="0"/>
                        </a:rPr>
                        <a:t>الهيئة</a:t>
                      </a:r>
                      <a:r>
                        <a:rPr lang="ar-SA" sz="1600" b="0" i="0" u="none" strike="noStrike" dirty="0">
                          <a:solidFill>
                            <a:srgbClr val="000000"/>
                          </a:solidFill>
                          <a:effectLst/>
                          <a:latin typeface="Calibri" panose="020F0502020204030204" pitchFamily="34" charset="0"/>
                        </a:rPr>
                        <a:t> (نعم ، لا)</a:t>
                      </a:r>
                      <a:r>
                        <a:rPr lang="ar-EG" sz="1600" b="0" i="0" u="none" strike="noStrike" dirty="0">
                          <a:solidFill>
                            <a:srgbClr val="000000"/>
                          </a:solidFill>
                          <a:effectLst/>
                          <a:latin typeface="Calibri" panose="020F0502020204030204" pitchFamily="34" charset="0"/>
                        </a:rPr>
                        <a:t> (</a:t>
                      </a:r>
                      <a:r>
                        <a:rPr lang="ar-SA" sz="1600" b="0" i="0" u="none" strike="noStrike" dirty="0">
                          <a:solidFill>
                            <a:srgbClr val="000000"/>
                          </a:solidFill>
                          <a:effectLst/>
                          <a:latin typeface="Calibri" panose="020F0502020204030204" pitchFamily="34" charset="0"/>
                        </a:rPr>
                        <a:t>مفتوح</a:t>
                      </a:r>
                      <a:r>
                        <a:rPr lang="ar-EG" sz="1600" b="0" i="0" u="none" strike="noStrike" dirty="0">
                          <a:solidFill>
                            <a:srgbClr val="000000"/>
                          </a:solidFill>
                          <a:effectLst/>
                          <a:latin typeface="Calibri" panose="020F0502020204030204" pitchFamily="34" charset="0"/>
                        </a:rPr>
                        <a:t> أو </a:t>
                      </a:r>
                      <a:r>
                        <a:rPr lang="ar-SA" sz="1600" b="0" i="0" u="none" strike="noStrike" dirty="0">
                          <a:solidFill>
                            <a:srgbClr val="000000"/>
                          </a:solidFill>
                          <a:effectLst/>
                          <a:latin typeface="Calibri" panose="020F0502020204030204" pitchFamily="34" charset="0"/>
                        </a:rPr>
                        <a:t>مغلق</a:t>
                      </a:r>
                      <a:r>
                        <a:rPr lang="ar-EG" sz="1600" b="0" i="0" u="none" strike="noStrike" dirty="0">
                          <a:solidFill>
                            <a:srgbClr val="000000"/>
                          </a:solidFill>
                          <a:effectLst/>
                          <a:latin typeface="Calibri" panose="020F0502020204030204" pitchFamily="34" charset="0"/>
                        </a:rPr>
                        <a:t>)</a:t>
                      </a:r>
                      <a:endParaRPr lang="ar-SA" sz="1600" b="0" i="0" u="none" strike="noStrike" dirty="0">
                        <a:solidFill>
                          <a:srgbClr val="000000"/>
                        </a:solidFill>
                        <a:effectLst/>
                        <a:latin typeface="Calibri" panose="020F0502020204030204" pitchFamily="34" charset="0"/>
                      </a:endParaRP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قائمة معرفة مسبقًا</a:t>
                      </a:r>
                    </a:p>
                  </a:txBody>
                  <a:tcPr marL="137160" marR="137160" marT="137160" marB="137160" anchor="ctr"/>
                </a:tc>
                <a:tc>
                  <a:txBody>
                    <a:bodyPr/>
                    <a:lstStyle/>
                    <a:p>
                      <a:pPr algn="r" rtl="1" fontAlgn="b"/>
                      <a:r>
                        <a:rPr lang="ar-SA" sz="1600" b="0" i="0" u="none" strike="noStrike" dirty="0">
                          <a:solidFill>
                            <a:srgbClr val="000000"/>
                          </a:solidFill>
                          <a:effectLst/>
                          <a:latin typeface="Calibri" panose="020F0502020204030204" pitchFamily="34" charset="0"/>
                        </a:rPr>
                        <a:t>اختياري</a:t>
                      </a:r>
                    </a:p>
                  </a:txBody>
                  <a:tcPr marL="137160" marR="137160" marT="137160" marB="137160" anchor="ctr"/>
                </a:tc>
                <a:extLst>
                  <a:ext uri="{0D108BD9-81ED-4DB2-BD59-A6C34878D82A}">
                    <a16:rowId xmlns:a16="http://schemas.microsoft.com/office/drawing/2014/main" val="796647602"/>
                  </a:ext>
                </a:extLst>
              </a:tr>
            </a:tbl>
          </a:graphicData>
        </a:graphic>
      </p:graphicFrame>
    </p:spTree>
    <p:extLst>
      <p:ext uri="{BB962C8B-B14F-4D97-AF65-F5344CB8AC3E}">
        <p14:creationId xmlns:p14="http://schemas.microsoft.com/office/powerpoint/2010/main" val="14864237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علاقات مكونات البناء التابعة لمجال </a:t>
            </a:r>
            <a:r>
              <a:rPr lang="ar-EG" dirty="0"/>
              <a:t>"</a:t>
            </a:r>
            <a:r>
              <a:rPr lang="ar-SA" dirty="0"/>
              <a:t>بنية التطبيقات</a:t>
            </a:r>
            <a:r>
              <a:rPr lang="ar-EG" dirty="0"/>
              <a:t>"</a:t>
            </a:r>
            <a:endParaRPr lang="en-US" dirty="0"/>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92</a:t>
            </a:fld>
            <a:endParaRPr lang="en-US"/>
          </a:p>
        </p:txBody>
      </p:sp>
      <p:sp>
        <p:nvSpPr>
          <p:cNvPr id="3" name="Rectangle 2">
            <a:extLst>
              <a:ext uri="{FF2B5EF4-FFF2-40B4-BE49-F238E27FC236}">
                <a16:creationId xmlns:a16="http://schemas.microsoft.com/office/drawing/2014/main" id="{8D9CE795-A12F-7C98-BF54-5279E8F1DDA2}"/>
              </a:ext>
            </a:extLst>
          </p:cNvPr>
          <p:cNvSpPr/>
          <p:nvPr/>
        </p:nvSpPr>
        <p:spPr>
          <a:xfrm>
            <a:off x="8098972" y="1519801"/>
            <a:ext cx="3480654" cy="646331"/>
          </a:xfrm>
          <a:prstGeom prst="rect">
            <a:avLst/>
          </a:prstGeom>
        </p:spPr>
        <p:txBody>
          <a:bodyPr wrap="square">
            <a:spAutoFit/>
          </a:bodyPr>
          <a:lstStyle/>
          <a:p>
            <a:pPr algn="r" rtl="1"/>
            <a:r>
              <a:rPr lang="ar-SA" b="1" dirty="0">
                <a:latin typeface="Sakkal Majalla" panose="02000000000000000000" pitchFamily="2" charset="-78"/>
                <a:cs typeface="Sakkal Majalla" panose="02000000000000000000" pitchFamily="2" charset="-78"/>
              </a:rPr>
              <a:t>ي</a:t>
            </a:r>
            <a:r>
              <a:rPr lang="en-US" b="1" dirty="0" err="1">
                <a:latin typeface="Sakkal Majalla" panose="02000000000000000000" pitchFamily="2" charset="-78"/>
                <a:cs typeface="Sakkal Majalla" panose="02000000000000000000" pitchFamily="2" charset="-78"/>
              </a:rPr>
              <a:t>وضح</a:t>
            </a:r>
            <a:r>
              <a:rPr lang="en-US" b="1" dirty="0">
                <a:latin typeface="Sakkal Majalla" panose="02000000000000000000" pitchFamily="2" charset="-78"/>
                <a:cs typeface="Sakkal Majalla" panose="02000000000000000000" pitchFamily="2" charset="-78"/>
              </a:rPr>
              <a:t> </a:t>
            </a:r>
            <a:r>
              <a:rPr lang="en-US" b="1" dirty="0" err="1">
                <a:latin typeface="Sakkal Majalla" panose="02000000000000000000" pitchFamily="2" charset="-78"/>
                <a:cs typeface="Sakkal Majalla" panose="02000000000000000000" pitchFamily="2" charset="-78"/>
              </a:rPr>
              <a:t>الشكل</a:t>
            </a:r>
            <a:r>
              <a:rPr lang="ar-SA" b="1" dirty="0">
                <a:latin typeface="Sakkal Majalla" panose="02000000000000000000" pitchFamily="2" charset="-78"/>
                <a:cs typeface="Sakkal Majalla" panose="02000000000000000000" pitchFamily="2" charset="-78"/>
              </a:rPr>
              <a:t> علاقات مكونات البناء التابعة لمجال "بنية التطبيقات":</a:t>
            </a:r>
            <a:endParaRPr lang="en-US" b="1" dirty="0">
              <a:latin typeface="Sakkal Majalla" panose="02000000000000000000" pitchFamily="2" charset="-78"/>
              <a:cs typeface="Sakkal Majalla" panose="02000000000000000000" pitchFamily="2" charset="-78"/>
            </a:endParaRPr>
          </a:p>
        </p:txBody>
      </p:sp>
      <p:pic>
        <p:nvPicPr>
          <p:cNvPr id="5" name="Picture 4" descr="A diagram of a diagram&#10;&#10;Description automatically generated with medium confidence">
            <a:extLst>
              <a:ext uri="{FF2B5EF4-FFF2-40B4-BE49-F238E27FC236}">
                <a16:creationId xmlns:a16="http://schemas.microsoft.com/office/drawing/2014/main" id="{BEC4A6AF-D836-49E5-A789-3EEE2736C9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897" y="1221788"/>
            <a:ext cx="6091855" cy="4803448"/>
          </a:xfrm>
          <a:prstGeom prst="rect">
            <a:avLst/>
          </a:prstGeom>
        </p:spPr>
      </p:pic>
    </p:spTree>
    <p:extLst>
      <p:ext uri="{BB962C8B-B14F-4D97-AF65-F5344CB8AC3E}">
        <p14:creationId xmlns:p14="http://schemas.microsoft.com/office/powerpoint/2010/main" val="19985639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a:t>ال</a:t>
            </a:r>
            <a:r>
              <a:rPr lang="ar-EG" dirty="0"/>
              <a:t>بناء </a:t>
            </a:r>
            <a:r>
              <a:rPr lang="ar-SA" dirty="0"/>
              <a:t>في مجال "بنية التطبيقات"</a:t>
            </a:r>
            <a:r>
              <a:rPr lang="ar-EG" dirty="0"/>
              <a:t> (</a:t>
            </a:r>
            <a:r>
              <a:rPr lang="en-US" dirty="0"/>
              <a:t>2</a:t>
            </a:r>
            <a:r>
              <a:rPr lang="ar-EG" dirty="0"/>
              <a:t> / </a:t>
            </a:r>
            <a:r>
              <a:rPr lang="ar-SA" dirty="0"/>
              <a:t>1</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93</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716238761"/>
              </p:ext>
            </p:extLst>
          </p:nvPr>
        </p:nvGraphicFramePr>
        <p:xfrm>
          <a:off x="609600" y="1282290"/>
          <a:ext cx="11070774" cy="4874103"/>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293968">
                  <a:extLst>
                    <a:ext uri="{9D8B030D-6E8A-4147-A177-3AD203B41FA5}">
                      <a16:colId xmlns:a16="http://schemas.microsoft.com/office/drawing/2014/main" val="1302061076"/>
                    </a:ext>
                  </a:extLst>
                </a:gridCol>
                <a:gridCol w="3949700">
                  <a:extLst>
                    <a:ext uri="{9D8B030D-6E8A-4147-A177-3AD203B41FA5}">
                      <a16:colId xmlns:a16="http://schemas.microsoft.com/office/drawing/2014/main" val="1509377109"/>
                    </a:ext>
                  </a:extLst>
                </a:gridCol>
                <a:gridCol w="1974850">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707513">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1</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مملوك</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 من قبل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err="1">
                          <a:solidFill>
                            <a:srgbClr val="000000"/>
                          </a:solidFill>
                          <a:effectLst/>
                          <a:latin typeface="Sakkal Majalla" panose="02000000000000000000" pitchFamily="2" charset="-78"/>
                          <a:cs typeface="Sakkal Majalla" panose="02000000000000000000" pitchFamily="2" charset="-78"/>
                        </a:rPr>
                        <a:t>الت</a:t>
                      </a:r>
                      <a:r>
                        <a:rPr lang="ar-EG" sz="2000" b="1" i="0" u="none" strike="noStrike" baseline="0" dirty="0" err="1">
                          <a:solidFill>
                            <a:srgbClr val="000000"/>
                          </a:solidFill>
                          <a:effectLst/>
                          <a:latin typeface="Sakkal Majalla" panose="02000000000000000000" pitchFamily="2" charset="-78"/>
                          <a:cs typeface="Sakkal Majalla" panose="02000000000000000000" pitchFamily="2" charset="-78"/>
                        </a:rPr>
                        <a:t>طبيق</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مملوك</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من قبل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وحدة تنظيمية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2</a:t>
                      </a:r>
                    </a:p>
                  </a:txBody>
                  <a:tcPr marL="3810" marR="3810" marT="3810" marB="0" anchor="ctr"/>
                </a:tc>
                <a:tc>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يُؤتم</a:t>
                      </a: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يُؤتم</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ت</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خدمة أعمال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خدمة أعمال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084683059"/>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3</a:t>
                      </a:r>
                    </a:p>
                  </a:txBody>
                  <a:tcPr marL="3810" marR="3810" marT="3810" marB="0" anchor="ctr"/>
                </a:tc>
                <a:tc>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err="1">
                          <a:solidFill>
                            <a:srgbClr val="000000"/>
                          </a:solidFill>
                          <a:effectLst/>
                          <a:latin typeface="Sakkal Majalla" panose="02000000000000000000" pitchFamily="2" charset="-78"/>
                          <a:cs typeface="Sakkal Majalla" panose="02000000000000000000" pitchFamily="2" charset="-78"/>
                        </a:rPr>
                        <a:t>يؤتمت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يُؤتم</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ت</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إجراء عمل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إجراء عمل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513040524"/>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4</a:t>
                      </a:r>
                    </a:p>
                  </a:txBody>
                  <a:tcPr marL="3810" marR="3810" marT="3810" marB="0" anchor="ctr"/>
                </a:tc>
                <a:tc>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يستخدم</a:t>
                      </a:r>
                      <a:r>
                        <a:rPr lang="en-US" sz="1800" b="0" i="0" u="none" strike="noStrike" baseline="0" dirty="0">
                          <a:solidFill>
                            <a:srgbClr val="000000"/>
                          </a:solidFill>
                          <a:effectLst/>
                          <a:latin typeface="Sakkal Majalla" panose="02000000000000000000" pitchFamily="2" charset="-78"/>
                          <a:cs typeface="Sakkal Majalla" panose="02000000000000000000" pitchFamily="2" charset="-78"/>
                        </a:rPr>
                        <a:t> </a:t>
                      </a: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يُؤتم</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ت</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كيان بيانات</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كيان بيانات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البيانات</a:t>
                      </a:r>
                    </a:p>
                  </a:txBody>
                  <a:tcPr marL="3810" marR="3810" marT="3810" marB="0" anchor="ctr"/>
                </a:tc>
                <a:extLst>
                  <a:ext uri="{0D108BD9-81ED-4DB2-BD59-A6C34878D82A}">
                    <a16:rowId xmlns:a16="http://schemas.microsoft.com/office/drawing/2014/main" val="4243718048"/>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5</a:t>
                      </a:r>
                    </a:p>
                  </a:txBody>
                  <a:tcPr marL="3810" marR="3810" marT="3810" marB="0" anchor="ctr"/>
                </a:tc>
                <a:tc>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يتكامل مع</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يُقدم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تكامل تطبيق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تكامل 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التطبيقات</a:t>
                      </a:r>
                    </a:p>
                  </a:txBody>
                  <a:tcPr marL="3810" marR="3810" marT="3810" marB="0" anchor="ctr"/>
                </a:tc>
                <a:extLst>
                  <a:ext uri="{0D108BD9-81ED-4DB2-BD59-A6C34878D82A}">
                    <a16:rowId xmlns:a16="http://schemas.microsoft.com/office/drawing/2014/main" val="2014457884"/>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6</a:t>
                      </a:r>
                    </a:p>
                  </a:txBody>
                  <a:tcPr marL="3810" marR="3810" marT="3810" marB="0" anchor="ctr"/>
                </a:tc>
                <a:tc>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يحتوي على</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يحتوي على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وظيفة التطبيق</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1" i="0" u="none" strike="noStrike" baseline="0" dirty="0">
                          <a:solidFill>
                            <a:srgbClr val="000000"/>
                          </a:solidFill>
                          <a:effectLst/>
                          <a:latin typeface="Sakkal Majalla" panose="02000000000000000000" pitchFamily="2" charset="-78"/>
                          <a:cs typeface="Sakkal Majalla" panose="02000000000000000000" pitchFamily="2" charset="-78"/>
                        </a:rPr>
                        <a:t>وظيفة التطبيق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47439439"/>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7</a:t>
                      </a:r>
                    </a:p>
                  </a:txBody>
                  <a:tcPr marL="3810" marR="3810" marT="3810" marB="0" anchor="ctr"/>
                </a:tc>
                <a:tc>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بيئة التطبيق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يعمل داخل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بيئة التطبيق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بيئة التطبيق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8</a:t>
                      </a:r>
                    </a:p>
                  </a:txBody>
                  <a:tcPr marL="3810" marR="3810" marT="3810" marB="0" anchor="ctr"/>
                </a:tc>
                <a:tc>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يعتمد على</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يعتمد على</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تقنية التطبيق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تقنية التطبيق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9</a:t>
                      </a:r>
                    </a:p>
                  </a:txBody>
                  <a:tcPr marL="3810" marR="3810" marT="3810" marB="0" anchor="ctr"/>
                </a:tc>
                <a:tc>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يُستضاف من قبل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يُستضاف من قبل</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خادم</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خادم</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التقنية</a:t>
                      </a:r>
                    </a:p>
                  </a:txBody>
                  <a:tcPr marL="3810" marR="3810" marT="3810" marB="0" anchor="ctr"/>
                </a:tc>
                <a:extLst>
                  <a:ext uri="{0D108BD9-81ED-4DB2-BD59-A6C34878D82A}">
                    <a16:rowId xmlns:a16="http://schemas.microsoft.com/office/drawing/2014/main" val="444966218"/>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10</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تكامل التطليق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يتكامل مع</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تكامل تطبيق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يتكامل مع</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التطبيقات</a:t>
                      </a:r>
                    </a:p>
                  </a:txBody>
                  <a:tcPr marL="3810" marR="3810" marT="3810" marB="0" anchor="ctr"/>
                </a:tc>
                <a:extLst>
                  <a:ext uri="{0D108BD9-81ED-4DB2-BD59-A6C34878D82A}">
                    <a16:rowId xmlns:a16="http://schemas.microsoft.com/office/drawing/2014/main" val="535874176"/>
                  </a:ext>
                </a:extLst>
              </a:tr>
            </a:tbl>
          </a:graphicData>
        </a:graphic>
      </p:graphicFrame>
    </p:spTree>
    <p:extLst>
      <p:ext uri="{BB962C8B-B14F-4D97-AF65-F5344CB8AC3E}">
        <p14:creationId xmlns:p14="http://schemas.microsoft.com/office/powerpoint/2010/main" val="24571121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a:t>ال</a:t>
            </a:r>
            <a:r>
              <a:rPr lang="ar-EG" dirty="0"/>
              <a:t>بناء </a:t>
            </a:r>
            <a:r>
              <a:rPr lang="ar-SA" dirty="0"/>
              <a:t>في مجال "بنية التطبيقات"</a:t>
            </a:r>
            <a:r>
              <a:rPr lang="ar-EG" dirty="0"/>
              <a:t> (</a:t>
            </a:r>
            <a:r>
              <a:rPr lang="en-US" dirty="0"/>
              <a:t>2</a:t>
            </a:r>
            <a:r>
              <a:rPr lang="ar-EG" dirty="0"/>
              <a:t> / </a:t>
            </a:r>
            <a:r>
              <a:rPr lang="en-US" dirty="0"/>
              <a:t>2</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94</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1798670432"/>
              </p:ext>
            </p:extLst>
          </p:nvPr>
        </p:nvGraphicFramePr>
        <p:xfrm>
          <a:off x="609600" y="1282290"/>
          <a:ext cx="11070774" cy="1957490"/>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293968">
                  <a:extLst>
                    <a:ext uri="{9D8B030D-6E8A-4147-A177-3AD203B41FA5}">
                      <a16:colId xmlns:a16="http://schemas.microsoft.com/office/drawing/2014/main" val="1302061076"/>
                    </a:ext>
                  </a:extLst>
                </a:gridCol>
                <a:gridCol w="3949700">
                  <a:extLst>
                    <a:ext uri="{9D8B030D-6E8A-4147-A177-3AD203B41FA5}">
                      <a16:colId xmlns:a16="http://schemas.microsoft.com/office/drawing/2014/main" val="1509377109"/>
                    </a:ext>
                  </a:extLst>
                </a:gridCol>
                <a:gridCol w="1974850">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707513">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1</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وظيفة التطبيق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a:solidFill>
                            <a:srgbClr val="000000"/>
                          </a:solidFill>
                          <a:effectLst/>
                          <a:latin typeface="Sakkal Majalla" panose="02000000000000000000" pitchFamily="2" charset="-78"/>
                          <a:cs typeface="Sakkal Majalla" panose="02000000000000000000" pitchFamily="2" charset="-78"/>
                        </a:rPr>
                        <a:t> </a:t>
                      </a:r>
                      <a:r>
                        <a:rPr lang="ar-EG" sz="1800" b="0" i="0" u="none" strike="noStrike" baseline="0">
                          <a:solidFill>
                            <a:srgbClr val="000000"/>
                          </a:solidFill>
                          <a:effectLst/>
                          <a:latin typeface="Sakkal Majalla" panose="02000000000000000000" pitchFamily="2" charset="-78"/>
                          <a:cs typeface="Sakkal Majalla" panose="02000000000000000000" pitchFamily="2" charset="-78"/>
                        </a:rPr>
                        <a:t>تنتمي الى</a:t>
                      </a:r>
                      <a:r>
                        <a:rPr lang="ar-SA" sz="1800" b="0" i="0" u="none" strike="noStrike" baseline="0">
                          <a:solidFill>
                            <a:srgbClr val="000000"/>
                          </a:solidFill>
                          <a:effectLst/>
                          <a:latin typeface="Sakkal Majalla" panose="02000000000000000000" pitchFamily="2" charset="-78"/>
                          <a:cs typeface="Sakkal Majalla" panose="02000000000000000000" pitchFamily="2" charset="-78"/>
                        </a:rPr>
                        <a:t>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وظيفة التطبيق</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تنتمي الى</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a:solidFill>
                            <a:srgbClr val="000000"/>
                          </a:solidFill>
                          <a:effectLst/>
                          <a:latin typeface="Sakkal Majalla" panose="02000000000000000000" pitchFamily="2" charset="-78"/>
                          <a:cs typeface="Sakkal Majalla" panose="02000000000000000000" pitchFamily="2" charset="-78"/>
                        </a:rPr>
                        <a:t>التطبيقات</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2</a:t>
                      </a:r>
                    </a:p>
                  </a:txBody>
                  <a:tcPr marL="3810" marR="3810" marT="3810" marB="0" anchor="ctr"/>
                </a:tc>
                <a:tc>
                  <a:txBody>
                    <a:bodyPr/>
                    <a:lstStyle/>
                    <a:p>
                      <a:pPr algn="ctr" rtl="0" fontAlgn="ctr"/>
                      <a:r>
                        <a:rPr lang="ar-SA" sz="1800" b="0" i="0" u="none" strike="noStrike" baseline="0">
                          <a:solidFill>
                            <a:srgbClr val="000000"/>
                          </a:solidFill>
                          <a:effectLst/>
                          <a:latin typeface="Sakkal Majalla" panose="02000000000000000000" pitchFamily="2" charset="-78"/>
                          <a:cs typeface="Sakkal Majalla" panose="02000000000000000000" pitchFamily="2" charset="-78"/>
                        </a:rPr>
                        <a:t>بيئة التطبيق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تدعم</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بيئة التطبيق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تدعم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التطبيقات</a:t>
                      </a: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3</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تقنية التطبيق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تدعم</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تقنية التطبيق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تدعم </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التطبيقات</a:t>
                      </a:r>
                    </a:p>
                  </a:txBody>
                  <a:tcPr marL="3810" marR="3810" marT="3810" marB="0" anchor="ctr"/>
                </a:tc>
                <a:extLst>
                  <a:ext uri="{0D108BD9-81ED-4DB2-BD59-A6C34878D82A}">
                    <a16:rowId xmlns:a16="http://schemas.microsoft.com/office/drawing/2014/main" val="2512632214"/>
                  </a:ext>
                </a:extLst>
              </a:tr>
            </a:tbl>
          </a:graphicData>
        </a:graphic>
      </p:graphicFrame>
    </p:spTree>
    <p:extLst>
      <p:ext uri="{BB962C8B-B14F-4D97-AF65-F5344CB8AC3E}">
        <p14:creationId xmlns:p14="http://schemas.microsoft.com/office/powerpoint/2010/main" val="390440162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62880" y="3925452"/>
            <a:ext cx="6281420" cy="641639"/>
          </a:xfrm>
        </p:spPr>
        <p:txBody>
          <a:bodyPr/>
          <a:lstStyle/>
          <a:p>
            <a:r>
              <a:rPr lang="ar-EG" sz="2800" dirty="0"/>
              <a:t>وحدات البناء لمجال "بنية التقنية"</a:t>
            </a:r>
            <a:endParaRPr lang="en-US" sz="2800" dirty="0"/>
          </a:p>
        </p:txBody>
      </p:sp>
      <p:sp>
        <p:nvSpPr>
          <p:cNvPr id="4" name="Text Placeholder 3"/>
          <p:cNvSpPr>
            <a:spLocks noGrp="1"/>
          </p:cNvSpPr>
          <p:nvPr>
            <p:ph type="body" sz="quarter" idx="14"/>
          </p:nvPr>
        </p:nvSpPr>
        <p:spPr/>
        <p:txBody>
          <a:bodyPr/>
          <a:lstStyle/>
          <a:p>
            <a:r>
              <a:rPr lang="ar-SA" sz="7200" dirty="0"/>
              <a:t>3.6</a:t>
            </a:r>
            <a:endParaRPr lang="en-US" sz="7200" dirty="0"/>
          </a:p>
        </p:txBody>
      </p:sp>
    </p:spTree>
    <p:extLst>
      <p:ext uri="{BB962C8B-B14F-4D97-AF65-F5344CB8AC3E}">
        <p14:creationId xmlns:p14="http://schemas.microsoft.com/office/powerpoint/2010/main" val="2605346095"/>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وحدات البناء التابعة لمجال </a:t>
            </a:r>
            <a:r>
              <a:rPr lang="ar-EG" dirty="0"/>
              <a:t>"</a:t>
            </a:r>
            <a:r>
              <a:rPr lang="ar-SA" dirty="0"/>
              <a:t>بنية التقنية</a:t>
            </a:r>
            <a:r>
              <a:rPr lang="ar-EG" dirty="0"/>
              <a:t>"</a:t>
            </a:r>
            <a:endParaRPr lang="en-US" dirty="0"/>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96</a:t>
            </a:fld>
            <a:endParaRPr lang="en-US"/>
          </a:p>
        </p:txBody>
      </p:sp>
      <p:pic>
        <p:nvPicPr>
          <p:cNvPr id="4" name="Picture 3">
            <a:extLst>
              <a:ext uri="{FF2B5EF4-FFF2-40B4-BE49-F238E27FC236}">
                <a16:creationId xmlns:a16="http://schemas.microsoft.com/office/drawing/2014/main" id="{965D25FC-5B7E-43CD-B999-D342AD7006D6}"/>
              </a:ext>
            </a:extLst>
          </p:cNvPr>
          <p:cNvPicPr>
            <a:picLocks noChangeAspect="1"/>
          </p:cNvPicPr>
          <p:nvPr/>
        </p:nvPicPr>
        <p:blipFill>
          <a:blip r:embed="rId3"/>
          <a:stretch>
            <a:fillRect/>
          </a:stretch>
        </p:blipFill>
        <p:spPr>
          <a:xfrm>
            <a:off x="631510" y="1689811"/>
            <a:ext cx="10972801" cy="3606394"/>
          </a:xfrm>
          <a:prstGeom prst="rect">
            <a:avLst/>
          </a:prstGeom>
        </p:spPr>
      </p:pic>
    </p:spTree>
    <p:extLst>
      <p:ext uri="{BB962C8B-B14F-4D97-AF65-F5344CB8AC3E}">
        <p14:creationId xmlns:p14="http://schemas.microsoft.com/office/powerpoint/2010/main" val="298036934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97</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تعريف وحدات البناء التابعة لمجال "بنية التقنية"</a:t>
            </a:r>
          </a:p>
        </p:txBody>
      </p:sp>
      <p:graphicFrame>
        <p:nvGraphicFramePr>
          <p:cNvPr id="12" name="Table 11">
            <a:extLst>
              <a:ext uri="{FF2B5EF4-FFF2-40B4-BE49-F238E27FC236}">
                <a16:creationId xmlns:a16="http://schemas.microsoft.com/office/drawing/2014/main" id="{716CE2B9-08C8-087A-0FD4-84D4AC499CF8}"/>
              </a:ext>
            </a:extLst>
          </p:cNvPr>
          <p:cNvGraphicFramePr>
            <a:graphicFrameLocks noGrp="1"/>
          </p:cNvGraphicFramePr>
          <p:nvPr>
            <p:extLst>
              <p:ext uri="{D42A27DB-BD31-4B8C-83A1-F6EECF244321}">
                <p14:modId xmlns:p14="http://schemas.microsoft.com/office/powerpoint/2010/main" val="3311388556"/>
              </p:ext>
            </p:extLst>
          </p:nvPr>
        </p:nvGraphicFramePr>
        <p:xfrm>
          <a:off x="457201" y="1257247"/>
          <a:ext cx="11294066" cy="4770120"/>
        </p:xfrm>
        <a:graphic>
          <a:graphicData uri="http://schemas.openxmlformats.org/drawingml/2006/table">
            <a:tbl>
              <a:tblPr rtl="1" firstRow="1" bandRow="1">
                <a:tableStyleId>{21E4AEA4-8DFA-4A89-87EB-49C32662AFE0}</a:tableStyleId>
              </a:tblPr>
              <a:tblGrid>
                <a:gridCol w="1973200">
                  <a:extLst>
                    <a:ext uri="{9D8B030D-6E8A-4147-A177-3AD203B41FA5}">
                      <a16:colId xmlns:a16="http://schemas.microsoft.com/office/drawing/2014/main" val="2023822235"/>
                    </a:ext>
                  </a:extLst>
                </a:gridCol>
                <a:gridCol w="6610324">
                  <a:extLst>
                    <a:ext uri="{9D8B030D-6E8A-4147-A177-3AD203B41FA5}">
                      <a16:colId xmlns:a16="http://schemas.microsoft.com/office/drawing/2014/main" val="3711612230"/>
                    </a:ext>
                  </a:extLst>
                </a:gridCol>
                <a:gridCol w="1208314">
                  <a:extLst>
                    <a:ext uri="{9D8B030D-6E8A-4147-A177-3AD203B41FA5}">
                      <a16:colId xmlns:a16="http://schemas.microsoft.com/office/drawing/2014/main" val="3769375140"/>
                    </a:ext>
                  </a:extLst>
                </a:gridCol>
                <a:gridCol w="1502228">
                  <a:extLst>
                    <a:ext uri="{9D8B030D-6E8A-4147-A177-3AD203B41FA5}">
                      <a16:colId xmlns:a16="http://schemas.microsoft.com/office/drawing/2014/main" val="1777428894"/>
                    </a:ext>
                  </a:extLst>
                </a:gridCol>
              </a:tblGrid>
              <a:tr h="571044">
                <a:tc>
                  <a:txBody>
                    <a:bodyPr/>
                    <a:lstStyle/>
                    <a:p>
                      <a:pPr algn="ctr" rtl="1" fontAlgn="b"/>
                      <a:r>
                        <a:rPr lang="ar-SA" sz="2100" u="none" strike="noStrike" dirty="0">
                          <a:effectLst/>
                        </a:rPr>
                        <a:t>وحدة البناء</a:t>
                      </a:r>
                      <a:endParaRPr lang="ar-SA" sz="21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ctr" rtl="1" fontAlgn="b"/>
                      <a:r>
                        <a:rPr lang="ar-SA" sz="2100" u="none" strike="noStrike" dirty="0">
                          <a:effectLst/>
                        </a:rPr>
                        <a:t>التعريف</a:t>
                      </a:r>
                      <a:endParaRPr lang="ar-SA" sz="21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ctr" rtl="1" fontAlgn="b"/>
                      <a:r>
                        <a:rPr lang="ar-SA" sz="2100" b="1" u="none" strike="noStrike" kern="1200" dirty="0">
                          <a:solidFill>
                            <a:schemeClr val="lt1"/>
                          </a:solidFill>
                          <a:effectLst/>
                          <a:latin typeface="+mn-lt"/>
                          <a:ea typeface="+mn-ea"/>
                          <a:cs typeface="+mn-cs"/>
                        </a:rPr>
                        <a:t>مستوى المكون</a:t>
                      </a:r>
                    </a:p>
                  </a:txBody>
                  <a:tcPr anchor="ctr"/>
                </a:tc>
                <a:tc>
                  <a:txBody>
                    <a:bodyPr/>
                    <a:lstStyle/>
                    <a:p>
                      <a:pPr algn="ctr" rtl="1" fontAlgn="b"/>
                      <a:r>
                        <a:rPr lang="ar-SA" sz="2100" b="1" u="none" strike="noStrike" kern="1200" dirty="0">
                          <a:solidFill>
                            <a:schemeClr val="lt1"/>
                          </a:solidFill>
                          <a:effectLst/>
                          <a:latin typeface="+mn-lt"/>
                          <a:ea typeface="+mn-ea"/>
                          <a:cs typeface="+mn-cs"/>
                        </a:rPr>
                        <a:t>مستوى إلزامية التوثيق</a:t>
                      </a:r>
                    </a:p>
                  </a:txBody>
                  <a:tcPr anchor="ctr"/>
                </a:tc>
                <a:extLst>
                  <a:ext uri="{0D108BD9-81ED-4DB2-BD59-A6C34878D82A}">
                    <a16:rowId xmlns:a16="http://schemas.microsoft.com/office/drawing/2014/main" val="2631080347"/>
                  </a:ext>
                </a:extLst>
              </a:tr>
              <a:tr h="849245">
                <a:tc>
                  <a:txBody>
                    <a:bodyPr/>
                    <a:lstStyle/>
                    <a:p>
                      <a:pPr algn="ctr" rtl="1"/>
                      <a:r>
                        <a:rPr lang="ar-SA" sz="2100" b="1" dirty="0">
                          <a:hlinkClick r:id="rId3" action="ppaction://hlinksldjump"/>
                        </a:rPr>
                        <a:t>مركز بيانات</a:t>
                      </a:r>
                      <a:endParaRPr lang="en-US" sz="2100" b="1" dirty="0"/>
                    </a:p>
                  </a:txBody>
                  <a:tcPr anchor="ctr"/>
                </a:tc>
                <a:tc>
                  <a:txBody>
                    <a:bodyPr/>
                    <a:lstStyle/>
                    <a:p>
                      <a:pPr algn="r" rtl="1"/>
                      <a:r>
                        <a:rPr lang="ar-SA" sz="1900" dirty="0"/>
                        <a:t>يمثل المكان الذي تستخدمه الهيئة لاستضافة المكونات الحاسوبية كالخوادم وأجهزة التخزين وأجهزة الشبكة والتطبيقات والخدمات التي تستخدمها الهيئة أو تقدمها للموظفين أو للمستفيدين، سواء كان مركز البيانات مملوك من قبل الهيئة</a:t>
                      </a:r>
                    </a:p>
                    <a:p>
                      <a:pPr algn="r" rtl="1"/>
                      <a:r>
                        <a:rPr lang="ar-SA" sz="1900" dirty="0"/>
                        <a:t>أو مستضاف لدى مزود خدمات حوسبة سحابية</a:t>
                      </a:r>
                      <a:endParaRPr lang="en-US" sz="1900" dirty="0"/>
                    </a:p>
                  </a:txBody>
                  <a:tcPr anchor="ctr"/>
                </a:tc>
                <a:tc>
                  <a:txBody>
                    <a:bodyPr/>
                    <a:lstStyle/>
                    <a:p>
                      <a:pPr algn="r" rtl="1"/>
                      <a:r>
                        <a:rPr lang="ar-SA" sz="1900" dirty="0"/>
                        <a:t>محوري</a:t>
                      </a:r>
                      <a:endParaRPr lang="en-US" sz="1900" dirty="0"/>
                    </a:p>
                  </a:txBody>
                  <a:tcPr anchor="ctr"/>
                </a:tc>
                <a:tc>
                  <a:txBody>
                    <a:bodyPr/>
                    <a:lstStyle/>
                    <a:p>
                      <a:pPr algn="r" rtl="1"/>
                      <a:r>
                        <a:rPr lang="ar-SA" sz="1900" dirty="0"/>
                        <a:t>مفاهيمي</a:t>
                      </a:r>
                      <a:endParaRPr lang="en-US" sz="1900" dirty="0"/>
                    </a:p>
                  </a:txBody>
                  <a:tcPr anchor="ctr"/>
                </a:tc>
                <a:extLst>
                  <a:ext uri="{0D108BD9-81ED-4DB2-BD59-A6C34878D82A}">
                    <a16:rowId xmlns:a16="http://schemas.microsoft.com/office/drawing/2014/main" val="1101753229"/>
                  </a:ext>
                </a:extLst>
              </a:tr>
              <a:tr h="849245">
                <a:tc>
                  <a:txBody>
                    <a:bodyPr/>
                    <a:lstStyle/>
                    <a:p>
                      <a:pPr algn="ctr" rtl="1"/>
                      <a:r>
                        <a:rPr lang="ar-SA" sz="2100" b="1" dirty="0">
                          <a:hlinkClick r:id="rId4" action="ppaction://hlinksldjump"/>
                        </a:rPr>
                        <a:t>مضيف مادي</a:t>
                      </a:r>
                      <a:endParaRPr lang="en-US" sz="2100" b="1" dirty="0"/>
                    </a:p>
                  </a:txBody>
                  <a:tcPr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900" dirty="0"/>
                        <a:t>يمثل جهاز المضيف المادي العتاد الحاسوبي الصلب الذي تملكه الهيئة والذي قد يكون على هيئة جهاز مستقل</a:t>
                      </a:r>
                      <a:r>
                        <a:rPr lang="en-US" sz="1900" dirty="0"/>
                        <a:t>Standalone</a:t>
                      </a:r>
                      <a:r>
                        <a:rPr lang="ar-SA" sz="1900" dirty="0"/>
                        <a:t> أو </a:t>
                      </a:r>
                      <a:r>
                        <a:rPr lang="en-US" sz="1900" dirty="0"/>
                        <a:t> Racked Server</a:t>
                      </a:r>
                      <a:r>
                        <a:rPr lang="ar-SA" sz="1900" dirty="0"/>
                        <a:t>، أو قد يكون جزء من كتلة </a:t>
                      </a:r>
                      <a:r>
                        <a:rPr lang="en-US" sz="1900" dirty="0"/>
                        <a:t>Hyper Converged Infrastructure (HCI)</a:t>
                      </a:r>
                      <a:r>
                        <a:rPr lang="ar-SA" sz="1900" dirty="0"/>
                        <a:t>، أو قد يكون جزء من</a:t>
                      </a:r>
                      <a:r>
                        <a:rPr lang="en-US" sz="1900" dirty="0"/>
                        <a:t> Blade Servers</a:t>
                      </a:r>
                      <a:r>
                        <a:rPr lang="ar-SA" sz="1900" dirty="0"/>
                        <a:t>، وقد تستخدمه الهيئة في استضافة الخوادم الافتراضية، ويشمل معلومات حول الشركة المصنعة له والموارد الحاسوبية التي يحتويها مثل وحدة المعالجة المركزية والذاكرة العشوائية ومكان وجود الجهاز ضمن بنية الشبكة</a:t>
                      </a:r>
                      <a:endParaRPr lang="en-US" sz="1900" dirty="0"/>
                    </a:p>
                  </a:txBody>
                  <a:tcPr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900" dirty="0"/>
                        <a:t>محوري</a:t>
                      </a:r>
                      <a:endParaRPr lang="en-US" sz="1900" dirty="0"/>
                    </a:p>
                  </a:txBody>
                  <a:tcPr anchor="ct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ar-SA" sz="1900" dirty="0"/>
                        <a:t>مادي</a:t>
                      </a:r>
                      <a:endParaRPr lang="en-US" sz="1900" dirty="0"/>
                    </a:p>
                  </a:txBody>
                  <a:tcPr anchor="ctr"/>
                </a:tc>
                <a:extLst>
                  <a:ext uri="{0D108BD9-81ED-4DB2-BD59-A6C34878D82A}">
                    <a16:rowId xmlns:a16="http://schemas.microsoft.com/office/drawing/2014/main" val="998746437"/>
                  </a:ext>
                </a:extLst>
              </a:tr>
              <a:tr h="849245">
                <a:tc>
                  <a:txBody>
                    <a:bodyPr/>
                    <a:lstStyle/>
                    <a:p>
                      <a:pPr algn="ctr" rtl="1"/>
                      <a:r>
                        <a:rPr lang="ar-SA" sz="2100" b="1" dirty="0">
                          <a:hlinkClick r:id="rId5" action="ppaction://hlinksldjump"/>
                        </a:rPr>
                        <a:t>خادم</a:t>
                      </a:r>
                      <a:endParaRPr lang="en-US" sz="2100" b="1" dirty="0"/>
                    </a:p>
                  </a:txBody>
                  <a:tcPr anchor="ctr"/>
                </a:tc>
                <a:tc>
                  <a:txBody>
                    <a:bodyPr/>
                    <a:lstStyle/>
                    <a:p>
                      <a:pPr algn="r" rtl="1"/>
                      <a:r>
                        <a:rPr lang="ar-SA" sz="1900" dirty="0"/>
                        <a:t>يمثل الخادم المستخدم من قبل الهيئة لاستضافة الأنظمة والتطبيقات والخدمات وقواعد البيانات سواء كان خادماً مادياً (</a:t>
                      </a:r>
                      <a:r>
                        <a:rPr lang="en-US" sz="1900" dirty="0"/>
                        <a:t>Physical Servers</a:t>
                      </a:r>
                      <a:r>
                        <a:rPr lang="ar-SA" sz="1900" dirty="0"/>
                        <a:t>) أو خادماً افتراضياً (</a:t>
                      </a:r>
                      <a:r>
                        <a:rPr lang="en-US" sz="1900" dirty="0"/>
                        <a:t>Virtual Server</a:t>
                      </a:r>
                      <a:r>
                        <a:rPr lang="ar-SA" sz="1900" dirty="0"/>
                        <a:t>) ويشمل معلومات حول نظام التشغيل المستخدم والموارد الحاسوبية الخاصة به ونوع البيئة التي ينتمي لها مثل (الإنتاجية، التطويرية، الاختبارية أو المرحلية)</a:t>
                      </a:r>
                      <a:endParaRPr lang="en-US" sz="1900" dirty="0"/>
                    </a:p>
                  </a:txBody>
                  <a:tcPr anchor="ctr"/>
                </a:tc>
                <a:tc>
                  <a:txBody>
                    <a:bodyPr/>
                    <a:lstStyle/>
                    <a:p>
                      <a:pPr algn="r" rtl="1"/>
                      <a:r>
                        <a:rPr lang="ar-SA" sz="1900" dirty="0"/>
                        <a:t>محوري</a:t>
                      </a:r>
                      <a:endParaRPr lang="en-US" sz="1900" dirty="0"/>
                    </a:p>
                  </a:txBody>
                  <a:tcPr anchor="ctr"/>
                </a:tc>
                <a:tc>
                  <a:txBody>
                    <a:bodyPr/>
                    <a:lstStyle/>
                    <a:p>
                      <a:pPr algn="r" rtl="1"/>
                      <a:r>
                        <a:rPr lang="ar-SA" sz="1900" dirty="0"/>
                        <a:t>منطقي</a:t>
                      </a:r>
                      <a:endParaRPr lang="en-US" sz="1900" dirty="0"/>
                    </a:p>
                  </a:txBody>
                  <a:tcPr anchor="ctr"/>
                </a:tc>
                <a:extLst>
                  <a:ext uri="{0D108BD9-81ED-4DB2-BD59-A6C34878D82A}">
                    <a16:rowId xmlns:a16="http://schemas.microsoft.com/office/drawing/2014/main" val="2715435218"/>
                  </a:ext>
                </a:extLst>
              </a:tr>
            </a:tbl>
          </a:graphicData>
        </a:graphic>
      </p:graphicFrame>
    </p:spTree>
    <p:extLst>
      <p:ext uri="{BB962C8B-B14F-4D97-AF65-F5344CB8AC3E}">
        <p14:creationId xmlns:p14="http://schemas.microsoft.com/office/powerpoint/2010/main" val="317387993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98</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تعريف وحدات البناء التابعة لمجال "بنية التقنية"</a:t>
            </a:r>
          </a:p>
        </p:txBody>
      </p:sp>
      <p:graphicFrame>
        <p:nvGraphicFramePr>
          <p:cNvPr id="12" name="Table 11">
            <a:extLst>
              <a:ext uri="{FF2B5EF4-FFF2-40B4-BE49-F238E27FC236}">
                <a16:creationId xmlns:a16="http://schemas.microsoft.com/office/drawing/2014/main" id="{716CE2B9-08C8-087A-0FD4-84D4AC499CF8}"/>
              </a:ext>
            </a:extLst>
          </p:cNvPr>
          <p:cNvGraphicFramePr>
            <a:graphicFrameLocks noGrp="1"/>
          </p:cNvGraphicFramePr>
          <p:nvPr>
            <p:extLst>
              <p:ext uri="{D42A27DB-BD31-4B8C-83A1-F6EECF244321}">
                <p14:modId xmlns:p14="http://schemas.microsoft.com/office/powerpoint/2010/main" val="870633462"/>
              </p:ext>
            </p:extLst>
          </p:nvPr>
        </p:nvGraphicFramePr>
        <p:xfrm>
          <a:off x="391886" y="1343681"/>
          <a:ext cx="11349475" cy="4080125"/>
        </p:xfrm>
        <a:graphic>
          <a:graphicData uri="http://schemas.openxmlformats.org/drawingml/2006/table">
            <a:tbl>
              <a:tblPr rtl="1" firstRow="1" bandRow="1">
                <a:tableStyleId>{21E4AEA4-8DFA-4A89-87EB-49C32662AFE0}</a:tableStyleId>
              </a:tblPr>
              <a:tblGrid>
                <a:gridCol w="1982880">
                  <a:extLst>
                    <a:ext uri="{9D8B030D-6E8A-4147-A177-3AD203B41FA5}">
                      <a16:colId xmlns:a16="http://schemas.microsoft.com/office/drawing/2014/main" val="2023822235"/>
                    </a:ext>
                  </a:extLst>
                </a:gridCol>
                <a:gridCol w="6329481">
                  <a:extLst>
                    <a:ext uri="{9D8B030D-6E8A-4147-A177-3AD203B41FA5}">
                      <a16:colId xmlns:a16="http://schemas.microsoft.com/office/drawing/2014/main" val="3711612230"/>
                    </a:ext>
                  </a:extLst>
                </a:gridCol>
                <a:gridCol w="1600200">
                  <a:extLst>
                    <a:ext uri="{9D8B030D-6E8A-4147-A177-3AD203B41FA5}">
                      <a16:colId xmlns:a16="http://schemas.microsoft.com/office/drawing/2014/main" val="2181898972"/>
                    </a:ext>
                  </a:extLst>
                </a:gridCol>
                <a:gridCol w="1436914">
                  <a:extLst>
                    <a:ext uri="{9D8B030D-6E8A-4147-A177-3AD203B41FA5}">
                      <a16:colId xmlns:a16="http://schemas.microsoft.com/office/drawing/2014/main" val="3529894528"/>
                    </a:ext>
                  </a:extLst>
                </a:gridCol>
              </a:tblGrid>
              <a:tr h="571044">
                <a:tc>
                  <a:txBody>
                    <a:bodyPr/>
                    <a:lstStyle/>
                    <a:p>
                      <a:pPr algn="ctr" rtl="1" fontAlgn="b"/>
                      <a:r>
                        <a:rPr lang="ar-SA" sz="2100" u="none" strike="noStrike" dirty="0">
                          <a:effectLst/>
                        </a:rPr>
                        <a:t>وحدة البناء</a:t>
                      </a:r>
                      <a:endParaRPr lang="ar-SA" sz="21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ctr" rtl="1" fontAlgn="b"/>
                      <a:r>
                        <a:rPr lang="ar-SA" sz="2100" u="none" strike="noStrike" dirty="0">
                          <a:effectLst/>
                        </a:rPr>
                        <a:t>التعريف</a:t>
                      </a:r>
                      <a:endParaRPr lang="ar-SA" sz="21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ctr" rtl="1" fontAlgn="b"/>
                      <a:r>
                        <a:rPr lang="ar-SA" sz="2100" b="1" u="none" strike="noStrike" kern="1200" dirty="0">
                          <a:solidFill>
                            <a:schemeClr val="lt1"/>
                          </a:solidFill>
                          <a:effectLst/>
                          <a:latin typeface="+mn-lt"/>
                          <a:ea typeface="+mn-ea"/>
                          <a:cs typeface="+mn-cs"/>
                        </a:rPr>
                        <a:t>مستوى المكون</a:t>
                      </a:r>
                    </a:p>
                  </a:txBody>
                  <a:tcPr anchor="ctr"/>
                </a:tc>
                <a:tc>
                  <a:txBody>
                    <a:bodyPr/>
                    <a:lstStyle/>
                    <a:p>
                      <a:pPr algn="ctr" rtl="1" fontAlgn="b"/>
                      <a:r>
                        <a:rPr lang="ar-SA" sz="2100" b="1" u="none" strike="noStrike" kern="1200" dirty="0">
                          <a:solidFill>
                            <a:schemeClr val="lt1"/>
                          </a:solidFill>
                          <a:effectLst/>
                          <a:latin typeface="+mn-lt"/>
                          <a:ea typeface="+mn-ea"/>
                          <a:cs typeface="+mn-cs"/>
                        </a:rPr>
                        <a:t>مستوى إلزامية التوثيق</a:t>
                      </a:r>
                    </a:p>
                  </a:txBody>
                  <a:tcPr anchor="ctr"/>
                </a:tc>
                <a:extLst>
                  <a:ext uri="{0D108BD9-81ED-4DB2-BD59-A6C34878D82A}">
                    <a16:rowId xmlns:a16="http://schemas.microsoft.com/office/drawing/2014/main" val="2631080347"/>
                  </a:ext>
                </a:extLst>
              </a:tr>
              <a:tr h="849245">
                <a:tc>
                  <a:txBody>
                    <a:bodyPr/>
                    <a:lstStyle/>
                    <a:p>
                      <a:pPr algn="ctr" rtl="1"/>
                      <a:r>
                        <a:rPr lang="ar-SA" sz="2100" b="1" dirty="0">
                          <a:hlinkClick r:id="rId3" action="ppaction://hlinksldjump"/>
                        </a:rPr>
                        <a:t>جهاز شبكي</a:t>
                      </a:r>
                      <a:endParaRPr lang="en-US" sz="2100" b="1" dirty="0"/>
                    </a:p>
                  </a:txBody>
                  <a:tcPr anchor="ctr"/>
                </a:tc>
                <a:tc>
                  <a:txBody>
                    <a:bodyPr/>
                    <a:lstStyle/>
                    <a:p>
                      <a:pPr algn="r" rtl="1"/>
                      <a:r>
                        <a:rPr lang="ar-SA" sz="1900" dirty="0"/>
                        <a:t>يمثل الأجهزة الشبكية من مختلف الأنواع التي تملكها الهيئة والمستخدمة في مختلف مواقعها ومراكز بياناتها وتشمل معلومات حول مركز البيانات أو الموقع الذي يوجد به والشركة المصنعة له ومكان وجوده ضمن طبقات بنية الشبكة ونوع ووظيفة الجهاز</a:t>
                      </a:r>
                      <a:endParaRPr lang="en-US" sz="1900" dirty="0"/>
                    </a:p>
                  </a:txBody>
                  <a:tcPr anchor="ctr"/>
                </a:tc>
                <a:tc>
                  <a:txBody>
                    <a:bodyPr/>
                    <a:lstStyle/>
                    <a:p>
                      <a:pPr algn="r" rtl="1"/>
                      <a:r>
                        <a:rPr lang="ar-SA" sz="1900" dirty="0"/>
                        <a:t>محوري</a:t>
                      </a:r>
                      <a:endParaRPr lang="en-US" sz="1900" dirty="0"/>
                    </a:p>
                  </a:txBody>
                  <a:tcPr anchor="ctr"/>
                </a:tc>
                <a:tc>
                  <a:txBody>
                    <a:bodyPr/>
                    <a:lstStyle/>
                    <a:p>
                      <a:pPr algn="r" rtl="1"/>
                      <a:r>
                        <a:rPr lang="ar-SA" sz="1900" dirty="0"/>
                        <a:t>مادي</a:t>
                      </a:r>
                      <a:endParaRPr lang="en-US" sz="1900" dirty="0"/>
                    </a:p>
                  </a:txBody>
                  <a:tcPr anchor="ctr"/>
                </a:tc>
                <a:extLst>
                  <a:ext uri="{0D108BD9-81ED-4DB2-BD59-A6C34878D82A}">
                    <a16:rowId xmlns:a16="http://schemas.microsoft.com/office/drawing/2014/main" val="1101753229"/>
                  </a:ext>
                </a:extLst>
              </a:tr>
              <a:tr h="849245">
                <a:tc>
                  <a:txBody>
                    <a:bodyPr/>
                    <a:lstStyle/>
                    <a:p>
                      <a:pPr algn="ctr" rtl="1"/>
                      <a:r>
                        <a:rPr lang="ar-SA" sz="2100" b="1" dirty="0">
                          <a:hlinkClick r:id="rId4" action="ppaction://hlinksldjump"/>
                        </a:rPr>
                        <a:t>رابط شبكي</a:t>
                      </a:r>
                      <a:endParaRPr lang="en-US" sz="2100" b="1" dirty="0"/>
                    </a:p>
                  </a:txBody>
                  <a:tcPr anchor="ctr"/>
                </a:tc>
                <a:tc>
                  <a:txBody>
                    <a:bodyPr/>
                    <a:lstStyle/>
                    <a:p>
                      <a:pPr algn="r" rtl="1"/>
                      <a:r>
                        <a:rPr lang="ar-SA" sz="1900" dirty="0"/>
                        <a:t>يمثل الربط الشبكي المستخدم لربط الأجهزة الشبكية ببعضها أو ربطها</a:t>
                      </a:r>
                      <a:r>
                        <a:rPr lang="ar-EG" sz="1900" dirty="0"/>
                        <a:t> </a:t>
                      </a:r>
                      <a:r>
                        <a:rPr lang="ar-SA" sz="1900" dirty="0"/>
                        <a:t>بالمكونات الأخرى للبنية التقنية التحتية</a:t>
                      </a:r>
                      <a:r>
                        <a:rPr lang="ar-EG" sz="1900" dirty="0"/>
                        <a:t>، </a:t>
                      </a:r>
                      <a:r>
                        <a:rPr lang="ar-SA" sz="1900" dirty="0"/>
                        <a:t>وكذلك يمثل دارات</a:t>
                      </a:r>
                      <a:r>
                        <a:rPr lang="ar-EG" sz="1900" dirty="0"/>
                        <a:t> </a:t>
                      </a:r>
                      <a:r>
                        <a:rPr lang="ar-SA" sz="1900" dirty="0"/>
                        <a:t>الربط المستخدمة من قبل </a:t>
                      </a:r>
                      <a:r>
                        <a:rPr lang="ar-EG" sz="1900" dirty="0"/>
                        <a:t>الهيئة</a:t>
                      </a:r>
                      <a:r>
                        <a:rPr lang="ar-SA" sz="1900" dirty="0"/>
                        <a:t> لتحقيق الاتصال مع شبكة الإنترنت أو الربط</a:t>
                      </a:r>
                      <a:r>
                        <a:rPr lang="ar-EG" sz="1900" dirty="0"/>
                        <a:t> </a:t>
                      </a:r>
                      <a:r>
                        <a:rPr lang="ar-SA" sz="1900" dirty="0"/>
                        <a:t>مع الأفرع ومراكز البيانات المختلفة، ويشمل معلومات حول أنواع وتقنيات</a:t>
                      </a:r>
                      <a:r>
                        <a:rPr lang="ar-EG" sz="1900" dirty="0"/>
                        <a:t> </a:t>
                      </a:r>
                      <a:r>
                        <a:rPr lang="ar-SA" sz="1900" dirty="0"/>
                        <a:t>الربط الشبكي والسرعات ومزودي دارات الربط الشبكي والخدمة التي تقدمها</a:t>
                      </a:r>
                      <a:r>
                        <a:rPr lang="ar-EG" sz="1900" dirty="0"/>
                        <a:t> </a:t>
                      </a:r>
                      <a:r>
                        <a:rPr lang="ar-SA" sz="1900" dirty="0"/>
                        <a:t>وعرض الحزمة والتكلفة</a:t>
                      </a:r>
                      <a:endParaRPr lang="en-US" sz="1900" dirty="0"/>
                    </a:p>
                  </a:txBody>
                  <a:tcPr anchor="ctr"/>
                </a:tc>
                <a:tc>
                  <a:txBody>
                    <a:bodyPr/>
                    <a:lstStyle/>
                    <a:p>
                      <a:pPr algn="r" rtl="1"/>
                      <a:r>
                        <a:rPr lang="ar-SA" sz="1900" dirty="0"/>
                        <a:t>محوري</a:t>
                      </a:r>
                      <a:endParaRPr lang="en-US" sz="1900" dirty="0"/>
                    </a:p>
                  </a:txBody>
                  <a:tcPr anchor="ctr"/>
                </a:tc>
                <a:tc>
                  <a:txBody>
                    <a:bodyPr/>
                    <a:lstStyle/>
                    <a:p>
                      <a:pPr algn="r" rtl="1"/>
                      <a:r>
                        <a:rPr lang="ar-SA" sz="1900" dirty="0"/>
                        <a:t>منطقي</a:t>
                      </a:r>
                      <a:endParaRPr lang="en-US" sz="1900" dirty="0"/>
                    </a:p>
                  </a:txBody>
                  <a:tcPr anchor="ctr"/>
                </a:tc>
                <a:extLst>
                  <a:ext uri="{0D108BD9-81ED-4DB2-BD59-A6C34878D82A}">
                    <a16:rowId xmlns:a16="http://schemas.microsoft.com/office/drawing/2014/main" val="998746437"/>
                  </a:ext>
                </a:extLst>
              </a:tr>
              <a:tr h="849245">
                <a:tc>
                  <a:txBody>
                    <a:bodyPr/>
                    <a:lstStyle/>
                    <a:p>
                      <a:pPr algn="ctr" rtl="1"/>
                      <a:r>
                        <a:rPr lang="ar-SA" sz="2100" b="1" dirty="0">
                          <a:hlinkClick r:id="rId5" action="ppaction://hlinksldjump"/>
                        </a:rPr>
                        <a:t>تخزين</a:t>
                      </a:r>
                      <a:endParaRPr lang="en-US" sz="2100" b="1" dirty="0"/>
                    </a:p>
                  </a:txBody>
                  <a:tcPr anchor="ctr"/>
                </a:tc>
                <a:tc>
                  <a:txBody>
                    <a:bodyPr/>
                    <a:lstStyle/>
                    <a:p>
                      <a:pPr algn="r" rtl="1"/>
                      <a:r>
                        <a:rPr lang="ar-SA" sz="1900" dirty="0"/>
                        <a:t>تمثل الأجهزة والأدوات المستخدمة من قبل </a:t>
                      </a:r>
                      <a:r>
                        <a:rPr lang="ar-EG" sz="1900" dirty="0"/>
                        <a:t>الهيئة</a:t>
                      </a:r>
                      <a:r>
                        <a:rPr lang="ar-SA" sz="1900" dirty="0"/>
                        <a:t> في تخزين الأنظمة</a:t>
                      </a:r>
                      <a:r>
                        <a:rPr lang="ar-EG" sz="1900" dirty="0"/>
                        <a:t> </a:t>
                      </a:r>
                      <a:r>
                        <a:rPr lang="ar-SA" sz="1900" dirty="0"/>
                        <a:t>والبرمجيات والبيانات الخاصة </a:t>
                      </a:r>
                      <a:r>
                        <a:rPr lang="ar-EG" sz="1900" dirty="0"/>
                        <a:t>بالهيئة</a:t>
                      </a:r>
                      <a:r>
                        <a:rPr lang="ar-SA" sz="1900" dirty="0"/>
                        <a:t> ويشمل معلومات حول السعات</a:t>
                      </a:r>
                      <a:r>
                        <a:rPr lang="ar-EG" sz="1900" dirty="0"/>
                        <a:t> </a:t>
                      </a:r>
                      <a:r>
                        <a:rPr lang="ar-SA" sz="1900" dirty="0"/>
                        <a:t>التخزينية ونوع ونسخ إصدار الأجهزة</a:t>
                      </a:r>
                      <a:endParaRPr lang="en-US" sz="1900" dirty="0"/>
                    </a:p>
                  </a:txBody>
                  <a:tcPr anchor="ctr"/>
                </a:tc>
                <a:tc>
                  <a:txBody>
                    <a:bodyPr/>
                    <a:lstStyle/>
                    <a:p>
                      <a:pPr algn="r" rtl="1"/>
                      <a:r>
                        <a:rPr lang="ar-SA" sz="1900" dirty="0"/>
                        <a:t>محوري</a:t>
                      </a:r>
                      <a:endParaRPr lang="en-US" sz="1900" dirty="0"/>
                    </a:p>
                  </a:txBody>
                  <a:tcPr anchor="ctr"/>
                </a:tc>
                <a:tc>
                  <a:txBody>
                    <a:bodyPr/>
                    <a:lstStyle/>
                    <a:p>
                      <a:pPr algn="r" rtl="1"/>
                      <a:r>
                        <a:rPr lang="ar-SA" sz="1900" dirty="0"/>
                        <a:t>مادي</a:t>
                      </a:r>
                      <a:endParaRPr lang="en-US" sz="1900" dirty="0"/>
                    </a:p>
                  </a:txBody>
                  <a:tcPr anchor="ctr"/>
                </a:tc>
                <a:extLst>
                  <a:ext uri="{0D108BD9-81ED-4DB2-BD59-A6C34878D82A}">
                    <a16:rowId xmlns:a16="http://schemas.microsoft.com/office/drawing/2014/main" val="2715435218"/>
                  </a:ext>
                </a:extLst>
              </a:tr>
            </a:tbl>
          </a:graphicData>
        </a:graphic>
      </p:graphicFrame>
    </p:spTree>
    <p:extLst>
      <p:ext uri="{BB962C8B-B14F-4D97-AF65-F5344CB8AC3E}">
        <p14:creationId xmlns:p14="http://schemas.microsoft.com/office/powerpoint/2010/main" val="33995764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99</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تعريف وحدات البناء التابعة لمجال "بنية التقنية"</a:t>
            </a:r>
          </a:p>
        </p:txBody>
      </p:sp>
      <p:graphicFrame>
        <p:nvGraphicFramePr>
          <p:cNvPr id="12" name="Table 11">
            <a:extLst>
              <a:ext uri="{FF2B5EF4-FFF2-40B4-BE49-F238E27FC236}">
                <a16:creationId xmlns:a16="http://schemas.microsoft.com/office/drawing/2014/main" id="{716CE2B9-08C8-087A-0FD4-84D4AC499CF8}"/>
              </a:ext>
            </a:extLst>
          </p:cNvPr>
          <p:cNvGraphicFramePr>
            <a:graphicFrameLocks noGrp="1"/>
          </p:cNvGraphicFramePr>
          <p:nvPr>
            <p:extLst>
              <p:ext uri="{D42A27DB-BD31-4B8C-83A1-F6EECF244321}">
                <p14:modId xmlns:p14="http://schemas.microsoft.com/office/powerpoint/2010/main" val="3965786962"/>
              </p:ext>
            </p:extLst>
          </p:nvPr>
        </p:nvGraphicFramePr>
        <p:xfrm>
          <a:off x="473530" y="1227339"/>
          <a:ext cx="11248205" cy="4861560"/>
        </p:xfrm>
        <a:graphic>
          <a:graphicData uri="http://schemas.openxmlformats.org/drawingml/2006/table">
            <a:tbl>
              <a:tblPr rtl="1" firstRow="1" bandRow="1">
                <a:tableStyleId>{21E4AEA4-8DFA-4A89-87EB-49C32662AFE0}</a:tableStyleId>
              </a:tblPr>
              <a:tblGrid>
                <a:gridCol w="1965187">
                  <a:extLst>
                    <a:ext uri="{9D8B030D-6E8A-4147-A177-3AD203B41FA5}">
                      <a16:colId xmlns:a16="http://schemas.microsoft.com/office/drawing/2014/main" val="2023822235"/>
                    </a:ext>
                  </a:extLst>
                </a:gridCol>
                <a:gridCol w="6556148">
                  <a:extLst>
                    <a:ext uri="{9D8B030D-6E8A-4147-A177-3AD203B41FA5}">
                      <a16:colId xmlns:a16="http://schemas.microsoft.com/office/drawing/2014/main" val="3711612230"/>
                    </a:ext>
                  </a:extLst>
                </a:gridCol>
                <a:gridCol w="1371600">
                  <a:extLst>
                    <a:ext uri="{9D8B030D-6E8A-4147-A177-3AD203B41FA5}">
                      <a16:colId xmlns:a16="http://schemas.microsoft.com/office/drawing/2014/main" val="2115120988"/>
                    </a:ext>
                  </a:extLst>
                </a:gridCol>
                <a:gridCol w="1355270">
                  <a:extLst>
                    <a:ext uri="{9D8B030D-6E8A-4147-A177-3AD203B41FA5}">
                      <a16:colId xmlns:a16="http://schemas.microsoft.com/office/drawing/2014/main" val="1830376875"/>
                    </a:ext>
                  </a:extLst>
                </a:gridCol>
              </a:tblGrid>
              <a:tr h="571044">
                <a:tc>
                  <a:txBody>
                    <a:bodyPr/>
                    <a:lstStyle/>
                    <a:p>
                      <a:pPr algn="ctr" rtl="1" fontAlgn="b"/>
                      <a:r>
                        <a:rPr lang="ar-SA" sz="2100" u="none" strike="noStrike" dirty="0">
                          <a:effectLst/>
                        </a:rPr>
                        <a:t>وحدة البناء</a:t>
                      </a:r>
                      <a:endParaRPr lang="ar-SA" sz="21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ctr" rtl="1" fontAlgn="b"/>
                      <a:r>
                        <a:rPr lang="ar-SA" sz="2100" u="none" strike="noStrike" dirty="0">
                          <a:effectLst/>
                        </a:rPr>
                        <a:t>التعريف</a:t>
                      </a:r>
                      <a:endParaRPr lang="ar-SA" sz="21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ctr" rtl="1" fontAlgn="b"/>
                      <a:r>
                        <a:rPr lang="ar-SA" sz="2100" b="1" u="none" strike="noStrike" kern="1200" dirty="0">
                          <a:solidFill>
                            <a:schemeClr val="lt1"/>
                          </a:solidFill>
                          <a:effectLst/>
                          <a:latin typeface="+mn-lt"/>
                          <a:ea typeface="+mn-ea"/>
                          <a:cs typeface="+mn-cs"/>
                        </a:rPr>
                        <a:t>مستوى المكون</a:t>
                      </a:r>
                    </a:p>
                  </a:txBody>
                  <a:tcPr anchor="ctr"/>
                </a:tc>
                <a:tc>
                  <a:txBody>
                    <a:bodyPr/>
                    <a:lstStyle/>
                    <a:p>
                      <a:pPr algn="ctr" rtl="1" fontAlgn="b"/>
                      <a:r>
                        <a:rPr lang="ar-SA" sz="2100" b="1" u="none" strike="noStrike" kern="1200" dirty="0">
                          <a:solidFill>
                            <a:schemeClr val="lt1"/>
                          </a:solidFill>
                          <a:effectLst/>
                          <a:latin typeface="+mn-lt"/>
                          <a:ea typeface="+mn-ea"/>
                          <a:cs typeface="+mn-cs"/>
                        </a:rPr>
                        <a:t>مستوى إلزامية التوثيق</a:t>
                      </a:r>
                    </a:p>
                  </a:txBody>
                  <a:tcPr anchor="ctr"/>
                </a:tc>
                <a:extLst>
                  <a:ext uri="{0D108BD9-81ED-4DB2-BD59-A6C34878D82A}">
                    <a16:rowId xmlns:a16="http://schemas.microsoft.com/office/drawing/2014/main" val="2631080347"/>
                  </a:ext>
                </a:extLst>
              </a:tr>
              <a:tr h="849245">
                <a:tc>
                  <a:txBody>
                    <a:bodyPr/>
                    <a:lstStyle/>
                    <a:p>
                      <a:pPr algn="ctr" rtl="1"/>
                      <a:r>
                        <a:rPr lang="ar-SA" sz="2100" b="1" dirty="0">
                          <a:hlinkClick r:id="rId3" action="ppaction://hlinksldjump"/>
                        </a:rPr>
                        <a:t>خدمة تقنية تحتية</a:t>
                      </a:r>
                      <a:endParaRPr lang="en-US" sz="2100" b="1" dirty="0"/>
                    </a:p>
                  </a:txBody>
                  <a:tcPr anchor="ctr"/>
                </a:tc>
                <a:tc>
                  <a:txBody>
                    <a:bodyPr/>
                    <a:lstStyle/>
                    <a:p>
                      <a:pPr algn="r" rtl="1"/>
                      <a:r>
                        <a:rPr lang="ar-SA" sz="1900" dirty="0"/>
                        <a:t>يمثل الخدمات الأساسية التي تقدمها البنية التحتية التقنية والمستخدمة من</a:t>
                      </a:r>
                      <a:r>
                        <a:rPr lang="ar-EG" sz="1900" dirty="0"/>
                        <a:t> </a:t>
                      </a:r>
                      <a:r>
                        <a:rPr lang="ar-SA" sz="1900" dirty="0"/>
                        <a:t>قبل </a:t>
                      </a:r>
                      <a:r>
                        <a:rPr lang="ar-EG" sz="1900" dirty="0"/>
                        <a:t>الهيئة</a:t>
                      </a:r>
                      <a:r>
                        <a:rPr lang="ar-SA" sz="1900" dirty="0"/>
                        <a:t> بهدف تمكين المستفيدين من استخدام قدرات البنية التحتية</a:t>
                      </a:r>
                      <a:r>
                        <a:rPr lang="ar-EG" sz="1900" dirty="0"/>
                        <a:t> </a:t>
                      </a:r>
                      <a:r>
                        <a:rPr lang="ar-SA" sz="1900" dirty="0"/>
                        <a:t>التقنية بشكل فعال مثل خدمة أسماء النطاقات ونظام الدليل الفعال، خدمة</a:t>
                      </a:r>
                      <a:r>
                        <a:rPr lang="ar-EG" sz="1900" dirty="0"/>
                        <a:t> </a:t>
                      </a:r>
                      <a:r>
                        <a:rPr lang="ar-SA" sz="1900" dirty="0"/>
                        <a:t>توزيع عناوين الشبكة ونظام التواصل النصي أو الصوتي أو المرئي</a:t>
                      </a:r>
                      <a:endParaRPr lang="en-US" sz="1900" dirty="0"/>
                    </a:p>
                  </a:txBody>
                  <a:tcPr anchor="ctr"/>
                </a:tc>
                <a:tc>
                  <a:txBody>
                    <a:bodyPr/>
                    <a:lstStyle/>
                    <a:p>
                      <a:pPr algn="r" rtl="1"/>
                      <a:r>
                        <a:rPr lang="ar-SA" sz="1900" dirty="0"/>
                        <a:t>محوري</a:t>
                      </a:r>
                      <a:endParaRPr lang="en-US" sz="1900" dirty="0"/>
                    </a:p>
                  </a:txBody>
                  <a:tcPr anchor="ctr"/>
                </a:tc>
                <a:tc>
                  <a:txBody>
                    <a:bodyPr/>
                    <a:lstStyle/>
                    <a:p>
                      <a:pPr algn="r" rtl="1"/>
                      <a:r>
                        <a:rPr lang="ar-SA" sz="1900" dirty="0"/>
                        <a:t>منطقي</a:t>
                      </a:r>
                      <a:endParaRPr lang="en-US" sz="1900" dirty="0"/>
                    </a:p>
                  </a:txBody>
                  <a:tcPr anchor="ctr"/>
                </a:tc>
                <a:extLst>
                  <a:ext uri="{0D108BD9-81ED-4DB2-BD59-A6C34878D82A}">
                    <a16:rowId xmlns:a16="http://schemas.microsoft.com/office/drawing/2014/main" val="1101753229"/>
                  </a:ext>
                </a:extLst>
              </a:tr>
              <a:tr h="849245">
                <a:tc>
                  <a:txBody>
                    <a:bodyPr/>
                    <a:lstStyle/>
                    <a:p>
                      <a:pPr algn="ctr" rtl="1"/>
                      <a:r>
                        <a:rPr lang="ar-SA" sz="2100" b="1" dirty="0">
                          <a:hlinkClick r:id="rId4" action="ppaction://hlinksldjump"/>
                        </a:rPr>
                        <a:t>أداة تقنية تحتية</a:t>
                      </a:r>
                      <a:endParaRPr lang="en-US" sz="2100" b="1" dirty="0"/>
                    </a:p>
                  </a:txBody>
                  <a:tcPr anchor="ctr"/>
                </a:tc>
                <a:tc>
                  <a:txBody>
                    <a:bodyPr/>
                    <a:lstStyle/>
                    <a:p>
                      <a:pPr algn="r" rtl="1"/>
                      <a:r>
                        <a:rPr lang="ar-SA" sz="1900" dirty="0"/>
                        <a:t>يمثل الأدوات أو البرمجيات المستخدمة من قبل </a:t>
                      </a:r>
                      <a:r>
                        <a:rPr lang="ar-EG" sz="1900" dirty="0"/>
                        <a:t>الهيئة</a:t>
                      </a:r>
                      <a:r>
                        <a:rPr lang="ar-SA" sz="1900" dirty="0"/>
                        <a:t> بهدف التمكن من إدارة</a:t>
                      </a:r>
                      <a:r>
                        <a:rPr lang="ar-EG" sz="1900" dirty="0"/>
                        <a:t> </a:t>
                      </a:r>
                      <a:r>
                        <a:rPr lang="ar-SA" sz="1900" dirty="0"/>
                        <a:t>أو مراقبة أو تشغيل أو دعم مكونات البنية التحتية التقنية مثل نظام مراقبة</a:t>
                      </a:r>
                      <a:r>
                        <a:rPr lang="ar-EG" sz="1900" dirty="0"/>
                        <a:t> </a:t>
                      </a:r>
                      <a:r>
                        <a:rPr lang="ar-SA" sz="1900" dirty="0"/>
                        <a:t>أداء وتوافرية أجهزة الشبكة والخوادم، ويشمل معلومات حول الشركة المزودة</a:t>
                      </a:r>
                      <a:r>
                        <a:rPr lang="ar-EG" sz="1900" dirty="0"/>
                        <a:t> </a:t>
                      </a:r>
                      <a:r>
                        <a:rPr lang="ar-SA" sz="1900" dirty="0"/>
                        <a:t>وتاريخ انتهاء الدعم</a:t>
                      </a:r>
                      <a:endParaRPr lang="en-US" sz="1900" dirty="0"/>
                    </a:p>
                  </a:txBody>
                  <a:tcPr anchor="ctr"/>
                </a:tc>
                <a:tc>
                  <a:txBody>
                    <a:bodyPr/>
                    <a:lstStyle/>
                    <a:p>
                      <a:pPr algn="r" rtl="1"/>
                      <a:r>
                        <a:rPr lang="ar-SA" sz="1900" dirty="0"/>
                        <a:t>داعم</a:t>
                      </a:r>
                      <a:endParaRPr lang="en-US" sz="1900" dirty="0"/>
                    </a:p>
                  </a:txBody>
                  <a:tcPr anchor="ctr"/>
                </a:tc>
                <a:tc>
                  <a:txBody>
                    <a:bodyPr/>
                    <a:lstStyle/>
                    <a:p>
                      <a:pPr algn="r" rtl="1"/>
                      <a:r>
                        <a:rPr lang="ar-SA" sz="1900" dirty="0"/>
                        <a:t>منطقي</a:t>
                      </a:r>
                      <a:endParaRPr lang="en-US" sz="1900" dirty="0"/>
                    </a:p>
                  </a:txBody>
                  <a:tcPr anchor="ctr"/>
                </a:tc>
                <a:extLst>
                  <a:ext uri="{0D108BD9-81ED-4DB2-BD59-A6C34878D82A}">
                    <a16:rowId xmlns:a16="http://schemas.microsoft.com/office/drawing/2014/main" val="998746437"/>
                  </a:ext>
                </a:extLst>
              </a:tr>
              <a:tr h="849245">
                <a:tc>
                  <a:txBody>
                    <a:bodyPr/>
                    <a:lstStyle/>
                    <a:p>
                      <a:pPr algn="ctr" rtl="1"/>
                      <a:r>
                        <a:rPr lang="ar-SA" sz="2100" b="1" dirty="0">
                          <a:hlinkClick r:id="rId5" action="ppaction://hlinksldjump"/>
                        </a:rPr>
                        <a:t>جهاز ملحق</a:t>
                      </a:r>
                      <a:endParaRPr lang="en-US" sz="2100" b="1" dirty="0"/>
                    </a:p>
                  </a:txBody>
                  <a:tcPr anchor="ctr"/>
                </a:tc>
                <a:tc>
                  <a:txBody>
                    <a:bodyPr/>
                    <a:lstStyle/>
                    <a:p>
                      <a:pPr algn="r" rtl="1"/>
                      <a:r>
                        <a:rPr lang="ar-SA" sz="1900" dirty="0"/>
                        <a:t>يمثل الأجهزة الطرفية المستخدمة في الهيئة من مختلف الأنواع مثل الأجهزة</a:t>
                      </a:r>
                      <a:r>
                        <a:rPr lang="ar-EG" sz="1900" dirty="0"/>
                        <a:t> </a:t>
                      </a:r>
                      <a:r>
                        <a:rPr lang="ar-SA" sz="1900" dirty="0"/>
                        <a:t>الحاسوبية الثابتة والمحمولة والطابعات والماسحات الضوئية، ويشمل</a:t>
                      </a:r>
                      <a:r>
                        <a:rPr lang="ar-EG" sz="1900" dirty="0"/>
                        <a:t> </a:t>
                      </a:r>
                      <a:r>
                        <a:rPr lang="ar-SA" sz="1900" dirty="0"/>
                        <a:t>معلومات حول الشركة المصنعة وأنظمة التشغيل والموقع</a:t>
                      </a:r>
                      <a:endParaRPr lang="en-US" sz="1900" dirty="0"/>
                    </a:p>
                  </a:txBody>
                  <a:tcPr anchor="ctr"/>
                </a:tc>
                <a:tc>
                  <a:txBody>
                    <a:bodyPr/>
                    <a:lstStyle/>
                    <a:p>
                      <a:pPr algn="r" rtl="1"/>
                      <a:r>
                        <a:rPr lang="ar-SA" sz="1900" dirty="0"/>
                        <a:t>داعم</a:t>
                      </a:r>
                      <a:endParaRPr lang="en-US" sz="1900" dirty="0"/>
                    </a:p>
                  </a:txBody>
                  <a:tcPr anchor="ctr"/>
                </a:tc>
                <a:tc>
                  <a:txBody>
                    <a:bodyPr/>
                    <a:lstStyle/>
                    <a:p>
                      <a:pPr algn="r" rtl="1"/>
                      <a:r>
                        <a:rPr lang="ar-SA" sz="1900" dirty="0"/>
                        <a:t>مادي</a:t>
                      </a:r>
                      <a:endParaRPr lang="en-US" sz="1900" dirty="0"/>
                    </a:p>
                  </a:txBody>
                  <a:tcPr anchor="ctr"/>
                </a:tc>
                <a:extLst>
                  <a:ext uri="{0D108BD9-81ED-4DB2-BD59-A6C34878D82A}">
                    <a16:rowId xmlns:a16="http://schemas.microsoft.com/office/drawing/2014/main" val="3237326862"/>
                  </a:ext>
                </a:extLst>
              </a:tr>
              <a:tr h="849245">
                <a:tc>
                  <a:txBody>
                    <a:bodyPr/>
                    <a:lstStyle/>
                    <a:p>
                      <a:pPr algn="ctr" rtl="1"/>
                      <a:r>
                        <a:rPr lang="ar-SA" sz="2100" b="1" dirty="0">
                          <a:hlinkClick r:id="rId6" action="ppaction://hlinksldjump"/>
                        </a:rPr>
                        <a:t>رخصة</a:t>
                      </a:r>
                      <a:endParaRPr lang="en-US" sz="2100" b="1" dirty="0"/>
                    </a:p>
                  </a:txBody>
                  <a:tcPr anchor="ctr"/>
                </a:tc>
                <a:tc>
                  <a:txBody>
                    <a:bodyPr/>
                    <a:lstStyle/>
                    <a:p>
                      <a:pPr algn="r" rtl="1"/>
                      <a:r>
                        <a:rPr lang="ar-SA" sz="1900" dirty="0"/>
                        <a:t>يمثل اتفاقية استخدام للأجهزة أو البرمجيات التي تستخدمها </a:t>
                      </a:r>
                      <a:r>
                        <a:rPr lang="ar-EG" sz="1900" dirty="0"/>
                        <a:t>الهيئة</a:t>
                      </a:r>
                      <a:r>
                        <a:rPr lang="ar-SA" sz="1900" dirty="0"/>
                        <a:t> والتي تم</a:t>
                      </a:r>
                      <a:r>
                        <a:rPr lang="ar-EG" sz="1900" dirty="0"/>
                        <a:t> </a:t>
                      </a:r>
                      <a:r>
                        <a:rPr lang="ar-SA" sz="1900" dirty="0"/>
                        <a:t>شراؤها من مزودين أو شركات مصنعة وذلك بنوعيها الرخص الدائمة</a:t>
                      </a:r>
                      <a:r>
                        <a:rPr lang="ar-EG" sz="1900" dirty="0"/>
                        <a:t> </a:t>
                      </a:r>
                      <a:r>
                        <a:rPr lang="ar-SA" sz="1900" dirty="0"/>
                        <a:t>والاشتراكات ويشمل معلومات حول عددها وتاريخ الحصول عليها وتاريخ</a:t>
                      </a:r>
                      <a:r>
                        <a:rPr lang="ar-EG" sz="1900" dirty="0"/>
                        <a:t> </a:t>
                      </a:r>
                      <a:r>
                        <a:rPr lang="ar-SA" sz="1900" dirty="0"/>
                        <a:t>الانتهاء</a:t>
                      </a:r>
                      <a:endParaRPr lang="en-US" sz="1900" dirty="0"/>
                    </a:p>
                  </a:txBody>
                  <a:tcPr anchor="ctr"/>
                </a:tc>
                <a:tc>
                  <a:txBody>
                    <a:bodyPr/>
                    <a:lstStyle/>
                    <a:p>
                      <a:pPr algn="r" rtl="1"/>
                      <a:r>
                        <a:rPr lang="ar-SA" sz="1900" dirty="0"/>
                        <a:t>محوري</a:t>
                      </a:r>
                      <a:endParaRPr lang="en-US" sz="1900" dirty="0"/>
                    </a:p>
                  </a:txBody>
                  <a:tcPr anchor="ctr"/>
                </a:tc>
                <a:tc>
                  <a:txBody>
                    <a:bodyPr/>
                    <a:lstStyle/>
                    <a:p>
                      <a:pPr algn="r" rtl="1"/>
                      <a:r>
                        <a:rPr lang="ar-SA" sz="1900" dirty="0"/>
                        <a:t>منطقي</a:t>
                      </a:r>
                      <a:endParaRPr lang="en-US" sz="1900" dirty="0"/>
                    </a:p>
                  </a:txBody>
                  <a:tcPr anchor="ctr"/>
                </a:tc>
                <a:extLst>
                  <a:ext uri="{0D108BD9-81ED-4DB2-BD59-A6C34878D82A}">
                    <a16:rowId xmlns:a16="http://schemas.microsoft.com/office/drawing/2014/main" val="4179115029"/>
                  </a:ext>
                </a:extLst>
              </a:tr>
            </a:tbl>
          </a:graphicData>
        </a:graphic>
      </p:graphicFrame>
    </p:spTree>
    <p:extLst>
      <p:ext uri="{BB962C8B-B14F-4D97-AF65-F5344CB8AC3E}">
        <p14:creationId xmlns:p14="http://schemas.microsoft.com/office/powerpoint/2010/main" val="181005055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FB49B-F6B1-BF08-049A-58E124DA3C1B}"/>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C929B901-0A20-FE1E-46F3-783B53EDA5F3}"/>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100</a:t>
            </a:fld>
            <a:endParaRPr lang="en-US"/>
          </a:p>
        </p:txBody>
      </p:sp>
      <p:sp>
        <p:nvSpPr>
          <p:cNvPr id="2" name="Title 1">
            <a:extLst>
              <a:ext uri="{FF2B5EF4-FFF2-40B4-BE49-F238E27FC236}">
                <a16:creationId xmlns:a16="http://schemas.microsoft.com/office/drawing/2014/main" id="{46E2EA1D-A7D1-90DC-D1A1-1C7A01A9C509}"/>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التقنية"</a:t>
            </a:r>
            <a:r>
              <a:rPr lang="ar-EG" sz="2800" dirty="0"/>
              <a:t> -</a:t>
            </a:r>
            <a:r>
              <a:rPr lang="ar-EG" dirty="0"/>
              <a:t> </a:t>
            </a:r>
            <a:r>
              <a:rPr lang="en-US" dirty="0"/>
              <a:t>تفصيل سمات </a:t>
            </a:r>
            <a:r>
              <a:rPr lang="ar-SA" dirty="0"/>
              <a:t>وحدة </a:t>
            </a:r>
            <a:r>
              <a:rPr lang="ar-EG" dirty="0"/>
              <a:t>ال</a:t>
            </a:r>
            <a:r>
              <a:rPr lang="ar-SA" dirty="0"/>
              <a:t>بناء "مركز بيانات</a:t>
            </a:r>
            <a:r>
              <a:rPr lang="ar-EG" dirty="0"/>
              <a:t> - </a:t>
            </a:r>
            <a:r>
              <a:rPr lang="en-US" dirty="0"/>
              <a:t>Data Center</a:t>
            </a:r>
            <a:r>
              <a:rPr lang="ar-SA" dirty="0"/>
              <a:t>"</a:t>
            </a:r>
            <a:endParaRPr lang="en-US" dirty="0"/>
          </a:p>
        </p:txBody>
      </p:sp>
      <p:graphicFrame>
        <p:nvGraphicFramePr>
          <p:cNvPr id="4" name="Table 3">
            <a:extLst>
              <a:ext uri="{FF2B5EF4-FFF2-40B4-BE49-F238E27FC236}">
                <a16:creationId xmlns:a16="http://schemas.microsoft.com/office/drawing/2014/main" id="{5DCE3988-42FE-AC2A-DA76-56E135C46607}"/>
              </a:ext>
            </a:extLst>
          </p:cNvPr>
          <p:cNvGraphicFramePr>
            <a:graphicFrameLocks noGrp="1"/>
          </p:cNvGraphicFramePr>
          <p:nvPr>
            <p:extLst>
              <p:ext uri="{D42A27DB-BD31-4B8C-83A1-F6EECF244321}">
                <p14:modId xmlns:p14="http://schemas.microsoft.com/office/powerpoint/2010/main" val="936596344"/>
              </p:ext>
            </p:extLst>
          </p:nvPr>
        </p:nvGraphicFramePr>
        <p:xfrm>
          <a:off x="981076" y="1319786"/>
          <a:ext cx="10229848" cy="4733319"/>
        </p:xfrm>
        <a:graphic>
          <a:graphicData uri="http://schemas.openxmlformats.org/drawingml/2006/table">
            <a:tbl>
              <a:tblPr firstRow="1" bandRow="1">
                <a:tableStyleId>{5C22544A-7EE6-4342-B048-85BDC9FD1C3A}</a:tableStyleId>
              </a:tblPr>
              <a:tblGrid>
                <a:gridCol w="1767248">
                  <a:extLst>
                    <a:ext uri="{9D8B030D-6E8A-4147-A177-3AD203B41FA5}">
                      <a16:colId xmlns:a16="http://schemas.microsoft.com/office/drawing/2014/main" val="2853404558"/>
                    </a:ext>
                  </a:extLst>
                </a:gridCol>
                <a:gridCol w="5809750">
                  <a:extLst>
                    <a:ext uri="{9D8B030D-6E8A-4147-A177-3AD203B41FA5}">
                      <a16:colId xmlns:a16="http://schemas.microsoft.com/office/drawing/2014/main" val="1866450976"/>
                    </a:ext>
                  </a:extLst>
                </a:gridCol>
                <a:gridCol w="1326425">
                  <a:extLst>
                    <a:ext uri="{9D8B030D-6E8A-4147-A177-3AD203B41FA5}">
                      <a16:colId xmlns:a16="http://schemas.microsoft.com/office/drawing/2014/main" val="751160629"/>
                    </a:ext>
                  </a:extLst>
                </a:gridCol>
                <a:gridCol w="1326425">
                  <a:extLst>
                    <a:ext uri="{9D8B030D-6E8A-4147-A177-3AD203B41FA5}">
                      <a16:colId xmlns:a16="http://schemas.microsoft.com/office/drawing/2014/main" val="2645185431"/>
                    </a:ext>
                  </a:extLst>
                </a:gridCol>
              </a:tblGrid>
              <a:tr h="344199">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Attribute Name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Description</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b="1" u="none" strike="noStrike" kern="1200" baseline="0" dirty="0">
                          <a:solidFill>
                            <a:schemeClr val="lt1"/>
                          </a:solidFill>
                          <a:effectLst/>
                          <a:latin typeface="Sakkal Majalla" panose="02000000000000000000" pitchFamily="2" charset="-78"/>
                          <a:ea typeface="+mn-ea"/>
                          <a:cs typeface="Sakkal Majalla" panose="02000000000000000000" pitchFamily="2" charset="-78"/>
                        </a:rPr>
                        <a:t>Type</a:t>
                      </a:r>
                      <a:endParaRPr lang="ar-SA" sz="2000" b="1" u="none" strike="noStrike" kern="1200" baseline="0" dirty="0">
                        <a:solidFill>
                          <a:schemeClr val="lt1"/>
                        </a:solidFill>
                        <a:effectLst/>
                        <a:latin typeface="Sakkal Majalla" panose="02000000000000000000" pitchFamily="2" charset="-78"/>
                        <a:ea typeface="+mn-ea"/>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Doc. Mandate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extLst>
                  <a:ext uri="{0D108BD9-81ED-4DB2-BD59-A6C34878D82A}">
                    <a16:rowId xmlns:a16="http://schemas.microsoft.com/office/drawing/2014/main" val="2998368315"/>
                  </a:ext>
                </a:extLst>
              </a:tr>
              <a:tr h="4035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 unique identifier for the data center</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Alphanumeric</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177790647"/>
                  </a:ext>
                </a:extLst>
              </a:tr>
              <a:tr h="4035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Name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official name of the data center.</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1426280651"/>
                  </a:ext>
                </a:extLst>
              </a:tr>
              <a:tr h="403541">
                <a:tc>
                  <a:txBody>
                    <a:bodyPr/>
                    <a:lstStyle/>
                    <a:p>
                      <a:pPr algn="ctr" fontAlgn="b"/>
                      <a:r>
                        <a:rPr lang="en-US" sz="1800" b="1" i="0" u="none" strike="noStrike" baseline="0">
                          <a:solidFill>
                            <a:srgbClr val="000000"/>
                          </a:solidFill>
                          <a:effectLst/>
                          <a:latin typeface="Sakkal Majalla" panose="02000000000000000000" pitchFamily="2" charset="-78"/>
                          <a:cs typeface="Sakkal Majalla" panose="02000000000000000000" pitchFamily="2" charset="-78"/>
                        </a:rPr>
                        <a:t>Description</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 detailed description of the data center&gt; Provides clarity on purpose, scope,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Optional</a:t>
                      </a:r>
                    </a:p>
                  </a:txBody>
                  <a:tcPr marL="137160" marR="137160" marT="137160" marB="137160" anchor="b"/>
                </a:tc>
                <a:extLst>
                  <a:ext uri="{0D108BD9-81ED-4DB2-BD59-A6C34878D82A}">
                    <a16:rowId xmlns:a16="http://schemas.microsoft.com/office/drawing/2014/main" val="3646919947"/>
                  </a:ext>
                </a:extLst>
              </a:tr>
              <a:tr h="4035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Role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function of the data center, e.g., main or disaster recovery (e.g. Primary DC, DR .. </a:t>
                      </a:r>
                      <a:r>
                        <a:rPr lang="en-US" sz="1600" b="0" i="0" u="none" strike="noStrike" baseline="0" dirty="0" err="1">
                          <a:solidFill>
                            <a:srgbClr val="000000"/>
                          </a:solidFill>
                          <a:effectLst/>
                          <a:latin typeface="Sakkal Majalla" panose="02000000000000000000" pitchFamily="2" charset="-78"/>
                          <a:cs typeface="Sakkal Majalla" panose="02000000000000000000" pitchFamily="2" charset="-78"/>
                        </a:rPr>
                        <a:t>Etc</a:t>
                      </a:r>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20032958"/>
                  </a:ext>
                </a:extLst>
              </a:tr>
              <a:tr h="4035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Tier Rating</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tier rating of the data center (Tier 1 to Tier 4)</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719192168"/>
                  </a:ext>
                </a:extLst>
              </a:tr>
              <a:tr h="4035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Type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Whether the data center is third-party or on-premises</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3256083373"/>
                  </a:ext>
                </a:extLst>
              </a:tr>
              <a:tr h="4035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Technology</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technology used (e.g., traditional or cloud)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1589904935"/>
                  </a:ext>
                </a:extLst>
              </a:tr>
              <a:tr h="4035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Location</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physical or geographic location of the data center, </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653200319"/>
                  </a:ext>
                </a:extLst>
              </a:tr>
            </a:tbl>
          </a:graphicData>
        </a:graphic>
      </p:graphicFrame>
    </p:spTree>
    <p:extLst>
      <p:ext uri="{BB962C8B-B14F-4D97-AF65-F5344CB8AC3E}">
        <p14:creationId xmlns:p14="http://schemas.microsoft.com/office/powerpoint/2010/main" val="86672506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A874E-2003-6D8B-6751-F69E4E584138}"/>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49891880-C57B-9F59-03F9-210C5E5ACD4F}"/>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101</a:t>
            </a:fld>
            <a:endParaRPr lang="en-US"/>
          </a:p>
        </p:txBody>
      </p:sp>
      <p:sp>
        <p:nvSpPr>
          <p:cNvPr id="2" name="Title 1">
            <a:extLst>
              <a:ext uri="{FF2B5EF4-FFF2-40B4-BE49-F238E27FC236}">
                <a16:creationId xmlns:a16="http://schemas.microsoft.com/office/drawing/2014/main" id="{03020540-AFBA-47D4-3CFB-4636C6D720B7}"/>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التقنية"</a:t>
            </a:r>
            <a:r>
              <a:rPr lang="ar-EG" sz="2800" dirty="0"/>
              <a:t> -</a:t>
            </a:r>
            <a:r>
              <a:rPr lang="ar-EG" dirty="0"/>
              <a:t> </a:t>
            </a:r>
            <a:r>
              <a:rPr lang="en-US" dirty="0"/>
              <a:t>تفصيل سمات </a:t>
            </a:r>
            <a:r>
              <a:rPr lang="ar-SA" dirty="0"/>
              <a:t>وحدة </a:t>
            </a:r>
            <a:r>
              <a:rPr lang="ar-EG" dirty="0"/>
              <a:t>ال</a:t>
            </a:r>
            <a:r>
              <a:rPr lang="ar-SA" dirty="0"/>
              <a:t>بناء "مضيف مادي</a:t>
            </a:r>
            <a:r>
              <a:rPr lang="ar-EG" dirty="0"/>
              <a:t> - </a:t>
            </a:r>
            <a:r>
              <a:rPr lang="en-US" dirty="0"/>
              <a:t>Physical Host</a:t>
            </a:r>
            <a:r>
              <a:rPr lang="ar-SA" dirty="0"/>
              <a:t>"</a:t>
            </a:r>
            <a:endParaRPr lang="en-US" dirty="0"/>
          </a:p>
        </p:txBody>
      </p:sp>
      <p:graphicFrame>
        <p:nvGraphicFramePr>
          <p:cNvPr id="4" name="Table 3">
            <a:extLst>
              <a:ext uri="{FF2B5EF4-FFF2-40B4-BE49-F238E27FC236}">
                <a16:creationId xmlns:a16="http://schemas.microsoft.com/office/drawing/2014/main" id="{8FE0A93D-188F-14C2-19FB-2A986B64EA41}"/>
              </a:ext>
            </a:extLst>
          </p:cNvPr>
          <p:cNvGraphicFramePr>
            <a:graphicFrameLocks noGrp="1"/>
          </p:cNvGraphicFramePr>
          <p:nvPr>
            <p:extLst>
              <p:ext uri="{D42A27DB-BD31-4B8C-83A1-F6EECF244321}">
                <p14:modId xmlns:p14="http://schemas.microsoft.com/office/powerpoint/2010/main" val="994702867"/>
              </p:ext>
            </p:extLst>
          </p:nvPr>
        </p:nvGraphicFramePr>
        <p:xfrm>
          <a:off x="920320" y="1110194"/>
          <a:ext cx="10601326" cy="4990887"/>
        </p:xfrm>
        <a:graphic>
          <a:graphicData uri="http://schemas.openxmlformats.org/drawingml/2006/table">
            <a:tbl>
              <a:tblPr firstRow="1" bandRow="1">
                <a:tableStyleId>{5C22544A-7EE6-4342-B048-85BDC9FD1C3A}</a:tableStyleId>
              </a:tblPr>
              <a:tblGrid>
                <a:gridCol w="1936513">
                  <a:extLst>
                    <a:ext uri="{9D8B030D-6E8A-4147-A177-3AD203B41FA5}">
                      <a16:colId xmlns:a16="http://schemas.microsoft.com/office/drawing/2014/main" val="2853404558"/>
                    </a:ext>
                  </a:extLst>
                </a:gridCol>
                <a:gridCol w="5832829">
                  <a:extLst>
                    <a:ext uri="{9D8B030D-6E8A-4147-A177-3AD203B41FA5}">
                      <a16:colId xmlns:a16="http://schemas.microsoft.com/office/drawing/2014/main" val="1866450976"/>
                    </a:ext>
                  </a:extLst>
                </a:gridCol>
                <a:gridCol w="1415992">
                  <a:extLst>
                    <a:ext uri="{9D8B030D-6E8A-4147-A177-3AD203B41FA5}">
                      <a16:colId xmlns:a16="http://schemas.microsoft.com/office/drawing/2014/main" val="751160629"/>
                    </a:ext>
                  </a:extLst>
                </a:gridCol>
                <a:gridCol w="1415992">
                  <a:extLst>
                    <a:ext uri="{9D8B030D-6E8A-4147-A177-3AD203B41FA5}">
                      <a16:colId xmlns:a16="http://schemas.microsoft.com/office/drawing/2014/main" val="3154620213"/>
                    </a:ext>
                  </a:extLst>
                </a:gridCol>
              </a:tblGrid>
              <a:tr h="360167">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Attribute Name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Description</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Type</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u="none" strike="noStrike" baseline="0" dirty="0">
                          <a:effectLst/>
                          <a:latin typeface="Sakkal Majalla" panose="02000000000000000000" pitchFamily="2" charset="-78"/>
                          <a:cs typeface="Sakkal Majalla" panose="02000000000000000000" pitchFamily="2" charset="-78"/>
                        </a:rPr>
                        <a:t>Doc. Mandate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extLst>
                  <a:ext uri="{0D108BD9-81ED-4DB2-BD59-A6C34878D82A}">
                    <a16:rowId xmlns:a16="http://schemas.microsoft.com/office/drawing/2014/main" val="2998368315"/>
                  </a:ext>
                </a:extLst>
              </a:tr>
              <a:tr h="289420">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ID</a:t>
                      </a:r>
                    </a:p>
                  </a:txBody>
                  <a:tcPr marT="0" marB="0" anchor="b"/>
                </a:tc>
                <a:tc>
                  <a:txBody>
                    <a:bodyPr/>
                    <a:lstStyle/>
                    <a:p>
                      <a:pPr algn="l" fontAlgn="b"/>
                      <a:r>
                        <a:rPr lang="en-US" sz="1600" b="0" i="0" u="none" strike="noStrike" baseline="0">
                          <a:solidFill>
                            <a:srgbClr val="000000"/>
                          </a:solidFill>
                          <a:effectLst/>
                          <a:latin typeface="Sakkal Majalla" panose="02000000000000000000" pitchFamily="2" charset="-78"/>
                          <a:cs typeface="Sakkal Majalla" panose="02000000000000000000" pitchFamily="2" charset="-78"/>
                        </a:rPr>
                        <a:t>A unique identifier for the physical host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Alphanumeric</a:t>
                      </a:r>
                    </a:p>
                  </a:txBody>
                  <a:tcPr marT="0" marB="0" anchor="b"/>
                </a:tc>
                <a:tc>
                  <a:txBody>
                    <a:bodyPr/>
                    <a:lstStyle/>
                    <a:p>
                      <a:pPr algn="l" fontAlgn="b"/>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extLst>
                  <a:ext uri="{0D108BD9-81ED-4DB2-BD59-A6C34878D82A}">
                    <a16:rowId xmlns:a16="http://schemas.microsoft.com/office/drawing/2014/main" val="2177790647"/>
                  </a:ext>
                </a:extLst>
              </a:tr>
              <a:tr h="289420">
                <a:tc>
                  <a:txBody>
                    <a:bodyPr/>
                    <a:lstStyle/>
                    <a:p>
                      <a:pPr algn="ctr" fontAlgn="b"/>
                      <a:r>
                        <a:rPr lang="en-US" sz="1800" b="1" i="0" u="none" strike="noStrike" baseline="0">
                          <a:solidFill>
                            <a:srgbClr val="000000"/>
                          </a:solidFill>
                          <a:effectLst/>
                          <a:latin typeface="Sakkal Majalla" panose="02000000000000000000" pitchFamily="2" charset="-78"/>
                          <a:cs typeface="Sakkal Majalla" panose="02000000000000000000" pitchFamily="2" charset="-78"/>
                        </a:rPr>
                        <a:t>Name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name assigned to the physical host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extLst>
                  <a:ext uri="{0D108BD9-81ED-4DB2-BD59-A6C34878D82A}">
                    <a16:rowId xmlns:a16="http://schemas.microsoft.com/office/drawing/2014/main" val="176073267"/>
                  </a:ext>
                </a:extLst>
              </a:tr>
              <a:tr h="289420">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Description</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 detailed description of the physical host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extLst>
                  <a:ext uri="{0D108BD9-81ED-4DB2-BD59-A6C34878D82A}">
                    <a16:rowId xmlns:a16="http://schemas.microsoft.com/office/drawing/2014/main" val="3894364827"/>
                  </a:ext>
                </a:extLst>
              </a:tr>
              <a:tr h="289420">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Model Name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model's name of the physical host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extLst>
                  <a:ext uri="{0D108BD9-81ED-4DB2-BD59-A6C34878D82A}">
                    <a16:rowId xmlns:a16="http://schemas.microsoft.com/office/drawing/2014/main" val="2126126028"/>
                  </a:ext>
                </a:extLst>
              </a:tr>
              <a:tr h="289420">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Vendor</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vendor providing the physical host hardware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marT="0" marB="0" anchor="b"/>
                </a:tc>
                <a:tc>
                  <a:txBody>
                    <a:bodyPr/>
                    <a:lstStyle/>
                    <a:p>
                      <a:pPr algn="l" fontAlgn="b"/>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extLst>
                  <a:ext uri="{0D108BD9-81ED-4DB2-BD59-A6C34878D82A}">
                    <a16:rowId xmlns:a16="http://schemas.microsoft.com/office/drawing/2014/main" val="1701551514"/>
                  </a:ext>
                </a:extLst>
              </a:tr>
              <a:tr h="289420">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Install Date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date when the physical host was installed</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Date</a:t>
                      </a:r>
                    </a:p>
                  </a:txBody>
                  <a:tcPr marT="0" marB="0" anchor="b"/>
                </a:tc>
                <a:tc>
                  <a:txBody>
                    <a:bodyPr/>
                    <a:lstStyle/>
                    <a:p>
                      <a:pPr algn="l" fontAlgn="b"/>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extLst>
                  <a:ext uri="{0D108BD9-81ED-4DB2-BD59-A6C34878D82A}">
                    <a16:rowId xmlns:a16="http://schemas.microsoft.com/office/drawing/2014/main" val="3497388524"/>
                  </a:ext>
                </a:extLst>
              </a:tr>
              <a:tr h="289420">
                <a:tc>
                  <a:txBody>
                    <a:bodyPr/>
                    <a:lstStyle/>
                    <a:p>
                      <a:pPr algn="ctr" fontAlgn="b"/>
                      <a:r>
                        <a:rPr lang="en-US" sz="1800" b="1" i="0" u="none" strike="noStrike" baseline="0">
                          <a:solidFill>
                            <a:srgbClr val="000000"/>
                          </a:solidFill>
                          <a:effectLst/>
                          <a:latin typeface="Sakkal Majalla" panose="02000000000000000000" pitchFamily="2" charset="-78"/>
                          <a:cs typeface="Sakkal Majalla" panose="02000000000000000000" pitchFamily="2" charset="-78"/>
                        </a:rPr>
                        <a:t>City</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city where the physical host is located</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extLst>
                  <a:ext uri="{0D108BD9-81ED-4DB2-BD59-A6C34878D82A}">
                    <a16:rowId xmlns:a16="http://schemas.microsoft.com/office/drawing/2014/main" val="1426280651"/>
                  </a:ext>
                </a:extLst>
              </a:tr>
              <a:tr h="289420">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Building</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specific building where the physical host resides</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extLst>
                  <a:ext uri="{0D108BD9-81ED-4DB2-BD59-A6C34878D82A}">
                    <a16:rowId xmlns:a16="http://schemas.microsoft.com/office/drawing/2014/main" val="3646919947"/>
                  </a:ext>
                </a:extLst>
              </a:tr>
              <a:tr h="289420">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Location</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full location details for the physical host</a:t>
                      </a:r>
                    </a:p>
                  </a:txBody>
                  <a:tcPr marT="0" marB="0" anchor="b"/>
                </a:tc>
                <a:tc>
                  <a:txBody>
                    <a:bodyPr/>
                    <a:lstStyle/>
                    <a:p>
                      <a:pPr algn="l" fontAlgn="b"/>
                      <a:r>
                        <a:rPr lang="en-US" sz="1600" b="0" i="0" u="none" strike="noStrike" baseline="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endParaRPr lang="en-US" sz="1600" b="0" i="0" u="none" strike="noStrike" baseline="0">
                        <a:solidFill>
                          <a:srgbClr val="000000"/>
                        </a:solidFill>
                        <a:effectLst/>
                        <a:latin typeface="Sakkal Majalla" panose="02000000000000000000" pitchFamily="2" charset="-78"/>
                        <a:cs typeface="Sakkal Majalla" panose="02000000000000000000" pitchFamily="2" charset="-78"/>
                      </a:endParaRPr>
                    </a:p>
                  </a:txBody>
                  <a:tcPr marT="0" marB="0" anchor="b"/>
                </a:tc>
                <a:extLst>
                  <a:ext uri="{0D108BD9-81ED-4DB2-BD59-A6C34878D82A}">
                    <a16:rowId xmlns:a16="http://schemas.microsoft.com/office/drawing/2014/main" val="220032958"/>
                  </a:ext>
                </a:extLst>
              </a:tr>
              <a:tr h="289420">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Total Physical Memory</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total RAM installed in the physical host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Number</a:t>
                      </a:r>
                    </a:p>
                  </a:txBody>
                  <a:tcPr marT="0" marB="0" anchor="b"/>
                </a:tc>
                <a:tc>
                  <a:txBody>
                    <a:bodyPr/>
                    <a:lstStyle/>
                    <a:p>
                      <a:pPr algn="l" fontAlgn="b"/>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extLst>
                  <a:ext uri="{0D108BD9-81ED-4DB2-BD59-A6C34878D82A}">
                    <a16:rowId xmlns:a16="http://schemas.microsoft.com/office/drawing/2014/main" val="2719192168"/>
                  </a:ext>
                </a:extLst>
              </a:tr>
              <a:tr h="289420">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CPU Name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name of the CPU installed in the physical host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extLst>
                  <a:ext uri="{0D108BD9-81ED-4DB2-BD59-A6C34878D82A}">
                    <a16:rowId xmlns:a16="http://schemas.microsoft.com/office/drawing/2014/main" val="3256083373"/>
                  </a:ext>
                </a:extLst>
              </a:tr>
              <a:tr h="289420">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CPU Max Speed</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maximum speed of the installed CPU</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Number</a:t>
                      </a:r>
                    </a:p>
                  </a:txBody>
                  <a:tcPr marT="0" marB="0" anchor="b"/>
                </a:tc>
                <a:tc>
                  <a:txBody>
                    <a:bodyPr/>
                    <a:lstStyle/>
                    <a:p>
                      <a:pPr algn="l" fontAlgn="b"/>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extLst>
                  <a:ext uri="{0D108BD9-81ED-4DB2-BD59-A6C34878D82A}">
                    <a16:rowId xmlns:a16="http://schemas.microsoft.com/office/drawing/2014/main" val="1589904935"/>
                  </a:ext>
                </a:extLst>
              </a:tr>
              <a:tr h="289420">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Logical CPU</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number of logical CPUs (cores x threads)</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Number</a:t>
                      </a:r>
                    </a:p>
                  </a:txBody>
                  <a:tcPr marT="0" marB="0" anchor="b"/>
                </a:tc>
                <a:tc>
                  <a:txBody>
                    <a:bodyPr/>
                    <a:lstStyle/>
                    <a:p>
                      <a:pPr algn="l" fontAlgn="b"/>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extLst>
                  <a:ext uri="{0D108BD9-81ED-4DB2-BD59-A6C34878D82A}">
                    <a16:rowId xmlns:a16="http://schemas.microsoft.com/office/drawing/2014/main" val="653200319"/>
                  </a:ext>
                </a:extLst>
              </a:tr>
              <a:tr h="289420">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HDD Size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total hard disk space on the physical host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Number</a:t>
                      </a:r>
                    </a:p>
                  </a:txBody>
                  <a:tcPr marT="0" marB="0" anchor="b"/>
                </a:tc>
                <a:tc>
                  <a:txBody>
                    <a:bodyPr/>
                    <a:lstStyle/>
                    <a:p>
                      <a:pPr algn="l" fontAlgn="b"/>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extLst>
                  <a:ext uri="{0D108BD9-81ED-4DB2-BD59-A6C34878D82A}">
                    <a16:rowId xmlns:a16="http://schemas.microsoft.com/office/drawing/2014/main" val="1996831406"/>
                  </a:ext>
                </a:extLst>
              </a:tr>
              <a:tr h="289420">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Business Severity</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importance of the physical host to business operations (e.g. Critical, Medium, Low)</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marT="0" marB="0" anchor="b"/>
                </a:tc>
                <a:tc>
                  <a:txBody>
                    <a:bodyPr/>
                    <a:lstStyle/>
                    <a:p>
                      <a:pPr algn="l" fontAlgn="b"/>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extLst>
                  <a:ext uri="{0D108BD9-81ED-4DB2-BD59-A6C34878D82A}">
                    <a16:rowId xmlns:a16="http://schemas.microsoft.com/office/drawing/2014/main" val="2527114550"/>
                  </a:ext>
                </a:extLst>
              </a:tr>
              <a:tr h="289420">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Vendor Support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Indicates if vendor support is available for this physical host and the details</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endParaRPr lang="en-US" sz="16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T="0" marB="0" anchor="b"/>
                </a:tc>
                <a:extLst>
                  <a:ext uri="{0D108BD9-81ED-4DB2-BD59-A6C34878D82A}">
                    <a16:rowId xmlns:a16="http://schemas.microsoft.com/office/drawing/2014/main" val="3603808463"/>
                  </a:ext>
                </a:extLst>
              </a:tr>
            </a:tbl>
          </a:graphicData>
        </a:graphic>
      </p:graphicFrame>
    </p:spTree>
    <p:extLst>
      <p:ext uri="{BB962C8B-B14F-4D97-AF65-F5344CB8AC3E}">
        <p14:creationId xmlns:p14="http://schemas.microsoft.com/office/powerpoint/2010/main" val="13357022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AA2C8-B537-8460-F9C1-828765B758CE}"/>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2D390780-7774-E7C0-50E3-670402C5009A}"/>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102</a:t>
            </a:fld>
            <a:endParaRPr lang="en-US"/>
          </a:p>
        </p:txBody>
      </p:sp>
      <p:sp>
        <p:nvSpPr>
          <p:cNvPr id="2" name="Title 1">
            <a:extLst>
              <a:ext uri="{FF2B5EF4-FFF2-40B4-BE49-F238E27FC236}">
                <a16:creationId xmlns:a16="http://schemas.microsoft.com/office/drawing/2014/main" id="{EC7D0D43-9433-4F1D-3A8F-4D37EA7C4E9E}"/>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التقنية"</a:t>
            </a:r>
            <a:r>
              <a:rPr lang="ar-EG" sz="2800" dirty="0"/>
              <a:t> -</a:t>
            </a:r>
            <a:r>
              <a:rPr lang="ar-EG" dirty="0"/>
              <a:t> </a:t>
            </a:r>
            <a:r>
              <a:rPr lang="en-US" dirty="0"/>
              <a:t>تفصيل سمات </a:t>
            </a:r>
            <a:r>
              <a:rPr lang="ar-SA" dirty="0"/>
              <a:t>وحدة </a:t>
            </a:r>
            <a:r>
              <a:rPr lang="ar-EG" dirty="0"/>
              <a:t>ال</a:t>
            </a:r>
            <a:r>
              <a:rPr lang="ar-SA" dirty="0"/>
              <a:t>بناء "خادم</a:t>
            </a:r>
            <a:r>
              <a:rPr lang="ar-EG" dirty="0"/>
              <a:t> - </a:t>
            </a:r>
            <a:r>
              <a:rPr lang="en-US" dirty="0"/>
              <a:t>Server</a:t>
            </a:r>
            <a:r>
              <a:rPr lang="ar-SA" dirty="0"/>
              <a:t>"</a:t>
            </a:r>
            <a:endParaRPr lang="en-US" dirty="0"/>
          </a:p>
        </p:txBody>
      </p:sp>
      <p:graphicFrame>
        <p:nvGraphicFramePr>
          <p:cNvPr id="4" name="Table 3">
            <a:extLst>
              <a:ext uri="{FF2B5EF4-FFF2-40B4-BE49-F238E27FC236}">
                <a16:creationId xmlns:a16="http://schemas.microsoft.com/office/drawing/2014/main" id="{00676ADA-67BA-EFCE-2925-0798344498C8}"/>
              </a:ext>
            </a:extLst>
          </p:cNvPr>
          <p:cNvGraphicFramePr>
            <a:graphicFrameLocks noGrp="1"/>
          </p:cNvGraphicFramePr>
          <p:nvPr>
            <p:extLst>
              <p:ext uri="{D42A27DB-BD31-4B8C-83A1-F6EECF244321}">
                <p14:modId xmlns:p14="http://schemas.microsoft.com/office/powerpoint/2010/main" val="2282240872"/>
              </p:ext>
            </p:extLst>
          </p:nvPr>
        </p:nvGraphicFramePr>
        <p:xfrm>
          <a:off x="621451" y="1126968"/>
          <a:ext cx="11118792" cy="5096256"/>
        </p:xfrm>
        <a:graphic>
          <a:graphicData uri="http://schemas.openxmlformats.org/drawingml/2006/table">
            <a:tbl>
              <a:tblPr firstRow="1" bandRow="1">
                <a:tableStyleId>{5C22544A-7EE6-4342-B048-85BDC9FD1C3A}</a:tableStyleId>
              </a:tblPr>
              <a:tblGrid>
                <a:gridCol w="2600131">
                  <a:extLst>
                    <a:ext uri="{9D8B030D-6E8A-4147-A177-3AD203B41FA5}">
                      <a16:colId xmlns:a16="http://schemas.microsoft.com/office/drawing/2014/main" val="2853404558"/>
                    </a:ext>
                  </a:extLst>
                </a:gridCol>
                <a:gridCol w="5350918">
                  <a:extLst>
                    <a:ext uri="{9D8B030D-6E8A-4147-A177-3AD203B41FA5}">
                      <a16:colId xmlns:a16="http://schemas.microsoft.com/office/drawing/2014/main" val="1866450976"/>
                    </a:ext>
                  </a:extLst>
                </a:gridCol>
                <a:gridCol w="1257300">
                  <a:extLst>
                    <a:ext uri="{9D8B030D-6E8A-4147-A177-3AD203B41FA5}">
                      <a16:colId xmlns:a16="http://schemas.microsoft.com/office/drawing/2014/main" val="751160629"/>
                    </a:ext>
                  </a:extLst>
                </a:gridCol>
                <a:gridCol w="1910443">
                  <a:extLst>
                    <a:ext uri="{9D8B030D-6E8A-4147-A177-3AD203B41FA5}">
                      <a16:colId xmlns:a16="http://schemas.microsoft.com/office/drawing/2014/main" val="2358398355"/>
                    </a:ext>
                  </a:extLst>
                </a:gridCol>
              </a:tblGrid>
              <a:tr h="313530">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Attribute Name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Description</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Type</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u="none" strike="noStrike" baseline="0" dirty="0">
                          <a:effectLst/>
                          <a:latin typeface="Sakkal Majalla" panose="02000000000000000000" pitchFamily="2" charset="-78"/>
                          <a:cs typeface="Sakkal Majalla" panose="02000000000000000000" pitchFamily="2" charset="-78"/>
                        </a:rPr>
                        <a:t>Doc. Mandate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extLst>
                  <a:ext uri="{0D108BD9-81ED-4DB2-BD59-A6C34878D82A}">
                    <a16:rowId xmlns:a16="http://schemas.microsoft.com/office/drawing/2014/main" val="2998368315"/>
                  </a:ext>
                </a:extLst>
              </a:tr>
              <a:tr h="335925">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ID</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 unique identifier for the server</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Alphanumeric</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anchor="b"/>
                </a:tc>
                <a:extLst>
                  <a:ext uri="{0D108BD9-81ED-4DB2-BD59-A6C34878D82A}">
                    <a16:rowId xmlns:a16="http://schemas.microsoft.com/office/drawing/2014/main" val="2177790647"/>
                  </a:ext>
                </a:extLst>
              </a:tr>
              <a:tr h="335925">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Name</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name assigned to the server</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anchor="b"/>
                </a:tc>
                <a:extLst>
                  <a:ext uri="{0D108BD9-81ED-4DB2-BD59-A6C34878D82A}">
                    <a16:rowId xmlns:a16="http://schemas.microsoft.com/office/drawing/2014/main" val="2461843438"/>
                  </a:ext>
                </a:extLst>
              </a:tr>
              <a:tr h="335925">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Description</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 detailed description of the server</a:t>
                      </a:r>
                    </a:p>
                  </a:txBody>
                  <a:tcPr anchor="b"/>
                </a:tc>
                <a:tc>
                  <a:txBody>
                    <a:bodyPr/>
                    <a:lstStyle/>
                    <a:p>
                      <a:pPr algn="l" fontAlgn="b"/>
                      <a:r>
                        <a:rPr lang="en-US" sz="1600" b="0" i="0" u="none" strike="noStrike" baseline="0">
                          <a:solidFill>
                            <a:srgbClr val="000000"/>
                          </a:solidFill>
                          <a:effectLst/>
                          <a:latin typeface="Sakkal Majalla" panose="02000000000000000000" pitchFamily="2" charset="-78"/>
                          <a:cs typeface="Sakkal Majalla" panose="02000000000000000000" pitchFamily="2" charset="-78"/>
                        </a:rPr>
                        <a:t>Text</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anchor="b"/>
                </a:tc>
                <a:extLst>
                  <a:ext uri="{0D108BD9-81ED-4DB2-BD59-A6C34878D82A}">
                    <a16:rowId xmlns:a16="http://schemas.microsoft.com/office/drawing/2014/main" val="3364333332"/>
                  </a:ext>
                </a:extLst>
              </a:tr>
              <a:tr h="335925">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Hostname</a:t>
                      </a:r>
                    </a:p>
                  </a:txBody>
                  <a:tcPr anchor="b"/>
                </a:tc>
                <a:tc>
                  <a:txBody>
                    <a:bodyPr/>
                    <a:lstStyle/>
                    <a:p>
                      <a:pPr algn="l" fontAlgn="b"/>
                      <a:r>
                        <a:rPr lang="en-US" sz="1600" b="0" i="0" u="none" strike="noStrike" baseline="0">
                          <a:solidFill>
                            <a:srgbClr val="000000"/>
                          </a:solidFill>
                          <a:effectLst/>
                          <a:latin typeface="Sakkal Majalla" panose="02000000000000000000" pitchFamily="2" charset="-78"/>
                          <a:cs typeface="Sakkal Majalla" panose="02000000000000000000" pitchFamily="2" charset="-78"/>
                        </a:rPr>
                        <a:t>The network hostname assigned to the server</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anchor="b"/>
                </a:tc>
                <a:extLst>
                  <a:ext uri="{0D108BD9-81ED-4DB2-BD59-A6C34878D82A}">
                    <a16:rowId xmlns:a16="http://schemas.microsoft.com/office/drawing/2014/main" val="1426280651"/>
                  </a:ext>
                </a:extLst>
              </a:tr>
              <a:tr h="335925">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Type</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Specifies whether it's a physical or virtual server</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anchor="b"/>
                </a:tc>
                <a:extLst>
                  <a:ext uri="{0D108BD9-81ED-4DB2-BD59-A6C34878D82A}">
                    <a16:rowId xmlns:a16="http://schemas.microsoft.com/office/drawing/2014/main" val="3646919947"/>
                  </a:ext>
                </a:extLst>
              </a:tr>
              <a:tr h="335925">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Server Role</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role/function of the server (e.g., application, database)</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anchor="b"/>
                </a:tc>
                <a:extLst>
                  <a:ext uri="{0D108BD9-81ED-4DB2-BD59-A6C34878D82A}">
                    <a16:rowId xmlns:a16="http://schemas.microsoft.com/office/drawing/2014/main" val="220032958"/>
                  </a:ext>
                </a:extLst>
              </a:tr>
              <a:tr h="335925">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OS Name</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operating system installed on the server</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anchor="b"/>
                </a:tc>
                <a:extLst>
                  <a:ext uri="{0D108BD9-81ED-4DB2-BD59-A6C34878D82A}">
                    <a16:rowId xmlns:a16="http://schemas.microsoft.com/office/drawing/2014/main" val="2719192168"/>
                  </a:ext>
                </a:extLst>
              </a:tr>
              <a:tr h="335925">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IP Address</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IP address assigned to the server</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anchor="b"/>
                </a:tc>
                <a:extLst>
                  <a:ext uri="{0D108BD9-81ED-4DB2-BD59-A6C34878D82A}">
                    <a16:rowId xmlns:a16="http://schemas.microsoft.com/office/drawing/2014/main" val="3256083373"/>
                  </a:ext>
                </a:extLst>
              </a:tr>
              <a:tr h="335925">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Server Zone</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Specifies whether the server is in production, development, staging, testing etc.</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 (on-prim)</a:t>
                      </a:r>
                    </a:p>
                  </a:txBody>
                  <a:tcPr anchor="b"/>
                </a:tc>
                <a:extLst>
                  <a:ext uri="{0D108BD9-81ED-4DB2-BD59-A6C34878D82A}">
                    <a16:rowId xmlns:a16="http://schemas.microsoft.com/office/drawing/2014/main" val="1589904935"/>
                  </a:ext>
                </a:extLst>
              </a:tr>
              <a:tr h="335925">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Hosted Applications/Software</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Links of software applications hosted on the server</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Relation</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 if applicable</a:t>
                      </a:r>
                    </a:p>
                  </a:txBody>
                  <a:tcPr anchor="b"/>
                </a:tc>
                <a:extLst>
                  <a:ext uri="{0D108BD9-81ED-4DB2-BD59-A6C34878D82A}">
                    <a16:rowId xmlns:a16="http://schemas.microsoft.com/office/drawing/2014/main" val="653200319"/>
                  </a:ext>
                </a:extLst>
              </a:tr>
              <a:tr h="335925">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Hosted Database</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Links of databases hosted on the server</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Relation</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 if applicable</a:t>
                      </a:r>
                    </a:p>
                  </a:txBody>
                  <a:tcPr anchor="b"/>
                </a:tc>
                <a:extLst>
                  <a:ext uri="{0D108BD9-81ED-4DB2-BD59-A6C34878D82A}">
                    <a16:rowId xmlns:a16="http://schemas.microsoft.com/office/drawing/2014/main" val="1996831406"/>
                  </a:ext>
                </a:extLst>
              </a:tr>
              <a:tr h="335925">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Business Severity</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criticality of the server to business operations (e.g. Critical, Medium, Low)</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anchor="b"/>
                </a:tc>
                <a:extLst>
                  <a:ext uri="{0D108BD9-81ED-4DB2-BD59-A6C34878D82A}">
                    <a16:rowId xmlns:a16="http://schemas.microsoft.com/office/drawing/2014/main" val="2527114550"/>
                  </a:ext>
                </a:extLst>
              </a:tr>
              <a:tr h="335925">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Vendor Support</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Indicates if vendor support is available for this server and the details</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anchor="b"/>
                </a:tc>
                <a:extLst>
                  <a:ext uri="{0D108BD9-81ED-4DB2-BD59-A6C34878D82A}">
                    <a16:rowId xmlns:a16="http://schemas.microsoft.com/office/drawing/2014/main" val="3603808463"/>
                  </a:ext>
                </a:extLst>
              </a:tr>
            </a:tbl>
          </a:graphicData>
        </a:graphic>
      </p:graphicFrame>
    </p:spTree>
    <p:extLst>
      <p:ext uri="{BB962C8B-B14F-4D97-AF65-F5344CB8AC3E}">
        <p14:creationId xmlns:p14="http://schemas.microsoft.com/office/powerpoint/2010/main" val="24589613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5B9AB-E18D-94C1-67DA-7C8A143240FB}"/>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C03484F3-76A4-3329-2C9C-FF29AB1D84BB}"/>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103</a:t>
            </a:fld>
            <a:endParaRPr lang="en-US"/>
          </a:p>
        </p:txBody>
      </p:sp>
      <p:sp>
        <p:nvSpPr>
          <p:cNvPr id="2" name="Title 1">
            <a:extLst>
              <a:ext uri="{FF2B5EF4-FFF2-40B4-BE49-F238E27FC236}">
                <a16:creationId xmlns:a16="http://schemas.microsoft.com/office/drawing/2014/main" id="{69D1039A-63CA-B547-5771-DCCD544944B7}"/>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التقنية"</a:t>
            </a:r>
            <a:r>
              <a:rPr lang="ar-EG" sz="2800" dirty="0"/>
              <a:t> -</a:t>
            </a:r>
            <a:r>
              <a:rPr lang="ar-EG" dirty="0"/>
              <a:t> </a:t>
            </a:r>
            <a:r>
              <a:rPr lang="en-US" dirty="0"/>
              <a:t>تفصيل سمات </a:t>
            </a:r>
            <a:r>
              <a:rPr lang="ar-SA" dirty="0"/>
              <a:t>وحدة </a:t>
            </a:r>
            <a:r>
              <a:rPr lang="ar-EG" dirty="0"/>
              <a:t>ال</a:t>
            </a:r>
            <a:r>
              <a:rPr lang="ar-SA" dirty="0"/>
              <a:t>بناء "جهاز شبكي</a:t>
            </a:r>
            <a:r>
              <a:rPr lang="en-US" dirty="0"/>
              <a:t> </a:t>
            </a:r>
            <a:r>
              <a:rPr lang="ar-EG" dirty="0"/>
              <a:t>- </a:t>
            </a:r>
            <a:r>
              <a:rPr lang="en-US" dirty="0"/>
              <a:t>Network Device</a:t>
            </a:r>
            <a:r>
              <a:rPr lang="ar-SA" dirty="0"/>
              <a:t>"</a:t>
            </a:r>
            <a:endParaRPr lang="en-US" dirty="0"/>
          </a:p>
        </p:txBody>
      </p:sp>
      <p:graphicFrame>
        <p:nvGraphicFramePr>
          <p:cNvPr id="4" name="Table 3">
            <a:extLst>
              <a:ext uri="{FF2B5EF4-FFF2-40B4-BE49-F238E27FC236}">
                <a16:creationId xmlns:a16="http://schemas.microsoft.com/office/drawing/2014/main" id="{FC615561-3A5C-D297-86BF-6660F754BA88}"/>
              </a:ext>
            </a:extLst>
          </p:cNvPr>
          <p:cNvGraphicFramePr>
            <a:graphicFrameLocks noGrp="1"/>
          </p:cNvGraphicFramePr>
          <p:nvPr>
            <p:extLst>
              <p:ext uri="{D42A27DB-BD31-4B8C-83A1-F6EECF244321}">
                <p14:modId xmlns:p14="http://schemas.microsoft.com/office/powerpoint/2010/main" val="3830693500"/>
              </p:ext>
            </p:extLst>
          </p:nvPr>
        </p:nvGraphicFramePr>
        <p:xfrm>
          <a:off x="506028" y="1196999"/>
          <a:ext cx="11168109" cy="4893927"/>
        </p:xfrm>
        <a:graphic>
          <a:graphicData uri="http://schemas.openxmlformats.org/drawingml/2006/table">
            <a:tbl>
              <a:tblPr firstRow="1" bandRow="1">
                <a:tableStyleId>{5C22544A-7EE6-4342-B048-85BDC9FD1C3A}</a:tableStyleId>
              </a:tblPr>
              <a:tblGrid>
                <a:gridCol w="2157273">
                  <a:extLst>
                    <a:ext uri="{9D8B030D-6E8A-4147-A177-3AD203B41FA5}">
                      <a16:colId xmlns:a16="http://schemas.microsoft.com/office/drawing/2014/main" val="2853404558"/>
                    </a:ext>
                  </a:extLst>
                </a:gridCol>
                <a:gridCol w="6178858">
                  <a:extLst>
                    <a:ext uri="{9D8B030D-6E8A-4147-A177-3AD203B41FA5}">
                      <a16:colId xmlns:a16="http://schemas.microsoft.com/office/drawing/2014/main" val="1866450976"/>
                    </a:ext>
                  </a:extLst>
                </a:gridCol>
                <a:gridCol w="1415989">
                  <a:extLst>
                    <a:ext uri="{9D8B030D-6E8A-4147-A177-3AD203B41FA5}">
                      <a16:colId xmlns:a16="http://schemas.microsoft.com/office/drawing/2014/main" val="751160629"/>
                    </a:ext>
                  </a:extLst>
                </a:gridCol>
                <a:gridCol w="1415989">
                  <a:extLst>
                    <a:ext uri="{9D8B030D-6E8A-4147-A177-3AD203B41FA5}">
                      <a16:colId xmlns:a16="http://schemas.microsoft.com/office/drawing/2014/main" val="2333547534"/>
                    </a:ext>
                  </a:extLst>
                </a:gridCol>
              </a:tblGrid>
              <a:tr h="368982">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Attribute Name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Description</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Type</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u="none" strike="noStrike" baseline="0" dirty="0">
                          <a:effectLst/>
                          <a:latin typeface="Sakkal Majalla" panose="02000000000000000000" pitchFamily="2" charset="-78"/>
                          <a:cs typeface="Sakkal Majalla" panose="02000000000000000000" pitchFamily="2" charset="-78"/>
                        </a:rPr>
                        <a:t>Doc. Mandate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extLst>
                  <a:ext uri="{0D108BD9-81ED-4DB2-BD59-A6C34878D82A}">
                    <a16:rowId xmlns:a16="http://schemas.microsoft.com/office/drawing/2014/main" val="2998368315"/>
                  </a:ext>
                </a:extLst>
              </a:tr>
              <a:tr h="30166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ID</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Unique identifier for the network device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Alphanumeric</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T="0" marB="0" anchor="b"/>
                </a:tc>
                <a:extLst>
                  <a:ext uri="{0D108BD9-81ED-4DB2-BD59-A6C34878D82A}">
                    <a16:rowId xmlns:a16="http://schemas.microsoft.com/office/drawing/2014/main" val="2177790647"/>
                  </a:ext>
                </a:extLst>
              </a:tr>
              <a:tr h="30166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Name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name given to the network device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T="0" marB="0" anchor="b"/>
                </a:tc>
                <a:extLst>
                  <a:ext uri="{0D108BD9-81ED-4DB2-BD59-A6C34878D82A}">
                    <a16:rowId xmlns:a16="http://schemas.microsoft.com/office/drawing/2014/main" val="1156638269"/>
                  </a:ext>
                </a:extLst>
              </a:tr>
              <a:tr h="30166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Description</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 brief description of the network device's purpose and functions</a:t>
                      </a:r>
                    </a:p>
                  </a:txBody>
                  <a:tcPr marT="0" marB="0" anchor="b"/>
                </a:tc>
                <a:tc>
                  <a:txBody>
                    <a:bodyPr/>
                    <a:lstStyle/>
                    <a:p>
                      <a:pPr algn="l" fontAlgn="b"/>
                      <a:r>
                        <a:rPr lang="en-US" sz="1600" b="0" i="0" u="none" strike="noStrike" baseline="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T="0" marB="0" anchor="b"/>
                </a:tc>
                <a:extLst>
                  <a:ext uri="{0D108BD9-81ED-4DB2-BD59-A6C34878D82A}">
                    <a16:rowId xmlns:a16="http://schemas.microsoft.com/office/drawing/2014/main" val="3012871900"/>
                  </a:ext>
                </a:extLst>
              </a:tr>
              <a:tr h="30166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Hostname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device’s network hostname</a:t>
                      </a:r>
                    </a:p>
                  </a:txBody>
                  <a:tcPr marT="0" marB="0" anchor="b"/>
                </a:tc>
                <a:tc>
                  <a:txBody>
                    <a:bodyPr/>
                    <a:lstStyle/>
                    <a:p>
                      <a:pPr algn="l" fontAlgn="b"/>
                      <a:r>
                        <a:rPr lang="en-US" sz="1600" b="0" i="0" u="none" strike="noStrike" baseline="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T="0" marB="0" anchor="b"/>
                </a:tc>
                <a:extLst>
                  <a:ext uri="{0D108BD9-81ED-4DB2-BD59-A6C34878D82A}">
                    <a16:rowId xmlns:a16="http://schemas.microsoft.com/office/drawing/2014/main" val="676105202"/>
                  </a:ext>
                </a:extLst>
              </a:tr>
              <a:tr h="30166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Type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Type of network device, e.g., Router, Switch (Core, Distribution, Access, SAN), Access Point, etc.</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T="0" marB="0" anchor="b"/>
                </a:tc>
                <a:extLst>
                  <a:ext uri="{0D108BD9-81ED-4DB2-BD59-A6C34878D82A}">
                    <a16:rowId xmlns:a16="http://schemas.microsoft.com/office/drawing/2014/main" val="2297583594"/>
                  </a:ext>
                </a:extLst>
              </a:tr>
              <a:tr h="30166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Model Name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Model name of the network device</a:t>
                      </a:r>
                    </a:p>
                  </a:txBody>
                  <a:tcPr marT="0" marB="0" anchor="b"/>
                </a:tc>
                <a:tc>
                  <a:txBody>
                    <a:bodyPr/>
                    <a:lstStyle/>
                    <a:p>
                      <a:pPr algn="l" fontAlgn="b"/>
                      <a:r>
                        <a:rPr lang="en-US" sz="1600" b="0" i="0" u="none" strike="noStrike" baseline="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T="0" marB="0" anchor="b"/>
                </a:tc>
                <a:extLst>
                  <a:ext uri="{0D108BD9-81ED-4DB2-BD59-A6C34878D82A}">
                    <a16:rowId xmlns:a16="http://schemas.microsoft.com/office/drawing/2014/main" val="1426280651"/>
                  </a:ext>
                </a:extLst>
              </a:tr>
              <a:tr h="30166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Vendor</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Vendor providing the network device, e.g., HPE, Cisco, Dell, etc.</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T="0" marB="0" anchor="b"/>
                </a:tc>
                <a:extLst>
                  <a:ext uri="{0D108BD9-81ED-4DB2-BD59-A6C34878D82A}">
                    <a16:rowId xmlns:a16="http://schemas.microsoft.com/office/drawing/2014/main" val="3646919947"/>
                  </a:ext>
                </a:extLst>
              </a:tr>
              <a:tr h="301663">
                <a:tc>
                  <a:txBody>
                    <a:bodyPr/>
                    <a:lstStyle/>
                    <a:p>
                      <a:pPr algn="ctr" fontAlgn="b"/>
                      <a:r>
                        <a:rPr lang="en-US" sz="1800" b="1" i="0" u="none" strike="noStrike" baseline="0">
                          <a:solidFill>
                            <a:srgbClr val="000000"/>
                          </a:solidFill>
                          <a:effectLst/>
                          <a:latin typeface="Sakkal Majalla" panose="02000000000000000000" pitchFamily="2" charset="-78"/>
                          <a:cs typeface="Sakkal Majalla" panose="02000000000000000000" pitchFamily="2" charset="-78"/>
                        </a:rPr>
                        <a:t>OS Name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name of the operating system running on the device</a:t>
                      </a:r>
                    </a:p>
                  </a:txBody>
                  <a:tcPr marT="0" marB="0" anchor="b"/>
                </a:tc>
                <a:tc>
                  <a:txBody>
                    <a:bodyPr/>
                    <a:lstStyle/>
                    <a:p>
                      <a:pPr algn="l" fontAlgn="b"/>
                      <a:r>
                        <a:rPr lang="en-US" sz="1600" b="0" i="0" u="none" strike="noStrike" baseline="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T="0" marB="0" anchor="b"/>
                </a:tc>
                <a:extLst>
                  <a:ext uri="{0D108BD9-81ED-4DB2-BD59-A6C34878D82A}">
                    <a16:rowId xmlns:a16="http://schemas.microsoft.com/office/drawing/2014/main" val="220032958"/>
                  </a:ext>
                </a:extLst>
              </a:tr>
              <a:tr h="30166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City</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city where the device is located</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T="0" marB="0" anchor="b"/>
                </a:tc>
                <a:extLst>
                  <a:ext uri="{0D108BD9-81ED-4DB2-BD59-A6C34878D82A}">
                    <a16:rowId xmlns:a16="http://schemas.microsoft.com/office/drawing/2014/main" val="2719192168"/>
                  </a:ext>
                </a:extLst>
              </a:tr>
              <a:tr h="30166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Building</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building or physical location where the device is installed</a:t>
                      </a:r>
                    </a:p>
                  </a:txBody>
                  <a:tcPr marT="0" marB="0" anchor="b"/>
                </a:tc>
                <a:tc>
                  <a:txBody>
                    <a:bodyPr/>
                    <a:lstStyle/>
                    <a:p>
                      <a:pPr algn="l" fontAlgn="b"/>
                      <a:r>
                        <a:rPr lang="en-US" sz="1600" b="0" i="0" u="none" strike="noStrike" baseline="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T="0" marB="0" anchor="b"/>
                </a:tc>
                <a:extLst>
                  <a:ext uri="{0D108BD9-81ED-4DB2-BD59-A6C34878D82A}">
                    <a16:rowId xmlns:a16="http://schemas.microsoft.com/office/drawing/2014/main" val="3256083373"/>
                  </a:ext>
                </a:extLst>
              </a:tr>
              <a:tr h="30166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Location</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Detailed location information, including floor or room, where the device is installed</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T="0" marB="0" anchor="b"/>
                </a:tc>
                <a:extLst>
                  <a:ext uri="{0D108BD9-81ED-4DB2-BD59-A6C34878D82A}">
                    <a16:rowId xmlns:a16="http://schemas.microsoft.com/office/drawing/2014/main" val="1589904935"/>
                  </a:ext>
                </a:extLst>
              </a:tr>
              <a:tr h="30166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Device Installed Date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date when the network device was installed</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Date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T="0" marB="0" anchor="b"/>
                </a:tc>
                <a:extLst>
                  <a:ext uri="{0D108BD9-81ED-4DB2-BD59-A6C34878D82A}">
                    <a16:rowId xmlns:a16="http://schemas.microsoft.com/office/drawing/2014/main" val="653200319"/>
                  </a:ext>
                </a:extLst>
              </a:tr>
              <a:tr h="30166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Business Severity</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criticality level of the device to business operations (Critical, Medium, Low)</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T="0" marB="0" anchor="b"/>
                </a:tc>
                <a:extLst>
                  <a:ext uri="{0D108BD9-81ED-4DB2-BD59-A6C34878D82A}">
                    <a16:rowId xmlns:a16="http://schemas.microsoft.com/office/drawing/2014/main" val="1996831406"/>
                  </a:ext>
                </a:extLst>
              </a:tr>
              <a:tr h="30166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Support Available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Whether vendor support is available for the device and the details</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T="0" marB="0" anchor="b"/>
                </a:tc>
                <a:extLst>
                  <a:ext uri="{0D108BD9-81ED-4DB2-BD59-A6C34878D82A}">
                    <a16:rowId xmlns:a16="http://schemas.microsoft.com/office/drawing/2014/main" val="2527114550"/>
                  </a:ext>
                </a:extLst>
              </a:tr>
              <a:tr h="30166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IP Address</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IP address assigned to the network device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T="0" marB="0" anchor="b"/>
                </a:tc>
                <a:extLst>
                  <a:ext uri="{0D108BD9-81ED-4DB2-BD59-A6C34878D82A}">
                    <a16:rowId xmlns:a16="http://schemas.microsoft.com/office/drawing/2014/main" val="3603808463"/>
                  </a:ext>
                </a:extLst>
              </a:tr>
            </a:tbl>
          </a:graphicData>
        </a:graphic>
      </p:graphicFrame>
    </p:spTree>
    <p:extLst>
      <p:ext uri="{BB962C8B-B14F-4D97-AF65-F5344CB8AC3E}">
        <p14:creationId xmlns:p14="http://schemas.microsoft.com/office/powerpoint/2010/main" val="371862724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F9C47-865C-608E-3849-48F74203A08A}"/>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146C0080-BF92-EC03-2123-2ABBAF0B21DD}"/>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104</a:t>
            </a:fld>
            <a:endParaRPr lang="en-US"/>
          </a:p>
        </p:txBody>
      </p:sp>
      <p:sp>
        <p:nvSpPr>
          <p:cNvPr id="2" name="Title 1">
            <a:extLst>
              <a:ext uri="{FF2B5EF4-FFF2-40B4-BE49-F238E27FC236}">
                <a16:creationId xmlns:a16="http://schemas.microsoft.com/office/drawing/2014/main" id="{FD6DD4BD-41B0-59A9-57B4-D690BD9D3663}"/>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التقنية"</a:t>
            </a:r>
            <a:r>
              <a:rPr lang="ar-EG" sz="2800" dirty="0"/>
              <a:t> -</a:t>
            </a:r>
            <a:r>
              <a:rPr lang="ar-EG" dirty="0"/>
              <a:t> </a:t>
            </a:r>
            <a:r>
              <a:rPr lang="en-US" dirty="0"/>
              <a:t>تفصيل سمات </a:t>
            </a:r>
            <a:r>
              <a:rPr lang="ar-SA" dirty="0"/>
              <a:t>وحدة </a:t>
            </a:r>
            <a:r>
              <a:rPr lang="ar-EG" dirty="0"/>
              <a:t>ال</a:t>
            </a:r>
            <a:r>
              <a:rPr lang="ar-SA" dirty="0"/>
              <a:t>بناء "رابط شبكي</a:t>
            </a:r>
            <a:r>
              <a:rPr lang="en-US" dirty="0"/>
              <a:t> </a:t>
            </a:r>
            <a:r>
              <a:rPr lang="ar-EG" dirty="0"/>
              <a:t>- </a:t>
            </a:r>
            <a:r>
              <a:rPr lang="en-US" dirty="0"/>
              <a:t>Network Link</a:t>
            </a:r>
            <a:r>
              <a:rPr lang="ar-SA" dirty="0"/>
              <a:t>"</a:t>
            </a:r>
            <a:endParaRPr lang="en-US" dirty="0"/>
          </a:p>
        </p:txBody>
      </p:sp>
      <p:graphicFrame>
        <p:nvGraphicFramePr>
          <p:cNvPr id="4" name="Table 3">
            <a:extLst>
              <a:ext uri="{FF2B5EF4-FFF2-40B4-BE49-F238E27FC236}">
                <a16:creationId xmlns:a16="http://schemas.microsoft.com/office/drawing/2014/main" id="{547FFAFB-2E52-8027-29BD-AFC0B15472E4}"/>
              </a:ext>
            </a:extLst>
          </p:cNvPr>
          <p:cNvGraphicFramePr>
            <a:graphicFrameLocks noGrp="1"/>
          </p:cNvGraphicFramePr>
          <p:nvPr>
            <p:extLst>
              <p:ext uri="{D42A27DB-BD31-4B8C-83A1-F6EECF244321}">
                <p14:modId xmlns:p14="http://schemas.microsoft.com/office/powerpoint/2010/main" val="758864811"/>
              </p:ext>
            </p:extLst>
          </p:nvPr>
        </p:nvGraphicFramePr>
        <p:xfrm>
          <a:off x="787152" y="1196999"/>
          <a:ext cx="10601325" cy="4184679"/>
        </p:xfrm>
        <a:graphic>
          <a:graphicData uri="http://schemas.openxmlformats.org/drawingml/2006/table">
            <a:tbl>
              <a:tblPr firstRow="1" bandRow="1">
                <a:tableStyleId>{5C22544A-7EE6-4342-B048-85BDC9FD1C3A}</a:tableStyleId>
              </a:tblPr>
              <a:tblGrid>
                <a:gridCol w="1645329">
                  <a:extLst>
                    <a:ext uri="{9D8B030D-6E8A-4147-A177-3AD203B41FA5}">
                      <a16:colId xmlns:a16="http://schemas.microsoft.com/office/drawing/2014/main" val="2853404558"/>
                    </a:ext>
                  </a:extLst>
                </a:gridCol>
                <a:gridCol w="6133212">
                  <a:extLst>
                    <a:ext uri="{9D8B030D-6E8A-4147-A177-3AD203B41FA5}">
                      <a16:colId xmlns:a16="http://schemas.microsoft.com/office/drawing/2014/main" val="1866450976"/>
                    </a:ext>
                  </a:extLst>
                </a:gridCol>
                <a:gridCol w="1411392">
                  <a:extLst>
                    <a:ext uri="{9D8B030D-6E8A-4147-A177-3AD203B41FA5}">
                      <a16:colId xmlns:a16="http://schemas.microsoft.com/office/drawing/2014/main" val="751160629"/>
                    </a:ext>
                  </a:extLst>
                </a:gridCol>
                <a:gridCol w="1411392">
                  <a:extLst>
                    <a:ext uri="{9D8B030D-6E8A-4147-A177-3AD203B41FA5}">
                      <a16:colId xmlns:a16="http://schemas.microsoft.com/office/drawing/2014/main" val="3664512396"/>
                    </a:ext>
                  </a:extLst>
                </a:gridCol>
              </a:tblGrid>
              <a:tr h="344199">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Attribute Name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Description</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Type</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u="none" strike="noStrike" baseline="0" dirty="0">
                          <a:effectLst/>
                          <a:latin typeface="Sakkal Majalla" panose="02000000000000000000" pitchFamily="2" charset="-78"/>
                          <a:cs typeface="Sakkal Majalla" panose="02000000000000000000" pitchFamily="2" charset="-78"/>
                        </a:rPr>
                        <a:t>Doc. Mandate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extLst>
                  <a:ext uri="{0D108BD9-81ED-4DB2-BD59-A6C34878D82A}">
                    <a16:rowId xmlns:a16="http://schemas.microsoft.com/office/drawing/2014/main" val="2998368315"/>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Unique identifier for the network link</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Alphanumeric</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177790647"/>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Name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name given to the network link</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1426280651"/>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Description</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 brief description of the network link, its purpose, and functionality</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L="137160" marR="137160" marT="137160" marB="137160" anchor="b"/>
                </a:tc>
                <a:extLst>
                  <a:ext uri="{0D108BD9-81ED-4DB2-BD59-A6C34878D82A}">
                    <a16:rowId xmlns:a16="http://schemas.microsoft.com/office/drawing/2014/main" val="3646919947"/>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Type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type of network link, e.g., LAN, WAN, Internet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20032958"/>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Connected to</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Indicates what the link connects to (e.g., Branch Name, Organization Name, Internet Provider)</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719192168"/>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Technology</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technology used for the link, e.g., MPLS, Microwave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3256083373"/>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Speed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speed of the network link in Mbps or Gbps</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Numbers</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1589904935"/>
                  </a:ext>
                </a:extLst>
              </a:tr>
            </a:tbl>
          </a:graphicData>
        </a:graphic>
      </p:graphicFrame>
    </p:spTree>
    <p:extLst>
      <p:ext uri="{BB962C8B-B14F-4D97-AF65-F5344CB8AC3E}">
        <p14:creationId xmlns:p14="http://schemas.microsoft.com/office/powerpoint/2010/main" val="248936366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C3F0E-E3F8-D756-18F7-A23772195658}"/>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D1C8D0D0-D095-814D-D6ED-0253470B4A60}"/>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105</a:t>
            </a:fld>
            <a:endParaRPr lang="en-US"/>
          </a:p>
        </p:txBody>
      </p:sp>
      <p:sp>
        <p:nvSpPr>
          <p:cNvPr id="2" name="Title 1">
            <a:extLst>
              <a:ext uri="{FF2B5EF4-FFF2-40B4-BE49-F238E27FC236}">
                <a16:creationId xmlns:a16="http://schemas.microsoft.com/office/drawing/2014/main" id="{2DB99911-9A50-FC21-EF55-896134EAF70C}"/>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التقنية"</a:t>
            </a:r>
            <a:r>
              <a:rPr lang="ar-EG" sz="2800" dirty="0"/>
              <a:t> -</a:t>
            </a:r>
            <a:r>
              <a:rPr lang="ar-EG" dirty="0"/>
              <a:t> </a:t>
            </a:r>
            <a:r>
              <a:rPr lang="en-US" dirty="0"/>
              <a:t>تفصيل سمات </a:t>
            </a:r>
            <a:r>
              <a:rPr lang="ar-SA" dirty="0"/>
              <a:t>وحدة </a:t>
            </a:r>
            <a:r>
              <a:rPr lang="ar-EG" dirty="0"/>
              <a:t>ال</a:t>
            </a:r>
            <a:r>
              <a:rPr lang="ar-SA" dirty="0"/>
              <a:t>بناء "تخزين</a:t>
            </a:r>
            <a:r>
              <a:rPr lang="en-US" dirty="0"/>
              <a:t> </a:t>
            </a:r>
            <a:r>
              <a:rPr lang="ar-EG" dirty="0"/>
              <a:t>- </a:t>
            </a:r>
            <a:r>
              <a:rPr lang="en-US" dirty="0"/>
              <a:t>Storage</a:t>
            </a:r>
            <a:r>
              <a:rPr lang="ar-SA" dirty="0"/>
              <a:t>"</a:t>
            </a:r>
            <a:endParaRPr lang="en-US" dirty="0"/>
          </a:p>
        </p:txBody>
      </p:sp>
      <p:graphicFrame>
        <p:nvGraphicFramePr>
          <p:cNvPr id="4" name="Table 3">
            <a:extLst>
              <a:ext uri="{FF2B5EF4-FFF2-40B4-BE49-F238E27FC236}">
                <a16:creationId xmlns:a16="http://schemas.microsoft.com/office/drawing/2014/main" id="{2E9A8D23-3BA1-FD2F-8BF7-EE11F4A7C7E8}"/>
              </a:ext>
            </a:extLst>
          </p:cNvPr>
          <p:cNvGraphicFramePr>
            <a:graphicFrameLocks noGrp="1"/>
          </p:cNvGraphicFramePr>
          <p:nvPr>
            <p:extLst>
              <p:ext uri="{D42A27DB-BD31-4B8C-83A1-F6EECF244321}">
                <p14:modId xmlns:p14="http://schemas.microsoft.com/office/powerpoint/2010/main" val="4007937611"/>
              </p:ext>
            </p:extLst>
          </p:nvPr>
        </p:nvGraphicFramePr>
        <p:xfrm>
          <a:off x="981076" y="1196998"/>
          <a:ext cx="10229849" cy="5085053"/>
        </p:xfrm>
        <a:graphic>
          <a:graphicData uri="http://schemas.openxmlformats.org/drawingml/2006/table">
            <a:tbl>
              <a:tblPr firstRow="1" bandRow="1">
                <a:tableStyleId>{5C22544A-7EE6-4342-B048-85BDC9FD1C3A}</a:tableStyleId>
              </a:tblPr>
              <a:tblGrid>
                <a:gridCol w="1767248">
                  <a:extLst>
                    <a:ext uri="{9D8B030D-6E8A-4147-A177-3AD203B41FA5}">
                      <a16:colId xmlns:a16="http://schemas.microsoft.com/office/drawing/2014/main" val="2853404558"/>
                    </a:ext>
                  </a:extLst>
                </a:gridCol>
                <a:gridCol w="5105719">
                  <a:extLst>
                    <a:ext uri="{9D8B030D-6E8A-4147-A177-3AD203B41FA5}">
                      <a16:colId xmlns:a16="http://schemas.microsoft.com/office/drawing/2014/main" val="1866450976"/>
                    </a:ext>
                  </a:extLst>
                </a:gridCol>
                <a:gridCol w="1338943">
                  <a:extLst>
                    <a:ext uri="{9D8B030D-6E8A-4147-A177-3AD203B41FA5}">
                      <a16:colId xmlns:a16="http://schemas.microsoft.com/office/drawing/2014/main" val="751160629"/>
                    </a:ext>
                  </a:extLst>
                </a:gridCol>
                <a:gridCol w="2017939">
                  <a:extLst>
                    <a:ext uri="{9D8B030D-6E8A-4147-A177-3AD203B41FA5}">
                      <a16:colId xmlns:a16="http://schemas.microsoft.com/office/drawing/2014/main" val="299771009"/>
                    </a:ext>
                  </a:extLst>
                </a:gridCol>
              </a:tblGrid>
              <a:tr h="400440">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Attribute Name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Description</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Type</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u="none" strike="noStrike" baseline="0" dirty="0">
                          <a:effectLst/>
                          <a:latin typeface="Sakkal Majalla" panose="02000000000000000000" pitchFamily="2" charset="-78"/>
                          <a:cs typeface="Sakkal Majalla" panose="02000000000000000000" pitchFamily="2" charset="-78"/>
                        </a:rPr>
                        <a:t>Doc. Mandate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extLst>
                  <a:ext uri="{0D108BD9-81ED-4DB2-BD59-A6C34878D82A}">
                    <a16:rowId xmlns:a16="http://schemas.microsoft.com/office/drawing/2014/main" val="2998368315"/>
                  </a:ext>
                </a:extLst>
              </a:tr>
              <a:tr h="3228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ID</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Unique identifier for the storage entity</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Alphanumeric</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T="0" marB="0" anchor="b"/>
                </a:tc>
                <a:extLst>
                  <a:ext uri="{0D108BD9-81ED-4DB2-BD59-A6C34878D82A}">
                    <a16:rowId xmlns:a16="http://schemas.microsoft.com/office/drawing/2014/main" val="2177790647"/>
                  </a:ext>
                </a:extLst>
              </a:tr>
              <a:tr h="322841">
                <a:tc>
                  <a:txBody>
                    <a:bodyPr/>
                    <a:lstStyle/>
                    <a:p>
                      <a:pPr algn="ctr" fontAlgn="b"/>
                      <a:r>
                        <a:rPr lang="en-US" sz="1800" b="1" i="0" u="none" strike="noStrike" baseline="0">
                          <a:solidFill>
                            <a:srgbClr val="000000"/>
                          </a:solidFill>
                          <a:effectLst/>
                          <a:latin typeface="Sakkal Majalla" panose="02000000000000000000" pitchFamily="2" charset="-78"/>
                          <a:cs typeface="Sakkal Majalla" panose="02000000000000000000" pitchFamily="2" charset="-78"/>
                        </a:rPr>
                        <a:t>Name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name of the storage entity</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T="0" marB="0" anchor="b"/>
                </a:tc>
                <a:extLst>
                  <a:ext uri="{0D108BD9-81ED-4DB2-BD59-A6C34878D82A}">
                    <a16:rowId xmlns:a16="http://schemas.microsoft.com/office/drawing/2014/main" val="2562606023"/>
                  </a:ext>
                </a:extLst>
              </a:tr>
              <a:tr h="3228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Description</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 brief description of the storage entity and its functionality</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T="0" marB="0" anchor="b"/>
                </a:tc>
                <a:extLst>
                  <a:ext uri="{0D108BD9-81ED-4DB2-BD59-A6C34878D82A}">
                    <a16:rowId xmlns:a16="http://schemas.microsoft.com/office/drawing/2014/main" val="584364890"/>
                  </a:ext>
                </a:extLst>
              </a:tr>
              <a:tr h="3228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Model Name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Model of the storage system in use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T="0" marB="0" anchor="b"/>
                </a:tc>
                <a:extLst>
                  <a:ext uri="{0D108BD9-81ED-4DB2-BD59-A6C34878D82A}">
                    <a16:rowId xmlns:a16="http://schemas.microsoft.com/office/drawing/2014/main" val="956827266"/>
                  </a:ext>
                </a:extLst>
              </a:tr>
              <a:tr h="322841">
                <a:tc>
                  <a:txBody>
                    <a:bodyPr/>
                    <a:lstStyle/>
                    <a:p>
                      <a:pPr algn="ctr" fontAlgn="b"/>
                      <a:r>
                        <a:rPr lang="en-US" sz="1800" b="1" i="0" u="none" strike="noStrike" baseline="0">
                          <a:solidFill>
                            <a:srgbClr val="000000"/>
                          </a:solidFill>
                          <a:effectLst/>
                          <a:latin typeface="Sakkal Majalla" panose="02000000000000000000" pitchFamily="2" charset="-78"/>
                          <a:cs typeface="Sakkal Majalla" panose="02000000000000000000" pitchFamily="2" charset="-78"/>
                        </a:rPr>
                        <a:t>Vendor</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vendor providing the storage system (e.g., HP, IBM, Dell EMC, etc.)</a:t>
                      </a:r>
                    </a:p>
                  </a:txBody>
                  <a:tcPr marT="0" marB="0" anchor="b"/>
                </a:tc>
                <a:tc>
                  <a:txBody>
                    <a:bodyPr/>
                    <a:lstStyle/>
                    <a:p>
                      <a:pPr algn="l" fontAlgn="b"/>
                      <a:r>
                        <a:rPr lang="en-US" sz="1600" b="0" i="0" u="none" strike="noStrike" baseline="0">
                          <a:solidFill>
                            <a:srgbClr val="000000"/>
                          </a:solidFill>
                          <a:effectLst/>
                          <a:latin typeface="Sakkal Majalla" panose="02000000000000000000" pitchFamily="2" charset="-78"/>
                          <a:cs typeface="Sakkal Majalla" panose="02000000000000000000" pitchFamily="2" charset="-78"/>
                        </a:rPr>
                        <a:t>List (Predefined)</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T="0" marB="0" anchor="b"/>
                </a:tc>
                <a:extLst>
                  <a:ext uri="{0D108BD9-81ED-4DB2-BD59-A6C34878D82A}">
                    <a16:rowId xmlns:a16="http://schemas.microsoft.com/office/drawing/2014/main" val="1426280651"/>
                  </a:ext>
                </a:extLst>
              </a:tr>
              <a:tr h="3228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Size (TB)</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storage capacity in terabytes (TB)</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Numbers</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T="0" marB="0" anchor="b"/>
                </a:tc>
                <a:extLst>
                  <a:ext uri="{0D108BD9-81ED-4DB2-BD59-A6C34878D82A}">
                    <a16:rowId xmlns:a16="http://schemas.microsoft.com/office/drawing/2014/main" val="3646919947"/>
                  </a:ext>
                </a:extLst>
              </a:tr>
              <a:tr h="3228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OS Name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operating system used in the storage system</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T="0" marB="0" anchor="b"/>
                </a:tc>
                <a:extLst>
                  <a:ext uri="{0D108BD9-81ED-4DB2-BD59-A6C34878D82A}">
                    <a16:rowId xmlns:a16="http://schemas.microsoft.com/office/drawing/2014/main" val="220032958"/>
                  </a:ext>
                </a:extLst>
              </a:tr>
              <a:tr h="322841">
                <a:tc>
                  <a:txBody>
                    <a:bodyPr/>
                    <a:lstStyle/>
                    <a:p>
                      <a:pPr algn="ctr" fontAlgn="b"/>
                      <a:r>
                        <a:rPr lang="en-US" sz="1800" b="1" i="0" u="none" strike="noStrike" baseline="0">
                          <a:solidFill>
                            <a:srgbClr val="000000"/>
                          </a:solidFill>
                          <a:effectLst/>
                          <a:latin typeface="Sakkal Majalla" panose="02000000000000000000" pitchFamily="2" charset="-78"/>
                          <a:cs typeface="Sakkal Majalla" panose="02000000000000000000" pitchFamily="2" charset="-78"/>
                        </a:rPr>
                        <a:t>City</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city where the storage is located</a:t>
                      </a:r>
                    </a:p>
                  </a:txBody>
                  <a:tcPr marT="0" marB="0" anchor="b"/>
                </a:tc>
                <a:tc>
                  <a:txBody>
                    <a:bodyPr/>
                    <a:lstStyle/>
                    <a:p>
                      <a:pPr algn="l" fontAlgn="b"/>
                      <a:r>
                        <a:rPr lang="en-US" sz="1600" b="0" i="0" u="none" strike="noStrike" baseline="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T="0" marB="0" anchor="b"/>
                </a:tc>
                <a:extLst>
                  <a:ext uri="{0D108BD9-81ED-4DB2-BD59-A6C34878D82A}">
                    <a16:rowId xmlns:a16="http://schemas.microsoft.com/office/drawing/2014/main" val="2719192168"/>
                  </a:ext>
                </a:extLst>
              </a:tr>
              <a:tr h="3228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Building</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building where the storage system is installed</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 for on prime</a:t>
                      </a:r>
                    </a:p>
                  </a:txBody>
                  <a:tcPr marT="0" marB="0" anchor="b"/>
                </a:tc>
                <a:extLst>
                  <a:ext uri="{0D108BD9-81ED-4DB2-BD59-A6C34878D82A}">
                    <a16:rowId xmlns:a16="http://schemas.microsoft.com/office/drawing/2014/main" val="3256083373"/>
                  </a:ext>
                </a:extLst>
              </a:tr>
              <a:tr h="3228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Location</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exact location details within the building</a:t>
                      </a:r>
                    </a:p>
                  </a:txBody>
                  <a:tcPr marT="0" marB="0" anchor="b"/>
                </a:tc>
                <a:tc>
                  <a:txBody>
                    <a:bodyPr/>
                    <a:lstStyle/>
                    <a:p>
                      <a:pPr algn="l" fontAlgn="b"/>
                      <a:r>
                        <a:rPr lang="en-US" sz="1600" b="0" i="0" u="none" strike="noStrike" baseline="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 for on prime</a:t>
                      </a:r>
                    </a:p>
                  </a:txBody>
                  <a:tcPr marT="0" marB="0" anchor="b"/>
                </a:tc>
                <a:extLst>
                  <a:ext uri="{0D108BD9-81ED-4DB2-BD59-A6C34878D82A}">
                    <a16:rowId xmlns:a16="http://schemas.microsoft.com/office/drawing/2014/main" val="1589904935"/>
                  </a:ext>
                </a:extLst>
              </a:tr>
              <a:tr h="3228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Install Date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date when the storage system was installed</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Date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T="0" marB="0" anchor="b"/>
                </a:tc>
                <a:extLst>
                  <a:ext uri="{0D108BD9-81ED-4DB2-BD59-A6C34878D82A}">
                    <a16:rowId xmlns:a16="http://schemas.microsoft.com/office/drawing/2014/main" val="653200319"/>
                  </a:ext>
                </a:extLst>
              </a:tr>
              <a:tr h="3228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Business Severity</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criticality of the storage system to business operations (e.g., Critical, Medium, Low)</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T="0" marB="0" anchor="b"/>
                </a:tc>
                <a:extLst>
                  <a:ext uri="{0D108BD9-81ED-4DB2-BD59-A6C34878D82A}">
                    <a16:rowId xmlns:a16="http://schemas.microsoft.com/office/drawing/2014/main" val="1996831406"/>
                  </a:ext>
                </a:extLst>
              </a:tr>
              <a:tr h="3228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Support Available</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Indicates whether support is available for the storage system and the details</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T="0" marB="0" anchor="b"/>
                </a:tc>
                <a:extLst>
                  <a:ext uri="{0D108BD9-81ED-4DB2-BD59-A6C34878D82A}">
                    <a16:rowId xmlns:a16="http://schemas.microsoft.com/office/drawing/2014/main" val="2527114550"/>
                  </a:ext>
                </a:extLst>
              </a:tr>
              <a:tr h="3228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IP Address</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IP address assigned to the storage system</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T="0" marB="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T="0" marB="0" anchor="b"/>
                </a:tc>
                <a:extLst>
                  <a:ext uri="{0D108BD9-81ED-4DB2-BD59-A6C34878D82A}">
                    <a16:rowId xmlns:a16="http://schemas.microsoft.com/office/drawing/2014/main" val="3603808463"/>
                  </a:ext>
                </a:extLst>
              </a:tr>
            </a:tbl>
          </a:graphicData>
        </a:graphic>
      </p:graphicFrame>
    </p:spTree>
    <p:extLst>
      <p:ext uri="{BB962C8B-B14F-4D97-AF65-F5344CB8AC3E}">
        <p14:creationId xmlns:p14="http://schemas.microsoft.com/office/powerpoint/2010/main" val="139085448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B9773-754B-31E5-07EA-7C4EC75CF78A}"/>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ED0AAC3A-B6DA-542E-CD08-EA8FE67FF53A}"/>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106</a:t>
            </a:fld>
            <a:endParaRPr lang="en-US"/>
          </a:p>
        </p:txBody>
      </p:sp>
      <p:sp>
        <p:nvSpPr>
          <p:cNvPr id="2" name="Title 1">
            <a:extLst>
              <a:ext uri="{FF2B5EF4-FFF2-40B4-BE49-F238E27FC236}">
                <a16:creationId xmlns:a16="http://schemas.microsoft.com/office/drawing/2014/main" id="{7E97C673-14D1-88D0-73D5-CFAAB8E1EE20}"/>
              </a:ext>
            </a:extLst>
          </p:cNvPr>
          <p:cNvSpPr txBox="1">
            <a:spLocks/>
          </p:cNvSpPr>
          <p:nvPr/>
        </p:nvSpPr>
        <p:spPr>
          <a:xfrm>
            <a:off x="609601" y="561078"/>
            <a:ext cx="10972800" cy="666261"/>
          </a:xfrm>
          <a:prstGeom prst="rect">
            <a:avLst/>
          </a:prstGeom>
        </p:spPr>
        <p:txBody>
          <a:bodyPr vert="horz" lIns="91440" tIns="45720" rIns="0" bIns="45720" rtlCol="0" anchor="ctr" anchorCtr="0">
            <a:normAutofit fontScale="92500"/>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التقنية"</a:t>
            </a:r>
            <a:r>
              <a:rPr lang="ar-EG" sz="2800" dirty="0"/>
              <a:t> -</a:t>
            </a:r>
            <a:r>
              <a:rPr lang="ar-EG" dirty="0"/>
              <a:t> </a:t>
            </a:r>
            <a:r>
              <a:rPr lang="en-US" dirty="0"/>
              <a:t>تفصيل سمات </a:t>
            </a:r>
            <a:r>
              <a:rPr lang="ar-SA" dirty="0"/>
              <a:t>وحدة </a:t>
            </a:r>
            <a:r>
              <a:rPr lang="ar-EG" dirty="0"/>
              <a:t>ال</a:t>
            </a:r>
            <a:r>
              <a:rPr lang="ar-SA" dirty="0"/>
              <a:t>بناء "خدمة تقنية تحتية</a:t>
            </a:r>
            <a:r>
              <a:rPr lang="en-US" dirty="0"/>
              <a:t> </a:t>
            </a:r>
            <a:r>
              <a:rPr lang="ar-EG" dirty="0"/>
              <a:t>- </a:t>
            </a:r>
            <a:r>
              <a:rPr lang="en-US" dirty="0"/>
              <a:t>Infrastructure Service</a:t>
            </a:r>
            <a:r>
              <a:rPr lang="ar-SA" dirty="0"/>
              <a:t>"</a:t>
            </a:r>
            <a:endParaRPr lang="en-US" dirty="0"/>
          </a:p>
        </p:txBody>
      </p:sp>
      <p:graphicFrame>
        <p:nvGraphicFramePr>
          <p:cNvPr id="4" name="Table 3">
            <a:extLst>
              <a:ext uri="{FF2B5EF4-FFF2-40B4-BE49-F238E27FC236}">
                <a16:creationId xmlns:a16="http://schemas.microsoft.com/office/drawing/2014/main" id="{DDA4C565-1C80-47D3-A84B-467489B32A52}"/>
              </a:ext>
            </a:extLst>
          </p:cNvPr>
          <p:cNvGraphicFramePr>
            <a:graphicFrameLocks noGrp="1"/>
          </p:cNvGraphicFramePr>
          <p:nvPr>
            <p:extLst>
              <p:ext uri="{D42A27DB-BD31-4B8C-83A1-F6EECF244321}">
                <p14:modId xmlns:p14="http://schemas.microsoft.com/office/powerpoint/2010/main" val="3712215469"/>
              </p:ext>
            </p:extLst>
          </p:nvPr>
        </p:nvGraphicFramePr>
        <p:xfrm>
          <a:off x="981076" y="1196999"/>
          <a:ext cx="10229848" cy="3087399"/>
        </p:xfrm>
        <a:graphic>
          <a:graphicData uri="http://schemas.openxmlformats.org/drawingml/2006/table">
            <a:tbl>
              <a:tblPr firstRow="1" bandRow="1">
                <a:tableStyleId>{5C22544A-7EE6-4342-B048-85BDC9FD1C3A}</a:tableStyleId>
              </a:tblPr>
              <a:tblGrid>
                <a:gridCol w="1767248">
                  <a:extLst>
                    <a:ext uri="{9D8B030D-6E8A-4147-A177-3AD203B41FA5}">
                      <a16:colId xmlns:a16="http://schemas.microsoft.com/office/drawing/2014/main" val="2853404558"/>
                    </a:ext>
                  </a:extLst>
                </a:gridCol>
                <a:gridCol w="5383622">
                  <a:extLst>
                    <a:ext uri="{9D8B030D-6E8A-4147-A177-3AD203B41FA5}">
                      <a16:colId xmlns:a16="http://schemas.microsoft.com/office/drawing/2014/main" val="1866450976"/>
                    </a:ext>
                  </a:extLst>
                </a:gridCol>
                <a:gridCol w="1539489">
                  <a:extLst>
                    <a:ext uri="{9D8B030D-6E8A-4147-A177-3AD203B41FA5}">
                      <a16:colId xmlns:a16="http://schemas.microsoft.com/office/drawing/2014/main" val="751160629"/>
                    </a:ext>
                  </a:extLst>
                </a:gridCol>
                <a:gridCol w="1539489">
                  <a:extLst>
                    <a:ext uri="{9D8B030D-6E8A-4147-A177-3AD203B41FA5}">
                      <a16:colId xmlns:a16="http://schemas.microsoft.com/office/drawing/2014/main" val="922277012"/>
                    </a:ext>
                  </a:extLst>
                </a:gridCol>
              </a:tblGrid>
              <a:tr h="344199">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Attribute Name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Description</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Type</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u="none" strike="noStrike" baseline="0" dirty="0">
                          <a:effectLst/>
                          <a:latin typeface="Sakkal Majalla" panose="02000000000000000000" pitchFamily="2" charset="-78"/>
                          <a:cs typeface="Sakkal Majalla" panose="02000000000000000000" pitchFamily="2" charset="-78"/>
                        </a:rPr>
                        <a:t>Doc. Mandate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extLst>
                  <a:ext uri="{0D108BD9-81ED-4DB2-BD59-A6C34878D82A}">
                    <a16:rowId xmlns:a16="http://schemas.microsoft.com/office/drawing/2014/main" val="2998368315"/>
                  </a:ext>
                </a:extLst>
              </a:tr>
              <a:tr h="40202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Unique identifier for the infrastructure service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Alphanumeric</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177790647"/>
                  </a:ext>
                </a:extLst>
              </a:tr>
              <a:tr h="40202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Name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name of the service (e.g., Email, DNS, AD, SMS, etc.)</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1426280651"/>
                  </a:ext>
                </a:extLst>
              </a:tr>
              <a:tr h="40202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Description</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 brief description of the service and its functionality</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L="137160" marR="137160" marT="137160" marB="137160" anchor="b"/>
                </a:tc>
                <a:extLst>
                  <a:ext uri="{0D108BD9-81ED-4DB2-BD59-A6C34878D82A}">
                    <a16:rowId xmlns:a16="http://schemas.microsoft.com/office/drawing/2014/main" val="3646919947"/>
                  </a:ext>
                </a:extLst>
              </a:tr>
              <a:tr h="40202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Hosting Server</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server that hosts this infrastructure service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20032958"/>
                  </a:ext>
                </a:extLst>
              </a:tr>
              <a:tr h="40202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Redundancy</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Indicates whether the service has redundancy options (e.g., Yes/No)</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719192168"/>
                  </a:ext>
                </a:extLst>
              </a:tr>
            </a:tbl>
          </a:graphicData>
        </a:graphic>
      </p:graphicFrame>
    </p:spTree>
    <p:extLst>
      <p:ext uri="{BB962C8B-B14F-4D97-AF65-F5344CB8AC3E}">
        <p14:creationId xmlns:p14="http://schemas.microsoft.com/office/powerpoint/2010/main" val="97287582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A039F-7975-7156-C064-B78625871002}"/>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F9BB8E0B-2DB8-4D7C-1495-FA7B3A38DE05}"/>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107</a:t>
            </a:fld>
            <a:endParaRPr lang="en-US"/>
          </a:p>
        </p:txBody>
      </p:sp>
      <p:sp>
        <p:nvSpPr>
          <p:cNvPr id="2" name="Title 1">
            <a:extLst>
              <a:ext uri="{FF2B5EF4-FFF2-40B4-BE49-F238E27FC236}">
                <a16:creationId xmlns:a16="http://schemas.microsoft.com/office/drawing/2014/main" id="{7B148DDC-8C7E-E521-E12B-AB64A8462A64}"/>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التقنية"</a:t>
            </a:r>
            <a:r>
              <a:rPr lang="ar-EG" sz="2800" dirty="0"/>
              <a:t> -</a:t>
            </a:r>
            <a:r>
              <a:rPr lang="ar-EG" dirty="0"/>
              <a:t> </a:t>
            </a:r>
            <a:r>
              <a:rPr lang="en-US" dirty="0"/>
              <a:t>تفصيل سمات </a:t>
            </a:r>
            <a:r>
              <a:rPr lang="ar-SA" dirty="0"/>
              <a:t>وحدة </a:t>
            </a:r>
            <a:r>
              <a:rPr lang="ar-EG" dirty="0"/>
              <a:t>ال</a:t>
            </a:r>
            <a:r>
              <a:rPr lang="ar-SA" dirty="0"/>
              <a:t>بناء "أداة تقنية تحتية</a:t>
            </a:r>
            <a:r>
              <a:rPr lang="en-US" dirty="0"/>
              <a:t> </a:t>
            </a:r>
            <a:r>
              <a:rPr lang="ar-EG" dirty="0"/>
              <a:t>- </a:t>
            </a:r>
            <a:r>
              <a:rPr lang="en-US" dirty="0"/>
              <a:t>Infrastructure Tool</a:t>
            </a:r>
            <a:r>
              <a:rPr lang="ar-SA" dirty="0"/>
              <a:t>"</a:t>
            </a:r>
            <a:endParaRPr lang="en-US" dirty="0"/>
          </a:p>
        </p:txBody>
      </p:sp>
      <p:graphicFrame>
        <p:nvGraphicFramePr>
          <p:cNvPr id="4" name="Table 3">
            <a:extLst>
              <a:ext uri="{FF2B5EF4-FFF2-40B4-BE49-F238E27FC236}">
                <a16:creationId xmlns:a16="http://schemas.microsoft.com/office/drawing/2014/main" id="{89C07127-3063-94BB-8113-F72CC5617F90}"/>
              </a:ext>
            </a:extLst>
          </p:cNvPr>
          <p:cNvGraphicFramePr>
            <a:graphicFrameLocks noGrp="1"/>
          </p:cNvGraphicFramePr>
          <p:nvPr>
            <p:extLst>
              <p:ext uri="{D42A27DB-BD31-4B8C-83A1-F6EECF244321}">
                <p14:modId xmlns:p14="http://schemas.microsoft.com/office/powerpoint/2010/main" val="3873803026"/>
              </p:ext>
            </p:extLst>
          </p:nvPr>
        </p:nvGraphicFramePr>
        <p:xfrm>
          <a:off x="981076" y="1343960"/>
          <a:ext cx="10601323" cy="3300759"/>
        </p:xfrm>
        <a:graphic>
          <a:graphicData uri="http://schemas.openxmlformats.org/drawingml/2006/table">
            <a:tbl>
              <a:tblPr firstRow="1" bandRow="1">
                <a:tableStyleId>{5C22544A-7EE6-4342-B048-85BDC9FD1C3A}</a:tableStyleId>
              </a:tblPr>
              <a:tblGrid>
                <a:gridCol w="1660511">
                  <a:extLst>
                    <a:ext uri="{9D8B030D-6E8A-4147-A177-3AD203B41FA5}">
                      <a16:colId xmlns:a16="http://schemas.microsoft.com/office/drawing/2014/main" val="2853404558"/>
                    </a:ext>
                  </a:extLst>
                </a:gridCol>
                <a:gridCol w="6430829">
                  <a:extLst>
                    <a:ext uri="{9D8B030D-6E8A-4147-A177-3AD203B41FA5}">
                      <a16:colId xmlns:a16="http://schemas.microsoft.com/office/drawing/2014/main" val="1866450976"/>
                    </a:ext>
                  </a:extLst>
                </a:gridCol>
                <a:gridCol w="1214584">
                  <a:extLst>
                    <a:ext uri="{9D8B030D-6E8A-4147-A177-3AD203B41FA5}">
                      <a16:colId xmlns:a16="http://schemas.microsoft.com/office/drawing/2014/main" val="751160629"/>
                    </a:ext>
                  </a:extLst>
                </a:gridCol>
                <a:gridCol w="1295399">
                  <a:extLst>
                    <a:ext uri="{9D8B030D-6E8A-4147-A177-3AD203B41FA5}">
                      <a16:colId xmlns:a16="http://schemas.microsoft.com/office/drawing/2014/main" val="1080224692"/>
                    </a:ext>
                  </a:extLst>
                </a:gridCol>
              </a:tblGrid>
              <a:tr h="344199">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Attribute Name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Description</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Type</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u="none" strike="noStrike" baseline="0" dirty="0">
                          <a:effectLst/>
                          <a:latin typeface="Sakkal Majalla" panose="02000000000000000000" pitchFamily="2" charset="-78"/>
                          <a:cs typeface="Sakkal Majalla" panose="02000000000000000000" pitchFamily="2" charset="-78"/>
                        </a:rPr>
                        <a:t>Doc. Mandate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extLst>
                  <a:ext uri="{0D108BD9-81ED-4DB2-BD59-A6C34878D82A}">
                    <a16:rowId xmlns:a16="http://schemas.microsoft.com/office/drawing/2014/main" val="2998368315"/>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Unique identifier for the infrastructure tool</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Alphanumeric</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177790647"/>
                  </a:ext>
                </a:extLst>
              </a:tr>
              <a:tr h="400302">
                <a:tc>
                  <a:txBody>
                    <a:bodyPr/>
                    <a:lstStyle/>
                    <a:p>
                      <a:pPr algn="ctr" fontAlgn="b"/>
                      <a:r>
                        <a:rPr lang="en-US" sz="1800" b="1" i="0" u="none" strike="noStrike" baseline="0">
                          <a:solidFill>
                            <a:srgbClr val="000000"/>
                          </a:solidFill>
                          <a:effectLst/>
                          <a:latin typeface="Sakkal Majalla" panose="02000000000000000000" pitchFamily="2" charset="-78"/>
                          <a:cs typeface="Sakkal Majalla" panose="02000000000000000000" pitchFamily="2" charset="-78"/>
                        </a:rPr>
                        <a:t>Name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name of the infrastructure tool (e.g., Cooling System, Fire Fighting System, CCTV, etc.)</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1426280651"/>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Description</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 brief description of the tool and its functionality</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L="137160" marR="137160" marT="137160" marB="137160" anchor="b"/>
                </a:tc>
                <a:extLst>
                  <a:ext uri="{0D108BD9-81ED-4DB2-BD59-A6C34878D82A}">
                    <a16:rowId xmlns:a16="http://schemas.microsoft.com/office/drawing/2014/main" val="3646919947"/>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Unit/System</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category or type of the tool (e.g., Monitoring System, Safety System, Power Management)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20032958"/>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Available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Indicates whether the tool is available (Yes/No)</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Boolean</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719192168"/>
                  </a:ext>
                </a:extLst>
              </a:tr>
            </a:tbl>
          </a:graphicData>
        </a:graphic>
      </p:graphicFrame>
    </p:spTree>
    <p:extLst>
      <p:ext uri="{BB962C8B-B14F-4D97-AF65-F5344CB8AC3E}">
        <p14:creationId xmlns:p14="http://schemas.microsoft.com/office/powerpoint/2010/main" val="217362775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D26ED-8F81-BD5C-F538-DCBEBAB5A9A9}"/>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BF3D548A-7D86-679C-9AF2-7887D3D6FA49}"/>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108</a:t>
            </a:fld>
            <a:endParaRPr lang="en-US"/>
          </a:p>
        </p:txBody>
      </p:sp>
      <p:sp>
        <p:nvSpPr>
          <p:cNvPr id="2" name="Title 1">
            <a:extLst>
              <a:ext uri="{FF2B5EF4-FFF2-40B4-BE49-F238E27FC236}">
                <a16:creationId xmlns:a16="http://schemas.microsoft.com/office/drawing/2014/main" id="{9C063E2F-FB6F-509B-AD4D-11A5F2297596}"/>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التقنية"</a:t>
            </a:r>
            <a:r>
              <a:rPr lang="ar-EG" sz="2800" dirty="0"/>
              <a:t> -</a:t>
            </a:r>
            <a:r>
              <a:rPr lang="ar-EG" dirty="0"/>
              <a:t> </a:t>
            </a:r>
            <a:r>
              <a:rPr lang="en-US" dirty="0"/>
              <a:t>تفصيل سمات </a:t>
            </a:r>
            <a:r>
              <a:rPr lang="ar-SA" dirty="0"/>
              <a:t>وحدة </a:t>
            </a:r>
            <a:r>
              <a:rPr lang="ar-EG" dirty="0"/>
              <a:t>ال</a:t>
            </a:r>
            <a:r>
              <a:rPr lang="ar-SA" dirty="0"/>
              <a:t>بناء "جهاز ملحق</a:t>
            </a:r>
            <a:r>
              <a:rPr lang="en-US" dirty="0"/>
              <a:t> </a:t>
            </a:r>
            <a:r>
              <a:rPr lang="ar-EG" dirty="0"/>
              <a:t>- </a:t>
            </a:r>
            <a:r>
              <a:rPr lang="en-US" dirty="0"/>
              <a:t>Peripheral</a:t>
            </a:r>
            <a:r>
              <a:rPr lang="ar-SA" dirty="0"/>
              <a:t>"</a:t>
            </a:r>
            <a:endParaRPr lang="en-US" dirty="0"/>
          </a:p>
        </p:txBody>
      </p:sp>
      <p:graphicFrame>
        <p:nvGraphicFramePr>
          <p:cNvPr id="4" name="Table 3">
            <a:extLst>
              <a:ext uri="{FF2B5EF4-FFF2-40B4-BE49-F238E27FC236}">
                <a16:creationId xmlns:a16="http://schemas.microsoft.com/office/drawing/2014/main" id="{4104533F-9907-0EC2-972F-FA16CB3C30CE}"/>
              </a:ext>
            </a:extLst>
          </p:cNvPr>
          <p:cNvGraphicFramePr>
            <a:graphicFrameLocks noGrp="1"/>
          </p:cNvGraphicFramePr>
          <p:nvPr>
            <p:extLst>
              <p:ext uri="{D42A27DB-BD31-4B8C-83A1-F6EECF244321}">
                <p14:modId xmlns:p14="http://schemas.microsoft.com/office/powerpoint/2010/main" val="3604695876"/>
              </p:ext>
            </p:extLst>
          </p:nvPr>
        </p:nvGraphicFramePr>
        <p:xfrm>
          <a:off x="981076" y="1196999"/>
          <a:ext cx="10229849" cy="3636039"/>
        </p:xfrm>
        <a:graphic>
          <a:graphicData uri="http://schemas.openxmlformats.org/drawingml/2006/table">
            <a:tbl>
              <a:tblPr firstRow="1" bandRow="1">
                <a:tableStyleId>{5C22544A-7EE6-4342-B048-85BDC9FD1C3A}</a:tableStyleId>
              </a:tblPr>
              <a:tblGrid>
                <a:gridCol w="1767248">
                  <a:extLst>
                    <a:ext uri="{9D8B030D-6E8A-4147-A177-3AD203B41FA5}">
                      <a16:colId xmlns:a16="http://schemas.microsoft.com/office/drawing/2014/main" val="2853404558"/>
                    </a:ext>
                  </a:extLst>
                </a:gridCol>
                <a:gridCol w="5561175">
                  <a:extLst>
                    <a:ext uri="{9D8B030D-6E8A-4147-A177-3AD203B41FA5}">
                      <a16:colId xmlns:a16="http://schemas.microsoft.com/office/drawing/2014/main" val="1866450976"/>
                    </a:ext>
                  </a:extLst>
                </a:gridCol>
                <a:gridCol w="1450713">
                  <a:extLst>
                    <a:ext uri="{9D8B030D-6E8A-4147-A177-3AD203B41FA5}">
                      <a16:colId xmlns:a16="http://schemas.microsoft.com/office/drawing/2014/main" val="751160629"/>
                    </a:ext>
                  </a:extLst>
                </a:gridCol>
                <a:gridCol w="1450713">
                  <a:extLst>
                    <a:ext uri="{9D8B030D-6E8A-4147-A177-3AD203B41FA5}">
                      <a16:colId xmlns:a16="http://schemas.microsoft.com/office/drawing/2014/main" val="2757039238"/>
                    </a:ext>
                  </a:extLst>
                </a:gridCol>
              </a:tblGrid>
              <a:tr h="344199">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Attribute Name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Description</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Type</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u="none" strike="noStrike" baseline="0" dirty="0">
                          <a:effectLst/>
                          <a:latin typeface="Sakkal Majalla" panose="02000000000000000000" pitchFamily="2" charset="-78"/>
                          <a:cs typeface="Sakkal Majalla" panose="02000000000000000000" pitchFamily="2" charset="-78"/>
                        </a:rPr>
                        <a:t>Doc. Mandate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extLst>
                  <a:ext uri="{0D108BD9-81ED-4DB2-BD59-A6C34878D82A}">
                    <a16:rowId xmlns:a16="http://schemas.microsoft.com/office/drawing/2014/main" val="2998368315"/>
                  </a:ext>
                </a:extLst>
              </a:tr>
              <a:tr h="40605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Unique identifier for the peripheral device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Alphanumeric</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177790647"/>
                  </a:ext>
                </a:extLst>
              </a:tr>
              <a:tr h="40605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Name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Name of the peripheral (e.g., Printer, Laptop, IP Phone)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1426280651"/>
                  </a:ext>
                </a:extLst>
              </a:tr>
              <a:tr h="40605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Description</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Brief description of the peripheral and its functionality</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L="137160" marR="137160" marT="137160" marB="137160" anchor="b"/>
                </a:tc>
                <a:extLst>
                  <a:ext uri="{0D108BD9-81ED-4DB2-BD59-A6C34878D82A}">
                    <a16:rowId xmlns:a16="http://schemas.microsoft.com/office/drawing/2014/main" val="3646919947"/>
                  </a:ext>
                </a:extLst>
              </a:tr>
              <a:tr h="40605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Type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Type of peripheral (e.g., PCs, Laptops, IP Phones, Printers)</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20032958"/>
                  </a:ext>
                </a:extLst>
              </a:tr>
              <a:tr h="40605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Model</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Model of the peripheral device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719192168"/>
                  </a:ext>
                </a:extLst>
              </a:tr>
              <a:tr h="40605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Quantity</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number of such devices available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Numeric</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L="137160" marR="137160" marT="137160" marB="137160" anchor="b"/>
                </a:tc>
                <a:extLst>
                  <a:ext uri="{0D108BD9-81ED-4DB2-BD59-A6C34878D82A}">
                    <a16:rowId xmlns:a16="http://schemas.microsoft.com/office/drawing/2014/main" val="3256083373"/>
                  </a:ext>
                </a:extLst>
              </a:tr>
            </a:tbl>
          </a:graphicData>
        </a:graphic>
      </p:graphicFrame>
    </p:spTree>
    <p:extLst>
      <p:ext uri="{BB962C8B-B14F-4D97-AF65-F5344CB8AC3E}">
        <p14:creationId xmlns:p14="http://schemas.microsoft.com/office/powerpoint/2010/main" val="224755603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0DEDA-1B78-6529-30EB-0BF21FC44831}"/>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C194D669-07DB-0A01-3E10-E22728C56475}"/>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109</a:t>
            </a:fld>
            <a:endParaRPr lang="en-US"/>
          </a:p>
        </p:txBody>
      </p:sp>
      <p:sp>
        <p:nvSpPr>
          <p:cNvPr id="2" name="Title 1">
            <a:extLst>
              <a:ext uri="{FF2B5EF4-FFF2-40B4-BE49-F238E27FC236}">
                <a16:creationId xmlns:a16="http://schemas.microsoft.com/office/drawing/2014/main" id="{9754B7B3-EE87-17C2-FCC6-11532A13DE63}"/>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التقنية"</a:t>
            </a:r>
            <a:r>
              <a:rPr lang="ar-EG" sz="2800" dirty="0"/>
              <a:t> -</a:t>
            </a:r>
            <a:r>
              <a:rPr lang="ar-EG" dirty="0"/>
              <a:t> </a:t>
            </a:r>
            <a:r>
              <a:rPr lang="en-US" dirty="0"/>
              <a:t>تفصيل سمات </a:t>
            </a:r>
            <a:r>
              <a:rPr lang="ar-SA" dirty="0"/>
              <a:t>وحدة </a:t>
            </a:r>
            <a:r>
              <a:rPr lang="ar-EG" dirty="0"/>
              <a:t>ال</a:t>
            </a:r>
            <a:r>
              <a:rPr lang="ar-SA" dirty="0"/>
              <a:t>بناء "رخصة</a:t>
            </a:r>
            <a:r>
              <a:rPr lang="en-US" dirty="0"/>
              <a:t> </a:t>
            </a:r>
            <a:r>
              <a:rPr lang="ar-EG" dirty="0"/>
              <a:t>- </a:t>
            </a:r>
            <a:r>
              <a:rPr lang="en-US" dirty="0"/>
              <a:t>License</a:t>
            </a:r>
            <a:r>
              <a:rPr lang="ar-SA" dirty="0"/>
              <a:t>"</a:t>
            </a:r>
            <a:endParaRPr lang="en-US" dirty="0"/>
          </a:p>
        </p:txBody>
      </p:sp>
      <p:graphicFrame>
        <p:nvGraphicFramePr>
          <p:cNvPr id="4" name="Table 3">
            <a:extLst>
              <a:ext uri="{FF2B5EF4-FFF2-40B4-BE49-F238E27FC236}">
                <a16:creationId xmlns:a16="http://schemas.microsoft.com/office/drawing/2014/main" id="{FFAFD0B7-B22D-92F2-502C-B8C86667C77B}"/>
              </a:ext>
            </a:extLst>
          </p:cNvPr>
          <p:cNvGraphicFramePr>
            <a:graphicFrameLocks noGrp="1"/>
          </p:cNvGraphicFramePr>
          <p:nvPr>
            <p:extLst>
              <p:ext uri="{D42A27DB-BD31-4B8C-83A1-F6EECF244321}">
                <p14:modId xmlns:p14="http://schemas.microsoft.com/office/powerpoint/2010/main" val="3292734263"/>
              </p:ext>
            </p:extLst>
          </p:nvPr>
        </p:nvGraphicFramePr>
        <p:xfrm>
          <a:off x="981076" y="1196999"/>
          <a:ext cx="10229848" cy="4184679"/>
        </p:xfrm>
        <a:graphic>
          <a:graphicData uri="http://schemas.openxmlformats.org/drawingml/2006/table">
            <a:tbl>
              <a:tblPr firstRow="1" bandRow="1">
                <a:tableStyleId>{5C22544A-7EE6-4342-B048-85BDC9FD1C3A}</a:tableStyleId>
              </a:tblPr>
              <a:tblGrid>
                <a:gridCol w="1767248">
                  <a:extLst>
                    <a:ext uri="{9D8B030D-6E8A-4147-A177-3AD203B41FA5}">
                      <a16:colId xmlns:a16="http://schemas.microsoft.com/office/drawing/2014/main" val="2853404558"/>
                    </a:ext>
                  </a:extLst>
                </a:gridCol>
                <a:gridCol w="5330356">
                  <a:extLst>
                    <a:ext uri="{9D8B030D-6E8A-4147-A177-3AD203B41FA5}">
                      <a16:colId xmlns:a16="http://schemas.microsoft.com/office/drawing/2014/main" val="1866450976"/>
                    </a:ext>
                  </a:extLst>
                </a:gridCol>
                <a:gridCol w="1566122">
                  <a:extLst>
                    <a:ext uri="{9D8B030D-6E8A-4147-A177-3AD203B41FA5}">
                      <a16:colId xmlns:a16="http://schemas.microsoft.com/office/drawing/2014/main" val="751160629"/>
                    </a:ext>
                  </a:extLst>
                </a:gridCol>
                <a:gridCol w="1566122">
                  <a:extLst>
                    <a:ext uri="{9D8B030D-6E8A-4147-A177-3AD203B41FA5}">
                      <a16:colId xmlns:a16="http://schemas.microsoft.com/office/drawing/2014/main" val="550242051"/>
                    </a:ext>
                  </a:extLst>
                </a:gridCol>
              </a:tblGrid>
              <a:tr h="344199">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Attribute Name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Description</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Type</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u="none" strike="noStrike" baseline="0" dirty="0">
                          <a:effectLst/>
                          <a:latin typeface="Sakkal Majalla" panose="02000000000000000000" pitchFamily="2" charset="-78"/>
                          <a:cs typeface="Sakkal Majalla" panose="02000000000000000000" pitchFamily="2" charset="-78"/>
                        </a:rPr>
                        <a:t>Doc. Mandate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extLst>
                  <a:ext uri="{0D108BD9-81ED-4DB2-BD59-A6C34878D82A}">
                    <a16:rowId xmlns:a16="http://schemas.microsoft.com/office/drawing/2014/main" val="2998368315"/>
                  </a:ext>
                </a:extLst>
              </a:tr>
              <a:tr h="40605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Unique identifier for the license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Alphanumeric</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177790647"/>
                  </a:ext>
                </a:extLst>
              </a:tr>
              <a:tr h="40605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Name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Name of the software or service license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1426280651"/>
                  </a:ext>
                </a:extLst>
              </a:tr>
              <a:tr h="40605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Description</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Brief description of the license and its purpose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L="137160" marR="137160" marT="137160" marB="137160" anchor="b"/>
                </a:tc>
                <a:extLst>
                  <a:ext uri="{0D108BD9-81ED-4DB2-BD59-A6C34878D82A}">
                    <a16:rowId xmlns:a16="http://schemas.microsoft.com/office/drawing/2014/main" val="3646919947"/>
                  </a:ext>
                </a:extLst>
              </a:tr>
              <a:tr h="40605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License Type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Type of license for the software (e.g., Subscription, Perpetual)</a:t>
                      </a:r>
                    </a:p>
                  </a:txBody>
                  <a:tcPr marL="137160" marR="137160" marT="137160" marB="137160" anchor="b"/>
                </a:tc>
                <a:tc>
                  <a:txBody>
                    <a:bodyPr/>
                    <a:lstStyle/>
                    <a:p>
                      <a:pPr algn="l" fontAlgn="b"/>
                      <a:r>
                        <a:rPr lang="en-US" sz="1800" b="0" i="0" u="none" strike="noStrike" baseline="0" dirty="0">
                          <a:solidFill>
                            <a:srgbClr val="000000"/>
                          </a:solidFill>
                          <a:effectLst/>
                          <a:latin typeface="Sakkal Majalla" panose="02000000000000000000" pitchFamily="2" charset="-78"/>
                          <a:cs typeface="Sakkal Majalla" panose="02000000000000000000" pitchFamily="2" charset="-78"/>
                        </a:rPr>
                        <a:t>List (Predefined)</a:t>
                      </a:r>
                    </a:p>
                  </a:txBody>
                  <a:tcPr marL="137160" marR="137160" marT="137160" marB="137160" anchor="b"/>
                </a:tc>
                <a:tc>
                  <a:txBody>
                    <a:bodyPr/>
                    <a:lstStyle/>
                    <a:p>
                      <a:pPr algn="l" fontAlgn="b"/>
                      <a:r>
                        <a:rPr lang="en-US" sz="18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1815781721"/>
                  </a:ext>
                </a:extLst>
              </a:tr>
              <a:tr h="40605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Starting Date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date when the license becomes active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Date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L="137160" marR="137160" marT="137160" marB="137160" anchor="b"/>
                </a:tc>
                <a:extLst>
                  <a:ext uri="{0D108BD9-81ED-4DB2-BD59-A6C34878D82A}">
                    <a16:rowId xmlns:a16="http://schemas.microsoft.com/office/drawing/2014/main" val="220032958"/>
                  </a:ext>
                </a:extLst>
              </a:tr>
              <a:tr h="40605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Expiry Date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date when the license expires or needs renewal</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Date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719192168"/>
                  </a:ext>
                </a:extLst>
              </a:tr>
              <a:tr h="406059">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Quantity</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number of licenses issued or available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Numeric</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3256083373"/>
                  </a:ext>
                </a:extLst>
              </a:tr>
            </a:tbl>
          </a:graphicData>
        </a:graphic>
      </p:graphicFrame>
    </p:spTree>
    <p:extLst>
      <p:ext uri="{BB962C8B-B14F-4D97-AF65-F5344CB8AC3E}">
        <p14:creationId xmlns:p14="http://schemas.microsoft.com/office/powerpoint/2010/main" val="80773930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علاقات مكونات البناء التابعة لمجال </a:t>
            </a:r>
            <a:r>
              <a:rPr lang="ar-EG" dirty="0"/>
              <a:t>"</a:t>
            </a:r>
            <a:r>
              <a:rPr lang="ar-SA" dirty="0"/>
              <a:t>بنية التقنية</a:t>
            </a:r>
            <a:r>
              <a:rPr lang="ar-EG" dirty="0"/>
              <a:t>"</a:t>
            </a:r>
            <a:endParaRPr lang="en-US" dirty="0"/>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110</a:t>
            </a:fld>
            <a:endParaRPr lang="en-US"/>
          </a:p>
        </p:txBody>
      </p:sp>
      <p:sp>
        <p:nvSpPr>
          <p:cNvPr id="3" name="Rectangle 2">
            <a:extLst>
              <a:ext uri="{FF2B5EF4-FFF2-40B4-BE49-F238E27FC236}">
                <a16:creationId xmlns:a16="http://schemas.microsoft.com/office/drawing/2014/main" id="{8D9CE795-A12F-7C98-BF54-5279E8F1DDA2}"/>
              </a:ext>
            </a:extLst>
          </p:cNvPr>
          <p:cNvSpPr/>
          <p:nvPr/>
        </p:nvSpPr>
        <p:spPr>
          <a:xfrm>
            <a:off x="1071158" y="1389169"/>
            <a:ext cx="10508468" cy="369332"/>
          </a:xfrm>
          <a:prstGeom prst="rect">
            <a:avLst/>
          </a:prstGeom>
        </p:spPr>
        <p:txBody>
          <a:bodyPr wrap="square">
            <a:spAutoFit/>
          </a:bodyPr>
          <a:lstStyle/>
          <a:p>
            <a:pPr algn="r" rtl="1"/>
            <a:r>
              <a:rPr lang="ar-SA" b="1" dirty="0">
                <a:latin typeface="Sakkal Majalla" panose="02000000000000000000" pitchFamily="2" charset="-78"/>
                <a:cs typeface="Sakkal Majalla" panose="02000000000000000000" pitchFamily="2" charset="-78"/>
              </a:rPr>
              <a:t>ي</a:t>
            </a:r>
            <a:r>
              <a:rPr lang="en-US" b="1" dirty="0">
                <a:latin typeface="Sakkal Majalla" panose="02000000000000000000" pitchFamily="2" charset="-78"/>
                <a:cs typeface="Sakkal Majalla" panose="02000000000000000000" pitchFamily="2" charset="-78"/>
              </a:rPr>
              <a:t>وضح الشكل </a:t>
            </a:r>
            <a:r>
              <a:rPr lang="ar-SA" b="1" dirty="0">
                <a:latin typeface="Sakkal Majalla" panose="02000000000000000000" pitchFamily="2" charset="-78"/>
                <a:cs typeface="Sakkal Majalla" panose="02000000000000000000" pitchFamily="2" charset="-78"/>
              </a:rPr>
              <a:t>أ</a:t>
            </a:r>
            <a:r>
              <a:rPr lang="en-US" b="1" dirty="0" err="1">
                <a:latin typeface="Sakkal Majalla" panose="02000000000000000000" pitchFamily="2" charset="-78"/>
                <a:cs typeface="Sakkal Majalla" panose="02000000000000000000" pitchFamily="2" charset="-78"/>
              </a:rPr>
              <a:t>دناه</a:t>
            </a:r>
            <a:r>
              <a:rPr lang="ar-SA" b="1" dirty="0">
                <a:latin typeface="Sakkal Majalla" panose="02000000000000000000" pitchFamily="2" charset="-78"/>
                <a:cs typeface="Sakkal Majalla" panose="02000000000000000000" pitchFamily="2" charset="-78"/>
              </a:rPr>
              <a:t> علاقات مكونات البناء التابعة لمجال "بنية التقنية":</a:t>
            </a:r>
            <a:endParaRPr lang="en-US" b="1" dirty="0">
              <a:latin typeface="Sakkal Majalla" panose="02000000000000000000" pitchFamily="2" charset="-78"/>
              <a:cs typeface="Sakkal Majalla" panose="02000000000000000000" pitchFamily="2" charset="-78"/>
            </a:endParaRPr>
          </a:p>
        </p:txBody>
      </p:sp>
      <p:pic>
        <p:nvPicPr>
          <p:cNvPr id="6" name="Picture 5" descr="A screenshot of a computer&#10;&#10;Description automatically generated">
            <a:extLst>
              <a:ext uri="{FF2B5EF4-FFF2-40B4-BE49-F238E27FC236}">
                <a16:creationId xmlns:a16="http://schemas.microsoft.com/office/drawing/2014/main" id="{571EBE28-4662-49D3-8663-B6D13225E5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6048" y="1775714"/>
            <a:ext cx="10319657" cy="4318747"/>
          </a:xfrm>
          <a:prstGeom prst="rect">
            <a:avLst/>
          </a:prstGeom>
        </p:spPr>
      </p:pic>
    </p:spTree>
    <p:extLst>
      <p:ext uri="{BB962C8B-B14F-4D97-AF65-F5344CB8AC3E}">
        <p14:creationId xmlns:p14="http://schemas.microsoft.com/office/powerpoint/2010/main" val="258486496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a:t>ال</a:t>
            </a:r>
            <a:r>
              <a:rPr lang="ar-EG" dirty="0"/>
              <a:t>بناء </a:t>
            </a:r>
            <a:r>
              <a:rPr lang="ar-SA" dirty="0"/>
              <a:t>في مجال "بنية التقنية"</a:t>
            </a:r>
            <a:r>
              <a:rPr lang="ar-EG" dirty="0"/>
              <a:t> (</a:t>
            </a:r>
            <a:r>
              <a:rPr lang="ar-SA" dirty="0"/>
              <a:t>3</a:t>
            </a:r>
            <a:r>
              <a:rPr lang="ar-EG" dirty="0"/>
              <a:t> / </a:t>
            </a:r>
            <a:r>
              <a:rPr lang="en-US" dirty="0"/>
              <a:t>1</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111</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2356085068"/>
              </p:ext>
            </p:extLst>
          </p:nvPr>
        </p:nvGraphicFramePr>
        <p:xfrm>
          <a:off x="609600" y="1282290"/>
          <a:ext cx="11070774" cy="4874103"/>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293968">
                  <a:extLst>
                    <a:ext uri="{9D8B030D-6E8A-4147-A177-3AD203B41FA5}">
                      <a16:colId xmlns:a16="http://schemas.microsoft.com/office/drawing/2014/main" val="1302061076"/>
                    </a:ext>
                  </a:extLst>
                </a:gridCol>
                <a:gridCol w="3949700">
                  <a:extLst>
                    <a:ext uri="{9D8B030D-6E8A-4147-A177-3AD203B41FA5}">
                      <a16:colId xmlns:a16="http://schemas.microsoft.com/office/drawing/2014/main" val="1509377109"/>
                    </a:ext>
                  </a:extLst>
                </a:gridCol>
                <a:gridCol w="1974850">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707513">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1</a:t>
                      </a:r>
                    </a:p>
                  </a:txBody>
                  <a:tcPr marL="3810" marR="3810" marT="3810" marB="0" anchor="ctr"/>
                </a:tc>
                <a:tc rowSpan="3">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مركز بيانات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موجود في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مركز بيانات</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موجود في</a:t>
                      </a:r>
                      <a:r>
                        <a:rPr lang="en-US"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موقع</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موقع</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الموائمة الاستراتيجية</a:t>
                      </a: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2</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يستضيف</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مركز بيانات</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يستضيف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مكونات البنية التحتية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مكونات البنية التحتية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التقنية</a:t>
                      </a: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3</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يستضيف</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مركز بيانات</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يستضيف "</a:t>
                      </a:r>
                      <a:r>
                        <a:rPr lang="ar-SA" sz="20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مكونات ب</a:t>
                      </a:r>
                      <a:r>
                        <a:rPr lang="ar-EG" sz="20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نية الأمن</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مكونات بنية الأمن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الأمن</a:t>
                      </a: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4</a:t>
                      </a:r>
                    </a:p>
                  </a:txBody>
                  <a:tcPr marL="3810" marR="3810" marT="3810" marB="0" anchor="ctr"/>
                </a:tc>
                <a:tc rowSpan="3">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خادم</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يُدار من قبل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خادم</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يُدار من قبل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أداة تقنية تحتية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أداة تقنية تحتية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التقنية</a:t>
                      </a:r>
                    </a:p>
                  </a:txBody>
                  <a:tcPr marL="3810" marR="3810" marT="3810" marB="0" anchor="ctr"/>
                </a:tc>
                <a:extLst>
                  <a:ext uri="{0D108BD9-81ED-4DB2-BD59-A6C34878D82A}">
                    <a16:rowId xmlns:a16="http://schemas.microsoft.com/office/drawing/2014/main" val="4193838665"/>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5</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يستضيف</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خادم</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يستضيف</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خدمة تقنية تحتية</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خدمة تقنية تحتية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456641915"/>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6</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يستضيف</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خادم</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يستضيف</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التطبيق</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التطبيق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التطبيقات</a:t>
                      </a:r>
                    </a:p>
                  </a:txBody>
                  <a:tcPr marL="3810" marR="3810" marT="3810" marB="0" anchor="ctr"/>
                </a:tc>
                <a:extLst>
                  <a:ext uri="{0D108BD9-81ED-4DB2-BD59-A6C34878D82A}">
                    <a16:rowId xmlns:a16="http://schemas.microsoft.com/office/drawing/2014/main" val="761637634"/>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7</a:t>
                      </a:r>
                    </a:p>
                  </a:txBody>
                  <a:tcPr marL="3810" marR="3810" marT="3810" marB="0" anchor="ctr"/>
                </a:tc>
                <a:tc rowSpan="4">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جهاز شبكي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يرتبط من خلال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جهاز شبكي</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يرتبط من خلال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رابط شبكي</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رابط شبكي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4">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التقنية</a:t>
                      </a:r>
                    </a:p>
                  </a:txBody>
                  <a:tcPr marL="3810" marR="3810" marT="3810" marB="0" anchor="ctr"/>
                </a:tc>
                <a:extLst>
                  <a:ext uri="{0D108BD9-81ED-4DB2-BD59-A6C34878D82A}">
                    <a16:rowId xmlns:a16="http://schemas.microsoft.com/office/drawing/2014/main" val="1472548560"/>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8</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يُدار من قبل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جهاز شبكي</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يُدار من قبل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أداة تقنية تحتية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أداة تقنية تحتية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99687734"/>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9</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يتيح الوصول إلى</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جهاز شبكي</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يتيح الوصول إلى </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تخزين</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تخزين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1821309394"/>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10</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يربط</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جهاز شبكي</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ربط</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جهاز ملحق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جهاز ملحق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243285888"/>
                  </a:ext>
                </a:extLst>
              </a:tr>
            </a:tbl>
          </a:graphicData>
        </a:graphic>
      </p:graphicFrame>
    </p:spTree>
    <p:extLst>
      <p:ext uri="{BB962C8B-B14F-4D97-AF65-F5344CB8AC3E}">
        <p14:creationId xmlns:p14="http://schemas.microsoft.com/office/powerpoint/2010/main" val="299646895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a:t>ال</a:t>
            </a:r>
            <a:r>
              <a:rPr lang="ar-EG" dirty="0"/>
              <a:t>بناء </a:t>
            </a:r>
            <a:r>
              <a:rPr lang="ar-SA" dirty="0"/>
              <a:t>في مجال "بنية التقنية"</a:t>
            </a:r>
            <a:r>
              <a:rPr lang="ar-EG" dirty="0"/>
              <a:t> (</a:t>
            </a:r>
            <a:r>
              <a:rPr lang="ar-SA" dirty="0"/>
              <a:t>3</a:t>
            </a:r>
            <a:r>
              <a:rPr lang="ar-EG" dirty="0"/>
              <a:t> / </a:t>
            </a:r>
            <a:r>
              <a:rPr lang="ar-SA" dirty="0"/>
              <a:t>2</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112</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2643266581"/>
              </p:ext>
            </p:extLst>
          </p:nvPr>
        </p:nvGraphicFramePr>
        <p:xfrm>
          <a:off x="609600" y="1282290"/>
          <a:ext cx="11070774" cy="5070854"/>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293968">
                  <a:extLst>
                    <a:ext uri="{9D8B030D-6E8A-4147-A177-3AD203B41FA5}">
                      <a16:colId xmlns:a16="http://schemas.microsoft.com/office/drawing/2014/main" val="1302061076"/>
                    </a:ext>
                  </a:extLst>
                </a:gridCol>
                <a:gridCol w="3949700">
                  <a:extLst>
                    <a:ext uri="{9D8B030D-6E8A-4147-A177-3AD203B41FA5}">
                      <a16:colId xmlns:a16="http://schemas.microsoft.com/office/drawing/2014/main" val="1509377109"/>
                    </a:ext>
                  </a:extLst>
                </a:gridCol>
                <a:gridCol w="1974850">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707513">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1</a:t>
                      </a:r>
                    </a:p>
                  </a:txBody>
                  <a:tcPr marL="3810" marR="3810" marT="3810" marB="0" anchor="ctr"/>
                </a:tc>
                <a:tc rowSpan="2">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رابط شبكي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يربط</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رابط شبكي</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يربط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جهاز شبكي</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جهاز شبكي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التقنية</a:t>
                      </a: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2</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يُدار من قبل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رابط شبكي</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يُدار من قبل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أداة تقنية تحتية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أداة تقنية تحتية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3</a:t>
                      </a:r>
                    </a:p>
                  </a:txBody>
                  <a:tcPr marL="3810" marR="3810" marT="3810" marB="0" anchor="ctr"/>
                </a:tc>
                <a:tc rowSpan="2">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جهاز ملحق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يتصل بـ</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جهاز ملحق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 يتصل بـ</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جهاز</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 شبكي</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جهاز شبكي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التقنية</a:t>
                      </a: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4</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يُدار من قبل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جهاز ملحق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يُدار من قبل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أداة تقنية تحتية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أداة تقنية تحتية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4193838665"/>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5</a:t>
                      </a:r>
                    </a:p>
                  </a:txBody>
                  <a:tcPr marL="3810" marR="3810" marT="381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مضيف مادي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يشغل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مضيف مادي</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يشغل</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خدمة</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 تقنية تحتية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خدمة تقنية تحتية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التقنية</a:t>
                      </a:r>
                    </a:p>
                  </a:txBody>
                  <a:tcPr marL="3810" marR="3810" marT="3810" marB="0" anchor="ctr"/>
                </a:tc>
                <a:extLst>
                  <a:ext uri="{0D108BD9-81ED-4DB2-BD59-A6C34878D82A}">
                    <a16:rowId xmlns:a16="http://schemas.microsoft.com/office/drawing/2014/main" val="3456641915"/>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6</a:t>
                      </a: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يستخدم</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مضيف مادي</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يستخدم</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تخزين</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تخزين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76163763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7</a:t>
                      </a:r>
                    </a:p>
                  </a:txBody>
                  <a:tcPr marL="3810" marR="3810" marT="3810" marB="0" anchor="ctr"/>
                </a:tc>
                <a:tc rowSpan="4">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مكونات بنية تحتية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مستضاف في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مكونات البنية التحتية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مستضاف في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مركز بيانات</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مركز بيانات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التقنية</a:t>
                      </a:r>
                    </a:p>
                  </a:txBody>
                  <a:tcPr marL="3810" marR="3810" marT="3810" marB="0" anchor="ctr"/>
                </a:tc>
                <a:extLst>
                  <a:ext uri="{0D108BD9-81ED-4DB2-BD59-A6C34878D82A}">
                    <a16:rowId xmlns:a16="http://schemas.microsoft.com/office/drawing/2014/main" val="1472548560"/>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8</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يستخدم</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مكونات البنية التحتية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يستخدم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رخصة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رخصة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9968773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1</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9</a:t>
                      </a:r>
                    </a:p>
                  </a:txBody>
                  <a:tcPr marL="3810" marR="3810" marT="3810" marB="0" anchor="ctr"/>
                </a:tc>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تُحمى بواسطة</a:t>
                      </a:r>
                    </a:p>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تحمي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مكونات البنية التحتية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تُحمى بواسطة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مكونات بنية الأمن</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مكونات بنية الأمن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الأمن</a:t>
                      </a:r>
                    </a:p>
                  </a:txBody>
                  <a:tcPr marL="3810" marR="3810" marT="3810" marB="0" anchor="ctr"/>
                </a:tc>
                <a:extLst>
                  <a:ext uri="{0D108BD9-81ED-4DB2-BD59-A6C34878D82A}">
                    <a16:rowId xmlns:a16="http://schemas.microsoft.com/office/drawing/2014/main" val="182130939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0</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تُدار بواسطة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مكونات البنية التحتية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تُدار بواسطة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مزود الخدمة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مزود الخدمة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الأعمال</a:t>
                      </a:r>
                    </a:p>
                  </a:txBody>
                  <a:tcPr marL="3810" marR="3810" marT="3810" marB="0" anchor="ctr"/>
                </a:tc>
                <a:extLst>
                  <a:ext uri="{0D108BD9-81ED-4DB2-BD59-A6C34878D82A}">
                    <a16:rowId xmlns:a16="http://schemas.microsoft.com/office/drawing/2014/main" val="3243285888"/>
                  </a:ext>
                </a:extLst>
              </a:tr>
            </a:tbl>
          </a:graphicData>
        </a:graphic>
      </p:graphicFrame>
    </p:spTree>
    <p:extLst>
      <p:ext uri="{BB962C8B-B14F-4D97-AF65-F5344CB8AC3E}">
        <p14:creationId xmlns:p14="http://schemas.microsoft.com/office/powerpoint/2010/main" val="9352246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a:t>ال</a:t>
            </a:r>
            <a:r>
              <a:rPr lang="ar-EG" dirty="0"/>
              <a:t>بناء </a:t>
            </a:r>
            <a:r>
              <a:rPr lang="ar-SA" dirty="0"/>
              <a:t>في مجال "بنية التقنية"</a:t>
            </a:r>
            <a:r>
              <a:rPr lang="ar-EG" dirty="0"/>
              <a:t> (</a:t>
            </a:r>
            <a:r>
              <a:rPr lang="ar-SA" dirty="0"/>
              <a:t>3</a:t>
            </a:r>
            <a:r>
              <a:rPr lang="ar-EG" dirty="0"/>
              <a:t> / </a:t>
            </a:r>
            <a:r>
              <a:rPr lang="ar-SA" dirty="0"/>
              <a:t>3</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113</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598044160"/>
              </p:ext>
            </p:extLst>
          </p:nvPr>
        </p:nvGraphicFramePr>
        <p:xfrm>
          <a:off x="609600" y="1282290"/>
          <a:ext cx="11070774" cy="4457444"/>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293968">
                  <a:extLst>
                    <a:ext uri="{9D8B030D-6E8A-4147-A177-3AD203B41FA5}">
                      <a16:colId xmlns:a16="http://schemas.microsoft.com/office/drawing/2014/main" val="1302061076"/>
                    </a:ext>
                  </a:extLst>
                </a:gridCol>
                <a:gridCol w="3949700">
                  <a:extLst>
                    <a:ext uri="{9D8B030D-6E8A-4147-A177-3AD203B41FA5}">
                      <a16:colId xmlns:a16="http://schemas.microsoft.com/office/drawing/2014/main" val="1509377109"/>
                    </a:ext>
                  </a:extLst>
                </a:gridCol>
                <a:gridCol w="1974850">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707513">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1</a:t>
                      </a:r>
                    </a:p>
                  </a:txBody>
                  <a:tcPr marL="3810" marR="3810" marT="3810" marB="0" anchor="ctr"/>
                </a:tc>
                <a:tc rowSpan="2">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تخزين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يستخدم</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تخزين</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يستخدم</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مضيف مادي</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مضيف مادي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التقنية</a:t>
                      </a: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2</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يتاح عبر</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تخزين</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يتاح عبر</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جهاز شبكي</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جهاز شبكي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3</a:t>
                      </a:r>
                    </a:p>
                  </a:txBody>
                  <a:tcPr marL="3810" marR="3810" marT="3810" marB="0" anchor="ctr"/>
                </a:tc>
                <a:tc rowSpan="4">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أداة تقنية تحتية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تدير</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أداة تقنية تحتية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تدير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خادم</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خادم</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4">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التقنية</a:t>
                      </a: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4</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تدير</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أداة تقنية تحتية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تدير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جهاز شبكي</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جهاز شبكي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4193838665"/>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5</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تدير</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أداة تقنية تحتية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تدير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رابط شبكي</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رابط شبكي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456641915"/>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6</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تدير</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أداة تقنية تحتية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تدير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جهاز ملحق</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جهاز ملحق</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76163763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7</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رخصة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EG" sz="1800" b="0" i="0" u="none" strike="noStrike" baseline="0" dirty="0">
                          <a:solidFill>
                            <a:srgbClr val="000000"/>
                          </a:solidFill>
                          <a:effectLst/>
                          <a:latin typeface="Sakkal Majalla" panose="02000000000000000000" pitchFamily="2" charset="-78"/>
                          <a:cs typeface="Sakkal Majalla" panose="02000000000000000000" pitchFamily="2" charset="-78"/>
                        </a:rPr>
                        <a:t>مُستخدمة في </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رخصة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مُستخدمة في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مكونات البنية التحتية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مكونات البنية التحتية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التقنية</a:t>
                      </a:r>
                    </a:p>
                  </a:txBody>
                  <a:tcPr marL="3810" marR="3810" marT="3810" marB="0" anchor="ctr"/>
                </a:tc>
                <a:extLst>
                  <a:ext uri="{0D108BD9-81ED-4DB2-BD59-A6C34878D82A}">
                    <a16:rowId xmlns:a16="http://schemas.microsoft.com/office/drawing/2014/main" val="1472548560"/>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8</a:t>
                      </a:r>
                    </a:p>
                  </a:txBody>
                  <a:tcPr marL="3810" marR="3810" marT="3810" marB="0" anchor="ct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خدمة تقنية تحتية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تعمل على</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خدمة تقنية تحتية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تعمل على</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مضيف مادي</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مضيف مادي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rowSpan="2">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التقنية</a:t>
                      </a:r>
                    </a:p>
                  </a:txBody>
                  <a:tcPr marL="3810" marR="3810" marT="3810" marB="0" anchor="ctr"/>
                </a:tc>
                <a:extLst>
                  <a:ext uri="{0D108BD9-81ED-4DB2-BD59-A6C34878D82A}">
                    <a16:rowId xmlns:a16="http://schemas.microsoft.com/office/drawing/2014/main" val="399687734"/>
                  </a:ext>
                </a:extLst>
              </a:tr>
              <a:tr h="416659">
                <a:tc>
                  <a:txBody>
                    <a:bodyPr/>
                    <a:lstStyle/>
                    <a:p>
                      <a:pPr algn="ctr" rtl="0" fontAlgn="ct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2</a:t>
                      </a: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9</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تعمل على</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خدمة تقنية تحتية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تعمل على</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خادم</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خادم</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vMerge="1">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1821309394"/>
                  </a:ext>
                </a:extLst>
              </a:tr>
            </a:tbl>
          </a:graphicData>
        </a:graphic>
      </p:graphicFrame>
    </p:spTree>
    <p:extLst>
      <p:ext uri="{BB962C8B-B14F-4D97-AF65-F5344CB8AC3E}">
        <p14:creationId xmlns:p14="http://schemas.microsoft.com/office/powerpoint/2010/main" val="147241987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262880" y="3925452"/>
            <a:ext cx="6281420" cy="641639"/>
          </a:xfrm>
        </p:spPr>
        <p:txBody>
          <a:bodyPr/>
          <a:lstStyle/>
          <a:p>
            <a:r>
              <a:rPr lang="ar-EG" sz="2800" dirty="0"/>
              <a:t>وحدات البناء لمجال "</a:t>
            </a:r>
            <a:r>
              <a:rPr lang="ar-SA" sz="2800" dirty="0"/>
              <a:t>الأمن</a:t>
            </a:r>
            <a:r>
              <a:rPr lang="ar-EG" sz="2800" dirty="0"/>
              <a:t>"</a:t>
            </a:r>
            <a:endParaRPr lang="en-US" sz="2800" dirty="0"/>
          </a:p>
        </p:txBody>
      </p:sp>
      <p:sp>
        <p:nvSpPr>
          <p:cNvPr id="4" name="Text Placeholder 3"/>
          <p:cNvSpPr>
            <a:spLocks noGrp="1"/>
          </p:cNvSpPr>
          <p:nvPr>
            <p:ph type="body" sz="quarter" idx="14"/>
          </p:nvPr>
        </p:nvSpPr>
        <p:spPr/>
        <p:txBody>
          <a:bodyPr/>
          <a:lstStyle/>
          <a:p>
            <a:r>
              <a:rPr lang="ar-SA" sz="7200" dirty="0"/>
              <a:t>3.7</a:t>
            </a:r>
            <a:endParaRPr lang="en-US" sz="7200" dirty="0"/>
          </a:p>
        </p:txBody>
      </p:sp>
    </p:spTree>
    <p:extLst>
      <p:ext uri="{BB962C8B-B14F-4D97-AF65-F5344CB8AC3E}">
        <p14:creationId xmlns:p14="http://schemas.microsoft.com/office/powerpoint/2010/main" val="875484320"/>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المكونات / وحدات البناء التابعة لمجال </a:t>
            </a:r>
            <a:r>
              <a:rPr lang="ar-EG" dirty="0"/>
              <a:t>"</a:t>
            </a:r>
            <a:r>
              <a:rPr lang="ar-SA" dirty="0"/>
              <a:t>بنية الأمن</a:t>
            </a:r>
            <a:r>
              <a:rPr lang="ar-EG" dirty="0"/>
              <a:t>"</a:t>
            </a:r>
            <a:endParaRPr lang="en-US" dirty="0"/>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115</a:t>
            </a:fld>
            <a:endParaRPr lang="en-US"/>
          </a:p>
        </p:txBody>
      </p:sp>
      <p:pic>
        <p:nvPicPr>
          <p:cNvPr id="5" name="Picture 4">
            <a:extLst>
              <a:ext uri="{FF2B5EF4-FFF2-40B4-BE49-F238E27FC236}">
                <a16:creationId xmlns:a16="http://schemas.microsoft.com/office/drawing/2014/main" id="{10D806AD-0AF5-4ED5-A563-919D6A450B28}"/>
              </a:ext>
            </a:extLst>
          </p:cNvPr>
          <p:cNvPicPr>
            <a:picLocks noChangeAspect="1"/>
          </p:cNvPicPr>
          <p:nvPr/>
        </p:nvPicPr>
        <p:blipFill>
          <a:blip r:embed="rId3"/>
          <a:stretch>
            <a:fillRect/>
          </a:stretch>
        </p:blipFill>
        <p:spPr>
          <a:xfrm>
            <a:off x="4804867" y="1625803"/>
            <a:ext cx="2582266" cy="3606394"/>
          </a:xfrm>
          <a:prstGeom prst="rect">
            <a:avLst/>
          </a:prstGeom>
        </p:spPr>
      </p:pic>
    </p:spTree>
    <p:extLst>
      <p:ext uri="{BB962C8B-B14F-4D97-AF65-F5344CB8AC3E}">
        <p14:creationId xmlns:p14="http://schemas.microsoft.com/office/powerpoint/2010/main" val="332952091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116</a:t>
            </a:fld>
            <a:endParaRPr lang="en-US"/>
          </a:p>
        </p:txBody>
      </p:sp>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تعريف وحدات البناء التابعة لمجال "بنية الأمن"</a:t>
            </a:r>
          </a:p>
        </p:txBody>
      </p:sp>
      <p:graphicFrame>
        <p:nvGraphicFramePr>
          <p:cNvPr id="3" name="Table 2">
            <a:extLst>
              <a:ext uri="{FF2B5EF4-FFF2-40B4-BE49-F238E27FC236}">
                <a16:creationId xmlns:a16="http://schemas.microsoft.com/office/drawing/2014/main" id="{4B764244-95B9-4D08-9E3F-9F6082A62393}"/>
              </a:ext>
            </a:extLst>
          </p:cNvPr>
          <p:cNvGraphicFramePr>
            <a:graphicFrameLocks noGrp="1"/>
          </p:cNvGraphicFramePr>
          <p:nvPr>
            <p:extLst>
              <p:ext uri="{D42A27DB-BD31-4B8C-83A1-F6EECF244321}">
                <p14:modId xmlns:p14="http://schemas.microsoft.com/office/powerpoint/2010/main" val="1783009151"/>
              </p:ext>
            </p:extLst>
          </p:nvPr>
        </p:nvGraphicFramePr>
        <p:xfrm>
          <a:off x="471897" y="1626005"/>
          <a:ext cx="11248205" cy="3618730"/>
        </p:xfrm>
        <a:graphic>
          <a:graphicData uri="http://schemas.openxmlformats.org/drawingml/2006/table">
            <a:tbl>
              <a:tblPr rtl="1" firstRow="1" bandRow="1">
                <a:tableStyleId>{21E4AEA4-8DFA-4A89-87EB-49C32662AFE0}</a:tableStyleId>
              </a:tblPr>
              <a:tblGrid>
                <a:gridCol w="1965187">
                  <a:extLst>
                    <a:ext uri="{9D8B030D-6E8A-4147-A177-3AD203B41FA5}">
                      <a16:colId xmlns:a16="http://schemas.microsoft.com/office/drawing/2014/main" val="2513578091"/>
                    </a:ext>
                  </a:extLst>
                </a:gridCol>
                <a:gridCol w="6556148">
                  <a:extLst>
                    <a:ext uri="{9D8B030D-6E8A-4147-A177-3AD203B41FA5}">
                      <a16:colId xmlns:a16="http://schemas.microsoft.com/office/drawing/2014/main" val="827792920"/>
                    </a:ext>
                  </a:extLst>
                </a:gridCol>
                <a:gridCol w="1371600">
                  <a:extLst>
                    <a:ext uri="{9D8B030D-6E8A-4147-A177-3AD203B41FA5}">
                      <a16:colId xmlns:a16="http://schemas.microsoft.com/office/drawing/2014/main" val="1351764172"/>
                    </a:ext>
                  </a:extLst>
                </a:gridCol>
                <a:gridCol w="1355270">
                  <a:extLst>
                    <a:ext uri="{9D8B030D-6E8A-4147-A177-3AD203B41FA5}">
                      <a16:colId xmlns:a16="http://schemas.microsoft.com/office/drawing/2014/main" val="3598871225"/>
                    </a:ext>
                  </a:extLst>
                </a:gridCol>
              </a:tblGrid>
              <a:tr h="849245">
                <a:tc>
                  <a:txBody>
                    <a:bodyPr/>
                    <a:lstStyle/>
                    <a:p>
                      <a:pPr algn="ctr" rtl="1" fontAlgn="b"/>
                      <a:r>
                        <a:rPr lang="ar-SA" sz="2100" u="none" strike="noStrike" dirty="0">
                          <a:effectLst/>
                        </a:rPr>
                        <a:t>وحدة البناء</a:t>
                      </a:r>
                      <a:endParaRPr lang="ar-SA" sz="21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ctr" rtl="1" fontAlgn="b"/>
                      <a:r>
                        <a:rPr lang="ar-SA" sz="2100" u="none" strike="noStrike" dirty="0">
                          <a:effectLst/>
                        </a:rPr>
                        <a:t>التعريف</a:t>
                      </a:r>
                      <a:endParaRPr lang="ar-SA" sz="2100" b="1" i="0" u="none" strike="noStrike" dirty="0">
                        <a:solidFill>
                          <a:srgbClr val="000000"/>
                        </a:solidFill>
                        <a:effectLst/>
                        <a:latin typeface="Arial" panose="020B0604020202020204" pitchFamily="34" charset="0"/>
                      </a:endParaRPr>
                    </a:p>
                  </a:txBody>
                  <a:tcPr marL="137160" marR="137160" marT="137160" marB="137160" anchor="ctr"/>
                </a:tc>
                <a:tc>
                  <a:txBody>
                    <a:bodyPr/>
                    <a:lstStyle/>
                    <a:p>
                      <a:pPr algn="ctr" rtl="1" fontAlgn="b"/>
                      <a:r>
                        <a:rPr lang="ar-SA" sz="2100" b="1" u="none" strike="noStrike" kern="1200" dirty="0">
                          <a:solidFill>
                            <a:schemeClr val="lt1"/>
                          </a:solidFill>
                          <a:effectLst/>
                          <a:latin typeface="+mn-lt"/>
                          <a:ea typeface="+mn-ea"/>
                          <a:cs typeface="+mn-cs"/>
                        </a:rPr>
                        <a:t>مستوى المكون</a:t>
                      </a:r>
                    </a:p>
                  </a:txBody>
                  <a:tcPr anchor="ctr"/>
                </a:tc>
                <a:tc>
                  <a:txBody>
                    <a:bodyPr/>
                    <a:lstStyle/>
                    <a:p>
                      <a:pPr algn="ctr" rtl="1" fontAlgn="b"/>
                      <a:r>
                        <a:rPr lang="ar-SA" sz="2100" b="1" u="none" strike="noStrike" kern="1200" dirty="0">
                          <a:solidFill>
                            <a:schemeClr val="lt1"/>
                          </a:solidFill>
                          <a:effectLst/>
                          <a:latin typeface="+mn-lt"/>
                          <a:ea typeface="+mn-ea"/>
                          <a:cs typeface="+mn-cs"/>
                        </a:rPr>
                        <a:t>مستوى إلزامية التوثيق</a:t>
                      </a:r>
                    </a:p>
                  </a:txBody>
                  <a:tcPr anchor="ctr"/>
                </a:tc>
                <a:extLst>
                  <a:ext uri="{0D108BD9-81ED-4DB2-BD59-A6C34878D82A}">
                    <a16:rowId xmlns:a16="http://schemas.microsoft.com/office/drawing/2014/main" val="4204035064"/>
                  </a:ext>
                </a:extLst>
              </a:tr>
              <a:tr h="849245">
                <a:tc>
                  <a:txBody>
                    <a:bodyPr/>
                    <a:lstStyle/>
                    <a:p>
                      <a:pPr algn="ctr" rtl="1"/>
                      <a:r>
                        <a:rPr lang="ar-SA" sz="2100" b="1" dirty="0">
                          <a:hlinkClick r:id="rId3" action="ppaction://hlinksldjump"/>
                        </a:rPr>
                        <a:t>جهاز أمن</a:t>
                      </a:r>
                      <a:endParaRPr lang="en-US" sz="2100" b="1" dirty="0"/>
                    </a:p>
                  </a:txBody>
                  <a:tcPr anchor="ctr"/>
                </a:tc>
                <a:tc>
                  <a:txBody>
                    <a:bodyPr/>
                    <a:lstStyle/>
                    <a:p>
                      <a:pPr algn="r" rtl="1"/>
                      <a:r>
                        <a:rPr lang="ar-SA" sz="1900" dirty="0"/>
                        <a:t>يمثل أجهزة الحلول الأمنية المستخدمة من قبل الهيئة بهدف تحقيق أمن</a:t>
                      </a:r>
                      <a:r>
                        <a:rPr lang="ar-EG" sz="1900" dirty="0"/>
                        <a:t> </a:t>
                      </a:r>
                      <a:r>
                        <a:rPr lang="ar-SA" sz="1900" dirty="0"/>
                        <a:t>المعلومات، ويشمل معلومات حول الشركة المصنعة والمواصفات الفنية</a:t>
                      </a:r>
                      <a:r>
                        <a:rPr lang="ar-EG" sz="1900" dirty="0"/>
                        <a:t> </a:t>
                      </a:r>
                      <a:r>
                        <a:rPr lang="ar-SA" sz="1900" dirty="0"/>
                        <a:t>للأجهزة وتاريخ انتهاء الدعم والرخص المستخدمة</a:t>
                      </a:r>
                      <a:endParaRPr lang="en-US" sz="1900" dirty="0"/>
                    </a:p>
                  </a:txBody>
                  <a:tcPr anchor="ctr"/>
                </a:tc>
                <a:tc>
                  <a:txBody>
                    <a:bodyPr/>
                    <a:lstStyle/>
                    <a:p>
                      <a:pPr algn="r" rtl="1"/>
                      <a:r>
                        <a:rPr lang="ar-SA" sz="1900" dirty="0"/>
                        <a:t>محوري</a:t>
                      </a:r>
                      <a:endParaRPr lang="en-US" sz="1900" dirty="0"/>
                    </a:p>
                  </a:txBody>
                  <a:tcPr anchor="ctr"/>
                </a:tc>
                <a:tc>
                  <a:txBody>
                    <a:bodyPr/>
                    <a:lstStyle/>
                    <a:p>
                      <a:pPr algn="r" rtl="1"/>
                      <a:r>
                        <a:rPr lang="ar-SA" sz="1900" dirty="0"/>
                        <a:t>مادي</a:t>
                      </a:r>
                      <a:endParaRPr lang="en-US" sz="1900" dirty="0"/>
                    </a:p>
                  </a:txBody>
                  <a:tcPr anchor="ctr"/>
                </a:tc>
                <a:extLst>
                  <a:ext uri="{0D108BD9-81ED-4DB2-BD59-A6C34878D82A}">
                    <a16:rowId xmlns:a16="http://schemas.microsoft.com/office/drawing/2014/main" val="1567062254"/>
                  </a:ext>
                </a:extLst>
              </a:tr>
              <a:tr h="849245">
                <a:tc>
                  <a:txBody>
                    <a:bodyPr/>
                    <a:lstStyle/>
                    <a:p>
                      <a:pPr algn="ctr" rtl="1"/>
                      <a:r>
                        <a:rPr lang="ar-SA" sz="2100" b="1" dirty="0">
                          <a:hlinkClick r:id="rId4" action="ppaction://hlinksldjump"/>
                        </a:rPr>
                        <a:t>برمجية أمن</a:t>
                      </a:r>
                      <a:endParaRPr lang="en-US" sz="2100" b="1" dirty="0"/>
                    </a:p>
                  </a:txBody>
                  <a:tcPr anchor="ctr"/>
                </a:tc>
                <a:tc>
                  <a:txBody>
                    <a:bodyPr/>
                    <a:lstStyle/>
                    <a:p>
                      <a:pPr algn="r" rtl="1"/>
                      <a:r>
                        <a:rPr lang="ar-SA" sz="1900" dirty="0"/>
                        <a:t>يمثل البرمجيات أو الأدوات المستخدمة من قبل الهيئة بهدف تحقيق أمن</a:t>
                      </a:r>
                      <a:r>
                        <a:rPr lang="ar-EG" sz="1900" dirty="0"/>
                        <a:t> </a:t>
                      </a:r>
                      <a:r>
                        <a:rPr lang="ar-SA" sz="1900" dirty="0"/>
                        <a:t>المعلومات، ويشمل معلومات حول الشركة المزودة والرخص المستخدمة</a:t>
                      </a:r>
                      <a:r>
                        <a:rPr lang="ar-EG" sz="1900" dirty="0"/>
                        <a:t> </a:t>
                      </a:r>
                      <a:r>
                        <a:rPr lang="ar-SA" sz="1900" dirty="0"/>
                        <a:t>وتاريخ انتهاء الدعم</a:t>
                      </a:r>
                      <a:endParaRPr lang="en-US" sz="1900" dirty="0"/>
                    </a:p>
                  </a:txBody>
                  <a:tcPr anchor="ctr"/>
                </a:tc>
                <a:tc>
                  <a:txBody>
                    <a:bodyPr/>
                    <a:lstStyle/>
                    <a:p>
                      <a:pPr algn="r" rtl="1"/>
                      <a:r>
                        <a:rPr lang="ar-SA" sz="1900" dirty="0"/>
                        <a:t>محوري</a:t>
                      </a:r>
                      <a:endParaRPr lang="en-US" sz="1900" dirty="0"/>
                    </a:p>
                  </a:txBody>
                  <a:tcPr anchor="ctr"/>
                </a:tc>
                <a:tc>
                  <a:txBody>
                    <a:bodyPr/>
                    <a:lstStyle/>
                    <a:p>
                      <a:pPr algn="r" rtl="1"/>
                      <a:r>
                        <a:rPr lang="ar-SA" sz="1900" dirty="0"/>
                        <a:t>منطقي</a:t>
                      </a:r>
                      <a:endParaRPr lang="en-US" sz="1900" dirty="0"/>
                    </a:p>
                  </a:txBody>
                  <a:tcPr anchor="ctr"/>
                </a:tc>
                <a:extLst>
                  <a:ext uri="{0D108BD9-81ED-4DB2-BD59-A6C34878D82A}">
                    <a16:rowId xmlns:a16="http://schemas.microsoft.com/office/drawing/2014/main" val="3014951108"/>
                  </a:ext>
                </a:extLst>
              </a:tr>
              <a:tr h="849245">
                <a:tc>
                  <a:txBody>
                    <a:bodyPr/>
                    <a:lstStyle/>
                    <a:p>
                      <a:pPr algn="ctr" rtl="1"/>
                      <a:r>
                        <a:rPr lang="ar-SA" sz="2100" b="1" dirty="0">
                          <a:hlinkClick r:id="rId5" action="ppaction://hlinksldjump"/>
                        </a:rPr>
                        <a:t>خدمة أمن</a:t>
                      </a:r>
                      <a:endParaRPr lang="en-US" sz="2100" b="1" dirty="0"/>
                    </a:p>
                  </a:txBody>
                  <a:tcPr anchor="ctr"/>
                </a:tc>
                <a:tc>
                  <a:txBody>
                    <a:bodyPr/>
                    <a:lstStyle/>
                    <a:p>
                      <a:pPr algn="r" rtl="1"/>
                      <a:r>
                        <a:rPr lang="ar-SA" sz="1900" dirty="0"/>
                        <a:t>يمثل اتفاقية مبرمة بين الهيئة وبين مزود خدمات أمنية مثل خدمات مركز</a:t>
                      </a:r>
                      <a:r>
                        <a:rPr lang="ar-EG" sz="1900" dirty="0"/>
                        <a:t> </a:t>
                      </a:r>
                      <a:r>
                        <a:rPr lang="ar-SA" sz="1900" dirty="0"/>
                        <a:t>العمليات الأمنية المدارة أو خدمة اختبار الاختراق ويوفر معلومات حول نوع</a:t>
                      </a:r>
                      <a:r>
                        <a:rPr lang="ar-EG" sz="1900" dirty="0"/>
                        <a:t> </a:t>
                      </a:r>
                      <a:r>
                        <a:rPr lang="ar-SA" sz="1900" dirty="0"/>
                        <a:t>ونطاق الخدمة واتفاقية مستوى الخدمة، وتواريخ البداية، والنهاية، والتكلفة</a:t>
                      </a:r>
                      <a:endParaRPr lang="en-US" sz="1900" dirty="0"/>
                    </a:p>
                  </a:txBody>
                  <a:tcPr anchor="ctr"/>
                </a:tc>
                <a:tc>
                  <a:txBody>
                    <a:bodyPr/>
                    <a:lstStyle/>
                    <a:p>
                      <a:pPr algn="r" rtl="1"/>
                      <a:r>
                        <a:rPr lang="ar-SA" sz="1900" dirty="0"/>
                        <a:t>محوري</a:t>
                      </a:r>
                      <a:endParaRPr lang="en-US" sz="1900" dirty="0"/>
                    </a:p>
                  </a:txBody>
                  <a:tcPr anchor="ctr"/>
                </a:tc>
                <a:tc>
                  <a:txBody>
                    <a:bodyPr/>
                    <a:lstStyle/>
                    <a:p>
                      <a:pPr algn="r" rtl="1"/>
                      <a:r>
                        <a:rPr lang="ar-SA" sz="1900" dirty="0"/>
                        <a:t>منطقي</a:t>
                      </a:r>
                      <a:endParaRPr lang="en-US" sz="1900" dirty="0"/>
                    </a:p>
                  </a:txBody>
                  <a:tcPr anchor="ctr"/>
                </a:tc>
                <a:extLst>
                  <a:ext uri="{0D108BD9-81ED-4DB2-BD59-A6C34878D82A}">
                    <a16:rowId xmlns:a16="http://schemas.microsoft.com/office/drawing/2014/main" val="2579063113"/>
                  </a:ext>
                </a:extLst>
              </a:tr>
            </a:tbl>
          </a:graphicData>
        </a:graphic>
      </p:graphicFrame>
    </p:spTree>
    <p:extLst>
      <p:ext uri="{BB962C8B-B14F-4D97-AF65-F5344CB8AC3E}">
        <p14:creationId xmlns:p14="http://schemas.microsoft.com/office/powerpoint/2010/main" val="55698944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E8BFF-61A3-2975-9344-C95D3E155FF7}"/>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0987928F-ABF0-1083-C148-C6DD4BB534F0}"/>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117</a:t>
            </a:fld>
            <a:endParaRPr lang="en-US"/>
          </a:p>
        </p:txBody>
      </p:sp>
      <p:sp>
        <p:nvSpPr>
          <p:cNvPr id="2" name="Title 1">
            <a:extLst>
              <a:ext uri="{FF2B5EF4-FFF2-40B4-BE49-F238E27FC236}">
                <a16:creationId xmlns:a16="http://schemas.microsoft.com/office/drawing/2014/main" id="{1E056B15-3C46-0179-9D84-90232C56C16E}"/>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الأمن"</a:t>
            </a:r>
            <a:r>
              <a:rPr lang="ar-EG" sz="2800" dirty="0"/>
              <a:t> -</a:t>
            </a:r>
            <a:r>
              <a:rPr lang="ar-EG" dirty="0"/>
              <a:t> </a:t>
            </a:r>
            <a:r>
              <a:rPr lang="en-US" dirty="0"/>
              <a:t>تفصيل سمات </a:t>
            </a:r>
            <a:r>
              <a:rPr lang="ar-SA" dirty="0"/>
              <a:t>وحدة </a:t>
            </a:r>
            <a:r>
              <a:rPr lang="ar-EG" dirty="0"/>
              <a:t>ال</a:t>
            </a:r>
            <a:r>
              <a:rPr lang="ar-SA" dirty="0"/>
              <a:t>بناء "جهاز أمن</a:t>
            </a:r>
            <a:r>
              <a:rPr lang="en-US" dirty="0"/>
              <a:t> </a:t>
            </a:r>
            <a:r>
              <a:rPr lang="ar-EG" dirty="0"/>
              <a:t>- </a:t>
            </a:r>
            <a:r>
              <a:rPr lang="en-US" dirty="0"/>
              <a:t>Security Hardware</a:t>
            </a:r>
            <a:r>
              <a:rPr lang="ar-SA" dirty="0"/>
              <a:t>"</a:t>
            </a:r>
            <a:endParaRPr lang="en-US" dirty="0"/>
          </a:p>
        </p:txBody>
      </p:sp>
      <p:graphicFrame>
        <p:nvGraphicFramePr>
          <p:cNvPr id="4" name="Table 3">
            <a:extLst>
              <a:ext uri="{FF2B5EF4-FFF2-40B4-BE49-F238E27FC236}">
                <a16:creationId xmlns:a16="http://schemas.microsoft.com/office/drawing/2014/main" id="{0670FC47-EE62-D45C-F051-A63F4692DB41}"/>
              </a:ext>
            </a:extLst>
          </p:cNvPr>
          <p:cNvGraphicFramePr>
            <a:graphicFrameLocks noGrp="1"/>
          </p:cNvGraphicFramePr>
          <p:nvPr>
            <p:extLst>
              <p:ext uri="{D42A27DB-BD31-4B8C-83A1-F6EECF244321}">
                <p14:modId xmlns:p14="http://schemas.microsoft.com/office/powerpoint/2010/main" val="3973228464"/>
              </p:ext>
            </p:extLst>
          </p:nvPr>
        </p:nvGraphicFramePr>
        <p:xfrm>
          <a:off x="981076" y="1196999"/>
          <a:ext cx="10229848" cy="4871832"/>
        </p:xfrm>
        <a:graphic>
          <a:graphicData uri="http://schemas.openxmlformats.org/drawingml/2006/table">
            <a:tbl>
              <a:tblPr firstRow="1" bandRow="1">
                <a:tableStyleId>{5C22544A-7EE6-4342-B048-85BDC9FD1C3A}</a:tableStyleId>
              </a:tblPr>
              <a:tblGrid>
                <a:gridCol w="1767248">
                  <a:extLst>
                    <a:ext uri="{9D8B030D-6E8A-4147-A177-3AD203B41FA5}">
                      <a16:colId xmlns:a16="http://schemas.microsoft.com/office/drawing/2014/main" val="2853404558"/>
                    </a:ext>
                  </a:extLst>
                </a:gridCol>
                <a:gridCol w="5428010">
                  <a:extLst>
                    <a:ext uri="{9D8B030D-6E8A-4147-A177-3AD203B41FA5}">
                      <a16:colId xmlns:a16="http://schemas.microsoft.com/office/drawing/2014/main" val="1866450976"/>
                    </a:ext>
                  </a:extLst>
                </a:gridCol>
                <a:gridCol w="1517295">
                  <a:extLst>
                    <a:ext uri="{9D8B030D-6E8A-4147-A177-3AD203B41FA5}">
                      <a16:colId xmlns:a16="http://schemas.microsoft.com/office/drawing/2014/main" val="751160629"/>
                    </a:ext>
                  </a:extLst>
                </a:gridCol>
                <a:gridCol w="1517295">
                  <a:extLst>
                    <a:ext uri="{9D8B030D-6E8A-4147-A177-3AD203B41FA5}">
                      <a16:colId xmlns:a16="http://schemas.microsoft.com/office/drawing/2014/main" val="383493860"/>
                    </a:ext>
                  </a:extLst>
                </a:gridCol>
              </a:tblGrid>
              <a:tr h="344199">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Attribute Name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Description</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Type</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u="none" strike="noStrike" baseline="0" dirty="0">
                          <a:effectLst/>
                          <a:latin typeface="Sakkal Majalla" panose="02000000000000000000" pitchFamily="2" charset="-78"/>
                          <a:cs typeface="Sakkal Majalla" panose="02000000000000000000" pitchFamily="2" charset="-78"/>
                        </a:rPr>
                        <a:t>Doc. Mandate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extLst>
                  <a:ext uri="{0D108BD9-81ED-4DB2-BD59-A6C34878D82A}">
                    <a16:rowId xmlns:a16="http://schemas.microsoft.com/office/drawing/2014/main" val="2998368315"/>
                  </a:ext>
                </a:extLst>
              </a:tr>
              <a:tr h="41160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ID</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Unique identifier for the security hardware</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Alphanumeric</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anchor="b"/>
                </a:tc>
                <a:extLst>
                  <a:ext uri="{0D108BD9-81ED-4DB2-BD59-A6C34878D82A}">
                    <a16:rowId xmlns:a16="http://schemas.microsoft.com/office/drawing/2014/main" val="2177790647"/>
                  </a:ext>
                </a:extLst>
              </a:tr>
              <a:tr h="41160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Name</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Name of the security hardware device</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anchor="b"/>
                </a:tc>
                <a:extLst>
                  <a:ext uri="{0D108BD9-81ED-4DB2-BD59-A6C34878D82A}">
                    <a16:rowId xmlns:a16="http://schemas.microsoft.com/office/drawing/2014/main" val="1426280651"/>
                  </a:ext>
                </a:extLst>
              </a:tr>
              <a:tr h="41160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Description</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Brief description of the hardware's functionality</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anchor="b"/>
                </a:tc>
                <a:extLst>
                  <a:ext uri="{0D108BD9-81ED-4DB2-BD59-A6C34878D82A}">
                    <a16:rowId xmlns:a16="http://schemas.microsoft.com/office/drawing/2014/main" val="3646919947"/>
                  </a:ext>
                </a:extLst>
              </a:tr>
              <a:tr h="41160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Model Name</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hardware's model name</a:t>
                      </a:r>
                    </a:p>
                  </a:txBody>
                  <a:tcPr anchor="b"/>
                </a:tc>
                <a:tc>
                  <a:txBody>
                    <a:bodyPr/>
                    <a:lstStyle/>
                    <a:p>
                      <a:pPr algn="l" fontAlgn="b"/>
                      <a:r>
                        <a:rPr lang="en-US" sz="1600" b="0" i="0" u="none" strike="noStrike" baseline="0">
                          <a:solidFill>
                            <a:srgbClr val="000000"/>
                          </a:solidFill>
                          <a:effectLst/>
                          <a:latin typeface="Sakkal Majalla" panose="02000000000000000000" pitchFamily="2" charset="-78"/>
                          <a:cs typeface="Sakkal Majalla" panose="02000000000000000000" pitchFamily="2" charset="-78"/>
                        </a:rPr>
                        <a:t>Text</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anchor="b"/>
                </a:tc>
                <a:extLst>
                  <a:ext uri="{0D108BD9-81ED-4DB2-BD59-A6C34878D82A}">
                    <a16:rowId xmlns:a16="http://schemas.microsoft.com/office/drawing/2014/main" val="220032958"/>
                  </a:ext>
                </a:extLst>
              </a:tr>
              <a:tr h="41160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Vendor</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Vendor supplying the hardware (e.g., Cisco, Barracuda)</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anchor="b"/>
                </a:tc>
                <a:extLst>
                  <a:ext uri="{0D108BD9-81ED-4DB2-BD59-A6C34878D82A}">
                    <a16:rowId xmlns:a16="http://schemas.microsoft.com/office/drawing/2014/main" val="2719192168"/>
                  </a:ext>
                </a:extLst>
              </a:tr>
              <a:tr h="41160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OS Name</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Operating system of the hardware device</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anchor="b"/>
                </a:tc>
                <a:extLst>
                  <a:ext uri="{0D108BD9-81ED-4DB2-BD59-A6C34878D82A}">
                    <a16:rowId xmlns:a16="http://schemas.microsoft.com/office/drawing/2014/main" val="3256083373"/>
                  </a:ext>
                </a:extLst>
              </a:tr>
              <a:tr h="41160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City</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city where the hardware is located</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anchor="b"/>
                </a:tc>
                <a:extLst>
                  <a:ext uri="{0D108BD9-81ED-4DB2-BD59-A6C34878D82A}">
                    <a16:rowId xmlns:a16="http://schemas.microsoft.com/office/drawing/2014/main" val="1589904935"/>
                  </a:ext>
                </a:extLst>
              </a:tr>
              <a:tr h="41160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Building</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specific building where the hardware is installed</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anchor="b"/>
                </a:tc>
                <a:extLst>
                  <a:ext uri="{0D108BD9-81ED-4DB2-BD59-A6C34878D82A}">
                    <a16:rowId xmlns:a16="http://schemas.microsoft.com/office/drawing/2014/main" val="653200319"/>
                  </a:ext>
                </a:extLst>
              </a:tr>
              <a:tr h="41160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Business Severity</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importance of the hardware (e.g., Critical, Medium, Law)</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anchor="b"/>
                </a:tc>
                <a:extLst>
                  <a:ext uri="{0D108BD9-81ED-4DB2-BD59-A6C34878D82A}">
                    <a16:rowId xmlns:a16="http://schemas.microsoft.com/office/drawing/2014/main" val="1996831406"/>
                  </a:ext>
                </a:extLst>
              </a:tr>
              <a:tr h="41160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Install Date</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Date of hardware installation</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Date</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anchor="b"/>
                </a:tc>
                <a:extLst>
                  <a:ext uri="{0D108BD9-81ED-4DB2-BD59-A6C34878D82A}">
                    <a16:rowId xmlns:a16="http://schemas.microsoft.com/office/drawing/2014/main" val="2527114550"/>
                  </a:ext>
                </a:extLst>
              </a:tr>
              <a:tr h="411603">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Serial Number</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Hardware serial number for asset tracking</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anchor="b"/>
                </a:tc>
                <a:extLst>
                  <a:ext uri="{0D108BD9-81ED-4DB2-BD59-A6C34878D82A}">
                    <a16:rowId xmlns:a16="http://schemas.microsoft.com/office/drawing/2014/main" val="3603808463"/>
                  </a:ext>
                </a:extLst>
              </a:tr>
            </a:tbl>
          </a:graphicData>
        </a:graphic>
      </p:graphicFrame>
    </p:spTree>
    <p:extLst>
      <p:ext uri="{BB962C8B-B14F-4D97-AF65-F5344CB8AC3E}">
        <p14:creationId xmlns:p14="http://schemas.microsoft.com/office/powerpoint/2010/main" val="377386001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4F6E0-D070-D77E-EE0E-9CF9B5A6E112}"/>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67630CA3-0C9F-DCFF-FFFF-6F7CEAE2A839}"/>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118</a:t>
            </a:fld>
            <a:endParaRPr lang="en-US"/>
          </a:p>
        </p:txBody>
      </p:sp>
      <p:sp>
        <p:nvSpPr>
          <p:cNvPr id="2" name="Title 1">
            <a:extLst>
              <a:ext uri="{FF2B5EF4-FFF2-40B4-BE49-F238E27FC236}">
                <a16:creationId xmlns:a16="http://schemas.microsoft.com/office/drawing/2014/main" id="{B90F3A66-859F-CC4E-AE56-EE0E91282DF6}"/>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الأمن"</a:t>
            </a:r>
            <a:r>
              <a:rPr lang="ar-EG" sz="2800" dirty="0"/>
              <a:t> -</a:t>
            </a:r>
            <a:r>
              <a:rPr lang="ar-EG" dirty="0"/>
              <a:t> </a:t>
            </a:r>
            <a:r>
              <a:rPr lang="en-US" dirty="0"/>
              <a:t>تفصيل سمات </a:t>
            </a:r>
            <a:r>
              <a:rPr lang="ar-SA" dirty="0"/>
              <a:t>وحدة </a:t>
            </a:r>
            <a:r>
              <a:rPr lang="ar-EG" dirty="0"/>
              <a:t>ال</a:t>
            </a:r>
            <a:r>
              <a:rPr lang="ar-SA" dirty="0"/>
              <a:t>بناء "برمجية أمن</a:t>
            </a:r>
            <a:r>
              <a:rPr lang="en-US" dirty="0"/>
              <a:t> </a:t>
            </a:r>
            <a:r>
              <a:rPr lang="ar-EG" dirty="0"/>
              <a:t>- </a:t>
            </a:r>
            <a:r>
              <a:rPr lang="en-US" dirty="0"/>
              <a:t>Security Software</a:t>
            </a:r>
            <a:r>
              <a:rPr lang="ar-SA" dirty="0"/>
              <a:t>"</a:t>
            </a:r>
            <a:endParaRPr lang="en-US" dirty="0"/>
          </a:p>
        </p:txBody>
      </p:sp>
      <p:graphicFrame>
        <p:nvGraphicFramePr>
          <p:cNvPr id="4" name="Table 3">
            <a:extLst>
              <a:ext uri="{FF2B5EF4-FFF2-40B4-BE49-F238E27FC236}">
                <a16:creationId xmlns:a16="http://schemas.microsoft.com/office/drawing/2014/main" id="{EA1BF1AB-4C01-B686-E901-F4ADDD61A86D}"/>
              </a:ext>
            </a:extLst>
          </p:cNvPr>
          <p:cNvGraphicFramePr>
            <a:graphicFrameLocks noGrp="1"/>
          </p:cNvGraphicFramePr>
          <p:nvPr>
            <p:extLst>
              <p:ext uri="{D42A27DB-BD31-4B8C-83A1-F6EECF244321}">
                <p14:modId xmlns:p14="http://schemas.microsoft.com/office/powerpoint/2010/main" val="375394899"/>
              </p:ext>
            </p:extLst>
          </p:nvPr>
        </p:nvGraphicFramePr>
        <p:xfrm>
          <a:off x="981076" y="1196999"/>
          <a:ext cx="10229848" cy="4184679"/>
        </p:xfrm>
        <a:graphic>
          <a:graphicData uri="http://schemas.openxmlformats.org/drawingml/2006/table">
            <a:tbl>
              <a:tblPr firstRow="1" bandRow="1">
                <a:tableStyleId>{5C22544A-7EE6-4342-B048-85BDC9FD1C3A}</a:tableStyleId>
              </a:tblPr>
              <a:tblGrid>
                <a:gridCol w="1767248">
                  <a:extLst>
                    <a:ext uri="{9D8B030D-6E8A-4147-A177-3AD203B41FA5}">
                      <a16:colId xmlns:a16="http://schemas.microsoft.com/office/drawing/2014/main" val="2853404558"/>
                    </a:ext>
                  </a:extLst>
                </a:gridCol>
                <a:gridCol w="5365866">
                  <a:extLst>
                    <a:ext uri="{9D8B030D-6E8A-4147-A177-3AD203B41FA5}">
                      <a16:colId xmlns:a16="http://schemas.microsoft.com/office/drawing/2014/main" val="1866450976"/>
                    </a:ext>
                  </a:extLst>
                </a:gridCol>
                <a:gridCol w="1548367">
                  <a:extLst>
                    <a:ext uri="{9D8B030D-6E8A-4147-A177-3AD203B41FA5}">
                      <a16:colId xmlns:a16="http://schemas.microsoft.com/office/drawing/2014/main" val="751160629"/>
                    </a:ext>
                  </a:extLst>
                </a:gridCol>
                <a:gridCol w="1548367">
                  <a:extLst>
                    <a:ext uri="{9D8B030D-6E8A-4147-A177-3AD203B41FA5}">
                      <a16:colId xmlns:a16="http://schemas.microsoft.com/office/drawing/2014/main" val="541639708"/>
                    </a:ext>
                  </a:extLst>
                </a:gridCol>
              </a:tblGrid>
              <a:tr h="344199">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Attribute Name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Description</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Type</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u="none" strike="noStrike" baseline="0" dirty="0">
                          <a:effectLst/>
                          <a:latin typeface="Sakkal Majalla" panose="02000000000000000000" pitchFamily="2" charset="-78"/>
                          <a:cs typeface="Sakkal Majalla" panose="02000000000000000000" pitchFamily="2" charset="-78"/>
                        </a:rPr>
                        <a:t>Doc. Mandate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extLst>
                  <a:ext uri="{0D108BD9-81ED-4DB2-BD59-A6C34878D82A}">
                    <a16:rowId xmlns:a16="http://schemas.microsoft.com/office/drawing/2014/main" val="2998368315"/>
                  </a:ext>
                </a:extLst>
              </a:tr>
              <a:tr h="4035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Unique identifier for the security software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Alphanumeric</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177790647"/>
                  </a:ext>
                </a:extLst>
              </a:tr>
              <a:tr h="4035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Name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Name of the security software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1426280651"/>
                  </a:ext>
                </a:extLst>
              </a:tr>
              <a:tr h="403541">
                <a:tc>
                  <a:txBody>
                    <a:bodyPr/>
                    <a:lstStyle/>
                    <a:p>
                      <a:pPr algn="ctr" fontAlgn="b"/>
                      <a:r>
                        <a:rPr lang="en-US" sz="1800" b="1" i="0" u="none" strike="noStrike" baseline="0">
                          <a:solidFill>
                            <a:srgbClr val="000000"/>
                          </a:solidFill>
                          <a:effectLst/>
                          <a:latin typeface="Sakkal Majalla" panose="02000000000000000000" pitchFamily="2" charset="-78"/>
                          <a:cs typeface="Sakkal Majalla" panose="02000000000000000000" pitchFamily="2" charset="-78"/>
                        </a:rPr>
                        <a:t>Description</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Brief description of the software's functionality</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L="137160" marR="137160" marT="137160" marB="137160" anchor="b"/>
                </a:tc>
                <a:extLst>
                  <a:ext uri="{0D108BD9-81ED-4DB2-BD59-A6C34878D82A}">
                    <a16:rowId xmlns:a16="http://schemas.microsoft.com/office/drawing/2014/main" val="3646919947"/>
                  </a:ext>
                </a:extLst>
              </a:tr>
              <a:tr h="4035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Vendor</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Vendor providing the software (e.g., Sophos, Juniper)</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20032958"/>
                  </a:ext>
                </a:extLst>
              </a:tr>
              <a:tr h="4035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OS Name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Operating system supported by the software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719192168"/>
                  </a:ext>
                </a:extLst>
              </a:tr>
              <a:tr h="4035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Business Severity</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criticality of the software (e.g., Critical, Medium, Law)</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3256083373"/>
                  </a:ext>
                </a:extLst>
              </a:tr>
              <a:tr h="403541">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Install Date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Date the software was installed or activated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Date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L="137160" marR="137160" marT="137160" marB="137160" anchor="b"/>
                </a:tc>
                <a:extLst>
                  <a:ext uri="{0D108BD9-81ED-4DB2-BD59-A6C34878D82A}">
                    <a16:rowId xmlns:a16="http://schemas.microsoft.com/office/drawing/2014/main" val="1589904935"/>
                  </a:ext>
                </a:extLst>
              </a:tr>
            </a:tbl>
          </a:graphicData>
        </a:graphic>
      </p:graphicFrame>
    </p:spTree>
    <p:extLst>
      <p:ext uri="{BB962C8B-B14F-4D97-AF65-F5344CB8AC3E}">
        <p14:creationId xmlns:p14="http://schemas.microsoft.com/office/powerpoint/2010/main" val="81101946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E0B32-81C3-A932-3A6A-909DDA9F02CF}"/>
            </a:ext>
          </a:extLst>
        </p:cNvPr>
        <p:cNvGrpSpPr/>
        <p:nvPr/>
      </p:nvGrpSpPr>
      <p:grpSpPr>
        <a:xfrm>
          <a:off x="0" y="0"/>
          <a:ext cx="0" cy="0"/>
          <a:chOff x="0" y="0"/>
          <a:chExt cx="0" cy="0"/>
        </a:xfrm>
      </p:grpSpPr>
      <p:sp>
        <p:nvSpPr>
          <p:cNvPr id="30" name="Slide Number Placeholder 4">
            <a:extLst>
              <a:ext uri="{FF2B5EF4-FFF2-40B4-BE49-F238E27FC236}">
                <a16:creationId xmlns:a16="http://schemas.microsoft.com/office/drawing/2014/main" id="{274823C3-E74F-6FD4-E0FC-2F20251022FD}"/>
              </a:ext>
            </a:extLst>
          </p:cNvPr>
          <p:cNvSpPr>
            <a:spLocks noGrp="1"/>
          </p:cNvSpPr>
          <p:nvPr>
            <p:ph type="sldNum" sz="quarter" idx="12"/>
          </p:nvPr>
        </p:nvSpPr>
        <p:spPr>
          <a:xfrm>
            <a:off x="621452" y="6358188"/>
            <a:ext cx="437375" cy="320040"/>
          </a:xfrm>
        </p:spPr>
        <p:txBody>
          <a:bodyPr vert="horz" lIns="0" tIns="0" rIns="0" bIns="0" rtlCol="0" anchor="ctr">
            <a:normAutofit/>
          </a:bodyPr>
          <a:lstStyle/>
          <a:p>
            <a:pPr>
              <a:spcAft>
                <a:spcPts val="600"/>
              </a:spcAft>
            </a:pPr>
            <a:fld id="{0BE4EC83-A869-464E-AE9F-881796FB085E}" type="slidenum">
              <a:rPr lang="en-US" smtClean="0"/>
              <a:pPr>
                <a:spcAft>
                  <a:spcPts val="600"/>
                </a:spcAft>
              </a:pPr>
              <a:t>119</a:t>
            </a:fld>
            <a:endParaRPr lang="en-US"/>
          </a:p>
        </p:txBody>
      </p:sp>
      <p:sp>
        <p:nvSpPr>
          <p:cNvPr id="2" name="Title 1">
            <a:extLst>
              <a:ext uri="{FF2B5EF4-FFF2-40B4-BE49-F238E27FC236}">
                <a16:creationId xmlns:a16="http://schemas.microsoft.com/office/drawing/2014/main" id="{CA2A3801-5BB1-1DB2-2A14-4A3B3C809CA4}"/>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sz="2800" dirty="0"/>
              <a:t>مجال "بنية الأمن"</a:t>
            </a:r>
            <a:r>
              <a:rPr lang="ar-EG" sz="2800" dirty="0"/>
              <a:t> -</a:t>
            </a:r>
            <a:r>
              <a:rPr lang="ar-EG" dirty="0"/>
              <a:t> </a:t>
            </a:r>
            <a:r>
              <a:rPr lang="en-US" dirty="0"/>
              <a:t>تفصيل سمات </a:t>
            </a:r>
            <a:r>
              <a:rPr lang="ar-SA" dirty="0"/>
              <a:t>وحدة </a:t>
            </a:r>
            <a:r>
              <a:rPr lang="ar-EG" dirty="0"/>
              <a:t>ال</a:t>
            </a:r>
            <a:r>
              <a:rPr lang="ar-SA" dirty="0"/>
              <a:t>بناء "خدمة أمن</a:t>
            </a:r>
            <a:r>
              <a:rPr lang="en-US" dirty="0"/>
              <a:t> </a:t>
            </a:r>
            <a:r>
              <a:rPr lang="ar-EG" dirty="0"/>
              <a:t>- </a:t>
            </a:r>
            <a:r>
              <a:rPr lang="en-US" dirty="0"/>
              <a:t>Security Service</a:t>
            </a:r>
            <a:r>
              <a:rPr lang="ar-SA" dirty="0"/>
              <a:t>"</a:t>
            </a:r>
            <a:endParaRPr lang="en-US" dirty="0"/>
          </a:p>
        </p:txBody>
      </p:sp>
      <p:graphicFrame>
        <p:nvGraphicFramePr>
          <p:cNvPr id="4" name="Table 3">
            <a:extLst>
              <a:ext uri="{FF2B5EF4-FFF2-40B4-BE49-F238E27FC236}">
                <a16:creationId xmlns:a16="http://schemas.microsoft.com/office/drawing/2014/main" id="{BB88C065-4926-E7A8-F9A6-15F4BD2F5353}"/>
              </a:ext>
            </a:extLst>
          </p:cNvPr>
          <p:cNvGraphicFramePr>
            <a:graphicFrameLocks noGrp="1"/>
          </p:cNvGraphicFramePr>
          <p:nvPr>
            <p:extLst>
              <p:ext uri="{D42A27DB-BD31-4B8C-83A1-F6EECF244321}">
                <p14:modId xmlns:p14="http://schemas.microsoft.com/office/powerpoint/2010/main" val="1801781457"/>
              </p:ext>
            </p:extLst>
          </p:nvPr>
        </p:nvGraphicFramePr>
        <p:xfrm>
          <a:off x="981076" y="1196999"/>
          <a:ext cx="10229848" cy="4184679"/>
        </p:xfrm>
        <a:graphic>
          <a:graphicData uri="http://schemas.openxmlformats.org/drawingml/2006/table">
            <a:tbl>
              <a:tblPr firstRow="1" bandRow="1">
                <a:tableStyleId>{5C22544A-7EE6-4342-B048-85BDC9FD1C3A}</a:tableStyleId>
              </a:tblPr>
              <a:tblGrid>
                <a:gridCol w="2356484">
                  <a:extLst>
                    <a:ext uri="{9D8B030D-6E8A-4147-A177-3AD203B41FA5}">
                      <a16:colId xmlns:a16="http://schemas.microsoft.com/office/drawing/2014/main" val="2853404558"/>
                    </a:ext>
                  </a:extLst>
                </a:gridCol>
                <a:gridCol w="4741120">
                  <a:extLst>
                    <a:ext uri="{9D8B030D-6E8A-4147-A177-3AD203B41FA5}">
                      <a16:colId xmlns:a16="http://schemas.microsoft.com/office/drawing/2014/main" val="1866450976"/>
                    </a:ext>
                  </a:extLst>
                </a:gridCol>
                <a:gridCol w="1566122">
                  <a:extLst>
                    <a:ext uri="{9D8B030D-6E8A-4147-A177-3AD203B41FA5}">
                      <a16:colId xmlns:a16="http://schemas.microsoft.com/office/drawing/2014/main" val="751160629"/>
                    </a:ext>
                  </a:extLst>
                </a:gridCol>
                <a:gridCol w="1566122">
                  <a:extLst>
                    <a:ext uri="{9D8B030D-6E8A-4147-A177-3AD203B41FA5}">
                      <a16:colId xmlns:a16="http://schemas.microsoft.com/office/drawing/2014/main" val="242722669"/>
                    </a:ext>
                  </a:extLst>
                </a:gridCol>
              </a:tblGrid>
              <a:tr h="344199">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Attribute Name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Description</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algn="ctr" rtl="0" fontAlgn="b"/>
                      <a:r>
                        <a:rPr lang="en-US" sz="2000" u="none" strike="noStrike" baseline="0" dirty="0">
                          <a:effectLst/>
                          <a:latin typeface="Sakkal Majalla" panose="02000000000000000000" pitchFamily="2" charset="-78"/>
                          <a:cs typeface="Sakkal Majalla" panose="02000000000000000000" pitchFamily="2" charset="-78"/>
                        </a:rPr>
                        <a:t>Type</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u="none" strike="noStrike" baseline="0" dirty="0">
                          <a:effectLst/>
                          <a:latin typeface="Sakkal Majalla" panose="02000000000000000000" pitchFamily="2" charset="-78"/>
                          <a:cs typeface="Sakkal Majalla" panose="02000000000000000000" pitchFamily="2" charset="-78"/>
                        </a:rPr>
                        <a:t>Doc. Mandate</a:t>
                      </a:r>
                      <a:endParaRPr lang="ar-SA" sz="2000" b="1"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45720" marR="45720" marT="18288" marB="18288" anchor="b"/>
                </a:tc>
                <a:extLst>
                  <a:ext uri="{0D108BD9-81ED-4DB2-BD59-A6C34878D82A}">
                    <a16:rowId xmlns:a16="http://schemas.microsoft.com/office/drawing/2014/main" val="2998368315"/>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Unique identifier for the security service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Alphanumeric</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177790647"/>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Name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Name of the security service provided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1426280651"/>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Description</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Brief description of the security service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L="137160" marR="137160" marT="137160" marB="137160" anchor="b"/>
                </a:tc>
                <a:extLst>
                  <a:ext uri="{0D108BD9-81ED-4DB2-BD59-A6C34878D82A}">
                    <a16:rowId xmlns:a16="http://schemas.microsoft.com/office/drawing/2014/main" val="3646919947"/>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Vendor</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Vendor offering the service (e.g., Untangle, Barracuda)</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L="137160" marR="137160" marT="137160" marB="137160" anchor="b"/>
                </a:tc>
                <a:extLst>
                  <a:ext uri="{0D108BD9-81ED-4DB2-BD59-A6C34878D82A}">
                    <a16:rowId xmlns:a16="http://schemas.microsoft.com/office/drawing/2014/main" val="220032958"/>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Business Severity</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The criticality of the service (e.g., Critical, Medium)</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List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Mandatory</a:t>
                      </a:r>
                    </a:p>
                  </a:txBody>
                  <a:tcPr marL="137160" marR="137160" marT="137160" marB="137160" anchor="b"/>
                </a:tc>
                <a:extLst>
                  <a:ext uri="{0D108BD9-81ED-4DB2-BD59-A6C34878D82A}">
                    <a16:rowId xmlns:a16="http://schemas.microsoft.com/office/drawing/2014/main" val="2719192168"/>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Install Date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Date the service contract started</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Date</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L="137160" marR="137160" marT="137160" marB="137160" anchor="b"/>
                </a:tc>
                <a:extLst>
                  <a:ext uri="{0D108BD9-81ED-4DB2-BD59-A6C34878D82A}">
                    <a16:rowId xmlns:a16="http://schemas.microsoft.com/office/drawing/2014/main" val="3256083373"/>
                  </a:ext>
                </a:extLst>
              </a:tr>
              <a:tr h="400302">
                <a:tc>
                  <a:txBody>
                    <a:bodyPr/>
                    <a:lstStyle/>
                    <a:p>
                      <a:pPr algn="ctr" fontAlgn="b"/>
                      <a:r>
                        <a:rPr lang="en-US" sz="1800" b="1" i="0" u="none" strike="noStrike" baseline="0" dirty="0">
                          <a:solidFill>
                            <a:srgbClr val="000000"/>
                          </a:solidFill>
                          <a:effectLst/>
                          <a:latin typeface="Sakkal Majalla" panose="02000000000000000000" pitchFamily="2" charset="-78"/>
                          <a:cs typeface="Sakkal Majalla" panose="02000000000000000000" pitchFamily="2" charset="-78"/>
                        </a:rPr>
                        <a:t>Contract Duration</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Duration of the service contract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Text</a:t>
                      </a:r>
                    </a:p>
                  </a:txBody>
                  <a:tcPr marL="137160" marR="137160" marT="137160" marB="137160" anchor="b"/>
                </a:tc>
                <a:tc>
                  <a:txBody>
                    <a:bodyPr/>
                    <a:lstStyle/>
                    <a:p>
                      <a:pPr algn="l" fontAlgn="b"/>
                      <a:r>
                        <a:rPr lang="en-US" sz="1600" b="0" i="0" u="none" strike="noStrike" baseline="0" dirty="0">
                          <a:solidFill>
                            <a:srgbClr val="000000"/>
                          </a:solidFill>
                          <a:effectLst/>
                          <a:latin typeface="Sakkal Majalla" panose="02000000000000000000" pitchFamily="2" charset="-78"/>
                          <a:cs typeface="Sakkal Majalla" panose="02000000000000000000" pitchFamily="2" charset="-78"/>
                        </a:rPr>
                        <a:t>Option</a:t>
                      </a:r>
                    </a:p>
                  </a:txBody>
                  <a:tcPr marL="137160" marR="137160" marT="137160" marB="137160" anchor="b"/>
                </a:tc>
                <a:extLst>
                  <a:ext uri="{0D108BD9-81ED-4DB2-BD59-A6C34878D82A}">
                    <a16:rowId xmlns:a16="http://schemas.microsoft.com/office/drawing/2014/main" val="1589904935"/>
                  </a:ext>
                </a:extLst>
              </a:tr>
            </a:tbl>
          </a:graphicData>
        </a:graphic>
      </p:graphicFrame>
    </p:spTree>
    <p:extLst>
      <p:ext uri="{BB962C8B-B14F-4D97-AF65-F5344CB8AC3E}">
        <p14:creationId xmlns:p14="http://schemas.microsoft.com/office/powerpoint/2010/main" val="124621028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SA" dirty="0"/>
              <a:t>علاقات مكونات البناء التابعة لمجال </a:t>
            </a:r>
            <a:r>
              <a:rPr lang="ar-EG" dirty="0"/>
              <a:t>"</a:t>
            </a:r>
            <a:r>
              <a:rPr lang="ar-SA" dirty="0"/>
              <a:t>بنية الأمن</a:t>
            </a:r>
            <a:r>
              <a:rPr lang="ar-EG" dirty="0"/>
              <a:t>"</a:t>
            </a:r>
            <a:endParaRPr lang="en-US" dirty="0"/>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120</a:t>
            </a:fld>
            <a:endParaRPr lang="en-US"/>
          </a:p>
        </p:txBody>
      </p:sp>
      <p:sp>
        <p:nvSpPr>
          <p:cNvPr id="3" name="Rectangle 2">
            <a:extLst>
              <a:ext uri="{FF2B5EF4-FFF2-40B4-BE49-F238E27FC236}">
                <a16:creationId xmlns:a16="http://schemas.microsoft.com/office/drawing/2014/main" id="{8D9CE795-A12F-7C98-BF54-5279E8F1DDA2}"/>
              </a:ext>
            </a:extLst>
          </p:cNvPr>
          <p:cNvSpPr/>
          <p:nvPr/>
        </p:nvSpPr>
        <p:spPr>
          <a:xfrm>
            <a:off x="1071158" y="1389169"/>
            <a:ext cx="10508468" cy="369332"/>
          </a:xfrm>
          <a:prstGeom prst="rect">
            <a:avLst/>
          </a:prstGeom>
        </p:spPr>
        <p:txBody>
          <a:bodyPr wrap="square">
            <a:spAutoFit/>
          </a:bodyPr>
          <a:lstStyle/>
          <a:p>
            <a:pPr algn="r" rtl="1"/>
            <a:r>
              <a:rPr lang="ar-SA" b="1" dirty="0">
                <a:latin typeface="Sakkal Majalla" panose="02000000000000000000" pitchFamily="2" charset="-78"/>
                <a:cs typeface="Sakkal Majalla" panose="02000000000000000000" pitchFamily="2" charset="-78"/>
              </a:rPr>
              <a:t>ي</a:t>
            </a:r>
            <a:r>
              <a:rPr lang="en-US" b="1" dirty="0">
                <a:latin typeface="Sakkal Majalla" panose="02000000000000000000" pitchFamily="2" charset="-78"/>
                <a:cs typeface="Sakkal Majalla" panose="02000000000000000000" pitchFamily="2" charset="-78"/>
              </a:rPr>
              <a:t>وضح الشكل </a:t>
            </a:r>
            <a:r>
              <a:rPr lang="ar-SA" b="1" dirty="0">
                <a:latin typeface="Sakkal Majalla" panose="02000000000000000000" pitchFamily="2" charset="-78"/>
                <a:cs typeface="Sakkal Majalla" panose="02000000000000000000" pitchFamily="2" charset="-78"/>
              </a:rPr>
              <a:t>أ</a:t>
            </a:r>
            <a:r>
              <a:rPr lang="en-US" b="1" dirty="0" err="1">
                <a:latin typeface="Sakkal Majalla" panose="02000000000000000000" pitchFamily="2" charset="-78"/>
                <a:cs typeface="Sakkal Majalla" panose="02000000000000000000" pitchFamily="2" charset="-78"/>
              </a:rPr>
              <a:t>دناه</a:t>
            </a:r>
            <a:r>
              <a:rPr lang="ar-SA" b="1" dirty="0">
                <a:latin typeface="Sakkal Majalla" panose="02000000000000000000" pitchFamily="2" charset="-78"/>
                <a:cs typeface="Sakkal Majalla" panose="02000000000000000000" pitchFamily="2" charset="-78"/>
              </a:rPr>
              <a:t> علاقات مكونات / وحدات البناء التابعة لمجال "بنية الأمن":</a:t>
            </a:r>
            <a:endParaRPr lang="en-US" b="1" dirty="0">
              <a:latin typeface="Sakkal Majalla" panose="02000000000000000000" pitchFamily="2" charset="-78"/>
              <a:cs typeface="Sakkal Majalla" panose="02000000000000000000" pitchFamily="2" charset="-78"/>
            </a:endParaRPr>
          </a:p>
        </p:txBody>
      </p:sp>
      <p:pic>
        <p:nvPicPr>
          <p:cNvPr id="5" name="Picture 4" descr="A screenshot of a computer&#10;&#10;Description automatically generated">
            <a:extLst>
              <a:ext uri="{FF2B5EF4-FFF2-40B4-BE49-F238E27FC236}">
                <a16:creationId xmlns:a16="http://schemas.microsoft.com/office/drawing/2014/main" id="{9580EE45-F0AC-4C04-AFB8-503EFBF086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8881" y="1790507"/>
            <a:ext cx="10449415" cy="4257504"/>
          </a:xfrm>
          <a:prstGeom prst="rect">
            <a:avLst/>
          </a:prstGeom>
        </p:spPr>
      </p:pic>
    </p:spTree>
    <p:extLst>
      <p:ext uri="{BB962C8B-B14F-4D97-AF65-F5344CB8AC3E}">
        <p14:creationId xmlns:p14="http://schemas.microsoft.com/office/powerpoint/2010/main" val="100086942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4A4A-AA0F-4470-93D7-AFEC527BCD12}"/>
              </a:ext>
            </a:extLst>
          </p:cNvPr>
          <p:cNvSpPr txBox="1">
            <a:spLocks/>
          </p:cNvSpPr>
          <p:nvPr/>
        </p:nvSpPr>
        <p:spPr>
          <a:xfrm>
            <a:off x="609601" y="561078"/>
            <a:ext cx="10972800" cy="666261"/>
          </a:xfrm>
          <a:prstGeom prst="rect">
            <a:avLst/>
          </a:prstGeom>
        </p:spPr>
        <p:txBody>
          <a:bodyPr vert="horz" lIns="91440" tIns="45720" rIns="0" bIns="45720" rtlCol="0" anchor="ctr" anchorCtr="0">
            <a:normAutofit/>
          </a:bodyPr>
          <a:lstStyle>
            <a:lvl1pPr algn="r" defTabSz="914400" rtl="1" eaLnBrk="1" latinLnBrk="0" hangingPunct="1">
              <a:lnSpc>
                <a:spcPct val="100000"/>
              </a:lnSpc>
              <a:spcBef>
                <a:spcPct val="0"/>
              </a:spcBef>
              <a:buNone/>
              <a:defRPr sz="3200" b="1" kern="1200">
                <a:solidFill>
                  <a:schemeClr val="accent1"/>
                </a:solidFill>
                <a:latin typeface="+mj-lt"/>
                <a:ea typeface="+mj-ea"/>
                <a:cs typeface="+mj-cs"/>
              </a:defRPr>
            </a:lvl1pPr>
          </a:lstStyle>
          <a:p>
            <a:pPr>
              <a:spcAft>
                <a:spcPts val="600"/>
              </a:spcAft>
            </a:pPr>
            <a:r>
              <a:rPr lang="ar-EG" dirty="0"/>
              <a:t>علاقات </a:t>
            </a:r>
            <a:r>
              <a:rPr lang="ar-SA" dirty="0"/>
              <a:t>مكونات</a:t>
            </a:r>
            <a:r>
              <a:rPr lang="ar-EG" dirty="0"/>
              <a:t> </a:t>
            </a:r>
            <a:r>
              <a:rPr lang="ar-SA" dirty="0"/>
              <a:t>ال</a:t>
            </a:r>
            <a:r>
              <a:rPr lang="ar-EG" dirty="0"/>
              <a:t>بناء </a:t>
            </a:r>
            <a:r>
              <a:rPr lang="ar-SA" dirty="0"/>
              <a:t>في مجال "بنية الأمن"</a:t>
            </a:r>
            <a:r>
              <a:rPr lang="ar-EG" dirty="0"/>
              <a:t> (</a:t>
            </a:r>
            <a:r>
              <a:rPr lang="ar-SA" dirty="0"/>
              <a:t>1</a:t>
            </a:r>
            <a:r>
              <a:rPr lang="ar-EG" dirty="0"/>
              <a:t> / </a:t>
            </a:r>
            <a:r>
              <a:rPr lang="en-US" dirty="0"/>
              <a:t>1</a:t>
            </a:r>
            <a:r>
              <a:rPr lang="ar-EG" dirty="0"/>
              <a:t>)</a:t>
            </a:r>
          </a:p>
        </p:txBody>
      </p:sp>
      <p:sp>
        <p:nvSpPr>
          <p:cNvPr id="30" name="Slide Number Placeholder 4">
            <a:extLst>
              <a:ext uri="{FF2B5EF4-FFF2-40B4-BE49-F238E27FC236}">
                <a16:creationId xmlns:a16="http://schemas.microsoft.com/office/drawing/2014/main" id="{85BC7A4F-715E-4C1E-5FF1-33825DE40D56}"/>
              </a:ext>
            </a:extLst>
          </p:cNvPr>
          <p:cNvSpPr>
            <a:spLocks noGrp="1"/>
          </p:cNvSpPr>
          <p:nvPr>
            <p:ph type="sldNum" sz="quarter" idx="12"/>
          </p:nvPr>
        </p:nvSpPr>
        <p:spPr>
          <a:xfrm>
            <a:off x="621452" y="6358188"/>
            <a:ext cx="437375" cy="320040"/>
          </a:xfrm>
        </p:spPr>
        <p:txBody>
          <a:bodyPr/>
          <a:lstStyle/>
          <a:p>
            <a:pPr>
              <a:spcAft>
                <a:spcPts val="600"/>
              </a:spcAft>
            </a:pPr>
            <a:fld id="{0BE4EC83-A869-464E-AE9F-881796FB085E}" type="slidenum">
              <a:rPr lang="en-US" smtClean="0"/>
              <a:pPr>
                <a:spcAft>
                  <a:spcPts val="600"/>
                </a:spcAft>
              </a:pPr>
              <a:t>121</a:t>
            </a:fld>
            <a:endParaRPr lang="en-US"/>
          </a:p>
        </p:txBody>
      </p:sp>
      <p:graphicFrame>
        <p:nvGraphicFramePr>
          <p:cNvPr id="5" name="Table 4">
            <a:extLst>
              <a:ext uri="{FF2B5EF4-FFF2-40B4-BE49-F238E27FC236}">
                <a16:creationId xmlns:a16="http://schemas.microsoft.com/office/drawing/2014/main" id="{FA98AFB6-6A0D-DE21-4045-3A776D247139}"/>
              </a:ext>
            </a:extLst>
          </p:cNvPr>
          <p:cNvGraphicFramePr>
            <a:graphicFrameLocks noGrp="1"/>
          </p:cNvGraphicFramePr>
          <p:nvPr>
            <p:extLst>
              <p:ext uri="{D42A27DB-BD31-4B8C-83A1-F6EECF244321}">
                <p14:modId xmlns:p14="http://schemas.microsoft.com/office/powerpoint/2010/main" val="1039349661"/>
              </p:ext>
            </p:extLst>
          </p:nvPr>
        </p:nvGraphicFramePr>
        <p:xfrm>
          <a:off x="609600" y="1282290"/>
          <a:ext cx="11070774" cy="3624126"/>
        </p:xfrm>
        <a:graphic>
          <a:graphicData uri="http://schemas.openxmlformats.org/drawingml/2006/table">
            <a:tbl>
              <a:tblPr rtl="1" firstRow="1" bandRow="1">
                <a:tableStyleId>{00A15C55-8517-42AA-B614-E9B94910E393}</a:tableStyleId>
              </a:tblPr>
              <a:tblGrid>
                <a:gridCol w="583438">
                  <a:extLst>
                    <a:ext uri="{9D8B030D-6E8A-4147-A177-3AD203B41FA5}">
                      <a16:colId xmlns:a16="http://schemas.microsoft.com/office/drawing/2014/main" val="3903813106"/>
                    </a:ext>
                  </a:extLst>
                </a:gridCol>
                <a:gridCol w="1293968">
                  <a:extLst>
                    <a:ext uri="{9D8B030D-6E8A-4147-A177-3AD203B41FA5}">
                      <a16:colId xmlns:a16="http://schemas.microsoft.com/office/drawing/2014/main" val="2405616672"/>
                    </a:ext>
                  </a:extLst>
                </a:gridCol>
                <a:gridCol w="1293968">
                  <a:extLst>
                    <a:ext uri="{9D8B030D-6E8A-4147-A177-3AD203B41FA5}">
                      <a16:colId xmlns:a16="http://schemas.microsoft.com/office/drawing/2014/main" val="1302061076"/>
                    </a:ext>
                  </a:extLst>
                </a:gridCol>
                <a:gridCol w="3949700">
                  <a:extLst>
                    <a:ext uri="{9D8B030D-6E8A-4147-A177-3AD203B41FA5}">
                      <a16:colId xmlns:a16="http://schemas.microsoft.com/office/drawing/2014/main" val="1509377109"/>
                    </a:ext>
                  </a:extLst>
                </a:gridCol>
                <a:gridCol w="1974850">
                  <a:extLst>
                    <a:ext uri="{9D8B030D-6E8A-4147-A177-3AD203B41FA5}">
                      <a16:colId xmlns:a16="http://schemas.microsoft.com/office/drawing/2014/main" val="3531987255"/>
                    </a:ext>
                  </a:extLst>
                </a:gridCol>
                <a:gridCol w="1974850">
                  <a:extLst>
                    <a:ext uri="{9D8B030D-6E8A-4147-A177-3AD203B41FA5}">
                      <a16:colId xmlns:a16="http://schemas.microsoft.com/office/drawing/2014/main" val="221393129"/>
                    </a:ext>
                  </a:extLst>
                </a:gridCol>
              </a:tblGrid>
              <a:tr h="707513">
                <a:tc>
                  <a:txBody>
                    <a:bodyPr/>
                    <a:lstStyle/>
                    <a:p>
                      <a:pPr algn="ctr" rtl="1" fontAlgn="ctr"/>
                      <a:r>
                        <a:rPr lang="ar-SA" sz="2400" u="none" strike="noStrike" baseline="0" dirty="0">
                          <a:effectLst/>
                        </a:rPr>
                        <a:t>#</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وحد</a:t>
                      </a: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ة</a:t>
                      </a:r>
                      <a:r>
                        <a:rPr lang="ar-EG" sz="2400" b="1" i="0" u="none" strike="noStrike" baseline="0" dirty="0">
                          <a:solidFill>
                            <a:srgbClr val="FFFFFF"/>
                          </a:solidFill>
                          <a:effectLst/>
                          <a:latin typeface="Sakkal Majalla" panose="02000000000000000000" pitchFamily="2" charset="-78"/>
                          <a:cs typeface="Sakkal Majalla" panose="02000000000000000000" pitchFamily="2" charset="-78"/>
                        </a:rPr>
                        <a:t> البناء</a:t>
                      </a:r>
                      <a:endParaRPr lang="ar-SA" sz="2400" b="1"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1" i="0" u="none" strike="noStrike" baseline="0" dirty="0">
                          <a:solidFill>
                            <a:srgbClr val="FFFFFF"/>
                          </a:solidFill>
                          <a:effectLst/>
                          <a:latin typeface="Sakkal Majalla" panose="02000000000000000000" pitchFamily="2" charset="-78"/>
                          <a:cs typeface="Sakkal Majalla" panose="02000000000000000000" pitchFamily="2" charset="-78"/>
                        </a:rPr>
                        <a:t>العلاقة</a:t>
                      </a:r>
                    </a:p>
                  </a:txBody>
                  <a:tcPr marL="4311" marR="4311" marT="4311" marB="0" anchor="ctr"/>
                </a:tc>
                <a:tc>
                  <a:txBody>
                    <a:bodyPr/>
                    <a:lstStyle/>
                    <a:p>
                      <a:pPr algn="ctr" rtl="1" fontAlgn="ctr"/>
                      <a:r>
                        <a:rPr lang="ar-SA" sz="2400" u="none" strike="noStrike" baseline="0" dirty="0">
                          <a:effectLst/>
                        </a:rPr>
                        <a:t>وصف العلاقة</a:t>
                      </a:r>
                      <a:endParaRPr lang="ar-SA" sz="2400" b="0" i="0" u="none" strike="noStrike" baseline="0" dirty="0">
                        <a:solidFill>
                          <a:srgbClr val="FFFFFF"/>
                        </a:solidFill>
                        <a:effectLst/>
                        <a:latin typeface="Sakkal Majalla" panose="02000000000000000000" pitchFamily="2" charset="-78"/>
                        <a:cs typeface="Sakkal Majalla" panose="02000000000000000000" pitchFamily="2" charset="-78"/>
                      </a:endParaRP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وحدة البناء</a:t>
                      </a:r>
                    </a:p>
                  </a:txBody>
                  <a:tcPr marL="4311" marR="4311" marT="4311" marB="0" anchor="ctr"/>
                </a:tc>
                <a:tc>
                  <a:txBody>
                    <a:bodyPr/>
                    <a:lstStyle/>
                    <a:p>
                      <a:pPr algn="ctr" rtl="1" fontAlgn="ctr"/>
                      <a:r>
                        <a:rPr lang="ar-SA" sz="2400" b="0" i="0" u="none" strike="noStrike" baseline="0" dirty="0">
                          <a:solidFill>
                            <a:srgbClr val="FFFFFF"/>
                          </a:solidFill>
                          <a:effectLst/>
                          <a:latin typeface="Sakkal Majalla" panose="02000000000000000000" pitchFamily="2" charset="-78"/>
                          <a:cs typeface="Sakkal Majalla" panose="02000000000000000000" pitchFamily="2" charset="-78"/>
                        </a:rPr>
                        <a:t>المجال</a:t>
                      </a:r>
                    </a:p>
                  </a:txBody>
                  <a:tcPr marL="4311" marR="4311" marT="4311" marB="0" anchor="ctr"/>
                </a:tc>
                <a:extLst>
                  <a:ext uri="{0D108BD9-81ED-4DB2-BD59-A6C34878D82A}">
                    <a16:rowId xmlns:a16="http://schemas.microsoft.com/office/drawing/2014/main" val="2314702902"/>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1</a:t>
                      </a:r>
                    </a:p>
                  </a:txBody>
                  <a:tcPr marL="3810" marR="3810" marT="3810" marB="0" anchor="ctr"/>
                </a:tc>
                <a:tc rowSpan="3">
                  <a:txBody>
                    <a:bodyPr/>
                    <a:lstStyle/>
                    <a:p>
                      <a:pPr algn="ctr" rtl="0" fontAlgn="ctr"/>
                      <a:r>
                        <a:rPr lang="ar-SA" sz="1800" b="1" i="0" u="none" strike="noStrike" dirty="0">
                          <a:solidFill>
                            <a:srgbClr val="000000"/>
                          </a:solidFill>
                          <a:effectLst/>
                          <a:latin typeface="Calibri" panose="020F0502020204030204" pitchFamily="34" charset="0"/>
                        </a:rPr>
                        <a:t>مكونات بنية</a:t>
                      </a:r>
                    </a:p>
                    <a:p>
                      <a:pPr algn="ctr" rtl="0" fontAlgn="ctr"/>
                      <a:r>
                        <a:rPr lang="ar-SA" sz="1800" b="1" i="0" u="none" strike="noStrike" dirty="0">
                          <a:solidFill>
                            <a:srgbClr val="000000"/>
                          </a:solidFill>
                          <a:effectLst/>
                          <a:latin typeface="Calibri" panose="020F0502020204030204" pitchFamily="34" charset="0"/>
                        </a:rPr>
                        <a:t> الأمن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يُؤمن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مكونات </a:t>
                      </a:r>
                      <a:r>
                        <a:rPr kumimoji="0" lang="ar-SA" sz="2000" b="1" i="0" u="none" strike="noStrike" kern="1200" cap="none" spc="0" normalizeH="0" baseline="0" dirty="0" err="1">
                          <a:ln>
                            <a:noFill/>
                          </a:ln>
                          <a:solidFill>
                            <a:srgbClr val="000000"/>
                          </a:solidFill>
                          <a:effectLst/>
                          <a:uLnTx/>
                          <a:uFillTx/>
                          <a:latin typeface="Sakkal Majalla" panose="02000000000000000000" pitchFamily="2" charset="-78"/>
                          <a:ea typeface="+mn-ea"/>
                          <a:cs typeface="Sakkal Majalla" panose="02000000000000000000" pitchFamily="2" charset="-78"/>
                        </a:rPr>
                        <a:t>الامن</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 </a:t>
                      </a:r>
                      <a:r>
                        <a:rPr kumimoji="0" lang="ar-EG"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يؤمن </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r>
                        <a:rPr kumimoji="0" lang="ar-SA" sz="2000" b="1"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مكونات البنية التحتية</a:t>
                      </a:r>
                      <a:r>
                        <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rPr>
                        <a:t>"</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مكونات البنية التحتية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التقنية</a:t>
                      </a:r>
                    </a:p>
                  </a:txBody>
                  <a:tcPr marL="3810" marR="3810" marT="3810" marB="0" anchor="ctr"/>
                </a:tc>
                <a:extLst>
                  <a:ext uri="{0D108BD9-81ED-4DB2-BD59-A6C34878D82A}">
                    <a16:rowId xmlns:a16="http://schemas.microsoft.com/office/drawing/2014/main" val="2489963446"/>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2</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مستضاف في</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مكونات </a:t>
                      </a:r>
                      <a:r>
                        <a:rPr lang="ar-EG" sz="2000" b="1" i="0" u="none" strike="noStrike" kern="1200" baseline="0" dirty="0">
                          <a:solidFill>
                            <a:srgbClr val="000000"/>
                          </a:solidFill>
                          <a:effectLst/>
                          <a:latin typeface="Sakkal Majalla" panose="02000000000000000000" pitchFamily="2" charset="-78"/>
                          <a:ea typeface="+mn-ea"/>
                          <a:cs typeface="Sakkal Majalla" panose="02000000000000000000" pitchFamily="2" charset="-78"/>
                        </a:rPr>
                        <a:t>بنية الأمن</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مستضاف في "</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مركز بيانات</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مركز البيانات</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665810392"/>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3</a:t>
                      </a:r>
                    </a:p>
                  </a:txBody>
                  <a:tcPr marL="3810" marR="3810" marT="3810" marB="0" anchor="ctr"/>
                </a:tc>
                <a:tc vMerge="1">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تُطبق على</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مكونات </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r>
                        <a:rPr lang="ar-EG" sz="2000" b="1" i="0" u="none" strike="noStrike" baseline="0" dirty="0">
                          <a:solidFill>
                            <a:srgbClr val="000000"/>
                          </a:solidFill>
                          <a:effectLst/>
                          <a:latin typeface="Sakkal Majalla" panose="02000000000000000000" pitchFamily="2" charset="-78"/>
                          <a:cs typeface="Sakkal Majalla" panose="02000000000000000000" pitchFamily="2" charset="-78"/>
                        </a:rPr>
                        <a:t>بنية الأمن</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تُطبق على</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 "</a:t>
                      </a:r>
                      <a:r>
                        <a:rPr lang="ar-SA" sz="2000" b="1" i="0" u="none" strike="noStrike" baseline="0" dirty="0">
                          <a:solidFill>
                            <a:srgbClr val="000000"/>
                          </a:solidFill>
                          <a:effectLst/>
                          <a:latin typeface="Sakkal Majalla" panose="02000000000000000000" pitchFamily="2" charset="-78"/>
                          <a:cs typeface="Sakkal Majalla" panose="02000000000000000000" pitchFamily="2" charset="-78"/>
                        </a:rPr>
                        <a:t>مزود الخدمة</a:t>
                      </a:r>
                      <a:r>
                        <a:rPr lang="ar-EG" sz="2000" b="0" i="0" u="none" strike="noStrike" baseline="0" dirty="0">
                          <a:solidFill>
                            <a:srgbClr val="000000"/>
                          </a:solidFill>
                          <a:effectLst/>
                          <a:latin typeface="Sakkal Majalla" panose="02000000000000000000" pitchFamily="2" charset="-78"/>
                          <a:cs typeface="Sakkal Majalla" panose="02000000000000000000" pitchFamily="2" charset="-78"/>
                        </a:rPr>
                        <a:t>"</a:t>
                      </a: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مزود الخدمة</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أعمال</a:t>
                      </a:r>
                    </a:p>
                  </a:txBody>
                  <a:tcPr marL="3810" marR="3810" marT="3810" marB="0" anchor="ctr"/>
                </a:tc>
                <a:extLst>
                  <a:ext uri="{0D108BD9-81ED-4DB2-BD59-A6C34878D82A}">
                    <a16:rowId xmlns:a16="http://schemas.microsoft.com/office/drawing/2014/main" val="2512632214"/>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4</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جهاز أمن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يحتوي على</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"جهاز أمن" يحتوى على "برمجية أمن"</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برمجية أمن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الأمن</a:t>
                      </a:r>
                    </a:p>
                  </a:txBody>
                  <a:tcPr marL="3810" marR="3810" marT="3810" marB="0" anchor="ctr"/>
                </a:tc>
                <a:extLst>
                  <a:ext uri="{0D108BD9-81ED-4DB2-BD59-A6C34878D82A}">
                    <a16:rowId xmlns:a16="http://schemas.microsoft.com/office/drawing/2014/main" val="4193838665"/>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5</a:t>
                      </a:r>
                    </a:p>
                  </a:txBody>
                  <a:tcPr marL="3810" marR="3810" marT="3810" marB="0" anchor="ctr"/>
                </a:tc>
                <a:tc>
                  <a:txBody>
                    <a:bodyPr/>
                    <a:lstStyle/>
                    <a:p>
                      <a:pPr algn="ctr" rtl="0" fontAlgn="ct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ممكن لـ</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r>
                        <a:rPr kumimoji="0" lang="ar-SA" sz="20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جهاز أمن</a:t>
                      </a:r>
                      <a:r>
                        <a:rPr kumimoji="0" lang="ar-SA"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ممكن لـ</a:t>
                      </a:r>
                      <a:r>
                        <a:rPr kumimoji="0" lang="ar-EG"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a:t>
                      </a:r>
                      <a:r>
                        <a:rPr kumimoji="0" lang="ar-SA"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r>
                        <a:rPr kumimoji="0" lang="ar-SA" sz="20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خدمة أمن</a:t>
                      </a:r>
                      <a:r>
                        <a:rPr kumimoji="0" lang="ar-SA"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endPar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خدمة أمن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1" fontAlgn="ctr"/>
                      <a:endParaRPr lang="ar-SA" sz="20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extLst>
                  <a:ext uri="{0D108BD9-81ED-4DB2-BD59-A6C34878D82A}">
                    <a16:rowId xmlns:a16="http://schemas.microsoft.com/office/drawing/2014/main" val="3456641915"/>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6</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برمجية أمن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تعمل داخل</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"برمجية أمن" تعمل داخل "جهاز أمن"</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جهاز أمن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الأمن</a:t>
                      </a:r>
                    </a:p>
                  </a:txBody>
                  <a:tcPr marL="3810" marR="3810" marT="3810" marB="0" anchor="ctr"/>
                </a:tc>
                <a:extLst>
                  <a:ext uri="{0D108BD9-81ED-4DB2-BD59-A6C34878D82A}">
                    <a16:rowId xmlns:a16="http://schemas.microsoft.com/office/drawing/2014/main" val="761637634"/>
                  </a:ext>
                </a:extLst>
              </a:tr>
              <a:tr h="416659">
                <a:tc>
                  <a:txBody>
                    <a:bodyPr/>
                    <a:lstStyle/>
                    <a:p>
                      <a:pPr algn="ctr" rtl="0" fontAlgn="ctr"/>
                      <a:r>
                        <a:rPr lang="en-US" sz="2000" b="1" i="0" u="none" strike="noStrike" baseline="0" dirty="0">
                          <a:solidFill>
                            <a:srgbClr val="000000"/>
                          </a:solidFill>
                          <a:effectLst/>
                          <a:latin typeface="Sakkal Majalla" panose="02000000000000000000" pitchFamily="2" charset="-78"/>
                          <a:cs typeface="Sakkal Majalla" panose="02000000000000000000" pitchFamily="2" charset="-78"/>
                        </a:rPr>
                        <a:t>7</a:t>
                      </a: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خدمة أمن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تُقدم عبر</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kumimoji="0" lang="ar-SA"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r>
                        <a:rPr kumimoji="0" lang="ar-SA" sz="20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خدمة أمن</a:t>
                      </a:r>
                      <a:r>
                        <a:rPr kumimoji="0" lang="ar-SA"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 تقدم عبر "</a:t>
                      </a:r>
                      <a:r>
                        <a:rPr kumimoji="0" lang="ar-SA" sz="2000" b="1"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جهاز أمن</a:t>
                      </a:r>
                      <a:r>
                        <a:rPr kumimoji="0" lang="ar-SA" sz="20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a:t>
                      </a:r>
                      <a:endParaRPr kumimoji="0" lang="ar-SA" sz="2000" b="0" i="0" u="none" strike="noStrike" kern="1200" cap="none" spc="0" normalizeH="0" baseline="0" dirty="0">
                        <a:ln>
                          <a:noFill/>
                        </a:ln>
                        <a:solidFill>
                          <a:srgbClr val="000000"/>
                        </a:solidFill>
                        <a:effectLst/>
                        <a:uLnTx/>
                        <a:uFillTx/>
                        <a:latin typeface="Sakkal Majalla" panose="02000000000000000000" pitchFamily="2" charset="-78"/>
                        <a:ea typeface="+mn-ea"/>
                        <a:cs typeface="Sakkal Majalla" panose="02000000000000000000" pitchFamily="2" charset="-78"/>
                      </a:endParaRPr>
                    </a:p>
                  </a:txBody>
                  <a:tcPr marL="3810" marR="3810" marT="3810" marB="0" anchor="ctr"/>
                </a:tc>
                <a:tc>
                  <a:txBody>
                    <a:bodyPr/>
                    <a:lstStyle/>
                    <a:p>
                      <a:pPr algn="ctr" rtl="0" fontAlgn="ctr"/>
                      <a:r>
                        <a:rPr lang="ar-SA" sz="1800" b="0" i="0" u="none" strike="noStrike" baseline="0" dirty="0">
                          <a:solidFill>
                            <a:srgbClr val="000000"/>
                          </a:solidFill>
                          <a:effectLst/>
                          <a:latin typeface="Sakkal Majalla" panose="02000000000000000000" pitchFamily="2" charset="-78"/>
                          <a:cs typeface="Sakkal Majalla" panose="02000000000000000000" pitchFamily="2" charset="-78"/>
                        </a:rPr>
                        <a:t>جهاز أمن</a:t>
                      </a:r>
                      <a:endParaRPr lang="en-US" sz="1800" b="0" i="0" u="none" strike="noStrike" baseline="0" dirty="0">
                        <a:solidFill>
                          <a:srgbClr val="000000"/>
                        </a:solidFill>
                        <a:effectLst/>
                        <a:latin typeface="Sakkal Majalla" panose="02000000000000000000" pitchFamily="2" charset="-78"/>
                        <a:cs typeface="Sakkal Majalla" panose="02000000000000000000" pitchFamily="2" charset="-78"/>
                      </a:endParaRPr>
                    </a:p>
                  </a:txBody>
                  <a:tcPr marL="3810" marR="3810" marT="3810" marB="0" anchor="ctr"/>
                </a:tc>
                <a:tc>
                  <a:txBody>
                    <a:bodyPr/>
                    <a:lstStyle/>
                    <a:p>
                      <a:pPr marL="0" marR="0" lvl="0" indent="0" algn="ctr" defTabSz="914400" rtl="1" eaLnBrk="1" fontAlgn="ctr" latinLnBrk="0" hangingPunct="1">
                        <a:lnSpc>
                          <a:spcPct val="100000"/>
                        </a:lnSpc>
                        <a:spcBef>
                          <a:spcPts val="0"/>
                        </a:spcBef>
                        <a:spcAft>
                          <a:spcPts val="0"/>
                        </a:spcAft>
                        <a:buClrTx/>
                        <a:buSzTx/>
                        <a:buFontTx/>
                        <a:buNone/>
                        <a:tabLst/>
                        <a:defRPr/>
                      </a:pPr>
                      <a:r>
                        <a:rPr lang="ar-SA" sz="2000" b="0" i="0" u="none" strike="noStrike" baseline="0" dirty="0">
                          <a:solidFill>
                            <a:srgbClr val="000000"/>
                          </a:solidFill>
                          <a:effectLst/>
                          <a:latin typeface="Sakkal Majalla" panose="02000000000000000000" pitchFamily="2" charset="-78"/>
                          <a:cs typeface="Sakkal Majalla" panose="02000000000000000000" pitchFamily="2" charset="-78"/>
                        </a:rPr>
                        <a:t>الأمن</a:t>
                      </a:r>
                    </a:p>
                  </a:txBody>
                  <a:tcPr marL="3810" marR="3810" marT="3810" marB="0" anchor="ctr"/>
                </a:tc>
                <a:extLst>
                  <a:ext uri="{0D108BD9-81ED-4DB2-BD59-A6C34878D82A}">
                    <a16:rowId xmlns:a16="http://schemas.microsoft.com/office/drawing/2014/main" val="1472548560"/>
                  </a:ext>
                </a:extLst>
              </a:tr>
            </a:tbl>
          </a:graphicData>
        </a:graphic>
      </p:graphicFrame>
    </p:spTree>
    <p:extLst>
      <p:ext uri="{BB962C8B-B14F-4D97-AF65-F5344CB8AC3E}">
        <p14:creationId xmlns:p14="http://schemas.microsoft.com/office/powerpoint/2010/main" val="265404522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2325397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هيئة تقويم التعليم والتدريب">
      <a:dk1>
        <a:sysClr val="windowText" lastClr="000000"/>
      </a:dk1>
      <a:lt1>
        <a:sysClr val="window" lastClr="FFFFFF"/>
      </a:lt1>
      <a:dk2>
        <a:srgbClr val="44546A"/>
      </a:dk2>
      <a:lt2>
        <a:srgbClr val="E7E6E6"/>
      </a:lt2>
      <a:accent1>
        <a:srgbClr val="4C3C8D"/>
      </a:accent1>
      <a:accent2>
        <a:srgbClr val="3FA0D9"/>
      </a:accent2>
      <a:accent3>
        <a:srgbClr val="F5A053"/>
      </a:accent3>
      <a:accent4>
        <a:srgbClr val="44AC52"/>
      </a:accent4>
      <a:accent5>
        <a:srgbClr val="5C79B9"/>
      </a:accent5>
      <a:accent6>
        <a:srgbClr val="8C493C"/>
      </a:accent6>
      <a:hlink>
        <a:srgbClr val="0563C1"/>
      </a:hlink>
      <a:folHlink>
        <a:srgbClr val="954F72"/>
      </a:folHlink>
    </a:clrScheme>
    <a:fontScheme name="Custom 2">
      <a:majorFont>
        <a:latin typeface="Sakkal Majalla"/>
        <a:ea typeface=""/>
        <a:cs typeface="Sakkal Majalla"/>
      </a:majorFont>
      <a:minorFont>
        <a:latin typeface="Sakkal Majalla"/>
        <a:ea typeface=""/>
        <a:cs typeface="Sakkal Majall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قالب هيئة تقويم التعليم والتدريب" id="{9A6817DC-B17F-4D1B-B5C7-111B32FC2AAE}" vid="{4B21A0E3-9419-4B4C-8023-7E7AF5CFDC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قالب هيئة تقويم التعليم والتدريب</Template>
  <TotalTime>31414</TotalTime>
  <Words>12763</Words>
  <Application>Microsoft Office PowerPoint</Application>
  <PresentationFormat>Widescreen</PresentationFormat>
  <Paragraphs>3474</Paragraphs>
  <Slides>122</Slides>
  <Notes>117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122</vt:i4>
      </vt:variant>
    </vt:vector>
  </HeadingPairs>
  <TitlesOfParts>
    <vt:vector size="129" baseType="lpstr">
      <vt:lpstr>DIN Next LT Arabic</vt:lpstr>
      <vt:lpstr>Calibri</vt:lpstr>
      <vt:lpstr>Tajawal</vt:lpstr>
      <vt:lpstr>Arial</vt:lpstr>
      <vt:lpstr>Sakkal Majalla</vt:lpstr>
      <vt:lpstr>Wingdings</vt:lpstr>
      <vt:lpstr>Office Theme</vt:lpstr>
      <vt:lpstr>وثيقة النموذج العام لمكونات البنية المؤسسية</vt:lpstr>
      <vt:lpstr>PowerPoint Presentation</vt:lpstr>
      <vt:lpstr>PowerPoint Presentation</vt:lpstr>
      <vt:lpstr>PowerPoint Presentation</vt:lpstr>
      <vt:lpstr>جدول المحتويات</vt:lpstr>
      <vt:lpstr>مقدمة حول النموذج العام لمكونات البنية المؤسسية</vt:lpstr>
      <vt:lpstr>PowerPoint Presentation</vt:lpstr>
      <vt:lpstr>PowerPoint Presentation</vt:lpstr>
      <vt:lpstr>PowerPoint Presentation</vt:lpstr>
      <vt:lpstr>PowerPoint Presentation</vt:lpstr>
      <vt:lpstr>نظرة عامة عن النموذج العام لمكونات البنية المؤسسية</vt:lpstr>
      <vt:lpstr>PowerPoint Presentation</vt:lpstr>
      <vt:lpstr>تفاصيل النموذج العام لمكونات البنية المؤسسية</vt:lpstr>
      <vt:lpstr>وحدات بناء " الموائمة الاستراتيجية"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وحدات البناء لمجال "بنية الأعمال"</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وحدات البناء لمجال "بنية تجربة المستفيد"</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وحدات البناء لمجال "بنية البيانات"</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وحدات البناء لمجال "بنية التطبيقات"</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وحدات البناء لمجال "بنية التقنية"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وحدات البناء لمجال "الأمن"</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اجتماع إطلاق مشروع</dc:title>
  <dc:creator>ashawky</dc:creator>
  <cp:lastModifiedBy>Osama elseady</cp:lastModifiedBy>
  <cp:revision>2496</cp:revision>
  <dcterms:created xsi:type="dcterms:W3CDTF">2024-05-29T18:26:52Z</dcterms:created>
  <dcterms:modified xsi:type="dcterms:W3CDTF">2026-02-14T21:17:40Z</dcterms:modified>
</cp:coreProperties>
</file>