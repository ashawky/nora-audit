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embedTrueTypeFonts="1" saveSubsetFonts="1">
  <p:sldMasterIdLst>
    <p:sldMasterId id="2147483702" r:id="rId1"/>
  </p:sldMasterIdLst>
  <p:notesMasterIdLst>
    <p:notesMasterId r:id="rId32"/>
  </p:notesMasterIdLst>
  <p:handoutMasterIdLst>
    <p:handoutMasterId r:id="rId33"/>
  </p:handoutMasterIdLst>
  <p:sldIdLst>
    <p:sldId id="542" r:id="rId2"/>
    <p:sldId id="576" r:id="rId3"/>
    <p:sldId id="577" r:id="rId4"/>
    <p:sldId id="578" r:id="rId5"/>
    <p:sldId id="5333" r:id="rId6"/>
    <p:sldId id="596" r:id="rId7"/>
    <p:sldId id="634" r:id="rId8"/>
    <p:sldId id="595" r:id="rId9"/>
    <p:sldId id="607" r:id="rId10"/>
    <p:sldId id="609" r:id="rId11"/>
    <p:sldId id="608" r:id="rId12"/>
    <p:sldId id="629" r:id="rId13"/>
    <p:sldId id="633" r:id="rId14"/>
    <p:sldId id="630" r:id="rId15"/>
    <p:sldId id="625" r:id="rId16"/>
    <p:sldId id="631" r:id="rId17"/>
    <p:sldId id="632" r:id="rId18"/>
    <p:sldId id="628" r:id="rId19"/>
    <p:sldId id="543" r:id="rId20"/>
    <p:sldId id="635" r:id="rId21"/>
    <p:sldId id="636" r:id="rId22"/>
    <p:sldId id="637" r:id="rId23"/>
    <p:sldId id="638" r:id="rId24"/>
    <p:sldId id="639" r:id="rId25"/>
    <p:sldId id="640" r:id="rId26"/>
    <p:sldId id="641" r:id="rId27"/>
    <p:sldId id="642" r:id="rId28"/>
    <p:sldId id="643" r:id="rId29"/>
    <p:sldId id="644" r:id="rId30"/>
    <p:sldId id="533" r:id="rId31"/>
  </p:sldIdLst>
  <p:sldSz cx="12192000" cy="6858000"/>
  <p:notesSz cx="6858000" cy="9144000"/>
  <p:embeddedFontLst>
    <p:embeddedFont>
      <p:font typeface="Sakkal Majalla" panose="02000000000000000000" pitchFamily="2" charset="-78"/>
      <p:regular r:id="rId34"/>
      <p:bold r:id="rId35"/>
    </p:embeddedFont>
    <p:embeddedFont>
      <p:font typeface="Open Sans" panose="020B0606030504020204" pitchFamily="34" charset="0"/>
      <p:regular r:id="rId36"/>
      <p:bold r:id="rId37"/>
      <p:italic r:id="rId38"/>
      <p:boldItalic r:id="rId39"/>
    </p:embeddedFont>
    <p:embeddedFont>
      <p:font typeface="Calibri" panose="020F0502020204030204" pitchFamily="34" charset="0"/>
      <p:regular r:id="rId40"/>
      <p:bold r:id="rId41"/>
      <p:italic r:id="rId42"/>
      <p:boldItalic r:id="rId43"/>
    </p:embeddedFont>
    <p:embeddedFont>
      <p:font typeface="Tajawal" panose="020B0604020202020204" charset="-78"/>
      <p:regular r:id="rId44"/>
      <p:bold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وثيقة متطلبات استراتيجية البنية المؤسسية" id="{8BB31034-933C-4237-82FD-B16E1112DCBD}">
          <p14:sldIdLst>
            <p14:sldId id="542"/>
            <p14:sldId id="576"/>
            <p14:sldId id="577"/>
            <p14:sldId id="578"/>
            <p14:sldId id="5333"/>
          </p14:sldIdLst>
        </p14:section>
        <p14:section name="01. مقدمة حول إدارة متطلبات البنية المؤسسية" id="{833AA804-D39A-42BC-8367-58CC2758D315}">
          <p14:sldIdLst>
            <p14:sldId id="596"/>
            <p14:sldId id="634"/>
            <p14:sldId id="595"/>
            <p14:sldId id="607"/>
          </p14:sldIdLst>
        </p14:section>
        <p14:section name="02. منهجية إدارة متطلبات البنية المؤسسية" id="{2FA2D2A2-CF32-4F2D-9C37-2F69A7F04276}">
          <p14:sldIdLst>
            <p14:sldId id="609"/>
            <p14:sldId id="608"/>
            <p14:sldId id="629"/>
            <p14:sldId id="633"/>
            <p14:sldId id="630"/>
            <p14:sldId id="625"/>
            <p14:sldId id="631"/>
            <p14:sldId id="632"/>
            <p14:sldId id="628"/>
          </p14:sldIdLst>
        </p14:section>
        <p14:section name="03. سجل متطلبات البنية المؤسسية" id="{B6645024-3E07-4D59-A5FF-2848B0BE2C66}">
          <p14:sldIdLst>
            <p14:sldId id="543"/>
            <p14:sldId id="635"/>
            <p14:sldId id="636"/>
            <p14:sldId id="637"/>
            <p14:sldId id="638"/>
            <p14:sldId id="639"/>
            <p14:sldId id="640"/>
            <p14:sldId id="641"/>
            <p14:sldId id="642"/>
            <p14:sldId id="643"/>
            <p14:sldId id="644"/>
            <p14:sldId id="53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CEDB"/>
    <a:srgbClr val="E9E8EE"/>
    <a:srgbClr val="AEAEB1"/>
    <a:srgbClr val="4C3C8D"/>
    <a:srgbClr val="3FA0D9"/>
    <a:srgbClr val="F5A053"/>
    <a:srgbClr val="225629"/>
    <a:srgbClr val="A6A6A6"/>
    <a:srgbClr val="44AC5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646" autoAdjust="0"/>
    <p:restoredTop sz="78125" autoAdjust="0"/>
  </p:normalViewPr>
  <p:slideViewPr>
    <p:cSldViewPr snapToGrid="0">
      <p:cViewPr varScale="1">
        <p:scale>
          <a:sx n="69" d="100"/>
          <a:sy n="69" d="100"/>
        </p:scale>
        <p:origin x="244" y="44"/>
      </p:cViewPr>
      <p:guideLst/>
    </p:cSldViewPr>
  </p:slideViewPr>
  <p:notesTextViewPr>
    <p:cViewPr>
      <p:scale>
        <a:sx n="1" d="1"/>
        <a:sy n="1" d="1"/>
      </p:scale>
      <p:origin x="0" y="0"/>
    </p:cViewPr>
  </p:notesTextViewPr>
  <p:notesViewPr>
    <p:cSldViewPr snapToGrid="0" showGuides="1">
      <p:cViewPr varScale="1">
        <p:scale>
          <a:sx n="82" d="100"/>
          <a:sy n="82" d="100"/>
        </p:scale>
        <p:origin x="3156"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font" Target="fonts/font5.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F3CCF8-5C26-4AF6-B7BA-B28572CBB7B8}" type="datetimeFigureOut">
              <a:rPr lang="en-US" smtClean="0"/>
              <a:t>9/12/2024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12BC3B-B80E-4787-98A9-8276652C0984}" type="slidenum">
              <a:rPr lang="en-US" smtClean="0"/>
              <a:t>‹#›</a:t>
            </a:fld>
            <a:endParaRPr lang="en-US"/>
          </a:p>
        </p:txBody>
      </p:sp>
    </p:spTree>
    <p:extLst>
      <p:ext uri="{BB962C8B-B14F-4D97-AF65-F5344CB8AC3E}">
        <p14:creationId xmlns:p14="http://schemas.microsoft.com/office/powerpoint/2010/main" val="29127117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A18F3E-C117-429A-B1A6-546895907122}" type="datetimeFigureOut">
              <a:rPr lang="en-US" smtClean="0"/>
              <a:t>9/12/2024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7FDBCA-D751-4A03-819B-45597328ED86}" type="slidenum">
              <a:rPr lang="en-US" smtClean="0"/>
              <a:t>‹#›</a:t>
            </a:fld>
            <a:endParaRPr lang="en-US"/>
          </a:p>
        </p:txBody>
      </p:sp>
    </p:spTree>
    <p:extLst>
      <p:ext uri="{BB962C8B-B14F-4D97-AF65-F5344CB8AC3E}">
        <p14:creationId xmlns:p14="http://schemas.microsoft.com/office/powerpoint/2010/main" val="3872243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ar-EG" dirty="0"/>
          </a:p>
        </p:txBody>
      </p:sp>
      <p:sp>
        <p:nvSpPr>
          <p:cNvPr id="4" name="Slide Number Placeholder 3"/>
          <p:cNvSpPr>
            <a:spLocks noGrp="1"/>
          </p:cNvSpPr>
          <p:nvPr>
            <p:ph type="sldNum" sz="quarter" idx="5"/>
          </p:nvPr>
        </p:nvSpPr>
        <p:spPr/>
        <p:txBody>
          <a:bodyPr/>
          <a:lstStyle/>
          <a:p>
            <a:fld id="{B97FDBCA-D751-4A03-819B-45597328ED86}" type="slidenum">
              <a:rPr lang="en-US" smtClean="0"/>
              <a:t>1</a:t>
            </a:fld>
            <a:endParaRPr lang="en-US"/>
          </a:p>
        </p:txBody>
      </p:sp>
    </p:spTree>
    <p:extLst>
      <p:ext uri="{BB962C8B-B14F-4D97-AF65-F5344CB8AC3E}">
        <p14:creationId xmlns:p14="http://schemas.microsoft.com/office/powerpoint/2010/main" val="3800326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a:t>
            </a:fld>
            <a:endParaRPr lang="en-US"/>
          </a:p>
        </p:txBody>
      </p:sp>
    </p:spTree>
    <p:extLst>
      <p:ext uri="{BB962C8B-B14F-4D97-AF65-F5344CB8AC3E}">
        <p14:creationId xmlns:p14="http://schemas.microsoft.com/office/powerpoint/2010/main" val="962646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a:t>
            </a:fld>
            <a:endParaRPr lang="en-US"/>
          </a:p>
        </p:txBody>
      </p:sp>
    </p:spTree>
    <p:extLst>
      <p:ext uri="{BB962C8B-B14F-4D97-AF65-F5344CB8AC3E}">
        <p14:creationId xmlns:p14="http://schemas.microsoft.com/office/powerpoint/2010/main" val="3506166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a:t>
            </a:fld>
            <a:endParaRPr lang="en-US"/>
          </a:p>
        </p:txBody>
      </p:sp>
    </p:spTree>
    <p:extLst>
      <p:ext uri="{BB962C8B-B14F-4D97-AF65-F5344CB8AC3E}">
        <p14:creationId xmlns:p14="http://schemas.microsoft.com/office/powerpoint/2010/main" val="2022903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a:t>
            </a:fld>
            <a:endParaRPr lang="en-US"/>
          </a:p>
        </p:txBody>
      </p:sp>
    </p:spTree>
    <p:extLst>
      <p:ext uri="{BB962C8B-B14F-4D97-AF65-F5344CB8AC3E}">
        <p14:creationId xmlns:p14="http://schemas.microsoft.com/office/powerpoint/2010/main" val="3379209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8</a:t>
            </a:fld>
            <a:endParaRPr lang="en-US"/>
          </a:p>
        </p:txBody>
      </p:sp>
    </p:spTree>
    <p:extLst>
      <p:ext uri="{BB962C8B-B14F-4D97-AF65-F5344CB8AC3E}">
        <p14:creationId xmlns:p14="http://schemas.microsoft.com/office/powerpoint/2010/main" val="3328650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spcBef>
                <a:spcPts val="540"/>
              </a:spcBef>
            </a:pPr>
            <a:endParaRPr lang="en-US" sz="1200" dirty="0">
              <a:solidFill>
                <a:schemeClr val="bg1"/>
              </a:solidFill>
              <a:latin typeface="Sakkal Majalla" panose="02000000000000000000" pitchFamily="2" charset="-78"/>
              <a:cs typeface="Sakkal Majalla" panose="02000000000000000000" pitchFamily="2" charset="-78"/>
            </a:endParaRPr>
          </a:p>
        </p:txBody>
      </p:sp>
      <p:sp>
        <p:nvSpPr>
          <p:cNvPr id="4" name="Slide Number Placeholder 3"/>
          <p:cNvSpPr>
            <a:spLocks noGrp="1"/>
          </p:cNvSpPr>
          <p:nvPr>
            <p:ph type="sldNum" sz="quarter" idx="5"/>
          </p:nvPr>
        </p:nvSpPr>
        <p:spPr/>
        <p:txBody>
          <a:bodyPr/>
          <a:lstStyle/>
          <a:p>
            <a:fld id="{B97FDBCA-D751-4A03-819B-45597328ED86}" type="slidenum">
              <a:rPr lang="en-US" smtClean="0"/>
              <a:t>9</a:t>
            </a:fld>
            <a:endParaRPr lang="en-US"/>
          </a:p>
        </p:txBody>
      </p:sp>
    </p:spTree>
    <p:extLst>
      <p:ext uri="{BB962C8B-B14F-4D97-AF65-F5344CB8AC3E}">
        <p14:creationId xmlns:p14="http://schemas.microsoft.com/office/powerpoint/2010/main" val="3670699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11</a:t>
            </a:fld>
            <a:endParaRPr lang="en-US"/>
          </a:p>
        </p:txBody>
      </p:sp>
    </p:spTree>
    <p:extLst>
      <p:ext uri="{BB962C8B-B14F-4D97-AF65-F5344CB8AC3E}">
        <p14:creationId xmlns:p14="http://schemas.microsoft.com/office/powerpoint/2010/main" val="3408436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12</a:t>
            </a:fld>
            <a:endParaRPr lang="en-US"/>
          </a:p>
        </p:txBody>
      </p:sp>
    </p:spTree>
    <p:extLst>
      <p:ext uri="{BB962C8B-B14F-4D97-AF65-F5344CB8AC3E}">
        <p14:creationId xmlns:p14="http://schemas.microsoft.com/office/powerpoint/2010/main" val="33613053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13</a:t>
            </a:fld>
            <a:endParaRPr lang="en-US"/>
          </a:p>
        </p:txBody>
      </p:sp>
    </p:spTree>
    <p:extLst>
      <p:ext uri="{BB962C8B-B14F-4D97-AF65-F5344CB8AC3E}">
        <p14:creationId xmlns:p14="http://schemas.microsoft.com/office/powerpoint/2010/main" val="32744739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15</a:t>
            </a:fld>
            <a:endParaRPr lang="en-US"/>
          </a:p>
        </p:txBody>
      </p:sp>
    </p:spTree>
    <p:extLst>
      <p:ext uri="{BB962C8B-B14F-4D97-AF65-F5344CB8AC3E}">
        <p14:creationId xmlns:p14="http://schemas.microsoft.com/office/powerpoint/2010/main" val="21387380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16</a:t>
            </a:fld>
            <a:endParaRPr lang="en-US"/>
          </a:p>
        </p:txBody>
      </p:sp>
    </p:spTree>
    <p:extLst>
      <p:ext uri="{BB962C8B-B14F-4D97-AF65-F5344CB8AC3E}">
        <p14:creationId xmlns:p14="http://schemas.microsoft.com/office/powerpoint/2010/main" val="10800424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17</a:t>
            </a:fld>
            <a:endParaRPr lang="en-US"/>
          </a:p>
        </p:txBody>
      </p:sp>
    </p:spTree>
    <p:extLst>
      <p:ext uri="{BB962C8B-B14F-4D97-AF65-F5344CB8AC3E}">
        <p14:creationId xmlns:p14="http://schemas.microsoft.com/office/powerpoint/2010/main" val="34173775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20</a:t>
            </a:fld>
            <a:endParaRPr lang="en-US"/>
          </a:p>
        </p:txBody>
      </p:sp>
    </p:spTree>
    <p:extLst>
      <p:ext uri="{BB962C8B-B14F-4D97-AF65-F5344CB8AC3E}">
        <p14:creationId xmlns:p14="http://schemas.microsoft.com/office/powerpoint/2010/main" val="31280036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21</a:t>
            </a:fld>
            <a:endParaRPr lang="en-US"/>
          </a:p>
        </p:txBody>
      </p:sp>
    </p:spTree>
    <p:extLst>
      <p:ext uri="{BB962C8B-B14F-4D97-AF65-F5344CB8AC3E}">
        <p14:creationId xmlns:p14="http://schemas.microsoft.com/office/powerpoint/2010/main" val="31435496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22</a:t>
            </a:fld>
            <a:endParaRPr lang="en-US"/>
          </a:p>
        </p:txBody>
      </p:sp>
    </p:spTree>
    <p:extLst>
      <p:ext uri="{BB962C8B-B14F-4D97-AF65-F5344CB8AC3E}">
        <p14:creationId xmlns:p14="http://schemas.microsoft.com/office/powerpoint/2010/main" val="40327226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23</a:t>
            </a:fld>
            <a:endParaRPr lang="en-US"/>
          </a:p>
        </p:txBody>
      </p:sp>
    </p:spTree>
    <p:extLst>
      <p:ext uri="{BB962C8B-B14F-4D97-AF65-F5344CB8AC3E}">
        <p14:creationId xmlns:p14="http://schemas.microsoft.com/office/powerpoint/2010/main" val="40766784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24</a:t>
            </a:fld>
            <a:endParaRPr lang="en-US"/>
          </a:p>
        </p:txBody>
      </p:sp>
    </p:spTree>
    <p:extLst>
      <p:ext uri="{BB962C8B-B14F-4D97-AF65-F5344CB8AC3E}">
        <p14:creationId xmlns:p14="http://schemas.microsoft.com/office/powerpoint/2010/main" val="16667241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25</a:t>
            </a:fld>
            <a:endParaRPr lang="en-US"/>
          </a:p>
        </p:txBody>
      </p:sp>
    </p:spTree>
    <p:extLst>
      <p:ext uri="{BB962C8B-B14F-4D97-AF65-F5344CB8AC3E}">
        <p14:creationId xmlns:p14="http://schemas.microsoft.com/office/powerpoint/2010/main" val="13328155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26</a:t>
            </a:fld>
            <a:endParaRPr lang="en-US"/>
          </a:p>
        </p:txBody>
      </p:sp>
    </p:spTree>
    <p:extLst>
      <p:ext uri="{BB962C8B-B14F-4D97-AF65-F5344CB8AC3E}">
        <p14:creationId xmlns:p14="http://schemas.microsoft.com/office/powerpoint/2010/main" val="38790472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27</a:t>
            </a:fld>
            <a:endParaRPr lang="en-US"/>
          </a:p>
        </p:txBody>
      </p:sp>
    </p:spTree>
    <p:extLst>
      <p:ext uri="{BB962C8B-B14F-4D97-AF65-F5344CB8AC3E}">
        <p14:creationId xmlns:p14="http://schemas.microsoft.com/office/powerpoint/2010/main" val="26067265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28</a:t>
            </a:fld>
            <a:endParaRPr lang="en-US"/>
          </a:p>
        </p:txBody>
      </p:sp>
    </p:spTree>
    <p:extLst>
      <p:ext uri="{BB962C8B-B14F-4D97-AF65-F5344CB8AC3E}">
        <p14:creationId xmlns:p14="http://schemas.microsoft.com/office/powerpoint/2010/main" val="2258557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29</a:t>
            </a:fld>
            <a:endParaRPr lang="en-US"/>
          </a:p>
        </p:txBody>
      </p:sp>
    </p:spTree>
    <p:extLst>
      <p:ext uri="{BB962C8B-B14F-4D97-AF65-F5344CB8AC3E}">
        <p14:creationId xmlns:p14="http://schemas.microsoft.com/office/powerpoint/2010/main" val="18692332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le Slide">
    <p:spTree>
      <p:nvGrpSpPr>
        <p:cNvPr id="1" name=""/>
        <p:cNvGrpSpPr/>
        <p:nvPr/>
      </p:nvGrpSpPr>
      <p:grpSpPr>
        <a:xfrm>
          <a:off x="0" y="0"/>
          <a:ext cx="0" cy="0"/>
          <a:chOff x="0" y="0"/>
          <a:chExt cx="0" cy="0"/>
        </a:xfrm>
      </p:grpSpPr>
      <p:pic>
        <p:nvPicPr>
          <p:cNvPr id="56" name="Picture 55" descr="A purple and white background&#10;&#10;Description automatically generated">
            <a:extLst>
              <a:ext uri="{FF2B5EF4-FFF2-40B4-BE49-F238E27FC236}">
                <a16:creationId xmlns:a16="http://schemas.microsoft.com/office/drawing/2014/main" id="{1008D6FD-44B1-6442-D7E1-6FD1426D8DD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1" name="Title 4">
            <a:extLst>
              <a:ext uri="{FF2B5EF4-FFF2-40B4-BE49-F238E27FC236}">
                <a16:creationId xmlns:a16="http://schemas.microsoft.com/office/drawing/2014/main" id="{C1AB8D8F-867E-9D96-D014-2635FC5416F7}"/>
              </a:ext>
            </a:extLst>
          </p:cNvPr>
          <p:cNvSpPr>
            <a:spLocks noGrp="1"/>
          </p:cNvSpPr>
          <p:nvPr>
            <p:ph type="title" hasCustomPrompt="1"/>
          </p:nvPr>
        </p:nvSpPr>
        <p:spPr>
          <a:xfrm>
            <a:off x="7726527" y="3749232"/>
            <a:ext cx="3855873" cy="1204833"/>
          </a:xfrm>
        </p:spPr>
        <p:txBody>
          <a:bodyPr anchor="b" anchorCtr="0"/>
          <a:lstStyle>
            <a:lvl1pPr>
              <a:lnSpc>
                <a:spcPct val="80000"/>
              </a:lnSpc>
              <a:defRPr sz="2800" baseline="0">
                <a:solidFill>
                  <a:schemeClr val="accent3"/>
                </a:solidFill>
                <a:latin typeface="DIN Next LT Arabic" panose="020B0503020203050203" pitchFamily="34" charset="-78"/>
                <a:ea typeface="DIN Next LT Arabic" panose="020B0503020203050203" pitchFamily="34" charset="-78"/>
                <a:cs typeface="DIN Next LT Arabic" panose="020B0503020203050203" pitchFamily="34" charset="-78"/>
              </a:defRPr>
            </a:lvl1pPr>
          </a:lstStyle>
          <a:p>
            <a:r>
              <a:rPr lang="ar-EG" dirty="0"/>
              <a:t>استبدل هذا العنوان بعنوان المستند المراد</a:t>
            </a:r>
          </a:p>
        </p:txBody>
      </p:sp>
      <p:sp>
        <p:nvSpPr>
          <p:cNvPr id="52" name="Subtitle 2">
            <a:extLst>
              <a:ext uri="{FF2B5EF4-FFF2-40B4-BE49-F238E27FC236}">
                <a16:creationId xmlns:a16="http://schemas.microsoft.com/office/drawing/2014/main" id="{83890CF7-C10F-BB3C-914C-AF80ABF44952}"/>
              </a:ext>
            </a:extLst>
          </p:cNvPr>
          <p:cNvSpPr>
            <a:spLocks noGrp="1"/>
          </p:cNvSpPr>
          <p:nvPr>
            <p:ph type="subTitle" idx="1" hasCustomPrompt="1"/>
          </p:nvPr>
        </p:nvSpPr>
        <p:spPr>
          <a:xfrm>
            <a:off x="7726527" y="5000247"/>
            <a:ext cx="3855873" cy="369332"/>
          </a:xfrm>
        </p:spPr>
        <p:txBody>
          <a:bodyPr wrap="square">
            <a:spAutoFit/>
          </a:bodyPr>
          <a:lstStyle>
            <a:lvl1pPr algn="r">
              <a:defRPr lang="en-US" sz="1800" baseline="0">
                <a:solidFill>
                  <a:schemeClr val="bg1"/>
                </a:solidFill>
                <a:latin typeface="DIN Next LT Arabic" panose="020B0503020203050203" pitchFamily="34" charset="-78"/>
                <a:ea typeface="DIN Next LT Arabic" panose="020B0503020203050203" pitchFamily="34" charset="-78"/>
                <a:cs typeface="DIN Next LT Arabic" panose="020B0503020203050203" pitchFamily="34" charset="-78"/>
              </a:defRPr>
            </a:lvl1pPr>
          </a:lstStyle>
          <a:p>
            <a:pPr lvl="0"/>
            <a:r>
              <a:rPr lang="ar-EG" dirty="0"/>
              <a:t>عنوان فرعي</a:t>
            </a:r>
          </a:p>
        </p:txBody>
      </p:sp>
    </p:spTree>
    <p:extLst>
      <p:ext uri="{BB962C8B-B14F-4D97-AF65-F5344CB8AC3E}">
        <p14:creationId xmlns:p14="http://schemas.microsoft.com/office/powerpoint/2010/main" val="826968348"/>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extLst>
    <p:ext uri="{DCECCB84-F9BA-43D5-87BE-67443E8EF086}">
      <p15:sldGuideLst xmlns:p15="http://schemas.microsoft.com/office/powerpoint/2012/main">
        <p15:guide id="1" orient="horz" pos="3288" userDrawn="1">
          <p15:clr>
            <a:srgbClr val="FBAE40"/>
          </p15:clr>
        </p15:guide>
        <p15:guide id="2" pos="3336" userDrawn="1">
          <p15:clr>
            <a:srgbClr val="FBAE40"/>
          </p15:clr>
        </p15:guide>
        <p15:guide id="3" pos="70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9/12/2024</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6" name="Text Placeholder 11"/>
          <p:cNvSpPr>
            <a:spLocks noGrp="1"/>
          </p:cNvSpPr>
          <p:nvPr>
            <p:ph type="body" sz="quarter" idx="23" hasCustomPrompt="1"/>
          </p:nvPr>
        </p:nvSpPr>
        <p:spPr>
          <a:xfrm>
            <a:off x="4664387"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17" name="Text Placeholder 11"/>
          <p:cNvSpPr>
            <a:spLocks noGrp="1"/>
          </p:cNvSpPr>
          <p:nvPr>
            <p:ph type="body" sz="quarter" idx="24" hasCustomPrompt="1"/>
          </p:nvPr>
        </p:nvSpPr>
        <p:spPr>
          <a:xfrm>
            <a:off x="4661165"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50" name="Text Placeholder 6"/>
          <p:cNvSpPr>
            <a:spLocks noGrp="1"/>
          </p:cNvSpPr>
          <p:nvPr>
            <p:ph type="body" sz="quarter" idx="57" hasCustomPrompt="1"/>
          </p:nvPr>
        </p:nvSpPr>
        <p:spPr>
          <a:xfrm>
            <a:off x="7715771"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39" name="Text Placeholder 11"/>
          <p:cNvSpPr>
            <a:spLocks noGrp="1"/>
          </p:cNvSpPr>
          <p:nvPr>
            <p:ph type="body" sz="quarter" idx="58" hasCustomPrompt="1"/>
          </p:nvPr>
        </p:nvSpPr>
        <p:spPr>
          <a:xfrm>
            <a:off x="4664387"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40" name="Text Placeholder 11"/>
          <p:cNvSpPr>
            <a:spLocks noGrp="1"/>
          </p:cNvSpPr>
          <p:nvPr>
            <p:ph type="body" sz="quarter" idx="59" hasCustomPrompt="1"/>
          </p:nvPr>
        </p:nvSpPr>
        <p:spPr>
          <a:xfrm>
            <a:off x="4661165"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1" name="Text Placeholder 6"/>
          <p:cNvSpPr>
            <a:spLocks noGrp="1"/>
          </p:cNvSpPr>
          <p:nvPr>
            <p:ph type="body" sz="quarter" idx="60" hasCustomPrompt="1"/>
          </p:nvPr>
        </p:nvSpPr>
        <p:spPr>
          <a:xfrm>
            <a:off x="7715771"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2" name="Text Placeholder 11"/>
          <p:cNvSpPr>
            <a:spLocks noGrp="1"/>
          </p:cNvSpPr>
          <p:nvPr>
            <p:ph type="body" sz="quarter" idx="61" hasCustomPrompt="1"/>
          </p:nvPr>
        </p:nvSpPr>
        <p:spPr>
          <a:xfrm>
            <a:off x="4664387"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43" name="Text Placeholder 11"/>
          <p:cNvSpPr>
            <a:spLocks noGrp="1"/>
          </p:cNvSpPr>
          <p:nvPr>
            <p:ph type="body" sz="quarter" idx="62" hasCustomPrompt="1"/>
          </p:nvPr>
        </p:nvSpPr>
        <p:spPr>
          <a:xfrm>
            <a:off x="4661165"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5" name="Text Placeholder 6"/>
          <p:cNvSpPr>
            <a:spLocks noGrp="1"/>
          </p:cNvSpPr>
          <p:nvPr>
            <p:ph type="body" sz="quarter" idx="63" hasCustomPrompt="1"/>
          </p:nvPr>
        </p:nvSpPr>
        <p:spPr>
          <a:xfrm>
            <a:off x="7715771"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6" name="Text Placeholder 11"/>
          <p:cNvSpPr>
            <a:spLocks noGrp="1"/>
          </p:cNvSpPr>
          <p:nvPr>
            <p:ph type="body" sz="quarter" idx="64" hasCustomPrompt="1"/>
          </p:nvPr>
        </p:nvSpPr>
        <p:spPr>
          <a:xfrm>
            <a:off x="4664387"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48" name="Text Placeholder 11"/>
          <p:cNvSpPr>
            <a:spLocks noGrp="1"/>
          </p:cNvSpPr>
          <p:nvPr>
            <p:ph type="body" sz="quarter" idx="65" hasCustomPrompt="1"/>
          </p:nvPr>
        </p:nvSpPr>
        <p:spPr>
          <a:xfrm>
            <a:off x="4661165"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9" name="Text Placeholder 6"/>
          <p:cNvSpPr>
            <a:spLocks noGrp="1"/>
          </p:cNvSpPr>
          <p:nvPr>
            <p:ph type="body" sz="quarter" idx="66" hasCustomPrompt="1"/>
          </p:nvPr>
        </p:nvSpPr>
        <p:spPr>
          <a:xfrm>
            <a:off x="7715771"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51" name="Text Placeholder 11"/>
          <p:cNvSpPr>
            <a:spLocks noGrp="1"/>
          </p:cNvSpPr>
          <p:nvPr>
            <p:ph type="body" sz="quarter" idx="67" hasCustomPrompt="1"/>
          </p:nvPr>
        </p:nvSpPr>
        <p:spPr>
          <a:xfrm>
            <a:off x="830980"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52" name="Text Placeholder 11"/>
          <p:cNvSpPr>
            <a:spLocks noGrp="1"/>
          </p:cNvSpPr>
          <p:nvPr>
            <p:ph type="body" sz="quarter" idx="68" hasCustomPrompt="1"/>
          </p:nvPr>
        </p:nvSpPr>
        <p:spPr>
          <a:xfrm>
            <a:off x="827758"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5" name="Text Placeholder 6"/>
          <p:cNvSpPr>
            <a:spLocks noGrp="1"/>
          </p:cNvSpPr>
          <p:nvPr>
            <p:ph type="body" sz="quarter" idx="69" hasCustomPrompt="1"/>
          </p:nvPr>
        </p:nvSpPr>
        <p:spPr>
          <a:xfrm>
            <a:off x="3882364"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6" name="Text Placeholder 11"/>
          <p:cNvSpPr>
            <a:spLocks noGrp="1"/>
          </p:cNvSpPr>
          <p:nvPr>
            <p:ph type="body" sz="quarter" idx="70" hasCustomPrompt="1"/>
          </p:nvPr>
        </p:nvSpPr>
        <p:spPr>
          <a:xfrm>
            <a:off x="830980"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7" name="Text Placeholder 11"/>
          <p:cNvSpPr>
            <a:spLocks noGrp="1"/>
          </p:cNvSpPr>
          <p:nvPr>
            <p:ph type="body" sz="quarter" idx="71" hasCustomPrompt="1"/>
          </p:nvPr>
        </p:nvSpPr>
        <p:spPr>
          <a:xfrm>
            <a:off x="827758"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8" name="Text Placeholder 6"/>
          <p:cNvSpPr>
            <a:spLocks noGrp="1"/>
          </p:cNvSpPr>
          <p:nvPr>
            <p:ph type="body" sz="quarter" idx="72" hasCustomPrompt="1"/>
          </p:nvPr>
        </p:nvSpPr>
        <p:spPr>
          <a:xfrm>
            <a:off x="3882364"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9" name="Text Placeholder 11"/>
          <p:cNvSpPr>
            <a:spLocks noGrp="1"/>
          </p:cNvSpPr>
          <p:nvPr>
            <p:ph type="body" sz="quarter" idx="73" hasCustomPrompt="1"/>
          </p:nvPr>
        </p:nvSpPr>
        <p:spPr>
          <a:xfrm>
            <a:off x="830980"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0" name="Text Placeholder 11"/>
          <p:cNvSpPr>
            <a:spLocks noGrp="1"/>
          </p:cNvSpPr>
          <p:nvPr>
            <p:ph type="body" sz="quarter" idx="74" hasCustomPrompt="1"/>
          </p:nvPr>
        </p:nvSpPr>
        <p:spPr>
          <a:xfrm>
            <a:off x="827758"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1" name="Text Placeholder 6"/>
          <p:cNvSpPr>
            <a:spLocks noGrp="1"/>
          </p:cNvSpPr>
          <p:nvPr>
            <p:ph type="body" sz="quarter" idx="75" hasCustomPrompt="1"/>
          </p:nvPr>
        </p:nvSpPr>
        <p:spPr>
          <a:xfrm>
            <a:off x="3882364"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2" name="Text Placeholder 11"/>
          <p:cNvSpPr>
            <a:spLocks noGrp="1"/>
          </p:cNvSpPr>
          <p:nvPr>
            <p:ph type="body" sz="quarter" idx="76" hasCustomPrompt="1"/>
          </p:nvPr>
        </p:nvSpPr>
        <p:spPr>
          <a:xfrm>
            <a:off x="830980"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74" name="Text Placeholder 6"/>
          <p:cNvSpPr>
            <a:spLocks noGrp="1"/>
          </p:cNvSpPr>
          <p:nvPr>
            <p:ph type="body" sz="quarter" idx="78" hasCustomPrompt="1"/>
          </p:nvPr>
        </p:nvSpPr>
        <p:spPr>
          <a:xfrm>
            <a:off x="3882364"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44" name="Text Placeholder 11"/>
          <p:cNvSpPr>
            <a:spLocks noGrp="1"/>
          </p:cNvSpPr>
          <p:nvPr>
            <p:ph type="body" sz="quarter" idx="79" hasCustomPrompt="1"/>
          </p:nvPr>
        </p:nvSpPr>
        <p:spPr>
          <a:xfrm>
            <a:off x="824657"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1" name="Text Placeholder 11"/>
          <p:cNvSpPr>
            <a:spLocks noGrp="1"/>
          </p:cNvSpPr>
          <p:nvPr>
            <p:ph type="body" sz="quarter" idx="86" hasCustomPrompt="1"/>
          </p:nvPr>
        </p:nvSpPr>
        <p:spPr>
          <a:xfrm>
            <a:off x="4664387"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2" name="Text Placeholder 11"/>
          <p:cNvSpPr>
            <a:spLocks noGrp="1"/>
          </p:cNvSpPr>
          <p:nvPr>
            <p:ph type="body" sz="quarter" idx="87" hasCustomPrompt="1"/>
          </p:nvPr>
        </p:nvSpPr>
        <p:spPr>
          <a:xfrm>
            <a:off x="4661165"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3" name="Text Placeholder 6"/>
          <p:cNvSpPr>
            <a:spLocks noGrp="1"/>
          </p:cNvSpPr>
          <p:nvPr>
            <p:ph type="body" sz="quarter" idx="88" hasCustomPrompt="1"/>
          </p:nvPr>
        </p:nvSpPr>
        <p:spPr>
          <a:xfrm>
            <a:off x="7715771"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4" name="Text Placeholder 11"/>
          <p:cNvSpPr>
            <a:spLocks noGrp="1"/>
          </p:cNvSpPr>
          <p:nvPr>
            <p:ph type="body" sz="quarter" idx="89" hasCustomPrompt="1"/>
          </p:nvPr>
        </p:nvSpPr>
        <p:spPr>
          <a:xfrm>
            <a:off x="4664387"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3" name="Text Placeholder 11"/>
          <p:cNvSpPr>
            <a:spLocks noGrp="1"/>
          </p:cNvSpPr>
          <p:nvPr>
            <p:ph type="body" sz="quarter" idx="90" hasCustomPrompt="1"/>
          </p:nvPr>
        </p:nvSpPr>
        <p:spPr>
          <a:xfrm>
            <a:off x="4661165"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5" name="Text Placeholder 6"/>
          <p:cNvSpPr>
            <a:spLocks noGrp="1"/>
          </p:cNvSpPr>
          <p:nvPr>
            <p:ph type="body" sz="quarter" idx="91" hasCustomPrompt="1"/>
          </p:nvPr>
        </p:nvSpPr>
        <p:spPr>
          <a:xfrm>
            <a:off x="7715771"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6" name="Text Placeholder 11"/>
          <p:cNvSpPr>
            <a:spLocks noGrp="1"/>
          </p:cNvSpPr>
          <p:nvPr>
            <p:ph type="body" sz="quarter" idx="92" hasCustomPrompt="1"/>
          </p:nvPr>
        </p:nvSpPr>
        <p:spPr>
          <a:xfrm>
            <a:off x="4664387"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7" name="Text Placeholder 11"/>
          <p:cNvSpPr>
            <a:spLocks noGrp="1"/>
          </p:cNvSpPr>
          <p:nvPr>
            <p:ph type="body" sz="quarter" idx="93" hasCustomPrompt="1"/>
          </p:nvPr>
        </p:nvSpPr>
        <p:spPr>
          <a:xfrm>
            <a:off x="4661165"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8" name="Text Placeholder 6"/>
          <p:cNvSpPr>
            <a:spLocks noGrp="1"/>
          </p:cNvSpPr>
          <p:nvPr>
            <p:ph type="body" sz="quarter" idx="94" hasCustomPrompt="1"/>
          </p:nvPr>
        </p:nvSpPr>
        <p:spPr>
          <a:xfrm>
            <a:off x="7715771"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9" name="Text Placeholder 11"/>
          <p:cNvSpPr>
            <a:spLocks noGrp="1"/>
          </p:cNvSpPr>
          <p:nvPr>
            <p:ph type="body" sz="quarter" idx="95" hasCustomPrompt="1"/>
          </p:nvPr>
        </p:nvSpPr>
        <p:spPr>
          <a:xfrm>
            <a:off x="830980"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80" name="Text Placeholder 11"/>
          <p:cNvSpPr>
            <a:spLocks noGrp="1"/>
          </p:cNvSpPr>
          <p:nvPr>
            <p:ph type="body" sz="quarter" idx="96" hasCustomPrompt="1"/>
          </p:nvPr>
        </p:nvSpPr>
        <p:spPr>
          <a:xfrm>
            <a:off x="827758"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1" name="Text Placeholder 6"/>
          <p:cNvSpPr>
            <a:spLocks noGrp="1"/>
          </p:cNvSpPr>
          <p:nvPr>
            <p:ph type="body" sz="quarter" idx="97" hasCustomPrompt="1"/>
          </p:nvPr>
        </p:nvSpPr>
        <p:spPr>
          <a:xfrm>
            <a:off x="3882364"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2" name="Text Placeholder 11"/>
          <p:cNvSpPr>
            <a:spLocks noGrp="1"/>
          </p:cNvSpPr>
          <p:nvPr>
            <p:ph type="body" sz="quarter" idx="98" hasCustomPrompt="1"/>
          </p:nvPr>
        </p:nvSpPr>
        <p:spPr>
          <a:xfrm>
            <a:off x="830980"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3" name="Text Placeholder 11"/>
          <p:cNvSpPr>
            <a:spLocks noGrp="1"/>
          </p:cNvSpPr>
          <p:nvPr>
            <p:ph type="body" sz="quarter" idx="99" hasCustomPrompt="1"/>
          </p:nvPr>
        </p:nvSpPr>
        <p:spPr>
          <a:xfrm>
            <a:off x="827758"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4" name="Text Placeholder 6"/>
          <p:cNvSpPr>
            <a:spLocks noGrp="1"/>
          </p:cNvSpPr>
          <p:nvPr>
            <p:ph type="body" sz="quarter" idx="100" hasCustomPrompt="1"/>
          </p:nvPr>
        </p:nvSpPr>
        <p:spPr>
          <a:xfrm>
            <a:off x="3882364"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5" name="Text Placeholder 11"/>
          <p:cNvSpPr>
            <a:spLocks noGrp="1"/>
          </p:cNvSpPr>
          <p:nvPr>
            <p:ph type="body" sz="quarter" idx="101" hasCustomPrompt="1"/>
          </p:nvPr>
        </p:nvSpPr>
        <p:spPr>
          <a:xfrm>
            <a:off x="830980"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6" name="Text Placeholder 11"/>
          <p:cNvSpPr>
            <a:spLocks noGrp="1"/>
          </p:cNvSpPr>
          <p:nvPr>
            <p:ph type="body" sz="quarter" idx="102" hasCustomPrompt="1"/>
          </p:nvPr>
        </p:nvSpPr>
        <p:spPr>
          <a:xfrm>
            <a:off x="827758"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p:txBody>
      </p:sp>
      <p:sp>
        <p:nvSpPr>
          <p:cNvPr id="87" name="Text Placeholder 6"/>
          <p:cNvSpPr>
            <a:spLocks noGrp="1"/>
          </p:cNvSpPr>
          <p:nvPr>
            <p:ph type="body" sz="quarter" idx="103" hasCustomPrompt="1"/>
          </p:nvPr>
        </p:nvSpPr>
        <p:spPr>
          <a:xfrm>
            <a:off x="3882364"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418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bi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56EA63-0ACA-2641-5B9B-A593E15C93E8}"/>
              </a:ext>
            </a:extLst>
          </p:cNvPr>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79"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9/12/2024</a:t>
            </a:fld>
            <a:endParaRPr lang="en-US"/>
          </a:p>
        </p:txBody>
      </p:sp>
      <p:sp>
        <p:nvSpPr>
          <p:cNvPr id="180"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81" name="Slide Number Placeholder 4"/>
          <p:cNvSpPr>
            <a:spLocks noGrp="1"/>
          </p:cNvSpPr>
          <p:nvPr>
            <p:ph type="sldNum" sz="quarter" idx="12"/>
          </p:nvPr>
        </p:nvSpPr>
        <p:spPr>
          <a:xfrm>
            <a:off x="621452" y="6335328"/>
            <a:ext cx="439703" cy="320040"/>
          </a:xfrm>
        </p:spPr>
        <p:txBody>
          <a:bodyPr/>
          <a:lstStyle>
            <a:lvl1pPr algn="l" rtl="1">
              <a:defRPr sz="1200">
                <a:solidFill>
                  <a:schemeClr val="accent1"/>
                </a:solidFill>
              </a:defRPr>
            </a:lvl1pPr>
          </a:lstStyle>
          <a:p>
            <a:fld id="{46ED658E-7B78-4C3F-B2D4-66856F143B40}" type="slidenum">
              <a:rPr lang="en-US" smtClean="0"/>
              <a:pPr/>
              <a:t>‹#›</a:t>
            </a:fld>
            <a:endParaRPr lang="en-US" dirty="0"/>
          </a:p>
        </p:txBody>
      </p:sp>
      <p:sp>
        <p:nvSpPr>
          <p:cNvPr id="182" name="Title 1"/>
          <p:cNvSpPr>
            <a:spLocks noGrp="1"/>
          </p:cNvSpPr>
          <p:nvPr>
            <p:ph type="title" hasCustomPrompt="1"/>
          </p:nvPr>
        </p:nvSpPr>
        <p:spPr>
          <a:xfrm>
            <a:off x="9207769" y="3185566"/>
            <a:ext cx="2779783" cy="486869"/>
          </a:xfrm>
        </p:spPr>
        <p:txBody>
          <a:bodyPr>
            <a:noAutofit/>
          </a:bodyPr>
          <a:lstStyle>
            <a:lvl1pPr algn="ctr">
              <a:defRPr sz="3600" spc="200" baseline="0">
                <a:solidFill>
                  <a:schemeClr val="bg1"/>
                </a:solidFill>
              </a:defRPr>
            </a:lvl1pPr>
          </a:lstStyle>
          <a:p>
            <a:r>
              <a:rPr lang="ar-EG" dirty="0"/>
              <a:t>جدول المحتويات</a:t>
            </a:r>
            <a:endParaRPr lang="en-US" dirty="0"/>
          </a:p>
        </p:txBody>
      </p:sp>
      <p:sp>
        <p:nvSpPr>
          <p:cNvPr id="183" name="Text Placeholder 11"/>
          <p:cNvSpPr>
            <a:spLocks noGrp="1"/>
          </p:cNvSpPr>
          <p:nvPr>
            <p:ph type="body" sz="quarter" idx="20" hasCustomPrompt="1"/>
          </p:nvPr>
        </p:nvSpPr>
        <p:spPr>
          <a:xfrm>
            <a:off x="1307048"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4" name="Text Placeholder 11"/>
          <p:cNvSpPr>
            <a:spLocks noGrp="1"/>
          </p:cNvSpPr>
          <p:nvPr>
            <p:ph type="body" sz="quarter" idx="23" hasCustomPrompt="1"/>
          </p:nvPr>
        </p:nvSpPr>
        <p:spPr>
          <a:xfrm>
            <a:off x="4980125"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5" name="Text Placeholder 11"/>
          <p:cNvSpPr>
            <a:spLocks noGrp="1"/>
          </p:cNvSpPr>
          <p:nvPr>
            <p:ph type="body" sz="quarter" idx="32" hasCustomPrompt="1"/>
          </p:nvPr>
        </p:nvSpPr>
        <p:spPr>
          <a:xfrm>
            <a:off x="1307048"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6" name="Text Placeholder 11"/>
          <p:cNvSpPr>
            <a:spLocks noGrp="1"/>
          </p:cNvSpPr>
          <p:nvPr>
            <p:ph type="body" sz="quarter" idx="35" hasCustomPrompt="1"/>
          </p:nvPr>
        </p:nvSpPr>
        <p:spPr>
          <a:xfrm>
            <a:off x="4980125"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7" name="Text Placeholder 11"/>
          <p:cNvSpPr>
            <a:spLocks noGrp="1"/>
          </p:cNvSpPr>
          <p:nvPr>
            <p:ph type="body" sz="quarter" idx="44" hasCustomPrompt="1"/>
          </p:nvPr>
        </p:nvSpPr>
        <p:spPr>
          <a:xfrm>
            <a:off x="1307048"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8" name="Text Placeholder 11"/>
          <p:cNvSpPr>
            <a:spLocks noGrp="1"/>
          </p:cNvSpPr>
          <p:nvPr>
            <p:ph type="body" sz="quarter" idx="47" hasCustomPrompt="1"/>
          </p:nvPr>
        </p:nvSpPr>
        <p:spPr>
          <a:xfrm>
            <a:off x="4980125"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9" name="Text Placeholder 6"/>
          <p:cNvSpPr>
            <a:spLocks noGrp="1"/>
          </p:cNvSpPr>
          <p:nvPr>
            <p:ph type="body" sz="quarter" idx="54" hasCustomPrompt="1"/>
          </p:nvPr>
        </p:nvSpPr>
        <p:spPr>
          <a:xfrm>
            <a:off x="4038533"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0" name="Text Placeholder 6"/>
          <p:cNvSpPr>
            <a:spLocks noGrp="1"/>
          </p:cNvSpPr>
          <p:nvPr>
            <p:ph type="body" sz="quarter" idx="55" hasCustomPrompt="1"/>
          </p:nvPr>
        </p:nvSpPr>
        <p:spPr>
          <a:xfrm>
            <a:off x="4038533"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1" name="Text Placeholder 6"/>
          <p:cNvSpPr>
            <a:spLocks noGrp="1"/>
          </p:cNvSpPr>
          <p:nvPr>
            <p:ph type="body" sz="quarter" idx="56" hasCustomPrompt="1"/>
          </p:nvPr>
        </p:nvSpPr>
        <p:spPr>
          <a:xfrm>
            <a:off x="4038533"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2" name="Text Placeholder 6"/>
          <p:cNvSpPr>
            <a:spLocks noGrp="1"/>
          </p:cNvSpPr>
          <p:nvPr>
            <p:ph type="body" sz="quarter" idx="57" hasCustomPrompt="1"/>
          </p:nvPr>
        </p:nvSpPr>
        <p:spPr>
          <a:xfrm>
            <a:off x="7715771"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3" name="Text Placeholder 6"/>
          <p:cNvSpPr>
            <a:spLocks noGrp="1"/>
          </p:cNvSpPr>
          <p:nvPr>
            <p:ph type="body" sz="quarter" idx="58" hasCustomPrompt="1"/>
          </p:nvPr>
        </p:nvSpPr>
        <p:spPr>
          <a:xfrm>
            <a:off x="7715771"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4" name="Text Placeholder 6"/>
          <p:cNvSpPr>
            <a:spLocks noGrp="1"/>
          </p:cNvSpPr>
          <p:nvPr>
            <p:ph type="body" sz="quarter" idx="59" hasCustomPrompt="1"/>
          </p:nvPr>
        </p:nvSpPr>
        <p:spPr>
          <a:xfrm>
            <a:off x="7715771"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5" name="Text Placeholder 11"/>
          <p:cNvSpPr>
            <a:spLocks noGrp="1"/>
          </p:cNvSpPr>
          <p:nvPr>
            <p:ph type="body" sz="quarter" idx="60" hasCustomPrompt="1"/>
          </p:nvPr>
        </p:nvSpPr>
        <p:spPr>
          <a:xfrm>
            <a:off x="1307048"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6" name="Text Placeholder 11"/>
          <p:cNvSpPr>
            <a:spLocks noGrp="1"/>
          </p:cNvSpPr>
          <p:nvPr>
            <p:ph type="body" sz="quarter" idx="61" hasCustomPrompt="1"/>
          </p:nvPr>
        </p:nvSpPr>
        <p:spPr>
          <a:xfrm>
            <a:off x="4980125"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7" name="Text Placeholder 11"/>
          <p:cNvSpPr>
            <a:spLocks noGrp="1"/>
          </p:cNvSpPr>
          <p:nvPr>
            <p:ph type="body" sz="quarter" idx="62" hasCustomPrompt="1"/>
          </p:nvPr>
        </p:nvSpPr>
        <p:spPr>
          <a:xfrm>
            <a:off x="1307048"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8" name="Text Placeholder 11"/>
          <p:cNvSpPr>
            <a:spLocks noGrp="1"/>
          </p:cNvSpPr>
          <p:nvPr>
            <p:ph type="body" sz="quarter" idx="63" hasCustomPrompt="1"/>
          </p:nvPr>
        </p:nvSpPr>
        <p:spPr>
          <a:xfrm>
            <a:off x="4980125"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9" name="Text Placeholder 11"/>
          <p:cNvSpPr>
            <a:spLocks noGrp="1"/>
          </p:cNvSpPr>
          <p:nvPr>
            <p:ph type="body" sz="quarter" idx="64" hasCustomPrompt="1"/>
          </p:nvPr>
        </p:nvSpPr>
        <p:spPr>
          <a:xfrm>
            <a:off x="1307048"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0" name="Text Placeholder 11"/>
          <p:cNvSpPr>
            <a:spLocks noGrp="1"/>
          </p:cNvSpPr>
          <p:nvPr>
            <p:ph type="body" sz="quarter" idx="65" hasCustomPrompt="1"/>
          </p:nvPr>
        </p:nvSpPr>
        <p:spPr>
          <a:xfrm>
            <a:off x="4980125"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1" name="Text Placeholder 6"/>
          <p:cNvSpPr>
            <a:spLocks noGrp="1"/>
          </p:cNvSpPr>
          <p:nvPr>
            <p:ph type="body" sz="quarter" idx="66" hasCustomPrompt="1"/>
          </p:nvPr>
        </p:nvSpPr>
        <p:spPr>
          <a:xfrm>
            <a:off x="4038533"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2" name="Text Placeholder 6"/>
          <p:cNvSpPr>
            <a:spLocks noGrp="1"/>
          </p:cNvSpPr>
          <p:nvPr>
            <p:ph type="body" sz="quarter" idx="67" hasCustomPrompt="1"/>
          </p:nvPr>
        </p:nvSpPr>
        <p:spPr>
          <a:xfrm>
            <a:off x="4038533"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3" name="Text Placeholder 6"/>
          <p:cNvSpPr>
            <a:spLocks noGrp="1"/>
          </p:cNvSpPr>
          <p:nvPr>
            <p:ph type="body" sz="quarter" idx="68" hasCustomPrompt="1"/>
          </p:nvPr>
        </p:nvSpPr>
        <p:spPr>
          <a:xfrm>
            <a:off x="4038533"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4" name="Text Placeholder 6"/>
          <p:cNvSpPr>
            <a:spLocks noGrp="1"/>
          </p:cNvSpPr>
          <p:nvPr>
            <p:ph type="body" sz="quarter" idx="69" hasCustomPrompt="1"/>
          </p:nvPr>
        </p:nvSpPr>
        <p:spPr>
          <a:xfrm>
            <a:off x="7715771"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5" name="Text Placeholder 6"/>
          <p:cNvSpPr>
            <a:spLocks noGrp="1"/>
          </p:cNvSpPr>
          <p:nvPr>
            <p:ph type="body" sz="quarter" idx="70" hasCustomPrompt="1"/>
          </p:nvPr>
        </p:nvSpPr>
        <p:spPr>
          <a:xfrm>
            <a:off x="7715771"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6" name="Text Placeholder 6"/>
          <p:cNvSpPr>
            <a:spLocks noGrp="1"/>
          </p:cNvSpPr>
          <p:nvPr>
            <p:ph type="body" sz="quarter" idx="71" hasCustomPrompt="1"/>
          </p:nvPr>
        </p:nvSpPr>
        <p:spPr>
          <a:xfrm>
            <a:off x="7715771"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pic>
        <p:nvPicPr>
          <p:cNvPr id="3" name="Picture 2">
            <a:extLst>
              <a:ext uri="{FF2B5EF4-FFF2-40B4-BE49-F238E27FC236}">
                <a16:creationId xmlns:a16="http://schemas.microsoft.com/office/drawing/2014/main" id="{BDE1AC8B-C2AF-7EC8-8BD1-AD35C320C96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703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p:spTree>
      <p:nvGrpSpPr>
        <p:cNvPr id="1" name=""/>
        <p:cNvGrpSpPr/>
        <p:nvPr/>
      </p:nvGrpSpPr>
      <p:grpSpPr>
        <a:xfrm>
          <a:off x="0" y="0"/>
          <a:ext cx="0" cy="0"/>
          <a:chOff x="0" y="0"/>
          <a:chExt cx="0" cy="0"/>
        </a:xfrm>
      </p:grpSpPr>
      <p:sp>
        <p:nvSpPr>
          <p:cNvPr id="6" name="Rectangle 5"/>
          <p:cNvSpPr/>
          <p:nvPr userDrawn="1"/>
        </p:nvSpPr>
        <p:spPr>
          <a:xfrm>
            <a:off x="8153400" y="1352939"/>
            <a:ext cx="4038600" cy="5505061"/>
          </a:xfrm>
          <a:prstGeom prst="rect">
            <a:avLst/>
          </a:prstGeom>
          <a:gradFill>
            <a:gsLst>
              <a:gs pos="100000">
                <a:schemeClr val="accent1"/>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7" name="Rectangle 6"/>
          <p:cNvSpPr/>
          <p:nvPr userDrawn="1"/>
        </p:nvSpPr>
        <p:spPr>
          <a:xfrm>
            <a:off x="8153400" y="-373"/>
            <a:ext cx="4038600" cy="6217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8153400" y="621419"/>
            <a:ext cx="403860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p:cNvSpPr>
            <a:spLocks noGrp="1"/>
          </p:cNvSpPr>
          <p:nvPr>
            <p:ph type="title" hasCustomPrompt="1"/>
          </p:nvPr>
        </p:nvSpPr>
        <p:spPr>
          <a:xfrm>
            <a:off x="8308759" y="621420"/>
            <a:ext cx="3727882" cy="731519"/>
          </a:xfrm>
        </p:spPr>
        <p:txBody>
          <a:bodyPr anchor="ctr" anchorCtr="0"/>
          <a:lstStyle>
            <a:lvl1pPr algn="ctr">
              <a:defRPr sz="4000">
                <a:solidFill>
                  <a:schemeClr val="accent1"/>
                </a:solidFill>
              </a:defRPr>
            </a:lvl1pPr>
          </a:lstStyle>
          <a:p>
            <a:r>
              <a:rPr lang="ar-EG" dirty="0"/>
              <a:t>جدول المحتويات</a:t>
            </a:r>
            <a:endParaRPr lang="en-US" dirty="0"/>
          </a:p>
        </p:txBody>
      </p:sp>
      <p:sp>
        <p:nvSpPr>
          <p:cNvPr id="28" name="Text Placeholder 27"/>
          <p:cNvSpPr>
            <a:spLocks noGrp="1"/>
          </p:cNvSpPr>
          <p:nvPr>
            <p:ph type="body" sz="quarter" idx="13"/>
          </p:nvPr>
        </p:nvSpPr>
        <p:spPr>
          <a:xfrm>
            <a:off x="3196257" y="160496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3" name="Text Placeholder 27"/>
          <p:cNvSpPr>
            <a:spLocks noGrp="1"/>
          </p:cNvSpPr>
          <p:nvPr>
            <p:ph type="body" sz="quarter" idx="14"/>
          </p:nvPr>
        </p:nvSpPr>
        <p:spPr>
          <a:xfrm>
            <a:off x="3196257" y="2010050"/>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6" name="Text Placeholder 27"/>
          <p:cNvSpPr>
            <a:spLocks noGrp="1"/>
          </p:cNvSpPr>
          <p:nvPr>
            <p:ph type="body" sz="quarter" idx="15"/>
          </p:nvPr>
        </p:nvSpPr>
        <p:spPr>
          <a:xfrm>
            <a:off x="3196257" y="2415137"/>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9" name="Text Placeholder 27"/>
          <p:cNvSpPr>
            <a:spLocks noGrp="1"/>
          </p:cNvSpPr>
          <p:nvPr>
            <p:ph type="body" sz="quarter" idx="16"/>
          </p:nvPr>
        </p:nvSpPr>
        <p:spPr>
          <a:xfrm>
            <a:off x="3196257" y="2820224"/>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2" name="Text Placeholder 27"/>
          <p:cNvSpPr>
            <a:spLocks noGrp="1"/>
          </p:cNvSpPr>
          <p:nvPr>
            <p:ph type="body" sz="quarter" idx="17"/>
          </p:nvPr>
        </p:nvSpPr>
        <p:spPr>
          <a:xfrm>
            <a:off x="3196257" y="3225311"/>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5" name="Text Placeholder 27"/>
          <p:cNvSpPr>
            <a:spLocks noGrp="1"/>
          </p:cNvSpPr>
          <p:nvPr>
            <p:ph type="body" sz="quarter" idx="18"/>
          </p:nvPr>
        </p:nvSpPr>
        <p:spPr>
          <a:xfrm>
            <a:off x="3196257" y="363039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8" name="Text Placeholder 27"/>
          <p:cNvSpPr>
            <a:spLocks noGrp="1"/>
          </p:cNvSpPr>
          <p:nvPr>
            <p:ph type="body" sz="quarter" idx="19"/>
          </p:nvPr>
        </p:nvSpPr>
        <p:spPr>
          <a:xfrm>
            <a:off x="3196257" y="4035485"/>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1" name="Text Placeholder 27"/>
          <p:cNvSpPr>
            <a:spLocks noGrp="1"/>
          </p:cNvSpPr>
          <p:nvPr>
            <p:ph type="body" sz="quarter" idx="20"/>
          </p:nvPr>
        </p:nvSpPr>
        <p:spPr>
          <a:xfrm>
            <a:off x="3196257" y="4440572"/>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4" name="Text Placeholder 27"/>
          <p:cNvSpPr>
            <a:spLocks noGrp="1"/>
          </p:cNvSpPr>
          <p:nvPr>
            <p:ph type="body" sz="quarter" idx="21"/>
          </p:nvPr>
        </p:nvSpPr>
        <p:spPr>
          <a:xfrm>
            <a:off x="3196257" y="4845659"/>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7" name="Text Placeholder 27"/>
          <p:cNvSpPr>
            <a:spLocks noGrp="1"/>
          </p:cNvSpPr>
          <p:nvPr>
            <p:ph type="body" sz="quarter" idx="22"/>
          </p:nvPr>
        </p:nvSpPr>
        <p:spPr>
          <a:xfrm>
            <a:off x="3196257" y="5250746"/>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0" name="Text Placeholder 27"/>
          <p:cNvSpPr>
            <a:spLocks noGrp="1"/>
          </p:cNvSpPr>
          <p:nvPr>
            <p:ph type="body" sz="quarter" idx="23"/>
          </p:nvPr>
        </p:nvSpPr>
        <p:spPr>
          <a:xfrm>
            <a:off x="3196257" y="565583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3" name="Text Placeholder 27"/>
          <p:cNvSpPr>
            <a:spLocks noGrp="1"/>
          </p:cNvSpPr>
          <p:nvPr>
            <p:ph type="body" sz="quarter" idx="24"/>
          </p:nvPr>
        </p:nvSpPr>
        <p:spPr>
          <a:xfrm>
            <a:off x="3196257" y="606091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2" name="TextBox 81"/>
          <p:cNvSpPr txBox="1"/>
          <p:nvPr userDrawn="1"/>
        </p:nvSpPr>
        <p:spPr>
          <a:xfrm>
            <a:off x="2214857" y="2716272"/>
            <a:ext cx="1344317" cy="338554"/>
          </a:xfrm>
          <a:prstGeom prst="rect">
            <a:avLst/>
          </a:prstGeom>
          <a:noFill/>
        </p:spPr>
        <p:txBody>
          <a:bodyPr wrap="square" rtlCol="0" anchor="ctr">
            <a:spAutoFit/>
          </a:bodyPr>
          <a:lstStyle/>
          <a:p>
            <a:pPr algn="r" fontAlgn="base"/>
            <a:r>
              <a:rPr lang="en-US" sz="1600" b="1" dirty="0">
                <a:solidFill>
                  <a:schemeClr val="bg1"/>
                </a:solidFill>
                <a:latin typeface="+mj-lt"/>
                <a:ea typeface="Open Sans" panose="020B0606030504020204" pitchFamily="34" charset="0"/>
                <a:cs typeface="Open Sans" panose="020B0606030504020204" pitchFamily="34" charset="0"/>
              </a:rPr>
              <a:t>01</a:t>
            </a:r>
          </a:p>
        </p:txBody>
      </p:sp>
      <p:sp>
        <p:nvSpPr>
          <p:cNvPr id="23"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3" name="Picture 2">
            <a:extLst>
              <a:ext uri="{FF2B5EF4-FFF2-40B4-BE49-F238E27FC236}">
                <a16:creationId xmlns:a16="http://schemas.microsoft.com/office/drawing/2014/main" id="{B100176E-CEC2-70DC-C086-2D881B34126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5434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xEl>
                                              <p:pRg st="0" end="0"/>
                                            </p:txEl>
                                          </p:spTgt>
                                        </p:tgtEl>
                                        <p:attrNameLst>
                                          <p:attrName>style.visibility</p:attrName>
                                        </p:attrNameLst>
                                      </p:cBhvr>
                                      <p:to>
                                        <p:strVal val="visible"/>
                                      </p:to>
                                    </p:set>
                                    <p:animEffect transition="in" filter="fade">
                                      <p:cBhvr>
                                        <p:cTn id="10" dur="500"/>
                                        <p:tgtEl>
                                          <p:spTgt spid="6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6">
                                            <p:txEl>
                                              <p:pRg st="0" end="0"/>
                                            </p:txEl>
                                          </p:spTgt>
                                        </p:tgtEl>
                                        <p:attrNameLst>
                                          <p:attrName>style.visibility</p:attrName>
                                        </p:attrNameLst>
                                      </p:cBhvr>
                                      <p:to>
                                        <p:strVal val="visible"/>
                                      </p:to>
                                    </p:set>
                                    <p:animEffect transition="in" filter="fade">
                                      <p:cBhvr>
                                        <p:cTn id="13" dur="500"/>
                                        <p:tgtEl>
                                          <p:spTgt spid="66">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9">
                                            <p:txEl>
                                              <p:pRg st="0" end="0"/>
                                            </p:txEl>
                                          </p:spTgt>
                                        </p:tgtEl>
                                        <p:attrNameLst>
                                          <p:attrName>style.visibility</p:attrName>
                                        </p:attrNameLst>
                                      </p:cBhvr>
                                      <p:to>
                                        <p:strVal val="visible"/>
                                      </p:to>
                                    </p:set>
                                    <p:animEffect transition="in" filter="fade">
                                      <p:cBhvr>
                                        <p:cTn id="16" dur="500"/>
                                        <p:tgtEl>
                                          <p:spTgt spid="6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2">
                                            <p:txEl>
                                              <p:pRg st="0" end="0"/>
                                            </p:txEl>
                                          </p:spTgt>
                                        </p:tgtEl>
                                        <p:attrNameLst>
                                          <p:attrName>style.visibility</p:attrName>
                                        </p:attrNameLst>
                                      </p:cBhvr>
                                      <p:to>
                                        <p:strVal val="visible"/>
                                      </p:to>
                                    </p:set>
                                    <p:animEffect transition="in" filter="fade">
                                      <p:cBhvr>
                                        <p:cTn id="19" dur="500"/>
                                        <p:tgtEl>
                                          <p:spTgt spid="72">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5">
                                            <p:txEl>
                                              <p:pRg st="0" end="0"/>
                                            </p:txEl>
                                          </p:spTgt>
                                        </p:tgtEl>
                                        <p:attrNameLst>
                                          <p:attrName>style.visibility</p:attrName>
                                        </p:attrNameLst>
                                      </p:cBhvr>
                                      <p:to>
                                        <p:strVal val="visible"/>
                                      </p:to>
                                    </p:set>
                                    <p:animEffect transition="in" filter="fade">
                                      <p:cBhvr>
                                        <p:cTn id="22" dur="500"/>
                                        <p:tgtEl>
                                          <p:spTgt spid="7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8">
                                            <p:txEl>
                                              <p:pRg st="0" end="0"/>
                                            </p:txEl>
                                          </p:spTgt>
                                        </p:tgtEl>
                                        <p:attrNameLst>
                                          <p:attrName>style.visibility</p:attrName>
                                        </p:attrNameLst>
                                      </p:cBhvr>
                                      <p:to>
                                        <p:strVal val="visible"/>
                                      </p:to>
                                    </p:set>
                                    <p:animEffect transition="in" filter="fade">
                                      <p:cBhvr>
                                        <p:cTn id="25" dur="500"/>
                                        <p:tgtEl>
                                          <p:spTgt spid="7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1">
                                            <p:txEl>
                                              <p:pRg st="0" end="0"/>
                                            </p:txEl>
                                          </p:spTgt>
                                        </p:tgtEl>
                                        <p:attrNameLst>
                                          <p:attrName>style.visibility</p:attrName>
                                        </p:attrNameLst>
                                      </p:cBhvr>
                                      <p:to>
                                        <p:strVal val="visible"/>
                                      </p:to>
                                    </p:set>
                                    <p:animEffect transition="in" filter="fade">
                                      <p:cBhvr>
                                        <p:cTn id="28" dur="500"/>
                                        <p:tgtEl>
                                          <p:spTgt spid="81">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4">
                                            <p:txEl>
                                              <p:pRg st="0" end="0"/>
                                            </p:txEl>
                                          </p:spTgt>
                                        </p:tgtEl>
                                        <p:attrNameLst>
                                          <p:attrName>style.visibility</p:attrName>
                                        </p:attrNameLst>
                                      </p:cBhvr>
                                      <p:to>
                                        <p:strVal val="visible"/>
                                      </p:to>
                                    </p:set>
                                    <p:animEffect transition="in" filter="fade">
                                      <p:cBhvr>
                                        <p:cTn id="31" dur="500"/>
                                        <p:tgtEl>
                                          <p:spTgt spid="84">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
                                            <p:txEl>
                                              <p:pRg st="0" end="0"/>
                                            </p:txEl>
                                          </p:spTgt>
                                        </p:tgtEl>
                                        <p:attrNameLst>
                                          <p:attrName>style.visibility</p:attrName>
                                        </p:attrNameLst>
                                      </p:cBhvr>
                                      <p:to>
                                        <p:strVal val="visible"/>
                                      </p:to>
                                    </p:set>
                                    <p:animEffect transition="in" filter="fade">
                                      <p:cBhvr>
                                        <p:cTn id="34" dur="500"/>
                                        <p:tgtEl>
                                          <p:spTgt spid="87">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0">
                                            <p:txEl>
                                              <p:pRg st="0" end="0"/>
                                            </p:txEl>
                                          </p:spTgt>
                                        </p:tgtEl>
                                        <p:attrNameLst>
                                          <p:attrName>style.visibility</p:attrName>
                                        </p:attrNameLst>
                                      </p:cBhvr>
                                      <p:to>
                                        <p:strVal val="visible"/>
                                      </p:to>
                                    </p:set>
                                    <p:animEffect transition="in" filter="fade">
                                      <p:cBhvr>
                                        <p:cTn id="37" dur="500"/>
                                        <p:tgtEl>
                                          <p:spTgt spid="90">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xEl>
                                              <p:pRg st="0" end="0"/>
                                            </p:txEl>
                                          </p:spTgt>
                                        </p:tgtEl>
                                        <p:attrNameLst>
                                          <p:attrName>style.visibility</p:attrName>
                                        </p:attrNameLst>
                                      </p:cBhvr>
                                      <p:to>
                                        <p:strVal val="visible"/>
                                      </p:to>
                                    </p:set>
                                    <p:animEffect transition="in" filter="fade">
                                      <p:cBhvr>
                                        <p:cTn id="40" dur="500"/>
                                        <p:tgtEl>
                                          <p:spTgt spid="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tmplLst>
          <p:tmpl lvl="1">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3" grpId="0" build="allAtOnce">
        <p:tmplLst>
          <p:tmpl lvl="1">
            <p:tnLst>
              <p:par>
                <p:cTn presetID="10"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fade">
                      <p:cBhvr>
                        <p:cTn dur="500"/>
                        <p:tgtEl>
                          <p:spTgt spid="63"/>
                        </p:tgtEl>
                      </p:cBhvr>
                    </p:animEffect>
                  </p:childTnLst>
                </p:cTn>
              </p:par>
            </p:tnLst>
          </p:tmpl>
        </p:tmplLst>
      </p:bldP>
      <p:bldP spid="66" grpId="0" build="allAtOnce">
        <p:tmplLst>
          <p:tmpl lvl="1">
            <p:tnLst>
              <p:par>
                <p:cTn presetID="10"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fade">
                      <p:cBhvr>
                        <p:cTn dur="500"/>
                        <p:tgtEl>
                          <p:spTgt spid="66"/>
                        </p:tgtEl>
                      </p:cBhvr>
                    </p:animEffect>
                  </p:childTnLst>
                </p:cTn>
              </p:par>
            </p:tnLst>
          </p:tmpl>
        </p:tmplLst>
      </p:bldP>
      <p:bldP spid="69" grpId="0" build="allAtOnce">
        <p:tmplLst>
          <p:tmpl lvl="1">
            <p:tnLst>
              <p:par>
                <p:cTn presetID="10" presetClass="entr" presetSubtype="0" fill="hold" nodeType="with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fade">
                      <p:cBhvr>
                        <p:cTn dur="500"/>
                        <p:tgtEl>
                          <p:spTgt spid="69"/>
                        </p:tgtEl>
                      </p:cBhvr>
                    </p:animEffect>
                  </p:childTnLst>
                </p:cTn>
              </p:par>
            </p:tnLst>
          </p:tmpl>
        </p:tmplLst>
      </p:bldP>
      <p:bldP spid="72" grpId="0" build="allAtOnce">
        <p:tmplLst>
          <p:tmpl lvl="1">
            <p:tnLst>
              <p:par>
                <p:cTn presetID="10"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fade">
                      <p:cBhvr>
                        <p:cTn dur="500"/>
                        <p:tgtEl>
                          <p:spTgt spid="72"/>
                        </p:tgtEl>
                      </p:cBhvr>
                    </p:animEffect>
                  </p:childTnLst>
                </p:cTn>
              </p:par>
            </p:tnLst>
          </p:tmpl>
        </p:tmplLst>
      </p:bldP>
      <p:bldP spid="75" grpId="0" build="allAtOnce">
        <p:tmplLst>
          <p:tmpl lvl="1">
            <p:tnLst>
              <p:par>
                <p:cTn presetID="10"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fade">
                      <p:cBhvr>
                        <p:cTn dur="500"/>
                        <p:tgtEl>
                          <p:spTgt spid="75"/>
                        </p:tgtEl>
                      </p:cBhvr>
                    </p:animEffect>
                  </p:childTnLst>
                </p:cTn>
              </p:par>
            </p:tnLst>
          </p:tmpl>
        </p:tmplLst>
      </p:bldP>
      <p:bldP spid="78" grpId="0" build="allAtOnce">
        <p:tmplLst>
          <p:tmpl lvl="1">
            <p:tnLst>
              <p:par>
                <p:cTn presetID="10" presetClass="entr" presetSubtype="0" fill="hold" nodeType="with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fade">
                      <p:cBhvr>
                        <p:cTn dur="500"/>
                        <p:tgtEl>
                          <p:spTgt spid="78"/>
                        </p:tgtEl>
                      </p:cBhvr>
                    </p:animEffect>
                  </p:childTnLst>
                </p:cTn>
              </p:par>
            </p:tnLst>
          </p:tmpl>
        </p:tmplLst>
      </p:bldP>
      <p:bldP spid="81" grpId="0" build="allAtOnce">
        <p:tmplLst>
          <p:tmpl lvl="1">
            <p:tnLst>
              <p:par>
                <p:cTn presetID="10"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fade">
                      <p:cBhvr>
                        <p:cTn dur="500"/>
                        <p:tgtEl>
                          <p:spTgt spid="81"/>
                        </p:tgtEl>
                      </p:cBhvr>
                    </p:animEffect>
                  </p:childTnLst>
                </p:cTn>
              </p:par>
            </p:tnLst>
          </p:tmpl>
        </p:tmplLst>
      </p:bldP>
      <p:bldP spid="84" grpId="0" build="allAtOnce">
        <p:tmplLst>
          <p:tmpl lvl="1">
            <p:tnLst>
              <p:par>
                <p:cTn presetID="10" presetClass="entr" presetSubtype="0" fill="hold" nodeType="withEffect">
                  <p:stCondLst>
                    <p:cond delay="0"/>
                  </p:stCondLst>
                  <p:childTnLst>
                    <p:set>
                      <p:cBhvr>
                        <p:cTn dur="1" fill="hold">
                          <p:stCondLst>
                            <p:cond delay="0"/>
                          </p:stCondLst>
                        </p:cTn>
                        <p:tgtEl>
                          <p:spTgt spid="84"/>
                        </p:tgtEl>
                        <p:attrNameLst>
                          <p:attrName>style.visibility</p:attrName>
                        </p:attrNameLst>
                      </p:cBhvr>
                      <p:to>
                        <p:strVal val="visible"/>
                      </p:to>
                    </p:set>
                    <p:animEffect transition="in" filter="fade">
                      <p:cBhvr>
                        <p:cTn dur="500"/>
                        <p:tgtEl>
                          <p:spTgt spid="84"/>
                        </p:tgtEl>
                      </p:cBhvr>
                    </p:animEffect>
                  </p:childTnLst>
                </p:cTn>
              </p:par>
            </p:tnLst>
          </p:tmpl>
        </p:tmplLst>
      </p:bldP>
      <p:bldP spid="87" grpId="0" build="allAtOnce">
        <p:tmplLst>
          <p:tmpl lvl="1">
            <p:tnLst>
              <p:par>
                <p:cTn presetID="10" presetClass="entr" presetSubtype="0" fill="hold" nodeType="withEffect">
                  <p:stCondLst>
                    <p:cond delay="0"/>
                  </p:stCondLst>
                  <p:childTnLst>
                    <p:set>
                      <p:cBhvr>
                        <p:cTn dur="1" fill="hold">
                          <p:stCondLst>
                            <p:cond delay="0"/>
                          </p:stCondLst>
                        </p:cTn>
                        <p:tgtEl>
                          <p:spTgt spid="87"/>
                        </p:tgtEl>
                        <p:attrNameLst>
                          <p:attrName>style.visibility</p:attrName>
                        </p:attrNameLst>
                      </p:cBhvr>
                      <p:to>
                        <p:strVal val="visible"/>
                      </p:to>
                    </p:set>
                    <p:animEffect transition="in" filter="fade">
                      <p:cBhvr>
                        <p:cTn dur="500"/>
                        <p:tgtEl>
                          <p:spTgt spid="87"/>
                        </p:tgtEl>
                      </p:cBhvr>
                    </p:animEffect>
                  </p:childTnLst>
                </p:cTn>
              </p:par>
            </p:tnLst>
          </p:tmpl>
        </p:tmplLst>
      </p:bldP>
      <p:bldP spid="90" grpId="0" build="allAtOnce">
        <p:tmplLst>
          <p:tmpl lvl="1">
            <p:tnLst>
              <p:par>
                <p:cTn presetID="10" presetClass="entr" presetSubtype="0"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fade">
                      <p:cBhvr>
                        <p:cTn dur="500"/>
                        <p:tgtEl>
                          <p:spTgt spid="90"/>
                        </p:tgtEl>
                      </p:cBhvr>
                    </p:animEffect>
                  </p:childTnLst>
                </p:cTn>
              </p:par>
            </p:tnLst>
          </p:tmpl>
        </p:tmplLst>
      </p:bldP>
      <p:bldP spid="93" grpId="0" build="allAtOnce">
        <p:tmplLst>
          <p:tmpl lvl="1">
            <p:tnLst>
              <p:par>
                <p:cTn presetID="10" presetClass="entr" presetSubtype="0" fill="hold" nodeType="withEffect">
                  <p:stCondLst>
                    <p:cond delay="0"/>
                  </p:stCondLst>
                  <p:childTnLst>
                    <p:set>
                      <p:cBhvr>
                        <p:cTn dur="1" fill="hold">
                          <p:stCondLst>
                            <p:cond delay="0"/>
                          </p:stCondLst>
                        </p:cTn>
                        <p:tgtEl>
                          <p:spTgt spid="93"/>
                        </p:tgtEl>
                        <p:attrNameLst>
                          <p:attrName>style.visibility</p:attrName>
                        </p:attrNameLst>
                      </p:cBhvr>
                      <p:to>
                        <p:strVal val="visible"/>
                      </p:to>
                    </p:set>
                    <p:animEffect transition="in" filter="fade">
                      <p:cBhvr>
                        <p:cTn dur="500"/>
                        <p:tgtEl>
                          <p:spTgt spid="9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9/12/2024</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29243560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7489825" y="0"/>
            <a:ext cx="4702175" cy="6858000"/>
          </a:xfrm>
        </p:spPr>
        <p:txBody>
          <a:bodyPr/>
          <a:lstStyle/>
          <a:p>
            <a:r>
              <a:rPr lang="en-US"/>
              <a:t>Click icon to add picture</a:t>
            </a:r>
          </a:p>
        </p:txBody>
      </p:sp>
      <p:sp>
        <p:nvSpPr>
          <p:cNvPr id="2" name="Title 1"/>
          <p:cNvSpPr>
            <a:spLocks noGrp="1"/>
          </p:cNvSpPr>
          <p:nvPr>
            <p:ph type="title" hasCustomPrompt="1"/>
          </p:nvPr>
        </p:nvSpPr>
        <p:spPr>
          <a:xfrm>
            <a:off x="838200" y="475918"/>
            <a:ext cx="6115756" cy="666261"/>
          </a:xfrm>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9/12/2024</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79341413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Date Placeholder 3"/>
          <p:cNvSpPr>
            <a:spLocks noGrp="1"/>
          </p:cNvSpPr>
          <p:nvPr>
            <p:ph type="dt" sz="half" idx="10"/>
          </p:nvPr>
        </p:nvSpPr>
        <p:spPr>
          <a:xfrm>
            <a:off x="1126155" y="6372408"/>
            <a:ext cx="1875631" cy="365125"/>
          </a:xfrm>
          <a:prstGeom prst="rect">
            <a:avLst/>
          </a:prstGeom>
        </p:spPr>
        <p:txBody>
          <a:bodyPr/>
          <a:lstStyle/>
          <a:p>
            <a:fld id="{F2A58179-A128-427D-87DD-C6A55F04E0A8}" type="datetime1">
              <a:rPr lang="en-US" smtClean="0"/>
              <a:t>9/12/2024</a:t>
            </a:fld>
            <a:endParaRPr lang="en-US"/>
          </a:p>
        </p:txBody>
      </p:sp>
      <p:sp>
        <p:nvSpPr>
          <p:cNvPr id="5" name="Footer Placeholder 4"/>
          <p:cNvSpPr>
            <a:spLocks noGrp="1"/>
          </p:cNvSpPr>
          <p:nvPr>
            <p:ph type="ftr" sz="quarter" idx="11"/>
          </p:nvPr>
        </p:nvSpPr>
        <p:spPr>
          <a:xfrm>
            <a:off x="4250035" y="6367630"/>
            <a:ext cx="3691931"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BE4EC83-A869-464E-AE9F-881796FB085E}" type="slidenum">
              <a:rPr lang="en-US" smtClean="0"/>
              <a:t>‹#›</a:t>
            </a:fld>
            <a:endParaRPr lang="en-US"/>
          </a:p>
        </p:txBody>
      </p:sp>
      <p:sp>
        <p:nvSpPr>
          <p:cNvPr id="7" name="Title 6"/>
          <p:cNvSpPr>
            <a:spLocks noGrp="1"/>
          </p:cNvSpPr>
          <p:nvPr>
            <p:ph type="title" hasCustomPrompt="1"/>
          </p:nvPr>
        </p:nvSpPr>
        <p:spPr/>
        <p:txBody>
          <a:bodyPr/>
          <a:lstStyle/>
          <a:p>
            <a:r>
              <a:rPr lang="ar-EG" dirty="0"/>
              <a:t>اضغط لتغيير العنوان</a:t>
            </a:r>
            <a:endParaRPr lang="en-US" dirty="0"/>
          </a:p>
        </p:txBody>
      </p:sp>
    </p:spTree>
    <p:extLst>
      <p:ext uri="{BB962C8B-B14F-4D97-AF65-F5344CB8AC3E}">
        <p14:creationId xmlns:p14="http://schemas.microsoft.com/office/powerpoint/2010/main" val="132083401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6" name="Picture 5" descr="A purple and white rectangle&#10;&#10;Description automatically generated">
            <a:extLst>
              <a:ext uri="{FF2B5EF4-FFF2-40B4-BE49-F238E27FC236}">
                <a16:creationId xmlns:a16="http://schemas.microsoft.com/office/drawing/2014/main" id="{5D8E7D26-4E4F-35D7-4CE8-4428C2B6C8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928634" y="3925452"/>
            <a:ext cx="5615666" cy="641639"/>
          </a:xfrm>
          <a:noFill/>
        </p:spPr>
        <p:txBody>
          <a:bodyPr lIns="0" rIns="0" anchor="t" anchorCtr="0">
            <a:noAutofit/>
          </a:bodyPr>
          <a:lstStyle>
            <a:lvl1pPr algn="r">
              <a:defRPr sz="3600">
                <a:solidFill>
                  <a:schemeClr val="bg1"/>
                </a:solidFill>
                <a:latin typeface="DIN Next LT Arabic" panose="020B0503020203050203" pitchFamily="34" charset="-78"/>
                <a:cs typeface="DIN Next LT Arabic" panose="020B0503020203050203" pitchFamily="34" charset="-78"/>
              </a:defRPr>
            </a:lvl1pPr>
          </a:lstStyle>
          <a:p>
            <a:r>
              <a:rPr lang="ar-EG" dirty="0"/>
              <a:t>اضغط لتغيير العنوان</a:t>
            </a:r>
            <a:endParaRPr lang="en-US" dirty="0"/>
          </a:p>
        </p:txBody>
      </p:sp>
      <p:sp>
        <p:nvSpPr>
          <p:cNvPr id="9" name="Text Placeholder 3"/>
          <p:cNvSpPr>
            <a:spLocks noGrp="1"/>
          </p:cNvSpPr>
          <p:nvPr>
            <p:ph type="body" sz="quarter" idx="12"/>
          </p:nvPr>
        </p:nvSpPr>
        <p:spPr>
          <a:xfrm>
            <a:off x="7292975" y="7016661"/>
            <a:ext cx="4251325" cy="865187"/>
          </a:xfrm>
        </p:spPr>
        <p:txBody>
          <a:bodyPr>
            <a:normAutofit/>
          </a:bodyPr>
          <a:lstStyle>
            <a:lvl1pPr marL="0" indent="0" algn="ctr">
              <a:buNone/>
              <a:defRPr sz="1600">
                <a:solidFill>
                  <a:srgbClr val="E6E6E6"/>
                </a:solidFill>
              </a:defRPr>
            </a:lvl1pPr>
          </a:lstStyle>
          <a:p>
            <a:pPr lvl="0"/>
            <a:r>
              <a:rPr lang="en-US"/>
              <a:t>Click to edit Master text styles</a:t>
            </a:r>
          </a:p>
        </p:txBody>
      </p:sp>
      <p:sp>
        <p:nvSpPr>
          <p:cNvPr id="18" name="Text Placeholder 4"/>
          <p:cNvSpPr>
            <a:spLocks noGrp="1"/>
          </p:cNvSpPr>
          <p:nvPr>
            <p:ph type="body" sz="quarter" idx="14" hasCustomPrompt="1"/>
          </p:nvPr>
        </p:nvSpPr>
        <p:spPr>
          <a:xfrm>
            <a:off x="9601626" y="2343256"/>
            <a:ext cx="1942674" cy="1181919"/>
          </a:xfrm>
          <a:noFill/>
        </p:spPr>
        <p:txBody>
          <a:bodyPr lIns="0" tIns="0" bIns="0" anchor="ctr" anchorCtr="0">
            <a:noAutofit/>
          </a:bodyPr>
          <a:lstStyle>
            <a:lvl1pPr marL="0" indent="0" algn="ctr">
              <a:buNone/>
              <a:defRPr sz="8800" b="1">
                <a:ln w="19050">
                  <a:solidFill>
                    <a:schemeClr val="accent1"/>
                  </a:solidFill>
                </a:ln>
                <a:solidFill>
                  <a:schemeClr val="accent1"/>
                </a:solidFill>
                <a:latin typeface="Arial" panose="020B0604020202020204" pitchFamily="34" charset="0"/>
                <a:cs typeface="Arial" panose="020B0604020202020204" pitchFamily="34" charset="0"/>
              </a:defRPr>
            </a:lvl1pPr>
          </a:lstStyle>
          <a:p>
            <a:pPr lvl="0"/>
            <a:r>
              <a:rPr lang="ar-EG" dirty="0"/>
              <a:t>#</a:t>
            </a:r>
            <a:endParaRPr lang="en-US" dirty="0"/>
          </a:p>
        </p:txBody>
      </p:sp>
    </p:spTree>
    <p:extLst>
      <p:ext uri="{BB962C8B-B14F-4D97-AF65-F5344CB8AC3E}">
        <p14:creationId xmlns:p14="http://schemas.microsoft.com/office/powerpoint/2010/main" val="3162891222"/>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extLst>
    <p:ext uri="{DCECCB84-F9BA-43D5-87BE-67443E8EF086}">
      <p15:sldGuideLst xmlns:p15="http://schemas.microsoft.com/office/powerpoint/2012/main">
        <p15:guide id="1" pos="7272" userDrawn="1">
          <p15:clr>
            <a:srgbClr val="FBAE40"/>
          </p15:clr>
        </p15:guide>
        <p15:guide id="2" pos="6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Picture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9/12/2024</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7" name="Picture Placeholder 6"/>
          <p:cNvSpPr>
            <a:spLocks noGrp="1"/>
          </p:cNvSpPr>
          <p:nvPr>
            <p:ph type="pic" sz="quarter" idx="13" hasCustomPrompt="1"/>
          </p:nvPr>
        </p:nvSpPr>
        <p:spPr>
          <a:xfrm>
            <a:off x="6197600" y="1447799"/>
            <a:ext cx="5156200" cy="3037381"/>
          </a:xfrm>
        </p:spPr>
        <p:txBody>
          <a:bodyPr/>
          <a:lstStyle/>
          <a:p>
            <a:r>
              <a:rPr lang="ar-EG" dirty="0"/>
              <a:t>اضغط على الأيقونة لإضافة صورة</a:t>
            </a:r>
            <a:endParaRPr lang="en-US" dirty="0"/>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1" name="Picture Placeholder 6"/>
          <p:cNvSpPr>
            <a:spLocks noGrp="1"/>
          </p:cNvSpPr>
          <p:nvPr>
            <p:ph type="pic" sz="quarter" idx="18" hasCustomPrompt="1"/>
          </p:nvPr>
        </p:nvSpPr>
        <p:spPr>
          <a:xfrm>
            <a:off x="838200" y="1447799"/>
            <a:ext cx="5156200" cy="3037381"/>
          </a:xfrm>
        </p:spPr>
        <p:txBody>
          <a:bodyPr/>
          <a:lstStyle/>
          <a:p>
            <a:r>
              <a:rPr lang="ar-EG" dirty="0"/>
              <a:t>اضغط على الأيقونة لإضافة صورة</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23756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ntent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9/12/2024</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Content Placeholder 8"/>
          <p:cNvSpPr>
            <a:spLocks noGrp="1"/>
          </p:cNvSpPr>
          <p:nvPr>
            <p:ph sz="quarter" idx="19" hasCustomPrompt="1"/>
          </p:nvPr>
        </p:nvSpPr>
        <p:spPr>
          <a:xfrm>
            <a:off x="61976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1" name="Content Placeholder 8"/>
          <p:cNvSpPr>
            <a:spLocks noGrp="1"/>
          </p:cNvSpPr>
          <p:nvPr>
            <p:ph sz="quarter" idx="20" hasCustomPrompt="1"/>
          </p:nvPr>
        </p:nvSpPr>
        <p:spPr>
          <a:xfrm>
            <a:off x="8382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Tree>
    <p:extLst>
      <p:ext uri="{BB962C8B-B14F-4D97-AF65-F5344CB8AC3E}">
        <p14:creationId xmlns:p14="http://schemas.microsoft.com/office/powerpoint/2010/main" val="78794652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9/12/2024</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096000" y="1454189"/>
            <a:ext cx="5257800"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6096000"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2" name="Text Placeholder 15"/>
          <p:cNvSpPr>
            <a:spLocks noGrp="1"/>
          </p:cNvSpPr>
          <p:nvPr>
            <p:ph type="body" sz="quarter" idx="27" hasCustomPrompt="1"/>
          </p:nvPr>
        </p:nvSpPr>
        <p:spPr>
          <a:xfrm>
            <a:off x="838169" y="1454189"/>
            <a:ext cx="5257800"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838169"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cxnSp>
        <p:nvCxnSpPr>
          <p:cNvPr id="10" name="Straight Connector 9"/>
          <p:cNvCxnSpPr/>
          <p:nvPr userDrawn="1"/>
        </p:nvCxnSpPr>
        <p:spPr>
          <a:xfrm>
            <a:off x="6095971" y="6096000"/>
            <a:ext cx="5257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flipV="1">
            <a:off x="838171" y="6095999"/>
            <a:ext cx="5257800" cy="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14524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9/12/2024</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8719767" y="1465912"/>
            <a:ext cx="2624328"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8719767"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2" name="Text Placeholder 15"/>
          <p:cNvSpPr>
            <a:spLocks noGrp="1"/>
          </p:cNvSpPr>
          <p:nvPr>
            <p:ph type="body" sz="quarter" idx="27" hasCustomPrompt="1"/>
          </p:nvPr>
        </p:nvSpPr>
        <p:spPr>
          <a:xfrm>
            <a:off x="6098798" y="1465912"/>
            <a:ext cx="2624328"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6098798"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4" name="Text Placeholder 15"/>
          <p:cNvSpPr>
            <a:spLocks noGrp="1"/>
          </p:cNvSpPr>
          <p:nvPr>
            <p:ph type="body" sz="quarter" idx="29" hasCustomPrompt="1"/>
          </p:nvPr>
        </p:nvSpPr>
        <p:spPr>
          <a:xfrm>
            <a:off x="3477830" y="1465912"/>
            <a:ext cx="2624328" cy="469900"/>
          </a:xfrm>
          <a:solidFill>
            <a:schemeClr val="accent1"/>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5" name="Text Placeholder 6"/>
          <p:cNvSpPr>
            <a:spLocks noGrp="1"/>
          </p:cNvSpPr>
          <p:nvPr>
            <p:ph type="body" sz="quarter" idx="30" hasCustomPrompt="1"/>
          </p:nvPr>
        </p:nvSpPr>
        <p:spPr>
          <a:xfrm>
            <a:off x="3477830"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sp>
        <p:nvSpPr>
          <p:cNvPr id="26" name="Text Placeholder 15"/>
          <p:cNvSpPr>
            <a:spLocks noGrp="1"/>
          </p:cNvSpPr>
          <p:nvPr>
            <p:ph type="body" sz="quarter" idx="31" hasCustomPrompt="1"/>
          </p:nvPr>
        </p:nvSpPr>
        <p:spPr>
          <a:xfrm>
            <a:off x="856862" y="1465912"/>
            <a:ext cx="2624328" cy="469900"/>
          </a:xfrm>
          <a:solidFill>
            <a:schemeClr val="accent2"/>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7" name="Text Placeholder 6"/>
          <p:cNvSpPr>
            <a:spLocks noGrp="1"/>
          </p:cNvSpPr>
          <p:nvPr>
            <p:ph type="body" sz="quarter" idx="32" hasCustomPrompt="1"/>
          </p:nvPr>
        </p:nvSpPr>
        <p:spPr>
          <a:xfrm>
            <a:off x="856862"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cxnSp>
        <p:nvCxnSpPr>
          <p:cNvPr id="10" name="Straight Connector 9"/>
          <p:cNvCxnSpPr/>
          <p:nvPr userDrawn="1"/>
        </p:nvCxnSpPr>
        <p:spPr>
          <a:xfrm>
            <a:off x="10060884"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7323667"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4586451"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1849235"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0450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text with titles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9/12/2024</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6" name="Text Placeholder 8"/>
          <p:cNvSpPr>
            <a:spLocks noGrp="1"/>
          </p:cNvSpPr>
          <p:nvPr>
            <p:ph type="body" sz="quarter" idx="13" hasCustomPrompt="1"/>
          </p:nvPr>
        </p:nvSpPr>
        <p:spPr>
          <a:xfrm>
            <a:off x="845580"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7" name="Text Placeholder 8"/>
          <p:cNvSpPr>
            <a:spLocks noGrp="1"/>
          </p:cNvSpPr>
          <p:nvPr>
            <p:ph type="body" sz="quarter" idx="14" hasCustomPrompt="1"/>
          </p:nvPr>
        </p:nvSpPr>
        <p:spPr>
          <a:xfrm>
            <a:off x="845580"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8" name="Straight Connector 7"/>
          <p:cNvCxnSpPr/>
          <p:nvPr userDrawn="1"/>
        </p:nvCxnSpPr>
        <p:spPr>
          <a:xfrm>
            <a:off x="5396768"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sz="quarter" idx="15" hasCustomPrompt="1"/>
          </p:nvPr>
        </p:nvSpPr>
        <p:spPr>
          <a:xfrm>
            <a:off x="6253972"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endParaRPr lang="en-US" dirty="0"/>
          </a:p>
        </p:txBody>
      </p:sp>
      <p:sp>
        <p:nvSpPr>
          <p:cNvPr id="10" name="Text Placeholder 8"/>
          <p:cNvSpPr>
            <a:spLocks noGrp="1"/>
          </p:cNvSpPr>
          <p:nvPr>
            <p:ph type="body" sz="quarter" idx="16" hasCustomPrompt="1"/>
          </p:nvPr>
        </p:nvSpPr>
        <p:spPr>
          <a:xfrm>
            <a:off x="6253972"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1" name="Straight Connector 10"/>
          <p:cNvCxnSpPr/>
          <p:nvPr userDrawn="1"/>
        </p:nvCxnSpPr>
        <p:spPr>
          <a:xfrm>
            <a:off x="10805160"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 Placeholder 8"/>
          <p:cNvSpPr>
            <a:spLocks noGrp="1"/>
          </p:cNvSpPr>
          <p:nvPr>
            <p:ph type="body" sz="quarter" idx="17" hasCustomPrompt="1"/>
          </p:nvPr>
        </p:nvSpPr>
        <p:spPr>
          <a:xfrm>
            <a:off x="845580"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3" name="Text Placeholder 8"/>
          <p:cNvSpPr>
            <a:spLocks noGrp="1"/>
          </p:cNvSpPr>
          <p:nvPr>
            <p:ph type="body" sz="quarter" idx="18" hasCustomPrompt="1"/>
          </p:nvPr>
        </p:nvSpPr>
        <p:spPr>
          <a:xfrm>
            <a:off x="845580"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4" name="Straight Connector 13"/>
          <p:cNvCxnSpPr/>
          <p:nvPr userDrawn="1"/>
        </p:nvCxnSpPr>
        <p:spPr>
          <a:xfrm>
            <a:off x="5396768"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Text Placeholder 8"/>
          <p:cNvSpPr>
            <a:spLocks noGrp="1"/>
          </p:cNvSpPr>
          <p:nvPr>
            <p:ph type="body" sz="quarter" idx="19" hasCustomPrompt="1"/>
          </p:nvPr>
        </p:nvSpPr>
        <p:spPr>
          <a:xfrm>
            <a:off x="6253972"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6" name="Text Placeholder 8"/>
          <p:cNvSpPr>
            <a:spLocks noGrp="1"/>
          </p:cNvSpPr>
          <p:nvPr>
            <p:ph type="body" sz="quarter" idx="20" hasCustomPrompt="1"/>
          </p:nvPr>
        </p:nvSpPr>
        <p:spPr>
          <a:xfrm>
            <a:off x="6253972"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7" name="Straight Connector 16"/>
          <p:cNvCxnSpPr/>
          <p:nvPr userDrawn="1"/>
        </p:nvCxnSpPr>
        <p:spPr>
          <a:xfrm>
            <a:off x="10805160"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842545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9/12/2024</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1" name="Text Placeholder 6"/>
          <p:cNvSpPr>
            <a:spLocks noGrp="1"/>
          </p:cNvSpPr>
          <p:nvPr>
            <p:ph type="body" sz="quarter" idx="15" hasCustomPrompt="1"/>
          </p:nvPr>
        </p:nvSpPr>
        <p:spPr>
          <a:xfrm>
            <a:off x="8261577"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2" name="Text Placeholder 6"/>
          <p:cNvSpPr>
            <a:spLocks noGrp="1"/>
          </p:cNvSpPr>
          <p:nvPr>
            <p:ph type="body" sz="quarter" idx="16" hasCustomPrompt="1"/>
          </p:nvPr>
        </p:nvSpPr>
        <p:spPr>
          <a:xfrm>
            <a:off x="457287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9931026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9/12/2024</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4831419" cy="4638675"/>
          </a:xfrm>
        </p:spPr>
        <p:txBody>
          <a:bodyPr>
            <a:normAutofit/>
          </a:bodyPr>
          <a:lstStyle>
            <a:lvl1pPr marL="0" indent="0">
              <a:buNone/>
              <a:defRPr sz="2000" baseline="0"/>
            </a:lvl1pPr>
          </a:lstStyle>
          <a:p>
            <a:pPr lvl="0"/>
            <a:r>
              <a:rPr lang="ar-EG" dirty="0"/>
              <a:t>تعديل النص</a:t>
            </a:r>
            <a:endParaRPr lang="en-US" dirty="0"/>
          </a:p>
        </p:txBody>
      </p:sp>
      <p:sp>
        <p:nvSpPr>
          <p:cNvPr id="9" name="Text Placeholder 6"/>
          <p:cNvSpPr>
            <a:spLocks noGrp="1"/>
          </p:cNvSpPr>
          <p:nvPr>
            <p:ph type="body" sz="quarter" idx="15" hasCustomPrompt="1"/>
          </p:nvPr>
        </p:nvSpPr>
        <p:spPr>
          <a:xfrm>
            <a:off x="6522381" y="1447800"/>
            <a:ext cx="4831419"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37914594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ortfolio/4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D07F32C4-027C-41E7-9CB9-C0506AA6389A}" type="datetime1">
              <a:rPr lang="en-US" smtClean="0"/>
              <a:t>9/12/2024</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46ED658E-7B78-4C3F-B2D4-66856F143B40}" type="slidenum">
              <a:rPr lang="en-US" smtClean="0"/>
              <a:pPr/>
              <a:t>‹#›</a:t>
            </a:fld>
            <a:endParaRPr lang="en-US"/>
          </a:p>
        </p:txBody>
      </p:sp>
      <p:sp>
        <p:nvSpPr>
          <p:cNvPr id="7" name="Picture Placeholder 10">
            <a:extLst>
              <a:ext uri="{FF2B5EF4-FFF2-40B4-BE49-F238E27FC236}">
                <a16:creationId xmlns:a16="http://schemas.microsoft.com/office/drawing/2014/main" id="{1ED86105-1558-4D32-B1A9-5F4D28811B51}"/>
              </a:ext>
            </a:extLst>
          </p:cNvPr>
          <p:cNvSpPr>
            <a:spLocks noGrp="1"/>
          </p:cNvSpPr>
          <p:nvPr>
            <p:ph type="pic" sz="quarter" idx="13" hasCustomPrompt="1"/>
          </p:nvPr>
        </p:nvSpPr>
        <p:spPr>
          <a:xfrm>
            <a:off x="853836"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8" name="Picture Placeholder 12">
            <a:extLst>
              <a:ext uri="{FF2B5EF4-FFF2-40B4-BE49-F238E27FC236}">
                <a16:creationId xmlns:a16="http://schemas.microsoft.com/office/drawing/2014/main" id="{AD11BF4A-2489-4211-84F8-479B8880D427}"/>
              </a:ext>
            </a:extLst>
          </p:cNvPr>
          <p:cNvSpPr>
            <a:spLocks noGrp="1"/>
          </p:cNvSpPr>
          <p:nvPr>
            <p:ph type="pic" sz="quarter" idx="15" hasCustomPrompt="1"/>
          </p:nvPr>
        </p:nvSpPr>
        <p:spPr>
          <a:xfrm>
            <a:off x="9179225" y="1547024"/>
            <a:ext cx="2175731"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9" name="Text Placeholder 21"/>
          <p:cNvSpPr>
            <a:spLocks noGrp="1"/>
          </p:cNvSpPr>
          <p:nvPr>
            <p:ph type="body" sz="quarter" idx="16" hasCustomPrompt="1"/>
          </p:nvPr>
        </p:nvSpPr>
        <p:spPr>
          <a:xfrm>
            <a:off x="846596" y="4793469"/>
            <a:ext cx="2207123" cy="368300"/>
          </a:xfrm>
        </p:spPr>
        <p:txBody>
          <a:bodyPr>
            <a:normAutofit/>
          </a:bodyPr>
          <a:lstStyle>
            <a:lvl1pPr marL="0" indent="0" algn="ctr">
              <a:buNone/>
              <a:defRPr sz="2000" b="1" baseline="0">
                <a:solidFill>
                  <a:schemeClr val="accent1"/>
                </a:solidFill>
              </a:defRPr>
            </a:lvl1pPr>
          </a:lstStyle>
          <a:p>
            <a:pPr lvl="0"/>
            <a:r>
              <a:rPr lang="ar-EG" dirty="0"/>
              <a:t>عنوان 4</a:t>
            </a:r>
            <a:endParaRPr lang="en-US" dirty="0"/>
          </a:p>
        </p:txBody>
      </p:sp>
      <p:sp>
        <p:nvSpPr>
          <p:cNvPr id="11" name="Text Placeholder 21"/>
          <p:cNvSpPr>
            <a:spLocks noGrp="1"/>
          </p:cNvSpPr>
          <p:nvPr>
            <p:ph type="body" sz="quarter" idx="18" hasCustomPrompt="1"/>
          </p:nvPr>
        </p:nvSpPr>
        <p:spPr>
          <a:xfrm>
            <a:off x="3644019" y="4793469"/>
            <a:ext cx="2192642" cy="368300"/>
          </a:xfrm>
        </p:spPr>
        <p:txBody>
          <a:bodyPr>
            <a:normAutofit/>
          </a:bodyPr>
          <a:lstStyle>
            <a:lvl1pPr marL="0" indent="0" algn="ctr">
              <a:buNone/>
              <a:defRPr sz="2000" b="1">
                <a:solidFill>
                  <a:schemeClr val="accent1"/>
                </a:solidFill>
              </a:defRPr>
            </a:lvl1pPr>
          </a:lstStyle>
          <a:p>
            <a:pPr lvl="0"/>
            <a:r>
              <a:rPr lang="ar-EG" dirty="0"/>
              <a:t>عنوان 3</a:t>
            </a:r>
            <a:endParaRPr lang="en-US" dirty="0"/>
          </a:p>
        </p:txBody>
      </p:sp>
      <p:sp>
        <p:nvSpPr>
          <p:cNvPr id="13" name="Text Placeholder 21"/>
          <p:cNvSpPr>
            <a:spLocks noGrp="1"/>
          </p:cNvSpPr>
          <p:nvPr>
            <p:ph type="body" sz="quarter" idx="20" hasCustomPrompt="1"/>
          </p:nvPr>
        </p:nvSpPr>
        <p:spPr>
          <a:xfrm>
            <a:off x="9179225" y="4793469"/>
            <a:ext cx="2175731" cy="368300"/>
          </a:xfrm>
        </p:spPr>
        <p:txBody>
          <a:bodyPr>
            <a:normAutofit/>
          </a:bodyPr>
          <a:lstStyle>
            <a:lvl1pPr marL="0" indent="0" algn="ctr">
              <a:buNone/>
              <a:defRPr sz="2000" b="1">
                <a:solidFill>
                  <a:schemeClr val="accent1"/>
                </a:solidFill>
              </a:defRPr>
            </a:lvl1pPr>
          </a:lstStyle>
          <a:p>
            <a:pPr lvl="0"/>
            <a:r>
              <a:rPr lang="ar-EG" dirty="0"/>
              <a:t>عنوان 1</a:t>
            </a:r>
            <a:endParaRPr lang="en-US" dirty="0"/>
          </a:p>
        </p:txBody>
      </p:sp>
      <p:sp>
        <p:nvSpPr>
          <p:cNvPr id="15" name="Picture Placeholder 10">
            <a:extLst>
              <a:ext uri="{FF2B5EF4-FFF2-40B4-BE49-F238E27FC236}">
                <a16:creationId xmlns:a16="http://schemas.microsoft.com/office/drawing/2014/main" id="{1ED86105-1558-4D32-B1A9-5F4D28811B51}"/>
              </a:ext>
            </a:extLst>
          </p:cNvPr>
          <p:cNvSpPr>
            <a:spLocks noGrp="1"/>
          </p:cNvSpPr>
          <p:nvPr>
            <p:ph type="pic" sz="quarter" idx="23" hasCustomPrompt="1"/>
          </p:nvPr>
        </p:nvSpPr>
        <p:spPr>
          <a:xfrm>
            <a:off x="3644019"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6" name="Picture Placeholder 10">
            <a:extLst>
              <a:ext uri="{FF2B5EF4-FFF2-40B4-BE49-F238E27FC236}">
                <a16:creationId xmlns:a16="http://schemas.microsoft.com/office/drawing/2014/main" id="{1ED86105-1558-4D32-B1A9-5F4D28811B51}"/>
              </a:ext>
            </a:extLst>
          </p:cNvPr>
          <p:cNvSpPr>
            <a:spLocks noGrp="1"/>
          </p:cNvSpPr>
          <p:nvPr>
            <p:ph type="pic" sz="quarter" idx="24" hasCustomPrompt="1"/>
          </p:nvPr>
        </p:nvSpPr>
        <p:spPr>
          <a:xfrm>
            <a:off x="6419301"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7" name="Text Placeholder 21"/>
          <p:cNvSpPr>
            <a:spLocks noGrp="1"/>
          </p:cNvSpPr>
          <p:nvPr>
            <p:ph type="body" sz="quarter" idx="25" hasCustomPrompt="1"/>
          </p:nvPr>
        </p:nvSpPr>
        <p:spPr>
          <a:xfrm>
            <a:off x="6418380" y="4793469"/>
            <a:ext cx="2194484" cy="368300"/>
          </a:xfrm>
        </p:spPr>
        <p:txBody>
          <a:bodyP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b="1">
                <a:solidFill>
                  <a:schemeClr val="accent1"/>
                </a:solidFill>
              </a:defRPr>
            </a:lvl1pPr>
          </a:lstStyle>
          <a:p>
            <a:pPr lvl="0"/>
            <a:r>
              <a:rPr lang="ar-EG" dirty="0"/>
              <a:t>عنوان 2</a:t>
            </a:r>
            <a:endParaRPr lang="en-US" dirty="0"/>
          </a:p>
        </p:txBody>
      </p:sp>
      <p:sp>
        <p:nvSpPr>
          <p:cNvPr id="20" name="Text Placeholder 19"/>
          <p:cNvSpPr>
            <a:spLocks noGrp="1"/>
          </p:cNvSpPr>
          <p:nvPr>
            <p:ph type="body" sz="quarter" idx="26" hasCustomPrompt="1"/>
          </p:nvPr>
        </p:nvSpPr>
        <p:spPr>
          <a:xfrm>
            <a:off x="846845"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1" name="Text Placeholder 19"/>
          <p:cNvSpPr>
            <a:spLocks noGrp="1"/>
          </p:cNvSpPr>
          <p:nvPr>
            <p:ph type="body" sz="quarter" idx="27" hasCustomPrompt="1"/>
          </p:nvPr>
        </p:nvSpPr>
        <p:spPr>
          <a:xfrm>
            <a:off x="3637028"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2" name="Text Placeholder 19"/>
          <p:cNvSpPr>
            <a:spLocks noGrp="1"/>
          </p:cNvSpPr>
          <p:nvPr>
            <p:ph type="body" sz="quarter" idx="28" hasCustomPrompt="1"/>
          </p:nvPr>
        </p:nvSpPr>
        <p:spPr>
          <a:xfrm>
            <a:off x="6421014" y="5161763"/>
            <a:ext cx="2189217" cy="728662"/>
          </a:xfrm>
        </p:spPr>
        <p:txBody>
          <a:bodyPr>
            <a:normAutofit/>
          </a:bodyPr>
          <a:lstStyle>
            <a:lvl1pPr marL="0" indent="0" algn="ctr">
              <a:buNone/>
              <a:defRPr sz="1600"/>
            </a:lvl1pPr>
          </a:lstStyle>
          <a:p>
            <a:pPr lvl="0"/>
            <a:r>
              <a:rPr lang="ar-EG" dirty="0"/>
              <a:t>تعديل النص</a:t>
            </a:r>
            <a:endParaRPr lang="en-US" dirty="0"/>
          </a:p>
        </p:txBody>
      </p:sp>
      <p:sp>
        <p:nvSpPr>
          <p:cNvPr id="23" name="Text Placeholder 19"/>
          <p:cNvSpPr>
            <a:spLocks noGrp="1"/>
          </p:cNvSpPr>
          <p:nvPr>
            <p:ph type="body" sz="quarter" idx="29" hasCustomPrompt="1"/>
          </p:nvPr>
        </p:nvSpPr>
        <p:spPr>
          <a:xfrm>
            <a:off x="9183408" y="5161763"/>
            <a:ext cx="2167364" cy="728662"/>
          </a:xfrm>
        </p:spPr>
        <p:txBody>
          <a:bodyPr>
            <a:normAutofit/>
          </a:bodyPr>
          <a:lstStyle>
            <a:lvl1pPr marL="0" indent="0" algn="ctr">
              <a:buNone/>
              <a:defRPr sz="1600"/>
            </a:lvl1pPr>
          </a:lstStyle>
          <a:p>
            <a:pPr lvl="0"/>
            <a:r>
              <a:rPr lang="ar-EG" dirty="0"/>
              <a:t>تعديل النص</a:t>
            </a:r>
            <a:endParaRPr lang="en-US" dirty="0"/>
          </a:p>
        </p:txBody>
      </p:sp>
      <p:sp>
        <p:nvSpPr>
          <p:cNvPr id="27" name="Rectangle 26"/>
          <p:cNvSpPr/>
          <p:nvPr userDrawn="1"/>
        </p:nvSpPr>
        <p:spPr>
          <a:xfrm>
            <a:off x="980989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8" name="Rectangle 27"/>
          <p:cNvSpPr/>
          <p:nvPr userDrawn="1"/>
        </p:nvSpPr>
        <p:spPr>
          <a:xfrm>
            <a:off x="7058422"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p:cNvSpPr/>
          <p:nvPr userDrawn="1"/>
        </p:nvSpPr>
        <p:spPr>
          <a:xfrm>
            <a:off x="428314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0" name="Rectangle 29"/>
          <p:cNvSpPr/>
          <p:nvPr userDrawn="1"/>
        </p:nvSpPr>
        <p:spPr>
          <a:xfrm>
            <a:off x="1492957"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51455269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Content Placeholder 2"/>
          <p:cNvSpPr>
            <a:spLocks noGrp="1"/>
          </p:cNvSpPr>
          <p:nvPr>
            <p:ph sz="half" idx="1" hasCustomPrompt="1"/>
          </p:nvPr>
        </p:nvSpPr>
        <p:spPr>
          <a:xfrm>
            <a:off x="838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Content Placeholder 3"/>
          <p:cNvSpPr>
            <a:spLocks noGrp="1"/>
          </p:cNvSpPr>
          <p:nvPr>
            <p:ph sz="half" idx="2" hasCustomPrompt="1"/>
          </p:nvPr>
        </p:nvSpPr>
        <p:spPr>
          <a:xfrm>
            <a:off x="6172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35BB4A2A-1A89-4F2B-96A8-6DC5A8475B0F}" type="datetime1">
              <a:rPr lang="en-US" smtClean="0"/>
              <a:t>9/12/2024</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55377634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400233" y="6367630"/>
            <a:ext cx="3691931" cy="365125"/>
          </a:xfrm>
          <a:prstGeom prst="rect">
            <a:avLst/>
          </a:prstGeom>
        </p:spPr>
        <p:txBody>
          <a:bodyPr/>
          <a:lstStyle/>
          <a:p>
            <a:endParaRPr lang="en-US"/>
          </a:p>
        </p:txBody>
      </p:sp>
      <p:sp>
        <p:nvSpPr>
          <p:cNvPr id="4" name="Slide Number Placeholder 6"/>
          <p:cNvSpPr>
            <a:spLocks noGrp="1"/>
          </p:cNvSpPr>
          <p:nvPr>
            <p:ph type="sldNum" sz="quarter" idx="12"/>
          </p:nvPr>
        </p:nvSpPr>
        <p:spPr>
          <a:xfrm>
            <a:off x="621453" y="6390919"/>
            <a:ext cx="320040" cy="320040"/>
          </a:xfrm>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162529283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Absolute">
    <p:spTree>
      <p:nvGrpSpPr>
        <p:cNvPr id="1" name=""/>
        <p:cNvGrpSpPr/>
        <p:nvPr/>
      </p:nvGrpSpPr>
      <p:grpSpPr>
        <a:xfrm>
          <a:off x="0" y="0"/>
          <a:ext cx="0" cy="0"/>
          <a:chOff x="0" y="0"/>
          <a:chExt cx="0" cy="0"/>
        </a:xfrm>
      </p:grpSpPr>
    </p:spTree>
    <p:extLst>
      <p:ext uri="{BB962C8B-B14F-4D97-AF65-F5344CB8AC3E}">
        <p14:creationId xmlns:p14="http://schemas.microsoft.com/office/powerpoint/2010/main" val="8359586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796" y="979084"/>
            <a:ext cx="3932237" cy="1078316"/>
          </a:xfrm>
        </p:spPr>
        <p:txBody>
          <a:bodyPr anchor="b"/>
          <a:lstStyle>
            <a:lvl1pPr algn="r">
              <a:defRPr sz="3200"/>
            </a:lvl1pPr>
          </a:lstStyle>
          <a:p>
            <a:r>
              <a:rPr lang="ar-EG" dirty="0"/>
              <a:t>اضغط لتغيير العنوان</a:t>
            </a:r>
            <a:endParaRPr lang="en-US" dirty="0"/>
          </a:p>
        </p:txBody>
      </p:sp>
      <p:sp>
        <p:nvSpPr>
          <p:cNvPr id="3" name="Content Placeholder 2"/>
          <p:cNvSpPr>
            <a:spLocks noGrp="1"/>
          </p:cNvSpPr>
          <p:nvPr>
            <p:ph idx="1" hasCustomPrompt="1"/>
          </p:nvPr>
        </p:nvSpPr>
        <p:spPr>
          <a:xfrm>
            <a:off x="838200"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Text Placeholder 3"/>
          <p:cNvSpPr>
            <a:spLocks noGrp="1"/>
          </p:cNvSpPr>
          <p:nvPr>
            <p:ph type="body" sz="half" idx="2" hasCustomPrompt="1"/>
          </p:nvPr>
        </p:nvSpPr>
        <p:spPr>
          <a:xfrm>
            <a:off x="7428796"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D6CC213-28D1-4DA6-A99B-8EB8EB359378}" type="datetime1">
              <a:rPr lang="en-US" smtClean="0"/>
              <a:t>9/12/2024</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9670408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852" y="1002415"/>
            <a:ext cx="3932237" cy="1010014"/>
          </a:xfrm>
        </p:spPr>
        <p:txBody>
          <a:bodyPr anchor="b" anchorCtr="0"/>
          <a:lstStyle>
            <a:lvl1pPr algn="r">
              <a:defRPr sz="3200"/>
            </a:lvl1pPr>
          </a:lstStyle>
          <a:p>
            <a:r>
              <a:rPr lang="ar-EG" dirty="0"/>
              <a:t>اضغط لتغيير العنوان</a:t>
            </a:r>
            <a:endParaRPr lang="en-US" dirty="0"/>
          </a:p>
        </p:txBody>
      </p:sp>
      <p:sp>
        <p:nvSpPr>
          <p:cNvPr id="3" name="Picture Placeholder 2"/>
          <p:cNvSpPr>
            <a:spLocks noGrp="1"/>
          </p:cNvSpPr>
          <p:nvPr>
            <p:ph type="pic" idx="1" hasCustomPrompt="1"/>
          </p:nvPr>
        </p:nvSpPr>
        <p:spPr>
          <a:xfrm>
            <a:off x="851806"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EG" dirty="0"/>
              <a:t>اضغط على الأيقونة لإضافة صورة</a:t>
            </a:r>
            <a:endParaRPr lang="en-US" dirty="0"/>
          </a:p>
        </p:txBody>
      </p:sp>
      <p:sp>
        <p:nvSpPr>
          <p:cNvPr id="4" name="Text Placeholder 3"/>
          <p:cNvSpPr>
            <a:spLocks noGrp="1"/>
          </p:cNvSpPr>
          <p:nvPr>
            <p:ph type="body" sz="half" idx="2" hasCustomPrompt="1"/>
          </p:nvPr>
        </p:nvSpPr>
        <p:spPr>
          <a:xfrm>
            <a:off x="7428852" y="2057400"/>
            <a:ext cx="391724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F371FAE-8BEF-45E3-BB4F-0DA630E7BA88}" type="datetime1">
              <a:rPr lang="en-US" smtClean="0"/>
              <a:t>9/12/2024</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286081628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17" name="Picture 16" descr="A blue square with white and blue text&#10;&#10;Description automatically generated">
            <a:extLst>
              <a:ext uri="{FF2B5EF4-FFF2-40B4-BE49-F238E27FC236}">
                <a16:creationId xmlns:a16="http://schemas.microsoft.com/office/drawing/2014/main" id="{06F6661A-8164-8ED8-2B47-BE90673565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35616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extLst>
    <p:ext uri="{DCECCB84-F9BA-43D5-87BE-67443E8EF086}">
      <p15:sldGuideLst xmlns:p15="http://schemas.microsoft.com/office/powerpoint/2012/main">
        <p15:guide id="1" pos="5568">
          <p15:clr>
            <a:srgbClr val="FBAE40"/>
          </p15:clr>
        </p15:guide>
        <p15:guide id="2" pos="2112">
          <p15:clr>
            <a:srgbClr val="FBAE40"/>
          </p15:clr>
        </p15:guide>
        <p15:guide id="3" orient="horz" pos="1992" userDrawn="1">
          <p15:clr>
            <a:srgbClr val="FBAE40"/>
          </p15:clr>
        </p15:guide>
        <p15:guide id="4" orient="horz" pos="22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showMasterPhAnim="0" userDrawn="1">
  <p:cSld name="2_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9/12/2024</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797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942982A0-0E12-0CD0-BD26-CCB3496D9500}"/>
              </a:ext>
            </a:extLst>
          </p:cNvPr>
          <p:cNvSpPr/>
          <p:nvPr userDrawn="1"/>
        </p:nvSpPr>
        <p:spPr>
          <a:xfrm>
            <a:off x="426720" y="377261"/>
            <a:ext cx="11338560" cy="57690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Freeform: Shape 32">
            <a:extLst>
              <a:ext uri="{FF2B5EF4-FFF2-40B4-BE49-F238E27FC236}">
                <a16:creationId xmlns:a16="http://schemas.microsoft.com/office/drawing/2014/main" id="{54EA71BE-3CCC-4CFA-DB3E-DFC159419FAF}"/>
              </a:ext>
            </a:extLst>
          </p:cNvPr>
          <p:cNvSpPr/>
          <p:nvPr userDrawn="1"/>
        </p:nvSpPr>
        <p:spPr>
          <a:xfrm rot="10800000" flipV="1">
            <a:off x="619123" y="216443"/>
            <a:ext cx="439704" cy="531176"/>
          </a:xfrm>
          <a:custGeom>
            <a:avLst/>
            <a:gdLst>
              <a:gd name="connsiteX0" fmla="*/ 0 w 439704"/>
              <a:gd name="connsiteY0" fmla="*/ 531176 h 531176"/>
              <a:gd name="connsiteX1" fmla="*/ 439704 w 439704"/>
              <a:gd name="connsiteY1" fmla="*/ 388308 h 531176"/>
              <a:gd name="connsiteX2" fmla="*/ 439704 w 439704"/>
              <a:gd name="connsiteY2" fmla="*/ 0 h 531176"/>
              <a:gd name="connsiteX3" fmla="*/ 0 w 439704"/>
              <a:gd name="connsiteY3" fmla="*/ 0 h 531176"/>
            </a:gdLst>
            <a:ahLst/>
            <a:cxnLst>
              <a:cxn ang="0">
                <a:pos x="connsiteX0" y="connsiteY0"/>
              </a:cxn>
              <a:cxn ang="0">
                <a:pos x="connsiteX1" y="connsiteY1"/>
              </a:cxn>
              <a:cxn ang="0">
                <a:pos x="connsiteX2" y="connsiteY2"/>
              </a:cxn>
              <a:cxn ang="0">
                <a:pos x="connsiteX3" y="connsiteY3"/>
              </a:cxn>
            </a:cxnLst>
            <a:rect l="l" t="t" r="r" b="b"/>
            <a:pathLst>
              <a:path w="439704" h="531176">
                <a:moveTo>
                  <a:pt x="0" y="531176"/>
                </a:moveTo>
                <a:lnTo>
                  <a:pt x="439704" y="388308"/>
                </a:lnTo>
                <a:lnTo>
                  <a:pt x="439704" y="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le Placeholder 1"/>
          <p:cNvSpPr>
            <a:spLocks noGrp="1"/>
          </p:cNvSpPr>
          <p:nvPr userDrawn="1">
            <p:ph type="title"/>
          </p:nvPr>
        </p:nvSpPr>
        <p:spPr>
          <a:xfrm>
            <a:off x="609601" y="561078"/>
            <a:ext cx="10972800" cy="666261"/>
          </a:xfrm>
          <a:prstGeom prst="rect">
            <a:avLst/>
          </a:prstGeom>
        </p:spPr>
        <p:txBody>
          <a:bodyPr vert="horz" lIns="91440" tIns="45720" rIns="0" bIns="45720" rtlCol="0" anchor="ctr" anchorCtr="0">
            <a:noAutofit/>
          </a:bodyPr>
          <a:lstStyle/>
          <a:p>
            <a:r>
              <a:rPr lang="ar-EG" dirty="0"/>
              <a:t>اضغط لتغيير العنوان</a:t>
            </a:r>
            <a:endParaRPr lang="en-US" dirty="0"/>
          </a:p>
        </p:txBody>
      </p:sp>
      <p:sp>
        <p:nvSpPr>
          <p:cNvPr id="3" name="Text Placeholder 2"/>
          <p:cNvSpPr>
            <a:spLocks noGrp="1"/>
          </p:cNvSpPr>
          <p:nvPr userDrawn="1">
            <p:ph type="body" idx="1"/>
          </p:nvPr>
        </p:nvSpPr>
        <p:spPr>
          <a:xfrm>
            <a:off x="609600" y="1333501"/>
            <a:ext cx="10972800" cy="4812768"/>
          </a:xfrm>
          <a:prstGeom prst="rect">
            <a:avLst/>
          </a:prstGeom>
        </p:spPr>
        <p:txBody>
          <a:bodyPr vert="horz" lIns="91440" tIns="45720" rIns="0" bIns="45720" rtlCol="0">
            <a:normAutofit/>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pic>
        <p:nvPicPr>
          <p:cNvPr id="5" name="Picture 4">
            <a:extLst>
              <a:ext uri="{FF2B5EF4-FFF2-40B4-BE49-F238E27FC236}">
                <a16:creationId xmlns:a16="http://schemas.microsoft.com/office/drawing/2014/main" id="{A0BE4E69-AE0B-085D-5A16-9A00D7D75383}"/>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9105642" y="6335328"/>
            <a:ext cx="2464906" cy="36576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userDrawn="1">
            <p:ph type="sldNum" sz="quarter" idx="4"/>
          </p:nvPr>
        </p:nvSpPr>
        <p:spPr>
          <a:xfrm>
            <a:off x="621452" y="6358188"/>
            <a:ext cx="437375" cy="320040"/>
          </a:xfrm>
          <a:prstGeom prst="rect">
            <a:avLst/>
          </a:prstGeom>
          <a:noFill/>
          <a:ln>
            <a:noFill/>
          </a:ln>
        </p:spPr>
        <p:txBody>
          <a:bodyPr vert="horz" lIns="0" tIns="0" rIns="0" bIns="0" rtlCol="0" anchor="ctr"/>
          <a:lstStyle>
            <a:lvl1pPr algn="ctr">
              <a:defRPr lang="en-US" sz="1400" b="1" smtClean="0">
                <a:solidFill>
                  <a:schemeClr val="accent1"/>
                </a:solidFill>
              </a:defRPr>
            </a:lvl1pPr>
          </a:lstStyle>
          <a:p>
            <a:pPr rtl="1"/>
            <a:r>
              <a:rPr lang="en-GB"/>
              <a:t>#</a:t>
            </a:r>
            <a:endParaRPr lang="en-GB" dirty="0"/>
          </a:p>
        </p:txBody>
      </p:sp>
    </p:spTree>
    <p:extLst>
      <p:ext uri="{BB962C8B-B14F-4D97-AF65-F5344CB8AC3E}">
        <p14:creationId xmlns:p14="http://schemas.microsoft.com/office/powerpoint/2010/main" val="1743026089"/>
      </p:ext>
    </p:extLst>
  </p:cSld>
  <p:clrMap bg1="lt1" tx1="dk1" bg2="lt2" tx2="dk2" accent1="accent1" accent2="accent2" accent3="accent3" accent4="accent4" accent5="accent5" accent6="accent6" hlink="hlink" folHlink="folHlink"/>
  <p:sldLayoutIdLst>
    <p:sldLayoutId id="2147483742" r:id="rId1"/>
    <p:sldLayoutId id="2147483705" r:id="rId2"/>
    <p:sldLayoutId id="2147483749" r:id="rId3"/>
    <p:sldLayoutId id="2147483744" r:id="rId4"/>
    <p:sldLayoutId id="2147483730" r:id="rId5"/>
    <p:sldLayoutId id="2147483741" r:id="rId6"/>
    <p:sldLayoutId id="2147483707" r:id="rId7"/>
    <p:sldLayoutId id="2147483710" r:id="rId8"/>
    <p:sldLayoutId id="2147483711" r:id="rId9"/>
    <p:sldLayoutId id="2147483712" r:id="rId10"/>
    <p:sldLayoutId id="2147483713" r:id="rId11"/>
    <p:sldLayoutId id="2147483715" r:id="rId12"/>
    <p:sldLayoutId id="2147483740" r:id="rId13"/>
    <p:sldLayoutId id="2147483718" r:id="rId14"/>
    <p:sldLayoutId id="2147483719" r:id="rId15"/>
    <p:sldLayoutId id="2147483725" r:id="rId16"/>
    <p:sldLayoutId id="2147483728" r:id="rId17"/>
    <p:sldLayoutId id="2147483735" r:id="rId18"/>
    <p:sldLayoutId id="2147483736" r:id="rId19"/>
    <p:sldLayoutId id="2147483737" r:id="rId20"/>
    <p:sldLayoutId id="2147483738" r:id="rId21"/>
    <p:sldLayoutId id="2147483739" r:id="rId22"/>
    <p:sldLayoutId id="2147483750" r:id="rId2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hdr="0" ftr="0" dt="0"/>
  <p:txStyles>
    <p:title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2000" kern="1200">
          <a:solidFill>
            <a:schemeClr val="tx1">
              <a:lumMod val="85000"/>
              <a:lumOff val="1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6" pos="7296" userDrawn="1">
          <p15:clr>
            <a:srgbClr val="F26B43"/>
          </p15:clr>
        </p15:guide>
        <p15:guide id="7" orient="horz" pos="840" userDrawn="1">
          <p15:clr>
            <a:srgbClr val="F26B43"/>
          </p15:clr>
        </p15:guide>
        <p15:guide id="10" pos="384" userDrawn="1">
          <p15:clr>
            <a:srgbClr val="F26B43"/>
          </p15:clr>
        </p15:guide>
        <p15:guide id="11"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17.xml"/><Relationship Id="rId3" Type="http://schemas.openxmlformats.org/officeDocument/2006/relationships/slide" Target="slide10.xml"/><Relationship Id="rId7" Type="http://schemas.openxmlformats.org/officeDocument/2006/relationships/slide" Target="slide9.xml"/><Relationship Id="rId12" Type="http://schemas.openxmlformats.org/officeDocument/2006/relationships/slide" Target="slide16.xml"/><Relationship Id="rId2" Type="http://schemas.openxmlformats.org/officeDocument/2006/relationships/slide" Target="slide6.xml"/><Relationship Id="rId1" Type="http://schemas.openxmlformats.org/officeDocument/2006/relationships/slideLayout" Target="../slideLayouts/slideLayout23.xml"/><Relationship Id="rId6" Type="http://schemas.openxmlformats.org/officeDocument/2006/relationships/slide" Target="slide8.xml"/><Relationship Id="rId11" Type="http://schemas.openxmlformats.org/officeDocument/2006/relationships/slide" Target="slide15.xml"/><Relationship Id="rId5" Type="http://schemas.openxmlformats.org/officeDocument/2006/relationships/slide" Target="slide19.xml"/><Relationship Id="rId15" Type="http://schemas.openxmlformats.org/officeDocument/2006/relationships/slide" Target="slide14.xml"/><Relationship Id="rId10" Type="http://schemas.openxmlformats.org/officeDocument/2006/relationships/slide" Target="slide13.xml"/><Relationship Id="rId4" Type="http://schemas.openxmlformats.org/officeDocument/2006/relationships/slide" Target="slide7.xml"/><Relationship Id="rId9" Type="http://schemas.openxmlformats.org/officeDocument/2006/relationships/slide" Target="slide12.xml"/><Relationship Id="rId14" Type="http://schemas.openxmlformats.org/officeDocument/2006/relationships/slide" Target="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7.sv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0779" y="3313216"/>
            <a:ext cx="5951622" cy="1640849"/>
          </a:xfrm>
        </p:spPr>
        <p:txBody>
          <a:bodyPr/>
          <a:lstStyle/>
          <a:p>
            <a:pPr>
              <a:lnSpc>
                <a:spcPct val="125000"/>
              </a:lnSpc>
            </a:pPr>
            <a:r>
              <a:rPr lang="ar-EG" dirty="0"/>
              <a:t>مشروع تأسيس وتنفيذ وتشغيل البنية المؤسسية في هيئة تقويم التعليم و التدريب</a:t>
            </a:r>
            <a:r>
              <a:rPr lang="ar-SA" dirty="0"/>
              <a:t> –</a:t>
            </a:r>
            <a:br>
              <a:rPr lang="ar-SA" dirty="0"/>
            </a:br>
            <a:r>
              <a:rPr lang="ar-SA" dirty="0"/>
              <a:t> </a:t>
            </a:r>
            <a:r>
              <a:rPr lang="ar-EG" dirty="0"/>
              <a:t>وثيقة متطلبات البنية المؤسسية</a:t>
            </a:r>
            <a:endParaRPr lang="en-US" dirty="0"/>
          </a:p>
        </p:txBody>
      </p:sp>
      <p:sp>
        <p:nvSpPr>
          <p:cNvPr id="3" name="Subtitle 2"/>
          <p:cNvSpPr>
            <a:spLocks noGrp="1"/>
          </p:cNvSpPr>
          <p:nvPr>
            <p:ph type="subTitle" idx="1"/>
          </p:nvPr>
        </p:nvSpPr>
        <p:spPr/>
        <p:txBody>
          <a:bodyPr>
            <a:normAutofit/>
          </a:bodyPr>
          <a:lstStyle/>
          <a:p>
            <a:r>
              <a:rPr lang="ar-SA" dirty="0"/>
              <a:t>أغسطس 2024</a:t>
            </a:r>
            <a:endParaRPr lang="ar-EG" dirty="0"/>
          </a:p>
        </p:txBody>
      </p:sp>
    </p:spTree>
    <p:extLst>
      <p:ext uri="{BB962C8B-B14F-4D97-AF65-F5344CB8AC3E}">
        <p14:creationId xmlns:p14="http://schemas.microsoft.com/office/powerpoint/2010/main" val="2428133689"/>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شروط استخدام الوثيقة</a:t>
            </a:r>
            <a:endParaRPr lang="en-US" dirty="0"/>
          </a:p>
        </p:txBody>
      </p:sp>
      <p:sp>
        <p:nvSpPr>
          <p:cNvPr id="15" name="Rectangle 14">
            <a:extLst>
              <a:ext uri="{FF2B5EF4-FFF2-40B4-BE49-F238E27FC236}">
                <a16:creationId xmlns:a16="http://schemas.microsoft.com/office/drawing/2014/main" id="{7B21A5CB-82AC-F540-2F06-31E6BF4F283A}"/>
              </a:ext>
            </a:extLst>
          </p:cNvPr>
          <p:cNvSpPr/>
          <p:nvPr/>
        </p:nvSpPr>
        <p:spPr>
          <a:xfrm>
            <a:off x="2011680" y="2396756"/>
            <a:ext cx="7202276" cy="1730999"/>
          </a:xfrm>
          <a:prstGeom prst="rect">
            <a:avLst/>
          </a:prstGeom>
        </p:spPr>
        <p:txBody>
          <a:bodyPr anchor="ctr" anchorCtr="0">
            <a:normAutofit lnSpcReduction="10000"/>
          </a:bodyPr>
          <a:lstStyle/>
          <a:p>
            <a:pPr algn="r" rtl="1">
              <a:lnSpc>
                <a:spcPct val="150000"/>
              </a:lnSpc>
              <a:spcAft>
                <a:spcPts val="1200"/>
              </a:spcAft>
            </a:pPr>
            <a:r>
              <a:rPr lang="ar-EG" sz="2400" dirty="0"/>
              <a:t>إن هذه الوثيقة ومحتوياتها هي ملك لهيئة تقويم التعليم والتدريب ولا يجوز نسخها أو الكشف عنها أو تداولها دون الحصول على موافقة كتابية محددة من الهيئة، ويحظر تماما أي استخدام آخر غير الغرض الذي تم إعدادها من أجله.</a:t>
            </a:r>
          </a:p>
        </p:txBody>
      </p:sp>
      <p:grpSp>
        <p:nvGrpSpPr>
          <p:cNvPr id="28" name="Group 27">
            <a:extLst>
              <a:ext uri="{FF2B5EF4-FFF2-40B4-BE49-F238E27FC236}">
                <a16:creationId xmlns:a16="http://schemas.microsoft.com/office/drawing/2014/main" id="{D7350C88-B1EB-C1D4-7BA4-A1A2D371B40C}"/>
              </a:ext>
            </a:extLst>
          </p:cNvPr>
          <p:cNvGrpSpPr>
            <a:grpSpLocks noChangeAspect="1"/>
          </p:cNvGrpSpPr>
          <p:nvPr/>
        </p:nvGrpSpPr>
        <p:grpSpPr>
          <a:xfrm>
            <a:off x="9864957" y="2512209"/>
            <a:ext cx="1256429" cy="1483283"/>
            <a:chOff x="3290888" y="152400"/>
            <a:chExt cx="1600201" cy="1889125"/>
          </a:xfrm>
          <a:solidFill>
            <a:schemeClr val="accent1"/>
          </a:solidFill>
        </p:grpSpPr>
        <p:sp>
          <p:nvSpPr>
            <p:cNvPr id="29" name="Freeform 191">
              <a:extLst>
                <a:ext uri="{FF2B5EF4-FFF2-40B4-BE49-F238E27FC236}">
                  <a16:creationId xmlns:a16="http://schemas.microsoft.com/office/drawing/2014/main" id="{13DD340A-D508-6019-028E-387DF741F95E}"/>
                </a:ext>
              </a:extLst>
            </p:cNvPr>
            <p:cNvSpPr>
              <a:spLocks noEditPoints="1"/>
            </p:cNvSpPr>
            <p:nvPr/>
          </p:nvSpPr>
          <p:spPr bwMode="auto">
            <a:xfrm>
              <a:off x="3290888" y="152400"/>
              <a:ext cx="1427163" cy="1889125"/>
            </a:xfrm>
            <a:custGeom>
              <a:avLst/>
              <a:gdLst>
                <a:gd name="T0" fmla="*/ 320 w 6064"/>
                <a:gd name="T1" fmla="*/ 57 h 8032"/>
                <a:gd name="T2" fmla="*/ 157 w 6064"/>
                <a:gd name="T3" fmla="*/ 172 h 8032"/>
                <a:gd name="T4" fmla="*/ 44 w 6064"/>
                <a:gd name="T5" fmla="*/ 335 h 8032"/>
                <a:gd name="T6" fmla="*/ 17 w 6064"/>
                <a:gd name="T7" fmla="*/ 432 h 8032"/>
                <a:gd name="T8" fmla="*/ 0 w 6064"/>
                <a:gd name="T9" fmla="*/ 4016 h 8032"/>
                <a:gd name="T10" fmla="*/ 10 w 6064"/>
                <a:gd name="T11" fmla="*/ 7503 h 8032"/>
                <a:gd name="T12" fmla="*/ 33 w 6064"/>
                <a:gd name="T13" fmla="*/ 7672 h 8032"/>
                <a:gd name="T14" fmla="*/ 96 w 6064"/>
                <a:gd name="T15" fmla="*/ 7785 h 8032"/>
                <a:gd name="T16" fmla="*/ 210 w 6064"/>
                <a:gd name="T17" fmla="*/ 7905 h 8032"/>
                <a:gd name="T18" fmla="*/ 325 w 6064"/>
                <a:gd name="T19" fmla="*/ 7977 h 8032"/>
                <a:gd name="T20" fmla="*/ 4658 w 6064"/>
                <a:gd name="T21" fmla="*/ 8032 h 8032"/>
                <a:gd name="T22" fmla="*/ 4443 w 6064"/>
                <a:gd name="T23" fmla="*/ 7886 h 8032"/>
                <a:gd name="T24" fmla="*/ 4284 w 6064"/>
                <a:gd name="T25" fmla="*/ 7864 h 8032"/>
                <a:gd name="T26" fmla="*/ 458 w 6064"/>
                <a:gd name="T27" fmla="*/ 7841 h 8032"/>
                <a:gd name="T28" fmla="*/ 305 w 6064"/>
                <a:gd name="T29" fmla="*/ 7743 h 8032"/>
                <a:gd name="T30" fmla="*/ 205 w 6064"/>
                <a:gd name="T31" fmla="*/ 7604 h 8032"/>
                <a:gd name="T32" fmla="*/ 189 w 6064"/>
                <a:gd name="T33" fmla="*/ 6936 h 8032"/>
                <a:gd name="T34" fmla="*/ 189 w 6064"/>
                <a:gd name="T35" fmla="*/ 1096 h 8032"/>
                <a:gd name="T36" fmla="*/ 205 w 6064"/>
                <a:gd name="T37" fmla="*/ 427 h 8032"/>
                <a:gd name="T38" fmla="*/ 305 w 6064"/>
                <a:gd name="T39" fmla="*/ 288 h 8032"/>
                <a:gd name="T40" fmla="*/ 458 w 6064"/>
                <a:gd name="T41" fmla="*/ 191 h 8032"/>
                <a:gd name="T42" fmla="*/ 3626 w 6064"/>
                <a:gd name="T43" fmla="*/ 241 h 8032"/>
                <a:gd name="T44" fmla="*/ 3716 w 6064"/>
                <a:gd name="T45" fmla="*/ 317 h 8032"/>
                <a:gd name="T46" fmla="*/ 3808 w 6064"/>
                <a:gd name="T47" fmla="*/ 454 h 8032"/>
                <a:gd name="T48" fmla="*/ 3880 w 6064"/>
                <a:gd name="T49" fmla="*/ 1736 h 8032"/>
                <a:gd name="T50" fmla="*/ 4027 w 6064"/>
                <a:gd name="T51" fmla="*/ 1928 h 8032"/>
                <a:gd name="T52" fmla="*/ 4175 w 6064"/>
                <a:gd name="T53" fmla="*/ 2017 h 8032"/>
                <a:gd name="T54" fmla="*/ 4908 w 6064"/>
                <a:gd name="T55" fmla="*/ 2049 h 8032"/>
                <a:gd name="T56" fmla="*/ 5569 w 6064"/>
                <a:gd name="T57" fmla="*/ 2066 h 8032"/>
                <a:gd name="T58" fmla="*/ 5687 w 6064"/>
                <a:gd name="T59" fmla="*/ 2110 h 8032"/>
                <a:gd name="T60" fmla="*/ 5814 w 6064"/>
                <a:gd name="T61" fmla="*/ 2244 h 8032"/>
                <a:gd name="T62" fmla="*/ 5848 w 6064"/>
                <a:gd name="T63" fmla="*/ 2319 h 8032"/>
                <a:gd name="T64" fmla="*/ 5866 w 6064"/>
                <a:gd name="T65" fmla="*/ 2870 h 8032"/>
                <a:gd name="T66" fmla="*/ 5955 w 6064"/>
                <a:gd name="T67" fmla="*/ 5146 h 8032"/>
                <a:gd name="T68" fmla="*/ 6057 w 6064"/>
                <a:gd name="T69" fmla="*/ 5162 h 8032"/>
                <a:gd name="T70" fmla="*/ 6063 w 6064"/>
                <a:gd name="T71" fmla="*/ 3744 h 8032"/>
                <a:gd name="T72" fmla="*/ 5995 w 6064"/>
                <a:gd name="T73" fmla="*/ 2178 h 8032"/>
                <a:gd name="T74" fmla="*/ 5887 w 6064"/>
                <a:gd name="T75" fmla="*/ 2042 h 8032"/>
                <a:gd name="T76" fmla="*/ 5221 w 6064"/>
                <a:gd name="T77" fmla="*/ 1422 h 8032"/>
                <a:gd name="T78" fmla="*/ 3752 w 6064"/>
                <a:gd name="T79" fmla="*/ 93 h 8032"/>
                <a:gd name="T80" fmla="*/ 3659 w 6064"/>
                <a:gd name="T81" fmla="*/ 42 h 8032"/>
                <a:gd name="T82" fmla="*/ 3224 w 6064"/>
                <a:gd name="T83" fmla="*/ 3 h 8032"/>
                <a:gd name="T84" fmla="*/ 1235 w 6064"/>
                <a:gd name="T85" fmla="*/ 1 h 8032"/>
                <a:gd name="T86" fmla="*/ 415 w 6064"/>
                <a:gd name="T87" fmla="*/ 22 h 8032"/>
                <a:gd name="T88" fmla="*/ 4873 w 6064"/>
                <a:gd name="T89" fmla="*/ 1862 h 8032"/>
                <a:gd name="T90" fmla="*/ 4286 w 6064"/>
                <a:gd name="T91" fmla="*/ 1854 h 8032"/>
                <a:gd name="T92" fmla="*/ 4173 w 6064"/>
                <a:gd name="T93" fmla="*/ 1803 h 8032"/>
                <a:gd name="T94" fmla="*/ 4045 w 6064"/>
                <a:gd name="T95" fmla="*/ 1661 h 8032"/>
                <a:gd name="T96" fmla="*/ 4009 w 6064"/>
                <a:gd name="T97" fmla="*/ 1467 h 8032"/>
                <a:gd name="T98" fmla="*/ 4001 w 6064"/>
                <a:gd name="T99" fmla="*/ 869 h 8032"/>
                <a:gd name="T100" fmla="*/ 4013 w 6064"/>
                <a:gd name="T101" fmla="*/ 584 h 8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064" h="8032">
                  <a:moveTo>
                    <a:pt x="415" y="22"/>
                  </a:moveTo>
                  <a:lnTo>
                    <a:pt x="382" y="32"/>
                  </a:lnTo>
                  <a:lnTo>
                    <a:pt x="320" y="57"/>
                  </a:lnTo>
                  <a:lnTo>
                    <a:pt x="262" y="89"/>
                  </a:lnTo>
                  <a:lnTo>
                    <a:pt x="207" y="127"/>
                  </a:lnTo>
                  <a:lnTo>
                    <a:pt x="157" y="172"/>
                  </a:lnTo>
                  <a:lnTo>
                    <a:pt x="113" y="221"/>
                  </a:lnTo>
                  <a:lnTo>
                    <a:pt x="75" y="276"/>
                  </a:lnTo>
                  <a:lnTo>
                    <a:pt x="44" y="335"/>
                  </a:lnTo>
                  <a:lnTo>
                    <a:pt x="31" y="366"/>
                  </a:lnTo>
                  <a:lnTo>
                    <a:pt x="26" y="381"/>
                  </a:lnTo>
                  <a:lnTo>
                    <a:pt x="17" y="432"/>
                  </a:lnTo>
                  <a:lnTo>
                    <a:pt x="7" y="619"/>
                  </a:lnTo>
                  <a:lnTo>
                    <a:pt x="0" y="1830"/>
                  </a:lnTo>
                  <a:lnTo>
                    <a:pt x="0" y="4016"/>
                  </a:lnTo>
                  <a:lnTo>
                    <a:pt x="0" y="6238"/>
                  </a:lnTo>
                  <a:lnTo>
                    <a:pt x="6" y="7301"/>
                  </a:lnTo>
                  <a:lnTo>
                    <a:pt x="10" y="7503"/>
                  </a:lnTo>
                  <a:lnTo>
                    <a:pt x="17" y="7608"/>
                  </a:lnTo>
                  <a:lnTo>
                    <a:pt x="27" y="7656"/>
                  </a:lnTo>
                  <a:lnTo>
                    <a:pt x="33" y="7672"/>
                  </a:lnTo>
                  <a:lnTo>
                    <a:pt x="42" y="7695"/>
                  </a:lnTo>
                  <a:lnTo>
                    <a:pt x="66" y="7741"/>
                  </a:lnTo>
                  <a:lnTo>
                    <a:pt x="96" y="7785"/>
                  </a:lnTo>
                  <a:lnTo>
                    <a:pt x="130" y="7828"/>
                  </a:lnTo>
                  <a:lnTo>
                    <a:pt x="168" y="7868"/>
                  </a:lnTo>
                  <a:lnTo>
                    <a:pt x="210" y="7905"/>
                  </a:lnTo>
                  <a:lnTo>
                    <a:pt x="255" y="7938"/>
                  </a:lnTo>
                  <a:lnTo>
                    <a:pt x="301" y="7966"/>
                  </a:lnTo>
                  <a:lnTo>
                    <a:pt x="325" y="7977"/>
                  </a:lnTo>
                  <a:lnTo>
                    <a:pt x="425" y="8024"/>
                  </a:lnTo>
                  <a:lnTo>
                    <a:pt x="2541" y="8029"/>
                  </a:lnTo>
                  <a:lnTo>
                    <a:pt x="4658" y="8032"/>
                  </a:lnTo>
                  <a:lnTo>
                    <a:pt x="4566" y="7972"/>
                  </a:lnTo>
                  <a:lnTo>
                    <a:pt x="4489" y="7920"/>
                  </a:lnTo>
                  <a:lnTo>
                    <a:pt x="4443" y="7886"/>
                  </a:lnTo>
                  <a:lnTo>
                    <a:pt x="4437" y="7881"/>
                  </a:lnTo>
                  <a:lnTo>
                    <a:pt x="4404" y="7873"/>
                  </a:lnTo>
                  <a:lnTo>
                    <a:pt x="4284" y="7864"/>
                  </a:lnTo>
                  <a:lnTo>
                    <a:pt x="3588" y="7854"/>
                  </a:lnTo>
                  <a:lnTo>
                    <a:pt x="2435" y="7849"/>
                  </a:lnTo>
                  <a:lnTo>
                    <a:pt x="458" y="7841"/>
                  </a:lnTo>
                  <a:lnTo>
                    <a:pt x="390" y="7804"/>
                  </a:lnTo>
                  <a:lnTo>
                    <a:pt x="360" y="7787"/>
                  </a:lnTo>
                  <a:lnTo>
                    <a:pt x="305" y="7743"/>
                  </a:lnTo>
                  <a:lnTo>
                    <a:pt x="257" y="7691"/>
                  </a:lnTo>
                  <a:lnTo>
                    <a:pt x="218" y="7633"/>
                  </a:lnTo>
                  <a:lnTo>
                    <a:pt x="205" y="7604"/>
                  </a:lnTo>
                  <a:lnTo>
                    <a:pt x="202" y="7583"/>
                  </a:lnTo>
                  <a:lnTo>
                    <a:pt x="196" y="7416"/>
                  </a:lnTo>
                  <a:lnTo>
                    <a:pt x="189" y="6936"/>
                  </a:lnTo>
                  <a:lnTo>
                    <a:pt x="181" y="5346"/>
                  </a:lnTo>
                  <a:lnTo>
                    <a:pt x="181" y="2685"/>
                  </a:lnTo>
                  <a:lnTo>
                    <a:pt x="189" y="1096"/>
                  </a:lnTo>
                  <a:lnTo>
                    <a:pt x="196" y="616"/>
                  </a:lnTo>
                  <a:lnTo>
                    <a:pt x="202" y="448"/>
                  </a:lnTo>
                  <a:lnTo>
                    <a:pt x="205" y="427"/>
                  </a:lnTo>
                  <a:lnTo>
                    <a:pt x="218" y="398"/>
                  </a:lnTo>
                  <a:lnTo>
                    <a:pt x="257" y="340"/>
                  </a:lnTo>
                  <a:lnTo>
                    <a:pt x="305" y="288"/>
                  </a:lnTo>
                  <a:lnTo>
                    <a:pt x="360" y="244"/>
                  </a:lnTo>
                  <a:lnTo>
                    <a:pt x="390" y="227"/>
                  </a:lnTo>
                  <a:lnTo>
                    <a:pt x="458" y="191"/>
                  </a:lnTo>
                  <a:lnTo>
                    <a:pt x="2001" y="191"/>
                  </a:lnTo>
                  <a:lnTo>
                    <a:pt x="3545" y="191"/>
                  </a:lnTo>
                  <a:lnTo>
                    <a:pt x="3626" y="241"/>
                  </a:lnTo>
                  <a:lnTo>
                    <a:pt x="3645" y="253"/>
                  </a:lnTo>
                  <a:lnTo>
                    <a:pt x="3682" y="283"/>
                  </a:lnTo>
                  <a:lnTo>
                    <a:pt x="3716" y="317"/>
                  </a:lnTo>
                  <a:lnTo>
                    <a:pt x="3746" y="354"/>
                  </a:lnTo>
                  <a:lnTo>
                    <a:pt x="3758" y="372"/>
                  </a:lnTo>
                  <a:lnTo>
                    <a:pt x="3808" y="454"/>
                  </a:lnTo>
                  <a:lnTo>
                    <a:pt x="3816" y="1039"/>
                  </a:lnTo>
                  <a:lnTo>
                    <a:pt x="3825" y="1624"/>
                  </a:lnTo>
                  <a:lnTo>
                    <a:pt x="3880" y="1736"/>
                  </a:lnTo>
                  <a:lnTo>
                    <a:pt x="3903" y="1781"/>
                  </a:lnTo>
                  <a:lnTo>
                    <a:pt x="3959" y="1861"/>
                  </a:lnTo>
                  <a:lnTo>
                    <a:pt x="4027" y="1928"/>
                  </a:lnTo>
                  <a:lnTo>
                    <a:pt x="4106" y="1983"/>
                  </a:lnTo>
                  <a:lnTo>
                    <a:pt x="4150" y="2006"/>
                  </a:lnTo>
                  <a:lnTo>
                    <a:pt x="4175" y="2017"/>
                  </a:lnTo>
                  <a:lnTo>
                    <a:pt x="4246" y="2032"/>
                  </a:lnTo>
                  <a:lnTo>
                    <a:pt x="4495" y="2044"/>
                  </a:lnTo>
                  <a:lnTo>
                    <a:pt x="4908" y="2049"/>
                  </a:lnTo>
                  <a:lnTo>
                    <a:pt x="5136" y="2052"/>
                  </a:lnTo>
                  <a:lnTo>
                    <a:pt x="5424" y="2058"/>
                  </a:lnTo>
                  <a:lnTo>
                    <a:pt x="5569" y="2066"/>
                  </a:lnTo>
                  <a:lnTo>
                    <a:pt x="5635" y="2082"/>
                  </a:lnTo>
                  <a:lnTo>
                    <a:pt x="5658" y="2094"/>
                  </a:lnTo>
                  <a:lnTo>
                    <a:pt x="5687" y="2110"/>
                  </a:lnTo>
                  <a:lnTo>
                    <a:pt x="5737" y="2147"/>
                  </a:lnTo>
                  <a:lnTo>
                    <a:pt x="5778" y="2190"/>
                  </a:lnTo>
                  <a:lnTo>
                    <a:pt x="5814" y="2244"/>
                  </a:lnTo>
                  <a:lnTo>
                    <a:pt x="5831" y="2277"/>
                  </a:lnTo>
                  <a:lnTo>
                    <a:pt x="5838" y="2290"/>
                  </a:lnTo>
                  <a:lnTo>
                    <a:pt x="5848" y="2319"/>
                  </a:lnTo>
                  <a:lnTo>
                    <a:pt x="5855" y="2367"/>
                  </a:lnTo>
                  <a:lnTo>
                    <a:pt x="5860" y="2451"/>
                  </a:lnTo>
                  <a:lnTo>
                    <a:pt x="5866" y="2870"/>
                  </a:lnTo>
                  <a:lnTo>
                    <a:pt x="5866" y="3729"/>
                  </a:lnTo>
                  <a:lnTo>
                    <a:pt x="5866" y="5109"/>
                  </a:lnTo>
                  <a:lnTo>
                    <a:pt x="5955" y="5146"/>
                  </a:lnTo>
                  <a:lnTo>
                    <a:pt x="6025" y="5174"/>
                  </a:lnTo>
                  <a:lnTo>
                    <a:pt x="6055" y="5182"/>
                  </a:lnTo>
                  <a:lnTo>
                    <a:pt x="6057" y="5162"/>
                  </a:lnTo>
                  <a:lnTo>
                    <a:pt x="6061" y="4943"/>
                  </a:lnTo>
                  <a:lnTo>
                    <a:pt x="6064" y="4320"/>
                  </a:lnTo>
                  <a:lnTo>
                    <a:pt x="6063" y="3744"/>
                  </a:lnTo>
                  <a:lnTo>
                    <a:pt x="6058" y="2307"/>
                  </a:lnTo>
                  <a:lnTo>
                    <a:pt x="6005" y="2197"/>
                  </a:lnTo>
                  <a:lnTo>
                    <a:pt x="5995" y="2178"/>
                  </a:lnTo>
                  <a:lnTo>
                    <a:pt x="5972" y="2141"/>
                  </a:lnTo>
                  <a:lnTo>
                    <a:pt x="5939" y="2098"/>
                  </a:lnTo>
                  <a:lnTo>
                    <a:pt x="5887" y="2042"/>
                  </a:lnTo>
                  <a:lnTo>
                    <a:pt x="5763" y="1920"/>
                  </a:lnTo>
                  <a:lnTo>
                    <a:pt x="5458" y="1639"/>
                  </a:lnTo>
                  <a:lnTo>
                    <a:pt x="5221" y="1422"/>
                  </a:lnTo>
                  <a:lnTo>
                    <a:pt x="4390" y="664"/>
                  </a:lnTo>
                  <a:lnTo>
                    <a:pt x="3873" y="197"/>
                  </a:lnTo>
                  <a:lnTo>
                    <a:pt x="3752" y="93"/>
                  </a:lnTo>
                  <a:lnTo>
                    <a:pt x="3730" y="79"/>
                  </a:lnTo>
                  <a:lnTo>
                    <a:pt x="3707" y="65"/>
                  </a:lnTo>
                  <a:lnTo>
                    <a:pt x="3659" y="42"/>
                  </a:lnTo>
                  <a:lnTo>
                    <a:pt x="3593" y="25"/>
                  </a:lnTo>
                  <a:lnTo>
                    <a:pt x="3487" y="13"/>
                  </a:lnTo>
                  <a:lnTo>
                    <a:pt x="3224" y="3"/>
                  </a:lnTo>
                  <a:lnTo>
                    <a:pt x="2541" y="0"/>
                  </a:lnTo>
                  <a:lnTo>
                    <a:pt x="1991" y="1"/>
                  </a:lnTo>
                  <a:lnTo>
                    <a:pt x="1235" y="1"/>
                  </a:lnTo>
                  <a:lnTo>
                    <a:pt x="633" y="8"/>
                  </a:lnTo>
                  <a:lnTo>
                    <a:pt x="447" y="16"/>
                  </a:lnTo>
                  <a:lnTo>
                    <a:pt x="415" y="22"/>
                  </a:lnTo>
                  <a:close/>
                  <a:moveTo>
                    <a:pt x="4725" y="1224"/>
                  </a:moveTo>
                  <a:lnTo>
                    <a:pt x="5421" y="1857"/>
                  </a:lnTo>
                  <a:lnTo>
                    <a:pt x="4873" y="1862"/>
                  </a:lnTo>
                  <a:lnTo>
                    <a:pt x="4633" y="1864"/>
                  </a:lnTo>
                  <a:lnTo>
                    <a:pt x="4383" y="1860"/>
                  </a:lnTo>
                  <a:lnTo>
                    <a:pt x="4286" y="1854"/>
                  </a:lnTo>
                  <a:lnTo>
                    <a:pt x="4266" y="1851"/>
                  </a:lnTo>
                  <a:lnTo>
                    <a:pt x="4236" y="1840"/>
                  </a:lnTo>
                  <a:lnTo>
                    <a:pt x="4173" y="1803"/>
                  </a:lnTo>
                  <a:lnTo>
                    <a:pt x="4113" y="1752"/>
                  </a:lnTo>
                  <a:lnTo>
                    <a:pt x="4063" y="1692"/>
                  </a:lnTo>
                  <a:lnTo>
                    <a:pt x="4045" y="1661"/>
                  </a:lnTo>
                  <a:lnTo>
                    <a:pt x="4033" y="1637"/>
                  </a:lnTo>
                  <a:lnTo>
                    <a:pt x="4017" y="1580"/>
                  </a:lnTo>
                  <a:lnTo>
                    <a:pt x="4009" y="1467"/>
                  </a:lnTo>
                  <a:lnTo>
                    <a:pt x="4005" y="1252"/>
                  </a:lnTo>
                  <a:lnTo>
                    <a:pt x="4003" y="1084"/>
                  </a:lnTo>
                  <a:lnTo>
                    <a:pt x="4001" y="869"/>
                  </a:lnTo>
                  <a:lnTo>
                    <a:pt x="4004" y="658"/>
                  </a:lnTo>
                  <a:lnTo>
                    <a:pt x="4009" y="589"/>
                  </a:lnTo>
                  <a:lnTo>
                    <a:pt x="4013" y="584"/>
                  </a:lnTo>
                  <a:lnTo>
                    <a:pt x="4181" y="731"/>
                  </a:lnTo>
                  <a:lnTo>
                    <a:pt x="4725" y="1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0" name="Freeform 192">
              <a:extLst>
                <a:ext uri="{FF2B5EF4-FFF2-40B4-BE49-F238E27FC236}">
                  <a16:creationId xmlns:a16="http://schemas.microsoft.com/office/drawing/2014/main" id="{A3C20801-CFA8-4B96-9DFA-637FBC91BF6E}"/>
                </a:ext>
              </a:extLst>
            </p:cNvPr>
            <p:cNvSpPr>
              <a:spLocks/>
            </p:cNvSpPr>
            <p:nvPr/>
          </p:nvSpPr>
          <p:spPr bwMode="auto">
            <a:xfrm>
              <a:off x="3543301" y="571500"/>
              <a:ext cx="371475" cy="44450"/>
            </a:xfrm>
            <a:custGeom>
              <a:avLst/>
              <a:gdLst>
                <a:gd name="T0" fmla="*/ 16 w 1582"/>
                <a:gd name="T1" fmla="*/ 32 h 184"/>
                <a:gd name="T2" fmla="*/ 7 w 1582"/>
                <a:gd name="T3" fmla="*/ 51 h 184"/>
                <a:gd name="T4" fmla="*/ 0 w 1582"/>
                <a:gd name="T5" fmla="*/ 87 h 184"/>
                <a:gd name="T6" fmla="*/ 5 w 1582"/>
                <a:gd name="T7" fmla="*/ 120 h 184"/>
                <a:gd name="T8" fmla="*/ 22 w 1582"/>
                <a:gd name="T9" fmla="*/ 146 h 184"/>
                <a:gd name="T10" fmla="*/ 36 w 1582"/>
                <a:gd name="T11" fmla="*/ 157 h 184"/>
                <a:gd name="T12" fmla="*/ 43 w 1582"/>
                <a:gd name="T13" fmla="*/ 161 h 184"/>
                <a:gd name="T14" fmla="*/ 64 w 1582"/>
                <a:gd name="T15" fmla="*/ 168 h 184"/>
                <a:gd name="T16" fmla="*/ 122 w 1582"/>
                <a:gd name="T17" fmla="*/ 176 h 184"/>
                <a:gd name="T18" fmla="*/ 394 w 1582"/>
                <a:gd name="T19" fmla="*/ 183 h 184"/>
                <a:gd name="T20" fmla="*/ 801 w 1582"/>
                <a:gd name="T21" fmla="*/ 184 h 184"/>
                <a:gd name="T22" fmla="*/ 1234 w 1582"/>
                <a:gd name="T23" fmla="*/ 183 h 184"/>
                <a:gd name="T24" fmla="*/ 1489 w 1582"/>
                <a:gd name="T25" fmla="*/ 176 h 184"/>
                <a:gd name="T26" fmla="*/ 1535 w 1582"/>
                <a:gd name="T27" fmla="*/ 167 h 184"/>
                <a:gd name="T28" fmla="*/ 1549 w 1582"/>
                <a:gd name="T29" fmla="*/ 159 h 184"/>
                <a:gd name="T30" fmla="*/ 1554 w 1582"/>
                <a:gd name="T31" fmla="*/ 154 h 184"/>
                <a:gd name="T32" fmla="*/ 1566 w 1582"/>
                <a:gd name="T33" fmla="*/ 139 h 184"/>
                <a:gd name="T34" fmla="*/ 1580 w 1582"/>
                <a:gd name="T35" fmla="*/ 103 h 184"/>
                <a:gd name="T36" fmla="*/ 1582 w 1582"/>
                <a:gd name="T37" fmla="*/ 65 h 184"/>
                <a:gd name="T38" fmla="*/ 1572 w 1582"/>
                <a:gd name="T39" fmla="*/ 32 h 184"/>
                <a:gd name="T40" fmla="*/ 1563 w 1582"/>
                <a:gd name="T41" fmla="*/ 20 h 184"/>
                <a:gd name="T42" fmla="*/ 1551 w 1582"/>
                <a:gd name="T43" fmla="*/ 15 h 184"/>
                <a:gd name="T44" fmla="*/ 1464 w 1582"/>
                <a:gd name="T45" fmla="*/ 7 h 184"/>
                <a:gd name="T46" fmla="*/ 1165 w 1582"/>
                <a:gd name="T47" fmla="*/ 1 h 184"/>
                <a:gd name="T48" fmla="*/ 788 w 1582"/>
                <a:gd name="T49" fmla="*/ 0 h 184"/>
                <a:gd name="T50" fmla="*/ 329 w 1582"/>
                <a:gd name="T51" fmla="*/ 1 h 184"/>
                <a:gd name="T52" fmla="*/ 71 w 1582"/>
                <a:gd name="T53" fmla="*/ 9 h 184"/>
                <a:gd name="T54" fmla="*/ 30 w 1582"/>
                <a:gd name="T55" fmla="*/ 18 h 184"/>
                <a:gd name="T56" fmla="*/ 19 w 1582"/>
                <a:gd name="T57" fmla="*/ 27 h 184"/>
                <a:gd name="T58" fmla="*/ 16 w 1582"/>
                <a:gd name="T59"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4">
                  <a:moveTo>
                    <a:pt x="16" y="32"/>
                  </a:moveTo>
                  <a:lnTo>
                    <a:pt x="7" y="51"/>
                  </a:lnTo>
                  <a:lnTo>
                    <a:pt x="0" y="87"/>
                  </a:lnTo>
                  <a:lnTo>
                    <a:pt x="5" y="120"/>
                  </a:lnTo>
                  <a:lnTo>
                    <a:pt x="22" y="146"/>
                  </a:lnTo>
                  <a:lnTo>
                    <a:pt x="36" y="157"/>
                  </a:lnTo>
                  <a:lnTo>
                    <a:pt x="43" y="161"/>
                  </a:lnTo>
                  <a:lnTo>
                    <a:pt x="64" y="168"/>
                  </a:lnTo>
                  <a:lnTo>
                    <a:pt x="122" y="176"/>
                  </a:lnTo>
                  <a:lnTo>
                    <a:pt x="394" y="183"/>
                  </a:lnTo>
                  <a:lnTo>
                    <a:pt x="801" y="184"/>
                  </a:lnTo>
                  <a:lnTo>
                    <a:pt x="1234" y="183"/>
                  </a:lnTo>
                  <a:lnTo>
                    <a:pt x="1489" y="176"/>
                  </a:lnTo>
                  <a:lnTo>
                    <a:pt x="1535" y="167"/>
                  </a:lnTo>
                  <a:lnTo>
                    <a:pt x="1549" y="159"/>
                  </a:lnTo>
                  <a:lnTo>
                    <a:pt x="1554" y="154"/>
                  </a:lnTo>
                  <a:lnTo>
                    <a:pt x="1566" y="139"/>
                  </a:lnTo>
                  <a:lnTo>
                    <a:pt x="1580" y="103"/>
                  </a:lnTo>
                  <a:lnTo>
                    <a:pt x="1582" y="65"/>
                  </a:lnTo>
                  <a:lnTo>
                    <a:pt x="1572" y="32"/>
                  </a:lnTo>
                  <a:lnTo>
                    <a:pt x="1563" y="20"/>
                  </a:lnTo>
                  <a:lnTo>
                    <a:pt x="1551" y="15"/>
                  </a:lnTo>
                  <a:lnTo>
                    <a:pt x="1464" y="7"/>
                  </a:lnTo>
                  <a:lnTo>
                    <a:pt x="1165" y="1"/>
                  </a:lnTo>
                  <a:lnTo>
                    <a:pt x="788" y="0"/>
                  </a:lnTo>
                  <a:lnTo>
                    <a:pt x="329" y="1"/>
                  </a:lnTo>
                  <a:lnTo>
                    <a:pt x="71" y="9"/>
                  </a:lnTo>
                  <a:lnTo>
                    <a:pt x="30"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1" name="Freeform 193">
              <a:extLst>
                <a:ext uri="{FF2B5EF4-FFF2-40B4-BE49-F238E27FC236}">
                  <a16:creationId xmlns:a16="http://schemas.microsoft.com/office/drawing/2014/main" id="{341BA33C-F8DE-9EE7-6E8E-26BF7767CEBE}"/>
                </a:ext>
              </a:extLst>
            </p:cNvPr>
            <p:cNvSpPr>
              <a:spLocks/>
            </p:cNvSpPr>
            <p:nvPr/>
          </p:nvSpPr>
          <p:spPr bwMode="auto">
            <a:xfrm>
              <a:off x="3543301" y="835025"/>
              <a:ext cx="657225" cy="42863"/>
            </a:xfrm>
            <a:custGeom>
              <a:avLst/>
              <a:gdLst>
                <a:gd name="T0" fmla="*/ 25 w 2796"/>
                <a:gd name="T1" fmla="*/ 27 h 183"/>
                <a:gd name="T2" fmla="*/ 13 w 2796"/>
                <a:gd name="T3" fmla="*/ 41 h 183"/>
                <a:gd name="T4" fmla="*/ 0 w 2796"/>
                <a:gd name="T5" fmla="*/ 74 h 183"/>
                <a:gd name="T6" fmla="*/ 1 w 2796"/>
                <a:gd name="T7" fmla="*/ 109 h 183"/>
                <a:gd name="T8" fmla="*/ 16 w 2796"/>
                <a:gd name="T9" fmla="*/ 142 h 183"/>
                <a:gd name="T10" fmla="*/ 28 w 2796"/>
                <a:gd name="T11" fmla="*/ 155 h 183"/>
                <a:gd name="T12" fmla="*/ 34 w 2796"/>
                <a:gd name="T13" fmla="*/ 160 h 183"/>
                <a:gd name="T14" fmla="*/ 60 w 2796"/>
                <a:gd name="T15" fmla="*/ 168 h 183"/>
                <a:gd name="T16" fmla="*/ 145 w 2796"/>
                <a:gd name="T17" fmla="*/ 176 h 183"/>
                <a:gd name="T18" fmla="*/ 621 w 2796"/>
                <a:gd name="T19" fmla="*/ 183 h 183"/>
                <a:gd name="T20" fmla="*/ 1402 w 2796"/>
                <a:gd name="T21" fmla="*/ 183 h 183"/>
                <a:gd name="T22" fmla="*/ 2209 w 2796"/>
                <a:gd name="T23" fmla="*/ 183 h 183"/>
                <a:gd name="T24" fmla="*/ 2671 w 2796"/>
                <a:gd name="T25" fmla="*/ 176 h 183"/>
                <a:gd name="T26" fmla="*/ 2745 w 2796"/>
                <a:gd name="T27" fmla="*/ 167 h 183"/>
                <a:gd name="T28" fmla="*/ 2765 w 2796"/>
                <a:gd name="T29" fmla="*/ 158 h 183"/>
                <a:gd name="T30" fmla="*/ 2770 w 2796"/>
                <a:gd name="T31" fmla="*/ 153 h 183"/>
                <a:gd name="T32" fmla="*/ 2782 w 2796"/>
                <a:gd name="T33" fmla="*/ 138 h 183"/>
                <a:gd name="T34" fmla="*/ 2796 w 2796"/>
                <a:gd name="T35" fmla="*/ 105 h 183"/>
                <a:gd name="T36" fmla="*/ 2796 w 2796"/>
                <a:gd name="T37" fmla="*/ 71 h 183"/>
                <a:gd name="T38" fmla="*/ 2784 w 2796"/>
                <a:gd name="T39" fmla="*/ 40 h 183"/>
                <a:gd name="T40" fmla="*/ 2772 w 2796"/>
                <a:gd name="T41" fmla="*/ 27 h 183"/>
                <a:gd name="T42" fmla="*/ 2766 w 2796"/>
                <a:gd name="T43" fmla="*/ 22 h 183"/>
                <a:gd name="T44" fmla="*/ 2741 w 2796"/>
                <a:gd name="T45" fmla="*/ 15 h 183"/>
                <a:gd name="T46" fmla="*/ 2652 w 2796"/>
                <a:gd name="T47" fmla="*/ 8 h 183"/>
                <a:gd name="T48" fmla="*/ 2169 w 2796"/>
                <a:gd name="T49" fmla="*/ 0 h 183"/>
                <a:gd name="T50" fmla="*/ 1398 w 2796"/>
                <a:gd name="T51" fmla="*/ 0 h 183"/>
                <a:gd name="T52" fmla="*/ 628 w 2796"/>
                <a:gd name="T53" fmla="*/ 0 h 183"/>
                <a:gd name="T54" fmla="*/ 145 w 2796"/>
                <a:gd name="T55" fmla="*/ 8 h 183"/>
                <a:gd name="T56" fmla="*/ 56 w 2796"/>
                <a:gd name="T57" fmla="*/ 15 h 183"/>
                <a:gd name="T58" fmla="*/ 30 w 2796"/>
                <a:gd name="T59" fmla="*/ 22 h 183"/>
                <a:gd name="T60" fmla="*/ 25 w 2796"/>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96" h="183">
                  <a:moveTo>
                    <a:pt x="25" y="27"/>
                  </a:moveTo>
                  <a:lnTo>
                    <a:pt x="13" y="41"/>
                  </a:lnTo>
                  <a:lnTo>
                    <a:pt x="0" y="74"/>
                  </a:lnTo>
                  <a:lnTo>
                    <a:pt x="1" y="109"/>
                  </a:lnTo>
                  <a:lnTo>
                    <a:pt x="16" y="142"/>
                  </a:lnTo>
                  <a:lnTo>
                    <a:pt x="28" y="155"/>
                  </a:lnTo>
                  <a:lnTo>
                    <a:pt x="34" y="160"/>
                  </a:lnTo>
                  <a:lnTo>
                    <a:pt x="60" y="168"/>
                  </a:lnTo>
                  <a:lnTo>
                    <a:pt x="145" y="176"/>
                  </a:lnTo>
                  <a:lnTo>
                    <a:pt x="621" y="183"/>
                  </a:lnTo>
                  <a:lnTo>
                    <a:pt x="1402" y="183"/>
                  </a:lnTo>
                  <a:lnTo>
                    <a:pt x="2209" y="183"/>
                  </a:lnTo>
                  <a:lnTo>
                    <a:pt x="2671" y="176"/>
                  </a:lnTo>
                  <a:lnTo>
                    <a:pt x="2745" y="167"/>
                  </a:lnTo>
                  <a:lnTo>
                    <a:pt x="2765" y="158"/>
                  </a:lnTo>
                  <a:lnTo>
                    <a:pt x="2770" y="153"/>
                  </a:lnTo>
                  <a:lnTo>
                    <a:pt x="2782" y="138"/>
                  </a:lnTo>
                  <a:lnTo>
                    <a:pt x="2796" y="105"/>
                  </a:lnTo>
                  <a:lnTo>
                    <a:pt x="2796" y="71"/>
                  </a:lnTo>
                  <a:lnTo>
                    <a:pt x="2784" y="40"/>
                  </a:lnTo>
                  <a:lnTo>
                    <a:pt x="2772" y="27"/>
                  </a:lnTo>
                  <a:lnTo>
                    <a:pt x="2766" y="22"/>
                  </a:lnTo>
                  <a:lnTo>
                    <a:pt x="2741" y="15"/>
                  </a:lnTo>
                  <a:lnTo>
                    <a:pt x="2652" y="8"/>
                  </a:lnTo>
                  <a:lnTo>
                    <a:pt x="2169" y="0"/>
                  </a:lnTo>
                  <a:lnTo>
                    <a:pt x="1398" y="0"/>
                  </a:lnTo>
                  <a:lnTo>
                    <a:pt x="628" y="0"/>
                  </a:lnTo>
                  <a:lnTo>
                    <a:pt x="145" y="8"/>
                  </a:lnTo>
                  <a:lnTo>
                    <a:pt x="5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2" name="Freeform 194">
              <a:extLst>
                <a:ext uri="{FF2B5EF4-FFF2-40B4-BE49-F238E27FC236}">
                  <a16:creationId xmlns:a16="http://schemas.microsoft.com/office/drawing/2014/main" id="{E2C848AD-75EF-EC83-2814-E94B50743544}"/>
                </a:ext>
              </a:extLst>
            </p:cNvPr>
            <p:cNvSpPr>
              <a:spLocks/>
            </p:cNvSpPr>
            <p:nvPr/>
          </p:nvSpPr>
          <p:spPr bwMode="auto">
            <a:xfrm>
              <a:off x="3543301" y="944563"/>
              <a:ext cx="877888" cy="42863"/>
            </a:xfrm>
            <a:custGeom>
              <a:avLst/>
              <a:gdLst>
                <a:gd name="T0" fmla="*/ 25 w 3730"/>
                <a:gd name="T1" fmla="*/ 26 h 183"/>
                <a:gd name="T2" fmla="*/ 13 w 3730"/>
                <a:gd name="T3" fmla="*/ 40 h 183"/>
                <a:gd name="T4" fmla="*/ 0 w 3730"/>
                <a:gd name="T5" fmla="*/ 73 h 183"/>
                <a:gd name="T6" fmla="*/ 1 w 3730"/>
                <a:gd name="T7" fmla="*/ 109 h 183"/>
                <a:gd name="T8" fmla="*/ 16 w 3730"/>
                <a:gd name="T9" fmla="*/ 141 h 183"/>
                <a:gd name="T10" fmla="*/ 28 w 3730"/>
                <a:gd name="T11" fmla="*/ 155 h 183"/>
                <a:gd name="T12" fmla="*/ 35 w 3730"/>
                <a:gd name="T13" fmla="*/ 159 h 183"/>
                <a:gd name="T14" fmla="*/ 65 w 3730"/>
                <a:gd name="T15" fmla="*/ 167 h 183"/>
                <a:gd name="T16" fmla="*/ 175 w 3730"/>
                <a:gd name="T17" fmla="*/ 176 h 183"/>
                <a:gd name="T18" fmla="*/ 812 w 3730"/>
                <a:gd name="T19" fmla="*/ 183 h 183"/>
                <a:gd name="T20" fmla="*/ 1868 w 3730"/>
                <a:gd name="T21" fmla="*/ 183 h 183"/>
                <a:gd name="T22" fmla="*/ 2960 w 3730"/>
                <a:gd name="T23" fmla="*/ 183 h 183"/>
                <a:gd name="T24" fmla="*/ 3578 w 3730"/>
                <a:gd name="T25" fmla="*/ 175 h 183"/>
                <a:gd name="T26" fmla="*/ 3674 w 3730"/>
                <a:gd name="T27" fmla="*/ 166 h 183"/>
                <a:gd name="T28" fmla="*/ 3698 w 3730"/>
                <a:gd name="T29" fmla="*/ 158 h 183"/>
                <a:gd name="T30" fmla="*/ 3703 w 3730"/>
                <a:gd name="T31" fmla="*/ 153 h 183"/>
                <a:gd name="T32" fmla="*/ 3715 w 3730"/>
                <a:gd name="T33" fmla="*/ 138 h 183"/>
                <a:gd name="T34" fmla="*/ 3729 w 3730"/>
                <a:gd name="T35" fmla="*/ 105 h 183"/>
                <a:gd name="T36" fmla="*/ 3730 w 3730"/>
                <a:gd name="T37" fmla="*/ 71 h 183"/>
                <a:gd name="T38" fmla="*/ 3717 w 3730"/>
                <a:gd name="T39" fmla="*/ 40 h 183"/>
                <a:gd name="T40" fmla="*/ 3705 w 3730"/>
                <a:gd name="T41" fmla="*/ 26 h 183"/>
                <a:gd name="T42" fmla="*/ 3699 w 3730"/>
                <a:gd name="T43" fmla="*/ 22 h 183"/>
                <a:gd name="T44" fmla="*/ 3668 w 3730"/>
                <a:gd name="T45" fmla="*/ 15 h 183"/>
                <a:gd name="T46" fmla="*/ 3552 w 3730"/>
                <a:gd name="T47" fmla="*/ 7 h 183"/>
                <a:gd name="T48" fmla="*/ 2905 w 3730"/>
                <a:gd name="T49" fmla="*/ 0 h 183"/>
                <a:gd name="T50" fmla="*/ 1865 w 3730"/>
                <a:gd name="T51" fmla="*/ 0 h 183"/>
                <a:gd name="T52" fmla="*/ 825 w 3730"/>
                <a:gd name="T53" fmla="*/ 0 h 183"/>
                <a:gd name="T54" fmla="*/ 178 w 3730"/>
                <a:gd name="T55" fmla="*/ 7 h 183"/>
                <a:gd name="T56" fmla="*/ 62 w 3730"/>
                <a:gd name="T57" fmla="*/ 15 h 183"/>
                <a:gd name="T58" fmla="*/ 31 w 3730"/>
                <a:gd name="T59" fmla="*/ 22 h 183"/>
                <a:gd name="T60" fmla="*/ 25 w 3730"/>
                <a:gd name="T61" fmla="*/ 26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30" h="183">
                  <a:moveTo>
                    <a:pt x="25" y="26"/>
                  </a:moveTo>
                  <a:lnTo>
                    <a:pt x="13" y="40"/>
                  </a:lnTo>
                  <a:lnTo>
                    <a:pt x="0" y="73"/>
                  </a:lnTo>
                  <a:lnTo>
                    <a:pt x="1" y="109"/>
                  </a:lnTo>
                  <a:lnTo>
                    <a:pt x="16" y="141"/>
                  </a:lnTo>
                  <a:lnTo>
                    <a:pt x="28" y="155"/>
                  </a:lnTo>
                  <a:lnTo>
                    <a:pt x="35" y="159"/>
                  </a:lnTo>
                  <a:lnTo>
                    <a:pt x="65" y="167"/>
                  </a:lnTo>
                  <a:lnTo>
                    <a:pt x="175" y="176"/>
                  </a:lnTo>
                  <a:lnTo>
                    <a:pt x="812" y="183"/>
                  </a:lnTo>
                  <a:lnTo>
                    <a:pt x="1868" y="183"/>
                  </a:lnTo>
                  <a:lnTo>
                    <a:pt x="2960" y="183"/>
                  </a:lnTo>
                  <a:lnTo>
                    <a:pt x="3578" y="175"/>
                  </a:lnTo>
                  <a:lnTo>
                    <a:pt x="3674" y="166"/>
                  </a:lnTo>
                  <a:lnTo>
                    <a:pt x="3698" y="158"/>
                  </a:lnTo>
                  <a:lnTo>
                    <a:pt x="3703" y="153"/>
                  </a:lnTo>
                  <a:lnTo>
                    <a:pt x="3715" y="138"/>
                  </a:lnTo>
                  <a:lnTo>
                    <a:pt x="3729" y="105"/>
                  </a:lnTo>
                  <a:lnTo>
                    <a:pt x="3730" y="71"/>
                  </a:lnTo>
                  <a:lnTo>
                    <a:pt x="3717" y="40"/>
                  </a:lnTo>
                  <a:lnTo>
                    <a:pt x="3705" y="26"/>
                  </a:lnTo>
                  <a:lnTo>
                    <a:pt x="3699" y="22"/>
                  </a:lnTo>
                  <a:lnTo>
                    <a:pt x="3668" y="15"/>
                  </a:lnTo>
                  <a:lnTo>
                    <a:pt x="3552" y="7"/>
                  </a:lnTo>
                  <a:lnTo>
                    <a:pt x="2905" y="0"/>
                  </a:lnTo>
                  <a:lnTo>
                    <a:pt x="1865" y="0"/>
                  </a:lnTo>
                  <a:lnTo>
                    <a:pt x="825" y="0"/>
                  </a:lnTo>
                  <a:lnTo>
                    <a:pt x="178" y="7"/>
                  </a:lnTo>
                  <a:lnTo>
                    <a:pt x="62" y="15"/>
                  </a:lnTo>
                  <a:lnTo>
                    <a:pt x="31" y="22"/>
                  </a:lnTo>
                  <a:lnTo>
                    <a:pt x="25"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3" name="Freeform 195">
              <a:extLst>
                <a:ext uri="{FF2B5EF4-FFF2-40B4-BE49-F238E27FC236}">
                  <a16:creationId xmlns:a16="http://schemas.microsoft.com/office/drawing/2014/main" id="{E2D1D724-B567-C2AC-80AC-9BF4DDAB0347}"/>
                </a:ext>
              </a:extLst>
            </p:cNvPr>
            <p:cNvSpPr>
              <a:spLocks/>
            </p:cNvSpPr>
            <p:nvPr/>
          </p:nvSpPr>
          <p:spPr bwMode="auto">
            <a:xfrm>
              <a:off x="3543301" y="1054100"/>
              <a:ext cx="811213" cy="42863"/>
            </a:xfrm>
            <a:custGeom>
              <a:avLst/>
              <a:gdLst>
                <a:gd name="T0" fmla="*/ 25 w 3449"/>
                <a:gd name="T1" fmla="*/ 27 h 184"/>
                <a:gd name="T2" fmla="*/ 13 w 3449"/>
                <a:gd name="T3" fmla="*/ 41 h 184"/>
                <a:gd name="T4" fmla="*/ 0 w 3449"/>
                <a:gd name="T5" fmla="*/ 74 h 184"/>
                <a:gd name="T6" fmla="*/ 1 w 3449"/>
                <a:gd name="T7" fmla="*/ 109 h 184"/>
                <a:gd name="T8" fmla="*/ 16 w 3449"/>
                <a:gd name="T9" fmla="*/ 142 h 184"/>
                <a:gd name="T10" fmla="*/ 28 w 3449"/>
                <a:gd name="T11" fmla="*/ 155 h 184"/>
                <a:gd name="T12" fmla="*/ 35 w 3449"/>
                <a:gd name="T13" fmla="*/ 160 h 184"/>
                <a:gd name="T14" fmla="*/ 63 w 3449"/>
                <a:gd name="T15" fmla="*/ 168 h 184"/>
                <a:gd name="T16" fmla="*/ 166 w 3449"/>
                <a:gd name="T17" fmla="*/ 176 h 184"/>
                <a:gd name="T18" fmla="*/ 754 w 3449"/>
                <a:gd name="T19" fmla="*/ 183 h 184"/>
                <a:gd name="T20" fmla="*/ 1728 w 3449"/>
                <a:gd name="T21" fmla="*/ 184 h 184"/>
                <a:gd name="T22" fmla="*/ 2351 w 3449"/>
                <a:gd name="T23" fmla="*/ 184 h 184"/>
                <a:gd name="T24" fmla="*/ 2939 w 3449"/>
                <a:gd name="T25" fmla="*/ 182 h 184"/>
                <a:gd name="T26" fmla="*/ 3188 w 3449"/>
                <a:gd name="T27" fmla="*/ 178 h 184"/>
                <a:gd name="T28" fmla="*/ 3340 w 3449"/>
                <a:gd name="T29" fmla="*/ 170 h 184"/>
                <a:gd name="T30" fmla="*/ 3402 w 3449"/>
                <a:gd name="T31" fmla="*/ 160 h 184"/>
                <a:gd name="T32" fmla="*/ 3428 w 3449"/>
                <a:gd name="T33" fmla="*/ 152 h 184"/>
                <a:gd name="T34" fmla="*/ 3442 w 3449"/>
                <a:gd name="T35" fmla="*/ 142 h 184"/>
                <a:gd name="T36" fmla="*/ 3448 w 3449"/>
                <a:gd name="T37" fmla="*/ 130 h 184"/>
                <a:gd name="T38" fmla="*/ 3449 w 3449"/>
                <a:gd name="T39" fmla="*/ 109 h 184"/>
                <a:gd name="T40" fmla="*/ 3448 w 3449"/>
                <a:gd name="T41" fmla="*/ 92 h 184"/>
                <a:gd name="T42" fmla="*/ 3449 w 3449"/>
                <a:gd name="T43" fmla="*/ 75 h 184"/>
                <a:gd name="T44" fmla="*/ 3448 w 3449"/>
                <a:gd name="T45" fmla="*/ 54 h 184"/>
                <a:gd name="T46" fmla="*/ 3442 w 3449"/>
                <a:gd name="T47" fmla="*/ 42 h 184"/>
                <a:gd name="T48" fmla="*/ 3427 w 3449"/>
                <a:gd name="T49" fmla="*/ 32 h 184"/>
                <a:gd name="T50" fmla="*/ 3402 w 3449"/>
                <a:gd name="T51" fmla="*/ 24 h 184"/>
                <a:gd name="T52" fmla="*/ 3339 w 3449"/>
                <a:gd name="T53" fmla="*/ 14 h 184"/>
                <a:gd name="T54" fmla="*/ 3187 w 3449"/>
                <a:gd name="T55" fmla="*/ 6 h 184"/>
                <a:gd name="T56" fmla="*/ 2937 w 3449"/>
                <a:gd name="T57" fmla="*/ 2 h 184"/>
                <a:gd name="T58" fmla="*/ 2348 w 3449"/>
                <a:gd name="T59" fmla="*/ 0 h 184"/>
                <a:gd name="T60" fmla="*/ 1723 w 3449"/>
                <a:gd name="T61" fmla="*/ 0 h 184"/>
                <a:gd name="T62" fmla="*/ 765 w 3449"/>
                <a:gd name="T63" fmla="*/ 1 h 184"/>
                <a:gd name="T64" fmla="*/ 168 w 3449"/>
                <a:gd name="T65" fmla="*/ 8 h 184"/>
                <a:gd name="T66" fmla="*/ 61 w 3449"/>
                <a:gd name="T67" fmla="*/ 16 h 184"/>
                <a:gd name="T68" fmla="*/ 31 w 3449"/>
                <a:gd name="T69" fmla="*/ 23 h 184"/>
                <a:gd name="T70" fmla="*/ 25 w 3449"/>
                <a:gd name="T71" fmla="*/ 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49" h="184">
                  <a:moveTo>
                    <a:pt x="25" y="27"/>
                  </a:moveTo>
                  <a:lnTo>
                    <a:pt x="13" y="41"/>
                  </a:lnTo>
                  <a:lnTo>
                    <a:pt x="0" y="74"/>
                  </a:lnTo>
                  <a:lnTo>
                    <a:pt x="1" y="109"/>
                  </a:lnTo>
                  <a:lnTo>
                    <a:pt x="16" y="142"/>
                  </a:lnTo>
                  <a:lnTo>
                    <a:pt x="28" y="155"/>
                  </a:lnTo>
                  <a:lnTo>
                    <a:pt x="35" y="160"/>
                  </a:lnTo>
                  <a:lnTo>
                    <a:pt x="63" y="168"/>
                  </a:lnTo>
                  <a:lnTo>
                    <a:pt x="166" y="176"/>
                  </a:lnTo>
                  <a:lnTo>
                    <a:pt x="754" y="183"/>
                  </a:lnTo>
                  <a:lnTo>
                    <a:pt x="1728" y="184"/>
                  </a:lnTo>
                  <a:lnTo>
                    <a:pt x="2351" y="184"/>
                  </a:lnTo>
                  <a:lnTo>
                    <a:pt x="2939" y="182"/>
                  </a:lnTo>
                  <a:lnTo>
                    <a:pt x="3188" y="178"/>
                  </a:lnTo>
                  <a:lnTo>
                    <a:pt x="3340" y="170"/>
                  </a:lnTo>
                  <a:lnTo>
                    <a:pt x="3402" y="160"/>
                  </a:lnTo>
                  <a:lnTo>
                    <a:pt x="3428" y="152"/>
                  </a:lnTo>
                  <a:lnTo>
                    <a:pt x="3442" y="142"/>
                  </a:lnTo>
                  <a:lnTo>
                    <a:pt x="3448" y="130"/>
                  </a:lnTo>
                  <a:lnTo>
                    <a:pt x="3449" y="109"/>
                  </a:lnTo>
                  <a:lnTo>
                    <a:pt x="3448" y="92"/>
                  </a:lnTo>
                  <a:lnTo>
                    <a:pt x="3449" y="75"/>
                  </a:lnTo>
                  <a:lnTo>
                    <a:pt x="3448" y="54"/>
                  </a:lnTo>
                  <a:lnTo>
                    <a:pt x="3442" y="42"/>
                  </a:lnTo>
                  <a:lnTo>
                    <a:pt x="3427" y="32"/>
                  </a:lnTo>
                  <a:lnTo>
                    <a:pt x="3402" y="24"/>
                  </a:lnTo>
                  <a:lnTo>
                    <a:pt x="3339" y="14"/>
                  </a:lnTo>
                  <a:lnTo>
                    <a:pt x="3187" y="6"/>
                  </a:lnTo>
                  <a:lnTo>
                    <a:pt x="2937" y="2"/>
                  </a:lnTo>
                  <a:lnTo>
                    <a:pt x="2348" y="0"/>
                  </a:lnTo>
                  <a:lnTo>
                    <a:pt x="1723" y="0"/>
                  </a:lnTo>
                  <a:lnTo>
                    <a:pt x="765" y="1"/>
                  </a:lnTo>
                  <a:lnTo>
                    <a:pt x="168" y="8"/>
                  </a:lnTo>
                  <a:lnTo>
                    <a:pt x="61" y="16"/>
                  </a:lnTo>
                  <a:lnTo>
                    <a:pt x="31" y="23"/>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4" name="Freeform 196">
              <a:extLst>
                <a:ext uri="{FF2B5EF4-FFF2-40B4-BE49-F238E27FC236}">
                  <a16:creationId xmlns:a16="http://schemas.microsoft.com/office/drawing/2014/main" id="{EB7F2890-0AE5-0535-2DDF-78C45E160022}"/>
                </a:ext>
              </a:extLst>
            </p:cNvPr>
            <p:cNvSpPr>
              <a:spLocks/>
            </p:cNvSpPr>
            <p:nvPr/>
          </p:nvSpPr>
          <p:spPr bwMode="auto">
            <a:xfrm>
              <a:off x="3543301" y="1163638"/>
              <a:ext cx="304800" cy="42863"/>
            </a:xfrm>
            <a:custGeom>
              <a:avLst/>
              <a:gdLst>
                <a:gd name="T0" fmla="*/ 25 w 1300"/>
                <a:gd name="T1" fmla="*/ 27 h 183"/>
                <a:gd name="T2" fmla="*/ 13 w 1300"/>
                <a:gd name="T3" fmla="*/ 41 h 183"/>
                <a:gd name="T4" fmla="*/ 0 w 1300"/>
                <a:gd name="T5" fmla="*/ 74 h 183"/>
                <a:gd name="T6" fmla="*/ 1 w 1300"/>
                <a:gd name="T7" fmla="*/ 109 h 183"/>
                <a:gd name="T8" fmla="*/ 16 w 1300"/>
                <a:gd name="T9" fmla="*/ 142 h 183"/>
                <a:gd name="T10" fmla="*/ 28 w 1300"/>
                <a:gd name="T11" fmla="*/ 155 h 183"/>
                <a:gd name="T12" fmla="*/ 34 w 1300"/>
                <a:gd name="T13" fmla="*/ 160 h 183"/>
                <a:gd name="T14" fmla="*/ 51 w 1300"/>
                <a:gd name="T15" fmla="*/ 167 h 183"/>
                <a:gd name="T16" fmla="*/ 95 w 1300"/>
                <a:gd name="T17" fmla="*/ 175 h 183"/>
                <a:gd name="T18" fmla="*/ 311 w 1300"/>
                <a:gd name="T19" fmla="*/ 183 h 183"/>
                <a:gd name="T20" fmla="*/ 647 w 1300"/>
                <a:gd name="T21" fmla="*/ 183 h 183"/>
                <a:gd name="T22" fmla="*/ 908 w 1300"/>
                <a:gd name="T23" fmla="*/ 182 h 183"/>
                <a:gd name="T24" fmla="*/ 1162 w 1300"/>
                <a:gd name="T25" fmla="*/ 176 h 183"/>
                <a:gd name="T26" fmla="*/ 1252 w 1300"/>
                <a:gd name="T27" fmla="*/ 170 h 183"/>
                <a:gd name="T28" fmla="*/ 1267 w 1300"/>
                <a:gd name="T29" fmla="*/ 167 h 183"/>
                <a:gd name="T30" fmla="*/ 1273 w 1300"/>
                <a:gd name="T31" fmla="*/ 162 h 183"/>
                <a:gd name="T32" fmla="*/ 1284 w 1300"/>
                <a:gd name="T33" fmla="*/ 149 h 183"/>
                <a:gd name="T34" fmla="*/ 1296 w 1300"/>
                <a:gd name="T35" fmla="*/ 121 h 183"/>
                <a:gd name="T36" fmla="*/ 1300 w 1300"/>
                <a:gd name="T37" fmla="*/ 76 h 183"/>
                <a:gd name="T38" fmla="*/ 1293 w 1300"/>
                <a:gd name="T39" fmla="*/ 44 h 183"/>
                <a:gd name="T40" fmla="*/ 1284 w 1300"/>
                <a:gd name="T41" fmla="*/ 27 h 183"/>
                <a:gd name="T42" fmla="*/ 1278 w 1300"/>
                <a:gd name="T43" fmla="*/ 20 h 183"/>
                <a:gd name="T44" fmla="*/ 1268 w 1300"/>
                <a:gd name="T45" fmla="*/ 15 h 183"/>
                <a:gd name="T46" fmla="*/ 1195 w 1300"/>
                <a:gd name="T47" fmla="*/ 7 h 183"/>
                <a:gd name="T48" fmla="*/ 954 w 1300"/>
                <a:gd name="T49" fmla="*/ 1 h 183"/>
                <a:gd name="T50" fmla="*/ 655 w 1300"/>
                <a:gd name="T51" fmla="*/ 0 h 183"/>
                <a:gd name="T52" fmla="*/ 316 w 1300"/>
                <a:gd name="T53" fmla="*/ 0 h 183"/>
                <a:gd name="T54" fmla="*/ 92 w 1300"/>
                <a:gd name="T55" fmla="*/ 8 h 183"/>
                <a:gd name="T56" fmla="*/ 46 w 1300"/>
                <a:gd name="T57" fmla="*/ 15 h 183"/>
                <a:gd name="T58" fmla="*/ 30 w 1300"/>
                <a:gd name="T59" fmla="*/ 22 h 183"/>
                <a:gd name="T60" fmla="*/ 25 w 1300"/>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00" h="183">
                  <a:moveTo>
                    <a:pt x="25" y="27"/>
                  </a:moveTo>
                  <a:lnTo>
                    <a:pt x="13" y="41"/>
                  </a:lnTo>
                  <a:lnTo>
                    <a:pt x="0" y="74"/>
                  </a:lnTo>
                  <a:lnTo>
                    <a:pt x="1" y="109"/>
                  </a:lnTo>
                  <a:lnTo>
                    <a:pt x="16" y="142"/>
                  </a:lnTo>
                  <a:lnTo>
                    <a:pt x="28" y="155"/>
                  </a:lnTo>
                  <a:lnTo>
                    <a:pt x="34" y="160"/>
                  </a:lnTo>
                  <a:lnTo>
                    <a:pt x="51" y="167"/>
                  </a:lnTo>
                  <a:lnTo>
                    <a:pt x="95" y="175"/>
                  </a:lnTo>
                  <a:lnTo>
                    <a:pt x="311" y="183"/>
                  </a:lnTo>
                  <a:lnTo>
                    <a:pt x="647" y="183"/>
                  </a:lnTo>
                  <a:lnTo>
                    <a:pt x="908" y="182"/>
                  </a:lnTo>
                  <a:lnTo>
                    <a:pt x="1162" y="176"/>
                  </a:lnTo>
                  <a:lnTo>
                    <a:pt x="1252" y="170"/>
                  </a:lnTo>
                  <a:lnTo>
                    <a:pt x="1267" y="167"/>
                  </a:lnTo>
                  <a:lnTo>
                    <a:pt x="1273" y="162"/>
                  </a:lnTo>
                  <a:lnTo>
                    <a:pt x="1284" y="149"/>
                  </a:lnTo>
                  <a:lnTo>
                    <a:pt x="1296" y="121"/>
                  </a:lnTo>
                  <a:lnTo>
                    <a:pt x="1300" y="76"/>
                  </a:lnTo>
                  <a:lnTo>
                    <a:pt x="1293" y="44"/>
                  </a:lnTo>
                  <a:lnTo>
                    <a:pt x="1284" y="27"/>
                  </a:lnTo>
                  <a:lnTo>
                    <a:pt x="1278" y="20"/>
                  </a:lnTo>
                  <a:lnTo>
                    <a:pt x="1268" y="15"/>
                  </a:lnTo>
                  <a:lnTo>
                    <a:pt x="1195" y="7"/>
                  </a:lnTo>
                  <a:lnTo>
                    <a:pt x="954" y="1"/>
                  </a:lnTo>
                  <a:lnTo>
                    <a:pt x="655" y="0"/>
                  </a:lnTo>
                  <a:lnTo>
                    <a:pt x="316" y="0"/>
                  </a:lnTo>
                  <a:lnTo>
                    <a:pt x="92" y="8"/>
                  </a:lnTo>
                  <a:lnTo>
                    <a:pt x="4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5" name="Freeform 197">
              <a:extLst>
                <a:ext uri="{FF2B5EF4-FFF2-40B4-BE49-F238E27FC236}">
                  <a16:creationId xmlns:a16="http://schemas.microsoft.com/office/drawing/2014/main" id="{3566A8D2-52D7-C292-2516-AABAA50B81D0}"/>
                </a:ext>
              </a:extLst>
            </p:cNvPr>
            <p:cNvSpPr>
              <a:spLocks noEditPoints="1"/>
            </p:cNvSpPr>
            <p:nvPr/>
          </p:nvSpPr>
          <p:spPr bwMode="auto">
            <a:xfrm>
              <a:off x="4235451" y="1384300"/>
              <a:ext cx="655638" cy="654050"/>
            </a:xfrm>
            <a:custGeom>
              <a:avLst/>
              <a:gdLst>
                <a:gd name="T0" fmla="*/ 1014 w 2790"/>
                <a:gd name="T1" fmla="*/ 47 h 2786"/>
                <a:gd name="T2" fmla="*/ 733 w 2790"/>
                <a:gd name="T3" fmla="*/ 165 h 2786"/>
                <a:gd name="T4" fmla="*/ 483 w 2790"/>
                <a:gd name="T5" fmla="*/ 335 h 2786"/>
                <a:gd name="T6" fmla="*/ 353 w 2790"/>
                <a:gd name="T7" fmla="*/ 464 h 2786"/>
                <a:gd name="T8" fmla="*/ 198 w 2790"/>
                <a:gd name="T9" fmla="*/ 675 h 2786"/>
                <a:gd name="T10" fmla="*/ 88 w 2790"/>
                <a:gd name="T11" fmla="*/ 904 h 2786"/>
                <a:gd name="T12" fmla="*/ 22 w 2790"/>
                <a:gd name="T13" fmla="*/ 1143 h 2786"/>
                <a:gd name="T14" fmla="*/ 0 w 2790"/>
                <a:gd name="T15" fmla="*/ 1387 h 2786"/>
                <a:gd name="T16" fmla="*/ 35 w 2790"/>
                <a:gd name="T17" fmla="*/ 1710 h 2786"/>
                <a:gd name="T18" fmla="*/ 110 w 2790"/>
                <a:gd name="T19" fmla="*/ 1942 h 2786"/>
                <a:gd name="T20" fmla="*/ 226 w 2790"/>
                <a:gd name="T21" fmla="*/ 2160 h 2786"/>
                <a:gd name="T22" fmla="*/ 381 w 2790"/>
                <a:gd name="T23" fmla="*/ 2356 h 2786"/>
                <a:gd name="T24" fmla="*/ 575 w 2790"/>
                <a:gd name="T25" fmla="*/ 2524 h 2786"/>
                <a:gd name="T26" fmla="*/ 766 w 2790"/>
                <a:gd name="T27" fmla="*/ 2639 h 2786"/>
                <a:gd name="T28" fmla="*/ 1026 w 2790"/>
                <a:gd name="T29" fmla="*/ 2743 h 2786"/>
                <a:gd name="T30" fmla="*/ 1293 w 2790"/>
                <a:gd name="T31" fmla="*/ 2784 h 2786"/>
                <a:gd name="T32" fmla="*/ 1631 w 2790"/>
                <a:gd name="T33" fmla="*/ 2774 h 2786"/>
                <a:gd name="T34" fmla="*/ 1821 w 2790"/>
                <a:gd name="T35" fmla="*/ 2728 h 2786"/>
                <a:gd name="T36" fmla="*/ 2079 w 2790"/>
                <a:gd name="T37" fmla="*/ 2615 h 2786"/>
                <a:gd name="T38" fmla="*/ 2307 w 2790"/>
                <a:gd name="T39" fmla="*/ 2455 h 2786"/>
                <a:gd name="T40" fmla="*/ 2498 w 2790"/>
                <a:gd name="T41" fmla="*/ 2254 h 2786"/>
                <a:gd name="T42" fmla="*/ 2649 w 2790"/>
                <a:gd name="T43" fmla="*/ 2014 h 2786"/>
                <a:gd name="T44" fmla="*/ 2741 w 2790"/>
                <a:gd name="T45" fmla="*/ 1789 h 2786"/>
                <a:gd name="T46" fmla="*/ 2783 w 2790"/>
                <a:gd name="T47" fmla="*/ 1554 h 2786"/>
                <a:gd name="T48" fmla="*/ 2774 w 2790"/>
                <a:gd name="T49" fmla="*/ 1150 h 2786"/>
                <a:gd name="T50" fmla="*/ 2729 w 2790"/>
                <a:gd name="T51" fmla="*/ 964 h 2786"/>
                <a:gd name="T52" fmla="*/ 2606 w 2790"/>
                <a:gd name="T53" fmla="*/ 689 h 2786"/>
                <a:gd name="T54" fmla="*/ 2420 w 2790"/>
                <a:gd name="T55" fmla="*/ 442 h 2786"/>
                <a:gd name="T56" fmla="*/ 2265 w 2790"/>
                <a:gd name="T57" fmla="*/ 298 h 2786"/>
                <a:gd name="T58" fmla="*/ 2005 w 2790"/>
                <a:gd name="T59" fmla="*/ 133 h 2786"/>
                <a:gd name="T60" fmla="*/ 1713 w 2790"/>
                <a:gd name="T61" fmla="*/ 31 h 2786"/>
                <a:gd name="T62" fmla="*/ 1477 w 2790"/>
                <a:gd name="T63" fmla="*/ 1 h 2786"/>
                <a:gd name="T64" fmla="*/ 1154 w 2790"/>
                <a:gd name="T65" fmla="*/ 14 h 2786"/>
                <a:gd name="T66" fmla="*/ 1794 w 2790"/>
                <a:gd name="T67" fmla="*/ 552 h 2786"/>
                <a:gd name="T68" fmla="*/ 2049 w 2790"/>
                <a:gd name="T69" fmla="*/ 737 h 2786"/>
                <a:gd name="T70" fmla="*/ 2206 w 2790"/>
                <a:gd name="T71" fmla="*/ 932 h 2786"/>
                <a:gd name="T72" fmla="*/ 2305 w 2790"/>
                <a:gd name="T73" fmla="*/ 1189 h 2786"/>
                <a:gd name="T74" fmla="*/ 2319 w 2790"/>
                <a:gd name="T75" fmla="*/ 1439 h 2786"/>
                <a:gd name="T76" fmla="*/ 2286 w 2790"/>
                <a:gd name="T77" fmla="*/ 1667 h 2786"/>
                <a:gd name="T78" fmla="*/ 2201 w 2790"/>
                <a:gd name="T79" fmla="*/ 1861 h 2786"/>
                <a:gd name="T80" fmla="*/ 2079 w 2790"/>
                <a:gd name="T81" fmla="*/ 2024 h 2786"/>
                <a:gd name="T82" fmla="*/ 1874 w 2790"/>
                <a:gd name="T83" fmla="*/ 2191 h 2786"/>
                <a:gd name="T84" fmla="*/ 1626 w 2790"/>
                <a:gd name="T85" fmla="*/ 2295 h 2786"/>
                <a:gd name="T86" fmla="*/ 1440 w 2790"/>
                <a:gd name="T87" fmla="*/ 2327 h 2786"/>
                <a:gd name="T88" fmla="*/ 1216 w 2790"/>
                <a:gd name="T89" fmla="*/ 2306 h 2786"/>
                <a:gd name="T90" fmla="*/ 917 w 2790"/>
                <a:gd name="T91" fmla="*/ 2188 h 2786"/>
                <a:gd name="T92" fmla="*/ 639 w 2790"/>
                <a:gd name="T93" fmla="*/ 1929 h 2786"/>
                <a:gd name="T94" fmla="*/ 499 w 2790"/>
                <a:gd name="T95" fmla="*/ 1641 h 2786"/>
                <a:gd name="T96" fmla="*/ 471 w 2790"/>
                <a:gd name="T97" fmla="*/ 1464 h 2786"/>
                <a:gd name="T98" fmla="*/ 492 w 2790"/>
                <a:gd name="T99" fmla="*/ 1180 h 2786"/>
                <a:gd name="T100" fmla="*/ 569 w 2790"/>
                <a:gd name="T101" fmla="*/ 978 h 2786"/>
                <a:gd name="T102" fmla="*/ 801 w 2790"/>
                <a:gd name="T103" fmla="*/ 684 h 2786"/>
                <a:gd name="T104" fmla="*/ 1120 w 2790"/>
                <a:gd name="T105" fmla="*/ 503 h 2786"/>
                <a:gd name="T106" fmla="*/ 1339 w 2790"/>
                <a:gd name="T107" fmla="*/ 467 h 2786"/>
                <a:gd name="T108" fmla="*/ 1616 w 2790"/>
                <a:gd name="T109" fmla="*/ 489 h 2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90" h="2786">
                  <a:moveTo>
                    <a:pt x="1154" y="14"/>
                  </a:moveTo>
                  <a:lnTo>
                    <a:pt x="1108" y="23"/>
                  </a:lnTo>
                  <a:lnTo>
                    <a:pt x="1014" y="47"/>
                  </a:lnTo>
                  <a:lnTo>
                    <a:pt x="920" y="79"/>
                  </a:lnTo>
                  <a:lnTo>
                    <a:pt x="825" y="119"/>
                  </a:lnTo>
                  <a:lnTo>
                    <a:pt x="733" y="165"/>
                  </a:lnTo>
                  <a:lnTo>
                    <a:pt x="644" y="217"/>
                  </a:lnTo>
                  <a:lnTo>
                    <a:pt x="560" y="274"/>
                  </a:lnTo>
                  <a:lnTo>
                    <a:pt x="483" y="335"/>
                  </a:lnTo>
                  <a:lnTo>
                    <a:pt x="447" y="367"/>
                  </a:lnTo>
                  <a:lnTo>
                    <a:pt x="414" y="399"/>
                  </a:lnTo>
                  <a:lnTo>
                    <a:pt x="353" y="464"/>
                  </a:lnTo>
                  <a:lnTo>
                    <a:pt x="296" y="532"/>
                  </a:lnTo>
                  <a:lnTo>
                    <a:pt x="244" y="603"/>
                  </a:lnTo>
                  <a:lnTo>
                    <a:pt x="198" y="675"/>
                  </a:lnTo>
                  <a:lnTo>
                    <a:pt x="156" y="750"/>
                  </a:lnTo>
                  <a:lnTo>
                    <a:pt x="120" y="826"/>
                  </a:lnTo>
                  <a:lnTo>
                    <a:pt x="88" y="904"/>
                  </a:lnTo>
                  <a:lnTo>
                    <a:pt x="61" y="982"/>
                  </a:lnTo>
                  <a:lnTo>
                    <a:pt x="39" y="1062"/>
                  </a:lnTo>
                  <a:lnTo>
                    <a:pt x="22" y="1143"/>
                  </a:lnTo>
                  <a:lnTo>
                    <a:pt x="10" y="1224"/>
                  </a:lnTo>
                  <a:lnTo>
                    <a:pt x="2" y="1305"/>
                  </a:lnTo>
                  <a:lnTo>
                    <a:pt x="0" y="1387"/>
                  </a:lnTo>
                  <a:lnTo>
                    <a:pt x="4" y="1509"/>
                  </a:lnTo>
                  <a:lnTo>
                    <a:pt x="19" y="1630"/>
                  </a:lnTo>
                  <a:lnTo>
                    <a:pt x="35" y="1710"/>
                  </a:lnTo>
                  <a:lnTo>
                    <a:pt x="56" y="1789"/>
                  </a:lnTo>
                  <a:lnTo>
                    <a:pt x="81" y="1866"/>
                  </a:lnTo>
                  <a:lnTo>
                    <a:pt x="110" y="1942"/>
                  </a:lnTo>
                  <a:lnTo>
                    <a:pt x="144" y="2017"/>
                  </a:lnTo>
                  <a:lnTo>
                    <a:pt x="183" y="2089"/>
                  </a:lnTo>
                  <a:lnTo>
                    <a:pt x="226" y="2160"/>
                  </a:lnTo>
                  <a:lnTo>
                    <a:pt x="273" y="2228"/>
                  </a:lnTo>
                  <a:lnTo>
                    <a:pt x="325" y="2293"/>
                  </a:lnTo>
                  <a:lnTo>
                    <a:pt x="381" y="2356"/>
                  </a:lnTo>
                  <a:lnTo>
                    <a:pt x="441" y="2415"/>
                  </a:lnTo>
                  <a:lnTo>
                    <a:pt x="506" y="2471"/>
                  </a:lnTo>
                  <a:lnTo>
                    <a:pt x="575" y="2524"/>
                  </a:lnTo>
                  <a:lnTo>
                    <a:pt x="648" y="2573"/>
                  </a:lnTo>
                  <a:lnTo>
                    <a:pt x="725" y="2618"/>
                  </a:lnTo>
                  <a:lnTo>
                    <a:pt x="766" y="2639"/>
                  </a:lnTo>
                  <a:lnTo>
                    <a:pt x="844" y="2677"/>
                  </a:lnTo>
                  <a:lnTo>
                    <a:pt x="954" y="2720"/>
                  </a:lnTo>
                  <a:lnTo>
                    <a:pt x="1026" y="2743"/>
                  </a:lnTo>
                  <a:lnTo>
                    <a:pt x="1099" y="2760"/>
                  </a:lnTo>
                  <a:lnTo>
                    <a:pt x="1174" y="2773"/>
                  </a:lnTo>
                  <a:lnTo>
                    <a:pt x="1293" y="2784"/>
                  </a:lnTo>
                  <a:lnTo>
                    <a:pt x="1382" y="2786"/>
                  </a:lnTo>
                  <a:lnTo>
                    <a:pt x="1468" y="2785"/>
                  </a:lnTo>
                  <a:lnTo>
                    <a:pt x="1631" y="2774"/>
                  </a:lnTo>
                  <a:lnTo>
                    <a:pt x="1682" y="2766"/>
                  </a:lnTo>
                  <a:lnTo>
                    <a:pt x="1729" y="2755"/>
                  </a:lnTo>
                  <a:lnTo>
                    <a:pt x="1821" y="2728"/>
                  </a:lnTo>
                  <a:lnTo>
                    <a:pt x="1911" y="2696"/>
                  </a:lnTo>
                  <a:lnTo>
                    <a:pt x="1997" y="2658"/>
                  </a:lnTo>
                  <a:lnTo>
                    <a:pt x="2079" y="2615"/>
                  </a:lnTo>
                  <a:lnTo>
                    <a:pt x="2159" y="2566"/>
                  </a:lnTo>
                  <a:lnTo>
                    <a:pt x="2235" y="2513"/>
                  </a:lnTo>
                  <a:lnTo>
                    <a:pt x="2307" y="2455"/>
                  </a:lnTo>
                  <a:lnTo>
                    <a:pt x="2375" y="2392"/>
                  </a:lnTo>
                  <a:lnTo>
                    <a:pt x="2438" y="2325"/>
                  </a:lnTo>
                  <a:lnTo>
                    <a:pt x="2498" y="2254"/>
                  </a:lnTo>
                  <a:lnTo>
                    <a:pt x="2553" y="2178"/>
                  </a:lnTo>
                  <a:lnTo>
                    <a:pt x="2604" y="2098"/>
                  </a:lnTo>
                  <a:lnTo>
                    <a:pt x="2649" y="2014"/>
                  </a:lnTo>
                  <a:lnTo>
                    <a:pt x="2690" y="1927"/>
                  </a:lnTo>
                  <a:lnTo>
                    <a:pt x="2725" y="1836"/>
                  </a:lnTo>
                  <a:lnTo>
                    <a:pt x="2741" y="1789"/>
                  </a:lnTo>
                  <a:lnTo>
                    <a:pt x="2750" y="1757"/>
                  </a:lnTo>
                  <a:lnTo>
                    <a:pt x="2766" y="1682"/>
                  </a:lnTo>
                  <a:lnTo>
                    <a:pt x="2783" y="1554"/>
                  </a:lnTo>
                  <a:lnTo>
                    <a:pt x="2790" y="1368"/>
                  </a:lnTo>
                  <a:lnTo>
                    <a:pt x="2784" y="1232"/>
                  </a:lnTo>
                  <a:lnTo>
                    <a:pt x="2774" y="1150"/>
                  </a:lnTo>
                  <a:lnTo>
                    <a:pt x="2767" y="1112"/>
                  </a:lnTo>
                  <a:lnTo>
                    <a:pt x="2756" y="1062"/>
                  </a:lnTo>
                  <a:lnTo>
                    <a:pt x="2729" y="964"/>
                  </a:lnTo>
                  <a:lnTo>
                    <a:pt x="2695" y="869"/>
                  </a:lnTo>
                  <a:lnTo>
                    <a:pt x="2654" y="778"/>
                  </a:lnTo>
                  <a:lnTo>
                    <a:pt x="2606" y="689"/>
                  </a:lnTo>
                  <a:lnTo>
                    <a:pt x="2551" y="604"/>
                  </a:lnTo>
                  <a:lnTo>
                    <a:pt x="2489" y="522"/>
                  </a:lnTo>
                  <a:lnTo>
                    <a:pt x="2420" y="442"/>
                  </a:lnTo>
                  <a:lnTo>
                    <a:pt x="2382" y="404"/>
                  </a:lnTo>
                  <a:lnTo>
                    <a:pt x="2344" y="367"/>
                  </a:lnTo>
                  <a:lnTo>
                    <a:pt x="2265" y="298"/>
                  </a:lnTo>
                  <a:lnTo>
                    <a:pt x="2182" y="236"/>
                  </a:lnTo>
                  <a:lnTo>
                    <a:pt x="2095" y="181"/>
                  </a:lnTo>
                  <a:lnTo>
                    <a:pt x="2005" y="133"/>
                  </a:lnTo>
                  <a:lnTo>
                    <a:pt x="1911" y="92"/>
                  </a:lnTo>
                  <a:lnTo>
                    <a:pt x="1813" y="58"/>
                  </a:lnTo>
                  <a:lnTo>
                    <a:pt x="1713" y="31"/>
                  </a:lnTo>
                  <a:lnTo>
                    <a:pt x="1661" y="21"/>
                  </a:lnTo>
                  <a:lnTo>
                    <a:pt x="1608" y="12"/>
                  </a:lnTo>
                  <a:lnTo>
                    <a:pt x="1477" y="1"/>
                  </a:lnTo>
                  <a:lnTo>
                    <a:pt x="1336" y="0"/>
                  </a:lnTo>
                  <a:lnTo>
                    <a:pt x="1206" y="7"/>
                  </a:lnTo>
                  <a:lnTo>
                    <a:pt x="1154" y="14"/>
                  </a:lnTo>
                  <a:close/>
                  <a:moveTo>
                    <a:pt x="1616" y="489"/>
                  </a:moveTo>
                  <a:lnTo>
                    <a:pt x="1679" y="506"/>
                  </a:lnTo>
                  <a:lnTo>
                    <a:pt x="1794" y="552"/>
                  </a:lnTo>
                  <a:lnTo>
                    <a:pt x="1900" y="613"/>
                  </a:lnTo>
                  <a:lnTo>
                    <a:pt x="2000" y="691"/>
                  </a:lnTo>
                  <a:lnTo>
                    <a:pt x="2049" y="737"/>
                  </a:lnTo>
                  <a:lnTo>
                    <a:pt x="2086" y="776"/>
                  </a:lnTo>
                  <a:lnTo>
                    <a:pt x="2152" y="853"/>
                  </a:lnTo>
                  <a:lnTo>
                    <a:pt x="2206" y="932"/>
                  </a:lnTo>
                  <a:lnTo>
                    <a:pt x="2249" y="1014"/>
                  </a:lnTo>
                  <a:lnTo>
                    <a:pt x="2282" y="1099"/>
                  </a:lnTo>
                  <a:lnTo>
                    <a:pt x="2305" y="1189"/>
                  </a:lnTo>
                  <a:lnTo>
                    <a:pt x="2318" y="1284"/>
                  </a:lnTo>
                  <a:lnTo>
                    <a:pt x="2321" y="1385"/>
                  </a:lnTo>
                  <a:lnTo>
                    <a:pt x="2319" y="1439"/>
                  </a:lnTo>
                  <a:lnTo>
                    <a:pt x="2314" y="1512"/>
                  </a:lnTo>
                  <a:lnTo>
                    <a:pt x="2300" y="1608"/>
                  </a:lnTo>
                  <a:lnTo>
                    <a:pt x="2286" y="1667"/>
                  </a:lnTo>
                  <a:lnTo>
                    <a:pt x="2268" y="1724"/>
                  </a:lnTo>
                  <a:lnTo>
                    <a:pt x="2245" y="1779"/>
                  </a:lnTo>
                  <a:lnTo>
                    <a:pt x="2201" y="1861"/>
                  </a:lnTo>
                  <a:lnTo>
                    <a:pt x="2162" y="1919"/>
                  </a:lnTo>
                  <a:lnTo>
                    <a:pt x="2136" y="1956"/>
                  </a:lnTo>
                  <a:lnTo>
                    <a:pt x="2079" y="2024"/>
                  </a:lnTo>
                  <a:lnTo>
                    <a:pt x="2017" y="2086"/>
                  </a:lnTo>
                  <a:lnTo>
                    <a:pt x="1948" y="2142"/>
                  </a:lnTo>
                  <a:lnTo>
                    <a:pt x="1874" y="2191"/>
                  </a:lnTo>
                  <a:lnTo>
                    <a:pt x="1796" y="2233"/>
                  </a:lnTo>
                  <a:lnTo>
                    <a:pt x="1713" y="2268"/>
                  </a:lnTo>
                  <a:lnTo>
                    <a:pt x="1626" y="2295"/>
                  </a:lnTo>
                  <a:lnTo>
                    <a:pt x="1581" y="2306"/>
                  </a:lnTo>
                  <a:lnTo>
                    <a:pt x="1529" y="2316"/>
                  </a:lnTo>
                  <a:lnTo>
                    <a:pt x="1440" y="2327"/>
                  </a:lnTo>
                  <a:lnTo>
                    <a:pt x="1358" y="2327"/>
                  </a:lnTo>
                  <a:lnTo>
                    <a:pt x="1268" y="2316"/>
                  </a:lnTo>
                  <a:lnTo>
                    <a:pt x="1216" y="2306"/>
                  </a:lnTo>
                  <a:lnTo>
                    <a:pt x="1152" y="2291"/>
                  </a:lnTo>
                  <a:lnTo>
                    <a:pt x="1031" y="2247"/>
                  </a:lnTo>
                  <a:lnTo>
                    <a:pt x="917" y="2188"/>
                  </a:lnTo>
                  <a:lnTo>
                    <a:pt x="813" y="2114"/>
                  </a:lnTo>
                  <a:lnTo>
                    <a:pt x="720" y="2028"/>
                  </a:lnTo>
                  <a:lnTo>
                    <a:pt x="639" y="1929"/>
                  </a:lnTo>
                  <a:lnTo>
                    <a:pt x="571" y="1821"/>
                  </a:lnTo>
                  <a:lnTo>
                    <a:pt x="519" y="1703"/>
                  </a:lnTo>
                  <a:lnTo>
                    <a:pt x="499" y="1641"/>
                  </a:lnTo>
                  <a:lnTo>
                    <a:pt x="492" y="1616"/>
                  </a:lnTo>
                  <a:lnTo>
                    <a:pt x="481" y="1559"/>
                  </a:lnTo>
                  <a:lnTo>
                    <a:pt x="471" y="1464"/>
                  </a:lnTo>
                  <a:lnTo>
                    <a:pt x="471" y="1331"/>
                  </a:lnTo>
                  <a:lnTo>
                    <a:pt x="481" y="1237"/>
                  </a:lnTo>
                  <a:lnTo>
                    <a:pt x="492" y="1180"/>
                  </a:lnTo>
                  <a:lnTo>
                    <a:pt x="499" y="1156"/>
                  </a:lnTo>
                  <a:lnTo>
                    <a:pt x="518" y="1095"/>
                  </a:lnTo>
                  <a:lnTo>
                    <a:pt x="569" y="978"/>
                  </a:lnTo>
                  <a:lnTo>
                    <a:pt x="635" y="870"/>
                  </a:lnTo>
                  <a:lnTo>
                    <a:pt x="712" y="772"/>
                  </a:lnTo>
                  <a:lnTo>
                    <a:pt x="801" y="684"/>
                  </a:lnTo>
                  <a:lnTo>
                    <a:pt x="900" y="610"/>
                  </a:lnTo>
                  <a:lnTo>
                    <a:pt x="1007" y="549"/>
                  </a:lnTo>
                  <a:lnTo>
                    <a:pt x="1120" y="503"/>
                  </a:lnTo>
                  <a:lnTo>
                    <a:pt x="1179" y="487"/>
                  </a:lnTo>
                  <a:lnTo>
                    <a:pt x="1226" y="478"/>
                  </a:lnTo>
                  <a:lnTo>
                    <a:pt x="1339" y="467"/>
                  </a:lnTo>
                  <a:lnTo>
                    <a:pt x="1458" y="467"/>
                  </a:lnTo>
                  <a:lnTo>
                    <a:pt x="1569" y="479"/>
                  </a:lnTo>
                  <a:lnTo>
                    <a:pt x="1616" y="4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6" name="Freeform 198">
              <a:extLst>
                <a:ext uri="{FF2B5EF4-FFF2-40B4-BE49-F238E27FC236}">
                  <a16:creationId xmlns:a16="http://schemas.microsoft.com/office/drawing/2014/main" id="{DBE178A9-B74D-21AF-7608-7CC13D418303}"/>
                </a:ext>
              </a:extLst>
            </p:cNvPr>
            <p:cNvSpPr>
              <a:spLocks/>
            </p:cNvSpPr>
            <p:nvPr/>
          </p:nvSpPr>
          <p:spPr bwMode="auto">
            <a:xfrm>
              <a:off x="4389438" y="1536700"/>
              <a:ext cx="292100" cy="288925"/>
            </a:xfrm>
            <a:custGeom>
              <a:avLst/>
              <a:gdLst>
                <a:gd name="T0" fmla="*/ 553 w 1240"/>
                <a:gd name="T1" fmla="*/ 21 h 1230"/>
                <a:gd name="T2" fmla="*/ 513 w 1240"/>
                <a:gd name="T3" fmla="*/ 33 h 1230"/>
                <a:gd name="T4" fmla="*/ 437 w 1240"/>
                <a:gd name="T5" fmla="*/ 64 h 1230"/>
                <a:gd name="T6" fmla="*/ 365 w 1240"/>
                <a:gd name="T7" fmla="*/ 101 h 1230"/>
                <a:gd name="T8" fmla="*/ 299 w 1240"/>
                <a:gd name="T9" fmla="*/ 146 h 1230"/>
                <a:gd name="T10" fmla="*/ 238 w 1240"/>
                <a:gd name="T11" fmla="*/ 198 h 1230"/>
                <a:gd name="T12" fmla="*/ 182 w 1240"/>
                <a:gd name="T13" fmla="*/ 256 h 1230"/>
                <a:gd name="T14" fmla="*/ 133 w 1240"/>
                <a:gd name="T15" fmla="*/ 320 h 1230"/>
                <a:gd name="T16" fmla="*/ 90 w 1240"/>
                <a:gd name="T17" fmla="*/ 391 h 1230"/>
                <a:gd name="T18" fmla="*/ 71 w 1240"/>
                <a:gd name="T19" fmla="*/ 428 h 1230"/>
                <a:gd name="T20" fmla="*/ 57 w 1240"/>
                <a:gd name="T21" fmla="*/ 459 h 1230"/>
                <a:gd name="T22" fmla="*/ 34 w 1240"/>
                <a:gd name="T23" fmla="*/ 523 h 1230"/>
                <a:gd name="T24" fmla="*/ 16 w 1240"/>
                <a:gd name="T25" fmla="*/ 588 h 1230"/>
                <a:gd name="T26" fmla="*/ 5 w 1240"/>
                <a:gd name="T27" fmla="*/ 655 h 1230"/>
                <a:gd name="T28" fmla="*/ 0 w 1240"/>
                <a:gd name="T29" fmla="*/ 722 h 1230"/>
                <a:gd name="T30" fmla="*/ 1 w 1240"/>
                <a:gd name="T31" fmla="*/ 790 h 1230"/>
                <a:gd name="T32" fmla="*/ 8 w 1240"/>
                <a:gd name="T33" fmla="*/ 858 h 1230"/>
                <a:gd name="T34" fmla="*/ 22 w 1240"/>
                <a:gd name="T35" fmla="*/ 925 h 1230"/>
                <a:gd name="T36" fmla="*/ 31 w 1240"/>
                <a:gd name="T37" fmla="*/ 958 h 1230"/>
                <a:gd name="T38" fmla="*/ 46 w 1240"/>
                <a:gd name="T39" fmla="*/ 1001 h 1230"/>
                <a:gd name="T40" fmla="*/ 86 w 1240"/>
                <a:gd name="T41" fmla="*/ 1093 h 1230"/>
                <a:gd name="T42" fmla="*/ 131 w 1240"/>
                <a:gd name="T43" fmla="*/ 1174 h 1230"/>
                <a:gd name="T44" fmla="*/ 159 w 1240"/>
                <a:gd name="T45" fmla="*/ 1214 h 1230"/>
                <a:gd name="T46" fmla="*/ 174 w 1240"/>
                <a:gd name="T47" fmla="*/ 1228 h 1230"/>
                <a:gd name="T48" fmla="*/ 180 w 1240"/>
                <a:gd name="T49" fmla="*/ 1230 h 1230"/>
                <a:gd name="T50" fmla="*/ 215 w 1240"/>
                <a:gd name="T51" fmla="*/ 1200 h 1230"/>
                <a:gd name="T52" fmla="*/ 506 w 1240"/>
                <a:gd name="T53" fmla="*/ 916 h 1230"/>
                <a:gd name="T54" fmla="*/ 716 w 1240"/>
                <a:gd name="T55" fmla="*/ 706 h 1230"/>
                <a:gd name="T56" fmla="*/ 1240 w 1240"/>
                <a:gd name="T57" fmla="*/ 183 h 1230"/>
                <a:gd name="T58" fmla="*/ 1168 w 1240"/>
                <a:gd name="T59" fmla="*/ 131 h 1230"/>
                <a:gd name="T60" fmla="*/ 1137 w 1240"/>
                <a:gd name="T61" fmla="*/ 110 h 1230"/>
                <a:gd name="T62" fmla="*/ 1068 w 1240"/>
                <a:gd name="T63" fmla="*/ 74 h 1230"/>
                <a:gd name="T64" fmla="*/ 993 w 1240"/>
                <a:gd name="T65" fmla="*/ 44 h 1230"/>
                <a:gd name="T66" fmla="*/ 913 w 1240"/>
                <a:gd name="T67" fmla="*/ 21 h 1230"/>
                <a:gd name="T68" fmla="*/ 830 w 1240"/>
                <a:gd name="T69" fmla="*/ 6 h 1230"/>
                <a:gd name="T70" fmla="*/ 748 w 1240"/>
                <a:gd name="T71" fmla="*/ 0 h 1230"/>
                <a:gd name="T72" fmla="*/ 666 w 1240"/>
                <a:gd name="T73" fmla="*/ 1 h 1230"/>
                <a:gd name="T74" fmla="*/ 589 w 1240"/>
                <a:gd name="T75" fmla="*/ 12 h 1230"/>
                <a:gd name="T76" fmla="*/ 553 w 1240"/>
                <a:gd name="T77" fmla="*/ 21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40" h="1230">
                  <a:moveTo>
                    <a:pt x="553" y="21"/>
                  </a:moveTo>
                  <a:lnTo>
                    <a:pt x="513" y="33"/>
                  </a:lnTo>
                  <a:lnTo>
                    <a:pt x="437" y="64"/>
                  </a:lnTo>
                  <a:lnTo>
                    <a:pt x="365" y="101"/>
                  </a:lnTo>
                  <a:lnTo>
                    <a:pt x="299" y="146"/>
                  </a:lnTo>
                  <a:lnTo>
                    <a:pt x="238" y="198"/>
                  </a:lnTo>
                  <a:lnTo>
                    <a:pt x="182" y="256"/>
                  </a:lnTo>
                  <a:lnTo>
                    <a:pt x="133" y="320"/>
                  </a:lnTo>
                  <a:lnTo>
                    <a:pt x="90" y="391"/>
                  </a:lnTo>
                  <a:lnTo>
                    <a:pt x="71" y="428"/>
                  </a:lnTo>
                  <a:lnTo>
                    <a:pt x="57" y="459"/>
                  </a:lnTo>
                  <a:lnTo>
                    <a:pt x="34" y="523"/>
                  </a:lnTo>
                  <a:lnTo>
                    <a:pt x="16" y="588"/>
                  </a:lnTo>
                  <a:lnTo>
                    <a:pt x="5" y="655"/>
                  </a:lnTo>
                  <a:lnTo>
                    <a:pt x="0" y="722"/>
                  </a:lnTo>
                  <a:lnTo>
                    <a:pt x="1" y="790"/>
                  </a:lnTo>
                  <a:lnTo>
                    <a:pt x="8" y="858"/>
                  </a:lnTo>
                  <a:lnTo>
                    <a:pt x="22" y="925"/>
                  </a:lnTo>
                  <a:lnTo>
                    <a:pt x="31" y="958"/>
                  </a:lnTo>
                  <a:lnTo>
                    <a:pt x="46" y="1001"/>
                  </a:lnTo>
                  <a:lnTo>
                    <a:pt x="86" y="1093"/>
                  </a:lnTo>
                  <a:lnTo>
                    <a:pt x="131" y="1174"/>
                  </a:lnTo>
                  <a:lnTo>
                    <a:pt x="159" y="1214"/>
                  </a:lnTo>
                  <a:lnTo>
                    <a:pt x="174" y="1228"/>
                  </a:lnTo>
                  <a:lnTo>
                    <a:pt x="180" y="1230"/>
                  </a:lnTo>
                  <a:lnTo>
                    <a:pt x="215" y="1200"/>
                  </a:lnTo>
                  <a:lnTo>
                    <a:pt x="506" y="916"/>
                  </a:lnTo>
                  <a:lnTo>
                    <a:pt x="716" y="706"/>
                  </a:lnTo>
                  <a:lnTo>
                    <a:pt x="1240" y="183"/>
                  </a:lnTo>
                  <a:lnTo>
                    <a:pt x="1168" y="131"/>
                  </a:lnTo>
                  <a:lnTo>
                    <a:pt x="1137" y="110"/>
                  </a:lnTo>
                  <a:lnTo>
                    <a:pt x="1068" y="74"/>
                  </a:lnTo>
                  <a:lnTo>
                    <a:pt x="993" y="44"/>
                  </a:lnTo>
                  <a:lnTo>
                    <a:pt x="913" y="21"/>
                  </a:lnTo>
                  <a:lnTo>
                    <a:pt x="830" y="6"/>
                  </a:lnTo>
                  <a:lnTo>
                    <a:pt x="748" y="0"/>
                  </a:lnTo>
                  <a:lnTo>
                    <a:pt x="666" y="1"/>
                  </a:lnTo>
                  <a:lnTo>
                    <a:pt x="589" y="12"/>
                  </a:lnTo>
                  <a:lnTo>
                    <a:pt x="553"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7" name="Freeform 199">
              <a:extLst>
                <a:ext uri="{FF2B5EF4-FFF2-40B4-BE49-F238E27FC236}">
                  <a16:creationId xmlns:a16="http://schemas.microsoft.com/office/drawing/2014/main" id="{FB7C3BD4-4663-09DD-5B0F-A7E9D654D139}"/>
                </a:ext>
              </a:extLst>
            </p:cNvPr>
            <p:cNvSpPr>
              <a:spLocks/>
            </p:cNvSpPr>
            <p:nvPr/>
          </p:nvSpPr>
          <p:spPr bwMode="auto">
            <a:xfrm>
              <a:off x="4448176" y="1598613"/>
              <a:ext cx="290513" cy="287338"/>
            </a:xfrm>
            <a:custGeom>
              <a:avLst/>
              <a:gdLst>
                <a:gd name="T0" fmla="*/ 522 w 1234"/>
                <a:gd name="T1" fmla="*/ 523 h 1221"/>
                <a:gd name="T2" fmla="*/ 0 w 1234"/>
                <a:gd name="T3" fmla="*/ 1045 h 1221"/>
                <a:gd name="T4" fmla="*/ 50 w 1234"/>
                <a:gd name="T5" fmla="*/ 1082 h 1221"/>
                <a:gd name="T6" fmla="*/ 84 w 1234"/>
                <a:gd name="T7" fmla="*/ 1105 h 1221"/>
                <a:gd name="T8" fmla="*/ 155 w 1234"/>
                <a:gd name="T9" fmla="*/ 1145 h 1221"/>
                <a:gd name="T10" fmla="*/ 228 w 1234"/>
                <a:gd name="T11" fmla="*/ 1176 h 1221"/>
                <a:gd name="T12" fmla="*/ 303 w 1234"/>
                <a:gd name="T13" fmla="*/ 1199 h 1221"/>
                <a:gd name="T14" fmla="*/ 379 w 1234"/>
                <a:gd name="T15" fmla="*/ 1214 h 1221"/>
                <a:gd name="T16" fmla="*/ 456 w 1234"/>
                <a:gd name="T17" fmla="*/ 1221 h 1221"/>
                <a:gd name="T18" fmla="*/ 533 w 1234"/>
                <a:gd name="T19" fmla="*/ 1220 h 1221"/>
                <a:gd name="T20" fmla="*/ 609 w 1234"/>
                <a:gd name="T21" fmla="*/ 1212 h 1221"/>
                <a:gd name="T22" fmla="*/ 684 w 1234"/>
                <a:gd name="T23" fmla="*/ 1196 h 1221"/>
                <a:gd name="T24" fmla="*/ 758 w 1234"/>
                <a:gd name="T25" fmla="*/ 1173 h 1221"/>
                <a:gd name="T26" fmla="*/ 828 w 1234"/>
                <a:gd name="T27" fmla="*/ 1142 h 1221"/>
                <a:gd name="T28" fmla="*/ 895 w 1234"/>
                <a:gd name="T29" fmla="*/ 1104 h 1221"/>
                <a:gd name="T30" fmla="*/ 959 w 1234"/>
                <a:gd name="T31" fmla="*/ 1060 h 1221"/>
                <a:gd name="T32" fmla="*/ 1018 w 1234"/>
                <a:gd name="T33" fmla="*/ 1008 h 1221"/>
                <a:gd name="T34" fmla="*/ 1072 w 1234"/>
                <a:gd name="T35" fmla="*/ 950 h 1221"/>
                <a:gd name="T36" fmla="*/ 1120 w 1234"/>
                <a:gd name="T37" fmla="*/ 885 h 1221"/>
                <a:gd name="T38" fmla="*/ 1142 w 1234"/>
                <a:gd name="T39" fmla="*/ 850 h 1221"/>
                <a:gd name="T40" fmla="*/ 1159 w 1234"/>
                <a:gd name="T41" fmla="*/ 819 h 1221"/>
                <a:gd name="T42" fmla="*/ 1188 w 1234"/>
                <a:gd name="T43" fmla="*/ 752 h 1221"/>
                <a:gd name="T44" fmla="*/ 1210 w 1234"/>
                <a:gd name="T45" fmla="*/ 680 h 1221"/>
                <a:gd name="T46" fmla="*/ 1225 w 1234"/>
                <a:gd name="T47" fmla="*/ 605 h 1221"/>
                <a:gd name="T48" fmla="*/ 1233 w 1234"/>
                <a:gd name="T49" fmla="*/ 528 h 1221"/>
                <a:gd name="T50" fmla="*/ 1234 w 1234"/>
                <a:gd name="T51" fmla="*/ 450 h 1221"/>
                <a:gd name="T52" fmla="*/ 1228 w 1234"/>
                <a:gd name="T53" fmla="*/ 374 h 1221"/>
                <a:gd name="T54" fmla="*/ 1214 w 1234"/>
                <a:gd name="T55" fmla="*/ 300 h 1221"/>
                <a:gd name="T56" fmla="*/ 1203 w 1234"/>
                <a:gd name="T57" fmla="*/ 265 h 1221"/>
                <a:gd name="T58" fmla="*/ 1190 w 1234"/>
                <a:gd name="T59" fmla="*/ 224 h 1221"/>
                <a:gd name="T60" fmla="*/ 1150 w 1234"/>
                <a:gd name="T61" fmla="*/ 135 h 1221"/>
                <a:gd name="T62" fmla="*/ 1107 w 1234"/>
                <a:gd name="T63" fmla="*/ 55 h 1221"/>
                <a:gd name="T64" fmla="*/ 1078 w 1234"/>
                <a:gd name="T65" fmla="*/ 15 h 1221"/>
                <a:gd name="T66" fmla="*/ 1064 w 1234"/>
                <a:gd name="T67" fmla="*/ 1 h 1221"/>
                <a:gd name="T68" fmla="*/ 1058 w 1234"/>
                <a:gd name="T69" fmla="*/ 0 h 1221"/>
                <a:gd name="T70" fmla="*/ 1023 w 1234"/>
                <a:gd name="T71" fmla="*/ 29 h 1221"/>
                <a:gd name="T72" fmla="*/ 732 w 1234"/>
                <a:gd name="T73" fmla="*/ 314 h 1221"/>
                <a:gd name="T74" fmla="*/ 522 w 1234"/>
                <a:gd name="T75" fmla="*/ 523 h 1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4" h="1221">
                  <a:moveTo>
                    <a:pt x="522" y="523"/>
                  </a:moveTo>
                  <a:lnTo>
                    <a:pt x="0" y="1045"/>
                  </a:lnTo>
                  <a:lnTo>
                    <a:pt x="50" y="1082"/>
                  </a:lnTo>
                  <a:lnTo>
                    <a:pt x="84" y="1105"/>
                  </a:lnTo>
                  <a:lnTo>
                    <a:pt x="155" y="1145"/>
                  </a:lnTo>
                  <a:lnTo>
                    <a:pt x="228" y="1176"/>
                  </a:lnTo>
                  <a:lnTo>
                    <a:pt x="303" y="1199"/>
                  </a:lnTo>
                  <a:lnTo>
                    <a:pt x="379" y="1214"/>
                  </a:lnTo>
                  <a:lnTo>
                    <a:pt x="456" y="1221"/>
                  </a:lnTo>
                  <a:lnTo>
                    <a:pt x="533" y="1220"/>
                  </a:lnTo>
                  <a:lnTo>
                    <a:pt x="609" y="1212"/>
                  </a:lnTo>
                  <a:lnTo>
                    <a:pt x="684" y="1196"/>
                  </a:lnTo>
                  <a:lnTo>
                    <a:pt x="758" y="1173"/>
                  </a:lnTo>
                  <a:lnTo>
                    <a:pt x="828" y="1142"/>
                  </a:lnTo>
                  <a:lnTo>
                    <a:pt x="895" y="1104"/>
                  </a:lnTo>
                  <a:lnTo>
                    <a:pt x="959" y="1060"/>
                  </a:lnTo>
                  <a:lnTo>
                    <a:pt x="1018" y="1008"/>
                  </a:lnTo>
                  <a:lnTo>
                    <a:pt x="1072" y="950"/>
                  </a:lnTo>
                  <a:lnTo>
                    <a:pt x="1120" y="885"/>
                  </a:lnTo>
                  <a:lnTo>
                    <a:pt x="1142" y="850"/>
                  </a:lnTo>
                  <a:lnTo>
                    <a:pt x="1159" y="819"/>
                  </a:lnTo>
                  <a:lnTo>
                    <a:pt x="1188" y="752"/>
                  </a:lnTo>
                  <a:lnTo>
                    <a:pt x="1210" y="680"/>
                  </a:lnTo>
                  <a:lnTo>
                    <a:pt x="1225" y="605"/>
                  </a:lnTo>
                  <a:lnTo>
                    <a:pt x="1233" y="528"/>
                  </a:lnTo>
                  <a:lnTo>
                    <a:pt x="1234" y="450"/>
                  </a:lnTo>
                  <a:lnTo>
                    <a:pt x="1228" y="374"/>
                  </a:lnTo>
                  <a:lnTo>
                    <a:pt x="1214" y="300"/>
                  </a:lnTo>
                  <a:lnTo>
                    <a:pt x="1203" y="265"/>
                  </a:lnTo>
                  <a:lnTo>
                    <a:pt x="1190" y="224"/>
                  </a:lnTo>
                  <a:lnTo>
                    <a:pt x="1150" y="135"/>
                  </a:lnTo>
                  <a:lnTo>
                    <a:pt x="1107" y="55"/>
                  </a:lnTo>
                  <a:lnTo>
                    <a:pt x="1078" y="15"/>
                  </a:lnTo>
                  <a:lnTo>
                    <a:pt x="1064" y="1"/>
                  </a:lnTo>
                  <a:lnTo>
                    <a:pt x="1058" y="0"/>
                  </a:lnTo>
                  <a:lnTo>
                    <a:pt x="1023" y="29"/>
                  </a:lnTo>
                  <a:lnTo>
                    <a:pt x="732" y="314"/>
                  </a:lnTo>
                  <a:lnTo>
                    <a:pt x="522" y="5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8" name="Freeform 200">
              <a:extLst>
                <a:ext uri="{FF2B5EF4-FFF2-40B4-BE49-F238E27FC236}">
                  <a16:creationId xmlns:a16="http://schemas.microsoft.com/office/drawing/2014/main" id="{BFD9A124-8A67-3AB6-FE0C-96FA596BBA02}"/>
                </a:ext>
              </a:extLst>
            </p:cNvPr>
            <p:cNvSpPr>
              <a:spLocks/>
            </p:cNvSpPr>
            <p:nvPr/>
          </p:nvSpPr>
          <p:spPr bwMode="auto">
            <a:xfrm>
              <a:off x="3543301" y="1558925"/>
              <a:ext cx="219075" cy="44450"/>
            </a:xfrm>
            <a:custGeom>
              <a:avLst/>
              <a:gdLst>
                <a:gd name="T0" fmla="*/ 16 w 932"/>
                <a:gd name="T1" fmla="*/ 32 h 184"/>
                <a:gd name="T2" fmla="*/ 7 w 932"/>
                <a:gd name="T3" fmla="*/ 51 h 184"/>
                <a:gd name="T4" fmla="*/ 0 w 932"/>
                <a:gd name="T5" fmla="*/ 87 h 184"/>
                <a:gd name="T6" fmla="*/ 5 w 932"/>
                <a:gd name="T7" fmla="*/ 120 h 184"/>
                <a:gd name="T8" fmla="*/ 22 w 932"/>
                <a:gd name="T9" fmla="*/ 146 h 184"/>
                <a:gd name="T10" fmla="*/ 36 w 932"/>
                <a:gd name="T11" fmla="*/ 157 h 184"/>
                <a:gd name="T12" fmla="*/ 49 w 932"/>
                <a:gd name="T13" fmla="*/ 165 h 184"/>
                <a:gd name="T14" fmla="*/ 98 w 932"/>
                <a:gd name="T15" fmla="*/ 175 h 184"/>
                <a:gd name="T16" fmla="*/ 252 w 932"/>
                <a:gd name="T17" fmla="*/ 183 h 184"/>
                <a:gd name="T18" fmla="*/ 466 w 932"/>
                <a:gd name="T19" fmla="*/ 184 h 184"/>
                <a:gd name="T20" fmla="*/ 680 w 932"/>
                <a:gd name="T21" fmla="*/ 183 h 184"/>
                <a:gd name="T22" fmla="*/ 834 w 932"/>
                <a:gd name="T23" fmla="*/ 175 h 184"/>
                <a:gd name="T24" fmla="*/ 883 w 932"/>
                <a:gd name="T25" fmla="*/ 165 h 184"/>
                <a:gd name="T26" fmla="*/ 896 w 932"/>
                <a:gd name="T27" fmla="*/ 157 h 184"/>
                <a:gd name="T28" fmla="*/ 910 w 932"/>
                <a:gd name="T29" fmla="*/ 146 h 184"/>
                <a:gd name="T30" fmla="*/ 927 w 932"/>
                <a:gd name="T31" fmla="*/ 120 h 184"/>
                <a:gd name="T32" fmla="*/ 932 w 932"/>
                <a:gd name="T33" fmla="*/ 87 h 184"/>
                <a:gd name="T34" fmla="*/ 925 w 932"/>
                <a:gd name="T35" fmla="*/ 51 h 184"/>
                <a:gd name="T36" fmla="*/ 916 w 932"/>
                <a:gd name="T37" fmla="*/ 32 h 184"/>
                <a:gd name="T38" fmla="*/ 913 w 932"/>
                <a:gd name="T39" fmla="*/ 27 h 184"/>
                <a:gd name="T40" fmla="*/ 904 w 932"/>
                <a:gd name="T41" fmla="*/ 18 h 184"/>
                <a:gd name="T42" fmla="*/ 877 w 932"/>
                <a:gd name="T43" fmla="*/ 9 h 184"/>
                <a:gd name="T44" fmla="*/ 725 w 932"/>
                <a:gd name="T45" fmla="*/ 1 h 184"/>
                <a:gd name="T46" fmla="*/ 466 w 932"/>
                <a:gd name="T47" fmla="*/ 0 h 184"/>
                <a:gd name="T48" fmla="*/ 207 w 932"/>
                <a:gd name="T49" fmla="*/ 1 h 184"/>
                <a:gd name="T50" fmla="*/ 55 w 932"/>
                <a:gd name="T51" fmla="*/ 9 h 184"/>
                <a:gd name="T52" fmla="*/ 28 w 932"/>
                <a:gd name="T53" fmla="*/ 18 h 184"/>
                <a:gd name="T54" fmla="*/ 19 w 932"/>
                <a:gd name="T55" fmla="*/ 27 h 184"/>
                <a:gd name="T56" fmla="*/ 16 w 932"/>
                <a:gd name="T57"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32" h="184">
                  <a:moveTo>
                    <a:pt x="16" y="32"/>
                  </a:moveTo>
                  <a:lnTo>
                    <a:pt x="7" y="51"/>
                  </a:lnTo>
                  <a:lnTo>
                    <a:pt x="0" y="87"/>
                  </a:lnTo>
                  <a:lnTo>
                    <a:pt x="5" y="120"/>
                  </a:lnTo>
                  <a:lnTo>
                    <a:pt x="22" y="146"/>
                  </a:lnTo>
                  <a:lnTo>
                    <a:pt x="36" y="157"/>
                  </a:lnTo>
                  <a:lnTo>
                    <a:pt x="49" y="165"/>
                  </a:lnTo>
                  <a:lnTo>
                    <a:pt x="98" y="175"/>
                  </a:lnTo>
                  <a:lnTo>
                    <a:pt x="252" y="183"/>
                  </a:lnTo>
                  <a:lnTo>
                    <a:pt x="466" y="184"/>
                  </a:lnTo>
                  <a:lnTo>
                    <a:pt x="680" y="183"/>
                  </a:lnTo>
                  <a:lnTo>
                    <a:pt x="834" y="175"/>
                  </a:lnTo>
                  <a:lnTo>
                    <a:pt x="883" y="165"/>
                  </a:lnTo>
                  <a:lnTo>
                    <a:pt x="896" y="157"/>
                  </a:lnTo>
                  <a:lnTo>
                    <a:pt x="910" y="146"/>
                  </a:lnTo>
                  <a:lnTo>
                    <a:pt x="927" y="120"/>
                  </a:lnTo>
                  <a:lnTo>
                    <a:pt x="932" y="87"/>
                  </a:lnTo>
                  <a:lnTo>
                    <a:pt x="925" y="51"/>
                  </a:lnTo>
                  <a:lnTo>
                    <a:pt x="916" y="32"/>
                  </a:lnTo>
                  <a:lnTo>
                    <a:pt x="913" y="27"/>
                  </a:lnTo>
                  <a:lnTo>
                    <a:pt x="904" y="18"/>
                  </a:lnTo>
                  <a:lnTo>
                    <a:pt x="877" y="9"/>
                  </a:lnTo>
                  <a:lnTo>
                    <a:pt x="725" y="1"/>
                  </a:lnTo>
                  <a:lnTo>
                    <a:pt x="466" y="0"/>
                  </a:lnTo>
                  <a:lnTo>
                    <a:pt x="207" y="1"/>
                  </a:lnTo>
                  <a:lnTo>
                    <a:pt x="55" y="9"/>
                  </a:lnTo>
                  <a:lnTo>
                    <a:pt x="28"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9" name="Freeform 201">
              <a:extLst>
                <a:ext uri="{FF2B5EF4-FFF2-40B4-BE49-F238E27FC236}">
                  <a16:creationId xmlns:a16="http://schemas.microsoft.com/office/drawing/2014/main" id="{F90A36E9-B907-EA08-3D49-36FCEAB8D37A}"/>
                </a:ext>
              </a:extLst>
            </p:cNvPr>
            <p:cNvSpPr>
              <a:spLocks/>
            </p:cNvSpPr>
            <p:nvPr/>
          </p:nvSpPr>
          <p:spPr bwMode="auto">
            <a:xfrm>
              <a:off x="3543301" y="1668463"/>
              <a:ext cx="371475" cy="44450"/>
            </a:xfrm>
            <a:custGeom>
              <a:avLst/>
              <a:gdLst>
                <a:gd name="T0" fmla="*/ 16 w 1582"/>
                <a:gd name="T1" fmla="*/ 32 h 183"/>
                <a:gd name="T2" fmla="*/ 7 w 1582"/>
                <a:gd name="T3" fmla="*/ 51 h 183"/>
                <a:gd name="T4" fmla="*/ 0 w 1582"/>
                <a:gd name="T5" fmla="*/ 87 h 183"/>
                <a:gd name="T6" fmla="*/ 5 w 1582"/>
                <a:gd name="T7" fmla="*/ 119 h 183"/>
                <a:gd name="T8" fmla="*/ 22 w 1582"/>
                <a:gd name="T9" fmla="*/ 146 h 183"/>
                <a:gd name="T10" fmla="*/ 36 w 1582"/>
                <a:gd name="T11" fmla="*/ 157 h 183"/>
                <a:gd name="T12" fmla="*/ 43 w 1582"/>
                <a:gd name="T13" fmla="*/ 161 h 183"/>
                <a:gd name="T14" fmla="*/ 64 w 1582"/>
                <a:gd name="T15" fmla="*/ 168 h 183"/>
                <a:gd name="T16" fmla="*/ 122 w 1582"/>
                <a:gd name="T17" fmla="*/ 176 h 183"/>
                <a:gd name="T18" fmla="*/ 394 w 1582"/>
                <a:gd name="T19" fmla="*/ 183 h 183"/>
                <a:gd name="T20" fmla="*/ 801 w 1582"/>
                <a:gd name="T21" fmla="*/ 183 h 183"/>
                <a:gd name="T22" fmla="*/ 1234 w 1582"/>
                <a:gd name="T23" fmla="*/ 183 h 183"/>
                <a:gd name="T24" fmla="*/ 1489 w 1582"/>
                <a:gd name="T25" fmla="*/ 176 h 183"/>
                <a:gd name="T26" fmla="*/ 1535 w 1582"/>
                <a:gd name="T27" fmla="*/ 167 h 183"/>
                <a:gd name="T28" fmla="*/ 1549 w 1582"/>
                <a:gd name="T29" fmla="*/ 158 h 183"/>
                <a:gd name="T30" fmla="*/ 1554 w 1582"/>
                <a:gd name="T31" fmla="*/ 153 h 183"/>
                <a:gd name="T32" fmla="*/ 1566 w 1582"/>
                <a:gd name="T33" fmla="*/ 139 h 183"/>
                <a:gd name="T34" fmla="*/ 1580 w 1582"/>
                <a:gd name="T35" fmla="*/ 103 h 183"/>
                <a:gd name="T36" fmla="*/ 1582 w 1582"/>
                <a:gd name="T37" fmla="*/ 65 h 183"/>
                <a:gd name="T38" fmla="*/ 1572 w 1582"/>
                <a:gd name="T39" fmla="*/ 32 h 183"/>
                <a:gd name="T40" fmla="*/ 1563 w 1582"/>
                <a:gd name="T41" fmla="*/ 20 h 183"/>
                <a:gd name="T42" fmla="*/ 1551 w 1582"/>
                <a:gd name="T43" fmla="*/ 15 h 183"/>
                <a:gd name="T44" fmla="*/ 1464 w 1582"/>
                <a:gd name="T45" fmla="*/ 7 h 183"/>
                <a:gd name="T46" fmla="*/ 1165 w 1582"/>
                <a:gd name="T47" fmla="*/ 1 h 183"/>
                <a:gd name="T48" fmla="*/ 788 w 1582"/>
                <a:gd name="T49" fmla="*/ 0 h 183"/>
                <a:gd name="T50" fmla="*/ 329 w 1582"/>
                <a:gd name="T51" fmla="*/ 0 h 183"/>
                <a:gd name="T52" fmla="*/ 71 w 1582"/>
                <a:gd name="T53" fmla="*/ 8 h 183"/>
                <a:gd name="T54" fmla="*/ 30 w 1582"/>
                <a:gd name="T55" fmla="*/ 18 h 183"/>
                <a:gd name="T56" fmla="*/ 19 w 1582"/>
                <a:gd name="T57" fmla="*/ 26 h 183"/>
                <a:gd name="T58" fmla="*/ 16 w 1582"/>
                <a:gd name="T59" fmla="*/ 3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3">
                  <a:moveTo>
                    <a:pt x="16" y="32"/>
                  </a:moveTo>
                  <a:lnTo>
                    <a:pt x="7" y="51"/>
                  </a:lnTo>
                  <a:lnTo>
                    <a:pt x="0" y="87"/>
                  </a:lnTo>
                  <a:lnTo>
                    <a:pt x="5" y="119"/>
                  </a:lnTo>
                  <a:lnTo>
                    <a:pt x="22" y="146"/>
                  </a:lnTo>
                  <a:lnTo>
                    <a:pt x="36" y="157"/>
                  </a:lnTo>
                  <a:lnTo>
                    <a:pt x="43" y="161"/>
                  </a:lnTo>
                  <a:lnTo>
                    <a:pt x="64" y="168"/>
                  </a:lnTo>
                  <a:lnTo>
                    <a:pt x="122" y="176"/>
                  </a:lnTo>
                  <a:lnTo>
                    <a:pt x="394" y="183"/>
                  </a:lnTo>
                  <a:lnTo>
                    <a:pt x="801" y="183"/>
                  </a:lnTo>
                  <a:lnTo>
                    <a:pt x="1234" y="183"/>
                  </a:lnTo>
                  <a:lnTo>
                    <a:pt x="1489" y="176"/>
                  </a:lnTo>
                  <a:lnTo>
                    <a:pt x="1535" y="167"/>
                  </a:lnTo>
                  <a:lnTo>
                    <a:pt x="1549" y="158"/>
                  </a:lnTo>
                  <a:lnTo>
                    <a:pt x="1554" y="153"/>
                  </a:lnTo>
                  <a:lnTo>
                    <a:pt x="1566" y="139"/>
                  </a:lnTo>
                  <a:lnTo>
                    <a:pt x="1580" y="103"/>
                  </a:lnTo>
                  <a:lnTo>
                    <a:pt x="1582" y="65"/>
                  </a:lnTo>
                  <a:lnTo>
                    <a:pt x="1572" y="32"/>
                  </a:lnTo>
                  <a:lnTo>
                    <a:pt x="1563" y="20"/>
                  </a:lnTo>
                  <a:lnTo>
                    <a:pt x="1551" y="15"/>
                  </a:lnTo>
                  <a:lnTo>
                    <a:pt x="1464" y="7"/>
                  </a:lnTo>
                  <a:lnTo>
                    <a:pt x="1165" y="1"/>
                  </a:lnTo>
                  <a:lnTo>
                    <a:pt x="788" y="0"/>
                  </a:lnTo>
                  <a:lnTo>
                    <a:pt x="329" y="0"/>
                  </a:lnTo>
                  <a:lnTo>
                    <a:pt x="71" y="8"/>
                  </a:lnTo>
                  <a:lnTo>
                    <a:pt x="30" y="18"/>
                  </a:lnTo>
                  <a:lnTo>
                    <a:pt x="19" y="26"/>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grpSp>
    </p:spTree>
    <p:extLst>
      <p:ext uri="{BB962C8B-B14F-4D97-AF65-F5344CB8AC3E}">
        <p14:creationId xmlns:p14="http://schemas.microsoft.com/office/powerpoint/2010/main" val="2795669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الإصدارات والمراجعات</a:t>
            </a:r>
            <a:endParaRPr lang="en-US" dirty="0"/>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887118867"/>
              </p:ext>
            </p:extLst>
          </p:nvPr>
        </p:nvGraphicFramePr>
        <p:xfrm>
          <a:off x="609601" y="1237422"/>
          <a:ext cx="10972798" cy="4572986"/>
        </p:xfrm>
        <a:graphic>
          <a:graphicData uri="http://schemas.openxmlformats.org/drawingml/2006/table">
            <a:tbl>
              <a:tblPr rtl="1" firstRow="1" bandRow="1">
                <a:tableStyleId>{2D5ABB26-0587-4C30-8999-92F81FD0307C}</a:tableStyleId>
              </a:tblPr>
              <a:tblGrid>
                <a:gridCol w="1288225">
                  <a:extLst>
                    <a:ext uri="{9D8B030D-6E8A-4147-A177-3AD203B41FA5}">
                      <a16:colId xmlns:a16="http://schemas.microsoft.com/office/drawing/2014/main" val="3246697180"/>
                    </a:ext>
                  </a:extLst>
                </a:gridCol>
                <a:gridCol w="1233878">
                  <a:extLst>
                    <a:ext uri="{9D8B030D-6E8A-4147-A177-3AD203B41FA5}">
                      <a16:colId xmlns:a16="http://schemas.microsoft.com/office/drawing/2014/main" val="1695347223"/>
                    </a:ext>
                  </a:extLst>
                </a:gridCol>
                <a:gridCol w="2586925">
                  <a:extLst>
                    <a:ext uri="{9D8B030D-6E8A-4147-A177-3AD203B41FA5}">
                      <a16:colId xmlns:a16="http://schemas.microsoft.com/office/drawing/2014/main" val="2017486071"/>
                    </a:ext>
                  </a:extLst>
                </a:gridCol>
                <a:gridCol w="3281284">
                  <a:extLst>
                    <a:ext uri="{9D8B030D-6E8A-4147-A177-3AD203B41FA5}">
                      <a16:colId xmlns:a16="http://schemas.microsoft.com/office/drawing/2014/main" val="2702421411"/>
                    </a:ext>
                  </a:extLst>
                </a:gridCol>
                <a:gridCol w="2582486">
                  <a:extLst>
                    <a:ext uri="{9D8B030D-6E8A-4147-A177-3AD203B41FA5}">
                      <a16:colId xmlns:a16="http://schemas.microsoft.com/office/drawing/2014/main" val="3621974949"/>
                    </a:ext>
                  </a:extLst>
                </a:gridCol>
              </a:tblGrid>
              <a:tr h="506402">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إصدار الوثيقة</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إعداد</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الوصف</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cs typeface="Sakkal Majalla" panose="02000000000000000000" pitchFamily="2" charset="-78"/>
                        </a:rPr>
                        <a:t>0.1</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7-Aug-2024</a:t>
                      </a: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EG" sz="1800" kern="1200" dirty="0">
                          <a:solidFill>
                            <a:schemeClr val="tx1"/>
                          </a:solidFill>
                          <a:effectLst/>
                          <a:latin typeface="Sakkal Majalla" panose="02000000000000000000" pitchFamily="2" charset="-78"/>
                          <a:ea typeface="+mn-ea"/>
                          <a:cs typeface="Sakkal Majalla" panose="02000000000000000000" pitchFamily="2" charset="-78"/>
                        </a:rPr>
                        <a:t>م. احمد شوقي</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Y" sz="1800" kern="1200" dirty="0">
                          <a:solidFill>
                            <a:schemeClr val="tx1"/>
                          </a:solidFill>
                          <a:effectLst/>
                          <a:latin typeface="Sakkal Majalla" panose="02000000000000000000" pitchFamily="2" charset="-78"/>
                          <a:ea typeface="+mn-ea"/>
                          <a:cs typeface="Sakkal Majalla" panose="02000000000000000000" pitchFamily="2" charset="-78"/>
                        </a:rPr>
                        <a:t>استشاري</a:t>
                      </a:r>
                      <a:r>
                        <a:rPr lang="ar-EG" sz="1800" kern="1200" dirty="0">
                          <a:solidFill>
                            <a:schemeClr val="tx1"/>
                          </a:solidFill>
                          <a:effectLst/>
                          <a:latin typeface="Sakkal Majalla" panose="02000000000000000000" pitchFamily="2" charset="-78"/>
                          <a:ea typeface="+mn-ea"/>
                          <a:cs typeface="Sakkal Majalla" panose="02000000000000000000" pitchFamily="2" charset="-78"/>
                        </a:rPr>
                        <a:t> أول</a:t>
                      </a:r>
                      <a:r>
                        <a:rPr lang="ar-SY" sz="1800" kern="1200" dirty="0">
                          <a:solidFill>
                            <a:schemeClr val="tx1"/>
                          </a:solidFill>
                          <a:effectLst/>
                          <a:latin typeface="Sakkal Majalla" panose="02000000000000000000" pitchFamily="2" charset="-78"/>
                          <a:ea typeface="+mn-ea"/>
                          <a:cs typeface="Sakkal Majalla" panose="02000000000000000000" pitchFamily="2" charset="-78"/>
                        </a:rPr>
                        <a:t> </a:t>
                      </a:r>
                      <a:r>
                        <a:rPr lang="ar-EG" sz="1800" kern="1200" dirty="0">
                          <a:solidFill>
                            <a:schemeClr val="tx1"/>
                          </a:solidFill>
                          <a:effectLst/>
                          <a:latin typeface="Sakkal Majalla" panose="02000000000000000000" pitchFamily="2" charset="-78"/>
                          <a:ea typeface="+mn-ea"/>
                          <a:cs typeface="Sakkal Majalla" panose="02000000000000000000" pitchFamily="2" charset="-78"/>
                        </a:rPr>
                        <a:t>البنية المؤسسية - ريناد المجد</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SY"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نسخة أولية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0.1</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18-Aug-2024</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فريق البنية</a:t>
                      </a:r>
                      <a:r>
                        <a:rPr lang="ar-SA" sz="1800" kern="1200" baseline="0" dirty="0">
                          <a:solidFill>
                            <a:schemeClr val="tx1"/>
                          </a:solidFill>
                          <a:effectLst/>
                          <a:latin typeface="Sakkal Majalla" panose="02000000000000000000" pitchFamily="2" charset="-78"/>
                          <a:ea typeface="+mn-ea"/>
                          <a:cs typeface="Sakkal Majalla" panose="02000000000000000000" pitchFamily="2" charset="-78"/>
                        </a:rPr>
                        <a:t> المؤسسية في الهيئة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مراجعة الوثيقة</a:t>
                      </a: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cs typeface="Sakkal Majalla" panose="02000000000000000000" pitchFamily="2" charset="-78"/>
                        </a:rPr>
                        <a:t>0.2</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20-Aug-2024</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EG" sz="1800" kern="1200" dirty="0">
                          <a:solidFill>
                            <a:schemeClr val="tx1"/>
                          </a:solidFill>
                          <a:effectLst/>
                          <a:latin typeface="Sakkal Majalla" panose="02000000000000000000" pitchFamily="2" charset="-78"/>
                          <a:ea typeface="+mn-ea"/>
                          <a:cs typeface="Sakkal Majalla" panose="02000000000000000000" pitchFamily="2" charset="-78"/>
                        </a:rPr>
                        <a:t>م. احمد شوقي</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Y" sz="1800" kern="1200" dirty="0">
                          <a:solidFill>
                            <a:schemeClr val="tx1"/>
                          </a:solidFill>
                          <a:effectLst/>
                          <a:latin typeface="Sakkal Majalla" panose="02000000000000000000" pitchFamily="2" charset="-78"/>
                          <a:ea typeface="+mn-ea"/>
                          <a:cs typeface="Sakkal Majalla" panose="02000000000000000000" pitchFamily="2" charset="-78"/>
                        </a:rPr>
                        <a:t>استشاري</a:t>
                      </a:r>
                      <a:r>
                        <a:rPr lang="ar-EG" sz="1800" kern="1200" dirty="0">
                          <a:solidFill>
                            <a:schemeClr val="tx1"/>
                          </a:solidFill>
                          <a:effectLst/>
                          <a:latin typeface="Sakkal Majalla" panose="02000000000000000000" pitchFamily="2" charset="-78"/>
                          <a:ea typeface="+mn-ea"/>
                          <a:cs typeface="Sakkal Majalla" panose="02000000000000000000" pitchFamily="2" charset="-78"/>
                        </a:rPr>
                        <a:t> أول</a:t>
                      </a:r>
                      <a:r>
                        <a:rPr lang="ar-SY" sz="1800" kern="1200" dirty="0">
                          <a:solidFill>
                            <a:schemeClr val="tx1"/>
                          </a:solidFill>
                          <a:effectLst/>
                          <a:latin typeface="Sakkal Majalla" panose="02000000000000000000" pitchFamily="2" charset="-78"/>
                          <a:ea typeface="+mn-ea"/>
                          <a:cs typeface="Sakkal Majalla" panose="02000000000000000000" pitchFamily="2" charset="-78"/>
                        </a:rPr>
                        <a:t> </a:t>
                      </a:r>
                      <a:r>
                        <a:rPr lang="ar-EG" sz="1800" kern="1200" dirty="0">
                          <a:solidFill>
                            <a:schemeClr val="tx1"/>
                          </a:solidFill>
                          <a:effectLst/>
                          <a:latin typeface="Sakkal Majalla" panose="02000000000000000000" pitchFamily="2" charset="-78"/>
                          <a:ea typeface="+mn-ea"/>
                          <a:cs typeface="Sakkal Majalla" panose="02000000000000000000" pitchFamily="2" charset="-78"/>
                        </a:rPr>
                        <a:t>البنية المؤسسية - ريناد المجد</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تطبيق ملاحظات مراجعة فريق البنية المؤسسية لدى الهيئة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0.2</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24-Aug-2024</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فريق</a:t>
                      </a:r>
                      <a:r>
                        <a:rPr lang="ar-SA" sz="1800" kern="1200" baseline="0" dirty="0">
                          <a:solidFill>
                            <a:schemeClr val="tx1"/>
                          </a:solidFill>
                          <a:effectLst/>
                          <a:latin typeface="Sakkal Majalla" panose="02000000000000000000" pitchFamily="2" charset="-78"/>
                          <a:ea typeface="+mn-ea"/>
                          <a:cs typeface="Sakkal Majalla" panose="02000000000000000000" pitchFamily="2" charset="-78"/>
                        </a:rPr>
                        <a:t> البنية المؤسسية في الهيئة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مراجعة تطبيق الملاحظات</a:t>
                      </a: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77945649"/>
                  </a:ext>
                </a:extLst>
              </a:tr>
              <a:tr h="677764">
                <a:tc>
                  <a:txBody>
                    <a:bodyPr/>
                    <a:lstStyle/>
                    <a:p>
                      <a:pPr algn="ctr" rtl="1">
                        <a:lnSpc>
                          <a:spcPct val="115000"/>
                        </a:lnSpc>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88316617"/>
                  </a:ext>
                </a:extLst>
              </a:tr>
              <a:tr h="677764">
                <a:tc>
                  <a:txBody>
                    <a:bodyPr/>
                    <a:lstStyle/>
                    <a:p>
                      <a:pPr algn="ctr" rtl="1">
                        <a:lnSpc>
                          <a:spcPct val="115000"/>
                        </a:lnSpc>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32939493"/>
                  </a:ext>
                </a:extLst>
              </a:tr>
            </a:tbl>
          </a:graphicData>
        </a:graphic>
      </p:graphicFrame>
    </p:spTree>
    <p:extLst>
      <p:ext uri="{BB962C8B-B14F-4D97-AF65-F5344CB8AC3E}">
        <p14:creationId xmlns:p14="http://schemas.microsoft.com/office/powerpoint/2010/main" val="2854880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الاعتمادات</a:t>
            </a:r>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1613771609"/>
              </p:ext>
            </p:extLst>
          </p:nvPr>
        </p:nvGraphicFramePr>
        <p:xfrm>
          <a:off x="609600" y="1237422"/>
          <a:ext cx="10972800" cy="4572985"/>
        </p:xfrm>
        <a:graphic>
          <a:graphicData uri="http://schemas.openxmlformats.org/drawingml/2006/table">
            <a:tbl>
              <a:tblPr rtl="1" firstRow="1" bandRow="1">
                <a:tableStyleId>{2D5ABB26-0587-4C30-8999-92F81FD0307C}</a:tableStyleId>
              </a:tblPr>
              <a:tblGrid>
                <a:gridCol w="1316817">
                  <a:extLst>
                    <a:ext uri="{9D8B030D-6E8A-4147-A177-3AD203B41FA5}">
                      <a16:colId xmlns:a16="http://schemas.microsoft.com/office/drawing/2014/main" val="3246697180"/>
                    </a:ext>
                  </a:extLst>
                </a:gridCol>
                <a:gridCol w="2540543">
                  <a:extLst>
                    <a:ext uri="{9D8B030D-6E8A-4147-A177-3AD203B41FA5}">
                      <a16:colId xmlns:a16="http://schemas.microsoft.com/office/drawing/2014/main" val="1695347223"/>
                    </a:ext>
                  </a:extLst>
                </a:gridCol>
                <a:gridCol w="2685931">
                  <a:extLst>
                    <a:ext uri="{9D8B030D-6E8A-4147-A177-3AD203B41FA5}">
                      <a16:colId xmlns:a16="http://schemas.microsoft.com/office/drawing/2014/main" val="2017486071"/>
                    </a:ext>
                  </a:extLst>
                </a:gridCol>
                <a:gridCol w="2853484">
                  <a:extLst>
                    <a:ext uri="{9D8B030D-6E8A-4147-A177-3AD203B41FA5}">
                      <a16:colId xmlns:a16="http://schemas.microsoft.com/office/drawing/2014/main" val="2702421411"/>
                    </a:ext>
                  </a:extLst>
                </a:gridCol>
                <a:gridCol w="1576025">
                  <a:extLst>
                    <a:ext uri="{9D8B030D-6E8A-4147-A177-3AD203B41FA5}">
                      <a16:colId xmlns:a16="http://schemas.microsoft.com/office/drawing/2014/main" val="3621974949"/>
                    </a:ext>
                  </a:extLst>
                </a:gridCol>
              </a:tblGrid>
              <a:tr h="911830">
                <a:tc>
                  <a:txBody>
                    <a:bodyPr/>
                    <a:lstStyle/>
                    <a:p>
                      <a:pPr algn="ctr" rtl="1">
                        <a:lnSpc>
                          <a:spcPct val="115000"/>
                        </a:lnSpc>
                        <a:spcAft>
                          <a:spcPts val="0"/>
                        </a:spcAft>
                      </a:pP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الاسم</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التوقيع</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1220385">
                <a:tc>
                  <a:txBody>
                    <a:bodyPr/>
                    <a:lstStyle/>
                    <a:p>
                      <a:pPr algn="ctr" rtl="1">
                        <a:lnSpc>
                          <a:spcPct val="115000"/>
                        </a:lnSpc>
                        <a:spcAft>
                          <a:spcPts val="0"/>
                        </a:spcAft>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kern="1200" dirty="0" smtClean="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دانا الغضبان</a:t>
                      </a: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smtClean="0">
                          <a:solidFill>
                            <a:schemeClr val="tx1"/>
                          </a:solidFill>
                          <a:effectLst/>
                          <a:latin typeface="Sakkal Majalla" panose="02000000000000000000" pitchFamily="2" charset="-78"/>
                          <a:ea typeface="+mn-ea"/>
                          <a:cs typeface="Sakkal Majalla" panose="02000000000000000000" pitchFamily="2" charset="-78"/>
                        </a:rPr>
                        <a:t>مدير قسم 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en-US" sz="1800" smtClean="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11-Sep-2024</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kern="1200" dirty="0" smtClean="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د.</a:t>
                      </a:r>
                      <a:r>
                        <a:rPr lang="ar-SA" sz="1800" kern="1200" baseline="0" dirty="0" smtClean="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 يوسف </a:t>
                      </a:r>
                      <a:r>
                        <a:rPr lang="ar-SA" sz="1800" kern="1200" baseline="0" dirty="0" err="1" smtClean="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العوهلي</a:t>
                      </a:r>
                      <a:r>
                        <a:rPr lang="ar-SA" sz="1800" kern="1200" baseline="0" dirty="0" smtClean="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 </a:t>
                      </a: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kumimoji="0" lang="ar-SA" sz="1800" b="0" i="0" u="none" strike="noStrike" kern="1200" cap="none" spc="0" normalizeH="0" baseline="0" noProof="0" dirty="0" smtClean="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rPr>
                        <a:t>مساعد الرئيس </a:t>
                      </a:r>
                      <a:r>
                        <a:rPr kumimoji="0" lang="ar-SA" sz="1800" b="0" i="0" u="none" strike="noStrike" kern="1200" cap="none" spc="0" normalizeH="0" baseline="0" noProof="0" smtClean="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rPr>
                        <a:t>للبيانات والتحول الرقمي</a:t>
                      </a: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bl>
          </a:graphicData>
        </a:graphic>
      </p:graphicFrame>
    </p:spTree>
    <p:extLst>
      <p:ext uri="{BB962C8B-B14F-4D97-AF65-F5344CB8AC3E}">
        <p14:creationId xmlns:p14="http://schemas.microsoft.com/office/powerpoint/2010/main" val="340058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itle 127">
            <a:extLst>
              <a:ext uri="{FF2B5EF4-FFF2-40B4-BE49-F238E27FC236}">
                <a16:creationId xmlns:a16="http://schemas.microsoft.com/office/drawing/2014/main" id="{1C6423EB-C4FD-85A8-22C2-F9D9A47AD52D}"/>
              </a:ext>
            </a:extLst>
          </p:cNvPr>
          <p:cNvSpPr>
            <a:spLocks noGrp="1"/>
          </p:cNvSpPr>
          <p:nvPr>
            <p:ph type="title"/>
          </p:nvPr>
        </p:nvSpPr>
        <p:spPr/>
        <p:txBody>
          <a:bodyPr/>
          <a:lstStyle/>
          <a:p>
            <a:pPr algn="ctr"/>
            <a:r>
              <a:rPr lang="ar-EG" dirty="0"/>
              <a:t>جدول المحتويات</a:t>
            </a:r>
            <a:endParaRPr lang="en-GB" dirty="0"/>
          </a:p>
        </p:txBody>
      </p:sp>
      <p:sp>
        <p:nvSpPr>
          <p:cNvPr id="111" name="Text Placeholder 11">
            <a:extLst>
              <a:ext uri="{FF2B5EF4-FFF2-40B4-BE49-F238E27FC236}">
                <a16:creationId xmlns:a16="http://schemas.microsoft.com/office/drawing/2014/main" id="{AC9FBA39-545A-2B44-3B82-F6A05AD587ED}"/>
              </a:ext>
            </a:extLst>
          </p:cNvPr>
          <p:cNvSpPr txBox="1">
            <a:spLocks/>
          </p:cNvSpPr>
          <p:nvPr/>
        </p:nvSpPr>
        <p:spPr>
          <a:xfrm>
            <a:off x="4443008" y="1182749"/>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2" action="ppaction://hlinksldjump"/>
              </a:rPr>
              <a:t>مقدمة حول إدارة متطلبات البنية المؤسسية</a:t>
            </a:r>
            <a:endParaRPr lang="ar-EG" dirty="0">
              <a:solidFill>
                <a:schemeClr val="accent1"/>
              </a:solidFill>
            </a:endParaRPr>
          </a:p>
        </p:txBody>
      </p:sp>
      <p:sp>
        <p:nvSpPr>
          <p:cNvPr id="113" name="Text Placeholder 6">
            <a:extLst>
              <a:ext uri="{FF2B5EF4-FFF2-40B4-BE49-F238E27FC236}">
                <a16:creationId xmlns:a16="http://schemas.microsoft.com/office/drawing/2014/main" id="{6B10A3DA-6096-5CBC-3C34-1BDB4D3ED90C}"/>
              </a:ext>
            </a:extLst>
          </p:cNvPr>
          <p:cNvSpPr txBox="1">
            <a:spLocks/>
          </p:cNvSpPr>
          <p:nvPr/>
        </p:nvSpPr>
        <p:spPr>
          <a:xfrm>
            <a:off x="7715771" y="1155040"/>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800" dirty="0"/>
              <a:t>1</a:t>
            </a:r>
            <a:endParaRPr lang="en-US" sz="1800" dirty="0"/>
          </a:p>
        </p:txBody>
      </p:sp>
      <p:sp>
        <p:nvSpPr>
          <p:cNvPr id="120" name="Text Placeholder 11">
            <a:extLst>
              <a:ext uri="{FF2B5EF4-FFF2-40B4-BE49-F238E27FC236}">
                <a16:creationId xmlns:a16="http://schemas.microsoft.com/office/drawing/2014/main" id="{7486E810-41A9-8353-E944-7E95541923EF}"/>
              </a:ext>
            </a:extLst>
          </p:cNvPr>
          <p:cNvSpPr txBox="1">
            <a:spLocks/>
          </p:cNvSpPr>
          <p:nvPr/>
        </p:nvSpPr>
        <p:spPr>
          <a:xfrm>
            <a:off x="609601" y="1182749"/>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3" action="ppaction://hlinksldjump"/>
              </a:rPr>
              <a:t>منهجية إدارة متطلبات البنية المؤسسية</a:t>
            </a:r>
            <a:endParaRPr lang="ar-EG" dirty="0">
              <a:solidFill>
                <a:schemeClr val="accent1"/>
              </a:solidFill>
            </a:endParaRPr>
          </a:p>
        </p:txBody>
      </p:sp>
      <p:sp>
        <p:nvSpPr>
          <p:cNvPr id="122" name="Text Placeholder 6">
            <a:extLst>
              <a:ext uri="{FF2B5EF4-FFF2-40B4-BE49-F238E27FC236}">
                <a16:creationId xmlns:a16="http://schemas.microsoft.com/office/drawing/2014/main" id="{98A2FD5D-5EBB-BA9D-4871-8F2CBDB452E1}"/>
              </a:ext>
            </a:extLst>
          </p:cNvPr>
          <p:cNvSpPr txBox="1">
            <a:spLocks/>
          </p:cNvSpPr>
          <p:nvPr/>
        </p:nvSpPr>
        <p:spPr>
          <a:xfrm>
            <a:off x="3882364" y="1155040"/>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800" dirty="0"/>
              <a:t>2</a:t>
            </a:r>
            <a:endParaRPr lang="en-US" sz="1800" dirty="0"/>
          </a:p>
        </p:txBody>
      </p:sp>
      <p:sp>
        <p:nvSpPr>
          <p:cNvPr id="132" name="Text Placeholder 11">
            <a:extLst>
              <a:ext uri="{FF2B5EF4-FFF2-40B4-BE49-F238E27FC236}">
                <a16:creationId xmlns:a16="http://schemas.microsoft.com/office/drawing/2014/main" id="{1E68A69F-808A-5EF6-F6B5-DCE1E0909512}"/>
              </a:ext>
            </a:extLst>
          </p:cNvPr>
          <p:cNvSpPr txBox="1">
            <a:spLocks/>
          </p:cNvSpPr>
          <p:nvPr/>
        </p:nvSpPr>
        <p:spPr>
          <a:xfrm>
            <a:off x="4438005" y="1525160"/>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4" action="ppaction://hlinksldjump"/>
              </a:rPr>
              <a:t>1.1 تعريف البنية المؤسسية</a:t>
            </a:r>
            <a:endParaRPr lang="ar-EG" sz="1400" dirty="0">
              <a:solidFill>
                <a:schemeClr val="accent2"/>
              </a:solidFill>
            </a:endParaRPr>
          </a:p>
        </p:txBody>
      </p:sp>
      <p:sp>
        <p:nvSpPr>
          <p:cNvPr id="6" name="Text Placeholder 11">
            <a:extLst>
              <a:ext uri="{FF2B5EF4-FFF2-40B4-BE49-F238E27FC236}">
                <a16:creationId xmlns:a16="http://schemas.microsoft.com/office/drawing/2014/main" id="{E672BFDF-BC2C-4D81-F49E-815258EE34C5}"/>
              </a:ext>
            </a:extLst>
          </p:cNvPr>
          <p:cNvSpPr txBox="1">
            <a:spLocks/>
          </p:cNvSpPr>
          <p:nvPr/>
        </p:nvSpPr>
        <p:spPr>
          <a:xfrm>
            <a:off x="4443008" y="2545214"/>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5" action="ppaction://hlinksldjump"/>
              </a:rPr>
              <a:t>سجل متطلبات البنية المؤسسية</a:t>
            </a:r>
            <a:endParaRPr lang="ar-EG" dirty="0">
              <a:solidFill>
                <a:schemeClr val="accent1"/>
              </a:solidFill>
            </a:endParaRPr>
          </a:p>
        </p:txBody>
      </p:sp>
      <p:sp>
        <p:nvSpPr>
          <p:cNvPr id="8" name="Text Placeholder 6">
            <a:extLst>
              <a:ext uri="{FF2B5EF4-FFF2-40B4-BE49-F238E27FC236}">
                <a16:creationId xmlns:a16="http://schemas.microsoft.com/office/drawing/2014/main" id="{1F70DEF4-D70A-96B4-B917-E2AADE86E876}"/>
              </a:ext>
            </a:extLst>
          </p:cNvPr>
          <p:cNvSpPr txBox="1">
            <a:spLocks/>
          </p:cNvSpPr>
          <p:nvPr/>
        </p:nvSpPr>
        <p:spPr>
          <a:xfrm>
            <a:off x="7715771" y="2517505"/>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3</a:t>
            </a:r>
          </a:p>
        </p:txBody>
      </p:sp>
      <p:sp>
        <p:nvSpPr>
          <p:cNvPr id="13" name="Text Placeholder 11">
            <a:extLst>
              <a:ext uri="{FF2B5EF4-FFF2-40B4-BE49-F238E27FC236}">
                <a16:creationId xmlns:a16="http://schemas.microsoft.com/office/drawing/2014/main" id="{C69C353C-C37F-E975-A66E-9567DB20BB4B}"/>
              </a:ext>
            </a:extLst>
          </p:cNvPr>
          <p:cNvSpPr txBox="1">
            <a:spLocks/>
          </p:cNvSpPr>
          <p:nvPr/>
        </p:nvSpPr>
        <p:spPr>
          <a:xfrm>
            <a:off x="4435795" y="1766490"/>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6" action="ppaction://hlinksldjump"/>
              </a:rPr>
              <a:t>1.2 مقدمة عن إدارة متطلبات البنية المؤسسية</a:t>
            </a:r>
            <a:endParaRPr lang="ar-EG" sz="1400" dirty="0">
              <a:solidFill>
                <a:schemeClr val="accent2"/>
              </a:solidFill>
            </a:endParaRPr>
          </a:p>
        </p:txBody>
      </p:sp>
      <p:sp>
        <p:nvSpPr>
          <p:cNvPr id="14" name="Text Placeholder 11">
            <a:extLst>
              <a:ext uri="{FF2B5EF4-FFF2-40B4-BE49-F238E27FC236}">
                <a16:creationId xmlns:a16="http://schemas.microsoft.com/office/drawing/2014/main" id="{2FC12EC2-424A-46E2-D3F5-10576002FB61}"/>
              </a:ext>
            </a:extLst>
          </p:cNvPr>
          <p:cNvSpPr txBox="1">
            <a:spLocks/>
          </p:cNvSpPr>
          <p:nvPr/>
        </p:nvSpPr>
        <p:spPr>
          <a:xfrm>
            <a:off x="4443008" y="2035187"/>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7" action="ppaction://hlinksldjump"/>
              </a:rPr>
              <a:t>1.3 أهداف إدارة متطلبات البنية المؤسسية</a:t>
            </a:r>
            <a:endParaRPr lang="ar-EG" sz="1400" dirty="0">
              <a:solidFill>
                <a:schemeClr val="accent2"/>
              </a:solidFill>
            </a:endParaRPr>
          </a:p>
        </p:txBody>
      </p:sp>
      <p:sp>
        <p:nvSpPr>
          <p:cNvPr id="16" name="Text Placeholder 11">
            <a:extLst>
              <a:ext uri="{FF2B5EF4-FFF2-40B4-BE49-F238E27FC236}">
                <a16:creationId xmlns:a16="http://schemas.microsoft.com/office/drawing/2014/main" id="{4FFCD6D7-E135-49F6-A631-9C570B35E6AD}"/>
              </a:ext>
            </a:extLst>
          </p:cNvPr>
          <p:cNvSpPr txBox="1">
            <a:spLocks/>
          </p:cNvSpPr>
          <p:nvPr/>
        </p:nvSpPr>
        <p:spPr>
          <a:xfrm>
            <a:off x="611811" y="1525160"/>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8" action="ppaction://hlinksldjump"/>
              </a:rPr>
              <a:t>2.1 خطوات إدارة متطلبات البنية المؤسسية</a:t>
            </a:r>
            <a:endParaRPr lang="ar-EG" sz="1400" dirty="0">
              <a:solidFill>
                <a:schemeClr val="accent2"/>
              </a:solidFill>
            </a:endParaRPr>
          </a:p>
        </p:txBody>
      </p:sp>
      <p:sp>
        <p:nvSpPr>
          <p:cNvPr id="17" name="Text Placeholder 11">
            <a:extLst>
              <a:ext uri="{FF2B5EF4-FFF2-40B4-BE49-F238E27FC236}">
                <a16:creationId xmlns:a16="http://schemas.microsoft.com/office/drawing/2014/main" id="{552E9BDF-1C91-41CB-8F8A-9CC6E387EDD9}"/>
              </a:ext>
            </a:extLst>
          </p:cNvPr>
          <p:cNvSpPr txBox="1">
            <a:spLocks/>
          </p:cNvSpPr>
          <p:nvPr/>
        </p:nvSpPr>
        <p:spPr>
          <a:xfrm>
            <a:off x="419101" y="1766490"/>
            <a:ext cx="3346805" cy="199285"/>
          </a:xfrm>
          <a:prstGeom prst="rect">
            <a:avLst/>
          </a:prstGeom>
        </p:spPr>
        <p:txBody>
          <a:bodyPr wrap="square"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9" action="ppaction://hlinksldjump"/>
              </a:rPr>
              <a:t>2.2 اعتبارات إرشادية عند دراسة واعتماد متطلبات البنية المؤسسية</a:t>
            </a:r>
            <a:endParaRPr lang="ar-EG" sz="1400" dirty="0">
              <a:solidFill>
                <a:schemeClr val="accent2"/>
              </a:solidFill>
            </a:endParaRPr>
          </a:p>
        </p:txBody>
      </p:sp>
      <p:sp>
        <p:nvSpPr>
          <p:cNvPr id="18" name="Text Placeholder 11">
            <a:extLst>
              <a:ext uri="{FF2B5EF4-FFF2-40B4-BE49-F238E27FC236}">
                <a16:creationId xmlns:a16="http://schemas.microsoft.com/office/drawing/2014/main" id="{A37FC19F-5E58-4BD7-B4C4-A221F17F69F2}"/>
              </a:ext>
            </a:extLst>
          </p:cNvPr>
          <p:cNvSpPr txBox="1">
            <a:spLocks/>
          </p:cNvSpPr>
          <p:nvPr/>
        </p:nvSpPr>
        <p:spPr>
          <a:xfrm>
            <a:off x="616814" y="2026043"/>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10" action="ppaction://hlinksldjump"/>
              </a:rPr>
              <a:t>2.3 نموذج قائمة متطلبات البنية المؤسسية</a:t>
            </a:r>
            <a:endParaRPr lang="ar-EG" sz="1400" dirty="0">
              <a:solidFill>
                <a:schemeClr val="accent2"/>
              </a:solidFill>
            </a:endParaRPr>
          </a:p>
        </p:txBody>
      </p:sp>
      <p:sp>
        <p:nvSpPr>
          <p:cNvPr id="19" name="Text Placeholder 11">
            <a:extLst>
              <a:ext uri="{FF2B5EF4-FFF2-40B4-BE49-F238E27FC236}">
                <a16:creationId xmlns:a16="http://schemas.microsoft.com/office/drawing/2014/main" id="{76E241B1-83C4-4479-8184-B7088F200CF2}"/>
              </a:ext>
            </a:extLst>
          </p:cNvPr>
          <p:cNvSpPr txBox="1">
            <a:spLocks/>
          </p:cNvSpPr>
          <p:nvPr/>
        </p:nvSpPr>
        <p:spPr>
          <a:xfrm>
            <a:off x="237744" y="2525875"/>
            <a:ext cx="3523159" cy="199285"/>
          </a:xfrm>
          <a:prstGeom prst="rect">
            <a:avLst/>
          </a:prstGeom>
        </p:spPr>
        <p:txBody>
          <a:bodyPr wrap="square"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11" action="ppaction://hlinksldjump"/>
              </a:rPr>
              <a:t>2.5 نموذج لربط متطلبات البنية المؤسسية مع مبادئ البنية المؤسسية</a:t>
            </a:r>
            <a:endParaRPr lang="ar-EG" sz="1400" dirty="0">
              <a:solidFill>
                <a:schemeClr val="accent2"/>
              </a:solidFill>
            </a:endParaRPr>
          </a:p>
        </p:txBody>
      </p:sp>
      <p:sp>
        <p:nvSpPr>
          <p:cNvPr id="20" name="Text Placeholder 11">
            <a:extLst>
              <a:ext uri="{FF2B5EF4-FFF2-40B4-BE49-F238E27FC236}">
                <a16:creationId xmlns:a16="http://schemas.microsoft.com/office/drawing/2014/main" id="{30475339-AA5B-4F1A-8CF1-F847DEE076C4}"/>
              </a:ext>
            </a:extLst>
          </p:cNvPr>
          <p:cNvSpPr txBox="1">
            <a:spLocks/>
          </p:cNvSpPr>
          <p:nvPr/>
        </p:nvSpPr>
        <p:spPr>
          <a:xfrm>
            <a:off x="602388" y="2767205"/>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12" action="ppaction://hlinksldjump"/>
              </a:rPr>
              <a:t>2.6 إعادة تحديد أولويات متطلبات البنية المؤسسية المعتمدة</a:t>
            </a:r>
            <a:endParaRPr lang="ar-EG" sz="1400" dirty="0">
              <a:solidFill>
                <a:schemeClr val="accent2"/>
              </a:solidFill>
            </a:endParaRPr>
          </a:p>
        </p:txBody>
      </p:sp>
      <p:sp>
        <p:nvSpPr>
          <p:cNvPr id="21" name="Text Placeholder 11">
            <a:extLst>
              <a:ext uri="{FF2B5EF4-FFF2-40B4-BE49-F238E27FC236}">
                <a16:creationId xmlns:a16="http://schemas.microsoft.com/office/drawing/2014/main" id="{20F64352-F893-4073-8366-1626224FCDF1}"/>
              </a:ext>
            </a:extLst>
          </p:cNvPr>
          <p:cNvSpPr txBox="1">
            <a:spLocks/>
          </p:cNvSpPr>
          <p:nvPr/>
        </p:nvSpPr>
        <p:spPr>
          <a:xfrm>
            <a:off x="609601" y="3035902"/>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13" action="ppaction://hlinksldjump"/>
              </a:rPr>
              <a:t>2.7 الحالات المختلفة لتحديث حالة المتطلبات</a:t>
            </a:r>
            <a:endParaRPr lang="ar-EG" sz="1400" dirty="0">
              <a:solidFill>
                <a:schemeClr val="accent2"/>
              </a:solidFill>
            </a:endParaRPr>
          </a:p>
        </p:txBody>
      </p:sp>
      <p:sp>
        <p:nvSpPr>
          <p:cNvPr id="22" name="Text Placeholder 11">
            <a:extLst>
              <a:ext uri="{FF2B5EF4-FFF2-40B4-BE49-F238E27FC236}">
                <a16:creationId xmlns:a16="http://schemas.microsoft.com/office/drawing/2014/main" id="{54117066-F7EA-4D88-9CDF-24521336629E}"/>
              </a:ext>
            </a:extLst>
          </p:cNvPr>
          <p:cNvSpPr txBox="1">
            <a:spLocks/>
          </p:cNvSpPr>
          <p:nvPr/>
        </p:nvSpPr>
        <p:spPr>
          <a:xfrm>
            <a:off x="595175" y="3288846"/>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14" action="ppaction://hlinksldjump"/>
              </a:rPr>
              <a:t>2.8 تقييم أثر تغيير متطلبات البنية المؤسسية</a:t>
            </a:r>
            <a:endParaRPr lang="ar-EG" sz="1400" dirty="0">
              <a:solidFill>
                <a:schemeClr val="accent2"/>
              </a:solidFill>
            </a:endParaRPr>
          </a:p>
        </p:txBody>
      </p:sp>
      <p:sp>
        <p:nvSpPr>
          <p:cNvPr id="24" name="Text Placeholder 11">
            <a:extLst>
              <a:ext uri="{FF2B5EF4-FFF2-40B4-BE49-F238E27FC236}">
                <a16:creationId xmlns:a16="http://schemas.microsoft.com/office/drawing/2014/main" id="{63820847-ECE9-465E-8D93-942D6A15CE3C}"/>
              </a:ext>
            </a:extLst>
          </p:cNvPr>
          <p:cNvSpPr txBox="1">
            <a:spLocks/>
          </p:cNvSpPr>
          <p:nvPr/>
        </p:nvSpPr>
        <p:spPr>
          <a:xfrm>
            <a:off x="595174" y="2275401"/>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15" action="ppaction://hlinksldjump"/>
              </a:rPr>
              <a:t>2.4 وصف حقول قائمة متطلبات البنية المؤسسية</a:t>
            </a:r>
            <a:endParaRPr lang="ar-EG" sz="1400" dirty="0">
              <a:solidFill>
                <a:schemeClr val="accent2"/>
              </a:solidFill>
            </a:endParaRPr>
          </a:p>
        </p:txBody>
      </p:sp>
    </p:spTree>
    <p:extLst>
      <p:ext uri="{BB962C8B-B14F-4D97-AF65-F5344CB8AC3E}">
        <p14:creationId xmlns:p14="http://schemas.microsoft.com/office/powerpoint/2010/main" val="10034671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EG" dirty="0"/>
              <a:t>مقدمة حول إدارة متطلبات البنية المؤسسية</a:t>
            </a:r>
            <a:endParaRPr lang="en-US" dirty="0"/>
          </a:p>
        </p:txBody>
      </p:sp>
      <p:sp>
        <p:nvSpPr>
          <p:cNvPr id="4" name="Text Placeholder 3"/>
          <p:cNvSpPr>
            <a:spLocks noGrp="1"/>
          </p:cNvSpPr>
          <p:nvPr>
            <p:ph type="body" sz="quarter" idx="14"/>
          </p:nvPr>
        </p:nvSpPr>
        <p:spPr/>
        <p:txBody>
          <a:bodyPr/>
          <a:lstStyle/>
          <a:p>
            <a:r>
              <a:rPr lang="ar-EG" dirty="0"/>
              <a:t>01</a:t>
            </a:r>
            <a:endParaRPr lang="en-US" dirty="0"/>
          </a:p>
        </p:txBody>
      </p:sp>
    </p:spTree>
    <p:extLst>
      <p:ext uri="{BB962C8B-B14F-4D97-AF65-F5344CB8AC3E}">
        <p14:creationId xmlns:p14="http://schemas.microsoft.com/office/powerpoint/2010/main" val="2688557624"/>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تعريف </a:t>
            </a:r>
            <a:r>
              <a:rPr lang="ar-SA" dirty="0"/>
              <a:t>البنية المؤسسية</a:t>
            </a:r>
            <a:endParaRPr lang="en-US" dirty="0"/>
          </a:p>
        </p:txBody>
      </p:sp>
      <p:sp>
        <p:nvSpPr>
          <p:cNvPr id="3" name="Snip Diagonal Corner Rectangle 4">
            <a:extLst>
              <a:ext uri="{FF2B5EF4-FFF2-40B4-BE49-F238E27FC236}">
                <a16:creationId xmlns:a16="http://schemas.microsoft.com/office/drawing/2014/main" id="{EDC006DF-6C86-A400-657E-C7E28783571B}"/>
              </a:ext>
            </a:extLst>
          </p:cNvPr>
          <p:cNvSpPr/>
          <p:nvPr/>
        </p:nvSpPr>
        <p:spPr>
          <a:xfrm>
            <a:off x="2378677" y="1862019"/>
            <a:ext cx="7434648" cy="3117755"/>
          </a:xfrm>
          <a:prstGeom prst="snip2DiagRect">
            <a:avLst>
              <a:gd name="adj1" fmla="val 8219"/>
              <a:gd name="adj2" fmla="val 7991"/>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sp>
        <p:nvSpPr>
          <p:cNvPr id="16" name="Snip Diagonal Corner Rectangle 13">
            <a:extLst>
              <a:ext uri="{FF2B5EF4-FFF2-40B4-BE49-F238E27FC236}">
                <a16:creationId xmlns:a16="http://schemas.microsoft.com/office/drawing/2014/main" id="{80AE987F-69CD-B600-1409-1D9AE5AA3D98}"/>
              </a:ext>
            </a:extLst>
          </p:cNvPr>
          <p:cNvSpPr/>
          <p:nvPr/>
        </p:nvSpPr>
        <p:spPr>
          <a:xfrm>
            <a:off x="2825410" y="1990146"/>
            <a:ext cx="6809356" cy="2861501"/>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3410" h="2483708">
                <a:moveTo>
                  <a:pt x="0" y="0"/>
                </a:moveTo>
                <a:lnTo>
                  <a:pt x="4984937" y="0"/>
                </a:lnTo>
                <a:lnTo>
                  <a:pt x="5183410" y="198473"/>
                </a:lnTo>
                <a:lnTo>
                  <a:pt x="5183410" y="2279572"/>
                </a:lnTo>
                <a:lnTo>
                  <a:pt x="4979274" y="2483708"/>
                </a:lnTo>
              </a:path>
            </a:pathLst>
          </a:custGeom>
          <a:noFill/>
          <a:ln>
            <a:solidFill>
              <a:schemeClr val="accent2"/>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grpSp>
        <p:nvGrpSpPr>
          <p:cNvPr id="17" name="Group 4">
            <a:extLst>
              <a:ext uri="{FF2B5EF4-FFF2-40B4-BE49-F238E27FC236}">
                <a16:creationId xmlns:a16="http://schemas.microsoft.com/office/drawing/2014/main" id="{F7B7C762-1E67-A9BB-FDA1-4B12FE395E39}"/>
              </a:ext>
            </a:extLst>
          </p:cNvPr>
          <p:cNvGrpSpPr>
            <a:grpSpLocks noChangeAspect="1"/>
          </p:cNvGrpSpPr>
          <p:nvPr/>
        </p:nvGrpSpPr>
        <p:grpSpPr bwMode="auto">
          <a:xfrm flipH="1" flipV="1">
            <a:off x="2949146" y="4724778"/>
            <a:ext cx="634365" cy="485276"/>
            <a:chOff x="-305" y="203"/>
            <a:chExt cx="533" cy="470"/>
          </a:xfrm>
          <a:gradFill>
            <a:gsLst>
              <a:gs pos="34000">
                <a:schemeClr val="accent2"/>
              </a:gs>
              <a:gs pos="80000">
                <a:schemeClr val="accent1"/>
              </a:gs>
            </a:gsLst>
            <a:lin ang="8400000" scaled="0"/>
          </a:gradFill>
        </p:grpSpPr>
        <p:sp>
          <p:nvSpPr>
            <p:cNvPr id="18" name="Freeform 6">
              <a:extLst>
                <a:ext uri="{FF2B5EF4-FFF2-40B4-BE49-F238E27FC236}">
                  <a16:creationId xmlns:a16="http://schemas.microsoft.com/office/drawing/2014/main" id="{BD3494F7-9006-6028-3787-9C644214C2E0}"/>
                </a:ext>
              </a:extLst>
            </p:cNvPr>
            <p:cNvSpPr>
              <a:spLocks/>
            </p:cNvSpPr>
            <p:nvPr/>
          </p:nvSpPr>
          <p:spPr bwMode="auto">
            <a:xfrm>
              <a:off x="-1" y="203"/>
              <a:ext cx="229" cy="470"/>
            </a:xfrm>
            <a:custGeom>
              <a:avLst/>
              <a:gdLst>
                <a:gd name="T0" fmla="*/ 1412 w 1603"/>
                <a:gd name="T1" fmla="*/ 0 h 3290"/>
                <a:gd name="T2" fmla="*/ 1479 w 1603"/>
                <a:gd name="T3" fmla="*/ 13 h 3290"/>
                <a:gd name="T4" fmla="*/ 1536 w 1603"/>
                <a:gd name="T5" fmla="*/ 45 h 3290"/>
                <a:gd name="T6" fmla="*/ 1577 w 1603"/>
                <a:gd name="T7" fmla="*/ 95 h 3290"/>
                <a:gd name="T8" fmla="*/ 1600 w 1603"/>
                <a:gd name="T9" fmla="*/ 157 h 3290"/>
                <a:gd name="T10" fmla="*/ 1603 w 1603"/>
                <a:gd name="T11" fmla="*/ 1105 h 3290"/>
                <a:gd name="T12" fmla="*/ 1599 w 1603"/>
                <a:gd name="T13" fmla="*/ 1362 h 3290"/>
                <a:gd name="T14" fmla="*/ 1584 w 1603"/>
                <a:gd name="T15" fmla="*/ 1597 h 3290"/>
                <a:gd name="T16" fmla="*/ 1560 w 1603"/>
                <a:gd name="T17" fmla="*/ 1809 h 3290"/>
                <a:gd name="T18" fmla="*/ 1528 w 1603"/>
                <a:gd name="T19" fmla="*/ 1998 h 3290"/>
                <a:gd name="T20" fmla="*/ 1485 w 1603"/>
                <a:gd name="T21" fmla="*/ 2164 h 3290"/>
                <a:gd name="T22" fmla="*/ 1413 w 1603"/>
                <a:gd name="T23" fmla="*/ 2353 h 3290"/>
                <a:gd name="T24" fmla="*/ 1317 w 1603"/>
                <a:gd name="T25" fmla="*/ 2531 h 3290"/>
                <a:gd name="T26" fmla="*/ 1195 w 1603"/>
                <a:gd name="T27" fmla="*/ 2700 h 3290"/>
                <a:gd name="T28" fmla="*/ 1047 w 1603"/>
                <a:gd name="T29" fmla="*/ 2859 h 3290"/>
                <a:gd name="T30" fmla="*/ 888 w 1603"/>
                <a:gd name="T31" fmla="*/ 2996 h 3290"/>
                <a:gd name="T32" fmla="*/ 710 w 1603"/>
                <a:gd name="T33" fmla="*/ 3118 h 3290"/>
                <a:gd name="T34" fmla="*/ 512 w 1603"/>
                <a:gd name="T35" fmla="*/ 3227 h 3290"/>
                <a:gd name="T36" fmla="*/ 373 w 1603"/>
                <a:gd name="T37" fmla="*/ 3286 h 3290"/>
                <a:gd name="T38" fmla="*/ 309 w 1603"/>
                <a:gd name="T39" fmla="*/ 3290 h 3290"/>
                <a:gd name="T40" fmla="*/ 246 w 1603"/>
                <a:gd name="T41" fmla="*/ 3272 h 3290"/>
                <a:gd name="T42" fmla="*/ 194 w 1603"/>
                <a:gd name="T43" fmla="*/ 3236 h 3290"/>
                <a:gd name="T44" fmla="*/ 156 w 1603"/>
                <a:gd name="T45" fmla="*/ 3182 h 3290"/>
                <a:gd name="T46" fmla="*/ 7 w 1603"/>
                <a:gd name="T47" fmla="*/ 2862 h 3290"/>
                <a:gd name="T48" fmla="*/ 0 w 1603"/>
                <a:gd name="T49" fmla="*/ 2801 h 3290"/>
                <a:gd name="T50" fmla="*/ 12 w 1603"/>
                <a:gd name="T51" fmla="*/ 2743 h 3290"/>
                <a:gd name="T52" fmla="*/ 40 w 1603"/>
                <a:gd name="T53" fmla="*/ 2691 h 3290"/>
                <a:gd name="T54" fmla="*/ 86 w 1603"/>
                <a:gd name="T55" fmla="*/ 2650 h 3290"/>
                <a:gd name="T56" fmla="*/ 191 w 1603"/>
                <a:gd name="T57" fmla="*/ 2598 h 3290"/>
                <a:gd name="T58" fmla="*/ 331 w 1603"/>
                <a:gd name="T59" fmla="*/ 2518 h 3290"/>
                <a:gd name="T60" fmla="*/ 451 w 1603"/>
                <a:gd name="T61" fmla="*/ 2428 h 3290"/>
                <a:gd name="T62" fmla="*/ 551 w 1603"/>
                <a:gd name="T63" fmla="*/ 2329 h 3290"/>
                <a:gd name="T64" fmla="*/ 632 w 1603"/>
                <a:gd name="T65" fmla="*/ 2219 h 3290"/>
                <a:gd name="T66" fmla="*/ 696 w 1603"/>
                <a:gd name="T67" fmla="*/ 2095 h 3290"/>
                <a:gd name="T68" fmla="*/ 746 w 1603"/>
                <a:gd name="T69" fmla="*/ 1956 h 3290"/>
                <a:gd name="T70" fmla="*/ 781 w 1603"/>
                <a:gd name="T71" fmla="*/ 1803 h 3290"/>
                <a:gd name="T72" fmla="*/ 800 w 1603"/>
                <a:gd name="T73" fmla="*/ 1634 h 3290"/>
                <a:gd name="T74" fmla="*/ 248 w 1603"/>
                <a:gd name="T75" fmla="*/ 1545 h 3290"/>
                <a:gd name="T76" fmla="*/ 181 w 1603"/>
                <a:gd name="T77" fmla="*/ 1533 h 3290"/>
                <a:gd name="T78" fmla="*/ 124 w 1603"/>
                <a:gd name="T79" fmla="*/ 1500 h 3290"/>
                <a:gd name="T80" fmla="*/ 82 w 1603"/>
                <a:gd name="T81" fmla="*/ 1450 h 3290"/>
                <a:gd name="T82" fmla="*/ 60 w 1603"/>
                <a:gd name="T83" fmla="*/ 1388 h 3290"/>
                <a:gd name="T84" fmla="*/ 56 w 1603"/>
                <a:gd name="T85" fmla="*/ 191 h 3290"/>
                <a:gd name="T86" fmla="*/ 69 w 1603"/>
                <a:gd name="T87" fmla="*/ 125 h 3290"/>
                <a:gd name="T88" fmla="*/ 101 w 1603"/>
                <a:gd name="T89" fmla="*/ 68 h 3290"/>
                <a:gd name="T90" fmla="*/ 151 w 1603"/>
                <a:gd name="T91" fmla="*/ 26 h 3290"/>
                <a:gd name="T92" fmla="*/ 214 w 1603"/>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3" h="3290">
                  <a:moveTo>
                    <a:pt x="248" y="0"/>
                  </a:moveTo>
                  <a:lnTo>
                    <a:pt x="1412" y="0"/>
                  </a:lnTo>
                  <a:lnTo>
                    <a:pt x="1446" y="4"/>
                  </a:lnTo>
                  <a:lnTo>
                    <a:pt x="1479" y="13"/>
                  </a:lnTo>
                  <a:lnTo>
                    <a:pt x="1508" y="26"/>
                  </a:lnTo>
                  <a:lnTo>
                    <a:pt x="1536" y="45"/>
                  </a:lnTo>
                  <a:lnTo>
                    <a:pt x="1558" y="68"/>
                  </a:lnTo>
                  <a:lnTo>
                    <a:pt x="1577" y="95"/>
                  </a:lnTo>
                  <a:lnTo>
                    <a:pt x="1591" y="125"/>
                  </a:lnTo>
                  <a:lnTo>
                    <a:pt x="1600" y="157"/>
                  </a:lnTo>
                  <a:lnTo>
                    <a:pt x="1603" y="191"/>
                  </a:lnTo>
                  <a:lnTo>
                    <a:pt x="1603" y="1105"/>
                  </a:lnTo>
                  <a:lnTo>
                    <a:pt x="1602" y="1236"/>
                  </a:lnTo>
                  <a:lnTo>
                    <a:pt x="1599" y="1362"/>
                  </a:lnTo>
                  <a:lnTo>
                    <a:pt x="1592" y="1483"/>
                  </a:lnTo>
                  <a:lnTo>
                    <a:pt x="1584" y="1597"/>
                  </a:lnTo>
                  <a:lnTo>
                    <a:pt x="1574" y="1706"/>
                  </a:lnTo>
                  <a:lnTo>
                    <a:pt x="1560" y="1809"/>
                  </a:lnTo>
                  <a:lnTo>
                    <a:pt x="1546" y="1906"/>
                  </a:lnTo>
                  <a:lnTo>
                    <a:pt x="1528" y="1998"/>
                  </a:lnTo>
                  <a:lnTo>
                    <a:pt x="1507" y="2084"/>
                  </a:lnTo>
                  <a:lnTo>
                    <a:pt x="1485" y="2164"/>
                  </a:lnTo>
                  <a:lnTo>
                    <a:pt x="1453" y="2259"/>
                  </a:lnTo>
                  <a:lnTo>
                    <a:pt x="1413" y="2353"/>
                  </a:lnTo>
                  <a:lnTo>
                    <a:pt x="1368" y="2443"/>
                  </a:lnTo>
                  <a:lnTo>
                    <a:pt x="1317" y="2531"/>
                  </a:lnTo>
                  <a:lnTo>
                    <a:pt x="1259" y="2617"/>
                  </a:lnTo>
                  <a:lnTo>
                    <a:pt x="1195" y="2700"/>
                  </a:lnTo>
                  <a:lnTo>
                    <a:pt x="1124" y="2781"/>
                  </a:lnTo>
                  <a:lnTo>
                    <a:pt x="1047" y="2859"/>
                  </a:lnTo>
                  <a:lnTo>
                    <a:pt x="970" y="2930"/>
                  </a:lnTo>
                  <a:lnTo>
                    <a:pt x="888" y="2996"/>
                  </a:lnTo>
                  <a:lnTo>
                    <a:pt x="801" y="3058"/>
                  </a:lnTo>
                  <a:lnTo>
                    <a:pt x="710" y="3118"/>
                  </a:lnTo>
                  <a:lnTo>
                    <a:pt x="612" y="3174"/>
                  </a:lnTo>
                  <a:lnTo>
                    <a:pt x="512" y="3227"/>
                  </a:lnTo>
                  <a:lnTo>
                    <a:pt x="405" y="3276"/>
                  </a:lnTo>
                  <a:lnTo>
                    <a:pt x="373" y="3286"/>
                  </a:lnTo>
                  <a:lnTo>
                    <a:pt x="340" y="3290"/>
                  </a:lnTo>
                  <a:lnTo>
                    <a:pt x="309" y="3290"/>
                  </a:lnTo>
                  <a:lnTo>
                    <a:pt x="277" y="3284"/>
                  </a:lnTo>
                  <a:lnTo>
                    <a:pt x="246" y="3272"/>
                  </a:lnTo>
                  <a:lnTo>
                    <a:pt x="219" y="3256"/>
                  </a:lnTo>
                  <a:lnTo>
                    <a:pt x="194" y="3236"/>
                  </a:lnTo>
                  <a:lnTo>
                    <a:pt x="173" y="3211"/>
                  </a:lnTo>
                  <a:lnTo>
                    <a:pt x="156" y="3182"/>
                  </a:lnTo>
                  <a:lnTo>
                    <a:pt x="18" y="2891"/>
                  </a:lnTo>
                  <a:lnTo>
                    <a:pt x="7" y="2862"/>
                  </a:lnTo>
                  <a:lnTo>
                    <a:pt x="1" y="2831"/>
                  </a:lnTo>
                  <a:lnTo>
                    <a:pt x="0" y="2801"/>
                  </a:lnTo>
                  <a:lnTo>
                    <a:pt x="3" y="2771"/>
                  </a:lnTo>
                  <a:lnTo>
                    <a:pt x="12" y="2743"/>
                  </a:lnTo>
                  <a:lnTo>
                    <a:pt x="24" y="2716"/>
                  </a:lnTo>
                  <a:lnTo>
                    <a:pt x="40" y="2691"/>
                  </a:lnTo>
                  <a:lnTo>
                    <a:pt x="61" y="2668"/>
                  </a:lnTo>
                  <a:lnTo>
                    <a:pt x="86" y="2650"/>
                  </a:lnTo>
                  <a:lnTo>
                    <a:pt x="113" y="2634"/>
                  </a:lnTo>
                  <a:lnTo>
                    <a:pt x="191" y="2598"/>
                  </a:lnTo>
                  <a:lnTo>
                    <a:pt x="263" y="2560"/>
                  </a:lnTo>
                  <a:lnTo>
                    <a:pt x="331" y="2518"/>
                  </a:lnTo>
                  <a:lnTo>
                    <a:pt x="394" y="2474"/>
                  </a:lnTo>
                  <a:lnTo>
                    <a:pt x="451" y="2428"/>
                  </a:lnTo>
                  <a:lnTo>
                    <a:pt x="504" y="2380"/>
                  </a:lnTo>
                  <a:lnTo>
                    <a:pt x="551" y="2329"/>
                  </a:lnTo>
                  <a:lnTo>
                    <a:pt x="593" y="2276"/>
                  </a:lnTo>
                  <a:lnTo>
                    <a:pt x="632" y="2219"/>
                  </a:lnTo>
                  <a:lnTo>
                    <a:pt x="666" y="2159"/>
                  </a:lnTo>
                  <a:lnTo>
                    <a:pt x="696" y="2095"/>
                  </a:lnTo>
                  <a:lnTo>
                    <a:pt x="723" y="2027"/>
                  </a:lnTo>
                  <a:lnTo>
                    <a:pt x="746" y="1956"/>
                  </a:lnTo>
                  <a:lnTo>
                    <a:pt x="765" y="1881"/>
                  </a:lnTo>
                  <a:lnTo>
                    <a:pt x="781" y="1803"/>
                  </a:lnTo>
                  <a:lnTo>
                    <a:pt x="794" y="1720"/>
                  </a:lnTo>
                  <a:lnTo>
                    <a:pt x="800" y="1634"/>
                  </a:lnTo>
                  <a:lnTo>
                    <a:pt x="805" y="1545"/>
                  </a:lnTo>
                  <a:lnTo>
                    <a:pt x="248" y="1545"/>
                  </a:lnTo>
                  <a:lnTo>
                    <a:pt x="214" y="1542"/>
                  </a:lnTo>
                  <a:lnTo>
                    <a:pt x="181" y="1533"/>
                  </a:lnTo>
                  <a:lnTo>
                    <a:pt x="151" y="1519"/>
                  </a:lnTo>
                  <a:lnTo>
                    <a:pt x="124" y="1500"/>
                  </a:lnTo>
                  <a:lnTo>
                    <a:pt x="101" y="1477"/>
                  </a:lnTo>
                  <a:lnTo>
                    <a:pt x="82" y="1450"/>
                  </a:lnTo>
                  <a:lnTo>
                    <a:pt x="69" y="1421"/>
                  </a:lnTo>
                  <a:lnTo>
                    <a:pt x="60" y="1388"/>
                  </a:lnTo>
                  <a:lnTo>
                    <a:pt x="56" y="1354"/>
                  </a:lnTo>
                  <a:lnTo>
                    <a:pt x="56" y="191"/>
                  </a:lnTo>
                  <a:lnTo>
                    <a:pt x="60" y="157"/>
                  </a:lnTo>
                  <a:lnTo>
                    <a:pt x="69" y="125"/>
                  </a:lnTo>
                  <a:lnTo>
                    <a:pt x="82" y="95"/>
                  </a:lnTo>
                  <a:lnTo>
                    <a:pt x="101" y="68"/>
                  </a:lnTo>
                  <a:lnTo>
                    <a:pt x="124" y="45"/>
                  </a:lnTo>
                  <a:lnTo>
                    <a:pt x="151"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ajawal" panose="00000500000000000000" pitchFamily="2" charset="-78"/>
              </a:endParaRPr>
            </a:p>
          </p:txBody>
        </p:sp>
        <p:sp>
          <p:nvSpPr>
            <p:cNvPr id="19" name="Freeform 7">
              <a:extLst>
                <a:ext uri="{FF2B5EF4-FFF2-40B4-BE49-F238E27FC236}">
                  <a16:creationId xmlns:a16="http://schemas.microsoft.com/office/drawing/2014/main" id="{2CB1DCBB-B6CD-C821-C403-443AAA8252B7}"/>
                </a:ext>
              </a:extLst>
            </p:cNvPr>
            <p:cNvSpPr>
              <a:spLocks/>
            </p:cNvSpPr>
            <p:nvPr/>
          </p:nvSpPr>
          <p:spPr bwMode="auto">
            <a:xfrm>
              <a:off x="-305" y="203"/>
              <a:ext cx="229" cy="470"/>
            </a:xfrm>
            <a:custGeom>
              <a:avLst/>
              <a:gdLst>
                <a:gd name="T0" fmla="*/ 1413 w 1604"/>
                <a:gd name="T1" fmla="*/ 0 h 3290"/>
                <a:gd name="T2" fmla="*/ 1479 w 1604"/>
                <a:gd name="T3" fmla="*/ 13 h 3290"/>
                <a:gd name="T4" fmla="*/ 1536 w 1604"/>
                <a:gd name="T5" fmla="*/ 45 h 3290"/>
                <a:gd name="T6" fmla="*/ 1578 w 1604"/>
                <a:gd name="T7" fmla="*/ 95 h 3290"/>
                <a:gd name="T8" fmla="*/ 1601 w 1604"/>
                <a:gd name="T9" fmla="*/ 157 h 3290"/>
                <a:gd name="T10" fmla="*/ 1604 w 1604"/>
                <a:gd name="T11" fmla="*/ 1105 h 3290"/>
                <a:gd name="T12" fmla="*/ 1599 w 1604"/>
                <a:gd name="T13" fmla="*/ 1364 h 3290"/>
                <a:gd name="T14" fmla="*/ 1585 w 1604"/>
                <a:gd name="T15" fmla="*/ 1599 h 3290"/>
                <a:gd name="T16" fmla="*/ 1561 w 1604"/>
                <a:gd name="T17" fmla="*/ 1812 h 3290"/>
                <a:gd name="T18" fmla="*/ 1528 w 1604"/>
                <a:gd name="T19" fmla="*/ 2001 h 3290"/>
                <a:gd name="T20" fmla="*/ 1485 w 1604"/>
                <a:gd name="T21" fmla="*/ 2166 h 3290"/>
                <a:gd name="T22" fmla="*/ 1414 w 1604"/>
                <a:gd name="T23" fmla="*/ 2354 h 3290"/>
                <a:gd name="T24" fmla="*/ 1316 w 1604"/>
                <a:gd name="T25" fmla="*/ 2531 h 3290"/>
                <a:gd name="T26" fmla="*/ 1194 w 1604"/>
                <a:gd name="T27" fmla="*/ 2700 h 3290"/>
                <a:gd name="T28" fmla="*/ 1046 w 1604"/>
                <a:gd name="T29" fmla="*/ 2859 h 3290"/>
                <a:gd name="T30" fmla="*/ 886 w 1604"/>
                <a:gd name="T31" fmla="*/ 2996 h 3290"/>
                <a:gd name="T32" fmla="*/ 707 w 1604"/>
                <a:gd name="T33" fmla="*/ 3118 h 3290"/>
                <a:gd name="T34" fmla="*/ 511 w 1604"/>
                <a:gd name="T35" fmla="*/ 3226 h 3290"/>
                <a:gd name="T36" fmla="*/ 374 w 1604"/>
                <a:gd name="T37" fmla="*/ 3285 h 3290"/>
                <a:gd name="T38" fmla="*/ 309 w 1604"/>
                <a:gd name="T39" fmla="*/ 3289 h 3290"/>
                <a:gd name="T40" fmla="*/ 247 w 1604"/>
                <a:gd name="T41" fmla="*/ 3272 h 3290"/>
                <a:gd name="T42" fmla="*/ 195 w 1604"/>
                <a:gd name="T43" fmla="*/ 3235 h 3290"/>
                <a:gd name="T44" fmla="*/ 156 w 1604"/>
                <a:gd name="T45" fmla="*/ 3181 h 3290"/>
                <a:gd name="T46" fmla="*/ 7 w 1604"/>
                <a:gd name="T47" fmla="*/ 2862 h 3290"/>
                <a:gd name="T48" fmla="*/ 0 w 1604"/>
                <a:gd name="T49" fmla="*/ 2801 h 3290"/>
                <a:gd name="T50" fmla="*/ 11 w 1604"/>
                <a:gd name="T51" fmla="*/ 2743 h 3290"/>
                <a:gd name="T52" fmla="*/ 41 w 1604"/>
                <a:gd name="T53" fmla="*/ 2691 h 3290"/>
                <a:gd name="T54" fmla="*/ 86 w 1604"/>
                <a:gd name="T55" fmla="*/ 2650 h 3290"/>
                <a:gd name="T56" fmla="*/ 191 w 1604"/>
                <a:gd name="T57" fmla="*/ 2598 h 3290"/>
                <a:gd name="T58" fmla="*/ 332 w 1604"/>
                <a:gd name="T59" fmla="*/ 2518 h 3290"/>
                <a:gd name="T60" fmla="*/ 452 w 1604"/>
                <a:gd name="T61" fmla="*/ 2428 h 3290"/>
                <a:gd name="T62" fmla="*/ 551 w 1604"/>
                <a:gd name="T63" fmla="*/ 2329 h 3290"/>
                <a:gd name="T64" fmla="*/ 632 w 1604"/>
                <a:gd name="T65" fmla="*/ 2219 h 3290"/>
                <a:gd name="T66" fmla="*/ 697 w 1604"/>
                <a:gd name="T67" fmla="*/ 2095 h 3290"/>
                <a:gd name="T68" fmla="*/ 746 w 1604"/>
                <a:gd name="T69" fmla="*/ 1956 h 3290"/>
                <a:gd name="T70" fmla="*/ 782 w 1604"/>
                <a:gd name="T71" fmla="*/ 1803 h 3290"/>
                <a:gd name="T72" fmla="*/ 801 w 1604"/>
                <a:gd name="T73" fmla="*/ 1634 h 3290"/>
                <a:gd name="T74" fmla="*/ 248 w 1604"/>
                <a:gd name="T75" fmla="*/ 1545 h 3290"/>
                <a:gd name="T76" fmla="*/ 181 w 1604"/>
                <a:gd name="T77" fmla="*/ 1533 h 3290"/>
                <a:gd name="T78" fmla="*/ 125 w 1604"/>
                <a:gd name="T79" fmla="*/ 1500 h 3290"/>
                <a:gd name="T80" fmla="*/ 83 w 1604"/>
                <a:gd name="T81" fmla="*/ 1450 h 3290"/>
                <a:gd name="T82" fmla="*/ 60 w 1604"/>
                <a:gd name="T83" fmla="*/ 1388 h 3290"/>
                <a:gd name="T84" fmla="*/ 57 w 1604"/>
                <a:gd name="T85" fmla="*/ 191 h 3290"/>
                <a:gd name="T86" fmla="*/ 69 w 1604"/>
                <a:gd name="T87" fmla="*/ 125 h 3290"/>
                <a:gd name="T88" fmla="*/ 102 w 1604"/>
                <a:gd name="T89" fmla="*/ 68 h 3290"/>
                <a:gd name="T90" fmla="*/ 152 w 1604"/>
                <a:gd name="T91" fmla="*/ 26 h 3290"/>
                <a:gd name="T92" fmla="*/ 214 w 1604"/>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4" h="3290">
                  <a:moveTo>
                    <a:pt x="248" y="0"/>
                  </a:moveTo>
                  <a:lnTo>
                    <a:pt x="1413" y="0"/>
                  </a:lnTo>
                  <a:lnTo>
                    <a:pt x="1446" y="4"/>
                  </a:lnTo>
                  <a:lnTo>
                    <a:pt x="1479" y="13"/>
                  </a:lnTo>
                  <a:lnTo>
                    <a:pt x="1509" y="26"/>
                  </a:lnTo>
                  <a:lnTo>
                    <a:pt x="1536" y="45"/>
                  </a:lnTo>
                  <a:lnTo>
                    <a:pt x="1559" y="68"/>
                  </a:lnTo>
                  <a:lnTo>
                    <a:pt x="1578" y="95"/>
                  </a:lnTo>
                  <a:lnTo>
                    <a:pt x="1591" y="125"/>
                  </a:lnTo>
                  <a:lnTo>
                    <a:pt x="1601" y="157"/>
                  </a:lnTo>
                  <a:lnTo>
                    <a:pt x="1604" y="191"/>
                  </a:lnTo>
                  <a:lnTo>
                    <a:pt x="1604" y="1105"/>
                  </a:lnTo>
                  <a:lnTo>
                    <a:pt x="1603" y="1237"/>
                  </a:lnTo>
                  <a:lnTo>
                    <a:pt x="1599" y="1364"/>
                  </a:lnTo>
                  <a:lnTo>
                    <a:pt x="1593" y="1485"/>
                  </a:lnTo>
                  <a:lnTo>
                    <a:pt x="1585" y="1599"/>
                  </a:lnTo>
                  <a:lnTo>
                    <a:pt x="1574" y="1709"/>
                  </a:lnTo>
                  <a:lnTo>
                    <a:pt x="1561" y="1812"/>
                  </a:lnTo>
                  <a:lnTo>
                    <a:pt x="1546" y="1909"/>
                  </a:lnTo>
                  <a:lnTo>
                    <a:pt x="1528" y="2001"/>
                  </a:lnTo>
                  <a:lnTo>
                    <a:pt x="1508" y="2087"/>
                  </a:lnTo>
                  <a:lnTo>
                    <a:pt x="1485" y="2166"/>
                  </a:lnTo>
                  <a:lnTo>
                    <a:pt x="1452" y="2261"/>
                  </a:lnTo>
                  <a:lnTo>
                    <a:pt x="1414" y="2354"/>
                  </a:lnTo>
                  <a:lnTo>
                    <a:pt x="1368" y="2444"/>
                  </a:lnTo>
                  <a:lnTo>
                    <a:pt x="1316" y="2531"/>
                  </a:lnTo>
                  <a:lnTo>
                    <a:pt x="1258" y="2617"/>
                  </a:lnTo>
                  <a:lnTo>
                    <a:pt x="1194" y="2700"/>
                  </a:lnTo>
                  <a:lnTo>
                    <a:pt x="1123" y="2781"/>
                  </a:lnTo>
                  <a:lnTo>
                    <a:pt x="1046" y="2859"/>
                  </a:lnTo>
                  <a:lnTo>
                    <a:pt x="967" y="2930"/>
                  </a:lnTo>
                  <a:lnTo>
                    <a:pt x="886" y="2996"/>
                  </a:lnTo>
                  <a:lnTo>
                    <a:pt x="799" y="3058"/>
                  </a:lnTo>
                  <a:lnTo>
                    <a:pt x="707" y="3118"/>
                  </a:lnTo>
                  <a:lnTo>
                    <a:pt x="612" y="3174"/>
                  </a:lnTo>
                  <a:lnTo>
                    <a:pt x="511" y="3226"/>
                  </a:lnTo>
                  <a:lnTo>
                    <a:pt x="406" y="3275"/>
                  </a:lnTo>
                  <a:lnTo>
                    <a:pt x="374" y="3285"/>
                  </a:lnTo>
                  <a:lnTo>
                    <a:pt x="341" y="3290"/>
                  </a:lnTo>
                  <a:lnTo>
                    <a:pt x="309" y="3289"/>
                  </a:lnTo>
                  <a:lnTo>
                    <a:pt x="278" y="3284"/>
                  </a:lnTo>
                  <a:lnTo>
                    <a:pt x="247" y="3272"/>
                  </a:lnTo>
                  <a:lnTo>
                    <a:pt x="220" y="3256"/>
                  </a:lnTo>
                  <a:lnTo>
                    <a:pt x="195" y="3235"/>
                  </a:lnTo>
                  <a:lnTo>
                    <a:pt x="173" y="3210"/>
                  </a:lnTo>
                  <a:lnTo>
                    <a:pt x="156" y="3181"/>
                  </a:lnTo>
                  <a:lnTo>
                    <a:pt x="18" y="2891"/>
                  </a:lnTo>
                  <a:lnTo>
                    <a:pt x="7" y="2862"/>
                  </a:lnTo>
                  <a:lnTo>
                    <a:pt x="1" y="2831"/>
                  </a:lnTo>
                  <a:lnTo>
                    <a:pt x="0" y="2801"/>
                  </a:lnTo>
                  <a:lnTo>
                    <a:pt x="3" y="2771"/>
                  </a:lnTo>
                  <a:lnTo>
                    <a:pt x="11" y="2743"/>
                  </a:lnTo>
                  <a:lnTo>
                    <a:pt x="24" y="2716"/>
                  </a:lnTo>
                  <a:lnTo>
                    <a:pt x="41" y="2691"/>
                  </a:lnTo>
                  <a:lnTo>
                    <a:pt x="61" y="2668"/>
                  </a:lnTo>
                  <a:lnTo>
                    <a:pt x="86" y="2650"/>
                  </a:lnTo>
                  <a:lnTo>
                    <a:pt x="113" y="2634"/>
                  </a:lnTo>
                  <a:lnTo>
                    <a:pt x="191" y="2598"/>
                  </a:lnTo>
                  <a:lnTo>
                    <a:pt x="264" y="2560"/>
                  </a:lnTo>
                  <a:lnTo>
                    <a:pt x="332" y="2518"/>
                  </a:lnTo>
                  <a:lnTo>
                    <a:pt x="394" y="2474"/>
                  </a:lnTo>
                  <a:lnTo>
                    <a:pt x="452" y="2428"/>
                  </a:lnTo>
                  <a:lnTo>
                    <a:pt x="504" y="2380"/>
                  </a:lnTo>
                  <a:lnTo>
                    <a:pt x="551" y="2329"/>
                  </a:lnTo>
                  <a:lnTo>
                    <a:pt x="594" y="2276"/>
                  </a:lnTo>
                  <a:lnTo>
                    <a:pt x="632" y="2219"/>
                  </a:lnTo>
                  <a:lnTo>
                    <a:pt x="666" y="2159"/>
                  </a:lnTo>
                  <a:lnTo>
                    <a:pt x="697" y="2095"/>
                  </a:lnTo>
                  <a:lnTo>
                    <a:pt x="724" y="2027"/>
                  </a:lnTo>
                  <a:lnTo>
                    <a:pt x="746" y="1956"/>
                  </a:lnTo>
                  <a:lnTo>
                    <a:pt x="766" y="1881"/>
                  </a:lnTo>
                  <a:lnTo>
                    <a:pt x="782" y="1803"/>
                  </a:lnTo>
                  <a:lnTo>
                    <a:pt x="793" y="1720"/>
                  </a:lnTo>
                  <a:lnTo>
                    <a:pt x="801" y="1634"/>
                  </a:lnTo>
                  <a:lnTo>
                    <a:pt x="805" y="1545"/>
                  </a:lnTo>
                  <a:lnTo>
                    <a:pt x="248" y="1545"/>
                  </a:lnTo>
                  <a:lnTo>
                    <a:pt x="214" y="1542"/>
                  </a:lnTo>
                  <a:lnTo>
                    <a:pt x="181" y="1533"/>
                  </a:lnTo>
                  <a:lnTo>
                    <a:pt x="152" y="1519"/>
                  </a:lnTo>
                  <a:lnTo>
                    <a:pt x="125" y="1500"/>
                  </a:lnTo>
                  <a:lnTo>
                    <a:pt x="102" y="1477"/>
                  </a:lnTo>
                  <a:lnTo>
                    <a:pt x="83" y="1450"/>
                  </a:lnTo>
                  <a:lnTo>
                    <a:pt x="69" y="1421"/>
                  </a:lnTo>
                  <a:lnTo>
                    <a:pt x="60" y="1388"/>
                  </a:lnTo>
                  <a:lnTo>
                    <a:pt x="57" y="1354"/>
                  </a:lnTo>
                  <a:lnTo>
                    <a:pt x="57" y="191"/>
                  </a:lnTo>
                  <a:lnTo>
                    <a:pt x="60" y="157"/>
                  </a:lnTo>
                  <a:lnTo>
                    <a:pt x="69" y="125"/>
                  </a:lnTo>
                  <a:lnTo>
                    <a:pt x="83" y="95"/>
                  </a:lnTo>
                  <a:lnTo>
                    <a:pt x="102" y="68"/>
                  </a:lnTo>
                  <a:lnTo>
                    <a:pt x="125" y="45"/>
                  </a:lnTo>
                  <a:lnTo>
                    <a:pt x="152"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ajawal" panose="00000500000000000000" pitchFamily="2" charset="-78"/>
              </a:endParaRPr>
            </a:p>
          </p:txBody>
        </p:sp>
      </p:grpSp>
      <p:sp>
        <p:nvSpPr>
          <p:cNvPr id="21" name="Snip Diagonal Corner Rectangle 29">
            <a:extLst>
              <a:ext uri="{FF2B5EF4-FFF2-40B4-BE49-F238E27FC236}">
                <a16:creationId xmlns:a16="http://schemas.microsoft.com/office/drawing/2014/main" id="{7538C7A3-9C89-8F71-F1BC-7A407B1496BB}"/>
              </a:ext>
            </a:extLst>
          </p:cNvPr>
          <p:cNvSpPr/>
          <p:nvPr/>
        </p:nvSpPr>
        <p:spPr>
          <a:xfrm>
            <a:off x="2378677" y="1862019"/>
            <a:ext cx="256248" cy="256248"/>
          </a:xfrm>
          <a:custGeom>
            <a:avLst/>
            <a:gdLst>
              <a:gd name="connsiteX0" fmla="*/ 256248 w 7434648"/>
              <a:gd name="connsiteY0" fmla="*/ 0 h 3117755"/>
              <a:gd name="connsiteX1" fmla="*/ 7185508 w 7434648"/>
              <a:gd name="connsiteY1" fmla="*/ 0 h 3117755"/>
              <a:gd name="connsiteX2" fmla="*/ 7434648 w 7434648"/>
              <a:gd name="connsiteY2" fmla="*/ 249140 h 3117755"/>
              <a:gd name="connsiteX3" fmla="*/ 7434648 w 7434648"/>
              <a:gd name="connsiteY3" fmla="*/ 2861507 h 3117755"/>
              <a:gd name="connsiteX4" fmla="*/ 7178400 w 7434648"/>
              <a:gd name="connsiteY4" fmla="*/ 3117755 h 3117755"/>
              <a:gd name="connsiteX5" fmla="*/ 249140 w 7434648"/>
              <a:gd name="connsiteY5" fmla="*/ 3117755 h 3117755"/>
              <a:gd name="connsiteX6" fmla="*/ 0 w 7434648"/>
              <a:gd name="connsiteY6" fmla="*/ 2868615 h 3117755"/>
              <a:gd name="connsiteX7" fmla="*/ 0 w 7434648"/>
              <a:gd name="connsiteY7" fmla="*/ 256248 h 3117755"/>
              <a:gd name="connsiteX8" fmla="*/ 256248 w 7434648"/>
              <a:gd name="connsiteY8" fmla="*/ 0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8" fmla="*/ 91440 w 7434648"/>
              <a:gd name="connsiteY8" fmla="*/ 2960055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6" fmla="*/ 249140 w 7434648"/>
              <a:gd name="connsiteY6"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0" fmla="*/ 0 w 7434648"/>
              <a:gd name="connsiteY0" fmla="*/ 256248 h 3167183"/>
              <a:gd name="connsiteX1" fmla="*/ 256248 w 7434648"/>
              <a:gd name="connsiteY1" fmla="*/ 0 h 3167183"/>
              <a:gd name="connsiteX2" fmla="*/ 7185508 w 7434648"/>
              <a:gd name="connsiteY2" fmla="*/ 0 h 3167183"/>
              <a:gd name="connsiteX3" fmla="*/ 7434648 w 7434648"/>
              <a:gd name="connsiteY3" fmla="*/ 249140 h 3167183"/>
              <a:gd name="connsiteX4" fmla="*/ 7434648 w 7434648"/>
              <a:gd name="connsiteY4" fmla="*/ 2861507 h 3167183"/>
              <a:gd name="connsiteX5" fmla="*/ 7166043 w 7434648"/>
              <a:gd name="connsiteY5" fmla="*/ 3167183 h 3167183"/>
              <a:gd name="connsiteX0" fmla="*/ 0 w 7434648"/>
              <a:gd name="connsiteY0" fmla="*/ 256248 h 2861507"/>
              <a:gd name="connsiteX1" fmla="*/ 256248 w 7434648"/>
              <a:gd name="connsiteY1" fmla="*/ 0 h 2861507"/>
              <a:gd name="connsiteX2" fmla="*/ 7185508 w 7434648"/>
              <a:gd name="connsiteY2" fmla="*/ 0 h 2861507"/>
              <a:gd name="connsiteX3" fmla="*/ 7434648 w 7434648"/>
              <a:gd name="connsiteY3" fmla="*/ 249140 h 2861507"/>
              <a:gd name="connsiteX4" fmla="*/ 7434648 w 7434648"/>
              <a:gd name="connsiteY4" fmla="*/ 2861507 h 2861507"/>
              <a:gd name="connsiteX0" fmla="*/ 0 w 7434648"/>
              <a:gd name="connsiteY0" fmla="*/ 256248 h 256248"/>
              <a:gd name="connsiteX1" fmla="*/ 256248 w 7434648"/>
              <a:gd name="connsiteY1" fmla="*/ 0 h 256248"/>
              <a:gd name="connsiteX2" fmla="*/ 7185508 w 7434648"/>
              <a:gd name="connsiteY2" fmla="*/ 0 h 256248"/>
              <a:gd name="connsiteX3" fmla="*/ 7434648 w 7434648"/>
              <a:gd name="connsiteY3" fmla="*/ 249140 h 256248"/>
              <a:gd name="connsiteX0" fmla="*/ 0 w 7185508"/>
              <a:gd name="connsiteY0" fmla="*/ 256248 h 256248"/>
              <a:gd name="connsiteX1" fmla="*/ 256248 w 7185508"/>
              <a:gd name="connsiteY1" fmla="*/ 0 h 256248"/>
              <a:gd name="connsiteX2" fmla="*/ 7185508 w 7185508"/>
              <a:gd name="connsiteY2" fmla="*/ 0 h 256248"/>
              <a:gd name="connsiteX0" fmla="*/ 0 w 256248"/>
              <a:gd name="connsiteY0" fmla="*/ 256248 h 256248"/>
              <a:gd name="connsiteX1" fmla="*/ 256248 w 256248"/>
              <a:gd name="connsiteY1" fmla="*/ 0 h 256248"/>
            </a:gdLst>
            <a:ahLst/>
            <a:cxnLst>
              <a:cxn ang="0">
                <a:pos x="connsiteX0" y="connsiteY0"/>
              </a:cxn>
              <a:cxn ang="0">
                <a:pos x="connsiteX1" y="connsiteY1"/>
              </a:cxn>
            </a:cxnLst>
            <a:rect l="l" t="t" r="r" b="b"/>
            <a:pathLst>
              <a:path w="256248" h="256248">
                <a:moveTo>
                  <a:pt x="0" y="256248"/>
                </a:moveTo>
                <a:lnTo>
                  <a:pt x="256248" y="0"/>
                </a:lnTo>
              </a:path>
            </a:pathLst>
          </a:custGeom>
          <a:noFill/>
          <a:ln w="28575">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sp>
        <p:nvSpPr>
          <p:cNvPr id="22" name="Snip Diagonal Corner Rectangle 13">
            <a:extLst>
              <a:ext uri="{FF2B5EF4-FFF2-40B4-BE49-F238E27FC236}">
                <a16:creationId xmlns:a16="http://schemas.microsoft.com/office/drawing/2014/main" id="{CCA6C9D6-09DA-BEA6-0499-8A8CE4123CD6}"/>
              </a:ext>
            </a:extLst>
          </p:cNvPr>
          <p:cNvSpPr/>
          <p:nvPr/>
        </p:nvSpPr>
        <p:spPr>
          <a:xfrm>
            <a:off x="9374035" y="1990146"/>
            <a:ext cx="260731" cy="228662"/>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 name="connsiteX0" fmla="*/ 5663 w 204136"/>
              <a:gd name="connsiteY0" fmla="*/ 0 h 2483708"/>
              <a:gd name="connsiteX1" fmla="*/ 204136 w 204136"/>
              <a:gd name="connsiteY1" fmla="*/ 198473 h 2483708"/>
              <a:gd name="connsiteX2" fmla="*/ 204136 w 204136"/>
              <a:gd name="connsiteY2" fmla="*/ 2279572 h 2483708"/>
              <a:gd name="connsiteX3" fmla="*/ 0 w 204136"/>
              <a:gd name="connsiteY3" fmla="*/ 2483708 h 2483708"/>
              <a:gd name="connsiteX0" fmla="*/ 0 w 198473"/>
              <a:gd name="connsiteY0" fmla="*/ 0 h 2279572"/>
              <a:gd name="connsiteX1" fmla="*/ 198473 w 198473"/>
              <a:gd name="connsiteY1" fmla="*/ 198473 h 2279572"/>
              <a:gd name="connsiteX2" fmla="*/ 198473 w 198473"/>
              <a:gd name="connsiteY2" fmla="*/ 2279572 h 2279572"/>
              <a:gd name="connsiteX0" fmla="*/ 0 w 198473"/>
              <a:gd name="connsiteY0" fmla="*/ 0 h 198473"/>
              <a:gd name="connsiteX1" fmla="*/ 198473 w 198473"/>
              <a:gd name="connsiteY1" fmla="*/ 198473 h 198473"/>
            </a:gdLst>
            <a:ahLst/>
            <a:cxnLst>
              <a:cxn ang="0">
                <a:pos x="connsiteX0" y="connsiteY0"/>
              </a:cxn>
              <a:cxn ang="0">
                <a:pos x="connsiteX1" y="connsiteY1"/>
              </a:cxn>
            </a:cxnLst>
            <a:rect l="l" t="t" r="r" b="b"/>
            <a:pathLst>
              <a:path w="198473" h="198473">
                <a:moveTo>
                  <a:pt x="0" y="0"/>
                </a:moveTo>
                <a:lnTo>
                  <a:pt x="198473" y="19847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sp>
        <p:nvSpPr>
          <p:cNvPr id="29" name="Rectangle 28">
            <a:extLst>
              <a:ext uri="{FF2B5EF4-FFF2-40B4-BE49-F238E27FC236}">
                <a16:creationId xmlns:a16="http://schemas.microsoft.com/office/drawing/2014/main" id="{FB3D3C8A-8607-C5F8-15B0-61E4100CE9EF}"/>
              </a:ext>
            </a:extLst>
          </p:cNvPr>
          <p:cNvSpPr/>
          <p:nvPr/>
        </p:nvSpPr>
        <p:spPr>
          <a:xfrm>
            <a:off x="2407567" y="2325874"/>
            <a:ext cx="4228901" cy="2275854"/>
          </a:xfrm>
          <a:prstGeom prst="rect">
            <a:avLst/>
          </a:prstGeom>
        </p:spPr>
        <p:txBody>
          <a:bodyPr vert="horz" lIns="91440" tIns="45720" rIns="91440" bIns="45720" rtlCol="0" anchor="ctr" anchorCtr="0">
            <a:noAutofit/>
          </a:bodyPr>
          <a:lstStyle/>
          <a:p>
            <a:pPr algn="just" rtl="1"/>
            <a:r>
              <a:rPr lang="ar-SA" sz="2400" dirty="0">
                <a:latin typeface="Sakkal Majalla" panose="02000000000000000000" pitchFamily="2" charset="-78"/>
                <a:cs typeface="Sakkal Majalla" panose="02000000000000000000" pitchFamily="2" charset="-78"/>
              </a:rPr>
              <a:t>هي ممارسات وضوابط لدراسة الوضع الحالي </a:t>
            </a:r>
            <a:r>
              <a:rPr lang="ar-EG" sz="2400" dirty="0">
                <a:latin typeface="Sakkal Majalla" panose="02000000000000000000" pitchFamily="2" charset="-78"/>
                <a:cs typeface="Sakkal Majalla" panose="02000000000000000000" pitchFamily="2" charset="-78"/>
              </a:rPr>
              <a:t>للهيئة</a:t>
            </a:r>
            <a:r>
              <a:rPr lang="ar-SA" sz="2400" dirty="0">
                <a:latin typeface="Sakkal Majalla" panose="02000000000000000000" pitchFamily="2" charset="-78"/>
                <a:cs typeface="Sakkal Majalla" panose="02000000000000000000" pitchFamily="2" charset="-78"/>
              </a:rPr>
              <a:t>، وبناء خارطة الطريق للتحول إلى الوضع المستقبلي لتحقيق المواءمة بين قطاع الأعمال (الخدمات والإجراءات) وتقنية المعلومات (البيانات، والتطبيقات، والبينة التحتية) والأهداف الاستراتيجية </a:t>
            </a:r>
            <a:r>
              <a:rPr lang="ar-EG" sz="2400" dirty="0">
                <a:latin typeface="Sakkal Majalla" panose="02000000000000000000" pitchFamily="2" charset="-78"/>
                <a:cs typeface="Sakkal Majalla" panose="02000000000000000000" pitchFamily="2" charset="-78"/>
              </a:rPr>
              <a:t>للهيئة.</a:t>
            </a:r>
            <a:endParaRPr lang="ar-SA" sz="2400" dirty="0">
              <a:latin typeface="Sakkal Majalla" panose="02000000000000000000" pitchFamily="2" charset="-78"/>
              <a:cs typeface="Sakkal Majalla" panose="02000000000000000000" pitchFamily="2" charset="-78"/>
            </a:endParaRPr>
          </a:p>
        </p:txBody>
      </p:sp>
      <p:pic>
        <p:nvPicPr>
          <p:cNvPr id="4" name="Picture 2">
            <a:extLst>
              <a:ext uri="{FF2B5EF4-FFF2-40B4-BE49-F238E27FC236}">
                <a16:creationId xmlns:a16="http://schemas.microsoft.com/office/drawing/2014/main" id="{F39A46C0-CCED-C747-D4D2-D542F746E8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2635" y="2218808"/>
            <a:ext cx="3127528" cy="2599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6982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8</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مقدمة </a:t>
            </a:r>
            <a:r>
              <a:rPr lang="ar-SA" dirty="0"/>
              <a:t>عن</a:t>
            </a:r>
            <a:r>
              <a:rPr lang="ar-EG" dirty="0"/>
              <a:t> إدارة متطلبات البنية المؤسسية</a:t>
            </a:r>
            <a:endParaRPr lang="en-US" dirty="0"/>
          </a:p>
        </p:txBody>
      </p:sp>
      <p:grpSp>
        <p:nvGrpSpPr>
          <p:cNvPr id="4" name="Group 3">
            <a:extLst>
              <a:ext uri="{FF2B5EF4-FFF2-40B4-BE49-F238E27FC236}">
                <a16:creationId xmlns:a16="http://schemas.microsoft.com/office/drawing/2014/main" id="{BD4F7724-DFCC-06C6-E541-8B3F93FCC4FD}"/>
              </a:ext>
            </a:extLst>
          </p:cNvPr>
          <p:cNvGrpSpPr/>
          <p:nvPr/>
        </p:nvGrpSpPr>
        <p:grpSpPr>
          <a:xfrm flipH="1">
            <a:off x="9736652" y="2512210"/>
            <a:ext cx="1588573" cy="1483303"/>
            <a:chOff x="1037897" y="2843466"/>
            <a:chExt cx="1588573" cy="1483303"/>
          </a:xfrm>
        </p:grpSpPr>
        <p:grpSp>
          <p:nvGrpSpPr>
            <p:cNvPr id="5" name="Group 4">
              <a:extLst>
                <a:ext uri="{FF2B5EF4-FFF2-40B4-BE49-F238E27FC236}">
                  <a16:creationId xmlns:a16="http://schemas.microsoft.com/office/drawing/2014/main" id="{6F9A729F-B1BF-0228-AD0E-A7D496CFA49C}"/>
                </a:ext>
              </a:extLst>
            </p:cNvPr>
            <p:cNvGrpSpPr/>
            <p:nvPr/>
          </p:nvGrpSpPr>
          <p:grpSpPr>
            <a:xfrm flipH="1">
              <a:off x="1037897" y="2843466"/>
              <a:ext cx="1588573" cy="1483303"/>
              <a:chOff x="9736652" y="2841229"/>
              <a:chExt cx="1588573" cy="1483303"/>
            </a:xfrm>
            <a:solidFill>
              <a:schemeClr val="accent2"/>
            </a:solidFill>
          </p:grpSpPr>
          <p:sp>
            <p:nvSpPr>
              <p:cNvPr id="7" name="Freeform 6">
                <a:extLst>
                  <a:ext uri="{FF2B5EF4-FFF2-40B4-BE49-F238E27FC236}">
                    <a16:creationId xmlns:a16="http://schemas.microsoft.com/office/drawing/2014/main" id="{D9D636D5-63C8-D048-F8E3-A4C3F99A19C1}"/>
                  </a:ext>
                </a:extLst>
              </p:cNvPr>
              <p:cNvSpPr>
                <a:spLocks/>
              </p:cNvSpPr>
              <p:nvPr/>
            </p:nvSpPr>
            <p:spPr bwMode="auto">
              <a:xfrm>
                <a:off x="9736652" y="2841229"/>
                <a:ext cx="1256429" cy="1483303"/>
              </a:xfrm>
              <a:custGeom>
                <a:avLst/>
                <a:gdLst>
                  <a:gd name="T0" fmla="*/ 632 w 7475"/>
                  <a:gd name="T1" fmla="*/ 103 h 8831"/>
                  <a:gd name="T2" fmla="*/ 298 w 7475"/>
                  <a:gd name="T3" fmla="*/ 352 h 8831"/>
                  <a:gd name="T4" fmla="*/ 72 w 7475"/>
                  <a:gd name="T5" fmla="*/ 707 h 8831"/>
                  <a:gd name="T6" fmla="*/ 0 w 7475"/>
                  <a:gd name="T7" fmla="*/ 4422 h 8831"/>
                  <a:gd name="T8" fmla="*/ 73 w 7475"/>
                  <a:gd name="T9" fmla="*/ 8125 h 8831"/>
                  <a:gd name="T10" fmla="*/ 305 w 7475"/>
                  <a:gd name="T11" fmla="*/ 8483 h 8831"/>
                  <a:gd name="T12" fmla="*/ 639 w 7475"/>
                  <a:gd name="T13" fmla="*/ 8727 h 8831"/>
                  <a:gd name="T14" fmla="*/ 858 w 7475"/>
                  <a:gd name="T15" fmla="*/ 8803 h 8831"/>
                  <a:gd name="T16" fmla="*/ 2039 w 7475"/>
                  <a:gd name="T17" fmla="*/ 8831 h 8831"/>
                  <a:gd name="T18" fmla="*/ 5788 w 7475"/>
                  <a:gd name="T19" fmla="*/ 8829 h 8831"/>
                  <a:gd name="T20" fmla="*/ 6608 w 7475"/>
                  <a:gd name="T21" fmla="*/ 8801 h 8831"/>
                  <a:gd name="T22" fmla="*/ 6807 w 7475"/>
                  <a:gd name="T23" fmla="*/ 8736 h 8831"/>
                  <a:gd name="T24" fmla="*/ 7010 w 7475"/>
                  <a:gd name="T25" fmla="*/ 8620 h 8831"/>
                  <a:gd name="T26" fmla="*/ 7265 w 7475"/>
                  <a:gd name="T27" fmla="*/ 8369 h 8831"/>
                  <a:gd name="T28" fmla="*/ 7426 w 7475"/>
                  <a:gd name="T29" fmla="*/ 8047 h 8831"/>
                  <a:gd name="T30" fmla="*/ 7466 w 7475"/>
                  <a:gd name="T31" fmla="*/ 7857 h 8831"/>
                  <a:gd name="T32" fmla="*/ 7475 w 7475"/>
                  <a:gd name="T33" fmla="*/ 6849 h 8831"/>
                  <a:gd name="T34" fmla="*/ 7153 w 7475"/>
                  <a:gd name="T35" fmla="*/ 6842 h 8831"/>
                  <a:gd name="T36" fmla="*/ 7131 w 7475"/>
                  <a:gd name="T37" fmla="*/ 6930 h 8831"/>
                  <a:gd name="T38" fmla="*/ 7125 w 7475"/>
                  <a:gd name="T39" fmla="*/ 7509 h 8831"/>
                  <a:gd name="T40" fmla="*/ 7101 w 7475"/>
                  <a:gd name="T41" fmla="*/ 7917 h 8831"/>
                  <a:gd name="T42" fmla="*/ 7033 w 7475"/>
                  <a:gd name="T43" fmla="*/ 8084 h 8831"/>
                  <a:gd name="T44" fmla="*/ 6859 w 7475"/>
                  <a:gd name="T45" fmla="*/ 8301 h 8831"/>
                  <a:gd name="T46" fmla="*/ 6621 w 7475"/>
                  <a:gd name="T47" fmla="*/ 8440 h 8831"/>
                  <a:gd name="T48" fmla="*/ 6496 w 7475"/>
                  <a:gd name="T49" fmla="*/ 8466 h 8831"/>
                  <a:gd name="T50" fmla="*/ 3699 w 7475"/>
                  <a:gd name="T51" fmla="*/ 8477 h 8831"/>
                  <a:gd name="T52" fmla="*/ 744 w 7475"/>
                  <a:gd name="T53" fmla="*/ 8388 h 8831"/>
                  <a:gd name="T54" fmla="*/ 536 w 7475"/>
                  <a:gd name="T55" fmla="*/ 8219 h 8831"/>
                  <a:gd name="T56" fmla="*/ 399 w 7475"/>
                  <a:gd name="T57" fmla="*/ 7995 h 8831"/>
                  <a:gd name="T58" fmla="*/ 356 w 7475"/>
                  <a:gd name="T59" fmla="*/ 7814 h 8831"/>
                  <a:gd name="T60" fmla="*/ 342 w 7475"/>
                  <a:gd name="T61" fmla="*/ 4409 h 8831"/>
                  <a:gd name="T62" fmla="*/ 357 w 7475"/>
                  <a:gd name="T63" fmla="*/ 1032 h 8831"/>
                  <a:gd name="T64" fmla="*/ 374 w 7475"/>
                  <a:gd name="T65" fmla="*/ 903 h 8831"/>
                  <a:gd name="T66" fmla="*/ 488 w 7475"/>
                  <a:gd name="T67" fmla="*/ 663 h 8831"/>
                  <a:gd name="T68" fmla="*/ 750 w 7475"/>
                  <a:gd name="T69" fmla="*/ 436 h 8831"/>
                  <a:gd name="T70" fmla="*/ 1042 w 7475"/>
                  <a:gd name="T71" fmla="*/ 347 h 8831"/>
                  <a:gd name="T72" fmla="*/ 2627 w 7475"/>
                  <a:gd name="T73" fmla="*/ 333 h 8831"/>
                  <a:gd name="T74" fmla="*/ 6587 w 7475"/>
                  <a:gd name="T75" fmla="*/ 374 h 8831"/>
                  <a:gd name="T76" fmla="*/ 6804 w 7475"/>
                  <a:gd name="T77" fmla="*/ 484 h 8831"/>
                  <a:gd name="T78" fmla="*/ 7000 w 7475"/>
                  <a:gd name="T79" fmla="*/ 684 h 8831"/>
                  <a:gd name="T80" fmla="*/ 7099 w 7475"/>
                  <a:gd name="T81" fmla="*/ 896 h 8831"/>
                  <a:gd name="T82" fmla="*/ 7125 w 7475"/>
                  <a:gd name="T83" fmla="*/ 1191 h 8831"/>
                  <a:gd name="T84" fmla="*/ 7129 w 7475"/>
                  <a:gd name="T85" fmla="*/ 1839 h 8831"/>
                  <a:gd name="T86" fmla="*/ 7240 w 7475"/>
                  <a:gd name="T87" fmla="*/ 1869 h 8831"/>
                  <a:gd name="T88" fmla="*/ 7475 w 7475"/>
                  <a:gd name="T89" fmla="*/ 1416 h 8831"/>
                  <a:gd name="T90" fmla="*/ 7461 w 7475"/>
                  <a:gd name="T91" fmla="*/ 949 h 8831"/>
                  <a:gd name="T92" fmla="*/ 7409 w 7475"/>
                  <a:gd name="T93" fmla="*/ 723 h 8831"/>
                  <a:gd name="T94" fmla="*/ 7336 w 7475"/>
                  <a:gd name="T95" fmla="*/ 569 h 8831"/>
                  <a:gd name="T96" fmla="*/ 7142 w 7475"/>
                  <a:gd name="T97" fmla="*/ 313 h 8831"/>
                  <a:gd name="T98" fmla="*/ 6880 w 7475"/>
                  <a:gd name="T99" fmla="*/ 124 h 8831"/>
                  <a:gd name="T100" fmla="*/ 6600 w 7475"/>
                  <a:gd name="T101" fmla="*/ 6 h 8831"/>
                  <a:gd name="T102" fmla="*/ 1076 w 7475"/>
                  <a:gd name="T103" fmla="*/ 7 h 8831"/>
                  <a:gd name="T104" fmla="*/ 829 w 7475"/>
                  <a:gd name="T105" fmla="*/ 31 h 8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75" h="8831">
                    <a:moveTo>
                      <a:pt x="829" y="31"/>
                    </a:moveTo>
                    <a:lnTo>
                      <a:pt x="761" y="50"/>
                    </a:lnTo>
                    <a:lnTo>
                      <a:pt x="632" y="103"/>
                    </a:lnTo>
                    <a:lnTo>
                      <a:pt x="511" y="172"/>
                    </a:lnTo>
                    <a:lnTo>
                      <a:pt x="399" y="255"/>
                    </a:lnTo>
                    <a:lnTo>
                      <a:pt x="298" y="352"/>
                    </a:lnTo>
                    <a:lnTo>
                      <a:pt x="209" y="460"/>
                    </a:lnTo>
                    <a:lnTo>
                      <a:pt x="133" y="579"/>
                    </a:lnTo>
                    <a:lnTo>
                      <a:pt x="72" y="707"/>
                    </a:lnTo>
                    <a:lnTo>
                      <a:pt x="49" y="774"/>
                    </a:lnTo>
                    <a:lnTo>
                      <a:pt x="0" y="922"/>
                    </a:lnTo>
                    <a:lnTo>
                      <a:pt x="0" y="4422"/>
                    </a:lnTo>
                    <a:lnTo>
                      <a:pt x="0" y="7922"/>
                    </a:lnTo>
                    <a:lnTo>
                      <a:pt x="47" y="8056"/>
                    </a:lnTo>
                    <a:lnTo>
                      <a:pt x="73" y="8125"/>
                    </a:lnTo>
                    <a:lnTo>
                      <a:pt x="137" y="8255"/>
                    </a:lnTo>
                    <a:lnTo>
                      <a:pt x="215" y="8374"/>
                    </a:lnTo>
                    <a:lnTo>
                      <a:pt x="305" y="8483"/>
                    </a:lnTo>
                    <a:lnTo>
                      <a:pt x="407" y="8578"/>
                    </a:lnTo>
                    <a:lnTo>
                      <a:pt x="518" y="8660"/>
                    </a:lnTo>
                    <a:lnTo>
                      <a:pt x="639" y="8727"/>
                    </a:lnTo>
                    <a:lnTo>
                      <a:pt x="768" y="8779"/>
                    </a:lnTo>
                    <a:lnTo>
                      <a:pt x="835" y="8797"/>
                    </a:lnTo>
                    <a:lnTo>
                      <a:pt x="858" y="8803"/>
                    </a:lnTo>
                    <a:lnTo>
                      <a:pt x="916" y="8813"/>
                    </a:lnTo>
                    <a:lnTo>
                      <a:pt x="1080" y="8823"/>
                    </a:lnTo>
                    <a:lnTo>
                      <a:pt x="2039" y="8831"/>
                    </a:lnTo>
                    <a:lnTo>
                      <a:pt x="3740" y="8831"/>
                    </a:lnTo>
                    <a:lnTo>
                      <a:pt x="4795" y="8831"/>
                    </a:lnTo>
                    <a:lnTo>
                      <a:pt x="5788" y="8829"/>
                    </a:lnTo>
                    <a:lnTo>
                      <a:pt x="6213" y="8824"/>
                    </a:lnTo>
                    <a:lnTo>
                      <a:pt x="6483" y="8814"/>
                    </a:lnTo>
                    <a:lnTo>
                      <a:pt x="6608" y="8801"/>
                    </a:lnTo>
                    <a:lnTo>
                      <a:pt x="6668" y="8791"/>
                    </a:lnTo>
                    <a:lnTo>
                      <a:pt x="6735" y="8772"/>
                    </a:lnTo>
                    <a:lnTo>
                      <a:pt x="6807" y="8736"/>
                    </a:lnTo>
                    <a:lnTo>
                      <a:pt x="6850" y="8714"/>
                    </a:lnTo>
                    <a:lnTo>
                      <a:pt x="6906" y="8686"/>
                    </a:lnTo>
                    <a:lnTo>
                      <a:pt x="7010" y="8620"/>
                    </a:lnTo>
                    <a:lnTo>
                      <a:pt x="7104" y="8546"/>
                    </a:lnTo>
                    <a:lnTo>
                      <a:pt x="7190" y="8462"/>
                    </a:lnTo>
                    <a:lnTo>
                      <a:pt x="7265" y="8369"/>
                    </a:lnTo>
                    <a:lnTo>
                      <a:pt x="7329" y="8269"/>
                    </a:lnTo>
                    <a:lnTo>
                      <a:pt x="7383" y="8162"/>
                    </a:lnTo>
                    <a:lnTo>
                      <a:pt x="7426" y="8047"/>
                    </a:lnTo>
                    <a:lnTo>
                      <a:pt x="7442" y="7987"/>
                    </a:lnTo>
                    <a:lnTo>
                      <a:pt x="7452" y="7946"/>
                    </a:lnTo>
                    <a:lnTo>
                      <a:pt x="7466" y="7857"/>
                    </a:lnTo>
                    <a:lnTo>
                      <a:pt x="7475" y="7643"/>
                    </a:lnTo>
                    <a:lnTo>
                      <a:pt x="7475" y="7354"/>
                    </a:lnTo>
                    <a:lnTo>
                      <a:pt x="7475" y="6849"/>
                    </a:lnTo>
                    <a:lnTo>
                      <a:pt x="7314" y="6844"/>
                    </a:lnTo>
                    <a:lnTo>
                      <a:pt x="7248" y="6842"/>
                    </a:lnTo>
                    <a:lnTo>
                      <a:pt x="7153" y="6842"/>
                    </a:lnTo>
                    <a:lnTo>
                      <a:pt x="7139" y="6844"/>
                    </a:lnTo>
                    <a:lnTo>
                      <a:pt x="7136" y="6852"/>
                    </a:lnTo>
                    <a:lnTo>
                      <a:pt x="7131" y="6930"/>
                    </a:lnTo>
                    <a:lnTo>
                      <a:pt x="7126" y="7149"/>
                    </a:lnTo>
                    <a:lnTo>
                      <a:pt x="7125" y="7349"/>
                    </a:lnTo>
                    <a:lnTo>
                      <a:pt x="7125" y="7509"/>
                    </a:lnTo>
                    <a:lnTo>
                      <a:pt x="7123" y="7720"/>
                    </a:lnTo>
                    <a:lnTo>
                      <a:pt x="7116" y="7842"/>
                    </a:lnTo>
                    <a:lnTo>
                      <a:pt x="7101" y="7917"/>
                    </a:lnTo>
                    <a:lnTo>
                      <a:pt x="7090" y="7951"/>
                    </a:lnTo>
                    <a:lnTo>
                      <a:pt x="7074" y="7997"/>
                    </a:lnTo>
                    <a:lnTo>
                      <a:pt x="7033" y="8084"/>
                    </a:lnTo>
                    <a:lnTo>
                      <a:pt x="6983" y="8164"/>
                    </a:lnTo>
                    <a:lnTo>
                      <a:pt x="6925" y="8237"/>
                    </a:lnTo>
                    <a:lnTo>
                      <a:pt x="6859" y="8301"/>
                    </a:lnTo>
                    <a:lnTo>
                      <a:pt x="6786" y="8357"/>
                    </a:lnTo>
                    <a:lnTo>
                      <a:pt x="6706" y="8403"/>
                    </a:lnTo>
                    <a:lnTo>
                      <a:pt x="6621" y="8440"/>
                    </a:lnTo>
                    <a:lnTo>
                      <a:pt x="6575" y="8454"/>
                    </a:lnTo>
                    <a:lnTo>
                      <a:pt x="6558" y="8459"/>
                    </a:lnTo>
                    <a:lnTo>
                      <a:pt x="6496" y="8466"/>
                    </a:lnTo>
                    <a:lnTo>
                      <a:pt x="6304" y="8474"/>
                    </a:lnTo>
                    <a:lnTo>
                      <a:pt x="5299" y="8479"/>
                    </a:lnTo>
                    <a:lnTo>
                      <a:pt x="3699" y="8477"/>
                    </a:lnTo>
                    <a:lnTo>
                      <a:pt x="915" y="8472"/>
                    </a:lnTo>
                    <a:lnTo>
                      <a:pt x="785" y="8409"/>
                    </a:lnTo>
                    <a:lnTo>
                      <a:pt x="744" y="8388"/>
                    </a:lnTo>
                    <a:lnTo>
                      <a:pt x="668" y="8339"/>
                    </a:lnTo>
                    <a:lnTo>
                      <a:pt x="598" y="8282"/>
                    </a:lnTo>
                    <a:lnTo>
                      <a:pt x="536" y="8219"/>
                    </a:lnTo>
                    <a:lnTo>
                      <a:pt x="482" y="8150"/>
                    </a:lnTo>
                    <a:lnTo>
                      <a:pt x="436" y="8075"/>
                    </a:lnTo>
                    <a:lnTo>
                      <a:pt x="399" y="7995"/>
                    </a:lnTo>
                    <a:lnTo>
                      <a:pt x="371" y="7911"/>
                    </a:lnTo>
                    <a:lnTo>
                      <a:pt x="360" y="7867"/>
                    </a:lnTo>
                    <a:lnTo>
                      <a:pt x="356" y="7814"/>
                    </a:lnTo>
                    <a:lnTo>
                      <a:pt x="349" y="7395"/>
                    </a:lnTo>
                    <a:lnTo>
                      <a:pt x="343" y="6032"/>
                    </a:lnTo>
                    <a:lnTo>
                      <a:pt x="342" y="4409"/>
                    </a:lnTo>
                    <a:lnTo>
                      <a:pt x="342" y="2512"/>
                    </a:lnTo>
                    <a:lnTo>
                      <a:pt x="349" y="1278"/>
                    </a:lnTo>
                    <a:lnTo>
                      <a:pt x="357" y="1032"/>
                    </a:lnTo>
                    <a:lnTo>
                      <a:pt x="363" y="953"/>
                    </a:lnTo>
                    <a:lnTo>
                      <a:pt x="367" y="932"/>
                    </a:lnTo>
                    <a:lnTo>
                      <a:pt x="374" y="903"/>
                    </a:lnTo>
                    <a:lnTo>
                      <a:pt x="393" y="845"/>
                    </a:lnTo>
                    <a:lnTo>
                      <a:pt x="428" y="763"/>
                    </a:lnTo>
                    <a:lnTo>
                      <a:pt x="488" y="663"/>
                    </a:lnTo>
                    <a:lnTo>
                      <a:pt x="563" y="575"/>
                    </a:lnTo>
                    <a:lnTo>
                      <a:pt x="651" y="498"/>
                    </a:lnTo>
                    <a:lnTo>
                      <a:pt x="750" y="436"/>
                    </a:lnTo>
                    <a:lnTo>
                      <a:pt x="860" y="388"/>
                    </a:lnTo>
                    <a:lnTo>
                      <a:pt x="979" y="356"/>
                    </a:lnTo>
                    <a:lnTo>
                      <a:pt x="1042" y="347"/>
                    </a:lnTo>
                    <a:lnTo>
                      <a:pt x="1104" y="343"/>
                    </a:lnTo>
                    <a:lnTo>
                      <a:pt x="1495" y="337"/>
                    </a:lnTo>
                    <a:lnTo>
                      <a:pt x="2627" y="333"/>
                    </a:lnTo>
                    <a:lnTo>
                      <a:pt x="3834" y="334"/>
                    </a:lnTo>
                    <a:lnTo>
                      <a:pt x="6484" y="339"/>
                    </a:lnTo>
                    <a:lnTo>
                      <a:pt x="6587" y="374"/>
                    </a:lnTo>
                    <a:lnTo>
                      <a:pt x="6634" y="391"/>
                    </a:lnTo>
                    <a:lnTo>
                      <a:pt x="6722" y="433"/>
                    </a:lnTo>
                    <a:lnTo>
                      <a:pt x="6804" y="484"/>
                    </a:lnTo>
                    <a:lnTo>
                      <a:pt x="6878" y="543"/>
                    </a:lnTo>
                    <a:lnTo>
                      <a:pt x="6943" y="610"/>
                    </a:lnTo>
                    <a:lnTo>
                      <a:pt x="7000" y="684"/>
                    </a:lnTo>
                    <a:lnTo>
                      <a:pt x="7047" y="764"/>
                    </a:lnTo>
                    <a:lnTo>
                      <a:pt x="7084" y="850"/>
                    </a:lnTo>
                    <a:lnTo>
                      <a:pt x="7099" y="896"/>
                    </a:lnTo>
                    <a:lnTo>
                      <a:pt x="7106" y="924"/>
                    </a:lnTo>
                    <a:lnTo>
                      <a:pt x="7117" y="1001"/>
                    </a:lnTo>
                    <a:lnTo>
                      <a:pt x="7125" y="1191"/>
                    </a:lnTo>
                    <a:lnTo>
                      <a:pt x="7125" y="1422"/>
                    </a:lnTo>
                    <a:lnTo>
                      <a:pt x="7126" y="1597"/>
                    </a:lnTo>
                    <a:lnTo>
                      <a:pt x="7129" y="1839"/>
                    </a:lnTo>
                    <a:lnTo>
                      <a:pt x="7132" y="1866"/>
                    </a:lnTo>
                    <a:lnTo>
                      <a:pt x="7144" y="1868"/>
                    </a:lnTo>
                    <a:lnTo>
                      <a:pt x="7240" y="1869"/>
                    </a:lnTo>
                    <a:lnTo>
                      <a:pt x="7307" y="1867"/>
                    </a:lnTo>
                    <a:lnTo>
                      <a:pt x="7475" y="1862"/>
                    </a:lnTo>
                    <a:lnTo>
                      <a:pt x="7475" y="1416"/>
                    </a:lnTo>
                    <a:lnTo>
                      <a:pt x="7475" y="1242"/>
                    </a:lnTo>
                    <a:lnTo>
                      <a:pt x="7469" y="1050"/>
                    </a:lnTo>
                    <a:lnTo>
                      <a:pt x="7461" y="949"/>
                    </a:lnTo>
                    <a:lnTo>
                      <a:pt x="7449" y="864"/>
                    </a:lnTo>
                    <a:lnTo>
                      <a:pt x="7432" y="791"/>
                    </a:lnTo>
                    <a:lnTo>
                      <a:pt x="7409" y="723"/>
                    </a:lnTo>
                    <a:lnTo>
                      <a:pt x="7380" y="655"/>
                    </a:lnTo>
                    <a:lnTo>
                      <a:pt x="7362" y="619"/>
                    </a:lnTo>
                    <a:lnTo>
                      <a:pt x="7336" y="569"/>
                    </a:lnTo>
                    <a:lnTo>
                      <a:pt x="7278" y="476"/>
                    </a:lnTo>
                    <a:lnTo>
                      <a:pt x="7213" y="391"/>
                    </a:lnTo>
                    <a:lnTo>
                      <a:pt x="7142" y="313"/>
                    </a:lnTo>
                    <a:lnTo>
                      <a:pt x="7062" y="243"/>
                    </a:lnTo>
                    <a:lnTo>
                      <a:pt x="6975" y="180"/>
                    </a:lnTo>
                    <a:lnTo>
                      <a:pt x="6880" y="124"/>
                    </a:lnTo>
                    <a:lnTo>
                      <a:pt x="6777" y="74"/>
                    </a:lnTo>
                    <a:lnTo>
                      <a:pt x="6722" y="52"/>
                    </a:lnTo>
                    <a:lnTo>
                      <a:pt x="6600" y="6"/>
                    </a:lnTo>
                    <a:lnTo>
                      <a:pt x="3775" y="2"/>
                    </a:lnTo>
                    <a:lnTo>
                      <a:pt x="2053" y="0"/>
                    </a:lnTo>
                    <a:lnTo>
                      <a:pt x="1076" y="7"/>
                    </a:lnTo>
                    <a:lnTo>
                      <a:pt x="908" y="17"/>
                    </a:lnTo>
                    <a:lnTo>
                      <a:pt x="851" y="25"/>
                    </a:lnTo>
                    <a:lnTo>
                      <a:pt x="829"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8" name="Freeform 7">
                <a:extLst>
                  <a:ext uri="{FF2B5EF4-FFF2-40B4-BE49-F238E27FC236}">
                    <a16:creationId xmlns:a16="http://schemas.microsoft.com/office/drawing/2014/main" id="{8EF45EC1-585E-D164-E91C-015AABDBF08D}"/>
                  </a:ext>
                </a:extLst>
              </p:cNvPr>
              <p:cNvSpPr>
                <a:spLocks/>
              </p:cNvSpPr>
              <p:nvPr/>
            </p:nvSpPr>
            <p:spPr bwMode="auto">
              <a:xfrm>
                <a:off x="10015708" y="3174280"/>
                <a:ext cx="697412" cy="24956"/>
              </a:xfrm>
              <a:custGeom>
                <a:avLst/>
                <a:gdLst>
                  <a:gd name="T0" fmla="*/ 5 w 4150"/>
                  <a:gd name="T1" fmla="*/ 22 h 149"/>
                  <a:gd name="T2" fmla="*/ 2 w 4150"/>
                  <a:gd name="T3" fmla="*/ 34 h 149"/>
                  <a:gd name="T4" fmla="*/ 0 w 4150"/>
                  <a:gd name="T5" fmla="*/ 73 h 149"/>
                  <a:gd name="T6" fmla="*/ 2 w 4150"/>
                  <a:gd name="T7" fmla="*/ 94 h 149"/>
                  <a:gd name="T8" fmla="*/ 7 w 4150"/>
                  <a:gd name="T9" fmla="*/ 140 h 149"/>
                  <a:gd name="T10" fmla="*/ 2079 w 4150"/>
                  <a:gd name="T11" fmla="*/ 145 h 149"/>
                  <a:gd name="T12" fmla="*/ 4150 w 4150"/>
                  <a:gd name="T13" fmla="*/ 149 h 149"/>
                  <a:gd name="T14" fmla="*/ 4145 w 4150"/>
                  <a:gd name="T15" fmla="*/ 79 h 149"/>
                  <a:gd name="T16" fmla="*/ 4140 w 4150"/>
                  <a:gd name="T17" fmla="*/ 7 h 149"/>
                  <a:gd name="T18" fmla="*/ 2077 w 4150"/>
                  <a:gd name="T19" fmla="*/ 2 h 149"/>
                  <a:gd name="T20" fmla="*/ 935 w 4150"/>
                  <a:gd name="T21" fmla="*/ 0 h 149"/>
                  <a:gd name="T22" fmla="*/ 187 w 4150"/>
                  <a:gd name="T23" fmla="*/ 6 h 149"/>
                  <a:gd name="T24" fmla="*/ 46 w 4150"/>
                  <a:gd name="T25" fmla="*/ 12 h 149"/>
                  <a:gd name="T26" fmla="*/ 9 w 4150"/>
                  <a:gd name="T27" fmla="*/ 18 h 149"/>
                  <a:gd name="T28" fmla="*/ 5 w 4150"/>
                  <a:gd name="T29"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50" h="149">
                    <a:moveTo>
                      <a:pt x="5" y="22"/>
                    </a:moveTo>
                    <a:lnTo>
                      <a:pt x="2" y="34"/>
                    </a:lnTo>
                    <a:lnTo>
                      <a:pt x="0" y="73"/>
                    </a:lnTo>
                    <a:lnTo>
                      <a:pt x="2" y="94"/>
                    </a:lnTo>
                    <a:lnTo>
                      <a:pt x="7" y="140"/>
                    </a:lnTo>
                    <a:lnTo>
                      <a:pt x="2079" y="145"/>
                    </a:lnTo>
                    <a:lnTo>
                      <a:pt x="4150" y="149"/>
                    </a:lnTo>
                    <a:lnTo>
                      <a:pt x="4145" y="79"/>
                    </a:lnTo>
                    <a:lnTo>
                      <a:pt x="4140" y="7"/>
                    </a:lnTo>
                    <a:lnTo>
                      <a:pt x="2077" y="2"/>
                    </a:lnTo>
                    <a:lnTo>
                      <a:pt x="935" y="0"/>
                    </a:lnTo>
                    <a:lnTo>
                      <a:pt x="187" y="6"/>
                    </a:lnTo>
                    <a:lnTo>
                      <a:pt x="46"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9" name="Freeform 8">
                <a:extLst>
                  <a:ext uri="{FF2B5EF4-FFF2-40B4-BE49-F238E27FC236}">
                    <a16:creationId xmlns:a16="http://schemas.microsoft.com/office/drawing/2014/main" id="{12EA062D-BB00-E269-A646-A914EE2C8E90}"/>
                  </a:ext>
                </a:extLst>
              </p:cNvPr>
              <p:cNvSpPr>
                <a:spLocks noEditPoints="1"/>
              </p:cNvSpPr>
              <p:nvPr/>
            </p:nvSpPr>
            <p:spPr bwMode="auto">
              <a:xfrm>
                <a:off x="10614202" y="3216932"/>
                <a:ext cx="711023" cy="711023"/>
              </a:xfrm>
              <a:custGeom>
                <a:avLst/>
                <a:gdLst>
                  <a:gd name="T0" fmla="*/ 1447 w 4229"/>
                  <a:gd name="T1" fmla="*/ 106 h 4232"/>
                  <a:gd name="T2" fmla="*/ 819 w 4229"/>
                  <a:gd name="T3" fmla="*/ 442 h 4232"/>
                  <a:gd name="T4" fmla="*/ 456 w 4229"/>
                  <a:gd name="T5" fmla="*/ 801 h 4232"/>
                  <a:gd name="T6" fmla="*/ 145 w 4229"/>
                  <a:gd name="T7" fmla="*/ 1332 h 4232"/>
                  <a:gd name="T8" fmla="*/ 21 w 4229"/>
                  <a:gd name="T9" fmla="*/ 1755 h 4232"/>
                  <a:gd name="T10" fmla="*/ 10 w 4229"/>
                  <a:gd name="T11" fmla="*/ 2393 h 4232"/>
                  <a:gd name="T12" fmla="*/ 92 w 4229"/>
                  <a:gd name="T13" fmla="*/ 2759 h 4232"/>
                  <a:gd name="T14" fmla="*/ 361 w 4229"/>
                  <a:gd name="T15" fmla="*/ 3308 h 4232"/>
                  <a:gd name="T16" fmla="*/ 679 w 4229"/>
                  <a:gd name="T17" fmla="*/ 3670 h 4232"/>
                  <a:gd name="T18" fmla="*/ 1185 w 4229"/>
                  <a:gd name="T19" fmla="*/ 4024 h 4232"/>
                  <a:gd name="T20" fmla="*/ 1714 w 4229"/>
                  <a:gd name="T21" fmla="*/ 4204 h 4232"/>
                  <a:gd name="T22" fmla="*/ 2229 w 4229"/>
                  <a:gd name="T23" fmla="*/ 4232 h 4232"/>
                  <a:gd name="T24" fmla="*/ 2597 w 4229"/>
                  <a:gd name="T25" fmla="*/ 4185 h 4232"/>
                  <a:gd name="T26" fmla="*/ 3176 w 4229"/>
                  <a:gd name="T27" fmla="*/ 3953 h 4232"/>
                  <a:gd name="T28" fmla="*/ 3607 w 4229"/>
                  <a:gd name="T29" fmla="*/ 3612 h 4232"/>
                  <a:gd name="T30" fmla="*/ 3951 w 4229"/>
                  <a:gd name="T31" fmla="*/ 3177 h 4232"/>
                  <a:gd name="T32" fmla="*/ 4182 w 4229"/>
                  <a:gd name="T33" fmla="*/ 2594 h 4232"/>
                  <a:gd name="T34" fmla="*/ 4229 w 4229"/>
                  <a:gd name="T35" fmla="*/ 2228 h 4232"/>
                  <a:gd name="T36" fmla="*/ 4199 w 4229"/>
                  <a:gd name="T37" fmla="*/ 1719 h 4232"/>
                  <a:gd name="T38" fmla="*/ 4017 w 4229"/>
                  <a:gd name="T39" fmla="*/ 1187 h 4232"/>
                  <a:gd name="T40" fmla="*/ 3662 w 4229"/>
                  <a:gd name="T41" fmla="*/ 672 h 4232"/>
                  <a:gd name="T42" fmla="*/ 3179 w 4229"/>
                  <a:gd name="T43" fmla="*/ 284 h 4232"/>
                  <a:gd name="T44" fmla="*/ 2597 w 4229"/>
                  <a:gd name="T45" fmla="*/ 51 h 4232"/>
                  <a:gd name="T46" fmla="*/ 2110 w 4229"/>
                  <a:gd name="T47" fmla="*/ 0 h 4232"/>
                  <a:gd name="T48" fmla="*/ 2421 w 4229"/>
                  <a:gd name="T49" fmla="*/ 373 h 4232"/>
                  <a:gd name="T50" fmla="*/ 2962 w 4229"/>
                  <a:gd name="T51" fmla="*/ 563 h 4232"/>
                  <a:gd name="T52" fmla="*/ 3365 w 4229"/>
                  <a:gd name="T53" fmla="*/ 867 h 4232"/>
                  <a:gd name="T54" fmla="*/ 3716 w 4229"/>
                  <a:gd name="T55" fmla="*/ 1361 h 4232"/>
                  <a:gd name="T56" fmla="*/ 3883 w 4229"/>
                  <a:gd name="T57" fmla="*/ 2003 h 4232"/>
                  <a:gd name="T58" fmla="*/ 3799 w 4229"/>
                  <a:gd name="T59" fmla="*/ 2661 h 4232"/>
                  <a:gd name="T60" fmla="*/ 3464 w 4229"/>
                  <a:gd name="T61" fmla="*/ 3266 h 4232"/>
                  <a:gd name="T62" fmla="*/ 3179 w 4229"/>
                  <a:gd name="T63" fmla="*/ 3532 h 4232"/>
                  <a:gd name="T64" fmla="*/ 2726 w 4229"/>
                  <a:gd name="T65" fmla="*/ 3780 h 4232"/>
                  <a:gd name="T66" fmla="*/ 2408 w 4229"/>
                  <a:gd name="T67" fmla="*/ 3870 h 4232"/>
                  <a:gd name="T68" fmla="*/ 2031 w 4229"/>
                  <a:gd name="T69" fmla="*/ 3882 h 4232"/>
                  <a:gd name="T70" fmla="*/ 1684 w 4229"/>
                  <a:gd name="T71" fmla="*/ 3839 h 4232"/>
                  <a:gd name="T72" fmla="*/ 1289 w 4229"/>
                  <a:gd name="T73" fmla="*/ 3684 h 4232"/>
                  <a:gd name="T74" fmla="*/ 904 w 4229"/>
                  <a:gd name="T75" fmla="*/ 3411 h 4232"/>
                  <a:gd name="T76" fmla="*/ 607 w 4229"/>
                  <a:gd name="T77" fmla="*/ 3048 h 4232"/>
                  <a:gd name="T78" fmla="*/ 410 w 4229"/>
                  <a:gd name="T79" fmla="*/ 2611 h 4232"/>
                  <a:gd name="T80" fmla="*/ 354 w 4229"/>
                  <a:gd name="T81" fmla="*/ 2322 h 4232"/>
                  <a:gd name="T82" fmla="*/ 354 w 4229"/>
                  <a:gd name="T83" fmla="*/ 1916 h 4232"/>
                  <a:gd name="T84" fmla="*/ 410 w 4229"/>
                  <a:gd name="T85" fmla="*/ 1627 h 4232"/>
                  <a:gd name="T86" fmla="*/ 605 w 4229"/>
                  <a:gd name="T87" fmla="*/ 1192 h 4232"/>
                  <a:gd name="T88" fmla="*/ 862 w 4229"/>
                  <a:gd name="T89" fmla="*/ 867 h 4232"/>
                  <a:gd name="T90" fmla="*/ 1142 w 4229"/>
                  <a:gd name="T91" fmla="*/ 639 h 4232"/>
                  <a:gd name="T92" fmla="*/ 1503 w 4229"/>
                  <a:gd name="T93" fmla="*/ 456 h 4232"/>
                  <a:gd name="T94" fmla="*/ 1893 w 4229"/>
                  <a:gd name="T95" fmla="*/ 359 h 4232"/>
                  <a:gd name="T96" fmla="*/ 2298 w 4229"/>
                  <a:gd name="T97" fmla="*/ 355 h 4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9" h="4232">
                    <a:moveTo>
                      <a:pt x="1905" y="4"/>
                    </a:moveTo>
                    <a:lnTo>
                      <a:pt x="1809" y="17"/>
                    </a:lnTo>
                    <a:lnTo>
                      <a:pt x="1624" y="55"/>
                    </a:lnTo>
                    <a:lnTo>
                      <a:pt x="1447" y="106"/>
                    </a:lnTo>
                    <a:lnTo>
                      <a:pt x="1278" y="170"/>
                    </a:lnTo>
                    <a:lnTo>
                      <a:pt x="1117" y="247"/>
                    </a:lnTo>
                    <a:lnTo>
                      <a:pt x="964" y="338"/>
                    </a:lnTo>
                    <a:lnTo>
                      <a:pt x="819" y="442"/>
                    </a:lnTo>
                    <a:lnTo>
                      <a:pt x="681" y="559"/>
                    </a:lnTo>
                    <a:lnTo>
                      <a:pt x="615" y="624"/>
                    </a:lnTo>
                    <a:lnTo>
                      <a:pt x="559" y="682"/>
                    </a:lnTo>
                    <a:lnTo>
                      <a:pt x="456" y="801"/>
                    </a:lnTo>
                    <a:lnTo>
                      <a:pt x="364" y="925"/>
                    </a:lnTo>
                    <a:lnTo>
                      <a:pt x="281" y="1055"/>
                    </a:lnTo>
                    <a:lnTo>
                      <a:pt x="208" y="1190"/>
                    </a:lnTo>
                    <a:lnTo>
                      <a:pt x="145" y="1332"/>
                    </a:lnTo>
                    <a:lnTo>
                      <a:pt x="92" y="1481"/>
                    </a:lnTo>
                    <a:lnTo>
                      <a:pt x="47" y="1637"/>
                    </a:lnTo>
                    <a:lnTo>
                      <a:pt x="29" y="1719"/>
                    </a:lnTo>
                    <a:lnTo>
                      <a:pt x="21" y="1755"/>
                    </a:lnTo>
                    <a:lnTo>
                      <a:pt x="10" y="1845"/>
                    </a:lnTo>
                    <a:lnTo>
                      <a:pt x="0" y="2003"/>
                    </a:lnTo>
                    <a:lnTo>
                      <a:pt x="0" y="2234"/>
                    </a:lnTo>
                    <a:lnTo>
                      <a:pt x="10" y="2393"/>
                    </a:lnTo>
                    <a:lnTo>
                      <a:pt x="21" y="2482"/>
                    </a:lnTo>
                    <a:lnTo>
                      <a:pt x="29" y="2519"/>
                    </a:lnTo>
                    <a:lnTo>
                      <a:pt x="47" y="2602"/>
                    </a:lnTo>
                    <a:lnTo>
                      <a:pt x="92" y="2759"/>
                    </a:lnTo>
                    <a:lnTo>
                      <a:pt x="144" y="2907"/>
                    </a:lnTo>
                    <a:lnTo>
                      <a:pt x="206" y="3047"/>
                    </a:lnTo>
                    <a:lnTo>
                      <a:pt x="278" y="3180"/>
                    </a:lnTo>
                    <a:lnTo>
                      <a:pt x="361" y="3308"/>
                    </a:lnTo>
                    <a:lnTo>
                      <a:pt x="455" y="3431"/>
                    </a:lnTo>
                    <a:lnTo>
                      <a:pt x="562" y="3552"/>
                    </a:lnTo>
                    <a:lnTo>
                      <a:pt x="620" y="3612"/>
                    </a:lnTo>
                    <a:lnTo>
                      <a:pt x="679" y="3670"/>
                    </a:lnTo>
                    <a:lnTo>
                      <a:pt x="799" y="3775"/>
                    </a:lnTo>
                    <a:lnTo>
                      <a:pt x="922" y="3869"/>
                    </a:lnTo>
                    <a:lnTo>
                      <a:pt x="1050" y="3952"/>
                    </a:lnTo>
                    <a:lnTo>
                      <a:pt x="1185" y="4024"/>
                    </a:lnTo>
                    <a:lnTo>
                      <a:pt x="1325" y="4087"/>
                    </a:lnTo>
                    <a:lnTo>
                      <a:pt x="1474" y="4140"/>
                    </a:lnTo>
                    <a:lnTo>
                      <a:pt x="1631" y="4185"/>
                    </a:lnTo>
                    <a:lnTo>
                      <a:pt x="1714" y="4204"/>
                    </a:lnTo>
                    <a:lnTo>
                      <a:pt x="1750" y="4211"/>
                    </a:lnTo>
                    <a:lnTo>
                      <a:pt x="1840" y="4222"/>
                    </a:lnTo>
                    <a:lnTo>
                      <a:pt x="1998" y="4232"/>
                    </a:lnTo>
                    <a:lnTo>
                      <a:pt x="2229" y="4232"/>
                    </a:lnTo>
                    <a:lnTo>
                      <a:pt x="2388" y="4222"/>
                    </a:lnTo>
                    <a:lnTo>
                      <a:pt x="2477" y="4211"/>
                    </a:lnTo>
                    <a:lnTo>
                      <a:pt x="2514" y="4204"/>
                    </a:lnTo>
                    <a:lnTo>
                      <a:pt x="2597" y="4185"/>
                    </a:lnTo>
                    <a:lnTo>
                      <a:pt x="2754" y="4141"/>
                    </a:lnTo>
                    <a:lnTo>
                      <a:pt x="2902" y="4088"/>
                    </a:lnTo>
                    <a:lnTo>
                      <a:pt x="3043" y="4026"/>
                    </a:lnTo>
                    <a:lnTo>
                      <a:pt x="3176" y="3953"/>
                    </a:lnTo>
                    <a:lnTo>
                      <a:pt x="3304" y="3871"/>
                    </a:lnTo>
                    <a:lnTo>
                      <a:pt x="3427" y="3776"/>
                    </a:lnTo>
                    <a:lnTo>
                      <a:pt x="3548" y="3670"/>
                    </a:lnTo>
                    <a:lnTo>
                      <a:pt x="3607" y="3612"/>
                    </a:lnTo>
                    <a:lnTo>
                      <a:pt x="3666" y="3552"/>
                    </a:lnTo>
                    <a:lnTo>
                      <a:pt x="3773" y="3430"/>
                    </a:lnTo>
                    <a:lnTo>
                      <a:pt x="3868" y="3306"/>
                    </a:lnTo>
                    <a:lnTo>
                      <a:pt x="3951" y="3177"/>
                    </a:lnTo>
                    <a:lnTo>
                      <a:pt x="4023" y="3042"/>
                    </a:lnTo>
                    <a:lnTo>
                      <a:pt x="4085" y="2901"/>
                    </a:lnTo>
                    <a:lnTo>
                      <a:pt x="4138" y="2752"/>
                    </a:lnTo>
                    <a:lnTo>
                      <a:pt x="4182" y="2594"/>
                    </a:lnTo>
                    <a:lnTo>
                      <a:pt x="4200" y="2510"/>
                    </a:lnTo>
                    <a:lnTo>
                      <a:pt x="4208" y="2472"/>
                    </a:lnTo>
                    <a:lnTo>
                      <a:pt x="4219" y="2382"/>
                    </a:lnTo>
                    <a:lnTo>
                      <a:pt x="4229" y="2228"/>
                    </a:lnTo>
                    <a:lnTo>
                      <a:pt x="4229" y="2007"/>
                    </a:lnTo>
                    <a:lnTo>
                      <a:pt x="4218" y="1851"/>
                    </a:lnTo>
                    <a:lnTo>
                      <a:pt x="4206" y="1759"/>
                    </a:lnTo>
                    <a:lnTo>
                      <a:pt x="4199" y="1719"/>
                    </a:lnTo>
                    <a:lnTo>
                      <a:pt x="4181" y="1639"/>
                    </a:lnTo>
                    <a:lnTo>
                      <a:pt x="4137" y="1483"/>
                    </a:lnTo>
                    <a:lnTo>
                      <a:pt x="4082" y="1332"/>
                    </a:lnTo>
                    <a:lnTo>
                      <a:pt x="4017" y="1187"/>
                    </a:lnTo>
                    <a:lnTo>
                      <a:pt x="3941" y="1048"/>
                    </a:lnTo>
                    <a:lnTo>
                      <a:pt x="3857" y="916"/>
                    </a:lnTo>
                    <a:lnTo>
                      <a:pt x="3764" y="790"/>
                    </a:lnTo>
                    <a:lnTo>
                      <a:pt x="3662" y="672"/>
                    </a:lnTo>
                    <a:lnTo>
                      <a:pt x="3552" y="562"/>
                    </a:lnTo>
                    <a:lnTo>
                      <a:pt x="3434" y="460"/>
                    </a:lnTo>
                    <a:lnTo>
                      <a:pt x="3310" y="367"/>
                    </a:lnTo>
                    <a:lnTo>
                      <a:pt x="3179" y="284"/>
                    </a:lnTo>
                    <a:lnTo>
                      <a:pt x="3042" y="210"/>
                    </a:lnTo>
                    <a:lnTo>
                      <a:pt x="2899" y="146"/>
                    </a:lnTo>
                    <a:lnTo>
                      <a:pt x="2750" y="93"/>
                    </a:lnTo>
                    <a:lnTo>
                      <a:pt x="2597" y="51"/>
                    </a:lnTo>
                    <a:lnTo>
                      <a:pt x="2519" y="35"/>
                    </a:lnTo>
                    <a:lnTo>
                      <a:pt x="2460" y="26"/>
                    </a:lnTo>
                    <a:lnTo>
                      <a:pt x="2294" y="10"/>
                    </a:lnTo>
                    <a:lnTo>
                      <a:pt x="2110" y="0"/>
                    </a:lnTo>
                    <a:lnTo>
                      <a:pt x="1955" y="0"/>
                    </a:lnTo>
                    <a:lnTo>
                      <a:pt x="1905" y="4"/>
                    </a:lnTo>
                    <a:close/>
                    <a:moveTo>
                      <a:pt x="2349" y="362"/>
                    </a:moveTo>
                    <a:lnTo>
                      <a:pt x="2421" y="373"/>
                    </a:lnTo>
                    <a:lnTo>
                      <a:pt x="2564" y="404"/>
                    </a:lnTo>
                    <a:lnTo>
                      <a:pt x="2701" y="446"/>
                    </a:lnTo>
                    <a:lnTo>
                      <a:pt x="2834" y="499"/>
                    </a:lnTo>
                    <a:lnTo>
                      <a:pt x="2962" y="563"/>
                    </a:lnTo>
                    <a:lnTo>
                      <a:pt x="3084" y="637"/>
                    </a:lnTo>
                    <a:lnTo>
                      <a:pt x="3201" y="721"/>
                    </a:lnTo>
                    <a:lnTo>
                      <a:pt x="3312" y="816"/>
                    </a:lnTo>
                    <a:lnTo>
                      <a:pt x="3365" y="867"/>
                    </a:lnTo>
                    <a:lnTo>
                      <a:pt x="3428" y="932"/>
                    </a:lnTo>
                    <a:lnTo>
                      <a:pt x="3539" y="1068"/>
                    </a:lnTo>
                    <a:lnTo>
                      <a:pt x="3635" y="1211"/>
                    </a:lnTo>
                    <a:lnTo>
                      <a:pt x="3716" y="1361"/>
                    </a:lnTo>
                    <a:lnTo>
                      <a:pt x="3781" y="1516"/>
                    </a:lnTo>
                    <a:lnTo>
                      <a:pt x="3830" y="1676"/>
                    </a:lnTo>
                    <a:lnTo>
                      <a:pt x="3864" y="1838"/>
                    </a:lnTo>
                    <a:lnTo>
                      <a:pt x="3883" y="2003"/>
                    </a:lnTo>
                    <a:lnTo>
                      <a:pt x="3885" y="2169"/>
                    </a:lnTo>
                    <a:lnTo>
                      <a:pt x="3872" y="2334"/>
                    </a:lnTo>
                    <a:lnTo>
                      <a:pt x="3843" y="2499"/>
                    </a:lnTo>
                    <a:lnTo>
                      <a:pt x="3799" y="2661"/>
                    </a:lnTo>
                    <a:lnTo>
                      <a:pt x="3739" y="2820"/>
                    </a:lnTo>
                    <a:lnTo>
                      <a:pt x="3663" y="2974"/>
                    </a:lnTo>
                    <a:lnTo>
                      <a:pt x="3571" y="3123"/>
                    </a:lnTo>
                    <a:lnTo>
                      <a:pt x="3464" y="3266"/>
                    </a:lnTo>
                    <a:lnTo>
                      <a:pt x="3404" y="3334"/>
                    </a:lnTo>
                    <a:lnTo>
                      <a:pt x="3365" y="3375"/>
                    </a:lnTo>
                    <a:lnTo>
                      <a:pt x="3277" y="3455"/>
                    </a:lnTo>
                    <a:lnTo>
                      <a:pt x="3179" y="3532"/>
                    </a:lnTo>
                    <a:lnTo>
                      <a:pt x="3073" y="3604"/>
                    </a:lnTo>
                    <a:lnTo>
                      <a:pt x="2961" y="3670"/>
                    </a:lnTo>
                    <a:lnTo>
                      <a:pt x="2845" y="3729"/>
                    </a:lnTo>
                    <a:lnTo>
                      <a:pt x="2726" y="3780"/>
                    </a:lnTo>
                    <a:lnTo>
                      <a:pt x="2606" y="3822"/>
                    </a:lnTo>
                    <a:lnTo>
                      <a:pt x="2547" y="3839"/>
                    </a:lnTo>
                    <a:lnTo>
                      <a:pt x="2495" y="3852"/>
                    </a:lnTo>
                    <a:lnTo>
                      <a:pt x="2408" y="3870"/>
                    </a:lnTo>
                    <a:lnTo>
                      <a:pt x="2317" y="3879"/>
                    </a:lnTo>
                    <a:lnTo>
                      <a:pt x="2196" y="3882"/>
                    </a:lnTo>
                    <a:lnTo>
                      <a:pt x="2114" y="3882"/>
                    </a:lnTo>
                    <a:lnTo>
                      <a:pt x="2031" y="3882"/>
                    </a:lnTo>
                    <a:lnTo>
                      <a:pt x="1911" y="3879"/>
                    </a:lnTo>
                    <a:lnTo>
                      <a:pt x="1821" y="3870"/>
                    </a:lnTo>
                    <a:lnTo>
                      <a:pt x="1735" y="3852"/>
                    </a:lnTo>
                    <a:lnTo>
                      <a:pt x="1684" y="3839"/>
                    </a:lnTo>
                    <a:lnTo>
                      <a:pt x="1624" y="3822"/>
                    </a:lnTo>
                    <a:lnTo>
                      <a:pt x="1508" y="3783"/>
                    </a:lnTo>
                    <a:lnTo>
                      <a:pt x="1396" y="3737"/>
                    </a:lnTo>
                    <a:lnTo>
                      <a:pt x="1289" y="3684"/>
                    </a:lnTo>
                    <a:lnTo>
                      <a:pt x="1185" y="3625"/>
                    </a:lnTo>
                    <a:lnTo>
                      <a:pt x="1087" y="3560"/>
                    </a:lnTo>
                    <a:lnTo>
                      <a:pt x="993" y="3488"/>
                    </a:lnTo>
                    <a:lnTo>
                      <a:pt x="904" y="3411"/>
                    </a:lnTo>
                    <a:lnTo>
                      <a:pt x="821" y="3328"/>
                    </a:lnTo>
                    <a:lnTo>
                      <a:pt x="744" y="3240"/>
                    </a:lnTo>
                    <a:lnTo>
                      <a:pt x="672" y="3146"/>
                    </a:lnTo>
                    <a:lnTo>
                      <a:pt x="607" y="3048"/>
                    </a:lnTo>
                    <a:lnTo>
                      <a:pt x="547" y="2945"/>
                    </a:lnTo>
                    <a:lnTo>
                      <a:pt x="495" y="2838"/>
                    </a:lnTo>
                    <a:lnTo>
                      <a:pt x="449" y="2727"/>
                    </a:lnTo>
                    <a:lnTo>
                      <a:pt x="410" y="2611"/>
                    </a:lnTo>
                    <a:lnTo>
                      <a:pt x="394" y="2552"/>
                    </a:lnTo>
                    <a:lnTo>
                      <a:pt x="380" y="2500"/>
                    </a:lnTo>
                    <a:lnTo>
                      <a:pt x="363" y="2413"/>
                    </a:lnTo>
                    <a:lnTo>
                      <a:pt x="354" y="2322"/>
                    </a:lnTo>
                    <a:lnTo>
                      <a:pt x="350" y="2201"/>
                    </a:lnTo>
                    <a:lnTo>
                      <a:pt x="350" y="2119"/>
                    </a:lnTo>
                    <a:lnTo>
                      <a:pt x="350" y="2036"/>
                    </a:lnTo>
                    <a:lnTo>
                      <a:pt x="354" y="1916"/>
                    </a:lnTo>
                    <a:lnTo>
                      <a:pt x="363" y="1825"/>
                    </a:lnTo>
                    <a:lnTo>
                      <a:pt x="380" y="1737"/>
                    </a:lnTo>
                    <a:lnTo>
                      <a:pt x="394" y="1685"/>
                    </a:lnTo>
                    <a:lnTo>
                      <a:pt x="410" y="1627"/>
                    </a:lnTo>
                    <a:lnTo>
                      <a:pt x="448" y="1512"/>
                    </a:lnTo>
                    <a:lnTo>
                      <a:pt x="494" y="1401"/>
                    </a:lnTo>
                    <a:lnTo>
                      <a:pt x="546" y="1295"/>
                    </a:lnTo>
                    <a:lnTo>
                      <a:pt x="605" y="1192"/>
                    </a:lnTo>
                    <a:lnTo>
                      <a:pt x="670" y="1094"/>
                    </a:lnTo>
                    <a:lnTo>
                      <a:pt x="742" y="1000"/>
                    </a:lnTo>
                    <a:lnTo>
                      <a:pt x="820" y="910"/>
                    </a:lnTo>
                    <a:lnTo>
                      <a:pt x="862" y="867"/>
                    </a:lnTo>
                    <a:lnTo>
                      <a:pt x="899" y="831"/>
                    </a:lnTo>
                    <a:lnTo>
                      <a:pt x="977" y="762"/>
                    </a:lnTo>
                    <a:lnTo>
                      <a:pt x="1058" y="698"/>
                    </a:lnTo>
                    <a:lnTo>
                      <a:pt x="1142" y="639"/>
                    </a:lnTo>
                    <a:lnTo>
                      <a:pt x="1228" y="585"/>
                    </a:lnTo>
                    <a:lnTo>
                      <a:pt x="1318" y="537"/>
                    </a:lnTo>
                    <a:lnTo>
                      <a:pt x="1409" y="493"/>
                    </a:lnTo>
                    <a:lnTo>
                      <a:pt x="1503" y="456"/>
                    </a:lnTo>
                    <a:lnTo>
                      <a:pt x="1598" y="423"/>
                    </a:lnTo>
                    <a:lnTo>
                      <a:pt x="1695" y="396"/>
                    </a:lnTo>
                    <a:lnTo>
                      <a:pt x="1794" y="375"/>
                    </a:lnTo>
                    <a:lnTo>
                      <a:pt x="1893" y="359"/>
                    </a:lnTo>
                    <a:lnTo>
                      <a:pt x="1994" y="350"/>
                    </a:lnTo>
                    <a:lnTo>
                      <a:pt x="2095" y="346"/>
                    </a:lnTo>
                    <a:lnTo>
                      <a:pt x="2196" y="348"/>
                    </a:lnTo>
                    <a:lnTo>
                      <a:pt x="2298" y="355"/>
                    </a:lnTo>
                    <a:lnTo>
                      <a:pt x="2349"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0" name="Freeform 9">
                <a:extLst>
                  <a:ext uri="{FF2B5EF4-FFF2-40B4-BE49-F238E27FC236}">
                    <a16:creationId xmlns:a16="http://schemas.microsoft.com/office/drawing/2014/main" id="{4F526E35-A804-6DDF-0CBA-D9A088CC786E}"/>
                  </a:ext>
                </a:extLst>
              </p:cNvPr>
              <p:cNvSpPr>
                <a:spLocks/>
              </p:cNvSpPr>
              <p:nvPr/>
            </p:nvSpPr>
            <p:spPr bwMode="auto">
              <a:xfrm>
                <a:off x="10763484"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pPr algn="r" rtl="1"/>
                <a:endParaRPr lang="en-US"/>
              </a:p>
            </p:txBody>
          </p:sp>
          <p:sp>
            <p:nvSpPr>
              <p:cNvPr id="11" name="Freeform 10">
                <a:extLst>
                  <a:ext uri="{FF2B5EF4-FFF2-40B4-BE49-F238E27FC236}">
                    <a16:creationId xmlns:a16="http://schemas.microsoft.com/office/drawing/2014/main" id="{E9ECAAD5-EA4D-B307-EEB8-E468B5637A9E}"/>
                  </a:ext>
                </a:extLst>
              </p:cNvPr>
              <p:cNvSpPr>
                <a:spLocks/>
              </p:cNvSpPr>
              <p:nvPr/>
            </p:nvSpPr>
            <p:spPr bwMode="auto">
              <a:xfrm>
                <a:off x="10015708" y="3364401"/>
                <a:ext cx="588058" cy="24956"/>
              </a:xfrm>
              <a:custGeom>
                <a:avLst/>
                <a:gdLst>
                  <a:gd name="T0" fmla="*/ 5 w 3499"/>
                  <a:gd name="T1" fmla="*/ 23 h 150"/>
                  <a:gd name="T2" fmla="*/ 2 w 3499"/>
                  <a:gd name="T3" fmla="*/ 36 h 150"/>
                  <a:gd name="T4" fmla="*/ 0 w 3499"/>
                  <a:gd name="T5" fmla="*/ 74 h 150"/>
                  <a:gd name="T6" fmla="*/ 2 w 3499"/>
                  <a:gd name="T7" fmla="*/ 95 h 150"/>
                  <a:gd name="T8" fmla="*/ 7 w 3499"/>
                  <a:gd name="T9" fmla="*/ 142 h 150"/>
                  <a:gd name="T10" fmla="*/ 1720 w 3499"/>
                  <a:gd name="T11" fmla="*/ 147 h 150"/>
                  <a:gd name="T12" fmla="*/ 3432 w 3499"/>
                  <a:gd name="T13" fmla="*/ 150 h 150"/>
                  <a:gd name="T14" fmla="*/ 3465 w 3499"/>
                  <a:gd name="T15" fmla="*/ 97 h 150"/>
                  <a:gd name="T16" fmla="*/ 3479 w 3499"/>
                  <a:gd name="T17" fmla="*/ 74 h 150"/>
                  <a:gd name="T18" fmla="*/ 3497 w 3499"/>
                  <a:gd name="T19" fmla="*/ 32 h 150"/>
                  <a:gd name="T20" fmla="*/ 3499 w 3499"/>
                  <a:gd name="T21" fmla="*/ 20 h 150"/>
                  <a:gd name="T22" fmla="*/ 3496 w 3499"/>
                  <a:gd name="T23" fmla="*/ 17 h 150"/>
                  <a:gd name="T24" fmla="*/ 3458 w 3499"/>
                  <a:gd name="T25" fmla="*/ 13 h 150"/>
                  <a:gd name="T26" fmla="*/ 3321 w 3499"/>
                  <a:gd name="T27" fmla="*/ 7 h 150"/>
                  <a:gd name="T28" fmla="*/ 2666 w 3499"/>
                  <a:gd name="T29" fmla="*/ 1 h 150"/>
                  <a:gd name="T30" fmla="*/ 1757 w 3499"/>
                  <a:gd name="T31" fmla="*/ 0 h 150"/>
                  <a:gd name="T32" fmla="*/ 795 w 3499"/>
                  <a:gd name="T33" fmla="*/ 0 h 150"/>
                  <a:gd name="T34" fmla="*/ 161 w 3499"/>
                  <a:gd name="T35" fmla="*/ 7 h 150"/>
                  <a:gd name="T36" fmla="*/ 41 w 3499"/>
                  <a:gd name="T37" fmla="*/ 14 h 150"/>
                  <a:gd name="T38" fmla="*/ 9 w 3499"/>
                  <a:gd name="T39" fmla="*/ 20 h 150"/>
                  <a:gd name="T40" fmla="*/ 5 w 3499"/>
                  <a:gd name="T41"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99" h="150">
                    <a:moveTo>
                      <a:pt x="5" y="23"/>
                    </a:moveTo>
                    <a:lnTo>
                      <a:pt x="2" y="36"/>
                    </a:lnTo>
                    <a:lnTo>
                      <a:pt x="0" y="74"/>
                    </a:lnTo>
                    <a:lnTo>
                      <a:pt x="2" y="95"/>
                    </a:lnTo>
                    <a:lnTo>
                      <a:pt x="7" y="142"/>
                    </a:lnTo>
                    <a:lnTo>
                      <a:pt x="1720" y="147"/>
                    </a:lnTo>
                    <a:lnTo>
                      <a:pt x="3432" y="150"/>
                    </a:lnTo>
                    <a:lnTo>
                      <a:pt x="3465" y="97"/>
                    </a:lnTo>
                    <a:lnTo>
                      <a:pt x="3479" y="74"/>
                    </a:lnTo>
                    <a:lnTo>
                      <a:pt x="3497" y="32"/>
                    </a:lnTo>
                    <a:lnTo>
                      <a:pt x="3499" y="20"/>
                    </a:lnTo>
                    <a:lnTo>
                      <a:pt x="3496" y="17"/>
                    </a:lnTo>
                    <a:lnTo>
                      <a:pt x="3458" y="13"/>
                    </a:lnTo>
                    <a:lnTo>
                      <a:pt x="3321" y="7"/>
                    </a:lnTo>
                    <a:lnTo>
                      <a:pt x="2666" y="1"/>
                    </a:lnTo>
                    <a:lnTo>
                      <a:pt x="1757" y="0"/>
                    </a:lnTo>
                    <a:lnTo>
                      <a:pt x="795" y="0"/>
                    </a:lnTo>
                    <a:lnTo>
                      <a:pt x="161" y="7"/>
                    </a:lnTo>
                    <a:lnTo>
                      <a:pt x="41"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2" name="Freeform 11">
                <a:extLst>
                  <a:ext uri="{FF2B5EF4-FFF2-40B4-BE49-F238E27FC236}">
                    <a16:creationId xmlns:a16="http://schemas.microsoft.com/office/drawing/2014/main" id="{577A4336-646F-DE01-486A-D2ECCAABF4C7}"/>
                  </a:ext>
                </a:extLst>
              </p:cNvPr>
              <p:cNvSpPr>
                <a:spLocks/>
              </p:cNvSpPr>
              <p:nvPr/>
            </p:nvSpPr>
            <p:spPr bwMode="auto">
              <a:xfrm>
                <a:off x="10015708" y="3565865"/>
                <a:ext cx="534969" cy="25410"/>
              </a:xfrm>
              <a:custGeom>
                <a:avLst/>
                <a:gdLst>
                  <a:gd name="T0" fmla="*/ 5 w 3182"/>
                  <a:gd name="T1" fmla="*/ 23 h 150"/>
                  <a:gd name="T2" fmla="*/ 2 w 3182"/>
                  <a:gd name="T3" fmla="*/ 36 h 150"/>
                  <a:gd name="T4" fmla="*/ 0 w 3182"/>
                  <a:gd name="T5" fmla="*/ 74 h 150"/>
                  <a:gd name="T6" fmla="*/ 2 w 3182"/>
                  <a:gd name="T7" fmla="*/ 95 h 150"/>
                  <a:gd name="T8" fmla="*/ 7 w 3182"/>
                  <a:gd name="T9" fmla="*/ 142 h 150"/>
                  <a:gd name="T10" fmla="*/ 1595 w 3182"/>
                  <a:gd name="T11" fmla="*/ 147 h 150"/>
                  <a:gd name="T12" fmla="*/ 3182 w 3182"/>
                  <a:gd name="T13" fmla="*/ 150 h 150"/>
                  <a:gd name="T14" fmla="*/ 3182 w 3182"/>
                  <a:gd name="T15" fmla="*/ 75 h 150"/>
                  <a:gd name="T16" fmla="*/ 3182 w 3182"/>
                  <a:gd name="T17" fmla="*/ 0 h 150"/>
                  <a:gd name="T18" fmla="*/ 1599 w 3182"/>
                  <a:gd name="T19" fmla="*/ 0 h 150"/>
                  <a:gd name="T20" fmla="*/ 725 w 3182"/>
                  <a:gd name="T21" fmla="*/ 0 h 150"/>
                  <a:gd name="T22" fmla="*/ 148 w 3182"/>
                  <a:gd name="T23" fmla="*/ 7 h 150"/>
                  <a:gd name="T24" fmla="*/ 38 w 3182"/>
                  <a:gd name="T25" fmla="*/ 14 h 150"/>
                  <a:gd name="T26" fmla="*/ 9 w 3182"/>
                  <a:gd name="T27" fmla="*/ 20 h 150"/>
                  <a:gd name="T28" fmla="*/ 5 w 3182"/>
                  <a:gd name="T29"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82" h="150">
                    <a:moveTo>
                      <a:pt x="5" y="23"/>
                    </a:moveTo>
                    <a:lnTo>
                      <a:pt x="2" y="36"/>
                    </a:lnTo>
                    <a:lnTo>
                      <a:pt x="0" y="74"/>
                    </a:lnTo>
                    <a:lnTo>
                      <a:pt x="2" y="95"/>
                    </a:lnTo>
                    <a:lnTo>
                      <a:pt x="7" y="142"/>
                    </a:lnTo>
                    <a:lnTo>
                      <a:pt x="1595" y="147"/>
                    </a:lnTo>
                    <a:lnTo>
                      <a:pt x="3182" y="150"/>
                    </a:lnTo>
                    <a:lnTo>
                      <a:pt x="3182" y="75"/>
                    </a:lnTo>
                    <a:lnTo>
                      <a:pt x="3182" y="0"/>
                    </a:lnTo>
                    <a:lnTo>
                      <a:pt x="1599" y="0"/>
                    </a:lnTo>
                    <a:lnTo>
                      <a:pt x="725" y="0"/>
                    </a:lnTo>
                    <a:lnTo>
                      <a:pt x="148" y="7"/>
                    </a:lnTo>
                    <a:lnTo>
                      <a:pt x="38"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3" name="Freeform 12">
                <a:extLst>
                  <a:ext uri="{FF2B5EF4-FFF2-40B4-BE49-F238E27FC236}">
                    <a16:creationId xmlns:a16="http://schemas.microsoft.com/office/drawing/2014/main" id="{BD289E4C-C48C-1BDA-42E1-0F400FE65FC1}"/>
                  </a:ext>
                </a:extLst>
              </p:cNvPr>
              <p:cNvSpPr>
                <a:spLocks/>
              </p:cNvSpPr>
              <p:nvPr/>
            </p:nvSpPr>
            <p:spPr bwMode="auto">
              <a:xfrm>
                <a:off x="10015708" y="3756440"/>
                <a:ext cx="591688" cy="24956"/>
              </a:xfrm>
              <a:custGeom>
                <a:avLst/>
                <a:gdLst>
                  <a:gd name="T0" fmla="*/ 5 w 3519"/>
                  <a:gd name="T1" fmla="*/ 22 h 148"/>
                  <a:gd name="T2" fmla="*/ 2 w 3519"/>
                  <a:gd name="T3" fmla="*/ 34 h 148"/>
                  <a:gd name="T4" fmla="*/ 0 w 3519"/>
                  <a:gd name="T5" fmla="*/ 73 h 148"/>
                  <a:gd name="T6" fmla="*/ 2 w 3519"/>
                  <a:gd name="T7" fmla="*/ 93 h 148"/>
                  <a:gd name="T8" fmla="*/ 7 w 3519"/>
                  <a:gd name="T9" fmla="*/ 140 h 148"/>
                  <a:gd name="T10" fmla="*/ 1762 w 3519"/>
                  <a:gd name="T11" fmla="*/ 145 h 148"/>
                  <a:gd name="T12" fmla="*/ 3519 w 3519"/>
                  <a:gd name="T13" fmla="*/ 148 h 148"/>
                  <a:gd name="T14" fmla="*/ 3479 w 3519"/>
                  <a:gd name="T15" fmla="*/ 78 h 148"/>
                  <a:gd name="T16" fmla="*/ 3440 w 3519"/>
                  <a:gd name="T17" fmla="*/ 7 h 148"/>
                  <a:gd name="T18" fmla="*/ 1727 w 3519"/>
                  <a:gd name="T19" fmla="*/ 2 h 148"/>
                  <a:gd name="T20" fmla="*/ 779 w 3519"/>
                  <a:gd name="T21" fmla="*/ 0 h 148"/>
                  <a:gd name="T22" fmla="*/ 158 w 3519"/>
                  <a:gd name="T23" fmla="*/ 5 h 148"/>
                  <a:gd name="T24" fmla="*/ 40 w 3519"/>
                  <a:gd name="T25" fmla="*/ 12 h 148"/>
                  <a:gd name="T26" fmla="*/ 9 w 3519"/>
                  <a:gd name="T27" fmla="*/ 18 h 148"/>
                  <a:gd name="T28" fmla="*/ 5 w 3519"/>
                  <a:gd name="T29" fmla="*/ 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9" h="148">
                    <a:moveTo>
                      <a:pt x="5" y="22"/>
                    </a:moveTo>
                    <a:lnTo>
                      <a:pt x="2" y="34"/>
                    </a:lnTo>
                    <a:lnTo>
                      <a:pt x="0" y="73"/>
                    </a:lnTo>
                    <a:lnTo>
                      <a:pt x="2" y="93"/>
                    </a:lnTo>
                    <a:lnTo>
                      <a:pt x="7" y="140"/>
                    </a:lnTo>
                    <a:lnTo>
                      <a:pt x="1762" y="145"/>
                    </a:lnTo>
                    <a:lnTo>
                      <a:pt x="3519" y="148"/>
                    </a:lnTo>
                    <a:lnTo>
                      <a:pt x="3479" y="78"/>
                    </a:lnTo>
                    <a:lnTo>
                      <a:pt x="3440" y="7"/>
                    </a:lnTo>
                    <a:lnTo>
                      <a:pt x="1727" y="2"/>
                    </a:lnTo>
                    <a:lnTo>
                      <a:pt x="779" y="0"/>
                    </a:lnTo>
                    <a:lnTo>
                      <a:pt x="158" y="5"/>
                    </a:lnTo>
                    <a:lnTo>
                      <a:pt x="40"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4" name="Freeform 13">
                <a:extLst>
                  <a:ext uri="{FF2B5EF4-FFF2-40B4-BE49-F238E27FC236}">
                    <a16:creationId xmlns:a16="http://schemas.microsoft.com/office/drawing/2014/main" id="{0C4D1262-B931-A8A3-9FF3-0573D05C6ECB}"/>
                  </a:ext>
                </a:extLst>
              </p:cNvPr>
              <p:cNvSpPr>
                <a:spLocks/>
              </p:cNvSpPr>
              <p:nvPr/>
            </p:nvSpPr>
            <p:spPr bwMode="auto">
              <a:xfrm>
                <a:off x="10015253" y="3949283"/>
                <a:ext cx="697865" cy="22688"/>
              </a:xfrm>
              <a:custGeom>
                <a:avLst/>
                <a:gdLst>
                  <a:gd name="T0" fmla="*/ 0 w 4150"/>
                  <a:gd name="T1" fmla="*/ 67 h 134"/>
                  <a:gd name="T2" fmla="*/ 0 w 4150"/>
                  <a:gd name="T3" fmla="*/ 134 h 134"/>
                  <a:gd name="T4" fmla="*/ 2075 w 4150"/>
                  <a:gd name="T5" fmla="*/ 134 h 134"/>
                  <a:gd name="T6" fmla="*/ 4150 w 4150"/>
                  <a:gd name="T7" fmla="*/ 134 h 134"/>
                  <a:gd name="T8" fmla="*/ 4150 w 4150"/>
                  <a:gd name="T9" fmla="*/ 67 h 134"/>
                  <a:gd name="T10" fmla="*/ 4150 w 4150"/>
                  <a:gd name="T11" fmla="*/ 0 h 134"/>
                  <a:gd name="T12" fmla="*/ 2075 w 4150"/>
                  <a:gd name="T13" fmla="*/ 0 h 134"/>
                  <a:gd name="T14" fmla="*/ 0 w 4150"/>
                  <a:gd name="T15" fmla="*/ 0 h 134"/>
                  <a:gd name="T16" fmla="*/ 0 w 4150"/>
                  <a:gd name="T17" fmla="*/ 6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0" h="134">
                    <a:moveTo>
                      <a:pt x="0" y="67"/>
                    </a:moveTo>
                    <a:lnTo>
                      <a:pt x="0" y="134"/>
                    </a:lnTo>
                    <a:lnTo>
                      <a:pt x="2075" y="134"/>
                    </a:lnTo>
                    <a:lnTo>
                      <a:pt x="4150" y="134"/>
                    </a:lnTo>
                    <a:lnTo>
                      <a:pt x="4150" y="67"/>
                    </a:lnTo>
                    <a:lnTo>
                      <a:pt x="4150" y="0"/>
                    </a:lnTo>
                    <a:lnTo>
                      <a:pt x="2075" y="0"/>
                    </a:lnTo>
                    <a:lnTo>
                      <a:pt x="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grpSp>
        <p:sp>
          <p:nvSpPr>
            <p:cNvPr id="6" name="Freeform 9">
              <a:extLst>
                <a:ext uri="{FF2B5EF4-FFF2-40B4-BE49-F238E27FC236}">
                  <a16:creationId xmlns:a16="http://schemas.microsoft.com/office/drawing/2014/main" id="{EB9C351F-0EF2-E5D7-B2D9-31ACD299E002}"/>
                </a:ext>
              </a:extLst>
            </p:cNvPr>
            <p:cNvSpPr>
              <a:spLocks/>
            </p:cNvSpPr>
            <p:nvPr/>
          </p:nvSpPr>
          <p:spPr bwMode="auto">
            <a:xfrm flipH="1">
              <a:off x="1210776"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dirty="0"/>
            </a:p>
          </p:txBody>
        </p:sp>
      </p:grpSp>
      <p:sp>
        <p:nvSpPr>
          <p:cNvPr id="15" name="Rectangle 14">
            <a:extLst>
              <a:ext uri="{FF2B5EF4-FFF2-40B4-BE49-F238E27FC236}">
                <a16:creationId xmlns:a16="http://schemas.microsoft.com/office/drawing/2014/main" id="{7B21A5CB-82AC-F540-2F06-31E6BF4F283A}"/>
              </a:ext>
            </a:extLst>
          </p:cNvPr>
          <p:cNvSpPr/>
          <p:nvPr/>
        </p:nvSpPr>
        <p:spPr>
          <a:xfrm>
            <a:off x="1641323" y="1914805"/>
            <a:ext cx="7572633" cy="2694902"/>
          </a:xfrm>
          <a:prstGeom prst="rect">
            <a:avLst/>
          </a:prstGeom>
        </p:spPr>
        <p:txBody>
          <a:bodyPr anchor="ctr" anchorCtr="0">
            <a:normAutofit fontScale="92500"/>
          </a:bodyPr>
          <a:lstStyle/>
          <a:p>
            <a:pPr algn="r" rtl="1">
              <a:lnSpc>
                <a:spcPct val="150000"/>
              </a:lnSpc>
              <a:spcAft>
                <a:spcPts val="1200"/>
              </a:spcAft>
            </a:pPr>
            <a:r>
              <a:rPr lang="ar-EG" sz="2400" dirty="0"/>
              <a:t>تعتبر إدارة متطلبات البنية المؤسسية عملية مستمرة خلال دورة تطوير مكونات البنية المؤسسية وتهدف إلى إدارة متطلبات البنية المؤسسية ودراسة أثر تطبيقها ومتابعة حالتها لضمان توافق مخرجات دورة تطوير مكونات البنية المؤسسية مع متطلبات واحتياجات الهيئة والمتغيرات التي تطرأ خلال دورة التطوير. ويعتمد نجاح هذه المرحلة على توثيق متطلبات البنية المؤسسية في سجل شامل وإدارته بشكل مركزي مع التحقق من استمرارية متابعة تلك المتطلبات حتى إغلاقها.</a:t>
            </a:r>
          </a:p>
        </p:txBody>
      </p:sp>
    </p:spTree>
    <p:extLst>
      <p:ext uri="{BB962C8B-B14F-4D97-AF65-F5344CB8AC3E}">
        <p14:creationId xmlns:p14="http://schemas.microsoft.com/office/powerpoint/2010/main" val="39365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9</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أهداف إدارة متطلبات البنية المؤسسية</a:t>
            </a:r>
            <a:endParaRPr lang="en-US" dirty="0"/>
          </a:p>
        </p:txBody>
      </p:sp>
      <p:sp>
        <p:nvSpPr>
          <p:cNvPr id="3" name="Rounded Rectangle 23">
            <a:extLst>
              <a:ext uri="{FF2B5EF4-FFF2-40B4-BE49-F238E27FC236}">
                <a16:creationId xmlns:a16="http://schemas.microsoft.com/office/drawing/2014/main" id="{A75A767B-1A4D-0D08-035C-3D14CA4BD961}"/>
              </a:ext>
            </a:extLst>
          </p:cNvPr>
          <p:cNvSpPr/>
          <p:nvPr/>
        </p:nvSpPr>
        <p:spPr>
          <a:xfrm>
            <a:off x="3000866" y="1757681"/>
            <a:ext cx="6190268" cy="96459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Sakkal Majalla" panose="02000000000000000000" pitchFamily="2" charset="-78"/>
              <a:cs typeface="Sakkal Majalla" panose="02000000000000000000" pitchFamily="2" charset="-78"/>
            </a:endParaRPr>
          </a:p>
        </p:txBody>
      </p:sp>
      <p:sp>
        <p:nvSpPr>
          <p:cNvPr id="16" name="Rounded Rectangle 24">
            <a:extLst>
              <a:ext uri="{FF2B5EF4-FFF2-40B4-BE49-F238E27FC236}">
                <a16:creationId xmlns:a16="http://schemas.microsoft.com/office/drawing/2014/main" id="{6A1C9256-0E5F-8CC0-57F3-A2F4AB01CA55}"/>
              </a:ext>
            </a:extLst>
          </p:cNvPr>
          <p:cNvSpPr/>
          <p:nvPr/>
        </p:nvSpPr>
        <p:spPr>
          <a:xfrm>
            <a:off x="3000866" y="3045067"/>
            <a:ext cx="6190268" cy="964591"/>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Sakkal Majalla" panose="02000000000000000000" pitchFamily="2" charset="-78"/>
              <a:cs typeface="Sakkal Majalla" panose="02000000000000000000" pitchFamily="2" charset="-78"/>
            </a:endParaRPr>
          </a:p>
        </p:txBody>
      </p:sp>
      <p:sp>
        <p:nvSpPr>
          <p:cNvPr id="17" name="Rounded Rectangle 25">
            <a:extLst>
              <a:ext uri="{FF2B5EF4-FFF2-40B4-BE49-F238E27FC236}">
                <a16:creationId xmlns:a16="http://schemas.microsoft.com/office/drawing/2014/main" id="{4AD88FE7-AE89-9901-2B11-A24BDC92814A}"/>
              </a:ext>
            </a:extLst>
          </p:cNvPr>
          <p:cNvSpPr/>
          <p:nvPr/>
        </p:nvSpPr>
        <p:spPr>
          <a:xfrm>
            <a:off x="3000866" y="4285318"/>
            <a:ext cx="6190268" cy="964591"/>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Sakkal Majalla" panose="02000000000000000000" pitchFamily="2" charset="-78"/>
              <a:cs typeface="Sakkal Majalla" panose="02000000000000000000" pitchFamily="2" charset="-78"/>
            </a:endParaRPr>
          </a:p>
        </p:txBody>
      </p:sp>
      <p:sp>
        <p:nvSpPr>
          <p:cNvPr id="18" name="Rectangle 17">
            <a:extLst>
              <a:ext uri="{FF2B5EF4-FFF2-40B4-BE49-F238E27FC236}">
                <a16:creationId xmlns:a16="http://schemas.microsoft.com/office/drawing/2014/main" id="{321180A2-DCF6-005A-394F-70A34F5C38A7}"/>
              </a:ext>
            </a:extLst>
          </p:cNvPr>
          <p:cNvSpPr/>
          <p:nvPr/>
        </p:nvSpPr>
        <p:spPr>
          <a:xfrm>
            <a:off x="3543747" y="1920247"/>
            <a:ext cx="5104510" cy="6346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rtl="1">
              <a:spcBef>
                <a:spcPts val="540"/>
              </a:spcBef>
            </a:pPr>
            <a:r>
              <a:rPr lang="ar-EG" sz="2800" dirty="0">
                <a:solidFill>
                  <a:schemeClr val="bg1"/>
                </a:solidFill>
                <a:latin typeface="Sakkal Majalla" panose="02000000000000000000" pitchFamily="2" charset="-78"/>
                <a:cs typeface="Sakkal Majalla" panose="02000000000000000000" pitchFamily="2" charset="-78"/>
              </a:rPr>
              <a:t>توفير</a:t>
            </a:r>
            <a:r>
              <a:rPr lang="ar-SA" sz="2800" dirty="0">
                <a:solidFill>
                  <a:schemeClr val="bg1"/>
                </a:solidFill>
                <a:latin typeface="Sakkal Majalla" panose="02000000000000000000" pitchFamily="2" charset="-78"/>
                <a:cs typeface="Sakkal Majalla" panose="02000000000000000000" pitchFamily="2" charset="-78"/>
              </a:rPr>
              <a:t> الاجراءات اللازمة ل</a:t>
            </a:r>
            <a:r>
              <a:rPr lang="ar-EG" sz="2800" dirty="0">
                <a:solidFill>
                  <a:schemeClr val="bg1"/>
                </a:solidFill>
                <a:latin typeface="Sakkal Majalla" panose="02000000000000000000" pitchFamily="2" charset="-78"/>
                <a:cs typeface="Sakkal Majalla" panose="02000000000000000000" pitchFamily="2" charset="-78"/>
              </a:rPr>
              <a:t>إ</a:t>
            </a:r>
            <a:r>
              <a:rPr lang="ar-SA" sz="2800" dirty="0">
                <a:solidFill>
                  <a:schemeClr val="bg1"/>
                </a:solidFill>
                <a:latin typeface="Sakkal Majalla" panose="02000000000000000000" pitchFamily="2" charset="-78"/>
                <a:cs typeface="Sakkal Majalla" panose="02000000000000000000" pitchFamily="2" charset="-78"/>
              </a:rPr>
              <a:t>دارة المتطلبات الخاصة بمجالات البنية المؤسسية والتأكد من متابعتها</a:t>
            </a:r>
            <a:endParaRPr lang="en-US" sz="2800" dirty="0">
              <a:solidFill>
                <a:schemeClr val="bg1"/>
              </a:solidFill>
              <a:latin typeface="Sakkal Majalla" panose="02000000000000000000" pitchFamily="2" charset="-78"/>
              <a:cs typeface="Sakkal Majalla" panose="02000000000000000000" pitchFamily="2" charset="-78"/>
            </a:endParaRPr>
          </a:p>
        </p:txBody>
      </p:sp>
      <p:sp>
        <p:nvSpPr>
          <p:cNvPr id="19" name="Rectangle 18">
            <a:extLst>
              <a:ext uri="{FF2B5EF4-FFF2-40B4-BE49-F238E27FC236}">
                <a16:creationId xmlns:a16="http://schemas.microsoft.com/office/drawing/2014/main" id="{DC400512-0EC4-E426-534E-9A1BFED4D4AE}"/>
              </a:ext>
            </a:extLst>
          </p:cNvPr>
          <p:cNvSpPr/>
          <p:nvPr/>
        </p:nvSpPr>
        <p:spPr>
          <a:xfrm>
            <a:off x="3543747" y="2200530"/>
            <a:ext cx="5104510" cy="354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r" rtl="1">
              <a:lnSpc>
                <a:spcPts val="1440"/>
              </a:lnSpc>
              <a:spcBef>
                <a:spcPts val="540"/>
              </a:spcBef>
            </a:pPr>
            <a:r>
              <a:rPr lang="ar-EG" sz="1100" dirty="0">
                <a:solidFill>
                  <a:schemeClr val="bg1"/>
                </a:solidFill>
                <a:latin typeface="Sakkal Majalla" panose="02000000000000000000" pitchFamily="2" charset="-78"/>
                <a:cs typeface="Sakkal Majalla" panose="02000000000000000000" pitchFamily="2" charset="-78"/>
              </a:rPr>
              <a:t> </a:t>
            </a:r>
            <a:endParaRPr lang="en-US" sz="1100" dirty="0">
              <a:solidFill>
                <a:schemeClr val="bg1"/>
              </a:solidFill>
              <a:latin typeface="Sakkal Majalla" panose="02000000000000000000" pitchFamily="2" charset="-78"/>
              <a:cs typeface="Sakkal Majalla" panose="02000000000000000000" pitchFamily="2" charset="-78"/>
            </a:endParaRPr>
          </a:p>
        </p:txBody>
      </p:sp>
      <p:sp>
        <p:nvSpPr>
          <p:cNvPr id="20" name="Rectangle 19">
            <a:extLst>
              <a:ext uri="{FF2B5EF4-FFF2-40B4-BE49-F238E27FC236}">
                <a16:creationId xmlns:a16="http://schemas.microsoft.com/office/drawing/2014/main" id="{71A672E0-9345-4AF7-1C75-A3ED36902B78}"/>
              </a:ext>
            </a:extLst>
          </p:cNvPr>
          <p:cNvSpPr/>
          <p:nvPr/>
        </p:nvSpPr>
        <p:spPr>
          <a:xfrm>
            <a:off x="3543747" y="3248270"/>
            <a:ext cx="5104510" cy="6041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rtl="1">
              <a:spcBef>
                <a:spcPts val="540"/>
              </a:spcBef>
            </a:pPr>
            <a:r>
              <a:rPr lang="ar-SA" sz="2800" dirty="0">
                <a:solidFill>
                  <a:schemeClr val="bg1"/>
                </a:solidFill>
                <a:latin typeface="Sakkal Majalla" panose="02000000000000000000" pitchFamily="2" charset="-78"/>
                <a:cs typeface="Sakkal Majalla" panose="02000000000000000000" pitchFamily="2" charset="-78"/>
              </a:rPr>
              <a:t>توثيق متطلبات البنية المؤسسية في سجل شامل</a:t>
            </a:r>
            <a:endParaRPr lang="en-US" sz="2800" dirty="0">
              <a:solidFill>
                <a:schemeClr val="bg1"/>
              </a:solidFill>
              <a:latin typeface="Sakkal Majalla" panose="02000000000000000000" pitchFamily="2" charset="-78"/>
              <a:cs typeface="Sakkal Majalla" panose="02000000000000000000" pitchFamily="2" charset="-78"/>
            </a:endParaRPr>
          </a:p>
        </p:txBody>
      </p:sp>
      <p:sp>
        <p:nvSpPr>
          <p:cNvPr id="21" name="Rectangle 20">
            <a:extLst>
              <a:ext uri="{FF2B5EF4-FFF2-40B4-BE49-F238E27FC236}">
                <a16:creationId xmlns:a16="http://schemas.microsoft.com/office/drawing/2014/main" id="{55263049-CAC5-CB95-590B-4E5A8E230375}"/>
              </a:ext>
            </a:extLst>
          </p:cNvPr>
          <p:cNvSpPr/>
          <p:nvPr/>
        </p:nvSpPr>
        <p:spPr>
          <a:xfrm>
            <a:off x="3543747" y="3528553"/>
            <a:ext cx="5104510" cy="354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r" rtl="1">
              <a:lnSpc>
                <a:spcPts val="1440"/>
              </a:lnSpc>
              <a:spcBef>
                <a:spcPts val="540"/>
              </a:spcBef>
            </a:pPr>
            <a:r>
              <a:rPr lang="ar-EG" sz="1100" dirty="0">
                <a:solidFill>
                  <a:schemeClr val="bg1"/>
                </a:solidFill>
                <a:latin typeface="Sakkal Majalla" panose="02000000000000000000" pitchFamily="2" charset="-78"/>
                <a:cs typeface="Sakkal Majalla" panose="02000000000000000000" pitchFamily="2" charset="-78"/>
              </a:rPr>
              <a:t> </a:t>
            </a:r>
            <a:endParaRPr lang="en-US" sz="1100" dirty="0">
              <a:solidFill>
                <a:schemeClr val="bg1"/>
              </a:solidFill>
              <a:latin typeface="Sakkal Majalla" panose="02000000000000000000" pitchFamily="2" charset="-78"/>
              <a:cs typeface="Sakkal Majalla" panose="02000000000000000000" pitchFamily="2" charset="-78"/>
            </a:endParaRPr>
          </a:p>
        </p:txBody>
      </p:sp>
      <p:sp>
        <p:nvSpPr>
          <p:cNvPr id="22" name="Rectangle 21">
            <a:extLst>
              <a:ext uri="{FF2B5EF4-FFF2-40B4-BE49-F238E27FC236}">
                <a16:creationId xmlns:a16="http://schemas.microsoft.com/office/drawing/2014/main" id="{E4E82046-6A89-50C4-5FB3-C5C740A868BC}"/>
              </a:ext>
            </a:extLst>
          </p:cNvPr>
          <p:cNvSpPr/>
          <p:nvPr/>
        </p:nvSpPr>
        <p:spPr>
          <a:xfrm>
            <a:off x="3543747" y="4465853"/>
            <a:ext cx="5104510" cy="6346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rtl="1">
              <a:spcBef>
                <a:spcPts val="540"/>
              </a:spcBef>
            </a:pPr>
            <a:r>
              <a:rPr lang="ar-SA" sz="2800" dirty="0">
                <a:solidFill>
                  <a:schemeClr val="bg1"/>
                </a:solidFill>
                <a:latin typeface="Sakkal Majalla" panose="02000000000000000000" pitchFamily="2" charset="-78"/>
                <a:cs typeface="Sakkal Majalla" panose="02000000000000000000" pitchFamily="2" charset="-78"/>
              </a:rPr>
              <a:t>تحديث وحوكمة حالة تلك المتطلبات من وقت نشأتها وحتى تطبيقها أو إغلاقها</a:t>
            </a:r>
            <a:endParaRPr lang="en-US" sz="2800" dirty="0">
              <a:solidFill>
                <a:schemeClr val="bg1"/>
              </a:solidFill>
              <a:latin typeface="Sakkal Majalla" panose="02000000000000000000" pitchFamily="2" charset="-78"/>
              <a:cs typeface="Sakkal Majalla" panose="02000000000000000000" pitchFamily="2" charset="-78"/>
            </a:endParaRPr>
          </a:p>
        </p:txBody>
      </p:sp>
      <p:sp>
        <p:nvSpPr>
          <p:cNvPr id="23" name="Rectangle 22">
            <a:extLst>
              <a:ext uri="{FF2B5EF4-FFF2-40B4-BE49-F238E27FC236}">
                <a16:creationId xmlns:a16="http://schemas.microsoft.com/office/drawing/2014/main" id="{90E26585-F0A4-7F36-7A95-878F86FCBCD8}"/>
              </a:ext>
            </a:extLst>
          </p:cNvPr>
          <p:cNvSpPr/>
          <p:nvPr/>
        </p:nvSpPr>
        <p:spPr>
          <a:xfrm>
            <a:off x="3543747" y="4746136"/>
            <a:ext cx="5104510" cy="354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r" rtl="1">
              <a:lnSpc>
                <a:spcPts val="1440"/>
              </a:lnSpc>
              <a:spcBef>
                <a:spcPts val="540"/>
              </a:spcBef>
            </a:pPr>
            <a:r>
              <a:rPr lang="ar-EG" sz="1100" dirty="0">
                <a:solidFill>
                  <a:schemeClr val="bg1"/>
                </a:solidFill>
                <a:latin typeface="Sakkal Majalla" panose="02000000000000000000" pitchFamily="2" charset="-78"/>
                <a:cs typeface="Sakkal Majalla" panose="02000000000000000000" pitchFamily="2" charset="-78"/>
              </a:rPr>
              <a:t> </a:t>
            </a:r>
            <a:endParaRPr lang="en-US" sz="1100" dirty="0">
              <a:solidFill>
                <a:schemeClr val="bg1"/>
              </a:solidFill>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52313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EG" dirty="0"/>
              <a:t>منهجية إدارة متطلبات البنية المؤسسية</a:t>
            </a:r>
            <a:endParaRPr lang="en-US" dirty="0"/>
          </a:p>
        </p:txBody>
      </p:sp>
      <p:sp>
        <p:nvSpPr>
          <p:cNvPr id="4" name="Text Placeholder 3"/>
          <p:cNvSpPr>
            <a:spLocks noGrp="1"/>
          </p:cNvSpPr>
          <p:nvPr>
            <p:ph type="body" sz="quarter" idx="14"/>
          </p:nvPr>
        </p:nvSpPr>
        <p:spPr/>
        <p:txBody>
          <a:bodyPr/>
          <a:lstStyle/>
          <a:p>
            <a:r>
              <a:rPr lang="ar-EG" dirty="0"/>
              <a:t>02</a:t>
            </a:r>
            <a:endParaRPr lang="en-US" dirty="0"/>
          </a:p>
        </p:txBody>
      </p:sp>
    </p:spTree>
    <p:extLst>
      <p:ext uri="{BB962C8B-B14F-4D97-AF65-F5344CB8AC3E}">
        <p14:creationId xmlns:p14="http://schemas.microsoft.com/office/powerpoint/2010/main" val="1276751179"/>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11</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خطوات</a:t>
            </a:r>
            <a:r>
              <a:rPr lang="ar-EG" dirty="0"/>
              <a:t> إدارة متطلبات البنية المؤسسية</a:t>
            </a:r>
            <a:endParaRPr lang="en-US" dirty="0"/>
          </a:p>
        </p:txBody>
      </p:sp>
      <p:sp>
        <p:nvSpPr>
          <p:cNvPr id="5" name="Rectangle 4">
            <a:extLst>
              <a:ext uri="{FF2B5EF4-FFF2-40B4-BE49-F238E27FC236}">
                <a16:creationId xmlns:a16="http://schemas.microsoft.com/office/drawing/2014/main" id="{FDA5E4F2-4CC9-556A-7CE6-16C66698628E}"/>
              </a:ext>
            </a:extLst>
          </p:cNvPr>
          <p:cNvSpPr/>
          <p:nvPr/>
        </p:nvSpPr>
        <p:spPr>
          <a:xfrm>
            <a:off x="680357" y="2271851"/>
            <a:ext cx="10972800" cy="7225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6" name="Rectangle 5">
            <a:extLst>
              <a:ext uri="{FF2B5EF4-FFF2-40B4-BE49-F238E27FC236}">
                <a16:creationId xmlns:a16="http://schemas.microsoft.com/office/drawing/2014/main" id="{54638EFC-9881-7021-510A-8D9210A30DC9}"/>
              </a:ext>
            </a:extLst>
          </p:cNvPr>
          <p:cNvSpPr/>
          <p:nvPr/>
        </p:nvSpPr>
        <p:spPr>
          <a:xfrm>
            <a:off x="680357" y="2291011"/>
            <a:ext cx="10972800" cy="707886"/>
          </a:xfrm>
          <a:prstGeom prst="rect">
            <a:avLst/>
          </a:prstGeom>
        </p:spPr>
        <p:txBody>
          <a:bodyPr wrap="square">
            <a:spAutoFit/>
          </a:bodyPr>
          <a:lstStyle/>
          <a:p>
            <a:pPr algn="ctr" rtl="1"/>
            <a:r>
              <a:rPr lang="ar-EG" sz="2000" dirty="0">
                <a:latin typeface="Sakkal Majalla" panose="02000000000000000000" pitchFamily="2" charset="-78"/>
                <a:cs typeface="Sakkal Majalla" panose="02000000000000000000" pitchFamily="2" charset="-78"/>
              </a:rPr>
              <a:t>يتم إدارة متطلبات البنية المؤسسية عبر اتباع </a:t>
            </a:r>
            <a:r>
              <a:rPr lang="ar-SA" sz="2000" dirty="0">
                <a:latin typeface="Sakkal Majalla" panose="02000000000000000000" pitchFamily="2" charset="-78"/>
                <a:cs typeface="Sakkal Majalla" panose="02000000000000000000" pitchFamily="2" charset="-78"/>
              </a:rPr>
              <a:t>منهجية مكونة من </a:t>
            </a:r>
            <a:r>
              <a:rPr lang="ar-EG" sz="2000" dirty="0">
                <a:latin typeface="Sakkal Majalla" panose="02000000000000000000" pitchFamily="2" charset="-78"/>
                <a:cs typeface="Sakkal Majalla" panose="02000000000000000000" pitchFamily="2" charset="-78"/>
              </a:rPr>
              <a:t>أربع</a:t>
            </a:r>
            <a:r>
              <a:rPr lang="ar-SA" sz="2000" dirty="0">
                <a:latin typeface="Sakkal Majalla" panose="02000000000000000000" pitchFamily="2" charset="-78"/>
                <a:cs typeface="Sakkal Majalla" panose="02000000000000000000" pitchFamily="2" charset="-78"/>
              </a:rPr>
              <a:t> </a:t>
            </a:r>
            <a:r>
              <a:rPr lang="ar-EG" sz="2000" dirty="0">
                <a:latin typeface="Sakkal Majalla" panose="02000000000000000000" pitchFamily="2" charset="-78"/>
                <a:cs typeface="Sakkal Majalla" panose="02000000000000000000" pitchFamily="2" charset="-78"/>
              </a:rPr>
              <a:t>خطوات</a:t>
            </a:r>
            <a:r>
              <a:rPr lang="ar-SA" sz="2000" dirty="0">
                <a:latin typeface="Sakkal Majalla" panose="02000000000000000000" pitchFamily="2" charset="-78"/>
                <a:cs typeface="Sakkal Majalla" panose="02000000000000000000" pitchFamily="2" charset="-78"/>
              </a:rPr>
              <a:t> رئيسة</a:t>
            </a:r>
            <a:r>
              <a:rPr lang="ar-EG" sz="2000" dirty="0">
                <a:latin typeface="Sakkal Majalla" panose="02000000000000000000" pitchFamily="2" charset="-78"/>
                <a:cs typeface="Sakkal Majalla" panose="02000000000000000000" pitchFamily="2" charset="-78"/>
              </a:rPr>
              <a:t>، تم تخصيصها وفقا لطبيعة الهيئة، إضافة الى الاعتماد على الأدلة الاسترشادية من هيئة الحكومة الرقمية ذات العلاقة:</a:t>
            </a:r>
            <a:endParaRPr lang="en-AE" sz="2000" dirty="0">
              <a:latin typeface="Sakkal Majalla" panose="02000000000000000000" pitchFamily="2" charset="-78"/>
              <a:cs typeface="Sakkal Majalla" panose="02000000000000000000" pitchFamily="2" charset="-78"/>
            </a:endParaRPr>
          </a:p>
        </p:txBody>
      </p:sp>
      <p:sp>
        <p:nvSpPr>
          <p:cNvPr id="8" name="Rectangle: Rounded Corners 170">
            <a:extLst>
              <a:ext uri="{FF2B5EF4-FFF2-40B4-BE49-F238E27FC236}">
                <a16:creationId xmlns:a16="http://schemas.microsoft.com/office/drawing/2014/main" id="{8D49AAD0-75B8-6325-94FE-B32F319DC32F}"/>
              </a:ext>
            </a:extLst>
          </p:cNvPr>
          <p:cNvSpPr/>
          <p:nvPr/>
        </p:nvSpPr>
        <p:spPr>
          <a:xfrm flipH="1">
            <a:off x="1853885" y="3439453"/>
            <a:ext cx="1973531" cy="2226797"/>
          </a:xfrm>
          <a:prstGeom prst="roundRect">
            <a:avLst>
              <a:gd name="adj" fmla="val 3431"/>
            </a:avLst>
          </a:prstGeom>
          <a:noFill/>
          <a:ln w="9525">
            <a:gradFill>
              <a:gsLst>
                <a:gs pos="0">
                  <a:schemeClr val="accent1"/>
                </a:gs>
                <a:gs pos="100000">
                  <a:schemeClr val="accent3"/>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Y" dirty="0">
              <a:latin typeface="Sakkal Majalla" panose="02000000000000000000" pitchFamily="2" charset="-78"/>
              <a:cs typeface="Sakkal Majalla" panose="02000000000000000000" pitchFamily="2" charset="-78"/>
            </a:endParaRPr>
          </a:p>
        </p:txBody>
      </p:sp>
      <p:sp>
        <p:nvSpPr>
          <p:cNvPr id="9" name="Rectangle: Rounded Corners 166">
            <a:extLst>
              <a:ext uri="{FF2B5EF4-FFF2-40B4-BE49-F238E27FC236}">
                <a16:creationId xmlns:a16="http://schemas.microsoft.com/office/drawing/2014/main" id="{8BDC3C91-85D6-FC81-5520-911955F55D23}"/>
              </a:ext>
            </a:extLst>
          </p:cNvPr>
          <p:cNvSpPr/>
          <p:nvPr/>
        </p:nvSpPr>
        <p:spPr>
          <a:xfrm flipH="1">
            <a:off x="4075546" y="3439453"/>
            <a:ext cx="1973531" cy="2226797"/>
          </a:xfrm>
          <a:prstGeom prst="roundRect">
            <a:avLst>
              <a:gd name="adj" fmla="val 3431"/>
            </a:avLst>
          </a:prstGeom>
          <a:noFill/>
          <a:ln w="9525">
            <a:gradFill>
              <a:gsLst>
                <a:gs pos="0">
                  <a:schemeClr val="accent1"/>
                </a:gs>
                <a:gs pos="100000">
                  <a:schemeClr val="accent3"/>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Y" dirty="0">
              <a:latin typeface="Sakkal Majalla" panose="02000000000000000000" pitchFamily="2" charset="-78"/>
              <a:cs typeface="Sakkal Majalla" panose="02000000000000000000" pitchFamily="2" charset="-78"/>
            </a:endParaRPr>
          </a:p>
        </p:txBody>
      </p:sp>
      <p:sp>
        <p:nvSpPr>
          <p:cNvPr id="10" name="Rectangle: Rounded Corners 162">
            <a:extLst>
              <a:ext uri="{FF2B5EF4-FFF2-40B4-BE49-F238E27FC236}">
                <a16:creationId xmlns:a16="http://schemas.microsoft.com/office/drawing/2014/main" id="{6D5B4DA9-94BA-2A5C-FA15-B7B4287C149D}"/>
              </a:ext>
            </a:extLst>
          </p:cNvPr>
          <p:cNvSpPr/>
          <p:nvPr/>
        </p:nvSpPr>
        <p:spPr>
          <a:xfrm flipH="1">
            <a:off x="6310508" y="3439453"/>
            <a:ext cx="1973531" cy="2226797"/>
          </a:xfrm>
          <a:prstGeom prst="roundRect">
            <a:avLst>
              <a:gd name="adj" fmla="val 3431"/>
            </a:avLst>
          </a:prstGeom>
          <a:noFill/>
          <a:ln w="9525">
            <a:gradFill>
              <a:gsLst>
                <a:gs pos="0">
                  <a:schemeClr val="accent1"/>
                </a:gs>
                <a:gs pos="100000">
                  <a:schemeClr val="accent3"/>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Y" dirty="0">
              <a:latin typeface="Sakkal Majalla" panose="02000000000000000000" pitchFamily="2" charset="-78"/>
              <a:cs typeface="Sakkal Majalla" panose="02000000000000000000" pitchFamily="2" charset="-78"/>
            </a:endParaRPr>
          </a:p>
        </p:txBody>
      </p:sp>
      <p:grpSp>
        <p:nvGrpSpPr>
          <p:cNvPr id="11" name="Group 10">
            <a:extLst>
              <a:ext uri="{FF2B5EF4-FFF2-40B4-BE49-F238E27FC236}">
                <a16:creationId xmlns:a16="http://schemas.microsoft.com/office/drawing/2014/main" id="{723CA0DC-9018-77F9-0168-7A1D9554C63F}"/>
              </a:ext>
            </a:extLst>
          </p:cNvPr>
          <p:cNvGrpSpPr/>
          <p:nvPr/>
        </p:nvGrpSpPr>
        <p:grpSpPr>
          <a:xfrm>
            <a:off x="6987373" y="3114789"/>
            <a:ext cx="645136" cy="645136"/>
            <a:chOff x="10238765" y="2145029"/>
            <a:chExt cx="589470" cy="589470"/>
          </a:xfrm>
        </p:grpSpPr>
        <p:sp>
          <p:nvSpPr>
            <p:cNvPr id="12" name="Freeform 67">
              <a:extLst>
                <a:ext uri="{FF2B5EF4-FFF2-40B4-BE49-F238E27FC236}">
                  <a16:creationId xmlns:a16="http://schemas.microsoft.com/office/drawing/2014/main" id="{9107330B-4527-735E-4FA0-8C2C90BBAB65}"/>
                </a:ext>
              </a:extLst>
            </p:cNvPr>
            <p:cNvSpPr>
              <a:spLocks noChangeArrowheads="1"/>
            </p:cNvSpPr>
            <p:nvPr/>
          </p:nvSpPr>
          <p:spPr bwMode="auto">
            <a:xfrm flipH="1">
              <a:off x="10250514" y="2154902"/>
              <a:ext cx="565970" cy="565968"/>
            </a:xfrm>
            <a:custGeom>
              <a:avLst/>
              <a:gdLst>
                <a:gd name="T0" fmla="*/ 637 w 1274"/>
                <a:gd name="T1" fmla="*/ 0 h 1275"/>
                <a:gd name="T2" fmla="*/ 637 w 1274"/>
                <a:gd name="T3" fmla="*/ 0 h 1275"/>
                <a:gd name="T4" fmla="*/ 1273 w 1274"/>
                <a:gd name="T5" fmla="*/ 637 h 1275"/>
                <a:gd name="T6" fmla="*/ 1273 w 1274"/>
                <a:gd name="T7" fmla="*/ 637 h 1275"/>
                <a:gd name="T8" fmla="*/ 637 w 1274"/>
                <a:gd name="T9" fmla="*/ 1274 h 1275"/>
                <a:gd name="T10" fmla="*/ 637 w 1274"/>
                <a:gd name="T11" fmla="*/ 1274 h 1275"/>
                <a:gd name="T12" fmla="*/ 0 w 1274"/>
                <a:gd name="T13" fmla="*/ 637 h 1275"/>
                <a:gd name="T14" fmla="*/ 0 w 1274"/>
                <a:gd name="T15" fmla="*/ 637 h 1275"/>
                <a:gd name="T16" fmla="*/ 637 w 1274"/>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4" h="1275">
                  <a:moveTo>
                    <a:pt x="637" y="0"/>
                  </a:moveTo>
                  <a:lnTo>
                    <a:pt x="637" y="0"/>
                  </a:lnTo>
                  <a:cubicBezTo>
                    <a:pt x="988" y="0"/>
                    <a:pt x="1273" y="285"/>
                    <a:pt x="1273" y="637"/>
                  </a:cubicBezTo>
                  <a:lnTo>
                    <a:pt x="1273" y="637"/>
                  </a:lnTo>
                  <a:cubicBezTo>
                    <a:pt x="1273" y="988"/>
                    <a:pt x="988" y="1274"/>
                    <a:pt x="637" y="1274"/>
                  </a:cubicBezTo>
                  <a:lnTo>
                    <a:pt x="637" y="1274"/>
                  </a:lnTo>
                  <a:cubicBezTo>
                    <a:pt x="284" y="1274"/>
                    <a:pt x="0" y="988"/>
                    <a:pt x="0" y="637"/>
                  </a:cubicBezTo>
                  <a:lnTo>
                    <a:pt x="0" y="637"/>
                  </a:lnTo>
                  <a:cubicBezTo>
                    <a:pt x="0" y="285"/>
                    <a:pt x="284" y="0"/>
                    <a:pt x="637" y="0"/>
                  </a:cubicBezTo>
                </a:path>
              </a:pathLst>
            </a:custGeom>
            <a:solidFill>
              <a:schemeClr val="bg1"/>
            </a:solidFill>
            <a:ln>
              <a:noFill/>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sp>
          <p:nvSpPr>
            <p:cNvPr id="13" name="Freeform 68">
              <a:extLst>
                <a:ext uri="{FF2B5EF4-FFF2-40B4-BE49-F238E27FC236}">
                  <a16:creationId xmlns:a16="http://schemas.microsoft.com/office/drawing/2014/main" id="{3FAC4B39-C02E-937A-EBBA-1CF7BC0A6195}"/>
                </a:ext>
              </a:extLst>
            </p:cNvPr>
            <p:cNvSpPr>
              <a:spLocks noChangeArrowheads="1"/>
            </p:cNvSpPr>
            <p:nvPr/>
          </p:nvSpPr>
          <p:spPr bwMode="auto">
            <a:xfrm flipH="1">
              <a:off x="10238765" y="2145029"/>
              <a:ext cx="589470" cy="589470"/>
            </a:xfrm>
            <a:custGeom>
              <a:avLst/>
              <a:gdLst>
                <a:gd name="T0" fmla="*/ 663 w 1326"/>
                <a:gd name="T1" fmla="*/ 51 h 1326"/>
                <a:gd name="T2" fmla="*/ 663 w 1326"/>
                <a:gd name="T3" fmla="*/ 51 h 1326"/>
                <a:gd name="T4" fmla="*/ 51 w 1326"/>
                <a:gd name="T5" fmla="*/ 663 h 1326"/>
                <a:gd name="T6" fmla="*/ 51 w 1326"/>
                <a:gd name="T7" fmla="*/ 663 h 1326"/>
                <a:gd name="T8" fmla="*/ 663 w 1326"/>
                <a:gd name="T9" fmla="*/ 1274 h 1326"/>
                <a:gd name="T10" fmla="*/ 663 w 1326"/>
                <a:gd name="T11" fmla="*/ 1274 h 1326"/>
                <a:gd name="T12" fmla="*/ 1274 w 1326"/>
                <a:gd name="T13" fmla="*/ 663 h 1326"/>
                <a:gd name="T14" fmla="*/ 1274 w 1326"/>
                <a:gd name="T15" fmla="*/ 663 h 1326"/>
                <a:gd name="T16" fmla="*/ 663 w 1326"/>
                <a:gd name="T17" fmla="*/ 51 h 1326"/>
                <a:gd name="T18" fmla="*/ 663 w 1326"/>
                <a:gd name="T19" fmla="*/ 1325 h 1326"/>
                <a:gd name="T20" fmla="*/ 663 w 1326"/>
                <a:gd name="T21" fmla="*/ 1325 h 1326"/>
                <a:gd name="T22" fmla="*/ 0 w 1326"/>
                <a:gd name="T23" fmla="*/ 663 h 1326"/>
                <a:gd name="T24" fmla="*/ 0 w 1326"/>
                <a:gd name="T25" fmla="*/ 663 h 1326"/>
                <a:gd name="T26" fmla="*/ 663 w 1326"/>
                <a:gd name="T27" fmla="*/ 0 h 1326"/>
                <a:gd name="T28" fmla="*/ 663 w 1326"/>
                <a:gd name="T29" fmla="*/ 0 h 1326"/>
                <a:gd name="T30" fmla="*/ 1325 w 1326"/>
                <a:gd name="T31" fmla="*/ 663 h 1326"/>
                <a:gd name="T32" fmla="*/ 1325 w 1326"/>
                <a:gd name="T33" fmla="*/ 663 h 1326"/>
                <a:gd name="T34" fmla="*/ 663 w 1326"/>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6" h="1326">
                  <a:moveTo>
                    <a:pt x="663" y="51"/>
                  </a:moveTo>
                  <a:lnTo>
                    <a:pt x="663" y="51"/>
                  </a:lnTo>
                  <a:cubicBezTo>
                    <a:pt x="325" y="51"/>
                    <a:pt x="51" y="326"/>
                    <a:pt x="51" y="663"/>
                  </a:cubicBezTo>
                  <a:lnTo>
                    <a:pt x="51" y="663"/>
                  </a:lnTo>
                  <a:cubicBezTo>
                    <a:pt x="51" y="1000"/>
                    <a:pt x="325"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7" y="1325"/>
                    <a:pt x="0" y="1028"/>
                    <a:pt x="0" y="663"/>
                  </a:cubicBezTo>
                  <a:lnTo>
                    <a:pt x="0" y="663"/>
                  </a:lnTo>
                  <a:cubicBezTo>
                    <a:pt x="0" y="297"/>
                    <a:pt x="297" y="0"/>
                    <a:pt x="663" y="0"/>
                  </a:cubicBezTo>
                  <a:lnTo>
                    <a:pt x="663" y="0"/>
                  </a:lnTo>
                  <a:cubicBezTo>
                    <a:pt x="1028" y="0"/>
                    <a:pt x="1325" y="297"/>
                    <a:pt x="1325" y="663"/>
                  </a:cubicBezTo>
                  <a:lnTo>
                    <a:pt x="1325" y="663"/>
                  </a:lnTo>
                  <a:cubicBezTo>
                    <a:pt x="1325" y="1028"/>
                    <a:pt x="1028" y="1325"/>
                    <a:pt x="663" y="1325"/>
                  </a:cubicBezTo>
                  <a:close/>
                </a:path>
              </a:pathLst>
            </a:custGeom>
            <a:solidFill>
              <a:schemeClr val="bg1">
                <a:lumMod val="95000"/>
              </a:schemeClr>
            </a:solidFill>
            <a:ln w="6350">
              <a:gradFill>
                <a:gsLst>
                  <a:gs pos="0">
                    <a:schemeClr val="accent1"/>
                  </a:gs>
                  <a:gs pos="100000">
                    <a:schemeClr val="accent3"/>
                  </a:gs>
                </a:gsLst>
                <a:lin ang="5400000" scaled="1"/>
              </a:gradFill>
              <a:prstDash val="sysDash"/>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grpSp>
      <p:sp>
        <p:nvSpPr>
          <p:cNvPr id="20" name="Freeform 139">
            <a:extLst>
              <a:ext uri="{FF2B5EF4-FFF2-40B4-BE49-F238E27FC236}">
                <a16:creationId xmlns:a16="http://schemas.microsoft.com/office/drawing/2014/main" id="{A331623F-B4E8-6485-B6B4-FB0E3CE4ADD1}"/>
              </a:ext>
            </a:extLst>
          </p:cNvPr>
          <p:cNvSpPr>
            <a:spLocks noChangeArrowheads="1"/>
          </p:cNvSpPr>
          <p:nvPr/>
        </p:nvSpPr>
        <p:spPr bwMode="auto">
          <a:xfrm flipH="1">
            <a:off x="4754746" y="3113726"/>
            <a:ext cx="642990" cy="645136"/>
          </a:xfrm>
          <a:custGeom>
            <a:avLst/>
            <a:gdLst>
              <a:gd name="T0" fmla="*/ 661 w 1325"/>
              <a:gd name="T1" fmla="*/ 51 h 1326"/>
              <a:gd name="T2" fmla="*/ 661 w 1325"/>
              <a:gd name="T3" fmla="*/ 51 h 1326"/>
              <a:gd name="T4" fmla="*/ 50 w 1325"/>
              <a:gd name="T5" fmla="*/ 663 h 1326"/>
              <a:gd name="T6" fmla="*/ 50 w 1325"/>
              <a:gd name="T7" fmla="*/ 663 h 1326"/>
              <a:gd name="T8" fmla="*/ 661 w 1325"/>
              <a:gd name="T9" fmla="*/ 1274 h 1326"/>
              <a:gd name="T10" fmla="*/ 661 w 1325"/>
              <a:gd name="T11" fmla="*/ 1274 h 1326"/>
              <a:gd name="T12" fmla="*/ 1273 w 1325"/>
              <a:gd name="T13" fmla="*/ 663 h 1326"/>
              <a:gd name="T14" fmla="*/ 1273 w 1325"/>
              <a:gd name="T15" fmla="*/ 663 h 1326"/>
              <a:gd name="T16" fmla="*/ 661 w 1325"/>
              <a:gd name="T17" fmla="*/ 51 h 1326"/>
              <a:gd name="T18" fmla="*/ 661 w 1325"/>
              <a:gd name="T19" fmla="*/ 1325 h 1326"/>
              <a:gd name="T20" fmla="*/ 661 w 1325"/>
              <a:gd name="T21" fmla="*/ 1325 h 1326"/>
              <a:gd name="T22" fmla="*/ 0 w 1325"/>
              <a:gd name="T23" fmla="*/ 663 h 1326"/>
              <a:gd name="T24" fmla="*/ 0 w 1325"/>
              <a:gd name="T25" fmla="*/ 663 h 1326"/>
              <a:gd name="T26" fmla="*/ 661 w 1325"/>
              <a:gd name="T27" fmla="*/ 0 h 1326"/>
              <a:gd name="T28" fmla="*/ 661 w 1325"/>
              <a:gd name="T29" fmla="*/ 0 h 1326"/>
              <a:gd name="T30" fmla="*/ 1324 w 1325"/>
              <a:gd name="T31" fmla="*/ 663 h 1326"/>
              <a:gd name="T32" fmla="*/ 1324 w 1325"/>
              <a:gd name="T33" fmla="*/ 663 h 1326"/>
              <a:gd name="T34" fmla="*/ 661 w 1325"/>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5" h="1326">
                <a:moveTo>
                  <a:pt x="661" y="51"/>
                </a:moveTo>
                <a:lnTo>
                  <a:pt x="661" y="51"/>
                </a:lnTo>
                <a:cubicBezTo>
                  <a:pt x="325" y="51"/>
                  <a:pt x="50" y="326"/>
                  <a:pt x="50" y="663"/>
                </a:cubicBezTo>
                <a:lnTo>
                  <a:pt x="50" y="663"/>
                </a:lnTo>
                <a:cubicBezTo>
                  <a:pt x="50" y="1000"/>
                  <a:pt x="325" y="1274"/>
                  <a:pt x="661" y="1274"/>
                </a:cubicBezTo>
                <a:lnTo>
                  <a:pt x="661" y="1274"/>
                </a:lnTo>
                <a:cubicBezTo>
                  <a:pt x="999" y="1274"/>
                  <a:pt x="1273" y="1000"/>
                  <a:pt x="1273" y="663"/>
                </a:cubicBezTo>
                <a:lnTo>
                  <a:pt x="1273" y="663"/>
                </a:lnTo>
                <a:cubicBezTo>
                  <a:pt x="1273" y="326"/>
                  <a:pt x="999" y="51"/>
                  <a:pt x="661" y="51"/>
                </a:cubicBezTo>
                <a:close/>
                <a:moveTo>
                  <a:pt x="661" y="1325"/>
                </a:moveTo>
                <a:lnTo>
                  <a:pt x="661" y="1325"/>
                </a:lnTo>
                <a:cubicBezTo>
                  <a:pt x="296" y="1325"/>
                  <a:pt x="0" y="1028"/>
                  <a:pt x="0" y="663"/>
                </a:cubicBezTo>
                <a:lnTo>
                  <a:pt x="0" y="663"/>
                </a:lnTo>
                <a:cubicBezTo>
                  <a:pt x="0" y="297"/>
                  <a:pt x="296" y="0"/>
                  <a:pt x="661" y="0"/>
                </a:cubicBezTo>
                <a:lnTo>
                  <a:pt x="661" y="0"/>
                </a:lnTo>
                <a:cubicBezTo>
                  <a:pt x="1027" y="0"/>
                  <a:pt x="1324" y="297"/>
                  <a:pt x="1324" y="663"/>
                </a:cubicBezTo>
                <a:lnTo>
                  <a:pt x="1324" y="663"/>
                </a:lnTo>
                <a:cubicBezTo>
                  <a:pt x="1324" y="1028"/>
                  <a:pt x="1027" y="1325"/>
                  <a:pt x="661" y="1325"/>
                </a:cubicBezTo>
                <a:close/>
              </a:path>
            </a:pathLst>
          </a:custGeom>
          <a:solidFill>
            <a:schemeClr val="bg1">
              <a:lumMod val="95000"/>
            </a:schemeClr>
          </a:solidFill>
          <a:ln w="6350">
            <a:gradFill>
              <a:gsLst>
                <a:gs pos="0">
                  <a:schemeClr val="accent1"/>
                </a:gs>
                <a:gs pos="100000">
                  <a:schemeClr val="accent3"/>
                </a:gs>
              </a:gsLst>
              <a:lin ang="5400000" scaled="1"/>
            </a:gradFill>
            <a:prstDash val="sysDash"/>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grpSp>
        <p:nvGrpSpPr>
          <p:cNvPr id="31" name="Group 30">
            <a:extLst>
              <a:ext uri="{FF2B5EF4-FFF2-40B4-BE49-F238E27FC236}">
                <a16:creationId xmlns:a16="http://schemas.microsoft.com/office/drawing/2014/main" id="{F500DD38-8C7E-4006-EA4E-5F4EA643F36E}"/>
              </a:ext>
            </a:extLst>
          </p:cNvPr>
          <p:cNvGrpSpPr/>
          <p:nvPr/>
        </p:nvGrpSpPr>
        <p:grpSpPr>
          <a:xfrm>
            <a:off x="2526853" y="3114789"/>
            <a:ext cx="645136" cy="645136"/>
            <a:chOff x="6658781" y="2135626"/>
            <a:chExt cx="589470" cy="589470"/>
          </a:xfrm>
        </p:grpSpPr>
        <p:sp>
          <p:nvSpPr>
            <p:cNvPr id="32" name="Freeform 208">
              <a:extLst>
                <a:ext uri="{FF2B5EF4-FFF2-40B4-BE49-F238E27FC236}">
                  <a16:creationId xmlns:a16="http://schemas.microsoft.com/office/drawing/2014/main" id="{E38B55BB-A05D-D744-F98D-5897A9B504CD}"/>
                </a:ext>
              </a:extLst>
            </p:cNvPr>
            <p:cNvSpPr>
              <a:spLocks noChangeArrowheads="1"/>
            </p:cNvSpPr>
            <p:nvPr/>
          </p:nvSpPr>
          <p:spPr bwMode="auto">
            <a:xfrm flipH="1">
              <a:off x="6681812" y="2156779"/>
              <a:ext cx="543407" cy="543405"/>
            </a:xfrm>
            <a:custGeom>
              <a:avLst/>
              <a:gdLst>
                <a:gd name="T0" fmla="*/ 637 w 1275"/>
                <a:gd name="T1" fmla="*/ 0 h 1275"/>
                <a:gd name="T2" fmla="*/ 637 w 1275"/>
                <a:gd name="T3" fmla="*/ 0 h 1275"/>
                <a:gd name="T4" fmla="*/ 1274 w 1275"/>
                <a:gd name="T5" fmla="*/ 637 h 1275"/>
                <a:gd name="T6" fmla="*/ 1274 w 1275"/>
                <a:gd name="T7" fmla="*/ 637 h 1275"/>
                <a:gd name="T8" fmla="*/ 637 w 1275"/>
                <a:gd name="T9" fmla="*/ 1274 h 1275"/>
                <a:gd name="T10" fmla="*/ 637 w 1275"/>
                <a:gd name="T11" fmla="*/ 1274 h 1275"/>
                <a:gd name="T12" fmla="*/ 0 w 1275"/>
                <a:gd name="T13" fmla="*/ 637 h 1275"/>
                <a:gd name="T14" fmla="*/ 0 w 1275"/>
                <a:gd name="T15" fmla="*/ 637 h 1275"/>
                <a:gd name="T16" fmla="*/ 637 w 1275"/>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5" h="1275">
                  <a:moveTo>
                    <a:pt x="637" y="0"/>
                  </a:moveTo>
                  <a:lnTo>
                    <a:pt x="637" y="0"/>
                  </a:lnTo>
                  <a:cubicBezTo>
                    <a:pt x="989" y="0"/>
                    <a:pt x="1274" y="285"/>
                    <a:pt x="1274" y="637"/>
                  </a:cubicBezTo>
                  <a:lnTo>
                    <a:pt x="1274" y="637"/>
                  </a:lnTo>
                  <a:cubicBezTo>
                    <a:pt x="1274" y="988"/>
                    <a:pt x="989" y="1274"/>
                    <a:pt x="637" y="1274"/>
                  </a:cubicBezTo>
                  <a:lnTo>
                    <a:pt x="637" y="1274"/>
                  </a:lnTo>
                  <a:cubicBezTo>
                    <a:pt x="285" y="1274"/>
                    <a:pt x="0" y="988"/>
                    <a:pt x="0" y="637"/>
                  </a:cubicBezTo>
                  <a:lnTo>
                    <a:pt x="0" y="637"/>
                  </a:lnTo>
                  <a:cubicBezTo>
                    <a:pt x="0" y="285"/>
                    <a:pt x="285" y="0"/>
                    <a:pt x="637" y="0"/>
                  </a:cubicBezTo>
                </a:path>
              </a:pathLst>
            </a:custGeom>
            <a:solidFill>
              <a:schemeClr val="bg1"/>
            </a:solidFill>
            <a:ln>
              <a:gradFill>
                <a:gsLst>
                  <a:gs pos="0">
                    <a:schemeClr val="accent1">
                      <a:lumMod val="5000"/>
                      <a:lumOff val="95000"/>
                    </a:schemeClr>
                  </a:gs>
                  <a:gs pos="100000">
                    <a:schemeClr val="accent1">
                      <a:lumMod val="30000"/>
                      <a:lumOff val="70000"/>
                    </a:schemeClr>
                  </a:gs>
                </a:gsLst>
                <a:lin ang="5400000" scaled="1"/>
              </a:gradFill>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sp>
          <p:nvSpPr>
            <p:cNvPr id="33" name="Freeform 209">
              <a:extLst>
                <a:ext uri="{FF2B5EF4-FFF2-40B4-BE49-F238E27FC236}">
                  <a16:creationId xmlns:a16="http://schemas.microsoft.com/office/drawing/2014/main" id="{C33819B2-2262-2C2B-4D07-2C0CB7193A12}"/>
                </a:ext>
              </a:extLst>
            </p:cNvPr>
            <p:cNvSpPr>
              <a:spLocks noChangeArrowheads="1"/>
            </p:cNvSpPr>
            <p:nvPr/>
          </p:nvSpPr>
          <p:spPr bwMode="auto">
            <a:xfrm flipH="1">
              <a:off x="6658781" y="2135626"/>
              <a:ext cx="589470" cy="589470"/>
            </a:xfrm>
            <a:custGeom>
              <a:avLst/>
              <a:gdLst>
                <a:gd name="T0" fmla="*/ 663 w 1327"/>
                <a:gd name="T1" fmla="*/ 51 h 1326"/>
                <a:gd name="T2" fmla="*/ 663 w 1327"/>
                <a:gd name="T3" fmla="*/ 51 h 1326"/>
                <a:gd name="T4" fmla="*/ 51 w 1327"/>
                <a:gd name="T5" fmla="*/ 663 h 1326"/>
                <a:gd name="T6" fmla="*/ 51 w 1327"/>
                <a:gd name="T7" fmla="*/ 663 h 1326"/>
                <a:gd name="T8" fmla="*/ 663 w 1327"/>
                <a:gd name="T9" fmla="*/ 1274 h 1326"/>
                <a:gd name="T10" fmla="*/ 663 w 1327"/>
                <a:gd name="T11" fmla="*/ 1274 h 1326"/>
                <a:gd name="T12" fmla="*/ 1274 w 1327"/>
                <a:gd name="T13" fmla="*/ 663 h 1326"/>
                <a:gd name="T14" fmla="*/ 1274 w 1327"/>
                <a:gd name="T15" fmla="*/ 663 h 1326"/>
                <a:gd name="T16" fmla="*/ 663 w 1327"/>
                <a:gd name="T17" fmla="*/ 51 h 1326"/>
                <a:gd name="T18" fmla="*/ 663 w 1327"/>
                <a:gd name="T19" fmla="*/ 1325 h 1326"/>
                <a:gd name="T20" fmla="*/ 663 w 1327"/>
                <a:gd name="T21" fmla="*/ 1325 h 1326"/>
                <a:gd name="T22" fmla="*/ 0 w 1327"/>
                <a:gd name="T23" fmla="*/ 663 h 1326"/>
                <a:gd name="T24" fmla="*/ 0 w 1327"/>
                <a:gd name="T25" fmla="*/ 663 h 1326"/>
                <a:gd name="T26" fmla="*/ 663 w 1327"/>
                <a:gd name="T27" fmla="*/ 0 h 1326"/>
                <a:gd name="T28" fmla="*/ 663 w 1327"/>
                <a:gd name="T29" fmla="*/ 0 h 1326"/>
                <a:gd name="T30" fmla="*/ 1326 w 1327"/>
                <a:gd name="T31" fmla="*/ 663 h 1326"/>
                <a:gd name="T32" fmla="*/ 1326 w 1327"/>
                <a:gd name="T33" fmla="*/ 663 h 1326"/>
                <a:gd name="T34" fmla="*/ 663 w 1327"/>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7" h="1326">
                  <a:moveTo>
                    <a:pt x="663" y="51"/>
                  </a:moveTo>
                  <a:lnTo>
                    <a:pt x="663" y="51"/>
                  </a:lnTo>
                  <a:cubicBezTo>
                    <a:pt x="326" y="51"/>
                    <a:pt x="51" y="326"/>
                    <a:pt x="51" y="663"/>
                  </a:cubicBezTo>
                  <a:lnTo>
                    <a:pt x="51" y="663"/>
                  </a:lnTo>
                  <a:cubicBezTo>
                    <a:pt x="51" y="1000"/>
                    <a:pt x="326"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8" y="1325"/>
                    <a:pt x="0" y="1028"/>
                    <a:pt x="0" y="663"/>
                  </a:cubicBezTo>
                  <a:lnTo>
                    <a:pt x="0" y="663"/>
                  </a:lnTo>
                  <a:cubicBezTo>
                    <a:pt x="0" y="297"/>
                    <a:pt x="298" y="0"/>
                    <a:pt x="663" y="0"/>
                  </a:cubicBezTo>
                  <a:lnTo>
                    <a:pt x="663" y="0"/>
                  </a:lnTo>
                  <a:cubicBezTo>
                    <a:pt x="1029" y="0"/>
                    <a:pt x="1326" y="297"/>
                    <a:pt x="1326" y="663"/>
                  </a:cubicBezTo>
                  <a:lnTo>
                    <a:pt x="1326" y="663"/>
                  </a:lnTo>
                  <a:cubicBezTo>
                    <a:pt x="1326" y="1028"/>
                    <a:pt x="1029" y="1325"/>
                    <a:pt x="663" y="1325"/>
                  </a:cubicBezTo>
                  <a:close/>
                </a:path>
              </a:pathLst>
            </a:custGeom>
            <a:solidFill>
              <a:schemeClr val="bg1">
                <a:lumMod val="95000"/>
              </a:schemeClr>
            </a:solidFill>
            <a:ln w="6350">
              <a:gradFill>
                <a:gsLst>
                  <a:gs pos="0">
                    <a:schemeClr val="accent1"/>
                  </a:gs>
                  <a:gs pos="100000">
                    <a:schemeClr val="accent3"/>
                  </a:gs>
                </a:gsLst>
                <a:lin ang="5400000" scaled="1"/>
              </a:gradFill>
              <a:prstDash val="sysDash"/>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grpSp>
      <p:sp>
        <p:nvSpPr>
          <p:cNvPr id="83" name="Freeform 203">
            <a:extLst>
              <a:ext uri="{FF2B5EF4-FFF2-40B4-BE49-F238E27FC236}">
                <a16:creationId xmlns:a16="http://schemas.microsoft.com/office/drawing/2014/main" id="{57B49BF6-FAD7-CF32-7DF3-ADB9243CA3A3}"/>
              </a:ext>
            </a:extLst>
          </p:cNvPr>
          <p:cNvSpPr>
            <a:spLocks noChangeArrowheads="1"/>
          </p:cNvSpPr>
          <p:nvPr/>
        </p:nvSpPr>
        <p:spPr bwMode="auto">
          <a:xfrm flipH="1">
            <a:off x="1598649" y="4968607"/>
            <a:ext cx="2378122" cy="548640"/>
          </a:xfrm>
          <a:custGeom>
            <a:avLst/>
            <a:gdLst>
              <a:gd name="T0" fmla="*/ 673 w 5254"/>
              <a:gd name="T1" fmla="*/ 563 h 1225"/>
              <a:gd name="T2" fmla="*/ 42 w 5254"/>
              <a:gd name="T3" fmla="*/ 92 h 1225"/>
              <a:gd name="T4" fmla="*/ 42 w 5254"/>
              <a:gd name="T5" fmla="*/ 92 h 1225"/>
              <a:gd name="T6" fmla="*/ 72 w 5254"/>
              <a:gd name="T7" fmla="*/ 0 h 1225"/>
              <a:gd name="T8" fmla="*/ 4442 w 5254"/>
              <a:gd name="T9" fmla="*/ 0 h 1225"/>
              <a:gd name="T10" fmla="*/ 4442 w 5254"/>
              <a:gd name="T11" fmla="*/ 0 h 1225"/>
              <a:gd name="T12" fmla="*/ 4472 w 5254"/>
              <a:gd name="T13" fmla="*/ 10 h 1225"/>
              <a:gd name="T14" fmla="*/ 5225 w 5254"/>
              <a:gd name="T15" fmla="*/ 563 h 1225"/>
              <a:gd name="T16" fmla="*/ 5225 w 5254"/>
              <a:gd name="T17" fmla="*/ 563 h 1225"/>
              <a:gd name="T18" fmla="*/ 5225 w 5254"/>
              <a:gd name="T19" fmla="*/ 644 h 1225"/>
              <a:gd name="T20" fmla="*/ 4472 w 5254"/>
              <a:gd name="T21" fmla="*/ 1213 h 1225"/>
              <a:gd name="T22" fmla="*/ 4472 w 5254"/>
              <a:gd name="T23" fmla="*/ 1213 h 1225"/>
              <a:gd name="T24" fmla="*/ 4441 w 5254"/>
              <a:gd name="T25" fmla="*/ 1224 h 1225"/>
              <a:gd name="T26" fmla="*/ 69 w 5254"/>
              <a:gd name="T27" fmla="*/ 1224 h 1225"/>
              <a:gd name="T28" fmla="*/ 69 w 5254"/>
              <a:gd name="T29" fmla="*/ 1224 h 1225"/>
              <a:gd name="T30" fmla="*/ 38 w 5254"/>
              <a:gd name="T31" fmla="*/ 1132 h 1225"/>
              <a:gd name="T32" fmla="*/ 674 w 5254"/>
              <a:gd name="T33" fmla="*/ 644 h 1225"/>
              <a:gd name="T34" fmla="*/ 674 w 5254"/>
              <a:gd name="T35" fmla="*/ 644 h 1225"/>
              <a:gd name="T36" fmla="*/ 673 w 5254"/>
              <a:gd name="T37" fmla="*/ 563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54" h="1225">
                <a:moveTo>
                  <a:pt x="673" y="563"/>
                </a:moveTo>
                <a:lnTo>
                  <a:pt x="42" y="92"/>
                </a:lnTo>
                <a:lnTo>
                  <a:pt x="42" y="92"/>
                </a:lnTo>
                <a:cubicBezTo>
                  <a:pt x="2" y="63"/>
                  <a:pt x="23" y="0"/>
                  <a:pt x="72" y="0"/>
                </a:cubicBezTo>
                <a:lnTo>
                  <a:pt x="4442" y="0"/>
                </a:lnTo>
                <a:lnTo>
                  <a:pt x="4442" y="0"/>
                </a:lnTo>
                <a:cubicBezTo>
                  <a:pt x="4452" y="0"/>
                  <a:pt x="4463" y="3"/>
                  <a:pt x="4472" y="10"/>
                </a:cubicBezTo>
                <a:lnTo>
                  <a:pt x="5225" y="563"/>
                </a:lnTo>
                <a:lnTo>
                  <a:pt x="5225" y="563"/>
                </a:lnTo>
                <a:cubicBezTo>
                  <a:pt x="5252" y="583"/>
                  <a:pt x="5253" y="624"/>
                  <a:pt x="5225" y="644"/>
                </a:cubicBezTo>
                <a:lnTo>
                  <a:pt x="4472" y="1213"/>
                </a:lnTo>
                <a:lnTo>
                  <a:pt x="4472" y="1213"/>
                </a:lnTo>
                <a:cubicBezTo>
                  <a:pt x="4463" y="1220"/>
                  <a:pt x="4452" y="1224"/>
                  <a:pt x="4441" y="1224"/>
                </a:cubicBezTo>
                <a:lnTo>
                  <a:pt x="69" y="1224"/>
                </a:lnTo>
                <a:lnTo>
                  <a:pt x="69" y="1224"/>
                </a:lnTo>
                <a:cubicBezTo>
                  <a:pt x="20" y="1224"/>
                  <a:pt x="0" y="1162"/>
                  <a:pt x="38" y="1132"/>
                </a:cubicBezTo>
                <a:lnTo>
                  <a:pt x="674" y="644"/>
                </a:lnTo>
                <a:lnTo>
                  <a:pt x="674" y="644"/>
                </a:lnTo>
                <a:cubicBezTo>
                  <a:pt x="701" y="624"/>
                  <a:pt x="700" y="583"/>
                  <a:pt x="673" y="563"/>
                </a:cubicBezTo>
              </a:path>
            </a:pathLst>
          </a:custGeom>
          <a:gradFill>
            <a:gsLst>
              <a:gs pos="0">
                <a:schemeClr val="accent1"/>
              </a:gs>
              <a:gs pos="100000">
                <a:schemeClr val="accent2"/>
              </a:gs>
            </a:gsLst>
            <a:lin ang="5400000" scaled="1"/>
          </a:gradFill>
          <a:ln>
            <a:noFill/>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sp>
        <p:nvSpPr>
          <p:cNvPr id="84" name="TextBox 83">
            <a:extLst>
              <a:ext uri="{FF2B5EF4-FFF2-40B4-BE49-F238E27FC236}">
                <a16:creationId xmlns:a16="http://schemas.microsoft.com/office/drawing/2014/main" id="{7EEB5F47-3905-9BA6-4EBF-F85A3BB36D0B}"/>
              </a:ext>
            </a:extLst>
          </p:cNvPr>
          <p:cNvSpPr txBox="1"/>
          <p:nvPr/>
        </p:nvSpPr>
        <p:spPr>
          <a:xfrm flipH="1">
            <a:off x="1886984" y="4919761"/>
            <a:ext cx="1826707" cy="646331"/>
          </a:xfrm>
          <a:prstGeom prst="rect">
            <a:avLst/>
          </a:prstGeom>
          <a:noFill/>
        </p:spPr>
        <p:txBody>
          <a:bodyPr wrap="square" rtlCol="0" anchor="ctr">
            <a:noAutofit/>
          </a:bodyPr>
          <a:lstStyle/>
          <a:p>
            <a:pPr algn="ctr" rtl="1"/>
            <a:r>
              <a:rPr lang="ar-EG" sz="1600" b="1" dirty="0">
                <a:solidFill>
                  <a:schemeClr val="bg1"/>
                </a:solidFill>
                <a:latin typeface="Sakkal Majalla" panose="02000000000000000000" pitchFamily="2" charset="-78"/>
                <a:cs typeface="Sakkal Majalla" panose="02000000000000000000" pitchFamily="2" charset="-78"/>
              </a:rPr>
              <a:t>دراسة أثر تغيير متطلبات البنية المؤسسية</a:t>
            </a:r>
          </a:p>
        </p:txBody>
      </p:sp>
      <p:sp>
        <p:nvSpPr>
          <p:cNvPr id="85" name="Freeform 133">
            <a:extLst>
              <a:ext uri="{FF2B5EF4-FFF2-40B4-BE49-F238E27FC236}">
                <a16:creationId xmlns:a16="http://schemas.microsoft.com/office/drawing/2014/main" id="{580BF73E-2AEB-5BEB-7C2E-9BDF6B1B5C18}"/>
              </a:ext>
            </a:extLst>
          </p:cNvPr>
          <p:cNvSpPr>
            <a:spLocks noChangeArrowheads="1"/>
          </p:cNvSpPr>
          <p:nvPr/>
        </p:nvSpPr>
        <p:spPr bwMode="auto">
          <a:xfrm flipH="1">
            <a:off x="3827830" y="4968607"/>
            <a:ext cx="2378124" cy="548640"/>
          </a:xfrm>
          <a:custGeom>
            <a:avLst/>
            <a:gdLst>
              <a:gd name="T0" fmla="*/ 674 w 5254"/>
              <a:gd name="T1" fmla="*/ 563 h 1225"/>
              <a:gd name="T2" fmla="*/ 42 w 5254"/>
              <a:gd name="T3" fmla="*/ 92 h 1225"/>
              <a:gd name="T4" fmla="*/ 42 w 5254"/>
              <a:gd name="T5" fmla="*/ 92 h 1225"/>
              <a:gd name="T6" fmla="*/ 73 w 5254"/>
              <a:gd name="T7" fmla="*/ 0 h 1225"/>
              <a:gd name="T8" fmla="*/ 4441 w 5254"/>
              <a:gd name="T9" fmla="*/ 0 h 1225"/>
              <a:gd name="T10" fmla="*/ 4441 w 5254"/>
              <a:gd name="T11" fmla="*/ 0 h 1225"/>
              <a:gd name="T12" fmla="*/ 4471 w 5254"/>
              <a:gd name="T13" fmla="*/ 10 h 1225"/>
              <a:gd name="T14" fmla="*/ 5224 w 5254"/>
              <a:gd name="T15" fmla="*/ 563 h 1225"/>
              <a:gd name="T16" fmla="*/ 5224 w 5254"/>
              <a:gd name="T17" fmla="*/ 563 h 1225"/>
              <a:gd name="T18" fmla="*/ 5225 w 5254"/>
              <a:gd name="T19" fmla="*/ 644 h 1225"/>
              <a:gd name="T20" fmla="*/ 4472 w 5254"/>
              <a:gd name="T21" fmla="*/ 1213 h 1225"/>
              <a:gd name="T22" fmla="*/ 4472 w 5254"/>
              <a:gd name="T23" fmla="*/ 1213 h 1225"/>
              <a:gd name="T24" fmla="*/ 4441 w 5254"/>
              <a:gd name="T25" fmla="*/ 1224 h 1225"/>
              <a:gd name="T26" fmla="*/ 69 w 5254"/>
              <a:gd name="T27" fmla="*/ 1224 h 1225"/>
              <a:gd name="T28" fmla="*/ 69 w 5254"/>
              <a:gd name="T29" fmla="*/ 1224 h 1225"/>
              <a:gd name="T30" fmla="*/ 39 w 5254"/>
              <a:gd name="T31" fmla="*/ 1132 h 1225"/>
              <a:gd name="T32" fmla="*/ 675 w 5254"/>
              <a:gd name="T33" fmla="*/ 644 h 1225"/>
              <a:gd name="T34" fmla="*/ 675 w 5254"/>
              <a:gd name="T35" fmla="*/ 644 h 1225"/>
              <a:gd name="T36" fmla="*/ 674 w 5254"/>
              <a:gd name="T37" fmla="*/ 563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54" h="1225">
                <a:moveTo>
                  <a:pt x="674" y="563"/>
                </a:moveTo>
                <a:lnTo>
                  <a:pt x="42" y="92"/>
                </a:lnTo>
                <a:lnTo>
                  <a:pt x="42" y="92"/>
                </a:lnTo>
                <a:cubicBezTo>
                  <a:pt x="3" y="63"/>
                  <a:pt x="24" y="0"/>
                  <a:pt x="73" y="0"/>
                </a:cubicBezTo>
                <a:lnTo>
                  <a:pt x="4441" y="0"/>
                </a:lnTo>
                <a:lnTo>
                  <a:pt x="4441" y="0"/>
                </a:lnTo>
                <a:cubicBezTo>
                  <a:pt x="4452" y="0"/>
                  <a:pt x="4463" y="3"/>
                  <a:pt x="4471" y="10"/>
                </a:cubicBezTo>
                <a:lnTo>
                  <a:pt x="5224" y="563"/>
                </a:lnTo>
                <a:lnTo>
                  <a:pt x="5224" y="563"/>
                </a:lnTo>
                <a:cubicBezTo>
                  <a:pt x="5252" y="583"/>
                  <a:pt x="5253" y="624"/>
                  <a:pt x="5225" y="644"/>
                </a:cubicBezTo>
                <a:lnTo>
                  <a:pt x="4472" y="1213"/>
                </a:lnTo>
                <a:lnTo>
                  <a:pt x="4472" y="1213"/>
                </a:lnTo>
                <a:cubicBezTo>
                  <a:pt x="4463" y="1220"/>
                  <a:pt x="4452" y="1224"/>
                  <a:pt x="4441" y="1224"/>
                </a:cubicBezTo>
                <a:lnTo>
                  <a:pt x="69" y="1224"/>
                </a:lnTo>
                <a:lnTo>
                  <a:pt x="69" y="1224"/>
                </a:lnTo>
                <a:cubicBezTo>
                  <a:pt x="21" y="1224"/>
                  <a:pt x="0" y="1162"/>
                  <a:pt x="39" y="1132"/>
                </a:cubicBezTo>
                <a:lnTo>
                  <a:pt x="675" y="644"/>
                </a:lnTo>
                <a:lnTo>
                  <a:pt x="675" y="644"/>
                </a:lnTo>
                <a:cubicBezTo>
                  <a:pt x="702" y="624"/>
                  <a:pt x="701" y="583"/>
                  <a:pt x="674" y="563"/>
                </a:cubicBezTo>
              </a:path>
            </a:pathLst>
          </a:custGeom>
          <a:gradFill>
            <a:gsLst>
              <a:gs pos="0">
                <a:schemeClr val="accent1"/>
              </a:gs>
              <a:gs pos="100000">
                <a:schemeClr val="accent2"/>
              </a:gs>
            </a:gsLst>
            <a:lin ang="5400000" scaled="1"/>
          </a:gradFill>
          <a:ln>
            <a:noFill/>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sp>
        <p:nvSpPr>
          <p:cNvPr id="86" name="TextBox 85">
            <a:extLst>
              <a:ext uri="{FF2B5EF4-FFF2-40B4-BE49-F238E27FC236}">
                <a16:creationId xmlns:a16="http://schemas.microsoft.com/office/drawing/2014/main" id="{AABF2623-3700-8F7B-F632-1622265AAA23}"/>
              </a:ext>
            </a:extLst>
          </p:cNvPr>
          <p:cNvSpPr txBox="1"/>
          <p:nvPr/>
        </p:nvSpPr>
        <p:spPr>
          <a:xfrm flipH="1">
            <a:off x="4053124" y="4919760"/>
            <a:ext cx="1927578" cy="646331"/>
          </a:xfrm>
          <a:prstGeom prst="rect">
            <a:avLst/>
          </a:prstGeom>
          <a:noFill/>
        </p:spPr>
        <p:txBody>
          <a:bodyPr wrap="square" rtlCol="0" anchor="ctr">
            <a:noAutofit/>
          </a:bodyPr>
          <a:lstStyle/>
          <a:p>
            <a:pPr algn="ctr" rtl="1"/>
            <a:r>
              <a:rPr lang="ar-EG" sz="1600" b="1" dirty="0">
                <a:solidFill>
                  <a:schemeClr val="bg1"/>
                </a:solidFill>
                <a:latin typeface="Sakkal Majalla" panose="02000000000000000000" pitchFamily="2" charset="-78"/>
                <a:cs typeface="Sakkal Majalla" panose="02000000000000000000" pitchFamily="2" charset="-78"/>
              </a:rPr>
              <a:t>متابعة حالة متطلبات البنية المؤسسية</a:t>
            </a:r>
          </a:p>
        </p:txBody>
      </p:sp>
      <p:sp>
        <p:nvSpPr>
          <p:cNvPr id="87" name="Freeform 62">
            <a:extLst>
              <a:ext uri="{FF2B5EF4-FFF2-40B4-BE49-F238E27FC236}">
                <a16:creationId xmlns:a16="http://schemas.microsoft.com/office/drawing/2014/main" id="{F5DA197C-7C63-DB72-B83C-BA1A63E5F668}"/>
              </a:ext>
            </a:extLst>
          </p:cNvPr>
          <p:cNvSpPr>
            <a:spLocks noChangeArrowheads="1"/>
          </p:cNvSpPr>
          <p:nvPr/>
        </p:nvSpPr>
        <p:spPr bwMode="auto">
          <a:xfrm flipH="1">
            <a:off x="6061852" y="4968607"/>
            <a:ext cx="2378124" cy="548640"/>
          </a:xfrm>
          <a:custGeom>
            <a:avLst/>
            <a:gdLst>
              <a:gd name="T0" fmla="*/ 674 w 5254"/>
              <a:gd name="T1" fmla="*/ 563 h 1225"/>
              <a:gd name="T2" fmla="*/ 42 w 5254"/>
              <a:gd name="T3" fmla="*/ 92 h 1225"/>
              <a:gd name="T4" fmla="*/ 42 w 5254"/>
              <a:gd name="T5" fmla="*/ 92 h 1225"/>
              <a:gd name="T6" fmla="*/ 72 w 5254"/>
              <a:gd name="T7" fmla="*/ 0 h 1225"/>
              <a:gd name="T8" fmla="*/ 4442 w 5254"/>
              <a:gd name="T9" fmla="*/ 0 h 1225"/>
              <a:gd name="T10" fmla="*/ 4442 w 5254"/>
              <a:gd name="T11" fmla="*/ 0 h 1225"/>
              <a:gd name="T12" fmla="*/ 4472 w 5254"/>
              <a:gd name="T13" fmla="*/ 10 h 1225"/>
              <a:gd name="T14" fmla="*/ 5226 w 5254"/>
              <a:gd name="T15" fmla="*/ 563 h 1225"/>
              <a:gd name="T16" fmla="*/ 5226 w 5254"/>
              <a:gd name="T17" fmla="*/ 563 h 1225"/>
              <a:gd name="T18" fmla="*/ 5226 w 5254"/>
              <a:gd name="T19" fmla="*/ 644 h 1225"/>
              <a:gd name="T20" fmla="*/ 4472 w 5254"/>
              <a:gd name="T21" fmla="*/ 1213 h 1225"/>
              <a:gd name="T22" fmla="*/ 4472 w 5254"/>
              <a:gd name="T23" fmla="*/ 1213 h 1225"/>
              <a:gd name="T24" fmla="*/ 4441 w 5254"/>
              <a:gd name="T25" fmla="*/ 1224 h 1225"/>
              <a:gd name="T26" fmla="*/ 69 w 5254"/>
              <a:gd name="T27" fmla="*/ 1224 h 1225"/>
              <a:gd name="T28" fmla="*/ 69 w 5254"/>
              <a:gd name="T29" fmla="*/ 1224 h 1225"/>
              <a:gd name="T30" fmla="*/ 38 w 5254"/>
              <a:gd name="T31" fmla="*/ 1132 h 1225"/>
              <a:gd name="T32" fmla="*/ 674 w 5254"/>
              <a:gd name="T33" fmla="*/ 644 h 1225"/>
              <a:gd name="T34" fmla="*/ 674 w 5254"/>
              <a:gd name="T35" fmla="*/ 644 h 1225"/>
              <a:gd name="T36" fmla="*/ 674 w 5254"/>
              <a:gd name="T37" fmla="*/ 563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54" h="1225">
                <a:moveTo>
                  <a:pt x="674" y="563"/>
                </a:moveTo>
                <a:lnTo>
                  <a:pt x="42" y="92"/>
                </a:lnTo>
                <a:lnTo>
                  <a:pt x="42" y="92"/>
                </a:lnTo>
                <a:cubicBezTo>
                  <a:pt x="3" y="63"/>
                  <a:pt x="24" y="0"/>
                  <a:pt x="72" y="0"/>
                </a:cubicBezTo>
                <a:lnTo>
                  <a:pt x="4442" y="0"/>
                </a:lnTo>
                <a:lnTo>
                  <a:pt x="4442" y="0"/>
                </a:lnTo>
                <a:cubicBezTo>
                  <a:pt x="4453" y="0"/>
                  <a:pt x="4463" y="3"/>
                  <a:pt x="4472" y="10"/>
                </a:cubicBezTo>
                <a:lnTo>
                  <a:pt x="5226" y="563"/>
                </a:lnTo>
                <a:lnTo>
                  <a:pt x="5226" y="563"/>
                </a:lnTo>
                <a:cubicBezTo>
                  <a:pt x="5253" y="583"/>
                  <a:pt x="5253" y="624"/>
                  <a:pt x="5226" y="644"/>
                </a:cubicBezTo>
                <a:lnTo>
                  <a:pt x="4472" y="1213"/>
                </a:lnTo>
                <a:lnTo>
                  <a:pt x="4472" y="1213"/>
                </a:lnTo>
                <a:cubicBezTo>
                  <a:pt x="4463" y="1220"/>
                  <a:pt x="4452" y="1224"/>
                  <a:pt x="4441" y="1224"/>
                </a:cubicBezTo>
                <a:lnTo>
                  <a:pt x="69" y="1224"/>
                </a:lnTo>
                <a:lnTo>
                  <a:pt x="69" y="1224"/>
                </a:lnTo>
                <a:cubicBezTo>
                  <a:pt x="20" y="1224"/>
                  <a:pt x="0" y="1162"/>
                  <a:pt x="38" y="1132"/>
                </a:cubicBezTo>
                <a:lnTo>
                  <a:pt x="674" y="644"/>
                </a:lnTo>
                <a:lnTo>
                  <a:pt x="674" y="644"/>
                </a:lnTo>
                <a:cubicBezTo>
                  <a:pt x="701" y="624"/>
                  <a:pt x="701" y="583"/>
                  <a:pt x="674" y="563"/>
                </a:cubicBezTo>
              </a:path>
            </a:pathLst>
          </a:custGeom>
          <a:gradFill>
            <a:gsLst>
              <a:gs pos="0">
                <a:schemeClr val="accent1"/>
              </a:gs>
              <a:gs pos="100000">
                <a:schemeClr val="accent2"/>
              </a:gs>
            </a:gsLst>
            <a:lin ang="5400000" scaled="1"/>
          </a:gradFill>
          <a:ln>
            <a:noFill/>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sp>
        <p:nvSpPr>
          <p:cNvPr id="88" name="TextBox 87">
            <a:extLst>
              <a:ext uri="{FF2B5EF4-FFF2-40B4-BE49-F238E27FC236}">
                <a16:creationId xmlns:a16="http://schemas.microsoft.com/office/drawing/2014/main" id="{4DC2D2E4-67E0-2F93-C64A-270D4D773BBD}"/>
              </a:ext>
            </a:extLst>
          </p:cNvPr>
          <p:cNvSpPr txBox="1"/>
          <p:nvPr/>
        </p:nvSpPr>
        <p:spPr>
          <a:xfrm flipH="1">
            <a:off x="6340294" y="5058260"/>
            <a:ext cx="1808322" cy="369332"/>
          </a:xfrm>
          <a:prstGeom prst="rect">
            <a:avLst/>
          </a:prstGeom>
          <a:noFill/>
        </p:spPr>
        <p:txBody>
          <a:bodyPr wrap="square" rtlCol="0" anchor="ctr">
            <a:noAutofit/>
          </a:bodyPr>
          <a:lstStyle/>
          <a:p>
            <a:pPr algn="ctr" rtl="1"/>
            <a:r>
              <a:rPr lang="ar-EG" sz="1600" b="1" dirty="0">
                <a:solidFill>
                  <a:schemeClr val="bg1"/>
                </a:solidFill>
                <a:latin typeface="Sakkal Majalla" panose="02000000000000000000" pitchFamily="2" charset="-78"/>
                <a:cs typeface="Sakkal Majalla" panose="02000000000000000000" pitchFamily="2" charset="-78"/>
              </a:rPr>
              <a:t>توثيق متطلبات البنية المؤسسية</a:t>
            </a:r>
          </a:p>
        </p:txBody>
      </p:sp>
      <p:sp>
        <p:nvSpPr>
          <p:cNvPr id="90" name="ZoneTexte 13">
            <a:extLst>
              <a:ext uri="{FF2B5EF4-FFF2-40B4-BE49-F238E27FC236}">
                <a16:creationId xmlns:a16="http://schemas.microsoft.com/office/drawing/2014/main" id="{3998D5B9-1D27-ACC8-C823-708299E68E6B}"/>
              </a:ext>
            </a:extLst>
          </p:cNvPr>
          <p:cNvSpPr txBox="1"/>
          <p:nvPr/>
        </p:nvSpPr>
        <p:spPr>
          <a:xfrm>
            <a:off x="6297207" y="3785259"/>
            <a:ext cx="1988773" cy="830997"/>
          </a:xfrm>
          <a:prstGeom prst="rect">
            <a:avLst/>
          </a:prstGeom>
          <a:noFill/>
        </p:spPr>
        <p:txBody>
          <a:bodyPr wrap="square" rtlCol="1">
            <a:spAutoFit/>
          </a:bodyPr>
          <a:lstStyle/>
          <a:p>
            <a:pPr marL="115888" indent="-115888" algn="r" rtl="1">
              <a:buSzPct val="90000"/>
              <a:buFont typeface="Arial" pitchFamily="34" charset="0"/>
              <a:buChar char="•"/>
            </a:pPr>
            <a:r>
              <a:rPr lang="ar-EG" sz="1200" dirty="0">
                <a:latin typeface="Sakkal Majalla" panose="02000000000000000000" pitchFamily="2" charset="-78"/>
                <a:cs typeface="Sakkal Majalla" panose="02000000000000000000" pitchFamily="2" charset="-78"/>
              </a:rPr>
              <a:t>يقوم كبير مهندسي البنية المؤسسية بتوثيق تفاصيل المتطلبات.</a:t>
            </a:r>
            <a:r>
              <a:rPr lang="ar-SA" sz="1200" dirty="0">
                <a:latin typeface="Sakkal Majalla" panose="02000000000000000000" pitchFamily="2" charset="-78"/>
                <a:cs typeface="Sakkal Majalla" panose="02000000000000000000" pitchFamily="2" charset="-78"/>
              </a:rPr>
              <a:t> </a:t>
            </a:r>
            <a:endParaRPr lang="ar-EG" sz="1200" dirty="0">
              <a:latin typeface="Sakkal Majalla" panose="02000000000000000000" pitchFamily="2" charset="-78"/>
              <a:cs typeface="Sakkal Majalla" panose="02000000000000000000" pitchFamily="2" charset="-78"/>
            </a:endParaRPr>
          </a:p>
          <a:p>
            <a:pPr marL="115888" indent="-115888" algn="r" rtl="1">
              <a:buSzPct val="90000"/>
              <a:buFont typeface="Arial" pitchFamily="34" charset="0"/>
              <a:buChar char="•"/>
            </a:pPr>
            <a:r>
              <a:rPr lang="ar-SA" sz="1200" dirty="0">
                <a:latin typeface="Sakkal Majalla" panose="02000000000000000000" pitchFamily="2" charset="-78"/>
                <a:cs typeface="Sakkal Majalla" panose="02000000000000000000" pitchFamily="2" charset="-78"/>
              </a:rPr>
              <a:t>ربط متطلبات البنية المؤسسية مع مبادئ البنية</a:t>
            </a:r>
            <a:r>
              <a:rPr lang="ar-EG" sz="1200" dirty="0">
                <a:latin typeface="Sakkal Majalla" panose="02000000000000000000" pitchFamily="2" charset="-78"/>
                <a:cs typeface="Sakkal Majalla" panose="02000000000000000000" pitchFamily="2" charset="-78"/>
              </a:rPr>
              <a:t> </a:t>
            </a:r>
            <a:r>
              <a:rPr lang="ar-SA" sz="1200" dirty="0">
                <a:latin typeface="Sakkal Majalla" panose="02000000000000000000" pitchFamily="2" charset="-78"/>
                <a:cs typeface="Sakkal Majalla" panose="02000000000000000000" pitchFamily="2" charset="-78"/>
              </a:rPr>
              <a:t>المؤسسية</a:t>
            </a:r>
            <a:r>
              <a:rPr lang="ar-EG" sz="1200" dirty="0">
                <a:latin typeface="Sakkal Majalla" panose="02000000000000000000" pitchFamily="2" charset="-78"/>
                <a:cs typeface="Sakkal Majalla" panose="02000000000000000000" pitchFamily="2" charset="-78"/>
              </a:rPr>
              <a:t>.</a:t>
            </a:r>
            <a:r>
              <a:rPr lang="ar-SA" sz="1200" dirty="0">
                <a:latin typeface="Sakkal Majalla" panose="02000000000000000000" pitchFamily="2" charset="-78"/>
                <a:cs typeface="Sakkal Majalla" panose="02000000000000000000" pitchFamily="2" charset="-78"/>
              </a:rPr>
              <a:t> (لكل مجال</a:t>
            </a:r>
            <a:r>
              <a:rPr lang="ar-EG" sz="1200" dirty="0">
                <a:latin typeface="Sakkal Majalla" panose="02000000000000000000" pitchFamily="2" charset="-78"/>
                <a:cs typeface="Sakkal Majalla" panose="02000000000000000000" pitchFamily="2" charset="-78"/>
              </a:rPr>
              <a:t>)</a:t>
            </a:r>
            <a:endParaRPr lang="ar-SA" sz="1200" dirty="0">
              <a:latin typeface="Sakkal Majalla" panose="02000000000000000000" pitchFamily="2" charset="-78"/>
              <a:cs typeface="Sakkal Majalla" panose="02000000000000000000" pitchFamily="2" charset="-78"/>
            </a:endParaRPr>
          </a:p>
        </p:txBody>
      </p:sp>
      <p:sp>
        <p:nvSpPr>
          <p:cNvPr id="94" name="ZoneTexte 13">
            <a:extLst>
              <a:ext uri="{FF2B5EF4-FFF2-40B4-BE49-F238E27FC236}">
                <a16:creationId xmlns:a16="http://schemas.microsoft.com/office/drawing/2014/main" id="{F272694A-8E72-A234-2FDB-2921337A8CC1}"/>
              </a:ext>
            </a:extLst>
          </p:cNvPr>
          <p:cNvSpPr txBox="1"/>
          <p:nvPr/>
        </p:nvSpPr>
        <p:spPr>
          <a:xfrm>
            <a:off x="4053124" y="3785259"/>
            <a:ext cx="1983433" cy="1200329"/>
          </a:xfrm>
          <a:prstGeom prst="rect">
            <a:avLst/>
          </a:prstGeom>
          <a:noFill/>
        </p:spPr>
        <p:txBody>
          <a:bodyPr wrap="square" rtlCol="1">
            <a:spAutoFit/>
          </a:bodyPr>
          <a:lstStyle/>
          <a:p>
            <a:pPr marL="115888" indent="-115888" algn="r" rtl="1">
              <a:buSzPct val="90000"/>
              <a:buFont typeface="Arial" pitchFamily="34" charset="0"/>
              <a:buChar char="•"/>
            </a:pPr>
            <a:r>
              <a:rPr lang="ar-EG" sz="1200" dirty="0">
                <a:solidFill>
                  <a:schemeClr val="tx1">
                    <a:lumMod val="75000"/>
                    <a:lumOff val="25000"/>
                  </a:schemeClr>
                </a:solidFill>
                <a:latin typeface="Sakkal Majalla" panose="02000000000000000000" pitchFamily="2" charset="-78"/>
                <a:cs typeface="Sakkal Majalla" panose="02000000000000000000" pitchFamily="2" charset="-78"/>
              </a:rPr>
              <a:t>البدء بمتابعة وتحديث حالة المتطلب ل</a:t>
            </a:r>
            <a:r>
              <a:rPr lang="ar-SA" sz="1200" dirty="0">
                <a:solidFill>
                  <a:schemeClr val="tx1">
                    <a:lumMod val="75000"/>
                    <a:lumOff val="25000"/>
                  </a:schemeClr>
                </a:solidFill>
                <a:latin typeface="Sakkal Majalla" panose="02000000000000000000" pitchFamily="2" charset="-78"/>
                <a:cs typeface="Sakkal Majalla" panose="02000000000000000000" pitchFamily="2" charset="-78"/>
              </a:rPr>
              <a:t>لتأكد من البدء بمعالجة المتطلبات</a:t>
            </a:r>
            <a:r>
              <a:rPr lang="ar-EG" sz="1200" dirty="0">
                <a:solidFill>
                  <a:schemeClr val="tx1">
                    <a:lumMod val="75000"/>
                    <a:lumOff val="25000"/>
                  </a:schemeClr>
                </a:solidFill>
                <a:latin typeface="Sakkal Majalla" panose="02000000000000000000" pitchFamily="2" charset="-78"/>
                <a:cs typeface="Sakkal Majalla" panose="02000000000000000000" pitchFamily="2" charset="-78"/>
              </a:rPr>
              <a:t>.</a:t>
            </a:r>
          </a:p>
          <a:p>
            <a:pPr marL="115888" indent="-115888" algn="r" rtl="1">
              <a:buSzPct val="90000"/>
              <a:buFont typeface="Arial" pitchFamily="34" charset="0"/>
              <a:buChar char="•"/>
            </a:pPr>
            <a:r>
              <a:rPr lang="ar-SA" sz="1200" dirty="0">
                <a:solidFill>
                  <a:schemeClr val="tx1">
                    <a:lumMod val="75000"/>
                    <a:lumOff val="25000"/>
                  </a:schemeClr>
                </a:solidFill>
                <a:latin typeface="Sakkal Majalla" panose="02000000000000000000" pitchFamily="2" charset="-78"/>
                <a:cs typeface="Sakkal Majalla" panose="02000000000000000000" pitchFamily="2" charset="-78"/>
              </a:rPr>
              <a:t>من المهم التواصل بشكل مستمر مع مدراء المشاريع من أجل ضمان تقديم</a:t>
            </a:r>
            <a:r>
              <a:rPr lang="ar-EG" sz="1200" dirty="0">
                <a:solidFill>
                  <a:schemeClr val="tx1">
                    <a:lumMod val="75000"/>
                    <a:lumOff val="25000"/>
                  </a:schemeClr>
                </a:solidFill>
                <a:latin typeface="Sakkal Majalla" panose="02000000000000000000" pitchFamily="2" charset="-78"/>
                <a:cs typeface="Sakkal Majalla" panose="02000000000000000000" pitchFamily="2" charset="-78"/>
              </a:rPr>
              <a:t> تصور</a:t>
            </a:r>
            <a:r>
              <a:rPr lang="ar-SA" sz="1200" dirty="0">
                <a:solidFill>
                  <a:schemeClr val="tx1">
                    <a:lumMod val="75000"/>
                    <a:lumOff val="25000"/>
                  </a:schemeClr>
                </a:solidFill>
                <a:latin typeface="Sakkal Majalla" panose="02000000000000000000" pitchFamily="2" charset="-78"/>
                <a:cs typeface="Sakkal Majalla" panose="02000000000000000000" pitchFamily="2" charset="-78"/>
              </a:rPr>
              <a:t> واضح ودقيق عن حالة تنفيذ المتطلبات المرتبطة بتلك المشاريع</a:t>
            </a:r>
            <a:r>
              <a:rPr lang="ar-EG" sz="1200" dirty="0">
                <a:solidFill>
                  <a:schemeClr val="tx1">
                    <a:lumMod val="75000"/>
                    <a:lumOff val="25000"/>
                  </a:schemeClr>
                </a:solidFill>
                <a:latin typeface="Sakkal Majalla" panose="02000000000000000000" pitchFamily="2" charset="-78"/>
                <a:cs typeface="Sakkal Majalla" panose="02000000000000000000" pitchFamily="2" charset="-78"/>
              </a:rPr>
              <a:t>.</a:t>
            </a:r>
            <a:endParaRPr lang="en-US" sz="1200" dirty="0">
              <a:solidFill>
                <a:schemeClr val="tx1">
                  <a:lumMod val="75000"/>
                  <a:lumOff val="25000"/>
                </a:schemeClr>
              </a:solidFill>
              <a:latin typeface="Sakkal Majalla" panose="02000000000000000000" pitchFamily="2" charset="-78"/>
              <a:cs typeface="Sakkal Majalla" panose="02000000000000000000" pitchFamily="2" charset="-78"/>
            </a:endParaRPr>
          </a:p>
        </p:txBody>
      </p:sp>
      <p:sp>
        <p:nvSpPr>
          <p:cNvPr id="95" name="ZoneTexte 13">
            <a:extLst>
              <a:ext uri="{FF2B5EF4-FFF2-40B4-BE49-F238E27FC236}">
                <a16:creationId xmlns:a16="http://schemas.microsoft.com/office/drawing/2014/main" id="{EC9172BC-6490-EAE0-FAAB-501A68438DD0}"/>
              </a:ext>
            </a:extLst>
          </p:cNvPr>
          <p:cNvSpPr txBox="1"/>
          <p:nvPr/>
        </p:nvSpPr>
        <p:spPr>
          <a:xfrm>
            <a:off x="1770742" y="3785259"/>
            <a:ext cx="2092907" cy="1015663"/>
          </a:xfrm>
          <a:prstGeom prst="rect">
            <a:avLst/>
          </a:prstGeom>
          <a:noFill/>
        </p:spPr>
        <p:txBody>
          <a:bodyPr wrap="square" rtlCol="1">
            <a:spAutoFit/>
          </a:bodyPr>
          <a:lstStyle/>
          <a:p>
            <a:pPr marL="115888" indent="-115888" algn="r" rtl="1">
              <a:buSzPct val="90000"/>
              <a:buFont typeface="Arial" pitchFamily="34" charset="0"/>
              <a:buChar char="•"/>
            </a:pPr>
            <a:r>
              <a:rPr lang="ar-EG" sz="1200" dirty="0">
                <a:latin typeface="Sakkal Majalla" panose="02000000000000000000" pitchFamily="2" charset="-78"/>
                <a:cs typeface="Sakkal Majalla" panose="02000000000000000000" pitchFamily="2" charset="-78"/>
              </a:rPr>
              <a:t>دراسة وتقييم أثر تغيير المتطلبات بعد اعتمادها.</a:t>
            </a:r>
          </a:p>
          <a:p>
            <a:pPr marL="115888" indent="-115888" algn="r" rtl="1">
              <a:buSzPct val="90000"/>
              <a:buFont typeface="Arial" pitchFamily="34" charset="0"/>
              <a:buChar char="•"/>
            </a:pPr>
            <a:r>
              <a:rPr lang="ar-EG" sz="1200" dirty="0">
                <a:latin typeface="Sakkal Majalla" panose="02000000000000000000" pitchFamily="2" charset="-78"/>
                <a:cs typeface="Sakkal Majalla" panose="02000000000000000000" pitchFamily="2" charset="-78"/>
              </a:rPr>
              <a:t>سواءً أثناء تنفيذ دورة تطوير البنية المؤسسية</a:t>
            </a:r>
            <a:r>
              <a:rPr lang="ar-SA" sz="1200" dirty="0">
                <a:latin typeface="Sakkal Majalla" panose="02000000000000000000" pitchFamily="2" charset="-78"/>
                <a:cs typeface="Sakkal Majalla" panose="02000000000000000000" pitchFamily="2" charset="-78"/>
              </a:rPr>
              <a:t>.</a:t>
            </a:r>
            <a:endParaRPr lang="ar-EG" sz="1200" dirty="0">
              <a:latin typeface="Sakkal Majalla" panose="02000000000000000000" pitchFamily="2" charset="-78"/>
              <a:cs typeface="Sakkal Majalla" panose="02000000000000000000" pitchFamily="2" charset="-78"/>
            </a:endParaRPr>
          </a:p>
          <a:p>
            <a:pPr marL="115888" indent="-115888" algn="r" rtl="1">
              <a:buSzPct val="90000"/>
              <a:buFont typeface="Arial" pitchFamily="34" charset="0"/>
              <a:buChar char="•"/>
            </a:pPr>
            <a:r>
              <a:rPr lang="ar-EG" sz="1200" dirty="0">
                <a:latin typeface="Sakkal Majalla" panose="02000000000000000000" pitchFamily="2" charset="-78"/>
                <a:cs typeface="Sakkal Majalla" panose="02000000000000000000" pitchFamily="2" charset="-78"/>
              </a:rPr>
              <a:t>أو أثناء تنفيذ المبادرات / المشاريع الرقمية.</a:t>
            </a:r>
            <a:endParaRPr lang="ar-SA" sz="1200" dirty="0">
              <a:latin typeface="Sakkal Majalla" panose="02000000000000000000" pitchFamily="2" charset="-78"/>
              <a:cs typeface="Sakkal Majalla" panose="02000000000000000000" pitchFamily="2" charset="-78"/>
            </a:endParaRPr>
          </a:p>
        </p:txBody>
      </p:sp>
      <p:pic>
        <p:nvPicPr>
          <p:cNvPr id="3" name="Picture 2">
            <a:extLst>
              <a:ext uri="{FF2B5EF4-FFF2-40B4-BE49-F238E27FC236}">
                <a16:creationId xmlns:a16="http://schemas.microsoft.com/office/drawing/2014/main" id="{5AE2C695-776E-633F-0679-D60D252BC1D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56540" y="1426913"/>
            <a:ext cx="3316974" cy="492196"/>
          </a:xfrm>
          <a:prstGeom prst="rect">
            <a:avLst/>
          </a:prstGeom>
          <a:noFill/>
          <a:extLst>
            <a:ext uri="{909E8E84-426E-40DD-AFC4-6F175D3DCCD1}">
              <a14:hiddenFill xmlns:a14="http://schemas.microsoft.com/office/drawing/2010/main">
                <a:solidFill>
                  <a:srgbClr val="FFFFFF"/>
                </a:solidFill>
              </a14:hiddenFill>
            </a:ext>
          </a:extLst>
        </p:spPr>
      </p:pic>
      <p:sp>
        <p:nvSpPr>
          <p:cNvPr id="129" name="Rectangle: Rounded Corners 162">
            <a:extLst>
              <a:ext uri="{FF2B5EF4-FFF2-40B4-BE49-F238E27FC236}">
                <a16:creationId xmlns:a16="http://schemas.microsoft.com/office/drawing/2014/main" id="{81CD0FD3-08E2-721D-23F8-D5F2C7D12DA1}"/>
              </a:ext>
            </a:extLst>
          </p:cNvPr>
          <p:cNvSpPr/>
          <p:nvPr/>
        </p:nvSpPr>
        <p:spPr>
          <a:xfrm flipH="1">
            <a:off x="8525679" y="3439453"/>
            <a:ext cx="1973531" cy="2226797"/>
          </a:xfrm>
          <a:prstGeom prst="roundRect">
            <a:avLst>
              <a:gd name="adj" fmla="val 3431"/>
            </a:avLst>
          </a:prstGeom>
          <a:noFill/>
          <a:ln w="9525">
            <a:gradFill>
              <a:gsLst>
                <a:gs pos="0">
                  <a:schemeClr val="accent1"/>
                </a:gs>
                <a:gs pos="100000">
                  <a:schemeClr val="accent3"/>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UY" dirty="0">
              <a:latin typeface="Sakkal Majalla" panose="02000000000000000000" pitchFamily="2" charset="-78"/>
              <a:cs typeface="Sakkal Majalla" panose="02000000000000000000" pitchFamily="2" charset="-78"/>
            </a:endParaRPr>
          </a:p>
        </p:txBody>
      </p:sp>
      <p:grpSp>
        <p:nvGrpSpPr>
          <p:cNvPr id="130" name="Group 129">
            <a:extLst>
              <a:ext uri="{FF2B5EF4-FFF2-40B4-BE49-F238E27FC236}">
                <a16:creationId xmlns:a16="http://schemas.microsoft.com/office/drawing/2014/main" id="{1983339C-2F1C-A26C-2421-288107EAE4DE}"/>
              </a:ext>
            </a:extLst>
          </p:cNvPr>
          <p:cNvGrpSpPr/>
          <p:nvPr/>
        </p:nvGrpSpPr>
        <p:grpSpPr>
          <a:xfrm>
            <a:off x="9188030" y="3114789"/>
            <a:ext cx="645136" cy="645136"/>
            <a:chOff x="10238765" y="2145029"/>
            <a:chExt cx="589470" cy="589470"/>
          </a:xfrm>
        </p:grpSpPr>
        <p:sp>
          <p:nvSpPr>
            <p:cNvPr id="131" name="Freeform 67">
              <a:extLst>
                <a:ext uri="{FF2B5EF4-FFF2-40B4-BE49-F238E27FC236}">
                  <a16:creationId xmlns:a16="http://schemas.microsoft.com/office/drawing/2014/main" id="{B7A16F5A-8E4B-BF18-1CA2-49E16A29DD0B}"/>
                </a:ext>
              </a:extLst>
            </p:cNvPr>
            <p:cNvSpPr>
              <a:spLocks noChangeArrowheads="1"/>
            </p:cNvSpPr>
            <p:nvPr/>
          </p:nvSpPr>
          <p:spPr bwMode="auto">
            <a:xfrm flipH="1">
              <a:off x="10250514" y="2154902"/>
              <a:ext cx="565970" cy="565968"/>
            </a:xfrm>
            <a:custGeom>
              <a:avLst/>
              <a:gdLst>
                <a:gd name="T0" fmla="*/ 637 w 1274"/>
                <a:gd name="T1" fmla="*/ 0 h 1275"/>
                <a:gd name="T2" fmla="*/ 637 w 1274"/>
                <a:gd name="T3" fmla="*/ 0 h 1275"/>
                <a:gd name="T4" fmla="*/ 1273 w 1274"/>
                <a:gd name="T5" fmla="*/ 637 h 1275"/>
                <a:gd name="T6" fmla="*/ 1273 w 1274"/>
                <a:gd name="T7" fmla="*/ 637 h 1275"/>
                <a:gd name="T8" fmla="*/ 637 w 1274"/>
                <a:gd name="T9" fmla="*/ 1274 h 1275"/>
                <a:gd name="T10" fmla="*/ 637 w 1274"/>
                <a:gd name="T11" fmla="*/ 1274 h 1275"/>
                <a:gd name="T12" fmla="*/ 0 w 1274"/>
                <a:gd name="T13" fmla="*/ 637 h 1275"/>
                <a:gd name="T14" fmla="*/ 0 w 1274"/>
                <a:gd name="T15" fmla="*/ 637 h 1275"/>
                <a:gd name="T16" fmla="*/ 637 w 1274"/>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4" h="1275">
                  <a:moveTo>
                    <a:pt x="637" y="0"/>
                  </a:moveTo>
                  <a:lnTo>
                    <a:pt x="637" y="0"/>
                  </a:lnTo>
                  <a:cubicBezTo>
                    <a:pt x="988" y="0"/>
                    <a:pt x="1273" y="285"/>
                    <a:pt x="1273" y="637"/>
                  </a:cubicBezTo>
                  <a:lnTo>
                    <a:pt x="1273" y="637"/>
                  </a:lnTo>
                  <a:cubicBezTo>
                    <a:pt x="1273" y="988"/>
                    <a:pt x="988" y="1274"/>
                    <a:pt x="637" y="1274"/>
                  </a:cubicBezTo>
                  <a:lnTo>
                    <a:pt x="637" y="1274"/>
                  </a:lnTo>
                  <a:cubicBezTo>
                    <a:pt x="284" y="1274"/>
                    <a:pt x="0" y="988"/>
                    <a:pt x="0" y="637"/>
                  </a:cubicBezTo>
                  <a:lnTo>
                    <a:pt x="0" y="637"/>
                  </a:lnTo>
                  <a:cubicBezTo>
                    <a:pt x="0" y="285"/>
                    <a:pt x="284" y="0"/>
                    <a:pt x="637" y="0"/>
                  </a:cubicBezTo>
                </a:path>
              </a:pathLst>
            </a:custGeom>
            <a:solidFill>
              <a:schemeClr val="bg1"/>
            </a:solidFill>
            <a:ln>
              <a:noFill/>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sp>
          <p:nvSpPr>
            <p:cNvPr id="132" name="Freeform 68">
              <a:extLst>
                <a:ext uri="{FF2B5EF4-FFF2-40B4-BE49-F238E27FC236}">
                  <a16:creationId xmlns:a16="http://schemas.microsoft.com/office/drawing/2014/main" id="{5E06A301-5EFA-2AF6-6C09-2ABF29C867C0}"/>
                </a:ext>
              </a:extLst>
            </p:cNvPr>
            <p:cNvSpPr>
              <a:spLocks noChangeArrowheads="1"/>
            </p:cNvSpPr>
            <p:nvPr/>
          </p:nvSpPr>
          <p:spPr bwMode="auto">
            <a:xfrm flipH="1">
              <a:off x="10238765" y="2145029"/>
              <a:ext cx="589470" cy="589470"/>
            </a:xfrm>
            <a:custGeom>
              <a:avLst/>
              <a:gdLst>
                <a:gd name="T0" fmla="*/ 663 w 1326"/>
                <a:gd name="T1" fmla="*/ 51 h 1326"/>
                <a:gd name="T2" fmla="*/ 663 w 1326"/>
                <a:gd name="T3" fmla="*/ 51 h 1326"/>
                <a:gd name="T4" fmla="*/ 51 w 1326"/>
                <a:gd name="T5" fmla="*/ 663 h 1326"/>
                <a:gd name="T6" fmla="*/ 51 w 1326"/>
                <a:gd name="T7" fmla="*/ 663 h 1326"/>
                <a:gd name="T8" fmla="*/ 663 w 1326"/>
                <a:gd name="T9" fmla="*/ 1274 h 1326"/>
                <a:gd name="T10" fmla="*/ 663 w 1326"/>
                <a:gd name="T11" fmla="*/ 1274 h 1326"/>
                <a:gd name="T12" fmla="*/ 1274 w 1326"/>
                <a:gd name="T13" fmla="*/ 663 h 1326"/>
                <a:gd name="T14" fmla="*/ 1274 w 1326"/>
                <a:gd name="T15" fmla="*/ 663 h 1326"/>
                <a:gd name="T16" fmla="*/ 663 w 1326"/>
                <a:gd name="T17" fmla="*/ 51 h 1326"/>
                <a:gd name="T18" fmla="*/ 663 w 1326"/>
                <a:gd name="T19" fmla="*/ 1325 h 1326"/>
                <a:gd name="T20" fmla="*/ 663 w 1326"/>
                <a:gd name="T21" fmla="*/ 1325 h 1326"/>
                <a:gd name="T22" fmla="*/ 0 w 1326"/>
                <a:gd name="T23" fmla="*/ 663 h 1326"/>
                <a:gd name="T24" fmla="*/ 0 w 1326"/>
                <a:gd name="T25" fmla="*/ 663 h 1326"/>
                <a:gd name="T26" fmla="*/ 663 w 1326"/>
                <a:gd name="T27" fmla="*/ 0 h 1326"/>
                <a:gd name="T28" fmla="*/ 663 w 1326"/>
                <a:gd name="T29" fmla="*/ 0 h 1326"/>
                <a:gd name="T30" fmla="*/ 1325 w 1326"/>
                <a:gd name="T31" fmla="*/ 663 h 1326"/>
                <a:gd name="T32" fmla="*/ 1325 w 1326"/>
                <a:gd name="T33" fmla="*/ 663 h 1326"/>
                <a:gd name="T34" fmla="*/ 663 w 1326"/>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6" h="1326">
                  <a:moveTo>
                    <a:pt x="663" y="51"/>
                  </a:moveTo>
                  <a:lnTo>
                    <a:pt x="663" y="51"/>
                  </a:lnTo>
                  <a:cubicBezTo>
                    <a:pt x="325" y="51"/>
                    <a:pt x="51" y="326"/>
                    <a:pt x="51" y="663"/>
                  </a:cubicBezTo>
                  <a:lnTo>
                    <a:pt x="51" y="663"/>
                  </a:lnTo>
                  <a:cubicBezTo>
                    <a:pt x="51" y="1000"/>
                    <a:pt x="325"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7" y="1325"/>
                    <a:pt x="0" y="1028"/>
                    <a:pt x="0" y="663"/>
                  </a:cubicBezTo>
                  <a:lnTo>
                    <a:pt x="0" y="663"/>
                  </a:lnTo>
                  <a:cubicBezTo>
                    <a:pt x="0" y="297"/>
                    <a:pt x="297" y="0"/>
                    <a:pt x="663" y="0"/>
                  </a:cubicBezTo>
                  <a:lnTo>
                    <a:pt x="663" y="0"/>
                  </a:lnTo>
                  <a:cubicBezTo>
                    <a:pt x="1028" y="0"/>
                    <a:pt x="1325" y="297"/>
                    <a:pt x="1325" y="663"/>
                  </a:cubicBezTo>
                  <a:lnTo>
                    <a:pt x="1325" y="663"/>
                  </a:lnTo>
                  <a:cubicBezTo>
                    <a:pt x="1325" y="1028"/>
                    <a:pt x="1028" y="1325"/>
                    <a:pt x="663" y="1325"/>
                  </a:cubicBezTo>
                  <a:close/>
                </a:path>
              </a:pathLst>
            </a:custGeom>
            <a:solidFill>
              <a:schemeClr val="bg1">
                <a:lumMod val="95000"/>
              </a:schemeClr>
            </a:solidFill>
            <a:ln w="6350">
              <a:gradFill>
                <a:gsLst>
                  <a:gs pos="0">
                    <a:schemeClr val="accent1"/>
                  </a:gs>
                  <a:gs pos="100000">
                    <a:schemeClr val="accent3"/>
                  </a:gs>
                </a:gsLst>
                <a:lin ang="5400000" scaled="1"/>
              </a:gradFill>
              <a:prstDash val="sysDash"/>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grpSp>
      <p:sp>
        <p:nvSpPr>
          <p:cNvPr id="139" name="Freeform 62">
            <a:extLst>
              <a:ext uri="{FF2B5EF4-FFF2-40B4-BE49-F238E27FC236}">
                <a16:creationId xmlns:a16="http://schemas.microsoft.com/office/drawing/2014/main" id="{E681D45C-6541-92D8-F1F8-DA5F455DA37D}"/>
              </a:ext>
            </a:extLst>
          </p:cNvPr>
          <p:cNvSpPr>
            <a:spLocks noChangeArrowheads="1"/>
          </p:cNvSpPr>
          <p:nvPr/>
        </p:nvSpPr>
        <p:spPr bwMode="auto">
          <a:xfrm flipH="1">
            <a:off x="8277023" y="4968607"/>
            <a:ext cx="2378124" cy="548640"/>
          </a:xfrm>
          <a:custGeom>
            <a:avLst/>
            <a:gdLst>
              <a:gd name="T0" fmla="*/ 674 w 5254"/>
              <a:gd name="T1" fmla="*/ 563 h 1225"/>
              <a:gd name="T2" fmla="*/ 42 w 5254"/>
              <a:gd name="T3" fmla="*/ 92 h 1225"/>
              <a:gd name="T4" fmla="*/ 42 w 5254"/>
              <a:gd name="T5" fmla="*/ 92 h 1225"/>
              <a:gd name="T6" fmla="*/ 72 w 5254"/>
              <a:gd name="T7" fmla="*/ 0 h 1225"/>
              <a:gd name="T8" fmla="*/ 4442 w 5254"/>
              <a:gd name="T9" fmla="*/ 0 h 1225"/>
              <a:gd name="T10" fmla="*/ 4442 w 5254"/>
              <a:gd name="T11" fmla="*/ 0 h 1225"/>
              <a:gd name="T12" fmla="*/ 4472 w 5254"/>
              <a:gd name="T13" fmla="*/ 10 h 1225"/>
              <a:gd name="T14" fmla="*/ 5226 w 5254"/>
              <a:gd name="T15" fmla="*/ 563 h 1225"/>
              <a:gd name="T16" fmla="*/ 5226 w 5254"/>
              <a:gd name="T17" fmla="*/ 563 h 1225"/>
              <a:gd name="T18" fmla="*/ 5226 w 5254"/>
              <a:gd name="T19" fmla="*/ 644 h 1225"/>
              <a:gd name="T20" fmla="*/ 4472 w 5254"/>
              <a:gd name="T21" fmla="*/ 1213 h 1225"/>
              <a:gd name="T22" fmla="*/ 4472 w 5254"/>
              <a:gd name="T23" fmla="*/ 1213 h 1225"/>
              <a:gd name="T24" fmla="*/ 4441 w 5254"/>
              <a:gd name="T25" fmla="*/ 1224 h 1225"/>
              <a:gd name="T26" fmla="*/ 69 w 5254"/>
              <a:gd name="T27" fmla="*/ 1224 h 1225"/>
              <a:gd name="T28" fmla="*/ 69 w 5254"/>
              <a:gd name="T29" fmla="*/ 1224 h 1225"/>
              <a:gd name="T30" fmla="*/ 38 w 5254"/>
              <a:gd name="T31" fmla="*/ 1132 h 1225"/>
              <a:gd name="T32" fmla="*/ 674 w 5254"/>
              <a:gd name="T33" fmla="*/ 644 h 1225"/>
              <a:gd name="T34" fmla="*/ 674 w 5254"/>
              <a:gd name="T35" fmla="*/ 644 h 1225"/>
              <a:gd name="T36" fmla="*/ 674 w 5254"/>
              <a:gd name="T37" fmla="*/ 563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54" h="1225">
                <a:moveTo>
                  <a:pt x="674" y="563"/>
                </a:moveTo>
                <a:lnTo>
                  <a:pt x="42" y="92"/>
                </a:lnTo>
                <a:lnTo>
                  <a:pt x="42" y="92"/>
                </a:lnTo>
                <a:cubicBezTo>
                  <a:pt x="3" y="63"/>
                  <a:pt x="24" y="0"/>
                  <a:pt x="72" y="0"/>
                </a:cubicBezTo>
                <a:lnTo>
                  <a:pt x="4442" y="0"/>
                </a:lnTo>
                <a:lnTo>
                  <a:pt x="4442" y="0"/>
                </a:lnTo>
                <a:cubicBezTo>
                  <a:pt x="4453" y="0"/>
                  <a:pt x="4463" y="3"/>
                  <a:pt x="4472" y="10"/>
                </a:cubicBezTo>
                <a:lnTo>
                  <a:pt x="5226" y="563"/>
                </a:lnTo>
                <a:lnTo>
                  <a:pt x="5226" y="563"/>
                </a:lnTo>
                <a:cubicBezTo>
                  <a:pt x="5253" y="583"/>
                  <a:pt x="5253" y="624"/>
                  <a:pt x="5226" y="644"/>
                </a:cubicBezTo>
                <a:lnTo>
                  <a:pt x="4472" y="1213"/>
                </a:lnTo>
                <a:lnTo>
                  <a:pt x="4472" y="1213"/>
                </a:lnTo>
                <a:cubicBezTo>
                  <a:pt x="4463" y="1220"/>
                  <a:pt x="4452" y="1224"/>
                  <a:pt x="4441" y="1224"/>
                </a:cubicBezTo>
                <a:lnTo>
                  <a:pt x="69" y="1224"/>
                </a:lnTo>
                <a:lnTo>
                  <a:pt x="69" y="1224"/>
                </a:lnTo>
                <a:cubicBezTo>
                  <a:pt x="20" y="1224"/>
                  <a:pt x="0" y="1162"/>
                  <a:pt x="38" y="1132"/>
                </a:cubicBezTo>
                <a:lnTo>
                  <a:pt x="674" y="644"/>
                </a:lnTo>
                <a:lnTo>
                  <a:pt x="674" y="644"/>
                </a:lnTo>
                <a:cubicBezTo>
                  <a:pt x="701" y="624"/>
                  <a:pt x="701" y="583"/>
                  <a:pt x="674" y="563"/>
                </a:cubicBezTo>
              </a:path>
            </a:pathLst>
          </a:custGeom>
          <a:gradFill>
            <a:gsLst>
              <a:gs pos="0">
                <a:schemeClr val="accent1"/>
              </a:gs>
              <a:gs pos="100000">
                <a:schemeClr val="accent2"/>
              </a:gs>
            </a:gsLst>
            <a:lin ang="5400000" scaled="1"/>
          </a:gradFill>
          <a:ln>
            <a:noFill/>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sp>
        <p:nvSpPr>
          <p:cNvPr id="140" name="TextBox 139">
            <a:extLst>
              <a:ext uri="{FF2B5EF4-FFF2-40B4-BE49-F238E27FC236}">
                <a16:creationId xmlns:a16="http://schemas.microsoft.com/office/drawing/2014/main" id="{F1AB45B7-3403-52B6-F4DE-ECE57F890CC8}"/>
              </a:ext>
            </a:extLst>
          </p:cNvPr>
          <p:cNvSpPr txBox="1"/>
          <p:nvPr/>
        </p:nvSpPr>
        <p:spPr>
          <a:xfrm flipH="1">
            <a:off x="8555465" y="5058260"/>
            <a:ext cx="1808322" cy="369332"/>
          </a:xfrm>
          <a:prstGeom prst="rect">
            <a:avLst/>
          </a:prstGeom>
          <a:noFill/>
        </p:spPr>
        <p:txBody>
          <a:bodyPr wrap="square" rtlCol="0" anchor="ctr">
            <a:noAutofit/>
          </a:bodyPr>
          <a:lstStyle/>
          <a:p>
            <a:pPr algn="ctr" rtl="1"/>
            <a:r>
              <a:rPr lang="ar-EG" sz="1600" b="1" dirty="0">
                <a:solidFill>
                  <a:schemeClr val="bg1"/>
                </a:solidFill>
                <a:latin typeface="Sakkal Majalla" panose="02000000000000000000" pitchFamily="2" charset="-78"/>
                <a:cs typeface="Sakkal Majalla" panose="02000000000000000000" pitchFamily="2" charset="-78"/>
              </a:rPr>
              <a:t>دراسة واعتماد متطلبات البنية المؤسسية الواردة</a:t>
            </a:r>
          </a:p>
        </p:txBody>
      </p:sp>
      <p:sp>
        <p:nvSpPr>
          <p:cNvPr id="141" name="TextBox 140">
            <a:extLst>
              <a:ext uri="{FF2B5EF4-FFF2-40B4-BE49-F238E27FC236}">
                <a16:creationId xmlns:a16="http://schemas.microsoft.com/office/drawing/2014/main" id="{0F16C973-DD20-6568-B73D-E739A5E4DEB2}"/>
              </a:ext>
            </a:extLst>
          </p:cNvPr>
          <p:cNvSpPr txBox="1"/>
          <p:nvPr/>
        </p:nvSpPr>
        <p:spPr>
          <a:xfrm>
            <a:off x="9341217" y="3300692"/>
            <a:ext cx="320040" cy="320040"/>
          </a:xfrm>
          <a:prstGeom prst="ellipse">
            <a:avLst/>
          </a:prstGeom>
          <a:solidFill>
            <a:schemeClr val="bg1"/>
          </a:solidFill>
        </p:spPr>
        <p:txBody>
          <a:bodyPr wrap="square" lIns="0" tIns="0" rIns="0" bIns="0" rtlCol="0" anchor="ctr" anchorCtr="0">
            <a:noAutofit/>
          </a:bodyPr>
          <a:lstStyle/>
          <a:p>
            <a:pPr algn="ctr"/>
            <a:r>
              <a:rPr lang="en-US" sz="2800" b="1" dirty="0">
                <a:solidFill>
                  <a:schemeClr val="tx1">
                    <a:lumMod val="65000"/>
                    <a:lumOff val="35000"/>
                  </a:schemeClr>
                </a:solidFill>
                <a:latin typeface="Sakkal Majalla" panose="02000000000000000000" pitchFamily="2" charset="-78"/>
                <a:cs typeface="Sakkal Majalla" panose="02000000000000000000" pitchFamily="2" charset="-78"/>
              </a:rPr>
              <a:t>1</a:t>
            </a:r>
            <a:endParaRPr lang="en-US" b="1" dirty="0">
              <a:solidFill>
                <a:schemeClr val="tx1">
                  <a:lumMod val="65000"/>
                  <a:lumOff val="35000"/>
                </a:schemeClr>
              </a:solidFill>
              <a:latin typeface="Sakkal Majalla" panose="02000000000000000000" pitchFamily="2" charset="-78"/>
              <a:cs typeface="Sakkal Majalla" panose="02000000000000000000" pitchFamily="2" charset="-78"/>
            </a:endParaRPr>
          </a:p>
        </p:txBody>
      </p:sp>
      <p:sp>
        <p:nvSpPr>
          <p:cNvPr id="142" name="ZoneTexte 13">
            <a:extLst>
              <a:ext uri="{FF2B5EF4-FFF2-40B4-BE49-F238E27FC236}">
                <a16:creationId xmlns:a16="http://schemas.microsoft.com/office/drawing/2014/main" id="{2B560E0F-F652-0CB2-9AA1-00D99E70E1D7}"/>
              </a:ext>
            </a:extLst>
          </p:cNvPr>
          <p:cNvSpPr txBox="1"/>
          <p:nvPr/>
        </p:nvSpPr>
        <p:spPr>
          <a:xfrm>
            <a:off x="8544530" y="3785259"/>
            <a:ext cx="1956621" cy="1015663"/>
          </a:xfrm>
          <a:prstGeom prst="rect">
            <a:avLst/>
          </a:prstGeom>
          <a:noFill/>
        </p:spPr>
        <p:txBody>
          <a:bodyPr wrap="square" rtlCol="1">
            <a:spAutoFit/>
          </a:bodyPr>
          <a:lstStyle/>
          <a:p>
            <a:pPr marL="115888" indent="-115888" algn="r" rtl="1">
              <a:buSzPct val="90000"/>
              <a:buFont typeface="Arial" pitchFamily="34" charset="0"/>
              <a:buChar char="•"/>
            </a:pPr>
            <a:r>
              <a:rPr lang="ar-EG" sz="1200" dirty="0">
                <a:solidFill>
                  <a:schemeClr val="tx1">
                    <a:lumMod val="75000"/>
                    <a:lumOff val="25000"/>
                  </a:schemeClr>
                </a:solidFill>
                <a:latin typeface="Sakkal Majalla" panose="02000000000000000000" pitchFamily="2" charset="-78"/>
                <a:cs typeface="Sakkal Majalla" panose="02000000000000000000" pitchFamily="2" charset="-78"/>
              </a:rPr>
              <a:t>تبدأ المتطلبات من مرحلة "تحديد نطاق عمل دورة تطوير البنية المؤسسية".</a:t>
            </a:r>
          </a:p>
          <a:p>
            <a:pPr marL="115888" indent="-115888" algn="r" rtl="1">
              <a:buSzPct val="90000"/>
              <a:buFont typeface="Arial" pitchFamily="34" charset="0"/>
              <a:buChar char="•"/>
            </a:pPr>
            <a:r>
              <a:rPr lang="ar-EG" sz="1200" dirty="0">
                <a:solidFill>
                  <a:schemeClr val="tx1">
                    <a:lumMod val="75000"/>
                    <a:lumOff val="25000"/>
                  </a:schemeClr>
                </a:solidFill>
                <a:latin typeface="Sakkal Majalla" panose="02000000000000000000" pitchFamily="2" charset="-78"/>
                <a:cs typeface="Sakkal Majalla" panose="02000000000000000000" pitchFamily="2" charset="-78"/>
              </a:rPr>
              <a:t>دراسة </a:t>
            </a:r>
            <a:r>
              <a:rPr lang="ar-SA" sz="1200" dirty="0">
                <a:latin typeface="Sakkal Majalla" panose="02000000000000000000" pitchFamily="2" charset="-78"/>
                <a:cs typeface="Sakkal Majalla" panose="02000000000000000000" pitchFamily="2" charset="-78"/>
              </a:rPr>
              <a:t>أثر المتطلب</a:t>
            </a:r>
            <a:r>
              <a:rPr lang="ar-EG" sz="1200" dirty="0">
                <a:latin typeface="Sakkal Majalla" panose="02000000000000000000" pitchFamily="2" charset="-78"/>
                <a:cs typeface="Sakkal Majalla" panose="02000000000000000000" pitchFamily="2" charset="-78"/>
              </a:rPr>
              <a:t>ات</a:t>
            </a:r>
            <a:r>
              <a:rPr lang="ar-SA" sz="1200" dirty="0">
                <a:latin typeface="Sakkal Majalla" panose="02000000000000000000" pitchFamily="2" charset="-78"/>
                <a:cs typeface="Sakkal Majalla" panose="02000000000000000000" pitchFamily="2" charset="-78"/>
              </a:rPr>
              <a:t> الجديد</a:t>
            </a:r>
            <a:r>
              <a:rPr lang="ar-EG" sz="1200" dirty="0">
                <a:latin typeface="Sakkal Majalla" panose="02000000000000000000" pitchFamily="2" charset="-78"/>
                <a:cs typeface="Sakkal Majalla" panose="02000000000000000000" pitchFamily="2" charset="-78"/>
              </a:rPr>
              <a:t>ة</a:t>
            </a:r>
            <a:r>
              <a:rPr lang="ar-SA" sz="1200" dirty="0">
                <a:latin typeface="Sakkal Majalla" panose="02000000000000000000" pitchFamily="2" charset="-78"/>
                <a:cs typeface="Sakkal Majalla" panose="02000000000000000000" pitchFamily="2" charset="-78"/>
              </a:rPr>
              <a:t> على قائمة المتطلبات المعتمدة</a:t>
            </a:r>
            <a:r>
              <a:rPr lang="ar-EG" sz="1200" dirty="0">
                <a:latin typeface="Sakkal Majalla" panose="02000000000000000000" pitchFamily="2" charset="-78"/>
                <a:cs typeface="Sakkal Majalla" panose="02000000000000000000" pitchFamily="2" charset="-78"/>
              </a:rPr>
              <a:t> وإعادة تحديد الأولويات</a:t>
            </a:r>
            <a:r>
              <a:rPr lang="ar-EG" sz="1200" dirty="0">
                <a:solidFill>
                  <a:schemeClr val="tx1">
                    <a:lumMod val="75000"/>
                    <a:lumOff val="25000"/>
                  </a:schemeClr>
                </a:solidFill>
                <a:latin typeface="Sakkal Majalla" panose="02000000000000000000" pitchFamily="2" charset="-78"/>
                <a:cs typeface="Sakkal Majalla" panose="02000000000000000000" pitchFamily="2" charset="-78"/>
              </a:rPr>
              <a:t>.</a:t>
            </a:r>
            <a:endParaRPr lang="ar-SA" sz="1200" dirty="0">
              <a:solidFill>
                <a:schemeClr val="tx1">
                  <a:lumMod val="75000"/>
                  <a:lumOff val="25000"/>
                </a:schemeClr>
              </a:solidFill>
              <a:latin typeface="Sakkal Majalla" panose="02000000000000000000" pitchFamily="2" charset="-78"/>
              <a:cs typeface="Sakkal Majalla" panose="02000000000000000000" pitchFamily="2" charset="-78"/>
            </a:endParaRPr>
          </a:p>
        </p:txBody>
      </p:sp>
      <p:sp>
        <p:nvSpPr>
          <p:cNvPr id="152" name="Freeform 138">
            <a:extLst>
              <a:ext uri="{FF2B5EF4-FFF2-40B4-BE49-F238E27FC236}">
                <a16:creationId xmlns:a16="http://schemas.microsoft.com/office/drawing/2014/main" id="{E4F721C8-A9D2-0652-FAAA-2AA888F02FB5}"/>
              </a:ext>
            </a:extLst>
          </p:cNvPr>
          <p:cNvSpPr>
            <a:spLocks noChangeArrowheads="1"/>
          </p:cNvSpPr>
          <p:nvPr/>
        </p:nvSpPr>
        <p:spPr bwMode="auto">
          <a:xfrm flipH="1">
            <a:off x="4786712" y="3142973"/>
            <a:ext cx="580790" cy="586935"/>
          </a:xfrm>
          <a:custGeom>
            <a:avLst/>
            <a:gdLst>
              <a:gd name="T0" fmla="*/ 636 w 1275"/>
              <a:gd name="T1" fmla="*/ 0 h 1275"/>
              <a:gd name="T2" fmla="*/ 636 w 1275"/>
              <a:gd name="T3" fmla="*/ 0 h 1275"/>
              <a:gd name="T4" fmla="*/ 1274 w 1275"/>
              <a:gd name="T5" fmla="*/ 637 h 1275"/>
              <a:gd name="T6" fmla="*/ 1274 w 1275"/>
              <a:gd name="T7" fmla="*/ 637 h 1275"/>
              <a:gd name="T8" fmla="*/ 636 w 1275"/>
              <a:gd name="T9" fmla="*/ 1274 h 1275"/>
              <a:gd name="T10" fmla="*/ 636 w 1275"/>
              <a:gd name="T11" fmla="*/ 1274 h 1275"/>
              <a:gd name="T12" fmla="*/ 0 w 1275"/>
              <a:gd name="T13" fmla="*/ 637 h 1275"/>
              <a:gd name="T14" fmla="*/ 0 w 1275"/>
              <a:gd name="T15" fmla="*/ 637 h 1275"/>
              <a:gd name="T16" fmla="*/ 636 w 1275"/>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5" h="1275">
                <a:moveTo>
                  <a:pt x="636" y="0"/>
                </a:moveTo>
                <a:lnTo>
                  <a:pt x="636" y="0"/>
                </a:lnTo>
                <a:cubicBezTo>
                  <a:pt x="989" y="0"/>
                  <a:pt x="1274" y="285"/>
                  <a:pt x="1274" y="637"/>
                </a:cubicBezTo>
                <a:lnTo>
                  <a:pt x="1274" y="637"/>
                </a:lnTo>
                <a:cubicBezTo>
                  <a:pt x="1274" y="988"/>
                  <a:pt x="989" y="1274"/>
                  <a:pt x="636" y="1274"/>
                </a:cubicBezTo>
                <a:lnTo>
                  <a:pt x="636" y="1274"/>
                </a:lnTo>
                <a:cubicBezTo>
                  <a:pt x="285" y="1274"/>
                  <a:pt x="0" y="988"/>
                  <a:pt x="0" y="637"/>
                </a:cubicBezTo>
                <a:lnTo>
                  <a:pt x="0" y="637"/>
                </a:lnTo>
                <a:cubicBezTo>
                  <a:pt x="0" y="285"/>
                  <a:pt x="285" y="0"/>
                  <a:pt x="636" y="0"/>
                </a:cubicBezTo>
              </a:path>
            </a:pathLst>
          </a:custGeom>
          <a:solidFill>
            <a:schemeClr val="bg1"/>
          </a:solidFill>
          <a:ln>
            <a:noFill/>
          </a:ln>
          <a:effectLst/>
        </p:spPr>
        <p:txBody>
          <a:bodyPr wrap="none" anchor="ctr"/>
          <a:lstStyle/>
          <a:p>
            <a:endParaRPr lang="en-US" sz="3600" dirty="0">
              <a:latin typeface="Sakkal Majalla" panose="02000000000000000000" pitchFamily="2" charset="-78"/>
              <a:cs typeface="Sakkal Majalla" panose="02000000000000000000" pitchFamily="2" charset="-78"/>
            </a:endParaRPr>
          </a:p>
        </p:txBody>
      </p:sp>
      <p:sp>
        <p:nvSpPr>
          <p:cNvPr id="154" name="TextBox 153">
            <a:extLst>
              <a:ext uri="{FF2B5EF4-FFF2-40B4-BE49-F238E27FC236}">
                <a16:creationId xmlns:a16="http://schemas.microsoft.com/office/drawing/2014/main" id="{6CABC5E6-D6CD-EBDE-019D-50ECC098262B}"/>
              </a:ext>
            </a:extLst>
          </p:cNvPr>
          <p:cNvSpPr txBox="1"/>
          <p:nvPr/>
        </p:nvSpPr>
        <p:spPr>
          <a:xfrm>
            <a:off x="7139668" y="3300692"/>
            <a:ext cx="320040" cy="320040"/>
          </a:xfrm>
          <a:prstGeom prst="ellipse">
            <a:avLst/>
          </a:prstGeom>
          <a:solidFill>
            <a:schemeClr val="bg1"/>
          </a:solidFill>
        </p:spPr>
        <p:txBody>
          <a:bodyPr wrap="square" lIns="0" tIns="0" rIns="0" bIns="0" rtlCol="0" anchor="ctr" anchorCtr="0">
            <a:noAutofit/>
          </a:bodyPr>
          <a:lstStyle/>
          <a:p>
            <a:pPr algn="ctr"/>
            <a:r>
              <a:rPr lang="ar-EG" sz="2800" b="1" dirty="0">
                <a:solidFill>
                  <a:schemeClr val="tx1">
                    <a:lumMod val="65000"/>
                    <a:lumOff val="35000"/>
                  </a:schemeClr>
                </a:solidFill>
                <a:latin typeface="Sakkal Majalla" panose="02000000000000000000" pitchFamily="2" charset="-78"/>
                <a:cs typeface="Sakkal Majalla" panose="02000000000000000000" pitchFamily="2" charset="-78"/>
              </a:rPr>
              <a:t>2</a:t>
            </a:r>
            <a:endParaRPr lang="en-US" b="1" dirty="0">
              <a:solidFill>
                <a:schemeClr val="tx1">
                  <a:lumMod val="65000"/>
                  <a:lumOff val="35000"/>
                </a:schemeClr>
              </a:solidFill>
              <a:latin typeface="Sakkal Majalla" panose="02000000000000000000" pitchFamily="2" charset="-78"/>
              <a:cs typeface="Sakkal Majalla" panose="02000000000000000000" pitchFamily="2" charset="-78"/>
            </a:endParaRPr>
          </a:p>
        </p:txBody>
      </p:sp>
      <p:sp>
        <p:nvSpPr>
          <p:cNvPr id="155" name="TextBox 154">
            <a:extLst>
              <a:ext uri="{FF2B5EF4-FFF2-40B4-BE49-F238E27FC236}">
                <a16:creationId xmlns:a16="http://schemas.microsoft.com/office/drawing/2014/main" id="{DB1F91FA-EA33-13A5-C904-D2127195FF95}"/>
              </a:ext>
            </a:extLst>
          </p:cNvPr>
          <p:cNvSpPr txBox="1"/>
          <p:nvPr/>
        </p:nvSpPr>
        <p:spPr>
          <a:xfrm>
            <a:off x="4898109" y="3300692"/>
            <a:ext cx="320040" cy="320040"/>
          </a:xfrm>
          <a:prstGeom prst="ellipse">
            <a:avLst/>
          </a:prstGeom>
          <a:solidFill>
            <a:schemeClr val="bg1"/>
          </a:solidFill>
        </p:spPr>
        <p:txBody>
          <a:bodyPr wrap="square" lIns="0" tIns="0" rIns="0" bIns="0" rtlCol="0" anchor="ctr" anchorCtr="0">
            <a:noAutofit/>
          </a:bodyPr>
          <a:lstStyle/>
          <a:p>
            <a:pPr algn="ctr"/>
            <a:r>
              <a:rPr lang="ar-EG" sz="2800" b="1" dirty="0">
                <a:solidFill>
                  <a:schemeClr val="tx1">
                    <a:lumMod val="65000"/>
                    <a:lumOff val="35000"/>
                  </a:schemeClr>
                </a:solidFill>
                <a:latin typeface="Sakkal Majalla" panose="02000000000000000000" pitchFamily="2" charset="-78"/>
                <a:cs typeface="Sakkal Majalla" panose="02000000000000000000" pitchFamily="2" charset="-78"/>
              </a:rPr>
              <a:t>3</a:t>
            </a:r>
            <a:endParaRPr lang="en-US" b="1" dirty="0">
              <a:solidFill>
                <a:schemeClr val="tx1">
                  <a:lumMod val="65000"/>
                  <a:lumOff val="35000"/>
                </a:schemeClr>
              </a:solidFill>
              <a:latin typeface="Sakkal Majalla" panose="02000000000000000000" pitchFamily="2" charset="-78"/>
              <a:cs typeface="Sakkal Majalla" panose="02000000000000000000" pitchFamily="2" charset="-78"/>
            </a:endParaRPr>
          </a:p>
        </p:txBody>
      </p:sp>
      <p:sp>
        <p:nvSpPr>
          <p:cNvPr id="156" name="TextBox 155">
            <a:extLst>
              <a:ext uri="{FF2B5EF4-FFF2-40B4-BE49-F238E27FC236}">
                <a16:creationId xmlns:a16="http://schemas.microsoft.com/office/drawing/2014/main" id="{B80BE051-1180-4108-04B3-C302F7E26AEA}"/>
              </a:ext>
            </a:extLst>
          </p:cNvPr>
          <p:cNvSpPr txBox="1"/>
          <p:nvPr/>
        </p:nvSpPr>
        <p:spPr>
          <a:xfrm>
            <a:off x="2681329" y="3300692"/>
            <a:ext cx="320040" cy="320040"/>
          </a:xfrm>
          <a:prstGeom prst="ellipse">
            <a:avLst/>
          </a:prstGeom>
          <a:solidFill>
            <a:schemeClr val="bg1"/>
          </a:solidFill>
        </p:spPr>
        <p:txBody>
          <a:bodyPr wrap="square" lIns="0" tIns="0" rIns="0" bIns="0" rtlCol="0" anchor="ctr" anchorCtr="0">
            <a:noAutofit/>
          </a:bodyPr>
          <a:lstStyle/>
          <a:p>
            <a:pPr algn="ctr"/>
            <a:r>
              <a:rPr lang="ar-EG" sz="2800" b="1" dirty="0">
                <a:solidFill>
                  <a:schemeClr val="tx1">
                    <a:lumMod val="65000"/>
                    <a:lumOff val="35000"/>
                  </a:schemeClr>
                </a:solidFill>
                <a:latin typeface="Sakkal Majalla" panose="02000000000000000000" pitchFamily="2" charset="-78"/>
                <a:cs typeface="Sakkal Majalla" panose="02000000000000000000" pitchFamily="2" charset="-78"/>
              </a:rPr>
              <a:t>4</a:t>
            </a:r>
            <a:endParaRPr lang="en-US" b="1" dirty="0">
              <a:solidFill>
                <a:schemeClr val="tx1">
                  <a:lumMod val="65000"/>
                  <a:lumOff val="35000"/>
                </a:schemeClr>
              </a:solidFill>
              <a:latin typeface="Sakkal Majalla" panose="02000000000000000000" pitchFamily="2" charset="-78"/>
              <a:cs typeface="Sakkal Majalla" panose="02000000000000000000" pitchFamily="2" charset="-78"/>
            </a:endParaRPr>
          </a:p>
        </p:txBody>
      </p:sp>
      <p:pic>
        <p:nvPicPr>
          <p:cNvPr id="160" name="Graphic 159">
            <a:extLst>
              <a:ext uri="{FF2B5EF4-FFF2-40B4-BE49-F238E27FC236}">
                <a16:creationId xmlns:a16="http://schemas.microsoft.com/office/drawing/2014/main" id="{83C9FA07-3A7B-8AA2-8620-7066C05CDB89}"/>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6876979" y="1344136"/>
            <a:ext cx="2130920" cy="652048"/>
          </a:xfrm>
          <a:prstGeom prst="rect">
            <a:avLst/>
          </a:prstGeom>
        </p:spPr>
      </p:pic>
    </p:spTree>
    <p:extLst>
      <p:ext uri="{BB962C8B-B14F-4D97-AF65-F5344CB8AC3E}">
        <p14:creationId xmlns:p14="http://schemas.microsoft.com/office/powerpoint/2010/main" val="68577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اعتبارات إرشادية عند دراسة واعتماد متطلبات البنية المؤسسية</a:t>
            </a:r>
            <a:endParaRPr lang="en-US" dirty="0"/>
          </a:p>
        </p:txBody>
      </p:sp>
      <p:sp>
        <p:nvSpPr>
          <p:cNvPr id="15" name="Rectangle 14">
            <a:extLst>
              <a:ext uri="{FF2B5EF4-FFF2-40B4-BE49-F238E27FC236}">
                <a16:creationId xmlns:a16="http://schemas.microsoft.com/office/drawing/2014/main" id="{7B21A5CB-82AC-F540-2F06-31E6BF4F283A}"/>
              </a:ext>
            </a:extLst>
          </p:cNvPr>
          <p:cNvSpPr/>
          <p:nvPr/>
        </p:nvSpPr>
        <p:spPr>
          <a:xfrm>
            <a:off x="1148316" y="1226707"/>
            <a:ext cx="8358036" cy="4071098"/>
          </a:xfrm>
          <a:prstGeom prst="rect">
            <a:avLst/>
          </a:prstGeom>
        </p:spPr>
        <p:txBody>
          <a:bodyPr anchor="ctr" anchorCtr="0">
            <a:normAutofit fontScale="92500" lnSpcReduction="20000"/>
          </a:bodyPr>
          <a:lstStyle/>
          <a:p>
            <a:pPr algn="ctr" rtl="1">
              <a:lnSpc>
                <a:spcPct val="150000"/>
              </a:lnSpc>
              <a:spcAft>
                <a:spcPts val="1200"/>
              </a:spcAft>
            </a:pPr>
            <a:r>
              <a:rPr lang="ar-EG" sz="2400" b="1" dirty="0"/>
              <a:t>عند دراسة واعتماد متطلبات البنية المؤسسية؛ على كبير مهندسي البنية المؤسسية أن يأخذ بعين</a:t>
            </a:r>
          </a:p>
          <a:p>
            <a:pPr algn="ctr" rtl="1">
              <a:lnSpc>
                <a:spcPct val="150000"/>
              </a:lnSpc>
              <a:spcAft>
                <a:spcPts val="1200"/>
              </a:spcAft>
            </a:pPr>
            <a:r>
              <a:rPr lang="ar-EG" sz="2400" b="1" dirty="0"/>
              <a:t>الاعتبار ما يلي:</a:t>
            </a:r>
            <a:endParaRPr lang="ar-EG" sz="1400" b="1" dirty="0"/>
          </a:p>
          <a:p>
            <a:pPr marL="457200" indent="-457200" algn="r" rtl="1">
              <a:lnSpc>
                <a:spcPct val="150000"/>
              </a:lnSpc>
              <a:spcAft>
                <a:spcPts val="1200"/>
              </a:spcAft>
              <a:buFont typeface="Arial" panose="020B0604020202020204" pitchFamily="34" charset="0"/>
              <a:buChar char="•"/>
            </a:pPr>
            <a:r>
              <a:rPr lang="ar-EG" sz="2200" dirty="0"/>
              <a:t>افتراضات ومحددات المتطلبات</a:t>
            </a:r>
          </a:p>
          <a:p>
            <a:pPr marL="457200" indent="-457200" algn="r" rtl="1">
              <a:lnSpc>
                <a:spcPct val="150000"/>
              </a:lnSpc>
              <a:spcAft>
                <a:spcPts val="1200"/>
              </a:spcAft>
              <a:buFont typeface="Arial" panose="020B0604020202020204" pitchFamily="34" charset="0"/>
              <a:buChar char="•"/>
            </a:pPr>
            <a:r>
              <a:rPr lang="ar-EG" sz="2200" dirty="0"/>
              <a:t> المبادئ الخاصة بالمجالـ(ات) التي يؤثر عليها المتطلبات</a:t>
            </a:r>
          </a:p>
          <a:p>
            <a:pPr marL="457200" indent="-457200" algn="r" rtl="1">
              <a:lnSpc>
                <a:spcPct val="150000"/>
              </a:lnSpc>
              <a:spcAft>
                <a:spcPts val="1200"/>
              </a:spcAft>
              <a:buFont typeface="Arial" panose="020B0604020202020204" pitchFamily="34" charset="0"/>
              <a:buChar char="•"/>
            </a:pPr>
            <a:r>
              <a:rPr lang="ar-EG" sz="2200" dirty="0"/>
              <a:t> السياسات التي تؤثر على المتطلبات</a:t>
            </a:r>
          </a:p>
          <a:p>
            <a:pPr marL="457200" indent="-457200" algn="r" rtl="1">
              <a:lnSpc>
                <a:spcPct val="150000"/>
              </a:lnSpc>
              <a:spcAft>
                <a:spcPts val="1200"/>
              </a:spcAft>
              <a:buFont typeface="Arial" panose="020B0604020202020204" pitchFamily="34" charset="0"/>
              <a:buChar char="•"/>
            </a:pPr>
            <a:r>
              <a:rPr lang="ar-EG" sz="2200" dirty="0"/>
              <a:t> المعايير التي يجب أن تستوفيها المتطلبات</a:t>
            </a:r>
          </a:p>
          <a:p>
            <a:pPr marL="457200" indent="-457200" algn="r" rtl="1">
              <a:lnSpc>
                <a:spcPct val="150000"/>
              </a:lnSpc>
              <a:spcAft>
                <a:spcPts val="1200"/>
              </a:spcAft>
              <a:buFont typeface="Arial" panose="020B0604020202020204" pitchFamily="34" charset="0"/>
              <a:buChar char="•"/>
            </a:pPr>
            <a:r>
              <a:rPr lang="ar-EG" sz="2200" dirty="0"/>
              <a:t> المبادئ التوجيهية المرتبطة بالمتطلبات</a:t>
            </a:r>
          </a:p>
        </p:txBody>
      </p:sp>
      <p:grpSp>
        <p:nvGrpSpPr>
          <p:cNvPr id="65" name="Google Shape;122;p13">
            <a:extLst>
              <a:ext uri="{FF2B5EF4-FFF2-40B4-BE49-F238E27FC236}">
                <a16:creationId xmlns:a16="http://schemas.microsoft.com/office/drawing/2014/main" id="{DD4AD3B6-4551-CEE3-9BA4-7C7647EC9ECC}"/>
              </a:ext>
            </a:extLst>
          </p:cNvPr>
          <p:cNvGrpSpPr/>
          <p:nvPr/>
        </p:nvGrpSpPr>
        <p:grpSpPr>
          <a:xfrm>
            <a:off x="9894093" y="2454311"/>
            <a:ext cx="1098988" cy="1541202"/>
            <a:chOff x="3648129" y="5460938"/>
            <a:chExt cx="386468" cy="541976"/>
          </a:xfrm>
          <a:solidFill>
            <a:schemeClr val="accent1"/>
          </a:solidFill>
        </p:grpSpPr>
        <p:sp>
          <p:nvSpPr>
            <p:cNvPr id="66" name="Google Shape;123;p13">
              <a:extLst>
                <a:ext uri="{FF2B5EF4-FFF2-40B4-BE49-F238E27FC236}">
                  <a16:creationId xmlns:a16="http://schemas.microsoft.com/office/drawing/2014/main" id="{6E5C1545-323E-566C-EF47-80AED95C072A}"/>
                </a:ext>
              </a:extLst>
            </p:cNvPr>
            <p:cNvSpPr/>
            <p:nvPr/>
          </p:nvSpPr>
          <p:spPr>
            <a:xfrm>
              <a:off x="3648129" y="5515229"/>
              <a:ext cx="386468" cy="487685"/>
            </a:xfrm>
            <a:custGeom>
              <a:avLst/>
              <a:gdLst/>
              <a:ahLst/>
              <a:cxnLst/>
              <a:rect l="l" t="t" r="r" b="b"/>
              <a:pathLst>
                <a:path w="222229" h="280433" extrusionOk="0">
                  <a:moveTo>
                    <a:pt x="215881" y="0"/>
                  </a:moveTo>
                  <a:lnTo>
                    <a:pt x="194187" y="0"/>
                  </a:lnTo>
                  <a:cubicBezTo>
                    <a:pt x="190483" y="0"/>
                    <a:pt x="187837" y="2646"/>
                    <a:pt x="187837" y="6349"/>
                  </a:cubicBezTo>
                  <a:cubicBezTo>
                    <a:pt x="187837" y="10053"/>
                    <a:pt x="190483" y="12699"/>
                    <a:pt x="194187" y="12699"/>
                  </a:cubicBezTo>
                  <a:lnTo>
                    <a:pt x="209531" y="12699"/>
                  </a:lnTo>
                  <a:lnTo>
                    <a:pt x="209531" y="271438"/>
                  </a:lnTo>
                  <a:lnTo>
                    <a:pt x="12699" y="271438"/>
                  </a:lnTo>
                  <a:lnTo>
                    <a:pt x="12699" y="13228"/>
                  </a:lnTo>
                  <a:lnTo>
                    <a:pt x="28572" y="13228"/>
                  </a:lnTo>
                  <a:cubicBezTo>
                    <a:pt x="32276" y="13228"/>
                    <a:pt x="34922" y="10582"/>
                    <a:pt x="34922" y="6878"/>
                  </a:cubicBezTo>
                  <a:cubicBezTo>
                    <a:pt x="34922" y="3175"/>
                    <a:pt x="32276" y="529"/>
                    <a:pt x="28572" y="529"/>
                  </a:cubicBezTo>
                  <a:lnTo>
                    <a:pt x="6349" y="529"/>
                  </a:lnTo>
                  <a:cubicBezTo>
                    <a:pt x="2646" y="529"/>
                    <a:pt x="0" y="3175"/>
                    <a:pt x="0" y="6878"/>
                  </a:cubicBezTo>
                  <a:lnTo>
                    <a:pt x="0" y="278316"/>
                  </a:lnTo>
                  <a:cubicBezTo>
                    <a:pt x="0" y="282020"/>
                    <a:pt x="2646" y="284666"/>
                    <a:pt x="6349" y="284666"/>
                  </a:cubicBezTo>
                  <a:lnTo>
                    <a:pt x="215881" y="284666"/>
                  </a:lnTo>
                  <a:cubicBezTo>
                    <a:pt x="219584" y="284666"/>
                    <a:pt x="222230" y="282020"/>
                    <a:pt x="222230" y="278316"/>
                  </a:cubicBezTo>
                  <a:lnTo>
                    <a:pt x="222230" y="6878"/>
                  </a:lnTo>
                  <a:cubicBezTo>
                    <a:pt x="222759" y="2646"/>
                    <a:pt x="219584" y="0"/>
                    <a:pt x="215881" y="0"/>
                  </a:cubicBezTo>
                  <a:close/>
                </a:path>
              </a:pathLst>
            </a:cu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sp>
          <p:nvSpPr>
            <p:cNvPr id="67" name="Google Shape;124;p13">
              <a:extLst>
                <a:ext uri="{FF2B5EF4-FFF2-40B4-BE49-F238E27FC236}">
                  <a16:creationId xmlns:a16="http://schemas.microsoft.com/office/drawing/2014/main" id="{F3FA2428-B04B-F005-4809-704D684A7CB3}"/>
                </a:ext>
              </a:extLst>
            </p:cNvPr>
            <p:cNvSpPr/>
            <p:nvPr/>
          </p:nvSpPr>
          <p:spPr>
            <a:xfrm>
              <a:off x="3724502" y="5460938"/>
              <a:ext cx="230041" cy="101218"/>
            </a:xfrm>
            <a:custGeom>
              <a:avLst/>
              <a:gdLst/>
              <a:ahLst/>
              <a:cxnLst/>
              <a:rect l="l" t="t" r="r" b="b"/>
              <a:pathLst>
                <a:path w="132279" h="58203" extrusionOk="0">
                  <a:moveTo>
                    <a:pt x="6349" y="59790"/>
                  </a:moveTo>
                  <a:lnTo>
                    <a:pt x="127518" y="59790"/>
                  </a:lnTo>
                  <a:cubicBezTo>
                    <a:pt x="127518" y="59790"/>
                    <a:pt x="127518" y="59790"/>
                    <a:pt x="127518" y="59790"/>
                  </a:cubicBezTo>
                  <a:cubicBezTo>
                    <a:pt x="129105" y="59790"/>
                    <a:pt x="130692" y="59261"/>
                    <a:pt x="132280" y="57674"/>
                  </a:cubicBezTo>
                  <a:cubicBezTo>
                    <a:pt x="133338" y="56616"/>
                    <a:pt x="134396" y="55029"/>
                    <a:pt x="134396" y="52912"/>
                  </a:cubicBezTo>
                  <a:lnTo>
                    <a:pt x="134396" y="21694"/>
                  </a:lnTo>
                  <a:cubicBezTo>
                    <a:pt x="134396" y="20106"/>
                    <a:pt x="133867" y="18519"/>
                    <a:pt x="132280" y="16932"/>
                  </a:cubicBezTo>
                  <a:cubicBezTo>
                    <a:pt x="131221" y="15874"/>
                    <a:pt x="129634" y="14815"/>
                    <a:pt x="127518" y="14815"/>
                  </a:cubicBezTo>
                  <a:lnTo>
                    <a:pt x="86775" y="14815"/>
                  </a:lnTo>
                  <a:cubicBezTo>
                    <a:pt x="84130" y="6349"/>
                    <a:pt x="76193" y="0"/>
                    <a:pt x="66669" y="0"/>
                  </a:cubicBezTo>
                  <a:cubicBezTo>
                    <a:pt x="57145" y="0"/>
                    <a:pt x="49208" y="6349"/>
                    <a:pt x="46562" y="14815"/>
                  </a:cubicBezTo>
                  <a:lnTo>
                    <a:pt x="6349" y="14815"/>
                  </a:lnTo>
                  <a:cubicBezTo>
                    <a:pt x="2646" y="14815"/>
                    <a:pt x="0" y="17461"/>
                    <a:pt x="0" y="21165"/>
                  </a:cubicBezTo>
                  <a:lnTo>
                    <a:pt x="0" y="51854"/>
                  </a:lnTo>
                  <a:cubicBezTo>
                    <a:pt x="0" y="57145"/>
                    <a:pt x="2646" y="59790"/>
                    <a:pt x="6349" y="59790"/>
                  </a:cubicBezTo>
                  <a:close/>
                  <a:moveTo>
                    <a:pt x="12699" y="29102"/>
                  </a:moveTo>
                  <a:lnTo>
                    <a:pt x="51854" y="29102"/>
                  </a:lnTo>
                  <a:cubicBezTo>
                    <a:pt x="55557" y="29102"/>
                    <a:pt x="58203" y="26456"/>
                    <a:pt x="58203" y="22752"/>
                  </a:cubicBezTo>
                  <a:cubicBezTo>
                    <a:pt x="58203" y="17990"/>
                    <a:pt x="61907" y="14286"/>
                    <a:pt x="66669" y="14286"/>
                  </a:cubicBezTo>
                  <a:cubicBezTo>
                    <a:pt x="71431" y="14286"/>
                    <a:pt x="75135" y="17990"/>
                    <a:pt x="75135" y="22752"/>
                  </a:cubicBezTo>
                  <a:cubicBezTo>
                    <a:pt x="75135" y="24340"/>
                    <a:pt x="75664" y="25927"/>
                    <a:pt x="77251" y="27514"/>
                  </a:cubicBezTo>
                  <a:cubicBezTo>
                    <a:pt x="78310" y="28573"/>
                    <a:pt x="79897" y="29631"/>
                    <a:pt x="82013" y="29631"/>
                  </a:cubicBezTo>
                  <a:lnTo>
                    <a:pt x="121697" y="29631"/>
                  </a:lnTo>
                  <a:lnTo>
                    <a:pt x="121697" y="47621"/>
                  </a:lnTo>
                  <a:lnTo>
                    <a:pt x="13757" y="47621"/>
                  </a:lnTo>
                  <a:lnTo>
                    <a:pt x="13757" y="29102"/>
                  </a:lnTo>
                  <a:close/>
                </a:path>
              </a:pathLst>
            </a:cu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sp>
          <p:nvSpPr>
            <p:cNvPr id="68" name="Google Shape;125;p13">
              <a:extLst>
                <a:ext uri="{FF2B5EF4-FFF2-40B4-BE49-F238E27FC236}">
                  <a16:creationId xmlns:a16="http://schemas.microsoft.com/office/drawing/2014/main" id="{74F7F724-2162-7ABB-A6FA-2EA792995F90}"/>
                </a:ext>
              </a:extLst>
            </p:cNvPr>
            <p:cNvSpPr/>
            <p:nvPr/>
          </p:nvSpPr>
          <p:spPr>
            <a:xfrm>
              <a:off x="3699281" y="5622519"/>
              <a:ext cx="73614" cy="64411"/>
            </a:xfrm>
            <a:custGeom>
              <a:avLst/>
              <a:gdLst/>
              <a:ahLst/>
              <a:cxnLst/>
              <a:rect l="l" t="t" r="r" b="b"/>
              <a:pathLst>
                <a:path w="42329" h="37038" extrusionOk="0">
                  <a:moveTo>
                    <a:pt x="746" y="23493"/>
                  </a:moveTo>
                  <a:lnTo>
                    <a:pt x="9212" y="38837"/>
                  </a:lnTo>
                  <a:cubicBezTo>
                    <a:pt x="10270" y="40954"/>
                    <a:pt x="12386" y="42012"/>
                    <a:pt x="14503" y="42012"/>
                  </a:cubicBezTo>
                  <a:cubicBezTo>
                    <a:pt x="14503" y="42012"/>
                    <a:pt x="15032" y="42012"/>
                    <a:pt x="15032" y="42012"/>
                  </a:cubicBezTo>
                  <a:cubicBezTo>
                    <a:pt x="17149" y="42012"/>
                    <a:pt x="19265" y="40954"/>
                    <a:pt x="20323" y="39366"/>
                  </a:cubicBezTo>
                  <a:lnTo>
                    <a:pt x="41488" y="10265"/>
                  </a:lnTo>
                  <a:cubicBezTo>
                    <a:pt x="43605" y="7619"/>
                    <a:pt x="43075" y="3386"/>
                    <a:pt x="39901" y="1270"/>
                  </a:cubicBezTo>
                  <a:cubicBezTo>
                    <a:pt x="37255" y="-847"/>
                    <a:pt x="33022" y="-318"/>
                    <a:pt x="30906" y="2857"/>
                  </a:cubicBezTo>
                  <a:lnTo>
                    <a:pt x="15561" y="24022"/>
                  </a:lnTo>
                  <a:lnTo>
                    <a:pt x="11857" y="17673"/>
                  </a:lnTo>
                  <a:cubicBezTo>
                    <a:pt x="10270" y="14498"/>
                    <a:pt x="6037" y="13440"/>
                    <a:pt x="2862" y="15027"/>
                  </a:cubicBezTo>
                  <a:cubicBezTo>
                    <a:pt x="217" y="16614"/>
                    <a:pt x="-842" y="20318"/>
                    <a:pt x="746" y="23493"/>
                  </a:cubicBezTo>
                  <a:close/>
                </a:path>
              </a:pathLst>
            </a:cu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sp>
          <p:nvSpPr>
            <p:cNvPr id="69" name="Google Shape;126;p13">
              <a:extLst>
                <a:ext uri="{FF2B5EF4-FFF2-40B4-BE49-F238E27FC236}">
                  <a16:creationId xmlns:a16="http://schemas.microsoft.com/office/drawing/2014/main" id="{50D8DB2A-6E69-4EB8-F4D8-4F8AB423EFFF}"/>
                </a:ext>
              </a:extLst>
            </p:cNvPr>
            <p:cNvSpPr/>
            <p:nvPr/>
          </p:nvSpPr>
          <p:spPr>
            <a:xfrm>
              <a:off x="3699309" y="5726497"/>
              <a:ext cx="73614" cy="73614"/>
            </a:xfrm>
            <a:custGeom>
              <a:avLst/>
              <a:gdLst/>
              <a:ahLst/>
              <a:cxnLst/>
              <a:rect l="l" t="t" r="r" b="b"/>
              <a:pathLst>
                <a:path w="42329" h="42329" extrusionOk="0">
                  <a:moveTo>
                    <a:pt x="40413" y="1270"/>
                  </a:moveTo>
                  <a:cubicBezTo>
                    <a:pt x="37768" y="-847"/>
                    <a:pt x="33535" y="-318"/>
                    <a:pt x="31418" y="2857"/>
                  </a:cubicBezTo>
                  <a:lnTo>
                    <a:pt x="16074" y="24022"/>
                  </a:lnTo>
                  <a:lnTo>
                    <a:pt x="12370" y="17673"/>
                  </a:lnTo>
                  <a:cubicBezTo>
                    <a:pt x="10783" y="14498"/>
                    <a:pt x="6550" y="13440"/>
                    <a:pt x="3375" y="15027"/>
                  </a:cubicBezTo>
                  <a:cubicBezTo>
                    <a:pt x="200" y="16614"/>
                    <a:pt x="-858" y="20847"/>
                    <a:pt x="729" y="24022"/>
                  </a:cubicBezTo>
                  <a:lnTo>
                    <a:pt x="9195" y="39366"/>
                  </a:lnTo>
                  <a:cubicBezTo>
                    <a:pt x="10253" y="41483"/>
                    <a:pt x="12370" y="42541"/>
                    <a:pt x="14486" y="42541"/>
                  </a:cubicBezTo>
                  <a:cubicBezTo>
                    <a:pt x="14486" y="42541"/>
                    <a:pt x="15015" y="42541"/>
                    <a:pt x="15015" y="42541"/>
                  </a:cubicBezTo>
                  <a:cubicBezTo>
                    <a:pt x="17132" y="42541"/>
                    <a:pt x="19248" y="41483"/>
                    <a:pt x="20307" y="39896"/>
                  </a:cubicBezTo>
                  <a:lnTo>
                    <a:pt x="41471" y="10794"/>
                  </a:lnTo>
                  <a:cubicBezTo>
                    <a:pt x="43588" y="7619"/>
                    <a:pt x="43059" y="3386"/>
                    <a:pt x="40413" y="1270"/>
                  </a:cubicBezTo>
                  <a:close/>
                </a:path>
              </a:pathLst>
            </a:cu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sp>
          <p:nvSpPr>
            <p:cNvPr id="70" name="Google Shape;127;p13">
              <a:extLst>
                <a:ext uri="{FF2B5EF4-FFF2-40B4-BE49-F238E27FC236}">
                  <a16:creationId xmlns:a16="http://schemas.microsoft.com/office/drawing/2014/main" id="{468F1055-430A-A0B7-6E92-AAB527EF1889}"/>
                </a:ext>
              </a:extLst>
            </p:cNvPr>
            <p:cNvSpPr/>
            <p:nvPr/>
          </p:nvSpPr>
          <p:spPr>
            <a:xfrm>
              <a:off x="3699656" y="5852927"/>
              <a:ext cx="64411" cy="64411"/>
            </a:xfrm>
            <a:custGeom>
              <a:avLst/>
              <a:gdLst/>
              <a:ahLst/>
              <a:cxnLst/>
              <a:rect l="l" t="t" r="r" b="b"/>
              <a:pathLst>
                <a:path w="37038" h="37038" extrusionOk="0">
                  <a:moveTo>
                    <a:pt x="6349" y="0"/>
                  </a:moveTo>
                  <a:cubicBezTo>
                    <a:pt x="2646" y="0"/>
                    <a:pt x="0" y="2646"/>
                    <a:pt x="0" y="6349"/>
                  </a:cubicBezTo>
                  <a:lnTo>
                    <a:pt x="0" y="34922"/>
                  </a:lnTo>
                  <a:cubicBezTo>
                    <a:pt x="0" y="38626"/>
                    <a:pt x="2646" y="41271"/>
                    <a:pt x="6349" y="41271"/>
                  </a:cubicBezTo>
                  <a:lnTo>
                    <a:pt x="34922" y="41271"/>
                  </a:lnTo>
                  <a:cubicBezTo>
                    <a:pt x="38626" y="41271"/>
                    <a:pt x="41271" y="38626"/>
                    <a:pt x="41271" y="34922"/>
                  </a:cubicBezTo>
                  <a:lnTo>
                    <a:pt x="41271" y="6349"/>
                  </a:lnTo>
                  <a:cubicBezTo>
                    <a:pt x="41271" y="2646"/>
                    <a:pt x="38626" y="0"/>
                    <a:pt x="34922" y="0"/>
                  </a:cubicBezTo>
                  <a:lnTo>
                    <a:pt x="6349" y="0"/>
                  </a:lnTo>
                  <a:close/>
                  <a:moveTo>
                    <a:pt x="28043" y="28572"/>
                  </a:moveTo>
                  <a:lnTo>
                    <a:pt x="12170" y="28572"/>
                  </a:lnTo>
                  <a:lnTo>
                    <a:pt x="12170" y="12699"/>
                  </a:lnTo>
                  <a:lnTo>
                    <a:pt x="28043" y="12699"/>
                  </a:lnTo>
                  <a:lnTo>
                    <a:pt x="28043" y="28572"/>
                  </a:lnTo>
                  <a:close/>
                </a:path>
              </a:pathLst>
            </a:cu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sp>
          <p:nvSpPr>
            <p:cNvPr id="71" name="Google Shape;128;p13">
              <a:extLst>
                <a:ext uri="{FF2B5EF4-FFF2-40B4-BE49-F238E27FC236}">
                  <a16:creationId xmlns:a16="http://schemas.microsoft.com/office/drawing/2014/main" id="{6E66D1F5-8329-7B5C-BD67-4A2B00076BF1}"/>
                </a:ext>
              </a:extLst>
            </p:cNvPr>
            <p:cNvSpPr/>
            <p:nvPr/>
          </p:nvSpPr>
          <p:spPr>
            <a:xfrm>
              <a:off x="3803636" y="5644971"/>
              <a:ext cx="156427" cy="18403"/>
            </a:xfrm>
            <a:custGeom>
              <a:avLst/>
              <a:gdLst/>
              <a:ahLst/>
              <a:cxnLst/>
              <a:rect l="l" t="t" r="r" b="b"/>
              <a:pathLst>
                <a:path w="89950" h="10582" extrusionOk="0">
                  <a:moveTo>
                    <a:pt x="6349" y="0"/>
                  </a:moveTo>
                  <a:cubicBezTo>
                    <a:pt x="2646" y="0"/>
                    <a:pt x="0" y="2646"/>
                    <a:pt x="0" y="6349"/>
                  </a:cubicBezTo>
                  <a:cubicBezTo>
                    <a:pt x="0" y="10053"/>
                    <a:pt x="2646" y="12699"/>
                    <a:pt x="6349" y="12699"/>
                  </a:cubicBezTo>
                  <a:lnTo>
                    <a:pt x="88363" y="12699"/>
                  </a:lnTo>
                  <a:cubicBezTo>
                    <a:pt x="92067" y="12699"/>
                    <a:pt x="94712" y="10053"/>
                    <a:pt x="94712" y="6349"/>
                  </a:cubicBezTo>
                  <a:cubicBezTo>
                    <a:pt x="94712" y="2646"/>
                    <a:pt x="92067" y="0"/>
                    <a:pt x="88363" y="0"/>
                  </a:cubicBezTo>
                  <a:lnTo>
                    <a:pt x="6349" y="0"/>
                  </a:lnTo>
                  <a:close/>
                </a:path>
              </a:pathLst>
            </a:cu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sp>
          <p:nvSpPr>
            <p:cNvPr id="72" name="Google Shape;129;p13">
              <a:extLst>
                <a:ext uri="{FF2B5EF4-FFF2-40B4-BE49-F238E27FC236}">
                  <a16:creationId xmlns:a16="http://schemas.microsoft.com/office/drawing/2014/main" id="{95F31CCA-2803-2A23-5429-5517797F5E09}"/>
                </a:ext>
              </a:extLst>
            </p:cNvPr>
            <p:cNvSpPr/>
            <p:nvPr/>
          </p:nvSpPr>
          <p:spPr>
            <a:xfrm>
              <a:off x="3803636" y="5751709"/>
              <a:ext cx="156427" cy="18403"/>
            </a:xfrm>
            <a:custGeom>
              <a:avLst/>
              <a:gdLst/>
              <a:ahLst/>
              <a:cxnLst/>
              <a:rect l="l" t="t" r="r" b="b"/>
              <a:pathLst>
                <a:path w="89950" h="10582" extrusionOk="0">
                  <a:moveTo>
                    <a:pt x="88363" y="0"/>
                  </a:moveTo>
                  <a:lnTo>
                    <a:pt x="6349" y="0"/>
                  </a:lnTo>
                  <a:cubicBezTo>
                    <a:pt x="2646" y="0"/>
                    <a:pt x="0" y="2646"/>
                    <a:pt x="0" y="6349"/>
                  </a:cubicBezTo>
                  <a:cubicBezTo>
                    <a:pt x="0" y="10053"/>
                    <a:pt x="2646" y="12699"/>
                    <a:pt x="6349" y="12699"/>
                  </a:cubicBezTo>
                  <a:lnTo>
                    <a:pt x="88363" y="12699"/>
                  </a:lnTo>
                  <a:cubicBezTo>
                    <a:pt x="92067" y="12699"/>
                    <a:pt x="94712" y="10053"/>
                    <a:pt x="94712" y="6349"/>
                  </a:cubicBezTo>
                  <a:cubicBezTo>
                    <a:pt x="94712" y="2646"/>
                    <a:pt x="92067" y="0"/>
                    <a:pt x="88363" y="0"/>
                  </a:cubicBezTo>
                  <a:close/>
                </a:path>
              </a:pathLst>
            </a:cu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sp>
          <p:nvSpPr>
            <p:cNvPr id="73" name="Google Shape;130;p13">
              <a:extLst>
                <a:ext uri="{FF2B5EF4-FFF2-40B4-BE49-F238E27FC236}">
                  <a16:creationId xmlns:a16="http://schemas.microsoft.com/office/drawing/2014/main" id="{B0BEC34F-5021-0CDE-88A3-AE315D7F38B9}"/>
                </a:ext>
              </a:extLst>
            </p:cNvPr>
            <p:cNvSpPr/>
            <p:nvPr/>
          </p:nvSpPr>
          <p:spPr>
            <a:xfrm>
              <a:off x="3803636" y="5881453"/>
              <a:ext cx="156427" cy="18403"/>
            </a:xfrm>
            <a:custGeom>
              <a:avLst/>
              <a:gdLst/>
              <a:ahLst/>
              <a:cxnLst/>
              <a:rect l="l" t="t" r="r" b="b"/>
              <a:pathLst>
                <a:path w="89950" h="10582" extrusionOk="0">
                  <a:moveTo>
                    <a:pt x="88363" y="0"/>
                  </a:moveTo>
                  <a:lnTo>
                    <a:pt x="6349" y="0"/>
                  </a:lnTo>
                  <a:cubicBezTo>
                    <a:pt x="2646" y="0"/>
                    <a:pt x="0" y="2646"/>
                    <a:pt x="0" y="6349"/>
                  </a:cubicBezTo>
                  <a:cubicBezTo>
                    <a:pt x="0" y="10053"/>
                    <a:pt x="2646" y="12699"/>
                    <a:pt x="6349" y="12699"/>
                  </a:cubicBezTo>
                  <a:lnTo>
                    <a:pt x="88363" y="12699"/>
                  </a:lnTo>
                  <a:cubicBezTo>
                    <a:pt x="92067" y="12699"/>
                    <a:pt x="94712" y="10053"/>
                    <a:pt x="94712" y="6349"/>
                  </a:cubicBezTo>
                  <a:cubicBezTo>
                    <a:pt x="94712" y="2646"/>
                    <a:pt x="92067" y="0"/>
                    <a:pt x="88363" y="0"/>
                  </a:cubicBezTo>
                  <a:close/>
                </a:path>
              </a:pathLst>
            </a:cu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grpSp>
    </p:spTree>
    <p:extLst>
      <p:ext uri="{BB962C8B-B14F-4D97-AF65-F5344CB8AC3E}">
        <p14:creationId xmlns:p14="http://schemas.microsoft.com/office/powerpoint/2010/main" val="1603083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نموذج قائمة متطلبات البنية المؤسسية</a:t>
            </a:r>
            <a:endParaRPr lang="en-US" dirty="0"/>
          </a:p>
        </p:txBody>
      </p:sp>
      <p:graphicFrame>
        <p:nvGraphicFramePr>
          <p:cNvPr id="3" name="Table 4">
            <a:extLst>
              <a:ext uri="{FF2B5EF4-FFF2-40B4-BE49-F238E27FC236}">
                <a16:creationId xmlns:a16="http://schemas.microsoft.com/office/drawing/2014/main" id="{8334871D-8AB1-846D-C666-4AEC2EDDE634}"/>
              </a:ext>
            </a:extLst>
          </p:cNvPr>
          <p:cNvGraphicFramePr>
            <a:graphicFrameLocks noGrp="1"/>
          </p:cNvGraphicFramePr>
          <p:nvPr>
            <p:extLst>
              <p:ext uri="{D42A27DB-BD31-4B8C-83A1-F6EECF244321}">
                <p14:modId xmlns:p14="http://schemas.microsoft.com/office/powerpoint/2010/main" val="778621848"/>
              </p:ext>
            </p:extLst>
          </p:nvPr>
        </p:nvGraphicFramePr>
        <p:xfrm>
          <a:off x="609601" y="1970587"/>
          <a:ext cx="10972798" cy="3921665"/>
        </p:xfrm>
        <a:graphic>
          <a:graphicData uri="http://schemas.openxmlformats.org/drawingml/2006/table">
            <a:tbl>
              <a:tblPr firstRow="1" bandRow="1">
                <a:tableStyleId>{5C22544A-7EE6-4342-B048-85BDC9FD1C3A}</a:tableStyleId>
              </a:tblPr>
              <a:tblGrid>
                <a:gridCol w="1508566">
                  <a:extLst>
                    <a:ext uri="{9D8B030D-6E8A-4147-A177-3AD203B41FA5}">
                      <a16:colId xmlns:a16="http://schemas.microsoft.com/office/drawing/2014/main" val="2401468592"/>
                    </a:ext>
                  </a:extLst>
                </a:gridCol>
                <a:gridCol w="758142">
                  <a:extLst>
                    <a:ext uri="{9D8B030D-6E8A-4147-A177-3AD203B41FA5}">
                      <a16:colId xmlns:a16="http://schemas.microsoft.com/office/drawing/2014/main" val="4106362141"/>
                    </a:ext>
                  </a:extLst>
                </a:gridCol>
                <a:gridCol w="781291">
                  <a:extLst>
                    <a:ext uri="{9D8B030D-6E8A-4147-A177-3AD203B41FA5}">
                      <a16:colId xmlns:a16="http://schemas.microsoft.com/office/drawing/2014/main" val="2762405046"/>
                    </a:ext>
                  </a:extLst>
                </a:gridCol>
                <a:gridCol w="1284790">
                  <a:extLst>
                    <a:ext uri="{9D8B030D-6E8A-4147-A177-3AD203B41FA5}">
                      <a16:colId xmlns:a16="http://schemas.microsoft.com/office/drawing/2014/main" val="1229696898"/>
                    </a:ext>
                  </a:extLst>
                </a:gridCol>
                <a:gridCol w="1394749">
                  <a:extLst>
                    <a:ext uri="{9D8B030D-6E8A-4147-A177-3AD203B41FA5}">
                      <a16:colId xmlns:a16="http://schemas.microsoft.com/office/drawing/2014/main" val="1444584099"/>
                    </a:ext>
                  </a:extLst>
                </a:gridCol>
                <a:gridCol w="1088020">
                  <a:extLst>
                    <a:ext uri="{9D8B030D-6E8A-4147-A177-3AD203B41FA5}">
                      <a16:colId xmlns:a16="http://schemas.microsoft.com/office/drawing/2014/main" val="2979753714"/>
                    </a:ext>
                  </a:extLst>
                </a:gridCol>
                <a:gridCol w="1296365">
                  <a:extLst>
                    <a:ext uri="{9D8B030D-6E8A-4147-A177-3AD203B41FA5}">
                      <a16:colId xmlns:a16="http://schemas.microsoft.com/office/drawing/2014/main" val="892043053"/>
                    </a:ext>
                  </a:extLst>
                </a:gridCol>
                <a:gridCol w="2031357">
                  <a:extLst>
                    <a:ext uri="{9D8B030D-6E8A-4147-A177-3AD203B41FA5}">
                      <a16:colId xmlns:a16="http://schemas.microsoft.com/office/drawing/2014/main" val="3822283522"/>
                    </a:ext>
                  </a:extLst>
                </a:gridCol>
                <a:gridCol w="829518">
                  <a:extLst>
                    <a:ext uri="{9D8B030D-6E8A-4147-A177-3AD203B41FA5}">
                      <a16:colId xmlns:a16="http://schemas.microsoft.com/office/drawing/2014/main" val="492242960"/>
                    </a:ext>
                  </a:extLst>
                </a:gridCol>
              </a:tblGrid>
              <a:tr h="779786">
                <a:tc>
                  <a:txBody>
                    <a:bodyPr/>
                    <a:lstStyle/>
                    <a:p>
                      <a:pPr algn="ctr"/>
                      <a:r>
                        <a:rPr lang="ar-SA" sz="2000" dirty="0"/>
                        <a:t>الربط </a:t>
                      </a:r>
                      <a:r>
                        <a:rPr lang="ar-SA" sz="1600" dirty="0"/>
                        <a:t>(الهدف الاستراتيجي – الوضع المستقبلي)</a:t>
                      </a:r>
                    </a:p>
                  </a:txBody>
                  <a:tcPr anchor="ctr"/>
                </a:tc>
                <a:tc>
                  <a:txBody>
                    <a:bodyPr/>
                    <a:lstStyle/>
                    <a:p>
                      <a:pPr algn="ctr"/>
                      <a:r>
                        <a:rPr lang="ar-SA" sz="2000" dirty="0"/>
                        <a:t>أولوية</a:t>
                      </a:r>
                    </a:p>
                    <a:p>
                      <a:pPr algn="ctr"/>
                      <a:r>
                        <a:rPr lang="ar-SA" sz="2000" dirty="0"/>
                        <a:t>التنفيذ</a:t>
                      </a:r>
                      <a:endParaRPr lang="en-US" sz="2000" dirty="0"/>
                    </a:p>
                  </a:txBody>
                  <a:tcPr anchor="ctr"/>
                </a:tc>
                <a:tc>
                  <a:txBody>
                    <a:bodyPr/>
                    <a:lstStyle/>
                    <a:p>
                      <a:pPr algn="ctr"/>
                      <a:r>
                        <a:rPr lang="ar-SA" sz="2000" dirty="0"/>
                        <a:t>حالة المتطلب</a:t>
                      </a:r>
                      <a:endParaRPr lang="en-US" sz="2000" dirty="0"/>
                    </a:p>
                  </a:txBody>
                  <a:tcPr anchor="ctr"/>
                </a:tc>
                <a:tc>
                  <a:txBody>
                    <a:bodyPr/>
                    <a:lstStyle/>
                    <a:p>
                      <a:pPr algn="ctr"/>
                      <a:r>
                        <a:rPr lang="ar-EG" sz="2000" dirty="0"/>
                        <a:t>المتطلبات ذات</a:t>
                      </a:r>
                    </a:p>
                    <a:p>
                      <a:pPr algn="ctr"/>
                      <a:r>
                        <a:rPr lang="ar-EG" sz="2000" dirty="0"/>
                        <a:t>العلاقة</a:t>
                      </a:r>
                      <a:endParaRPr lang="en-US" sz="2000" dirty="0"/>
                    </a:p>
                  </a:txBody>
                  <a:tcPr anchor="ctr"/>
                </a:tc>
                <a:tc>
                  <a:txBody>
                    <a:bodyPr/>
                    <a:lstStyle/>
                    <a:p>
                      <a:pPr algn="ctr"/>
                      <a:r>
                        <a:rPr lang="ar-EG" sz="2000" dirty="0"/>
                        <a:t>المجالات المتأثرة</a:t>
                      </a:r>
                    </a:p>
                    <a:p>
                      <a:pPr algn="ctr"/>
                      <a:r>
                        <a:rPr lang="ar-EG" sz="2000" dirty="0"/>
                        <a:t>بالمتطلب</a:t>
                      </a:r>
                      <a:endParaRPr lang="en-US" sz="2000" dirty="0"/>
                    </a:p>
                  </a:txBody>
                  <a:tcPr anchor="ctr"/>
                </a:tc>
                <a:tc>
                  <a:txBody>
                    <a:bodyPr/>
                    <a:lstStyle/>
                    <a:p>
                      <a:pPr algn="ctr"/>
                      <a:r>
                        <a:rPr lang="ar-EG" sz="2000" dirty="0"/>
                        <a:t>مجال</a:t>
                      </a:r>
                    </a:p>
                    <a:p>
                      <a:pPr algn="ctr"/>
                      <a:r>
                        <a:rPr lang="ar-EG" sz="2000" dirty="0"/>
                        <a:t>المتطلب</a:t>
                      </a:r>
                      <a:endParaRPr lang="en-US" sz="2000" dirty="0"/>
                    </a:p>
                  </a:txBody>
                  <a:tcPr anchor="ctr"/>
                </a:tc>
                <a:tc>
                  <a:txBody>
                    <a:bodyPr/>
                    <a:lstStyle/>
                    <a:p>
                      <a:pPr algn="ctr"/>
                      <a:r>
                        <a:rPr lang="ar-SA" sz="2000" dirty="0"/>
                        <a:t>مصدر</a:t>
                      </a:r>
                    </a:p>
                    <a:p>
                      <a:pPr algn="ctr"/>
                      <a:r>
                        <a:rPr lang="ar-SA" sz="2000" dirty="0"/>
                        <a:t>المتطلب</a:t>
                      </a:r>
                      <a:endParaRPr lang="en-US" sz="2000" dirty="0"/>
                    </a:p>
                  </a:txBody>
                  <a:tcPr anchor="ctr"/>
                </a:tc>
                <a:tc>
                  <a:txBody>
                    <a:bodyPr/>
                    <a:lstStyle/>
                    <a:p>
                      <a:pPr algn="ctr"/>
                      <a:r>
                        <a:rPr lang="ar-SA" sz="2000" dirty="0"/>
                        <a:t>نص المتطلب</a:t>
                      </a:r>
                      <a:endParaRPr lang="en-US" sz="2000" dirty="0"/>
                    </a:p>
                  </a:txBody>
                  <a:tcPr anchor="ctr"/>
                </a:tc>
                <a:tc>
                  <a:txBody>
                    <a:bodyPr/>
                    <a:lstStyle/>
                    <a:p>
                      <a:pPr algn="ctr"/>
                      <a:r>
                        <a:rPr lang="ar-SA" sz="2000" dirty="0"/>
                        <a:t>رمز</a:t>
                      </a:r>
                    </a:p>
                    <a:p>
                      <a:pPr algn="ctr"/>
                      <a:r>
                        <a:rPr lang="ar-SA" sz="2000" dirty="0"/>
                        <a:t>المتطلب</a:t>
                      </a:r>
                      <a:endParaRPr lang="en-US" sz="2000" dirty="0"/>
                    </a:p>
                  </a:txBody>
                  <a:tcPr anchor="ctr"/>
                </a:tc>
                <a:extLst>
                  <a:ext uri="{0D108BD9-81ED-4DB2-BD59-A6C34878D82A}">
                    <a16:rowId xmlns:a16="http://schemas.microsoft.com/office/drawing/2014/main" val="3617136848"/>
                  </a:ext>
                </a:extLst>
              </a:tr>
              <a:tr h="607549">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b"/>
                </a:tc>
                <a:tc>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ctr"/>
                </a:tc>
                <a:tc>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extLst>
                  <a:ext uri="{0D108BD9-81ED-4DB2-BD59-A6C34878D82A}">
                    <a16:rowId xmlns:a16="http://schemas.microsoft.com/office/drawing/2014/main" val="18031325"/>
                  </a:ext>
                </a:extLst>
              </a:tr>
              <a:tr h="607549">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extLst>
                  <a:ext uri="{0D108BD9-81ED-4DB2-BD59-A6C34878D82A}">
                    <a16:rowId xmlns:a16="http://schemas.microsoft.com/office/drawing/2014/main" val="3006791125"/>
                  </a:ext>
                </a:extLst>
              </a:tr>
              <a:tr h="607549">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extLst>
                  <a:ext uri="{0D108BD9-81ED-4DB2-BD59-A6C34878D82A}">
                    <a16:rowId xmlns:a16="http://schemas.microsoft.com/office/drawing/2014/main" val="1976179613"/>
                  </a:ext>
                </a:extLst>
              </a:tr>
              <a:tr h="607549">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extLst>
                  <a:ext uri="{0D108BD9-81ED-4DB2-BD59-A6C34878D82A}">
                    <a16:rowId xmlns:a16="http://schemas.microsoft.com/office/drawing/2014/main" val="1965755369"/>
                  </a:ext>
                </a:extLst>
              </a:tr>
              <a:tr h="607549">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extLst>
                  <a:ext uri="{0D108BD9-81ED-4DB2-BD59-A6C34878D82A}">
                    <a16:rowId xmlns:a16="http://schemas.microsoft.com/office/drawing/2014/main" val="3920826566"/>
                  </a:ext>
                </a:extLst>
              </a:tr>
            </a:tbl>
          </a:graphicData>
        </a:graphic>
      </p:graphicFrame>
      <p:sp>
        <p:nvSpPr>
          <p:cNvPr id="4" name="Rectangle 3">
            <a:extLst>
              <a:ext uri="{FF2B5EF4-FFF2-40B4-BE49-F238E27FC236}">
                <a16:creationId xmlns:a16="http://schemas.microsoft.com/office/drawing/2014/main" id="{96254E0D-3126-1FA0-4526-C381BC770FF4}"/>
              </a:ext>
            </a:extLst>
          </p:cNvPr>
          <p:cNvSpPr/>
          <p:nvPr/>
        </p:nvSpPr>
        <p:spPr>
          <a:xfrm>
            <a:off x="609599" y="1106387"/>
            <a:ext cx="10972800" cy="707886"/>
          </a:xfrm>
          <a:prstGeom prst="rect">
            <a:avLst/>
          </a:prstGeom>
        </p:spPr>
        <p:txBody>
          <a:bodyPr wrap="square">
            <a:spAutoFit/>
          </a:bodyPr>
          <a:lstStyle/>
          <a:p>
            <a:pPr algn="r" rtl="1"/>
            <a:r>
              <a:rPr lang="ar-EG" sz="2000" dirty="0">
                <a:latin typeface="Sakkal Majalla" panose="02000000000000000000" pitchFamily="2" charset="-78"/>
                <a:cs typeface="Sakkal Majalla" panose="02000000000000000000" pitchFamily="2" charset="-78"/>
              </a:rPr>
              <a:t>فيما يلي جدول يوضح مثال حول توثيق متطلبات البنية المؤسسية في سجل شامل مع توضيح ارتباط متطلبات البنية المؤسسية مع الوضع المستقبلي وتشمل المشاريع والقدرات أو الفجوات أو التغييرات في التصاميم أو البنى أو الهياكل المعمارية وغيرها.</a:t>
            </a:r>
            <a:endParaRPr lang="en-AE" sz="2000"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42478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BE4EC83-A869-464E-AE9F-881796FB085E}" type="slidenum">
              <a:rPr lang="en-US" smtClean="0"/>
              <a:t>14</a:t>
            </a:fld>
            <a:endParaRPr lang="en-US"/>
          </a:p>
        </p:txBody>
      </p:sp>
      <p:graphicFrame>
        <p:nvGraphicFramePr>
          <p:cNvPr id="5" name="Content Placeholder 5">
            <a:extLst>
              <a:ext uri="{FF2B5EF4-FFF2-40B4-BE49-F238E27FC236}">
                <a16:creationId xmlns:a16="http://schemas.microsoft.com/office/drawing/2014/main" id="{2356AB4B-2187-0FB7-D1F7-8A06510FEF72}"/>
              </a:ext>
            </a:extLst>
          </p:cNvPr>
          <p:cNvGraphicFramePr>
            <a:graphicFrameLocks/>
          </p:cNvGraphicFramePr>
          <p:nvPr>
            <p:extLst>
              <p:ext uri="{D42A27DB-BD31-4B8C-83A1-F6EECF244321}">
                <p14:modId xmlns:p14="http://schemas.microsoft.com/office/powerpoint/2010/main" val="1616318932"/>
              </p:ext>
            </p:extLst>
          </p:nvPr>
        </p:nvGraphicFramePr>
        <p:xfrm>
          <a:off x="539111" y="1289683"/>
          <a:ext cx="6804663" cy="4610099"/>
        </p:xfrm>
        <a:graphic>
          <a:graphicData uri="http://schemas.openxmlformats.org/drawingml/2006/table">
            <a:tbl>
              <a:tblPr rtl="1" firstRow="1" bandRow="1">
                <a:tableStyleId>{5C22544A-7EE6-4342-B048-85BDC9FD1C3A}</a:tableStyleId>
              </a:tblPr>
              <a:tblGrid>
                <a:gridCol w="1971674">
                  <a:extLst>
                    <a:ext uri="{9D8B030D-6E8A-4147-A177-3AD203B41FA5}">
                      <a16:colId xmlns:a16="http://schemas.microsoft.com/office/drawing/2014/main" val="72010324"/>
                    </a:ext>
                  </a:extLst>
                </a:gridCol>
                <a:gridCol w="4832989">
                  <a:extLst>
                    <a:ext uri="{9D8B030D-6E8A-4147-A177-3AD203B41FA5}">
                      <a16:colId xmlns:a16="http://schemas.microsoft.com/office/drawing/2014/main" val="2225789071"/>
                    </a:ext>
                  </a:extLst>
                </a:gridCol>
              </a:tblGrid>
              <a:tr h="686611">
                <a:tc>
                  <a:txBody>
                    <a:bodyPr/>
                    <a:lstStyle/>
                    <a:p>
                      <a:pPr algn="ctr" rtl="1"/>
                      <a:r>
                        <a:rPr lang="ar-EG" sz="2000" baseline="0" dirty="0">
                          <a:latin typeface="Sakkal Majalla" panose="02000000000000000000" pitchFamily="2" charset="-78"/>
                          <a:cs typeface="Sakkal Majalla" panose="02000000000000000000" pitchFamily="2" charset="-78"/>
                        </a:rPr>
                        <a:t>الحقل</a:t>
                      </a:r>
                      <a:endParaRPr lang="en-US" sz="2000" b="1" baseline="0" dirty="0">
                        <a:solidFill>
                          <a:srgbClr val="FF0000"/>
                        </a:solidFill>
                        <a:latin typeface="Sakkal Majalla" panose="02000000000000000000" pitchFamily="2" charset="-78"/>
                        <a:cs typeface="Sakkal Majalla" panose="02000000000000000000" pitchFamily="2" charset="-78"/>
                      </a:endParaRPr>
                    </a:p>
                  </a:txBody>
                  <a:tcPr anchor="ctr"/>
                </a:tc>
                <a:tc>
                  <a:txBody>
                    <a:bodyPr/>
                    <a:lstStyle/>
                    <a:p>
                      <a:pPr algn="ctr" rtl="1"/>
                      <a:r>
                        <a:rPr lang="ar-EG" sz="2000" baseline="0" dirty="0">
                          <a:latin typeface="Sakkal Majalla" panose="02000000000000000000" pitchFamily="2" charset="-78"/>
                          <a:cs typeface="Sakkal Majalla" panose="02000000000000000000" pitchFamily="2" charset="-78"/>
                        </a:rPr>
                        <a:t>الوصف</a:t>
                      </a:r>
                      <a:endParaRPr lang="en-US" sz="2000" b="1" baseline="0" dirty="0">
                        <a:solidFill>
                          <a:srgbClr val="FF0000"/>
                        </a:solidFill>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560484865"/>
                  </a:ext>
                </a:extLst>
              </a:tr>
              <a:tr h="98087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مجالات البنية المؤسسية المتأثرة بالمتطلب</a:t>
                      </a:r>
                      <a:endParaRPr kumimoji="0" lang="en-US" sz="2000" b="1"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anchor="ctr">
                    <a:lnB w="12700" cap="flat" cmpd="sng" algn="ctr">
                      <a:solidFill>
                        <a:schemeClr val="accent2"/>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0"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وهو مجال/مجالات البنية المؤسسية التي يجب أن يتم تطوير مكوناتها لمعالجة التحدي (وذلك بناء على نتيجة تحليل فريق عمل البنية المؤسسية)</a:t>
                      </a:r>
                    </a:p>
                  </a:txBody>
                  <a:tcPr anchor="ctr">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968815825"/>
                  </a:ext>
                </a:extLst>
              </a:tr>
              <a:tr h="98087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المتطلبات ذات العلاقة</a:t>
                      </a:r>
                      <a:endParaRPr kumimoji="0" lang="en-US"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وهو توضيح رمز / رموز المتطلبات المرتبطة بهذا المتطلب والتي قد تؤثر</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فيه</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592398942"/>
                  </a:ext>
                </a:extLst>
              </a:tr>
              <a:tr h="98087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حالة المتطلب</a:t>
                      </a:r>
                      <a:endParaRPr kumimoji="0" lang="en-US"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وهو توصيف مدى التقدم في معالجة المتطلب، بحيث تحتمل حالة المتطلب</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أحد الحالات التالية: معتمد، موقوف، ملغي، مرحلة الوضع الراهن، مرحلة الوضع المستقبلي، مخطط للتنفيذ، قيد التنفيذ، منجز</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425585210"/>
                  </a:ext>
                </a:extLst>
              </a:tr>
              <a:tr h="98087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أولوية التنفيذ</a:t>
                      </a:r>
                      <a:endParaRPr kumimoji="0" lang="en-US"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anchor="ctr">
                    <a:lnT w="12700" cap="flat" cmpd="sng" algn="ctr">
                      <a:solidFill>
                        <a:schemeClr val="accent2"/>
                      </a:solidFill>
                      <a:prstDash val="solid"/>
                      <a:round/>
                      <a:headEnd type="none" w="med" len="med"/>
                      <a:tailEnd type="none" w="med" len="med"/>
                    </a:lnT>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وهو تحديد درجة أهمية/أولوية معالجة المتطلب (مثل: مرتفع، متوسط، متدني)، ويجب دراسة أولوية المتطلب كما هو موضح في شريحة أخرى</a:t>
                      </a:r>
                    </a:p>
                  </a:txBody>
                  <a:tcPr anchor="ctr">
                    <a:lnT w="12700" cap="flat" cmpd="sng" algn="ctr">
                      <a:solidFill>
                        <a:schemeClr val="accent2"/>
                      </a:solidFill>
                      <a:prstDash val="solid"/>
                      <a:round/>
                      <a:headEnd type="none" w="med" len="med"/>
                      <a:tailEnd type="none" w="med" len="med"/>
                    </a:lnT>
                    <a:noFill/>
                  </a:tcPr>
                </a:tc>
                <a:extLst>
                  <a:ext uri="{0D108BD9-81ED-4DB2-BD59-A6C34878D82A}">
                    <a16:rowId xmlns:a16="http://schemas.microsoft.com/office/drawing/2014/main" val="2847485707"/>
                  </a:ext>
                </a:extLst>
              </a:tr>
            </a:tbl>
          </a:graphicData>
        </a:graphic>
      </p:graphicFrame>
      <p:sp>
        <p:nvSpPr>
          <p:cNvPr id="8" name="Title 1">
            <a:extLst>
              <a:ext uri="{FF2B5EF4-FFF2-40B4-BE49-F238E27FC236}">
                <a16:creationId xmlns:a16="http://schemas.microsoft.com/office/drawing/2014/main" id="{FA5314F8-4E1D-4053-82AC-9E835A0018FD}"/>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وصف حقول</a:t>
            </a:r>
            <a:r>
              <a:rPr lang="ar-EG" dirty="0"/>
              <a:t> قائمة متطلبات البنية المؤسسية</a:t>
            </a:r>
            <a:endParaRPr lang="en-US" dirty="0"/>
          </a:p>
        </p:txBody>
      </p:sp>
      <p:graphicFrame>
        <p:nvGraphicFramePr>
          <p:cNvPr id="9" name="Content Placeholder 5">
            <a:extLst>
              <a:ext uri="{FF2B5EF4-FFF2-40B4-BE49-F238E27FC236}">
                <a16:creationId xmlns:a16="http://schemas.microsoft.com/office/drawing/2014/main" id="{F5544AB4-5155-8F58-7FCE-731105EE224D}"/>
              </a:ext>
            </a:extLst>
          </p:cNvPr>
          <p:cNvGraphicFramePr>
            <a:graphicFrameLocks/>
          </p:cNvGraphicFramePr>
          <p:nvPr>
            <p:extLst>
              <p:ext uri="{D42A27DB-BD31-4B8C-83A1-F6EECF244321}">
                <p14:modId xmlns:p14="http://schemas.microsoft.com/office/powerpoint/2010/main" val="2219650660"/>
              </p:ext>
            </p:extLst>
          </p:nvPr>
        </p:nvGraphicFramePr>
        <p:xfrm>
          <a:off x="7520940" y="1289683"/>
          <a:ext cx="4131949" cy="4610099"/>
        </p:xfrm>
        <a:graphic>
          <a:graphicData uri="http://schemas.openxmlformats.org/drawingml/2006/table">
            <a:tbl>
              <a:tblPr rtl="1" firstRow="1" bandRow="1">
                <a:tableStyleId>{5C22544A-7EE6-4342-B048-85BDC9FD1C3A}</a:tableStyleId>
              </a:tblPr>
              <a:tblGrid>
                <a:gridCol w="1234444">
                  <a:extLst>
                    <a:ext uri="{9D8B030D-6E8A-4147-A177-3AD203B41FA5}">
                      <a16:colId xmlns:a16="http://schemas.microsoft.com/office/drawing/2014/main" val="72010324"/>
                    </a:ext>
                  </a:extLst>
                </a:gridCol>
                <a:gridCol w="2897505">
                  <a:extLst>
                    <a:ext uri="{9D8B030D-6E8A-4147-A177-3AD203B41FA5}">
                      <a16:colId xmlns:a16="http://schemas.microsoft.com/office/drawing/2014/main" val="2225789071"/>
                    </a:ext>
                  </a:extLst>
                </a:gridCol>
              </a:tblGrid>
              <a:tr h="686611">
                <a:tc>
                  <a:txBody>
                    <a:bodyPr/>
                    <a:lstStyle/>
                    <a:p>
                      <a:pPr algn="ctr" rtl="1"/>
                      <a:r>
                        <a:rPr lang="ar-EG" sz="2400" baseline="0" dirty="0">
                          <a:latin typeface="Sakkal Majalla" panose="02000000000000000000" pitchFamily="2" charset="-78"/>
                          <a:cs typeface="Sakkal Majalla" panose="02000000000000000000" pitchFamily="2" charset="-78"/>
                        </a:rPr>
                        <a:t>الحقل</a:t>
                      </a:r>
                      <a:endParaRPr lang="en-US" sz="2400" b="1" baseline="0" dirty="0">
                        <a:solidFill>
                          <a:srgbClr val="FF0000"/>
                        </a:solidFill>
                        <a:latin typeface="Sakkal Majalla" panose="02000000000000000000" pitchFamily="2" charset="-78"/>
                        <a:cs typeface="Sakkal Majalla" panose="02000000000000000000" pitchFamily="2" charset="-78"/>
                      </a:endParaRPr>
                    </a:p>
                  </a:txBody>
                  <a:tcPr anchor="ctr"/>
                </a:tc>
                <a:tc>
                  <a:txBody>
                    <a:bodyPr/>
                    <a:lstStyle/>
                    <a:p>
                      <a:pPr algn="ctr" rtl="1"/>
                      <a:r>
                        <a:rPr lang="ar-EG" sz="2400" baseline="0" dirty="0">
                          <a:latin typeface="Sakkal Majalla" panose="02000000000000000000" pitchFamily="2" charset="-78"/>
                          <a:cs typeface="Sakkal Majalla" panose="02000000000000000000" pitchFamily="2" charset="-78"/>
                        </a:rPr>
                        <a:t>الوصف</a:t>
                      </a:r>
                      <a:endParaRPr lang="en-US" sz="2400" b="1" baseline="0" dirty="0">
                        <a:solidFill>
                          <a:srgbClr val="FF0000"/>
                        </a:solidFill>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560484865"/>
                  </a:ext>
                </a:extLst>
              </a:tr>
              <a:tr h="98087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رمز المتطلب</a:t>
                      </a:r>
                      <a:endParaRPr kumimoji="0" lang="en-US" sz="2000" b="1"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anchor="ctr">
                    <a:lnB w="12700" cap="flat" cmpd="sng" algn="ctr">
                      <a:solidFill>
                        <a:schemeClr val="accent2"/>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0"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وهو الرمز التعريفي للمتطلب الذي سيتم استخدامه للمتابعة</a:t>
                      </a:r>
                    </a:p>
                  </a:txBody>
                  <a:tcPr anchor="ctr">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968815825"/>
                  </a:ext>
                </a:extLst>
              </a:tr>
              <a:tr h="98087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نص المتطلب</a:t>
                      </a:r>
                      <a:endParaRPr kumimoji="0" lang="en-US"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وهو شرح المتطلب الذي يصف التحدي الذي يتطلب معالجته من خلال مكونات البنية المؤسسية</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592398942"/>
                  </a:ext>
                </a:extLst>
              </a:tr>
              <a:tr h="98087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مصدر المتطلب</a:t>
                      </a:r>
                      <a:endParaRPr kumimoji="0" lang="en-US"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وهو تحديد المصدر الذي نتج عنه هذا المتطلب</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425585210"/>
                  </a:ext>
                </a:extLst>
              </a:tr>
              <a:tr h="98087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مجال المتطلب</a:t>
                      </a:r>
                      <a:endParaRPr kumimoji="0" lang="en-US"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anchor="ctr">
                    <a:lnT w="12700" cap="flat" cmpd="sng" algn="ctr">
                      <a:solidFill>
                        <a:schemeClr val="accent2"/>
                      </a:solidFill>
                      <a:prstDash val="solid"/>
                      <a:round/>
                      <a:headEnd type="none" w="med" len="med"/>
                      <a:tailEnd type="none" w="med" len="med"/>
                    </a:lnT>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وهو تحديد مجال البنية المؤسسية الرئيسي الذي يرتبط به المتطلب</a:t>
                      </a:r>
                    </a:p>
                  </a:txBody>
                  <a:tcPr anchor="ctr">
                    <a:lnT w="12700" cap="flat" cmpd="sng" algn="ctr">
                      <a:solidFill>
                        <a:schemeClr val="accent2"/>
                      </a:solidFill>
                      <a:prstDash val="solid"/>
                      <a:round/>
                      <a:headEnd type="none" w="med" len="med"/>
                      <a:tailEnd type="none" w="med" len="med"/>
                    </a:lnT>
                    <a:noFill/>
                  </a:tcPr>
                </a:tc>
                <a:extLst>
                  <a:ext uri="{0D108BD9-81ED-4DB2-BD59-A6C34878D82A}">
                    <a16:rowId xmlns:a16="http://schemas.microsoft.com/office/drawing/2014/main" val="2847485707"/>
                  </a:ext>
                </a:extLst>
              </a:tr>
            </a:tbl>
          </a:graphicData>
        </a:graphic>
      </p:graphicFrame>
    </p:spTree>
    <p:extLst>
      <p:ext uri="{BB962C8B-B14F-4D97-AF65-F5344CB8AC3E}">
        <p14:creationId xmlns:p14="http://schemas.microsoft.com/office/powerpoint/2010/main" val="280885311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15</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نموذج لربط متطلبات البنية المؤسسية مع مبادئ البنية المؤسسية</a:t>
            </a:r>
            <a:endParaRPr lang="en-US" dirty="0"/>
          </a:p>
        </p:txBody>
      </p:sp>
      <p:sp>
        <p:nvSpPr>
          <p:cNvPr id="3" name="Rectangle 2">
            <a:extLst>
              <a:ext uri="{FF2B5EF4-FFF2-40B4-BE49-F238E27FC236}">
                <a16:creationId xmlns:a16="http://schemas.microsoft.com/office/drawing/2014/main" id="{20B3FC25-282A-DD9B-CE46-C1AC8A7E43F1}"/>
              </a:ext>
            </a:extLst>
          </p:cNvPr>
          <p:cNvSpPr/>
          <p:nvPr/>
        </p:nvSpPr>
        <p:spPr>
          <a:xfrm>
            <a:off x="609599" y="969731"/>
            <a:ext cx="10972800" cy="707886"/>
          </a:xfrm>
          <a:prstGeom prst="rect">
            <a:avLst/>
          </a:prstGeom>
        </p:spPr>
        <p:txBody>
          <a:bodyPr wrap="square">
            <a:spAutoFit/>
          </a:bodyPr>
          <a:lstStyle/>
          <a:p>
            <a:pPr algn="r" rtl="1"/>
            <a:r>
              <a:rPr lang="ar-EG" sz="2000" dirty="0">
                <a:latin typeface="Sakkal Majalla" panose="02000000000000000000" pitchFamily="2" charset="-78"/>
                <a:cs typeface="Sakkal Majalla" panose="02000000000000000000" pitchFamily="2" charset="-78"/>
              </a:rPr>
              <a:t>فيما يلي مثال توضيحي لكيفية ربط متطلبات الأعمال مع مبادئ بنية الأعمال، وبنفس الطريقة يتم الربط بين المتطلبات لباقي مجالات البنية المؤسسية (البيانات, التطبيقات, التقنية) مع المبادئ الخاصة بها (بعد تجهيز واعتماد المبادئ).</a:t>
            </a:r>
            <a:endParaRPr lang="en-AE" sz="2000" dirty="0">
              <a:latin typeface="Sakkal Majalla" panose="02000000000000000000" pitchFamily="2" charset="-78"/>
              <a:cs typeface="Sakkal Majalla" panose="02000000000000000000" pitchFamily="2" charset="-78"/>
            </a:endParaRPr>
          </a:p>
        </p:txBody>
      </p:sp>
      <p:pic>
        <p:nvPicPr>
          <p:cNvPr id="19" name="Picture 18">
            <a:extLst>
              <a:ext uri="{FF2B5EF4-FFF2-40B4-BE49-F238E27FC236}">
                <a16:creationId xmlns:a16="http://schemas.microsoft.com/office/drawing/2014/main" id="{25E0B8B9-4E25-7984-A910-63CD79E4BDF6}"/>
              </a:ext>
            </a:extLst>
          </p:cNvPr>
          <p:cNvPicPr>
            <a:picLocks noChangeAspect="1"/>
          </p:cNvPicPr>
          <p:nvPr/>
        </p:nvPicPr>
        <p:blipFill>
          <a:blip r:embed="rId3"/>
          <a:stretch>
            <a:fillRect/>
          </a:stretch>
        </p:blipFill>
        <p:spPr>
          <a:xfrm>
            <a:off x="1872688" y="1597507"/>
            <a:ext cx="8446623" cy="4529349"/>
          </a:xfrm>
          <a:prstGeom prst="rect">
            <a:avLst/>
          </a:prstGeom>
          <a:ln>
            <a:solidFill>
              <a:schemeClr val="bg1">
                <a:lumMod val="85000"/>
              </a:schemeClr>
            </a:solidFill>
          </a:ln>
        </p:spPr>
      </p:pic>
      <p:sp>
        <p:nvSpPr>
          <p:cNvPr id="20" name="Rectangle 19">
            <a:extLst>
              <a:ext uri="{FF2B5EF4-FFF2-40B4-BE49-F238E27FC236}">
                <a16:creationId xmlns:a16="http://schemas.microsoft.com/office/drawing/2014/main" id="{E8A9431A-F7BF-CA29-1EF3-C162F610F807}"/>
              </a:ext>
            </a:extLst>
          </p:cNvPr>
          <p:cNvSpPr/>
          <p:nvPr/>
        </p:nvSpPr>
        <p:spPr>
          <a:xfrm>
            <a:off x="2018390" y="1723250"/>
            <a:ext cx="1217138" cy="363176"/>
          </a:xfrm>
          <a:prstGeom prst="rect">
            <a:avLst/>
          </a:prstGeom>
          <a:solidFill>
            <a:schemeClr val="accent2">
              <a:lumMod val="20000"/>
              <a:lumOff val="80000"/>
            </a:schemeClr>
          </a:solidFill>
          <a:ln>
            <a:solidFill>
              <a:srgbClr val="4C3C8D"/>
            </a:solidFill>
          </a:ln>
        </p:spPr>
        <p:txBody>
          <a:bodyPr wrap="square" anchor="ctr" anchorCtr="0">
            <a:noAutofit/>
          </a:bodyPr>
          <a:lstStyle/>
          <a:p>
            <a:pPr algn="ctr" rtl="1">
              <a:lnSpc>
                <a:spcPct val="80000"/>
              </a:lnSpc>
            </a:pPr>
            <a:r>
              <a:rPr lang="ar-SA" sz="2400" dirty="0">
                <a:latin typeface="Sakkal Majalla" panose="02000000000000000000" pitchFamily="2" charset="-78"/>
                <a:cs typeface="Sakkal Majalla" panose="02000000000000000000" pitchFamily="2" charset="-78"/>
              </a:rPr>
              <a:t>مثال</a:t>
            </a:r>
            <a:endParaRPr lang="ar-SA" sz="1600" dirty="0">
              <a:latin typeface="Sakkal Majalla" panose="02000000000000000000" pitchFamily="2" charset="-78"/>
              <a:cs typeface="Sakkal Majalla" panose="02000000000000000000" pitchFamily="2" charset="-78"/>
            </a:endParaRPr>
          </a:p>
        </p:txBody>
      </p:sp>
      <p:sp>
        <p:nvSpPr>
          <p:cNvPr id="4" name="Rectangle 3">
            <a:extLst>
              <a:ext uri="{FF2B5EF4-FFF2-40B4-BE49-F238E27FC236}">
                <a16:creationId xmlns:a16="http://schemas.microsoft.com/office/drawing/2014/main" id="{D56B06AD-3E58-7F70-6C72-701B2A66960B}"/>
              </a:ext>
            </a:extLst>
          </p:cNvPr>
          <p:cNvSpPr/>
          <p:nvPr/>
        </p:nvSpPr>
        <p:spPr>
          <a:xfrm>
            <a:off x="1206467" y="502928"/>
            <a:ext cx="2311400" cy="461665"/>
          </a:xfrm>
          <a:prstGeom prst="rect">
            <a:avLst/>
          </a:prstGeom>
        </p:spPr>
        <p:txBody>
          <a:bodyPr wrap="square">
            <a:spAutoFit/>
          </a:bodyPr>
          <a:lstStyle/>
          <a:p>
            <a:pPr algn="r" rtl="1"/>
            <a:r>
              <a:rPr lang="ar-EG" sz="1200" b="1" dirty="0">
                <a:solidFill>
                  <a:srgbClr val="4D427A"/>
                </a:solidFill>
                <a:latin typeface="Sakkal Majalla" panose="02000000000000000000" pitchFamily="2" charset="-78"/>
                <a:cs typeface="Sakkal Majalla" panose="02000000000000000000" pitchFamily="2" charset="-78"/>
              </a:rPr>
              <a:t>المصدر:  دليل استرشادي لإدارة متطلبات البنية المؤسسية </a:t>
            </a:r>
            <a:r>
              <a:rPr lang="en-US" sz="1200" b="1" dirty="0">
                <a:solidFill>
                  <a:srgbClr val="4D427A"/>
                </a:solidFill>
                <a:latin typeface="Sakkal Majalla" panose="02000000000000000000" pitchFamily="2" charset="-78"/>
                <a:cs typeface="Sakkal Majalla" panose="02000000000000000000" pitchFamily="2" charset="-78"/>
              </a:rPr>
              <a:t>V0.4</a:t>
            </a:r>
            <a:endParaRPr lang="ar-EG" sz="1200" b="1" dirty="0">
              <a:solidFill>
                <a:srgbClr val="4D427A"/>
              </a:solidFill>
              <a:latin typeface="Sakkal Majalla" panose="02000000000000000000" pitchFamily="2" charset="-78"/>
              <a:cs typeface="Sakkal Majalla" panose="02000000000000000000" pitchFamily="2" charset="-78"/>
            </a:endParaRPr>
          </a:p>
        </p:txBody>
      </p:sp>
      <p:sp>
        <p:nvSpPr>
          <p:cNvPr id="5" name="Freeform 32">
            <a:extLst>
              <a:ext uri="{FF2B5EF4-FFF2-40B4-BE49-F238E27FC236}">
                <a16:creationId xmlns:a16="http://schemas.microsoft.com/office/drawing/2014/main" id="{21027661-7351-0FF9-6577-8DA13B1AF583}"/>
              </a:ext>
            </a:extLst>
          </p:cNvPr>
          <p:cNvSpPr/>
          <p:nvPr/>
        </p:nvSpPr>
        <p:spPr>
          <a:xfrm>
            <a:off x="2564448" y="460042"/>
            <a:ext cx="953419" cy="130380"/>
          </a:xfrm>
          <a:custGeom>
            <a:avLst/>
            <a:gdLst>
              <a:gd name="connsiteX0" fmla="*/ 0 w 840914"/>
              <a:gd name="connsiteY0" fmla="*/ 0 h 414704"/>
              <a:gd name="connsiteX1" fmla="*/ 631664 w 840914"/>
              <a:gd name="connsiteY1" fmla="*/ 0 h 414704"/>
              <a:gd name="connsiteX2" fmla="*/ 840914 w 840914"/>
              <a:gd name="connsiteY2" fmla="*/ 209250 h 414704"/>
              <a:gd name="connsiteX3" fmla="*/ 840914 w 840914"/>
              <a:gd name="connsiteY3" fmla="*/ 414704 h 414704"/>
              <a:gd name="connsiteX4" fmla="*/ 0 w 840914"/>
              <a:gd name="connsiteY4" fmla="*/ 414704 h 414704"/>
              <a:gd name="connsiteX5" fmla="*/ 0 w 840914"/>
              <a:gd name="connsiteY5" fmla="*/ 0 h 414704"/>
              <a:gd name="connsiteX0" fmla="*/ 0 w 840914"/>
              <a:gd name="connsiteY0" fmla="*/ 414704 h 506144"/>
              <a:gd name="connsiteX1" fmla="*/ 0 w 840914"/>
              <a:gd name="connsiteY1" fmla="*/ 0 h 506144"/>
              <a:gd name="connsiteX2" fmla="*/ 631664 w 840914"/>
              <a:gd name="connsiteY2" fmla="*/ 0 h 506144"/>
              <a:gd name="connsiteX3" fmla="*/ 840914 w 840914"/>
              <a:gd name="connsiteY3" fmla="*/ 209250 h 506144"/>
              <a:gd name="connsiteX4" fmla="*/ 840914 w 840914"/>
              <a:gd name="connsiteY4" fmla="*/ 414704 h 506144"/>
              <a:gd name="connsiteX5" fmla="*/ 91440 w 840914"/>
              <a:gd name="connsiteY5" fmla="*/ 506144 h 506144"/>
              <a:gd name="connsiteX0" fmla="*/ 0 w 840914"/>
              <a:gd name="connsiteY0" fmla="*/ 414704 h 414704"/>
              <a:gd name="connsiteX1" fmla="*/ 0 w 840914"/>
              <a:gd name="connsiteY1" fmla="*/ 0 h 414704"/>
              <a:gd name="connsiteX2" fmla="*/ 631664 w 840914"/>
              <a:gd name="connsiteY2" fmla="*/ 0 h 414704"/>
              <a:gd name="connsiteX3" fmla="*/ 840914 w 840914"/>
              <a:gd name="connsiteY3" fmla="*/ 209250 h 414704"/>
              <a:gd name="connsiteX4" fmla="*/ 840914 w 840914"/>
              <a:gd name="connsiteY4" fmla="*/ 414704 h 414704"/>
              <a:gd name="connsiteX0" fmla="*/ 0 w 840914"/>
              <a:gd name="connsiteY0" fmla="*/ 0 h 414704"/>
              <a:gd name="connsiteX1" fmla="*/ 631664 w 840914"/>
              <a:gd name="connsiteY1" fmla="*/ 0 h 414704"/>
              <a:gd name="connsiteX2" fmla="*/ 840914 w 840914"/>
              <a:gd name="connsiteY2" fmla="*/ 209250 h 414704"/>
              <a:gd name="connsiteX3" fmla="*/ 840914 w 840914"/>
              <a:gd name="connsiteY3" fmla="*/ 414704 h 414704"/>
            </a:gdLst>
            <a:ahLst/>
            <a:cxnLst>
              <a:cxn ang="0">
                <a:pos x="connsiteX0" y="connsiteY0"/>
              </a:cxn>
              <a:cxn ang="0">
                <a:pos x="connsiteX1" y="connsiteY1"/>
              </a:cxn>
              <a:cxn ang="0">
                <a:pos x="connsiteX2" y="connsiteY2"/>
              </a:cxn>
              <a:cxn ang="0">
                <a:pos x="connsiteX3" y="connsiteY3"/>
              </a:cxn>
            </a:cxnLst>
            <a:rect l="l" t="t" r="r" b="b"/>
            <a:pathLst>
              <a:path w="840914" h="414704">
                <a:moveTo>
                  <a:pt x="0" y="0"/>
                </a:moveTo>
                <a:lnTo>
                  <a:pt x="631664" y="0"/>
                </a:lnTo>
                <a:cubicBezTo>
                  <a:pt x="747230" y="0"/>
                  <a:pt x="840914" y="93684"/>
                  <a:pt x="840914" y="209250"/>
                </a:cubicBezTo>
                <a:lnTo>
                  <a:pt x="840914" y="414704"/>
                </a:ln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6" name="Freeform 33">
            <a:extLst>
              <a:ext uri="{FF2B5EF4-FFF2-40B4-BE49-F238E27FC236}">
                <a16:creationId xmlns:a16="http://schemas.microsoft.com/office/drawing/2014/main" id="{0FB1E4A8-51BD-A299-F755-E62C565520B6}"/>
              </a:ext>
            </a:extLst>
          </p:cNvPr>
          <p:cNvSpPr/>
          <p:nvPr/>
        </p:nvSpPr>
        <p:spPr>
          <a:xfrm>
            <a:off x="1228954" y="460041"/>
            <a:ext cx="2288913" cy="554000"/>
          </a:xfrm>
          <a:custGeom>
            <a:avLst/>
            <a:gdLst>
              <a:gd name="connsiteX0" fmla="*/ 209250 w 2018818"/>
              <a:gd name="connsiteY0" fmla="*/ 0 h 2505075"/>
              <a:gd name="connsiteX1" fmla="*/ 1177904 w 2018818"/>
              <a:gd name="connsiteY1" fmla="*/ 0 h 2505075"/>
              <a:gd name="connsiteX2" fmla="*/ 1177904 w 2018818"/>
              <a:gd name="connsiteY2" fmla="*/ 414704 h 2505075"/>
              <a:gd name="connsiteX3" fmla="*/ 2018818 w 2018818"/>
              <a:gd name="connsiteY3" fmla="*/ 414704 h 2505075"/>
              <a:gd name="connsiteX4" fmla="*/ 2018818 w 2018818"/>
              <a:gd name="connsiteY4" fmla="*/ 2295825 h 2505075"/>
              <a:gd name="connsiteX5" fmla="*/ 1809568 w 2018818"/>
              <a:gd name="connsiteY5" fmla="*/ 2505075 h 2505075"/>
              <a:gd name="connsiteX6" fmla="*/ 209250 w 2018818"/>
              <a:gd name="connsiteY6" fmla="*/ 2505075 h 2505075"/>
              <a:gd name="connsiteX7" fmla="*/ 0 w 2018818"/>
              <a:gd name="connsiteY7" fmla="*/ 2295825 h 2505075"/>
              <a:gd name="connsiteX8" fmla="*/ 0 w 2018818"/>
              <a:gd name="connsiteY8" fmla="*/ 209250 h 2505075"/>
              <a:gd name="connsiteX9" fmla="*/ 209250 w 2018818"/>
              <a:gd name="connsiteY9" fmla="*/ 0 h 2505075"/>
              <a:gd name="connsiteX0" fmla="*/ 1177904 w 2018818"/>
              <a:gd name="connsiteY0" fmla="*/ 414704 h 2505075"/>
              <a:gd name="connsiteX1" fmla="*/ 2018818 w 2018818"/>
              <a:gd name="connsiteY1" fmla="*/ 414704 h 2505075"/>
              <a:gd name="connsiteX2" fmla="*/ 2018818 w 2018818"/>
              <a:gd name="connsiteY2" fmla="*/ 2295825 h 2505075"/>
              <a:gd name="connsiteX3" fmla="*/ 1809568 w 2018818"/>
              <a:gd name="connsiteY3" fmla="*/ 2505075 h 2505075"/>
              <a:gd name="connsiteX4" fmla="*/ 209250 w 2018818"/>
              <a:gd name="connsiteY4" fmla="*/ 2505075 h 2505075"/>
              <a:gd name="connsiteX5" fmla="*/ 0 w 2018818"/>
              <a:gd name="connsiteY5" fmla="*/ 2295825 h 2505075"/>
              <a:gd name="connsiteX6" fmla="*/ 0 w 2018818"/>
              <a:gd name="connsiteY6" fmla="*/ 209250 h 2505075"/>
              <a:gd name="connsiteX7" fmla="*/ 209250 w 2018818"/>
              <a:gd name="connsiteY7" fmla="*/ 0 h 2505075"/>
              <a:gd name="connsiteX8" fmla="*/ 1177904 w 2018818"/>
              <a:gd name="connsiteY8" fmla="*/ 0 h 2505075"/>
              <a:gd name="connsiteX9" fmla="*/ 1269344 w 2018818"/>
              <a:gd name="connsiteY9" fmla="*/ 506144 h 2505075"/>
              <a:gd name="connsiteX0" fmla="*/ 1177904 w 2018818"/>
              <a:gd name="connsiteY0" fmla="*/ 414704 h 2505075"/>
              <a:gd name="connsiteX1" fmla="*/ 2018818 w 2018818"/>
              <a:gd name="connsiteY1" fmla="*/ 414704 h 2505075"/>
              <a:gd name="connsiteX2" fmla="*/ 2018818 w 2018818"/>
              <a:gd name="connsiteY2" fmla="*/ 2295825 h 2505075"/>
              <a:gd name="connsiteX3" fmla="*/ 1809568 w 2018818"/>
              <a:gd name="connsiteY3" fmla="*/ 2505075 h 2505075"/>
              <a:gd name="connsiteX4" fmla="*/ 209250 w 2018818"/>
              <a:gd name="connsiteY4" fmla="*/ 2505075 h 2505075"/>
              <a:gd name="connsiteX5" fmla="*/ 0 w 2018818"/>
              <a:gd name="connsiteY5" fmla="*/ 2295825 h 2505075"/>
              <a:gd name="connsiteX6" fmla="*/ 0 w 2018818"/>
              <a:gd name="connsiteY6" fmla="*/ 209250 h 2505075"/>
              <a:gd name="connsiteX7" fmla="*/ 209250 w 2018818"/>
              <a:gd name="connsiteY7" fmla="*/ 0 h 2505075"/>
              <a:gd name="connsiteX8" fmla="*/ 1177904 w 2018818"/>
              <a:gd name="connsiteY8" fmla="*/ 0 h 2505075"/>
              <a:gd name="connsiteX0" fmla="*/ 2018818 w 2018818"/>
              <a:gd name="connsiteY0" fmla="*/ 414704 h 2505075"/>
              <a:gd name="connsiteX1" fmla="*/ 2018818 w 2018818"/>
              <a:gd name="connsiteY1" fmla="*/ 2295825 h 2505075"/>
              <a:gd name="connsiteX2" fmla="*/ 1809568 w 2018818"/>
              <a:gd name="connsiteY2" fmla="*/ 2505075 h 2505075"/>
              <a:gd name="connsiteX3" fmla="*/ 209250 w 2018818"/>
              <a:gd name="connsiteY3" fmla="*/ 2505075 h 2505075"/>
              <a:gd name="connsiteX4" fmla="*/ 0 w 2018818"/>
              <a:gd name="connsiteY4" fmla="*/ 2295825 h 2505075"/>
              <a:gd name="connsiteX5" fmla="*/ 0 w 2018818"/>
              <a:gd name="connsiteY5" fmla="*/ 209250 h 2505075"/>
              <a:gd name="connsiteX6" fmla="*/ 209250 w 2018818"/>
              <a:gd name="connsiteY6" fmla="*/ 0 h 2505075"/>
              <a:gd name="connsiteX7" fmla="*/ 1177904 w 2018818"/>
              <a:gd name="connsiteY7" fmla="*/ 0 h 2505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8818" h="2505075">
                <a:moveTo>
                  <a:pt x="2018818" y="414704"/>
                </a:moveTo>
                <a:lnTo>
                  <a:pt x="2018818" y="2295825"/>
                </a:lnTo>
                <a:cubicBezTo>
                  <a:pt x="2018818" y="2411391"/>
                  <a:pt x="1925134" y="2505075"/>
                  <a:pt x="1809568" y="2505075"/>
                </a:cubicBezTo>
                <a:lnTo>
                  <a:pt x="209250" y="2505075"/>
                </a:lnTo>
                <a:cubicBezTo>
                  <a:pt x="93684" y="2505075"/>
                  <a:pt x="0" y="2411391"/>
                  <a:pt x="0" y="2295825"/>
                </a:cubicBezTo>
                <a:lnTo>
                  <a:pt x="0" y="209250"/>
                </a:lnTo>
                <a:cubicBezTo>
                  <a:pt x="0" y="93684"/>
                  <a:pt x="93684" y="0"/>
                  <a:pt x="209250" y="0"/>
                </a:cubicBezTo>
                <a:lnTo>
                  <a:pt x="1177904" y="0"/>
                </a:lnTo>
              </a:path>
            </a:pathLst>
          </a:custGeom>
          <a:noFill/>
          <a:ln>
            <a:solidFill>
              <a:schemeClr val="accent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96622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16</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إعادة تحديد أولويات متطلبات البنية المؤسسية المعتمدة</a:t>
            </a:r>
            <a:endParaRPr lang="en-US" dirty="0"/>
          </a:p>
        </p:txBody>
      </p:sp>
      <p:sp>
        <p:nvSpPr>
          <p:cNvPr id="15" name="Rectangle 14">
            <a:extLst>
              <a:ext uri="{FF2B5EF4-FFF2-40B4-BE49-F238E27FC236}">
                <a16:creationId xmlns:a16="http://schemas.microsoft.com/office/drawing/2014/main" id="{7B21A5CB-82AC-F540-2F06-31E6BF4F283A}"/>
              </a:ext>
            </a:extLst>
          </p:cNvPr>
          <p:cNvSpPr/>
          <p:nvPr/>
        </p:nvSpPr>
        <p:spPr>
          <a:xfrm>
            <a:off x="1148316" y="1123837"/>
            <a:ext cx="8358036" cy="4276838"/>
          </a:xfrm>
          <a:prstGeom prst="rect">
            <a:avLst/>
          </a:prstGeom>
        </p:spPr>
        <p:txBody>
          <a:bodyPr anchor="ctr" anchorCtr="0">
            <a:normAutofit fontScale="85000" lnSpcReduction="10000"/>
          </a:bodyPr>
          <a:lstStyle/>
          <a:p>
            <a:pPr algn="ctr" rtl="1">
              <a:lnSpc>
                <a:spcPct val="150000"/>
              </a:lnSpc>
              <a:spcAft>
                <a:spcPts val="1200"/>
              </a:spcAft>
            </a:pPr>
            <a:r>
              <a:rPr lang="ar-EG" sz="2400" b="1" dirty="0"/>
              <a:t>بعد اعتماد أحد متطلبات البنية المؤسسية؛ يقوم كبير مهندسي البنية المؤسسية وبالتعاون مع فريق عمل البنية المؤسسية بدراسة أثر المتطلب الجديد على قائمة المتطلبات المعتمدة وإعادة تحديد أولويات متطلبات البنية المؤسسية المعتمدة، بحيث يجب الأخذ بعين الاعتبار النقاط التالية في تحديد أولويات المتطلبات:</a:t>
            </a:r>
            <a:endParaRPr lang="ar-EG" sz="1400" b="1" dirty="0"/>
          </a:p>
          <a:p>
            <a:pPr marL="457200" indent="-457200" algn="r" rtl="1">
              <a:lnSpc>
                <a:spcPct val="150000"/>
              </a:lnSpc>
              <a:spcAft>
                <a:spcPts val="1200"/>
              </a:spcAft>
              <a:buFont typeface="Arial" panose="020B0604020202020204" pitchFamily="34" charset="0"/>
              <a:buChar char="•"/>
            </a:pPr>
            <a:r>
              <a:rPr lang="ar-EG" sz="2200" dirty="0"/>
              <a:t>الاعتمادية بين المتطلبات</a:t>
            </a:r>
          </a:p>
          <a:p>
            <a:pPr marL="457200" indent="-457200" algn="r" rtl="1">
              <a:lnSpc>
                <a:spcPct val="150000"/>
              </a:lnSpc>
              <a:spcAft>
                <a:spcPts val="1200"/>
              </a:spcAft>
              <a:buFont typeface="Arial" panose="020B0604020202020204" pitchFamily="34" charset="0"/>
              <a:buChar char="•"/>
            </a:pPr>
            <a:r>
              <a:rPr lang="ar-EG" sz="2200" dirty="0"/>
              <a:t>ارتباط المتطلب بالأولويات الاستراتيجية للهيئة</a:t>
            </a:r>
          </a:p>
          <a:p>
            <a:pPr marL="457200" indent="-457200" algn="r" rtl="1">
              <a:lnSpc>
                <a:spcPct val="150000"/>
              </a:lnSpc>
              <a:spcAft>
                <a:spcPts val="1200"/>
              </a:spcAft>
              <a:buFont typeface="Arial" panose="020B0604020202020204" pitchFamily="34" charset="0"/>
              <a:buChar char="•"/>
            </a:pPr>
            <a:r>
              <a:rPr lang="ar-EG" sz="2200" dirty="0"/>
              <a:t>تحقيق المتطلب لامتثال مع سياسات أو تشريعات وطنية</a:t>
            </a:r>
          </a:p>
          <a:p>
            <a:pPr marL="457200" indent="-457200" algn="r" rtl="1">
              <a:lnSpc>
                <a:spcPct val="150000"/>
              </a:lnSpc>
              <a:spcAft>
                <a:spcPts val="1200"/>
              </a:spcAft>
              <a:buFont typeface="Arial" panose="020B0604020202020204" pitchFamily="34" charset="0"/>
              <a:buChar char="•"/>
            </a:pPr>
            <a:r>
              <a:rPr lang="ar-EG" sz="2200" dirty="0"/>
              <a:t>وجود محددات زمنية لتطبيق المتطلب والتي قد ينتج عن عدم الالتزام بها آثار سلبية على الهيئة</a:t>
            </a:r>
          </a:p>
          <a:p>
            <a:pPr marL="457200" indent="-457200" algn="r" rtl="1">
              <a:lnSpc>
                <a:spcPct val="150000"/>
              </a:lnSpc>
              <a:spcAft>
                <a:spcPts val="1200"/>
              </a:spcAft>
              <a:buFont typeface="Arial" panose="020B0604020202020204" pitchFamily="34" charset="0"/>
              <a:buChar char="•"/>
            </a:pPr>
            <a:r>
              <a:rPr lang="ar-EG" sz="2200" dirty="0"/>
              <a:t>القدرات والكوادر البشرية المتوفرة للعمل على المتطلب</a:t>
            </a:r>
          </a:p>
        </p:txBody>
      </p:sp>
      <p:grpSp>
        <p:nvGrpSpPr>
          <p:cNvPr id="48" name="Google Shape;572;p15">
            <a:extLst>
              <a:ext uri="{FF2B5EF4-FFF2-40B4-BE49-F238E27FC236}">
                <a16:creationId xmlns:a16="http://schemas.microsoft.com/office/drawing/2014/main" id="{CE43138A-F5DB-6D50-3BB0-C6C17D559043}"/>
              </a:ext>
            </a:extLst>
          </p:cNvPr>
          <p:cNvGrpSpPr/>
          <p:nvPr/>
        </p:nvGrpSpPr>
        <p:grpSpPr>
          <a:xfrm>
            <a:off x="9687560" y="2442133"/>
            <a:ext cx="1550746" cy="1553380"/>
            <a:chOff x="773650" y="10167287"/>
            <a:chExt cx="311651" cy="312180"/>
          </a:xfrm>
          <a:solidFill>
            <a:srgbClr val="4C3C8D"/>
          </a:solidFill>
        </p:grpSpPr>
        <p:sp>
          <p:nvSpPr>
            <p:cNvPr id="49" name="Google Shape;573;p15">
              <a:extLst>
                <a:ext uri="{FF2B5EF4-FFF2-40B4-BE49-F238E27FC236}">
                  <a16:creationId xmlns:a16="http://schemas.microsoft.com/office/drawing/2014/main" id="{AE8D7D70-13EE-6FB2-5489-7603AAEC692A}"/>
                </a:ext>
              </a:extLst>
            </p:cNvPr>
            <p:cNvSpPr/>
            <p:nvPr/>
          </p:nvSpPr>
          <p:spPr>
            <a:xfrm>
              <a:off x="878944" y="10167287"/>
              <a:ext cx="100533" cy="312180"/>
            </a:xfrm>
            <a:custGeom>
              <a:avLst/>
              <a:gdLst/>
              <a:ahLst/>
              <a:cxnLst/>
              <a:rect l="l" t="t" r="r" b="b"/>
              <a:pathLst>
                <a:path w="100532" h="312180" extrusionOk="0">
                  <a:moveTo>
                    <a:pt x="56824" y="2381"/>
                  </a:moveTo>
                  <a:cubicBezTo>
                    <a:pt x="54179" y="-794"/>
                    <a:pt x="48887" y="-794"/>
                    <a:pt x="46242" y="2381"/>
                  </a:cubicBezTo>
                  <a:lnTo>
                    <a:pt x="1267" y="65875"/>
                  </a:lnTo>
                  <a:cubicBezTo>
                    <a:pt x="-321" y="67992"/>
                    <a:pt x="-321" y="70637"/>
                    <a:pt x="738" y="72754"/>
                  </a:cubicBezTo>
                  <a:cubicBezTo>
                    <a:pt x="1796" y="74870"/>
                    <a:pt x="3912" y="76458"/>
                    <a:pt x="6558" y="76458"/>
                  </a:cubicBezTo>
                  <a:lnTo>
                    <a:pt x="21373" y="76458"/>
                  </a:lnTo>
                  <a:lnTo>
                    <a:pt x="21373" y="307153"/>
                  </a:lnTo>
                  <a:cubicBezTo>
                    <a:pt x="21373" y="310858"/>
                    <a:pt x="24019" y="313503"/>
                    <a:pt x="27723" y="313503"/>
                  </a:cubicBezTo>
                  <a:lnTo>
                    <a:pt x="75872" y="313503"/>
                  </a:lnTo>
                  <a:cubicBezTo>
                    <a:pt x="79576" y="313503"/>
                    <a:pt x="82222" y="310858"/>
                    <a:pt x="82222" y="307153"/>
                  </a:cubicBezTo>
                  <a:lnTo>
                    <a:pt x="82222" y="76458"/>
                  </a:lnTo>
                  <a:lnTo>
                    <a:pt x="97037" y="76458"/>
                  </a:lnTo>
                  <a:cubicBezTo>
                    <a:pt x="99683" y="76458"/>
                    <a:pt x="101799" y="74870"/>
                    <a:pt x="102857" y="72754"/>
                  </a:cubicBezTo>
                  <a:cubicBezTo>
                    <a:pt x="103916" y="70637"/>
                    <a:pt x="103916" y="67992"/>
                    <a:pt x="102328" y="65875"/>
                  </a:cubicBezTo>
                  <a:lnTo>
                    <a:pt x="56824" y="2381"/>
                  </a:lnTo>
                  <a:close/>
                  <a:moveTo>
                    <a:pt x="75872" y="62701"/>
                  </a:moveTo>
                  <a:cubicBezTo>
                    <a:pt x="72169" y="62701"/>
                    <a:pt x="69523" y="65346"/>
                    <a:pt x="69523" y="69050"/>
                  </a:cubicBezTo>
                  <a:lnTo>
                    <a:pt x="69523" y="299746"/>
                  </a:lnTo>
                  <a:lnTo>
                    <a:pt x="34072" y="299746"/>
                  </a:lnTo>
                  <a:lnTo>
                    <a:pt x="34072" y="69050"/>
                  </a:lnTo>
                  <a:cubicBezTo>
                    <a:pt x="34072" y="65346"/>
                    <a:pt x="31426" y="62701"/>
                    <a:pt x="27723" y="62701"/>
                  </a:cubicBezTo>
                  <a:lnTo>
                    <a:pt x="19257" y="62701"/>
                  </a:lnTo>
                  <a:lnTo>
                    <a:pt x="52062" y="17197"/>
                  </a:lnTo>
                  <a:lnTo>
                    <a:pt x="84867" y="62701"/>
                  </a:lnTo>
                  <a:lnTo>
                    <a:pt x="75872" y="62701"/>
                  </a:lnTo>
                  <a:close/>
                </a:path>
              </a:pathLst>
            </a:custGeom>
            <a:grp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9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sp>
          <p:nvSpPr>
            <p:cNvPr id="50" name="Google Shape;574;p15">
              <a:extLst>
                <a:ext uri="{FF2B5EF4-FFF2-40B4-BE49-F238E27FC236}">
                  <a16:creationId xmlns:a16="http://schemas.microsoft.com/office/drawing/2014/main" id="{AFE1B009-476B-75B2-AB1F-484E663DA3B0}"/>
                </a:ext>
              </a:extLst>
            </p:cNvPr>
            <p:cNvSpPr/>
            <p:nvPr/>
          </p:nvSpPr>
          <p:spPr>
            <a:xfrm>
              <a:off x="984768" y="10257237"/>
              <a:ext cx="100533" cy="222230"/>
            </a:xfrm>
            <a:custGeom>
              <a:avLst/>
              <a:gdLst/>
              <a:ahLst/>
              <a:cxnLst/>
              <a:rect l="l" t="t" r="r" b="b"/>
              <a:pathLst>
                <a:path w="100532" h="222229" extrusionOk="0">
                  <a:moveTo>
                    <a:pt x="101799" y="65875"/>
                  </a:moveTo>
                  <a:lnTo>
                    <a:pt x="56824" y="2381"/>
                  </a:lnTo>
                  <a:cubicBezTo>
                    <a:pt x="54179" y="-794"/>
                    <a:pt x="48887" y="-794"/>
                    <a:pt x="46242" y="2381"/>
                  </a:cubicBezTo>
                  <a:lnTo>
                    <a:pt x="1267" y="65875"/>
                  </a:lnTo>
                  <a:cubicBezTo>
                    <a:pt x="-321" y="67992"/>
                    <a:pt x="-321" y="70637"/>
                    <a:pt x="738" y="72754"/>
                  </a:cubicBezTo>
                  <a:cubicBezTo>
                    <a:pt x="1796" y="74870"/>
                    <a:pt x="3912" y="76458"/>
                    <a:pt x="6558" y="76458"/>
                  </a:cubicBezTo>
                  <a:lnTo>
                    <a:pt x="21373" y="76458"/>
                  </a:lnTo>
                  <a:lnTo>
                    <a:pt x="21373" y="217732"/>
                  </a:lnTo>
                  <a:cubicBezTo>
                    <a:pt x="21373" y="221436"/>
                    <a:pt x="24019" y="224082"/>
                    <a:pt x="27723" y="224082"/>
                  </a:cubicBezTo>
                  <a:lnTo>
                    <a:pt x="75872" y="224082"/>
                  </a:lnTo>
                  <a:cubicBezTo>
                    <a:pt x="79576" y="224082"/>
                    <a:pt x="82222" y="221436"/>
                    <a:pt x="82222" y="217732"/>
                  </a:cubicBezTo>
                  <a:lnTo>
                    <a:pt x="82222" y="76458"/>
                  </a:lnTo>
                  <a:lnTo>
                    <a:pt x="97037" y="76458"/>
                  </a:lnTo>
                  <a:cubicBezTo>
                    <a:pt x="99683" y="76458"/>
                    <a:pt x="101799" y="74870"/>
                    <a:pt x="102857" y="72754"/>
                  </a:cubicBezTo>
                  <a:cubicBezTo>
                    <a:pt x="103387" y="70108"/>
                    <a:pt x="103387" y="67463"/>
                    <a:pt x="101799" y="65875"/>
                  </a:cubicBezTo>
                  <a:close/>
                  <a:moveTo>
                    <a:pt x="75343" y="62701"/>
                  </a:moveTo>
                  <a:cubicBezTo>
                    <a:pt x="71640" y="62701"/>
                    <a:pt x="68994" y="65346"/>
                    <a:pt x="68994" y="69050"/>
                  </a:cubicBezTo>
                  <a:lnTo>
                    <a:pt x="68994" y="210325"/>
                  </a:lnTo>
                  <a:lnTo>
                    <a:pt x="33543" y="210325"/>
                  </a:lnTo>
                  <a:lnTo>
                    <a:pt x="33543" y="69050"/>
                  </a:lnTo>
                  <a:cubicBezTo>
                    <a:pt x="33543" y="65346"/>
                    <a:pt x="30897" y="62701"/>
                    <a:pt x="27193" y="62701"/>
                  </a:cubicBezTo>
                  <a:lnTo>
                    <a:pt x="18728" y="62701"/>
                  </a:lnTo>
                  <a:lnTo>
                    <a:pt x="51533" y="17197"/>
                  </a:lnTo>
                  <a:lnTo>
                    <a:pt x="84338" y="62701"/>
                  </a:lnTo>
                  <a:lnTo>
                    <a:pt x="75343" y="62701"/>
                  </a:lnTo>
                  <a:close/>
                </a:path>
              </a:pathLst>
            </a:custGeom>
            <a:grp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9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sp>
          <p:nvSpPr>
            <p:cNvPr id="51" name="Google Shape;575;p15">
              <a:extLst>
                <a:ext uri="{FF2B5EF4-FFF2-40B4-BE49-F238E27FC236}">
                  <a16:creationId xmlns:a16="http://schemas.microsoft.com/office/drawing/2014/main" id="{9A24CA58-799D-FDAE-2EB3-0D55CE35F9C6}"/>
                </a:ext>
              </a:extLst>
            </p:cNvPr>
            <p:cNvSpPr/>
            <p:nvPr/>
          </p:nvSpPr>
          <p:spPr>
            <a:xfrm>
              <a:off x="773650" y="10301947"/>
              <a:ext cx="100533" cy="174609"/>
            </a:xfrm>
            <a:custGeom>
              <a:avLst/>
              <a:gdLst/>
              <a:ahLst/>
              <a:cxnLst/>
              <a:rect l="l" t="t" r="r" b="b"/>
              <a:pathLst>
                <a:path w="100532" h="174609" extrusionOk="0">
                  <a:moveTo>
                    <a:pt x="56824" y="2646"/>
                  </a:moveTo>
                  <a:cubicBezTo>
                    <a:pt x="55766" y="1058"/>
                    <a:pt x="53649" y="0"/>
                    <a:pt x="51533" y="0"/>
                  </a:cubicBezTo>
                  <a:cubicBezTo>
                    <a:pt x="49416" y="0"/>
                    <a:pt x="47300" y="1058"/>
                    <a:pt x="46242" y="2646"/>
                  </a:cubicBezTo>
                  <a:lnTo>
                    <a:pt x="1267" y="66140"/>
                  </a:lnTo>
                  <a:cubicBezTo>
                    <a:pt x="-321" y="68256"/>
                    <a:pt x="-321" y="70902"/>
                    <a:pt x="738" y="73019"/>
                  </a:cubicBezTo>
                  <a:cubicBezTo>
                    <a:pt x="1796" y="75135"/>
                    <a:pt x="3912" y="76722"/>
                    <a:pt x="6558" y="76722"/>
                  </a:cubicBezTo>
                  <a:lnTo>
                    <a:pt x="21373" y="76722"/>
                  </a:lnTo>
                  <a:lnTo>
                    <a:pt x="21373" y="172493"/>
                  </a:lnTo>
                  <a:cubicBezTo>
                    <a:pt x="21373" y="176197"/>
                    <a:pt x="24019" y="178842"/>
                    <a:pt x="27723" y="178842"/>
                  </a:cubicBezTo>
                  <a:lnTo>
                    <a:pt x="75872" y="178842"/>
                  </a:lnTo>
                  <a:cubicBezTo>
                    <a:pt x="79576" y="178842"/>
                    <a:pt x="82222" y="176197"/>
                    <a:pt x="82222" y="172493"/>
                  </a:cubicBezTo>
                  <a:lnTo>
                    <a:pt x="82222" y="76722"/>
                  </a:lnTo>
                  <a:lnTo>
                    <a:pt x="97037" y="76722"/>
                  </a:lnTo>
                  <a:cubicBezTo>
                    <a:pt x="99683" y="76722"/>
                    <a:pt x="101799" y="75135"/>
                    <a:pt x="102858" y="73019"/>
                  </a:cubicBezTo>
                  <a:cubicBezTo>
                    <a:pt x="103916" y="70902"/>
                    <a:pt x="103916" y="68256"/>
                    <a:pt x="102328" y="66140"/>
                  </a:cubicBezTo>
                  <a:lnTo>
                    <a:pt x="56824" y="2646"/>
                  </a:lnTo>
                  <a:close/>
                  <a:moveTo>
                    <a:pt x="75343" y="63494"/>
                  </a:moveTo>
                  <a:cubicBezTo>
                    <a:pt x="71639" y="63494"/>
                    <a:pt x="68994" y="66140"/>
                    <a:pt x="68994" y="69843"/>
                  </a:cubicBezTo>
                  <a:lnTo>
                    <a:pt x="68994" y="165615"/>
                  </a:lnTo>
                  <a:lnTo>
                    <a:pt x="33543" y="165615"/>
                  </a:lnTo>
                  <a:lnTo>
                    <a:pt x="33543" y="69843"/>
                  </a:lnTo>
                  <a:cubicBezTo>
                    <a:pt x="33543" y="66140"/>
                    <a:pt x="30897" y="63494"/>
                    <a:pt x="27193" y="63494"/>
                  </a:cubicBezTo>
                  <a:lnTo>
                    <a:pt x="18728" y="63494"/>
                  </a:lnTo>
                  <a:lnTo>
                    <a:pt x="51533" y="17990"/>
                  </a:lnTo>
                  <a:lnTo>
                    <a:pt x="84338" y="63494"/>
                  </a:lnTo>
                  <a:lnTo>
                    <a:pt x="75343" y="63494"/>
                  </a:lnTo>
                  <a:close/>
                </a:path>
              </a:pathLst>
            </a:custGeom>
            <a:grp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9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grpSp>
    </p:spTree>
    <p:extLst>
      <p:ext uri="{BB962C8B-B14F-4D97-AF65-F5344CB8AC3E}">
        <p14:creationId xmlns:p14="http://schemas.microsoft.com/office/powerpoint/2010/main" val="3333521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الحالات المختلفة لتحديث حالة المتطلبات</a:t>
            </a:r>
          </a:p>
        </p:txBody>
      </p:sp>
      <p:sp>
        <p:nvSpPr>
          <p:cNvPr id="15" name="Rectangle 14">
            <a:extLst>
              <a:ext uri="{FF2B5EF4-FFF2-40B4-BE49-F238E27FC236}">
                <a16:creationId xmlns:a16="http://schemas.microsoft.com/office/drawing/2014/main" id="{7B21A5CB-82AC-F540-2F06-31E6BF4F283A}"/>
              </a:ext>
            </a:extLst>
          </p:cNvPr>
          <p:cNvSpPr/>
          <p:nvPr/>
        </p:nvSpPr>
        <p:spPr>
          <a:xfrm>
            <a:off x="731520" y="1123836"/>
            <a:ext cx="8774832" cy="4488293"/>
          </a:xfrm>
          <a:prstGeom prst="rect">
            <a:avLst/>
          </a:prstGeom>
        </p:spPr>
        <p:txBody>
          <a:bodyPr anchor="ctr" anchorCtr="0">
            <a:normAutofit fontScale="85000" lnSpcReduction="10000"/>
          </a:bodyPr>
          <a:lstStyle/>
          <a:p>
            <a:pPr algn="ctr" rtl="1">
              <a:lnSpc>
                <a:spcPct val="150000"/>
              </a:lnSpc>
              <a:spcAft>
                <a:spcPts val="1200"/>
              </a:spcAft>
            </a:pPr>
            <a:r>
              <a:rPr lang="ar-EG" sz="2400" b="1" dirty="0"/>
              <a:t>يقوم فريق عمل البنية المؤسسية بمتابعة حالة المتطلبات من وقت نشأتها وحتى إغلاقها (سواء بالانتهاء من تنفيذها أو بإيقافها وإغلاقها)، حيث يجب أن يقوم فريق عمل البنية المؤسسية بتحديث حالة المتطلبات وفقا للحالات التالية:</a:t>
            </a:r>
            <a:endParaRPr lang="ar-EG" sz="1400" b="1" dirty="0"/>
          </a:p>
          <a:p>
            <a:pPr marL="457200" indent="-457200" algn="r" rtl="1">
              <a:lnSpc>
                <a:spcPct val="150000"/>
              </a:lnSpc>
              <a:spcAft>
                <a:spcPts val="1200"/>
              </a:spcAft>
              <a:buFont typeface="Arial" panose="020B0604020202020204" pitchFamily="34" charset="0"/>
              <a:buChar char="•"/>
            </a:pPr>
            <a:r>
              <a:rPr lang="ar-EG" sz="2200" dirty="0"/>
              <a:t>بعد الانتهاء من تنفيذ كل مرحلة من مراحل دورة تطوير البنية المؤسسية</a:t>
            </a:r>
          </a:p>
          <a:p>
            <a:pPr marL="457200" indent="-457200" algn="r" rtl="1">
              <a:lnSpc>
                <a:spcPct val="150000"/>
              </a:lnSpc>
              <a:spcAft>
                <a:spcPts val="1200"/>
              </a:spcAft>
              <a:buFont typeface="Arial" panose="020B0604020202020204" pitchFamily="34" charset="0"/>
              <a:buChar char="•"/>
            </a:pPr>
            <a:r>
              <a:rPr lang="ar-EG" sz="2200" dirty="0"/>
              <a:t>في حال إلغاء المتطلب لأسباب تتعلق بجانب الأعمال أو جانب التقنية (مثل تغيير إجراءات العمل، عدم توافق الحل التقني مع ضوابط وتشريعات الأمن السيبراني، وغيرها)</a:t>
            </a:r>
          </a:p>
          <a:p>
            <a:pPr marL="457200" indent="-457200" algn="r" rtl="1">
              <a:lnSpc>
                <a:spcPct val="150000"/>
              </a:lnSpc>
              <a:spcAft>
                <a:spcPts val="1200"/>
              </a:spcAft>
              <a:buFont typeface="Arial" panose="020B0604020202020204" pitchFamily="34" charset="0"/>
              <a:buChar char="•"/>
            </a:pPr>
            <a:r>
              <a:rPr lang="ar-EG" sz="2200" dirty="0"/>
              <a:t>في حال حصول تغيير على متطلب من صاحب العلاقة</a:t>
            </a:r>
          </a:p>
          <a:p>
            <a:pPr marL="457200" indent="-457200" algn="r" rtl="1">
              <a:lnSpc>
                <a:spcPct val="150000"/>
              </a:lnSpc>
              <a:spcAft>
                <a:spcPts val="1200"/>
              </a:spcAft>
              <a:buFont typeface="Arial" panose="020B0604020202020204" pitchFamily="34" charset="0"/>
              <a:buChar char="•"/>
            </a:pPr>
            <a:r>
              <a:rPr lang="ar-EG" sz="2200" dirty="0"/>
              <a:t>أثناء تنفيذ المبادرة المعنية بحل المتطلب وذلك من خلال "إجراءات حوكمة البنية المؤسسية"</a:t>
            </a:r>
          </a:p>
          <a:p>
            <a:pPr marL="457200" indent="-457200" algn="r" rtl="1">
              <a:lnSpc>
                <a:spcPct val="150000"/>
              </a:lnSpc>
              <a:spcAft>
                <a:spcPts val="1200"/>
              </a:spcAft>
              <a:buFont typeface="Arial" panose="020B0604020202020204" pitchFamily="34" charset="0"/>
              <a:buChar char="•"/>
            </a:pPr>
            <a:r>
              <a:rPr lang="ar-EG" sz="2200" dirty="0"/>
              <a:t>في حال اعتماد متطلب جديد يؤثر على المتطلب الحالي من حيث الأولوية أو نطاق المتطلب</a:t>
            </a:r>
          </a:p>
        </p:txBody>
      </p:sp>
      <p:grpSp>
        <p:nvGrpSpPr>
          <p:cNvPr id="3" name="Group 2">
            <a:extLst>
              <a:ext uri="{FF2B5EF4-FFF2-40B4-BE49-F238E27FC236}">
                <a16:creationId xmlns:a16="http://schemas.microsoft.com/office/drawing/2014/main" id="{B634F594-311F-127E-C76A-29FBB81B1C49}"/>
              </a:ext>
            </a:extLst>
          </p:cNvPr>
          <p:cNvGrpSpPr>
            <a:grpSpLocks noChangeAspect="1"/>
          </p:cNvGrpSpPr>
          <p:nvPr/>
        </p:nvGrpSpPr>
        <p:grpSpPr>
          <a:xfrm>
            <a:off x="9749023" y="2611021"/>
            <a:ext cx="1393340" cy="1393340"/>
            <a:chOff x="4500469" y="4424971"/>
            <a:chExt cx="487362" cy="487362"/>
          </a:xfrm>
          <a:solidFill>
            <a:srgbClr val="4C3C8D"/>
          </a:solidFill>
        </p:grpSpPr>
        <p:sp>
          <p:nvSpPr>
            <p:cNvPr id="16" name="Freeform 392">
              <a:extLst>
                <a:ext uri="{FF2B5EF4-FFF2-40B4-BE49-F238E27FC236}">
                  <a16:creationId xmlns:a16="http://schemas.microsoft.com/office/drawing/2014/main" id="{434952D9-9DB0-5B8A-1147-7F71A0CE0051}"/>
                </a:ext>
              </a:extLst>
            </p:cNvPr>
            <p:cNvSpPr>
              <a:spLocks noChangeArrowheads="1"/>
            </p:cNvSpPr>
            <p:nvPr/>
          </p:nvSpPr>
          <p:spPr bwMode="auto">
            <a:xfrm>
              <a:off x="4678269" y="4463071"/>
              <a:ext cx="19050" cy="19050"/>
            </a:xfrm>
            <a:custGeom>
              <a:avLst/>
              <a:gdLst>
                <a:gd name="T0" fmla="*/ 27 w 54"/>
                <a:gd name="T1" fmla="*/ 53 h 54"/>
                <a:gd name="T2" fmla="*/ 53 w 54"/>
                <a:gd name="T3" fmla="*/ 27 h 54"/>
                <a:gd name="T4" fmla="*/ 27 w 54"/>
                <a:gd name="T5" fmla="*/ 0 h 54"/>
                <a:gd name="T6" fmla="*/ 1 w 54"/>
                <a:gd name="T7" fmla="*/ 27 h 54"/>
                <a:gd name="T8" fmla="*/ 27 w 54"/>
                <a:gd name="T9" fmla="*/ 53 h 54"/>
              </a:gdLst>
              <a:ahLst/>
              <a:cxnLst>
                <a:cxn ang="0">
                  <a:pos x="T0" y="T1"/>
                </a:cxn>
                <a:cxn ang="0">
                  <a:pos x="T2" y="T3"/>
                </a:cxn>
                <a:cxn ang="0">
                  <a:pos x="T4" y="T5"/>
                </a:cxn>
                <a:cxn ang="0">
                  <a:pos x="T6" y="T7"/>
                </a:cxn>
                <a:cxn ang="0">
                  <a:pos x="T8" y="T9"/>
                </a:cxn>
              </a:cxnLst>
              <a:rect l="0" t="0" r="r" b="b"/>
              <a:pathLst>
                <a:path w="54" h="54">
                  <a:moveTo>
                    <a:pt x="27" y="53"/>
                  </a:moveTo>
                  <a:cubicBezTo>
                    <a:pt x="42" y="53"/>
                    <a:pt x="53" y="42"/>
                    <a:pt x="53" y="27"/>
                  </a:cubicBezTo>
                  <a:cubicBezTo>
                    <a:pt x="53" y="13"/>
                    <a:pt x="42" y="0"/>
                    <a:pt x="27" y="0"/>
                  </a:cubicBezTo>
                  <a:cubicBezTo>
                    <a:pt x="12" y="0"/>
                    <a:pt x="1" y="12"/>
                    <a:pt x="1" y="27"/>
                  </a:cubicBezTo>
                  <a:cubicBezTo>
                    <a:pt x="0" y="41"/>
                    <a:pt x="12" y="53"/>
                    <a:pt x="27" y="5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053"/>
            </a:p>
          </p:txBody>
        </p:sp>
        <p:sp>
          <p:nvSpPr>
            <p:cNvPr id="17" name="Freeform 393">
              <a:extLst>
                <a:ext uri="{FF2B5EF4-FFF2-40B4-BE49-F238E27FC236}">
                  <a16:creationId xmlns:a16="http://schemas.microsoft.com/office/drawing/2014/main" id="{9230C90D-2B65-E539-687C-97FF9ADBD76F}"/>
                </a:ext>
              </a:extLst>
            </p:cNvPr>
            <p:cNvSpPr>
              <a:spLocks noChangeArrowheads="1"/>
            </p:cNvSpPr>
            <p:nvPr/>
          </p:nvSpPr>
          <p:spPr bwMode="auto">
            <a:xfrm>
              <a:off x="4602069" y="4615471"/>
              <a:ext cx="19050" cy="19050"/>
            </a:xfrm>
            <a:custGeom>
              <a:avLst/>
              <a:gdLst>
                <a:gd name="T0" fmla="*/ 26 w 54"/>
                <a:gd name="T1" fmla="*/ 53 h 54"/>
                <a:gd name="T2" fmla="*/ 53 w 54"/>
                <a:gd name="T3" fmla="*/ 27 h 54"/>
                <a:gd name="T4" fmla="*/ 26 w 54"/>
                <a:gd name="T5" fmla="*/ 0 h 54"/>
                <a:gd name="T6" fmla="*/ 0 w 54"/>
                <a:gd name="T7" fmla="*/ 27 h 54"/>
                <a:gd name="T8" fmla="*/ 26 w 54"/>
                <a:gd name="T9" fmla="*/ 53 h 54"/>
              </a:gdLst>
              <a:ahLst/>
              <a:cxnLst>
                <a:cxn ang="0">
                  <a:pos x="T0" y="T1"/>
                </a:cxn>
                <a:cxn ang="0">
                  <a:pos x="T2" y="T3"/>
                </a:cxn>
                <a:cxn ang="0">
                  <a:pos x="T4" y="T5"/>
                </a:cxn>
                <a:cxn ang="0">
                  <a:pos x="T6" y="T7"/>
                </a:cxn>
                <a:cxn ang="0">
                  <a:pos x="T8" y="T9"/>
                </a:cxn>
              </a:cxnLst>
              <a:rect l="0" t="0" r="r" b="b"/>
              <a:pathLst>
                <a:path w="54" h="54">
                  <a:moveTo>
                    <a:pt x="26" y="53"/>
                  </a:moveTo>
                  <a:cubicBezTo>
                    <a:pt x="41" y="53"/>
                    <a:pt x="53" y="42"/>
                    <a:pt x="53" y="27"/>
                  </a:cubicBezTo>
                  <a:cubicBezTo>
                    <a:pt x="53" y="13"/>
                    <a:pt x="40" y="0"/>
                    <a:pt x="26" y="0"/>
                  </a:cubicBezTo>
                  <a:cubicBezTo>
                    <a:pt x="11" y="0"/>
                    <a:pt x="0" y="12"/>
                    <a:pt x="0" y="27"/>
                  </a:cubicBezTo>
                  <a:cubicBezTo>
                    <a:pt x="0" y="41"/>
                    <a:pt x="12" y="53"/>
                    <a:pt x="26" y="5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053"/>
            </a:p>
          </p:txBody>
        </p:sp>
        <p:sp>
          <p:nvSpPr>
            <p:cNvPr id="18" name="Freeform 394">
              <a:extLst>
                <a:ext uri="{FF2B5EF4-FFF2-40B4-BE49-F238E27FC236}">
                  <a16:creationId xmlns:a16="http://schemas.microsoft.com/office/drawing/2014/main" id="{99545252-F2F0-CEFA-5DB7-0A5EB863D287}"/>
                </a:ext>
              </a:extLst>
            </p:cNvPr>
            <p:cNvSpPr>
              <a:spLocks noChangeArrowheads="1"/>
            </p:cNvSpPr>
            <p:nvPr/>
          </p:nvSpPr>
          <p:spPr bwMode="auto">
            <a:xfrm>
              <a:off x="4602069" y="4672621"/>
              <a:ext cx="19050" cy="19050"/>
            </a:xfrm>
            <a:custGeom>
              <a:avLst/>
              <a:gdLst>
                <a:gd name="T0" fmla="*/ 26 w 54"/>
                <a:gd name="T1" fmla="*/ 53 h 54"/>
                <a:gd name="T2" fmla="*/ 53 w 54"/>
                <a:gd name="T3" fmla="*/ 26 h 54"/>
                <a:gd name="T4" fmla="*/ 26 w 54"/>
                <a:gd name="T5" fmla="*/ 0 h 54"/>
                <a:gd name="T6" fmla="*/ 0 w 54"/>
                <a:gd name="T7" fmla="*/ 26 h 54"/>
                <a:gd name="T8" fmla="*/ 26 w 54"/>
                <a:gd name="T9" fmla="*/ 53 h 54"/>
              </a:gdLst>
              <a:ahLst/>
              <a:cxnLst>
                <a:cxn ang="0">
                  <a:pos x="T0" y="T1"/>
                </a:cxn>
                <a:cxn ang="0">
                  <a:pos x="T2" y="T3"/>
                </a:cxn>
                <a:cxn ang="0">
                  <a:pos x="T4" y="T5"/>
                </a:cxn>
                <a:cxn ang="0">
                  <a:pos x="T6" y="T7"/>
                </a:cxn>
                <a:cxn ang="0">
                  <a:pos x="T8" y="T9"/>
                </a:cxn>
              </a:cxnLst>
              <a:rect l="0" t="0" r="r" b="b"/>
              <a:pathLst>
                <a:path w="54" h="54">
                  <a:moveTo>
                    <a:pt x="26" y="53"/>
                  </a:moveTo>
                  <a:cubicBezTo>
                    <a:pt x="41" y="53"/>
                    <a:pt x="53" y="41"/>
                    <a:pt x="53" y="26"/>
                  </a:cubicBezTo>
                  <a:cubicBezTo>
                    <a:pt x="53" y="12"/>
                    <a:pt x="40" y="0"/>
                    <a:pt x="26" y="0"/>
                  </a:cubicBezTo>
                  <a:cubicBezTo>
                    <a:pt x="11" y="0"/>
                    <a:pt x="0" y="12"/>
                    <a:pt x="0" y="26"/>
                  </a:cubicBezTo>
                  <a:cubicBezTo>
                    <a:pt x="0" y="41"/>
                    <a:pt x="12" y="53"/>
                    <a:pt x="26" y="5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053"/>
            </a:p>
          </p:txBody>
        </p:sp>
        <p:sp>
          <p:nvSpPr>
            <p:cNvPr id="19" name="Freeform 395">
              <a:extLst>
                <a:ext uri="{FF2B5EF4-FFF2-40B4-BE49-F238E27FC236}">
                  <a16:creationId xmlns:a16="http://schemas.microsoft.com/office/drawing/2014/main" id="{FBF62E3A-AB80-28A6-E397-372B7C67619F}"/>
                </a:ext>
              </a:extLst>
            </p:cNvPr>
            <p:cNvSpPr>
              <a:spLocks noChangeArrowheads="1"/>
            </p:cNvSpPr>
            <p:nvPr/>
          </p:nvSpPr>
          <p:spPr bwMode="auto">
            <a:xfrm>
              <a:off x="4602069" y="4731358"/>
              <a:ext cx="19050" cy="19050"/>
            </a:xfrm>
            <a:custGeom>
              <a:avLst/>
              <a:gdLst>
                <a:gd name="T0" fmla="*/ 26 w 54"/>
                <a:gd name="T1" fmla="*/ 53 h 54"/>
                <a:gd name="T2" fmla="*/ 53 w 54"/>
                <a:gd name="T3" fmla="*/ 26 h 54"/>
                <a:gd name="T4" fmla="*/ 26 w 54"/>
                <a:gd name="T5" fmla="*/ 0 h 54"/>
                <a:gd name="T6" fmla="*/ 0 w 54"/>
                <a:gd name="T7" fmla="*/ 26 h 54"/>
                <a:gd name="T8" fmla="*/ 26 w 54"/>
                <a:gd name="T9" fmla="*/ 53 h 54"/>
              </a:gdLst>
              <a:ahLst/>
              <a:cxnLst>
                <a:cxn ang="0">
                  <a:pos x="T0" y="T1"/>
                </a:cxn>
                <a:cxn ang="0">
                  <a:pos x="T2" y="T3"/>
                </a:cxn>
                <a:cxn ang="0">
                  <a:pos x="T4" y="T5"/>
                </a:cxn>
                <a:cxn ang="0">
                  <a:pos x="T6" y="T7"/>
                </a:cxn>
                <a:cxn ang="0">
                  <a:pos x="T8" y="T9"/>
                </a:cxn>
              </a:cxnLst>
              <a:rect l="0" t="0" r="r" b="b"/>
              <a:pathLst>
                <a:path w="54" h="54">
                  <a:moveTo>
                    <a:pt x="26" y="53"/>
                  </a:moveTo>
                  <a:cubicBezTo>
                    <a:pt x="41" y="53"/>
                    <a:pt x="53" y="41"/>
                    <a:pt x="53" y="26"/>
                  </a:cubicBezTo>
                  <a:cubicBezTo>
                    <a:pt x="53" y="12"/>
                    <a:pt x="40" y="0"/>
                    <a:pt x="26" y="0"/>
                  </a:cubicBezTo>
                  <a:cubicBezTo>
                    <a:pt x="11" y="0"/>
                    <a:pt x="0" y="12"/>
                    <a:pt x="0" y="26"/>
                  </a:cubicBezTo>
                  <a:cubicBezTo>
                    <a:pt x="0" y="41"/>
                    <a:pt x="12" y="53"/>
                    <a:pt x="26" y="5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053"/>
            </a:p>
          </p:txBody>
        </p:sp>
        <p:sp>
          <p:nvSpPr>
            <p:cNvPr id="20" name="Freeform 396">
              <a:extLst>
                <a:ext uri="{FF2B5EF4-FFF2-40B4-BE49-F238E27FC236}">
                  <a16:creationId xmlns:a16="http://schemas.microsoft.com/office/drawing/2014/main" id="{BB8DD81C-2A09-758F-CDD0-1A16A0079755}"/>
                </a:ext>
              </a:extLst>
            </p:cNvPr>
            <p:cNvSpPr>
              <a:spLocks noChangeArrowheads="1"/>
            </p:cNvSpPr>
            <p:nvPr/>
          </p:nvSpPr>
          <p:spPr bwMode="auto">
            <a:xfrm>
              <a:off x="4602069" y="4788508"/>
              <a:ext cx="19050" cy="19050"/>
            </a:xfrm>
            <a:custGeom>
              <a:avLst/>
              <a:gdLst>
                <a:gd name="T0" fmla="*/ 26 w 54"/>
                <a:gd name="T1" fmla="*/ 53 h 54"/>
                <a:gd name="T2" fmla="*/ 53 w 54"/>
                <a:gd name="T3" fmla="*/ 26 h 54"/>
                <a:gd name="T4" fmla="*/ 26 w 54"/>
                <a:gd name="T5" fmla="*/ 0 h 54"/>
                <a:gd name="T6" fmla="*/ 0 w 54"/>
                <a:gd name="T7" fmla="*/ 26 h 54"/>
                <a:gd name="T8" fmla="*/ 26 w 54"/>
                <a:gd name="T9" fmla="*/ 53 h 54"/>
              </a:gdLst>
              <a:ahLst/>
              <a:cxnLst>
                <a:cxn ang="0">
                  <a:pos x="T0" y="T1"/>
                </a:cxn>
                <a:cxn ang="0">
                  <a:pos x="T2" y="T3"/>
                </a:cxn>
                <a:cxn ang="0">
                  <a:pos x="T4" y="T5"/>
                </a:cxn>
                <a:cxn ang="0">
                  <a:pos x="T6" y="T7"/>
                </a:cxn>
                <a:cxn ang="0">
                  <a:pos x="T8" y="T9"/>
                </a:cxn>
              </a:cxnLst>
              <a:rect l="0" t="0" r="r" b="b"/>
              <a:pathLst>
                <a:path w="54" h="54">
                  <a:moveTo>
                    <a:pt x="26" y="53"/>
                  </a:moveTo>
                  <a:cubicBezTo>
                    <a:pt x="41" y="53"/>
                    <a:pt x="53" y="41"/>
                    <a:pt x="53" y="26"/>
                  </a:cubicBezTo>
                  <a:cubicBezTo>
                    <a:pt x="53" y="12"/>
                    <a:pt x="40" y="0"/>
                    <a:pt x="26" y="0"/>
                  </a:cubicBezTo>
                  <a:cubicBezTo>
                    <a:pt x="11" y="0"/>
                    <a:pt x="0" y="12"/>
                    <a:pt x="0" y="26"/>
                  </a:cubicBezTo>
                  <a:cubicBezTo>
                    <a:pt x="0" y="41"/>
                    <a:pt x="12" y="53"/>
                    <a:pt x="26" y="5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053"/>
            </a:p>
          </p:txBody>
        </p:sp>
        <p:sp>
          <p:nvSpPr>
            <p:cNvPr id="21" name="Freeform 397">
              <a:extLst>
                <a:ext uri="{FF2B5EF4-FFF2-40B4-BE49-F238E27FC236}">
                  <a16:creationId xmlns:a16="http://schemas.microsoft.com/office/drawing/2014/main" id="{3BC9707A-F9CD-381A-3F28-A8E5FFFA1191}"/>
                </a:ext>
              </a:extLst>
            </p:cNvPr>
            <p:cNvSpPr>
              <a:spLocks noChangeArrowheads="1"/>
            </p:cNvSpPr>
            <p:nvPr/>
          </p:nvSpPr>
          <p:spPr bwMode="auto">
            <a:xfrm>
              <a:off x="4911631" y="4444021"/>
              <a:ext cx="76200" cy="468312"/>
            </a:xfrm>
            <a:custGeom>
              <a:avLst/>
              <a:gdLst>
                <a:gd name="T0" fmla="*/ 106 w 213"/>
                <a:gd name="T1" fmla="*/ 1301 h 1302"/>
                <a:gd name="T2" fmla="*/ 132 w 213"/>
                <a:gd name="T3" fmla="*/ 1275 h 1302"/>
                <a:gd name="T4" fmla="*/ 132 w 213"/>
                <a:gd name="T5" fmla="*/ 1231 h 1302"/>
                <a:gd name="T6" fmla="*/ 143 w 213"/>
                <a:gd name="T7" fmla="*/ 1217 h 1302"/>
                <a:gd name="T8" fmla="*/ 212 w 213"/>
                <a:gd name="T9" fmla="*/ 1011 h 1302"/>
                <a:gd name="T10" fmla="*/ 212 w 213"/>
                <a:gd name="T11" fmla="*/ 212 h 1302"/>
                <a:gd name="T12" fmla="*/ 185 w 213"/>
                <a:gd name="T13" fmla="*/ 142 h 1302"/>
                <a:gd name="T14" fmla="*/ 185 w 213"/>
                <a:gd name="T15" fmla="*/ 80 h 1302"/>
                <a:gd name="T16" fmla="*/ 106 w 213"/>
                <a:gd name="T17" fmla="*/ 0 h 1302"/>
                <a:gd name="T18" fmla="*/ 27 w 213"/>
                <a:gd name="T19" fmla="*/ 80 h 1302"/>
                <a:gd name="T20" fmla="*/ 27 w 213"/>
                <a:gd name="T21" fmla="*/ 142 h 1302"/>
                <a:gd name="T22" fmla="*/ 0 w 213"/>
                <a:gd name="T23" fmla="*/ 212 h 1302"/>
                <a:gd name="T24" fmla="*/ 0 w 213"/>
                <a:gd name="T25" fmla="*/ 1011 h 1302"/>
                <a:gd name="T26" fmla="*/ 69 w 213"/>
                <a:gd name="T27" fmla="*/ 1217 h 1302"/>
                <a:gd name="T28" fmla="*/ 79 w 213"/>
                <a:gd name="T29" fmla="*/ 1231 h 1302"/>
                <a:gd name="T30" fmla="*/ 79 w 213"/>
                <a:gd name="T31" fmla="*/ 1275 h 1302"/>
                <a:gd name="T32" fmla="*/ 106 w 213"/>
                <a:gd name="T33" fmla="*/ 1301 h 1302"/>
                <a:gd name="T34" fmla="*/ 53 w 213"/>
                <a:gd name="T35" fmla="*/ 476 h 1302"/>
                <a:gd name="T36" fmla="*/ 159 w 213"/>
                <a:gd name="T37" fmla="*/ 476 h 1302"/>
                <a:gd name="T38" fmla="*/ 159 w 213"/>
                <a:gd name="T39" fmla="*/ 984 h 1302"/>
                <a:gd name="T40" fmla="*/ 53 w 213"/>
                <a:gd name="T41" fmla="*/ 984 h 1302"/>
                <a:gd name="T42" fmla="*/ 53 w 213"/>
                <a:gd name="T43" fmla="*/ 476 h 1302"/>
                <a:gd name="T44" fmla="*/ 53 w 213"/>
                <a:gd name="T45" fmla="*/ 212 h 1302"/>
                <a:gd name="T46" fmla="*/ 106 w 213"/>
                <a:gd name="T47" fmla="*/ 159 h 1302"/>
                <a:gd name="T48" fmla="*/ 159 w 213"/>
                <a:gd name="T49" fmla="*/ 212 h 1302"/>
                <a:gd name="T50" fmla="*/ 159 w 213"/>
                <a:gd name="T51" fmla="*/ 423 h 1302"/>
                <a:gd name="T52" fmla="*/ 53 w 213"/>
                <a:gd name="T53" fmla="*/ 423 h 1302"/>
                <a:gd name="T54" fmla="*/ 53 w 213"/>
                <a:gd name="T55" fmla="*/ 212 h 1302"/>
                <a:gd name="T56" fmla="*/ 106 w 213"/>
                <a:gd name="T57" fmla="*/ 53 h 1302"/>
                <a:gd name="T58" fmla="*/ 132 w 213"/>
                <a:gd name="T59" fmla="*/ 80 h 1302"/>
                <a:gd name="T60" fmla="*/ 132 w 213"/>
                <a:gd name="T61" fmla="*/ 109 h 1302"/>
                <a:gd name="T62" fmla="*/ 106 w 213"/>
                <a:gd name="T63" fmla="*/ 106 h 1302"/>
                <a:gd name="T64" fmla="*/ 79 w 213"/>
                <a:gd name="T65" fmla="*/ 109 h 1302"/>
                <a:gd name="T66" fmla="*/ 79 w 213"/>
                <a:gd name="T67" fmla="*/ 80 h 1302"/>
                <a:gd name="T68" fmla="*/ 106 w 213"/>
                <a:gd name="T69" fmla="*/ 53 h 1302"/>
                <a:gd name="T70" fmla="*/ 54 w 213"/>
                <a:gd name="T71" fmla="*/ 1037 h 1302"/>
                <a:gd name="T72" fmla="*/ 158 w 213"/>
                <a:gd name="T73" fmla="*/ 1037 h 1302"/>
                <a:gd name="T74" fmla="*/ 106 w 213"/>
                <a:gd name="T75" fmla="*/ 1178 h 1302"/>
                <a:gd name="T76" fmla="*/ 54 w 213"/>
                <a:gd name="T77" fmla="*/ 1037 h 1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3" h="1302">
                  <a:moveTo>
                    <a:pt x="106" y="1301"/>
                  </a:moveTo>
                  <a:cubicBezTo>
                    <a:pt x="120" y="1301"/>
                    <a:pt x="132" y="1290"/>
                    <a:pt x="132" y="1275"/>
                  </a:cubicBezTo>
                  <a:lnTo>
                    <a:pt x="132" y="1231"/>
                  </a:lnTo>
                  <a:lnTo>
                    <a:pt x="143" y="1217"/>
                  </a:lnTo>
                  <a:cubicBezTo>
                    <a:pt x="187" y="1158"/>
                    <a:pt x="212" y="1084"/>
                    <a:pt x="212" y="1011"/>
                  </a:cubicBezTo>
                  <a:lnTo>
                    <a:pt x="212" y="212"/>
                  </a:lnTo>
                  <a:cubicBezTo>
                    <a:pt x="212" y="186"/>
                    <a:pt x="202" y="161"/>
                    <a:pt x="185" y="142"/>
                  </a:cubicBezTo>
                  <a:lnTo>
                    <a:pt x="185" y="80"/>
                  </a:lnTo>
                  <a:cubicBezTo>
                    <a:pt x="185" y="36"/>
                    <a:pt x="150" y="0"/>
                    <a:pt x="106" y="0"/>
                  </a:cubicBezTo>
                  <a:cubicBezTo>
                    <a:pt x="62" y="0"/>
                    <a:pt x="27" y="36"/>
                    <a:pt x="27" y="80"/>
                  </a:cubicBezTo>
                  <a:lnTo>
                    <a:pt x="27" y="142"/>
                  </a:lnTo>
                  <a:cubicBezTo>
                    <a:pt x="10" y="161"/>
                    <a:pt x="0" y="186"/>
                    <a:pt x="0" y="212"/>
                  </a:cubicBezTo>
                  <a:lnTo>
                    <a:pt x="0" y="1011"/>
                  </a:lnTo>
                  <a:cubicBezTo>
                    <a:pt x="0" y="1084"/>
                    <a:pt x="25" y="1158"/>
                    <a:pt x="69" y="1217"/>
                  </a:cubicBezTo>
                  <a:lnTo>
                    <a:pt x="79" y="1231"/>
                  </a:lnTo>
                  <a:lnTo>
                    <a:pt x="79" y="1275"/>
                  </a:lnTo>
                  <a:cubicBezTo>
                    <a:pt x="79" y="1290"/>
                    <a:pt x="91" y="1301"/>
                    <a:pt x="106" y="1301"/>
                  </a:cubicBezTo>
                  <a:close/>
                  <a:moveTo>
                    <a:pt x="53" y="476"/>
                  </a:moveTo>
                  <a:lnTo>
                    <a:pt x="159" y="476"/>
                  </a:lnTo>
                  <a:lnTo>
                    <a:pt x="159" y="984"/>
                  </a:lnTo>
                  <a:lnTo>
                    <a:pt x="53" y="984"/>
                  </a:lnTo>
                  <a:lnTo>
                    <a:pt x="53" y="476"/>
                  </a:lnTo>
                  <a:close/>
                  <a:moveTo>
                    <a:pt x="53" y="212"/>
                  </a:moveTo>
                  <a:cubicBezTo>
                    <a:pt x="53" y="183"/>
                    <a:pt x="77" y="159"/>
                    <a:pt x="106" y="159"/>
                  </a:cubicBezTo>
                  <a:cubicBezTo>
                    <a:pt x="134" y="159"/>
                    <a:pt x="159" y="182"/>
                    <a:pt x="159" y="212"/>
                  </a:cubicBezTo>
                  <a:lnTo>
                    <a:pt x="159" y="423"/>
                  </a:lnTo>
                  <a:lnTo>
                    <a:pt x="53" y="423"/>
                  </a:lnTo>
                  <a:lnTo>
                    <a:pt x="53" y="212"/>
                  </a:lnTo>
                  <a:close/>
                  <a:moveTo>
                    <a:pt x="106" y="53"/>
                  </a:moveTo>
                  <a:cubicBezTo>
                    <a:pt x="120" y="53"/>
                    <a:pt x="132" y="65"/>
                    <a:pt x="132" y="80"/>
                  </a:cubicBezTo>
                  <a:lnTo>
                    <a:pt x="132" y="109"/>
                  </a:lnTo>
                  <a:cubicBezTo>
                    <a:pt x="124" y="107"/>
                    <a:pt x="115" y="106"/>
                    <a:pt x="106" y="106"/>
                  </a:cubicBezTo>
                  <a:cubicBezTo>
                    <a:pt x="97" y="106"/>
                    <a:pt x="88" y="107"/>
                    <a:pt x="79" y="109"/>
                  </a:cubicBezTo>
                  <a:lnTo>
                    <a:pt x="79" y="80"/>
                  </a:lnTo>
                  <a:cubicBezTo>
                    <a:pt x="79" y="65"/>
                    <a:pt x="91" y="53"/>
                    <a:pt x="106" y="53"/>
                  </a:cubicBezTo>
                  <a:close/>
                  <a:moveTo>
                    <a:pt x="54" y="1037"/>
                  </a:moveTo>
                  <a:lnTo>
                    <a:pt x="158" y="1037"/>
                  </a:lnTo>
                  <a:cubicBezTo>
                    <a:pt x="153" y="1087"/>
                    <a:pt x="135" y="1136"/>
                    <a:pt x="106" y="1178"/>
                  </a:cubicBezTo>
                  <a:cubicBezTo>
                    <a:pt x="77" y="1136"/>
                    <a:pt x="59" y="1087"/>
                    <a:pt x="54" y="103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053"/>
            </a:p>
          </p:txBody>
        </p:sp>
        <p:sp>
          <p:nvSpPr>
            <p:cNvPr id="22" name="Freeform 398">
              <a:extLst>
                <a:ext uri="{FF2B5EF4-FFF2-40B4-BE49-F238E27FC236}">
                  <a16:creationId xmlns:a16="http://schemas.microsoft.com/office/drawing/2014/main" id="{D0CCAD2D-2156-E64A-1A71-FAE64964043C}"/>
                </a:ext>
              </a:extLst>
            </p:cNvPr>
            <p:cNvSpPr>
              <a:spLocks noChangeArrowheads="1"/>
            </p:cNvSpPr>
            <p:nvPr/>
          </p:nvSpPr>
          <p:spPr bwMode="auto">
            <a:xfrm>
              <a:off x="4640169" y="4615471"/>
              <a:ext cx="133350" cy="19050"/>
            </a:xfrm>
            <a:custGeom>
              <a:avLst/>
              <a:gdLst>
                <a:gd name="T0" fmla="*/ 26 w 371"/>
                <a:gd name="T1" fmla="*/ 53 h 54"/>
                <a:gd name="T2" fmla="*/ 344 w 371"/>
                <a:gd name="T3" fmla="*/ 53 h 54"/>
                <a:gd name="T4" fmla="*/ 370 w 371"/>
                <a:gd name="T5" fmla="*/ 27 h 54"/>
                <a:gd name="T6" fmla="*/ 344 w 371"/>
                <a:gd name="T7" fmla="*/ 0 h 54"/>
                <a:gd name="T8" fmla="*/ 26 w 371"/>
                <a:gd name="T9" fmla="*/ 0 h 54"/>
                <a:gd name="T10" fmla="*/ 0 w 371"/>
                <a:gd name="T11" fmla="*/ 27 h 54"/>
                <a:gd name="T12" fmla="*/ 26 w 371"/>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71" h="54">
                  <a:moveTo>
                    <a:pt x="26" y="53"/>
                  </a:moveTo>
                  <a:lnTo>
                    <a:pt x="344" y="53"/>
                  </a:lnTo>
                  <a:cubicBezTo>
                    <a:pt x="358" y="53"/>
                    <a:pt x="370" y="42"/>
                    <a:pt x="370" y="27"/>
                  </a:cubicBezTo>
                  <a:cubicBezTo>
                    <a:pt x="370" y="13"/>
                    <a:pt x="358" y="0"/>
                    <a:pt x="344" y="0"/>
                  </a:cubicBezTo>
                  <a:lnTo>
                    <a:pt x="26" y="0"/>
                  </a:lnTo>
                  <a:cubicBezTo>
                    <a:pt x="12" y="0"/>
                    <a:pt x="0" y="13"/>
                    <a:pt x="0" y="27"/>
                  </a:cubicBezTo>
                  <a:cubicBezTo>
                    <a:pt x="0" y="42"/>
                    <a:pt x="12" y="53"/>
                    <a:pt x="26" y="5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053"/>
            </a:p>
          </p:txBody>
        </p:sp>
        <p:sp>
          <p:nvSpPr>
            <p:cNvPr id="23" name="Freeform 399">
              <a:extLst>
                <a:ext uri="{FF2B5EF4-FFF2-40B4-BE49-F238E27FC236}">
                  <a16:creationId xmlns:a16="http://schemas.microsoft.com/office/drawing/2014/main" id="{B60832FE-6070-C7B0-5884-EF210B6722F8}"/>
                </a:ext>
              </a:extLst>
            </p:cNvPr>
            <p:cNvSpPr>
              <a:spLocks noChangeArrowheads="1"/>
            </p:cNvSpPr>
            <p:nvPr/>
          </p:nvSpPr>
          <p:spPr bwMode="auto">
            <a:xfrm>
              <a:off x="4500469" y="4424971"/>
              <a:ext cx="373062" cy="487362"/>
            </a:xfrm>
            <a:custGeom>
              <a:avLst/>
              <a:gdLst>
                <a:gd name="T0" fmla="*/ 132 w 1037"/>
                <a:gd name="T1" fmla="*/ 1354 h 1355"/>
                <a:gd name="T2" fmla="*/ 904 w 1037"/>
                <a:gd name="T3" fmla="*/ 1354 h 1355"/>
                <a:gd name="T4" fmla="*/ 1036 w 1037"/>
                <a:gd name="T5" fmla="*/ 1222 h 1355"/>
                <a:gd name="T6" fmla="*/ 1036 w 1037"/>
                <a:gd name="T7" fmla="*/ 344 h 1355"/>
                <a:gd name="T8" fmla="*/ 904 w 1037"/>
                <a:gd name="T9" fmla="*/ 212 h 1355"/>
                <a:gd name="T10" fmla="*/ 804 w 1037"/>
                <a:gd name="T11" fmla="*/ 212 h 1355"/>
                <a:gd name="T12" fmla="*/ 730 w 1037"/>
                <a:gd name="T13" fmla="*/ 159 h 1355"/>
                <a:gd name="T14" fmla="*/ 647 w 1037"/>
                <a:gd name="T15" fmla="*/ 159 h 1355"/>
                <a:gd name="T16" fmla="*/ 650 w 1037"/>
                <a:gd name="T17" fmla="*/ 133 h 1355"/>
                <a:gd name="T18" fmla="*/ 518 w 1037"/>
                <a:gd name="T19" fmla="*/ 0 h 1355"/>
                <a:gd name="T20" fmla="*/ 386 w 1037"/>
                <a:gd name="T21" fmla="*/ 133 h 1355"/>
                <a:gd name="T22" fmla="*/ 388 w 1037"/>
                <a:gd name="T23" fmla="*/ 159 h 1355"/>
                <a:gd name="T24" fmla="*/ 306 w 1037"/>
                <a:gd name="T25" fmla="*/ 159 h 1355"/>
                <a:gd name="T26" fmla="*/ 232 w 1037"/>
                <a:gd name="T27" fmla="*/ 212 h 1355"/>
                <a:gd name="T28" fmla="*/ 132 w 1037"/>
                <a:gd name="T29" fmla="*/ 212 h 1355"/>
                <a:gd name="T30" fmla="*/ 0 w 1037"/>
                <a:gd name="T31" fmla="*/ 344 h 1355"/>
                <a:gd name="T32" fmla="*/ 0 w 1037"/>
                <a:gd name="T33" fmla="*/ 1222 h 1355"/>
                <a:gd name="T34" fmla="*/ 132 w 1037"/>
                <a:gd name="T35" fmla="*/ 1354 h 1355"/>
                <a:gd name="T36" fmla="*/ 878 w 1037"/>
                <a:gd name="T37" fmla="*/ 371 h 1355"/>
                <a:gd name="T38" fmla="*/ 878 w 1037"/>
                <a:gd name="T39" fmla="*/ 1196 h 1355"/>
                <a:gd name="T40" fmla="*/ 158 w 1037"/>
                <a:gd name="T41" fmla="*/ 1196 h 1355"/>
                <a:gd name="T42" fmla="*/ 158 w 1037"/>
                <a:gd name="T43" fmla="*/ 371 h 1355"/>
                <a:gd name="T44" fmla="*/ 878 w 1037"/>
                <a:gd name="T45" fmla="*/ 371 h 1355"/>
                <a:gd name="T46" fmla="*/ 306 w 1037"/>
                <a:gd name="T47" fmla="*/ 212 h 1355"/>
                <a:gd name="T48" fmla="*/ 427 w 1037"/>
                <a:gd name="T49" fmla="*/ 212 h 1355"/>
                <a:gd name="T50" fmla="*/ 450 w 1037"/>
                <a:gd name="T51" fmla="*/ 199 h 1355"/>
                <a:gd name="T52" fmla="*/ 450 w 1037"/>
                <a:gd name="T53" fmla="*/ 172 h 1355"/>
                <a:gd name="T54" fmla="*/ 439 w 1037"/>
                <a:gd name="T55" fmla="*/ 133 h 1355"/>
                <a:gd name="T56" fmla="*/ 518 w 1037"/>
                <a:gd name="T57" fmla="*/ 53 h 1355"/>
                <a:gd name="T58" fmla="*/ 597 w 1037"/>
                <a:gd name="T59" fmla="*/ 133 h 1355"/>
                <a:gd name="T60" fmla="*/ 586 w 1037"/>
                <a:gd name="T61" fmla="*/ 172 h 1355"/>
                <a:gd name="T62" fmla="*/ 586 w 1037"/>
                <a:gd name="T63" fmla="*/ 199 h 1355"/>
                <a:gd name="T64" fmla="*/ 609 w 1037"/>
                <a:gd name="T65" fmla="*/ 212 h 1355"/>
                <a:gd name="T66" fmla="*/ 730 w 1037"/>
                <a:gd name="T67" fmla="*/ 212 h 1355"/>
                <a:gd name="T68" fmla="*/ 756 w 1037"/>
                <a:gd name="T69" fmla="*/ 238 h 1355"/>
                <a:gd name="T70" fmla="*/ 756 w 1037"/>
                <a:gd name="T71" fmla="*/ 318 h 1355"/>
                <a:gd name="T72" fmla="*/ 280 w 1037"/>
                <a:gd name="T73" fmla="*/ 318 h 1355"/>
                <a:gd name="T74" fmla="*/ 280 w 1037"/>
                <a:gd name="T75" fmla="*/ 238 h 1355"/>
                <a:gd name="T76" fmla="*/ 306 w 1037"/>
                <a:gd name="T77" fmla="*/ 212 h 1355"/>
                <a:gd name="T78" fmla="*/ 52 w 1037"/>
                <a:gd name="T79" fmla="*/ 344 h 1355"/>
                <a:gd name="T80" fmla="*/ 132 w 1037"/>
                <a:gd name="T81" fmla="*/ 265 h 1355"/>
                <a:gd name="T82" fmla="*/ 227 w 1037"/>
                <a:gd name="T83" fmla="*/ 265 h 1355"/>
                <a:gd name="T84" fmla="*/ 227 w 1037"/>
                <a:gd name="T85" fmla="*/ 318 h 1355"/>
                <a:gd name="T86" fmla="*/ 132 w 1037"/>
                <a:gd name="T87" fmla="*/ 318 h 1355"/>
                <a:gd name="T88" fmla="*/ 105 w 1037"/>
                <a:gd name="T89" fmla="*/ 344 h 1355"/>
                <a:gd name="T90" fmla="*/ 105 w 1037"/>
                <a:gd name="T91" fmla="*/ 1222 h 1355"/>
                <a:gd name="T92" fmla="*/ 132 w 1037"/>
                <a:gd name="T93" fmla="*/ 1249 h 1355"/>
                <a:gd name="T94" fmla="*/ 904 w 1037"/>
                <a:gd name="T95" fmla="*/ 1249 h 1355"/>
                <a:gd name="T96" fmla="*/ 931 w 1037"/>
                <a:gd name="T97" fmla="*/ 1222 h 1355"/>
                <a:gd name="T98" fmla="*/ 931 w 1037"/>
                <a:gd name="T99" fmla="*/ 344 h 1355"/>
                <a:gd name="T100" fmla="*/ 904 w 1037"/>
                <a:gd name="T101" fmla="*/ 318 h 1355"/>
                <a:gd name="T102" fmla="*/ 809 w 1037"/>
                <a:gd name="T103" fmla="*/ 318 h 1355"/>
                <a:gd name="T104" fmla="*/ 809 w 1037"/>
                <a:gd name="T105" fmla="*/ 265 h 1355"/>
                <a:gd name="T106" fmla="*/ 904 w 1037"/>
                <a:gd name="T107" fmla="*/ 265 h 1355"/>
                <a:gd name="T108" fmla="*/ 983 w 1037"/>
                <a:gd name="T109" fmla="*/ 344 h 1355"/>
                <a:gd name="T110" fmla="*/ 983 w 1037"/>
                <a:gd name="T111" fmla="*/ 1222 h 1355"/>
                <a:gd name="T112" fmla="*/ 904 w 1037"/>
                <a:gd name="T113" fmla="*/ 1302 h 1355"/>
                <a:gd name="T114" fmla="*/ 132 w 1037"/>
                <a:gd name="T115" fmla="*/ 1302 h 1355"/>
                <a:gd name="T116" fmla="*/ 52 w 1037"/>
                <a:gd name="T117" fmla="*/ 1222 h 1355"/>
                <a:gd name="T118" fmla="*/ 52 w 1037"/>
                <a:gd name="T119" fmla="*/ 344 h 1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37" h="1355">
                  <a:moveTo>
                    <a:pt x="132" y="1354"/>
                  </a:moveTo>
                  <a:lnTo>
                    <a:pt x="904" y="1354"/>
                  </a:lnTo>
                  <a:cubicBezTo>
                    <a:pt x="977" y="1354"/>
                    <a:pt x="1036" y="1295"/>
                    <a:pt x="1036" y="1222"/>
                  </a:cubicBezTo>
                  <a:lnTo>
                    <a:pt x="1036" y="344"/>
                  </a:lnTo>
                  <a:cubicBezTo>
                    <a:pt x="1036" y="271"/>
                    <a:pt x="977" y="212"/>
                    <a:pt x="904" y="212"/>
                  </a:cubicBezTo>
                  <a:lnTo>
                    <a:pt x="804" y="212"/>
                  </a:lnTo>
                  <a:cubicBezTo>
                    <a:pt x="793" y="181"/>
                    <a:pt x="764" y="159"/>
                    <a:pt x="730" y="159"/>
                  </a:cubicBezTo>
                  <a:lnTo>
                    <a:pt x="647" y="159"/>
                  </a:lnTo>
                  <a:cubicBezTo>
                    <a:pt x="649" y="150"/>
                    <a:pt x="650" y="142"/>
                    <a:pt x="650" y="133"/>
                  </a:cubicBezTo>
                  <a:cubicBezTo>
                    <a:pt x="650" y="60"/>
                    <a:pt x="591" y="0"/>
                    <a:pt x="518" y="0"/>
                  </a:cubicBezTo>
                  <a:cubicBezTo>
                    <a:pt x="445" y="0"/>
                    <a:pt x="386" y="60"/>
                    <a:pt x="386" y="133"/>
                  </a:cubicBezTo>
                  <a:cubicBezTo>
                    <a:pt x="386" y="142"/>
                    <a:pt x="387" y="150"/>
                    <a:pt x="388" y="159"/>
                  </a:cubicBezTo>
                  <a:lnTo>
                    <a:pt x="306" y="159"/>
                  </a:lnTo>
                  <a:cubicBezTo>
                    <a:pt x="272" y="159"/>
                    <a:pt x="242" y="181"/>
                    <a:pt x="232" y="212"/>
                  </a:cubicBezTo>
                  <a:lnTo>
                    <a:pt x="132" y="212"/>
                  </a:lnTo>
                  <a:cubicBezTo>
                    <a:pt x="59" y="212"/>
                    <a:pt x="0" y="271"/>
                    <a:pt x="0" y="344"/>
                  </a:cubicBezTo>
                  <a:lnTo>
                    <a:pt x="0" y="1222"/>
                  </a:lnTo>
                  <a:cubicBezTo>
                    <a:pt x="0" y="1295"/>
                    <a:pt x="59" y="1354"/>
                    <a:pt x="132" y="1354"/>
                  </a:cubicBezTo>
                  <a:close/>
                  <a:moveTo>
                    <a:pt x="878" y="371"/>
                  </a:moveTo>
                  <a:lnTo>
                    <a:pt x="878" y="1196"/>
                  </a:lnTo>
                  <a:lnTo>
                    <a:pt x="158" y="1196"/>
                  </a:lnTo>
                  <a:lnTo>
                    <a:pt x="158" y="371"/>
                  </a:lnTo>
                  <a:lnTo>
                    <a:pt x="878" y="371"/>
                  </a:lnTo>
                  <a:close/>
                  <a:moveTo>
                    <a:pt x="306" y="212"/>
                  </a:moveTo>
                  <a:lnTo>
                    <a:pt x="427" y="212"/>
                  </a:lnTo>
                  <a:cubicBezTo>
                    <a:pt x="436" y="212"/>
                    <a:pt x="445" y="207"/>
                    <a:pt x="450" y="199"/>
                  </a:cubicBezTo>
                  <a:cubicBezTo>
                    <a:pt x="455" y="190"/>
                    <a:pt x="454" y="180"/>
                    <a:pt x="450" y="172"/>
                  </a:cubicBezTo>
                  <a:cubicBezTo>
                    <a:pt x="442" y="160"/>
                    <a:pt x="439" y="146"/>
                    <a:pt x="439" y="133"/>
                  </a:cubicBezTo>
                  <a:cubicBezTo>
                    <a:pt x="439" y="89"/>
                    <a:pt x="474" y="53"/>
                    <a:pt x="518" y="53"/>
                  </a:cubicBezTo>
                  <a:cubicBezTo>
                    <a:pt x="562" y="53"/>
                    <a:pt x="597" y="89"/>
                    <a:pt x="597" y="133"/>
                  </a:cubicBezTo>
                  <a:cubicBezTo>
                    <a:pt x="597" y="146"/>
                    <a:pt x="594" y="160"/>
                    <a:pt x="586" y="172"/>
                  </a:cubicBezTo>
                  <a:cubicBezTo>
                    <a:pt x="581" y="180"/>
                    <a:pt x="581" y="191"/>
                    <a:pt x="586" y="199"/>
                  </a:cubicBezTo>
                  <a:cubicBezTo>
                    <a:pt x="591" y="208"/>
                    <a:pt x="600" y="212"/>
                    <a:pt x="609" y="212"/>
                  </a:cubicBezTo>
                  <a:lnTo>
                    <a:pt x="730" y="212"/>
                  </a:lnTo>
                  <a:cubicBezTo>
                    <a:pt x="744" y="212"/>
                    <a:pt x="756" y="224"/>
                    <a:pt x="756" y="238"/>
                  </a:cubicBezTo>
                  <a:lnTo>
                    <a:pt x="756" y="318"/>
                  </a:lnTo>
                  <a:lnTo>
                    <a:pt x="280" y="318"/>
                  </a:lnTo>
                  <a:lnTo>
                    <a:pt x="280" y="238"/>
                  </a:lnTo>
                  <a:cubicBezTo>
                    <a:pt x="280" y="224"/>
                    <a:pt x="292" y="212"/>
                    <a:pt x="306" y="212"/>
                  </a:cubicBezTo>
                  <a:close/>
                  <a:moveTo>
                    <a:pt x="52" y="344"/>
                  </a:moveTo>
                  <a:cubicBezTo>
                    <a:pt x="52" y="300"/>
                    <a:pt x="88" y="265"/>
                    <a:pt x="132" y="265"/>
                  </a:cubicBezTo>
                  <a:lnTo>
                    <a:pt x="227" y="265"/>
                  </a:lnTo>
                  <a:lnTo>
                    <a:pt x="227" y="318"/>
                  </a:lnTo>
                  <a:lnTo>
                    <a:pt x="132" y="318"/>
                  </a:lnTo>
                  <a:cubicBezTo>
                    <a:pt x="117" y="318"/>
                    <a:pt x="105" y="330"/>
                    <a:pt x="105" y="344"/>
                  </a:cubicBezTo>
                  <a:lnTo>
                    <a:pt x="105" y="1222"/>
                  </a:lnTo>
                  <a:cubicBezTo>
                    <a:pt x="105" y="1237"/>
                    <a:pt x="117" y="1249"/>
                    <a:pt x="132" y="1249"/>
                  </a:cubicBezTo>
                  <a:lnTo>
                    <a:pt x="904" y="1249"/>
                  </a:lnTo>
                  <a:cubicBezTo>
                    <a:pt x="919" y="1249"/>
                    <a:pt x="931" y="1237"/>
                    <a:pt x="931" y="1222"/>
                  </a:cubicBezTo>
                  <a:lnTo>
                    <a:pt x="931" y="344"/>
                  </a:lnTo>
                  <a:cubicBezTo>
                    <a:pt x="931" y="330"/>
                    <a:pt x="919" y="318"/>
                    <a:pt x="904" y="318"/>
                  </a:cubicBezTo>
                  <a:lnTo>
                    <a:pt x="809" y="318"/>
                  </a:lnTo>
                  <a:lnTo>
                    <a:pt x="809" y="265"/>
                  </a:lnTo>
                  <a:lnTo>
                    <a:pt x="904" y="265"/>
                  </a:lnTo>
                  <a:cubicBezTo>
                    <a:pt x="948" y="265"/>
                    <a:pt x="983" y="300"/>
                    <a:pt x="983" y="344"/>
                  </a:cubicBezTo>
                  <a:lnTo>
                    <a:pt x="983" y="1222"/>
                  </a:lnTo>
                  <a:cubicBezTo>
                    <a:pt x="983" y="1266"/>
                    <a:pt x="948" y="1302"/>
                    <a:pt x="904" y="1302"/>
                  </a:cubicBezTo>
                  <a:lnTo>
                    <a:pt x="132" y="1302"/>
                  </a:lnTo>
                  <a:cubicBezTo>
                    <a:pt x="88" y="1302"/>
                    <a:pt x="52" y="1266"/>
                    <a:pt x="52" y="1222"/>
                  </a:cubicBezTo>
                  <a:lnTo>
                    <a:pt x="52" y="34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053"/>
            </a:p>
          </p:txBody>
        </p:sp>
        <p:sp>
          <p:nvSpPr>
            <p:cNvPr id="24" name="Freeform 400">
              <a:extLst>
                <a:ext uri="{FF2B5EF4-FFF2-40B4-BE49-F238E27FC236}">
                  <a16:creationId xmlns:a16="http://schemas.microsoft.com/office/drawing/2014/main" id="{55B89966-707C-EA0F-1D32-19F4824D80CF}"/>
                </a:ext>
              </a:extLst>
            </p:cNvPr>
            <p:cNvSpPr>
              <a:spLocks noChangeArrowheads="1"/>
            </p:cNvSpPr>
            <p:nvPr/>
          </p:nvSpPr>
          <p:spPr bwMode="auto">
            <a:xfrm>
              <a:off x="4640169" y="4672621"/>
              <a:ext cx="133350" cy="19050"/>
            </a:xfrm>
            <a:custGeom>
              <a:avLst/>
              <a:gdLst>
                <a:gd name="T0" fmla="*/ 26 w 371"/>
                <a:gd name="T1" fmla="*/ 53 h 54"/>
                <a:gd name="T2" fmla="*/ 344 w 371"/>
                <a:gd name="T3" fmla="*/ 53 h 54"/>
                <a:gd name="T4" fmla="*/ 370 w 371"/>
                <a:gd name="T5" fmla="*/ 26 h 54"/>
                <a:gd name="T6" fmla="*/ 344 w 371"/>
                <a:gd name="T7" fmla="*/ 0 h 54"/>
                <a:gd name="T8" fmla="*/ 26 w 371"/>
                <a:gd name="T9" fmla="*/ 0 h 54"/>
                <a:gd name="T10" fmla="*/ 0 w 371"/>
                <a:gd name="T11" fmla="*/ 26 h 54"/>
                <a:gd name="T12" fmla="*/ 26 w 371"/>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71" h="54">
                  <a:moveTo>
                    <a:pt x="26" y="53"/>
                  </a:moveTo>
                  <a:lnTo>
                    <a:pt x="344" y="53"/>
                  </a:lnTo>
                  <a:cubicBezTo>
                    <a:pt x="358" y="53"/>
                    <a:pt x="370" y="41"/>
                    <a:pt x="370" y="26"/>
                  </a:cubicBezTo>
                  <a:cubicBezTo>
                    <a:pt x="370" y="12"/>
                    <a:pt x="358" y="0"/>
                    <a:pt x="344" y="0"/>
                  </a:cubicBezTo>
                  <a:lnTo>
                    <a:pt x="26" y="0"/>
                  </a:lnTo>
                  <a:cubicBezTo>
                    <a:pt x="12" y="0"/>
                    <a:pt x="0" y="12"/>
                    <a:pt x="0" y="26"/>
                  </a:cubicBezTo>
                  <a:cubicBezTo>
                    <a:pt x="0" y="41"/>
                    <a:pt x="12" y="53"/>
                    <a:pt x="26" y="5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053"/>
            </a:p>
          </p:txBody>
        </p:sp>
        <p:sp>
          <p:nvSpPr>
            <p:cNvPr id="26" name="Freeform 401">
              <a:extLst>
                <a:ext uri="{FF2B5EF4-FFF2-40B4-BE49-F238E27FC236}">
                  <a16:creationId xmlns:a16="http://schemas.microsoft.com/office/drawing/2014/main" id="{ECF4FC84-3EBA-652C-8C20-24825922DEA7}"/>
                </a:ext>
              </a:extLst>
            </p:cNvPr>
            <p:cNvSpPr>
              <a:spLocks noChangeArrowheads="1"/>
            </p:cNvSpPr>
            <p:nvPr/>
          </p:nvSpPr>
          <p:spPr bwMode="auto">
            <a:xfrm>
              <a:off x="4640169" y="4731358"/>
              <a:ext cx="133350" cy="19050"/>
            </a:xfrm>
            <a:custGeom>
              <a:avLst/>
              <a:gdLst>
                <a:gd name="T0" fmla="*/ 26 w 371"/>
                <a:gd name="T1" fmla="*/ 53 h 54"/>
                <a:gd name="T2" fmla="*/ 344 w 371"/>
                <a:gd name="T3" fmla="*/ 53 h 54"/>
                <a:gd name="T4" fmla="*/ 370 w 371"/>
                <a:gd name="T5" fmla="*/ 26 h 54"/>
                <a:gd name="T6" fmla="*/ 344 w 371"/>
                <a:gd name="T7" fmla="*/ 0 h 54"/>
                <a:gd name="T8" fmla="*/ 26 w 371"/>
                <a:gd name="T9" fmla="*/ 0 h 54"/>
                <a:gd name="T10" fmla="*/ 0 w 371"/>
                <a:gd name="T11" fmla="*/ 26 h 54"/>
                <a:gd name="T12" fmla="*/ 26 w 371"/>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71" h="54">
                  <a:moveTo>
                    <a:pt x="26" y="53"/>
                  </a:moveTo>
                  <a:lnTo>
                    <a:pt x="344" y="53"/>
                  </a:lnTo>
                  <a:cubicBezTo>
                    <a:pt x="358" y="53"/>
                    <a:pt x="370" y="41"/>
                    <a:pt x="370" y="26"/>
                  </a:cubicBezTo>
                  <a:cubicBezTo>
                    <a:pt x="370" y="12"/>
                    <a:pt x="358" y="0"/>
                    <a:pt x="344" y="0"/>
                  </a:cubicBezTo>
                  <a:lnTo>
                    <a:pt x="26" y="0"/>
                  </a:lnTo>
                  <a:cubicBezTo>
                    <a:pt x="12" y="0"/>
                    <a:pt x="0" y="12"/>
                    <a:pt x="0" y="26"/>
                  </a:cubicBezTo>
                  <a:cubicBezTo>
                    <a:pt x="0" y="41"/>
                    <a:pt x="12" y="53"/>
                    <a:pt x="26" y="5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053"/>
            </a:p>
          </p:txBody>
        </p:sp>
        <p:sp>
          <p:nvSpPr>
            <p:cNvPr id="27" name="Freeform 402">
              <a:extLst>
                <a:ext uri="{FF2B5EF4-FFF2-40B4-BE49-F238E27FC236}">
                  <a16:creationId xmlns:a16="http://schemas.microsoft.com/office/drawing/2014/main" id="{92759DBA-E6F1-D354-6ABB-9D115B1CD57F}"/>
                </a:ext>
              </a:extLst>
            </p:cNvPr>
            <p:cNvSpPr>
              <a:spLocks noChangeArrowheads="1"/>
            </p:cNvSpPr>
            <p:nvPr/>
          </p:nvSpPr>
          <p:spPr bwMode="auto">
            <a:xfrm>
              <a:off x="4640169" y="4788508"/>
              <a:ext cx="133350" cy="19050"/>
            </a:xfrm>
            <a:custGeom>
              <a:avLst/>
              <a:gdLst>
                <a:gd name="T0" fmla="*/ 26 w 371"/>
                <a:gd name="T1" fmla="*/ 53 h 54"/>
                <a:gd name="T2" fmla="*/ 344 w 371"/>
                <a:gd name="T3" fmla="*/ 53 h 54"/>
                <a:gd name="T4" fmla="*/ 370 w 371"/>
                <a:gd name="T5" fmla="*/ 26 h 54"/>
                <a:gd name="T6" fmla="*/ 344 w 371"/>
                <a:gd name="T7" fmla="*/ 0 h 54"/>
                <a:gd name="T8" fmla="*/ 26 w 371"/>
                <a:gd name="T9" fmla="*/ 0 h 54"/>
                <a:gd name="T10" fmla="*/ 0 w 371"/>
                <a:gd name="T11" fmla="*/ 26 h 54"/>
                <a:gd name="T12" fmla="*/ 26 w 371"/>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71" h="54">
                  <a:moveTo>
                    <a:pt x="26" y="53"/>
                  </a:moveTo>
                  <a:lnTo>
                    <a:pt x="344" y="53"/>
                  </a:lnTo>
                  <a:cubicBezTo>
                    <a:pt x="358" y="53"/>
                    <a:pt x="370" y="41"/>
                    <a:pt x="370" y="26"/>
                  </a:cubicBezTo>
                  <a:cubicBezTo>
                    <a:pt x="370" y="12"/>
                    <a:pt x="358" y="0"/>
                    <a:pt x="344" y="0"/>
                  </a:cubicBezTo>
                  <a:lnTo>
                    <a:pt x="26" y="0"/>
                  </a:lnTo>
                  <a:cubicBezTo>
                    <a:pt x="12" y="0"/>
                    <a:pt x="0" y="12"/>
                    <a:pt x="0" y="26"/>
                  </a:cubicBezTo>
                  <a:cubicBezTo>
                    <a:pt x="0" y="41"/>
                    <a:pt x="12" y="53"/>
                    <a:pt x="26" y="5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053"/>
            </a:p>
          </p:txBody>
        </p:sp>
      </p:grpSp>
    </p:spTree>
    <p:extLst>
      <p:ext uri="{BB962C8B-B14F-4D97-AF65-F5344CB8AC3E}">
        <p14:creationId xmlns:p14="http://schemas.microsoft.com/office/powerpoint/2010/main" val="3831946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BE4EC83-A869-464E-AE9F-881796FB085E}" type="slidenum">
              <a:rPr lang="en-US" smtClean="0"/>
              <a:pPr/>
              <a:t>18</a:t>
            </a:fld>
            <a:endParaRPr lang="en-US"/>
          </a:p>
        </p:txBody>
      </p:sp>
      <p:sp>
        <p:nvSpPr>
          <p:cNvPr id="10" name="Title 1">
            <a:extLst>
              <a:ext uri="{FF2B5EF4-FFF2-40B4-BE49-F238E27FC236}">
                <a16:creationId xmlns:a16="http://schemas.microsoft.com/office/drawing/2014/main" id="{51F2F6C5-4BEB-1765-B9C5-3DE329A35AD5}"/>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تقييم أثر تغيير متطلبات البنية المؤسسية</a:t>
            </a:r>
            <a:endParaRPr lang="en-US" dirty="0"/>
          </a:p>
        </p:txBody>
      </p:sp>
      <p:sp>
        <p:nvSpPr>
          <p:cNvPr id="19" name="Rectangle 18">
            <a:extLst>
              <a:ext uri="{FF2B5EF4-FFF2-40B4-BE49-F238E27FC236}">
                <a16:creationId xmlns:a16="http://schemas.microsoft.com/office/drawing/2014/main" id="{F7D4EF3E-70D8-799F-FBAF-1C4AF00C109B}"/>
              </a:ext>
            </a:extLst>
          </p:cNvPr>
          <p:cNvSpPr/>
          <p:nvPr/>
        </p:nvSpPr>
        <p:spPr>
          <a:xfrm>
            <a:off x="760470" y="1257683"/>
            <a:ext cx="5272636" cy="451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ar-SA" sz="2400" dirty="0"/>
              <a:t>أثناء تنفيذ المبادرات / المشاريع الرقمية</a:t>
            </a:r>
            <a:endParaRPr lang="en-US" sz="2400" dirty="0"/>
          </a:p>
        </p:txBody>
      </p:sp>
      <p:sp>
        <p:nvSpPr>
          <p:cNvPr id="20" name="Rectangle 19">
            <a:extLst>
              <a:ext uri="{FF2B5EF4-FFF2-40B4-BE49-F238E27FC236}">
                <a16:creationId xmlns:a16="http://schemas.microsoft.com/office/drawing/2014/main" id="{033D1C4F-4FAC-0DE6-DBF1-0466D1516E65}"/>
              </a:ext>
            </a:extLst>
          </p:cNvPr>
          <p:cNvSpPr/>
          <p:nvPr/>
        </p:nvSpPr>
        <p:spPr>
          <a:xfrm>
            <a:off x="6158897" y="1257683"/>
            <a:ext cx="5296040" cy="451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ar-SA" sz="2400" dirty="0"/>
              <a:t>أثناء تنفيذ دورة تطوير البنية المؤسسية</a:t>
            </a:r>
            <a:endParaRPr lang="en-US" sz="2400" dirty="0"/>
          </a:p>
        </p:txBody>
      </p:sp>
      <p:sp>
        <p:nvSpPr>
          <p:cNvPr id="21" name="Rectangle 20">
            <a:extLst>
              <a:ext uri="{FF2B5EF4-FFF2-40B4-BE49-F238E27FC236}">
                <a16:creationId xmlns:a16="http://schemas.microsoft.com/office/drawing/2014/main" id="{B28BACF0-2D39-8FC5-0DEC-37531F8AD11B}"/>
              </a:ext>
            </a:extLst>
          </p:cNvPr>
          <p:cNvSpPr/>
          <p:nvPr/>
        </p:nvSpPr>
        <p:spPr>
          <a:xfrm>
            <a:off x="1084355" y="1978890"/>
            <a:ext cx="4624865" cy="430887"/>
          </a:xfrm>
          <a:prstGeom prst="rect">
            <a:avLst/>
          </a:prstGeom>
        </p:spPr>
        <p:txBody>
          <a:bodyPr wrap="square" lIns="0" tIns="0" rIns="0" bIns="0" anchor="t">
            <a:normAutofit/>
          </a:bodyPr>
          <a:lstStyle/>
          <a:p>
            <a:pPr algn="ctr"/>
            <a:r>
              <a:rPr lang="en-US" sz="2800" dirty="0">
                <a:solidFill>
                  <a:schemeClr val="accent2"/>
                </a:solidFill>
              </a:rPr>
              <a:t> </a:t>
            </a:r>
            <a:endParaRPr lang="ar-EG" sz="2800" dirty="0">
              <a:solidFill>
                <a:schemeClr val="accent2"/>
              </a:solidFill>
            </a:endParaRPr>
          </a:p>
        </p:txBody>
      </p:sp>
      <p:sp>
        <p:nvSpPr>
          <p:cNvPr id="22" name="Rectangle 21">
            <a:extLst>
              <a:ext uri="{FF2B5EF4-FFF2-40B4-BE49-F238E27FC236}">
                <a16:creationId xmlns:a16="http://schemas.microsoft.com/office/drawing/2014/main" id="{C8D6E822-F13B-EC7B-986C-98C454AB4C2A}"/>
              </a:ext>
            </a:extLst>
          </p:cNvPr>
          <p:cNvSpPr/>
          <p:nvPr/>
        </p:nvSpPr>
        <p:spPr>
          <a:xfrm>
            <a:off x="6494484" y="1978890"/>
            <a:ext cx="4624865" cy="430887"/>
          </a:xfrm>
          <a:prstGeom prst="rect">
            <a:avLst/>
          </a:prstGeom>
        </p:spPr>
        <p:txBody>
          <a:bodyPr wrap="square" lIns="0" tIns="0" rIns="0" bIns="0" anchor="t">
            <a:normAutofit/>
          </a:bodyPr>
          <a:lstStyle/>
          <a:p>
            <a:pPr algn="ctr"/>
            <a:r>
              <a:rPr lang="en-US" sz="2800" dirty="0">
                <a:solidFill>
                  <a:schemeClr val="accent1"/>
                </a:solidFill>
              </a:rPr>
              <a:t> </a:t>
            </a:r>
          </a:p>
        </p:txBody>
      </p:sp>
      <p:sp>
        <p:nvSpPr>
          <p:cNvPr id="26" name="Content Placeholder 3">
            <a:extLst>
              <a:ext uri="{FF2B5EF4-FFF2-40B4-BE49-F238E27FC236}">
                <a16:creationId xmlns:a16="http://schemas.microsoft.com/office/drawing/2014/main" id="{C77822FC-A822-D088-538B-6715CA4094BA}"/>
              </a:ext>
            </a:extLst>
          </p:cNvPr>
          <p:cNvSpPr txBox="1">
            <a:spLocks/>
          </p:cNvSpPr>
          <p:nvPr/>
        </p:nvSpPr>
        <p:spPr>
          <a:xfrm>
            <a:off x="1535646" y="1011154"/>
            <a:ext cx="9648627" cy="379728"/>
          </a:xfrm>
          <a:prstGeom prst="rect">
            <a:avLst/>
          </a:prstGeom>
        </p:spPr>
        <p:txBody>
          <a:bodyPr>
            <a:normAutofit fontScale="77500" lnSpcReduction="2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rtl="1">
              <a:spcBef>
                <a:spcPts val="0"/>
              </a:spcBef>
              <a:spcAft>
                <a:spcPts val="0"/>
              </a:spcAft>
              <a:buNone/>
            </a:pPr>
            <a:r>
              <a:rPr lang="ar-SA" sz="2000" b="0" i="0" u="none" strike="noStrike" dirty="0">
                <a:solidFill>
                  <a:srgbClr val="000000"/>
                </a:solidFill>
                <a:effectLst/>
                <a:latin typeface="Arial" panose="020B0604020202020204" pitchFamily="34" charset="0"/>
              </a:rPr>
              <a:t>يقوم فريق عمل البنية المؤسسية بدراسة وتقييم أثر تغيير أحد متطلبات البنية المؤسسية بعد</a:t>
            </a:r>
            <a:r>
              <a:rPr lang="ar-EG" sz="2000" b="0" i="0" u="none" strike="noStrike" dirty="0">
                <a:solidFill>
                  <a:srgbClr val="000000"/>
                </a:solidFill>
                <a:effectLst/>
                <a:latin typeface="Arial" panose="020B0604020202020204" pitchFamily="34" charset="0"/>
              </a:rPr>
              <a:t> </a:t>
            </a:r>
            <a:r>
              <a:rPr lang="ar-SA" sz="2000" b="0" i="0" u="none" strike="noStrike" dirty="0">
                <a:solidFill>
                  <a:srgbClr val="000000"/>
                </a:solidFill>
                <a:effectLst/>
                <a:latin typeface="Arial" panose="020B0604020202020204" pitchFamily="34" charset="0"/>
              </a:rPr>
              <a:t>اعتماده، وتحدث عملية التغيير على المتطلب في أحد الحالات التالية</a:t>
            </a:r>
            <a:r>
              <a:rPr lang="ar-EG" sz="2000" b="0" i="0" u="none" strike="noStrike" dirty="0">
                <a:solidFill>
                  <a:srgbClr val="000000"/>
                </a:solidFill>
                <a:effectLst/>
                <a:latin typeface="Arial" panose="020B0604020202020204" pitchFamily="34" charset="0"/>
              </a:rPr>
              <a:t>:</a:t>
            </a:r>
            <a:endParaRPr lang="ar-EG" sz="2000" dirty="0">
              <a:solidFill>
                <a:srgbClr val="000000"/>
              </a:solidFill>
              <a:latin typeface="Arial" panose="020B0604020202020204" pitchFamily="34" charset="0"/>
            </a:endParaRPr>
          </a:p>
        </p:txBody>
      </p:sp>
      <p:graphicFrame>
        <p:nvGraphicFramePr>
          <p:cNvPr id="28" name="Content Placeholder 5">
            <a:extLst>
              <a:ext uri="{FF2B5EF4-FFF2-40B4-BE49-F238E27FC236}">
                <a16:creationId xmlns:a16="http://schemas.microsoft.com/office/drawing/2014/main" id="{1A0CF85B-D625-9A87-FC20-BA6C835002D6}"/>
              </a:ext>
            </a:extLst>
          </p:cNvPr>
          <p:cNvGraphicFramePr>
            <a:graphicFrameLocks/>
          </p:cNvGraphicFramePr>
          <p:nvPr>
            <p:extLst>
              <p:ext uri="{D42A27DB-BD31-4B8C-83A1-F6EECF244321}">
                <p14:modId xmlns:p14="http://schemas.microsoft.com/office/powerpoint/2010/main" val="3524118384"/>
              </p:ext>
            </p:extLst>
          </p:nvPr>
        </p:nvGraphicFramePr>
        <p:xfrm>
          <a:off x="6158898" y="2522051"/>
          <a:ext cx="5296040" cy="3573945"/>
        </p:xfrm>
        <a:graphic>
          <a:graphicData uri="http://schemas.openxmlformats.org/drawingml/2006/table">
            <a:tbl>
              <a:tblPr rtl="1" firstRow="1" bandRow="1">
                <a:tableStyleId>{5C22544A-7EE6-4342-B048-85BDC9FD1C3A}</a:tableStyleId>
              </a:tblPr>
              <a:tblGrid>
                <a:gridCol w="1499840">
                  <a:extLst>
                    <a:ext uri="{9D8B030D-6E8A-4147-A177-3AD203B41FA5}">
                      <a16:colId xmlns:a16="http://schemas.microsoft.com/office/drawing/2014/main" val="72010324"/>
                    </a:ext>
                  </a:extLst>
                </a:gridCol>
                <a:gridCol w="3796200">
                  <a:extLst>
                    <a:ext uri="{9D8B030D-6E8A-4147-A177-3AD203B41FA5}">
                      <a16:colId xmlns:a16="http://schemas.microsoft.com/office/drawing/2014/main" val="2225789071"/>
                    </a:ext>
                  </a:extLst>
                </a:gridCol>
              </a:tblGrid>
              <a:tr h="112359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عدم الحاجة إلى تغيير نطاق العمل</a:t>
                      </a:r>
                      <a:endParaRPr kumimoji="0" lang="en-US" sz="1800" b="1"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anchor="ctr">
                    <a:lnB w="12700" cap="flat" cmpd="sng" algn="ctr">
                      <a:solidFill>
                        <a:schemeClr val="accent2"/>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400" b="0"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وذلك في حال كان أثر التغيير على نطاق دورة التطوير طفيف ولا يتطلب دراسة مجالات إضافية أو تطوير مناظير إضافية كثيرة</a:t>
                      </a:r>
                    </a:p>
                  </a:txBody>
                  <a:tcPr anchor="ctr">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968815825"/>
                  </a:ext>
                </a:extLst>
              </a:tr>
              <a:tr h="112359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الحاجة لتغيير نطاق العمل</a:t>
                      </a:r>
                      <a:endParaRPr kumimoji="0" lang="en-US" sz="18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4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وذلك في حال كان أثر التغيير على هدف دورة التطوير متوسط ويتطلب دراسة مجالات إضافية أو تطوير مناظير إضافية أخرى، حيث يتم إعادة جدولة أعمال وفترة دورة التطوير</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592398942"/>
                  </a:ext>
                </a:extLst>
              </a:tr>
              <a:tr h="132676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إيقاف دورة التطوير</a:t>
                      </a:r>
                      <a:endParaRPr kumimoji="0" lang="en-US" sz="18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4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وذلك في حال كان أثر التغيير على هدف دورة التطوير كبير، وأن محددات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4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نطاق العمل لا تتواءم مع الأهداف الجديدة. حيث يتم إيقاف أعمال دورة التطوير وتنفيذ مرحلة "تعريف نطاق دورة تطوير البنية المؤسسية" من جديد</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425585210"/>
                  </a:ext>
                </a:extLst>
              </a:tr>
            </a:tbl>
          </a:graphicData>
        </a:graphic>
      </p:graphicFrame>
      <p:graphicFrame>
        <p:nvGraphicFramePr>
          <p:cNvPr id="29" name="Content Placeholder 5">
            <a:extLst>
              <a:ext uri="{FF2B5EF4-FFF2-40B4-BE49-F238E27FC236}">
                <a16:creationId xmlns:a16="http://schemas.microsoft.com/office/drawing/2014/main" id="{1733527C-6E64-BDB3-0E7D-1713E14CED89}"/>
              </a:ext>
            </a:extLst>
          </p:cNvPr>
          <p:cNvGraphicFramePr>
            <a:graphicFrameLocks/>
          </p:cNvGraphicFramePr>
          <p:nvPr>
            <p:extLst>
              <p:ext uri="{D42A27DB-BD31-4B8C-83A1-F6EECF244321}">
                <p14:modId xmlns:p14="http://schemas.microsoft.com/office/powerpoint/2010/main" val="3163451454"/>
              </p:ext>
            </p:extLst>
          </p:nvPr>
        </p:nvGraphicFramePr>
        <p:xfrm>
          <a:off x="760470" y="2517604"/>
          <a:ext cx="5173589" cy="3573944"/>
        </p:xfrm>
        <a:graphic>
          <a:graphicData uri="http://schemas.openxmlformats.org/drawingml/2006/table">
            <a:tbl>
              <a:tblPr rtl="1" firstRow="1" bandRow="1">
                <a:tableStyleId>{5C22544A-7EE6-4342-B048-85BDC9FD1C3A}</a:tableStyleId>
              </a:tblPr>
              <a:tblGrid>
                <a:gridCol w="1465162">
                  <a:extLst>
                    <a:ext uri="{9D8B030D-6E8A-4147-A177-3AD203B41FA5}">
                      <a16:colId xmlns:a16="http://schemas.microsoft.com/office/drawing/2014/main" val="72010324"/>
                    </a:ext>
                  </a:extLst>
                </a:gridCol>
                <a:gridCol w="3708427">
                  <a:extLst>
                    <a:ext uri="{9D8B030D-6E8A-4147-A177-3AD203B41FA5}">
                      <a16:colId xmlns:a16="http://schemas.microsoft.com/office/drawing/2014/main" val="2225789071"/>
                    </a:ext>
                  </a:extLst>
                </a:gridCol>
              </a:tblGrid>
              <a:tr h="106315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توافق مخرجات المشروع مع المتطلبات</a:t>
                      </a:r>
                      <a:endParaRPr kumimoji="0" lang="en-US" sz="1800" b="1"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anchor="ctr">
                    <a:lnB w="12700" cap="flat" cmpd="sng" algn="ctr">
                      <a:solidFill>
                        <a:schemeClr val="accent2"/>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400" b="0"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وفي هذه الحالة لا يتطلب تنفيذ أي أعمال تصحيحية لإدارة متطلبات البنية المؤسسية والاكتفاء بتحديث حالة المتطلب</a:t>
                      </a:r>
                    </a:p>
                  </a:txBody>
                  <a:tcPr anchor="ctr">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968815825"/>
                  </a:ext>
                </a:extLst>
              </a:tr>
              <a:tr h="125539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وجود تباين طفيف بين مخرجات المشروع والمتطلبات</a:t>
                      </a:r>
                      <a:endParaRPr kumimoji="0" lang="en-US" sz="18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4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وفي هذه الحالة يتم تنفيذ إجراء "إدارة الإعفاءات المؤقتة لحالات عدم الامتثال بالمعايير المحددة" لمنح استثناء أو إعفاء لحالة عدم امتثال (شريطة ألا تكون حالة عدم الامتثال تؤثر بشكل كبير على أحد مجالات البنية المؤسسية)، بناء على نتيجة تنفيذ الإجراء يتم تحديث المتطلب وحالته مع بيان وجود استثناء/إعفاء</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592398942"/>
                  </a:ext>
                </a:extLst>
              </a:tr>
              <a:tr h="125539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8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عدم توافق مخرجات المشروع مع المتطلبات</a:t>
                      </a:r>
                      <a:endParaRPr kumimoji="0" lang="en-US" sz="18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14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وفي هذه الحالة يقوم فريق عمل البنية المؤسسية بدراسة أسباب عدم التوافق واتخاذ الإجراء المناسب حياله، وتكون نتيجة الدراسة إما برفض التعديل على متطلبات البنية المؤسسية لعدم وجود مسوغ صحيح، أو بتحديث المتطلب وحالته بناء على وجود مسوغ صحيح (مثل: تعذر استخدام تقنية معينة لأسباب امتثال مع قوانين ومعايير وطنية)</a:t>
                      </a:r>
                    </a:p>
                  </a:txBody>
                  <a:tcPr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425585210"/>
                  </a:ext>
                </a:extLst>
              </a:tr>
            </a:tbl>
          </a:graphicData>
        </a:graphic>
      </p:graphicFrame>
      <p:sp>
        <p:nvSpPr>
          <p:cNvPr id="30" name="Content Placeholder 3">
            <a:extLst>
              <a:ext uri="{FF2B5EF4-FFF2-40B4-BE49-F238E27FC236}">
                <a16:creationId xmlns:a16="http://schemas.microsoft.com/office/drawing/2014/main" id="{716CDDD2-E7B0-7AD5-4B9B-4CCE0D29EF89}"/>
              </a:ext>
            </a:extLst>
          </p:cNvPr>
          <p:cNvSpPr txBox="1">
            <a:spLocks/>
          </p:cNvSpPr>
          <p:nvPr/>
        </p:nvSpPr>
        <p:spPr>
          <a:xfrm>
            <a:off x="6158897" y="1720235"/>
            <a:ext cx="5296040" cy="797369"/>
          </a:xfrm>
          <a:prstGeom prst="rect">
            <a:avLst/>
          </a:prstGeom>
        </p:spPr>
        <p:txBody>
          <a:bodyPr anchor="ctr">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1">
              <a:spcBef>
                <a:spcPts val="0"/>
              </a:spcBef>
              <a:spcAft>
                <a:spcPts val="0"/>
              </a:spcAft>
              <a:buNone/>
            </a:pPr>
            <a:r>
              <a:rPr lang="ar-SA" sz="1600" b="1" i="0" u="none" strike="noStrike" dirty="0">
                <a:solidFill>
                  <a:srgbClr val="000000"/>
                </a:solidFill>
                <a:effectLst/>
                <a:latin typeface="Arial" panose="020B0604020202020204" pitchFamily="34" charset="0"/>
              </a:rPr>
              <a:t>حيث يقوم فريق عمل البنية المؤسسية بتقييم حجم الأثر</a:t>
            </a:r>
            <a:r>
              <a:rPr lang="ar-EG" sz="1600" b="1" i="0" u="none" strike="noStrike" dirty="0">
                <a:solidFill>
                  <a:srgbClr val="000000"/>
                </a:solidFill>
                <a:effectLst/>
                <a:latin typeface="Arial" panose="020B0604020202020204" pitchFamily="34" charset="0"/>
              </a:rPr>
              <a:t> </a:t>
            </a:r>
            <a:r>
              <a:rPr lang="ar-SA" sz="1600" b="1" i="0" u="none" strike="noStrike" dirty="0">
                <a:solidFill>
                  <a:srgbClr val="000000"/>
                </a:solidFill>
                <a:effectLst/>
                <a:latin typeface="Arial" panose="020B0604020202020204" pitchFamily="34" charset="0"/>
              </a:rPr>
              <a:t>الناتج عن تغيير المتطلب على نطاق عمل دورة التطوير، وتكون نتيجة التقييم</a:t>
            </a:r>
            <a:r>
              <a:rPr lang="ar-EG" sz="1600" b="1" i="0" u="none" strike="noStrike" dirty="0">
                <a:solidFill>
                  <a:srgbClr val="000000"/>
                </a:solidFill>
                <a:effectLst/>
                <a:latin typeface="Arial" panose="020B0604020202020204" pitchFamily="34" charset="0"/>
              </a:rPr>
              <a:t>:</a:t>
            </a:r>
            <a:endParaRPr lang="ar-EG" sz="1600" b="1" dirty="0">
              <a:solidFill>
                <a:srgbClr val="000000"/>
              </a:solidFill>
              <a:latin typeface="Arial" panose="020B0604020202020204" pitchFamily="34" charset="0"/>
            </a:endParaRPr>
          </a:p>
        </p:txBody>
      </p:sp>
      <p:sp>
        <p:nvSpPr>
          <p:cNvPr id="31" name="Content Placeholder 3">
            <a:extLst>
              <a:ext uri="{FF2B5EF4-FFF2-40B4-BE49-F238E27FC236}">
                <a16:creationId xmlns:a16="http://schemas.microsoft.com/office/drawing/2014/main" id="{38C4D761-033C-D2B1-9DA1-2B7AA5B4FFDC}"/>
              </a:ext>
            </a:extLst>
          </p:cNvPr>
          <p:cNvSpPr txBox="1">
            <a:spLocks/>
          </p:cNvSpPr>
          <p:nvPr/>
        </p:nvSpPr>
        <p:spPr>
          <a:xfrm>
            <a:off x="838200" y="1720235"/>
            <a:ext cx="5105472" cy="797369"/>
          </a:xfrm>
          <a:prstGeom prst="rect">
            <a:avLst/>
          </a:prstGeom>
        </p:spPr>
        <p:txBody>
          <a:bodyPr anchor="ctr">
            <a:normAutofit fontScale="92500" lnSpcReduction="20000"/>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1">
              <a:spcBef>
                <a:spcPts val="0"/>
              </a:spcBef>
              <a:spcAft>
                <a:spcPts val="0"/>
              </a:spcAft>
              <a:buNone/>
            </a:pPr>
            <a:r>
              <a:rPr lang="ar-SA" sz="1600" b="1" i="0" u="none" strike="noStrike" dirty="0">
                <a:solidFill>
                  <a:srgbClr val="000000"/>
                </a:solidFill>
                <a:effectLst/>
                <a:latin typeface="Arial" panose="020B0604020202020204" pitchFamily="34" charset="0"/>
              </a:rPr>
              <a:t>ويتم ذلك من خلال تنفيذ إجراءات حوكمة البنية</a:t>
            </a:r>
            <a:r>
              <a:rPr lang="ar-EG" sz="1600" b="1" i="0" u="none" strike="noStrike" dirty="0">
                <a:solidFill>
                  <a:srgbClr val="000000"/>
                </a:solidFill>
                <a:effectLst/>
                <a:latin typeface="Arial" panose="020B0604020202020204" pitchFamily="34" charset="0"/>
              </a:rPr>
              <a:t> </a:t>
            </a:r>
            <a:r>
              <a:rPr lang="ar-SA" sz="1600" b="1" i="0" u="none" strike="noStrike" dirty="0">
                <a:solidFill>
                  <a:srgbClr val="000000"/>
                </a:solidFill>
                <a:effectLst/>
                <a:latin typeface="Arial" panose="020B0604020202020204" pitchFamily="34" charset="0"/>
              </a:rPr>
              <a:t>المؤسسية في مجال "تنفيذ المشاريع الرقمية" بحيث </a:t>
            </a:r>
            <a:r>
              <a:rPr lang="ar-EG" sz="1600" b="1" i="0" u="none" strike="noStrike" dirty="0">
                <a:solidFill>
                  <a:srgbClr val="000000"/>
                </a:solidFill>
                <a:effectLst/>
                <a:latin typeface="Arial" panose="020B0604020202020204" pitchFamily="34" charset="0"/>
              </a:rPr>
              <a:t>تركز </a:t>
            </a:r>
            <a:r>
              <a:rPr lang="ar-SA" sz="1600" b="1" i="0" u="none" strike="noStrike" dirty="0">
                <a:solidFill>
                  <a:srgbClr val="000000"/>
                </a:solidFill>
                <a:effectLst/>
                <a:latin typeface="Arial" panose="020B0604020202020204" pitchFamily="34" charset="0"/>
              </a:rPr>
              <a:t>هذه الإجراءات على التأكد من أن</a:t>
            </a:r>
            <a:r>
              <a:rPr lang="ar-EG" sz="1600" b="1" i="0" u="none" strike="noStrike" dirty="0">
                <a:solidFill>
                  <a:srgbClr val="000000"/>
                </a:solidFill>
                <a:effectLst/>
                <a:latin typeface="Arial" panose="020B0604020202020204" pitchFamily="34" charset="0"/>
              </a:rPr>
              <a:t> </a:t>
            </a:r>
            <a:r>
              <a:rPr lang="ar-SA" sz="1600" b="1" i="0" u="none" strike="noStrike" dirty="0">
                <a:solidFill>
                  <a:srgbClr val="000000"/>
                </a:solidFill>
                <a:effectLst/>
                <a:latin typeface="Arial" panose="020B0604020202020204" pitchFamily="34" charset="0"/>
              </a:rPr>
              <a:t>المبادرات / المشاريع الرقمية متوافقة مع مبادئ البنية المؤسسية ومكونات البنية المؤسسية</a:t>
            </a:r>
            <a:r>
              <a:rPr lang="ar-EG" sz="1600" b="1" i="0" u="none" strike="noStrike" dirty="0">
                <a:solidFill>
                  <a:srgbClr val="000000"/>
                </a:solidFill>
                <a:effectLst/>
                <a:latin typeface="Arial" panose="020B0604020202020204" pitchFamily="34" charset="0"/>
              </a:rPr>
              <a:t> </a:t>
            </a:r>
            <a:r>
              <a:rPr lang="ar-SA" sz="1600" b="1" i="0" u="none" strike="noStrike" dirty="0">
                <a:solidFill>
                  <a:srgbClr val="000000"/>
                </a:solidFill>
                <a:effectLst/>
                <a:latin typeface="Arial" panose="020B0604020202020204" pitchFamily="34" charset="0"/>
              </a:rPr>
              <a:t>المستقبلية والتي تعكس </a:t>
            </a:r>
            <a:r>
              <a:rPr lang="ar-EG" sz="1600" b="1" i="0" u="none" strike="noStrike" dirty="0">
                <a:solidFill>
                  <a:srgbClr val="000000"/>
                </a:solidFill>
                <a:effectLst/>
                <a:latin typeface="Arial" panose="020B0604020202020204" pitchFamily="34" charset="0"/>
              </a:rPr>
              <a:t>ا</a:t>
            </a:r>
            <a:r>
              <a:rPr lang="ar-SA" sz="1600" b="1" i="0" u="none" strike="noStrike" dirty="0">
                <a:solidFill>
                  <a:srgbClr val="000000"/>
                </a:solidFill>
                <a:effectLst/>
                <a:latin typeface="Arial" panose="020B0604020202020204" pitchFamily="34" charset="0"/>
              </a:rPr>
              <a:t>لية تنفيذ متطلبات البنية المؤسسية، وتكون </a:t>
            </a:r>
            <a:r>
              <a:rPr lang="ar-SA" sz="1600" b="1" i="0" u="none" strike="noStrike">
                <a:solidFill>
                  <a:srgbClr val="000000"/>
                </a:solidFill>
                <a:effectLst/>
                <a:latin typeface="Arial" panose="020B0604020202020204" pitchFamily="34" charset="0"/>
              </a:rPr>
              <a:t>نتيجة تنفيذ </a:t>
            </a:r>
            <a:r>
              <a:rPr lang="ar-SA" sz="1600" b="1" i="0" u="none" strike="noStrike" dirty="0">
                <a:solidFill>
                  <a:srgbClr val="000000"/>
                </a:solidFill>
                <a:effectLst/>
                <a:latin typeface="Arial" panose="020B0604020202020204" pitchFamily="34" charset="0"/>
              </a:rPr>
              <a:t>تلك</a:t>
            </a:r>
            <a:r>
              <a:rPr lang="ar-EG" sz="1600" b="1" i="0" u="none" strike="noStrike" dirty="0">
                <a:solidFill>
                  <a:srgbClr val="000000"/>
                </a:solidFill>
                <a:effectLst/>
                <a:latin typeface="Arial" panose="020B0604020202020204" pitchFamily="34" charset="0"/>
              </a:rPr>
              <a:t> الإجراءات:</a:t>
            </a:r>
            <a:endParaRPr lang="ar-EG" sz="1600" b="1" dirty="0">
              <a:solidFill>
                <a:srgbClr val="000000"/>
              </a:solidFill>
              <a:latin typeface="Arial" panose="020B0604020202020204" pitchFamily="34" charset="0"/>
            </a:endParaRPr>
          </a:p>
        </p:txBody>
      </p:sp>
    </p:spTree>
    <p:extLst>
      <p:ext uri="{BB962C8B-B14F-4D97-AF65-F5344CB8AC3E}">
        <p14:creationId xmlns:p14="http://schemas.microsoft.com/office/powerpoint/2010/main" val="163139072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EG" dirty="0"/>
              <a:t>سجل متطلبات البنية المؤسسية</a:t>
            </a:r>
          </a:p>
        </p:txBody>
      </p:sp>
      <p:sp>
        <p:nvSpPr>
          <p:cNvPr id="4" name="Text Placeholder 3"/>
          <p:cNvSpPr>
            <a:spLocks noGrp="1"/>
          </p:cNvSpPr>
          <p:nvPr>
            <p:ph type="body" sz="quarter" idx="14"/>
          </p:nvPr>
        </p:nvSpPr>
        <p:spPr/>
        <p:txBody>
          <a:bodyPr/>
          <a:lstStyle/>
          <a:p>
            <a:r>
              <a:rPr lang="en-US" dirty="0"/>
              <a:t>03</a:t>
            </a:r>
          </a:p>
        </p:txBody>
      </p:sp>
    </p:spTree>
    <p:extLst>
      <p:ext uri="{BB962C8B-B14F-4D97-AF65-F5344CB8AC3E}">
        <p14:creationId xmlns:p14="http://schemas.microsoft.com/office/powerpoint/2010/main" val="3031784292"/>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20</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سجل متطلبات البنية المؤسسية (</a:t>
            </a:r>
            <a:r>
              <a:rPr lang="en-US" dirty="0"/>
              <a:t>1/10</a:t>
            </a:r>
            <a:r>
              <a:rPr lang="ar-EG" dirty="0"/>
              <a:t>)</a:t>
            </a:r>
            <a:endParaRPr lang="en-US" dirty="0"/>
          </a:p>
        </p:txBody>
      </p:sp>
      <p:graphicFrame>
        <p:nvGraphicFramePr>
          <p:cNvPr id="3" name="Table 4">
            <a:extLst>
              <a:ext uri="{FF2B5EF4-FFF2-40B4-BE49-F238E27FC236}">
                <a16:creationId xmlns:a16="http://schemas.microsoft.com/office/drawing/2014/main" id="{8334871D-8AB1-846D-C666-4AEC2EDDE634}"/>
              </a:ext>
            </a:extLst>
          </p:cNvPr>
          <p:cNvGraphicFramePr>
            <a:graphicFrameLocks noGrp="1"/>
          </p:cNvGraphicFramePr>
          <p:nvPr>
            <p:extLst>
              <p:ext uri="{D42A27DB-BD31-4B8C-83A1-F6EECF244321}">
                <p14:modId xmlns:p14="http://schemas.microsoft.com/office/powerpoint/2010/main" val="890922494"/>
              </p:ext>
            </p:extLst>
          </p:nvPr>
        </p:nvGraphicFramePr>
        <p:xfrm>
          <a:off x="491067" y="1047592"/>
          <a:ext cx="11207006" cy="5051540"/>
        </p:xfrm>
        <a:graphic>
          <a:graphicData uri="http://schemas.openxmlformats.org/drawingml/2006/table">
            <a:tbl>
              <a:tblPr firstRow="1" bandRow="1">
                <a:tableStyleId>{5C22544A-7EE6-4342-B048-85BDC9FD1C3A}</a:tableStyleId>
              </a:tblPr>
              <a:tblGrid>
                <a:gridCol w="1401233">
                  <a:extLst>
                    <a:ext uri="{9D8B030D-6E8A-4147-A177-3AD203B41FA5}">
                      <a16:colId xmlns:a16="http://schemas.microsoft.com/office/drawing/2014/main" val="2401468592"/>
                    </a:ext>
                  </a:extLst>
                </a:gridCol>
                <a:gridCol w="1401233">
                  <a:extLst>
                    <a:ext uri="{9D8B030D-6E8A-4147-A177-3AD203B41FA5}">
                      <a16:colId xmlns:a16="http://schemas.microsoft.com/office/drawing/2014/main" val="4106362141"/>
                    </a:ext>
                  </a:extLst>
                </a:gridCol>
                <a:gridCol w="1401233">
                  <a:extLst>
                    <a:ext uri="{9D8B030D-6E8A-4147-A177-3AD203B41FA5}">
                      <a16:colId xmlns:a16="http://schemas.microsoft.com/office/drawing/2014/main" val="2762405046"/>
                    </a:ext>
                  </a:extLst>
                </a:gridCol>
                <a:gridCol w="1401233">
                  <a:extLst>
                    <a:ext uri="{9D8B030D-6E8A-4147-A177-3AD203B41FA5}">
                      <a16:colId xmlns:a16="http://schemas.microsoft.com/office/drawing/2014/main" val="1229696898"/>
                    </a:ext>
                  </a:extLst>
                </a:gridCol>
                <a:gridCol w="1401233">
                  <a:extLst>
                    <a:ext uri="{9D8B030D-6E8A-4147-A177-3AD203B41FA5}">
                      <a16:colId xmlns:a16="http://schemas.microsoft.com/office/drawing/2014/main" val="1444584099"/>
                    </a:ext>
                  </a:extLst>
                </a:gridCol>
                <a:gridCol w="1401233">
                  <a:extLst>
                    <a:ext uri="{9D8B030D-6E8A-4147-A177-3AD203B41FA5}">
                      <a16:colId xmlns:a16="http://schemas.microsoft.com/office/drawing/2014/main" val="2979753714"/>
                    </a:ext>
                  </a:extLst>
                </a:gridCol>
                <a:gridCol w="1401233">
                  <a:extLst>
                    <a:ext uri="{9D8B030D-6E8A-4147-A177-3AD203B41FA5}">
                      <a16:colId xmlns:a16="http://schemas.microsoft.com/office/drawing/2014/main" val="892043053"/>
                    </a:ext>
                  </a:extLst>
                </a:gridCol>
                <a:gridCol w="949327">
                  <a:extLst>
                    <a:ext uri="{9D8B030D-6E8A-4147-A177-3AD203B41FA5}">
                      <a16:colId xmlns:a16="http://schemas.microsoft.com/office/drawing/2014/main" val="492242960"/>
                    </a:ext>
                  </a:extLst>
                </a:gridCol>
                <a:gridCol w="449048">
                  <a:extLst>
                    <a:ext uri="{9D8B030D-6E8A-4147-A177-3AD203B41FA5}">
                      <a16:colId xmlns:a16="http://schemas.microsoft.com/office/drawing/2014/main" val="391759801"/>
                    </a:ext>
                  </a:extLst>
                </a:gridCol>
              </a:tblGrid>
              <a:tr h="875705">
                <a:tc>
                  <a:txBody>
                    <a:bodyPr/>
                    <a:lstStyle/>
                    <a:p>
                      <a:pPr algn="ctr"/>
                      <a:r>
                        <a:rPr lang="ar-SA" sz="2000" dirty="0"/>
                        <a:t>الربط </a:t>
                      </a:r>
                      <a:r>
                        <a:rPr lang="ar-SA" sz="1600" dirty="0"/>
                        <a:t>(الهدف الاستراتيجي – الوضع المستقبلي)</a:t>
                      </a:r>
                    </a:p>
                  </a:txBody>
                  <a:tcPr anchor="ctr"/>
                </a:tc>
                <a:tc>
                  <a:txBody>
                    <a:bodyPr/>
                    <a:lstStyle/>
                    <a:p>
                      <a:pPr algn="ctr"/>
                      <a:r>
                        <a:rPr lang="ar-SA" sz="2000" dirty="0"/>
                        <a:t>أولوية</a:t>
                      </a:r>
                    </a:p>
                    <a:p>
                      <a:pPr algn="ctr"/>
                      <a:r>
                        <a:rPr lang="ar-SA" sz="2000" dirty="0"/>
                        <a:t>التنفيذ</a:t>
                      </a:r>
                      <a:endParaRPr lang="en-US" sz="2000" dirty="0"/>
                    </a:p>
                  </a:txBody>
                  <a:tcPr anchor="ctr"/>
                </a:tc>
                <a:tc>
                  <a:txBody>
                    <a:bodyPr/>
                    <a:lstStyle/>
                    <a:p>
                      <a:pPr algn="ctr"/>
                      <a:r>
                        <a:rPr lang="ar-SA" sz="2000" dirty="0"/>
                        <a:t>حالة المتطلب</a:t>
                      </a:r>
                      <a:endParaRPr lang="en-US" sz="2000" dirty="0"/>
                    </a:p>
                  </a:txBody>
                  <a:tcPr anchor="ctr"/>
                </a:tc>
                <a:tc>
                  <a:txBody>
                    <a:bodyPr/>
                    <a:lstStyle/>
                    <a:p>
                      <a:pPr algn="ctr"/>
                      <a:r>
                        <a:rPr lang="ar-EG" sz="2000" dirty="0"/>
                        <a:t>المتطلبات ذات</a:t>
                      </a:r>
                    </a:p>
                    <a:p>
                      <a:pPr algn="ctr"/>
                      <a:r>
                        <a:rPr lang="ar-EG" sz="2000" dirty="0"/>
                        <a:t>العلاقة</a:t>
                      </a:r>
                      <a:endParaRPr lang="en-US" sz="2000" dirty="0"/>
                    </a:p>
                  </a:txBody>
                  <a:tcPr anchor="ctr"/>
                </a:tc>
                <a:tc>
                  <a:txBody>
                    <a:bodyPr/>
                    <a:lstStyle/>
                    <a:p>
                      <a:pPr algn="ctr"/>
                      <a:r>
                        <a:rPr lang="ar-EG" sz="2000" dirty="0"/>
                        <a:t>المجالات المتأثرة</a:t>
                      </a:r>
                    </a:p>
                    <a:p>
                      <a:pPr algn="ctr"/>
                      <a:r>
                        <a:rPr lang="ar-EG" sz="2000" dirty="0"/>
                        <a:t>بالمتطلب</a:t>
                      </a:r>
                      <a:endParaRPr lang="en-US" sz="2000" dirty="0"/>
                    </a:p>
                  </a:txBody>
                  <a:tcPr anchor="ctr"/>
                </a:tc>
                <a:tc>
                  <a:txBody>
                    <a:bodyPr/>
                    <a:lstStyle/>
                    <a:p>
                      <a:pPr algn="ctr"/>
                      <a:r>
                        <a:rPr lang="ar-EG" sz="2000" dirty="0"/>
                        <a:t>مجال</a:t>
                      </a:r>
                    </a:p>
                    <a:p>
                      <a:pPr algn="ctr"/>
                      <a:r>
                        <a:rPr lang="ar-EG" sz="2000" dirty="0"/>
                        <a:t>المتطلب</a:t>
                      </a:r>
                      <a:endParaRPr lang="en-US" sz="2000" dirty="0"/>
                    </a:p>
                  </a:txBody>
                  <a:tcPr anchor="ctr"/>
                </a:tc>
                <a:tc>
                  <a:txBody>
                    <a:bodyPr/>
                    <a:lstStyle/>
                    <a:p>
                      <a:pPr algn="ctr"/>
                      <a:r>
                        <a:rPr lang="ar-SA" sz="2000" dirty="0"/>
                        <a:t>مصدر</a:t>
                      </a:r>
                    </a:p>
                    <a:p>
                      <a:pPr algn="ctr"/>
                      <a:r>
                        <a:rPr lang="ar-SA" sz="2000" dirty="0"/>
                        <a:t>المتطلب</a:t>
                      </a:r>
                      <a:endParaRPr lang="en-US" sz="2000" dirty="0"/>
                    </a:p>
                  </a:txBody>
                  <a:tcPr anchor="ctr"/>
                </a:tc>
                <a:tc>
                  <a:txBody>
                    <a:bodyPr/>
                    <a:lstStyle/>
                    <a:p>
                      <a:pPr algn="ctr"/>
                      <a:r>
                        <a:rPr lang="ar-SA" sz="2000" dirty="0"/>
                        <a:t>رمز</a:t>
                      </a:r>
                    </a:p>
                    <a:p>
                      <a:pPr algn="ctr"/>
                      <a:r>
                        <a:rPr lang="ar-SA" sz="2000" dirty="0"/>
                        <a:t>المتطلب</a:t>
                      </a:r>
                      <a:endParaRPr lang="en-US" sz="2000" dirty="0"/>
                    </a:p>
                  </a:txBody>
                  <a:tcPr anchor="ctr"/>
                </a:tc>
                <a:tc>
                  <a:txBody>
                    <a:bodyPr/>
                    <a:lstStyle/>
                    <a:p>
                      <a:pPr algn="ctr"/>
                      <a:r>
                        <a:rPr lang="en-US" sz="2000" dirty="0"/>
                        <a:t>#</a:t>
                      </a:r>
                    </a:p>
                  </a:txBody>
                  <a:tcPr anchor="ctr"/>
                </a:tc>
                <a:extLst>
                  <a:ext uri="{0D108BD9-81ED-4DB2-BD59-A6C34878D82A}">
                    <a16:rowId xmlns:a16="http://schemas.microsoft.com/office/drawing/2014/main" val="3617136848"/>
                  </a:ext>
                </a:extLst>
              </a:tr>
              <a:tr h="416762">
                <a:tc gridSpan="7">
                  <a:txBody>
                    <a:bodyPr/>
                    <a:lstStyle/>
                    <a:p>
                      <a:pPr marL="0" indent="0" algn="r" defTabSz="914400" rtl="1" eaLnBrk="1" fontAlgn="ctr" latinLnBrk="0" hangingPunct="1">
                        <a:buFontTx/>
                        <a:buNone/>
                      </a:pP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إعادة هندسة الإجراءات الخاصة بإدارة التغيير على العمليات مع وضع حوكمة فعالة، مع اعتبار الية لمراجعة وتحديث إجراءات الأعمال ونماذجها</a:t>
                      </a:r>
                      <a:endPar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b"/>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BR01</a:t>
                      </a:r>
                    </a:p>
                  </a:txBody>
                  <a:tcPr marL="0" marR="0" marT="0" marB="0" anchor="ct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001</a:t>
                      </a:r>
                    </a:p>
                  </a:txBody>
                  <a:tcPr marL="0" marR="0" marT="0" marB="0" anchor="ctr"/>
                </a:tc>
                <a:extLst>
                  <a:ext uri="{0D108BD9-81ED-4DB2-BD59-A6C34878D82A}">
                    <a16:rowId xmlns:a16="http://schemas.microsoft.com/office/drawing/2014/main" val="180313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EAG03 - EAG04 - EAG05</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مرتفع</a:t>
                      </a: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إدارة التميز المؤسسي</a:t>
                      </a:r>
                    </a:p>
                  </a:txBody>
                  <a:tcPr marL="9525" marR="9525" marT="9525"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1288833752"/>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استكمال أتمتة جميع الإجراءات المتبقية لضمان تكامل الخدمات وتحسين الكفاءة التشغيلية</a:t>
                      </a: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BR0</a:t>
                      </a:r>
                      <a:r>
                        <a:rPr lang="ar-EG" sz="2000" b="1" i="0" u="none" strike="noStrike" dirty="0">
                          <a:solidFill>
                            <a:srgbClr val="000000"/>
                          </a:solidFill>
                          <a:effectLst/>
                          <a:latin typeface="Sakkal Majalla" panose="02000000000000000000" pitchFamily="2" charset="-78"/>
                          <a:cs typeface="Sakkal Majalla" panose="02000000000000000000" pitchFamily="2" charset="-78"/>
                        </a:rPr>
                        <a:t>2</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002</a:t>
                      </a:r>
                    </a:p>
                  </a:txBody>
                  <a:tcPr marL="0" marR="0" marT="0" marB="0" anchor="ctr">
                    <a:solidFill>
                      <a:srgbClr val="E9E8EE"/>
                    </a:solidFill>
                  </a:tcPr>
                </a:tc>
                <a:extLst>
                  <a:ext uri="{0D108BD9-81ED-4DB2-BD59-A6C34878D82A}">
                    <a16:rowId xmlns:a16="http://schemas.microsoft.com/office/drawing/2014/main" val="30067911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EAG03 - EAG05</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BR01-BR05</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جميع المجالات</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إدارة التميز المؤسسي</a:t>
                      </a:r>
                    </a:p>
                  </a:txBody>
                  <a:tcPr marL="9525" marR="9525" marT="9525" marB="0" anchor="ct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vMerge="1">
                  <a:txBody>
                    <a:bodyPr/>
                    <a:lstStyle/>
                    <a:p>
                      <a:endParaRPr lang="en-US"/>
                    </a:p>
                  </a:txBody>
                  <a:tcPr/>
                </a:tc>
                <a:extLst>
                  <a:ext uri="{0D108BD9-81ED-4DB2-BD59-A6C34878D82A}">
                    <a16:rowId xmlns:a16="http://schemas.microsoft.com/office/drawing/2014/main" val="1976179613"/>
                  </a:ext>
                </a:extLst>
              </a:tr>
              <a:tr h="416762">
                <a:tc gridSpan="7">
                  <a:txBody>
                    <a:bodyPr/>
                    <a:lstStyle/>
                    <a:p>
                      <a:pPr marL="0" indent="0" algn="r" defTabSz="914400" rtl="1" eaLnBrk="1" fontAlgn="ctr" latinLnBrk="0" hangingPunct="1">
                        <a:buFontTx/>
                        <a:buNone/>
                      </a:pP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نظام تواصل داخلي فعال يقلل الاعتماد على البريد الإلكتروني</a:t>
                      </a:r>
                      <a:r>
                        <a:rPr lang="en-US"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ويزيد التعاون</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AR01</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003</a:t>
                      </a:r>
                    </a:p>
                  </a:txBody>
                  <a:tcPr marL="0" marR="0" marT="0" marB="0" anchor="ctr"/>
                </a:tc>
                <a:extLst>
                  <a:ext uri="{0D108BD9-81ED-4DB2-BD59-A6C34878D82A}">
                    <a16:rowId xmlns:a16="http://schemas.microsoft.com/office/drawing/2014/main" val="1965755369"/>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EAG03 - EAG05</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متدني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تطبيقات - 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إدارة التميز المؤسسي</a:t>
                      </a:r>
                    </a:p>
                  </a:txBody>
                  <a:tcPr marL="9525" marR="9525" marT="9525"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920826566"/>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توفير</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نظام مركزي لمتابعة الأداء وتحليل البيانات</a:t>
                      </a: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AR02</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004</a:t>
                      </a:r>
                    </a:p>
                  </a:txBody>
                  <a:tcPr marL="0" marR="0" marT="0" marB="0" anchor="ctr">
                    <a:solidFill>
                      <a:srgbClr val="E9E8EE"/>
                    </a:solidFill>
                  </a:tcPr>
                </a:tc>
                <a:extLst>
                  <a:ext uri="{0D108BD9-81ED-4DB2-BD59-A6C34878D82A}">
                    <a16:rowId xmlns:a16="http://schemas.microsoft.com/office/drawing/2014/main" val="48894551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EAG01 - EAG02 -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E9E8EE"/>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جميع المجالات</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إدارة التميز المؤسسي</a:t>
                      </a:r>
                    </a:p>
                  </a:txBody>
                  <a:tcPr marL="0" marR="0" marT="0" marB="0" anchor="ctr">
                    <a:solidFill>
                      <a:srgbClr val="E9E8EE"/>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vMerge="1">
                  <a:txBody>
                    <a:bodyPr/>
                    <a:lstStyle/>
                    <a:p>
                      <a:endParaRPr lang="en-US"/>
                    </a:p>
                  </a:txBody>
                  <a:tcPr/>
                </a:tc>
                <a:extLst>
                  <a:ext uri="{0D108BD9-81ED-4DB2-BD59-A6C34878D82A}">
                    <a16:rowId xmlns:a16="http://schemas.microsoft.com/office/drawing/2014/main" val="1430913029"/>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إعادة هندسة الإجراءات الخاصة بإدارة  </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ا</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لتواصل مع الجهات الحكومية المزودة للخدمات لضمان استمرارية الخدمة</a:t>
                      </a:r>
                    </a:p>
                  </a:txBody>
                  <a:tcPr marL="7620" marR="18288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algn="ctr" defTabSz="914400" rtl="1" eaLnBrk="1" fontAlgn="ctr" latinLnBrk="0" hangingPunct="1">
                        <a:buFontTx/>
                        <a:buNone/>
                      </a:pPr>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hMerge="1">
                  <a:txBody>
                    <a:bodyPr/>
                    <a:lstStyle/>
                    <a:p>
                      <a:pPr marL="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BR0</a:t>
                      </a:r>
                      <a:r>
                        <a:rPr lang="ar-EG" sz="2000" b="1" i="0" u="none" strike="noStrike" dirty="0">
                          <a:solidFill>
                            <a:srgbClr val="000000"/>
                          </a:solidFill>
                          <a:effectLst/>
                          <a:latin typeface="Sakkal Majalla" panose="02000000000000000000" pitchFamily="2" charset="-78"/>
                          <a:cs typeface="Sakkal Majalla" panose="02000000000000000000" pitchFamily="2" charset="-78"/>
                        </a:rPr>
                        <a:t>3</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005</a:t>
                      </a:r>
                    </a:p>
                  </a:txBody>
                  <a:tcPr marL="0" marR="0" marT="0" marB="0" anchor="ctr">
                    <a:solidFill>
                      <a:srgbClr val="D0CEDB"/>
                    </a:solidFill>
                  </a:tcPr>
                </a:tc>
                <a:extLst>
                  <a:ext uri="{0D108BD9-81ED-4DB2-BD59-A6C34878D82A}">
                    <a16:rowId xmlns:a16="http://schemas.microsoft.com/office/drawing/2014/main" val="3429377612"/>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EAG03 - EAG05</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التحليل الرباعي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vMerge="1">
                  <a:txBody>
                    <a:bodyPr/>
                    <a:lstStyle/>
                    <a:p>
                      <a:pPr algn="ctr" rtl="0" fontAlgn="ctr">
                        <a:buFontTx/>
                        <a:buNone/>
                      </a:pP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664299992"/>
                  </a:ext>
                </a:extLst>
              </a:tr>
            </a:tbl>
          </a:graphicData>
        </a:graphic>
      </p:graphicFrame>
    </p:spTree>
    <p:extLst>
      <p:ext uri="{BB962C8B-B14F-4D97-AF65-F5344CB8AC3E}">
        <p14:creationId xmlns:p14="http://schemas.microsoft.com/office/powerpoint/2010/main" val="3117159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21</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سجل متطلبات البنية المؤسسية (</a:t>
            </a:r>
            <a:r>
              <a:rPr lang="en-US" dirty="0"/>
              <a:t>2/10</a:t>
            </a:r>
            <a:r>
              <a:rPr lang="ar-EG" dirty="0"/>
              <a:t>)</a:t>
            </a:r>
            <a:endParaRPr lang="en-US" dirty="0"/>
          </a:p>
        </p:txBody>
      </p:sp>
      <p:graphicFrame>
        <p:nvGraphicFramePr>
          <p:cNvPr id="3" name="Table 4">
            <a:extLst>
              <a:ext uri="{FF2B5EF4-FFF2-40B4-BE49-F238E27FC236}">
                <a16:creationId xmlns:a16="http://schemas.microsoft.com/office/drawing/2014/main" id="{8334871D-8AB1-846D-C666-4AEC2EDDE634}"/>
              </a:ext>
            </a:extLst>
          </p:cNvPr>
          <p:cNvGraphicFramePr>
            <a:graphicFrameLocks noGrp="1"/>
          </p:cNvGraphicFramePr>
          <p:nvPr>
            <p:extLst>
              <p:ext uri="{D42A27DB-BD31-4B8C-83A1-F6EECF244321}">
                <p14:modId xmlns:p14="http://schemas.microsoft.com/office/powerpoint/2010/main" val="2416501755"/>
              </p:ext>
            </p:extLst>
          </p:nvPr>
        </p:nvGraphicFramePr>
        <p:xfrm>
          <a:off x="491067" y="1047592"/>
          <a:ext cx="11209865" cy="5051540"/>
        </p:xfrm>
        <a:graphic>
          <a:graphicData uri="http://schemas.openxmlformats.org/drawingml/2006/table">
            <a:tbl>
              <a:tblPr firstRow="1" bandRow="1">
                <a:tableStyleId>{5C22544A-7EE6-4342-B048-85BDC9FD1C3A}</a:tableStyleId>
              </a:tblPr>
              <a:tblGrid>
                <a:gridCol w="1401233">
                  <a:extLst>
                    <a:ext uri="{9D8B030D-6E8A-4147-A177-3AD203B41FA5}">
                      <a16:colId xmlns:a16="http://schemas.microsoft.com/office/drawing/2014/main" val="2401468592"/>
                    </a:ext>
                  </a:extLst>
                </a:gridCol>
                <a:gridCol w="1401233">
                  <a:extLst>
                    <a:ext uri="{9D8B030D-6E8A-4147-A177-3AD203B41FA5}">
                      <a16:colId xmlns:a16="http://schemas.microsoft.com/office/drawing/2014/main" val="4106362141"/>
                    </a:ext>
                  </a:extLst>
                </a:gridCol>
                <a:gridCol w="1401233">
                  <a:extLst>
                    <a:ext uri="{9D8B030D-6E8A-4147-A177-3AD203B41FA5}">
                      <a16:colId xmlns:a16="http://schemas.microsoft.com/office/drawing/2014/main" val="2762405046"/>
                    </a:ext>
                  </a:extLst>
                </a:gridCol>
                <a:gridCol w="1401233">
                  <a:extLst>
                    <a:ext uri="{9D8B030D-6E8A-4147-A177-3AD203B41FA5}">
                      <a16:colId xmlns:a16="http://schemas.microsoft.com/office/drawing/2014/main" val="1229696898"/>
                    </a:ext>
                  </a:extLst>
                </a:gridCol>
                <a:gridCol w="1401233">
                  <a:extLst>
                    <a:ext uri="{9D8B030D-6E8A-4147-A177-3AD203B41FA5}">
                      <a16:colId xmlns:a16="http://schemas.microsoft.com/office/drawing/2014/main" val="1444584099"/>
                    </a:ext>
                  </a:extLst>
                </a:gridCol>
                <a:gridCol w="1401233">
                  <a:extLst>
                    <a:ext uri="{9D8B030D-6E8A-4147-A177-3AD203B41FA5}">
                      <a16:colId xmlns:a16="http://schemas.microsoft.com/office/drawing/2014/main" val="2979753714"/>
                    </a:ext>
                  </a:extLst>
                </a:gridCol>
                <a:gridCol w="1401233">
                  <a:extLst>
                    <a:ext uri="{9D8B030D-6E8A-4147-A177-3AD203B41FA5}">
                      <a16:colId xmlns:a16="http://schemas.microsoft.com/office/drawing/2014/main" val="892043053"/>
                    </a:ext>
                  </a:extLst>
                </a:gridCol>
                <a:gridCol w="963615">
                  <a:extLst>
                    <a:ext uri="{9D8B030D-6E8A-4147-A177-3AD203B41FA5}">
                      <a16:colId xmlns:a16="http://schemas.microsoft.com/office/drawing/2014/main" val="492242960"/>
                    </a:ext>
                  </a:extLst>
                </a:gridCol>
                <a:gridCol w="437619">
                  <a:extLst>
                    <a:ext uri="{9D8B030D-6E8A-4147-A177-3AD203B41FA5}">
                      <a16:colId xmlns:a16="http://schemas.microsoft.com/office/drawing/2014/main" val="815666285"/>
                    </a:ext>
                  </a:extLst>
                </a:gridCol>
              </a:tblGrid>
              <a:tr h="875705">
                <a:tc>
                  <a:txBody>
                    <a:bodyPr/>
                    <a:lstStyle/>
                    <a:p>
                      <a:pPr algn="ctr"/>
                      <a:r>
                        <a:rPr lang="ar-SA" sz="2000" dirty="0"/>
                        <a:t>الربط </a:t>
                      </a:r>
                      <a:r>
                        <a:rPr lang="ar-SA" sz="1600" dirty="0"/>
                        <a:t>(الهدف الاستراتيجي – الوضع المستقبلي)</a:t>
                      </a:r>
                    </a:p>
                  </a:txBody>
                  <a:tcPr anchor="ctr"/>
                </a:tc>
                <a:tc>
                  <a:txBody>
                    <a:bodyPr/>
                    <a:lstStyle/>
                    <a:p>
                      <a:pPr algn="ctr"/>
                      <a:r>
                        <a:rPr lang="ar-SA" sz="2000" dirty="0"/>
                        <a:t>أولوية</a:t>
                      </a:r>
                    </a:p>
                    <a:p>
                      <a:pPr algn="ctr"/>
                      <a:r>
                        <a:rPr lang="ar-SA" sz="2000" dirty="0"/>
                        <a:t>التنفيذ</a:t>
                      </a:r>
                      <a:endParaRPr lang="en-US" sz="2000" dirty="0"/>
                    </a:p>
                  </a:txBody>
                  <a:tcPr anchor="ctr"/>
                </a:tc>
                <a:tc>
                  <a:txBody>
                    <a:bodyPr/>
                    <a:lstStyle/>
                    <a:p>
                      <a:pPr algn="ctr"/>
                      <a:r>
                        <a:rPr lang="ar-SA" sz="2000" dirty="0"/>
                        <a:t>حالة المتطلب</a:t>
                      </a:r>
                      <a:endParaRPr lang="en-US" sz="2000" dirty="0"/>
                    </a:p>
                  </a:txBody>
                  <a:tcPr anchor="ctr"/>
                </a:tc>
                <a:tc>
                  <a:txBody>
                    <a:bodyPr/>
                    <a:lstStyle/>
                    <a:p>
                      <a:pPr algn="ctr"/>
                      <a:r>
                        <a:rPr lang="ar-EG" sz="2000" dirty="0"/>
                        <a:t>المتطلبات ذات</a:t>
                      </a:r>
                    </a:p>
                    <a:p>
                      <a:pPr algn="ctr"/>
                      <a:r>
                        <a:rPr lang="ar-EG" sz="2000" dirty="0"/>
                        <a:t>العلاقة</a:t>
                      </a:r>
                      <a:endParaRPr lang="en-US" sz="2000" dirty="0"/>
                    </a:p>
                  </a:txBody>
                  <a:tcPr anchor="ctr"/>
                </a:tc>
                <a:tc>
                  <a:txBody>
                    <a:bodyPr/>
                    <a:lstStyle/>
                    <a:p>
                      <a:pPr algn="ctr"/>
                      <a:r>
                        <a:rPr lang="ar-EG" sz="2000" dirty="0"/>
                        <a:t>المجالات المتأثرة</a:t>
                      </a:r>
                    </a:p>
                    <a:p>
                      <a:pPr algn="ctr"/>
                      <a:r>
                        <a:rPr lang="ar-EG" sz="2000" dirty="0"/>
                        <a:t>بالمتطلب</a:t>
                      </a:r>
                      <a:endParaRPr lang="en-US" sz="2000" dirty="0"/>
                    </a:p>
                  </a:txBody>
                  <a:tcPr anchor="ctr"/>
                </a:tc>
                <a:tc>
                  <a:txBody>
                    <a:bodyPr/>
                    <a:lstStyle/>
                    <a:p>
                      <a:pPr algn="ctr"/>
                      <a:r>
                        <a:rPr lang="ar-EG" sz="2000" dirty="0"/>
                        <a:t>مجال</a:t>
                      </a:r>
                    </a:p>
                    <a:p>
                      <a:pPr algn="ctr"/>
                      <a:r>
                        <a:rPr lang="ar-EG" sz="2000" dirty="0"/>
                        <a:t>المتطلب</a:t>
                      </a:r>
                      <a:endParaRPr lang="en-US" sz="2000" dirty="0"/>
                    </a:p>
                  </a:txBody>
                  <a:tcPr anchor="ctr"/>
                </a:tc>
                <a:tc>
                  <a:txBody>
                    <a:bodyPr/>
                    <a:lstStyle/>
                    <a:p>
                      <a:pPr algn="ctr"/>
                      <a:r>
                        <a:rPr lang="ar-SA" sz="2000" dirty="0"/>
                        <a:t>مصدر</a:t>
                      </a:r>
                    </a:p>
                    <a:p>
                      <a:pPr algn="ctr"/>
                      <a:r>
                        <a:rPr lang="ar-SA" sz="2000" dirty="0"/>
                        <a:t>المتطلب</a:t>
                      </a:r>
                      <a:endParaRPr lang="en-US" sz="2000" dirty="0"/>
                    </a:p>
                  </a:txBody>
                  <a:tcPr anchor="ctr"/>
                </a:tc>
                <a:tc>
                  <a:txBody>
                    <a:bodyPr/>
                    <a:lstStyle/>
                    <a:p>
                      <a:pPr algn="ctr"/>
                      <a:r>
                        <a:rPr lang="ar-SA" sz="2000" dirty="0"/>
                        <a:t>رمز</a:t>
                      </a:r>
                    </a:p>
                    <a:p>
                      <a:pPr algn="ctr"/>
                      <a:r>
                        <a:rPr lang="ar-SA" sz="2000" dirty="0"/>
                        <a:t>المتطلب</a:t>
                      </a:r>
                      <a:endParaRPr lang="en-US" sz="2000" dirty="0"/>
                    </a:p>
                  </a:txBody>
                  <a:tcPr anchor="ctr"/>
                </a:tc>
                <a:tc>
                  <a:txBody>
                    <a:bodyPr/>
                    <a:lstStyle/>
                    <a:p>
                      <a:pPr algn="ctr"/>
                      <a:r>
                        <a:rPr lang="en-US" sz="2000" dirty="0"/>
                        <a:t>#</a:t>
                      </a:r>
                    </a:p>
                  </a:txBody>
                  <a:tcPr anchor="ctr"/>
                </a:tc>
                <a:extLst>
                  <a:ext uri="{0D108BD9-81ED-4DB2-BD59-A6C34878D82A}">
                    <a16:rowId xmlns:a16="http://schemas.microsoft.com/office/drawing/2014/main" val="3617136848"/>
                  </a:ext>
                </a:extLst>
              </a:tr>
              <a:tr h="416762">
                <a:tc gridSpan="7">
                  <a:txBody>
                    <a:bodyPr/>
                    <a:lstStyle/>
                    <a:p>
                      <a:pPr marL="0" indent="0" algn="r" defTabSz="914400" rtl="1" eaLnBrk="1" fontAlgn="ctr" latinLnBrk="0" hangingPunct="1">
                        <a:buFontTx/>
                        <a:buNone/>
                      </a:pP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تأمين</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آلية مصادقة موحدة تشمل التحقق الثنائي وكلمات المرور لتعزيز الأمان والفعالية</a:t>
                      </a: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b"/>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TR01</a:t>
                      </a:r>
                    </a:p>
                  </a:txBody>
                  <a:tcPr marL="0" marR="0" marT="0" marB="0" anchor="ct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006</a:t>
                      </a:r>
                    </a:p>
                  </a:txBody>
                  <a:tcPr marL="0" marR="0" marT="0" marB="0" anchor="ctr"/>
                </a:tc>
                <a:extLst>
                  <a:ext uri="{0D108BD9-81ED-4DB2-BD59-A6C34878D82A}">
                    <a16:rowId xmlns:a16="http://schemas.microsoft.com/office/drawing/2014/main" val="180313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EAG02 -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تطبيقات - تقنية</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التقنية</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التحليل الرباعي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1288833752"/>
                  </a:ext>
                </a:extLst>
              </a:tr>
              <a:tr h="416762">
                <a:tc gridSpan="7">
                  <a:txBody>
                    <a:bodyPr/>
                    <a:lstStyle/>
                    <a:p>
                      <a:pPr marL="0" indent="0" algn="r" defTabSz="914400" rtl="1" eaLnBrk="1" fontAlgn="ctr" latinLnBrk="0" hangingPunct="1">
                        <a:buFontTx/>
                        <a:buNone/>
                      </a:pP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توفير الية </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للإبلاغ عن حوادث سرقة البيانات، بالإضافة إلى توفير تدريبات منتظمة للموظفين حول كيفية التعامل مع مثل هذه الحوادث</a:t>
                      </a: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AR03</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007</a:t>
                      </a:r>
                    </a:p>
                  </a:txBody>
                  <a:tcPr marL="0" marR="0" marT="0" marB="0" anchor="ctr">
                    <a:solidFill>
                      <a:srgbClr val="E9E8EE"/>
                    </a:solidFill>
                  </a:tcPr>
                </a:tc>
                <a:extLst>
                  <a:ext uri="{0D108BD9-81ED-4DB2-BD59-A6C34878D82A}">
                    <a16:rowId xmlns:a16="http://schemas.microsoft.com/office/drawing/2014/main" val="30067911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EAG02 - EAG04</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تطبيقات - بيانات</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البيانات</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التحليل الرباعي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ct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vMerge="1">
                  <a:txBody>
                    <a:bodyPr/>
                    <a:lstStyle/>
                    <a:p>
                      <a:endParaRPr lang="en-US"/>
                    </a:p>
                  </a:txBody>
                  <a:tcPr/>
                </a:tc>
                <a:extLst>
                  <a:ext uri="{0D108BD9-81ED-4DB2-BD59-A6C34878D82A}">
                    <a16:rowId xmlns:a16="http://schemas.microsoft.com/office/drawing/2014/main" val="1976179613"/>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اعتماد تقنيات متقدمة لتصنيف البيانات، مثل </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بعض </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أنظمة إدارة البيانات المؤسسية التي تدعم التصنيف التلقائي والذكي للبيانات</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AR0</a:t>
                      </a:r>
                      <a:r>
                        <a:rPr lang="ar-EG" sz="2000" b="1" i="0" u="none" strike="noStrike" dirty="0">
                          <a:solidFill>
                            <a:srgbClr val="000000"/>
                          </a:solidFill>
                          <a:effectLst/>
                          <a:latin typeface="Sakkal Majalla" panose="02000000000000000000" pitchFamily="2" charset="-78"/>
                          <a:cs typeface="Sakkal Majalla" panose="02000000000000000000" pitchFamily="2" charset="-78"/>
                        </a:rPr>
                        <a:t>4</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008</a:t>
                      </a:r>
                    </a:p>
                  </a:txBody>
                  <a:tcPr marL="0" marR="0" marT="0" marB="0" anchor="ctr"/>
                </a:tc>
                <a:extLst>
                  <a:ext uri="{0D108BD9-81ED-4DB2-BD59-A6C34878D82A}">
                    <a16:rowId xmlns:a16="http://schemas.microsoft.com/office/drawing/2014/main" val="1965755369"/>
                  </a:ext>
                </a:extLst>
              </a:tr>
              <a:tr h="416762">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EAG02 -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تطبيقات - بيانات</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البيانات</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التحليل الرباعي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920826566"/>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وضع معايير موحدة لجودة البيانات وتقديم تدريبات للموظفين لتحسين جودة البيانات والتقارير</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DR01</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009</a:t>
                      </a:r>
                    </a:p>
                  </a:txBody>
                  <a:tcPr marL="0" marR="0" marT="0" marB="0" anchor="ctr">
                    <a:solidFill>
                      <a:srgbClr val="E9E8EE"/>
                    </a:solidFill>
                  </a:tcPr>
                </a:tc>
                <a:extLst>
                  <a:ext uri="{0D108BD9-81ED-4DB2-BD59-A6C34878D82A}">
                    <a16:rowId xmlns:a16="http://schemas.microsoft.com/office/drawing/2014/main" val="488945515"/>
                  </a:ext>
                </a:extLst>
              </a:tr>
              <a:tr h="416762">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E9E8EE"/>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 - بيانات</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البيانات</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التحليل الرباعي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ctr">
                    <a:solidFill>
                      <a:srgbClr val="E9E8EE"/>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vMerge="1">
                  <a:txBody>
                    <a:bodyPr/>
                    <a:lstStyle/>
                    <a:p>
                      <a:endParaRPr lang="en-US"/>
                    </a:p>
                  </a:txBody>
                  <a:tcPr/>
                </a:tc>
                <a:extLst>
                  <a:ext uri="{0D108BD9-81ED-4DB2-BD59-A6C34878D82A}">
                    <a16:rowId xmlns:a16="http://schemas.microsoft.com/office/drawing/2014/main" val="1430913029"/>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اعتماد نظام لإدارة جودة البيانات يشمل تعريف البيانات والمؤشرات وتجنب تكرار التقارير</a:t>
                      </a:r>
                    </a:p>
                  </a:txBody>
                  <a:tcPr marL="7620" marR="18288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algn="ctr" defTabSz="914400" rtl="1" eaLnBrk="1" fontAlgn="ctr" latinLnBrk="0" hangingPunct="1">
                        <a:buFontTx/>
                        <a:buNone/>
                      </a:pPr>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hMerge="1">
                  <a:txBody>
                    <a:bodyPr/>
                    <a:lstStyle/>
                    <a:p>
                      <a:pPr marL="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AR0</a:t>
                      </a:r>
                      <a:r>
                        <a:rPr lang="ar-EG" sz="2000" b="1" i="0" u="none" strike="noStrike" dirty="0">
                          <a:solidFill>
                            <a:srgbClr val="000000"/>
                          </a:solidFill>
                          <a:effectLst/>
                          <a:latin typeface="Sakkal Majalla" panose="02000000000000000000" pitchFamily="2" charset="-78"/>
                          <a:cs typeface="Sakkal Majalla" panose="02000000000000000000" pitchFamily="2" charset="-78"/>
                        </a:rPr>
                        <a:t>5</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010</a:t>
                      </a:r>
                    </a:p>
                  </a:txBody>
                  <a:tcPr marL="0" marR="0" marT="0" marB="0" anchor="ctr">
                    <a:solidFill>
                      <a:srgbClr val="D0CEDB"/>
                    </a:solidFill>
                  </a:tcPr>
                </a:tc>
                <a:extLst>
                  <a:ext uri="{0D108BD9-81ED-4DB2-BD59-A6C34878D82A}">
                    <a16:rowId xmlns:a16="http://schemas.microsoft.com/office/drawing/2014/main" val="3429377612"/>
                  </a:ext>
                </a:extLst>
              </a:tr>
              <a:tr h="416762">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EAG02</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تطبيقات - بيانات</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البيانات</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التحليل الرباعي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ctr">
                    <a:solidFill>
                      <a:srgbClr val="D0CEDB"/>
                    </a:solidFill>
                  </a:tcPr>
                </a:tc>
                <a:tc vMerge="1">
                  <a:txBody>
                    <a:bodyPr/>
                    <a:lstStyle/>
                    <a:p>
                      <a:pPr algn="ctr" rtl="0" fontAlgn="ctr">
                        <a:buFontTx/>
                        <a:buNone/>
                      </a:pP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664299992"/>
                  </a:ext>
                </a:extLst>
              </a:tr>
            </a:tbl>
          </a:graphicData>
        </a:graphic>
      </p:graphicFrame>
    </p:spTree>
    <p:extLst>
      <p:ext uri="{BB962C8B-B14F-4D97-AF65-F5344CB8AC3E}">
        <p14:creationId xmlns:p14="http://schemas.microsoft.com/office/powerpoint/2010/main" val="3982282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سجل متطلبات البنية المؤسسية (</a:t>
            </a:r>
            <a:r>
              <a:rPr lang="en-US" dirty="0"/>
              <a:t>3/10</a:t>
            </a:r>
            <a:r>
              <a:rPr lang="ar-EG" dirty="0"/>
              <a:t>)</a:t>
            </a:r>
            <a:endParaRPr lang="en-US" dirty="0"/>
          </a:p>
        </p:txBody>
      </p:sp>
      <p:graphicFrame>
        <p:nvGraphicFramePr>
          <p:cNvPr id="3" name="Table 4">
            <a:extLst>
              <a:ext uri="{FF2B5EF4-FFF2-40B4-BE49-F238E27FC236}">
                <a16:creationId xmlns:a16="http://schemas.microsoft.com/office/drawing/2014/main" id="{8334871D-8AB1-846D-C666-4AEC2EDDE634}"/>
              </a:ext>
            </a:extLst>
          </p:cNvPr>
          <p:cNvGraphicFramePr>
            <a:graphicFrameLocks noGrp="1"/>
          </p:cNvGraphicFramePr>
          <p:nvPr>
            <p:extLst>
              <p:ext uri="{D42A27DB-BD31-4B8C-83A1-F6EECF244321}">
                <p14:modId xmlns:p14="http://schemas.microsoft.com/office/powerpoint/2010/main" val="3518066473"/>
              </p:ext>
            </p:extLst>
          </p:nvPr>
        </p:nvGraphicFramePr>
        <p:xfrm>
          <a:off x="491067" y="1047592"/>
          <a:ext cx="11209865" cy="5051540"/>
        </p:xfrm>
        <a:graphic>
          <a:graphicData uri="http://schemas.openxmlformats.org/drawingml/2006/table">
            <a:tbl>
              <a:tblPr firstRow="1" bandRow="1">
                <a:tableStyleId>{5C22544A-7EE6-4342-B048-85BDC9FD1C3A}</a:tableStyleId>
              </a:tblPr>
              <a:tblGrid>
                <a:gridCol w="1401233">
                  <a:extLst>
                    <a:ext uri="{9D8B030D-6E8A-4147-A177-3AD203B41FA5}">
                      <a16:colId xmlns:a16="http://schemas.microsoft.com/office/drawing/2014/main" val="2401468592"/>
                    </a:ext>
                  </a:extLst>
                </a:gridCol>
                <a:gridCol w="1401233">
                  <a:extLst>
                    <a:ext uri="{9D8B030D-6E8A-4147-A177-3AD203B41FA5}">
                      <a16:colId xmlns:a16="http://schemas.microsoft.com/office/drawing/2014/main" val="4106362141"/>
                    </a:ext>
                  </a:extLst>
                </a:gridCol>
                <a:gridCol w="1401233">
                  <a:extLst>
                    <a:ext uri="{9D8B030D-6E8A-4147-A177-3AD203B41FA5}">
                      <a16:colId xmlns:a16="http://schemas.microsoft.com/office/drawing/2014/main" val="2762405046"/>
                    </a:ext>
                  </a:extLst>
                </a:gridCol>
                <a:gridCol w="1401233">
                  <a:extLst>
                    <a:ext uri="{9D8B030D-6E8A-4147-A177-3AD203B41FA5}">
                      <a16:colId xmlns:a16="http://schemas.microsoft.com/office/drawing/2014/main" val="1229696898"/>
                    </a:ext>
                  </a:extLst>
                </a:gridCol>
                <a:gridCol w="1401233">
                  <a:extLst>
                    <a:ext uri="{9D8B030D-6E8A-4147-A177-3AD203B41FA5}">
                      <a16:colId xmlns:a16="http://schemas.microsoft.com/office/drawing/2014/main" val="1444584099"/>
                    </a:ext>
                  </a:extLst>
                </a:gridCol>
                <a:gridCol w="1401233">
                  <a:extLst>
                    <a:ext uri="{9D8B030D-6E8A-4147-A177-3AD203B41FA5}">
                      <a16:colId xmlns:a16="http://schemas.microsoft.com/office/drawing/2014/main" val="2979753714"/>
                    </a:ext>
                  </a:extLst>
                </a:gridCol>
                <a:gridCol w="1401233">
                  <a:extLst>
                    <a:ext uri="{9D8B030D-6E8A-4147-A177-3AD203B41FA5}">
                      <a16:colId xmlns:a16="http://schemas.microsoft.com/office/drawing/2014/main" val="892043053"/>
                    </a:ext>
                  </a:extLst>
                </a:gridCol>
                <a:gridCol w="939802">
                  <a:extLst>
                    <a:ext uri="{9D8B030D-6E8A-4147-A177-3AD203B41FA5}">
                      <a16:colId xmlns:a16="http://schemas.microsoft.com/office/drawing/2014/main" val="492242960"/>
                    </a:ext>
                  </a:extLst>
                </a:gridCol>
                <a:gridCol w="461432">
                  <a:extLst>
                    <a:ext uri="{9D8B030D-6E8A-4147-A177-3AD203B41FA5}">
                      <a16:colId xmlns:a16="http://schemas.microsoft.com/office/drawing/2014/main" val="2068655707"/>
                    </a:ext>
                  </a:extLst>
                </a:gridCol>
              </a:tblGrid>
              <a:tr h="875705">
                <a:tc>
                  <a:txBody>
                    <a:bodyPr/>
                    <a:lstStyle/>
                    <a:p>
                      <a:pPr algn="ctr"/>
                      <a:r>
                        <a:rPr lang="ar-SA" sz="2000" dirty="0"/>
                        <a:t>الربط </a:t>
                      </a:r>
                      <a:r>
                        <a:rPr lang="ar-SA" sz="1600" dirty="0"/>
                        <a:t>(الهدف الاستراتيجي – الوضع المستقبلي)</a:t>
                      </a:r>
                    </a:p>
                  </a:txBody>
                  <a:tcPr anchor="ctr"/>
                </a:tc>
                <a:tc>
                  <a:txBody>
                    <a:bodyPr/>
                    <a:lstStyle/>
                    <a:p>
                      <a:pPr algn="ctr"/>
                      <a:r>
                        <a:rPr lang="ar-SA" sz="2000" dirty="0"/>
                        <a:t>أولوية</a:t>
                      </a:r>
                    </a:p>
                    <a:p>
                      <a:pPr algn="ctr"/>
                      <a:r>
                        <a:rPr lang="ar-SA" sz="2000" dirty="0"/>
                        <a:t>التنفيذ</a:t>
                      </a:r>
                      <a:endParaRPr lang="en-US" sz="2000" dirty="0"/>
                    </a:p>
                  </a:txBody>
                  <a:tcPr anchor="ctr"/>
                </a:tc>
                <a:tc>
                  <a:txBody>
                    <a:bodyPr/>
                    <a:lstStyle/>
                    <a:p>
                      <a:pPr algn="ctr"/>
                      <a:r>
                        <a:rPr lang="ar-SA" sz="2000" dirty="0"/>
                        <a:t>حالة المتطلب</a:t>
                      </a:r>
                      <a:endParaRPr lang="en-US" sz="2000" dirty="0"/>
                    </a:p>
                  </a:txBody>
                  <a:tcPr anchor="ctr"/>
                </a:tc>
                <a:tc>
                  <a:txBody>
                    <a:bodyPr/>
                    <a:lstStyle/>
                    <a:p>
                      <a:pPr algn="ctr"/>
                      <a:r>
                        <a:rPr lang="ar-EG" sz="2000" dirty="0"/>
                        <a:t>المتطلبات ذات</a:t>
                      </a:r>
                    </a:p>
                    <a:p>
                      <a:pPr algn="ctr"/>
                      <a:r>
                        <a:rPr lang="ar-EG" sz="2000" dirty="0"/>
                        <a:t>العلاقة</a:t>
                      </a:r>
                      <a:endParaRPr lang="en-US" sz="2000" dirty="0"/>
                    </a:p>
                  </a:txBody>
                  <a:tcPr anchor="ctr"/>
                </a:tc>
                <a:tc>
                  <a:txBody>
                    <a:bodyPr/>
                    <a:lstStyle/>
                    <a:p>
                      <a:pPr algn="ctr"/>
                      <a:r>
                        <a:rPr lang="ar-EG" sz="2000" dirty="0"/>
                        <a:t>المجالات المتأثرة</a:t>
                      </a:r>
                    </a:p>
                    <a:p>
                      <a:pPr algn="ctr"/>
                      <a:r>
                        <a:rPr lang="ar-EG" sz="2000" dirty="0"/>
                        <a:t>بالمتطلب</a:t>
                      </a:r>
                      <a:endParaRPr lang="en-US" sz="2000" dirty="0"/>
                    </a:p>
                  </a:txBody>
                  <a:tcPr anchor="ctr"/>
                </a:tc>
                <a:tc>
                  <a:txBody>
                    <a:bodyPr/>
                    <a:lstStyle/>
                    <a:p>
                      <a:pPr algn="ctr"/>
                      <a:r>
                        <a:rPr lang="ar-EG" sz="2000" dirty="0"/>
                        <a:t>مجال</a:t>
                      </a:r>
                    </a:p>
                    <a:p>
                      <a:pPr algn="ctr"/>
                      <a:r>
                        <a:rPr lang="ar-EG" sz="2000" dirty="0"/>
                        <a:t>المتطلب</a:t>
                      </a:r>
                      <a:endParaRPr lang="en-US" sz="2000" dirty="0"/>
                    </a:p>
                  </a:txBody>
                  <a:tcPr anchor="ctr"/>
                </a:tc>
                <a:tc>
                  <a:txBody>
                    <a:bodyPr/>
                    <a:lstStyle/>
                    <a:p>
                      <a:pPr algn="ctr"/>
                      <a:r>
                        <a:rPr lang="ar-SA" sz="2000" dirty="0"/>
                        <a:t>مصدر</a:t>
                      </a:r>
                    </a:p>
                    <a:p>
                      <a:pPr algn="ctr"/>
                      <a:r>
                        <a:rPr lang="ar-SA" sz="2000" dirty="0"/>
                        <a:t>المتطلب</a:t>
                      </a:r>
                      <a:endParaRPr lang="en-US" sz="2000" dirty="0"/>
                    </a:p>
                  </a:txBody>
                  <a:tcPr anchor="ctr"/>
                </a:tc>
                <a:tc>
                  <a:txBody>
                    <a:bodyPr/>
                    <a:lstStyle/>
                    <a:p>
                      <a:pPr algn="ctr"/>
                      <a:r>
                        <a:rPr lang="ar-SA" sz="2000" dirty="0"/>
                        <a:t>رمز</a:t>
                      </a:r>
                    </a:p>
                    <a:p>
                      <a:pPr algn="ctr"/>
                      <a:r>
                        <a:rPr lang="ar-SA" sz="2000" dirty="0"/>
                        <a:t>المتطلب</a:t>
                      </a:r>
                      <a:endParaRPr lang="en-US" sz="2000" dirty="0"/>
                    </a:p>
                  </a:txBody>
                  <a:tcPr anchor="ctr"/>
                </a:tc>
                <a:tc>
                  <a:txBody>
                    <a:bodyPr/>
                    <a:lstStyle/>
                    <a:p>
                      <a:pPr algn="ctr"/>
                      <a:r>
                        <a:rPr lang="en-US" sz="2000" dirty="0"/>
                        <a:t>#</a:t>
                      </a:r>
                    </a:p>
                  </a:txBody>
                  <a:tcPr anchor="ctr"/>
                </a:tc>
                <a:extLst>
                  <a:ext uri="{0D108BD9-81ED-4DB2-BD59-A6C34878D82A}">
                    <a16:rowId xmlns:a16="http://schemas.microsoft.com/office/drawing/2014/main" val="3617136848"/>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وتنفيذ إجراء موحد لتحديد البيانات الرئيسية والمرجعية وضمان تحديثه بانتظام</a:t>
                      </a: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b"/>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DR02</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011</a:t>
                      </a:r>
                    </a:p>
                  </a:txBody>
                  <a:tcPr marL="0" marR="0" marT="0" marB="0" anchor="ctr"/>
                </a:tc>
                <a:extLst>
                  <a:ext uri="{0D108BD9-81ED-4DB2-BD59-A6C34878D82A}">
                    <a16:rowId xmlns:a16="http://schemas.microsoft.com/office/drawing/2014/main" val="18031325"/>
                  </a:ext>
                </a:extLst>
              </a:tr>
              <a:tr h="416762">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EAG02 -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 - بيانات</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البيانات</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التحليل الرباعي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1288833752"/>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نظام موحد لتجميع بيانات </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المستفيدين</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وتحسين تكامل البيانات بين الأنظمة المختلفة</a:t>
                      </a: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AR0</a:t>
                      </a:r>
                      <a:r>
                        <a:rPr lang="ar-EG" sz="2000" b="1" i="0" u="none" strike="noStrike" dirty="0">
                          <a:solidFill>
                            <a:srgbClr val="000000"/>
                          </a:solidFill>
                          <a:effectLst/>
                          <a:latin typeface="Sakkal Majalla" panose="02000000000000000000" pitchFamily="2" charset="-78"/>
                          <a:cs typeface="Sakkal Majalla" panose="02000000000000000000" pitchFamily="2" charset="-78"/>
                        </a:rPr>
                        <a:t>6</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012</a:t>
                      </a:r>
                    </a:p>
                  </a:txBody>
                  <a:tcPr marL="0" marR="0" marT="0" marB="0" anchor="ctr">
                    <a:solidFill>
                      <a:srgbClr val="E9E8EE"/>
                    </a:solidFill>
                  </a:tcPr>
                </a:tc>
                <a:extLst>
                  <a:ext uri="{0D108BD9-81ED-4DB2-BD59-A6C34878D82A}">
                    <a16:rowId xmlns:a16="http://schemas.microsoft.com/office/drawing/2014/main" val="3006791125"/>
                  </a:ext>
                </a:extLst>
              </a:tr>
              <a:tr h="416762">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EAG02 -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 - بيانات</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البيانات</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التحليل الرباعي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ct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vMerge="1">
                  <a:txBody>
                    <a:bodyPr/>
                    <a:lstStyle/>
                    <a:p>
                      <a:endParaRPr lang="en-US"/>
                    </a:p>
                  </a:txBody>
                  <a:tcPr/>
                </a:tc>
                <a:extLst>
                  <a:ext uri="{0D108BD9-81ED-4DB2-BD59-A6C34878D82A}">
                    <a16:rowId xmlns:a16="http://schemas.microsoft.com/office/drawing/2014/main" val="1976179613"/>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ضمان تنوع مصادر مزودي خدمات الإنترنت لضمان استمرارية الأعمال والخدمات</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TR02</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013</a:t>
                      </a:r>
                    </a:p>
                  </a:txBody>
                  <a:tcPr marL="0" marR="0" marT="0" marB="0" anchor="ctr"/>
                </a:tc>
                <a:extLst>
                  <a:ext uri="{0D108BD9-81ED-4DB2-BD59-A6C34878D82A}">
                    <a16:rowId xmlns:a16="http://schemas.microsoft.com/office/drawing/2014/main" val="1965755369"/>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EAG01 -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عالي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تقنية</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التقنية</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التحليل الرباعي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920826566"/>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الإسراع في تنفيذ خطط التعافي من الكوارث وتحديثها بانتظام لضمان حماية البنية التحتية </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لتقنية</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المعلومات</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TR03</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014</a:t>
                      </a:r>
                    </a:p>
                  </a:txBody>
                  <a:tcPr marL="0" marR="0" marT="0" marB="0" anchor="ctr">
                    <a:solidFill>
                      <a:srgbClr val="E9E8EE"/>
                    </a:solidFill>
                  </a:tcPr>
                </a:tc>
                <a:extLst>
                  <a:ext uri="{0D108BD9-81ED-4DB2-BD59-A6C34878D82A}">
                    <a16:rowId xmlns:a16="http://schemas.microsoft.com/office/drawing/2014/main" val="48894551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EAG01 -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عالي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E9E8EE"/>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 - تقنية</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التقنية</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التحليل الرباعي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ctr">
                    <a:solidFill>
                      <a:srgbClr val="E9E8EE"/>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vMerge="1">
                  <a:txBody>
                    <a:bodyPr/>
                    <a:lstStyle/>
                    <a:p>
                      <a:endParaRPr lang="en-US"/>
                    </a:p>
                  </a:txBody>
                  <a:tcPr/>
                </a:tc>
                <a:extLst>
                  <a:ext uri="{0D108BD9-81ED-4DB2-BD59-A6C34878D82A}">
                    <a16:rowId xmlns:a16="http://schemas.microsoft.com/office/drawing/2014/main" val="1430913029"/>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اعتماد آلية مركزية لإدارة الأصول التقنية تشمل جميع الأصول بشكل شامل وفعال</a:t>
                      </a:r>
                    </a:p>
                  </a:txBody>
                  <a:tcPr marL="7620" marR="18288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algn="ctr" defTabSz="914400" rtl="1" eaLnBrk="1" fontAlgn="ctr" latinLnBrk="0" hangingPunct="1">
                        <a:buFontTx/>
                        <a:buNone/>
                      </a:pPr>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hMerge="1">
                  <a:txBody>
                    <a:bodyPr/>
                    <a:lstStyle/>
                    <a:p>
                      <a:pPr marL="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AR07</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015</a:t>
                      </a:r>
                    </a:p>
                  </a:txBody>
                  <a:tcPr marL="0" marR="0" marT="0" marB="0" anchor="ctr">
                    <a:solidFill>
                      <a:srgbClr val="D0CEDB"/>
                    </a:solidFill>
                  </a:tcPr>
                </a:tc>
                <a:extLst>
                  <a:ext uri="{0D108BD9-81ED-4DB2-BD59-A6C34878D82A}">
                    <a16:rowId xmlns:a16="http://schemas.microsoft.com/office/drawing/2014/main" val="3429377612"/>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EAG03 - EAG05</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تطبيقات - تقنية</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التقنية</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التحليل الرباعي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ctr">
                    <a:solidFill>
                      <a:srgbClr val="D0CEDB"/>
                    </a:solidFill>
                  </a:tcPr>
                </a:tc>
                <a:tc vMerge="1">
                  <a:txBody>
                    <a:bodyPr/>
                    <a:lstStyle/>
                    <a:p>
                      <a:pPr algn="ctr" rtl="0" fontAlgn="ctr">
                        <a:buFontTx/>
                        <a:buNone/>
                      </a:pP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664299992"/>
                  </a:ext>
                </a:extLst>
              </a:tr>
            </a:tbl>
          </a:graphicData>
        </a:graphic>
      </p:graphicFrame>
    </p:spTree>
    <p:extLst>
      <p:ext uri="{BB962C8B-B14F-4D97-AF65-F5344CB8AC3E}">
        <p14:creationId xmlns:p14="http://schemas.microsoft.com/office/powerpoint/2010/main" val="3366626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سجل متطلبات البنية المؤسسية (</a:t>
            </a:r>
            <a:r>
              <a:rPr lang="en-US" dirty="0"/>
              <a:t>4/10</a:t>
            </a:r>
            <a:r>
              <a:rPr lang="ar-EG" dirty="0"/>
              <a:t>)</a:t>
            </a:r>
            <a:endParaRPr lang="en-US" dirty="0"/>
          </a:p>
        </p:txBody>
      </p:sp>
      <p:graphicFrame>
        <p:nvGraphicFramePr>
          <p:cNvPr id="3" name="Table 4">
            <a:extLst>
              <a:ext uri="{FF2B5EF4-FFF2-40B4-BE49-F238E27FC236}">
                <a16:creationId xmlns:a16="http://schemas.microsoft.com/office/drawing/2014/main" id="{8334871D-8AB1-846D-C666-4AEC2EDDE634}"/>
              </a:ext>
            </a:extLst>
          </p:cNvPr>
          <p:cNvGraphicFramePr>
            <a:graphicFrameLocks noGrp="1"/>
          </p:cNvGraphicFramePr>
          <p:nvPr>
            <p:extLst>
              <p:ext uri="{D42A27DB-BD31-4B8C-83A1-F6EECF244321}">
                <p14:modId xmlns:p14="http://schemas.microsoft.com/office/powerpoint/2010/main" val="2366437313"/>
              </p:ext>
            </p:extLst>
          </p:nvPr>
        </p:nvGraphicFramePr>
        <p:xfrm>
          <a:off x="491067" y="1047592"/>
          <a:ext cx="11209865" cy="5051540"/>
        </p:xfrm>
        <a:graphic>
          <a:graphicData uri="http://schemas.openxmlformats.org/drawingml/2006/table">
            <a:tbl>
              <a:tblPr firstRow="1" bandRow="1">
                <a:tableStyleId>{5C22544A-7EE6-4342-B048-85BDC9FD1C3A}</a:tableStyleId>
              </a:tblPr>
              <a:tblGrid>
                <a:gridCol w="1401233">
                  <a:extLst>
                    <a:ext uri="{9D8B030D-6E8A-4147-A177-3AD203B41FA5}">
                      <a16:colId xmlns:a16="http://schemas.microsoft.com/office/drawing/2014/main" val="2401468592"/>
                    </a:ext>
                  </a:extLst>
                </a:gridCol>
                <a:gridCol w="1401233">
                  <a:extLst>
                    <a:ext uri="{9D8B030D-6E8A-4147-A177-3AD203B41FA5}">
                      <a16:colId xmlns:a16="http://schemas.microsoft.com/office/drawing/2014/main" val="4106362141"/>
                    </a:ext>
                  </a:extLst>
                </a:gridCol>
                <a:gridCol w="1401233">
                  <a:extLst>
                    <a:ext uri="{9D8B030D-6E8A-4147-A177-3AD203B41FA5}">
                      <a16:colId xmlns:a16="http://schemas.microsoft.com/office/drawing/2014/main" val="2762405046"/>
                    </a:ext>
                  </a:extLst>
                </a:gridCol>
                <a:gridCol w="1401233">
                  <a:extLst>
                    <a:ext uri="{9D8B030D-6E8A-4147-A177-3AD203B41FA5}">
                      <a16:colId xmlns:a16="http://schemas.microsoft.com/office/drawing/2014/main" val="1229696898"/>
                    </a:ext>
                  </a:extLst>
                </a:gridCol>
                <a:gridCol w="1401233">
                  <a:extLst>
                    <a:ext uri="{9D8B030D-6E8A-4147-A177-3AD203B41FA5}">
                      <a16:colId xmlns:a16="http://schemas.microsoft.com/office/drawing/2014/main" val="1444584099"/>
                    </a:ext>
                  </a:extLst>
                </a:gridCol>
                <a:gridCol w="1401233">
                  <a:extLst>
                    <a:ext uri="{9D8B030D-6E8A-4147-A177-3AD203B41FA5}">
                      <a16:colId xmlns:a16="http://schemas.microsoft.com/office/drawing/2014/main" val="2979753714"/>
                    </a:ext>
                  </a:extLst>
                </a:gridCol>
                <a:gridCol w="1401233">
                  <a:extLst>
                    <a:ext uri="{9D8B030D-6E8A-4147-A177-3AD203B41FA5}">
                      <a16:colId xmlns:a16="http://schemas.microsoft.com/office/drawing/2014/main" val="892043053"/>
                    </a:ext>
                  </a:extLst>
                </a:gridCol>
                <a:gridCol w="915990">
                  <a:extLst>
                    <a:ext uri="{9D8B030D-6E8A-4147-A177-3AD203B41FA5}">
                      <a16:colId xmlns:a16="http://schemas.microsoft.com/office/drawing/2014/main" val="492242960"/>
                    </a:ext>
                  </a:extLst>
                </a:gridCol>
                <a:gridCol w="485244">
                  <a:extLst>
                    <a:ext uri="{9D8B030D-6E8A-4147-A177-3AD203B41FA5}">
                      <a16:colId xmlns:a16="http://schemas.microsoft.com/office/drawing/2014/main" val="3013707271"/>
                    </a:ext>
                  </a:extLst>
                </a:gridCol>
              </a:tblGrid>
              <a:tr h="875705">
                <a:tc>
                  <a:txBody>
                    <a:bodyPr/>
                    <a:lstStyle/>
                    <a:p>
                      <a:pPr algn="ctr"/>
                      <a:r>
                        <a:rPr lang="ar-SA" sz="2000" dirty="0"/>
                        <a:t>الربط </a:t>
                      </a:r>
                      <a:r>
                        <a:rPr lang="ar-SA" sz="1600" dirty="0"/>
                        <a:t>(الهدف الاستراتيجي – الوضع المستقبلي)</a:t>
                      </a:r>
                    </a:p>
                  </a:txBody>
                  <a:tcPr anchor="ctr"/>
                </a:tc>
                <a:tc>
                  <a:txBody>
                    <a:bodyPr/>
                    <a:lstStyle/>
                    <a:p>
                      <a:pPr algn="ctr"/>
                      <a:r>
                        <a:rPr lang="ar-SA" sz="2000" dirty="0"/>
                        <a:t>أولوية</a:t>
                      </a:r>
                    </a:p>
                    <a:p>
                      <a:pPr algn="ctr"/>
                      <a:r>
                        <a:rPr lang="ar-SA" sz="2000" dirty="0"/>
                        <a:t>التنفيذ</a:t>
                      </a:r>
                      <a:endParaRPr lang="en-US" sz="2000" dirty="0"/>
                    </a:p>
                  </a:txBody>
                  <a:tcPr anchor="ctr"/>
                </a:tc>
                <a:tc>
                  <a:txBody>
                    <a:bodyPr/>
                    <a:lstStyle/>
                    <a:p>
                      <a:pPr algn="ctr"/>
                      <a:r>
                        <a:rPr lang="ar-SA" sz="2000" dirty="0"/>
                        <a:t>حالة المتطلب</a:t>
                      </a:r>
                      <a:endParaRPr lang="en-US" sz="2000" dirty="0"/>
                    </a:p>
                  </a:txBody>
                  <a:tcPr anchor="ctr"/>
                </a:tc>
                <a:tc>
                  <a:txBody>
                    <a:bodyPr/>
                    <a:lstStyle/>
                    <a:p>
                      <a:pPr algn="ctr"/>
                      <a:r>
                        <a:rPr lang="ar-EG" sz="2000" dirty="0"/>
                        <a:t>المتطلبات ذات</a:t>
                      </a:r>
                    </a:p>
                    <a:p>
                      <a:pPr algn="ctr"/>
                      <a:r>
                        <a:rPr lang="ar-EG" sz="2000" dirty="0"/>
                        <a:t>العلاقة</a:t>
                      </a:r>
                      <a:endParaRPr lang="en-US" sz="2000" dirty="0"/>
                    </a:p>
                  </a:txBody>
                  <a:tcPr anchor="ctr"/>
                </a:tc>
                <a:tc>
                  <a:txBody>
                    <a:bodyPr/>
                    <a:lstStyle/>
                    <a:p>
                      <a:pPr algn="ctr"/>
                      <a:r>
                        <a:rPr lang="ar-EG" sz="2000" dirty="0"/>
                        <a:t>المجالات المتأثرة</a:t>
                      </a:r>
                    </a:p>
                    <a:p>
                      <a:pPr algn="ctr"/>
                      <a:r>
                        <a:rPr lang="ar-EG" sz="2000" dirty="0"/>
                        <a:t>بالمتطلب</a:t>
                      </a:r>
                      <a:endParaRPr lang="en-US" sz="2000" dirty="0"/>
                    </a:p>
                  </a:txBody>
                  <a:tcPr anchor="ctr"/>
                </a:tc>
                <a:tc>
                  <a:txBody>
                    <a:bodyPr/>
                    <a:lstStyle/>
                    <a:p>
                      <a:pPr algn="ctr"/>
                      <a:r>
                        <a:rPr lang="ar-EG" sz="2000" dirty="0"/>
                        <a:t>مجال</a:t>
                      </a:r>
                    </a:p>
                    <a:p>
                      <a:pPr algn="ctr"/>
                      <a:r>
                        <a:rPr lang="ar-EG" sz="2000" dirty="0"/>
                        <a:t>المتطلب</a:t>
                      </a:r>
                      <a:endParaRPr lang="en-US" sz="2000" dirty="0"/>
                    </a:p>
                  </a:txBody>
                  <a:tcPr anchor="ctr"/>
                </a:tc>
                <a:tc>
                  <a:txBody>
                    <a:bodyPr/>
                    <a:lstStyle/>
                    <a:p>
                      <a:pPr algn="ctr"/>
                      <a:r>
                        <a:rPr lang="ar-SA" sz="2000" dirty="0"/>
                        <a:t>مصدر</a:t>
                      </a:r>
                    </a:p>
                    <a:p>
                      <a:pPr algn="ctr"/>
                      <a:r>
                        <a:rPr lang="ar-SA" sz="2000" dirty="0"/>
                        <a:t>المتطلب</a:t>
                      </a:r>
                      <a:endParaRPr lang="en-US" sz="2000" dirty="0"/>
                    </a:p>
                  </a:txBody>
                  <a:tcPr anchor="ctr"/>
                </a:tc>
                <a:tc>
                  <a:txBody>
                    <a:bodyPr/>
                    <a:lstStyle/>
                    <a:p>
                      <a:pPr algn="ctr"/>
                      <a:r>
                        <a:rPr lang="ar-SA" sz="2000" dirty="0"/>
                        <a:t>رمز</a:t>
                      </a:r>
                    </a:p>
                    <a:p>
                      <a:pPr algn="ctr"/>
                      <a:r>
                        <a:rPr lang="ar-SA" sz="2000" dirty="0"/>
                        <a:t>المتطلب</a:t>
                      </a:r>
                      <a:endParaRPr lang="en-US" sz="2000" dirty="0"/>
                    </a:p>
                  </a:txBody>
                  <a:tcPr anchor="ctr"/>
                </a:tc>
                <a:tc>
                  <a:txBody>
                    <a:bodyPr/>
                    <a:lstStyle/>
                    <a:p>
                      <a:pPr algn="ctr"/>
                      <a:r>
                        <a:rPr lang="en-US" sz="2000" dirty="0"/>
                        <a:t>#</a:t>
                      </a:r>
                    </a:p>
                  </a:txBody>
                  <a:tcPr anchor="ctr"/>
                </a:tc>
                <a:extLst>
                  <a:ext uri="{0D108BD9-81ED-4DB2-BD59-A6C34878D82A}">
                    <a16:rowId xmlns:a16="http://schemas.microsoft.com/office/drawing/2014/main" val="3617136848"/>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وتطبيق نموذج متعدد القنوات لدمج جميع قنوات التواصل مع المستفيدين لتحقيق تجربة مستفيدين سلسة</a:t>
                      </a: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b"/>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BR04</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016</a:t>
                      </a:r>
                    </a:p>
                  </a:txBody>
                  <a:tcPr marL="0" marR="0" marT="0" marB="0" anchor="ctr"/>
                </a:tc>
                <a:extLst>
                  <a:ext uri="{0D108BD9-81ED-4DB2-BD59-A6C34878D82A}">
                    <a16:rowId xmlns:a16="http://schemas.microsoft.com/office/drawing/2014/main" val="180313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EAG01 -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تقييم القدرات المؤسسية</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1288833752"/>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استخدام تقنيات إنترنت الأشياء</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a:t>
                      </a:r>
                      <a:r>
                        <a:rPr lang="en-US"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IoT</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والذكاء الاصطناعي</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a:t>
                      </a:r>
                      <a:r>
                        <a:rPr lang="en-US"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AI</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والبيانات الضخمة</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a:t>
                      </a:r>
                      <a:r>
                        <a:rPr lang="en-US"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Big Data</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لتلبية احتياجات المستفيدين استباقيا</a:t>
                      </a: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TR04</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017</a:t>
                      </a:r>
                    </a:p>
                  </a:txBody>
                  <a:tcPr marL="0" marR="0" marT="0" marB="0" anchor="ctr">
                    <a:solidFill>
                      <a:srgbClr val="E9E8EE"/>
                    </a:solidFill>
                  </a:tcPr>
                </a:tc>
                <a:extLst>
                  <a:ext uri="{0D108BD9-81ED-4DB2-BD59-A6C34878D82A}">
                    <a16:rowId xmlns:a16="http://schemas.microsoft.com/office/drawing/2014/main" val="30067911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EAG01 - EAG02</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جميع المجالات</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التقنية</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تقييم القدرات المؤسسية</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vMerge="1">
                  <a:txBody>
                    <a:bodyPr/>
                    <a:lstStyle/>
                    <a:p>
                      <a:endParaRPr lang="en-US"/>
                    </a:p>
                  </a:txBody>
                  <a:tcPr/>
                </a:tc>
                <a:extLst>
                  <a:ext uri="{0D108BD9-81ED-4DB2-BD59-A6C34878D82A}">
                    <a16:rowId xmlns:a16="http://schemas.microsoft.com/office/drawing/2014/main" val="1976179613"/>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نظام تحليل بيانات متكامل لرصد احتياجات المستفيدين وتوفير الحلول بشكل استباقي</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AR08</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018</a:t>
                      </a:r>
                    </a:p>
                  </a:txBody>
                  <a:tcPr marL="0" marR="0" marT="0" marB="0" anchor="ctr"/>
                </a:tc>
                <a:extLst>
                  <a:ext uri="{0D108BD9-81ED-4DB2-BD59-A6C34878D82A}">
                    <a16:rowId xmlns:a16="http://schemas.microsoft.com/office/drawing/2014/main" val="1965755369"/>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EAG01 - EAG02</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تطبيقات – بيانات - 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تقييم القدرات المؤسسية</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920826566"/>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إجراء تقييم دوري لتحديد مستوى الثقافة الرقمية بين الموظفين وتطوير خطة لتحسينها</a:t>
                      </a: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BR05</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019</a:t>
                      </a:r>
                    </a:p>
                  </a:txBody>
                  <a:tcPr marL="0" marR="0" marT="0" marB="0" anchor="ctr">
                    <a:solidFill>
                      <a:srgbClr val="E9E8EE"/>
                    </a:solidFill>
                  </a:tcPr>
                </a:tc>
                <a:extLst>
                  <a:ext uri="{0D108BD9-81ED-4DB2-BD59-A6C34878D82A}">
                    <a16:rowId xmlns:a16="http://schemas.microsoft.com/office/drawing/2014/main" val="48894551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EAG04</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عالي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E9E8EE"/>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BR06</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تقييم القدرات المؤسسية</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vMerge="1">
                  <a:txBody>
                    <a:bodyPr/>
                    <a:lstStyle/>
                    <a:p>
                      <a:endParaRPr lang="en-US"/>
                    </a:p>
                  </a:txBody>
                  <a:tcPr/>
                </a:tc>
                <a:extLst>
                  <a:ext uri="{0D108BD9-81ED-4DB2-BD59-A6C34878D82A}">
                    <a16:rowId xmlns:a16="http://schemas.microsoft.com/office/drawing/2014/main" val="1430913029"/>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وتنفيذ برنامج تدريبي شامل وفعال للموظفين لتعزيز المهارات الرقمية كجزء من التحسين المستمر</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algn="ctr" defTabSz="914400" rtl="1" eaLnBrk="1" fontAlgn="ctr" latinLnBrk="0" hangingPunct="1">
                        <a:buFontTx/>
                        <a:buNone/>
                      </a:pPr>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hMerge="1">
                  <a:txBody>
                    <a:bodyPr/>
                    <a:lstStyle/>
                    <a:p>
                      <a:pPr marL="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BR06</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020</a:t>
                      </a:r>
                    </a:p>
                  </a:txBody>
                  <a:tcPr marL="0" marR="0" marT="0" marB="0" anchor="ctr">
                    <a:solidFill>
                      <a:srgbClr val="D0CEDB"/>
                    </a:solidFill>
                  </a:tcPr>
                </a:tc>
                <a:extLst>
                  <a:ext uri="{0D108BD9-81ED-4DB2-BD59-A6C34878D82A}">
                    <a16:rowId xmlns:a16="http://schemas.microsoft.com/office/drawing/2014/main" val="3429377612"/>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EAG04 -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BR05</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تقييم القدرات المؤسسية</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vMerge="1">
                  <a:txBody>
                    <a:bodyPr/>
                    <a:lstStyle/>
                    <a:p>
                      <a:pPr algn="ctr" rtl="0" fontAlgn="ctr">
                        <a:buFontTx/>
                        <a:buNone/>
                      </a:pP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664299992"/>
                  </a:ext>
                </a:extLst>
              </a:tr>
            </a:tbl>
          </a:graphicData>
        </a:graphic>
      </p:graphicFrame>
    </p:spTree>
    <p:extLst>
      <p:ext uri="{BB962C8B-B14F-4D97-AF65-F5344CB8AC3E}">
        <p14:creationId xmlns:p14="http://schemas.microsoft.com/office/powerpoint/2010/main" val="4145871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سجل متطلبات البنية المؤسسية (</a:t>
            </a:r>
            <a:r>
              <a:rPr lang="en-US" dirty="0"/>
              <a:t>5/10</a:t>
            </a:r>
            <a:r>
              <a:rPr lang="ar-EG" dirty="0"/>
              <a:t>)</a:t>
            </a:r>
            <a:endParaRPr lang="en-US" dirty="0"/>
          </a:p>
        </p:txBody>
      </p:sp>
      <p:graphicFrame>
        <p:nvGraphicFramePr>
          <p:cNvPr id="3" name="Table 4">
            <a:extLst>
              <a:ext uri="{FF2B5EF4-FFF2-40B4-BE49-F238E27FC236}">
                <a16:creationId xmlns:a16="http://schemas.microsoft.com/office/drawing/2014/main" id="{8334871D-8AB1-846D-C666-4AEC2EDDE634}"/>
              </a:ext>
            </a:extLst>
          </p:cNvPr>
          <p:cNvGraphicFramePr>
            <a:graphicFrameLocks noGrp="1"/>
          </p:cNvGraphicFramePr>
          <p:nvPr>
            <p:extLst>
              <p:ext uri="{D42A27DB-BD31-4B8C-83A1-F6EECF244321}">
                <p14:modId xmlns:p14="http://schemas.microsoft.com/office/powerpoint/2010/main" val="3227284696"/>
              </p:ext>
            </p:extLst>
          </p:nvPr>
        </p:nvGraphicFramePr>
        <p:xfrm>
          <a:off x="491067" y="1047592"/>
          <a:ext cx="11209865" cy="5051540"/>
        </p:xfrm>
        <a:graphic>
          <a:graphicData uri="http://schemas.openxmlformats.org/drawingml/2006/table">
            <a:tbl>
              <a:tblPr firstRow="1" bandRow="1">
                <a:tableStyleId>{5C22544A-7EE6-4342-B048-85BDC9FD1C3A}</a:tableStyleId>
              </a:tblPr>
              <a:tblGrid>
                <a:gridCol w="1401233">
                  <a:extLst>
                    <a:ext uri="{9D8B030D-6E8A-4147-A177-3AD203B41FA5}">
                      <a16:colId xmlns:a16="http://schemas.microsoft.com/office/drawing/2014/main" val="2401468592"/>
                    </a:ext>
                  </a:extLst>
                </a:gridCol>
                <a:gridCol w="1401233">
                  <a:extLst>
                    <a:ext uri="{9D8B030D-6E8A-4147-A177-3AD203B41FA5}">
                      <a16:colId xmlns:a16="http://schemas.microsoft.com/office/drawing/2014/main" val="4106362141"/>
                    </a:ext>
                  </a:extLst>
                </a:gridCol>
                <a:gridCol w="1401233">
                  <a:extLst>
                    <a:ext uri="{9D8B030D-6E8A-4147-A177-3AD203B41FA5}">
                      <a16:colId xmlns:a16="http://schemas.microsoft.com/office/drawing/2014/main" val="2762405046"/>
                    </a:ext>
                  </a:extLst>
                </a:gridCol>
                <a:gridCol w="1401233">
                  <a:extLst>
                    <a:ext uri="{9D8B030D-6E8A-4147-A177-3AD203B41FA5}">
                      <a16:colId xmlns:a16="http://schemas.microsoft.com/office/drawing/2014/main" val="1229696898"/>
                    </a:ext>
                  </a:extLst>
                </a:gridCol>
                <a:gridCol w="1401233">
                  <a:extLst>
                    <a:ext uri="{9D8B030D-6E8A-4147-A177-3AD203B41FA5}">
                      <a16:colId xmlns:a16="http://schemas.microsoft.com/office/drawing/2014/main" val="1444584099"/>
                    </a:ext>
                  </a:extLst>
                </a:gridCol>
                <a:gridCol w="1401233">
                  <a:extLst>
                    <a:ext uri="{9D8B030D-6E8A-4147-A177-3AD203B41FA5}">
                      <a16:colId xmlns:a16="http://schemas.microsoft.com/office/drawing/2014/main" val="2979753714"/>
                    </a:ext>
                  </a:extLst>
                </a:gridCol>
                <a:gridCol w="1401233">
                  <a:extLst>
                    <a:ext uri="{9D8B030D-6E8A-4147-A177-3AD203B41FA5}">
                      <a16:colId xmlns:a16="http://schemas.microsoft.com/office/drawing/2014/main" val="892043053"/>
                    </a:ext>
                  </a:extLst>
                </a:gridCol>
                <a:gridCol w="915990">
                  <a:extLst>
                    <a:ext uri="{9D8B030D-6E8A-4147-A177-3AD203B41FA5}">
                      <a16:colId xmlns:a16="http://schemas.microsoft.com/office/drawing/2014/main" val="492242960"/>
                    </a:ext>
                  </a:extLst>
                </a:gridCol>
                <a:gridCol w="485244">
                  <a:extLst>
                    <a:ext uri="{9D8B030D-6E8A-4147-A177-3AD203B41FA5}">
                      <a16:colId xmlns:a16="http://schemas.microsoft.com/office/drawing/2014/main" val="3013707271"/>
                    </a:ext>
                  </a:extLst>
                </a:gridCol>
              </a:tblGrid>
              <a:tr h="875705">
                <a:tc>
                  <a:txBody>
                    <a:bodyPr/>
                    <a:lstStyle/>
                    <a:p>
                      <a:pPr algn="ctr"/>
                      <a:r>
                        <a:rPr lang="ar-SA" sz="2000" dirty="0"/>
                        <a:t>الربط </a:t>
                      </a:r>
                      <a:r>
                        <a:rPr lang="ar-SA" sz="1600" dirty="0"/>
                        <a:t>(الهدف الاستراتيجي – الوضع المستقبلي)</a:t>
                      </a:r>
                    </a:p>
                  </a:txBody>
                  <a:tcPr anchor="ctr"/>
                </a:tc>
                <a:tc>
                  <a:txBody>
                    <a:bodyPr/>
                    <a:lstStyle/>
                    <a:p>
                      <a:pPr algn="ctr"/>
                      <a:r>
                        <a:rPr lang="ar-SA" sz="2000" dirty="0"/>
                        <a:t>أولوية</a:t>
                      </a:r>
                    </a:p>
                    <a:p>
                      <a:pPr algn="ctr"/>
                      <a:r>
                        <a:rPr lang="ar-SA" sz="2000" dirty="0"/>
                        <a:t>التنفيذ</a:t>
                      </a:r>
                      <a:endParaRPr lang="en-US" sz="2000" dirty="0"/>
                    </a:p>
                  </a:txBody>
                  <a:tcPr anchor="ctr"/>
                </a:tc>
                <a:tc>
                  <a:txBody>
                    <a:bodyPr/>
                    <a:lstStyle/>
                    <a:p>
                      <a:pPr algn="ctr"/>
                      <a:r>
                        <a:rPr lang="ar-SA" sz="2000" dirty="0"/>
                        <a:t>حالة المتطلب</a:t>
                      </a:r>
                      <a:endParaRPr lang="en-US" sz="2000" dirty="0"/>
                    </a:p>
                  </a:txBody>
                  <a:tcPr anchor="ctr"/>
                </a:tc>
                <a:tc>
                  <a:txBody>
                    <a:bodyPr/>
                    <a:lstStyle/>
                    <a:p>
                      <a:pPr algn="ctr"/>
                      <a:r>
                        <a:rPr lang="ar-EG" sz="2000" dirty="0"/>
                        <a:t>المتطلبات ذات</a:t>
                      </a:r>
                    </a:p>
                    <a:p>
                      <a:pPr algn="ctr"/>
                      <a:r>
                        <a:rPr lang="ar-EG" sz="2000" dirty="0"/>
                        <a:t>العلاقة</a:t>
                      </a:r>
                      <a:endParaRPr lang="en-US" sz="2000" dirty="0"/>
                    </a:p>
                  </a:txBody>
                  <a:tcPr anchor="ctr"/>
                </a:tc>
                <a:tc>
                  <a:txBody>
                    <a:bodyPr/>
                    <a:lstStyle/>
                    <a:p>
                      <a:pPr algn="ctr"/>
                      <a:r>
                        <a:rPr lang="ar-EG" sz="2000" dirty="0"/>
                        <a:t>المجالات المتأثرة</a:t>
                      </a:r>
                    </a:p>
                    <a:p>
                      <a:pPr algn="ctr"/>
                      <a:r>
                        <a:rPr lang="ar-EG" sz="2000" dirty="0"/>
                        <a:t>بالمتطلب</a:t>
                      </a:r>
                      <a:endParaRPr lang="en-US" sz="2000" dirty="0"/>
                    </a:p>
                  </a:txBody>
                  <a:tcPr anchor="ctr"/>
                </a:tc>
                <a:tc>
                  <a:txBody>
                    <a:bodyPr/>
                    <a:lstStyle/>
                    <a:p>
                      <a:pPr algn="ctr"/>
                      <a:r>
                        <a:rPr lang="ar-EG" sz="2000" dirty="0"/>
                        <a:t>مجال</a:t>
                      </a:r>
                    </a:p>
                    <a:p>
                      <a:pPr algn="ctr"/>
                      <a:r>
                        <a:rPr lang="ar-EG" sz="2000" dirty="0"/>
                        <a:t>المتطلب</a:t>
                      </a:r>
                      <a:endParaRPr lang="en-US" sz="2000" dirty="0"/>
                    </a:p>
                  </a:txBody>
                  <a:tcPr anchor="ctr"/>
                </a:tc>
                <a:tc>
                  <a:txBody>
                    <a:bodyPr/>
                    <a:lstStyle/>
                    <a:p>
                      <a:pPr algn="ctr"/>
                      <a:r>
                        <a:rPr lang="ar-SA" sz="2000" dirty="0"/>
                        <a:t>مصدر</a:t>
                      </a:r>
                    </a:p>
                    <a:p>
                      <a:pPr algn="ctr"/>
                      <a:r>
                        <a:rPr lang="ar-SA" sz="2000" dirty="0"/>
                        <a:t>المتطلب</a:t>
                      </a:r>
                      <a:endParaRPr lang="en-US" sz="2000" dirty="0"/>
                    </a:p>
                  </a:txBody>
                  <a:tcPr anchor="ctr"/>
                </a:tc>
                <a:tc>
                  <a:txBody>
                    <a:bodyPr/>
                    <a:lstStyle/>
                    <a:p>
                      <a:pPr algn="ctr"/>
                      <a:r>
                        <a:rPr lang="ar-SA" sz="2000" dirty="0"/>
                        <a:t>رمز</a:t>
                      </a:r>
                    </a:p>
                    <a:p>
                      <a:pPr algn="ctr"/>
                      <a:r>
                        <a:rPr lang="ar-SA" sz="2000" dirty="0"/>
                        <a:t>المتطلب</a:t>
                      </a:r>
                      <a:endParaRPr lang="en-US" sz="2000" dirty="0"/>
                    </a:p>
                  </a:txBody>
                  <a:tcPr anchor="ctr"/>
                </a:tc>
                <a:tc>
                  <a:txBody>
                    <a:bodyPr/>
                    <a:lstStyle/>
                    <a:p>
                      <a:pPr algn="ctr"/>
                      <a:r>
                        <a:rPr lang="en-US" sz="2000" dirty="0"/>
                        <a:t>#</a:t>
                      </a:r>
                    </a:p>
                  </a:txBody>
                  <a:tcPr anchor="ctr"/>
                </a:tc>
                <a:extLst>
                  <a:ext uri="{0D108BD9-81ED-4DB2-BD59-A6C34878D82A}">
                    <a16:rowId xmlns:a16="http://schemas.microsoft.com/office/drawing/2014/main" val="3617136848"/>
                  </a:ext>
                </a:extLst>
              </a:tr>
              <a:tr h="416762">
                <a:tc gridSpan="7">
                  <a:txBody>
                    <a:bodyPr/>
                    <a:lstStyle/>
                    <a:p>
                      <a:pPr marL="0" indent="0" algn="r" defTabSz="914400" rtl="1" eaLnBrk="1" fontAlgn="ctr" latinLnBrk="0" hangingPunct="1">
                        <a:buFontTx/>
                        <a:buNone/>
                      </a:pP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توفير</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برامج تدريبية لتعزيز الثقافة الرشيقة والابتكار بين الموظفين</a:t>
                      </a: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b"/>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BR07</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021</a:t>
                      </a:r>
                    </a:p>
                  </a:txBody>
                  <a:tcPr marL="0" marR="0" marT="0" marB="0" anchor="ctr"/>
                </a:tc>
                <a:extLst>
                  <a:ext uri="{0D108BD9-81ED-4DB2-BD59-A6C34878D82A}">
                    <a16:rowId xmlns:a16="http://schemas.microsoft.com/office/drawing/2014/main" val="180313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EAG04</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متدني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BR08</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تقييم القدرات المؤسسية</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1288833752"/>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اعتماد وتطبيق منهجيات العمل الرشيقة لتعزيز الابتكار والتكيف داخل الهيئة</a:t>
                      </a: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BR08</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022</a:t>
                      </a:r>
                    </a:p>
                  </a:txBody>
                  <a:tcPr marL="0" marR="0" marT="0" marB="0" anchor="ctr">
                    <a:solidFill>
                      <a:srgbClr val="E9E8EE"/>
                    </a:solidFill>
                  </a:tcPr>
                </a:tc>
                <a:extLst>
                  <a:ext uri="{0D108BD9-81ED-4DB2-BD59-A6C34878D82A}">
                    <a16:rowId xmlns:a16="http://schemas.microsoft.com/office/drawing/2014/main" val="30067911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EAG03 - EAG05</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متدني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tc>
                <a:tc>
                  <a:txBody>
                    <a:bodyPr/>
                    <a:lstStyle/>
                    <a:p>
                      <a:pPr marL="0" indent="0" algn="ctr" defTabSz="914400" rtl="1" eaLnBrk="1" fontAlgn="ctr" latinLnBrk="0" hangingPunct="1">
                        <a:buFontTx/>
                        <a:buNone/>
                      </a:pPr>
                      <a:r>
                        <a:rPr lang="en-US" sz="1400" b="0" i="0" u="none" strike="noStrike" dirty="0">
                          <a:solidFill>
                            <a:srgbClr val="000000"/>
                          </a:solidFill>
                          <a:effectLst/>
                          <a:latin typeface="Sakkal Majalla" panose="02000000000000000000" pitchFamily="2" charset="-78"/>
                          <a:cs typeface="Sakkal Majalla" panose="02000000000000000000" pitchFamily="2" charset="-78"/>
                        </a:rPr>
                        <a:t>BR07</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p>
                  </a:txBody>
                  <a:tcPr marL="7620" marR="7620" marT="7620" marB="0" anchor="ct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تقييم القدرات المؤسسية</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vMerge="1">
                  <a:txBody>
                    <a:bodyPr/>
                    <a:lstStyle/>
                    <a:p>
                      <a:endParaRPr lang="en-US"/>
                    </a:p>
                  </a:txBody>
                  <a:tcPr/>
                </a:tc>
                <a:extLst>
                  <a:ext uri="{0D108BD9-81ED-4DB2-BD59-A6C34878D82A}">
                    <a16:rowId xmlns:a16="http://schemas.microsoft.com/office/drawing/2014/main" val="1976179613"/>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تنفيذ برامج </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وأدوات </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لقياس وتحليل رضا المستفيدين وثقتهم بشكل دوري وتحسين الأداء بناء على النتائج</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(داخلي وخارجي + استطلاعات رأي دورية)</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AR0</a:t>
                      </a:r>
                      <a:r>
                        <a:rPr lang="ar-EG" sz="2000" b="1" i="0" u="none" strike="noStrike" dirty="0">
                          <a:solidFill>
                            <a:srgbClr val="000000"/>
                          </a:solidFill>
                          <a:effectLst/>
                          <a:latin typeface="Sakkal Majalla" panose="02000000000000000000" pitchFamily="2" charset="-78"/>
                          <a:cs typeface="Sakkal Majalla" panose="02000000000000000000" pitchFamily="2" charset="-78"/>
                        </a:rPr>
                        <a:t>9</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023</a:t>
                      </a:r>
                    </a:p>
                  </a:txBody>
                  <a:tcPr marL="0" marR="0" marT="0" marB="0" anchor="ctr"/>
                </a:tc>
                <a:extLst>
                  <a:ext uri="{0D108BD9-81ED-4DB2-BD59-A6C34878D82A}">
                    <a16:rowId xmlns:a16="http://schemas.microsoft.com/office/drawing/2014/main" val="1965755369"/>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EAG01 - EAG02</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AR15</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بيانات – تطبيقات - 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تقييم القدرات المؤسسية</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920826566"/>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تصميم و</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تنفيذ سياسات وإجراءات واضحة للإنابة تشمل تدريب البدلاء المعنيين وتحديد صلاحياتهم ومسؤولياتهم</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BR09</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024</a:t>
                      </a:r>
                    </a:p>
                  </a:txBody>
                  <a:tcPr marL="0" marR="0" marT="0" marB="0" anchor="ctr">
                    <a:solidFill>
                      <a:srgbClr val="E9E8EE"/>
                    </a:solidFill>
                  </a:tcPr>
                </a:tc>
                <a:extLst>
                  <a:ext uri="{0D108BD9-81ED-4DB2-BD59-A6C34878D82A}">
                    <a16:rowId xmlns:a16="http://schemas.microsoft.com/office/drawing/2014/main" val="48894551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EAG04 -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عالي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E9E8EE"/>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AR10</a:t>
                      </a:r>
                    </a:p>
                  </a:txBody>
                  <a:tcPr marL="7620" marR="7620" marT="7620" marB="0" anchor="ctr">
                    <a:solidFill>
                      <a:srgbClr val="E9E8EE"/>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E9E8EE"/>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vMerge="1">
                  <a:txBody>
                    <a:bodyPr/>
                    <a:lstStyle/>
                    <a:p>
                      <a:endParaRPr lang="en-US"/>
                    </a:p>
                  </a:txBody>
                  <a:tcPr/>
                </a:tc>
                <a:extLst>
                  <a:ext uri="{0D108BD9-81ED-4DB2-BD59-A6C34878D82A}">
                    <a16:rowId xmlns:a16="http://schemas.microsoft.com/office/drawing/2014/main" val="1430913029"/>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نظام إدارة الإنابة لضمان استمرارية الأعمال عند غياب الموظفين</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algn="ctr" defTabSz="914400" rtl="1" eaLnBrk="1" fontAlgn="ctr" latinLnBrk="0" hangingPunct="1">
                        <a:buFontTx/>
                        <a:buNone/>
                      </a:pPr>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hMerge="1">
                  <a:txBody>
                    <a:bodyPr/>
                    <a:lstStyle/>
                    <a:p>
                      <a:pPr marL="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a:t>
                      </a:r>
                      <a:r>
                        <a:rPr lang="ar-EG" sz="2000" b="1" i="0" u="none" strike="noStrike" dirty="0">
                          <a:solidFill>
                            <a:srgbClr val="000000"/>
                          </a:solidFill>
                          <a:effectLst/>
                          <a:latin typeface="Sakkal Majalla" panose="02000000000000000000" pitchFamily="2" charset="-78"/>
                          <a:cs typeface="Sakkal Majalla" panose="02000000000000000000" pitchFamily="2" charset="-78"/>
                        </a:rPr>
                        <a:t>10</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025</a:t>
                      </a:r>
                    </a:p>
                  </a:txBody>
                  <a:tcPr marL="0" marR="0" marT="0" marB="0" anchor="ctr">
                    <a:solidFill>
                      <a:srgbClr val="D0CEDB"/>
                    </a:solidFill>
                  </a:tcPr>
                </a:tc>
                <a:extLst>
                  <a:ext uri="{0D108BD9-81ED-4DB2-BD59-A6C34878D82A}">
                    <a16:rowId xmlns:a16="http://schemas.microsoft.com/office/drawing/2014/main" val="3429377612"/>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EAG03 - EAG05</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BR09</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تطبيقات - 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D0CEDB"/>
                    </a:solidFill>
                  </a:tcPr>
                </a:tc>
                <a:tc vMerge="1">
                  <a:txBody>
                    <a:bodyPr/>
                    <a:lstStyle/>
                    <a:p>
                      <a:pPr algn="ctr" rtl="0" fontAlgn="ctr">
                        <a:buFontTx/>
                        <a:buNone/>
                      </a:pP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664299992"/>
                  </a:ext>
                </a:extLst>
              </a:tr>
            </a:tbl>
          </a:graphicData>
        </a:graphic>
      </p:graphicFrame>
    </p:spTree>
    <p:extLst>
      <p:ext uri="{BB962C8B-B14F-4D97-AF65-F5344CB8AC3E}">
        <p14:creationId xmlns:p14="http://schemas.microsoft.com/office/powerpoint/2010/main" val="3132656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25</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سجل متطلبات البنية المؤسسية (</a:t>
            </a:r>
            <a:r>
              <a:rPr lang="en-US" dirty="0"/>
              <a:t>6/10</a:t>
            </a:r>
            <a:r>
              <a:rPr lang="ar-EG" dirty="0"/>
              <a:t>)</a:t>
            </a:r>
            <a:endParaRPr lang="en-US" dirty="0"/>
          </a:p>
        </p:txBody>
      </p:sp>
      <p:graphicFrame>
        <p:nvGraphicFramePr>
          <p:cNvPr id="3" name="Table 4">
            <a:extLst>
              <a:ext uri="{FF2B5EF4-FFF2-40B4-BE49-F238E27FC236}">
                <a16:creationId xmlns:a16="http://schemas.microsoft.com/office/drawing/2014/main" id="{8334871D-8AB1-846D-C666-4AEC2EDDE634}"/>
              </a:ext>
            </a:extLst>
          </p:cNvPr>
          <p:cNvGraphicFramePr>
            <a:graphicFrameLocks noGrp="1"/>
          </p:cNvGraphicFramePr>
          <p:nvPr>
            <p:extLst>
              <p:ext uri="{D42A27DB-BD31-4B8C-83A1-F6EECF244321}">
                <p14:modId xmlns:p14="http://schemas.microsoft.com/office/powerpoint/2010/main" val="4193700264"/>
              </p:ext>
            </p:extLst>
          </p:nvPr>
        </p:nvGraphicFramePr>
        <p:xfrm>
          <a:off x="491067" y="1047592"/>
          <a:ext cx="11209865" cy="5051540"/>
        </p:xfrm>
        <a:graphic>
          <a:graphicData uri="http://schemas.openxmlformats.org/drawingml/2006/table">
            <a:tbl>
              <a:tblPr firstRow="1" bandRow="1">
                <a:tableStyleId>{5C22544A-7EE6-4342-B048-85BDC9FD1C3A}</a:tableStyleId>
              </a:tblPr>
              <a:tblGrid>
                <a:gridCol w="1401233">
                  <a:extLst>
                    <a:ext uri="{9D8B030D-6E8A-4147-A177-3AD203B41FA5}">
                      <a16:colId xmlns:a16="http://schemas.microsoft.com/office/drawing/2014/main" val="2401468592"/>
                    </a:ext>
                  </a:extLst>
                </a:gridCol>
                <a:gridCol w="1401233">
                  <a:extLst>
                    <a:ext uri="{9D8B030D-6E8A-4147-A177-3AD203B41FA5}">
                      <a16:colId xmlns:a16="http://schemas.microsoft.com/office/drawing/2014/main" val="4106362141"/>
                    </a:ext>
                  </a:extLst>
                </a:gridCol>
                <a:gridCol w="1401233">
                  <a:extLst>
                    <a:ext uri="{9D8B030D-6E8A-4147-A177-3AD203B41FA5}">
                      <a16:colId xmlns:a16="http://schemas.microsoft.com/office/drawing/2014/main" val="2762405046"/>
                    </a:ext>
                  </a:extLst>
                </a:gridCol>
                <a:gridCol w="1401233">
                  <a:extLst>
                    <a:ext uri="{9D8B030D-6E8A-4147-A177-3AD203B41FA5}">
                      <a16:colId xmlns:a16="http://schemas.microsoft.com/office/drawing/2014/main" val="1229696898"/>
                    </a:ext>
                  </a:extLst>
                </a:gridCol>
                <a:gridCol w="1401233">
                  <a:extLst>
                    <a:ext uri="{9D8B030D-6E8A-4147-A177-3AD203B41FA5}">
                      <a16:colId xmlns:a16="http://schemas.microsoft.com/office/drawing/2014/main" val="1444584099"/>
                    </a:ext>
                  </a:extLst>
                </a:gridCol>
                <a:gridCol w="1401233">
                  <a:extLst>
                    <a:ext uri="{9D8B030D-6E8A-4147-A177-3AD203B41FA5}">
                      <a16:colId xmlns:a16="http://schemas.microsoft.com/office/drawing/2014/main" val="2979753714"/>
                    </a:ext>
                  </a:extLst>
                </a:gridCol>
                <a:gridCol w="1401233">
                  <a:extLst>
                    <a:ext uri="{9D8B030D-6E8A-4147-A177-3AD203B41FA5}">
                      <a16:colId xmlns:a16="http://schemas.microsoft.com/office/drawing/2014/main" val="892043053"/>
                    </a:ext>
                  </a:extLst>
                </a:gridCol>
                <a:gridCol w="915990">
                  <a:extLst>
                    <a:ext uri="{9D8B030D-6E8A-4147-A177-3AD203B41FA5}">
                      <a16:colId xmlns:a16="http://schemas.microsoft.com/office/drawing/2014/main" val="492242960"/>
                    </a:ext>
                  </a:extLst>
                </a:gridCol>
                <a:gridCol w="485244">
                  <a:extLst>
                    <a:ext uri="{9D8B030D-6E8A-4147-A177-3AD203B41FA5}">
                      <a16:colId xmlns:a16="http://schemas.microsoft.com/office/drawing/2014/main" val="3013707271"/>
                    </a:ext>
                  </a:extLst>
                </a:gridCol>
              </a:tblGrid>
              <a:tr h="875705">
                <a:tc>
                  <a:txBody>
                    <a:bodyPr/>
                    <a:lstStyle/>
                    <a:p>
                      <a:pPr algn="ctr"/>
                      <a:r>
                        <a:rPr lang="ar-SA" sz="2000" dirty="0"/>
                        <a:t>الربط </a:t>
                      </a:r>
                      <a:r>
                        <a:rPr lang="ar-SA" sz="1600" dirty="0"/>
                        <a:t>(الهدف الاستراتيجي – الوضع المستقبلي)</a:t>
                      </a:r>
                    </a:p>
                  </a:txBody>
                  <a:tcPr anchor="ctr"/>
                </a:tc>
                <a:tc>
                  <a:txBody>
                    <a:bodyPr/>
                    <a:lstStyle/>
                    <a:p>
                      <a:pPr algn="ctr"/>
                      <a:r>
                        <a:rPr lang="ar-SA" sz="2000" dirty="0"/>
                        <a:t>أولوية</a:t>
                      </a:r>
                    </a:p>
                    <a:p>
                      <a:pPr algn="ctr"/>
                      <a:r>
                        <a:rPr lang="ar-SA" sz="2000" dirty="0"/>
                        <a:t>التنفيذ</a:t>
                      </a:r>
                      <a:endParaRPr lang="en-US" sz="2000" dirty="0"/>
                    </a:p>
                  </a:txBody>
                  <a:tcPr anchor="ctr"/>
                </a:tc>
                <a:tc>
                  <a:txBody>
                    <a:bodyPr/>
                    <a:lstStyle/>
                    <a:p>
                      <a:pPr algn="ctr"/>
                      <a:r>
                        <a:rPr lang="ar-SA" sz="2000" dirty="0"/>
                        <a:t>حالة المتطلب</a:t>
                      </a:r>
                      <a:endParaRPr lang="en-US" sz="2000" dirty="0"/>
                    </a:p>
                  </a:txBody>
                  <a:tcPr anchor="ctr"/>
                </a:tc>
                <a:tc>
                  <a:txBody>
                    <a:bodyPr/>
                    <a:lstStyle/>
                    <a:p>
                      <a:pPr algn="ctr"/>
                      <a:r>
                        <a:rPr lang="ar-EG" sz="2000" dirty="0"/>
                        <a:t>المتطلبات ذات</a:t>
                      </a:r>
                    </a:p>
                    <a:p>
                      <a:pPr algn="ctr"/>
                      <a:r>
                        <a:rPr lang="ar-EG" sz="2000" dirty="0"/>
                        <a:t>العلاقة</a:t>
                      </a:r>
                      <a:endParaRPr lang="en-US" sz="2000" dirty="0"/>
                    </a:p>
                  </a:txBody>
                  <a:tcPr anchor="ctr"/>
                </a:tc>
                <a:tc>
                  <a:txBody>
                    <a:bodyPr/>
                    <a:lstStyle/>
                    <a:p>
                      <a:pPr algn="ctr"/>
                      <a:r>
                        <a:rPr lang="ar-EG" sz="2000" dirty="0"/>
                        <a:t>المجالات المتأثرة</a:t>
                      </a:r>
                    </a:p>
                    <a:p>
                      <a:pPr algn="ctr"/>
                      <a:r>
                        <a:rPr lang="ar-EG" sz="2000" dirty="0"/>
                        <a:t>بالمتطلب</a:t>
                      </a:r>
                      <a:endParaRPr lang="en-US" sz="2000" dirty="0"/>
                    </a:p>
                  </a:txBody>
                  <a:tcPr anchor="ctr"/>
                </a:tc>
                <a:tc>
                  <a:txBody>
                    <a:bodyPr/>
                    <a:lstStyle/>
                    <a:p>
                      <a:pPr algn="ctr"/>
                      <a:r>
                        <a:rPr lang="ar-EG" sz="2000" dirty="0"/>
                        <a:t>مجال</a:t>
                      </a:r>
                    </a:p>
                    <a:p>
                      <a:pPr algn="ctr"/>
                      <a:r>
                        <a:rPr lang="ar-EG" sz="2000" dirty="0"/>
                        <a:t>المتطلب</a:t>
                      </a:r>
                      <a:endParaRPr lang="en-US" sz="2000" dirty="0"/>
                    </a:p>
                  </a:txBody>
                  <a:tcPr anchor="ctr"/>
                </a:tc>
                <a:tc>
                  <a:txBody>
                    <a:bodyPr/>
                    <a:lstStyle/>
                    <a:p>
                      <a:pPr algn="ctr"/>
                      <a:r>
                        <a:rPr lang="ar-SA" sz="2000" dirty="0"/>
                        <a:t>مصدر</a:t>
                      </a:r>
                    </a:p>
                    <a:p>
                      <a:pPr algn="ctr"/>
                      <a:r>
                        <a:rPr lang="ar-SA" sz="2000" dirty="0"/>
                        <a:t>المتطلب</a:t>
                      </a:r>
                      <a:endParaRPr lang="en-US" sz="2000" dirty="0"/>
                    </a:p>
                  </a:txBody>
                  <a:tcPr anchor="ctr"/>
                </a:tc>
                <a:tc>
                  <a:txBody>
                    <a:bodyPr/>
                    <a:lstStyle/>
                    <a:p>
                      <a:pPr algn="ctr"/>
                      <a:r>
                        <a:rPr lang="ar-SA" sz="2000" dirty="0"/>
                        <a:t>رمز</a:t>
                      </a:r>
                    </a:p>
                    <a:p>
                      <a:pPr algn="ctr"/>
                      <a:r>
                        <a:rPr lang="ar-SA" sz="2000" dirty="0"/>
                        <a:t>المتطلب</a:t>
                      </a:r>
                      <a:endParaRPr lang="en-US" sz="2000" dirty="0"/>
                    </a:p>
                  </a:txBody>
                  <a:tcPr anchor="ctr"/>
                </a:tc>
                <a:tc>
                  <a:txBody>
                    <a:bodyPr/>
                    <a:lstStyle/>
                    <a:p>
                      <a:pPr algn="ctr"/>
                      <a:r>
                        <a:rPr lang="en-US" sz="2000" dirty="0"/>
                        <a:t>#</a:t>
                      </a:r>
                    </a:p>
                  </a:txBody>
                  <a:tcPr anchor="ctr"/>
                </a:tc>
                <a:extLst>
                  <a:ext uri="{0D108BD9-81ED-4DB2-BD59-A6C34878D82A}">
                    <a16:rowId xmlns:a16="http://schemas.microsoft.com/office/drawing/2014/main" val="3617136848"/>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إعداد وتنفيذ سياسة موحدة لإدارة الأنظمة تضمن عدم تكرار الوظائف وتحقق التكامل بين الأنظمة</a:t>
                      </a: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b"/>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BR10</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026</a:t>
                      </a:r>
                    </a:p>
                  </a:txBody>
                  <a:tcPr marL="0" marR="0" marT="0" marB="0" anchor="ctr"/>
                </a:tc>
                <a:extLst>
                  <a:ext uri="{0D108BD9-81ED-4DB2-BD59-A6C34878D82A}">
                    <a16:rowId xmlns:a16="http://schemas.microsoft.com/office/drawing/2014/main" val="180313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EAG03 - EAG05</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BR11</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1288833752"/>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إجراء مراجعة شاملة لجميع الأنظمة الحالية لتحديد الوظائف المكررة وإعداد خطة لدمج الأنظمة ذات العلاقة</a:t>
                      </a: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BR11</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027</a:t>
                      </a:r>
                    </a:p>
                  </a:txBody>
                  <a:tcPr marL="0" marR="0" marT="0" marB="0" anchor="ctr">
                    <a:solidFill>
                      <a:srgbClr val="E9E8EE"/>
                    </a:solidFill>
                  </a:tcPr>
                </a:tc>
                <a:extLst>
                  <a:ext uri="{0D108BD9-81ED-4DB2-BD59-A6C34878D82A}">
                    <a16:rowId xmlns:a16="http://schemas.microsoft.com/office/drawing/2014/main" val="30067911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EAG03 - EAG05</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BR10</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تطبيقات - 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vMerge="1">
                  <a:txBody>
                    <a:bodyPr/>
                    <a:lstStyle/>
                    <a:p>
                      <a:endParaRPr lang="en-US"/>
                    </a:p>
                  </a:txBody>
                  <a:tcPr/>
                </a:tc>
                <a:extLst>
                  <a:ext uri="{0D108BD9-81ED-4DB2-BD59-A6C34878D82A}">
                    <a16:rowId xmlns:a16="http://schemas.microsoft.com/office/drawing/2014/main" val="1976179613"/>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اعتماد مؤشرات أداء رئيسية</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a:t>
                      </a:r>
                      <a:r>
                        <a:rPr lang="en-US"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KPIs</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لكل إجراء وخدمة تعكس مدى مساهمتها في تحقيق الأهداف الاستراتيجية</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BR12</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028</a:t>
                      </a:r>
                    </a:p>
                  </a:txBody>
                  <a:tcPr marL="0" marR="0" marT="0" marB="0" anchor="ctr"/>
                </a:tc>
                <a:extLst>
                  <a:ext uri="{0D108BD9-81ED-4DB2-BD59-A6C34878D82A}">
                    <a16:rowId xmlns:a16="http://schemas.microsoft.com/office/drawing/2014/main" val="1965755369"/>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EAG02 -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AR11</a:t>
                      </a: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920826566"/>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نظام متكامل لقياس أداء الإجراءات وربطها بالأهداف الاستراتيجية للهيئة</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a:t>
                      </a:r>
                      <a:r>
                        <a:rPr lang="ar-EG" sz="2000" b="1" i="0" u="none" strike="noStrike" dirty="0">
                          <a:solidFill>
                            <a:srgbClr val="000000"/>
                          </a:solidFill>
                          <a:effectLst/>
                          <a:latin typeface="Sakkal Majalla" panose="02000000000000000000" pitchFamily="2" charset="-78"/>
                          <a:cs typeface="Sakkal Majalla" panose="02000000000000000000" pitchFamily="2" charset="-78"/>
                        </a:rPr>
                        <a:t>11</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029</a:t>
                      </a:r>
                    </a:p>
                  </a:txBody>
                  <a:tcPr marL="0" marR="0" marT="0" marB="0" anchor="ctr">
                    <a:solidFill>
                      <a:srgbClr val="E9E8EE"/>
                    </a:solidFill>
                  </a:tcPr>
                </a:tc>
                <a:extLst>
                  <a:ext uri="{0D108BD9-81ED-4DB2-BD59-A6C34878D82A}">
                    <a16:rowId xmlns:a16="http://schemas.microsoft.com/office/drawing/2014/main" val="48894551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EAG02 -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E9E8EE"/>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BR12</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تطبيقات - 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E9E8EE"/>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vMerge="1">
                  <a:txBody>
                    <a:bodyPr/>
                    <a:lstStyle/>
                    <a:p>
                      <a:endParaRPr lang="en-US"/>
                    </a:p>
                  </a:txBody>
                  <a:tcPr/>
                </a:tc>
                <a:extLst>
                  <a:ext uri="{0D108BD9-81ED-4DB2-BD59-A6C34878D82A}">
                    <a16:rowId xmlns:a16="http://schemas.microsoft.com/office/drawing/2014/main" val="1430913029"/>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وإصدار دليل حوكمة الإجراءات ومصفوفة الصلاحيات واعتماد اتفاقيات مستوى العمليات (</a:t>
                      </a:r>
                      <a:r>
                        <a:rPr lang="en-US"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OLA</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والخدمة (</a:t>
                      </a:r>
                      <a:r>
                        <a:rPr lang="en-US"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SLA</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لضمان التنسيق الفعال</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algn="ctr" defTabSz="914400" rtl="1" eaLnBrk="1" fontAlgn="ctr" latinLnBrk="0" hangingPunct="1">
                        <a:buFontTx/>
                        <a:buNone/>
                      </a:pPr>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hMerge="1">
                  <a:txBody>
                    <a:bodyPr/>
                    <a:lstStyle/>
                    <a:p>
                      <a:pPr marL="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BR13</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030</a:t>
                      </a:r>
                    </a:p>
                  </a:txBody>
                  <a:tcPr marL="0" marR="0" marT="0" marB="0" anchor="ctr">
                    <a:solidFill>
                      <a:srgbClr val="D0CEDB"/>
                    </a:solidFill>
                  </a:tcPr>
                </a:tc>
                <a:extLst>
                  <a:ext uri="{0D108BD9-81ED-4DB2-BD59-A6C34878D82A}">
                    <a16:rowId xmlns:a16="http://schemas.microsoft.com/office/drawing/2014/main" val="3429377612"/>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EAG03 - EAG04</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عالي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BR14-BR15</a:t>
                      </a: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D0CEDB"/>
                    </a:solidFill>
                  </a:tcPr>
                </a:tc>
                <a:tc vMerge="1">
                  <a:txBody>
                    <a:bodyPr/>
                    <a:lstStyle/>
                    <a:p>
                      <a:pPr algn="ctr" rtl="0" fontAlgn="ctr">
                        <a:buFontTx/>
                        <a:buNone/>
                      </a:pP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664299992"/>
                  </a:ext>
                </a:extLst>
              </a:tr>
            </a:tbl>
          </a:graphicData>
        </a:graphic>
      </p:graphicFrame>
    </p:spTree>
    <p:extLst>
      <p:ext uri="{BB962C8B-B14F-4D97-AF65-F5344CB8AC3E}">
        <p14:creationId xmlns:p14="http://schemas.microsoft.com/office/powerpoint/2010/main" val="16164452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26</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سجل متطلبات البنية المؤسسية (</a:t>
            </a:r>
            <a:r>
              <a:rPr lang="en-US" dirty="0"/>
              <a:t>7/10</a:t>
            </a:r>
            <a:r>
              <a:rPr lang="ar-EG" dirty="0"/>
              <a:t>)</a:t>
            </a:r>
            <a:endParaRPr lang="en-US" dirty="0"/>
          </a:p>
        </p:txBody>
      </p:sp>
      <p:graphicFrame>
        <p:nvGraphicFramePr>
          <p:cNvPr id="3" name="Table 4">
            <a:extLst>
              <a:ext uri="{FF2B5EF4-FFF2-40B4-BE49-F238E27FC236}">
                <a16:creationId xmlns:a16="http://schemas.microsoft.com/office/drawing/2014/main" id="{8334871D-8AB1-846D-C666-4AEC2EDDE634}"/>
              </a:ext>
            </a:extLst>
          </p:cNvPr>
          <p:cNvGraphicFramePr>
            <a:graphicFrameLocks noGrp="1"/>
          </p:cNvGraphicFramePr>
          <p:nvPr>
            <p:extLst>
              <p:ext uri="{D42A27DB-BD31-4B8C-83A1-F6EECF244321}">
                <p14:modId xmlns:p14="http://schemas.microsoft.com/office/powerpoint/2010/main" val="2263371480"/>
              </p:ext>
            </p:extLst>
          </p:nvPr>
        </p:nvGraphicFramePr>
        <p:xfrm>
          <a:off x="491067" y="1047592"/>
          <a:ext cx="11209865" cy="5051540"/>
        </p:xfrm>
        <a:graphic>
          <a:graphicData uri="http://schemas.openxmlformats.org/drawingml/2006/table">
            <a:tbl>
              <a:tblPr firstRow="1" bandRow="1">
                <a:tableStyleId>{5C22544A-7EE6-4342-B048-85BDC9FD1C3A}</a:tableStyleId>
              </a:tblPr>
              <a:tblGrid>
                <a:gridCol w="1401233">
                  <a:extLst>
                    <a:ext uri="{9D8B030D-6E8A-4147-A177-3AD203B41FA5}">
                      <a16:colId xmlns:a16="http://schemas.microsoft.com/office/drawing/2014/main" val="2401468592"/>
                    </a:ext>
                  </a:extLst>
                </a:gridCol>
                <a:gridCol w="1401233">
                  <a:extLst>
                    <a:ext uri="{9D8B030D-6E8A-4147-A177-3AD203B41FA5}">
                      <a16:colId xmlns:a16="http://schemas.microsoft.com/office/drawing/2014/main" val="4106362141"/>
                    </a:ext>
                  </a:extLst>
                </a:gridCol>
                <a:gridCol w="1401233">
                  <a:extLst>
                    <a:ext uri="{9D8B030D-6E8A-4147-A177-3AD203B41FA5}">
                      <a16:colId xmlns:a16="http://schemas.microsoft.com/office/drawing/2014/main" val="2762405046"/>
                    </a:ext>
                  </a:extLst>
                </a:gridCol>
                <a:gridCol w="1401233">
                  <a:extLst>
                    <a:ext uri="{9D8B030D-6E8A-4147-A177-3AD203B41FA5}">
                      <a16:colId xmlns:a16="http://schemas.microsoft.com/office/drawing/2014/main" val="1229696898"/>
                    </a:ext>
                  </a:extLst>
                </a:gridCol>
                <a:gridCol w="1401233">
                  <a:extLst>
                    <a:ext uri="{9D8B030D-6E8A-4147-A177-3AD203B41FA5}">
                      <a16:colId xmlns:a16="http://schemas.microsoft.com/office/drawing/2014/main" val="1444584099"/>
                    </a:ext>
                  </a:extLst>
                </a:gridCol>
                <a:gridCol w="1401233">
                  <a:extLst>
                    <a:ext uri="{9D8B030D-6E8A-4147-A177-3AD203B41FA5}">
                      <a16:colId xmlns:a16="http://schemas.microsoft.com/office/drawing/2014/main" val="2979753714"/>
                    </a:ext>
                  </a:extLst>
                </a:gridCol>
                <a:gridCol w="1401233">
                  <a:extLst>
                    <a:ext uri="{9D8B030D-6E8A-4147-A177-3AD203B41FA5}">
                      <a16:colId xmlns:a16="http://schemas.microsoft.com/office/drawing/2014/main" val="892043053"/>
                    </a:ext>
                  </a:extLst>
                </a:gridCol>
                <a:gridCol w="915990">
                  <a:extLst>
                    <a:ext uri="{9D8B030D-6E8A-4147-A177-3AD203B41FA5}">
                      <a16:colId xmlns:a16="http://schemas.microsoft.com/office/drawing/2014/main" val="492242960"/>
                    </a:ext>
                  </a:extLst>
                </a:gridCol>
                <a:gridCol w="485244">
                  <a:extLst>
                    <a:ext uri="{9D8B030D-6E8A-4147-A177-3AD203B41FA5}">
                      <a16:colId xmlns:a16="http://schemas.microsoft.com/office/drawing/2014/main" val="3013707271"/>
                    </a:ext>
                  </a:extLst>
                </a:gridCol>
              </a:tblGrid>
              <a:tr h="875705">
                <a:tc>
                  <a:txBody>
                    <a:bodyPr/>
                    <a:lstStyle/>
                    <a:p>
                      <a:pPr algn="ctr"/>
                      <a:r>
                        <a:rPr lang="ar-SA" sz="2000" dirty="0"/>
                        <a:t>الربط </a:t>
                      </a:r>
                      <a:r>
                        <a:rPr lang="ar-SA" sz="1600" dirty="0"/>
                        <a:t>(الهدف الاستراتيجي – الوضع المستقبلي)</a:t>
                      </a:r>
                    </a:p>
                  </a:txBody>
                  <a:tcPr anchor="ctr"/>
                </a:tc>
                <a:tc>
                  <a:txBody>
                    <a:bodyPr/>
                    <a:lstStyle/>
                    <a:p>
                      <a:pPr algn="ctr"/>
                      <a:r>
                        <a:rPr lang="ar-SA" sz="2000" dirty="0"/>
                        <a:t>أولوية</a:t>
                      </a:r>
                    </a:p>
                    <a:p>
                      <a:pPr algn="ctr"/>
                      <a:r>
                        <a:rPr lang="ar-SA" sz="2000" dirty="0"/>
                        <a:t>التنفيذ</a:t>
                      </a:r>
                      <a:endParaRPr lang="en-US" sz="2000" dirty="0"/>
                    </a:p>
                  </a:txBody>
                  <a:tcPr anchor="ctr"/>
                </a:tc>
                <a:tc>
                  <a:txBody>
                    <a:bodyPr/>
                    <a:lstStyle/>
                    <a:p>
                      <a:pPr algn="ctr"/>
                      <a:r>
                        <a:rPr lang="ar-SA" sz="2000" dirty="0"/>
                        <a:t>حالة المتطلب</a:t>
                      </a:r>
                      <a:endParaRPr lang="en-US" sz="2000" dirty="0"/>
                    </a:p>
                  </a:txBody>
                  <a:tcPr anchor="ctr"/>
                </a:tc>
                <a:tc>
                  <a:txBody>
                    <a:bodyPr/>
                    <a:lstStyle/>
                    <a:p>
                      <a:pPr algn="ctr"/>
                      <a:r>
                        <a:rPr lang="ar-EG" sz="2000" dirty="0"/>
                        <a:t>المتطلبات ذات</a:t>
                      </a:r>
                    </a:p>
                    <a:p>
                      <a:pPr algn="ctr"/>
                      <a:r>
                        <a:rPr lang="ar-EG" sz="2000" dirty="0"/>
                        <a:t>العلاقة</a:t>
                      </a:r>
                      <a:endParaRPr lang="en-US" sz="2000" dirty="0"/>
                    </a:p>
                  </a:txBody>
                  <a:tcPr anchor="ctr"/>
                </a:tc>
                <a:tc>
                  <a:txBody>
                    <a:bodyPr/>
                    <a:lstStyle/>
                    <a:p>
                      <a:pPr algn="ctr"/>
                      <a:r>
                        <a:rPr lang="ar-EG" sz="2000" dirty="0"/>
                        <a:t>المجالات المتأثرة</a:t>
                      </a:r>
                    </a:p>
                    <a:p>
                      <a:pPr algn="ctr"/>
                      <a:r>
                        <a:rPr lang="ar-EG" sz="2000" dirty="0"/>
                        <a:t>بالمتطلب</a:t>
                      </a:r>
                      <a:endParaRPr lang="en-US" sz="2000" dirty="0"/>
                    </a:p>
                  </a:txBody>
                  <a:tcPr anchor="ctr"/>
                </a:tc>
                <a:tc>
                  <a:txBody>
                    <a:bodyPr/>
                    <a:lstStyle/>
                    <a:p>
                      <a:pPr algn="ctr"/>
                      <a:r>
                        <a:rPr lang="ar-EG" sz="2000" dirty="0"/>
                        <a:t>مجال</a:t>
                      </a:r>
                    </a:p>
                    <a:p>
                      <a:pPr algn="ctr"/>
                      <a:r>
                        <a:rPr lang="ar-EG" sz="2000" dirty="0"/>
                        <a:t>المتطلب</a:t>
                      </a:r>
                      <a:endParaRPr lang="en-US" sz="2000" dirty="0"/>
                    </a:p>
                  </a:txBody>
                  <a:tcPr anchor="ctr"/>
                </a:tc>
                <a:tc>
                  <a:txBody>
                    <a:bodyPr/>
                    <a:lstStyle/>
                    <a:p>
                      <a:pPr algn="ctr"/>
                      <a:r>
                        <a:rPr lang="ar-SA" sz="2000" dirty="0"/>
                        <a:t>مصدر</a:t>
                      </a:r>
                    </a:p>
                    <a:p>
                      <a:pPr algn="ctr"/>
                      <a:r>
                        <a:rPr lang="ar-SA" sz="2000" dirty="0"/>
                        <a:t>المتطلب</a:t>
                      </a:r>
                      <a:endParaRPr lang="en-US" sz="2000" dirty="0"/>
                    </a:p>
                  </a:txBody>
                  <a:tcPr anchor="ctr"/>
                </a:tc>
                <a:tc>
                  <a:txBody>
                    <a:bodyPr/>
                    <a:lstStyle/>
                    <a:p>
                      <a:pPr algn="ctr"/>
                      <a:r>
                        <a:rPr lang="ar-SA" sz="2000" dirty="0"/>
                        <a:t>رمز</a:t>
                      </a:r>
                    </a:p>
                    <a:p>
                      <a:pPr algn="ctr"/>
                      <a:r>
                        <a:rPr lang="ar-SA" sz="2000" dirty="0"/>
                        <a:t>المتطلب</a:t>
                      </a:r>
                      <a:endParaRPr lang="en-US" sz="2000" dirty="0"/>
                    </a:p>
                  </a:txBody>
                  <a:tcPr anchor="ctr"/>
                </a:tc>
                <a:tc>
                  <a:txBody>
                    <a:bodyPr/>
                    <a:lstStyle/>
                    <a:p>
                      <a:pPr algn="ctr"/>
                      <a:r>
                        <a:rPr lang="en-US" sz="2000" dirty="0"/>
                        <a:t>#</a:t>
                      </a:r>
                    </a:p>
                  </a:txBody>
                  <a:tcPr anchor="ctr"/>
                </a:tc>
                <a:extLst>
                  <a:ext uri="{0D108BD9-81ED-4DB2-BD59-A6C34878D82A}">
                    <a16:rowId xmlns:a16="http://schemas.microsoft.com/office/drawing/2014/main" val="3617136848"/>
                  </a:ext>
                </a:extLst>
              </a:tr>
              <a:tr h="416762">
                <a:tc gridSpan="7">
                  <a:txBody>
                    <a:bodyPr/>
                    <a:lstStyle/>
                    <a:p>
                      <a:pPr marL="0" indent="0" algn="r" defTabSz="914400" rtl="1" eaLnBrk="1" fontAlgn="ctr" latinLnBrk="0" hangingPunct="1">
                        <a:buFontTx/>
                        <a:buNone/>
                      </a:pP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إعداد و</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تنفيذ سياسة واضحة لتحديد أولويات العمل</a:t>
                      </a: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b"/>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BR14</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031</a:t>
                      </a:r>
                    </a:p>
                  </a:txBody>
                  <a:tcPr marL="0" marR="0" marT="0" marB="0" anchor="ctr"/>
                </a:tc>
                <a:extLst>
                  <a:ext uri="{0D108BD9-81ED-4DB2-BD59-A6C34878D82A}">
                    <a16:rowId xmlns:a16="http://schemas.microsoft.com/office/drawing/2014/main" val="180313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EAG03 - EAG04</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BR13 - AR12</a:t>
                      </a: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1288833752"/>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نظام إدارة مهام يتضمن آلية لتحديد وترتيب الأولويات بشكل واضح</a:t>
                      </a: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a:t>
                      </a:r>
                      <a:r>
                        <a:rPr lang="ar-EG" sz="2000" b="1" i="0" u="none" strike="noStrike" dirty="0">
                          <a:solidFill>
                            <a:srgbClr val="000000"/>
                          </a:solidFill>
                          <a:effectLst/>
                          <a:latin typeface="Sakkal Majalla" panose="02000000000000000000" pitchFamily="2" charset="-78"/>
                          <a:cs typeface="Sakkal Majalla" panose="02000000000000000000" pitchFamily="2" charset="-78"/>
                        </a:rPr>
                        <a:t>12</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032</a:t>
                      </a:r>
                    </a:p>
                  </a:txBody>
                  <a:tcPr marL="0" marR="0" marT="0" marB="0" anchor="ctr">
                    <a:solidFill>
                      <a:srgbClr val="E9E8EE"/>
                    </a:solidFill>
                  </a:tcPr>
                </a:tc>
                <a:extLst>
                  <a:ext uri="{0D108BD9-81ED-4DB2-BD59-A6C34878D82A}">
                    <a16:rowId xmlns:a16="http://schemas.microsoft.com/office/drawing/2014/main" val="30067911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EAG02 -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BR14</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تطبيقات - 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vMerge="1">
                  <a:txBody>
                    <a:bodyPr/>
                    <a:lstStyle/>
                    <a:p>
                      <a:endParaRPr lang="en-US"/>
                    </a:p>
                  </a:txBody>
                  <a:tcPr/>
                </a:tc>
                <a:extLst>
                  <a:ext uri="{0D108BD9-81ED-4DB2-BD59-A6C34878D82A}">
                    <a16:rowId xmlns:a16="http://schemas.microsoft.com/office/drawing/2014/main" val="1976179613"/>
                  </a:ext>
                </a:extLst>
              </a:tr>
              <a:tr h="416762">
                <a:tc gridSpan="7">
                  <a:txBody>
                    <a:bodyPr/>
                    <a:lstStyle/>
                    <a:p>
                      <a:pPr marL="0" indent="0" algn="r" defTabSz="914400" rtl="1" eaLnBrk="1" fontAlgn="ctr" latinLnBrk="0" hangingPunct="1">
                        <a:buFontTx/>
                        <a:buNone/>
                      </a:pP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إعداد و</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تنفيذ سياسة واضحة لتقييم أداء الموظف تشمل ربط المهام المنجزة بمؤشرات الأداء الرئيسية</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a:t>
                      </a:r>
                      <a:r>
                        <a:rPr lang="en-US"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KPIs</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BR1</a:t>
                      </a:r>
                      <a:r>
                        <a:rPr lang="ar-EG" sz="2000" b="1" i="0" u="none" strike="noStrike" dirty="0">
                          <a:solidFill>
                            <a:srgbClr val="000000"/>
                          </a:solidFill>
                          <a:effectLst/>
                          <a:latin typeface="Sakkal Majalla" panose="02000000000000000000" pitchFamily="2" charset="-78"/>
                          <a:cs typeface="Sakkal Majalla" panose="02000000000000000000" pitchFamily="2" charset="-78"/>
                        </a:rPr>
                        <a:t>5</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033</a:t>
                      </a:r>
                    </a:p>
                  </a:txBody>
                  <a:tcPr marL="0" marR="0" marT="0" marB="0" anchor="ctr"/>
                </a:tc>
                <a:extLst>
                  <a:ext uri="{0D108BD9-81ED-4DB2-BD59-A6C34878D82A}">
                    <a16:rowId xmlns:a16="http://schemas.microsoft.com/office/drawing/2014/main" val="1965755369"/>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EAG03 - EAG04</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BR13</a:t>
                      </a: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920826566"/>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نظام لربط إدارة المهام مع إدارة الأداء لتمكين قياس أداء الموظف بشكل دقيق	</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a:t>
                      </a:r>
                      <a:r>
                        <a:rPr lang="ar-EG" sz="2000" b="1" i="0" u="none" strike="noStrike" dirty="0">
                          <a:solidFill>
                            <a:srgbClr val="000000"/>
                          </a:solidFill>
                          <a:effectLst/>
                          <a:latin typeface="Sakkal Majalla" panose="02000000000000000000" pitchFamily="2" charset="-78"/>
                          <a:cs typeface="Sakkal Majalla" panose="02000000000000000000" pitchFamily="2" charset="-78"/>
                        </a:rPr>
                        <a:t>13</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034</a:t>
                      </a:r>
                    </a:p>
                  </a:txBody>
                  <a:tcPr marL="0" marR="0" marT="0" marB="0" anchor="ctr">
                    <a:solidFill>
                      <a:srgbClr val="E9E8EE"/>
                    </a:solidFill>
                  </a:tcPr>
                </a:tc>
                <a:extLst>
                  <a:ext uri="{0D108BD9-81ED-4DB2-BD59-A6C34878D82A}">
                    <a16:rowId xmlns:a16="http://schemas.microsoft.com/office/drawing/2014/main" val="48894551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EAG03 - EAG05</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E9E8EE"/>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AR12-AR02</a:t>
                      </a:r>
                    </a:p>
                  </a:txBody>
                  <a:tcPr marL="7620" marR="7620" marT="7620" marB="0" anchor="ctr">
                    <a:solidFill>
                      <a:srgbClr val="E9E8EE"/>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تطبيقات - 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E9E8EE"/>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vMerge="1">
                  <a:txBody>
                    <a:bodyPr/>
                    <a:lstStyle/>
                    <a:p>
                      <a:endParaRPr lang="en-US"/>
                    </a:p>
                  </a:txBody>
                  <a:tcPr/>
                </a:tc>
                <a:extLst>
                  <a:ext uri="{0D108BD9-81ED-4DB2-BD59-A6C34878D82A}">
                    <a16:rowId xmlns:a16="http://schemas.microsoft.com/office/drawing/2014/main" val="1430913029"/>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إنشاء آلية فعالة لمعالجة ومتابعة المقترحات والشكاوى لضمان استجابة سريعة وفعالة</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algn="ctr" defTabSz="914400" rtl="1" eaLnBrk="1" fontAlgn="ctr" latinLnBrk="0" hangingPunct="1">
                        <a:buFontTx/>
                        <a:buNone/>
                      </a:pPr>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hMerge="1">
                  <a:txBody>
                    <a:bodyPr/>
                    <a:lstStyle/>
                    <a:p>
                      <a:pPr marL="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BR1</a:t>
                      </a:r>
                      <a:r>
                        <a:rPr lang="ar-EG" sz="2000" b="1" i="0" u="none" strike="noStrike" dirty="0">
                          <a:solidFill>
                            <a:srgbClr val="000000"/>
                          </a:solidFill>
                          <a:effectLst/>
                          <a:latin typeface="Sakkal Majalla" panose="02000000000000000000" pitchFamily="2" charset="-78"/>
                          <a:cs typeface="Sakkal Majalla" panose="02000000000000000000" pitchFamily="2" charset="-78"/>
                        </a:rPr>
                        <a:t>6</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035</a:t>
                      </a:r>
                    </a:p>
                  </a:txBody>
                  <a:tcPr marL="0" marR="0" marT="0" marB="0" anchor="ctr">
                    <a:solidFill>
                      <a:srgbClr val="D0CEDB"/>
                    </a:solidFill>
                  </a:tcPr>
                </a:tc>
                <a:extLst>
                  <a:ext uri="{0D108BD9-81ED-4DB2-BD59-A6C34878D82A}">
                    <a16:rowId xmlns:a16="http://schemas.microsoft.com/office/drawing/2014/main" val="3429377612"/>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EAG01 -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AR14</a:t>
                      </a: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D0CEDB"/>
                    </a:solidFill>
                  </a:tcPr>
                </a:tc>
                <a:tc vMerge="1">
                  <a:txBody>
                    <a:bodyPr/>
                    <a:lstStyle/>
                    <a:p>
                      <a:pPr algn="ctr" rtl="0" fontAlgn="ctr">
                        <a:buFontTx/>
                        <a:buNone/>
                      </a:pP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664299992"/>
                  </a:ext>
                </a:extLst>
              </a:tr>
            </a:tbl>
          </a:graphicData>
        </a:graphic>
      </p:graphicFrame>
    </p:spTree>
    <p:extLst>
      <p:ext uri="{BB962C8B-B14F-4D97-AF65-F5344CB8AC3E}">
        <p14:creationId xmlns:p14="http://schemas.microsoft.com/office/powerpoint/2010/main" val="3725392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سجل متطلبات البنية المؤسسية (</a:t>
            </a:r>
            <a:r>
              <a:rPr lang="en-US" dirty="0"/>
              <a:t>8/10</a:t>
            </a:r>
            <a:r>
              <a:rPr lang="ar-EG" dirty="0"/>
              <a:t>)</a:t>
            </a:r>
            <a:endParaRPr lang="en-US" dirty="0"/>
          </a:p>
        </p:txBody>
      </p:sp>
      <p:graphicFrame>
        <p:nvGraphicFramePr>
          <p:cNvPr id="3" name="Table 4">
            <a:extLst>
              <a:ext uri="{FF2B5EF4-FFF2-40B4-BE49-F238E27FC236}">
                <a16:creationId xmlns:a16="http://schemas.microsoft.com/office/drawing/2014/main" id="{8334871D-8AB1-846D-C666-4AEC2EDDE634}"/>
              </a:ext>
            </a:extLst>
          </p:cNvPr>
          <p:cNvGraphicFramePr>
            <a:graphicFrameLocks noGrp="1"/>
          </p:cNvGraphicFramePr>
          <p:nvPr>
            <p:extLst>
              <p:ext uri="{D42A27DB-BD31-4B8C-83A1-F6EECF244321}">
                <p14:modId xmlns:p14="http://schemas.microsoft.com/office/powerpoint/2010/main" val="3828296587"/>
              </p:ext>
            </p:extLst>
          </p:nvPr>
        </p:nvGraphicFramePr>
        <p:xfrm>
          <a:off x="491067" y="1047592"/>
          <a:ext cx="11209865" cy="5051540"/>
        </p:xfrm>
        <a:graphic>
          <a:graphicData uri="http://schemas.openxmlformats.org/drawingml/2006/table">
            <a:tbl>
              <a:tblPr firstRow="1" bandRow="1">
                <a:tableStyleId>{5C22544A-7EE6-4342-B048-85BDC9FD1C3A}</a:tableStyleId>
              </a:tblPr>
              <a:tblGrid>
                <a:gridCol w="1401233">
                  <a:extLst>
                    <a:ext uri="{9D8B030D-6E8A-4147-A177-3AD203B41FA5}">
                      <a16:colId xmlns:a16="http://schemas.microsoft.com/office/drawing/2014/main" val="2401468592"/>
                    </a:ext>
                  </a:extLst>
                </a:gridCol>
                <a:gridCol w="1401233">
                  <a:extLst>
                    <a:ext uri="{9D8B030D-6E8A-4147-A177-3AD203B41FA5}">
                      <a16:colId xmlns:a16="http://schemas.microsoft.com/office/drawing/2014/main" val="4106362141"/>
                    </a:ext>
                  </a:extLst>
                </a:gridCol>
                <a:gridCol w="1401233">
                  <a:extLst>
                    <a:ext uri="{9D8B030D-6E8A-4147-A177-3AD203B41FA5}">
                      <a16:colId xmlns:a16="http://schemas.microsoft.com/office/drawing/2014/main" val="2762405046"/>
                    </a:ext>
                  </a:extLst>
                </a:gridCol>
                <a:gridCol w="1401233">
                  <a:extLst>
                    <a:ext uri="{9D8B030D-6E8A-4147-A177-3AD203B41FA5}">
                      <a16:colId xmlns:a16="http://schemas.microsoft.com/office/drawing/2014/main" val="1229696898"/>
                    </a:ext>
                  </a:extLst>
                </a:gridCol>
                <a:gridCol w="1401233">
                  <a:extLst>
                    <a:ext uri="{9D8B030D-6E8A-4147-A177-3AD203B41FA5}">
                      <a16:colId xmlns:a16="http://schemas.microsoft.com/office/drawing/2014/main" val="1444584099"/>
                    </a:ext>
                  </a:extLst>
                </a:gridCol>
                <a:gridCol w="1401233">
                  <a:extLst>
                    <a:ext uri="{9D8B030D-6E8A-4147-A177-3AD203B41FA5}">
                      <a16:colId xmlns:a16="http://schemas.microsoft.com/office/drawing/2014/main" val="2979753714"/>
                    </a:ext>
                  </a:extLst>
                </a:gridCol>
                <a:gridCol w="1401233">
                  <a:extLst>
                    <a:ext uri="{9D8B030D-6E8A-4147-A177-3AD203B41FA5}">
                      <a16:colId xmlns:a16="http://schemas.microsoft.com/office/drawing/2014/main" val="892043053"/>
                    </a:ext>
                  </a:extLst>
                </a:gridCol>
                <a:gridCol w="915990">
                  <a:extLst>
                    <a:ext uri="{9D8B030D-6E8A-4147-A177-3AD203B41FA5}">
                      <a16:colId xmlns:a16="http://schemas.microsoft.com/office/drawing/2014/main" val="492242960"/>
                    </a:ext>
                  </a:extLst>
                </a:gridCol>
                <a:gridCol w="485244">
                  <a:extLst>
                    <a:ext uri="{9D8B030D-6E8A-4147-A177-3AD203B41FA5}">
                      <a16:colId xmlns:a16="http://schemas.microsoft.com/office/drawing/2014/main" val="3013707271"/>
                    </a:ext>
                  </a:extLst>
                </a:gridCol>
              </a:tblGrid>
              <a:tr h="875705">
                <a:tc>
                  <a:txBody>
                    <a:bodyPr/>
                    <a:lstStyle/>
                    <a:p>
                      <a:pPr algn="ctr"/>
                      <a:r>
                        <a:rPr lang="ar-SA" sz="2000" dirty="0"/>
                        <a:t>الربط </a:t>
                      </a:r>
                      <a:r>
                        <a:rPr lang="ar-SA" sz="1600" dirty="0"/>
                        <a:t>(الهدف الاستراتيجي – الوضع المستقبلي)</a:t>
                      </a:r>
                    </a:p>
                  </a:txBody>
                  <a:tcPr anchor="ctr"/>
                </a:tc>
                <a:tc>
                  <a:txBody>
                    <a:bodyPr/>
                    <a:lstStyle/>
                    <a:p>
                      <a:pPr algn="ctr"/>
                      <a:r>
                        <a:rPr lang="ar-SA" sz="2000" dirty="0"/>
                        <a:t>أولوية</a:t>
                      </a:r>
                    </a:p>
                    <a:p>
                      <a:pPr algn="ctr"/>
                      <a:r>
                        <a:rPr lang="ar-SA" sz="2000" dirty="0"/>
                        <a:t>التنفيذ</a:t>
                      </a:r>
                      <a:endParaRPr lang="en-US" sz="2000" dirty="0"/>
                    </a:p>
                  </a:txBody>
                  <a:tcPr anchor="ctr"/>
                </a:tc>
                <a:tc>
                  <a:txBody>
                    <a:bodyPr/>
                    <a:lstStyle/>
                    <a:p>
                      <a:pPr algn="ctr"/>
                      <a:r>
                        <a:rPr lang="ar-SA" sz="2000" dirty="0"/>
                        <a:t>حالة المتطلب</a:t>
                      </a:r>
                      <a:endParaRPr lang="en-US" sz="2000" dirty="0"/>
                    </a:p>
                  </a:txBody>
                  <a:tcPr anchor="ctr"/>
                </a:tc>
                <a:tc>
                  <a:txBody>
                    <a:bodyPr/>
                    <a:lstStyle/>
                    <a:p>
                      <a:pPr algn="ctr"/>
                      <a:r>
                        <a:rPr lang="ar-EG" sz="2000" dirty="0"/>
                        <a:t>المتطلبات ذات</a:t>
                      </a:r>
                    </a:p>
                    <a:p>
                      <a:pPr algn="ctr"/>
                      <a:r>
                        <a:rPr lang="ar-EG" sz="2000" dirty="0"/>
                        <a:t>العلاقة</a:t>
                      </a:r>
                      <a:endParaRPr lang="en-US" sz="2000" dirty="0"/>
                    </a:p>
                  </a:txBody>
                  <a:tcPr anchor="ctr"/>
                </a:tc>
                <a:tc>
                  <a:txBody>
                    <a:bodyPr/>
                    <a:lstStyle/>
                    <a:p>
                      <a:pPr algn="ctr"/>
                      <a:r>
                        <a:rPr lang="ar-EG" sz="2000" dirty="0"/>
                        <a:t>المجالات المتأثرة</a:t>
                      </a:r>
                    </a:p>
                    <a:p>
                      <a:pPr algn="ctr"/>
                      <a:r>
                        <a:rPr lang="ar-EG" sz="2000" dirty="0"/>
                        <a:t>بالمتطلب</a:t>
                      </a:r>
                      <a:endParaRPr lang="en-US" sz="2000" dirty="0"/>
                    </a:p>
                  </a:txBody>
                  <a:tcPr anchor="ctr"/>
                </a:tc>
                <a:tc>
                  <a:txBody>
                    <a:bodyPr/>
                    <a:lstStyle/>
                    <a:p>
                      <a:pPr algn="ctr"/>
                      <a:r>
                        <a:rPr lang="ar-EG" sz="2000" dirty="0"/>
                        <a:t>مجال</a:t>
                      </a:r>
                    </a:p>
                    <a:p>
                      <a:pPr algn="ctr"/>
                      <a:r>
                        <a:rPr lang="ar-EG" sz="2000" dirty="0"/>
                        <a:t>المتطلب</a:t>
                      </a:r>
                      <a:endParaRPr lang="en-US" sz="2000" dirty="0"/>
                    </a:p>
                  </a:txBody>
                  <a:tcPr anchor="ctr"/>
                </a:tc>
                <a:tc>
                  <a:txBody>
                    <a:bodyPr/>
                    <a:lstStyle/>
                    <a:p>
                      <a:pPr algn="ctr"/>
                      <a:r>
                        <a:rPr lang="ar-SA" sz="2000" dirty="0"/>
                        <a:t>مصدر</a:t>
                      </a:r>
                    </a:p>
                    <a:p>
                      <a:pPr algn="ctr"/>
                      <a:r>
                        <a:rPr lang="ar-SA" sz="2000" dirty="0"/>
                        <a:t>المتطلب</a:t>
                      </a:r>
                      <a:endParaRPr lang="en-US" sz="2000" dirty="0"/>
                    </a:p>
                  </a:txBody>
                  <a:tcPr anchor="ctr"/>
                </a:tc>
                <a:tc>
                  <a:txBody>
                    <a:bodyPr/>
                    <a:lstStyle/>
                    <a:p>
                      <a:pPr algn="ctr"/>
                      <a:r>
                        <a:rPr lang="ar-SA" sz="2000" dirty="0"/>
                        <a:t>رمز</a:t>
                      </a:r>
                    </a:p>
                    <a:p>
                      <a:pPr algn="ctr"/>
                      <a:r>
                        <a:rPr lang="ar-SA" sz="2000" dirty="0"/>
                        <a:t>المتطلب</a:t>
                      </a:r>
                      <a:endParaRPr lang="en-US" sz="2000" dirty="0"/>
                    </a:p>
                  </a:txBody>
                  <a:tcPr anchor="ctr"/>
                </a:tc>
                <a:tc>
                  <a:txBody>
                    <a:bodyPr/>
                    <a:lstStyle/>
                    <a:p>
                      <a:pPr algn="ctr"/>
                      <a:r>
                        <a:rPr lang="en-US" sz="2000" dirty="0"/>
                        <a:t>#</a:t>
                      </a:r>
                    </a:p>
                  </a:txBody>
                  <a:tcPr anchor="ctr"/>
                </a:tc>
                <a:extLst>
                  <a:ext uri="{0D108BD9-81ED-4DB2-BD59-A6C34878D82A}">
                    <a16:rowId xmlns:a16="http://schemas.microsoft.com/office/drawing/2014/main" val="3617136848"/>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نظام موحد لاستقبال ومتابعة المقترحات والأفكار الإبداعية والشكاوى</a:t>
                      </a: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b"/>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a:t>
                      </a:r>
                      <a:r>
                        <a:rPr lang="ar-EG" sz="2000" b="1" i="0" u="none" strike="noStrike" dirty="0">
                          <a:solidFill>
                            <a:srgbClr val="000000"/>
                          </a:solidFill>
                          <a:effectLst/>
                          <a:latin typeface="Sakkal Majalla" panose="02000000000000000000" pitchFamily="2" charset="-78"/>
                          <a:cs typeface="Sakkal Majalla" panose="02000000000000000000" pitchFamily="2" charset="-78"/>
                        </a:rPr>
                        <a:t>1</a:t>
                      </a:r>
                      <a:r>
                        <a:rPr lang="en-US" sz="2000" b="1" i="0" u="none" strike="noStrike" dirty="0">
                          <a:solidFill>
                            <a:srgbClr val="000000"/>
                          </a:solidFill>
                          <a:effectLst/>
                          <a:latin typeface="Sakkal Majalla" panose="02000000000000000000" pitchFamily="2" charset="-78"/>
                          <a:cs typeface="Sakkal Majalla" panose="02000000000000000000" pitchFamily="2" charset="-78"/>
                        </a:rPr>
                        <a:t>4</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036</a:t>
                      </a:r>
                    </a:p>
                  </a:txBody>
                  <a:tcPr marL="0" marR="0" marT="0" marB="0" anchor="ctr"/>
                </a:tc>
                <a:extLst>
                  <a:ext uri="{0D108BD9-81ED-4DB2-BD59-A6C34878D82A}">
                    <a16:rowId xmlns:a16="http://schemas.microsoft.com/office/drawing/2014/main" val="180313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EAG01 -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BR16</a:t>
                      </a: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تطبيقات - 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1288833752"/>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وتطبيق استراتيجية إدارة التغيير  المؤسسية</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a:t>
                      </a:r>
                      <a:r>
                        <a:rPr lang="en-US"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Enterprise Change Management</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لضمان إشراك الموظفين وفهم احتياجاتهم</a:t>
                      </a:r>
                      <a:endPar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BR17</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037</a:t>
                      </a:r>
                    </a:p>
                  </a:txBody>
                  <a:tcPr marL="0" marR="0" marT="0" marB="0" anchor="ctr">
                    <a:solidFill>
                      <a:srgbClr val="E9E8EE"/>
                    </a:solidFill>
                  </a:tcPr>
                </a:tc>
                <a:extLst>
                  <a:ext uri="{0D108BD9-81ED-4DB2-BD59-A6C34878D82A}">
                    <a16:rowId xmlns:a16="http://schemas.microsoft.com/office/drawing/2014/main" val="30067911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EAG04 - EAG05</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tc>
                <a:tc>
                  <a:txBody>
                    <a:bodyPr/>
                    <a:lstStyle/>
                    <a:p>
                      <a:pPr marL="0" indent="0" algn="ctr" defTabSz="914400" rtl="1" eaLnBrk="1" fontAlgn="ctr" latinLnBrk="0" hangingPunct="1">
                        <a:buFontTx/>
                        <a:buNone/>
                      </a:pP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vMerge="1">
                  <a:txBody>
                    <a:bodyPr/>
                    <a:lstStyle/>
                    <a:p>
                      <a:endParaRPr lang="en-US"/>
                    </a:p>
                  </a:txBody>
                  <a:tcPr/>
                </a:tc>
                <a:extLst>
                  <a:ext uri="{0D108BD9-81ED-4DB2-BD59-A6C34878D82A}">
                    <a16:rowId xmlns:a16="http://schemas.microsoft.com/office/drawing/2014/main" val="1976179613"/>
                  </a:ext>
                </a:extLst>
              </a:tr>
              <a:tr h="416762">
                <a:tc gridSpan="7">
                  <a:txBody>
                    <a:bodyPr/>
                    <a:lstStyle/>
                    <a:p>
                      <a:pPr marL="0" indent="0" algn="r" defTabSz="914400" rtl="1" eaLnBrk="1" fontAlgn="ctr" latinLnBrk="0" hangingPunct="1">
                        <a:buFontTx/>
                        <a:buNone/>
                      </a:pP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وتطبيق استراتيجية إدارة المخاطر المؤسسية (</a:t>
                      </a:r>
                      <a:r>
                        <a:rPr lang="en-US"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Enterprise Risk Management</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لتحديد وتقييم وإدارة المخاطر المؤسسية بشكل فعال</a:t>
                      </a:r>
                      <a:endPar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BR18</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038</a:t>
                      </a:r>
                    </a:p>
                  </a:txBody>
                  <a:tcPr marL="0" marR="0" marT="0" marB="0" anchor="ctr"/>
                </a:tc>
                <a:extLst>
                  <a:ext uri="{0D108BD9-81ED-4DB2-BD59-A6C34878D82A}">
                    <a16:rowId xmlns:a16="http://schemas.microsoft.com/office/drawing/2014/main" val="1965755369"/>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EAG03 - EAG05</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920826566"/>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منصة موحدة شاملة لأعمال الهيئة تعزز من تكامل الخدمات الداخلية والخارجية</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AR15</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039</a:t>
                      </a:r>
                    </a:p>
                  </a:txBody>
                  <a:tcPr marL="0" marR="0" marT="0" marB="0" anchor="ctr">
                    <a:solidFill>
                      <a:srgbClr val="E9E8EE"/>
                    </a:solidFill>
                  </a:tcPr>
                </a:tc>
                <a:extLst>
                  <a:ext uri="{0D108BD9-81ED-4DB2-BD59-A6C34878D82A}">
                    <a16:rowId xmlns:a16="http://schemas.microsoft.com/office/drawing/2014/main" val="48894551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EAG02 -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متدني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E9E8EE"/>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AR09 - AR16</a:t>
                      </a:r>
                    </a:p>
                  </a:txBody>
                  <a:tcPr marL="7620" marR="7620" marT="7620" marB="0" anchor="ctr">
                    <a:solidFill>
                      <a:srgbClr val="E9E8EE"/>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جميع المجالات</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E9E8EE"/>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vMerge="1">
                  <a:txBody>
                    <a:bodyPr/>
                    <a:lstStyle/>
                    <a:p>
                      <a:endParaRPr lang="en-US"/>
                    </a:p>
                  </a:txBody>
                  <a:tcPr/>
                </a:tc>
                <a:extLst>
                  <a:ext uri="{0D108BD9-81ED-4DB2-BD59-A6C34878D82A}">
                    <a16:rowId xmlns:a16="http://schemas.microsoft.com/office/drawing/2014/main" val="1430913029"/>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إنشاء بوابة داخلية موحدة للموظفين توفر الوصول إلى جميع</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المعلومات و</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الخدمات والأنظمة المتعلقة بأعمال الهيئة</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(مع اعتبار سياسات النشر)</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algn="ctr" defTabSz="914400" rtl="1" eaLnBrk="1" fontAlgn="ctr" latinLnBrk="0" hangingPunct="1">
                        <a:buFontTx/>
                        <a:buNone/>
                      </a:pPr>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hMerge="1">
                  <a:txBody>
                    <a:bodyPr/>
                    <a:lstStyle/>
                    <a:p>
                      <a:pPr marL="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AR1</a:t>
                      </a:r>
                      <a:r>
                        <a:rPr lang="ar-EG" sz="2000" b="1" i="0" u="none" strike="noStrike" dirty="0">
                          <a:solidFill>
                            <a:srgbClr val="000000"/>
                          </a:solidFill>
                          <a:effectLst/>
                          <a:latin typeface="Sakkal Majalla" panose="02000000000000000000" pitchFamily="2" charset="-78"/>
                          <a:cs typeface="Sakkal Majalla" panose="02000000000000000000" pitchFamily="2" charset="-78"/>
                        </a:rPr>
                        <a:t>6</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040</a:t>
                      </a:r>
                    </a:p>
                  </a:txBody>
                  <a:tcPr marL="0" marR="0" marT="0" marB="0" anchor="ctr">
                    <a:solidFill>
                      <a:srgbClr val="D0CEDB"/>
                    </a:solidFill>
                  </a:tcPr>
                </a:tc>
                <a:extLst>
                  <a:ext uri="{0D108BD9-81ED-4DB2-BD59-A6C34878D82A}">
                    <a16:rowId xmlns:a16="http://schemas.microsoft.com/office/drawing/2014/main" val="3429377612"/>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EAG02 - EAG03 - EAG04</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AR15</a:t>
                      </a: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جميع المجالات</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D0CEDB"/>
                    </a:solidFill>
                  </a:tcPr>
                </a:tc>
                <a:tc vMerge="1">
                  <a:txBody>
                    <a:bodyPr/>
                    <a:lstStyle/>
                    <a:p>
                      <a:pPr algn="ctr" rtl="0" fontAlgn="ctr">
                        <a:buFontTx/>
                        <a:buNone/>
                      </a:pP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664299992"/>
                  </a:ext>
                </a:extLst>
              </a:tr>
            </a:tbl>
          </a:graphicData>
        </a:graphic>
      </p:graphicFrame>
    </p:spTree>
    <p:extLst>
      <p:ext uri="{BB962C8B-B14F-4D97-AF65-F5344CB8AC3E}">
        <p14:creationId xmlns:p14="http://schemas.microsoft.com/office/powerpoint/2010/main" val="1439491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28</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سجل متطلبات البنية المؤسسية (</a:t>
            </a:r>
            <a:r>
              <a:rPr lang="en-US" dirty="0"/>
              <a:t>9/10</a:t>
            </a:r>
            <a:r>
              <a:rPr lang="ar-EG" dirty="0"/>
              <a:t>)</a:t>
            </a:r>
            <a:endParaRPr lang="en-US" dirty="0"/>
          </a:p>
        </p:txBody>
      </p:sp>
      <p:graphicFrame>
        <p:nvGraphicFramePr>
          <p:cNvPr id="3" name="Table 4">
            <a:extLst>
              <a:ext uri="{FF2B5EF4-FFF2-40B4-BE49-F238E27FC236}">
                <a16:creationId xmlns:a16="http://schemas.microsoft.com/office/drawing/2014/main" id="{8334871D-8AB1-846D-C666-4AEC2EDDE634}"/>
              </a:ext>
            </a:extLst>
          </p:cNvPr>
          <p:cNvGraphicFramePr>
            <a:graphicFrameLocks noGrp="1"/>
          </p:cNvGraphicFramePr>
          <p:nvPr>
            <p:extLst>
              <p:ext uri="{D42A27DB-BD31-4B8C-83A1-F6EECF244321}">
                <p14:modId xmlns:p14="http://schemas.microsoft.com/office/powerpoint/2010/main" val="1690478960"/>
              </p:ext>
            </p:extLst>
          </p:nvPr>
        </p:nvGraphicFramePr>
        <p:xfrm>
          <a:off x="491067" y="1047592"/>
          <a:ext cx="11209865" cy="5051540"/>
        </p:xfrm>
        <a:graphic>
          <a:graphicData uri="http://schemas.openxmlformats.org/drawingml/2006/table">
            <a:tbl>
              <a:tblPr firstRow="1" bandRow="1">
                <a:tableStyleId>{5C22544A-7EE6-4342-B048-85BDC9FD1C3A}</a:tableStyleId>
              </a:tblPr>
              <a:tblGrid>
                <a:gridCol w="1401233">
                  <a:extLst>
                    <a:ext uri="{9D8B030D-6E8A-4147-A177-3AD203B41FA5}">
                      <a16:colId xmlns:a16="http://schemas.microsoft.com/office/drawing/2014/main" val="2401468592"/>
                    </a:ext>
                  </a:extLst>
                </a:gridCol>
                <a:gridCol w="1401233">
                  <a:extLst>
                    <a:ext uri="{9D8B030D-6E8A-4147-A177-3AD203B41FA5}">
                      <a16:colId xmlns:a16="http://schemas.microsoft.com/office/drawing/2014/main" val="4106362141"/>
                    </a:ext>
                  </a:extLst>
                </a:gridCol>
                <a:gridCol w="1401233">
                  <a:extLst>
                    <a:ext uri="{9D8B030D-6E8A-4147-A177-3AD203B41FA5}">
                      <a16:colId xmlns:a16="http://schemas.microsoft.com/office/drawing/2014/main" val="2762405046"/>
                    </a:ext>
                  </a:extLst>
                </a:gridCol>
                <a:gridCol w="1401233">
                  <a:extLst>
                    <a:ext uri="{9D8B030D-6E8A-4147-A177-3AD203B41FA5}">
                      <a16:colId xmlns:a16="http://schemas.microsoft.com/office/drawing/2014/main" val="1229696898"/>
                    </a:ext>
                  </a:extLst>
                </a:gridCol>
                <a:gridCol w="1401233">
                  <a:extLst>
                    <a:ext uri="{9D8B030D-6E8A-4147-A177-3AD203B41FA5}">
                      <a16:colId xmlns:a16="http://schemas.microsoft.com/office/drawing/2014/main" val="1444584099"/>
                    </a:ext>
                  </a:extLst>
                </a:gridCol>
                <a:gridCol w="1401233">
                  <a:extLst>
                    <a:ext uri="{9D8B030D-6E8A-4147-A177-3AD203B41FA5}">
                      <a16:colId xmlns:a16="http://schemas.microsoft.com/office/drawing/2014/main" val="2979753714"/>
                    </a:ext>
                  </a:extLst>
                </a:gridCol>
                <a:gridCol w="1401233">
                  <a:extLst>
                    <a:ext uri="{9D8B030D-6E8A-4147-A177-3AD203B41FA5}">
                      <a16:colId xmlns:a16="http://schemas.microsoft.com/office/drawing/2014/main" val="892043053"/>
                    </a:ext>
                  </a:extLst>
                </a:gridCol>
                <a:gridCol w="915990">
                  <a:extLst>
                    <a:ext uri="{9D8B030D-6E8A-4147-A177-3AD203B41FA5}">
                      <a16:colId xmlns:a16="http://schemas.microsoft.com/office/drawing/2014/main" val="492242960"/>
                    </a:ext>
                  </a:extLst>
                </a:gridCol>
                <a:gridCol w="485244">
                  <a:extLst>
                    <a:ext uri="{9D8B030D-6E8A-4147-A177-3AD203B41FA5}">
                      <a16:colId xmlns:a16="http://schemas.microsoft.com/office/drawing/2014/main" val="3013707271"/>
                    </a:ext>
                  </a:extLst>
                </a:gridCol>
              </a:tblGrid>
              <a:tr h="875705">
                <a:tc>
                  <a:txBody>
                    <a:bodyPr/>
                    <a:lstStyle/>
                    <a:p>
                      <a:pPr algn="ctr"/>
                      <a:r>
                        <a:rPr lang="ar-SA" sz="2000" dirty="0"/>
                        <a:t>الربط </a:t>
                      </a:r>
                      <a:r>
                        <a:rPr lang="ar-SA" sz="1600" dirty="0"/>
                        <a:t>(الهدف الاستراتيجي – الوضع المستقبلي)</a:t>
                      </a:r>
                    </a:p>
                  </a:txBody>
                  <a:tcPr anchor="ctr"/>
                </a:tc>
                <a:tc>
                  <a:txBody>
                    <a:bodyPr/>
                    <a:lstStyle/>
                    <a:p>
                      <a:pPr algn="ctr"/>
                      <a:r>
                        <a:rPr lang="ar-SA" sz="2000" dirty="0"/>
                        <a:t>أولوية</a:t>
                      </a:r>
                    </a:p>
                    <a:p>
                      <a:pPr algn="ctr"/>
                      <a:r>
                        <a:rPr lang="ar-SA" sz="2000" dirty="0"/>
                        <a:t>التنفيذ</a:t>
                      </a:r>
                      <a:endParaRPr lang="en-US" sz="2000" dirty="0"/>
                    </a:p>
                  </a:txBody>
                  <a:tcPr anchor="ctr"/>
                </a:tc>
                <a:tc>
                  <a:txBody>
                    <a:bodyPr/>
                    <a:lstStyle/>
                    <a:p>
                      <a:pPr algn="ctr"/>
                      <a:r>
                        <a:rPr lang="ar-SA" sz="2000" dirty="0"/>
                        <a:t>حالة المتطلب</a:t>
                      </a:r>
                      <a:endParaRPr lang="en-US" sz="2000" dirty="0"/>
                    </a:p>
                  </a:txBody>
                  <a:tcPr anchor="ctr"/>
                </a:tc>
                <a:tc>
                  <a:txBody>
                    <a:bodyPr/>
                    <a:lstStyle/>
                    <a:p>
                      <a:pPr algn="ctr"/>
                      <a:r>
                        <a:rPr lang="ar-EG" sz="2000" dirty="0"/>
                        <a:t>المتطلبات ذات</a:t>
                      </a:r>
                    </a:p>
                    <a:p>
                      <a:pPr algn="ctr"/>
                      <a:r>
                        <a:rPr lang="ar-EG" sz="2000" dirty="0"/>
                        <a:t>العلاقة</a:t>
                      </a:r>
                      <a:endParaRPr lang="en-US" sz="2000" dirty="0"/>
                    </a:p>
                  </a:txBody>
                  <a:tcPr anchor="ctr"/>
                </a:tc>
                <a:tc>
                  <a:txBody>
                    <a:bodyPr/>
                    <a:lstStyle/>
                    <a:p>
                      <a:pPr algn="ctr"/>
                      <a:r>
                        <a:rPr lang="ar-EG" sz="2000" dirty="0"/>
                        <a:t>المجالات المتأثرة</a:t>
                      </a:r>
                    </a:p>
                    <a:p>
                      <a:pPr algn="ctr"/>
                      <a:r>
                        <a:rPr lang="ar-EG" sz="2000" dirty="0"/>
                        <a:t>بالمتطلب</a:t>
                      </a:r>
                      <a:endParaRPr lang="en-US" sz="2000" dirty="0"/>
                    </a:p>
                  </a:txBody>
                  <a:tcPr anchor="ctr"/>
                </a:tc>
                <a:tc>
                  <a:txBody>
                    <a:bodyPr/>
                    <a:lstStyle/>
                    <a:p>
                      <a:pPr algn="ctr"/>
                      <a:r>
                        <a:rPr lang="ar-EG" sz="2000" dirty="0"/>
                        <a:t>مجال</a:t>
                      </a:r>
                    </a:p>
                    <a:p>
                      <a:pPr algn="ctr"/>
                      <a:r>
                        <a:rPr lang="ar-EG" sz="2000" dirty="0"/>
                        <a:t>المتطلب</a:t>
                      </a:r>
                      <a:endParaRPr lang="en-US" sz="2000" dirty="0"/>
                    </a:p>
                  </a:txBody>
                  <a:tcPr anchor="ctr"/>
                </a:tc>
                <a:tc>
                  <a:txBody>
                    <a:bodyPr/>
                    <a:lstStyle/>
                    <a:p>
                      <a:pPr algn="ctr"/>
                      <a:r>
                        <a:rPr lang="ar-SA" sz="2000" dirty="0"/>
                        <a:t>مصدر</a:t>
                      </a:r>
                    </a:p>
                    <a:p>
                      <a:pPr algn="ctr"/>
                      <a:r>
                        <a:rPr lang="ar-SA" sz="2000" dirty="0"/>
                        <a:t>المتطلب</a:t>
                      </a:r>
                      <a:endParaRPr lang="en-US" sz="2000" dirty="0"/>
                    </a:p>
                  </a:txBody>
                  <a:tcPr anchor="ctr"/>
                </a:tc>
                <a:tc>
                  <a:txBody>
                    <a:bodyPr/>
                    <a:lstStyle/>
                    <a:p>
                      <a:pPr algn="ctr"/>
                      <a:r>
                        <a:rPr lang="ar-SA" sz="2000" dirty="0"/>
                        <a:t>رمز</a:t>
                      </a:r>
                    </a:p>
                    <a:p>
                      <a:pPr algn="ctr"/>
                      <a:r>
                        <a:rPr lang="ar-SA" sz="2000" dirty="0"/>
                        <a:t>المتطلب</a:t>
                      </a:r>
                      <a:endParaRPr lang="en-US" sz="2000" dirty="0"/>
                    </a:p>
                  </a:txBody>
                  <a:tcPr anchor="ctr"/>
                </a:tc>
                <a:tc>
                  <a:txBody>
                    <a:bodyPr/>
                    <a:lstStyle/>
                    <a:p>
                      <a:pPr algn="ctr"/>
                      <a:r>
                        <a:rPr lang="en-US" sz="2000" dirty="0"/>
                        <a:t>#</a:t>
                      </a:r>
                    </a:p>
                  </a:txBody>
                  <a:tcPr anchor="ctr"/>
                </a:tc>
                <a:extLst>
                  <a:ext uri="{0D108BD9-81ED-4DB2-BD59-A6C34878D82A}">
                    <a16:rowId xmlns:a16="http://schemas.microsoft.com/office/drawing/2014/main" val="3617136848"/>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نظام متخصص للجودة يساعد في بناء وتحديث وتطوير الإجراءات المتعلقة بأعمال الجودة</a:t>
                      </a: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b"/>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AR17</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041</a:t>
                      </a:r>
                    </a:p>
                  </a:txBody>
                  <a:tcPr marL="0" marR="0" marT="0" marB="0" anchor="ctr"/>
                </a:tc>
                <a:extLst>
                  <a:ext uri="{0D108BD9-81ED-4DB2-BD59-A6C34878D82A}">
                    <a16:rowId xmlns:a16="http://schemas.microsoft.com/office/drawing/2014/main" val="180313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EAG03 - EAG05</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متدني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AR18</a:t>
                      </a: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تطبيقات - 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1288833752"/>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تكامل النظام الجديد مع الأنظمة الحالية لضمان تدفق المعلومات وتحقيق الجودة الشاملة</a:t>
                      </a: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AR18</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042</a:t>
                      </a:r>
                    </a:p>
                  </a:txBody>
                  <a:tcPr marL="0" marR="0" marT="0" marB="0" anchor="ctr">
                    <a:solidFill>
                      <a:srgbClr val="E9E8EE"/>
                    </a:solidFill>
                  </a:tcPr>
                </a:tc>
                <a:extLst>
                  <a:ext uri="{0D108BD9-81ED-4DB2-BD59-A6C34878D82A}">
                    <a16:rowId xmlns:a16="http://schemas.microsoft.com/office/drawing/2014/main" val="30067911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EAG02 -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متدني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AR17</a:t>
                      </a:r>
                    </a:p>
                  </a:txBody>
                  <a:tcPr marL="7620" marR="7620" marT="762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تطبيقات - 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vMerge="1">
                  <a:txBody>
                    <a:bodyPr/>
                    <a:lstStyle/>
                    <a:p>
                      <a:endParaRPr lang="en-US"/>
                    </a:p>
                  </a:txBody>
                  <a:tcPr/>
                </a:tc>
                <a:extLst>
                  <a:ext uri="{0D108BD9-81ED-4DB2-BD59-A6C34878D82A}">
                    <a16:rowId xmlns:a16="http://schemas.microsoft.com/office/drawing/2014/main" val="1976179613"/>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وتعزيز وظيفة إدارة المعرفة في الهيئة لتشمل جميع الأقسام والإدارات</a:t>
                      </a: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BR1</a:t>
                      </a:r>
                      <a:r>
                        <a:rPr lang="ar-EG" sz="2000" b="1" i="0" u="none" strike="noStrike" dirty="0">
                          <a:solidFill>
                            <a:srgbClr val="000000"/>
                          </a:solidFill>
                          <a:effectLst/>
                          <a:latin typeface="Sakkal Majalla" panose="02000000000000000000" pitchFamily="2" charset="-78"/>
                          <a:cs typeface="Sakkal Majalla" panose="02000000000000000000" pitchFamily="2" charset="-78"/>
                        </a:rPr>
                        <a:t>9</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043</a:t>
                      </a:r>
                    </a:p>
                  </a:txBody>
                  <a:tcPr marL="0" marR="0" marT="0" marB="0" anchor="ctr"/>
                </a:tc>
                <a:extLst>
                  <a:ext uri="{0D108BD9-81ED-4DB2-BD59-A6C34878D82A}">
                    <a16:rowId xmlns:a16="http://schemas.microsoft.com/office/drawing/2014/main" val="1965755369"/>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EAG04 - EAG05</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متدني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AR19</a:t>
                      </a: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920826566"/>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اعتماد أدوات وتقنيات متقدمة لإدارة المعرفة تتيح تخزين واسترجاع وتبادل المعرفة بفعالية</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AR1</a:t>
                      </a:r>
                      <a:r>
                        <a:rPr lang="ar-EG" sz="2000" b="1" i="0" u="none" strike="noStrike" dirty="0">
                          <a:solidFill>
                            <a:srgbClr val="000000"/>
                          </a:solidFill>
                          <a:effectLst/>
                          <a:latin typeface="Sakkal Majalla" panose="02000000000000000000" pitchFamily="2" charset="-78"/>
                          <a:cs typeface="Sakkal Majalla" panose="02000000000000000000" pitchFamily="2" charset="-78"/>
                        </a:rPr>
                        <a:t>9</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044</a:t>
                      </a:r>
                    </a:p>
                  </a:txBody>
                  <a:tcPr marL="0" marR="0" marT="0" marB="0" anchor="ctr">
                    <a:solidFill>
                      <a:srgbClr val="E9E8EE"/>
                    </a:solidFill>
                  </a:tcPr>
                </a:tc>
                <a:extLst>
                  <a:ext uri="{0D108BD9-81ED-4DB2-BD59-A6C34878D82A}">
                    <a16:rowId xmlns:a16="http://schemas.microsoft.com/office/drawing/2014/main" val="48894551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EAG02 -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متدني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E9E8EE"/>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BR19</a:t>
                      </a:r>
                    </a:p>
                  </a:txBody>
                  <a:tcPr marL="7620" marR="7620" marT="7620" marB="0" anchor="ctr">
                    <a:solidFill>
                      <a:srgbClr val="E9E8EE"/>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جميع المجالات</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E9E8EE"/>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vMerge="1">
                  <a:txBody>
                    <a:bodyPr/>
                    <a:lstStyle/>
                    <a:p>
                      <a:endParaRPr lang="en-US"/>
                    </a:p>
                  </a:txBody>
                  <a:tcPr/>
                </a:tc>
                <a:extLst>
                  <a:ext uri="{0D108BD9-81ED-4DB2-BD59-A6C34878D82A}">
                    <a16:rowId xmlns:a16="http://schemas.microsoft.com/office/drawing/2014/main" val="1430913029"/>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تطوير وتطبيق سياسات وإجراءات موحدة لإدارة المشاريع التقنية ومكتب إدارة المشاريع</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algn="ctr" defTabSz="914400" rtl="1" eaLnBrk="1" fontAlgn="ctr" latinLnBrk="0" hangingPunct="1">
                        <a:buFontTx/>
                        <a:buNone/>
                      </a:pPr>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hMerge="1">
                  <a:txBody>
                    <a:bodyPr/>
                    <a:lstStyle/>
                    <a:p>
                      <a:pPr marL="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BR</a:t>
                      </a:r>
                      <a:r>
                        <a:rPr lang="ar-EG" sz="2000" b="1" i="0" u="none" strike="noStrike" dirty="0">
                          <a:solidFill>
                            <a:srgbClr val="000000"/>
                          </a:solidFill>
                          <a:effectLst/>
                          <a:latin typeface="Sakkal Majalla" panose="02000000000000000000" pitchFamily="2" charset="-78"/>
                          <a:cs typeface="Sakkal Majalla" panose="02000000000000000000" pitchFamily="2" charset="-78"/>
                        </a:rPr>
                        <a:t>20</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045</a:t>
                      </a:r>
                    </a:p>
                  </a:txBody>
                  <a:tcPr marL="0" marR="0" marT="0" marB="0" anchor="ctr">
                    <a:solidFill>
                      <a:srgbClr val="D0CEDB"/>
                    </a:solidFill>
                  </a:tcPr>
                </a:tc>
                <a:extLst>
                  <a:ext uri="{0D108BD9-81ED-4DB2-BD59-A6C34878D82A}">
                    <a16:rowId xmlns:a16="http://schemas.microsoft.com/office/drawing/2014/main" val="3429377612"/>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EAG03 - EAG04</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AR20</a:t>
                      </a: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D0CEDB"/>
                    </a:solidFill>
                  </a:tcPr>
                </a:tc>
                <a:tc vMerge="1">
                  <a:txBody>
                    <a:bodyPr/>
                    <a:lstStyle/>
                    <a:p>
                      <a:pPr algn="ctr" rtl="0" fontAlgn="ctr">
                        <a:buFontTx/>
                        <a:buNone/>
                      </a:pP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664299992"/>
                  </a:ext>
                </a:extLst>
              </a:tr>
            </a:tbl>
          </a:graphicData>
        </a:graphic>
      </p:graphicFrame>
    </p:spTree>
    <p:extLst>
      <p:ext uri="{BB962C8B-B14F-4D97-AF65-F5344CB8AC3E}">
        <p14:creationId xmlns:p14="http://schemas.microsoft.com/office/powerpoint/2010/main" val="39033221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29</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سجل متطلبات البنية المؤسسية (</a:t>
            </a:r>
            <a:r>
              <a:rPr lang="en-US" dirty="0"/>
              <a:t>10/10</a:t>
            </a:r>
            <a:r>
              <a:rPr lang="ar-EG" dirty="0"/>
              <a:t>)</a:t>
            </a:r>
            <a:endParaRPr lang="en-US" dirty="0"/>
          </a:p>
        </p:txBody>
      </p:sp>
      <p:graphicFrame>
        <p:nvGraphicFramePr>
          <p:cNvPr id="3" name="Table 4">
            <a:extLst>
              <a:ext uri="{FF2B5EF4-FFF2-40B4-BE49-F238E27FC236}">
                <a16:creationId xmlns:a16="http://schemas.microsoft.com/office/drawing/2014/main" id="{8334871D-8AB1-846D-C666-4AEC2EDDE634}"/>
              </a:ext>
            </a:extLst>
          </p:cNvPr>
          <p:cNvGraphicFramePr>
            <a:graphicFrameLocks noGrp="1"/>
          </p:cNvGraphicFramePr>
          <p:nvPr>
            <p:extLst>
              <p:ext uri="{D42A27DB-BD31-4B8C-83A1-F6EECF244321}">
                <p14:modId xmlns:p14="http://schemas.microsoft.com/office/powerpoint/2010/main" val="3946401672"/>
              </p:ext>
            </p:extLst>
          </p:nvPr>
        </p:nvGraphicFramePr>
        <p:xfrm>
          <a:off x="491067" y="1047592"/>
          <a:ext cx="11209865" cy="5051540"/>
        </p:xfrm>
        <a:graphic>
          <a:graphicData uri="http://schemas.openxmlformats.org/drawingml/2006/table">
            <a:tbl>
              <a:tblPr firstRow="1" bandRow="1">
                <a:tableStyleId>{5C22544A-7EE6-4342-B048-85BDC9FD1C3A}</a:tableStyleId>
              </a:tblPr>
              <a:tblGrid>
                <a:gridCol w="1401233">
                  <a:extLst>
                    <a:ext uri="{9D8B030D-6E8A-4147-A177-3AD203B41FA5}">
                      <a16:colId xmlns:a16="http://schemas.microsoft.com/office/drawing/2014/main" val="2401468592"/>
                    </a:ext>
                  </a:extLst>
                </a:gridCol>
                <a:gridCol w="1401233">
                  <a:extLst>
                    <a:ext uri="{9D8B030D-6E8A-4147-A177-3AD203B41FA5}">
                      <a16:colId xmlns:a16="http://schemas.microsoft.com/office/drawing/2014/main" val="4106362141"/>
                    </a:ext>
                  </a:extLst>
                </a:gridCol>
                <a:gridCol w="1401233">
                  <a:extLst>
                    <a:ext uri="{9D8B030D-6E8A-4147-A177-3AD203B41FA5}">
                      <a16:colId xmlns:a16="http://schemas.microsoft.com/office/drawing/2014/main" val="2762405046"/>
                    </a:ext>
                  </a:extLst>
                </a:gridCol>
                <a:gridCol w="1401233">
                  <a:extLst>
                    <a:ext uri="{9D8B030D-6E8A-4147-A177-3AD203B41FA5}">
                      <a16:colId xmlns:a16="http://schemas.microsoft.com/office/drawing/2014/main" val="1229696898"/>
                    </a:ext>
                  </a:extLst>
                </a:gridCol>
                <a:gridCol w="1401233">
                  <a:extLst>
                    <a:ext uri="{9D8B030D-6E8A-4147-A177-3AD203B41FA5}">
                      <a16:colId xmlns:a16="http://schemas.microsoft.com/office/drawing/2014/main" val="1444584099"/>
                    </a:ext>
                  </a:extLst>
                </a:gridCol>
                <a:gridCol w="1401233">
                  <a:extLst>
                    <a:ext uri="{9D8B030D-6E8A-4147-A177-3AD203B41FA5}">
                      <a16:colId xmlns:a16="http://schemas.microsoft.com/office/drawing/2014/main" val="2979753714"/>
                    </a:ext>
                  </a:extLst>
                </a:gridCol>
                <a:gridCol w="1401233">
                  <a:extLst>
                    <a:ext uri="{9D8B030D-6E8A-4147-A177-3AD203B41FA5}">
                      <a16:colId xmlns:a16="http://schemas.microsoft.com/office/drawing/2014/main" val="892043053"/>
                    </a:ext>
                  </a:extLst>
                </a:gridCol>
                <a:gridCol w="915990">
                  <a:extLst>
                    <a:ext uri="{9D8B030D-6E8A-4147-A177-3AD203B41FA5}">
                      <a16:colId xmlns:a16="http://schemas.microsoft.com/office/drawing/2014/main" val="492242960"/>
                    </a:ext>
                  </a:extLst>
                </a:gridCol>
                <a:gridCol w="485244">
                  <a:extLst>
                    <a:ext uri="{9D8B030D-6E8A-4147-A177-3AD203B41FA5}">
                      <a16:colId xmlns:a16="http://schemas.microsoft.com/office/drawing/2014/main" val="3013707271"/>
                    </a:ext>
                  </a:extLst>
                </a:gridCol>
              </a:tblGrid>
              <a:tr h="875705">
                <a:tc>
                  <a:txBody>
                    <a:bodyPr/>
                    <a:lstStyle/>
                    <a:p>
                      <a:pPr algn="ctr"/>
                      <a:r>
                        <a:rPr lang="ar-SA" sz="2000" dirty="0"/>
                        <a:t>الربط </a:t>
                      </a:r>
                      <a:r>
                        <a:rPr lang="ar-SA" sz="1600" dirty="0"/>
                        <a:t>(الهدف الاستراتيجي – الوضع المستقبلي)</a:t>
                      </a:r>
                    </a:p>
                  </a:txBody>
                  <a:tcPr anchor="ctr"/>
                </a:tc>
                <a:tc>
                  <a:txBody>
                    <a:bodyPr/>
                    <a:lstStyle/>
                    <a:p>
                      <a:pPr algn="ctr"/>
                      <a:r>
                        <a:rPr lang="ar-SA" sz="2000" dirty="0"/>
                        <a:t>أولوية</a:t>
                      </a:r>
                    </a:p>
                    <a:p>
                      <a:pPr algn="ctr"/>
                      <a:r>
                        <a:rPr lang="ar-SA" sz="2000" dirty="0"/>
                        <a:t>التنفيذ</a:t>
                      </a:r>
                      <a:endParaRPr lang="en-US" sz="2000" dirty="0"/>
                    </a:p>
                  </a:txBody>
                  <a:tcPr anchor="ctr"/>
                </a:tc>
                <a:tc>
                  <a:txBody>
                    <a:bodyPr/>
                    <a:lstStyle/>
                    <a:p>
                      <a:pPr algn="ctr"/>
                      <a:r>
                        <a:rPr lang="ar-SA" sz="2000" dirty="0"/>
                        <a:t>حالة المتطلب</a:t>
                      </a:r>
                      <a:endParaRPr lang="en-US" sz="2000" dirty="0"/>
                    </a:p>
                  </a:txBody>
                  <a:tcPr anchor="ctr"/>
                </a:tc>
                <a:tc>
                  <a:txBody>
                    <a:bodyPr/>
                    <a:lstStyle/>
                    <a:p>
                      <a:pPr algn="ctr"/>
                      <a:r>
                        <a:rPr lang="ar-EG" sz="2000" dirty="0"/>
                        <a:t>المتطلبات ذات</a:t>
                      </a:r>
                    </a:p>
                    <a:p>
                      <a:pPr algn="ctr"/>
                      <a:r>
                        <a:rPr lang="ar-EG" sz="2000" dirty="0"/>
                        <a:t>العلاقة</a:t>
                      </a:r>
                      <a:endParaRPr lang="en-US" sz="2000" dirty="0"/>
                    </a:p>
                  </a:txBody>
                  <a:tcPr anchor="ctr"/>
                </a:tc>
                <a:tc>
                  <a:txBody>
                    <a:bodyPr/>
                    <a:lstStyle/>
                    <a:p>
                      <a:pPr algn="ctr"/>
                      <a:r>
                        <a:rPr lang="ar-EG" sz="2000" dirty="0"/>
                        <a:t>المجالات المتأثرة</a:t>
                      </a:r>
                    </a:p>
                    <a:p>
                      <a:pPr algn="ctr"/>
                      <a:r>
                        <a:rPr lang="ar-EG" sz="2000" dirty="0"/>
                        <a:t>بالمتطلب</a:t>
                      </a:r>
                      <a:endParaRPr lang="en-US" sz="2000" dirty="0"/>
                    </a:p>
                  </a:txBody>
                  <a:tcPr anchor="ctr"/>
                </a:tc>
                <a:tc>
                  <a:txBody>
                    <a:bodyPr/>
                    <a:lstStyle/>
                    <a:p>
                      <a:pPr algn="ctr"/>
                      <a:r>
                        <a:rPr lang="ar-EG" sz="2000" dirty="0"/>
                        <a:t>مجال</a:t>
                      </a:r>
                    </a:p>
                    <a:p>
                      <a:pPr algn="ctr"/>
                      <a:r>
                        <a:rPr lang="ar-EG" sz="2000" dirty="0"/>
                        <a:t>المتطلب</a:t>
                      </a:r>
                      <a:endParaRPr lang="en-US" sz="2000" dirty="0"/>
                    </a:p>
                  </a:txBody>
                  <a:tcPr anchor="ctr"/>
                </a:tc>
                <a:tc>
                  <a:txBody>
                    <a:bodyPr/>
                    <a:lstStyle/>
                    <a:p>
                      <a:pPr algn="ctr"/>
                      <a:r>
                        <a:rPr lang="ar-SA" sz="2000" dirty="0"/>
                        <a:t>مصدر</a:t>
                      </a:r>
                    </a:p>
                    <a:p>
                      <a:pPr algn="ctr"/>
                      <a:r>
                        <a:rPr lang="ar-SA" sz="2000" dirty="0"/>
                        <a:t>المتطلب</a:t>
                      </a:r>
                      <a:endParaRPr lang="en-US" sz="2000" dirty="0"/>
                    </a:p>
                  </a:txBody>
                  <a:tcPr anchor="ctr"/>
                </a:tc>
                <a:tc>
                  <a:txBody>
                    <a:bodyPr/>
                    <a:lstStyle/>
                    <a:p>
                      <a:pPr algn="ctr"/>
                      <a:r>
                        <a:rPr lang="ar-SA" sz="2000" dirty="0"/>
                        <a:t>رمز</a:t>
                      </a:r>
                    </a:p>
                    <a:p>
                      <a:pPr algn="ctr"/>
                      <a:r>
                        <a:rPr lang="ar-SA" sz="2000" dirty="0"/>
                        <a:t>المتطلب</a:t>
                      </a:r>
                      <a:endParaRPr lang="en-US" sz="2000" dirty="0"/>
                    </a:p>
                  </a:txBody>
                  <a:tcPr anchor="ctr"/>
                </a:tc>
                <a:tc>
                  <a:txBody>
                    <a:bodyPr/>
                    <a:lstStyle/>
                    <a:p>
                      <a:pPr algn="ctr"/>
                      <a:r>
                        <a:rPr lang="en-US" sz="2000" dirty="0"/>
                        <a:t>#</a:t>
                      </a:r>
                    </a:p>
                  </a:txBody>
                  <a:tcPr anchor="ctr"/>
                </a:tc>
                <a:extLst>
                  <a:ext uri="{0D108BD9-81ED-4DB2-BD59-A6C34878D82A}">
                    <a16:rowId xmlns:a16="http://schemas.microsoft.com/office/drawing/2014/main" val="3617136848"/>
                  </a:ext>
                </a:extLst>
              </a:tr>
              <a:tr h="416762">
                <a:tc gridSpan="7">
                  <a:txBody>
                    <a:bodyPr/>
                    <a:lstStyle/>
                    <a:p>
                      <a:pPr marL="0" indent="0" algn="r" defTabSz="914400" rtl="1" eaLnBrk="1" fontAlgn="ctr" latinLnBrk="0" hangingPunct="1">
                        <a:buFontTx/>
                        <a:buNone/>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إنشاء نظام مركزي لإدارة المشاريع يتيح تعبئة النماذج مرة واحدة ومشاركتها عبر الإدارات</a:t>
                      </a: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b"/>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AR20</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046</a:t>
                      </a:r>
                    </a:p>
                  </a:txBody>
                  <a:tcPr marL="0" marR="0" marT="0" marB="0" anchor="ctr"/>
                </a:tc>
                <a:extLst>
                  <a:ext uri="{0D108BD9-81ED-4DB2-BD59-A6C34878D82A}">
                    <a16:rowId xmlns:a16="http://schemas.microsoft.com/office/drawing/2014/main" val="180313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EAG02 - 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متوسط</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solidFill>
                      <a:srgbClr val="D0CEDB"/>
                    </a:solidFill>
                  </a:tcPr>
                </a:tc>
                <a:tc>
                  <a:txBody>
                    <a:bodyPr/>
                    <a:lstStyle/>
                    <a:p>
                      <a:pPr marL="0" indent="0" algn="ctr" defTabSz="914400" rtl="1" eaLnBrk="1" fontAlgn="ctr" latinLnBrk="0" hangingPunct="1">
                        <a:buFontTx/>
                        <a:buNone/>
                      </a:pPr>
                      <a:r>
                        <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BR20</a:t>
                      </a: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تطبيقات - أعمال</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الأعمال</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أخصائي </a:t>
                      </a: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الجودة للأعمال</a:t>
                      </a:r>
                    </a:p>
                  </a:txBody>
                  <a:tcPr marL="9525" marR="9525" marT="9525"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1288833752"/>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الإسراع في تنفيذ نظام وفرة دائم</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a:t>
                      </a:r>
                      <a:r>
                        <a:rPr lang="en-US"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Redundancy</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على مختلف طبقات الشبكة  </a:t>
                      </a:r>
                      <a:r>
                        <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في البرج الجديد</a:t>
                      </a:r>
                      <a:r>
                        <a:rPr lang="ar-EG" sz="1800" b="1" i="0" u="none" strike="noStrike" kern="1200" dirty="0">
                          <a:solidFill>
                            <a:srgbClr val="000000"/>
                          </a:solidFill>
                          <a:effectLst/>
                          <a:latin typeface="Sakkal Majalla" panose="02000000000000000000" pitchFamily="2" charset="-78"/>
                          <a:ea typeface="+mn-ea"/>
                          <a:cs typeface="Sakkal Majalla" panose="02000000000000000000" pitchFamily="2" charset="-78"/>
                        </a:rPr>
                        <a:t> لضمان استمرارية الخدمات</a:t>
                      </a: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2000" b="1" i="0" u="none" strike="noStrike" dirty="0">
                          <a:solidFill>
                            <a:srgbClr val="000000"/>
                          </a:solidFill>
                          <a:effectLst/>
                          <a:latin typeface="Sakkal Majalla" panose="02000000000000000000" pitchFamily="2" charset="-78"/>
                          <a:cs typeface="Sakkal Majalla" panose="02000000000000000000" pitchFamily="2" charset="-78"/>
                        </a:rPr>
                        <a:t>TR04</a:t>
                      </a: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047</a:t>
                      </a:r>
                    </a:p>
                  </a:txBody>
                  <a:tcPr marL="0" marR="0" marT="0" marB="0" anchor="ctr">
                    <a:solidFill>
                      <a:srgbClr val="E9E8EE"/>
                    </a:solidFill>
                  </a:tcPr>
                </a:tc>
                <a:extLst>
                  <a:ext uri="{0D108BD9-81ED-4DB2-BD59-A6C34878D82A}">
                    <a16:rowId xmlns:a16="http://schemas.microsoft.com/office/drawing/2014/main" val="300679112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en-US" sz="1400" b="0" i="0" u="none" strike="noStrike" kern="1200">
                          <a:solidFill>
                            <a:srgbClr val="000000"/>
                          </a:solidFill>
                          <a:effectLst/>
                          <a:latin typeface="Sakkal Majalla" panose="02000000000000000000" pitchFamily="2" charset="-78"/>
                          <a:ea typeface="+mn-ea"/>
                          <a:cs typeface="Sakkal Majalla" panose="02000000000000000000" pitchFamily="2" charset="-78"/>
                        </a:rPr>
                        <a:t>EAG03</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عالي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indent="0" algn="ctr" defTabSz="914400" rtl="1" eaLnBrk="1" fontAlgn="ctr" latinLnBrk="0" hangingPunct="1">
                        <a:buFontTx/>
                        <a:buNone/>
                      </a:pPr>
                      <a:r>
                        <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جديد</a:t>
                      </a:r>
                    </a:p>
                  </a:txBody>
                  <a:tcPr marL="7620" marR="7620" marT="7620" marB="0" anchor="ct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تقنية</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التقنية</a:t>
                      </a: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a:txBody>
                    <a:bodyPr/>
                    <a:lstStyle/>
                    <a:p>
                      <a:pPr marL="0" algn="ctr" defTabSz="914400" rtl="1" eaLnBrk="1" fontAlgn="ctr" latinLnBrk="0" hangingPunct="1">
                        <a:buFontTx/>
                        <a:buNone/>
                      </a:pPr>
                      <a:r>
                        <a:rPr lang="ar-EG" sz="1400" b="0" i="0" u="none" strike="noStrike" kern="1200" dirty="0">
                          <a:solidFill>
                            <a:srgbClr val="000000"/>
                          </a:solidFill>
                          <a:effectLst/>
                          <a:latin typeface="Sakkal Majalla" panose="02000000000000000000" pitchFamily="2" charset="-78"/>
                          <a:ea typeface="+mn-ea"/>
                          <a:cs typeface="Sakkal Majalla" panose="02000000000000000000" pitchFamily="2" charset="-78"/>
                        </a:rPr>
                        <a:t>التحليل الرباعي</a:t>
                      </a: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ct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vMerge="1">
                  <a:txBody>
                    <a:bodyPr/>
                    <a:lstStyle/>
                    <a:p>
                      <a:endParaRPr lang="en-US"/>
                    </a:p>
                  </a:txBody>
                  <a:tcPr/>
                </a:tc>
                <a:extLst>
                  <a:ext uri="{0D108BD9-81ED-4DB2-BD59-A6C34878D82A}">
                    <a16:rowId xmlns:a16="http://schemas.microsoft.com/office/drawing/2014/main" val="1976179613"/>
                  </a:ext>
                </a:extLst>
              </a:tr>
              <a:tr h="416762">
                <a:tc gridSpan="7">
                  <a:txBody>
                    <a:bodyPr/>
                    <a:lstStyle/>
                    <a:p>
                      <a:pPr marL="0" indent="0" algn="r" defTabSz="914400" rtl="1" eaLnBrk="1" fontAlgn="ctr" latinLnBrk="0" hangingPunct="1">
                        <a:buFontTx/>
                        <a:buNone/>
                      </a:pPr>
                      <a:endParaRPr lang="ar-SA" sz="1800" b="1"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18288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048</a:t>
                      </a:r>
                    </a:p>
                  </a:txBody>
                  <a:tcPr marL="0" marR="0" marT="0" marB="0" anchor="ctr"/>
                </a:tc>
                <a:extLst>
                  <a:ext uri="{0D108BD9-81ED-4DB2-BD59-A6C34878D82A}">
                    <a16:rowId xmlns:a16="http://schemas.microsoft.com/office/drawing/2014/main" val="1965755369"/>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ctr">
                    <a:solidFill>
                      <a:srgbClr val="D0CEDB"/>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920826566"/>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indent="-117475" algn="r" defTabSz="914400" rtl="1" eaLnBrk="1" fontAlgn="ctr" latinLnBrk="0" hangingPunct="1">
                        <a:buFont typeface="Arial" panose="020B0604020202020204" pitchFamily="34" charset="0"/>
                        <a:buChar char="•"/>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hMerge="1">
                  <a:txBody>
                    <a:bodyPr/>
                    <a:lstStyle/>
                    <a:p>
                      <a:pPr marL="0" algn="ctr" defTabSz="914400" rtl="1" eaLnBrk="1" fontAlgn="ctr" latinLnBrk="0" hangingPunct="1"/>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hMerge="1">
                  <a:txBody>
                    <a:bodyPr/>
                    <a:lstStyle/>
                    <a:p>
                      <a:pPr marL="0" algn="r" defTabSz="914400" rtl="1" eaLnBrk="1" fontAlgn="ctr" latinLnBrk="0" hangingPunct="1"/>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rowSpan="2">
                  <a:txBody>
                    <a:bodyPr/>
                    <a:lstStyle/>
                    <a:p>
                      <a:pPr algn="ctr" rtl="0" fontAlgn="ctr">
                        <a:buFontTx/>
                        <a:buNone/>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049</a:t>
                      </a:r>
                    </a:p>
                  </a:txBody>
                  <a:tcPr marL="0" marR="0" marT="0" marB="0" anchor="ctr">
                    <a:solidFill>
                      <a:srgbClr val="E9E8EE"/>
                    </a:solidFill>
                  </a:tcPr>
                </a:tc>
                <a:extLst>
                  <a:ext uri="{0D108BD9-81ED-4DB2-BD59-A6C34878D82A}">
                    <a16:rowId xmlns:a16="http://schemas.microsoft.com/office/drawing/2014/main" val="488945515"/>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indent="0" algn="ctr" defTabSz="914400" rtl="1" eaLnBrk="1" fontAlgn="ctr" latinLnBrk="0" hangingPunct="1">
                        <a:buFontTx/>
                        <a:buNone/>
                      </a:pP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E9E8EE"/>
                    </a:solidFill>
                  </a:tcPr>
                </a:tc>
                <a:tc>
                  <a:txBody>
                    <a:bodyPr/>
                    <a:lstStyle/>
                    <a:p>
                      <a:pPr marL="0" algn="ctr" defTabSz="914400" rtl="1" eaLnBrk="1" fontAlgn="ctr" latinLnBrk="0" hangingPunct="1">
                        <a:buFontTx/>
                        <a:buNone/>
                      </a:pP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E9E8EE"/>
                    </a:solidFill>
                  </a:tcPr>
                </a:tc>
                <a:tc>
                  <a:txBody>
                    <a:bodyPr/>
                    <a:lstStyle/>
                    <a:p>
                      <a:pPr marL="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ctr">
                    <a:solidFill>
                      <a:srgbClr val="E9E8EE"/>
                    </a:solidFill>
                  </a:tcPr>
                </a:tc>
                <a:tc vMerge="1">
                  <a:txBody>
                    <a:bodyPr/>
                    <a:lstStyle/>
                    <a:p>
                      <a:pPr algn="ctr" rtl="0" fontAlgn="ct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E9E8EE"/>
                    </a:solidFill>
                  </a:tcPr>
                </a:tc>
                <a:tc vMerge="1">
                  <a:txBody>
                    <a:bodyPr/>
                    <a:lstStyle/>
                    <a:p>
                      <a:endParaRPr lang="en-US"/>
                    </a:p>
                  </a:txBody>
                  <a:tcPr/>
                </a:tc>
                <a:extLst>
                  <a:ext uri="{0D108BD9-81ED-4DB2-BD59-A6C34878D82A}">
                    <a16:rowId xmlns:a16="http://schemas.microsoft.com/office/drawing/2014/main" val="1430913029"/>
                  </a:ext>
                </a:extLst>
              </a:tr>
              <a:tr h="416762">
                <a:tc gridSpan="7">
                  <a:txBody>
                    <a:bodyPr/>
                    <a:lstStyle/>
                    <a:p>
                      <a:pPr marL="0" marR="0" lvl="0" indent="0" algn="r" defTabSz="914400" rtl="1" eaLnBrk="1" fontAlgn="ctr" latinLnBrk="0" hangingPunct="1">
                        <a:lnSpc>
                          <a:spcPct val="100000"/>
                        </a:lnSpc>
                        <a:spcBef>
                          <a:spcPts val="0"/>
                        </a:spcBef>
                        <a:spcAft>
                          <a:spcPts val="0"/>
                        </a:spcAft>
                        <a:buClrTx/>
                        <a:buSzTx/>
                        <a:buFontTx/>
                        <a:buNone/>
                        <a:tabLst/>
                        <a:defRPr/>
                      </a:pPr>
                      <a:endParaRPr lang="ar-SA" sz="1800" b="1" i="0" u="none" strike="noStrike" kern="1200" dirty="0">
                        <a:solidFill>
                          <a:srgbClr val="000000"/>
                        </a:solidFill>
                        <a:effectLst/>
                        <a:highlight>
                          <a:srgbClr val="FFFF00"/>
                        </a:highlight>
                        <a:latin typeface="Sakkal Majalla" panose="02000000000000000000" pitchFamily="2" charset="-78"/>
                        <a:ea typeface="+mn-ea"/>
                        <a:cs typeface="Sakkal Majalla" panose="02000000000000000000" pitchFamily="2" charset="-78"/>
                      </a:endParaRPr>
                    </a:p>
                  </a:txBody>
                  <a:tcPr marL="7620" marR="18288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indent="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hMerge="1">
                  <a:txBody>
                    <a:bodyPr/>
                    <a:lstStyle/>
                    <a:p>
                      <a:pPr marL="0" algn="ctr" defTabSz="914400" rtl="1" eaLnBrk="1" fontAlgn="ctr" latinLnBrk="0" hangingPunct="1">
                        <a:buFontTx/>
                        <a:buNone/>
                      </a:pPr>
                      <a:endParaRPr lang="en-US"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hMerge="1">
                  <a:txBody>
                    <a:bodyPr/>
                    <a:lstStyle/>
                    <a:p>
                      <a:pPr marL="0" algn="ctr" defTabSz="914400" rtl="1" eaLnBrk="1" fontAlgn="ctr" latinLnBrk="0" hangingPunct="1">
                        <a:buFontTx/>
                        <a:buNone/>
                      </a:pPr>
                      <a:endParaRPr lang="ar-SA" sz="13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20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Sakkal Majalla" panose="02000000000000000000" pitchFamily="2" charset="-78"/>
                          <a:cs typeface="Sakkal Majalla" panose="02000000000000000000" pitchFamily="2" charset="-78"/>
                        </a:rPr>
                        <a:t>050</a:t>
                      </a:r>
                    </a:p>
                  </a:txBody>
                  <a:tcPr marL="0" marR="0" marT="0" marB="0" anchor="ctr">
                    <a:solidFill>
                      <a:srgbClr val="D0CEDB"/>
                    </a:solidFill>
                  </a:tcPr>
                </a:tc>
                <a:extLst>
                  <a:ext uri="{0D108BD9-81ED-4DB2-BD59-A6C34878D82A}">
                    <a16:rowId xmlns:a16="http://schemas.microsoft.com/office/drawing/2014/main" val="3429377612"/>
                  </a:ext>
                </a:extLst>
              </a:tr>
              <a:tr h="416762">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indent="0" algn="ctr" defTabSz="914400" rtl="1" eaLnBrk="1" fontAlgn="ctr" latinLnBrk="0" hangingPunct="1">
                        <a:buFontTx/>
                        <a:buNone/>
                      </a:pP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7620" marR="7620" marT="7620" marB="0" anchor="ctr">
                    <a:solidFill>
                      <a:srgbClr val="D0CEDB"/>
                    </a:solidFill>
                  </a:tcPr>
                </a:tc>
                <a:tc>
                  <a:txBody>
                    <a:bodyPr/>
                    <a:lstStyle/>
                    <a:p>
                      <a:pPr marL="0" algn="ctr" defTabSz="914400" rtl="1" eaLnBrk="1" fontAlgn="ctr" latinLnBrk="0" hangingPunct="1">
                        <a:buFontTx/>
                        <a:buNone/>
                      </a:pPr>
                      <a:endParaRPr lang="en-US"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0" marR="0" marT="0" marB="0" anchor="ctr">
                    <a:solidFill>
                      <a:srgbClr val="D0CEDB"/>
                    </a:solidFill>
                  </a:tcPr>
                </a:tc>
                <a:tc>
                  <a:txBody>
                    <a:bodyPr/>
                    <a:lstStyle/>
                    <a:p>
                      <a:pPr marL="0" algn="ctr" defTabSz="914400" rtl="1" eaLnBrk="1" fontAlgn="ctr" latinLnBrk="0" hangingPunct="1">
                        <a:buFontTx/>
                        <a:buNone/>
                      </a:pPr>
                      <a:endParaRPr lang="ar-SA" sz="1400" b="0" i="0" u="none" strike="noStrike" kern="1200" dirty="0">
                        <a:solidFill>
                          <a:srgbClr val="000000"/>
                        </a:solidFill>
                        <a:effectLst/>
                        <a:latin typeface="Sakkal Majalla" panose="02000000000000000000" pitchFamily="2" charset="-78"/>
                        <a:ea typeface="+mn-ea"/>
                        <a:cs typeface="Sakkal Majalla" panose="02000000000000000000" pitchFamily="2" charset="-78"/>
                      </a:endParaRPr>
                    </a:p>
                  </a:txBody>
                  <a:tcPr marL="9525" marR="9525" marT="9525" marB="0" anchor="ctr">
                    <a:solidFill>
                      <a:srgbClr val="D0CEDB"/>
                    </a:solidFill>
                  </a:tcPr>
                </a:tc>
                <a:tc vMerge="1">
                  <a:txBody>
                    <a:bodyPr/>
                    <a:lstStyle/>
                    <a:p>
                      <a:pPr algn="ctr" rtl="0" fontAlgn="ctr">
                        <a:buFontTx/>
                        <a:buNone/>
                      </a:pPr>
                      <a:endParaRPr lang="en-US" sz="1300" b="0" i="0" u="none" strike="noStrike" dirty="0">
                        <a:solidFill>
                          <a:srgbClr val="000000"/>
                        </a:solidFill>
                        <a:effectLst/>
                        <a:latin typeface="Sakkal Majalla" panose="02000000000000000000" pitchFamily="2" charset="-78"/>
                        <a:cs typeface="Sakkal Majalla" panose="02000000000000000000" pitchFamily="2" charset="-78"/>
                      </a:endParaRPr>
                    </a:p>
                  </a:txBody>
                  <a:tcPr marL="0" marR="0" marT="0" marB="0" anchor="ctr">
                    <a:solidFill>
                      <a:srgbClr val="D0CEDB"/>
                    </a:solidFill>
                  </a:tcPr>
                </a:tc>
                <a:tc vMerge="1">
                  <a:txBody>
                    <a:bodyPr/>
                    <a:lstStyle/>
                    <a:p>
                      <a:endParaRPr lang="en-US"/>
                    </a:p>
                  </a:txBody>
                  <a:tcPr/>
                </a:tc>
                <a:extLst>
                  <a:ext uri="{0D108BD9-81ED-4DB2-BD59-A6C34878D82A}">
                    <a16:rowId xmlns:a16="http://schemas.microsoft.com/office/drawing/2014/main" val="3664299992"/>
                  </a:ext>
                </a:extLst>
              </a:tr>
            </a:tbl>
          </a:graphicData>
        </a:graphic>
      </p:graphicFrame>
    </p:spTree>
    <p:extLst>
      <p:ext uri="{BB962C8B-B14F-4D97-AF65-F5344CB8AC3E}">
        <p14:creationId xmlns:p14="http://schemas.microsoft.com/office/powerpoint/2010/main" val="37239353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437215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هيئة تقويم التعليم والتدريب">
      <a:dk1>
        <a:sysClr val="windowText" lastClr="000000"/>
      </a:dk1>
      <a:lt1>
        <a:sysClr val="window" lastClr="FFFFFF"/>
      </a:lt1>
      <a:dk2>
        <a:srgbClr val="44546A"/>
      </a:dk2>
      <a:lt2>
        <a:srgbClr val="E7E6E6"/>
      </a:lt2>
      <a:accent1>
        <a:srgbClr val="4C3C8D"/>
      </a:accent1>
      <a:accent2>
        <a:srgbClr val="3FA0D9"/>
      </a:accent2>
      <a:accent3>
        <a:srgbClr val="F5A053"/>
      </a:accent3>
      <a:accent4>
        <a:srgbClr val="44AC52"/>
      </a:accent4>
      <a:accent5>
        <a:srgbClr val="5C79B9"/>
      </a:accent5>
      <a:accent6>
        <a:srgbClr val="8C493C"/>
      </a:accent6>
      <a:hlink>
        <a:srgbClr val="0563C1"/>
      </a:hlink>
      <a:folHlink>
        <a:srgbClr val="954F72"/>
      </a:folHlink>
    </a:clrScheme>
    <a:fontScheme name="Custom 2">
      <a:majorFont>
        <a:latin typeface="Sakkal Majalla"/>
        <a:ea typeface=""/>
        <a:cs typeface="Sakkal Majalla"/>
      </a:majorFont>
      <a:minorFont>
        <a:latin typeface="Sakkal Majalla"/>
        <a:ea typeface=""/>
        <a:cs typeface="Sakkal Majall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قالب هيئة تقويم التعليم والتدريب" id="{9A6817DC-B17F-4D1B-B5C7-111B32FC2AAE}" vid="{4B21A0E3-9419-4B4C-8023-7E7AF5CFDC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قالب هيئة تقويم التعليم والتدريب</Template>
  <TotalTime>5349</TotalTime>
  <Words>3194</Words>
  <Application>Microsoft Office PowerPoint</Application>
  <PresentationFormat>Widescreen</PresentationFormat>
  <Paragraphs>843</Paragraphs>
  <Slides>30</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Sakkal Majalla</vt:lpstr>
      <vt:lpstr>DIN Next LT Arabic</vt:lpstr>
      <vt:lpstr>Open Sans</vt:lpstr>
      <vt:lpstr>Calibri</vt:lpstr>
      <vt:lpstr>Arial</vt:lpstr>
      <vt:lpstr>Wingdings</vt:lpstr>
      <vt:lpstr>Tajawal</vt:lpstr>
      <vt:lpstr>Office Theme</vt:lpstr>
      <vt:lpstr>مشروع تأسيس وتنفيذ وتشغيل البنية المؤسسية في هيئة تقويم التعليم و التدريب –  وثيقة متطلبات البنية المؤسسية</vt:lpstr>
      <vt:lpstr>PowerPoint Presentation</vt:lpstr>
      <vt:lpstr>PowerPoint Presentation</vt:lpstr>
      <vt:lpstr>PowerPoint Presentation</vt:lpstr>
      <vt:lpstr>جدول المحتويات</vt:lpstr>
      <vt:lpstr>مقدمة حول إدارة متطلبات البنية المؤسسية</vt:lpstr>
      <vt:lpstr>PowerPoint Presentation</vt:lpstr>
      <vt:lpstr>PowerPoint Presentation</vt:lpstr>
      <vt:lpstr>PowerPoint Presentation</vt:lpstr>
      <vt:lpstr>منهجية إدارة متطلبات البنية المؤسسية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سجل متطلبات البنية المؤسسية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اجتماع إطلاق مشروع</dc:title>
  <dc:creator>ashawky</dc:creator>
  <cp:lastModifiedBy>Dana  Alghadhban</cp:lastModifiedBy>
  <cp:revision>601</cp:revision>
  <dcterms:created xsi:type="dcterms:W3CDTF">2024-05-29T18:26:52Z</dcterms:created>
  <dcterms:modified xsi:type="dcterms:W3CDTF">2024-09-12T11:38:06Z</dcterms:modified>
</cp:coreProperties>
</file>