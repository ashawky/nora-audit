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embedTrueTypeFonts="1" saveSubsetFonts="1">
  <p:sldMasterIdLst>
    <p:sldMasterId id="2147483702" r:id="rId1"/>
  </p:sldMasterIdLst>
  <p:notesMasterIdLst>
    <p:notesMasterId r:id="rId63"/>
  </p:notesMasterIdLst>
  <p:handoutMasterIdLst>
    <p:handoutMasterId r:id="rId64"/>
  </p:handoutMasterIdLst>
  <p:sldIdLst>
    <p:sldId id="542" r:id="rId2"/>
    <p:sldId id="576" r:id="rId3"/>
    <p:sldId id="577" r:id="rId4"/>
    <p:sldId id="578" r:id="rId5"/>
    <p:sldId id="5335" r:id="rId6"/>
    <p:sldId id="597" r:id="rId7"/>
    <p:sldId id="634" r:id="rId8"/>
    <p:sldId id="595" r:id="rId9"/>
    <p:sldId id="2147476380" r:id="rId10"/>
    <p:sldId id="507" r:id="rId11"/>
    <p:sldId id="724" r:id="rId12"/>
    <p:sldId id="2147476381" r:id="rId13"/>
    <p:sldId id="5252" r:id="rId14"/>
    <p:sldId id="5278" r:id="rId15"/>
    <p:sldId id="2147476382" r:id="rId16"/>
    <p:sldId id="5265" r:id="rId17"/>
    <p:sldId id="5259" r:id="rId18"/>
    <p:sldId id="5334" r:id="rId19"/>
    <p:sldId id="5260" r:id="rId20"/>
    <p:sldId id="5262" r:id="rId21"/>
    <p:sldId id="5266" r:id="rId22"/>
    <p:sldId id="5267" r:id="rId23"/>
    <p:sldId id="2147476386" r:id="rId24"/>
    <p:sldId id="2147476387" r:id="rId25"/>
    <p:sldId id="5333" r:id="rId26"/>
    <p:sldId id="5270" r:id="rId27"/>
    <p:sldId id="5272" r:id="rId28"/>
    <p:sldId id="5279" r:id="rId29"/>
    <p:sldId id="2147476383" r:id="rId30"/>
    <p:sldId id="5273" r:id="rId31"/>
    <p:sldId id="5281" r:id="rId32"/>
    <p:sldId id="5282" r:id="rId33"/>
    <p:sldId id="5283" r:id="rId34"/>
    <p:sldId id="5291" r:id="rId35"/>
    <p:sldId id="5292" r:id="rId36"/>
    <p:sldId id="5294" r:id="rId37"/>
    <p:sldId id="5337" r:id="rId38"/>
    <p:sldId id="5336" r:id="rId39"/>
    <p:sldId id="656" r:id="rId40"/>
    <p:sldId id="2147476384" r:id="rId41"/>
    <p:sldId id="5296" r:id="rId42"/>
    <p:sldId id="5299" r:id="rId43"/>
    <p:sldId id="5300" r:id="rId44"/>
    <p:sldId id="5301" r:id="rId45"/>
    <p:sldId id="5308" r:id="rId46"/>
    <p:sldId id="5309" r:id="rId47"/>
    <p:sldId id="5310" r:id="rId48"/>
    <p:sldId id="5297" r:id="rId49"/>
    <p:sldId id="2147476385" r:id="rId50"/>
    <p:sldId id="5298" r:id="rId51"/>
    <p:sldId id="5314" r:id="rId52"/>
    <p:sldId id="5316" r:id="rId53"/>
    <p:sldId id="5318" r:id="rId54"/>
    <p:sldId id="5323" r:id="rId55"/>
    <p:sldId id="2147476388" r:id="rId56"/>
    <p:sldId id="2147476389" r:id="rId57"/>
    <p:sldId id="5324" r:id="rId58"/>
    <p:sldId id="5326" r:id="rId59"/>
    <p:sldId id="5327" r:id="rId60"/>
    <p:sldId id="5328" r:id="rId61"/>
    <p:sldId id="5254" r:id="rId62"/>
  </p:sldIdLst>
  <p:sldSz cx="12192000" cy="6858000"/>
  <p:notesSz cx="6858000" cy="9144000"/>
  <p:embeddedFontLst>
    <p:embeddedFont>
      <p:font typeface="Sakkal Majalla" panose="02000000000000000000" pitchFamily="2" charset="-78"/>
      <p:regular r:id="rId65"/>
      <p:bold r:id="rId66"/>
    </p:embeddedFont>
    <p:embeddedFont>
      <p:font typeface="Tajawal" panose="00000500000000000000" pitchFamily="2" charset="-78"/>
      <p:regular r:id="rId67"/>
      <p:bold r:id="rId6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وثيقة مبادئ البنية المؤسسية" id="{6379A7A7-AC00-4837-984B-A208BB03B352}">
          <p14:sldIdLst>
            <p14:sldId id="542"/>
            <p14:sldId id="576"/>
            <p14:sldId id="577"/>
            <p14:sldId id="578"/>
            <p14:sldId id="5335"/>
          </p14:sldIdLst>
        </p14:section>
        <p14:section name="مقدمة حول مبادئ البنية المؤسسية" id="{C10D3DF1-FB9E-4E6B-8328-C9DA3E93948C}">
          <p14:sldIdLst>
            <p14:sldId id="597"/>
            <p14:sldId id="634"/>
            <p14:sldId id="595"/>
            <p14:sldId id="2147476380"/>
            <p14:sldId id="507"/>
            <p14:sldId id="724"/>
            <p14:sldId id="2147476381"/>
          </p14:sldIdLst>
        </p14:section>
        <p14:section name="بطاقات مبادئ مجالات البنية المؤسسية" id="{C79F56EC-9E94-47B3-8017-32A47F779F6F}">
          <p14:sldIdLst>
            <p14:sldId id="5252"/>
          </p14:sldIdLst>
        </p14:section>
        <p14:section name="مبادئ بنية الأعمال" id="{27838E87-8FE4-4959-B678-021C6C4428D1}">
          <p14:sldIdLst>
            <p14:sldId id="5278"/>
            <p14:sldId id="2147476382"/>
            <p14:sldId id="5265"/>
            <p14:sldId id="5259"/>
            <p14:sldId id="5334"/>
            <p14:sldId id="5260"/>
            <p14:sldId id="5262"/>
            <p14:sldId id="5266"/>
          </p14:sldIdLst>
        </p14:section>
        <p14:section name="مبادئ بنية تجربة المستفيد" id="{14507CE3-93A3-4DA2-9F75-78FE129AF42D}">
          <p14:sldIdLst>
            <p14:sldId id="5267"/>
            <p14:sldId id="2147476386"/>
            <p14:sldId id="2147476387"/>
            <p14:sldId id="5333"/>
            <p14:sldId id="5270"/>
            <p14:sldId id="5272"/>
          </p14:sldIdLst>
        </p14:section>
        <p14:section name="مبادئ بنية التطبيقات" id="{1816B241-199D-4D7F-BFBB-B4A1161FB1CF}">
          <p14:sldIdLst>
            <p14:sldId id="5279"/>
            <p14:sldId id="2147476383"/>
            <p14:sldId id="5273"/>
            <p14:sldId id="5281"/>
            <p14:sldId id="5282"/>
            <p14:sldId id="5283"/>
            <p14:sldId id="5291"/>
            <p14:sldId id="5292"/>
            <p14:sldId id="5294"/>
            <p14:sldId id="5337"/>
            <p14:sldId id="5336"/>
          </p14:sldIdLst>
        </p14:section>
        <p14:section name="مبادئ بنية البيانات" id="{5BEDB6AA-249D-425C-BC5B-24EE5C403DB5}">
          <p14:sldIdLst>
            <p14:sldId id="656"/>
            <p14:sldId id="2147476384"/>
            <p14:sldId id="5296"/>
            <p14:sldId id="5299"/>
            <p14:sldId id="5300"/>
            <p14:sldId id="5301"/>
            <p14:sldId id="5308"/>
            <p14:sldId id="5309"/>
            <p14:sldId id="5310"/>
          </p14:sldIdLst>
        </p14:section>
        <p14:section name="مبادئ بنية التقنية" id="{55213760-523F-4270-978F-52EFE3AD6058}">
          <p14:sldIdLst>
            <p14:sldId id="5297"/>
            <p14:sldId id="2147476385"/>
            <p14:sldId id="5298"/>
            <p14:sldId id="5314"/>
            <p14:sldId id="5316"/>
            <p14:sldId id="5318"/>
            <p14:sldId id="5323"/>
          </p14:sldIdLst>
        </p14:section>
        <p14:section name="مبادئ بنية الأمن السيبراني" id="{4CA0BA4F-F223-4268-BF06-19448308EBD0}">
          <p14:sldIdLst>
            <p14:sldId id="2147476388"/>
            <p14:sldId id="2147476389"/>
            <p14:sldId id="5324"/>
            <p14:sldId id="5326"/>
            <p14:sldId id="5327"/>
            <p14:sldId id="5328"/>
            <p14:sldId id="525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a  Alghadhban" initials="DA" lastIdx="22" clrIdx="0">
    <p:extLst>
      <p:ext uri="{19B8F6BF-5375-455C-9EA6-DF929625EA0E}">
        <p15:presenceInfo xmlns:p15="http://schemas.microsoft.com/office/powerpoint/2012/main" userId="S-1-5-21-2411063874-488449627-3027057399-11734" providerId="AD"/>
      </p:ext>
    </p:extLst>
  </p:cmAuthor>
  <p:cmAuthor id="2" name="Ahmed Shawky" initials="A" lastIdx="2" clrIdx="1">
    <p:extLst>
      <p:ext uri="{19B8F6BF-5375-455C-9EA6-DF929625EA0E}">
        <p15:presenceInfo xmlns:p15="http://schemas.microsoft.com/office/powerpoint/2012/main" userId="Ahmed Shawky" providerId="None"/>
      </p:ext>
    </p:extLst>
  </p:cmAuthor>
  <p:cmAuthor id="3" name="Ahmed Shawky" initials="AS" lastIdx="18" clrIdx="2">
    <p:extLst>
      <p:ext uri="{19B8F6BF-5375-455C-9EA6-DF929625EA0E}">
        <p15:presenceInfo xmlns:p15="http://schemas.microsoft.com/office/powerpoint/2012/main" userId="S::a.shawky@rmg-sa.com::e8ca3da9-d268-4851-a55d-39b83f2b78e7" providerId="AD"/>
      </p:ext>
    </p:extLst>
  </p:cmAuthor>
  <p:cmAuthor id="4" name="Alaa  Alwatban" initials="AA" lastIdx="6" clrIdx="3">
    <p:extLst>
      <p:ext uri="{19B8F6BF-5375-455C-9EA6-DF929625EA0E}">
        <p15:presenceInfo xmlns:p15="http://schemas.microsoft.com/office/powerpoint/2012/main" userId="S-1-5-21-2411063874-488449627-3027057399-11707" providerId="AD"/>
      </p:ext>
    </p:extLst>
  </p:cmAuthor>
  <p:cmAuthor id="5" name="Ahmed H. Al-Qarni" initials="AHA" lastIdx="12" clrIdx="4">
    <p:extLst>
      <p:ext uri="{19B8F6BF-5375-455C-9EA6-DF929625EA0E}">
        <p15:presenceInfo xmlns:p15="http://schemas.microsoft.com/office/powerpoint/2012/main" userId="S-1-5-21-2411063874-488449627-3027057399-1654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5E7"/>
    <a:srgbClr val="F2F2F2"/>
    <a:srgbClr val="392D6A"/>
    <a:srgbClr val="B2D9F0"/>
    <a:srgbClr val="8CC6E8"/>
    <a:srgbClr val="F5A053"/>
    <a:srgbClr val="3FA0D9"/>
    <a:srgbClr val="51B4C2"/>
    <a:srgbClr val="4C3C8D"/>
    <a:srgbClr val="2256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1795" autoAdjust="0"/>
    <p:restoredTop sz="75202" autoAdjust="0"/>
  </p:normalViewPr>
  <p:slideViewPr>
    <p:cSldViewPr snapToGrid="0">
      <p:cViewPr varScale="1">
        <p:scale>
          <a:sx n="95" d="100"/>
          <a:sy n="95" d="100"/>
        </p:scale>
        <p:origin x="62" y="72"/>
      </p:cViewPr>
      <p:guideLst/>
    </p:cSldViewPr>
  </p:slideViewPr>
  <p:outlineViewPr>
    <p:cViewPr>
      <p:scale>
        <a:sx n="33" d="100"/>
        <a:sy n="33" d="100"/>
      </p:scale>
      <p:origin x="0" y="-2107"/>
    </p:cViewPr>
  </p:outlineViewPr>
  <p:notesTextViewPr>
    <p:cViewPr>
      <p:scale>
        <a:sx n="1" d="1"/>
        <a:sy n="1" d="1"/>
      </p:scale>
      <p:origin x="0" y="0"/>
    </p:cViewPr>
  </p:notesTextViewPr>
  <p:notesViewPr>
    <p:cSldViewPr snapToGrid="0" showGuides="1">
      <p:cViewPr varScale="1">
        <p:scale>
          <a:sx n="82" d="100"/>
          <a:sy n="82" d="100"/>
        </p:scale>
        <p:origin x="3156"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2.fntdata"/><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1.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F3CCF8-5C26-4AF6-B7BA-B28572CBB7B8}" type="datetimeFigureOut">
              <a:rPr lang="en-US" smtClean="0"/>
              <a:t>12/16/2025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12BC3B-B80E-4787-98A9-8276652C0984}" type="slidenum">
              <a:rPr lang="en-US" smtClean="0"/>
              <a:t>‹#›</a:t>
            </a:fld>
            <a:endParaRPr lang="en-US"/>
          </a:p>
        </p:txBody>
      </p:sp>
    </p:spTree>
    <p:extLst>
      <p:ext uri="{BB962C8B-B14F-4D97-AF65-F5344CB8AC3E}">
        <p14:creationId xmlns:p14="http://schemas.microsoft.com/office/powerpoint/2010/main" val="29127117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A18F3E-C117-429A-B1A6-546895907122}" type="datetimeFigureOut">
              <a:rPr lang="en-US" smtClean="0"/>
              <a:t>12/16/2025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7FDBCA-D751-4A03-819B-45597328ED86}" type="slidenum">
              <a:rPr lang="en-US" smtClean="0"/>
              <a:t>‹#›</a:t>
            </a:fld>
            <a:endParaRPr lang="en-US"/>
          </a:p>
        </p:txBody>
      </p:sp>
    </p:spTree>
    <p:extLst>
      <p:ext uri="{BB962C8B-B14F-4D97-AF65-F5344CB8AC3E}">
        <p14:creationId xmlns:p14="http://schemas.microsoft.com/office/powerpoint/2010/main" val="3872243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r" rtl="1">
              <a:buFont typeface="Arial" panose="020B0604020202020204" pitchFamily="34" charset="0"/>
              <a:buChar char="•"/>
            </a:pPr>
            <a:endParaRPr lang="ar-EG" dirty="0"/>
          </a:p>
        </p:txBody>
      </p:sp>
      <p:sp>
        <p:nvSpPr>
          <p:cNvPr id="4" name="Slide Number Placeholder 3"/>
          <p:cNvSpPr>
            <a:spLocks noGrp="1"/>
          </p:cNvSpPr>
          <p:nvPr>
            <p:ph type="sldNum" sz="quarter" idx="5"/>
          </p:nvPr>
        </p:nvSpPr>
        <p:spPr/>
        <p:txBody>
          <a:bodyPr/>
          <a:lstStyle/>
          <a:p>
            <a:fld id="{B97FDBCA-D751-4A03-819B-45597328ED86}" type="slidenum">
              <a:rPr lang="en-US" smtClean="0"/>
              <a:t>1</a:t>
            </a:fld>
            <a:endParaRPr lang="en-US"/>
          </a:p>
        </p:txBody>
      </p:sp>
    </p:spTree>
    <p:extLst>
      <p:ext uri="{BB962C8B-B14F-4D97-AF65-F5344CB8AC3E}">
        <p14:creationId xmlns:p14="http://schemas.microsoft.com/office/powerpoint/2010/main" val="3800326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a:t>
            </a:fld>
            <a:endParaRPr lang="en-US"/>
          </a:p>
        </p:txBody>
      </p:sp>
    </p:spTree>
    <p:extLst>
      <p:ext uri="{BB962C8B-B14F-4D97-AF65-F5344CB8AC3E}">
        <p14:creationId xmlns:p14="http://schemas.microsoft.com/office/powerpoint/2010/main" val="962646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a:t>
            </a:fld>
            <a:endParaRPr lang="en-US"/>
          </a:p>
        </p:txBody>
      </p:sp>
    </p:spTree>
    <p:extLst>
      <p:ext uri="{BB962C8B-B14F-4D97-AF65-F5344CB8AC3E}">
        <p14:creationId xmlns:p14="http://schemas.microsoft.com/office/powerpoint/2010/main" val="3506166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a:t>
            </a:fld>
            <a:endParaRPr lang="en-US"/>
          </a:p>
        </p:txBody>
      </p:sp>
    </p:spTree>
    <p:extLst>
      <p:ext uri="{BB962C8B-B14F-4D97-AF65-F5344CB8AC3E}">
        <p14:creationId xmlns:p14="http://schemas.microsoft.com/office/powerpoint/2010/main" val="2022903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7</a:t>
            </a:fld>
            <a:endParaRPr lang="en-US"/>
          </a:p>
        </p:txBody>
      </p:sp>
    </p:spTree>
    <p:extLst>
      <p:ext uri="{BB962C8B-B14F-4D97-AF65-F5344CB8AC3E}">
        <p14:creationId xmlns:p14="http://schemas.microsoft.com/office/powerpoint/2010/main" val="3379209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8</a:t>
            </a:fld>
            <a:endParaRPr lang="en-US"/>
          </a:p>
        </p:txBody>
      </p:sp>
    </p:spTree>
    <p:extLst>
      <p:ext uri="{BB962C8B-B14F-4D97-AF65-F5344CB8AC3E}">
        <p14:creationId xmlns:p14="http://schemas.microsoft.com/office/powerpoint/2010/main" val="3328650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9</a:t>
            </a:fld>
            <a:endParaRPr lang="en-US"/>
          </a:p>
        </p:txBody>
      </p:sp>
    </p:spTree>
    <p:extLst>
      <p:ext uri="{BB962C8B-B14F-4D97-AF65-F5344CB8AC3E}">
        <p14:creationId xmlns:p14="http://schemas.microsoft.com/office/powerpoint/2010/main" val="39495634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10</a:t>
            </a:fld>
            <a:endParaRPr lang="en-US"/>
          </a:p>
        </p:txBody>
      </p:sp>
    </p:spTree>
    <p:extLst>
      <p:ext uri="{BB962C8B-B14F-4D97-AF65-F5344CB8AC3E}">
        <p14:creationId xmlns:p14="http://schemas.microsoft.com/office/powerpoint/2010/main" val="30307175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14</a:t>
            </a:fld>
            <a:endParaRPr lang="en-US"/>
          </a:p>
        </p:txBody>
      </p:sp>
    </p:spTree>
    <p:extLst>
      <p:ext uri="{BB962C8B-B14F-4D97-AF65-F5344CB8AC3E}">
        <p14:creationId xmlns:p14="http://schemas.microsoft.com/office/powerpoint/2010/main" val="3372049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16</a:t>
            </a:fld>
            <a:endParaRPr lang="en-US"/>
          </a:p>
        </p:txBody>
      </p:sp>
    </p:spTree>
    <p:extLst>
      <p:ext uri="{BB962C8B-B14F-4D97-AF65-F5344CB8AC3E}">
        <p14:creationId xmlns:p14="http://schemas.microsoft.com/office/powerpoint/2010/main" val="840448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17</a:t>
            </a:fld>
            <a:endParaRPr lang="en-US"/>
          </a:p>
        </p:txBody>
      </p:sp>
    </p:spTree>
    <p:extLst>
      <p:ext uri="{BB962C8B-B14F-4D97-AF65-F5344CB8AC3E}">
        <p14:creationId xmlns:p14="http://schemas.microsoft.com/office/powerpoint/2010/main" val="32683663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18</a:t>
            </a:fld>
            <a:endParaRPr lang="en-US"/>
          </a:p>
        </p:txBody>
      </p:sp>
    </p:spTree>
    <p:extLst>
      <p:ext uri="{BB962C8B-B14F-4D97-AF65-F5344CB8AC3E}">
        <p14:creationId xmlns:p14="http://schemas.microsoft.com/office/powerpoint/2010/main" val="22103168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19</a:t>
            </a:fld>
            <a:endParaRPr lang="en-US"/>
          </a:p>
        </p:txBody>
      </p:sp>
    </p:spTree>
    <p:extLst>
      <p:ext uri="{BB962C8B-B14F-4D97-AF65-F5344CB8AC3E}">
        <p14:creationId xmlns:p14="http://schemas.microsoft.com/office/powerpoint/2010/main" val="3772465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20</a:t>
            </a:fld>
            <a:endParaRPr lang="en-US"/>
          </a:p>
        </p:txBody>
      </p:sp>
    </p:spTree>
    <p:extLst>
      <p:ext uri="{BB962C8B-B14F-4D97-AF65-F5344CB8AC3E}">
        <p14:creationId xmlns:p14="http://schemas.microsoft.com/office/powerpoint/2010/main" val="13451411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21</a:t>
            </a:fld>
            <a:endParaRPr lang="en-US"/>
          </a:p>
        </p:txBody>
      </p:sp>
    </p:spTree>
    <p:extLst>
      <p:ext uri="{BB962C8B-B14F-4D97-AF65-F5344CB8AC3E}">
        <p14:creationId xmlns:p14="http://schemas.microsoft.com/office/powerpoint/2010/main" val="27192381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22</a:t>
            </a:fld>
            <a:endParaRPr lang="en-US"/>
          </a:p>
        </p:txBody>
      </p:sp>
    </p:spTree>
    <p:extLst>
      <p:ext uri="{BB962C8B-B14F-4D97-AF65-F5344CB8AC3E}">
        <p14:creationId xmlns:p14="http://schemas.microsoft.com/office/powerpoint/2010/main" val="19694853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A5B80-EF1F-CE8C-D52E-FFBF10A026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185B5-FEDB-54E9-169B-6939CB2CD4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F8D97B-1A76-F5E1-B4AF-90B7E5D989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E5C0A4-A886-E04E-5FC1-4CDD5A003702}"/>
              </a:ext>
            </a:extLst>
          </p:cNvPr>
          <p:cNvSpPr>
            <a:spLocks noGrp="1"/>
          </p:cNvSpPr>
          <p:nvPr>
            <p:ph type="sldNum" sz="quarter" idx="5"/>
          </p:nvPr>
        </p:nvSpPr>
        <p:spPr/>
        <p:txBody>
          <a:bodyPr/>
          <a:lstStyle/>
          <a:p>
            <a:fld id="{B97FDBCA-D751-4A03-819B-45597328ED86}" type="slidenum">
              <a:rPr lang="en-US" smtClean="0"/>
              <a:t>23</a:t>
            </a:fld>
            <a:endParaRPr lang="en-US"/>
          </a:p>
        </p:txBody>
      </p:sp>
    </p:spTree>
    <p:extLst>
      <p:ext uri="{BB962C8B-B14F-4D97-AF65-F5344CB8AC3E}">
        <p14:creationId xmlns:p14="http://schemas.microsoft.com/office/powerpoint/2010/main" val="37750436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25</a:t>
            </a:fld>
            <a:endParaRPr lang="en-US"/>
          </a:p>
        </p:txBody>
      </p:sp>
    </p:spTree>
    <p:extLst>
      <p:ext uri="{BB962C8B-B14F-4D97-AF65-F5344CB8AC3E}">
        <p14:creationId xmlns:p14="http://schemas.microsoft.com/office/powerpoint/2010/main" val="1020045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26</a:t>
            </a:fld>
            <a:endParaRPr lang="en-US"/>
          </a:p>
        </p:txBody>
      </p:sp>
    </p:spTree>
    <p:extLst>
      <p:ext uri="{BB962C8B-B14F-4D97-AF65-F5344CB8AC3E}">
        <p14:creationId xmlns:p14="http://schemas.microsoft.com/office/powerpoint/2010/main" val="12007195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27</a:t>
            </a:fld>
            <a:endParaRPr lang="en-US"/>
          </a:p>
        </p:txBody>
      </p:sp>
    </p:spTree>
    <p:extLst>
      <p:ext uri="{BB962C8B-B14F-4D97-AF65-F5344CB8AC3E}">
        <p14:creationId xmlns:p14="http://schemas.microsoft.com/office/powerpoint/2010/main" val="7609427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28</a:t>
            </a:fld>
            <a:endParaRPr lang="en-US"/>
          </a:p>
        </p:txBody>
      </p:sp>
    </p:spTree>
    <p:extLst>
      <p:ext uri="{BB962C8B-B14F-4D97-AF65-F5344CB8AC3E}">
        <p14:creationId xmlns:p14="http://schemas.microsoft.com/office/powerpoint/2010/main" val="12099285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30</a:t>
            </a:fld>
            <a:endParaRPr lang="en-US"/>
          </a:p>
        </p:txBody>
      </p:sp>
    </p:spTree>
    <p:extLst>
      <p:ext uri="{BB962C8B-B14F-4D97-AF65-F5344CB8AC3E}">
        <p14:creationId xmlns:p14="http://schemas.microsoft.com/office/powerpoint/2010/main" val="2919494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31</a:t>
            </a:fld>
            <a:endParaRPr lang="en-US"/>
          </a:p>
        </p:txBody>
      </p:sp>
    </p:spTree>
    <p:extLst>
      <p:ext uri="{BB962C8B-B14F-4D97-AF65-F5344CB8AC3E}">
        <p14:creationId xmlns:p14="http://schemas.microsoft.com/office/powerpoint/2010/main" val="8892040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32</a:t>
            </a:fld>
            <a:endParaRPr lang="en-US"/>
          </a:p>
        </p:txBody>
      </p:sp>
    </p:spTree>
    <p:extLst>
      <p:ext uri="{BB962C8B-B14F-4D97-AF65-F5344CB8AC3E}">
        <p14:creationId xmlns:p14="http://schemas.microsoft.com/office/powerpoint/2010/main" val="23933691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33</a:t>
            </a:fld>
            <a:endParaRPr lang="en-US"/>
          </a:p>
        </p:txBody>
      </p:sp>
    </p:spTree>
    <p:extLst>
      <p:ext uri="{BB962C8B-B14F-4D97-AF65-F5344CB8AC3E}">
        <p14:creationId xmlns:p14="http://schemas.microsoft.com/office/powerpoint/2010/main" val="42124684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34</a:t>
            </a:fld>
            <a:endParaRPr lang="en-US"/>
          </a:p>
        </p:txBody>
      </p:sp>
    </p:spTree>
    <p:extLst>
      <p:ext uri="{BB962C8B-B14F-4D97-AF65-F5344CB8AC3E}">
        <p14:creationId xmlns:p14="http://schemas.microsoft.com/office/powerpoint/2010/main" val="28036348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35</a:t>
            </a:fld>
            <a:endParaRPr lang="en-US"/>
          </a:p>
        </p:txBody>
      </p:sp>
    </p:spTree>
    <p:extLst>
      <p:ext uri="{BB962C8B-B14F-4D97-AF65-F5344CB8AC3E}">
        <p14:creationId xmlns:p14="http://schemas.microsoft.com/office/powerpoint/2010/main" val="9225365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36</a:t>
            </a:fld>
            <a:endParaRPr lang="en-US"/>
          </a:p>
        </p:txBody>
      </p:sp>
    </p:spTree>
    <p:extLst>
      <p:ext uri="{BB962C8B-B14F-4D97-AF65-F5344CB8AC3E}">
        <p14:creationId xmlns:p14="http://schemas.microsoft.com/office/powerpoint/2010/main" val="29940194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37</a:t>
            </a:fld>
            <a:endParaRPr lang="en-US"/>
          </a:p>
        </p:txBody>
      </p:sp>
    </p:spTree>
    <p:extLst>
      <p:ext uri="{BB962C8B-B14F-4D97-AF65-F5344CB8AC3E}">
        <p14:creationId xmlns:p14="http://schemas.microsoft.com/office/powerpoint/2010/main" val="25721294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38</a:t>
            </a:fld>
            <a:endParaRPr lang="en-US"/>
          </a:p>
        </p:txBody>
      </p:sp>
    </p:spTree>
    <p:extLst>
      <p:ext uri="{BB962C8B-B14F-4D97-AF65-F5344CB8AC3E}">
        <p14:creationId xmlns:p14="http://schemas.microsoft.com/office/powerpoint/2010/main" val="13132769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39</a:t>
            </a:fld>
            <a:endParaRPr lang="en-US"/>
          </a:p>
        </p:txBody>
      </p:sp>
    </p:spTree>
    <p:extLst>
      <p:ext uri="{BB962C8B-B14F-4D97-AF65-F5344CB8AC3E}">
        <p14:creationId xmlns:p14="http://schemas.microsoft.com/office/powerpoint/2010/main" val="2686740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41</a:t>
            </a:fld>
            <a:endParaRPr lang="en-US"/>
          </a:p>
        </p:txBody>
      </p:sp>
    </p:spTree>
    <p:extLst>
      <p:ext uri="{BB962C8B-B14F-4D97-AF65-F5344CB8AC3E}">
        <p14:creationId xmlns:p14="http://schemas.microsoft.com/office/powerpoint/2010/main" val="26985193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42</a:t>
            </a:fld>
            <a:endParaRPr lang="en-US"/>
          </a:p>
        </p:txBody>
      </p:sp>
    </p:spTree>
    <p:extLst>
      <p:ext uri="{BB962C8B-B14F-4D97-AF65-F5344CB8AC3E}">
        <p14:creationId xmlns:p14="http://schemas.microsoft.com/office/powerpoint/2010/main" val="21095729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43</a:t>
            </a:fld>
            <a:endParaRPr lang="en-US"/>
          </a:p>
        </p:txBody>
      </p:sp>
    </p:spTree>
    <p:extLst>
      <p:ext uri="{BB962C8B-B14F-4D97-AF65-F5344CB8AC3E}">
        <p14:creationId xmlns:p14="http://schemas.microsoft.com/office/powerpoint/2010/main" val="41984482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44</a:t>
            </a:fld>
            <a:endParaRPr lang="en-US"/>
          </a:p>
        </p:txBody>
      </p:sp>
    </p:spTree>
    <p:extLst>
      <p:ext uri="{BB962C8B-B14F-4D97-AF65-F5344CB8AC3E}">
        <p14:creationId xmlns:p14="http://schemas.microsoft.com/office/powerpoint/2010/main" val="2549884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45</a:t>
            </a:fld>
            <a:endParaRPr lang="en-US"/>
          </a:p>
        </p:txBody>
      </p:sp>
    </p:spTree>
    <p:extLst>
      <p:ext uri="{BB962C8B-B14F-4D97-AF65-F5344CB8AC3E}">
        <p14:creationId xmlns:p14="http://schemas.microsoft.com/office/powerpoint/2010/main" val="35489104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46</a:t>
            </a:fld>
            <a:endParaRPr lang="en-US"/>
          </a:p>
        </p:txBody>
      </p:sp>
    </p:spTree>
    <p:extLst>
      <p:ext uri="{BB962C8B-B14F-4D97-AF65-F5344CB8AC3E}">
        <p14:creationId xmlns:p14="http://schemas.microsoft.com/office/powerpoint/2010/main" val="729174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47</a:t>
            </a:fld>
            <a:endParaRPr lang="en-US"/>
          </a:p>
        </p:txBody>
      </p:sp>
    </p:spTree>
    <p:extLst>
      <p:ext uri="{BB962C8B-B14F-4D97-AF65-F5344CB8AC3E}">
        <p14:creationId xmlns:p14="http://schemas.microsoft.com/office/powerpoint/2010/main" val="40870877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48</a:t>
            </a:fld>
            <a:endParaRPr lang="en-US"/>
          </a:p>
        </p:txBody>
      </p:sp>
    </p:spTree>
    <p:extLst>
      <p:ext uri="{BB962C8B-B14F-4D97-AF65-F5344CB8AC3E}">
        <p14:creationId xmlns:p14="http://schemas.microsoft.com/office/powerpoint/2010/main" val="30769454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50</a:t>
            </a:fld>
            <a:endParaRPr lang="en-US"/>
          </a:p>
        </p:txBody>
      </p:sp>
    </p:spTree>
    <p:extLst>
      <p:ext uri="{BB962C8B-B14F-4D97-AF65-F5344CB8AC3E}">
        <p14:creationId xmlns:p14="http://schemas.microsoft.com/office/powerpoint/2010/main" val="32492429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51</a:t>
            </a:fld>
            <a:endParaRPr lang="en-US"/>
          </a:p>
        </p:txBody>
      </p:sp>
    </p:spTree>
    <p:extLst>
      <p:ext uri="{BB962C8B-B14F-4D97-AF65-F5344CB8AC3E}">
        <p14:creationId xmlns:p14="http://schemas.microsoft.com/office/powerpoint/2010/main" val="17558791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52</a:t>
            </a:fld>
            <a:endParaRPr lang="en-US"/>
          </a:p>
        </p:txBody>
      </p:sp>
    </p:spTree>
    <p:extLst>
      <p:ext uri="{BB962C8B-B14F-4D97-AF65-F5344CB8AC3E}">
        <p14:creationId xmlns:p14="http://schemas.microsoft.com/office/powerpoint/2010/main" val="40855737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53</a:t>
            </a:fld>
            <a:endParaRPr lang="en-US"/>
          </a:p>
        </p:txBody>
      </p:sp>
    </p:spTree>
    <p:extLst>
      <p:ext uri="{BB962C8B-B14F-4D97-AF65-F5344CB8AC3E}">
        <p14:creationId xmlns:p14="http://schemas.microsoft.com/office/powerpoint/2010/main" val="5410732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54</a:t>
            </a:fld>
            <a:endParaRPr lang="en-US"/>
          </a:p>
        </p:txBody>
      </p:sp>
    </p:spTree>
    <p:extLst>
      <p:ext uri="{BB962C8B-B14F-4D97-AF65-F5344CB8AC3E}">
        <p14:creationId xmlns:p14="http://schemas.microsoft.com/office/powerpoint/2010/main" val="14060041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1D6B4-B541-6E70-3B74-473B79CBA6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EF9B24-E133-B158-61A8-1121769279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19287D-8650-DADD-20EA-904781EFC6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D15AD9-22D0-CD1A-3C3D-8CA83BBC69D5}"/>
              </a:ext>
            </a:extLst>
          </p:cNvPr>
          <p:cNvSpPr>
            <a:spLocks noGrp="1"/>
          </p:cNvSpPr>
          <p:nvPr>
            <p:ph type="sldNum" sz="quarter" idx="5"/>
          </p:nvPr>
        </p:nvSpPr>
        <p:spPr/>
        <p:txBody>
          <a:bodyPr/>
          <a:lstStyle/>
          <a:p>
            <a:fld id="{B97FDBCA-D751-4A03-819B-45597328ED86}" type="slidenum">
              <a:rPr lang="en-US" smtClean="0"/>
              <a:t>55</a:t>
            </a:fld>
            <a:endParaRPr lang="en-US"/>
          </a:p>
        </p:txBody>
      </p:sp>
    </p:spTree>
    <p:extLst>
      <p:ext uri="{BB962C8B-B14F-4D97-AF65-F5344CB8AC3E}">
        <p14:creationId xmlns:p14="http://schemas.microsoft.com/office/powerpoint/2010/main" val="24772118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57</a:t>
            </a:fld>
            <a:endParaRPr lang="en-US"/>
          </a:p>
        </p:txBody>
      </p:sp>
    </p:spTree>
    <p:extLst>
      <p:ext uri="{BB962C8B-B14F-4D97-AF65-F5344CB8AC3E}">
        <p14:creationId xmlns:p14="http://schemas.microsoft.com/office/powerpoint/2010/main" val="6096016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58</a:t>
            </a:fld>
            <a:endParaRPr lang="en-US"/>
          </a:p>
        </p:txBody>
      </p:sp>
    </p:spTree>
    <p:extLst>
      <p:ext uri="{BB962C8B-B14F-4D97-AF65-F5344CB8AC3E}">
        <p14:creationId xmlns:p14="http://schemas.microsoft.com/office/powerpoint/2010/main" val="236665499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59</a:t>
            </a:fld>
            <a:endParaRPr lang="en-US"/>
          </a:p>
        </p:txBody>
      </p:sp>
    </p:spTree>
    <p:extLst>
      <p:ext uri="{BB962C8B-B14F-4D97-AF65-F5344CB8AC3E}">
        <p14:creationId xmlns:p14="http://schemas.microsoft.com/office/powerpoint/2010/main" val="36956209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60</a:t>
            </a:fld>
            <a:endParaRPr lang="en-US"/>
          </a:p>
        </p:txBody>
      </p:sp>
    </p:spTree>
    <p:extLst>
      <p:ext uri="{BB962C8B-B14F-4D97-AF65-F5344CB8AC3E}">
        <p14:creationId xmlns:p14="http://schemas.microsoft.com/office/powerpoint/2010/main" val="20009891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le Slide">
    <p:spTree>
      <p:nvGrpSpPr>
        <p:cNvPr id="1" name=""/>
        <p:cNvGrpSpPr/>
        <p:nvPr/>
      </p:nvGrpSpPr>
      <p:grpSpPr>
        <a:xfrm>
          <a:off x="0" y="0"/>
          <a:ext cx="0" cy="0"/>
          <a:chOff x="0" y="0"/>
          <a:chExt cx="0" cy="0"/>
        </a:xfrm>
      </p:grpSpPr>
      <p:pic>
        <p:nvPicPr>
          <p:cNvPr id="56" name="Picture 55" descr="A purple and white background&#10;&#10;Description automatically generated">
            <a:extLst>
              <a:ext uri="{FF2B5EF4-FFF2-40B4-BE49-F238E27FC236}">
                <a16:creationId xmlns:a16="http://schemas.microsoft.com/office/drawing/2014/main" id="{1008D6FD-44B1-6442-D7E1-6FD1426D8DD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1" name="Title 4">
            <a:extLst>
              <a:ext uri="{FF2B5EF4-FFF2-40B4-BE49-F238E27FC236}">
                <a16:creationId xmlns:a16="http://schemas.microsoft.com/office/drawing/2014/main" id="{C1AB8D8F-867E-9D96-D014-2635FC5416F7}"/>
              </a:ext>
            </a:extLst>
          </p:cNvPr>
          <p:cNvSpPr>
            <a:spLocks noGrp="1"/>
          </p:cNvSpPr>
          <p:nvPr>
            <p:ph type="title" hasCustomPrompt="1"/>
          </p:nvPr>
        </p:nvSpPr>
        <p:spPr>
          <a:xfrm>
            <a:off x="7726527" y="3749232"/>
            <a:ext cx="3855873" cy="1204833"/>
          </a:xfrm>
        </p:spPr>
        <p:txBody>
          <a:bodyPr anchor="b" anchorCtr="0"/>
          <a:lstStyle>
            <a:lvl1pPr>
              <a:lnSpc>
                <a:spcPct val="80000"/>
              </a:lnSpc>
              <a:defRPr sz="2800" baseline="0">
                <a:solidFill>
                  <a:schemeClr val="accent3"/>
                </a:solidFill>
                <a:latin typeface="DIN Next LT Arabic" panose="020B0503020203050203" pitchFamily="34" charset="-78"/>
                <a:ea typeface="DIN Next LT Arabic" panose="020B0503020203050203" pitchFamily="34" charset="-78"/>
                <a:cs typeface="DIN Next LT Arabic" panose="020B0503020203050203" pitchFamily="34" charset="-78"/>
              </a:defRPr>
            </a:lvl1pPr>
          </a:lstStyle>
          <a:p>
            <a:r>
              <a:rPr lang="ar-EG" dirty="0"/>
              <a:t>استبدل هذا العنوان بعنوان المستند المراد</a:t>
            </a:r>
          </a:p>
        </p:txBody>
      </p:sp>
      <p:sp>
        <p:nvSpPr>
          <p:cNvPr id="52" name="Subtitle 2">
            <a:extLst>
              <a:ext uri="{FF2B5EF4-FFF2-40B4-BE49-F238E27FC236}">
                <a16:creationId xmlns:a16="http://schemas.microsoft.com/office/drawing/2014/main" id="{83890CF7-C10F-BB3C-914C-AF80ABF44952}"/>
              </a:ext>
            </a:extLst>
          </p:cNvPr>
          <p:cNvSpPr>
            <a:spLocks noGrp="1"/>
          </p:cNvSpPr>
          <p:nvPr>
            <p:ph type="subTitle" idx="1" hasCustomPrompt="1"/>
          </p:nvPr>
        </p:nvSpPr>
        <p:spPr>
          <a:xfrm>
            <a:off x="7726527" y="5000247"/>
            <a:ext cx="3855873" cy="369332"/>
          </a:xfrm>
        </p:spPr>
        <p:txBody>
          <a:bodyPr wrap="square">
            <a:spAutoFit/>
          </a:bodyPr>
          <a:lstStyle>
            <a:lvl1pPr algn="r">
              <a:defRPr lang="en-US" sz="1800" baseline="0">
                <a:solidFill>
                  <a:schemeClr val="bg1"/>
                </a:solidFill>
                <a:latin typeface="DIN Next LT Arabic" panose="020B0503020203050203" pitchFamily="34" charset="-78"/>
                <a:ea typeface="DIN Next LT Arabic" panose="020B0503020203050203" pitchFamily="34" charset="-78"/>
                <a:cs typeface="DIN Next LT Arabic" panose="020B0503020203050203" pitchFamily="34" charset="-78"/>
              </a:defRPr>
            </a:lvl1pPr>
          </a:lstStyle>
          <a:p>
            <a:pPr lvl="0"/>
            <a:r>
              <a:rPr lang="ar-EG" dirty="0"/>
              <a:t>عنوان فرعي</a:t>
            </a:r>
          </a:p>
        </p:txBody>
      </p:sp>
    </p:spTree>
    <p:extLst>
      <p:ext uri="{BB962C8B-B14F-4D97-AF65-F5344CB8AC3E}">
        <p14:creationId xmlns:p14="http://schemas.microsoft.com/office/powerpoint/2010/main" val="826968348"/>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extLst>
    <p:ext uri="{DCECCB84-F9BA-43D5-87BE-67443E8EF086}">
      <p15:sldGuideLst xmlns:p15="http://schemas.microsoft.com/office/powerpoint/2012/main">
        <p15:guide id="1" orient="horz" pos="3288" userDrawn="1">
          <p15:clr>
            <a:srgbClr val="FBAE40"/>
          </p15:clr>
        </p15:guide>
        <p15:guide id="2" pos="3336" userDrawn="1">
          <p15:clr>
            <a:srgbClr val="FBAE40"/>
          </p15:clr>
        </p15:guide>
        <p15:guide id="3" pos="70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preserve="1" userDrawn="1">
  <p:cSld name="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12/16/2025</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6" name="Text Placeholder 11"/>
          <p:cNvSpPr>
            <a:spLocks noGrp="1"/>
          </p:cNvSpPr>
          <p:nvPr>
            <p:ph type="body" sz="quarter" idx="23" hasCustomPrompt="1"/>
          </p:nvPr>
        </p:nvSpPr>
        <p:spPr>
          <a:xfrm>
            <a:off x="4664387"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17" name="Text Placeholder 11"/>
          <p:cNvSpPr>
            <a:spLocks noGrp="1"/>
          </p:cNvSpPr>
          <p:nvPr>
            <p:ph type="body" sz="quarter" idx="24" hasCustomPrompt="1"/>
          </p:nvPr>
        </p:nvSpPr>
        <p:spPr>
          <a:xfrm>
            <a:off x="4661165"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50" name="Text Placeholder 6"/>
          <p:cNvSpPr>
            <a:spLocks noGrp="1"/>
          </p:cNvSpPr>
          <p:nvPr>
            <p:ph type="body" sz="quarter" idx="57" hasCustomPrompt="1"/>
          </p:nvPr>
        </p:nvSpPr>
        <p:spPr>
          <a:xfrm>
            <a:off x="7715771"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39" name="Text Placeholder 11"/>
          <p:cNvSpPr>
            <a:spLocks noGrp="1"/>
          </p:cNvSpPr>
          <p:nvPr>
            <p:ph type="body" sz="quarter" idx="58" hasCustomPrompt="1"/>
          </p:nvPr>
        </p:nvSpPr>
        <p:spPr>
          <a:xfrm>
            <a:off x="4664387"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40" name="Text Placeholder 11"/>
          <p:cNvSpPr>
            <a:spLocks noGrp="1"/>
          </p:cNvSpPr>
          <p:nvPr>
            <p:ph type="body" sz="quarter" idx="59" hasCustomPrompt="1"/>
          </p:nvPr>
        </p:nvSpPr>
        <p:spPr>
          <a:xfrm>
            <a:off x="4661165"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1" name="Text Placeholder 6"/>
          <p:cNvSpPr>
            <a:spLocks noGrp="1"/>
          </p:cNvSpPr>
          <p:nvPr>
            <p:ph type="body" sz="quarter" idx="60" hasCustomPrompt="1"/>
          </p:nvPr>
        </p:nvSpPr>
        <p:spPr>
          <a:xfrm>
            <a:off x="7715771"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2" name="Text Placeholder 11"/>
          <p:cNvSpPr>
            <a:spLocks noGrp="1"/>
          </p:cNvSpPr>
          <p:nvPr>
            <p:ph type="body" sz="quarter" idx="61" hasCustomPrompt="1"/>
          </p:nvPr>
        </p:nvSpPr>
        <p:spPr>
          <a:xfrm>
            <a:off x="4664387"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43" name="Text Placeholder 11"/>
          <p:cNvSpPr>
            <a:spLocks noGrp="1"/>
          </p:cNvSpPr>
          <p:nvPr>
            <p:ph type="body" sz="quarter" idx="62" hasCustomPrompt="1"/>
          </p:nvPr>
        </p:nvSpPr>
        <p:spPr>
          <a:xfrm>
            <a:off x="4661165"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5" name="Text Placeholder 6"/>
          <p:cNvSpPr>
            <a:spLocks noGrp="1"/>
          </p:cNvSpPr>
          <p:nvPr>
            <p:ph type="body" sz="quarter" idx="63" hasCustomPrompt="1"/>
          </p:nvPr>
        </p:nvSpPr>
        <p:spPr>
          <a:xfrm>
            <a:off x="7715771"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6" name="Text Placeholder 11"/>
          <p:cNvSpPr>
            <a:spLocks noGrp="1"/>
          </p:cNvSpPr>
          <p:nvPr>
            <p:ph type="body" sz="quarter" idx="64" hasCustomPrompt="1"/>
          </p:nvPr>
        </p:nvSpPr>
        <p:spPr>
          <a:xfrm>
            <a:off x="4664387"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48" name="Text Placeholder 11"/>
          <p:cNvSpPr>
            <a:spLocks noGrp="1"/>
          </p:cNvSpPr>
          <p:nvPr>
            <p:ph type="body" sz="quarter" idx="65" hasCustomPrompt="1"/>
          </p:nvPr>
        </p:nvSpPr>
        <p:spPr>
          <a:xfrm>
            <a:off x="4661165"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9" name="Text Placeholder 6"/>
          <p:cNvSpPr>
            <a:spLocks noGrp="1"/>
          </p:cNvSpPr>
          <p:nvPr>
            <p:ph type="body" sz="quarter" idx="66" hasCustomPrompt="1"/>
          </p:nvPr>
        </p:nvSpPr>
        <p:spPr>
          <a:xfrm>
            <a:off x="7715771"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51" name="Text Placeholder 11"/>
          <p:cNvSpPr>
            <a:spLocks noGrp="1"/>
          </p:cNvSpPr>
          <p:nvPr>
            <p:ph type="body" sz="quarter" idx="67" hasCustomPrompt="1"/>
          </p:nvPr>
        </p:nvSpPr>
        <p:spPr>
          <a:xfrm>
            <a:off x="830980"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52" name="Text Placeholder 11"/>
          <p:cNvSpPr>
            <a:spLocks noGrp="1"/>
          </p:cNvSpPr>
          <p:nvPr>
            <p:ph type="body" sz="quarter" idx="68" hasCustomPrompt="1"/>
          </p:nvPr>
        </p:nvSpPr>
        <p:spPr>
          <a:xfrm>
            <a:off x="827758"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5" name="Text Placeholder 6"/>
          <p:cNvSpPr>
            <a:spLocks noGrp="1"/>
          </p:cNvSpPr>
          <p:nvPr>
            <p:ph type="body" sz="quarter" idx="69" hasCustomPrompt="1"/>
          </p:nvPr>
        </p:nvSpPr>
        <p:spPr>
          <a:xfrm>
            <a:off x="3882364"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6" name="Text Placeholder 11"/>
          <p:cNvSpPr>
            <a:spLocks noGrp="1"/>
          </p:cNvSpPr>
          <p:nvPr>
            <p:ph type="body" sz="quarter" idx="70" hasCustomPrompt="1"/>
          </p:nvPr>
        </p:nvSpPr>
        <p:spPr>
          <a:xfrm>
            <a:off x="830980"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7" name="Text Placeholder 11"/>
          <p:cNvSpPr>
            <a:spLocks noGrp="1"/>
          </p:cNvSpPr>
          <p:nvPr>
            <p:ph type="body" sz="quarter" idx="71" hasCustomPrompt="1"/>
          </p:nvPr>
        </p:nvSpPr>
        <p:spPr>
          <a:xfrm>
            <a:off x="827758"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8" name="Text Placeholder 6"/>
          <p:cNvSpPr>
            <a:spLocks noGrp="1"/>
          </p:cNvSpPr>
          <p:nvPr>
            <p:ph type="body" sz="quarter" idx="72" hasCustomPrompt="1"/>
          </p:nvPr>
        </p:nvSpPr>
        <p:spPr>
          <a:xfrm>
            <a:off x="3882364"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9" name="Text Placeholder 11"/>
          <p:cNvSpPr>
            <a:spLocks noGrp="1"/>
          </p:cNvSpPr>
          <p:nvPr>
            <p:ph type="body" sz="quarter" idx="73" hasCustomPrompt="1"/>
          </p:nvPr>
        </p:nvSpPr>
        <p:spPr>
          <a:xfrm>
            <a:off x="830980"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0" name="Text Placeholder 11"/>
          <p:cNvSpPr>
            <a:spLocks noGrp="1"/>
          </p:cNvSpPr>
          <p:nvPr>
            <p:ph type="body" sz="quarter" idx="74" hasCustomPrompt="1"/>
          </p:nvPr>
        </p:nvSpPr>
        <p:spPr>
          <a:xfrm>
            <a:off x="827758"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1" name="Text Placeholder 6"/>
          <p:cNvSpPr>
            <a:spLocks noGrp="1"/>
          </p:cNvSpPr>
          <p:nvPr>
            <p:ph type="body" sz="quarter" idx="75" hasCustomPrompt="1"/>
          </p:nvPr>
        </p:nvSpPr>
        <p:spPr>
          <a:xfrm>
            <a:off x="3882364"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2" name="Text Placeholder 11"/>
          <p:cNvSpPr>
            <a:spLocks noGrp="1"/>
          </p:cNvSpPr>
          <p:nvPr>
            <p:ph type="body" sz="quarter" idx="76" hasCustomPrompt="1"/>
          </p:nvPr>
        </p:nvSpPr>
        <p:spPr>
          <a:xfrm>
            <a:off x="830980"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74" name="Text Placeholder 6"/>
          <p:cNvSpPr>
            <a:spLocks noGrp="1"/>
          </p:cNvSpPr>
          <p:nvPr>
            <p:ph type="body" sz="quarter" idx="78" hasCustomPrompt="1"/>
          </p:nvPr>
        </p:nvSpPr>
        <p:spPr>
          <a:xfrm>
            <a:off x="3882364"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44" name="Text Placeholder 11"/>
          <p:cNvSpPr>
            <a:spLocks noGrp="1"/>
          </p:cNvSpPr>
          <p:nvPr>
            <p:ph type="body" sz="quarter" idx="79" hasCustomPrompt="1"/>
          </p:nvPr>
        </p:nvSpPr>
        <p:spPr>
          <a:xfrm>
            <a:off x="824657"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1" name="Text Placeholder 11"/>
          <p:cNvSpPr>
            <a:spLocks noGrp="1"/>
          </p:cNvSpPr>
          <p:nvPr>
            <p:ph type="body" sz="quarter" idx="86" hasCustomPrompt="1"/>
          </p:nvPr>
        </p:nvSpPr>
        <p:spPr>
          <a:xfrm>
            <a:off x="4664387"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2" name="Text Placeholder 11"/>
          <p:cNvSpPr>
            <a:spLocks noGrp="1"/>
          </p:cNvSpPr>
          <p:nvPr>
            <p:ph type="body" sz="quarter" idx="87" hasCustomPrompt="1"/>
          </p:nvPr>
        </p:nvSpPr>
        <p:spPr>
          <a:xfrm>
            <a:off x="4661165"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3" name="Text Placeholder 6"/>
          <p:cNvSpPr>
            <a:spLocks noGrp="1"/>
          </p:cNvSpPr>
          <p:nvPr>
            <p:ph type="body" sz="quarter" idx="88" hasCustomPrompt="1"/>
          </p:nvPr>
        </p:nvSpPr>
        <p:spPr>
          <a:xfrm>
            <a:off x="7715771"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4" name="Text Placeholder 11"/>
          <p:cNvSpPr>
            <a:spLocks noGrp="1"/>
          </p:cNvSpPr>
          <p:nvPr>
            <p:ph type="body" sz="quarter" idx="89" hasCustomPrompt="1"/>
          </p:nvPr>
        </p:nvSpPr>
        <p:spPr>
          <a:xfrm>
            <a:off x="4664387"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3" name="Text Placeholder 11"/>
          <p:cNvSpPr>
            <a:spLocks noGrp="1"/>
          </p:cNvSpPr>
          <p:nvPr>
            <p:ph type="body" sz="quarter" idx="90" hasCustomPrompt="1"/>
          </p:nvPr>
        </p:nvSpPr>
        <p:spPr>
          <a:xfrm>
            <a:off x="4661165"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5" name="Text Placeholder 6"/>
          <p:cNvSpPr>
            <a:spLocks noGrp="1"/>
          </p:cNvSpPr>
          <p:nvPr>
            <p:ph type="body" sz="quarter" idx="91" hasCustomPrompt="1"/>
          </p:nvPr>
        </p:nvSpPr>
        <p:spPr>
          <a:xfrm>
            <a:off x="7715771"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6" name="Text Placeholder 11"/>
          <p:cNvSpPr>
            <a:spLocks noGrp="1"/>
          </p:cNvSpPr>
          <p:nvPr>
            <p:ph type="body" sz="quarter" idx="92" hasCustomPrompt="1"/>
          </p:nvPr>
        </p:nvSpPr>
        <p:spPr>
          <a:xfrm>
            <a:off x="4664387"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7" name="Text Placeholder 11"/>
          <p:cNvSpPr>
            <a:spLocks noGrp="1"/>
          </p:cNvSpPr>
          <p:nvPr>
            <p:ph type="body" sz="quarter" idx="93" hasCustomPrompt="1"/>
          </p:nvPr>
        </p:nvSpPr>
        <p:spPr>
          <a:xfrm>
            <a:off x="4661165"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8" name="Text Placeholder 6"/>
          <p:cNvSpPr>
            <a:spLocks noGrp="1"/>
          </p:cNvSpPr>
          <p:nvPr>
            <p:ph type="body" sz="quarter" idx="94" hasCustomPrompt="1"/>
          </p:nvPr>
        </p:nvSpPr>
        <p:spPr>
          <a:xfrm>
            <a:off x="7715771"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9" name="Text Placeholder 11"/>
          <p:cNvSpPr>
            <a:spLocks noGrp="1"/>
          </p:cNvSpPr>
          <p:nvPr>
            <p:ph type="body" sz="quarter" idx="95" hasCustomPrompt="1"/>
          </p:nvPr>
        </p:nvSpPr>
        <p:spPr>
          <a:xfrm>
            <a:off x="830980"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80" name="Text Placeholder 11"/>
          <p:cNvSpPr>
            <a:spLocks noGrp="1"/>
          </p:cNvSpPr>
          <p:nvPr>
            <p:ph type="body" sz="quarter" idx="96" hasCustomPrompt="1"/>
          </p:nvPr>
        </p:nvSpPr>
        <p:spPr>
          <a:xfrm>
            <a:off x="827758"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1" name="Text Placeholder 6"/>
          <p:cNvSpPr>
            <a:spLocks noGrp="1"/>
          </p:cNvSpPr>
          <p:nvPr>
            <p:ph type="body" sz="quarter" idx="97" hasCustomPrompt="1"/>
          </p:nvPr>
        </p:nvSpPr>
        <p:spPr>
          <a:xfrm>
            <a:off x="3882364"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2" name="Text Placeholder 11"/>
          <p:cNvSpPr>
            <a:spLocks noGrp="1"/>
          </p:cNvSpPr>
          <p:nvPr>
            <p:ph type="body" sz="quarter" idx="98" hasCustomPrompt="1"/>
          </p:nvPr>
        </p:nvSpPr>
        <p:spPr>
          <a:xfrm>
            <a:off x="830980"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3" name="Text Placeholder 11"/>
          <p:cNvSpPr>
            <a:spLocks noGrp="1"/>
          </p:cNvSpPr>
          <p:nvPr>
            <p:ph type="body" sz="quarter" idx="99" hasCustomPrompt="1"/>
          </p:nvPr>
        </p:nvSpPr>
        <p:spPr>
          <a:xfrm>
            <a:off x="827758"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4" name="Text Placeholder 6"/>
          <p:cNvSpPr>
            <a:spLocks noGrp="1"/>
          </p:cNvSpPr>
          <p:nvPr>
            <p:ph type="body" sz="quarter" idx="100" hasCustomPrompt="1"/>
          </p:nvPr>
        </p:nvSpPr>
        <p:spPr>
          <a:xfrm>
            <a:off x="3882364"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5" name="Text Placeholder 11"/>
          <p:cNvSpPr>
            <a:spLocks noGrp="1"/>
          </p:cNvSpPr>
          <p:nvPr>
            <p:ph type="body" sz="quarter" idx="101" hasCustomPrompt="1"/>
          </p:nvPr>
        </p:nvSpPr>
        <p:spPr>
          <a:xfrm>
            <a:off x="830980"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6" name="Text Placeholder 11"/>
          <p:cNvSpPr>
            <a:spLocks noGrp="1"/>
          </p:cNvSpPr>
          <p:nvPr>
            <p:ph type="body" sz="quarter" idx="102" hasCustomPrompt="1"/>
          </p:nvPr>
        </p:nvSpPr>
        <p:spPr>
          <a:xfrm>
            <a:off x="827758"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p:txBody>
      </p:sp>
      <p:sp>
        <p:nvSpPr>
          <p:cNvPr id="87" name="Text Placeholder 6"/>
          <p:cNvSpPr>
            <a:spLocks noGrp="1"/>
          </p:cNvSpPr>
          <p:nvPr>
            <p:ph type="body" sz="quarter" idx="103" hasCustomPrompt="1"/>
          </p:nvPr>
        </p:nvSpPr>
        <p:spPr>
          <a:xfrm>
            <a:off x="3882364"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418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bi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56EA63-0ACA-2641-5B9B-A593E15C93E8}"/>
              </a:ext>
            </a:extLst>
          </p:cNvPr>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79"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12/16/2025</a:t>
            </a:fld>
            <a:endParaRPr lang="en-US"/>
          </a:p>
        </p:txBody>
      </p:sp>
      <p:sp>
        <p:nvSpPr>
          <p:cNvPr id="180"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81" name="Slide Number Placeholder 4"/>
          <p:cNvSpPr>
            <a:spLocks noGrp="1"/>
          </p:cNvSpPr>
          <p:nvPr>
            <p:ph type="sldNum" sz="quarter" idx="12"/>
          </p:nvPr>
        </p:nvSpPr>
        <p:spPr>
          <a:xfrm>
            <a:off x="621452" y="6335328"/>
            <a:ext cx="439703" cy="320040"/>
          </a:xfrm>
        </p:spPr>
        <p:txBody>
          <a:bodyPr/>
          <a:lstStyle>
            <a:lvl1pPr algn="l" rtl="1">
              <a:defRPr sz="1200">
                <a:solidFill>
                  <a:schemeClr val="accent1"/>
                </a:solidFill>
              </a:defRPr>
            </a:lvl1pPr>
          </a:lstStyle>
          <a:p>
            <a:fld id="{46ED658E-7B78-4C3F-B2D4-66856F143B40}" type="slidenum">
              <a:rPr lang="en-US" smtClean="0"/>
              <a:pPr/>
              <a:t>‹#›</a:t>
            </a:fld>
            <a:endParaRPr lang="en-US" dirty="0"/>
          </a:p>
        </p:txBody>
      </p:sp>
      <p:sp>
        <p:nvSpPr>
          <p:cNvPr id="182" name="Title 1"/>
          <p:cNvSpPr>
            <a:spLocks noGrp="1"/>
          </p:cNvSpPr>
          <p:nvPr>
            <p:ph type="title" hasCustomPrompt="1"/>
          </p:nvPr>
        </p:nvSpPr>
        <p:spPr>
          <a:xfrm>
            <a:off x="9207769" y="3185566"/>
            <a:ext cx="2779783" cy="486869"/>
          </a:xfrm>
        </p:spPr>
        <p:txBody>
          <a:bodyPr>
            <a:noAutofit/>
          </a:bodyPr>
          <a:lstStyle>
            <a:lvl1pPr algn="ctr">
              <a:defRPr sz="3600" spc="200" baseline="0">
                <a:solidFill>
                  <a:schemeClr val="bg1"/>
                </a:solidFill>
              </a:defRPr>
            </a:lvl1pPr>
          </a:lstStyle>
          <a:p>
            <a:r>
              <a:rPr lang="ar-EG" dirty="0"/>
              <a:t>جدول المحتويات</a:t>
            </a:r>
            <a:endParaRPr lang="en-US" dirty="0"/>
          </a:p>
        </p:txBody>
      </p:sp>
      <p:sp>
        <p:nvSpPr>
          <p:cNvPr id="183" name="Text Placeholder 11"/>
          <p:cNvSpPr>
            <a:spLocks noGrp="1"/>
          </p:cNvSpPr>
          <p:nvPr>
            <p:ph type="body" sz="quarter" idx="20" hasCustomPrompt="1"/>
          </p:nvPr>
        </p:nvSpPr>
        <p:spPr>
          <a:xfrm>
            <a:off x="1307048"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4" name="Text Placeholder 11"/>
          <p:cNvSpPr>
            <a:spLocks noGrp="1"/>
          </p:cNvSpPr>
          <p:nvPr>
            <p:ph type="body" sz="quarter" idx="23" hasCustomPrompt="1"/>
          </p:nvPr>
        </p:nvSpPr>
        <p:spPr>
          <a:xfrm>
            <a:off x="4980125"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5" name="Text Placeholder 11"/>
          <p:cNvSpPr>
            <a:spLocks noGrp="1"/>
          </p:cNvSpPr>
          <p:nvPr>
            <p:ph type="body" sz="quarter" idx="32" hasCustomPrompt="1"/>
          </p:nvPr>
        </p:nvSpPr>
        <p:spPr>
          <a:xfrm>
            <a:off x="1307048"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6" name="Text Placeholder 11"/>
          <p:cNvSpPr>
            <a:spLocks noGrp="1"/>
          </p:cNvSpPr>
          <p:nvPr>
            <p:ph type="body" sz="quarter" idx="35" hasCustomPrompt="1"/>
          </p:nvPr>
        </p:nvSpPr>
        <p:spPr>
          <a:xfrm>
            <a:off x="4980125"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7" name="Text Placeholder 11"/>
          <p:cNvSpPr>
            <a:spLocks noGrp="1"/>
          </p:cNvSpPr>
          <p:nvPr>
            <p:ph type="body" sz="quarter" idx="44" hasCustomPrompt="1"/>
          </p:nvPr>
        </p:nvSpPr>
        <p:spPr>
          <a:xfrm>
            <a:off x="1307048"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8" name="Text Placeholder 11"/>
          <p:cNvSpPr>
            <a:spLocks noGrp="1"/>
          </p:cNvSpPr>
          <p:nvPr>
            <p:ph type="body" sz="quarter" idx="47" hasCustomPrompt="1"/>
          </p:nvPr>
        </p:nvSpPr>
        <p:spPr>
          <a:xfrm>
            <a:off x="4980125"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9" name="Text Placeholder 6"/>
          <p:cNvSpPr>
            <a:spLocks noGrp="1"/>
          </p:cNvSpPr>
          <p:nvPr>
            <p:ph type="body" sz="quarter" idx="54" hasCustomPrompt="1"/>
          </p:nvPr>
        </p:nvSpPr>
        <p:spPr>
          <a:xfrm>
            <a:off x="4038533"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0" name="Text Placeholder 6"/>
          <p:cNvSpPr>
            <a:spLocks noGrp="1"/>
          </p:cNvSpPr>
          <p:nvPr>
            <p:ph type="body" sz="quarter" idx="55" hasCustomPrompt="1"/>
          </p:nvPr>
        </p:nvSpPr>
        <p:spPr>
          <a:xfrm>
            <a:off x="4038533"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1" name="Text Placeholder 6"/>
          <p:cNvSpPr>
            <a:spLocks noGrp="1"/>
          </p:cNvSpPr>
          <p:nvPr>
            <p:ph type="body" sz="quarter" idx="56" hasCustomPrompt="1"/>
          </p:nvPr>
        </p:nvSpPr>
        <p:spPr>
          <a:xfrm>
            <a:off x="4038533"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2" name="Text Placeholder 6"/>
          <p:cNvSpPr>
            <a:spLocks noGrp="1"/>
          </p:cNvSpPr>
          <p:nvPr>
            <p:ph type="body" sz="quarter" idx="57" hasCustomPrompt="1"/>
          </p:nvPr>
        </p:nvSpPr>
        <p:spPr>
          <a:xfrm>
            <a:off x="7715771"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3" name="Text Placeholder 6"/>
          <p:cNvSpPr>
            <a:spLocks noGrp="1"/>
          </p:cNvSpPr>
          <p:nvPr>
            <p:ph type="body" sz="quarter" idx="58" hasCustomPrompt="1"/>
          </p:nvPr>
        </p:nvSpPr>
        <p:spPr>
          <a:xfrm>
            <a:off x="7715771"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4" name="Text Placeholder 6"/>
          <p:cNvSpPr>
            <a:spLocks noGrp="1"/>
          </p:cNvSpPr>
          <p:nvPr>
            <p:ph type="body" sz="quarter" idx="59" hasCustomPrompt="1"/>
          </p:nvPr>
        </p:nvSpPr>
        <p:spPr>
          <a:xfrm>
            <a:off x="7715771"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5" name="Text Placeholder 11"/>
          <p:cNvSpPr>
            <a:spLocks noGrp="1"/>
          </p:cNvSpPr>
          <p:nvPr>
            <p:ph type="body" sz="quarter" idx="60" hasCustomPrompt="1"/>
          </p:nvPr>
        </p:nvSpPr>
        <p:spPr>
          <a:xfrm>
            <a:off x="1307048"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6" name="Text Placeholder 11"/>
          <p:cNvSpPr>
            <a:spLocks noGrp="1"/>
          </p:cNvSpPr>
          <p:nvPr>
            <p:ph type="body" sz="quarter" idx="61" hasCustomPrompt="1"/>
          </p:nvPr>
        </p:nvSpPr>
        <p:spPr>
          <a:xfrm>
            <a:off x="4980125"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7" name="Text Placeholder 11"/>
          <p:cNvSpPr>
            <a:spLocks noGrp="1"/>
          </p:cNvSpPr>
          <p:nvPr>
            <p:ph type="body" sz="quarter" idx="62" hasCustomPrompt="1"/>
          </p:nvPr>
        </p:nvSpPr>
        <p:spPr>
          <a:xfrm>
            <a:off x="1307048"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8" name="Text Placeholder 11"/>
          <p:cNvSpPr>
            <a:spLocks noGrp="1"/>
          </p:cNvSpPr>
          <p:nvPr>
            <p:ph type="body" sz="quarter" idx="63" hasCustomPrompt="1"/>
          </p:nvPr>
        </p:nvSpPr>
        <p:spPr>
          <a:xfrm>
            <a:off x="4980125"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9" name="Text Placeholder 11"/>
          <p:cNvSpPr>
            <a:spLocks noGrp="1"/>
          </p:cNvSpPr>
          <p:nvPr>
            <p:ph type="body" sz="quarter" idx="64" hasCustomPrompt="1"/>
          </p:nvPr>
        </p:nvSpPr>
        <p:spPr>
          <a:xfrm>
            <a:off x="1307048"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0" name="Text Placeholder 11"/>
          <p:cNvSpPr>
            <a:spLocks noGrp="1"/>
          </p:cNvSpPr>
          <p:nvPr>
            <p:ph type="body" sz="quarter" idx="65" hasCustomPrompt="1"/>
          </p:nvPr>
        </p:nvSpPr>
        <p:spPr>
          <a:xfrm>
            <a:off x="4980125"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1" name="Text Placeholder 6"/>
          <p:cNvSpPr>
            <a:spLocks noGrp="1"/>
          </p:cNvSpPr>
          <p:nvPr>
            <p:ph type="body" sz="quarter" idx="66" hasCustomPrompt="1"/>
          </p:nvPr>
        </p:nvSpPr>
        <p:spPr>
          <a:xfrm>
            <a:off x="4038533"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2" name="Text Placeholder 6"/>
          <p:cNvSpPr>
            <a:spLocks noGrp="1"/>
          </p:cNvSpPr>
          <p:nvPr>
            <p:ph type="body" sz="quarter" idx="67" hasCustomPrompt="1"/>
          </p:nvPr>
        </p:nvSpPr>
        <p:spPr>
          <a:xfrm>
            <a:off x="4038533"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3" name="Text Placeholder 6"/>
          <p:cNvSpPr>
            <a:spLocks noGrp="1"/>
          </p:cNvSpPr>
          <p:nvPr>
            <p:ph type="body" sz="quarter" idx="68" hasCustomPrompt="1"/>
          </p:nvPr>
        </p:nvSpPr>
        <p:spPr>
          <a:xfrm>
            <a:off x="4038533"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4" name="Text Placeholder 6"/>
          <p:cNvSpPr>
            <a:spLocks noGrp="1"/>
          </p:cNvSpPr>
          <p:nvPr>
            <p:ph type="body" sz="quarter" idx="69" hasCustomPrompt="1"/>
          </p:nvPr>
        </p:nvSpPr>
        <p:spPr>
          <a:xfrm>
            <a:off x="7715771"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5" name="Text Placeholder 6"/>
          <p:cNvSpPr>
            <a:spLocks noGrp="1"/>
          </p:cNvSpPr>
          <p:nvPr>
            <p:ph type="body" sz="quarter" idx="70" hasCustomPrompt="1"/>
          </p:nvPr>
        </p:nvSpPr>
        <p:spPr>
          <a:xfrm>
            <a:off x="7715771"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6" name="Text Placeholder 6"/>
          <p:cNvSpPr>
            <a:spLocks noGrp="1"/>
          </p:cNvSpPr>
          <p:nvPr>
            <p:ph type="body" sz="quarter" idx="71" hasCustomPrompt="1"/>
          </p:nvPr>
        </p:nvSpPr>
        <p:spPr>
          <a:xfrm>
            <a:off x="7715771"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pic>
        <p:nvPicPr>
          <p:cNvPr id="3" name="Picture 2">
            <a:extLst>
              <a:ext uri="{FF2B5EF4-FFF2-40B4-BE49-F238E27FC236}">
                <a16:creationId xmlns:a16="http://schemas.microsoft.com/office/drawing/2014/main" id="{BDE1AC8B-C2AF-7EC8-8BD1-AD35C320C96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7037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p:spTree>
      <p:nvGrpSpPr>
        <p:cNvPr id="1" name=""/>
        <p:cNvGrpSpPr/>
        <p:nvPr/>
      </p:nvGrpSpPr>
      <p:grpSpPr>
        <a:xfrm>
          <a:off x="0" y="0"/>
          <a:ext cx="0" cy="0"/>
          <a:chOff x="0" y="0"/>
          <a:chExt cx="0" cy="0"/>
        </a:xfrm>
      </p:grpSpPr>
      <p:sp>
        <p:nvSpPr>
          <p:cNvPr id="6" name="Rectangle 5"/>
          <p:cNvSpPr/>
          <p:nvPr userDrawn="1"/>
        </p:nvSpPr>
        <p:spPr>
          <a:xfrm>
            <a:off x="8153400" y="1352939"/>
            <a:ext cx="4038600" cy="5505061"/>
          </a:xfrm>
          <a:prstGeom prst="rect">
            <a:avLst/>
          </a:prstGeom>
          <a:gradFill>
            <a:gsLst>
              <a:gs pos="100000">
                <a:schemeClr val="accent1"/>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7" name="Rectangle 6"/>
          <p:cNvSpPr/>
          <p:nvPr userDrawn="1"/>
        </p:nvSpPr>
        <p:spPr>
          <a:xfrm>
            <a:off x="8153400" y="-373"/>
            <a:ext cx="4038600" cy="6217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8153400" y="621419"/>
            <a:ext cx="403860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p:cNvSpPr>
            <a:spLocks noGrp="1"/>
          </p:cNvSpPr>
          <p:nvPr>
            <p:ph type="title" hasCustomPrompt="1"/>
          </p:nvPr>
        </p:nvSpPr>
        <p:spPr>
          <a:xfrm>
            <a:off x="8308759" y="621420"/>
            <a:ext cx="3727882" cy="731519"/>
          </a:xfrm>
        </p:spPr>
        <p:txBody>
          <a:bodyPr anchor="ctr" anchorCtr="0"/>
          <a:lstStyle>
            <a:lvl1pPr algn="ctr">
              <a:defRPr sz="4000">
                <a:solidFill>
                  <a:schemeClr val="accent1"/>
                </a:solidFill>
              </a:defRPr>
            </a:lvl1pPr>
          </a:lstStyle>
          <a:p>
            <a:r>
              <a:rPr lang="ar-EG" dirty="0"/>
              <a:t>جدول المحتويات</a:t>
            </a:r>
            <a:endParaRPr lang="en-US" dirty="0"/>
          </a:p>
        </p:txBody>
      </p:sp>
      <p:sp>
        <p:nvSpPr>
          <p:cNvPr id="28" name="Text Placeholder 27"/>
          <p:cNvSpPr>
            <a:spLocks noGrp="1"/>
          </p:cNvSpPr>
          <p:nvPr>
            <p:ph type="body" sz="quarter" idx="13"/>
          </p:nvPr>
        </p:nvSpPr>
        <p:spPr>
          <a:xfrm>
            <a:off x="3196257" y="160496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3" name="Text Placeholder 27"/>
          <p:cNvSpPr>
            <a:spLocks noGrp="1"/>
          </p:cNvSpPr>
          <p:nvPr>
            <p:ph type="body" sz="quarter" idx="14"/>
          </p:nvPr>
        </p:nvSpPr>
        <p:spPr>
          <a:xfrm>
            <a:off x="3196257" y="2010050"/>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6" name="Text Placeholder 27"/>
          <p:cNvSpPr>
            <a:spLocks noGrp="1"/>
          </p:cNvSpPr>
          <p:nvPr>
            <p:ph type="body" sz="quarter" idx="15"/>
          </p:nvPr>
        </p:nvSpPr>
        <p:spPr>
          <a:xfrm>
            <a:off x="3196257" y="2415137"/>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9" name="Text Placeholder 27"/>
          <p:cNvSpPr>
            <a:spLocks noGrp="1"/>
          </p:cNvSpPr>
          <p:nvPr>
            <p:ph type="body" sz="quarter" idx="16"/>
          </p:nvPr>
        </p:nvSpPr>
        <p:spPr>
          <a:xfrm>
            <a:off x="3196257" y="2820224"/>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2" name="Text Placeholder 27"/>
          <p:cNvSpPr>
            <a:spLocks noGrp="1"/>
          </p:cNvSpPr>
          <p:nvPr>
            <p:ph type="body" sz="quarter" idx="17"/>
          </p:nvPr>
        </p:nvSpPr>
        <p:spPr>
          <a:xfrm>
            <a:off x="3196257" y="3225311"/>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5" name="Text Placeholder 27"/>
          <p:cNvSpPr>
            <a:spLocks noGrp="1"/>
          </p:cNvSpPr>
          <p:nvPr>
            <p:ph type="body" sz="quarter" idx="18"/>
          </p:nvPr>
        </p:nvSpPr>
        <p:spPr>
          <a:xfrm>
            <a:off x="3196257" y="363039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8" name="Text Placeholder 27"/>
          <p:cNvSpPr>
            <a:spLocks noGrp="1"/>
          </p:cNvSpPr>
          <p:nvPr>
            <p:ph type="body" sz="quarter" idx="19"/>
          </p:nvPr>
        </p:nvSpPr>
        <p:spPr>
          <a:xfrm>
            <a:off x="3196257" y="4035485"/>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1" name="Text Placeholder 27"/>
          <p:cNvSpPr>
            <a:spLocks noGrp="1"/>
          </p:cNvSpPr>
          <p:nvPr>
            <p:ph type="body" sz="quarter" idx="20"/>
          </p:nvPr>
        </p:nvSpPr>
        <p:spPr>
          <a:xfrm>
            <a:off x="3196257" y="4440572"/>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4" name="Text Placeholder 27"/>
          <p:cNvSpPr>
            <a:spLocks noGrp="1"/>
          </p:cNvSpPr>
          <p:nvPr>
            <p:ph type="body" sz="quarter" idx="21"/>
          </p:nvPr>
        </p:nvSpPr>
        <p:spPr>
          <a:xfrm>
            <a:off x="3196257" y="4845659"/>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7" name="Text Placeholder 27"/>
          <p:cNvSpPr>
            <a:spLocks noGrp="1"/>
          </p:cNvSpPr>
          <p:nvPr>
            <p:ph type="body" sz="quarter" idx="22"/>
          </p:nvPr>
        </p:nvSpPr>
        <p:spPr>
          <a:xfrm>
            <a:off x="3196257" y="5250746"/>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0" name="Text Placeholder 27"/>
          <p:cNvSpPr>
            <a:spLocks noGrp="1"/>
          </p:cNvSpPr>
          <p:nvPr>
            <p:ph type="body" sz="quarter" idx="23"/>
          </p:nvPr>
        </p:nvSpPr>
        <p:spPr>
          <a:xfrm>
            <a:off x="3196257" y="565583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3" name="Text Placeholder 27"/>
          <p:cNvSpPr>
            <a:spLocks noGrp="1"/>
          </p:cNvSpPr>
          <p:nvPr>
            <p:ph type="body" sz="quarter" idx="24"/>
          </p:nvPr>
        </p:nvSpPr>
        <p:spPr>
          <a:xfrm>
            <a:off x="3196257" y="606091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2" name="TextBox 81"/>
          <p:cNvSpPr txBox="1"/>
          <p:nvPr userDrawn="1"/>
        </p:nvSpPr>
        <p:spPr>
          <a:xfrm>
            <a:off x="2214857" y="2716272"/>
            <a:ext cx="1344317" cy="338554"/>
          </a:xfrm>
          <a:prstGeom prst="rect">
            <a:avLst/>
          </a:prstGeom>
          <a:noFill/>
        </p:spPr>
        <p:txBody>
          <a:bodyPr wrap="square" rtlCol="0" anchor="ctr">
            <a:spAutoFit/>
          </a:bodyPr>
          <a:lstStyle/>
          <a:p>
            <a:pPr algn="r" fontAlgn="base"/>
            <a:r>
              <a:rPr lang="en-US" sz="1600" b="1" dirty="0">
                <a:solidFill>
                  <a:schemeClr val="bg1"/>
                </a:solidFill>
                <a:latin typeface="+mj-lt"/>
                <a:ea typeface="Open Sans" panose="020B0606030504020204" pitchFamily="34" charset="0"/>
                <a:cs typeface="Open Sans" panose="020B0606030504020204" pitchFamily="34" charset="0"/>
              </a:rPr>
              <a:t>01</a:t>
            </a:r>
          </a:p>
        </p:txBody>
      </p:sp>
      <p:sp>
        <p:nvSpPr>
          <p:cNvPr id="23"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3" name="Picture 2">
            <a:extLst>
              <a:ext uri="{FF2B5EF4-FFF2-40B4-BE49-F238E27FC236}">
                <a16:creationId xmlns:a16="http://schemas.microsoft.com/office/drawing/2014/main" id="{B100176E-CEC2-70DC-C086-2D881B34126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25434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xEl>
                                              <p:pRg st="0" end="0"/>
                                            </p:txEl>
                                          </p:spTgt>
                                        </p:tgtEl>
                                        <p:attrNameLst>
                                          <p:attrName>style.visibility</p:attrName>
                                        </p:attrNameLst>
                                      </p:cBhvr>
                                      <p:to>
                                        <p:strVal val="visible"/>
                                      </p:to>
                                    </p:set>
                                    <p:animEffect transition="in" filter="fade">
                                      <p:cBhvr>
                                        <p:cTn id="10" dur="500"/>
                                        <p:tgtEl>
                                          <p:spTgt spid="6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6">
                                            <p:txEl>
                                              <p:pRg st="0" end="0"/>
                                            </p:txEl>
                                          </p:spTgt>
                                        </p:tgtEl>
                                        <p:attrNameLst>
                                          <p:attrName>style.visibility</p:attrName>
                                        </p:attrNameLst>
                                      </p:cBhvr>
                                      <p:to>
                                        <p:strVal val="visible"/>
                                      </p:to>
                                    </p:set>
                                    <p:animEffect transition="in" filter="fade">
                                      <p:cBhvr>
                                        <p:cTn id="13" dur="500"/>
                                        <p:tgtEl>
                                          <p:spTgt spid="66">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9">
                                            <p:txEl>
                                              <p:pRg st="0" end="0"/>
                                            </p:txEl>
                                          </p:spTgt>
                                        </p:tgtEl>
                                        <p:attrNameLst>
                                          <p:attrName>style.visibility</p:attrName>
                                        </p:attrNameLst>
                                      </p:cBhvr>
                                      <p:to>
                                        <p:strVal val="visible"/>
                                      </p:to>
                                    </p:set>
                                    <p:animEffect transition="in" filter="fade">
                                      <p:cBhvr>
                                        <p:cTn id="16" dur="500"/>
                                        <p:tgtEl>
                                          <p:spTgt spid="69">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2">
                                            <p:txEl>
                                              <p:pRg st="0" end="0"/>
                                            </p:txEl>
                                          </p:spTgt>
                                        </p:tgtEl>
                                        <p:attrNameLst>
                                          <p:attrName>style.visibility</p:attrName>
                                        </p:attrNameLst>
                                      </p:cBhvr>
                                      <p:to>
                                        <p:strVal val="visible"/>
                                      </p:to>
                                    </p:set>
                                    <p:animEffect transition="in" filter="fade">
                                      <p:cBhvr>
                                        <p:cTn id="19" dur="500"/>
                                        <p:tgtEl>
                                          <p:spTgt spid="72">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5">
                                            <p:txEl>
                                              <p:pRg st="0" end="0"/>
                                            </p:txEl>
                                          </p:spTgt>
                                        </p:tgtEl>
                                        <p:attrNameLst>
                                          <p:attrName>style.visibility</p:attrName>
                                        </p:attrNameLst>
                                      </p:cBhvr>
                                      <p:to>
                                        <p:strVal val="visible"/>
                                      </p:to>
                                    </p:set>
                                    <p:animEffect transition="in" filter="fade">
                                      <p:cBhvr>
                                        <p:cTn id="22" dur="500"/>
                                        <p:tgtEl>
                                          <p:spTgt spid="7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8">
                                            <p:txEl>
                                              <p:pRg st="0" end="0"/>
                                            </p:txEl>
                                          </p:spTgt>
                                        </p:tgtEl>
                                        <p:attrNameLst>
                                          <p:attrName>style.visibility</p:attrName>
                                        </p:attrNameLst>
                                      </p:cBhvr>
                                      <p:to>
                                        <p:strVal val="visible"/>
                                      </p:to>
                                    </p:set>
                                    <p:animEffect transition="in" filter="fade">
                                      <p:cBhvr>
                                        <p:cTn id="25" dur="500"/>
                                        <p:tgtEl>
                                          <p:spTgt spid="7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1">
                                            <p:txEl>
                                              <p:pRg st="0" end="0"/>
                                            </p:txEl>
                                          </p:spTgt>
                                        </p:tgtEl>
                                        <p:attrNameLst>
                                          <p:attrName>style.visibility</p:attrName>
                                        </p:attrNameLst>
                                      </p:cBhvr>
                                      <p:to>
                                        <p:strVal val="visible"/>
                                      </p:to>
                                    </p:set>
                                    <p:animEffect transition="in" filter="fade">
                                      <p:cBhvr>
                                        <p:cTn id="28" dur="500"/>
                                        <p:tgtEl>
                                          <p:spTgt spid="81">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4">
                                            <p:txEl>
                                              <p:pRg st="0" end="0"/>
                                            </p:txEl>
                                          </p:spTgt>
                                        </p:tgtEl>
                                        <p:attrNameLst>
                                          <p:attrName>style.visibility</p:attrName>
                                        </p:attrNameLst>
                                      </p:cBhvr>
                                      <p:to>
                                        <p:strVal val="visible"/>
                                      </p:to>
                                    </p:set>
                                    <p:animEffect transition="in" filter="fade">
                                      <p:cBhvr>
                                        <p:cTn id="31" dur="500"/>
                                        <p:tgtEl>
                                          <p:spTgt spid="84">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7">
                                            <p:txEl>
                                              <p:pRg st="0" end="0"/>
                                            </p:txEl>
                                          </p:spTgt>
                                        </p:tgtEl>
                                        <p:attrNameLst>
                                          <p:attrName>style.visibility</p:attrName>
                                        </p:attrNameLst>
                                      </p:cBhvr>
                                      <p:to>
                                        <p:strVal val="visible"/>
                                      </p:to>
                                    </p:set>
                                    <p:animEffect transition="in" filter="fade">
                                      <p:cBhvr>
                                        <p:cTn id="34" dur="500"/>
                                        <p:tgtEl>
                                          <p:spTgt spid="87">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0">
                                            <p:txEl>
                                              <p:pRg st="0" end="0"/>
                                            </p:txEl>
                                          </p:spTgt>
                                        </p:tgtEl>
                                        <p:attrNameLst>
                                          <p:attrName>style.visibility</p:attrName>
                                        </p:attrNameLst>
                                      </p:cBhvr>
                                      <p:to>
                                        <p:strVal val="visible"/>
                                      </p:to>
                                    </p:set>
                                    <p:animEffect transition="in" filter="fade">
                                      <p:cBhvr>
                                        <p:cTn id="37" dur="500"/>
                                        <p:tgtEl>
                                          <p:spTgt spid="90">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3">
                                            <p:txEl>
                                              <p:pRg st="0" end="0"/>
                                            </p:txEl>
                                          </p:spTgt>
                                        </p:tgtEl>
                                        <p:attrNameLst>
                                          <p:attrName>style.visibility</p:attrName>
                                        </p:attrNameLst>
                                      </p:cBhvr>
                                      <p:to>
                                        <p:strVal val="visible"/>
                                      </p:to>
                                    </p:set>
                                    <p:animEffect transition="in" filter="fade">
                                      <p:cBhvr>
                                        <p:cTn id="40" dur="500"/>
                                        <p:tgtEl>
                                          <p:spTgt spid="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allAtOnce">
        <p:tmplLst>
          <p:tmpl lvl="1">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3" grpId="0" build="allAtOnce">
        <p:tmplLst>
          <p:tmpl lvl="1">
            <p:tnLst>
              <p:par>
                <p:cTn presetID="10"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fade">
                      <p:cBhvr>
                        <p:cTn dur="500"/>
                        <p:tgtEl>
                          <p:spTgt spid="63"/>
                        </p:tgtEl>
                      </p:cBhvr>
                    </p:animEffect>
                  </p:childTnLst>
                </p:cTn>
              </p:par>
            </p:tnLst>
          </p:tmpl>
        </p:tmplLst>
      </p:bldP>
      <p:bldP spid="66" grpId="0" build="allAtOnce">
        <p:tmplLst>
          <p:tmpl lvl="1">
            <p:tnLst>
              <p:par>
                <p:cTn presetID="10"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fade">
                      <p:cBhvr>
                        <p:cTn dur="500"/>
                        <p:tgtEl>
                          <p:spTgt spid="66"/>
                        </p:tgtEl>
                      </p:cBhvr>
                    </p:animEffect>
                  </p:childTnLst>
                </p:cTn>
              </p:par>
            </p:tnLst>
          </p:tmpl>
        </p:tmplLst>
      </p:bldP>
      <p:bldP spid="69" grpId="0" build="allAtOnce">
        <p:tmplLst>
          <p:tmpl lvl="1">
            <p:tnLst>
              <p:par>
                <p:cTn presetID="10" presetClass="entr" presetSubtype="0" fill="hold" nodeType="with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fade">
                      <p:cBhvr>
                        <p:cTn dur="500"/>
                        <p:tgtEl>
                          <p:spTgt spid="69"/>
                        </p:tgtEl>
                      </p:cBhvr>
                    </p:animEffect>
                  </p:childTnLst>
                </p:cTn>
              </p:par>
            </p:tnLst>
          </p:tmpl>
        </p:tmplLst>
      </p:bldP>
      <p:bldP spid="72" grpId="0" build="allAtOnce">
        <p:tmplLst>
          <p:tmpl lvl="1">
            <p:tnLst>
              <p:par>
                <p:cTn presetID="10"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fade">
                      <p:cBhvr>
                        <p:cTn dur="500"/>
                        <p:tgtEl>
                          <p:spTgt spid="72"/>
                        </p:tgtEl>
                      </p:cBhvr>
                    </p:animEffect>
                  </p:childTnLst>
                </p:cTn>
              </p:par>
            </p:tnLst>
          </p:tmpl>
        </p:tmplLst>
      </p:bldP>
      <p:bldP spid="75" grpId="0" build="allAtOnce">
        <p:tmplLst>
          <p:tmpl lvl="1">
            <p:tnLst>
              <p:par>
                <p:cTn presetID="10"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fade">
                      <p:cBhvr>
                        <p:cTn dur="500"/>
                        <p:tgtEl>
                          <p:spTgt spid="75"/>
                        </p:tgtEl>
                      </p:cBhvr>
                    </p:animEffect>
                  </p:childTnLst>
                </p:cTn>
              </p:par>
            </p:tnLst>
          </p:tmpl>
        </p:tmplLst>
      </p:bldP>
      <p:bldP spid="78" grpId="0" build="allAtOnce">
        <p:tmplLst>
          <p:tmpl lvl="1">
            <p:tnLst>
              <p:par>
                <p:cTn presetID="10" presetClass="entr" presetSubtype="0" fill="hold" nodeType="with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fade">
                      <p:cBhvr>
                        <p:cTn dur="500"/>
                        <p:tgtEl>
                          <p:spTgt spid="78"/>
                        </p:tgtEl>
                      </p:cBhvr>
                    </p:animEffect>
                  </p:childTnLst>
                </p:cTn>
              </p:par>
            </p:tnLst>
          </p:tmpl>
        </p:tmplLst>
      </p:bldP>
      <p:bldP spid="81" grpId="0" build="allAtOnce">
        <p:tmplLst>
          <p:tmpl lvl="1">
            <p:tnLst>
              <p:par>
                <p:cTn presetID="10" presetClass="entr" presetSubtype="0" fill="hold" nodeType="withEffect">
                  <p:stCondLst>
                    <p:cond delay="0"/>
                  </p:stCondLst>
                  <p:childTnLst>
                    <p:set>
                      <p:cBhvr>
                        <p:cTn dur="1" fill="hold">
                          <p:stCondLst>
                            <p:cond delay="0"/>
                          </p:stCondLst>
                        </p:cTn>
                        <p:tgtEl>
                          <p:spTgt spid="81"/>
                        </p:tgtEl>
                        <p:attrNameLst>
                          <p:attrName>style.visibility</p:attrName>
                        </p:attrNameLst>
                      </p:cBhvr>
                      <p:to>
                        <p:strVal val="visible"/>
                      </p:to>
                    </p:set>
                    <p:animEffect transition="in" filter="fade">
                      <p:cBhvr>
                        <p:cTn dur="500"/>
                        <p:tgtEl>
                          <p:spTgt spid="81"/>
                        </p:tgtEl>
                      </p:cBhvr>
                    </p:animEffect>
                  </p:childTnLst>
                </p:cTn>
              </p:par>
            </p:tnLst>
          </p:tmpl>
        </p:tmplLst>
      </p:bldP>
      <p:bldP spid="84" grpId="0" build="allAtOnce">
        <p:tmplLst>
          <p:tmpl lvl="1">
            <p:tnLst>
              <p:par>
                <p:cTn presetID="10" presetClass="entr" presetSubtype="0" fill="hold" nodeType="withEffect">
                  <p:stCondLst>
                    <p:cond delay="0"/>
                  </p:stCondLst>
                  <p:childTnLst>
                    <p:set>
                      <p:cBhvr>
                        <p:cTn dur="1" fill="hold">
                          <p:stCondLst>
                            <p:cond delay="0"/>
                          </p:stCondLst>
                        </p:cTn>
                        <p:tgtEl>
                          <p:spTgt spid="84"/>
                        </p:tgtEl>
                        <p:attrNameLst>
                          <p:attrName>style.visibility</p:attrName>
                        </p:attrNameLst>
                      </p:cBhvr>
                      <p:to>
                        <p:strVal val="visible"/>
                      </p:to>
                    </p:set>
                    <p:animEffect transition="in" filter="fade">
                      <p:cBhvr>
                        <p:cTn dur="500"/>
                        <p:tgtEl>
                          <p:spTgt spid="84"/>
                        </p:tgtEl>
                      </p:cBhvr>
                    </p:animEffect>
                  </p:childTnLst>
                </p:cTn>
              </p:par>
            </p:tnLst>
          </p:tmpl>
        </p:tmplLst>
      </p:bldP>
      <p:bldP spid="87" grpId="0" build="allAtOnce">
        <p:tmplLst>
          <p:tmpl lvl="1">
            <p:tnLst>
              <p:par>
                <p:cTn presetID="10" presetClass="entr" presetSubtype="0" fill="hold" nodeType="withEffect">
                  <p:stCondLst>
                    <p:cond delay="0"/>
                  </p:stCondLst>
                  <p:childTnLst>
                    <p:set>
                      <p:cBhvr>
                        <p:cTn dur="1" fill="hold">
                          <p:stCondLst>
                            <p:cond delay="0"/>
                          </p:stCondLst>
                        </p:cTn>
                        <p:tgtEl>
                          <p:spTgt spid="87"/>
                        </p:tgtEl>
                        <p:attrNameLst>
                          <p:attrName>style.visibility</p:attrName>
                        </p:attrNameLst>
                      </p:cBhvr>
                      <p:to>
                        <p:strVal val="visible"/>
                      </p:to>
                    </p:set>
                    <p:animEffect transition="in" filter="fade">
                      <p:cBhvr>
                        <p:cTn dur="500"/>
                        <p:tgtEl>
                          <p:spTgt spid="87"/>
                        </p:tgtEl>
                      </p:cBhvr>
                    </p:animEffect>
                  </p:childTnLst>
                </p:cTn>
              </p:par>
            </p:tnLst>
          </p:tmpl>
        </p:tmplLst>
      </p:bldP>
      <p:bldP spid="90" grpId="0" build="allAtOnce">
        <p:tmplLst>
          <p:tmpl lvl="1">
            <p:tnLst>
              <p:par>
                <p:cTn presetID="10" presetClass="entr" presetSubtype="0" fill="hold" nodeType="withEffect">
                  <p:stCondLst>
                    <p:cond delay="0"/>
                  </p:stCondLst>
                  <p:childTnLst>
                    <p:set>
                      <p:cBhvr>
                        <p:cTn dur="1" fill="hold">
                          <p:stCondLst>
                            <p:cond delay="0"/>
                          </p:stCondLst>
                        </p:cTn>
                        <p:tgtEl>
                          <p:spTgt spid="90"/>
                        </p:tgtEl>
                        <p:attrNameLst>
                          <p:attrName>style.visibility</p:attrName>
                        </p:attrNameLst>
                      </p:cBhvr>
                      <p:to>
                        <p:strVal val="visible"/>
                      </p:to>
                    </p:set>
                    <p:animEffect transition="in" filter="fade">
                      <p:cBhvr>
                        <p:cTn dur="500"/>
                        <p:tgtEl>
                          <p:spTgt spid="90"/>
                        </p:tgtEl>
                      </p:cBhvr>
                    </p:animEffect>
                  </p:childTnLst>
                </p:cTn>
              </p:par>
            </p:tnLst>
          </p:tmpl>
        </p:tmplLst>
      </p:bldP>
      <p:bldP spid="93" grpId="0" build="allAtOnce">
        <p:tmplLst>
          <p:tmpl lvl="1">
            <p:tnLst>
              <p:par>
                <p:cTn presetID="10" presetClass="entr" presetSubtype="0" fill="hold" nodeType="withEffect">
                  <p:stCondLst>
                    <p:cond delay="0"/>
                  </p:stCondLst>
                  <p:childTnLst>
                    <p:set>
                      <p:cBhvr>
                        <p:cTn dur="1" fill="hold">
                          <p:stCondLst>
                            <p:cond delay="0"/>
                          </p:stCondLst>
                        </p:cTn>
                        <p:tgtEl>
                          <p:spTgt spid="93"/>
                        </p:tgtEl>
                        <p:attrNameLst>
                          <p:attrName>style.visibility</p:attrName>
                        </p:attrNameLst>
                      </p:cBhvr>
                      <p:to>
                        <p:strVal val="visible"/>
                      </p:to>
                    </p:set>
                    <p:animEffect transition="in" filter="fade">
                      <p:cBhvr>
                        <p:cTn dur="500"/>
                        <p:tgtEl>
                          <p:spTgt spid="9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12/16/2025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29243560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7489825" y="0"/>
            <a:ext cx="4702175" cy="6858000"/>
          </a:xfrm>
        </p:spPr>
        <p:txBody>
          <a:bodyPr/>
          <a:lstStyle/>
          <a:p>
            <a:r>
              <a:rPr lang="en-US"/>
              <a:t>Click icon to add picture</a:t>
            </a:r>
          </a:p>
        </p:txBody>
      </p:sp>
      <p:sp>
        <p:nvSpPr>
          <p:cNvPr id="2" name="Title 1"/>
          <p:cNvSpPr>
            <a:spLocks noGrp="1"/>
          </p:cNvSpPr>
          <p:nvPr>
            <p:ph type="title" hasCustomPrompt="1"/>
          </p:nvPr>
        </p:nvSpPr>
        <p:spPr>
          <a:xfrm>
            <a:off x="838200" y="475918"/>
            <a:ext cx="6115756" cy="666261"/>
          </a:xfrm>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12/16/2025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79341413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Date Placeholder 3"/>
          <p:cNvSpPr>
            <a:spLocks noGrp="1"/>
          </p:cNvSpPr>
          <p:nvPr>
            <p:ph type="dt" sz="half" idx="10"/>
          </p:nvPr>
        </p:nvSpPr>
        <p:spPr>
          <a:xfrm>
            <a:off x="1126155" y="6372408"/>
            <a:ext cx="1875631" cy="365125"/>
          </a:xfrm>
          <a:prstGeom prst="rect">
            <a:avLst/>
          </a:prstGeom>
        </p:spPr>
        <p:txBody>
          <a:bodyPr/>
          <a:lstStyle/>
          <a:p>
            <a:fld id="{F2A58179-A128-427D-87DD-C6A55F04E0A8}" type="datetime1">
              <a:rPr lang="en-US" smtClean="0"/>
              <a:t>12/16/2025</a:t>
            </a:fld>
            <a:endParaRPr lang="en-US"/>
          </a:p>
        </p:txBody>
      </p:sp>
      <p:sp>
        <p:nvSpPr>
          <p:cNvPr id="5" name="Footer Placeholder 4"/>
          <p:cNvSpPr>
            <a:spLocks noGrp="1"/>
          </p:cNvSpPr>
          <p:nvPr>
            <p:ph type="ftr" sz="quarter" idx="11"/>
          </p:nvPr>
        </p:nvSpPr>
        <p:spPr>
          <a:xfrm>
            <a:off x="4250035" y="6367630"/>
            <a:ext cx="3691931"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BE4EC83-A869-464E-AE9F-881796FB085E}" type="slidenum">
              <a:rPr lang="en-US" smtClean="0"/>
              <a:t>‹#›</a:t>
            </a:fld>
            <a:endParaRPr lang="en-US"/>
          </a:p>
        </p:txBody>
      </p:sp>
      <p:sp>
        <p:nvSpPr>
          <p:cNvPr id="7" name="Title 6"/>
          <p:cNvSpPr>
            <a:spLocks noGrp="1"/>
          </p:cNvSpPr>
          <p:nvPr>
            <p:ph type="title" hasCustomPrompt="1"/>
          </p:nvPr>
        </p:nvSpPr>
        <p:spPr/>
        <p:txBody>
          <a:bodyPr/>
          <a:lstStyle/>
          <a:p>
            <a:r>
              <a:rPr lang="ar-EG" dirty="0"/>
              <a:t>اضغط لتغيير العنوان</a:t>
            </a:r>
            <a:endParaRPr lang="en-US" dirty="0"/>
          </a:p>
        </p:txBody>
      </p:sp>
    </p:spTree>
    <p:extLst>
      <p:ext uri="{BB962C8B-B14F-4D97-AF65-F5344CB8AC3E}">
        <p14:creationId xmlns:p14="http://schemas.microsoft.com/office/powerpoint/2010/main" val="132083401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6" name="Picture 5" descr="A purple and white rectangle&#10;&#10;Description automatically generated">
            <a:extLst>
              <a:ext uri="{FF2B5EF4-FFF2-40B4-BE49-F238E27FC236}">
                <a16:creationId xmlns:a16="http://schemas.microsoft.com/office/drawing/2014/main" id="{5D8E7D26-4E4F-35D7-4CE8-4428C2B6C8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5928634" y="3925452"/>
            <a:ext cx="5615666" cy="641639"/>
          </a:xfrm>
          <a:noFill/>
        </p:spPr>
        <p:txBody>
          <a:bodyPr lIns="0" rIns="0" anchor="t" anchorCtr="0">
            <a:noAutofit/>
          </a:bodyPr>
          <a:lstStyle>
            <a:lvl1pPr algn="r">
              <a:defRPr sz="3600">
                <a:solidFill>
                  <a:schemeClr val="bg1"/>
                </a:solidFill>
                <a:latin typeface="DIN Next LT Arabic" panose="020B0503020203050203" pitchFamily="34" charset="-78"/>
                <a:cs typeface="DIN Next LT Arabic" panose="020B0503020203050203" pitchFamily="34" charset="-78"/>
              </a:defRPr>
            </a:lvl1pPr>
          </a:lstStyle>
          <a:p>
            <a:r>
              <a:rPr lang="ar-EG" dirty="0"/>
              <a:t>اضغط لتغيير العنوان</a:t>
            </a:r>
            <a:endParaRPr lang="en-US" dirty="0"/>
          </a:p>
        </p:txBody>
      </p:sp>
      <p:sp>
        <p:nvSpPr>
          <p:cNvPr id="9" name="Text Placeholder 3"/>
          <p:cNvSpPr>
            <a:spLocks noGrp="1"/>
          </p:cNvSpPr>
          <p:nvPr>
            <p:ph type="body" sz="quarter" idx="12"/>
          </p:nvPr>
        </p:nvSpPr>
        <p:spPr>
          <a:xfrm>
            <a:off x="7292975" y="7016661"/>
            <a:ext cx="4251325" cy="865187"/>
          </a:xfrm>
        </p:spPr>
        <p:txBody>
          <a:bodyPr>
            <a:normAutofit/>
          </a:bodyPr>
          <a:lstStyle>
            <a:lvl1pPr marL="0" indent="0" algn="ctr">
              <a:buNone/>
              <a:defRPr sz="1600">
                <a:solidFill>
                  <a:srgbClr val="E6E6E6"/>
                </a:solidFill>
              </a:defRPr>
            </a:lvl1pPr>
          </a:lstStyle>
          <a:p>
            <a:pPr lvl="0"/>
            <a:r>
              <a:rPr lang="en-US"/>
              <a:t>Click to edit Master text styles</a:t>
            </a:r>
          </a:p>
        </p:txBody>
      </p:sp>
      <p:sp>
        <p:nvSpPr>
          <p:cNvPr id="18" name="Text Placeholder 4"/>
          <p:cNvSpPr>
            <a:spLocks noGrp="1"/>
          </p:cNvSpPr>
          <p:nvPr>
            <p:ph type="body" sz="quarter" idx="14" hasCustomPrompt="1"/>
          </p:nvPr>
        </p:nvSpPr>
        <p:spPr>
          <a:xfrm>
            <a:off x="9601626" y="2343256"/>
            <a:ext cx="1942674" cy="1181919"/>
          </a:xfrm>
          <a:noFill/>
        </p:spPr>
        <p:txBody>
          <a:bodyPr lIns="0" tIns="0" bIns="0" anchor="ctr" anchorCtr="0">
            <a:noAutofit/>
          </a:bodyPr>
          <a:lstStyle>
            <a:lvl1pPr marL="0" indent="0" algn="ctr">
              <a:buNone/>
              <a:defRPr sz="8800" b="1">
                <a:ln w="19050">
                  <a:solidFill>
                    <a:schemeClr val="accent1"/>
                  </a:solidFill>
                </a:ln>
                <a:solidFill>
                  <a:schemeClr val="accent1"/>
                </a:solidFill>
                <a:latin typeface="Arial" panose="020B0604020202020204" pitchFamily="34" charset="0"/>
                <a:cs typeface="Arial" panose="020B0604020202020204" pitchFamily="34" charset="0"/>
              </a:defRPr>
            </a:lvl1pPr>
          </a:lstStyle>
          <a:p>
            <a:pPr lvl="0"/>
            <a:r>
              <a:rPr lang="ar-EG" dirty="0"/>
              <a:t>#</a:t>
            </a:r>
            <a:endParaRPr lang="en-US" dirty="0"/>
          </a:p>
        </p:txBody>
      </p:sp>
    </p:spTree>
    <p:extLst>
      <p:ext uri="{BB962C8B-B14F-4D97-AF65-F5344CB8AC3E}">
        <p14:creationId xmlns:p14="http://schemas.microsoft.com/office/powerpoint/2010/main" val="3162891222"/>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extLst>
    <p:ext uri="{DCECCB84-F9BA-43D5-87BE-67443E8EF086}">
      <p15:sldGuideLst xmlns:p15="http://schemas.microsoft.com/office/powerpoint/2012/main">
        <p15:guide id="1" pos="7272" userDrawn="1">
          <p15:clr>
            <a:srgbClr val="FBAE40"/>
          </p15:clr>
        </p15:guide>
        <p15:guide id="2" pos="6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Picture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12/16/2025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7" name="Picture Placeholder 6"/>
          <p:cNvSpPr>
            <a:spLocks noGrp="1"/>
          </p:cNvSpPr>
          <p:nvPr>
            <p:ph type="pic" sz="quarter" idx="13" hasCustomPrompt="1"/>
          </p:nvPr>
        </p:nvSpPr>
        <p:spPr>
          <a:xfrm>
            <a:off x="6197600" y="1447799"/>
            <a:ext cx="5156200" cy="3037381"/>
          </a:xfrm>
        </p:spPr>
        <p:txBody>
          <a:bodyPr/>
          <a:lstStyle/>
          <a:p>
            <a:r>
              <a:rPr lang="ar-EG" dirty="0"/>
              <a:t>اضغط على الأيقونة لإضافة صورة</a:t>
            </a:r>
            <a:endParaRPr lang="en-US" dirty="0"/>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1" name="Picture Placeholder 6"/>
          <p:cNvSpPr>
            <a:spLocks noGrp="1"/>
          </p:cNvSpPr>
          <p:nvPr>
            <p:ph type="pic" sz="quarter" idx="18" hasCustomPrompt="1"/>
          </p:nvPr>
        </p:nvSpPr>
        <p:spPr>
          <a:xfrm>
            <a:off x="838200" y="1447799"/>
            <a:ext cx="5156200" cy="3037381"/>
          </a:xfrm>
        </p:spPr>
        <p:txBody>
          <a:bodyPr/>
          <a:lstStyle/>
          <a:p>
            <a:r>
              <a:rPr lang="ar-EG" dirty="0"/>
              <a:t>اضغط على الأيقونة لإضافة صورة</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23756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ntent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12/16/2025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Content Placeholder 8"/>
          <p:cNvSpPr>
            <a:spLocks noGrp="1"/>
          </p:cNvSpPr>
          <p:nvPr>
            <p:ph sz="quarter" idx="19" hasCustomPrompt="1"/>
          </p:nvPr>
        </p:nvSpPr>
        <p:spPr>
          <a:xfrm>
            <a:off x="61976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1" name="Content Placeholder 8"/>
          <p:cNvSpPr>
            <a:spLocks noGrp="1"/>
          </p:cNvSpPr>
          <p:nvPr>
            <p:ph sz="quarter" idx="20" hasCustomPrompt="1"/>
          </p:nvPr>
        </p:nvSpPr>
        <p:spPr>
          <a:xfrm>
            <a:off x="8382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Tree>
    <p:extLst>
      <p:ext uri="{BB962C8B-B14F-4D97-AF65-F5344CB8AC3E}">
        <p14:creationId xmlns:p14="http://schemas.microsoft.com/office/powerpoint/2010/main" val="78794652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12/16/2025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096000" y="1454189"/>
            <a:ext cx="5257800"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6096000"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2" name="Text Placeholder 15"/>
          <p:cNvSpPr>
            <a:spLocks noGrp="1"/>
          </p:cNvSpPr>
          <p:nvPr>
            <p:ph type="body" sz="quarter" idx="27" hasCustomPrompt="1"/>
          </p:nvPr>
        </p:nvSpPr>
        <p:spPr>
          <a:xfrm>
            <a:off x="838169" y="1454189"/>
            <a:ext cx="5257800"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838169"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cxnSp>
        <p:nvCxnSpPr>
          <p:cNvPr id="10" name="Straight Connector 9"/>
          <p:cNvCxnSpPr/>
          <p:nvPr userDrawn="1"/>
        </p:nvCxnSpPr>
        <p:spPr>
          <a:xfrm>
            <a:off x="6095971" y="6096000"/>
            <a:ext cx="5257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flipV="1">
            <a:off x="838171" y="6095999"/>
            <a:ext cx="5257800" cy="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14524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12/16/2025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8719767" y="1465912"/>
            <a:ext cx="2624328"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8719767"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2" name="Text Placeholder 15"/>
          <p:cNvSpPr>
            <a:spLocks noGrp="1"/>
          </p:cNvSpPr>
          <p:nvPr>
            <p:ph type="body" sz="quarter" idx="27" hasCustomPrompt="1"/>
          </p:nvPr>
        </p:nvSpPr>
        <p:spPr>
          <a:xfrm>
            <a:off x="6098798" y="1465912"/>
            <a:ext cx="2624328"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6098798"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4" name="Text Placeholder 15"/>
          <p:cNvSpPr>
            <a:spLocks noGrp="1"/>
          </p:cNvSpPr>
          <p:nvPr>
            <p:ph type="body" sz="quarter" idx="29" hasCustomPrompt="1"/>
          </p:nvPr>
        </p:nvSpPr>
        <p:spPr>
          <a:xfrm>
            <a:off x="3477830" y="1465912"/>
            <a:ext cx="2624328" cy="469900"/>
          </a:xfrm>
          <a:solidFill>
            <a:schemeClr val="accent1"/>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5" name="Text Placeholder 6"/>
          <p:cNvSpPr>
            <a:spLocks noGrp="1"/>
          </p:cNvSpPr>
          <p:nvPr>
            <p:ph type="body" sz="quarter" idx="30" hasCustomPrompt="1"/>
          </p:nvPr>
        </p:nvSpPr>
        <p:spPr>
          <a:xfrm>
            <a:off x="3477830"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sp>
        <p:nvSpPr>
          <p:cNvPr id="26" name="Text Placeholder 15"/>
          <p:cNvSpPr>
            <a:spLocks noGrp="1"/>
          </p:cNvSpPr>
          <p:nvPr>
            <p:ph type="body" sz="quarter" idx="31" hasCustomPrompt="1"/>
          </p:nvPr>
        </p:nvSpPr>
        <p:spPr>
          <a:xfrm>
            <a:off x="856862" y="1465912"/>
            <a:ext cx="2624328" cy="469900"/>
          </a:xfrm>
          <a:solidFill>
            <a:schemeClr val="accent2"/>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7" name="Text Placeholder 6"/>
          <p:cNvSpPr>
            <a:spLocks noGrp="1"/>
          </p:cNvSpPr>
          <p:nvPr>
            <p:ph type="body" sz="quarter" idx="32" hasCustomPrompt="1"/>
          </p:nvPr>
        </p:nvSpPr>
        <p:spPr>
          <a:xfrm>
            <a:off x="856862"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cxnSp>
        <p:nvCxnSpPr>
          <p:cNvPr id="10" name="Straight Connector 9"/>
          <p:cNvCxnSpPr/>
          <p:nvPr userDrawn="1"/>
        </p:nvCxnSpPr>
        <p:spPr>
          <a:xfrm>
            <a:off x="10060884"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7323667"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4586451"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1849235"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50450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text with titles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12/16/2025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6" name="Text Placeholder 8"/>
          <p:cNvSpPr>
            <a:spLocks noGrp="1"/>
          </p:cNvSpPr>
          <p:nvPr>
            <p:ph type="body" sz="quarter" idx="13" hasCustomPrompt="1"/>
          </p:nvPr>
        </p:nvSpPr>
        <p:spPr>
          <a:xfrm>
            <a:off x="845580"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7" name="Text Placeholder 8"/>
          <p:cNvSpPr>
            <a:spLocks noGrp="1"/>
          </p:cNvSpPr>
          <p:nvPr>
            <p:ph type="body" sz="quarter" idx="14" hasCustomPrompt="1"/>
          </p:nvPr>
        </p:nvSpPr>
        <p:spPr>
          <a:xfrm>
            <a:off x="845580"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8" name="Straight Connector 7"/>
          <p:cNvCxnSpPr/>
          <p:nvPr userDrawn="1"/>
        </p:nvCxnSpPr>
        <p:spPr>
          <a:xfrm>
            <a:off x="5396768"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 Placeholder 8"/>
          <p:cNvSpPr>
            <a:spLocks noGrp="1"/>
          </p:cNvSpPr>
          <p:nvPr>
            <p:ph type="body" sz="quarter" idx="15" hasCustomPrompt="1"/>
          </p:nvPr>
        </p:nvSpPr>
        <p:spPr>
          <a:xfrm>
            <a:off x="6253972"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endParaRPr lang="en-US" dirty="0"/>
          </a:p>
        </p:txBody>
      </p:sp>
      <p:sp>
        <p:nvSpPr>
          <p:cNvPr id="10" name="Text Placeholder 8"/>
          <p:cNvSpPr>
            <a:spLocks noGrp="1"/>
          </p:cNvSpPr>
          <p:nvPr>
            <p:ph type="body" sz="quarter" idx="16" hasCustomPrompt="1"/>
          </p:nvPr>
        </p:nvSpPr>
        <p:spPr>
          <a:xfrm>
            <a:off x="6253972"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1" name="Straight Connector 10"/>
          <p:cNvCxnSpPr/>
          <p:nvPr userDrawn="1"/>
        </p:nvCxnSpPr>
        <p:spPr>
          <a:xfrm>
            <a:off x="10805160"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 Placeholder 8"/>
          <p:cNvSpPr>
            <a:spLocks noGrp="1"/>
          </p:cNvSpPr>
          <p:nvPr>
            <p:ph type="body" sz="quarter" idx="17" hasCustomPrompt="1"/>
          </p:nvPr>
        </p:nvSpPr>
        <p:spPr>
          <a:xfrm>
            <a:off x="845580"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3" name="Text Placeholder 8"/>
          <p:cNvSpPr>
            <a:spLocks noGrp="1"/>
          </p:cNvSpPr>
          <p:nvPr>
            <p:ph type="body" sz="quarter" idx="18" hasCustomPrompt="1"/>
          </p:nvPr>
        </p:nvSpPr>
        <p:spPr>
          <a:xfrm>
            <a:off x="845580"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4" name="Straight Connector 13"/>
          <p:cNvCxnSpPr/>
          <p:nvPr userDrawn="1"/>
        </p:nvCxnSpPr>
        <p:spPr>
          <a:xfrm>
            <a:off x="5396768"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Text Placeholder 8"/>
          <p:cNvSpPr>
            <a:spLocks noGrp="1"/>
          </p:cNvSpPr>
          <p:nvPr>
            <p:ph type="body" sz="quarter" idx="19" hasCustomPrompt="1"/>
          </p:nvPr>
        </p:nvSpPr>
        <p:spPr>
          <a:xfrm>
            <a:off x="6253972"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6" name="Text Placeholder 8"/>
          <p:cNvSpPr>
            <a:spLocks noGrp="1"/>
          </p:cNvSpPr>
          <p:nvPr>
            <p:ph type="body" sz="quarter" idx="20" hasCustomPrompt="1"/>
          </p:nvPr>
        </p:nvSpPr>
        <p:spPr>
          <a:xfrm>
            <a:off x="6253972"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7" name="Straight Connector 16"/>
          <p:cNvCxnSpPr/>
          <p:nvPr userDrawn="1"/>
        </p:nvCxnSpPr>
        <p:spPr>
          <a:xfrm>
            <a:off x="10805160"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842545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12/16/2025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1" name="Text Placeholder 6"/>
          <p:cNvSpPr>
            <a:spLocks noGrp="1"/>
          </p:cNvSpPr>
          <p:nvPr>
            <p:ph type="body" sz="quarter" idx="15" hasCustomPrompt="1"/>
          </p:nvPr>
        </p:nvSpPr>
        <p:spPr>
          <a:xfrm>
            <a:off x="8261577"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2" name="Text Placeholder 6"/>
          <p:cNvSpPr>
            <a:spLocks noGrp="1"/>
          </p:cNvSpPr>
          <p:nvPr>
            <p:ph type="body" sz="quarter" idx="16" hasCustomPrompt="1"/>
          </p:nvPr>
        </p:nvSpPr>
        <p:spPr>
          <a:xfrm>
            <a:off x="457287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9931026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12/16/2025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4831419" cy="4638675"/>
          </a:xfrm>
        </p:spPr>
        <p:txBody>
          <a:bodyPr>
            <a:normAutofit/>
          </a:bodyPr>
          <a:lstStyle>
            <a:lvl1pPr marL="0" indent="0">
              <a:buNone/>
              <a:defRPr sz="2000" baseline="0"/>
            </a:lvl1pPr>
          </a:lstStyle>
          <a:p>
            <a:pPr lvl="0"/>
            <a:r>
              <a:rPr lang="ar-EG" dirty="0"/>
              <a:t>تعديل النص</a:t>
            </a:r>
            <a:endParaRPr lang="en-US" dirty="0"/>
          </a:p>
        </p:txBody>
      </p:sp>
      <p:sp>
        <p:nvSpPr>
          <p:cNvPr id="9" name="Text Placeholder 6"/>
          <p:cNvSpPr>
            <a:spLocks noGrp="1"/>
          </p:cNvSpPr>
          <p:nvPr>
            <p:ph type="body" sz="quarter" idx="15" hasCustomPrompt="1"/>
          </p:nvPr>
        </p:nvSpPr>
        <p:spPr>
          <a:xfrm>
            <a:off x="6522381" y="1447800"/>
            <a:ext cx="4831419"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37914594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ortfolio/4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D07F32C4-027C-41E7-9CB9-C0506AA6389A}" type="datetime1">
              <a:rPr lang="en-US" smtClean="0"/>
              <a:t>12/16/2025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46ED658E-7B78-4C3F-B2D4-66856F143B40}" type="slidenum">
              <a:rPr lang="en-US" smtClean="0"/>
              <a:pPr/>
              <a:t>‹#›</a:t>
            </a:fld>
            <a:endParaRPr lang="en-US"/>
          </a:p>
        </p:txBody>
      </p:sp>
      <p:sp>
        <p:nvSpPr>
          <p:cNvPr id="7" name="Picture Placeholder 10">
            <a:extLst>
              <a:ext uri="{FF2B5EF4-FFF2-40B4-BE49-F238E27FC236}">
                <a16:creationId xmlns:a16="http://schemas.microsoft.com/office/drawing/2014/main" id="{1ED86105-1558-4D32-B1A9-5F4D28811B51}"/>
              </a:ext>
            </a:extLst>
          </p:cNvPr>
          <p:cNvSpPr>
            <a:spLocks noGrp="1"/>
          </p:cNvSpPr>
          <p:nvPr>
            <p:ph type="pic" sz="quarter" idx="13" hasCustomPrompt="1"/>
          </p:nvPr>
        </p:nvSpPr>
        <p:spPr>
          <a:xfrm>
            <a:off x="853836"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8" name="Picture Placeholder 12">
            <a:extLst>
              <a:ext uri="{FF2B5EF4-FFF2-40B4-BE49-F238E27FC236}">
                <a16:creationId xmlns:a16="http://schemas.microsoft.com/office/drawing/2014/main" id="{AD11BF4A-2489-4211-84F8-479B8880D427}"/>
              </a:ext>
            </a:extLst>
          </p:cNvPr>
          <p:cNvSpPr>
            <a:spLocks noGrp="1"/>
          </p:cNvSpPr>
          <p:nvPr>
            <p:ph type="pic" sz="quarter" idx="15" hasCustomPrompt="1"/>
          </p:nvPr>
        </p:nvSpPr>
        <p:spPr>
          <a:xfrm>
            <a:off x="9179225" y="1547024"/>
            <a:ext cx="2175731"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9" name="Text Placeholder 21"/>
          <p:cNvSpPr>
            <a:spLocks noGrp="1"/>
          </p:cNvSpPr>
          <p:nvPr>
            <p:ph type="body" sz="quarter" idx="16" hasCustomPrompt="1"/>
          </p:nvPr>
        </p:nvSpPr>
        <p:spPr>
          <a:xfrm>
            <a:off x="846596" y="4793469"/>
            <a:ext cx="2207123" cy="368300"/>
          </a:xfrm>
        </p:spPr>
        <p:txBody>
          <a:bodyPr>
            <a:normAutofit/>
          </a:bodyPr>
          <a:lstStyle>
            <a:lvl1pPr marL="0" indent="0" algn="ctr">
              <a:buNone/>
              <a:defRPr sz="2000" b="1" baseline="0">
                <a:solidFill>
                  <a:schemeClr val="accent1"/>
                </a:solidFill>
              </a:defRPr>
            </a:lvl1pPr>
          </a:lstStyle>
          <a:p>
            <a:pPr lvl="0"/>
            <a:r>
              <a:rPr lang="ar-EG" dirty="0"/>
              <a:t>عنوان 4</a:t>
            </a:r>
            <a:endParaRPr lang="en-US" dirty="0"/>
          </a:p>
        </p:txBody>
      </p:sp>
      <p:sp>
        <p:nvSpPr>
          <p:cNvPr id="11" name="Text Placeholder 21"/>
          <p:cNvSpPr>
            <a:spLocks noGrp="1"/>
          </p:cNvSpPr>
          <p:nvPr>
            <p:ph type="body" sz="quarter" idx="18" hasCustomPrompt="1"/>
          </p:nvPr>
        </p:nvSpPr>
        <p:spPr>
          <a:xfrm>
            <a:off x="3644019" y="4793469"/>
            <a:ext cx="2192642" cy="368300"/>
          </a:xfrm>
        </p:spPr>
        <p:txBody>
          <a:bodyPr>
            <a:normAutofit/>
          </a:bodyPr>
          <a:lstStyle>
            <a:lvl1pPr marL="0" indent="0" algn="ctr">
              <a:buNone/>
              <a:defRPr sz="2000" b="1">
                <a:solidFill>
                  <a:schemeClr val="accent1"/>
                </a:solidFill>
              </a:defRPr>
            </a:lvl1pPr>
          </a:lstStyle>
          <a:p>
            <a:pPr lvl="0"/>
            <a:r>
              <a:rPr lang="ar-EG" dirty="0"/>
              <a:t>عنوان 3</a:t>
            </a:r>
            <a:endParaRPr lang="en-US" dirty="0"/>
          </a:p>
        </p:txBody>
      </p:sp>
      <p:sp>
        <p:nvSpPr>
          <p:cNvPr id="13" name="Text Placeholder 21"/>
          <p:cNvSpPr>
            <a:spLocks noGrp="1"/>
          </p:cNvSpPr>
          <p:nvPr>
            <p:ph type="body" sz="quarter" idx="20" hasCustomPrompt="1"/>
          </p:nvPr>
        </p:nvSpPr>
        <p:spPr>
          <a:xfrm>
            <a:off x="9179225" y="4793469"/>
            <a:ext cx="2175731" cy="368300"/>
          </a:xfrm>
        </p:spPr>
        <p:txBody>
          <a:bodyPr>
            <a:normAutofit/>
          </a:bodyPr>
          <a:lstStyle>
            <a:lvl1pPr marL="0" indent="0" algn="ctr">
              <a:buNone/>
              <a:defRPr sz="2000" b="1">
                <a:solidFill>
                  <a:schemeClr val="accent1"/>
                </a:solidFill>
              </a:defRPr>
            </a:lvl1pPr>
          </a:lstStyle>
          <a:p>
            <a:pPr lvl="0"/>
            <a:r>
              <a:rPr lang="ar-EG" dirty="0"/>
              <a:t>عنوان 1</a:t>
            </a:r>
            <a:endParaRPr lang="en-US" dirty="0"/>
          </a:p>
        </p:txBody>
      </p:sp>
      <p:sp>
        <p:nvSpPr>
          <p:cNvPr id="15" name="Picture Placeholder 10">
            <a:extLst>
              <a:ext uri="{FF2B5EF4-FFF2-40B4-BE49-F238E27FC236}">
                <a16:creationId xmlns:a16="http://schemas.microsoft.com/office/drawing/2014/main" id="{1ED86105-1558-4D32-B1A9-5F4D28811B51}"/>
              </a:ext>
            </a:extLst>
          </p:cNvPr>
          <p:cNvSpPr>
            <a:spLocks noGrp="1"/>
          </p:cNvSpPr>
          <p:nvPr>
            <p:ph type="pic" sz="quarter" idx="23" hasCustomPrompt="1"/>
          </p:nvPr>
        </p:nvSpPr>
        <p:spPr>
          <a:xfrm>
            <a:off x="3644019"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6" name="Picture Placeholder 10">
            <a:extLst>
              <a:ext uri="{FF2B5EF4-FFF2-40B4-BE49-F238E27FC236}">
                <a16:creationId xmlns:a16="http://schemas.microsoft.com/office/drawing/2014/main" id="{1ED86105-1558-4D32-B1A9-5F4D28811B51}"/>
              </a:ext>
            </a:extLst>
          </p:cNvPr>
          <p:cNvSpPr>
            <a:spLocks noGrp="1"/>
          </p:cNvSpPr>
          <p:nvPr>
            <p:ph type="pic" sz="quarter" idx="24" hasCustomPrompt="1"/>
          </p:nvPr>
        </p:nvSpPr>
        <p:spPr>
          <a:xfrm>
            <a:off x="6419301"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7" name="Text Placeholder 21"/>
          <p:cNvSpPr>
            <a:spLocks noGrp="1"/>
          </p:cNvSpPr>
          <p:nvPr>
            <p:ph type="body" sz="quarter" idx="25" hasCustomPrompt="1"/>
          </p:nvPr>
        </p:nvSpPr>
        <p:spPr>
          <a:xfrm>
            <a:off x="6418380" y="4793469"/>
            <a:ext cx="2194484" cy="368300"/>
          </a:xfrm>
        </p:spPr>
        <p:txBody>
          <a:bodyP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b="1">
                <a:solidFill>
                  <a:schemeClr val="accent1"/>
                </a:solidFill>
              </a:defRPr>
            </a:lvl1pPr>
          </a:lstStyle>
          <a:p>
            <a:pPr lvl="0"/>
            <a:r>
              <a:rPr lang="ar-EG" dirty="0"/>
              <a:t>عنوان 2</a:t>
            </a:r>
            <a:endParaRPr lang="en-US" dirty="0"/>
          </a:p>
        </p:txBody>
      </p:sp>
      <p:sp>
        <p:nvSpPr>
          <p:cNvPr id="20" name="Text Placeholder 19"/>
          <p:cNvSpPr>
            <a:spLocks noGrp="1"/>
          </p:cNvSpPr>
          <p:nvPr>
            <p:ph type="body" sz="quarter" idx="26" hasCustomPrompt="1"/>
          </p:nvPr>
        </p:nvSpPr>
        <p:spPr>
          <a:xfrm>
            <a:off x="846845"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1" name="Text Placeholder 19"/>
          <p:cNvSpPr>
            <a:spLocks noGrp="1"/>
          </p:cNvSpPr>
          <p:nvPr>
            <p:ph type="body" sz="quarter" idx="27" hasCustomPrompt="1"/>
          </p:nvPr>
        </p:nvSpPr>
        <p:spPr>
          <a:xfrm>
            <a:off x="3637028"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2" name="Text Placeholder 19"/>
          <p:cNvSpPr>
            <a:spLocks noGrp="1"/>
          </p:cNvSpPr>
          <p:nvPr>
            <p:ph type="body" sz="quarter" idx="28" hasCustomPrompt="1"/>
          </p:nvPr>
        </p:nvSpPr>
        <p:spPr>
          <a:xfrm>
            <a:off x="6421014" y="5161763"/>
            <a:ext cx="2189217" cy="728662"/>
          </a:xfrm>
        </p:spPr>
        <p:txBody>
          <a:bodyPr>
            <a:normAutofit/>
          </a:bodyPr>
          <a:lstStyle>
            <a:lvl1pPr marL="0" indent="0" algn="ctr">
              <a:buNone/>
              <a:defRPr sz="1600"/>
            </a:lvl1pPr>
          </a:lstStyle>
          <a:p>
            <a:pPr lvl="0"/>
            <a:r>
              <a:rPr lang="ar-EG" dirty="0"/>
              <a:t>تعديل النص</a:t>
            </a:r>
            <a:endParaRPr lang="en-US" dirty="0"/>
          </a:p>
        </p:txBody>
      </p:sp>
      <p:sp>
        <p:nvSpPr>
          <p:cNvPr id="23" name="Text Placeholder 19"/>
          <p:cNvSpPr>
            <a:spLocks noGrp="1"/>
          </p:cNvSpPr>
          <p:nvPr>
            <p:ph type="body" sz="quarter" idx="29" hasCustomPrompt="1"/>
          </p:nvPr>
        </p:nvSpPr>
        <p:spPr>
          <a:xfrm>
            <a:off x="9183408" y="5161763"/>
            <a:ext cx="2167364" cy="728662"/>
          </a:xfrm>
        </p:spPr>
        <p:txBody>
          <a:bodyPr>
            <a:normAutofit/>
          </a:bodyPr>
          <a:lstStyle>
            <a:lvl1pPr marL="0" indent="0" algn="ctr">
              <a:buNone/>
              <a:defRPr sz="1600"/>
            </a:lvl1pPr>
          </a:lstStyle>
          <a:p>
            <a:pPr lvl="0"/>
            <a:r>
              <a:rPr lang="ar-EG" dirty="0"/>
              <a:t>تعديل النص</a:t>
            </a:r>
            <a:endParaRPr lang="en-US" dirty="0"/>
          </a:p>
        </p:txBody>
      </p:sp>
      <p:sp>
        <p:nvSpPr>
          <p:cNvPr id="27" name="Rectangle 26"/>
          <p:cNvSpPr/>
          <p:nvPr userDrawn="1"/>
        </p:nvSpPr>
        <p:spPr>
          <a:xfrm>
            <a:off x="980989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8" name="Rectangle 27"/>
          <p:cNvSpPr/>
          <p:nvPr userDrawn="1"/>
        </p:nvSpPr>
        <p:spPr>
          <a:xfrm>
            <a:off x="7058422"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9" name="Rectangle 28"/>
          <p:cNvSpPr/>
          <p:nvPr userDrawn="1"/>
        </p:nvSpPr>
        <p:spPr>
          <a:xfrm>
            <a:off x="428314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0" name="Rectangle 29"/>
          <p:cNvSpPr/>
          <p:nvPr userDrawn="1"/>
        </p:nvSpPr>
        <p:spPr>
          <a:xfrm>
            <a:off x="1492957"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51455269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Content Placeholder 2"/>
          <p:cNvSpPr>
            <a:spLocks noGrp="1"/>
          </p:cNvSpPr>
          <p:nvPr>
            <p:ph sz="half" idx="1" hasCustomPrompt="1"/>
          </p:nvPr>
        </p:nvSpPr>
        <p:spPr>
          <a:xfrm>
            <a:off x="838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Content Placeholder 3"/>
          <p:cNvSpPr>
            <a:spLocks noGrp="1"/>
          </p:cNvSpPr>
          <p:nvPr>
            <p:ph sz="half" idx="2" hasCustomPrompt="1"/>
          </p:nvPr>
        </p:nvSpPr>
        <p:spPr>
          <a:xfrm>
            <a:off x="6172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35BB4A2A-1A89-4F2B-96A8-6DC5A8475B0F}" type="datetime1">
              <a:rPr lang="en-US" smtClean="0"/>
              <a:t>12/16/2025</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55377634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400233" y="6367630"/>
            <a:ext cx="3691931" cy="365125"/>
          </a:xfrm>
          <a:prstGeom prst="rect">
            <a:avLst/>
          </a:prstGeom>
        </p:spPr>
        <p:txBody>
          <a:bodyPr/>
          <a:lstStyle/>
          <a:p>
            <a:endParaRPr lang="en-US"/>
          </a:p>
        </p:txBody>
      </p:sp>
      <p:sp>
        <p:nvSpPr>
          <p:cNvPr id="4" name="Slide Number Placeholder 6"/>
          <p:cNvSpPr>
            <a:spLocks noGrp="1"/>
          </p:cNvSpPr>
          <p:nvPr>
            <p:ph type="sldNum" sz="quarter" idx="12"/>
          </p:nvPr>
        </p:nvSpPr>
        <p:spPr>
          <a:xfrm>
            <a:off x="621453" y="6390919"/>
            <a:ext cx="320040" cy="320040"/>
          </a:xfrm>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162529283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Absolute">
    <p:spTree>
      <p:nvGrpSpPr>
        <p:cNvPr id="1" name=""/>
        <p:cNvGrpSpPr/>
        <p:nvPr/>
      </p:nvGrpSpPr>
      <p:grpSpPr>
        <a:xfrm>
          <a:off x="0" y="0"/>
          <a:ext cx="0" cy="0"/>
          <a:chOff x="0" y="0"/>
          <a:chExt cx="0" cy="0"/>
        </a:xfrm>
      </p:grpSpPr>
    </p:spTree>
    <p:extLst>
      <p:ext uri="{BB962C8B-B14F-4D97-AF65-F5344CB8AC3E}">
        <p14:creationId xmlns:p14="http://schemas.microsoft.com/office/powerpoint/2010/main" val="8359586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796" y="979084"/>
            <a:ext cx="3932237" cy="1078316"/>
          </a:xfrm>
        </p:spPr>
        <p:txBody>
          <a:bodyPr anchor="b"/>
          <a:lstStyle>
            <a:lvl1pPr algn="r">
              <a:defRPr sz="3200"/>
            </a:lvl1pPr>
          </a:lstStyle>
          <a:p>
            <a:r>
              <a:rPr lang="ar-EG" dirty="0"/>
              <a:t>اضغط لتغيير العنوان</a:t>
            </a:r>
            <a:endParaRPr lang="en-US" dirty="0"/>
          </a:p>
        </p:txBody>
      </p:sp>
      <p:sp>
        <p:nvSpPr>
          <p:cNvPr id="3" name="Content Placeholder 2"/>
          <p:cNvSpPr>
            <a:spLocks noGrp="1"/>
          </p:cNvSpPr>
          <p:nvPr>
            <p:ph idx="1" hasCustomPrompt="1"/>
          </p:nvPr>
        </p:nvSpPr>
        <p:spPr>
          <a:xfrm>
            <a:off x="838200"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Text Placeholder 3"/>
          <p:cNvSpPr>
            <a:spLocks noGrp="1"/>
          </p:cNvSpPr>
          <p:nvPr>
            <p:ph type="body" sz="half" idx="2" hasCustomPrompt="1"/>
          </p:nvPr>
        </p:nvSpPr>
        <p:spPr>
          <a:xfrm>
            <a:off x="7428796"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D6CC213-28D1-4DA6-A99B-8EB8EB359378}" type="datetime1">
              <a:rPr lang="en-US" smtClean="0"/>
              <a:t>12/16/2025</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9670408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852" y="1002415"/>
            <a:ext cx="3932237" cy="1010014"/>
          </a:xfrm>
        </p:spPr>
        <p:txBody>
          <a:bodyPr anchor="b" anchorCtr="0"/>
          <a:lstStyle>
            <a:lvl1pPr algn="r">
              <a:defRPr sz="3200"/>
            </a:lvl1pPr>
          </a:lstStyle>
          <a:p>
            <a:r>
              <a:rPr lang="ar-EG" dirty="0"/>
              <a:t>اضغط لتغيير العنوان</a:t>
            </a:r>
            <a:endParaRPr lang="en-US" dirty="0"/>
          </a:p>
        </p:txBody>
      </p:sp>
      <p:sp>
        <p:nvSpPr>
          <p:cNvPr id="3" name="Picture Placeholder 2"/>
          <p:cNvSpPr>
            <a:spLocks noGrp="1"/>
          </p:cNvSpPr>
          <p:nvPr>
            <p:ph type="pic" idx="1" hasCustomPrompt="1"/>
          </p:nvPr>
        </p:nvSpPr>
        <p:spPr>
          <a:xfrm>
            <a:off x="851806"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EG" dirty="0"/>
              <a:t>اضغط على الأيقونة لإضافة صورة</a:t>
            </a:r>
            <a:endParaRPr lang="en-US" dirty="0"/>
          </a:p>
        </p:txBody>
      </p:sp>
      <p:sp>
        <p:nvSpPr>
          <p:cNvPr id="4" name="Text Placeholder 3"/>
          <p:cNvSpPr>
            <a:spLocks noGrp="1"/>
          </p:cNvSpPr>
          <p:nvPr>
            <p:ph type="body" sz="half" idx="2" hasCustomPrompt="1"/>
          </p:nvPr>
        </p:nvSpPr>
        <p:spPr>
          <a:xfrm>
            <a:off x="7428852" y="2057400"/>
            <a:ext cx="391724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F371FAE-8BEF-45E3-BB4F-0DA630E7BA88}" type="datetime1">
              <a:rPr lang="en-US" smtClean="0"/>
              <a:t>12/16/2025</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286081628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17" name="Picture 16" descr="A blue square with white and blue text&#10;&#10;Description automatically generated">
            <a:extLst>
              <a:ext uri="{FF2B5EF4-FFF2-40B4-BE49-F238E27FC236}">
                <a16:creationId xmlns:a16="http://schemas.microsoft.com/office/drawing/2014/main" id="{06F6661A-8164-8ED8-2B47-BE90673565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356160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extLst>
    <p:ext uri="{DCECCB84-F9BA-43D5-87BE-67443E8EF086}">
      <p15:sldGuideLst xmlns:p15="http://schemas.microsoft.com/office/powerpoint/2012/main">
        <p15:guide id="1" pos="5568">
          <p15:clr>
            <a:srgbClr val="FBAE40"/>
          </p15:clr>
        </p15:guide>
        <p15:guide id="2" pos="2112">
          <p15:clr>
            <a:srgbClr val="FBAE40"/>
          </p15:clr>
        </p15:guide>
        <p15:guide id="3" orient="horz" pos="1992" userDrawn="1">
          <p15:clr>
            <a:srgbClr val="FBAE40"/>
          </p15:clr>
        </p15:guide>
        <p15:guide id="4" orient="horz" pos="22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showMasterPhAnim="0" userDrawn="1">
  <p:cSld name="2_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12/16/2025</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33782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942982A0-0E12-0CD0-BD26-CCB3496D9500}"/>
              </a:ext>
            </a:extLst>
          </p:cNvPr>
          <p:cNvSpPr/>
          <p:nvPr userDrawn="1"/>
        </p:nvSpPr>
        <p:spPr>
          <a:xfrm>
            <a:off x="426720" y="377261"/>
            <a:ext cx="11338560" cy="57690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Freeform: Shape 32">
            <a:extLst>
              <a:ext uri="{FF2B5EF4-FFF2-40B4-BE49-F238E27FC236}">
                <a16:creationId xmlns:a16="http://schemas.microsoft.com/office/drawing/2014/main" id="{54EA71BE-3CCC-4CFA-DB3E-DFC159419FAF}"/>
              </a:ext>
            </a:extLst>
          </p:cNvPr>
          <p:cNvSpPr/>
          <p:nvPr userDrawn="1"/>
        </p:nvSpPr>
        <p:spPr>
          <a:xfrm rot="10800000" flipV="1">
            <a:off x="619123" y="216443"/>
            <a:ext cx="439704" cy="531176"/>
          </a:xfrm>
          <a:custGeom>
            <a:avLst/>
            <a:gdLst>
              <a:gd name="connsiteX0" fmla="*/ 0 w 439704"/>
              <a:gd name="connsiteY0" fmla="*/ 531176 h 531176"/>
              <a:gd name="connsiteX1" fmla="*/ 439704 w 439704"/>
              <a:gd name="connsiteY1" fmla="*/ 388308 h 531176"/>
              <a:gd name="connsiteX2" fmla="*/ 439704 w 439704"/>
              <a:gd name="connsiteY2" fmla="*/ 0 h 531176"/>
              <a:gd name="connsiteX3" fmla="*/ 0 w 439704"/>
              <a:gd name="connsiteY3" fmla="*/ 0 h 531176"/>
            </a:gdLst>
            <a:ahLst/>
            <a:cxnLst>
              <a:cxn ang="0">
                <a:pos x="connsiteX0" y="connsiteY0"/>
              </a:cxn>
              <a:cxn ang="0">
                <a:pos x="connsiteX1" y="connsiteY1"/>
              </a:cxn>
              <a:cxn ang="0">
                <a:pos x="connsiteX2" y="connsiteY2"/>
              </a:cxn>
              <a:cxn ang="0">
                <a:pos x="connsiteX3" y="connsiteY3"/>
              </a:cxn>
            </a:cxnLst>
            <a:rect l="l" t="t" r="r" b="b"/>
            <a:pathLst>
              <a:path w="439704" h="531176">
                <a:moveTo>
                  <a:pt x="0" y="531176"/>
                </a:moveTo>
                <a:lnTo>
                  <a:pt x="439704" y="388308"/>
                </a:lnTo>
                <a:lnTo>
                  <a:pt x="439704" y="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le Placeholder 1"/>
          <p:cNvSpPr>
            <a:spLocks noGrp="1"/>
          </p:cNvSpPr>
          <p:nvPr userDrawn="1">
            <p:ph type="title"/>
          </p:nvPr>
        </p:nvSpPr>
        <p:spPr>
          <a:xfrm>
            <a:off x="609601" y="561078"/>
            <a:ext cx="10972800" cy="666261"/>
          </a:xfrm>
          <a:prstGeom prst="rect">
            <a:avLst/>
          </a:prstGeom>
        </p:spPr>
        <p:txBody>
          <a:bodyPr vert="horz" lIns="91440" tIns="45720" rIns="0" bIns="45720" rtlCol="0" anchor="ctr" anchorCtr="0">
            <a:noAutofit/>
          </a:bodyPr>
          <a:lstStyle/>
          <a:p>
            <a:r>
              <a:rPr lang="ar-EG" dirty="0"/>
              <a:t>اضغط لتغيير العنوان</a:t>
            </a:r>
            <a:endParaRPr lang="en-US" dirty="0"/>
          </a:p>
        </p:txBody>
      </p:sp>
      <p:sp>
        <p:nvSpPr>
          <p:cNvPr id="3" name="Text Placeholder 2"/>
          <p:cNvSpPr>
            <a:spLocks noGrp="1"/>
          </p:cNvSpPr>
          <p:nvPr userDrawn="1">
            <p:ph type="body" idx="1"/>
          </p:nvPr>
        </p:nvSpPr>
        <p:spPr>
          <a:xfrm>
            <a:off x="609600" y="1333501"/>
            <a:ext cx="10972800" cy="4812768"/>
          </a:xfrm>
          <a:prstGeom prst="rect">
            <a:avLst/>
          </a:prstGeom>
        </p:spPr>
        <p:txBody>
          <a:bodyPr vert="horz" lIns="91440" tIns="45720" rIns="0" bIns="45720" rtlCol="0">
            <a:normAutofit/>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pic>
        <p:nvPicPr>
          <p:cNvPr id="5" name="Picture 4">
            <a:extLst>
              <a:ext uri="{FF2B5EF4-FFF2-40B4-BE49-F238E27FC236}">
                <a16:creationId xmlns:a16="http://schemas.microsoft.com/office/drawing/2014/main" id="{A0BE4E69-AE0B-085D-5A16-9A00D7D75383}"/>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9105642" y="6335328"/>
            <a:ext cx="2464906" cy="36576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userDrawn="1">
            <p:ph type="sldNum" sz="quarter" idx="4"/>
          </p:nvPr>
        </p:nvSpPr>
        <p:spPr>
          <a:xfrm>
            <a:off x="621452" y="6358188"/>
            <a:ext cx="437375" cy="320040"/>
          </a:xfrm>
          <a:prstGeom prst="rect">
            <a:avLst/>
          </a:prstGeom>
          <a:noFill/>
          <a:ln>
            <a:noFill/>
          </a:ln>
        </p:spPr>
        <p:txBody>
          <a:bodyPr vert="horz" lIns="0" tIns="0" rIns="0" bIns="0" rtlCol="0" anchor="ctr"/>
          <a:lstStyle>
            <a:lvl1pPr algn="ctr">
              <a:defRPr lang="en-US" sz="1400" b="1" smtClean="0">
                <a:solidFill>
                  <a:schemeClr val="accent1"/>
                </a:solidFill>
              </a:defRPr>
            </a:lvl1pPr>
          </a:lstStyle>
          <a:p>
            <a:pPr rtl="1"/>
            <a:r>
              <a:rPr lang="en-GB"/>
              <a:t>#</a:t>
            </a:r>
            <a:endParaRPr lang="en-GB" dirty="0"/>
          </a:p>
        </p:txBody>
      </p:sp>
    </p:spTree>
    <p:extLst>
      <p:ext uri="{BB962C8B-B14F-4D97-AF65-F5344CB8AC3E}">
        <p14:creationId xmlns:p14="http://schemas.microsoft.com/office/powerpoint/2010/main" val="1743026089"/>
      </p:ext>
    </p:extLst>
  </p:cSld>
  <p:clrMap bg1="lt1" tx1="dk1" bg2="lt2" tx2="dk2" accent1="accent1" accent2="accent2" accent3="accent3" accent4="accent4" accent5="accent5" accent6="accent6" hlink="hlink" folHlink="folHlink"/>
  <p:sldLayoutIdLst>
    <p:sldLayoutId id="2147483742" r:id="rId1"/>
    <p:sldLayoutId id="2147483705" r:id="rId2"/>
    <p:sldLayoutId id="2147483749" r:id="rId3"/>
    <p:sldLayoutId id="2147483744" r:id="rId4"/>
    <p:sldLayoutId id="2147483730" r:id="rId5"/>
    <p:sldLayoutId id="2147483741" r:id="rId6"/>
    <p:sldLayoutId id="2147483707" r:id="rId7"/>
    <p:sldLayoutId id="2147483710" r:id="rId8"/>
    <p:sldLayoutId id="2147483711" r:id="rId9"/>
    <p:sldLayoutId id="2147483712" r:id="rId10"/>
    <p:sldLayoutId id="2147483713" r:id="rId11"/>
    <p:sldLayoutId id="2147483715" r:id="rId12"/>
    <p:sldLayoutId id="2147483740" r:id="rId13"/>
    <p:sldLayoutId id="2147483718" r:id="rId14"/>
    <p:sldLayoutId id="2147483719" r:id="rId15"/>
    <p:sldLayoutId id="2147483725" r:id="rId16"/>
    <p:sldLayoutId id="2147483728" r:id="rId17"/>
    <p:sldLayoutId id="2147483735" r:id="rId18"/>
    <p:sldLayoutId id="2147483736" r:id="rId19"/>
    <p:sldLayoutId id="2147483737" r:id="rId20"/>
    <p:sldLayoutId id="2147483738" r:id="rId21"/>
    <p:sldLayoutId id="2147483739" r:id="rId22"/>
    <p:sldLayoutId id="2147483750" r:id="rId2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hdr="0" ftr="0" dt="0"/>
  <p:txStyles>
    <p:title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2000" kern="1200">
          <a:solidFill>
            <a:schemeClr val="tx1">
              <a:lumMod val="85000"/>
              <a:lumOff val="1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6" pos="7296" userDrawn="1">
          <p15:clr>
            <a:srgbClr val="F26B43"/>
          </p15:clr>
        </p15:guide>
        <p15:guide id="7" orient="horz" pos="840" userDrawn="1">
          <p15:clr>
            <a:srgbClr val="F26B43"/>
          </p15:clr>
        </p15:guide>
        <p15:guide id="10" pos="384" userDrawn="1">
          <p15:clr>
            <a:srgbClr val="F26B43"/>
          </p15:clr>
        </p15:guide>
        <p15:guide id="11"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6.xml"/><Relationship Id="rId1" Type="http://schemas.openxmlformats.org/officeDocument/2006/relationships/slideLayout" Target="../slideLayouts/slideLayout23.xml"/><Relationship Id="rId6" Type="http://schemas.openxmlformats.org/officeDocument/2006/relationships/slide" Target="slide10.xml"/><Relationship Id="rId5" Type="http://schemas.openxmlformats.org/officeDocument/2006/relationships/slide" Target="slide8.xml"/><Relationship Id="rId4" Type="http://schemas.openxmlformats.org/officeDocument/2006/relationships/slide" Target="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8" Type="http://schemas.openxmlformats.org/officeDocument/2006/relationships/slide" Target="slide22.xml"/><Relationship Id="rId3" Type="http://schemas.openxmlformats.org/officeDocument/2006/relationships/slide" Target="slide17.xml"/><Relationship Id="rId7" Type="http://schemas.openxmlformats.org/officeDocument/2006/relationships/slide" Target="slide21.xml"/><Relationship Id="rId2" Type="http://schemas.openxmlformats.org/officeDocument/2006/relationships/slide" Target="slide16.xml"/><Relationship Id="rId1" Type="http://schemas.openxmlformats.org/officeDocument/2006/relationships/slideLayout" Target="../slideLayouts/slideLayout5.xml"/><Relationship Id="rId6" Type="http://schemas.openxmlformats.org/officeDocument/2006/relationships/slide" Target="slide20.xml"/><Relationship Id="rId5" Type="http://schemas.openxmlformats.org/officeDocument/2006/relationships/slide" Target="slide19.xml"/><Relationship Id="rId4" Type="http://schemas.openxmlformats.org/officeDocument/2006/relationships/slide" Target="slide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hyperlink" Target="https://www.my.gov.sa/wps/wcm/connect/971d44ea-cb2d-4df0-9cf3-f5c44e83ecce/%D9%82%D8%B1%D8%A7%D8%B1+%D9%85%D8%AC%D9%84%D8%B3+%D8%A7%D9%84%D9%88%D8%B2%D8%B1%D8%A7%D8%A1+%D8%B1%D9%82%D9%85+(40)+%D8%B6%D9%88%D8%A7%D8%A8%D8%B7+%D8%A7%D9%84%D8%AA%D8%B9%D8%A7%D9%85%D9%84%D8%A7%D8%AA+%D8%A7%D9%84%D8%A5%D9%84%D9%83%D8%AA%D8%B1%D9%88%D9%86%D9%8A%D8%A9+%D8%A7%D9%84%D8%AD%D9%83%D9%88%D9%85%D9%8A%D8%A9.pdf?MOD=AJPERES&amp;CVID=nEpeTqs" TargetMode="External"/><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8" Type="http://schemas.openxmlformats.org/officeDocument/2006/relationships/slide" Target="slide36.xml"/><Relationship Id="rId3" Type="http://schemas.openxmlformats.org/officeDocument/2006/relationships/slide" Target="slide31.xml"/><Relationship Id="rId7" Type="http://schemas.openxmlformats.org/officeDocument/2006/relationships/slide" Target="slide35.xml"/><Relationship Id="rId2" Type="http://schemas.openxmlformats.org/officeDocument/2006/relationships/slide" Target="slide30.xml"/><Relationship Id="rId1" Type="http://schemas.openxmlformats.org/officeDocument/2006/relationships/slideLayout" Target="../slideLayouts/slideLayout5.xml"/><Relationship Id="rId6" Type="http://schemas.openxmlformats.org/officeDocument/2006/relationships/slide" Target="slide34.xml"/><Relationship Id="rId5" Type="http://schemas.openxmlformats.org/officeDocument/2006/relationships/slide" Target="slide33.xml"/><Relationship Id="rId10" Type="http://schemas.openxmlformats.org/officeDocument/2006/relationships/slide" Target="slide38.xml"/><Relationship Id="rId4" Type="http://schemas.openxmlformats.org/officeDocument/2006/relationships/slide" Target="slide32.xml"/><Relationship Id="rId9" Type="http://schemas.openxmlformats.org/officeDocument/2006/relationships/slide" Target="slide3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8" Type="http://schemas.openxmlformats.org/officeDocument/2006/relationships/slide" Target="slide47.xml"/><Relationship Id="rId3" Type="http://schemas.openxmlformats.org/officeDocument/2006/relationships/slide" Target="slide42.xml"/><Relationship Id="rId7" Type="http://schemas.openxmlformats.org/officeDocument/2006/relationships/slide" Target="slide46.xml"/><Relationship Id="rId2" Type="http://schemas.openxmlformats.org/officeDocument/2006/relationships/slide" Target="slide41.xml"/><Relationship Id="rId1" Type="http://schemas.openxmlformats.org/officeDocument/2006/relationships/slideLayout" Target="../slideLayouts/slideLayout5.xml"/><Relationship Id="rId6" Type="http://schemas.openxmlformats.org/officeDocument/2006/relationships/slide" Target="slide45.xml"/><Relationship Id="rId5" Type="http://schemas.openxmlformats.org/officeDocument/2006/relationships/slide" Target="slide44.xml"/><Relationship Id="rId4" Type="http://schemas.openxmlformats.org/officeDocument/2006/relationships/slide" Target="slide4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slide" Target="slide51.xml"/><Relationship Id="rId2" Type="http://schemas.openxmlformats.org/officeDocument/2006/relationships/slide" Target="slide50.xml"/><Relationship Id="rId1" Type="http://schemas.openxmlformats.org/officeDocument/2006/relationships/slideLayout" Target="../slideLayouts/slideLayout5.xml"/><Relationship Id="rId6" Type="http://schemas.openxmlformats.org/officeDocument/2006/relationships/slide" Target="slide54.xml"/><Relationship Id="rId5" Type="http://schemas.openxmlformats.org/officeDocument/2006/relationships/slide" Target="slide53.xml"/><Relationship Id="rId4" Type="http://schemas.openxmlformats.org/officeDocument/2006/relationships/slide" Target="slide5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9827" y="3749232"/>
            <a:ext cx="5022574" cy="1204833"/>
          </a:xfrm>
        </p:spPr>
        <p:txBody>
          <a:bodyPr/>
          <a:lstStyle/>
          <a:p>
            <a:pPr>
              <a:lnSpc>
                <a:spcPct val="125000"/>
              </a:lnSpc>
            </a:pPr>
            <a:r>
              <a:rPr lang="ar-EG"/>
              <a:t>وثيقة </a:t>
            </a:r>
            <a:r>
              <a:rPr lang="ar-EG" dirty="0"/>
              <a:t>مبادئ البنية المؤسسية</a:t>
            </a:r>
            <a:endParaRPr lang="en-US" dirty="0"/>
          </a:p>
        </p:txBody>
      </p:sp>
      <p:sp>
        <p:nvSpPr>
          <p:cNvPr id="3" name="Subtitle 2"/>
          <p:cNvSpPr>
            <a:spLocks noGrp="1"/>
          </p:cNvSpPr>
          <p:nvPr>
            <p:ph type="subTitle" idx="1"/>
          </p:nvPr>
        </p:nvSpPr>
        <p:spPr/>
        <p:txBody>
          <a:bodyPr>
            <a:normAutofit/>
          </a:bodyPr>
          <a:lstStyle/>
          <a:p>
            <a:r>
              <a:rPr lang="ar-EG" dirty="0"/>
              <a:t>النسخة </a:t>
            </a:r>
            <a:r>
              <a:rPr lang="en-US" dirty="0"/>
              <a:t>0.5</a:t>
            </a:r>
            <a:endParaRPr lang="ar-EG" dirty="0"/>
          </a:p>
        </p:txBody>
      </p:sp>
    </p:spTree>
    <p:extLst>
      <p:ext uri="{BB962C8B-B14F-4D97-AF65-F5344CB8AC3E}">
        <p14:creationId xmlns:p14="http://schemas.microsoft.com/office/powerpoint/2010/main" val="2428133689"/>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شروط استخدام الوثيقة</a:t>
            </a:r>
            <a:endParaRPr lang="en-US" dirty="0"/>
          </a:p>
        </p:txBody>
      </p:sp>
      <p:sp>
        <p:nvSpPr>
          <p:cNvPr id="15" name="Rectangle 14">
            <a:extLst>
              <a:ext uri="{FF2B5EF4-FFF2-40B4-BE49-F238E27FC236}">
                <a16:creationId xmlns:a16="http://schemas.microsoft.com/office/drawing/2014/main" id="{7B21A5CB-82AC-F540-2F06-31E6BF4F283A}"/>
              </a:ext>
            </a:extLst>
          </p:cNvPr>
          <p:cNvSpPr/>
          <p:nvPr/>
        </p:nvSpPr>
        <p:spPr>
          <a:xfrm>
            <a:off x="2011680" y="2396756"/>
            <a:ext cx="7202276" cy="1730999"/>
          </a:xfrm>
          <a:prstGeom prst="rect">
            <a:avLst/>
          </a:prstGeom>
        </p:spPr>
        <p:txBody>
          <a:bodyPr anchor="ctr" anchorCtr="0">
            <a:normAutofit/>
          </a:bodyPr>
          <a:lstStyle/>
          <a:p>
            <a:pPr algn="r" rtl="1">
              <a:lnSpc>
                <a:spcPct val="150000"/>
              </a:lnSpc>
              <a:spcAft>
                <a:spcPts val="1200"/>
              </a:spcAft>
            </a:pPr>
            <a:r>
              <a:rPr lang="ar-EG" sz="2400" dirty="0"/>
              <a:t>إن هذه الوثيقة ومحتوياتها هي ملك لهيئة تقويم التعليم والتدريب ولا يجوز نسخها أو الكشف عنها أو تداولها دون الحصول على موافقة كتابية محددة من الهيئة، ويحظر تماما أي استخدام آخر غير الغرض الذي تم إعدادها من أجله.</a:t>
            </a:r>
          </a:p>
        </p:txBody>
      </p:sp>
      <p:grpSp>
        <p:nvGrpSpPr>
          <p:cNvPr id="28" name="Group 27">
            <a:extLst>
              <a:ext uri="{FF2B5EF4-FFF2-40B4-BE49-F238E27FC236}">
                <a16:creationId xmlns:a16="http://schemas.microsoft.com/office/drawing/2014/main" id="{D7350C88-B1EB-C1D4-7BA4-A1A2D371B40C}"/>
              </a:ext>
            </a:extLst>
          </p:cNvPr>
          <p:cNvGrpSpPr>
            <a:grpSpLocks noChangeAspect="1"/>
          </p:cNvGrpSpPr>
          <p:nvPr/>
        </p:nvGrpSpPr>
        <p:grpSpPr>
          <a:xfrm>
            <a:off x="9864957" y="2512209"/>
            <a:ext cx="1256429" cy="1483283"/>
            <a:chOff x="3290888" y="152400"/>
            <a:chExt cx="1600201" cy="1889125"/>
          </a:xfrm>
          <a:solidFill>
            <a:schemeClr val="accent1"/>
          </a:solidFill>
        </p:grpSpPr>
        <p:sp>
          <p:nvSpPr>
            <p:cNvPr id="29" name="Freeform 191">
              <a:extLst>
                <a:ext uri="{FF2B5EF4-FFF2-40B4-BE49-F238E27FC236}">
                  <a16:creationId xmlns:a16="http://schemas.microsoft.com/office/drawing/2014/main" id="{13DD340A-D508-6019-028E-387DF741F95E}"/>
                </a:ext>
              </a:extLst>
            </p:cNvPr>
            <p:cNvSpPr>
              <a:spLocks noEditPoints="1"/>
            </p:cNvSpPr>
            <p:nvPr/>
          </p:nvSpPr>
          <p:spPr bwMode="auto">
            <a:xfrm>
              <a:off x="3290888" y="152400"/>
              <a:ext cx="1427163" cy="1889125"/>
            </a:xfrm>
            <a:custGeom>
              <a:avLst/>
              <a:gdLst>
                <a:gd name="T0" fmla="*/ 320 w 6064"/>
                <a:gd name="T1" fmla="*/ 57 h 8032"/>
                <a:gd name="T2" fmla="*/ 157 w 6064"/>
                <a:gd name="T3" fmla="*/ 172 h 8032"/>
                <a:gd name="T4" fmla="*/ 44 w 6064"/>
                <a:gd name="T5" fmla="*/ 335 h 8032"/>
                <a:gd name="T6" fmla="*/ 17 w 6064"/>
                <a:gd name="T7" fmla="*/ 432 h 8032"/>
                <a:gd name="T8" fmla="*/ 0 w 6064"/>
                <a:gd name="T9" fmla="*/ 4016 h 8032"/>
                <a:gd name="T10" fmla="*/ 10 w 6064"/>
                <a:gd name="T11" fmla="*/ 7503 h 8032"/>
                <a:gd name="T12" fmla="*/ 33 w 6064"/>
                <a:gd name="T13" fmla="*/ 7672 h 8032"/>
                <a:gd name="T14" fmla="*/ 96 w 6064"/>
                <a:gd name="T15" fmla="*/ 7785 h 8032"/>
                <a:gd name="T16" fmla="*/ 210 w 6064"/>
                <a:gd name="T17" fmla="*/ 7905 h 8032"/>
                <a:gd name="T18" fmla="*/ 325 w 6064"/>
                <a:gd name="T19" fmla="*/ 7977 h 8032"/>
                <a:gd name="T20" fmla="*/ 4658 w 6064"/>
                <a:gd name="T21" fmla="*/ 8032 h 8032"/>
                <a:gd name="T22" fmla="*/ 4443 w 6064"/>
                <a:gd name="T23" fmla="*/ 7886 h 8032"/>
                <a:gd name="T24" fmla="*/ 4284 w 6064"/>
                <a:gd name="T25" fmla="*/ 7864 h 8032"/>
                <a:gd name="T26" fmla="*/ 458 w 6064"/>
                <a:gd name="T27" fmla="*/ 7841 h 8032"/>
                <a:gd name="T28" fmla="*/ 305 w 6064"/>
                <a:gd name="T29" fmla="*/ 7743 h 8032"/>
                <a:gd name="T30" fmla="*/ 205 w 6064"/>
                <a:gd name="T31" fmla="*/ 7604 h 8032"/>
                <a:gd name="T32" fmla="*/ 189 w 6064"/>
                <a:gd name="T33" fmla="*/ 6936 h 8032"/>
                <a:gd name="T34" fmla="*/ 189 w 6064"/>
                <a:gd name="T35" fmla="*/ 1096 h 8032"/>
                <a:gd name="T36" fmla="*/ 205 w 6064"/>
                <a:gd name="T37" fmla="*/ 427 h 8032"/>
                <a:gd name="T38" fmla="*/ 305 w 6064"/>
                <a:gd name="T39" fmla="*/ 288 h 8032"/>
                <a:gd name="T40" fmla="*/ 458 w 6064"/>
                <a:gd name="T41" fmla="*/ 191 h 8032"/>
                <a:gd name="T42" fmla="*/ 3626 w 6064"/>
                <a:gd name="T43" fmla="*/ 241 h 8032"/>
                <a:gd name="T44" fmla="*/ 3716 w 6064"/>
                <a:gd name="T45" fmla="*/ 317 h 8032"/>
                <a:gd name="T46" fmla="*/ 3808 w 6064"/>
                <a:gd name="T47" fmla="*/ 454 h 8032"/>
                <a:gd name="T48" fmla="*/ 3880 w 6064"/>
                <a:gd name="T49" fmla="*/ 1736 h 8032"/>
                <a:gd name="T50" fmla="*/ 4027 w 6064"/>
                <a:gd name="T51" fmla="*/ 1928 h 8032"/>
                <a:gd name="T52" fmla="*/ 4175 w 6064"/>
                <a:gd name="T53" fmla="*/ 2017 h 8032"/>
                <a:gd name="T54" fmla="*/ 4908 w 6064"/>
                <a:gd name="T55" fmla="*/ 2049 h 8032"/>
                <a:gd name="T56" fmla="*/ 5569 w 6064"/>
                <a:gd name="T57" fmla="*/ 2066 h 8032"/>
                <a:gd name="T58" fmla="*/ 5687 w 6064"/>
                <a:gd name="T59" fmla="*/ 2110 h 8032"/>
                <a:gd name="T60" fmla="*/ 5814 w 6064"/>
                <a:gd name="T61" fmla="*/ 2244 h 8032"/>
                <a:gd name="T62" fmla="*/ 5848 w 6064"/>
                <a:gd name="T63" fmla="*/ 2319 h 8032"/>
                <a:gd name="T64" fmla="*/ 5866 w 6064"/>
                <a:gd name="T65" fmla="*/ 2870 h 8032"/>
                <a:gd name="T66" fmla="*/ 5955 w 6064"/>
                <a:gd name="T67" fmla="*/ 5146 h 8032"/>
                <a:gd name="T68" fmla="*/ 6057 w 6064"/>
                <a:gd name="T69" fmla="*/ 5162 h 8032"/>
                <a:gd name="T70" fmla="*/ 6063 w 6064"/>
                <a:gd name="T71" fmla="*/ 3744 h 8032"/>
                <a:gd name="T72" fmla="*/ 5995 w 6064"/>
                <a:gd name="T73" fmla="*/ 2178 h 8032"/>
                <a:gd name="T74" fmla="*/ 5887 w 6064"/>
                <a:gd name="T75" fmla="*/ 2042 h 8032"/>
                <a:gd name="T76" fmla="*/ 5221 w 6064"/>
                <a:gd name="T77" fmla="*/ 1422 h 8032"/>
                <a:gd name="T78" fmla="*/ 3752 w 6064"/>
                <a:gd name="T79" fmla="*/ 93 h 8032"/>
                <a:gd name="T80" fmla="*/ 3659 w 6064"/>
                <a:gd name="T81" fmla="*/ 42 h 8032"/>
                <a:gd name="T82" fmla="*/ 3224 w 6064"/>
                <a:gd name="T83" fmla="*/ 3 h 8032"/>
                <a:gd name="T84" fmla="*/ 1235 w 6064"/>
                <a:gd name="T85" fmla="*/ 1 h 8032"/>
                <a:gd name="T86" fmla="*/ 415 w 6064"/>
                <a:gd name="T87" fmla="*/ 22 h 8032"/>
                <a:gd name="T88" fmla="*/ 4873 w 6064"/>
                <a:gd name="T89" fmla="*/ 1862 h 8032"/>
                <a:gd name="T90" fmla="*/ 4286 w 6064"/>
                <a:gd name="T91" fmla="*/ 1854 h 8032"/>
                <a:gd name="T92" fmla="*/ 4173 w 6064"/>
                <a:gd name="T93" fmla="*/ 1803 h 8032"/>
                <a:gd name="T94" fmla="*/ 4045 w 6064"/>
                <a:gd name="T95" fmla="*/ 1661 h 8032"/>
                <a:gd name="T96" fmla="*/ 4009 w 6064"/>
                <a:gd name="T97" fmla="*/ 1467 h 8032"/>
                <a:gd name="T98" fmla="*/ 4001 w 6064"/>
                <a:gd name="T99" fmla="*/ 869 h 8032"/>
                <a:gd name="T100" fmla="*/ 4013 w 6064"/>
                <a:gd name="T101" fmla="*/ 584 h 8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064" h="8032">
                  <a:moveTo>
                    <a:pt x="415" y="22"/>
                  </a:moveTo>
                  <a:lnTo>
                    <a:pt x="382" y="32"/>
                  </a:lnTo>
                  <a:lnTo>
                    <a:pt x="320" y="57"/>
                  </a:lnTo>
                  <a:lnTo>
                    <a:pt x="262" y="89"/>
                  </a:lnTo>
                  <a:lnTo>
                    <a:pt x="207" y="127"/>
                  </a:lnTo>
                  <a:lnTo>
                    <a:pt x="157" y="172"/>
                  </a:lnTo>
                  <a:lnTo>
                    <a:pt x="113" y="221"/>
                  </a:lnTo>
                  <a:lnTo>
                    <a:pt x="75" y="276"/>
                  </a:lnTo>
                  <a:lnTo>
                    <a:pt x="44" y="335"/>
                  </a:lnTo>
                  <a:lnTo>
                    <a:pt x="31" y="366"/>
                  </a:lnTo>
                  <a:lnTo>
                    <a:pt x="26" y="381"/>
                  </a:lnTo>
                  <a:lnTo>
                    <a:pt x="17" y="432"/>
                  </a:lnTo>
                  <a:lnTo>
                    <a:pt x="7" y="619"/>
                  </a:lnTo>
                  <a:lnTo>
                    <a:pt x="0" y="1830"/>
                  </a:lnTo>
                  <a:lnTo>
                    <a:pt x="0" y="4016"/>
                  </a:lnTo>
                  <a:lnTo>
                    <a:pt x="0" y="6238"/>
                  </a:lnTo>
                  <a:lnTo>
                    <a:pt x="6" y="7301"/>
                  </a:lnTo>
                  <a:lnTo>
                    <a:pt x="10" y="7503"/>
                  </a:lnTo>
                  <a:lnTo>
                    <a:pt x="17" y="7608"/>
                  </a:lnTo>
                  <a:lnTo>
                    <a:pt x="27" y="7656"/>
                  </a:lnTo>
                  <a:lnTo>
                    <a:pt x="33" y="7672"/>
                  </a:lnTo>
                  <a:lnTo>
                    <a:pt x="42" y="7695"/>
                  </a:lnTo>
                  <a:lnTo>
                    <a:pt x="66" y="7741"/>
                  </a:lnTo>
                  <a:lnTo>
                    <a:pt x="96" y="7785"/>
                  </a:lnTo>
                  <a:lnTo>
                    <a:pt x="130" y="7828"/>
                  </a:lnTo>
                  <a:lnTo>
                    <a:pt x="168" y="7868"/>
                  </a:lnTo>
                  <a:lnTo>
                    <a:pt x="210" y="7905"/>
                  </a:lnTo>
                  <a:lnTo>
                    <a:pt x="255" y="7938"/>
                  </a:lnTo>
                  <a:lnTo>
                    <a:pt x="301" y="7966"/>
                  </a:lnTo>
                  <a:lnTo>
                    <a:pt x="325" y="7977"/>
                  </a:lnTo>
                  <a:lnTo>
                    <a:pt x="425" y="8024"/>
                  </a:lnTo>
                  <a:lnTo>
                    <a:pt x="2541" y="8029"/>
                  </a:lnTo>
                  <a:lnTo>
                    <a:pt x="4658" y="8032"/>
                  </a:lnTo>
                  <a:lnTo>
                    <a:pt x="4566" y="7972"/>
                  </a:lnTo>
                  <a:lnTo>
                    <a:pt x="4489" y="7920"/>
                  </a:lnTo>
                  <a:lnTo>
                    <a:pt x="4443" y="7886"/>
                  </a:lnTo>
                  <a:lnTo>
                    <a:pt x="4437" y="7881"/>
                  </a:lnTo>
                  <a:lnTo>
                    <a:pt x="4404" y="7873"/>
                  </a:lnTo>
                  <a:lnTo>
                    <a:pt x="4284" y="7864"/>
                  </a:lnTo>
                  <a:lnTo>
                    <a:pt x="3588" y="7854"/>
                  </a:lnTo>
                  <a:lnTo>
                    <a:pt x="2435" y="7849"/>
                  </a:lnTo>
                  <a:lnTo>
                    <a:pt x="458" y="7841"/>
                  </a:lnTo>
                  <a:lnTo>
                    <a:pt x="390" y="7804"/>
                  </a:lnTo>
                  <a:lnTo>
                    <a:pt x="360" y="7787"/>
                  </a:lnTo>
                  <a:lnTo>
                    <a:pt x="305" y="7743"/>
                  </a:lnTo>
                  <a:lnTo>
                    <a:pt x="257" y="7691"/>
                  </a:lnTo>
                  <a:lnTo>
                    <a:pt x="218" y="7633"/>
                  </a:lnTo>
                  <a:lnTo>
                    <a:pt x="205" y="7604"/>
                  </a:lnTo>
                  <a:lnTo>
                    <a:pt x="202" y="7583"/>
                  </a:lnTo>
                  <a:lnTo>
                    <a:pt x="196" y="7416"/>
                  </a:lnTo>
                  <a:lnTo>
                    <a:pt x="189" y="6936"/>
                  </a:lnTo>
                  <a:lnTo>
                    <a:pt x="181" y="5346"/>
                  </a:lnTo>
                  <a:lnTo>
                    <a:pt x="181" y="2685"/>
                  </a:lnTo>
                  <a:lnTo>
                    <a:pt x="189" y="1096"/>
                  </a:lnTo>
                  <a:lnTo>
                    <a:pt x="196" y="616"/>
                  </a:lnTo>
                  <a:lnTo>
                    <a:pt x="202" y="448"/>
                  </a:lnTo>
                  <a:lnTo>
                    <a:pt x="205" y="427"/>
                  </a:lnTo>
                  <a:lnTo>
                    <a:pt x="218" y="398"/>
                  </a:lnTo>
                  <a:lnTo>
                    <a:pt x="257" y="340"/>
                  </a:lnTo>
                  <a:lnTo>
                    <a:pt x="305" y="288"/>
                  </a:lnTo>
                  <a:lnTo>
                    <a:pt x="360" y="244"/>
                  </a:lnTo>
                  <a:lnTo>
                    <a:pt x="390" y="227"/>
                  </a:lnTo>
                  <a:lnTo>
                    <a:pt x="458" y="191"/>
                  </a:lnTo>
                  <a:lnTo>
                    <a:pt x="2001" y="191"/>
                  </a:lnTo>
                  <a:lnTo>
                    <a:pt x="3545" y="191"/>
                  </a:lnTo>
                  <a:lnTo>
                    <a:pt x="3626" y="241"/>
                  </a:lnTo>
                  <a:lnTo>
                    <a:pt x="3645" y="253"/>
                  </a:lnTo>
                  <a:lnTo>
                    <a:pt x="3682" y="283"/>
                  </a:lnTo>
                  <a:lnTo>
                    <a:pt x="3716" y="317"/>
                  </a:lnTo>
                  <a:lnTo>
                    <a:pt x="3746" y="354"/>
                  </a:lnTo>
                  <a:lnTo>
                    <a:pt x="3758" y="372"/>
                  </a:lnTo>
                  <a:lnTo>
                    <a:pt x="3808" y="454"/>
                  </a:lnTo>
                  <a:lnTo>
                    <a:pt x="3816" y="1039"/>
                  </a:lnTo>
                  <a:lnTo>
                    <a:pt x="3825" y="1624"/>
                  </a:lnTo>
                  <a:lnTo>
                    <a:pt x="3880" y="1736"/>
                  </a:lnTo>
                  <a:lnTo>
                    <a:pt x="3903" y="1781"/>
                  </a:lnTo>
                  <a:lnTo>
                    <a:pt x="3959" y="1861"/>
                  </a:lnTo>
                  <a:lnTo>
                    <a:pt x="4027" y="1928"/>
                  </a:lnTo>
                  <a:lnTo>
                    <a:pt x="4106" y="1983"/>
                  </a:lnTo>
                  <a:lnTo>
                    <a:pt x="4150" y="2006"/>
                  </a:lnTo>
                  <a:lnTo>
                    <a:pt x="4175" y="2017"/>
                  </a:lnTo>
                  <a:lnTo>
                    <a:pt x="4246" y="2032"/>
                  </a:lnTo>
                  <a:lnTo>
                    <a:pt x="4495" y="2044"/>
                  </a:lnTo>
                  <a:lnTo>
                    <a:pt x="4908" y="2049"/>
                  </a:lnTo>
                  <a:lnTo>
                    <a:pt x="5136" y="2052"/>
                  </a:lnTo>
                  <a:lnTo>
                    <a:pt x="5424" y="2058"/>
                  </a:lnTo>
                  <a:lnTo>
                    <a:pt x="5569" y="2066"/>
                  </a:lnTo>
                  <a:lnTo>
                    <a:pt x="5635" y="2082"/>
                  </a:lnTo>
                  <a:lnTo>
                    <a:pt x="5658" y="2094"/>
                  </a:lnTo>
                  <a:lnTo>
                    <a:pt x="5687" y="2110"/>
                  </a:lnTo>
                  <a:lnTo>
                    <a:pt x="5737" y="2147"/>
                  </a:lnTo>
                  <a:lnTo>
                    <a:pt x="5778" y="2190"/>
                  </a:lnTo>
                  <a:lnTo>
                    <a:pt x="5814" y="2244"/>
                  </a:lnTo>
                  <a:lnTo>
                    <a:pt x="5831" y="2277"/>
                  </a:lnTo>
                  <a:lnTo>
                    <a:pt x="5838" y="2290"/>
                  </a:lnTo>
                  <a:lnTo>
                    <a:pt x="5848" y="2319"/>
                  </a:lnTo>
                  <a:lnTo>
                    <a:pt x="5855" y="2367"/>
                  </a:lnTo>
                  <a:lnTo>
                    <a:pt x="5860" y="2451"/>
                  </a:lnTo>
                  <a:lnTo>
                    <a:pt x="5866" y="2870"/>
                  </a:lnTo>
                  <a:lnTo>
                    <a:pt x="5866" y="3729"/>
                  </a:lnTo>
                  <a:lnTo>
                    <a:pt x="5866" y="5109"/>
                  </a:lnTo>
                  <a:lnTo>
                    <a:pt x="5955" y="5146"/>
                  </a:lnTo>
                  <a:lnTo>
                    <a:pt x="6025" y="5174"/>
                  </a:lnTo>
                  <a:lnTo>
                    <a:pt x="6055" y="5182"/>
                  </a:lnTo>
                  <a:lnTo>
                    <a:pt x="6057" y="5162"/>
                  </a:lnTo>
                  <a:lnTo>
                    <a:pt x="6061" y="4943"/>
                  </a:lnTo>
                  <a:lnTo>
                    <a:pt x="6064" y="4320"/>
                  </a:lnTo>
                  <a:lnTo>
                    <a:pt x="6063" y="3744"/>
                  </a:lnTo>
                  <a:lnTo>
                    <a:pt x="6058" y="2307"/>
                  </a:lnTo>
                  <a:lnTo>
                    <a:pt x="6005" y="2197"/>
                  </a:lnTo>
                  <a:lnTo>
                    <a:pt x="5995" y="2178"/>
                  </a:lnTo>
                  <a:lnTo>
                    <a:pt x="5972" y="2141"/>
                  </a:lnTo>
                  <a:lnTo>
                    <a:pt x="5939" y="2098"/>
                  </a:lnTo>
                  <a:lnTo>
                    <a:pt x="5887" y="2042"/>
                  </a:lnTo>
                  <a:lnTo>
                    <a:pt x="5763" y="1920"/>
                  </a:lnTo>
                  <a:lnTo>
                    <a:pt x="5458" y="1639"/>
                  </a:lnTo>
                  <a:lnTo>
                    <a:pt x="5221" y="1422"/>
                  </a:lnTo>
                  <a:lnTo>
                    <a:pt x="4390" y="664"/>
                  </a:lnTo>
                  <a:lnTo>
                    <a:pt x="3873" y="197"/>
                  </a:lnTo>
                  <a:lnTo>
                    <a:pt x="3752" y="93"/>
                  </a:lnTo>
                  <a:lnTo>
                    <a:pt x="3730" y="79"/>
                  </a:lnTo>
                  <a:lnTo>
                    <a:pt x="3707" y="65"/>
                  </a:lnTo>
                  <a:lnTo>
                    <a:pt x="3659" y="42"/>
                  </a:lnTo>
                  <a:lnTo>
                    <a:pt x="3593" y="25"/>
                  </a:lnTo>
                  <a:lnTo>
                    <a:pt x="3487" y="13"/>
                  </a:lnTo>
                  <a:lnTo>
                    <a:pt x="3224" y="3"/>
                  </a:lnTo>
                  <a:lnTo>
                    <a:pt x="2541" y="0"/>
                  </a:lnTo>
                  <a:lnTo>
                    <a:pt x="1991" y="1"/>
                  </a:lnTo>
                  <a:lnTo>
                    <a:pt x="1235" y="1"/>
                  </a:lnTo>
                  <a:lnTo>
                    <a:pt x="633" y="8"/>
                  </a:lnTo>
                  <a:lnTo>
                    <a:pt x="447" y="16"/>
                  </a:lnTo>
                  <a:lnTo>
                    <a:pt x="415" y="22"/>
                  </a:lnTo>
                  <a:close/>
                  <a:moveTo>
                    <a:pt x="4725" y="1224"/>
                  </a:moveTo>
                  <a:lnTo>
                    <a:pt x="5421" y="1857"/>
                  </a:lnTo>
                  <a:lnTo>
                    <a:pt x="4873" y="1862"/>
                  </a:lnTo>
                  <a:lnTo>
                    <a:pt x="4633" y="1864"/>
                  </a:lnTo>
                  <a:lnTo>
                    <a:pt x="4383" y="1860"/>
                  </a:lnTo>
                  <a:lnTo>
                    <a:pt x="4286" y="1854"/>
                  </a:lnTo>
                  <a:lnTo>
                    <a:pt x="4266" y="1851"/>
                  </a:lnTo>
                  <a:lnTo>
                    <a:pt x="4236" y="1840"/>
                  </a:lnTo>
                  <a:lnTo>
                    <a:pt x="4173" y="1803"/>
                  </a:lnTo>
                  <a:lnTo>
                    <a:pt x="4113" y="1752"/>
                  </a:lnTo>
                  <a:lnTo>
                    <a:pt x="4063" y="1692"/>
                  </a:lnTo>
                  <a:lnTo>
                    <a:pt x="4045" y="1661"/>
                  </a:lnTo>
                  <a:lnTo>
                    <a:pt x="4033" y="1637"/>
                  </a:lnTo>
                  <a:lnTo>
                    <a:pt x="4017" y="1580"/>
                  </a:lnTo>
                  <a:lnTo>
                    <a:pt x="4009" y="1467"/>
                  </a:lnTo>
                  <a:lnTo>
                    <a:pt x="4005" y="1252"/>
                  </a:lnTo>
                  <a:lnTo>
                    <a:pt x="4003" y="1084"/>
                  </a:lnTo>
                  <a:lnTo>
                    <a:pt x="4001" y="869"/>
                  </a:lnTo>
                  <a:lnTo>
                    <a:pt x="4004" y="658"/>
                  </a:lnTo>
                  <a:lnTo>
                    <a:pt x="4009" y="589"/>
                  </a:lnTo>
                  <a:lnTo>
                    <a:pt x="4013" y="584"/>
                  </a:lnTo>
                  <a:lnTo>
                    <a:pt x="4181" y="731"/>
                  </a:lnTo>
                  <a:lnTo>
                    <a:pt x="4725" y="1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0" name="Freeform 192">
              <a:extLst>
                <a:ext uri="{FF2B5EF4-FFF2-40B4-BE49-F238E27FC236}">
                  <a16:creationId xmlns:a16="http://schemas.microsoft.com/office/drawing/2014/main" id="{A3C20801-CFA8-4B96-9DFA-637FBC91BF6E}"/>
                </a:ext>
              </a:extLst>
            </p:cNvPr>
            <p:cNvSpPr>
              <a:spLocks/>
            </p:cNvSpPr>
            <p:nvPr/>
          </p:nvSpPr>
          <p:spPr bwMode="auto">
            <a:xfrm>
              <a:off x="3543301" y="571500"/>
              <a:ext cx="371475" cy="44450"/>
            </a:xfrm>
            <a:custGeom>
              <a:avLst/>
              <a:gdLst>
                <a:gd name="T0" fmla="*/ 16 w 1582"/>
                <a:gd name="T1" fmla="*/ 32 h 184"/>
                <a:gd name="T2" fmla="*/ 7 w 1582"/>
                <a:gd name="T3" fmla="*/ 51 h 184"/>
                <a:gd name="T4" fmla="*/ 0 w 1582"/>
                <a:gd name="T5" fmla="*/ 87 h 184"/>
                <a:gd name="T6" fmla="*/ 5 w 1582"/>
                <a:gd name="T7" fmla="*/ 120 h 184"/>
                <a:gd name="T8" fmla="*/ 22 w 1582"/>
                <a:gd name="T9" fmla="*/ 146 h 184"/>
                <a:gd name="T10" fmla="*/ 36 w 1582"/>
                <a:gd name="T11" fmla="*/ 157 h 184"/>
                <a:gd name="T12" fmla="*/ 43 w 1582"/>
                <a:gd name="T13" fmla="*/ 161 h 184"/>
                <a:gd name="T14" fmla="*/ 64 w 1582"/>
                <a:gd name="T15" fmla="*/ 168 h 184"/>
                <a:gd name="T16" fmla="*/ 122 w 1582"/>
                <a:gd name="T17" fmla="*/ 176 h 184"/>
                <a:gd name="T18" fmla="*/ 394 w 1582"/>
                <a:gd name="T19" fmla="*/ 183 h 184"/>
                <a:gd name="T20" fmla="*/ 801 w 1582"/>
                <a:gd name="T21" fmla="*/ 184 h 184"/>
                <a:gd name="T22" fmla="*/ 1234 w 1582"/>
                <a:gd name="T23" fmla="*/ 183 h 184"/>
                <a:gd name="T24" fmla="*/ 1489 w 1582"/>
                <a:gd name="T25" fmla="*/ 176 h 184"/>
                <a:gd name="T26" fmla="*/ 1535 w 1582"/>
                <a:gd name="T27" fmla="*/ 167 h 184"/>
                <a:gd name="T28" fmla="*/ 1549 w 1582"/>
                <a:gd name="T29" fmla="*/ 159 h 184"/>
                <a:gd name="T30" fmla="*/ 1554 w 1582"/>
                <a:gd name="T31" fmla="*/ 154 h 184"/>
                <a:gd name="T32" fmla="*/ 1566 w 1582"/>
                <a:gd name="T33" fmla="*/ 139 h 184"/>
                <a:gd name="T34" fmla="*/ 1580 w 1582"/>
                <a:gd name="T35" fmla="*/ 103 h 184"/>
                <a:gd name="T36" fmla="*/ 1582 w 1582"/>
                <a:gd name="T37" fmla="*/ 65 h 184"/>
                <a:gd name="T38" fmla="*/ 1572 w 1582"/>
                <a:gd name="T39" fmla="*/ 32 h 184"/>
                <a:gd name="T40" fmla="*/ 1563 w 1582"/>
                <a:gd name="T41" fmla="*/ 20 h 184"/>
                <a:gd name="T42" fmla="*/ 1551 w 1582"/>
                <a:gd name="T43" fmla="*/ 15 h 184"/>
                <a:gd name="T44" fmla="*/ 1464 w 1582"/>
                <a:gd name="T45" fmla="*/ 7 h 184"/>
                <a:gd name="T46" fmla="*/ 1165 w 1582"/>
                <a:gd name="T47" fmla="*/ 1 h 184"/>
                <a:gd name="T48" fmla="*/ 788 w 1582"/>
                <a:gd name="T49" fmla="*/ 0 h 184"/>
                <a:gd name="T50" fmla="*/ 329 w 1582"/>
                <a:gd name="T51" fmla="*/ 1 h 184"/>
                <a:gd name="T52" fmla="*/ 71 w 1582"/>
                <a:gd name="T53" fmla="*/ 9 h 184"/>
                <a:gd name="T54" fmla="*/ 30 w 1582"/>
                <a:gd name="T55" fmla="*/ 18 h 184"/>
                <a:gd name="T56" fmla="*/ 19 w 1582"/>
                <a:gd name="T57" fmla="*/ 27 h 184"/>
                <a:gd name="T58" fmla="*/ 16 w 1582"/>
                <a:gd name="T59"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4">
                  <a:moveTo>
                    <a:pt x="16" y="32"/>
                  </a:moveTo>
                  <a:lnTo>
                    <a:pt x="7" y="51"/>
                  </a:lnTo>
                  <a:lnTo>
                    <a:pt x="0" y="87"/>
                  </a:lnTo>
                  <a:lnTo>
                    <a:pt x="5" y="120"/>
                  </a:lnTo>
                  <a:lnTo>
                    <a:pt x="22" y="146"/>
                  </a:lnTo>
                  <a:lnTo>
                    <a:pt x="36" y="157"/>
                  </a:lnTo>
                  <a:lnTo>
                    <a:pt x="43" y="161"/>
                  </a:lnTo>
                  <a:lnTo>
                    <a:pt x="64" y="168"/>
                  </a:lnTo>
                  <a:lnTo>
                    <a:pt x="122" y="176"/>
                  </a:lnTo>
                  <a:lnTo>
                    <a:pt x="394" y="183"/>
                  </a:lnTo>
                  <a:lnTo>
                    <a:pt x="801" y="184"/>
                  </a:lnTo>
                  <a:lnTo>
                    <a:pt x="1234" y="183"/>
                  </a:lnTo>
                  <a:lnTo>
                    <a:pt x="1489" y="176"/>
                  </a:lnTo>
                  <a:lnTo>
                    <a:pt x="1535" y="167"/>
                  </a:lnTo>
                  <a:lnTo>
                    <a:pt x="1549" y="159"/>
                  </a:lnTo>
                  <a:lnTo>
                    <a:pt x="1554" y="154"/>
                  </a:lnTo>
                  <a:lnTo>
                    <a:pt x="1566" y="139"/>
                  </a:lnTo>
                  <a:lnTo>
                    <a:pt x="1580" y="103"/>
                  </a:lnTo>
                  <a:lnTo>
                    <a:pt x="1582" y="65"/>
                  </a:lnTo>
                  <a:lnTo>
                    <a:pt x="1572" y="32"/>
                  </a:lnTo>
                  <a:lnTo>
                    <a:pt x="1563" y="20"/>
                  </a:lnTo>
                  <a:lnTo>
                    <a:pt x="1551" y="15"/>
                  </a:lnTo>
                  <a:lnTo>
                    <a:pt x="1464" y="7"/>
                  </a:lnTo>
                  <a:lnTo>
                    <a:pt x="1165" y="1"/>
                  </a:lnTo>
                  <a:lnTo>
                    <a:pt x="788" y="0"/>
                  </a:lnTo>
                  <a:lnTo>
                    <a:pt x="329" y="1"/>
                  </a:lnTo>
                  <a:lnTo>
                    <a:pt x="71" y="9"/>
                  </a:lnTo>
                  <a:lnTo>
                    <a:pt x="30"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1" name="Freeform 193">
              <a:extLst>
                <a:ext uri="{FF2B5EF4-FFF2-40B4-BE49-F238E27FC236}">
                  <a16:creationId xmlns:a16="http://schemas.microsoft.com/office/drawing/2014/main" id="{341BA33C-F8DE-9EE7-6E8E-26BF7767CEBE}"/>
                </a:ext>
              </a:extLst>
            </p:cNvPr>
            <p:cNvSpPr>
              <a:spLocks/>
            </p:cNvSpPr>
            <p:nvPr/>
          </p:nvSpPr>
          <p:spPr bwMode="auto">
            <a:xfrm>
              <a:off x="3543301" y="835025"/>
              <a:ext cx="657225" cy="42863"/>
            </a:xfrm>
            <a:custGeom>
              <a:avLst/>
              <a:gdLst>
                <a:gd name="T0" fmla="*/ 25 w 2796"/>
                <a:gd name="T1" fmla="*/ 27 h 183"/>
                <a:gd name="T2" fmla="*/ 13 w 2796"/>
                <a:gd name="T3" fmla="*/ 41 h 183"/>
                <a:gd name="T4" fmla="*/ 0 w 2796"/>
                <a:gd name="T5" fmla="*/ 74 h 183"/>
                <a:gd name="T6" fmla="*/ 1 w 2796"/>
                <a:gd name="T7" fmla="*/ 109 h 183"/>
                <a:gd name="T8" fmla="*/ 16 w 2796"/>
                <a:gd name="T9" fmla="*/ 142 h 183"/>
                <a:gd name="T10" fmla="*/ 28 w 2796"/>
                <a:gd name="T11" fmla="*/ 155 h 183"/>
                <a:gd name="T12" fmla="*/ 34 w 2796"/>
                <a:gd name="T13" fmla="*/ 160 h 183"/>
                <a:gd name="T14" fmla="*/ 60 w 2796"/>
                <a:gd name="T15" fmla="*/ 168 h 183"/>
                <a:gd name="T16" fmla="*/ 145 w 2796"/>
                <a:gd name="T17" fmla="*/ 176 h 183"/>
                <a:gd name="T18" fmla="*/ 621 w 2796"/>
                <a:gd name="T19" fmla="*/ 183 h 183"/>
                <a:gd name="T20" fmla="*/ 1402 w 2796"/>
                <a:gd name="T21" fmla="*/ 183 h 183"/>
                <a:gd name="T22" fmla="*/ 2209 w 2796"/>
                <a:gd name="T23" fmla="*/ 183 h 183"/>
                <a:gd name="T24" fmla="*/ 2671 w 2796"/>
                <a:gd name="T25" fmla="*/ 176 h 183"/>
                <a:gd name="T26" fmla="*/ 2745 w 2796"/>
                <a:gd name="T27" fmla="*/ 167 h 183"/>
                <a:gd name="T28" fmla="*/ 2765 w 2796"/>
                <a:gd name="T29" fmla="*/ 158 h 183"/>
                <a:gd name="T30" fmla="*/ 2770 w 2796"/>
                <a:gd name="T31" fmla="*/ 153 h 183"/>
                <a:gd name="T32" fmla="*/ 2782 w 2796"/>
                <a:gd name="T33" fmla="*/ 138 h 183"/>
                <a:gd name="T34" fmla="*/ 2796 w 2796"/>
                <a:gd name="T35" fmla="*/ 105 h 183"/>
                <a:gd name="T36" fmla="*/ 2796 w 2796"/>
                <a:gd name="T37" fmla="*/ 71 h 183"/>
                <a:gd name="T38" fmla="*/ 2784 w 2796"/>
                <a:gd name="T39" fmla="*/ 40 h 183"/>
                <a:gd name="T40" fmla="*/ 2772 w 2796"/>
                <a:gd name="T41" fmla="*/ 27 h 183"/>
                <a:gd name="T42" fmla="*/ 2766 w 2796"/>
                <a:gd name="T43" fmla="*/ 22 h 183"/>
                <a:gd name="T44" fmla="*/ 2741 w 2796"/>
                <a:gd name="T45" fmla="*/ 15 h 183"/>
                <a:gd name="T46" fmla="*/ 2652 w 2796"/>
                <a:gd name="T47" fmla="*/ 8 h 183"/>
                <a:gd name="T48" fmla="*/ 2169 w 2796"/>
                <a:gd name="T49" fmla="*/ 0 h 183"/>
                <a:gd name="T50" fmla="*/ 1398 w 2796"/>
                <a:gd name="T51" fmla="*/ 0 h 183"/>
                <a:gd name="T52" fmla="*/ 628 w 2796"/>
                <a:gd name="T53" fmla="*/ 0 h 183"/>
                <a:gd name="T54" fmla="*/ 145 w 2796"/>
                <a:gd name="T55" fmla="*/ 8 h 183"/>
                <a:gd name="T56" fmla="*/ 56 w 2796"/>
                <a:gd name="T57" fmla="*/ 15 h 183"/>
                <a:gd name="T58" fmla="*/ 30 w 2796"/>
                <a:gd name="T59" fmla="*/ 22 h 183"/>
                <a:gd name="T60" fmla="*/ 25 w 2796"/>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96" h="183">
                  <a:moveTo>
                    <a:pt x="25" y="27"/>
                  </a:moveTo>
                  <a:lnTo>
                    <a:pt x="13" y="41"/>
                  </a:lnTo>
                  <a:lnTo>
                    <a:pt x="0" y="74"/>
                  </a:lnTo>
                  <a:lnTo>
                    <a:pt x="1" y="109"/>
                  </a:lnTo>
                  <a:lnTo>
                    <a:pt x="16" y="142"/>
                  </a:lnTo>
                  <a:lnTo>
                    <a:pt x="28" y="155"/>
                  </a:lnTo>
                  <a:lnTo>
                    <a:pt x="34" y="160"/>
                  </a:lnTo>
                  <a:lnTo>
                    <a:pt x="60" y="168"/>
                  </a:lnTo>
                  <a:lnTo>
                    <a:pt x="145" y="176"/>
                  </a:lnTo>
                  <a:lnTo>
                    <a:pt x="621" y="183"/>
                  </a:lnTo>
                  <a:lnTo>
                    <a:pt x="1402" y="183"/>
                  </a:lnTo>
                  <a:lnTo>
                    <a:pt x="2209" y="183"/>
                  </a:lnTo>
                  <a:lnTo>
                    <a:pt x="2671" y="176"/>
                  </a:lnTo>
                  <a:lnTo>
                    <a:pt x="2745" y="167"/>
                  </a:lnTo>
                  <a:lnTo>
                    <a:pt x="2765" y="158"/>
                  </a:lnTo>
                  <a:lnTo>
                    <a:pt x="2770" y="153"/>
                  </a:lnTo>
                  <a:lnTo>
                    <a:pt x="2782" y="138"/>
                  </a:lnTo>
                  <a:lnTo>
                    <a:pt x="2796" y="105"/>
                  </a:lnTo>
                  <a:lnTo>
                    <a:pt x="2796" y="71"/>
                  </a:lnTo>
                  <a:lnTo>
                    <a:pt x="2784" y="40"/>
                  </a:lnTo>
                  <a:lnTo>
                    <a:pt x="2772" y="27"/>
                  </a:lnTo>
                  <a:lnTo>
                    <a:pt x="2766" y="22"/>
                  </a:lnTo>
                  <a:lnTo>
                    <a:pt x="2741" y="15"/>
                  </a:lnTo>
                  <a:lnTo>
                    <a:pt x="2652" y="8"/>
                  </a:lnTo>
                  <a:lnTo>
                    <a:pt x="2169" y="0"/>
                  </a:lnTo>
                  <a:lnTo>
                    <a:pt x="1398" y="0"/>
                  </a:lnTo>
                  <a:lnTo>
                    <a:pt x="628" y="0"/>
                  </a:lnTo>
                  <a:lnTo>
                    <a:pt x="145" y="8"/>
                  </a:lnTo>
                  <a:lnTo>
                    <a:pt x="5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2" name="Freeform 194">
              <a:extLst>
                <a:ext uri="{FF2B5EF4-FFF2-40B4-BE49-F238E27FC236}">
                  <a16:creationId xmlns:a16="http://schemas.microsoft.com/office/drawing/2014/main" id="{E2C848AD-75EF-EC83-2814-E94B50743544}"/>
                </a:ext>
              </a:extLst>
            </p:cNvPr>
            <p:cNvSpPr>
              <a:spLocks/>
            </p:cNvSpPr>
            <p:nvPr/>
          </p:nvSpPr>
          <p:spPr bwMode="auto">
            <a:xfrm>
              <a:off x="3543301" y="944563"/>
              <a:ext cx="877888" cy="42863"/>
            </a:xfrm>
            <a:custGeom>
              <a:avLst/>
              <a:gdLst>
                <a:gd name="T0" fmla="*/ 25 w 3730"/>
                <a:gd name="T1" fmla="*/ 26 h 183"/>
                <a:gd name="T2" fmla="*/ 13 w 3730"/>
                <a:gd name="T3" fmla="*/ 40 h 183"/>
                <a:gd name="T4" fmla="*/ 0 w 3730"/>
                <a:gd name="T5" fmla="*/ 73 h 183"/>
                <a:gd name="T6" fmla="*/ 1 w 3730"/>
                <a:gd name="T7" fmla="*/ 109 h 183"/>
                <a:gd name="T8" fmla="*/ 16 w 3730"/>
                <a:gd name="T9" fmla="*/ 141 h 183"/>
                <a:gd name="T10" fmla="*/ 28 w 3730"/>
                <a:gd name="T11" fmla="*/ 155 h 183"/>
                <a:gd name="T12" fmla="*/ 35 w 3730"/>
                <a:gd name="T13" fmla="*/ 159 h 183"/>
                <a:gd name="T14" fmla="*/ 65 w 3730"/>
                <a:gd name="T15" fmla="*/ 167 h 183"/>
                <a:gd name="T16" fmla="*/ 175 w 3730"/>
                <a:gd name="T17" fmla="*/ 176 h 183"/>
                <a:gd name="T18" fmla="*/ 812 w 3730"/>
                <a:gd name="T19" fmla="*/ 183 h 183"/>
                <a:gd name="T20" fmla="*/ 1868 w 3730"/>
                <a:gd name="T21" fmla="*/ 183 h 183"/>
                <a:gd name="T22" fmla="*/ 2960 w 3730"/>
                <a:gd name="T23" fmla="*/ 183 h 183"/>
                <a:gd name="T24" fmla="*/ 3578 w 3730"/>
                <a:gd name="T25" fmla="*/ 175 h 183"/>
                <a:gd name="T26" fmla="*/ 3674 w 3730"/>
                <a:gd name="T27" fmla="*/ 166 h 183"/>
                <a:gd name="T28" fmla="*/ 3698 w 3730"/>
                <a:gd name="T29" fmla="*/ 158 h 183"/>
                <a:gd name="T30" fmla="*/ 3703 w 3730"/>
                <a:gd name="T31" fmla="*/ 153 h 183"/>
                <a:gd name="T32" fmla="*/ 3715 w 3730"/>
                <a:gd name="T33" fmla="*/ 138 h 183"/>
                <a:gd name="T34" fmla="*/ 3729 w 3730"/>
                <a:gd name="T35" fmla="*/ 105 h 183"/>
                <a:gd name="T36" fmla="*/ 3730 w 3730"/>
                <a:gd name="T37" fmla="*/ 71 h 183"/>
                <a:gd name="T38" fmla="*/ 3717 w 3730"/>
                <a:gd name="T39" fmla="*/ 40 h 183"/>
                <a:gd name="T40" fmla="*/ 3705 w 3730"/>
                <a:gd name="T41" fmla="*/ 26 h 183"/>
                <a:gd name="T42" fmla="*/ 3699 w 3730"/>
                <a:gd name="T43" fmla="*/ 22 h 183"/>
                <a:gd name="T44" fmla="*/ 3668 w 3730"/>
                <a:gd name="T45" fmla="*/ 15 h 183"/>
                <a:gd name="T46" fmla="*/ 3552 w 3730"/>
                <a:gd name="T47" fmla="*/ 7 h 183"/>
                <a:gd name="T48" fmla="*/ 2905 w 3730"/>
                <a:gd name="T49" fmla="*/ 0 h 183"/>
                <a:gd name="T50" fmla="*/ 1865 w 3730"/>
                <a:gd name="T51" fmla="*/ 0 h 183"/>
                <a:gd name="T52" fmla="*/ 825 w 3730"/>
                <a:gd name="T53" fmla="*/ 0 h 183"/>
                <a:gd name="T54" fmla="*/ 178 w 3730"/>
                <a:gd name="T55" fmla="*/ 7 h 183"/>
                <a:gd name="T56" fmla="*/ 62 w 3730"/>
                <a:gd name="T57" fmla="*/ 15 h 183"/>
                <a:gd name="T58" fmla="*/ 31 w 3730"/>
                <a:gd name="T59" fmla="*/ 22 h 183"/>
                <a:gd name="T60" fmla="*/ 25 w 3730"/>
                <a:gd name="T61" fmla="*/ 26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30" h="183">
                  <a:moveTo>
                    <a:pt x="25" y="26"/>
                  </a:moveTo>
                  <a:lnTo>
                    <a:pt x="13" y="40"/>
                  </a:lnTo>
                  <a:lnTo>
                    <a:pt x="0" y="73"/>
                  </a:lnTo>
                  <a:lnTo>
                    <a:pt x="1" y="109"/>
                  </a:lnTo>
                  <a:lnTo>
                    <a:pt x="16" y="141"/>
                  </a:lnTo>
                  <a:lnTo>
                    <a:pt x="28" y="155"/>
                  </a:lnTo>
                  <a:lnTo>
                    <a:pt x="35" y="159"/>
                  </a:lnTo>
                  <a:lnTo>
                    <a:pt x="65" y="167"/>
                  </a:lnTo>
                  <a:lnTo>
                    <a:pt x="175" y="176"/>
                  </a:lnTo>
                  <a:lnTo>
                    <a:pt x="812" y="183"/>
                  </a:lnTo>
                  <a:lnTo>
                    <a:pt x="1868" y="183"/>
                  </a:lnTo>
                  <a:lnTo>
                    <a:pt x="2960" y="183"/>
                  </a:lnTo>
                  <a:lnTo>
                    <a:pt x="3578" y="175"/>
                  </a:lnTo>
                  <a:lnTo>
                    <a:pt x="3674" y="166"/>
                  </a:lnTo>
                  <a:lnTo>
                    <a:pt x="3698" y="158"/>
                  </a:lnTo>
                  <a:lnTo>
                    <a:pt x="3703" y="153"/>
                  </a:lnTo>
                  <a:lnTo>
                    <a:pt x="3715" y="138"/>
                  </a:lnTo>
                  <a:lnTo>
                    <a:pt x="3729" y="105"/>
                  </a:lnTo>
                  <a:lnTo>
                    <a:pt x="3730" y="71"/>
                  </a:lnTo>
                  <a:lnTo>
                    <a:pt x="3717" y="40"/>
                  </a:lnTo>
                  <a:lnTo>
                    <a:pt x="3705" y="26"/>
                  </a:lnTo>
                  <a:lnTo>
                    <a:pt x="3699" y="22"/>
                  </a:lnTo>
                  <a:lnTo>
                    <a:pt x="3668" y="15"/>
                  </a:lnTo>
                  <a:lnTo>
                    <a:pt x="3552" y="7"/>
                  </a:lnTo>
                  <a:lnTo>
                    <a:pt x="2905" y="0"/>
                  </a:lnTo>
                  <a:lnTo>
                    <a:pt x="1865" y="0"/>
                  </a:lnTo>
                  <a:lnTo>
                    <a:pt x="825" y="0"/>
                  </a:lnTo>
                  <a:lnTo>
                    <a:pt x="178" y="7"/>
                  </a:lnTo>
                  <a:lnTo>
                    <a:pt x="62" y="15"/>
                  </a:lnTo>
                  <a:lnTo>
                    <a:pt x="31" y="22"/>
                  </a:lnTo>
                  <a:lnTo>
                    <a:pt x="25"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3" name="Freeform 195">
              <a:extLst>
                <a:ext uri="{FF2B5EF4-FFF2-40B4-BE49-F238E27FC236}">
                  <a16:creationId xmlns:a16="http://schemas.microsoft.com/office/drawing/2014/main" id="{E2D1D724-B567-C2AC-80AC-9BF4DDAB0347}"/>
                </a:ext>
              </a:extLst>
            </p:cNvPr>
            <p:cNvSpPr>
              <a:spLocks/>
            </p:cNvSpPr>
            <p:nvPr/>
          </p:nvSpPr>
          <p:spPr bwMode="auto">
            <a:xfrm>
              <a:off x="3543301" y="1054100"/>
              <a:ext cx="811213" cy="42863"/>
            </a:xfrm>
            <a:custGeom>
              <a:avLst/>
              <a:gdLst>
                <a:gd name="T0" fmla="*/ 25 w 3449"/>
                <a:gd name="T1" fmla="*/ 27 h 184"/>
                <a:gd name="T2" fmla="*/ 13 w 3449"/>
                <a:gd name="T3" fmla="*/ 41 h 184"/>
                <a:gd name="T4" fmla="*/ 0 w 3449"/>
                <a:gd name="T5" fmla="*/ 74 h 184"/>
                <a:gd name="T6" fmla="*/ 1 w 3449"/>
                <a:gd name="T7" fmla="*/ 109 h 184"/>
                <a:gd name="T8" fmla="*/ 16 w 3449"/>
                <a:gd name="T9" fmla="*/ 142 h 184"/>
                <a:gd name="T10" fmla="*/ 28 w 3449"/>
                <a:gd name="T11" fmla="*/ 155 h 184"/>
                <a:gd name="T12" fmla="*/ 35 w 3449"/>
                <a:gd name="T13" fmla="*/ 160 h 184"/>
                <a:gd name="T14" fmla="*/ 63 w 3449"/>
                <a:gd name="T15" fmla="*/ 168 h 184"/>
                <a:gd name="T16" fmla="*/ 166 w 3449"/>
                <a:gd name="T17" fmla="*/ 176 h 184"/>
                <a:gd name="T18" fmla="*/ 754 w 3449"/>
                <a:gd name="T19" fmla="*/ 183 h 184"/>
                <a:gd name="T20" fmla="*/ 1728 w 3449"/>
                <a:gd name="T21" fmla="*/ 184 h 184"/>
                <a:gd name="T22" fmla="*/ 2351 w 3449"/>
                <a:gd name="T23" fmla="*/ 184 h 184"/>
                <a:gd name="T24" fmla="*/ 2939 w 3449"/>
                <a:gd name="T25" fmla="*/ 182 h 184"/>
                <a:gd name="T26" fmla="*/ 3188 w 3449"/>
                <a:gd name="T27" fmla="*/ 178 h 184"/>
                <a:gd name="T28" fmla="*/ 3340 w 3449"/>
                <a:gd name="T29" fmla="*/ 170 h 184"/>
                <a:gd name="T30" fmla="*/ 3402 w 3449"/>
                <a:gd name="T31" fmla="*/ 160 h 184"/>
                <a:gd name="T32" fmla="*/ 3428 w 3449"/>
                <a:gd name="T33" fmla="*/ 152 h 184"/>
                <a:gd name="T34" fmla="*/ 3442 w 3449"/>
                <a:gd name="T35" fmla="*/ 142 h 184"/>
                <a:gd name="T36" fmla="*/ 3448 w 3449"/>
                <a:gd name="T37" fmla="*/ 130 h 184"/>
                <a:gd name="T38" fmla="*/ 3449 w 3449"/>
                <a:gd name="T39" fmla="*/ 109 h 184"/>
                <a:gd name="T40" fmla="*/ 3448 w 3449"/>
                <a:gd name="T41" fmla="*/ 92 h 184"/>
                <a:gd name="T42" fmla="*/ 3449 w 3449"/>
                <a:gd name="T43" fmla="*/ 75 h 184"/>
                <a:gd name="T44" fmla="*/ 3448 w 3449"/>
                <a:gd name="T45" fmla="*/ 54 h 184"/>
                <a:gd name="T46" fmla="*/ 3442 w 3449"/>
                <a:gd name="T47" fmla="*/ 42 h 184"/>
                <a:gd name="T48" fmla="*/ 3427 w 3449"/>
                <a:gd name="T49" fmla="*/ 32 h 184"/>
                <a:gd name="T50" fmla="*/ 3402 w 3449"/>
                <a:gd name="T51" fmla="*/ 24 h 184"/>
                <a:gd name="T52" fmla="*/ 3339 w 3449"/>
                <a:gd name="T53" fmla="*/ 14 h 184"/>
                <a:gd name="T54" fmla="*/ 3187 w 3449"/>
                <a:gd name="T55" fmla="*/ 6 h 184"/>
                <a:gd name="T56" fmla="*/ 2937 w 3449"/>
                <a:gd name="T57" fmla="*/ 2 h 184"/>
                <a:gd name="T58" fmla="*/ 2348 w 3449"/>
                <a:gd name="T59" fmla="*/ 0 h 184"/>
                <a:gd name="T60" fmla="*/ 1723 w 3449"/>
                <a:gd name="T61" fmla="*/ 0 h 184"/>
                <a:gd name="T62" fmla="*/ 765 w 3449"/>
                <a:gd name="T63" fmla="*/ 1 h 184"/>
                <a:gd name="T64" fmla="*/ 168 w 3449"/>
                <a:gd name="T65" fmla="*/ 8 h 184"/>
                <a:gd name="T66" fmla="*/ 61 w 3449"/>
                <a:gd name="T67" fmla="*/ 16 h 184"/>
                <a:gd name="T68" fmla="*/ 31 w 3449"/>
                <a:gd name="T69" fmla="*/ 23 h 184"/>
                <a:gd name="T70" fmla="*/ 25 w 3449"/>
                <a:gd name="T71" fmla="*/ 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49" h="184">
                  <a:moveTo>
                    <a:pt x="25" y="27"/>
                  </a:moveTo>
                  <a:lnTo>
                    <a:pt x="13" y="41"/>
                  </a:lnTo>
                  <a:lnTo>
                    <a:pt x="0" y="74"/>
                  </a:lnTo>
                  <a:lnTo>
                    <a:pt x="1" y="109"/>
                  </a:lnTo>
                  <a:lnTo>
                    <a:pt x="16" y="142"/>
                  </a:lnTo>
                  <a:lnTo>
                    <a:pt x="28" y="155"/>
                  </a:lnTo>
                  <a:lnTo>
                    <a:pt x="35" y="160"/>
                  </a:lnTo>
                  <a:lnTo>
                    <a:pt x="63" y="168"/>
                  </a:lnTo>
                  <a:lnTo>
                    <a:pt x="166" y="176"/>
                  </a:lnTo>
                  <a:lnTo>
                    <a:pt x="754" y="183"/>
                  </a:lnTo>
                  <a:lnTo>
                    <a:pt x="1728" y="184"/>
                  </a:lnTo>
                  <a:lnTo>
                    <a:pt x="2351" y="184"/>
                  </a:lnTo>
                  <a:lnTo>
                    <a:pt x="2939" y="182"/>
                  </a:lnTo>
                  <a:lnTo>
                    <a:pt x="3188" y="178"/>
                  </a:lnTo>
                  <a:lnTo>
                    <a:pt x="3340" y="170"/>
                  </a:lnTo>
                  <a:lnTo>
                    <a:pt x="3402" y="160"/>
                  </a:lnTo>
                  <a:lnTo>
                    <a:pt x="3428" y="152"/>
                  </a:lnTo>
                  <a:lnTo>
                    <a:pt x="3442" y="142"/>
                  </a:lnTo>
                  <a:lnTo>
                    <a:pt x="3448" y="130"/>
                  </a:lnTo>
                  <a:lnTo>
                    <a:pt x="3449" y="109"/>
                  </a:lnTo>
                  <a:lnTo>
                    <a:pt x="3448" y="92"/>
                  </a:lnTo>
                  <a:lnTo>
                    <a:pt x="3449" y="75"/>
                  </a:lnTo>
                  <a:lnTo>
                    <a:pt x="3448" y="54"/>
                  </a:lnTo>
                  <a:lnTo>
                    <a:pt x="3442" y="42"/>
                  </a:lnTo>
                  <a:lnTo>
                    <a:pt x="3427" y="32"/>
                  </a:lnTo>
                  <a:lnTo>
                    <a:pt x="3402" y="24"/>
                  </a:lnTo>
                  <a:lnTo>
                    <a:pt x="3339" y="14"/>
                  </a:lnTo>
                  <a:lnTo>
                    <a:pt x="3187" y="6"/>
                  </a:lnTo>
                  <a:lnTo>
                    <a:pt x="2937" y="2"/>
                  </a:lnTo>
                  <a:lnTo>
                    <a:pt x="2348" y="0"/>
                  </a:lnTo>
                  <a:lnTo>
                    <a:pt x="1723" y="0"/>
                  </a:lnTo>
                  <a:lnTo>
                    <a:pt x="765" y="1"/>
                  </a:lnTo>
                  <a:lnTo>
                    <a:pt x="168" y="8"/>
                  </a:lnTo>
                  <a:lnTo>
                    <a:pt x="61" y="16"/>
                  </a:lnTo>
                  <a:lnTo>
                    <a:pt x="31" y="23"/>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4" name="Freeform 196">
              <a:extLst>
                <a:ext uri="{FF2B5EF4-FFF2-40B4-BE49-F238E27FC236}">
                  <a16:creationId xmlns:a16="http://schemas.microsoft.com/office/drawing/2014/main" id="{EB7F2890-0AE5-0535-2DDF-78C45E160022}"/>
                </a:ext>
              </a:extLst>
            </p:cNvPr>
            <p:cNvSpPr>
              <a:spLocks/>
            </p:cNvSpPr>
            <p:nvPr/>
          </p:nvSpPr>
          <p:spPr bwMode="auto">
            <a:xfrm>
              <a:off x="3543301" y="1163638"/>
              <a:ext cx="304800" cy="42863"/>
            </a:xfrm>
            <a:custGeom>
              <a:avLst/>
              <a:gdLst>
                <a:gd name="T0" fmla="*/ 25 w 1300"/>
                <a:gd name="T1" fmla="*/ 27 h 183"/>
                <a:gd name="T2" fmla="*/ 13 w 1300"/>
                <a:gd name="T3" fmla="*/ 41 h 183"/>
                <a:gd name="T4" fmla="*/ 0 w 1300"/>
                <a:gd name="T5" fmla="*/ 74 h 183"/>
                <a:gd name="T6" fmla="*/ 1 w 1300"/>
                <a:gd name="T7" fmla="*/ 109 h 183"/>
                <a:gd name="T8" fmla="*/ 16 w 1300"/>
                <a:gd name="T9" fmla="*/ 142 h 183"/>
                <a:gd name="T10" fmla="*/ 28 w 1300"/>
                <a:gd name="T11" fmla="*/ 155 h 183"/>
                <a:gd name="T12" fmla="*/ 34 w 1300"/>
                <a:gd name="T13" fmla="*/ 160 h 183"/>
                <a:gd name="T14" fmla="*/ 51 w 1300"/>
                <a:gd name="T15" fmla="*/ 167 h 183"/>
                <a:gd name="T16" fmla="*/ 95 w 1300"/>
                <a:gd name="T17" fmla="*/ 175 h 183"/>
                <a:gd name="T18" fmla="*/ 311 w 1300"/>
                <a:gd name="T19" fmla="*/ 183 h 183"/>
                <a:gd name="T20" fmla="*/ 647 w 1300"/>
                <a:gd name="T21" fmla="*/ 183 h 183"/>
                <a:gd name="T22" fmla="*/ 908 w 1300"/>
                <a:gd name="T23" fmla="*/ 182 h 183"/>
                <a:gd name="T24" fmla="*/ 1162 w 1300"/>
                <a:gd name="T25" fmla="*/ 176 h 183"/>
                <a:gd name="T26" fmla="*/ 1252 w 1300"/>
                <a:gd name="T27" fmla="*/ 170 h 183"/>
                <a:gd name="T28" fmla="*/ 1267 w 1300"/>
                <a:gd name="T29" fmla="*/ 167 h 183"/>
                <a:gd name="T30" fmla="*/ 1273 w 1300"/>
                <a:gd name="T31" fmla="*/ 162 h 183"/>
                <a:gd name="T32" fmla="*/ 1284 w 1300"/>
                <a:gd name="T33" fmla="*/ 149 h 183"/>
                <a:gd name="T34" fmla="*/ 1296 w 1300"/>
                <a:gd name="T35" fmla="*/ 121 h 183"/>
                <a:gd name="T36" fmla="*/ 1300 w 1300"/>
                <a:gd name="T37" fmla="*/ 76 h 183"/>
                <a:gd name="T38" fmla="*/ 1293 w 1300"/>
                <a:gd name="T39" fmla="*/ 44 h 183"/>
                <a:gd name="T40" fmla="*/ 1284 w 1300"/>
                <a:gd name="T41" fmla="*/ 27 h 183"/>
                <a:gd name="T42" fmla="*/ 1278 w 1300"/>
                <a:gd name="T43" fmla="*/ 20 h 183"/>
                <a:gd name="T44" fmla="*/ 1268 w 1300"/>
                <a:gd name="T45" fmla="*/ 15 h 183"/>
                <a:gd name="T46" fmla="*/ 1195 w 1300"/>
                <a:gd name="T47" fmla="*/ 7 h 183"/>
                <a:gd name="T48" fmla="*/ 954 w 1300"/>
                <a:gd name="T49" fmla="*/ 1 h 183"/>
                <a:gd name="T50" fmla="*/ 655 w 1300"/>
                <a:gd name="T51" fmla="*/ 0 h 183"/>
                <a:gd name="T52" fmla="*/ 316 w 1300"/>
                <a:gd name="T53" fmla="*/ 0 h 183"/>
                <a:gd name="T54" fmla="*/ 92 w 1300"/>
                <a:gd name="T55" fmla="*/ 8 h 183"/>
                <a:gd name="T56" fmla="*/ 46 w 1300"/>
                <a:gd name="T57" fmla="*/ 15 h 183"/>
                <a:gd name="T58" fmla="*/ 30 w 1300"/>
                <a:gd name="T59" fmla="*/ 22 h 183"/>
                <a:gd name="T60" fmla="*/ 25 w 1300"/>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00" h="183">
                  <a:moveTo>
                    <a:pt x="25" y="27"/>
                  </a:moveTo>
                  <a:lnTo>
                    <a:pt x="13" y="41"/>
                  </a:lnTo>
                  <a:lnTo>
                    <a:pt x="0" y="74"/>
                  </a:lnTo>
                  <a:lnTo>
                    <a:pt x="1" y="109"/>
                  </a:lnTo>
                  <a:lnTo>
                    <a:pt x="16" y="142"/>
                  </a:lnTo>
                  <a:lnTo>
                    <a:pt x="28" y="155"/>
                  </a:lnTo>
                  <a:lnTo>
                    <a:pt x="34" y="160"/>
                  </a:lnTo>
                  <a:lnTo>
                    <a:pt x="51" y="167"/>
                  </a:lnTo>
                  <a:lnTo>
                    <a:pt x="95" y="175"/>
                  </a:lnTo>
                  <a:lnTo>
                    <a:pt x="311" y="183"/>
                  </a:lnTo>
                  <a:lnTo>
                    <a:pt x="647" y="183"/>
                  </a:lnTo>
                  <a:lnTo>
                    <a:pt x="908" y="182"/>
                  </a:lnTo>
                  <a:lnTo>
                    <a:pt x="1162" y="176"/>
                  </a:lnTo>
                  <a:lnTo>
                    <a:pt x="1252" y="170"/>
                  </a:lnTo>
                  <a:lnTo>
                    <a:pt x="1267" y="167"/>
                  </a:lnTo>
                  <a:lnTo>
                    <a:pt x="1273" y="162"/>
                  </a:lnTo>
                  <a:lnTo>
                    <a:pt x="1284" y="149"/>
                  </a:lnTo>
                  <a:lnTo>
                    <a:pt x="1296" y="121"/>
                  </a:lnTo>
                  <a:lnTo>
                    <a:pt x="1300" y="76"/>
                  </a:lnTo>
                  <a:lnTo>
                    <a:pt x="1293" y="44"/>
                  </a:lnTo>
                  <a:lnTo>
                    <a:pt x="1284" y="27"/>
                  </a:lnTo>
                  <a:lnTo>
                    <a:pt x="1278" y="20"/>
                  </a:lnTo>
                  <a:lnTo>
                    <a:pt x="1268" y="15"/>
                  </a:lnTo>
                  <a:lnTo>
                    <a:pt x="1195" y="7"/>
                  </a:lnTo>
                  <a:lnTo>
                    <a:pt x="954" y="1"/>
                  </a:lnTo>
                  <a:lnTo>
                    <a:pt x="655" y="0"/>
                  </a:lnTo>
                  <a:lnTo>
                    <a:pt x="316" y="0"/>
                  </a:lnTo>
                  <a:lnTo>
                    <a:pt x="92" y="8"/>
                  </a:lnTo>
                  <a:lnTo>
                    <a:pt x="4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5" name="Freeform 197">
              <a:extLst>
                <a:ext uri="{FF2B5EF4-FFF2-40B4-BE49-F238E27FC236}">
                  <a16:creationId xmlns:a16="http://schemas.microsoft.com/office/drawing/2014/main" id="{3566A8D2-52D7-C292-2516-AABAA50B81D0}"/>
                </a:ext>
              </a:extLst>
            </p:cNvPr>
            <p:cNvSpPr>
              <a:spLocks noEditPoints="1"/>
            </p:cNvSpPr>
            <p:nvPr/>
          </p:nvSpPr>
          <p:spPr bwMode="auto">
            <a:xfrm>
              <a:off x="4235451" y="1384300"/>
              <a:ext cx="655638" cy="654050"/>
            </a:xfrm>
            <a:custGeom>
              <a:avLst/>
              <a:gdLst>
                <a:gd name="T0" fmla="*/ 1014 w 2790"/>
                <a:gd name="T1" fmla="*/ 47 h 2786"/>
                <a:gd name="T2" fmla="*/ 733 w 2790"/>
                <a:gd name="T3" fmla="*/ 165 h 2786"/>
                <a:gd name="T4" fmla="*/ 483 w 2790"/>
                <a:gd name="T5" fmla="*/ 335 h 2786"/>
                <a:gd name="T6" fmla="*/ 353 w 2790"/>
                <a:gd name="T7" fmla="*/ 464 h 2786"/>
                <a:gd name="T8" fmla="*/ 198 w 2790"/>
                <a:gd name="T9" fmla="*/ 675 h 2786"/>
                <a:gd name="T10" fmla="*/ 88 w 2790"/>
                <a:gd name="T11" fmla="*/ 904 h 2786"/>
                <a:gd name="T12" fmla="*/ 22 w 2790"/>
                <a:gd name="T13" fmla="*/ 1143 h 2786"/>
                <a:gd name="T14" fmla="*/ 0 w 2790"/>
                <a:gd name="T15" fmla="*/ 1387 h 2786"/>
                <a:gd name="T16" fmla="*/ 35 w 2790"/>
                <a:gd name="T17" fmla="*/ 1710 h 2786"/>
                <a:gd name="T18" fmla="*/ 110 w 2790"/>
                <a:gd name="T19" fmla="*/ 1942 h 2786"/>
                <a:gd name="T20" fmla="*/ 226 w 2790"/>
                <a:gd name="T21" fmla="*/ 2160 h 2786"/>
                <a:gd name="T22" fmla="*/ 381 w 2790"/>
                <a:gd name="T23" fmla="*/ 2356 h 2786"/>
                <a:gd name="T24" fmla="*/ 575 w 2790"/>
                <a:gd name="T25" fmla="*/ 2524 h 2786"/>
                <a:gd name="T26" fmla="*/ 766 w 2790"/>
                <a:gd name="T27" fmla="*/ 2639 h 2786"/>
                <a:gd name="T28" fmla="*/ 1026 w 2790"/>
                <a:gd name="T29" fmla="*/ 2743 h 2786"/>
                <a:gd name="T30" fmla="*/ 1293 w 2790"/>
                <a:gd name="T31" fmla="*/ 2784 h 2786"/>
                <a:gd name="T32" fmla="*/ 1631 w 2790"/>
                <a:gd name="T33" fmla="*/ 2774 h 2786"/>
                <a:gd name="T34" fmla="*/ 1821 w 2790"/>
                <a:gd name="T35" fmla="*/ 2728 h 2786"/>
                <a:gd name="T36" fmla="*/ 2079 w 2790"/>
                <a:gd name="T37" fmla="*/ 2615 h 2786"/>
                <a:gd name="T38" fmla="*/ 2307 w 2790"/>
                <a:gd name="T39" fmla="*/ 2455 h 2786"/>
                <a:gd name="T40" fmla="*/ 2498 w 2790"/>
                <a:gd name="T41" fmla="*/ 2254 h 2786"/>
                <a:gd name="T42" fmla="*/ 2649 w 2790"/>
                <a:gd name="T43" fmla="*/ 2014 h 2786"/>
                <a:gd name="T44" fmla="*/ 2741 w 2790"/>
                <a:gd name="T45" fmla="*/ 1789 h 2786"/>
                <a:gd name="T46" fmla="*/ 2783 w 2790"/>
                <a:gd name="T47" fmla="*/ 1554 h 2786"/>
                <a:gd name="T48" fmla="*/ 2774 w 2790"/>
                <a:gd name="T49" fmla="*/ 1150 h 2786"/>
                <a:gd name="T50" fmla="*/ 2729 w 2790"/>
                <a:gd name="T51" fmla="*/ 964 h 2786"/>
                <a:gd name="T52" fmla="*/ 2606 w 2790"/>
                <a:gd name="T53" fmla="*/ 689 h 2786"/>
                <a:gd name="T54" fmla="*/ 2420 w 2790"/>
                <a:gd name="T55" fmla="*/ 442 h 2786"/>
                <a:gd name="T56" fmla="*/ 2265 w 2790"/>
                <a:gd name="T57" fmla="*/ 298 h 2786"/>
                <a:gd name="T58" fmla="*/ 2005 w 2790"/>
                <a:gd name="T59" fmla="*/ 133 h 2786"/>
                <a:gd name="T60" fmla="*/ 1713 w 2790"/>
                <a:gd name="T61" fmla="*/ 31 h 2786"/>
                <a:gd name="T62" fmla="*/ 1477 w 2790"/>
                <a:gd name="T63" fmla="*/ 1 h 2786"/>
                <a:gd name="T64" fmla="*/ 1154 w 2790"/>
                <a:gd name="T65" fmla="*/ 14 h 2786"/>
                <a:gd name="T66" fmla="*/ 1794 w 2790"/>
                <a:gd name="T67" fmla="*/ 552 h 2786"/>
                <a:gd name="T68" fmla="*/ 2049 w 2790"/>
                <a:gd name="T69" fmla="*/ 737 h 2786"/>
                <a:gd name="T70" fmla="*/ 2206 w 2790"/>
                <a:gd name="T71" fmla="*/ 932 h 2786"/>
                <a:gd name="T72" fmla="*/ 2305 w 2790"/>
                <a:gd name="T73" fmla="*/ 1189 h 2786"/>
                <a:gd name="T74" fmla="*/ 2319 w 2790"/>
                <a:gd name="T75" fmla="*/ 1439 h 2786"/>
                <a:gd name="T76" fmla="*/ 2286 w 2790"/>
                <a:gd name="T77" fmla="*/ 1667 h 2786"/>
                <a:gd name="T78" fmla="*/ 2201 w 2790"/>
                <a:gd name="T79" fmla="*/ 1861 h 2786"/>
                <a:gd name="T80" fmla="*/ 2079 w 2790"/>
                <a:gd name="T81" fmla="*/ 2024 h 2786"/>
                <a:gd name="T82" fmla="*/ 1874 w 2790"/>
                <a:gd name="T83" fmla="*/ 2191 h 2786"/>
                <a:gd name="T84" fmla="*/ 1626 w 2790"/>
                <a:gd name="T85" fmla="*/ 2295 h 2786"/>
                <a:gd name="T86" fmla="*/ 1440 w 2790"/>
                <a:gd name="T87" fmla="*/ 2327 h 2786"/>
                <a:gd name="T88" fmla="*/ 1216 w 2790"/>
                <a:gd name="T89" fmla="*/ 2306 h 2786"/>
                <a:gd name="T90" fmla="*/ 917 w 2790"/>
                <a:gd name="T91" fmla="*/ 2188 h 2786"/>
                <a:gd name="T92" fmla="*/ 639 w 2790"/>
                <a:gd name="T93" fmla="*/ 1929 h 2786"/>
                <a:gd name="T94" fmla="*/ 499 w 2790"/>
                <a:gd name="T95" fmla="*/ 1641 h 2786"/>
                <a:gd name="T96" fmla="*/ 471 w 2790"/>
                <a:gd name="T97" fmla="*/ 1464 h 2786"/>
                <a:gd name="T98" fmla="*/ 492 w 2790"/>
                <a:gd name="T99" fmla="*/ 1180 h 2786"/>
                <a:gd name="T100" fmla="*/ 569 w 2790"/>
                <a:gd name="T101" fmla="*/ 978 h 2786"/>
                <a:gd name="T102" fmla="*/ 801 w 2790"/>
                <a:gd name="T103" fmla="*/ 684 h 2786"/>
                <a:gd name="T104" fmla="*/ 1120 w 2790"/>
                <a:gd name="T105" fmla="*/ 503 h 2786"/>
                <a:gd name="T106" fmla="*/ 1339 w 2790"/>
                <a:gd name="T107" fmla="*/ 467 h 2786"/>
                <a:gd name="T108" fmla="*/ 1616 w 2790"/>
                <a:gd name="T109" fmla="*/ 489 h 2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90" h="2786">
                  <a:moveTo>
                    <a:pt x="1154" y="14"/>
                  </a:moveTo>
                  <a:lnTo>
                    <a:pt x="1108" y="23"/>
                  </a:lnTo>
                  <a:lnTo>
                    <a:pt x="1014" y="47"/>
                  </a:lnTo>
                  <a:lnTo>
                    <a:pt x="920" y="79"/>
                  </a:lnTo>
                  <a:lnTo>
                    <a:pt x="825" y="119"/>
                  </a:lnTo>
                  <a:lnTo>
                    <a:pt x="733" y="165"/>
                  </a:lnTo>
                  <a:lnTo>
                    <a:pt x="644" y="217"/>
                  </a:lnTo>
                  <a:lnTo>
                    <a:pt x="560" y="274"/>
                  </a:lnTo>
                  <a:lnTo>
                    <a:pt x="483" y="335"/>
                  </a:lnTo>
                  <a:lnTo>
                    <a:pt x="447" y="367"/>
                  </a:lnTo>
                  <a:lnTo>
                    <a:pt x="414" y="399"/>
                  </a:lnTo>
                  <a:lnTo>
                    <a:pt x="353" y="464"/>
                  </a:lnTo>
                  <a:lnTo>
                    <a:pt x="296" y="532"/>
                  </a:lnTo>
                  <a:lnTo>
                    <a:pt x="244" y="603"/>
                  </a:lnTo>
                  <a:lnTo>
                    <a:pt x="198" y="675"/>
                  </a:lnTo>
                  <a:lnTo>
                    <a:pt x="156" y="750"/>
                  </a:lnTo>
                  <a:lnTo>
                    <a:pt x="120" y="826"/>
                  </a:lnTo>
                  <a:lnTo>
                    <a:pt x="88" y="904"/>
                  </a:lnTo>
                  <a:lnTo>
                    <a:pt x="61" y="982"/>
                  </a:lnTo>
                  <a:lnTo>
                    <a:pt x="39" y="1062"/>
                  </a:lnTo>
                  <a:lnTo>
                    <a:pt x="22" y="1143"/>
                  </a:lnTo>
                  <a:lnTo>
                    <a:pt x="10" y="1224"/>
                  </a:lnTo>
                  <a:lnTo>
                    <a:pt x="2" y="1305"/>
                  </a:lnTo>
                  <a:lnTo>
                    <a:pt x="0" y="1387"/>
                  </a:lnTo>
                  <a:lnTo>
                    <a:pt x="4" y="1509"/>
                  </a:lnTo>
                  <a:lnTo>
                    <a:pt x="19" y="1630"/>
                  </a:lnTo>
                  <a:lnTo>
                    <a:pt x="35" y="1710"/>
                  </a:lnTo>
                  <a:lnTo>
                    <a:pt x="56" y="1789"/>
                  </a:lnTo>
                  <a:lnTo>
                    <a:pt x="81" y="1866"/>
                  </a:lnTo>
                  <a:lnTo>
                    <a:pt x="110" y="1942"/>
                  </a:lnTo>
                  <a:lnTo>
                    <a:pt x="144" y="2017"/>
                  </a:lnTo>
                  <a:lnTo>
                    <a:pt x="183" y="2089"/>
                  </a:lnTo>
                  <a:lnTo>
                    <a:pt x="226" y="2160"/>
                  </a:lnTo>
                  <a:lnTo>
                    <a:pt x="273" y="2228"/>
                  </a:lnTo>
                  <a:lnTo>
                    <a:pt x="325" y="2293"/>
                  </a:lnTo>
                  <a:lnTo>
                    <a:pt x="381" y="2356"/>
                  </a:lnTo>
                  <a:lnTo>
                    <a:pt x="441" y="2415"/>
                  </a:lnTo>
                  <a:lnTo>
                    <a:pt x="506" y="2471"/>
                  </a:lnTo>
                  <a:lnTo>
                    <a:pt x="575" y="2524"/>
                  </a:lnTo>
                  <a:lnTo>
                    <a:pt x="648" y="2573"/>
                  </a:lnTo>
                  <a:lnTo>
                    <a:pt x="725" y="2618"/>
                  </a:lnTo>
                  <a:lnTo>
                    <a:pt x="766" y="2639"/>
                  </a:lnTo>
                  <a:lnTo>
                    <a:pt x="844" y="2677"/>
                  </a:lnTo>
                  <a:lnTo>
                    <a:pt x="954" y="2720"/>
                  </a:lnTo>
                  <a:lnTo>
                    <a:pt x="1026" y="2743"/>
                  </a:lnTo>
                  <a:lnTo>
                    <a:pt x="1099" y="2760"/>
                  </a:lnTo>
                  <a:lnTo>
                    <a:pt x="1174" y="2773"/>
                  </a:lnTo>
                  <a:lnTo>
                    <a:pt x="1293" y="2784"/>
                  </a:lnTo>
                  <a:lnTo>
                    <a:pt x="1382" y="2786"/>
                  </a:lnTo>
                  <a:lnTo>
                    <a:pt x="1468" y="2785"/>
                  </a:lnTo>
                  <a:lnTo>
                    <a:pt x="1631" y="2774"/>
                  </a:lnTo>
                  <a:lnTo>
                    <a:pt x="1682" y="2766"/>
                  </a:lnTo>
                  <a:lnTo>
                    <a:pt x="1729" y="2755"/>
                  </a:lnTo>
                  <a:lnTo>
                    <a:pt x="1821" y="2728"/>
                  </a:lnTo>
                  <a:lnTo>
                    <a:pt x="1911" y="2696"/>
                  </a:lnTo>
                  <a:lnTo>
                    <a:pt x="1997" y="2658"/>
                  </a:lnTo>
                  <a:lnTo>
                    <a:pt x="2079" y="2615"/>
                  </a:lnTo>
                  <a:lnTo>
                    <a:pt x="2159" y="2566"/>
                  </a:lnTo>
                  <a:lnTo>
                    <a:pt x="2235" y="2513"/>
                  </a:lnTo>
                  <a:lnTo>
                    <a:pt x="2307" y="2455"/>
                  </a:lnTo>
                  <a:lnTo>
                    <a:pt x="2375" y="2392"/>
                  </a:lnTo>
                  <a:lnTo>
                    <a:pt x="2438" y="2325"/>
                  </a:lnTo>
                  <a:lnTo>
                    <a:pt x="2498" y="2254"/>
                  </a:lnTo>
                  <a:lnTo>
                    <a:pt x="2553" y="2178"/>
                  </a:lnTo>
                  <a:lnTo>
                    <a:pt x="2604" y="2098"/>
                  </a:lnTo>
                  <a:lnTo>
                    <a:pt x="2649" y="2014"/>
                  </a:lnTo>
                  <a:lnTo>
                    <a:pt x="2690" y="1927"/>
                  </a:lnTo>
                  <a:lnTo>
                    <a:pt x="2725" y="1836"/>
                  </a:lnTo>
                  <a:lnTo>
                    <a:pt x="2741" y="1789"/>
                  </a:lnTo>
                  <a:lnTo>
                    <a:pt x="2750" y="1757"/>
                  </a:lnTo>
                  <a:lnTo>
                    <a:pt x="2766" y="1682"/>
                  </a:lnTo>
                  <a:lnTo>
                    <a:pt x="2783" y="1554"/>
                  </a:lnTo>
                  <a:lnTo>
                    <a:pt x="2790" y="1368"/>
                  </a:lnTo>
                  <a:lnTo>
                    <a:pt x="2784" y="1232"/>
                  </a:lnTo>
                  <a:lnTo>
                    <a:pt x="2774" y="1150"/>
                  </a:lnTo>
                  <a:lnTo>
                    <a:pt x="2767" y="1112"/>
                  </a:lnTo>
                  <a:lnTo>
                    <a:pt x="2756" y="1062"/>
                  </a:lnTo>
                  <a:lnTo>
                    <a:pt x="2729" y="964"/>
                  </a:lnTo>
                  <a:lnTo>
                    <a:pt x="2695" y="869"/>
                  </a:lnTo>
                  <a:lnTo>
                    <a:pt x="2654" y="778"/>
                  </a:lnTo>
                  <a:lnTo>
                    <a:pt x="2606" y="689"/>
                  </a:lnTo>
                  <a:lnTo>
                    <a:pt x="2551" y="604"/>
                  </a:lnTo>
                  <a:lnTo>
                    <a:pt x="2489" y="522"/>
                  </a:lnTo>
                  <a:lnTo>
                    <a:pt x="2420" y="442"/>
                  </a:lnTo>
                  <a:lnTo>
                    <a:pt x="2382" y="404"/>
                  </a:lnTo>
                  <a:lnTo>
                    <a:pt x="2344" y="367"/>
                  </a:lnTo>
                  <a:lnTo>
                    <a:pt x="2265" y="298"/>
                  </a:lnTo>
                  <a:lnTo>
                    <a:pt x="2182" y="236"/>
                  </a:lnTo>
                  <a:lnTo>
                    <a:pt x="2095" y="181"/>
                  </a:lnTo>
                  <a:lnTo>
                    <a:pt x="2005" y="133"/>
                  </a:lnTo>
                  <a:lnTo>
                    <a:pt x="1911" y="92"/>
                  </a:lnTo>
                  <a:lnTo>
                    <a:pt x="1813" y="58"/>
                  </a:lnTo>
                  <a:lnTo>
                    <a:pt x="1713" y="31"/>
                  </a:lnTo>
                  <a:lnTo>
                    <a:pt x="1661" y="21"/>
                  </a:lnTo>
                  <a:lnTo>
                    <a:pt x="1608" y="12"/>
                  </a:lnTo>
                  <a:lnTo>
                    <a:pt x="1477" y="1"/>
                  </a:lnTo>
                  <a:lnTo>
                    <a:pt x="1336" y="0"/>
                  </a:lnTo>
                  <a:lnTo>
                    <a:pt x="1206" y="7"/>
                  </a:lnTo>
                  <a:lnTo>
                    <a:pt x="1154" y="14"/>
                  </a:lnTo>
                  <a:close/>
                  <a:moveTo>
                    <a:pt x="1616" y="489"/>
                  </a:moveTo>
                  <a:lnTo>
                    <a:pt x="1679" y="506"/>
                  </a:lnTo>
                  <a:lnTo>
                    <a:pt x="1794" y="552"/>
                  </a:lnTo>
                  <a:lnTo>
                    <a:pt x="1900" y="613"/>
                  </a:lnTo>
                  <a:lnTo>
                    <a:pt x="2000" y="691"/>
                  </a:lnTo>
                  <a:lnTo>
                    <a:pt x="2049" y="737"/>
                  </a:lnTo>
                  <a:lnTo>
                    <a:pt x="2086" y="776"/>
                  </a:lnTo>
                  <a:lnTo>
                    <a:pt x="2152" y="853"/>
                  </a:lnTo>
                  <a:lnTo>
                    <a:pt x="2206" y="932"/>
                  </a:lnTo>
                  <a:lnTo>
                    <a:pt x="2249" y="1014"/>
                  </a:lnTo>
                  <a:lnTo>
                    <a:pt x="2282" y="1099"/>
                  </a:lnTo>
                  <a:lnTo>
                    <a:pt x="2305" y="1189"/>
                  </a:lnTo>
                  <a:lnTo>
                    <a:pt x="2318" y="1284"/>
                  </a:lnTo>
                  <a:lnTo>
                    <a:pt x="2321" y="1385"/>
                  </a:lnTo>
                  <a:lnTo>
                    <a:pt x="2319" y="1439"/>
                  </a:lnTo>
                  <a:lnTo>
                    <a:pt x="2314" y="1512"/>
                  </a:lnTo>
                  <a:lnTo>
                    <a:pt x="2300" y="1608"/>
                  </a:lnTo>
                  <a:lnTo>
                    <a:pt x="2286" y="1667"/>
                  </a:lnTo>
                  <a:lnTo>
                    <a:pt x="2268" y="1724"/>
                  </a:lnTo>
                  <a:lnTo>
                    <a:pt x="2245" y="1779"/>
                  </a:lnTo>
                  <a:lnTo>
                    <a:pt x="2201" y="1861"/>
                  </a:lnTo>
                  <a:lnTo>
                    <a:pt x="2162" y="1919"/>
                  </a:lnTo>
                  <a:lnTo>
                    <a:pt x="2136" y="1956"/>
                  </a:lnTo>
                  <a:lnTo>
                    <a:pt x="2079" y="2024"/>
                  </a:lnTo>
                  <a:lnTo>
                    <a:pt x="2017" y="2086"/>
                  </a:lnTo>
                  <a:lnTo>
                    <a:pt x="1948" y="2142"/>
                  </a:lnTo>
                  <a:lnTo>
                    <a:pt x="1874" y="2191"/>
                  </a:lnTo>
                  <a:lnTo>
                    <a:pt x="1796" y="2233"/>
                  </a:lnTo>
                  <a:lnTo>
                    <a:pt x="1713" y="2268"/>
                  </a:lnTo>
                  <a:lnTo>
                    <a:pt x="1626" y="2295"/>
                  </a:lnTo>
                  <a:lnTo>
                    <a:pt x="1581" y="2306"/>
                  </a:lnTo>
                  <a:lnTo>
                    <a:pt x="1529" y="2316"/>
                  </a:lnTo>
                  <a:lnTo>
                    <a:pt x="1440" y="2327"/>
                  </a:lnTo>
                  <a:lnTo>
                    <a:pt x="1358" y="2327"/>
                  </a:lnTo>
                  <a:lnTo>
                    <a:pt x="1268" y="2316"/>
                  </a:lnTo>
                  <a:lnTo>
                    <a:pt x="1216" y="2306"/>
                  </a:lnTo>
                  <a:lnTo>
                    <a:pt x="1152" y="2291"/>
                  </a:lnTo>
                  <a:lnTo>
                    <a:pt x="1031" y="2247"/>
                  </a:lnTo>
                  <a:lnTo>
                    <a:pt x="917" y="2188"/>
                  </a:lnTo>
                  <a:lnTo>
                    <a:pt x="813" y="2114"/>
                  </a:lnTo>
                  <a:lnTo>
                    <a:pt x="720" y="2028"/>
                  </a:lnTo>
                  <a:lnTo>
                    <a:pt x="639" y="1929"/>
                  </a:lnTo>
                  <a:lnTo>
                    <a:pt x="571" y="1821"/>
                  </a:lnTo>
                  <a:lnTo>
                    <a:pt x="519" y="1703"/>
                  </a:lnTo>
                  <a:lnTo>
                    <a:pt x="499" y="1641"/>
                  </a:lnTo>
                  <a:lnTo>
                    <a:pt x="492" y="1616"/>
                  </a:lnTo>
                  <a:lnTo>
                    <a:pt x="481" y="1559"/>
                  </a:lnTo>
                  <a:lnTo>
                    <a:pt x="471" y="1464"/>
                  </a:lnTo>
                  <a:lnTo>
                    <a:pt x="471" y="1331"/>
                  </a:lnTo>
                  <a:lnTo>
                    <a:pt x="481" y="1237"/>
                  </a:lnTo>
                  <a:lnTo>
                    <a:pt x="492" y="1180"/>
                  </a:lnTo>
                  <a:lnTo>
                    <a:pt x="499" y="1156"/>
                  </a:lnTo>
                  <a:lnTo>
                    <a:pt x="518" y="1095"/>
                  </a:lnTo>
                  <a:lnTo>
                    <a:pt x="569" y="978"/>
                  </a:lnTo>
                  <a:lnTo>
                    <a:pt x="635" y="870"/>
                  </a:lnTo>
                  <a:lnTo>
                    <a:pt x="712" y="772"/>
                  </a:lnTo>
                  <a:lnTo>
                    <a:pt x="801" y="684"/>
                  </a:lnTo>
                  <a:lnTo>
                    <a:pt x="900" y="610"/>
                  </a:lnTo>
                  <a:lnTo>
                    <a:pt x="1007" y="549"/>
                  </a:lnTo>
                  <a:lnTo>
                    <a:pt x="1120" y="503"/>
                  </a:lnTo>
                  <a:lnTo>
                    <a:pt x="1179" y="487"/>
                  </a:lnTo>
                  <a:lnTo>
                    <a:pt x="1226" y="478"/>
                  </a:lnTo>
                  <a:lnTo>
                    <a:pt x="1339" y="467"/>
                  </a:lnTo>
                  <a:lnTo>
                    <a:pt x="1458" y="467"/>
                  </a:lnTo>
                  <a:lnTo>
                    <a:pt x="1569" y="479"/>
                  </a:lnTo>
                  <a:lnTo>
                    <a:pt x="1616" y="4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6" name="Freeform 198">
              <a:extLst>
                <a:ext uri="{FF2B5EF4-FFF2-40B4-BE49-F238E27FC236}">
                  <a16:creationId xmlns:a16="http://schemas.microsoft.com/office/drawing/2014/main" id="{DBE178A9-B74D-21AF-7608-7CC13D418303}"/>
                </a:ext>
              </a:extLst>
            </p:cNvPr>
            <p:cNvSpPr>
              <a:spLocks/>
            </p:cNvSpPr>
            <p:nvPr/>
          </p:nvSpPr>
          <p:spPr bwMode="auto">
            <a:xfrm>
              <a:off x="4389438" y="1536700"/>
              <a:ext cx="292100" cy="288925"/>
            </a:xfrm>
            <a:custGeom>
              <a:avLst/>
              <a:gdLst>
                <a:gd name="T0" fmla="*/ 553 w 1240"/>
                <a:gd name="T1" fmla="*/ 21 h 1230"/>
                <a:gd name="T2" fmla="*/ 513 w 1240"/>
                <a:gd name="T3" fmla="*/ 33 h 1230"/>
                <a:gd name="T4" fmla="*/ 437 w 1240"/>
                <a:gd name="T5" fmla="*/ 64 h 1230"/>
                <a:gd name="T6" fmla="*/ 365 w 1240"/>
                <a:gd name="T7" fmla="*/ 101 h 1230"/>
                <a:gd name="T8" fmla="*/ 299 w 1240"/>
                <a:gd name="T9" fmla="*/ 146 h 1230"/>
                <a:gd name="T10" fmla="*/ 238 w 1240"/>
                <a:gd name="T11" fmla="*/ 198 h 1230"/>
                <a:gd name="T12" fmla="*/ 182 w 1240"/>
                <a:gd name="T13" fmla="*/ 256 h 1230"/>
                <a:gd name="T14" fmla="*/ 133 w 1240"/>
                <a:gd name="T15" fmla="*/ 320 h 1230"/>
                <a:gd name="T16" fmla="*/ 90 w 1240"/>
                <a:gd name="T17" fmla="*/ 391 h 1230"/>
                <a:gd name="T18" fmla="*/ 71 w 1240"/>
                <a:gd name="T19" fmla="*/ 428 h 1230"/>
                <a:gd name="T20" fmla="*/ 57 w 1240"/>
                <a:gd name="T21" fmla="*/ 459 h 1230"/>
                <a:gd name="T22" fmla="*/ 34 w 1240"/>
                <a:gd name="T23" fmla="*/ 523 h 1230"/>
                <a:gd name="T24" fmla="*/ 16 w 1240"/>
                <a:gd name="T25" fmla="*/ 588 h 1230"/>
                <a:gd name="T26" fmla="*/ 5 w 1240"/>
                <a:gd name="T27" fmla="*/ 655 h 1230"/>
                <a:gd name="T28" fmla="*/ 0 w 1240"/>
                <a:gd name="T29" fmla="*/ 722 h 1230"/>
                <a:gd name="T30" fmla="*/ 1 w 1240"/>
                <a:gd name="T31" fmla="*/ 790 h 1230"/>
                <a:gd name="T32" fmla="*/ 8 w 1240"/>
                <a:gd name="T33" fmla="*/ 858 h 1230"/>
                <a:gd name="T34" fmla="*/ 22 w 1240"/>
                <a:gd name="T35" fmla="*/ 925 h 1230"/>
                <a:gd name="T36" fmla="*/ 31 w 1240"/>
                <a:gd name="T37" fmla="*/ 958 h 1230"/>
                <a:gd name="T38" fmla="*/ 46 w 1240"/>
                <a:gd name="T39" fmla="*/ 1001 h 1230"/>
                <a:gd name="T40" fmla="*/ 86 w 1240"/>
                <a:gd name="T41" fmla="*/ 1093 h 1230"/>
                <a:gd name="T42" fmla="*/ 131 w 1240"/>
                <a:gd name="T43" fmla="*/ 1174 h 1230"/>
                <a:gd name="T44" fmla="*/ 159 w 1240"/>
                <a:gd name="T45" fmla="*/ 1214 h 1230"/>
                <a:gd name="T46" fmla="*/ 174 w 1240"/>
                <a:gd name="T47" fmla="*/ 1228 h 1230"/>
                <a:gd name="T48" fmla="*/ 180 w 1240"/>
                <a:gd name="T49" fmla="*/ 1230 h 1230"/>
                <a:gd name="T50" fmla="*/ 215 w 1240"/>
                <a:gd name="T51" fmla="*/ 1200 h 1230"/>
                <a:gd name="T52" fmla="*/ 506 w 1240"/>
                <a:gd name="T53" fmla="*/ 916 h 1230"/>
                <a:gd name="T54" fmla="*/ 716 w 1240"/>
                <a:gd name="T55" fmla="*/ 706 h 1230"/>
                <a:gd name="T56" fmla="*/ 1240 w 1240"/>
                <a:gd name="T57" fmla="*/ 183 h 1230"/>
                <a:gd name="T58" fmla="*/ 1168 w 1240"/>
                <a:gd name="T59" fmla="*/ 131 h 1230"/>
                <a:gd name="T60" fmla="*/ 1137 w 1240"/>
                <a:gd name="T61" fmla="*/ 110 h 1230"/>
                <a:gd name="T62" fmla="*/ 1068 w 1240"/>
                <a:gd name="T63" fmla="*/ 74 h 1230"/>
                <a:gd name="T64" fmla="*/ 993 w 1240"/>
                <a:gd name="T65" fmla="*/ 44 h 1230"/>
                <a:gd name="T66" fmla="*/ 913 w 1240"/>
                <a:gd name="T67" fmla="*/ 21 h 1230"/>
                <a:gd name="T68" fmla="*/ 830 w 1240"/>
                <a:gd name="T69" fmla="*/ 6 h 1230"/>
                <a:gd name="T70" fmla="*/ 748 w 1240"/>
                <a:gd name="T71" fmla="*/ 0 h 1230"/>
                <a:gd name="T72" fmla="*/ 666 w 1240"/>
                <a:gd name="T73" fmla="*/ 1 h 1230"/>
                <a:gd name="T74" fmla="*/ 589 w 1240"/>
                <a:gd name="T75" fmla="*/ 12 h 1230"/>
                <a:gd name="T76" fmla="*/ 553 w 1240"/>
                <a:gd name="T77" fmla="*/ 21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40" h="1230">
                  <a:moveTo>
                    <a:pt x="553" y="21"/>
                  </a:moveTo>
                  <a:lnTo>
                    <a:pt x="513" y="33"/>
                  </a:lnTo>
                  <a:lnTo>
                    <a:pt x="437" y="64"/>
                  </a:lnTo>
                  <a:lnTo>
                    <a:pt x="365" y="101"/>
                  </a:lnTo>
                  <a:lnTo>
                    <a:pt x="299" y="146"/>
                  </a:lnTo>
                  <a:lnTo>
                    <a:pt x="238" y="198"/>
                  </a:lnTo>
                  <a:lnTo>
                    <a:pt x="182" y="256"/>
                  </a:lnTo>
                  <a:lnTo>
                    <a:pt x="133" y="320"/>
                  </a:lnTo>
                  <a:lnTo>
                    <a:pt x="90" y="391"/>
                  </a:lnTo>
                  <a:lnTo>
                    <a:pt x="71" y="428"/>
                  </a:lnTo>
                  <a:lnTo>
                    <a:pt x="57" y="459"/>
                  </a:lnTo>
                  <a:lnTo>
                    <a:pt x="34" y="523"/>
                  </a:lnTo>
                  <a:lnTo>
                    <a:pt x="16" y="588"/>
                  </a:lnTo>
                  <a:lnTo>
                    <a:pt x="5" y="655"/>
                  </a:lnTo>
                  <a:lnTo>
                    <a:pt x="0" y="722"/>
                  </a:lnTo>
                  <a:lnTo>
                    <a:pt x="1" y="790"/>
                  </a:lnTo>
                  <a:lnTo>
                    <a:pt x="8" y="858"/>
                  </a:lnTo>
                  <a:lnTo>
                    <a:pt x="22" y="925"/>
                  </a:lnTo>
                  <a:lnTo>
                    <a:pt x="31" y="958"/>
                  </a:lnTo>
                  <a:lnTo>
                    <a:pt x="46" y="1001"/>
                  </a:lnTo>
                  <a:lnTo>
                    <a:pt x="86" y="1093"/>
                  </a:lnTo>
                  <a:lnTo>
                    <a:pt x="131" y="1174"/>
                  </a:lnTo>
                  <a:lnTo>
                    <a:pt x="159" y="1214"/>
                  </a:lnTo>
                  <a:lnTo>
                    <a:pt x="174" y="1228"/>
                  </a:lnTo>
                  <a:lnTo>
                    <a:pt x="180" y="1230"/>
                  </a:lnTo>
                  <a:lnTo>
                    <a:pt x="215" y="1200"/>
                  </a:lnTo>
                  <a:lnTo>
                    <a:pt x="506" y="916"/>
                  </a:lnTo>
                  <a:lnTo>
                    <a:pt x="716" y="706"/>
                  </a:lnTo>
                  <a:lnTo>
                    <a:pt x="1240" y="183"/>
                  </a:lnTo>
                  <a:lnTo>
                    <a:pt x="1168" y="131"/>
                  </a:lnTo>
                  <a:lnTo>
                    <a:pt x="1137" y="110"/>
                  </a:lnTo>
                  <a:lnTo>
                    <a:pt x="1068" y="74"/>
                  </a:lnTo>
                  <a:lnTo>
                    <a:pt x="993" y="44"/>
                  </a:lnTo>
                  <a:lnTo>
                    <a:pt x="913" y="21"/>
                  </a:lnTo>
                  <a:lnTo>
                    <a:pt x="830" y="6"/>
                  </a:lnTo>
                  <a:lnTo>
                    <a:pt x="748" y="0"/>
                  </a:lnTo>
                  <a:lnTo>
                    <a:pt x="666" y="1"/>
                  </a:lnTo>
                  <a:lnTo>
                    <a:pt x="589" y="12"/>
                  </a:lnTo>
                  <a:lnTo>
                    <a:pt x="553"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7" name="Freeform 199">
              <a:extLst>
                <a:ext uri="{FF2B5EF4-FFF2-40B4-BE49-F238E27FC236}">
                  <a16:creationId xmlns:a16="http://schemas.microsoft.com/office/drawing/2014/main" id="{FB7C3BD4-4663-09DD-5B0F-A7E9D654D139}"/>
                </a:ext>
              </a:extLst>
            </p:cNvPr>
            <p:cNvSpPr>
              <a:spLocks/>
            </p:cNvSpPr>
            <p:nvPr/>
          </p:nvSpPr>
          <p:spPr bwMode="auto">
            <a:xfrm>
              <a:off x="4448176" y="1598613"/>
              <a:ext cx="290513" cy="287338"/>
            </a:xfrm>
            <a:custGeom>
              <a:avLst/>
              <a:gdLst>
                <a:gd name="T0" fmla="*/ 522 w 1234"/>
                <a:gd name="T1" fmla="*/ 523 h 1221"/>
                <a:gd name="T2" fmla="*/ 0 w 1234"/>
                <a:gd name="T3" fmla="*/ 1045 h 1221"/>
                <a:gd name="T4" fmla="*/ 50 w 1234"/>
                <a:gd name="T5" fmla="*/ 1082 h 1221"/>
                <a:gd name="T6" fmla="*/ 84 w 1234"/>
                <a:gd name="T7" fmla="*/ 1105 h 1221"/>
                <a:gd name="T8" fmla="*/ 155 w 1234"/>
                <a:gd name="T9" fmla="*/ 1145 h 1221"/>
                <a:gd name="T10" fmla="*/ 228 w 1234"/>
                <a:gd name="T11" fmla="*/ 1176 h 1221"/>
                <a:gd name="T12" fmla="*/ 303 w 1234"/>
                <a:gd name="T13" fmla="*/ 1199 h 1221"/>
                <a:gd name="T14" fmla="*/ 379 w 1234"/>
                <a:gd name="T15" fmla="*/ 1214 h 1221"/>
                <a:gd name="T16" fmla="*/ 456 w 1234"/>
                <a:gd name="T17" fmla="*/ 1221 h 1221"/>
                <a:gd name="T18" fmla="*/ 533 w 1234"/>
                <a:gd name="T19" fmla="*/ 1220 h 1221"/>
                <a:gd name="T20" fmla="*/ 609 w 1234"/>
                <a:gd name="T21" fmla="*/ 1212 h 1221"/>
                <a:gd name="T22" fmla="*/ 684 w 1234"/>
                <a:gd name="T23" fmla="*/ 1196 h 1221"/>
                <a:gd name="T24" fmla="*/ 758 w 1234"/>
                <a:gd name="T25" fmla="*/ 1173 h 1221"/>
                <a:gd name="T26" fmla="*/ 828 w 1234"/>
                <a:gd name="T27" fmla="*/ 1142 h 1221"/>
                <a:gd name="T28" fmla="*/ 895 w 1234"/>
                <a:gd name="T29" fmla="*/ 1104 h 1221"/>
                <a:gd name="T30" fmla="*/ 959 w 1234"/>
                <a:gd name="T31" fmla="*/ 1060 h 1221"/>
                <a:gd name="T32" fmla="*/ 1018 w 1234"/>
                <a:gd name="T33" fmla="*/ 1008 h 1221"/>
                <a:gd name="T34" fmla="*/ 1072 w 1234"/>
                <a:gd name="T35" fmla="*/ 950 h 1221"/>
                <a:gd name="T36" fmla="*/ 1120 w 1234"/>
                <a:gd name="T37" fmla="*/ 885 h 1221"/>
                <a:gd name="T38" fmla="*/ 1142 w 1234"/>
                <a:gd name="T39" fmla="*/ 850 h 1221"/>
                <a:gd name="T40" fmla="*/ 1159 w 1234"/>
                <a:gd name="T41" fmla="*/ 819 h 1221"/>
                <a:gd name="T42" fmla="*/ 1188 w 1234"/>
                <a:gd name="T43" fmla="*/ 752 h 1221"/>
                <a:gd name="T44" fmla="*/ 1210 w 1234"/>
                <a:gd name="T45" fmla="*/ 680 h 1221"/>
                <a:gd name="T46" fmla="*/ 1225 w 1234"/>
                <a:gd name="T47" fmla="*/ 605 h 1221"/>
                <a:gd name="T48" fmla="*/ 1233 w 1234"/>
                <a:gd name="T49" fmla="*/ 528 h 1221"/>
                <a:gd name="T50" fmla="*/ 1234 w 1234"/>
                <a:gd name="T51" fmla="*/ 450 h 1221"/>
                <a:gd name="T52" fmla="*/ 1228 w 1234"/>
                <a:gd name="T53" fmla="*/ 374 h 1221"/>
                <a:gd name="T54" fmla="*/ 1214 w 1234"/>
                <a:gd name="T55" fmla="*/ 300 h 1221"/>
                <a:gd name="T56" fmla="*/ 1203 w 1234"/>
                <a:gd name="T57" fmla="*/ 265 h 1221"/>
                <a:gd name="T58" fmla="*/ 1190 w 1234"/>
                <a:gd name="T59" fmla="*/ 224 h 1221"/>
                <a:gd name="T60" fmla="*/ 1150 w 1234"/>
                <a:gd name="T61" fmla="*/ 135 h 1221"/>
                <a:gd name="T62" fmla="*/ 1107 w 1234"/>
                <a:gd name="T63" fmla="*/ 55 h 1221"/>
                <a:gd name="T64" fmla="*/ 1078 w 1234"/>
                <a:gd name="T65" fmla="*/ 15 h 1221"/>
                <a:gd name="T66" fmla="*/ 1064 w 1234"/>
                <a:gd name="T67" fmla="*/ 1 h 1221"/>
                <a:gd name="T68" fmla="*/ 1058 w 1234"/>
                <a:gd name="T69" fmla="*/ 0 h 1221"/>
                <a:gd name="T70" fmla="*/ 1023 w 1234"/>
                <a:gd name="T71" fmla="*/ 29 h 1221"/>
                <a:gd name="T72" fmla="*/ 732 w 1234"/>
                <a:gd name="T73" fmla="*/ 314 h 1221"/>
                <a:gd name="T74" fmla="*/ 522 w 1234"/>
                <a:gd name="T75" fmla="*/ 523 h 1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4" h="1221">
                  <a:moveTo>
                    <a:pt x="522" y="523"/>
                  </a:moveTo>
                  <a:lnTo>
                    <a:pt x="0" y="1045"/>
                  </a:lnTo>
                  <a:lnTo>
                    <a:pt x="50" y="1082"/>
                  </a:lnTo>
                  <a:lnTo>
                    <a:pt x="84" y="1105"/>
                  </a:lnTo>
                  <a:lnTo>
                    <a:pt x="155" y="1145"/>
                  </a:lnTo>
                  <a:lnTo>
                    <a:pt x="228" y="1176"/>
                  </a:lnTo>
                  <a:lnTo>
                    <a:pt x="303" y="1199"/>
                  </a:lnTo>
                  <a:lnTo>
                    <a:pt x="379" y="1214"/>
                  </a:lnTo>
                  <a:lnTo>
                    <a:pt x="456" y="1221"/>
                  </a:lnTo>
                  <a:lnTo>
                    <a:pt x="533" y="1220"/>
                  </a:lnTo>
                  <a:lnTo>
                    <a:pt x="609" y="1212"/>
                  </a:lnTo>
                  <a:lnTo>
                    <a:pt x="684" y="1196"/>
                  </a:lnTo>
                  <a:lnTo>
                    <a:pt x="758" y="1173"/>
                  </a:lnTo>
                  <a:lnTo>
                    <a:pt x="828" y="1142"/>
                  </a:lnTo>
                  <a:lnTo>
                    <a:pt x="895" y="1104"/>
                  </a:lnTo>
                  <a:lnTo>
                    <a:pt x="959" y="1060"/>
                  </a:lnTo>
                  <a:lnTo>
                    <a:pt x="1018" y="1008"/>
                  </a:lnTo>
                  <a:lnTo>
                    <a:pt x="1072" y="950"/>
                  </a:lnTo>
                  <a:lnTo>
                    <a:pt x="1120" y="885"/>
                  </a:lnTo>
                  <a:lnTo>
                    <a:pt x="1142" y="850"/>
                  </a:lnTo>
                  <a:lnTo>
                    <a:pt x="1159" y="819"/>
                  </a:lnTo>
                  <a:lnTo>
                    <a:pt x="1188" y="752"/>
                  </a:lnTo>
                  <a:lnTo>
                    <a:pt x="1210" y="680"/>
                  </a:lnTo>
                  <a:lnTo>
                    <a:pt x="1225" y="605"/>
                  </a:lnTo>
                  <a:lnTo>
                    <a:pt x="1233" y="528"/>
                  </a:lnTo>
                  <a:lnTo>
                    <a:pt x="1234" y="450"/>
                  </a:lnTo>
                  <a:lnTo>
                    <a:pt x="1228" y="374"/>
                  </a:lnTo>
                  <a:lnTo>
                    <a:pt x="1214" y="300"/>
                  </a:lnTo>
                  <a:lnTo>
                    <a:pt x="1203" y="265"/>
                  </a:lnTo>
                  <a:lnTo>
                    <a:pt x="1190" y="224"/>
                  </a:lnTo>
                  <a:lnTo>
                    <a:pt x="1150" y="135"/>
                  </a:lnTo>
                  <a:lnTo>
                    <a:pt x="1107" y="55"/>
                  </a:lnTo>
                  <a:lnTo>
                    <a:pt x="1078" y="15"/>
                  </a:lnTo>
                  <a:lnTo>
                    <a:pt x="1064" y="1"/>
                  </a:lnTo>
                  <a:lnTo>
                    <a:pt x="1058" y="0"/>
                  </a:lnTo>
                  <a:lnTo>
                    <a:pt x="1023" y="29"/>
                  </a:lnTo>
                  <a:lnTo>
                    <a:pt x="732" y="314"/>
                  </a:lnTo>
                  <a:lnTo>
                    <a:pt x="522" y="5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8" name="Freeform 200">
              <a:extLst>
                <a:ext uri="{FF2B5EF4-FFF2-40B4-BE49-F238E27FC236}">
                  <a16:creationId xmlns:a16="http://schemas.microsoft.com/office/drawing/2014/main" id="{BFD9A124-8A67-3AB6-FE0C-96FA596BBA02}"/>
                </a:ext>
              </a:extLst>
            </p:cNvPr>
            <p:cNvSpPr>
              <a:spLocks/>
            </p:cNvSpPr>
            <p:nvPr/>
          </p:nvSpPr>
          <p:spPr bwMode="auto">
            <a:xfrm>
              <a:off x="3543301" y="1558925"/>
              <a:ext cx="219075" cy="44450"/>
            </a:xfrm>
            <a:custGeom>
              <a:avLst/>
              <a:gdLst>
                <a:gd name="T0" fmla="*/ 16 w 932"/>
                <a:gd name="T1" fmla="*/ 32 h 184"/>
                <a:gd name="T2" fmla="*/ 7 w 932"/>
                <a:gd name="T3" fmla="*/ 51 h 184"/>
                <a:gd name="T4" fmla="*/ 0 w 932"/>
                <a:gd name="T5" fmla="*/ 87 h 184"/>
                <a:gd name="T6" fmla="*/ 5 w 932"/>
                <a:gd name="T7" fmla="*/ 120 h 184"/>
                <a:gd name="T8" fmla="*/ 22 w 932"/>
                <a:gd name="T9" fmla="*/ 146 h 184"/>
                <a:gd name="T10" fmla="*/ 36 w 932"/>
                <a:gd name="T11" fmla="*/ 157 h 184"/>
                <a:gd name="T12" fmla="*/ 49 w 932"/>
                <a:gd name="T13" fmla="*/ 165 h 184"/>
                <a:gd name="T14" fmla="*/ 98 w 932"/>
                <a:gd name="T15" fmla="*/ 175 h 184"/>
                <a:gd name="T16" fmla="*/ 252 w 932"/>
                <a:gd name="T17" fmla="*/ 183 h 184"/>
                <a:gd name="T18" fmla="*/ 466 w 932"/>
                <a:gd name="T19" fmla="*/ 184 h 184"/>
                <a:gd name="T20" fmla="*/ 680 w 932"/>
                <a:gd name="T21" fmla="*/ 183 h 184"/>
                <a:gd name="T22" fmla="*/ 834 w 932"/>
                <a:gd name="T23" fmla="*/ 175 h 184"/>
                <a:gd name="T24" fmla="*/ 883 w 932"/>
                <a:gd name="T25" fmla="*/ 165 h 184"/>
                <a:gd name="T26" fmla="*/ 896 w 932"/>
                <a:gd name="T27" fmla="*/ 157 h 184"/>
                <a:gd name="T28" fmla="*/ 910 w 932"/>
                <a:gd name="T29" fmla="*/ 146 h 184"/>
                <a:gd name="T30" fmla="*/ 927 w 932"/>
                <a:gd name="T31" fmla="*/ 120 h 184"/>
                <a:gd name="T32" fmla="*/ 932 w 932"/>
                <a:gd name="T33" fmla="*/ 87 h 184"/>
                <a:gd name="T34" fmla="*/ 925 w 932"/>
                <a:gd name="T35" fmla="*/ 51 h 184"/>
                <a:gd name="T36" fmla="*/ 916 w 932"/>
                <a:gd name="T37" fmla="*/ 32 h 184"/>
                <a:gd name="T38" fmla="*/ 913 w 932"/>
                <a:gd name="T39" fmla="*/ 27 h 184"/>
                <a:gd name="T40" fmla="*/ 904 w 932"/>
                <a:gd name="T41" fmla="*/ 18 h 184"/>
                <a:gd name="T42" fmla="*/ 877 w 932"/>
                <a:gd name="T43" fmla="*/ 9 h 184"/>
                <a:gd name="T44" fmla="*/ 725 w 932"/>
                <a:gd name="T45" fmla="*/ 1 h 184"/>
                <a:gd name="T46" fmla="*/ 466 w 932"/>
                <a:gd name="T47" fmla="*/ 0 h 184"/>
                <a:gd name="T48" fmla="*/ 207 w 932"/>
                <a:gd name="T49" fmla="*/ 1 h 184"/>
                <a:gd name="T50" fmla="*/ 55 w 932"/>
                <a:gd name="T51" fmla="*/ 9 h 184"/>
                <a:gd name="T52" fmla="*/ 28 w 932"/>
                <a:gd name="T53" fmla="*/ 18 h 184"/>
                <a:gd name="T54" fmla="*/ 19 w 932"/>
                <a:gd name="T55" fmla="*/ 27 h 184"/>
                <a:gd name="T56" fmla="*/ 16 w 932"/>
                <a:gd name="T57"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32" h="184">
                  <a:moveTo>
                    <a:pt x="16" y="32"/>
                  </a:moveTo>
                  <a:lnTo>
                    <a:pt x="7" y="51"/>
                  </a:lnTo>
                  <a:lnTo>
                    <a:pt x="0" y="87"/>
                  </a:lnTo>
                  <a:lnTo>
                    <a:pt x="5" y="120"/>
                  </a:lnTo>
                  <a:lnTo>
                    <a:pt x="22" y="146"/>
                  </a:lnTo>
                  <a:lnTo>
                    <a:pt x="36" y="157"/>
                  </a:lnTo>
                  <a:lnTo>
                    <a:pt x="49" y="165"/>
                  </a:lnTo>
                  <a:lnTo>
                    <a:pt x="98" y="175"/>
                  </a:lnTo>
                  <a:lnTo>
                    <a:pt x="252" y="183"/>
                  </a:lnTo>
                  <a:lnTo>
                    <a:pt x="466" y="184"/>
                  </a:lnTo>
                  <a:lnTo>
                    <a:pt x="680" y="183"/>
                  </a:lnTo>
                  <a:lnTo>
                    <a:pt x="834" y="175"/>
                  </a:lnTo>
                  <a:lnTo>
                    <a:pt x="883" y="165"/>
                  </a:lnTo>
                  <a:lnTo>
                    <a:pt x="896" y="157"/>
                  </a:lnTo>
                  <a:lnTo>
                    <a:pt x="910" y="146"/>
                  </a:lnTo>
                  <a:lnTo>
                    <a:pt x="927" y="120"/>
                  </a:lnTo>
                  <a:lnTo>
                    <a:pt x="932" y="87"/>
                  </a:lnTo>
                  <a:lnTo>
                    <a:pt x="925" y="51"/>
                  </a:lnTo>
                  <a:lnTo>
                    <a:pt x="916" y="32"/>
                  </a:lnTo>
                  <a:lnTo>
                    <a:pt x="913" y="27"/>
                  </a:lnTo>
                  <a:lnTo>
                    <a:pt x="904" y="18"/>
                  </a:lnTo>
                  <a:lnTo>
                    <a:pt x="877" y="9"/>
                  </a:lnTo>
                  <a:lnTo>
                    <a:pt x="725" y="1"/>
                  </a:lnTo>
                  <a:lnTo>
                    <a:pt x="466" y="0"/>
                  </a:lnTo>
                  <a:lnTo>
                    <a:pt x="207" y="1"/>
                  </a:lnTo>
                  <a:lnTo>
                    <a:pt x="55" y="9"/>
                  </a:lnTo>
                  <a:lnTo>
                    <a:pt x="28"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9" name="Freeform 201">
              <a:extLst>
                <a:ext uri="{FF2B5EF4-FFF2-40B4-BE49-F238E27FC236}">
                  <a16:creationId xmlns:a16="http://schemas.microsoft.com/office/drawing/2014/main" id="{F90A36E9-B907-EA08-3D49-36FCEAB8D37A}"/>
                </a:ext>
              </a:extLst>
            </p:cNvPr>
            <p:cNvSpPr>
              <a:spLocks/>
            </p:cNvSpPr>
            <p:nvPr/>
          </p:nvSpPr>
          <p:spPr bwMode="auto">
            <a:xfrm>
              <a:off x="3543301" y="1668463"/>
              <a:ext cx="371475" cy="44450"/>
            </a:xfrm>
            <a:custGeom>
              <a:avLst/>
              <a:gdLst>
                <a:gd name="T0" fmla="*/ 16 w 1582"/>
                <a:gd name="T1" fmla="*/ 32 h 183"/>
                <a:gd name="T2" fmla="*/ 7 w 1582"/>
                <a:gd name="T3" fmla="*/ 51 h 183"/>
                <a:gd name="T4" fmla="*/ 0 w 1582"/>
                <a:gd name="T5" fmla="*/ 87 h 183"/>
                <a:gd name="T6" fmla="*/ 5 w 1582"/>
                <a:gd name="T7" fmla="*/ 119 h 183"/>
                <a:gd name="T8" fmla="*/ 22 w 1582"/>
                <a:gd name="T9" fmla="*/ 146 h 183"/>
                <a:gd name="T10" fmla="*/ 36 w 1582"/>
                <a:gd name="T11" fmla="*/ 157 h 183"/>
                <a:gd name="T12" fmla="*/ 43 w 1582"/>
                <a:gd name="T13" fmla="*/ 161 h 183"/>
                <a:gd name="T14" fmla="*/ 64 w 1582"/>
                <a:gd name="T15" fmla="*/ 168 h 183"/>
                <a:gd name="T16" fmla="*/ 122 w 1582"/>
                <a:gd name="T17" fmla="*/ 176 h 183"/>
                <a:gd name="T18" fmla="*/ 394 w 1582"/>
                <a:gd name="T19" fmla="*/ 183 h 183"/>
                <a:gd name="T20" fmla="*/ 801 w 1582"/>
                <a:gd name="T21" fmla="*/ 183 h 183"/>
                <a:gd name="T22" fmla="*/ 1234 w 1582"/>
                <a:gd name="T23" fmla="*/ 183 h 183"/>
                <a:gd name="T24" fmla="*/ 1489 w 1582"/>
                <a:gd name="T25" fmla="*/ 176 h 183"/>
                <a:gd name="T26" fmla="*/ 1535 w 1582"/>
                <a:gd name="T27" fmla="*/ 167 h 183"/>
                <a:gd name="T28" fmla="*/ 1549 w 1582"/>
                <a:gd name="T29" fmla="*/ 158 h 183"/>
                <a:gd name="T30" fmla="*/ 1554 w 1582"/>
                <a:gd name="T31" fmla="*/ 153 h 183"/>
                <a:gd name="T32" fmla="*/ 1566 w 1582"/>
                <a:gd name="T33" fmla="*/ 139 h 183"/>
                <a:gd name="T34" fmla="*/ 1580 w 1582"/>
                <a:gd name="T35" fmla="*/ 103 h 183"/>
                <a:gd name="T36" fmla="*/ 1582 w 1582"/>
                <a:gd name="T37" fmla="*/ 65 h 183"/>
                <a:gd name="T38" fmla="*/ 1572 w 1582"/>
                <a:gd name="T39" fmla="*/ 32 h 183"/>
                <a:gd name="T40" fmla="*/ 1563 w 1582"/>
                <a:gd name="T41" fmla="*/ 20 h 183"/>
                <a:gd name="T42" fmla="*/ 1551 w 1582"/>
                <a:gd name="T43" fmla="*/ 15 h 183"/>
                <a:gd name="T44" fmla="*/ 1464 w 1582"/>
                <a:gd name="T45" fmla="*/ 7 h 183"/>
                <a:gd name="T46" fmla="*/ 1165 w 1582"/>
                <a:gd name="T47" fmla="*/ 1 h 183"/>
                <a:gd name="T48" fmla="*/ 788 w 1582"/>
                <a:gd name="T49" fmla="*/ 0 h 183"/>
                <a:gd name="T50" fmla="*/ 329 w 1582"/>
                <a:gd name="T51" fmla="*/ 0 h 183"/>
                <a:gd name="T52" fmla="*/ 71 w 1582"/>
                <a:gd name="T53" fmla="*/ 8 h 183"/>
                <a:gd name="T54" fmla="*/ 30 w 1582"/>
                <a:gd name="T55" fmla="*/ 18 h 183"/>
                <a:gd name="T56" fmla="*/ 19 w 1582"/>
                <a:gd name="T57" fmla="*/ 26 h 183"/>
                <a:gd name="T58" fmla="*/ 16 w 1582"/>
                <a:gd name="T59" fmla="*/ 32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3">
                  <a:moveTo>
                    <a:pt x="16" y="32"/>
                  </a:moveTo>
                  <a:lnTo>
                    <a:pt x="7" y="51"/>
                  </a:lnTo>
                  <a:lnTo>
                    <a:pt x="0" y="87"/>
                  </a:lnTo>
                  <a:lnTo>
                    <a:pt x="5" y="119"/>
                  </a:lnTo>
                  <a:lnTo>
                    <a:pt x="22" y="146"/>
                  </a:lnTo>
                  <a:lnTo>
                    <a:pt x="36" y="157"/>
                  </a:lnTo>
                  <a:lnTo>
                    <a:pt x="43" y="161"/>
                  </a:lnTo>
                  <a:lnTo>
                    <a:pt x="64" y="168"/>
                  </a:lnTo>
                  <a:lnTo>
                    <a:pt x="122" y="176"/>
                  </a:lnTo>
                  <a:lnTo>
                    <a:pt x="394" y="183"/>
                  </a:lnTo>
                  <a:lnTo>
                    <a:pt x="801" y="183"/>
                  </a:lnTo>
                  <a:lnTo>
                    <a:pt x="1234" y="183"/>
                  </a:lnTo>
                  <a:lnTo>
                    <a:pt x="1489" y="176"/>
                  </a:lnTo>
                  <a:lnTo>
                    <a:pt x="1535" y="167"/>
                  </a:lnTo>
                  <a:lnTo>
                    <a:pt x="1549" y="158"/>
                  </a:lnTo>
                  <a:lnTo>
                    <a:pt x="1554" y="153"/>
                  </a:lnTo>
                  <a:lnTo>
                    <a:pt x="1566" y="139"/>
                  </a:lnTo>
                  <a:lnTo>
                    <a:pt x="1580" y="103"/>
                  </a:lnTo>
                  <a:lnTo>
                    <a:pt x="1582" y="65"/>
                  </a:lnTo>
                  <a:lnTo>
                    <a:pt x="1572" y="32"/>
                  </a:lnTo>
                  <a:lnTo>
                    <a:pt x="1563" y="20"/>
                  </a:lnTo>
                  <a:lnTo>
                    <a:pt x="1551" y="15"/>
                  </a:lnTo>
                  <a:lnTo>
                    <a:pt x="1464" y="7"/>
                  </a:lnTo>
                  <a:lnTo>
                    <a:pt x="1165" y="1"/>
                  </a:lnTo>
                  <a:lnTo>
                    <a:pt x="788" y="0"/>
                  </a:lnTo>
                  <a:lnTo>
                    <a:pt x="329" y="0"/>
                  </a:lnTo>
                  <a:lnTo>
                    <a:pt x="71" y="8"/>
                  </a:lnTo>
                  <a:lnTo>
                    <a:pt x="30" y="18"/>
                  </a:lnTo>
                  <a:lnTo>
                    <a:pt x="19" y="26"/>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grpSp>
    </p:spTree>
    <p:extLst>
      <p:ext uri="{BB962C8B-B14F-4D97-AF65-F5344CB8AC3E}">
        <p14:creationId xmlns:p14="http://schemas.microsoft.com/office/powerpoint/2010/main" val="2795669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الإصدارات والمراجعات</a:t>
            </a:r>
            <a:endParaRPr lang="en-US" dirty="0"/>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3962492396"/>
              </p:ext>
            </p:extLst>
          </p:nvPr>
        </p:nvGraphicFramePr>
        <p:xfrm>
          <a:off x="609601" y="1237422"/>
          <a:ext cx="10972798" cy="5267422"/>
        </p:xfrm>
        <a:graphic>
          <a:graphicData uri="http://schemas.openxmlformats.org/drawingml/2006/table">
            <a:tbl>
              <a:tblPr rtl="1" firstRow="1" bandRow="1">
                <a:tableStyleId>{2D5ABB26-0587-4C30-8999-92F81FD0307C}</a:tableStyleId>
              </a:tblPr>
              <a:tblGrid>
                <a:gridCol w="1288225">
                  <a:extLst>
                    <a:ext uri="{9D8B030D-6E8A-4147-A177-3AD203B41FA5}">
                      <a16:colId xmlns:a16="http://schemas.microsoft.com/office/drawing/2014/main" val="3246697180"/>
                    </a:ext>
                  </a:extLst>
                </a:gridCol>
                <a:gridCol w="1233878">
                  <a:extLst>
                    <a:ext uri="{9D8B030D-6E8A-4147-A177-3AD203B41FA5}">
                      <a16:colId xmlns:a16="http://schemas.microsoft.com/office/drawing/2014/main" val="1695347223"/>
                    </a:ext>
                  </a:extLst>
                </a:gridCol>
                <a:gridCol w="2586925">
                  <a:extLst>
                    <a:ext uri="{9D8B030D-6E8A-4147-A177-3AD203B41FA5}">
                      <a16:colId xmlns:a16="http://schemas.microsoft.com/office/drawing/2014/main" val="2017486071"/>
                    </a:ext>
                  </a:extLst>
                </a:gridCol>
                <a:gridCol w="2937305">
                  <a:extLst>
                    <a:ext uri="{9D8B030D-6E8A-4147-A177-3AD203B41FA5}">
                      <a16:colId xmlns:a16="http://schemas.microsoft.com/office/drawing/2014/main" val="2702421411"/>
                    </a:ext>
                  </a:extLst>
                </a:gridCol>
                <a:gridCol w="2926465">
                  <a:extLst>
                    <a:ext uri="{9D8B030D-6E8A-4147-A177-3AD203B41FA5}">
                      <a16:colId xmlns:a16="http://schemas.microsoft.com/office/drawing/2014/main" val="3621974949"/>
                    </a:ext>
                  </a:extLst>
                </a:gridCol>
              </a:tblGrid>
              <a:tr h="506402">
                <a:tc>
                  <a:txBody>
                    <a:bodyPr/>
                    <a:lstStyle/>
                    <a:p>
                      <a:pPr algn="ctr" rtl="1">
                        <a:lnSpc>
                          <a:spcPct val="115000"/>
                        </a:lnSpc>
                        <a:spcAft>
                          <a:spcPts val="0"/>
                        </a:spcAft>
                      </a:pPr>
                      <a:r>
                        <a:rPr lang="ar-SA" sz="1800" dirty="0">
                          <a:solidFill>
                            <a:schemeClr val="bg1"/>
                          </a:solidFill>
                          <a:effectLst/>
                          <a:latin typeface="Sakkal Majalla" panose="02000000000000000000" pitchFamily="2" charset="-78"/>
                          <a:cs typeface="Sakkal Majalla" panose="02000000000000000000" pitchFamily="2" charset="-78"/>
                        </a:rPr>
                        <a:t>إصدار الوثيقة</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A" sz="1800" dirty="0">
                          <a:solidFill>
                            <a:schemeClr val="bg1"/>
                          </a:solidFill>
                          <a:effectLst/>
                          <a:latin typeface="Sakkal Majalla" panose="02000000000000000000" pitchFamily="2" charset="-78"/>
                          <a:cs typeface="Sakkal Majalla" panose="02000000000000000000" pitchFamily="2" charset="-78"/>
                        </a:rPr>
                        <a:t>التاريخ</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إعداد</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الوصف</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cs typeface="Sakkal Majalla" panose="02000000000000000000" pitchFamily="2" charset="-78"/>
                        </a:rPr>
                        <a:t>0.1</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1-Sep-2024</a:t>
                      </a: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فريق </a:t>
                      </a:r>
                      <a:r>
                        <a:rPr lang="ar-EG" sz="1800" kern="1200" dirty="0">
                          <a:solidFill>
                            <a:schemeClr val="tx1"/>
                          </a:solidFill>
                          <a:effectLst/>
                          <a:latin typeface="Sakkal Majalla" panose="02000000000000000000" pitchFamily="2" charset="-78"/>
                          <a:ea typeface="+mn-ea"/>
                          <a:cs typeface="Sakkal Majalla" panose="02000000000000000000" pitchFamily="2" charset="-78"/>
                        </a:rPr>
                        <a:t>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فريق </a:t>
                      </a:r>
                      <a:r>
                        <a:rPr lang="ar-EG" sz="1800" kern="1200" dirty="0">
                          <a:solidFill>
                            <a:schemeClr val="tx1"/>
                          </a:solidFill>
                          <a:effectLst/>
                          <a:latin typeface="Sakkal Majalla" panose="02000000000000000000" pitchFamily="2" charset="-78"/>
                          <a:ea typeface="+mn-ea"/>
                          <a:cs typeface="Sakkal Majalla" panose="02000000000000000000" pitchFamily="2" charset="-78"/>
                        </a:rPr>
                        <a:t>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EG"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تعريف المبادئ المرتبطة بكل مجال من مجالات البنية المؤسسية </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cs typeface="Sakkal Majalla" panose="02000000000000000000" pitchFamily="2" charset="-78"/>
                        </a:rPr>
                        <a:t>0.2</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5-Sep-2024</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فريق </a:t>
                      </a:r>
                      <a:r>
                        <a:rPr lang="ar-EG" sz="1800" kern="1200" dirty="0">
                          <a:solidFill>
                            <a:schemeClr val="tx1"/>
                          </a:solidFill>
                          <a:effectLst/>
                          <a:latin typeface="Sakkal Majalla" panose="02000000000000000000" pitchFamily="2" charset="-78"/>
                          <a:ea typeface="+mn-ea"/>
                          <a:cs typeface="Sakkal Majalla" panose="02000000000000000000" pitchFamily="2" charset="-78"/>
                        </a:rPr>
                        <a:t>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فريق </a:t>
                      </a:r>
                      <a:r>
                        <a:rPr lang="ar-EG" sz="1800" kern="1200" dirty="0">
                          <a:solidFill>
                            <a:schemeClr val="tx1"/>
                          </a:solidFill>
                          <a:effectLst/>
                          <a:latin typeface="Sakkal Majalla" panose="02000000000000000000" pitchFamily="2" charset="-78"/>
                          <a:ea typeface="+mn-ea"/>
                          <a:cs typeface="Sakkal Majalla" panose="02000000000000000000" pitchFamily="2" charset="-78"/>
                        </a:rPr>
                        <a:t>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مراجعة داخلي</a:t>
                      </a:r>
                      <a:r>
                        <a:rPr lang="ar-EG"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 إ</a:t>
                      </a: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عداد مسودة الوثيقة</a:t>
                      </a:r>
                    </a:p>
                    <a:p>
                      <a:pPr marL="635" marR="0" indent="-1905" algn="ctr" rtl="1">
                        <a:lnSpc>
                          <a:spcPct val="115000"/>
                        </a:lnSpc>
                        <a:spcBef>
                          <a:spcPts val="500"/>
                        </a:spcBef>
                        <a:spcAft>
                          <a:spcPts val="0"/>
                        </a:spcAft>
                      </a:pP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وتطبيق الملاحظات</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0.3</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02-Oct-2024</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فريق </a:t>
                      </a:r>
                      <a:r>
                        <a:rPr lang="ar-EG" sz="1800" kern="1200" dirty="0">
                          <a:solidFill>
                            <a:schemeClr val="tx1"/>
                          </a:solidFill>
                          <a:effectLst/>
                          <a:latin typeface="Sakkal Majalla" panose="02000000000000000000" pitchFamily="2" charset="-78"/>
                          <a:ea typeface="+mn-ea"/>
                          <a:cs typeface="Sakkal Majalla" panose="02000000000000000000" pitchFamily="2" charset="-78"/>
                        </a:rPr>
                        <a:t>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فريق </a:t>
                      </a:r>
                      <a:r>
                        <a:rPr lang="ar-EG" sz="1800" kern="1200" dirty="0">
                          <a:solidFill>
                            <a:schemeClr val="tx1"/>
                          </a:solidFill>
                          <a:effectLst/>
                          <a:latin typeface="Sakkal Majalla" panose="02000000000000000000" pitchFamily="2" charset="-78"/>
                          <a:ea typeface="+mn-ea"/>
                          <a:cs typeface="Sakkal Majalla" panose="02000000000000000000" pitchFamily="2" charset="-78"/>
                        </a:rPr>
                        <a:t>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r>
                        <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مراجعة الوثيقة</a:t>
                      </a: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015109613"/>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cs typeface="Sakkal Majalla" panose="02000000000000000000" pitchFamily="2" charset="-78"/>
                        </a:rPr>
                        <a:t>0.4</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08-Oct-2024</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فريق </a:t>
                      </a:r>
                      <a:r>
                        <a:rPr lang="ar-EG" sz="1800" kern="1200" dirty="0">
                          <a:solidFill>
                            <a:schemeClr val="tx1"/>
                          </a:solidFill>
                          <a:effectLst/>
                          <a:latin typeface="Sakkal Majalla" panose="02000000000000000000" pitchFamily="2" charset="-78"/>
                          <a:ea typeface="+mn-ea"/>
                          <a:cs typeface="Sakkal Majalla" panose="02000000000000000000" pitchFamily="2" charset="-78"/>
                        </a:rPr>
                        <a:t>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فريق </a:t>
                      </a:r>
                      <a:r>
                        <a:rPr lang="ar-EG" sz="1800" kern="1200" dirty="0">
                          <a:solidFill>
                            <a:schemeClr val="tx1"/>
                          </a:solidFill>
                          <a:effectLst/>
                          <a:latin typeface="Sakkal Majalla" panose="02000000000000000000" pitchFamily="2" charset="-78"/>
                          <a:ea typeface="+mn-ea"/>
                          <a:cs typeface="Sakkal Majalla" panose="02000000000000000000" pitchFamily="2" charset="-78"/>
                        </a:rPr>
                        <a:t>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تطبيق ملاحظات مراجعة فريق البنية المؤسسية لدى الهيئة</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cs typeface="Sakkal Majalla" panose="02000000000000000000" pitchFamily="2" charset="-78"/>
                        </a:rPr>
                        <a:t>0.5</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31-Oct-2024</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فريق </a:t>
                      </a:r>
                      <a:r>
                        <a:rPr lang="ar-EG" sz="1800" kern="1200" dirty="0">
                          <a:solidFill>
                            <a:schemeClr val="tx1"/>
                          </a:solidFill>
                          <a:effectLst/>
                          <a:latin typeface="Sakkal Majalla" panose="02000000000000000000" pitchFamily="2" charset="-78"/>
                          <a:ea typeface="+mn-ea"/>
                          <a:cs typeface="Sakkal Majalla" panose="02000000000000000000" pitchFamily="2" charset="-78"/>
                        </a:rPr>
                        <a:t>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فريق </a:t>
                      </a:r>
                      <a:r>
                        <a:rPr lang="ar-EG" sz="1800" kern="1200" dirty="0">
                          <a:solidFill>
                            <a:schemeClr val="tx1"/>
                          </a:solidFill>
                          <a:effectLst/>
                          <a:latin typeface="Sakkal Majalla" panose="02000000000000000000" pitchFamily="2" charset="-78"/>
                          <a:ea typeface="+mn-ea"/>
                          <a:cs typeface="Sakkal Majalla" panose="02000000000000000000" pitchFamily="2" charset="-78"/>
                        </a:rPr>
                        <a:t>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تطبيق ملاحظات مراجعة فريق البنية المؤسسية لدى الهيئة</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77945649"/>
                  </a:ext>
                </a:extLst>
              </a:tr>
              <a:tr h="677764">
                <a:tc>
                  <a:txBody>
                    <a:bodyPr/>
                    <a:lstStyle/>
                    <a:p>
                      <a:pPr algn="ctr" rtl="1">
                        <a:lnSpc>
                          <a:spcPct val="115000"/>
                        </a:lnSpc>
                        <a:spcAft>
                          <a:spcPts val="0"/>
                        </a:spcAft>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88316617"/>
                  </a:ext>
                </a:extLst>
              </a:tr>
              <a:tr h="677764">
                <a:tc>
                  <a:txBody>
                    <a:bodyPr/>
                    <a:lstStyle/>
                    <a:p>
                      <a:pPr algn="ctr" rtl="1">
                        <a:lnSpc>
                          <a:spcPct val="115000"/>
                        </a:lnSpc>
                        <a:spcAft>
                          <a:spcPts val="0"/>
                        </a:spcAft>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32939493"/>
                  </a:ext>
                </a:extLst>
              </a:tr>
            </a:tbl>
          </a:graphicData>
        </a:graphic>
      </p:graphicFrame>
    </p:spTree>
    <p:extLst>
      <p:ext uri="{BB962C8B-B14F-4D97-AF65-F5344CB8AC3E}">
        <p14:creationId xmlns:p14="http://schemas.microsoft.com/office/powerpoint/2010/main" val="2854880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الاعتمادات</a:t>
            </a:r>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705700988"/>
              </p:ext>
            </p:extLst>
          </p:nvPr>
        </p:nvGraphicFramePr>
        <p:xfrm>
          <a:off x="609600" y="1237422"/>
          <a:ext cx="10972800" cy="4572985"/>
        </p:xfrm>
        <a:graphic>
          <a:graphicData uri="http://schemas.openxmlformats.org/drawingml/2006/table">
            <a:tbl>
              <a:tblPr rtl="1" firstRow="1" bandRow="1">
                <a:tableStyleId>{2D5ABB26-0587-4C30-8999-92F81FD0307C}</a:tableStyleId>
              </a:tblPr>
              <a:tblGrid>
                <a:gridCol w="1316817">
                  <a:extLst>
                    <a:ext uri="{9D8B030D-6E8A-4147-A177-3AD203B41FA5}">
                      <a16:colId xmlns:a16="http://schemas.microsoft.com/office/drawing/2014/main" val="3246697180"/>
                    </a:ext>
                  </a:extLst>
                </a:gridCol>
                <a:gridCol w="2540543">
                  <a:extLst>
                    <a:ext uri="{9D8B030D-6E8A-4147-A177-3AD203B41FA5}">
                      <a16:colId xmlns:a16="http://schemas.microsoft.com/office/drawing/2014/main" val="1695347223"/>
                    </a:ext>
                  </a:extLst>
                </a:gridCol>
                <a:gridCol w="2685931">
                  <a:extLst>
                    <a:ext uri="{9D8B030D-6E8A-4147-A177-3AD203B41FA5}">
                      <a16:colId xmlns:a16="http://schemas.microsoft.com/office/drawing/2014/main" val="2017486071"/>
                    </a:ext>
                  </a:extLst>
                </a:gridCol>
                <a:gridCol w="2853484">
                  <a:extLst>
                    <a:ext uri="{9D8B030D-6E8A-4147-A177-3AD203B41FA5}">
                      <a16:colId xmlns:a16="http://schemas.microsoft.com/office/drawing/2014/main" val="2702421411"/>
                    </a:ext>
                  </a:extLst>
                </a:gridCol>
                <a:gridCol w="1576025">
                  <a:extLst>
                    <a:ext uri="{9D8B030D-6E8A-4147-A177-3AD203B41FA5}">
                      <a16:colId xmlns:a16="http://schemas.microsoft.com/office/drawing/2014/main" val="3621974949"/>
                    </a:ext>
                  </a:extLst>
                </a:gridCol>
              </a:tblGrid>
              <a:tr h="911830">
                <a:tc>
                  <a:txBody>
                    <a:bodyPr/>
                    <a:lstStyle/>
                    <a:p>
                      <a:pPr algn="ctr" rtl="1">
                        <a:lnSpc>
                          <a:spcPct val="115000"/>
                        </a:lnSpc>
                        <a:spcAft>
                          <a:spcPts val="0"/>
                        </a:spcAft>
                      </a:pP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الاسم</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التوقيع</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التاريخ</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1220385">
                <a:tc>
                  <a:txBody>
                    <a:bodyPr/>
                    <a:lstStyle/>
                    <a:p>
                      <a:pPr algn="ctr" rtl="1">
                        <a:lnSpc>
                          <a:spcPct val="115000"/>
                        </a:lnSpc>
                        <a:spcAft>
                          <a:spcPts val="0"/>
                        </a:spcAft>
                      </a:pPr>
                      <a:r>
                        <a:rPr lang="ar-SA" sz="1800"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1220385">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1220385">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bl>
          </a:graphicData>
        </a:graphic>
      </p:graphicFrame>
    </p:spTree>
    <p:extLst>
      <p:ext uri="{BB962C8B-B14F-4D97-AF65-F5344CB8AC3E}">
        <p14:creationId xmlns:p14="http://schemas.microsoft.com/office/powerpoint/2010/main" val="3400582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itle 127">
            <a:extLst>
              <a:ext uri="{FF2B5EF4-FFF2-40B4-BE49-F238E27FC236}">
                <a16:creationId xmlns:a16="http://schemas.microsoft.com/office/drawing/2014/main" id="{1C6423EB-C4FD-85A8-22C2-F9D9A47AD52D}"/>
              </a:ext>
            </a:extLst>
          </p:cNvPr>
          <p:cNvSpPr>
            <a:spLocks noGrp="1"/>
          </p:cNvSpPr>
          <p:nvPr>
            <p:ph type="title"/>
          </p:nvPr>
        </p:nvSpPr>
        <p:spPr/>
        <p:txBody>
          <a:bodyPr/>
          <a:lstStyle/>
          <a:p>
            <a:pPr algn="ctr"/>
            <a:r>
              <a:rPr lang="ar-EG" dirty="0"/>
              <a:t>جدول المحتويات</a:t>
            </a:r>
            <a:endParaRPr lang="en-GB" dirty="0"/>
          </a:p>
        </p:txBody>
      </p:sp>
      <p:sp>
        <p:nvSpPr>
          <p:cNvPr id="111" name="Text Placeholder 11">
            <a:extLst>
              <a:ext uri="{FF2B5EF4-FFF2-40B4-BE49-F238E27FC236}">
                <a16:creationId xmlns:a16="http://schemas.microsoft.com/office/drawing/2014/main" id="{AC9FBA39-545A-2B44-3B82-F6A05AD587ED}"/>
              </a:ext>
            </a:extLst>
          </p:cNvPr>
          <p:cNvSpPr txBox="1">
            <a:spLocks/>
          </p:cNvSpPr>
          <p:nvPr/>
        </p:nvSpPr>
        <p:spPr>
          <a:xfrm>
            <a:off x="4443008" y="1182749"/>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2" action="ppaction://hlinksldjump"/>
              </a:rPr>
              <a:t>مقدمة حول مبادئ البنية المؤسسية</a:t>
            </a:r>
            <a:endParaRPr lang="ar-EG" dirty="0">
              <a:solidFill>
                <a:schemeClr val="accent1"/>
              </a:solidFill>
            </a:endParaRPr>
          </a:p>
        </p:txBody>
      </p:sp>
      <p:sp>
        <p:nvSpPr>
          <p:cNvPr id="113" name="Text Placeholder 6">
            <a:extLst>
              <a:ext uri="{FF2B5EF4-FFF2-40B4-BE49-F238E27FC236}">
                <a16:creationId xmlns:a16="http://schemas.microsoft.com/office/drawing/2014/main" id="{6B10A3DA-6096-5CBC-3C34-1BDB4D3ED90C}"/>
              </a:ext>
            </a:extLst>
          </p:cNvPr>
          <p:cNvSpPr txBox="1">
            <a:spLocks/>
          </p:cNvSpPr>
          <p:nvPr/>
        </p:nvSpPr>
        <p:spPr>
          <a:xfrm>
            <a:off x="7715771" y="1155040"/>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800" dirty="0"/>
              <a:t>1</a:t>
            </a:r>
            <a:endParaRPr lang="en-US" sz="1800" dirty="0"/>
          </a:p>
        </p:txBody>
      </p:sp>
      <p:sp>
        <p:nvSpPr>
          <p:cNvPr id="120" name="Text Placeholder 11">
            <a:extLst>
              <a:ext uri="{FF2B5EF4-FFF2-40B4-BE49-F238E27FC236}">
                <a16:creationId xmlns:a16="http://schemas.microsoft.com/office/drawing/2014/main" id="{7486E810-41A9-8353-E944-7E95541923EF}"/>
              </a:ext>
            </a:extLst>
          </p:cNvPr>
          <p:cNvSpPr txBox="1">
            <a:spLocks/>
          </p:cNvSpPr>
          <p:nvPr/>
        </p:nvSpPr>
        <p:spPr>
          <a:xfrm>
            <a:off x="609601" y="1182749"/>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3" action="ppaction://hlinksldjump"/>
              </a:rPr>
              <a:t>بطاقات مبادئ مجالات البنية المؤسسية</a:t>
            </a:r>
            <a:endParaRPr lang="ar-EG" dirty="0">
              <a:solidFill>
                <a:schemeClr val="accent1"/>
              </a:solidFill>
            </a:endParaRPr>
          </a:p>
        </p:txBody>
      </p:sp>
      <p:sp>
        <p:nvSpPr>
          <p:cNvPr id="122" name="Text Placeholder 6">
            <a:extLst>
              <a:ext uri="{FF2B5EF4-FFF2-40B4-BE49-F238E27FC236}">
                <a16:creationId xmlns:a16="http://schemas.microsoft.com/office/drawing/2014/main" id="{98A2FD5D-5EBB-BA9D-4871-8F2CBDB452E1}"/>
              </a:ext>
            </a:extLst>
          </p:cNvPr>
          <p:cNvSpPr txBox="1">
            <a:spLocks/>
          </p:cNvSpPr>
          <p:nvPr/>
        </p:nvSpPr>
        <p:spPr>
          <a:xfrm>
            <a:off x="3882364" y="1155040"/>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800" dirty="0"/>
              <a:t>2</a:t>
            </a:r>
            <a:endParaRPr lang="en-US" sz="1800" dirty="0"/>
          </a:p>
        </p:txBody>
      </p:sp>
      <p:sp>
        <p:nvSpPr>
          <p:cNvPr id="132" name="Text Placeholder 11">
            <a:extLst>
              <a:ext uri="{FF2B5EF4-FFF2-40B4-BE49-F238E27FC236}">
                <a16:creationId xmlns:a16="http://schemas.microsoft.com/office/drawing/2014/main" id="{1E68A69F-808A-5EF6-F6B5-DCE1E0909512}"/>
              </a:ext>
            </a:extLst>
          </p:cNvPr>
          <p:cNvSpPr txBox="1">
            <a:spLocks/>
          </p:cNvSpPr>
          <p:nvPr/>
        </p:nvSpPr>
        <p:spPr>
          <a:xfrm>
            <a:off x="4438005" y="1525160"/>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4" action="ppaction://hlinksldjump"/>
              </a:rPr>
              <a:t>1.1 تعريف البنية المؤسسية</a:t>
            </a:r>
            <a:endParaRPr lang="ar-EG" sz="1400" dirty="0">
              <a:solidFill>
                <a:schemeClr val="accent2"/>
              </a:solidFill>
            </a:endParaRPr>
          </a:p>
        </p:txBody>
      </p:sp>
      <p:sp>
        <p:nvSpPr>
          <p:cNvPr id="13" name="Text Placeholder 11">
            <a:extLst>
              <a:ext uri="{FF2B5EF4-FFF2-40B4-BE49-F238E27FC236}">
                <a16:creationId xmlns:a16="http://schemas.microsoft.com/office/drawing/2014/main" id="{C69C353C-C37F-E975-A66E-9567DB20BB4B}"/>
              </a:ext>
            </a:extLst>
          </p:cNvPr>
          <p:cNvSpPr txBox="1">
            <a:spLocks/>
          </p:cNvSpPr>
          <p:nvPr/>
        </p:nvSpPr>
        <p:spPr>
          <a:xfrm>
            <a:off x="4435795" y="1766490"/>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5" action="ppaction://hlinksldjump"/>
              </a:rPr>
              <a:t>1.2 مبادئ البنية المؤسسية</a:t>
            </a:r>
            <a:endParaRPr lang="ar-EG" sz="1400" dirty="0">
              <a:solidFill>
                <a:schemeClr val="accent2"/>
              </a:solidFill>
            </a:endParaRPr>
          </a:p>
        </p:txBody>
      </p:sp>
      <p:sp>
        <p:nvSpPr>
          <p:cNvPr id="14" name="Text Placeholder 11">
            <a:extLst>
              <a:ext uri="{FF2B5EF4-FFF2-40B4-BE49-F238E27FC236}">
                <a16:creationId xmlns:a16="http://schemas.microsoft.com/office/drawing/2014/main" id="{2FC12EC2-424A-46E2-D3F5-10576002FB61}"/>
              </a:ext>
            </a:extLst>
          </p:cNvPr>
          <p:cNvSpPr txBox="1">
            <a:spLocks/>
          </p:cNvSpPr>
          <p:nvPr/>
        </p:nvSpPr>
        <p:spPr>
          <a:xfrm>
            <a:off x="4443008" y="2035187"/>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6" action="ppaction://hlinksldjump"/>
              </a:rPr>
              <a:t>1.3 فوائد تطبيق مبادئ البنية المؤسسية</a:t>
            </a:r>
            <a:endParaRPr lang="ar-EG" sz="1400" dirty="0">
              <a:solidFill>
                <a:schemeClr val="accent2"/>
              </a:solidFill>
            </a:endParaRPr>
          </a:p>
        </p:txBody>
      </p:sp>
      <p:sp>
        <p:nvSpPr>
          <p:cNvPr id="16" name="Text Placeholder 11">
            <a:extLst>
              <a:ext uri="{FF2B5EF4-FFF2-40B4-BE49-F238E27FC236}">
                <a16:creationId xmlns:a16="http://schemas.microsoft.com/office/drawing/2014/main" id="{4FFCD6D7-E135-49F6-A631-9C570B35E6AD}"/>
              </a:ext>
            </a:extLst>
          </p:cNvPr>
          <p:cNvSpPr txBox="1">
            <a:spLocks/>
          </p:cNvSpPr>
          <p:nvPr/>
        </p:nvSpPr>
        <p:spPr>
          <a:xfrm>
            <a:off x="628598" y="1662836"/>
            <a:ext cx="3149093" cy="199285"/>
          </a:xfrm>
          <a:prstGeom prst="rect">
            <a:avLst/>
          </a:prstGeom>
        </p:spPr>
        <p:txBody>
          <a:bodyPr wrap="square"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u="sng" dirty="0">
                <a:solidFill>
                  <a:schemeClr val="accent2"/>
                </a:solidFill>
              </a:rPr>
              <a:t>2.1 مبادئ بنية الأعمال</a:t>
            </a:r>
          </a:p>
        </p:txBody>
      </p:sp>
      <p:sp>
        <p:nvSpPr>
          <p:cNvPr id="17" name="Text Placeholder 11">
            <a:extLst>
              <a:ext uri="{FF2B5EF4-FFF2-40B4-BE49-F238E27FC236}">
                <a16:creationId xmlns:a16="http://schemas.microsoft.com/office/drawing/2014/main" id="{552E9BDF-1C91-41CB-8F8A-9CC6E387EDD9}"/>
              </a:ext>
            </a:extLst>
          </p:cNvPr>
          <p:cNvSpPr txBox="1">
            <a:spLocks/>
          </p:cNvSpPr>
          <p:nvPr/>
        </p:nvSpPr>
        <p:spPr>
          <a:xfrm>
            <a:off x="419102" y="2208252"/>
            <a:ext cx="3339158" cy="199285"/>
          </a:xfrm>
          <a:prstGeom prst="rect">
            <a:avLst/>
          </a:prstGeom>
        </p:spPr>
        <p:txBody>
          <a:bodyPr wrap="square"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u="sng" dirty="0">
                <a:solidFill>
                  <a:schemeClr val="accent2"/>
                </a:solidFill>
              </a:rPr>
              <a:t>2.3 مبادئ بنية التطبيقات</a:t>
            </a:r>
          </a:p>
        </p:txBody>
      </p:sp>
      <p:sp>
        <p:nvSpPr>
          <p:cNvPr id="18" name="Text Placeholder 11">
            <a:extLst>
              <a:ext uri="{FF2B5EF4-FFF2-40B4-BE49-F238E27FC236}">
                <a16:creationId xmlns:a16="http://schemas.microsoft.com/office/drawing/2014/main" id="{A37FC19F-5E58-4BD7-B4C4-A221F17F69F2}"/>
              </a:ext>
            </a:extLst>
          </p:cNvPr>
          <p:cNvSpPr txBox="1">
            <a:spLocks/>
          </p:cNvSpPr>
          <p:nvPr/>
        </p:nvSpPr>
        <p:spPr>
          <a:xfrm>
            <a:off x="602388" y="2479474"/>
            <a:ext cx="3149093" cy="199285"/>
          </a:xfrm>
          <a:prstGeom prst="rect">
            <a:avLst/>
          </a:prstGeom>
        </p:spPr>
        <p:txBody>
          <a:bodyPr wrap="square"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u="sng" dirty="0">
                <a:solidFill>
                  <a:schemeClr val="accent2"/>
                </a:solidFill>
              </a:rPr>
              <a:t>2.4 مبادئ بنية البيانات</a:t>
            </a:r>
          </a:p>
        </p:txBody>
      </p:sp>
      <p:sp>
        <p:nvSpPr>
          <p:cNvPr id="24" name="Text Placeholder 11">
            <a:extLst>
              <a:ext uri="{FF2B5EF4-FFF2-40B4-BE49-F238E27FC236}">
                <a16:creationId xmlns:a16="http://schemas.microsoft.com/office/drawing/2014/main" id="{63820847-ECE9-465E-8D93-942D6A15CE3C}"/>
              </a:ext>
            </a:extLst>
          </p:cNvPr>
          <p:cNvSpPr txBox="1">
            <a:spLocks/>
          </p:cNvSpPr>
          <p:nvPr/>
        </p:nvSpPr>
        <p:spPr>
          <a:xfrm>
            <a:off x="602387" y="2750696"/>
            <a:ext cx="3149093" cy="199285"/>
          </a:xfrm>
          <a:prstGeom prst="rect">
            <a:avLst/>
          </a:prstGeom>
        </p:spPr>
        <p:txBody>
          <a:bodyPr wrap="square"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u="sng" dirty="0">
                <a:solidFill>
                  <a:schemeClr val="accent2"/>
                </a:solidFill>
              </a:rPr>
              <a:t>2.5 مبادئ بنية التقنية</a:t>
            </a:r>
          </a:p>
        </p:txBody>
      </p:sp>
      <p:sp>
        <p:nvSpPr>
          <p:cNvPr id="2" name="Text Placeholder 11">
            <a:extLst>
              <a:ext uri="{FF2B5EF4-FFF2-40B4-BE49-F238E27FC236}">
                <a16:creationId xmlns:a16="http://schemas.microsoft.com/office/drawing/2014/main" id="{7410EA99-596C-6CFC-0D3B-C02CEE8F00A1}"/>
              </a:ext>
            </a:extLst>
          </p:cNvPr>
          <p:cNvSpPr txBox="1">
            <a:spLocks/>
          </p:cNvSpPr>
          <p:nvPr/>
        </p:nvSpPr>
        <p:spPr>
          <a:xfrm>
            <a:off x="628598" y="1935544"/>
            <a:ext cx="3149093" cy="199285"/>
          </a:xfrm>
          <a:prstGeom prst="rect">
            <a:avLst/>
          </a:prstGeom>
        </p:spPr>
        <p:txBody>
          <a:bodyPr wrap="square"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u="sng" dirty="0">
                <a:solidFill>
                  <a:schemeClr val="accent2"/>
                </a:solidFill>
              </a:rPr>
              <a:t>2.2 مبادئ بنية تجربة المستفيد</a:t>
            </a:r>
          </a:p>
        </p:txBody>
      </p:sp>
      <p:sp>
        <p:nvSpPr>
          <p:cNvPr id="3" name="Text Placeholder 11">
            <a:extLst>
              <a:ext uri="{FF2B5EF4-FFF2-40B4-BE49-F238E27FC236}">
                <a16:creationId xmlns:a16="http://schemas.microsoft.com/office/drawing/2014/main" id="{BC6620F2-4D5E-E7FC-1D5C-AF67A51AD736}"/>
              </a:ext>
            </a:extLst>
          </p:cNvPr>
          <p:cNvSpPr txBox="1">
            <a:spLocks/>
          </p:cNvSpPr>
          <p:nvPr/>
        </p:nvSpPr>
        <p:spPr>
          <a:xfrm>
            <a:off x="602386" y="3021918"/>
            <a:ext cx="3149093" cy="199285"/>
          </a:xfrm>
          <a:prstGeom prst="rect">
            <a:avLst/>
          </a:prstGeom>
        </p:spPr>
        <p:txBody>
          <a:bodyPr wrap="square"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u="sng" dirty="0">
                <a:solidFill>
                  <a:schemeClr val="accent2"/>
                </a:solidFill>
              </a:rPr>
              <a:t>2.6 مبادئ بنية الأمن السيبراني </a:t>
            </a:r>
          </a:p>
        </p:txBody>
      </p:sp>
    </p:spTree>
    <p:extLst>
      <p:ext uri="{BB962C8B-B14F-4D97-AF65-F5344CB8AC3E}">
        <p14:creationId xmlns:p14="http://schemas.microsoft.com/office/powerpoint/2010/main" val="10034671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EG" dirty="0"/>
              <a:t>مقدمة </a:t>
            </a:r>
            <a:r>
              <a:rPr lang="ar-SA" dirty="0"/>
              <a:t>حول</a:t>
            </a:r>
            <a:r>
              <a:rPr lang="ar-EG" dirty="0"/>
              <a:t> مبادئ البنية المؤسسية</a:t>
            </a:r>
            <a:endParaRPr lang="en-US" dirty="0"/>
          </a:p>
        </p:txBody>
      </p:sp>
      <p:sp>
        <p:nvSpPr>
          <p:cNvPr id="4" name="Text Placeholder 3"/>
          <p:cNvSpPr>
            <a:spLocks noGrp="1"/>
          </p:cNvSpPr>
          <p:nvPr>
            <p:ph type="body" sz="quarter" idx="14"/>
          </p:nvPr>
        </p:nvSpPr>
        <p:spPr/>
        <p:txBody>
          <a:bodyPr/>
          <a:lstStyle/>
          <a:p>
            <a:r>
              <a:rPr lang="ar-EG" dirty="0"/>
              <a:t>01</a:t>
            </a:r>
            <a:endParaRPr lang="en-US" dirty="0"/>
          </a:p>
        </p:txBody>
      </p:sp>
    </p:spTree>
    <p:extLst>
      <p:ext uri="{BB962C8B-B14F-4D97-AF65-F5344CB8AC3E}">
        <p14:creationId xmlns:p14="http://schemas.microsoft.com/office/powerpoint/2010/main" val="3281878229"/>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7</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تعريف </a:t>
            </a:r>
            <a:r>
              <a:rPr lang="ar-SA" dirty="0"/>
              <a:t>البنية المؤسسية</a:t>
            </a:r>
            <a:endParaRPr lang="en-US" dirty="0"/>
          </a:p>
        </p:txBody>
      </p:sp>
      <p:sp>
        <p:nvSpPr>
          <p:cNvPr id="3" name="Snip Diagonal Corner Rectangle 4">
            <a:extLst>
              <a:ext uri="{FF2B5EF4-FFF2-40B4-BE49-F238E27FC236}">
                <a16:creationId xmlns:a16="http://schemas.microsoft.com/office/drawing/2014/main" id="{EDC006DF-6C86-A400-657E-C7E28783571B}"/>
              </a:ext>
            </a:extLst>
          </p:cNvPr>
          <p:cNvSpPr/>
          <p:nvPr/>
        </p:nvSpPr>
        <p:spPr>
          <a:xfrm>
            <a:off x="2378677" y="1862019"/>
            <a:ext cx="7434648" cy="3117755"/>
          </a:xfrm>
          <a:prstGeom prst="snip2DiagRect">
            <a:avLst>
              <a:gd name="adj1" fmla="val 8219"/>
              <a:gd name="adj2" fmla="val 7991"/>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sp>
        <p:nvSpPr>
          <p:cNvPr id="16" name="Snip Diagonal Corner Rectangle 13">
            <a:extLst>
              <a:ext uri="{FF2B5EF4-FFF2-40B4-BE49-F238E27FC236}">
                <a16:creationId xmlns:a16="http://schemas.microsoft.com/office/drawing/2014/main" id="{80AE987F-69CD-B600-1409-1D9AE5AA3D98}"/>
              </a:ext>
            </a:extLst>
          </p:cNvPr>
          <p:cNvSpPr/>
          <p:nvPr/>
        </p:nvSpPr>
        <p:spPr>
          <a:xfrm>
            <a:off x="2825410" y="1990146"/>
            <a:ext cx="6809356" cy="2861501"/>
          </a:xfrm>
          <a:custGeom>
            <a:avLst/>
            <a:gdLst>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04136 w 5387546"/>
              <a:gd name="connsiteY8"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280513 w 5387546"/>
              <a:gd name="connsiteY8" fmla="*/ 9144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189073 w 5387546"/>
              <a:gd name="connsiteY8" fmla="*/ 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95576 w 5387546"/>
              <a:gd name="connsiteY8" fmla="*/ 9144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0" fmla="*/ 5663 w 5189073"/>
              <a:gd name="connsiteY0" fmla="*/ 0 h 2483708"/>
              <a:gd name="connsiteX1" fmla="*/ 4990600 w 5189073"/>
              <a:gd name="connsiteY1" fmla="*/ 0 h 2483708"/>
              <a:gd name="connsiteX2" fmla="*/ 5189073 w 5189073"/>
              <a:gd name="connsiteY2" fmla="*/ 198473 h 2483708"/>
              <a:gd name="connsiteX3" fmla="*/ 5189073 w 5189073"/>
              <a:gd name="connsiteY3" fmla="*/ 2279572 h 2483708"/>
              <a:gd name="connsiteX4" fmla="*/ 4984937 w 5189073"/>
              <a:gd name="connsiteY4" fmla="*/ 2483708 h 2483708"/>
              <a:gd name="connsiteX5" fmla="*/ 0 w 5189073"/>
              <a:gd name="connsiteY5" fmla="*/ 2483708 h 2483708"/>
              <a:gd name="connsiteX0" fmla="*/ 0 w 5183410"/>
              <a:gd name="connsiteY0" fmla="*/ 0 h 2483708"/>
              <a:gd name="connsiteX1" fmla="*/ 4984937 w 5183410"/>
              <a:gd name="connsiteY1" fmla="*/ 0 h 2483708"/>
              <a:gd name="connsiteX2" fmla="*/ 5183410 w 5183410"/>
              <a:gd name="connsiteY2" fmla="*/ 198473 h 2483708"/>
              <a:gd name="connsiteX3" fmla="*/ 5183410 w 5183410"/>
              <a:gd name="connsiteY3" fmla="*/ 2279572 h 2483708"/>
              <a:gd name="connsiteX4" fmla="*/ 4979274 w 5183410"/>
              <a:gd name="connsiteY4" fmla="*/ 2483708 h 2483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3410" h="2483708">
                <a:moveTo>
                  <a:pt x="0" y="0"/>
                </a:moveTo>
                <a:lnTo>
                  <a:pt x="4984937" y="0"/>
                </a:lnTo>
                <a:lnTo>
                  <a:pt x="5183410" y="198473"/>
                </a:lnTo>
                <a:lnTo>
                  <a:pt x="5183410" y="2279572"/>
                </a:lnTo>
                <a:lnTo>
                  <a:pt x="4979274" y="2483708"/>
                </a:lnTo>
              </a:path>
            </a:pathLst>
          </a:custGeom>
          <a:noFill/>
          <a:ln>
            <a:solidFill>
              <a:schemeClr val="accent2"/>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grpSp>
        <p:nvGrpSpPr>
          <p:cNvPr id="17" name="Group 4">
            <a:extLst>
              <a:ext uri="{FF2B5EF4-FFF2-40B4-BE49-F238E27FC236}">
                <a16:creationId xmlns:a16="http://schemas.microsoft.com/office/drawing/2014/main" id="{F7B7C762-1E67-A9BB-FDA1-4B12FE395E39}"/>
              </a:ext>
            </a:extLst>
          </p:cNvPr>
          <p:cNvGrpSpPr>
            <a:grpSpLocks noChangeAspect="1"/>
          </p:cNvGrpSpPr>
          <p:nvPr/>
        </p:nvGrpSpPr>
        <p:grpSpPr bwMode="auto">
          <a:xfrm flipH="1" flipV="1">
            <a:off x="2949146" y="4724778"/>
            <a:ext cx="634365" cy="485276"/>
            <a:chOff x="-305" y="203"/>
            <a:chExt cx="533" cy="470"/>
          </a:xfrm>
          <a:gradFill>
            <a:gsLst>
              <a:gs pos="34000">
                <a:schemeClr val="accent2"/>
              </a:gs>
              <a:gs pos="80000">
                <a:schemeClr val="accent1"/>
              </a:gs>
            </a:gsLst>
            <a:lin ang="8400000" scaled="0"/>
          </a:gradFill>
        </p:grpSpPr>
        <p:sp>
          <p:nvSpPr>
            <p:cNvPr id="18" name="Freeform 6">
              <a:extLst>
                <a:ext uri="{FF2B5EF4-FFF2-40B4-BE49-F238E27FC236}">
                  <a16:creationId xmlns:a16="http://schemas.microsoft.com/office/drawing/2014/main" id="{BD3494F7-9006-6028-3787-9C644214C2E0}"/>
                </a:ext>
              </a:extLst>
            </p:cNvPr>
            <p:cNvSpPr>
              <a:spLocks/>
            </p:cNvSpPr>
            <p:nvPr/>
          </p:nvSpPr>
          <p:spPr bwMode="auto">
            <a:xfrm>
              <a:off x="-1" y="203"/>
              <a:ext cx="229" cy="470"/>
            </a:xfrm>
            <a:custGeom>
              <a:avLst/>
              <a:gdLst>
                <a:gd name="T0" fmla="*/ 1412 w 1603"/>
                <a:gd name="T1" fmla="*/ 0 h 3290"/>
                <a:gd name="T2" fmla="*/ 1479 w 1603"/>
                <a:gd name="T3" fmla="*/ 13 h 3290"/>
                <a:gd name="T4" fmla="*/ 1536 w 1603"/>
                <a:gd name="T5" fmla="*/ 45 h 3290"/>
                <a:gd name="T6" fmla="*/ 1577 w 1603"/>
                <a:gd name="T7" fmla="*/ 95 h 3290"/>
                <a:gd name="T8" fmla="*/ 1600 w 1603"/>
                <a:gd name="T9" fmla="*/ 157 h 3290"/>
                <a:gd name="T10" fmla="*/ 1603 w 1603"/>
                <a:gd name="T11" fmla="*/ 1105 h 3290"/>
                <a:gd name="T12" fmla="*/ 1599 w 1603"/>
                <a:gd name="T13" fmla="*/ 1362 h 3290"/>
                <a:gd name="T14" fmla="*/ 1584 w 1603"/>
                <a:gd name="T15" fmla="*/ 1597 h 3290"/>
                <a:gd name="T16" fmla="*/ 1560 w 1603"/>
                <a:gd name="T17" fmla="*/ 1809 h 3290"/>
                <a:gd name="T18" fmla="*/ 1528 w 1603"/>
                <a:gd name="T19" fmla="*/ 1998 h 3290"/>
                <a:gd name="T20" fmla="*/ 1485 w 1603"/>
                <a:gd name="T21" fmla="*/ 2164 h 3290"/>
                <a:gd name="T22" fmla="*/ 1413 w 1603"/>
                <a:gd name="T23" fmla="*/ 2353 h 3290"/>
                <a:gd name="T24" fmla="*/ 1317 w 1603"/>
                <a:gd name="T25" fmla="*/ 2531 h 3290"/>
                <a:gd name="T26" fmla="*/ 1195 w 1603"/>
                <a:gd name="T27" fmla="*/ 2700 h 3290"/>
                <a:gd name="T28" fmla="*/ 1047 w 1603"/>
                <a:gd name="T29" fmla="*/ 2859 h 3290"/>
                <a:gd name="T30" fmla="*/ 888 w 1603"/>
                <a:gd name="T31" fmla="*/ 2996 h 3290"/>
                <a:gd name="T32" fmla="*/ 710 w 1603"/>
                <a:gd name="T33" fmla="*/ 3118 h 3290"/>
                <a:gd name="T34" fmla="*/ 512 w 1603"/>
                <a:gd name="T35" fmla="*/ 3227 h 3290"/>
                <a:gd name="T36" fmla="*/ 373 w 1603"/>
                <a:gd name="T37" fmla="*/ 3286 h 3290"/>
                <a:gd name="T38" fmla="*/ 309 w 1603"/>
                <a:gd name="T39" fmla="*/ 3290 h 3290"/>
                <a:gd name="T40" fmla="*/ 246 w 1603"/>
                <a:gd name="T41" fmla="*/ 3272 h 3290"/>
                <a:gd name="T42" fmla="*/ 194 w 1603"/>
                <a:gd name="T43" fmla="*/ 3236 h 3290"/>
                <a:gd name="T44" fmla="*/ 156 w 1603"/>
                <a:gd name="T45" fmla="*/ 3182 h 3290"/>
                <a:gd name="T46" fmla="*/ 7 w 1603"/>
                <a:gd name="T47" fmla="*/ 2862 h 3290"/>
                <a:gd name="T48" fmla="*/ 0 w 1603"/>
                <a:gd name="T49" fmla="*/ 2801 h 3290"/>
                <a:gd name="T50" fmla="*/ 12 w 1603"/>
                <a:gd name="T51" fmla="*/ 2743 h 3290"/>
                <a:gd name="T52" fmla="*/ 40 w 1603"/>
                <a:gd name="T53" fmla="*/ 2691 h 3290"/>
                <a:gd name="T54" fmla="*/ 86 w 1603"/>
                <a:gd name="T55" fmla="*/ 2650 h 3290"/>
                <a:gd name="T56" fmla="*/ 191 w 1603"/>
                <a:gd name="T57" fmla="*/ 2598 h 3290"/>
                <a:gd name="T58" fmla="*/ 331 w 1603"/>
                <a:gd name="T59" fmla="*/ 2518 h 3290"/>
                <a:gd name="T60" fmla="*/ 451 w 1603"/>
                <a:gd name="T61" fmla="*/ 2428 h 3290"/>
                <a:gd name="T62" fmla="*/ 551 w 1603"/>
                <a:gd name="T63" fmla="*/ 2329 h 3290"/>
                <a:gd name="T64" fmla="*/ 632 w 1603"/>
                <a:gd name="T65" fmla="*/ 2219 h 3290"/>
                <a:gd name="T66" fmla="*/ 696 w 1603"/>
                <a:gd name="T67" fmla="*/ 2095 h 3290"/>
                <a:gd name="T68" fmla="*/ 746 w 1603"/>
                <a:gd name="T69" fmla="*/ 1956 h 3290"/>
                <a:gd name="T70" fmla="*/ 781 w 1603"/>
                <a:gd name="T71" fmla="*/ 1803 h 3290"/>
                <a:gd name="T72" fmla="*/ 800 w 1603"/>
                <a:gd name="T73" fmla="*/ 1634 h 3290"/>
                <a:gd name="T74" fmla="*/ 248 w 1603"/>
                <a:gd name="T75" fmla="*/ 1545 h 3290"/>
                <a:gd name="T76" fmla="*/ 181 w 1603"/>
                <a:gd name="T77" fmla="*/ 1533 h 3290"/>
                <a:gd name="T78" fmla="*/ 124 w 1603"/>
                <a:gd name="T79" fmla="*/ 1500 h 3290"/>
                <a:gd name="T80" fmla="*/ 82 w 1603"/>
                <a:gd name="T81" fmla="*/ 1450 h 3290"/>
                <a:gd name="T82" fmla="*/ 60 w 1603"/>
                <a:gd name="T83" fmla="*/ 1388 h 3290"/>
                <a:gd name="T84" fmla="*/ 56 w 1603"/>
                <a:gd name="T85" fmla="*/ 191 h 3290"/>
                <a:gd name="T86" fmla="*/ 69 w 1603"/>
                <a:gd name="T87" fmla="*/ 125 h 3290"/>
                <a:gd name="T88" fmla="*/ 101 w 1603"/>
                <a:gd name="T89" fmla="*/ 68 h 3290"/>
                <a:gd name="T90" fmla="*/ 151 w 1603"/>
                <a:gd name="T91" fmla="*/ 26 h 3290"/>
                <a:gd name="T92" fmla="*/ 214 w 1603"/>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3" h="3290">
                  <a:moveTo>
                    <a:pt x="248" y="0"/>
                  </a:moveTo>
                  <a:lnTo>
                    <a:pt x="1412" y="0"/>
                  </a:lnTo>
                  <a:lnTo>
                    <a:pt x="1446" y="4"/>
                  </a:lnTo>
                  <a:lnTo>
                    <a:pt x="1479" y="13"/>
                  </a:lnTo>
                  <a:lnTo>
                    <a:pt x="1508" y="26"/>
                  </a:lnTo>
                  <a:lnTo>
                    <a:pt x="1536" y="45"/>
                  </a:lnTo>
                  <a:lnTo>
                    <a:pt x="1558" y="68"/>
                  </a:lnTo>
                  <a:lnTo>
                    <a:pt x="1577" y="95"/>
                  </a:lnTo>
                  <a:lnTo>
                    <a:pt x="1591" y="125"/>
                  </a:lnTo>
                  <a:lnTo>
                    <a:pt x="1600" y="157"/>
                  </a:lnTo>
                  <a:lnTo>
                    <a:pt x="1603" y="191"/>
                  </a:lnTo>
                  <a:lnTo>
                    <a:pt x="1603" y="1105"/>
                  </a:lnTo>
                  <a:lnTo>
                    <a:pt x="1602" y="1236"/>
                  </a:lnTo>
                  <a:lnTo>
                    <a:pt x="1599" y="1362"/>
                  </a:lnTo>
                  <a:lnTo>
                    <a:pt x="1592" y="1483"/>
                  </a:lnTo>
                  <a:lnTo>
                    <a:pt x="1584" y="1597"/>
                  </a:lnTo>
                  <a:lnTo>
                    <a:pt x="1574" y="1706"/>
                  </a:lnTo>
                  <a:lnTo>
                    <a:pt x="1560" y="1809"/>
                  </a:lnTo>
                  <a:lnTo>
                    <a:pt x="1546" y="1906"/>
                  </a:lnTo>
                  <a:lnTo>
                    <a:pt x="1528" y="1998"/>
                  </a:lnTo>
                  <a:lnTo>
                    <a:pt x="1507" y="2084"/>
                  </a:lnTo>
                  <a:lnTo>
                    <a:pt x="1485" y="2164"/>
                  </a:lnTo>
                  <a:lnTo>
                    <a:pt x="1453" y="2259"/>
                  </a:lnTo>
                  <a:lnTo>
                    <a:pt x="1413" y="2353"/>
                  </a:lnTo>
                  <a:lnTo>
                    <a:pt x="1368" y="2443"/>
                  </a:lnTo>
                  <a:lnTo>
                    <a:pt x="1317" y="2531"/>
                  </a:lnTo>
                  <a:lnTo>
                    <a:pt x="1259" y="2617"/>
                  </a:lnTo>
                  <a:lnTo>
                    <a:pt x="1195" y="2700"/>
                  </a:lnTo>
                  <a:lnTo>
                    <a:pt x="1124" y="2781"/>
                  </a:lnTo>
                  <a:lnTo>
                    <a:pt x="1047" y="2859"/>
                  </a:lnTo>
                  <a:lnTo>
                    <a:pt x="970" y="2930"/>
                  </a:lnTo>
                  <a:lnTo>
                    <a:pt x="888" y="2996"/>
                  </a:lnTo>
                  <a:lnTo>
                    <a:pt x="801" y="3058"/>
                  </a:lnTo>
                  <a:lnTo>
                    <a:pt x="710" y="3118"/>
                  </a:lnTo>
                  <a:lnTo>
                    <a:pt x="612" y="3174"/>
                  </a:lnTo>
                  <a:lnTo>
                    <a:pt x="512" y="3227"/>
                  </a:lnTo>
                  <a:lnTo>
                    <a:pt x="405" y="3276"/>
                  </a:lnTo>
                  <a:lnTo>
                    <a:pt x="373" y="3286"/>
                  </a:lnTo>
                  <a:lnTo>
                    <a:pt x="340" y="3290"/>
                  </a:lnTo>
                  <a:lnTo>
                    <a:pt x="309" y="3290"/>
                  </a:lnTo>
                  <a:lnTo>
                    <a:pt x="277" y="3284"/>
                  </a:lnTo>
                  <a:lnTo>
                    <a:pt x="246" y="3272"/>
                  </a:lnTo>
                  <a:lnTo>
                    <a:pt x="219" y="3256"/>
                  </a:lnTo>
                  <a:lnTo>
                    <a:pt x="194" y="3236"/>
                  </a:lnTo>
                  <a:lnTo>
                    <a:pt x="173" y="3211"/>
                  </a:lnTo>
                  <a:lnTo>
                    <a:pt x="156" y="3182"/>
                  </a:lnTo>
                  <a:lnTo>
                    <a:pt x="18" y="2891"/>
                  </a:lnTo>
                  <a:lnTo>
                    <a:pt x="7" y="2862"/>
                  </a:lnTo>
                  <a:lnTo>
                    <a:pt x="1" y="2831"/>
                  </a:lnTo>
                  <a:lnTo>
                    <a:pt x="0" y="2801"/>
                  </a:lnTo>
                  <a:lnTo>
                    <a:pt x="3" y="2771"/>
                  </a:lnTo>
                  <a:lnTo>
                    <a:pt x="12" y="2743"/>
                  </a:lnTo>
                  <a:lnTo>
                    <a:pt x="24" y="2716"/>
                  </a:lnTo>
                  <a:lnTo>
                    <a:pt x="40" y="2691"/>
                  </a:lnTo>
                  <a:lnTo>
                    <a:pt x="61" y="2668"/>
                  </a:lnTo>
                  <a:lnTo>
                    <a:pt x="86" y="2650"/>
                  </a:lnTo>
                  <a:lnTo>
                    <a:pt x="113" y="2634"/>
                  </a:lnTo>
                  <a:lnTo>
                    <a:pt x="191" y="2598"/>
                  </a:lnTo>
                  <a:lnTo>
                    <a:pt x="263" y="2560"/>
                  </a:lnTo>
                  <a:lnTo>
                    <a:pt x="331" y="2518"/>
                  </a:lnTo>
                  <a:lnTo>
                    <a:pt x="394" y="2474"/>
                  </a:lnTo>
                  <a:lnTo>
                    <a:pt x="451" y="2428"/>
                  </a:lnTo>
                  <a:lnTo>
                    <a:pt x="504" y="2380"/>
                  </a:lnTo>
                  <a:lnTo>
                    <a:pt x="551" y="2329"/>
                  </a:lnTo>
                  <a:lnTo>
                    <a:pt x="593" y="2276"/>
                  </a:lnTo>
                  <a:lnTo>
                    <a:pt x="632" y="2219"/>
                  </a:lnTo>
                  <a:lnTo>
                    <a:pt x="666" y="2159"/>
                  </a:lnTo>
                  <a:lnTo>
                    <a:pt x="696" y="2095"/>
                  </a:lnTo>
                  <a:lnTo>
                    <a:pt x="723" y="2027"/>
                  </a:lnTo>
                  <a:lnTo>
                    <a:pt x="746" y="1956"/>
                  </a:lnTo>
                  <a:lnTo>
                    <a:pt x="765" y="1881"/>
                  </a:lnTo>
                  <a:lnTo>
                    <a:pt x="781" y="1803"/>
                  </a:lnTo>
                  <a:lnTo>
                    <a:pt x="794" y="1720"/>
                  </a:lnTo>
                  <a:lnTo>
                    <a:pt x="800" y="1634"/>
                  </a:lnTo>
                  <a:lnTo>
                    <a:pt x="805" y="1545"/>
                  </a:lnTo>
                  <a:lnTo>
                    <a:pt x="248" y="1545"/>
                  </a:lnTo>
                  <a:lnTo>
                    <a:pt x="214" y="1542"/>
                  </a:lnTo>
                  <a:lnTo>
                    <a:pt x="181" y="1533"/>
                  </a:lnTo>
                  <a:lnTo>
                    <a:pt x="151" y="1519"/>
                  </a:lnTo>
                  <a:lnTo>
                    <a:pt x="124" y="1500"/>
                  </a:lnTo>
                  <a:lnTo>
                    <a:pt x="101" y="1477"/>
                  </a:lnTo>
                  <a:lnTo>
                    <a:pt x="82" y="1450"/>
                  </a:lnTo>
                  <a:lnTo>
                    <a:pt x="69" y="1421"/>
                  </a:lnTo>
                  <a:lnTo>
                    <a:pt x="60" y="1388"/>
                  </a:lnTo>
                  <a:lnTo>
                    <a:pt x="56" y="1354"/>
                  </a:lnTo>
                  <a:lnTo>
                    <a:pt x="56" y="191"/>
                  </a:lnTo>
                  <a:lnTo>
                    <a:pt x="60" y="157"/>
                  </a:lnTo>
                  <a:lnTo>
                    <a:pt x="69" y="125"/>
                  </a:lnTo>
                  <a:lnTo>
                    <a:pt x="82" y="95"/>
                  </a:lnTo>
                  <a:lnTo>
                    <a:pt x="101" y="68"/>
                  </a:lnTo>
                  <a:lnTo>
                    <a:pt x="124" y="45"/>
                  </a:lnTo>
                  <a:lnTo>
                    <a:pt x="151"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ajawal" panose="00000500000000000000" pitchFamily="2" charset="-78"/>
              </a:endParaRPr>
            </a:p>
          </p:txBody>
        </p:sp>
        <p:sp>
          <p:nvSpPr>
            <p:cNvPr id="19" name="Freeform 7">
              <a:extLst>
                <a:ext uri="{FF2B5EF4-FFF2-40B4-BE49-F238E27FC236}">
                  <a16:creationId xmlns:a16="http://schemas.microsoft.com/office/drawing/2014/main" id="{2CB1DCBB-B6CD-C821-C403-443AAA8252B7}"/>
                </a:ext>
              </a:extLst>
            </p:cNvPr>
            <p:cNvSpPr>
              <a:spLocks/>
            </p:cNvSpPr>
            <p:nvPr/>
          </p:nvSpPr>
          <p:spPr bwMode="auto">
            <a:xfrm>
              <a:off x="-305" y="203"/>
              <a:ext cx="229" cy="470"/>
            </a:xfrm>
            <a:custGeom>
              <a:avLst/>
              <a:gdLst>
                <a:gd name="T0" fmla="*/ 1413 w 1604"/>
                <a:gd name="T1" fmla="*/ 0 h 3290"/>
                <a:gd name="T2" fmla="*/ 1479 w 1604"/>
                <a:gd name="T3" fmla="*/ 13 h 3290"/>
                <a:gd name="T4" fmla="*/ 1536 w 1604"/>
                <a:gd name="T5" fmla="*/ 45 h 3290"/>
                <a:gd name="T6" fmla="*/ 1578 w 1604"/>
                <a:gd name="T7" fmla="*/ 95 h 3290"/>
                <a:gd name="T8" fmla="*/ 1601 w 1604"/>
                <a:gd name="T9" fmla="*/ 157 h 3290"/>
                <a:gd name="T10" fmla="*/ 1604 w 1604"/>
                <a:gd name="T11" fmla="*/ 1105 h 3290"/>
                <a:gd name="T12" fmla="*/ 1599 w 1604"/>
                <a:gd name="T13" fmla="*/ 1364 h 3290"/>
                <a:gd name="T14" fmla="*/ 1585 w 1604"/>
                <a:gd name="T15" fmla="*/ 1599 h 3290"/>
                <a:gd name="T16" fmla="*/ 1561 w 1604"/>
                <a:gd name="T17" fmla="*/ 1812 h 3290"/>
                <a:gd name="T18" fmla="*/ 1528 w 1604"/>
                <a:gd name="T19" fmla="*/ 2001 h 3290"/>
                <a:gd name="T20" fmla="*/ 1485 w 1604"/>
                <a:gd name="T21" fmla="*/ 2166 h 3290"/>
                <a:gd name="T22" fmla="*/ 1414 w 1604"/>
                <a:gd name="T23" fmla="*/ 2354 h 3290"/>
                <a:gd name="T24" fmla="*/ 1316 w 1604"/>
                <a:gd name="T25" fmla="*/ 2531 h 3290"/>
                <a:gd name="T26" fmla="*/ 1194 w 1604"/>
                <a:gd name="T27" fmla="*/ 2700 h 3290"/>
                <a:gd name="T28" fmla="*/ 1046 w 1604"/>
                <a:gd name="T29" fmla="*/ 2859 h 3290"/>
                <a:gd name="T30" fmla="*/ 886 w 1604"/>
                <a:gd name="T31" fmla="*/ 2996 h 3290"/>
                <a:gd name="T32" fmla="*/ 707 w 1604"/>
                <a:gd name="T33" fmla="*/ 3118 h 3290"/>
                <a:gd name="T34" fmla="*/ 511 w 1604"/>
                <a:gd name="T35" fmla="*/ 3226 h 3290"/>
                <a:gd name="T36" fmla="*/ 374 w 1604"/>
                <a:gd name="T37" fmla="*/ 3285 h 3290"/>
                <a:gd name="T38" fmla="*/ 309 w 1604"/>
                <a:gd name="T39" fmla="*/ 3289 h 3290"/>
                <a:gd name="T40" fmla="*/ 247 w 1604"/>
                <a:gd name="T41" fmla="*/ 3272 h 3290"/>
                <a:gd name="T42" fmla="*/ 195 w 1604"/>
                <a:gd name="T43" fmla="*/ 3235 h 3290"/>
                <a:gd name="T44" fmla="*/ 156 w 1604"/>
                <a:gd name="T45" fmla="*/ 3181 h 3290"/>
                <a:gd name="T46" fmla="*/ 7 w 1604"/>
                <a:gd name="T47" fmla="*/ 2862 h 3290"/>
                <a:gd name="T48" fmla="*/ 0 w 1604"/>
                <a:gd name="T49" fmla="*/ 2801 h 3290"/>
                <a:gd name="T50" fmla="*/ 11 w 1604"/>
                <a:gd name="T51" fmla="*/ 2743 h 3290"/>
                <a:gd name="T52" fmla="*/ 41 w 1604"/>
                <a:gd name="T53" fmla="*/ 2691 h 3290"/>
                <a:gd name="T54" fmla="*/ 86 w 1604"/>
                <a:gd name="T55" fmla="*/ 2650 h 3290"/>
                <a:gd name="T56" fmla="*/ 191 w 1604"/>
                <a:gd name="T57" fmla="*/ 2598 h 3290"/>
                <a:gd name="T58" fmla="*/ 332 w 1604"/>
                <a:gd name="T59" fmla="*/ 2518 h 3290"/>
                <a:gd name="T60" fmla="*/ 452 w 1604"/>
                <a:gd name="T61" fmla="*/ 2428 h 3290"/>
                <a:gd name="T62" fmla="*/ 551 w 1604"/>
                <a:gd name="T63" fmla="*/ 2329 h 3290"/>
                <a:gd name="T64" fmla="*/ 632 w 1604"/>
                <a:gd name="T65" fmla="*/ 2219 h 3290"/>
                <a:gd name="T66" fmla="*/ 697 w 1604"/>
                <a:gd name="T67" fmla="*/ 2095 h 3290"/>
                <a:gd name="T68" fmla="*/ 746 w 1604"/>
                <a:gd name="T69" fmla="*/ 1956 h 3290"/>
                <a:gd name="T70" fmla="*/ 782 w 1604"/>
                <a:gd name="T71" fmla="*/ 1803 h 3290"/>
                <a:gd name="T72" fmla="*/ 801 w 1604"/>
                <a:gd name="T73" fmla="*/ 1634 h 3290"/>
                <a:gd name="T74" fmla="*/ 248 w 1604"/>
                <a:gd name="T75" fmla="*/ 1545 h 3290"/>
                <a:gd name="T76" fmla="*/ 181 w 1604"/>
                <a:gd name="T77" fmla="*/ 1533 h 3290"/>
                <a:gd name="T78" fmla="*/ 125 w 1604"/>
                <a:gd name="T79" fmla="*/ 1500 h 3290"/>
                <a:gd name="T80" fmla="*/ 83 w 1604"/>
                <a:gd name="T81" fmla="*/ 1450 h 3290"/>
                <a:gd name="T82" fmla="*/ 60 w 1604"/>
                <a:gd name="T83" fmla="*/ 1388 h 3290"/>
                <a:gd name="T84" fmla="*/ 57 w 1604"/>
                <a:gd name="T85" fmla="*/ 191 h 3290"/>
                <a:gd name="T86" fmla="*/ 69 w 1604"/>
                <a:gd name="T87" fmla="*/ 125 h 3290"/>
                <a:gd name="T88" fmla="*/ 102 w 1604"/>
                <a:gd name="T89" fmla="*/ 68 h 3290"/>
                <a:gd name="T90" fmla="*/ 152 w 1604"/>
                <a:gd name="T91" fmla="*/ 26 h 3290"/>
                <a:gd name="T92" fmla="*/ 214 w 1604"/>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4" h="3290">
                  <a:moveTo>
                    <a:pt x="248" y="0"/>
                  </a:moveTo>
                  <a:lnTo>
                    <a:pt x="1413" y="0"/>
                  </a:lnTo>
                  <a:lnTo>
                    <a:pt x="1446" y="4"/>
                  </a:lnTo>
                  <a:lnTo>
                    <a:pt x="1479" y="13"/>
                  </a:lnTo>
                  <a:lnTo>
                    <a:pt x="1509" y="26"/>
                  </a:lnTo>
                  <a:lnTo>
                    <a:pt x="1536" y="45"/>
                  </a:lnTo>
                  <a:lnTo>
                    <a:pt x="1559" y="68"/>
                  </a:lnTo>
                  <a:lnTo>
                    <a:pt x="1578" y="95"/>
                  </a:lnTo>
                  <a:lnTo>
                    <a:pt x="1591" y="125"/>
                  </a:lnTo>
                  <a:lnTo>
                    <a:pt x="1601" y="157"/>
                  </a:lnTo>
                  <a:lnTo>
                    <a:pt x="1604" y="191"/>
                  </a:lnTo>
                  <a:lnTo>
                    <a:pt x="1604" y="1105"/>
                  </a:lnTo>
                  <a:lnTo>
                    <a:pt x="1603" y="1237"/>
                  </a:lnTo>
                  <a:lnTo>
                    <a:pt x="1599" y="1364"/>
                  </a:lnTo>
                  <a:lnTo>
                    <a:pt x="1593" y="1485"/>
                  </a:lnTo>
                  <a:lnTo>
                    <a:pt x="1585" y="1599"/>
                  </a:lnTo>
                  <a:lnTo>
                    <a:pt x="1574" y="1709"/>
                  </a:lnTo>
                  <a:lnTo>
                    <a:pt x="1561" y="1812"/>
                  </a:lnTo>
                  <a:lnTo>
                    <a:pt x="1546" y="1909"/>
                  </a:lnTo>
                  <a:lnTo>
                    <a:pt x="1528" y="2001"/>
                  </a:lnTo>
                  <a:lnTo>
                    <a:pt x="1508" y="2087"/>
                  </a:lnTo>
                  <a:lnTo>
                    <a:pt x="1485" y="2166"/>
                  </a:lnTo>
                  <a:lnTo>
                    <a:pt x="1452" y="2261"/>
                  </a:lnTo>
                  <a:lnTo>
                    <a:pt x="1414" y="2354"/>
                  </a:lnTo>
                  <a:lnTo>
                    <a:pt x="1368" y="2444"/>
                  </a:lnTo>
                  <a:lnTo>
                    <a:pt x="1316" y="2531"/>
                  </a:lnTo>
                  <a:lnTo>
                    <a:pt x="1258" y="2617"/>
                  </a:lnTo>
                  <a:lnTo>
                    <a:pt x="1194" y="2700"/>
                  </a:lnTo>
                  <a:lnTo>
                    <a:pt x="1123" y="2781"/>
                  </a:lnTo>
                  <a:lnTo>
                    <a:pt x="1046" y="2859"/>
                  </a:lnTo>
                  <a:lnTo>
                    <a:pt x="967" y="2930"/>
                  </a:lnTo>
                  <a:lnTo>
                    <a:pt x="886" y="2996"/>
                  </a:lnTo>
                  <a:lnTo>
                    <a:pt x="799" y="3058"/>
                  </a:lnTo>
                  <a:lnTo>
                    <a:pt x="707" y="3118"/>
                  </a:lnTo>
                  <a:lnTo>
                    <a:pt x="612" y="3174"/>
                  </a:lnTo>
                  <a:lnTo>
                    <a:pt x="511" y="3226"/>
                  </a:lnTo>
                  <a:lnTo>
                    <a:pt x="406" y="3275"/>
                  </a:lnTo>
                  <a:lnTo>
                    <a:pt x="374" y="3285"/>
                  </a:lnTo>
                  <a:lnTo>
                    <a:pt x="341" y="3290"/>
                  </a:lnTo>
                  <a:lnTo>
                    <a:pt x="309" y="3289"/>
                  </a:lnTo>
                  <a:lnTo>
                    <a:pt x="278" y="3284"/>
                  </a:lnTo>
                  <a:lnTo>
                    <a:pt x="247" y="3272"/>
                  </a:lnTo>
                  <a:lnTo>
                    <a:pt x="220" y="3256"/>
                  </a:lnTo>
                  <a:lnTo>
                    <a:pt x="195" y="3235"/>
                  </a:lnTo>
                  <a:lnTo>
                    <a:pt x="173" y="3210"/>
                  </a:lnTo>
                  <a:lnTo>
                    <a:pt x="156" y="3181"/>
                  </a:lnTo>
                  <a:lnTo>
                    <a:pt x="18" y="2891"/>
                  </a:lnTo>
                  <a:lnTo>
                    <a:pt x="7" y="2862"/>
                  </a:lnTo>
                  <a:lnTo>
                    <a:pt x="1" y="2831"/>
                  </a:lnTo>
                  <a:lnTo>
                    <a:pt x="0" y="2801"/>
                  </a:lnTo>
                  <a:lnTo>
                    <a:pt x="3" y="2771"/>
                  </a:lnTo>
                  <a:lnTo>
                    <a:pt x="11" y="2743"/>
                  </a:lnTo>
                  <a:lnTo>
                    <a:pt x="24" y="2716"/>
                  </a:lnTo>
                  <a:lnTo>
                    <a:pt x="41" y="2691"/>
                  </a:lnTo>
                  <a:lnTo>
                    <a:pt x="61" y="2668"/>
                  </a:lnTo>
                  <a:lnTo>
                    <a:pt x="86" y="2650"/>
                  </a:lnTo>
                  <a:lnTo>
                    <a:pt x="113" y="2634"/>
                  </a:lnTo>
                  <a:lnTo>
                    <a:pt x="191" y="2598"/>
                  </a:lnTo>
                  <a:lnTo>
                    <a:pt x="264" y="2560"/>
                  </a:lnTo>
                  <a:lnTo>
                    <a:pt x="332" y="2518"/>
                  </a:lnTo>
                  <a:lnTo>
                    <a:pt x="394" y="2474"/>
                  </a:lnTo>
                  <a:lnTo>
                    <a:pt x="452" y="2428"/>
                  </a:lnTo>
                  <a:lnTo>
                    <a:pt x="504" y="2380"/>
                  </a:lnTo>
                  <a:lnTo>
                    <a:pt x="551" y="2329"/>
                  </a:lnTo>
                  <a:lnTo>
                    <a:pt x="594" y="2276"/>
                  </a:lnTo>
                  <a:lnTo>
                    <a:pt x="632" y="2219"/>
                  </a:lnTo>
                  <a:lnTo>
                    <a:pt x="666" y="2159"/>
                  </a:lnTo>
                  <a:lnTo>
                    <a:pt x="697" y="2095"/>
                  </a:lnTo>
                  <a:lnTo>
                    <a:pt x="724" y="2027"/>
                  </a:lnTo>
                  <a:lnTo>
                    <a:pt x="746" y="1956"/>
                  </a:lnTo>
                  <a:lnTo>
                    <a:pt x="766" y="1881"/>
                  </a:lnTo>
                  <a:lnTo>
                    <a:pt x="782" y="1803"/>
                  </a:lnTo>
                  <a:lnTo>
                    <a:pt x="793" y="1720"/>
                  </a:lnTo>
                  <a:lnTo>
                    <a:pt x="801" y="1634"/>
                  </a:lnTo>
                  <a:lnTo>
                    <a:pt x="805" y="1545"/>
                  </a:lnTo>
                  <a:lnTo>
                    <a:pt x="248" y="1545"/>
                  </a:lnTo>
                  <a:lnTo>
                    <a:pt x="214" y="1542"/>
                  </a:lnTo>
                  <a:lnTo>
                    <a:pt x="181" y="1533"/>
                  </a:lnTo>
                  <a:lnTo>
                    <a:pt x="152" y="1519"/>
                  </a:lnTo>
                  <a:lnTo>
                    <a:pt x="125" y="1500"/>
                  </a:lnTo>
                  <a:lnTo>
                    <a:pt x="102" y="1477"/>
                  </a:lnTo>
                  <a:lnTo>
                    <a:pt x="83" y="1450"/>
                  </a:lnTo>
                  <a:lnTo>
                    <a:pt x="69" y="1421"/>
                  </a:lnTo>
                  <a:lnTo>
                    <a:pt x="60" y="1388"/>
                  </a:lnTo>
                  <a:lnTo>
                    <a:pt x="57" y="1354"/>
                  </a:lnTo>
                  <a:lnTo>
                    <a:pt x="57" y="191"/>
                  </a:lnTo>
                  <a:lnTo>
                    <a:pt x="60" y="157"/>
                  </a:lnTo>
                  <a:lnTo>
                    <a:pt x="69" y="125"/>
                  </a:lnTo>
                  <a:lnTo>
                    <a:pt x="83" y="95"/>
                  </a:lnTo>
                  <a:lnTo>
                    <a:pt x="102" y="68"/>
                  </a:lnTo>
                  <a:lnTo>
                    <a:pt x="125" y="45"/>
                  </a:lnTo>
                  <a:lnTo>
                    <a:pt x="152"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ajawal" panose="00000500000000000000" pitchFamily="2" charset="-78"/>
              </a:endParaRPr>
            </a:p>
          </p:txBody>
        </p:sp>
      </p:grpSp>
      <p:sp>
        <p:nvSpPr>
          <p:cNvPr id="21" name="Snip Diagonal Corner Rectangle 29">
            <a:extLst>
              <a:ext uri="{FF2B5EF4-FFF2-40B4-BE49-F238E27FC236}">
                <a16:creationId xmlns:a16="http://schemas.microsoft.com/office/drawing/2014/main" id="{7538C7A3-9C89-8F71-F1BC-7A407B1496BB}"/>
              </a:ext>
            </a:extLst>
          </p:cNvPr>
          <p:cNvSpPr/>
          <p:nvPr/>
        </p:nvSpPr>
        <p:spPr>
          <a:xfrm>
            <a:off x="2378677" y="1862019"/>
            <a:ext cx="256248" cy="256248"/>
          </a:xfrm>
          <a:custGeom>
            <a:avLst/>
            <a:gdLst>
              <a:gd name="connsiteX0" fmla="*/ 256248 w 7434648"/>
              <a:gd name="connsiteY0" fmla="*/ 0 h 3117755"/>
              <a:gd name="connsiteX1" fmla="*/ 7185508 w 7434648"/>
              <a:gd name="connsiteY1" fmla="*/ 0 h 3117755"/>
              <a:gd name="connsiteX2" fmla="*/ 7434648 w 7434648"/>
              <a:gd name="connsiteY2" fmla="*/ 249140 h 3117755"/>
              <a:gd name="connsiteX3" fmla="*/ 7434648 w 7434648"/>
              <a:gd name="connsiteY3" fmla="*/ 2861507 h 3117755"/>
              <a:gd name="connsiteX4" fmla="*/ 7178400 w 7434648"/>
              <a:gd name="connsiteY4" fmla="*/ 3117755 h 3117755"/>
              <a:gd name="connsiteX5" fmla="*/ 249140 w 7434648"/>
              <a:gd name="connsiteY5" fmla="*/ 3117755 h 3117755"/>
              <a:gd name="connsiteX6" fmla="*/ 0 w 7434648"/>
              <a:gd name="connsiteY6" fmla="*/ 2868615 h 3117755"/>
              <a:gd name="connsiteX7" fmla="*/ 0 w 7434648"/>
              <a:gd name="connsiteY7" fmla="*/ 256248 h 3117755"/>
              <a:gd name="connsiteX8" fmla="*/ 256248 w 7434648"/>
              <a:gd name="connsiteY8" fmla="*/ 0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8" fmla="*/ 91440 w 7434648"/>
              <a:gd name="connsiteY8" fmla="*/ 2960055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6" fmla="*/ 249140 w 7434648"/>
              <a:gd name="connsiteY6"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0" fmla="*/ 0 w 7434648"/>
              <a:gd name="connsiteY0" fmla="*/ 256248 h 3167183"/>
              <a:gd name="connsiteX1" fmla="*/ 256248 w 7434648"/>
              <a:gd name="connsiteY1" fmla="*/ 0 h 3167183"/>
              <a:gd name="connsiteX2" fmla="*/ 7185508 w 7434648"/>
              <a:gd name="connsiteY2" fmla="*/ 0 h 3167183"/>
              <a:gd name="connsiteX3" fmla="*/ 7434648 w 7434648"/>
              <a:gd name="connsiteY3" fmla="*/ 249140 h 3167183"/>
              <a:gd name="connsiteX4" fmla="*/ 7434648 w 7434648"/>
              <a:gd name="connsiteY4" fmla="*/ 2861507 h 3167183"/>
              <a:gd name="connsiteX5" fmla="*/ 7166043 w 7434648"/>
              <a:gd name="connsiteY5" fmla="*/ 3167183 h 3167183"/>
              <a:gd name="connsiteX0" fmla="*/ 0 w 7434648"/>
              <a:gd name="connsiteY0" fmla="*/ 256248 h 2861507"/>
              <a:gd name="connsiteX1" fmla="*/ 256248 w 7434648"/>
              <a:gd name="connsiteY1" fmla="*/ 0 h 2861507"/>
              <a:gd name="connsiteX2" fmla="*/ 7185508 w 7434648"/>
              <a:gd name="connsiteY2" fmla="*/ 0 h 2861507"/>
              <a:gd name="connsiteX3" fmla="*/ 7434648 w 7434648"/>
              <a:gd name="connsiteY3" fmla="*/ 249140 h 2861507"/>
              <a:gd name="connsiteX4" fmla="*/ 7434648 w 7434648"/>
              <a:gd name="connsiteY4" fmla="*/ 2861507 h 2861507"/>
              <a:gd name="connsiteX0" fmla="*/ 0 w 7434648"/>
              <a:gd name="connsiteY0" fmla="*/ 256248 h 256248"/>
              <a:gd name="connsiteX1" fmla="*/ 256248 w 7434648"/>
              <a:gd name="connsiteY1" fmla="*/ 0 h 256248"/>
              <a:gd name="connsiteX2" fmla="*/ 7185508 w 7434648"/>
              <a:gd name="connsiteY2" fmla="*/ 0 h 256248"/>
              <a:gd name="connsiteX3" fmla="*/ 7434648 w 7434648"/>
              <a:gd name="connsiteY3" fmla="*/ 249140 h 256248"/>
              <a:gd name="connsiteX0" fmla="*/ 0 w 7185508"/>
              <a:gd name="connsiteY0" fmla="*/ 256248 h 256248"/>
              <a:gd name="connsiteX1" fmla="*/ 256248 w 7185508"/>
              <a:gd name="connsiteY1" fmla="*/ 0 h 256248"/>
              <a:gd name="connsiteX2" fmla="*/ 7185508 w 7185508"/>
              <a:gd name="connsiteY2" fmla="*/ 0 h 256248"/>
              <a:gd name="connsiteX0" fmla="*/ 0 w 256248"/>
              <a:gd name="connsiteY0" fmla="*/ 256248 h 256248"/>
              <a:gd name="connsiteX1" fmla="*/ 256248 w 256248"/>
              <a:gd name="connsiteY1" fmla="*/ 0 h 256248"/>
            </a:gdLst>
            <a:ahLst/>
            <a:cxnLst>
              <a:cxn ang="0">
                <a:pos x="connsiteX0" y="connsiteY0"/>
              </a:cxn>
              <a:cxn ang="0">
                <a:pos x="connsiteX1" y="connsiteY1"/>
              </a:cxn>
            </a:cxnLst>
            <a:rect l="l" t="t" r="r" b="b"/>
            <a:pathLst>
              <a:path w="256248" h="256248">
                <a:moveTo>
                  <a:pt x="0" y="256248"/>
                </a:moveTo>
                <a:lnTo>
                  <a:pt x="256248" y="0"/>
                </a:lnTo>
              </a:path>
            </a:pathLst>
          </a:custGeom>
          <a:noFill/>
          <a:ln w="28575">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sp>
        <p:nvSpPr>
          <p:cNvPr id="22" name="Snip Diagonal Corner Rectangle 13">
            <a:extLst>
              <a:ext uri="{FF2B5EF4-FFF2-40B4-BE49-F238E27FC236}">
                <a16:creationId xmlns:a16="http://schemas.microsoft.com/office/drawing/2014/main" id="{CCA6C9D6-09DA-BEA6-0499-8A8CE4123CD6}"/>
              </a:ext>
            </a:extLst>
          </p:cNvPr>
          <p:cNvSpPr/>
          <p:nvPr/>
        </p:nvSpPr>
        <p:spPr>
          <a:xfrm>
            <a:off x="9374035" y="1990146"/>
            <a:ext cx="260731" cy="228662"/>
          </a:xfrm>
          <a:custGeom>
            <a:avLst/>
            <a:gdLst>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04136 w 5387546"/>
              <a:gd name="connsiteY8"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280513 w 5387546"/>
              <a:gd name="connsiteY8" fmla="*/ 9144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189073 w 5387546"/>
              <a:gd name="connsiteY8" fmla="*/ 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95576 w 5387546"/>
              <a:gd name="connsiteY8" fmla="*/ 9144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0" fmla="*/ 5663 w 5189073"/>
              <a:gd name="connsiteY0" fmla="*/ 0 h 2483708"/>
              <a:gd name="connsiteX1" fmla="*/ 4990600 w 5189073"/>
              <a:gd name="connsiteY1" fmla="*/ 0 h 2483708"/>
              <a:gd name="connsiteX2" fmla="*/ 5189073 w 5189073"/>
              <a:gd name="connsiteY2" fmla="*/ 198473 h 2483708"/>
              <a:gd name="connsiteX3" fmla="*/ 5189073 w 5189073"/>
              <a:gd name="connsiteY3" fmla="*/ 2279572 h 2483708"/>
              <a:gd name="connsiteX4" fmla="*/ 4984937 w 5189073"/>
              <a:gd name="connsiteY4" fmla="*/ 2483708 h 2483708"/>
              <a:gd name="connsiteX5" fmla="*/ 0 w 5189073"/>
              <a:gd name="connsiteY5" fmla="*/ 2483708 h 2483708"/>
              <a:gd name="connsiteX0" fmla="*/ 0 w 5183410"/>
              <a:gd name="connsiteY0" fmla="*/ 0 h 2483708"/>
              <a:gd name="connsiteX1" fmla="*/ 4984937 w 5183410"/>
              <a:gd name="connsiteY1" fmla="*/ 0 h 2483708"/>
              <a:gd name="connsiteX2" fmla="*/ 5183410 w 5183410"/>
              <a:gd name="connsiteY2" fmla="*/ 198473 h 2483708"/>
              <a:gd name="connsiteX3" fmla="*/ 5183410 w 5183410"/>
              <a:gd name="connsiteY3" fmla="*/ 2279572 h 2483708"/>
              <a:gd name="connsiteX4" fmla="*/ 4979274 w 5183410"/>
              <a:gd name="connsiteY4" fmla="*/ 2483708 h 2483708"/>
              <a:gd name="connsiteX0" fmla="*/ 5663 w 204136"/>
              <a:gd name="connsiteY0" fmla="*/ 0 h 2483708"/>
              <a:gd name="connsiteX1" fmla="*/ 204136 w 204136"/>
              <a:gd name="connsiteY1" fmla="*/ 198473 h 2483708"/>
              <a:gd name="connsiteX2" fmla="*/ 204136 w 204136"/>
              <a:gd name="connsiteY2" fmla="*/ 2279572 h 2483708"/>
              <a:gd name="connsiteX3" fmla="*/ 0 w 204136"/>
              <a:gd name="connsiteY3" fmla="*/ 2483708 h 2483708"/>
              <a:gd name="connsiteX0" fmla="*/ 0 w 198473"/>
              <a:gd name="connsiteY0" fmla="*/ 0 h 2279572"/>
              <a:gd name="connsiteX1" fmla="*/ 198473 w 198473"/>
              <a:gd name="connsiteY1" fmla="*/ 198473 h 2279572"/>
              <a:gd name="connsiteX2" fmla="*/ 198473 w 198473"/>
              <a:gd name="connsiteY2" fmla="*/ 2279572 h 2279572"/>
              <a:gd name="connsiteX0" fmla="*/ 0 w 198473"/>
              <a:gd name="connsiteY0" fmla="*/ 0 h 198473"/>
              <a:gd name="connsiteX1" fmla="*/ 198473 w 198473"/>
              <a:gd name="connsiteY1" fmla="*/ 198473 h 198473"/>
            </a:gdLst>
            <a:ahLst/>
            <a:cxnLst>
              <a:cxn ang="0">
                <a:pos x="connsiteX0" y="connsiteY0"/>
              </a:cxn>
              <a:cxn ang="0">
                <a:pos x="connsiteX1" y="connsiteY1"/>
              </a:cxn>
            </a:cxnLst>
            <a:rect l="l" t="t" r="r" b="b"/>
            <a:pathLst>
              <a:path w="198473" h="198473">
                <a:moveTo>
                  <a:pt x="0" y="0"/>
                </a:moveTo>
                <a:lnTo>
                  <a:pt x="198473" y="19847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sp>
        <p:nvSpPr>
          <p:cNvPr id="29" name="Rectangle 28">
            <a:extLst>
              <a:ext uri="{FF2B5EF4-FFF2-40B4-BE49-F238E27FC236}">
                <a16:creationId xmlns:a16="http://schemas.microsoft.com/office/drawing/2014/main" id="{FB3D3C8A-8607-C5F8-15B0-61E4100CE9EF}"/>
              </a:ext>
            </a:extLst>
          </p:cNvPr>
          <p:cNvSpPr/>
          <p:nvPr/>
        </p:nvSpPr>
        <p:spPr>
          <a:xfrm>
            <a:off x="2407567" y="2325874"/>
            <a:ext cx="4228901" cy="2275854"/>
          </a:xfrm>
          <a:prstGeom prst="rect">
            <a:avLst/>
          </a:prstGeom>
        </p:spPr>
        <p:txBody>
          <a:bodyPr vert="horz" lIns="91440" tIns="45720" rIns="91440" bIns="45720" rtlCol="0" anchor="ctr" anchorCtr="0">
            <a:noAutofit/>
          </a:bodyPr>
          <a:lstStyle/>
          <a:p>
            <a:pPr algn="just" rtl="1"/>
            <a:r>
              <a:rPr lang="ar-SA" sz="2400" dirty="0">
                <a:latin typeface="Sakkal Majalla" panose="02000000000000000000" pitchFamily="2" charset="-78"/>
                <a:cs typeface="Sakkal Majalla" panose="02000000000000000000" pitchFamily="2" charset="-78"/>
              </a:rPr>
              <a:t>هي ممارسات وضوابط لدراسة الوضع الحالي </a:t>
            </a:r>
            <a:r>
              <a:rPr lang="ar-EG" sz="2400" dirty="0">
                <a:latin typeface="Sakkal Majalla" panose="02000000000000000000" pitchFamily="2" charset="-78"/>
                <a:cs typeface="Sakkal Majalla" panose="02000000000000000000" pitchFamily="2" charset="-78"/>
              </a:rPr>
              <a:t>للهيئة</a:t>
            </a:r>
            <a:r>
              <a:rPr lang="ar-SA" sz="2400" dirty="0">
                <a:latin typeface="Sakkal Majalla" panose="02000000000000000000" pitchFamily="2" charset="-78"/>
                <a:cs typeface="Sakkal Majalla" panose="02000000000000000000" pitchFamily="2" charset="-78"/>
              </a:rPr>
              <a:t>، وبناء خارطة الطريق للتحول إلى الوضع المستقبلي لتحقيق المواءمة بين قطاع الأعمال (الخدمات والإجراءات) وتقنية المعلومات (البيانات، والتطبيقات، والبينة التحتية</a:t>
            </a:r>
            <a:r>
              <a:rPr lang="ar-EG" sz="2400" dirty="0">
                <a:latin typeface="Sakkal Majalla" panose="02000000000000000000" pitchFamily="2" charset="-78"/>
                <a:cs typeface="Sakkal Majalla" panose="02000000000000000000" pitchFamily="2" charset="-78"/>
              </a:rPr>
              <a:t>و تجربة المستفيد والامن السيبراني </a:t>
            </a:r>
            <a:r>
              <a:rPr lang="ar-SA" sz="2400" dirty="0">
                <a:latin typeface="Sakkal Majalla" panose="02000000000000000000" pitchFamily="2" charset="-78"/>
                <a:cs typeface="Sakkal Majalla" panose="02000000000000000000" pitchFamily="2" charset="-78"/>
              </a:rPr>
              <a:t>) والأهداف الاستراتيجية </a:t>
            </a:r>
            <a:r>
              <a:rPr lang="ar-EG" sz="2400" dirty="0">
                <a:latin typeface="Sakkal Majalla" panose="02000000000000000000" pitchFamily="2" charset="-78"/>
                <a:cs typeface="Sakkal Majalla" panose="02000000000000000000" pitchFamily="2" charset="-78"/>
              </a:rPr>
              <a:t>للهيئة.</a:t>
            </a:r>
            <a:endParaRPr lang="ar-SA" sz="2400" dirty="0">
              <a:latin typeface="Sakkal Majalla" panose="02000000000000000000" pitchFamily="2" charset="-78"/>
              <a:cs typeface="Sakkal Majalla" panose="02000000000000000000" pitchFamily="2" charset="-78"/>
            </a:endParaRPr>
          </a:p>
        </p:txBody>
      </p:sp>
      <p:pic>
        <p:nvPicPr>
          <p:cNvPr id="4" name="Picture 2">
            <a:extLst>
              <a:ext uri="{FF2B5EF4-FFF2-40B4-BE49-F238E27FC236}">
                <a16:creationId xmlns:a16="http://schemas.microsoft.com/office/drawing/2014/main" id="{F39A46C0-CCED-C747-D4D2-D542F746E8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2635" y="2218808"/>
            <a:ext cx="3127528" cy="2599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6982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8</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مبادئ البنية المؤسسية</a:t>
            </a:r>
            <a:endParaRPr lang="en-US" dirty="0"/>
          </a:p>
        </p:txBody>
      </p:sp>
      <p:grpSp>
        <p:nvGrpSpPr>
          <p:cNvPr id="4" name="Group 3">
            <a:extLst>
              <a:ext uri="{FF2B5EF4-FFF2-40B4-BE49-F238E27FC236}">
                <a16:creationId xmlns:a16="http://schemas.microsoft.com/office/drawing/2014/main" id="{BD4F7724-DFCC-06C6-E541-8B3F93FCC4FD}"/>
              </a:ext>
            </a:extLst>
          </p:cNvPr>
          <p:cNvGrpSpPr/>
          <p:nvPr/>
        </p:nvGrpSpPr>
        <p:grpSpPr>
          <a:xfrm flipH="1">
            <a:off x="9736652" y="2512210"/>
            <a:ext cx="1588573" cy="1483303"/>
            <a:chOff x="1037897" y="2843466"/>
            <a:chExt cx="1588573" cy="1483303"/>
          </a:xfrm>
        </p:grpSpPr>
        <p:grpSp>
          <p:nvGrpSpPr>
            <p:cNvPr id="5" name="Group 4">
              <a:extLst>
                <a:ext uri="{FF2B5EF4-FFF2-40B4-BE49-F238E27FC236}">
                  <a16:creationId xmlns:a16="http://schemas.microsoft.com/office/drawing/2014/main" id="{6F9A729F-B1BF-0228-AD0E-A7D496CFA49C}"/>
                </a:ext>
              </a:extLst>
            </p:cNvPr>
            <p:cNvGrpSpPr/>
            <p:nvPr/>
          </p:nvGrpSpPr>
          <p:grpSpPr>
            <a:xfrm flipH="1">
              <a:off x="1037897" y="2843466"/>
              <a:ext cx="1588573" cy="1483303"/>
              <a:chOff x="9736652" y="2841229"/>
              <a:chExt cx="1588573" cy="1483303"/>
            </a:xfrm>
            <a:solidFill>
              <a:schemeClr val="accent2"/>
            </a:solidFill>
          </p:grpSpPr>
          <p:sp>
            <p:nvSpPr>
              <p:cNvPr id="7" name="Freeform 6">
                <a:extLst>
                  <a:ext uri="{FF2B5EF4-FFF2-40B4-BE49-F238E27FC236}">
                    <a16:creationId xmlns:a16="http://schemas.microsoft.com/office/drawing/2014/main" id="{D9D636D5-63C8-D048-F8E3-A4C3F99A19C1}"/>
                  </a:ext>
                </a:extLst>
              </p:cNvPr>
              <p:cNvSpPr>
                <a:spLocks/>
              </p:cNvSpPr>
              <p:nvPr/>
            </p:nvSpPr>
            <p:spPr bwMode="auto">
              <a:xfrm>
                <a:off x="9736652" y="2841229"/>
                <a:ext cx="1256429" cy="1483303"/>
              </a:xfrm>
              <a:custGeom>
                <a:avLst/>
                <a:gdLst>
                  <a:gd name="T0" fmla="*/ 632 w 7475"/>
                  <a:gd name="T1" fmla="*/ 103 h 8831"/>
                  <a:gd name="T2" fmla="*/ 298 w 7475"/>
                  <a:gd name="T3" fmla="*/ 352 h 8831"/>
                  <a:gd name="T4" fmla="*/ 72 w 7475"/>
                  <a:gd name="T5" fmla="*/ 707 h 8831"/>
                  <a:gd name="T6" fmla="*/ 0 w 7475"/>
                  <a:gd name="T7" fmla="*/ 4422 h 8831"/>
                  <a:gd name="T8" fmla="*/ 73 w 7475"/>
                  <a:gd name="T9" fmla="*/ 8125 h 8831"/>
                  <a:gd name="T10" fmla="*/ 305 w 7475"/>
                  <a:gd name="T11" fmla="*/ 8483 h 8831"/>
                  <a:gd name="T12" fmla="*/ 639 w 7475"/>
                  <a:gd name="T13" fmla="*/ 8727 h 8831"/>
                  <a:gd name="T14" fmla="*/ 858 w 7475"/>
                  <a:gd name="T15" fmla="*/ 8803 h 8831"/>
                  <a:gd name="T16" fmla="*/ 2039 w 7475"/>
                  <a:gd name="T17" fmla="*/ 8831 h 8831"/>
                  <a:gd name="T18" fmla="*/ 5788 w 7475"/>
                  <a:gd name="T19" fmla="*/ 8829 h 8831"/>
                  <a:gd name="T20" fmla="*/ 6608 w 7475"/>
                  <a:gd name="T21" fmla="*/ 8801 h 8831"/>
                  <a:gd name="T22" fmla="*/ 6807 w 7475"/>
                  <a:gd name="T23" fmla="*/ 8736 h 8831"/>
                  <a:gd name="T24" fmla="*/ 7010 w 7475"/>
                  <a:gd name="T25" fmla="*/ 8620 h 8831"/>
                  <a:gd name="T26" fmla="*/ 7265 w 7475"/>
                  <a:gd name="T27" fmla="*/ 8369 h 8831"/>
                  <a:gd name="T28" fmla="*/ 7426 w 7475"/>
                  <a:gd name="T29" fmla="*/ 8047 h 8831"/>
                  <a:gd name="T30" fmla="*/ 7466 w 7475"/>
                  <a:gd name="T31" fmla="*/ 7857 h 8831"/>
                  <a:gd name="T32" fmla="*/ 7475 w 7475"/>
                  <a:gd name="T33" fmla="*/ 6849 h 8831"/>
                  <a:gd name="T34" fmla="*/ 7153 w 7475"/>
                  <a:gd name="T35" fmla="*/ 6842 h 8831"/>
                  <a:gd name="T36" fmla="*/ 7131 w 7475"/>
                  <a:gd name="T37" fmla="*/ 6930 h 8831"/>
                  <a:gd name="T38" fmla="*/ 7125 w 7475"/>
                  <a:gd name="T39" fmla="*/ 7509 h 8831"/>
                  <a:gd name="T40" fmla="*/ 7101 w 7475"/>
                  <a:gd name="T41" fmla="*/ 7917 h 8831"/>
                  <a:gd name="T42" fmla="*/ 7033 w 7475"/>
                  <a:gd name="T43" fmla="*/ 8084 h 8831"/>
                  <a:gd name="T44" fmla="*/ 6859 w 7475"/>
                  <a:gd name="T45" fmla="*/ 8301 h 8831"/>
                  <a:gd name="T46" fmla="*/ 6621 w 7475"/>
                  <a:gd name="T47" fmla="*/ 8440 h 8831"/>
                  <a:gd name="T48" fmla="*/ 6496 w 7475"/>
                  <a:gd name="T49" fmla="*/ 8466 h 8831"/>
                  <a:gd name="T50" fmla="*/ 3699 w 7475"/>
                  <a:gd name="T51" fmla="*/ 8477 h 8831"/>
                  <a:gd name="T52" fmla="*/ 744 w 7475"/>
                  <a:gd name="T53" fmla="*/ 8388 h 8831"/>
                  <a:gd name="T54" fmla="*/ 536 w 7475"/>
                  <a:gd name="T55" fmla="*/ 8219 h 8831"/>
                  <a:gd name="T56" fmla="*/ 399 w 7475"/>
                  <a:gd name="T57" fmla="*/ 7995 h 8831"/>
                  <a:gd name="T58" fmla="*/ 356 w 7475"/>
                  <a:gd name="T59" fmla="*/ 7814 h 8831"/>
                  <a:gd name="T60" fmla="*/ 342 w 7475"/>
                  <a:gd name="T61" fmla="*/ 4409 h 8831"/>
                  <a:gd name="T62" fmla="*/ 357 w 7475"/>
                  <a:gd name="T63" fmla="*/ 1032 h 8831"/>
                  <a:gd name="T64" fmla="*/ 374 w 7475"/>
                  <a:gd name="T65" fmla="*/ 903 h 8831"/>
                  <a:gd name="T66" fmla="*/ 488 w 7475"/>
                  <a:gd name="T67" fmla="*/ 663 h 8831"/>
                  <a:gd name="T68" fmla="*/ 750 w 7475"/>
                  <a:gd name="T69" fmla="*/ 436 h 8831"/>
                  <a:gd name="T70" fmla="*/ 1042 w 7475"/>
                  <a:gd name="T71" fmla="*/ 347 h 8831"/>
                  <a:gd name="T72" fmla="*/ 2627 w 7475"/>
                  <a:gd name="T73" fmla="*/ 333 h 8831"/>
                  <a:gd name="T74" fmla="*/ 6587 w 7475"/>
                  <a:gd name="T75" fmla="*/ 374 h 8831"/>
                  <a:gd name="T76" fmla="*/ 6804 w 7475"/>
                  <a:gd name="T77" fmla="*/ 484 h 8831"/>
                  <a:gd name="T78" fmla="*/ 7000 w 7475"/>
                  <a:gd name="T79" fmla="*/ 684 h 8831"/>
                  <a:gd name="T80" fmla="*/ 7099 w 7475"/>
                  <a:gd name="T81" fmla="*/ 896 h 8831"/>
                  <a:gd name="T82" fmla="*/ 7125 w 7475"/>
                  <a:gd name="T83" fmla="*/ 1191 h 8831"/>
                  <a:gd name="T84" fmla="*/ 7129 w 7475"/>
                  <a:gd name="T85" fmla="*/ 1839 h 8831"/>
                  <a:gd name="T86" fmla="*/ 7240 w 7475"/>
                  <a:gd name="T87" fmla="*/ 1869 h 8831"/>
                  <a:gd name="T88" fmla="*/ 7475 w 7475"/>
                  <a:gd name="T89" fmla="*/ 1416 h 8831"/>
                  <a:gd name="T90" fmla="*/ 7461 w 7475"/>
                  <a:gd name="T91" fmla="*/ 949 h 8831"/>
                  <a:gd name="T92" fmla="*/ 7409 w 7475"/>
                  <a:gd name="T93" fmla="*/ 723 h 8831"/>
                  <a:gd name="T94" fmla="*/ 7336 w 7475"/>
                  <a:gd name="T95" fmla="*/ 569 h 8831"/>
                  <a:gd name="T96" fmla="*/ 7142 w 7475"/>
                  <a:gd name="T97" fmla="*/ 313 h 8831"/>
                  <a:gd name="T98" fmla="*/ 6880 w 7475"/>
                  <a:gd name="T99" fmla="*/ 124 h 8831"/>
                  <a:gd name="T100" fmla="*/ 6600 w 7475"/>
                  <a:gd name="T101" fmla="*/ 6 h 8831"/>
                  <a:gd name="T102" fmla="*/ 1076 w 7475"/>
                  <a:gd name="T103" fmla="*/ 7 h 8831"/>
                  <a:gd name="T104" fmla="*/ 829 w 7475"/>
                  <a:gd name="T105" fmla="*/ 31 h 8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75" h="8831">
                    <a:moveTo>
                      <a:pt x="829" y="31"/>
                    </a:moveTo>
                    <a:lnTo>
                      <a:pt x="761" y="50"/>
                    </a:lnTo>
                    <a:lnTo>
                      <a:pt x="632" y="103"/>
                    </a:lnTo>
                    <a:lnTo>
                      <a:pt x="511" y="172"/>
                    </a:lnTo>
                    <a:lnTo>
                      <a:pt x="399" y="255"/>
                    </a:lnTo>
                    <a:lnTo>
                      <a:pt x="298" y="352"/>
                    </a:lnTo>
                    <a:lnTo>
                      <a:pt x="209" y="460"/>
                    </a:lnTo>
                    <a:lnTo>
                      <a:pt x="133" y="579"/>
                    </a:lnTo>
                    <a:lnTo>
                      <a:pt x="72" y="707"/>
                    </a:lnTo>
                    <a:lnTo>
                      <a:pt x="49" y="774"/>
                    </a:lnTo>
                    <a:lnTo>
                      <a:pt x="0" y="922"/>
                    </a:lnTo>
                    <a:lnTo>
                      <a:pt x="0" y="4422"/>
                    </a:lnTo>
                    <a:lnTo>
                      <a:pt x="0" y="7922"/>
                    </a:lnTo>
                    <a:lnTo>
                      <a:pt x="47" y="8056"/>
                    </a:lnTo>
                    <a:lnTo>
                      <a:pt x="73" y="8125"/>
                    </a:lnTo>
                    <a:lnTo>
                      <a:pt x="137" y="8255"/>
                    </a:lnTo>
                    <a:lnTo>
                      <a:pt x="215" y="8374"/>
                    </a:lnTo>
                    <a:lnTo>
                      <a:pt x="305" y="8483"/>
                    </a:lnTo>
                    <a:lnTo>
                      <a:pt x="407" y="8578"/>
                    </a:lnTo>
                    <a:lnTo>
                      <a:pt x="518" y="8660"/>
                    </a:lnTo>
                    <a:lnTo>
                      <a:pt x="639" y="8727"/>
                    </a:lnTo>
                    <a:lnTo>
                      <a:pt x="768" y="8779"/>
                    </a:lnTo>
                    <a:lnTo>
                      <a:pt x="835" y="8797"/>
                    </a:lnTo>
                    <a:lnTo>
                      <a:pt x="858" y="8803"/>
                    </a:lnTo>
                    <a:lnTo>
                      <a:pt x="916" y="8813"/>
                    </a:lnTo>
                    <a:lnTo>
                      <a:pt x="1080" y="8823"/>
                    </a:lnTo>
                    <a:lnTo>
                      <a:pt x="2039" y="8831"/>
                    </a:lnTo>
                    <a:lnTo>
                      <a:pt x="3740" y="8831"/>
                    </a:lnTo>
                    <a:lnTo>
                      <a:pt x="4795" y="8831"/>
                    </a:lnTo>
                    <a:lnTo>
                      <a:pt x="5788" y="8829"/>
                    </a:lnTo>
                    <a:lnTo>
                      <a:pt x="6213" y="8824"/>
                    </a:lnTo>
                    <a:lnTo>
                      <a:pt x="6483" y="8814"/>
                    </a:lnTo>
                    <a:lnTo>
                      <a:pt x="6608" y="8801"/>
                    </a:lnTo>
                    <a:lnTo>
                      <a:pt x="6668" y="8791"/>
                    </a:lnTo>
                    <a:lnTo>
                      <a:pt x="6735" y="8772"/>
                    </a:lnTo>
                    <a:lnTo>
                      <a:pt x="6807" y="8736"/>
                    </a:lnTo>
                    <a:lnTo>
                      <a:pt x="6850" y="8714"/>
                    </a:lnTo>
                    <a:lnTo>
                      <a:pt x="6906" y="8686"/>
                    </a:lnTo>
                    <a:lnTo>
                      <a:pt x="7010" y="8620"/>
                    </a:lnTo>
                    <a:lnTo>
                      <a:pt x="7104" y="8546"/>
                    </a:lnTo>
                    <a:lnTo>
                      <a:pt x="7190" y="8462"/>
                    </a:lnTo>
                    <a:lnTo>
                      <a:pt x="7265" y="8369"/>
                    </a:lnTo>
                    <a:lnTo>
                      <a:pt x="7329" y="8269"/>
                    </a:lnTo>
                    <a:lnTo>
                      <a:pt x="7383" y="8162"/>
                    </a:lnTo>
                    <a:lnTo>
                      <a:pt x="7426" y="8047"/>
                    </a:lnTo>
                    <a:lnTo>
                      <a:pt x="7442" y="7987"/>
                    </a:lnTo>
                    <a:lnTo>
                      <a:pt x="7452" y="7946"/>
                    </a:lnTo>
                    <a:lnTo>
                      <a:pt x="7466" y="7857"/>
                    </a:lnTo>
                    <a:lnTo>
                      <a:pt x="7475" y="7643"/>
                    </a:lnTo>
                    <a:lnTo>
                      <a:pt x="7475" y="7354"/>
                    </a:lnTo>
                    <a:lnTo>
                      <a:pt x="7475" y="6849"/>
                    </a:lnTo>
                    <a:lnTo>
                      <a:pt x="7314" y="6844"/>
                    </a:lnTo>
                    <a:lnTo>
                      <a:pt x="7248" y="6842"/>
                    </a:lnTo>
                    <a:lnTo>
                      <a:pt x="7153" y="6842"/>
                    </a:lnTo>
                    <a:lnTo>
                      <a:pt x="7139" y="6844"/>
                    </a:lnTo>
                    <a:lnTo>
                      <a:pt x="7136" y="6852"/>
                    </a:lnTo>
                    <a:lnTo>
                      <a:pt x="7131" y="6930"/>
                    </a:lnTo>
                    <a:lnTo>
                      <a:pt x="7126" y="7149"/>
                    </a:lnTo>
                    <a:lnTo>
                      <a:pt x="7125" y="7349"/>
                    </a:lnTo>
                    <a:lnTo>
                      <a:pt x="7125" y="7509"/>
                    </a:lnTo>
                    <a:lnTo>
                      <a:pt x="7123" y="7720"/>
                    </a:lnTo>
                    <a:lnTo>
                      <a:pt x="7116" y="7842"/>
                    </a:lnTo>
                    <a:lnTo>
                      <a:pt x="7101" y="7917"/>
                    </a:lnTo>
                    <a:lnTo>
                      <a:pt x="7090" y="7951"/>
                    </a:lnTo>
                    <a:lnTo>
                      <a:pt x="7074" y="7997"/>
                    </a:lnTo>
                    <a:lnTo>
                      <a:pt x="7033" y="8084"/>
                    </a:lnTo>
                    <a:lnTo>
                      <a:pt x="6983" y="8164"/>
                    </a:lnTo>
                    <a:lnTo>
                      <a:pt x="6925" y="8237"/>
                    </a:lnTo>
                    <a:lnTo>
                      <a:pt x="6859" y="8301"/>
                    </a:lnTo>
                    <a:lnTo>
                      <a:pt x="6786" y="8357"/>
                    </a:lnTo>
                    <a:lnTo>
                      <a:pt x="6706" y="8403"/>
                    </a:lnTo>
                    <a:lnTo>
                      <a:pt x="6621" y="8440"/>
                    </a:lnTo>
                    <a:lnTo>
                      <a:pt x="6575" y="8454"/>
                    </a:lnTo>
                    <a:lnTo>
                      <a:pt x="6558" y="8459"/>
                    </a:lnTo>
                    <a:lnTo>
                      <a:pt x="6496" y="8466"/>
                    </a:lnTo>
                    <a:lnTo>
                      <a:pt x="6304" y="8474"/>
                    </a:lnTo>
                    <a:lnTo>
                      <a:pt x="5299" y="8479"/>
                    </a:lnTo>
                    <a:lnTo>
                      <a:pt x="3699" y="8477"/>
                    </a:lnTo>
                    <a:lnTo>
                      <a:pt x="915" y="8472"/>
                    </a:lnTo>
                    <a:lnTo>
                      <a:pt x="785" y="8409"/>
                    </a:lnTo>
                    <a:lnTo>
                      <a:pt x="744" y="8388"/>
                    </a:lnTo>
                    <a:lnTo>
                      <a:pt x="668" y="8339"/>
                    </a:lnTo>
                    <a:lnTo>
                      <a:pt x="598" y="8282"/>
                    </a:lnTo>
                    <a:lnTo>
                      <a:pt x="536" y="8219"/>
                    </a:lnTo>
                    <a:lnTo>
                      <a:pt x="482" y="8150"/>
                    </a:lnTo>
                    <a:lnTo>
                      <a:pt x="436" y="8075"/>
                    </a:lnTo>
                    <a:lnTo>
                      <a:pt x="399" y="7995"/>
                    </a:lnTo>
                    <a:lnTo>
                      <a:pt x="371" y="7911"/>
                    </a:lnTo>
                    <a:lnTo>
                      <a:pt x="360" y="7867"/>
                    </a:lnTo>
                    <a:lnTo>
                      <a:pt x="356" y="7814"/>
                    </a:lnTo>
                    <a:lnTo>
                      <a:pt x="349" y="7395"/>
                    </a:lnTo>
                    <a:lnTo>
                      <a:pt x="343" y="6032"/>
                    </a:lnTo>
                    <a:lnTo>
                      <a:pt x="342" y="4409"/>
                    </a:lnTo>
                    <a:lnTo>
                      <a:pt x="342" y="2512"/>
                    </a:lnTo>
                    <a:lnTo>
                      <a:pt x="349" y="1278"/>
                    </a:lnTo>
                    <a:lnTo>
                      <a:pt x="357" y="1032"/>
                    </a:lnTo>
                    <a:lnTo>
                      <a:pt x="363" y="953"/>
                    </a:lnTo>
                    <a:lnTo>
                      <a:pt x="367" y="932"/>
                    </a:lnTo>
                    <a:lnTo>
                      <a:pt x="374" y="903"/>
                    </a:lnTo>
                    <a:lnTo>
                      <a:pt x="393" y="845"/>
                    </a:lnTo>
                    <a:lnTo>
                      <a:pt x="428" y="763"/>
                    </a:lnTo>
                    <a:lnTo>
                      <a:pt x="488" y="663"/>
                    </a:lnTo>
                    <a:lnTo>
                      <a:pt x="563" y="575"/>
                    </a:lnTo>
                    <a:lnTo>
                      <a:pt x="651" y="498"/>
                    </a:lnTo>
                    <a:lnTo>
                      <a:pt x="750" y="436"/>
                    </a:lnTo>
                    <a:lnTo>
                      <a:pt x="860" y="388"/>
                    </a:lnTo>
                    <a:lnTo>
                      <a:pt x="979" y="356"/>
                    </a:lnTo>
                    <a:lnTo>
                      <a:pt x="1042" y="347"/>
                    </a:lnTo>
                    <a:lnTo>
                      <a:pt x="1104" y="343"/>
                    </a:lnTo>
                    <a:lnTo>
                      <a:pt x="1495" y="337"/>
                    </a:lnTo>
                    <a:lnTo>
                      <a:pt x="2627" y="333"/>
                    </a:lnTo>
                    <a:lnTo>
                      <a:pt x="3834" y="334"/>
                    </a:lnTo>
                    <a:lnTo>
                      <a:pt x="6484" y="339"/>
                    </a:lnTo>
                    <a:lnTo>
                      <a:pt x="6587" y="374"/>
                    </a:lnTo>
                    <a:lnTo>
                      <a:pt x="6634" y="391"/>
                    </a:lnTo>
                    <a:lnTo>
                      <a:pt x="6722" y="433"/>
                    </a:lnTo>
                    <a:lnTo>
                      <a:pt x="6804" y="484"/>
                    </a:lnTo>
                    <a:lnTo>
                      <a:pt x="6878" y="543"/>
                    </a:lnTo>
                    <a:lnTo>
                      <a:pt x="6943" y="610"/>
                    </a:lnTo>
                    <a:lnTo>
                      <a:pt x="7000" y="684"/>
                    </a:lnTo>
                    <a:lnTo>
                      <a:pt x="7047" y="764"/>
                    </a:lnTo>
                    <a:lnTo>
                      <a:pt x="7084" y="850"/>
                    </a:lnTo>
                    <a:lnTo>
                      <a:pt x="7099" y="896"/>
                    </a:lnTo>
                    <a:lnTo>
                      <a:pt x="7106" y="924"/>
                    </a:lnTo>
                    <a:lnTo>
                      <a:pt x="7117" y="1001"/>
                    </a:lnTo>
                    <a:lnTo>
                      <a:pt x="7125" y="1191"/>
                    </a:lnTo>
                    <a:lnTo>
                      <a:pt x="7125" y="1422"/>
                    </a:lnTo>
                    <a:lnTo>
                      <a:pt x="7126" y="1597"/>
                    </a:lnTo>
                    <a:lnTo>
                      <a:pt x="7129" y="1839"/>
                    </a:lnTo>
                    <a:lnTo>
                      <a:pt x="7132" y="1866"/>
                    </a:lnTo>
                    <a:lnTo>
                      <a:pt x="7144" y="1868"/>
                    </a:lnTo>
                    <a:lnTo>
                      <a:pt x="7240" y="1869"/>
                    </a:lnTo>
                    <a:lnTo>
                      <a:pt x="7307" y="1867"/>
                    </a:lnTo>
                    <a:lnTo>
                      <a:pt x="7475" y="1862"/>
                    </a:lnTo>
                    <a:lnTo>
                      <a:pt x="7475" y="1416"/>
                    </a:lnTo>
                    <a:lnTo>
                      <a:pt x="7475" y="1242"/>
                    </a:lnTo>
                    <a:lnTo>
                      <a:pt x="7469" y="1050"/>
                    </a:lnTo>
                    <a:lnTo>
                      <a:pt x="7461" y="949"/>
                    </a:lnTo>
                    <a:lnTo>
                      <a:pt x="7449" y="864"/>
                    </a:lnTo>
                    <a:lnTo>
                      <a:pt x="7432" y="791"/>
                    </a:lnTo>
                    <a:lnTo>
                      <a:pt x="7409" y="723"/>
                    </a:lnTo>
                    <a:lnTo>
                      <a:pt x="7380" y="655"/>
                    </a:lnTo>
                    <a:lnTo>
                      <a:pt x="7362" y="619"/>
                    </a:lnTo>
                    <a:lnTo>
                      <a:pt x="7336" y="569"/>
                    </a:lnTo>
                    <a:lnTo>
                      <a:pt x="7278" y="476"/>
                    </a:lnTo>
                    <a:lnTo>
                      <a:pt x="7213" y="391"/>
                    </a:lnTo>
                    <a:lnTo>
                      <a:pt x="7142" y="313"/>
                    </a:lnTo>
                    <a:lnTo>
                      <a:pt x="7062" y="243"/>
                    </a:lnTo>
                    <a:lnTo>
                      <a:pt x="6975" y="180"/>
                    </a:lnTo>
                    <a:lnTo>
                      <a:pt x="6880" y="124"/>
                    </a:lnTo>
                    <a:lnTo>
                      <a:pt x="6777" y="74"/>
                    </a:lnTo>
                    <a:lnTo>
                      <a:pt x="6722" y="52"/>
                    </a:lnTo>
                    <a:lnTo>
                      <a:pt x="6600" y="6"/>
                    </a:lnTo>
                    <a:lnTo>
                      <a:pt x="3775" y="2"/>
                    </a:lnTo>
                    <a:lnTo>
                      <a:pt x="2053" y="0"/>
                    </a:lnTo>
                    <a:lnTo>
                      <a:pt x="1076" y="7"/>
                    </a:lnTo>
                    <a:lnTo>
                      <a:pt x="908" y="17"/>
                    </a:lnTo>
                    <a:lnTo>
                      <a:pt x="851" y="25"/>
                    </a:lnTo>
                    <a:lnTo>
                      <a:pt x="829"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8" name="Freeform 7">
                <a:extLst>
                  <a:ext uri="{FF2B5EF4-FFF2-40B4-BE49-F238E27FC236}">
                    <a16:creationId xmlns:a16="http://schemas.microsoft.com/office/drawing/2014/main" id="{8EF45EC1-585E-D164-E91C-015AABDBF08D}"/>
                  </a:ext>
                </a:extLst>
              </p:cNvPr>
              <p:cNvSpPr>
                <a:spLocks/>
              </p:cNvSpPr>
              <p:nvPr/>
            </p:nvSpPr>
            <p:spPr bwMode="auto">
              <a:xfrm>
                <a:off x="10015708" y="3174280"/>
                <a:ext cx="697412" cy="24956"/>
              </a:xfrm>
              <a:custGeom>
                <a:avLst/>
                <a:gdLst>
                  <a:gd name="T0" fmla="*/ 5 w 4150"/>
                  <a:gd name="T1" fmla="*/ 22 h 149"/>
                  <a:gd name="T2" fmla="*/ 2 w 4150"/>
                  <a:gd name="T3" fmla="*/ 34 h 149"/>
                  <a:gd name="T4" fmla="*/ 0 w 4150"/>
                  <a:gd name="T5" fmla="*/ 73 h 149"/>
                  <a:gd name="T6" fmla="*/ 2 w 4150"/>
                  <a:gd name="T7" fmla="*/ 94 h 149"/>
                  <a:gd name="T8" fmla="*/ 7 w 4150"/>
                  <a:gd name="T9" fmla="*/ 140 h 149"/>
                  <a:gd name="T10" fmla="*/ 2079 w 4150"/>
                  <a:gd name="T11" fmla="*/ 145 h 149"/>
                  <a:gd name="T12" fmla="*/ 4150 w 4150"/>
                  <a:gd name="T13" fmla="*/ 149 h 149"/>
                  <a:gd name="T14" fmla="*/ 4145 w 4150"/>
                  <a:gd name="T15" fmla="*/ 79 h 149"/>
                  <a:gd name="T16" fmla="*/ 4140 w 4150"/>
                  <a:gd name="T17" fmla="*/ 7 h 149"/>
                  <a:gd name="T18" fmla="*/ 2077 w 4150"/>
                  <a:gd name="T19" fmla="*/ 2 h 149"/>
                  <a:gd name="T20" fmla="*/ 935 w 4150"/>
                  <a:gd name="T21" fmla="*/ 0 h 149"/>
                  <a:gd name="T22" fmla="*/ 187 w 4150"/>
                  <a:gd name="T23" fmla="*/ 6 h 149"/>
                  <a:gd name="T24" fmla="*/ 46 w 4150"/>
                  <a:gd name="T25" fmla="*/ 12 h 149"/>
                  <a:gd name="T26" fmla="*/ 9 w 4150"/>
                  <a:gd name="T27" fmla="*/ 18 h 149"/>
                  <a:gd name="T28" fmla="*/ 5 w 4150"/>
                  <a:gd name="T29" fmla="*/ 2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50" h="149">
                    <a:moveTo>
                      <a:pt x="5" y="22"/>
                    </a:moveTo>
                    <a:lnTo>
                      <a:pt x="2" y="34"/>
                    </a:lnTo>
                    <a:lnTo>
                      <a:pt x="0" y="73"/>
                    </a:lnTo>
                    <a:lnTo>
                      <a:pt x="2" y="94"/>
                    </a:lnTo>
                    <a:lnTo>
                      <a:pt x="7" y="140"/>
                    </a:lnTo>
                    <a:lnTo>
                      <a:pt x="2079" y="145"/>
                    </a:lnTo>
                    <a:lnTo>
                      <a:pt x="4150" y="149"/>
                    </a:lnTo>
                    <a:lnTo>
                      <a:pt x="4145" y="79"/>
                    </a:lnTo>
                    <a:lnTo>
                      <a:pt x="4140" y="7"/>
                    </a:lnTo>
                    <a:lnTo>
                      <a:pt x="2077" y="2"/>
                    </a:lnTo>
                    <a:lnTo>
                      <a:pt x="935" y="0"/>
                    </a:lnTo>
                    <a:lnTo>
                      <a:pt x="187" y="6"/>
                    </a:lnTo>
                    <a:lnTo>
                      <a:pt x="46"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9" name="Freeform 8">
                <a:extLst>
                  <a:ext uri="{FF2B5EF4-FFF2-40B4-BE49-F238E27FC236}">
                    <a16:creationId xmlns:a16="http://schemas.microsoft.com/office/drawing/2014/main" id="{12EA062D-BB00-E269-A646-A914EE2C8E90}"/>
                  </a:ext>
                </a:extLst>
              </p:cNvPr>
              <p:cNvSpPr>
                <a:spLocks noEditPoints="1"/>
              </p:cNvSpPr>
              <p:nvPr/>
            </p:nvSpPr>
            <p:spPr bwMode="auto">
              <a:xfrm>
                <a:off x="10614202" y="3216932"/>
                <a:ext cx="711023" cy="711023"/>
              </a:xfrm>
              <a:custGeom>
                <a:avLst/>
                <a:gdLst>
                  <a:gd name="T0" fmla="*/ 1447 w 4229"/>
                  <a:gd name="T1" fmla="*/ 106 h 4232"/>
                  <a:gd name="T2" fmla="*/ 819 w 4229"/>
                  <a:gd name="T3" fmla="*/ 442 h 4232"/>
                  <a:gd name="T4" fmla="*/ 456 w 4229"/>
                  <a:gd name="T5" fmla="*/ 801 h 4232"/>
                  <a:gd name="T6" fmla="*/ 145 w 4229"/>
                  <a:gd name="T7" fmla="*/ 1332 h 4232"/>
                  <a:gd name="T8" fmla="*/ 21 w 4229"/>
                  <a:gd name="T9" fmla="*/ 1755 h 4232"/>
                  <a:gd name="T10" fmla="*/ 10 w 4229"/>
                  <a:gd name="T11" fmla="*/ 2393 h 4232"/>
                  <a:gd name="T12" fmla="*/ 92 w 4229"/>
                  <a:gd name="T13" fmla="*/ 2759 h 4232"/>
                  <a:gd name="T14" fmla="*/ 361 w 4229"/>
                  <a:gd name="T15" fmla="*/ 3308 h 4232"/>
                  <a:gd name="T16" fmla="*/ 679 w 4229"/>
                  <a:gd name="T17" fmla="*/ 3670 h 4232"/>
                  <a:gd name="T18" fmla="*/ 1185 w 4229"/>
                  <a:gd name="T19" fmla="*/ 4024 h 4232"/>
                  <a:gd name="T20" fmla="*/ 1714 w 4229"/>
                  <a:gd name="T21" fmla="*/ 4204 h 4232"/>
                  <a:gd name="T22" fmla="*/ 2229 w 4229"/>
                  <a:gd name="T23" fmla="*/ 4232 h 4232"/>
                  <a:gd name="T24" fmla="*/ 2597 w 4229"/>
                  <a:gd name="T25" fmla="*/ 4185 h 4232"/>
                  <a:gd name="T26" fmla="*/ 3176 w 4229"/>
                  <a:gd name="T27" fmla="*/ 3953 h 4232"/>
                  <a:gd name="T28" fmla="*/ 3607 w 4229"/>
                  <a:gd name="T29" fmla="*/ 3612 h 4232"/>
                  <a:gd name="T30" fmla="*/ 3951 w 4229"/>
                  <a:gd name="T31" fmla="*/ 3177 h 4232"/>
                  <a:gd name="T32" fmla="*/ 4182 w 4229"/>
                  <a:gd name="T33" fmla="*/ 2594 h 4232"/>
                  <a:gd name="T34" fmla="*/ 4229 w 4229"/>
                  <a:gd name="T35" fmla="*/ 2228 h 4232"/>
                  <a:gd name="T36" fmla="*/ 4199 w 4229"/>
                  <a:gd name="T37" fmla="*/ 1719 h 4232"/>
                  <a:gd name="T38" fmla="*/ 4017 w 4229"/>
                  <a:gd name="T39" fmla="*/ 1187 h 4232"/>
                  <a:gd name="T40" fmla="*/ 3662 w 4229"/>
                  <a:gd name="T41" fmla="*/ 672 h 4232"/>
                  <a:gd name="T42" fmla="*/ 3179 w 4229"/>
                  <a:gd name="T43" fmla="*/ 284 h 4232"/>
                  <a:gd name="T44" fmla="*/ 2597 w 4229"/>
                  <a:gd name="T45" fmla="*/ 51 h 4232"/>
                  <a:gd name="T46" fmla="*/ 2110 w 4229"/>
                  <a:gd name="T47" fmla="*/ 0 h 4232"/>
                  <a:gd name="T48" fmla="*/ 2421 w 4229"/>
                  <a:gd name="T49" fmla="*/ 373 h 4232"/>
                  <a:gd name="T50" fmla="*/ 2962 w 4229"/>
                  <a:gd name="T51" fmla="*/ 563 h 4232"/>
                  <a:gd name="T52" fmla="*/ 3365 w 4229"/>
                  <a:gd name="T53" fmla="*/ 867 h 4232"/>
                  <a:gd name="T54" fmla="*/ 3716 w 4229"/>
                  <a:gd name="T55" fmla="*/ 1361 h 4232"/>
                  <a:gd name="T56" fmla="*/ 3883 w 4229"/>
                  <a:gd name="T57" fmla="*/ 2003 h 4232"/>
                  <a:gd name="T58" fmla="*/ 3799 w 4229"/>
                  <a:gd name="T59" fmla="*/ 2661 h 4232"/>
                  <a:gd name="T60" fmla="*/ 3464 w 4229"/>
                  <a:gd name="T61" fmla="*/ 3266 h 4232"/>
                  <a:gd name="T62" fmla="*/ 3179 w 4229"/>
                  <a:gd name="T63" fmla="*/ 3532 h 4232"/>
                  <a:gd name="T64" fmla="*/ 2726 w 4229"/>
                  <a:gd name="T65" fmla="*/ 3780 h 4232"/>
                  <a:gd name="T66" fmla="*/ 2408 w 4229"/>
                  <a:gd name="T67" fmla="*/ 3870 h 4232"/>
                  <a:gd name="T68" fmla="*/ 2031 w 4229"/>
                  <a:gd name="T69" fmla="*/ 3882 h 4232"/>
                  <a:gd name="T70" fmla="*/ 1684 w 4229"/>
                  <a:gd name="T71" fmla="*/ 3839 h 4232"/>
                  <a:gd name="T72" fmla="*/ 1289 w 4229"/>
                  <a:gd name="T73" fmla="*/ 3684 h 4232"/>
                  <a:gd name="T74" fmla="*/ 904 w 4229"/>
                  <a:gd name="T75" fmla="*/ 3411 h 4232"/>
                  <a:gd name="T76" fmla="*/ 607 w 4229"/>
                  <a:gd name="T77" fmla="*/ 3048 h 4232"/>
                  <a:gd name="T78" fmla="*/ 410 w 4229"/>
                  <a:gd name="T79" fmla="*/ 2611 h 4232"/>
                  <a:gd name="T80" fmla="*/ 354 w 4229"/>
                  <a:gd name="T81" fmla="*/ 2322 h 4232"/>
                  <a:gd name="T82" fmla="*/ 354 w 4229"/>
                  <a:gd name="T83" fmla="*/ 1916 h 4232"/>
                  <a:gd name="T84" fmla="*/ 410 w 4229"/>
                  <a:gd name="T85" fmla="*/ 1627 h 4232"/>
                  <a:gd name="T86" fmla="*/ 605 w 4229"/>
                  <a:gd name="T87" fmla="*/ 1192 h 4232"/>
                  <a:gd name="T88" fmla="*/ 862 w 4229"/>
                  <a:gd name="T89" fmla="*/ 867 h 4232"/>
                  <a:gd name="T90" fmla="*/ 1142 w 4229"/>
                  <a:gd name="T91" fmla="*/ 639 h 4232"/>
                  <a:gd name="T92" fmla="*/ 1503 w 4229"/>
                  <a:gd name="T93" fmla="*/ 456 h 4232"/>
                  <a:gd name="T94" fmla="*/ 1893 w 4229"/>
                  <a:gd name="T95" fmla="*/ 359 h 4232"/>
                  <a:gd name="T96" fmla="*/ 2298 w 4229"/>
                  <a:gd name="T97" fmla="*/ 355 h 4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29" h="4232">
                    <a:moveTo>
                      <a:pt x="1905" y="4"/>
                    </a:moveTo>
                    <a:lnTo>
                      <a:pt x="1809" y="17"/>
                    </a:lnTo>
                    <a:lnTo>
                      <a:pt x="1624" y="55"/>
                    </a:lnTo>
                    <a:lnTo>
                      <a:pt x="1447" y="106"/>
                    </a:lnTo>
                    <a:lnTo>
                      <a:pt x="1278" y="170"/>
                    </a:lnTo>
                    <a:lnTo>
                      <a:pt x="1117" y="247"/>
                    </a:lnTo>
                    <a:lnTo>
                      <a:pt x="964" y="338"/>
                    </a:lnTo>
                    <a:lnTo>
                      <a:pt x="819" y="442"/>
                    </a:lnTo>
                    <a:lnTo>
                      <a:pt x="681" y="559"/>
                    </a:lnTo>
                    <a:lnTo>
                      <a:pt x="615" y="624"/>
                    </a:lnTo>
                    <a:lnTo>
                      <a:pt x="559" y="682"/>
                    </a:lnTo>
                    <a:lnTo>
                      <a:pt x="456" y="801"/>
                    </a:lnTo>
                    <a:lnTo>
                      <a:pt x="364" y="925"/>
                    </a:lnTo>
                    <a:lnTo>
                      <a:pt x="281" y="1055"/>
                    </a:lnTo>
                    <a:lnTo>
                      <a:pt x="208" y="1190"/>
                    </a:lnTo>
                    <a:lnTo>
                      <a:pt x="145" y="1332"/>
                    </a:lnTo>
                    <a:lnTo>
                      <a:pt x="92" y="1481"/>
                    </a:lnTo>
                    <a:lnTo>
                      <a:pt x="47" y="1637"/>
                    </a:lnTo>
                    <a:lnTo>
                      <a:pt x="29" y="1719"/>
                    </a:lnTo>
                    <a:lnTo>
                      <a:pt x="21" y="1755"/>
                    </a:lnTo>
                    <a:lnTo>
                      <a:pt x="10" y="1845"/>
                    </a:lnTo>
                    <a:lnTo>
                      <a:pt x="0" y="2003"/>
                    </a:lnTo>
                    <a:lnTo>
                      <a:pt x="0" y="2234"/>
                    </a:lnTo>
                    <a:lnTo>
                      <a:pt x="10" y="2393"/>
                    </a:lnTo>
                    <a:lnTo>
                      <a:pt x="21" y="2482"/>
                    </a:lnTo>
                    <a:lnTo>
                      <a:pt x="29" y="2519"/>
                    </a:lnTo>
                    <a:lnTo>
                      <a:pt x="47" y="2602"/>
                    </a:lnTo>
                    <a:lnTo>
                      <a:pt x="92" y="2759"/>
                    </a:lnTo>
                    <a:lnTo>
                      <a:pt x="144" y="2907"/>
                    </a:lnTo>
                    <a:lnTo>
                      <a:pt x="206" y="3047"/>
                    </a:lnTo>
                    <a:lnTo>
                      <a:pt x="278" y="3180"/>
                    </a:lnTo>
                    <a:lnTo>
                      <a:pt x="361" y="3308"/>
                    </a:lnTo>
                    <a:lnTo>
                      <a:pt x="455" y="3431"/>
                    </a:lnTo>
                    <a:lnTo>
                      <a:pt x="562" y="3552"/>
                    </a:lnTo>
                    <a:lnTo>
                      <a:pt x="620" y="3612"/>
                    </a:lnTo>
                    <a:lnTo>
                      <a:pt x="679" y="3670"/>
                    </a:lnTo>
                    <a:lnTo>
                      <a:pt x="799" y="3775"/>
                    </a:lnTo>
                    <a:lnTo>
                      <a:pt x="922" y="3869"/>
                    </a:lnTo>
                    <a:lnTo>
                      <a:pt x="1050" y="3952"/>
                    </a:lnTo>
                    <a:lnTo>
                      <a:pt x="1185" y="4024"/>
                    </a:lnTo>
                    <a:lnTo>
                      <a:pt x="1325" y="4087"/>
                    </a:lnTo>
                    <a:lnTo>
                      <a:pt x="1474" y="4140"/>
                    </a:lnTo>
                    <a:lnTo>
                      <a:pt x="1631" y="4185"/>
                    </a:lnTo>
                    <a:lnTo>
                      <a:pt x="1714" y="4204"/>
                    </a:lnTo>
                    <a:lnTo>
                      <a:pt x="1750" y="4211"/>
                    </a:lnTo>
                    <a:lnTo>
                      <a:pt x="1840" y="4222"/>
                    </a:lnTo>
                    <a:lnTo>
                      <a:pt x="1998" y="4232"/>
                    </a:lnTo>
                    <a:lnTo>
                      <a:pt x="2229" y="4232"/>
                    </a:lnTo>
                    <a:lnTo>
                      <a:pt x="2388" y="4222"/>
                    </a:lnTo>
                    <a:lnTo>
                      <a:pt x="2477" y="4211"/>
                    </a:lnTo>
                    <a:lnTo>
                      <a:pt x="2514" y="4204"/>
                    </a:lnTo>
                    <a:lnTo>
                      <a:pt x="2597" y="4185"/>
                    </a:lnTo>
                    <a:lnTo>
                      <a:pt x="2754" y="4141"/>
                    </a:lnTo>
                    <a:lnTo>
                      <a:pt x="2902" y="4088"/>
                    </a:lnTo>
                    <a:lnTo>
                      <a:pt x="3043" y="4026"/>
                    </a:lnTo>
                    <a:lnTo>
                      <a:pt x="3176" y="3953"/>
                    </a:lnTo>
                    <a:lnTo>
                      <a:pt x="3304" y="3871"/>
                    </a:lnTo>
                    <a:lnTo>
                      <a:pt x="3427" y="3776"/>
                    </a:lnTo>
                    <a:lnTo>
                      <a:pt x="3548" y="3670"/>
                    </a:lnTo>
                    <a:lnTo>
                      <a:pt x="3607" y="3612"/>
                    </a:lnTo>
                    <a:lnTo>
                      <a:pt x="3666" y="3552"/>
                    </a:lnTo>
                    <a:lnTo>
                      <a:pt x="3773" y="3430"/>
                    </a:lnTo>
                    <a:lnTo>
                      <a:pt x="3868" y="3306"/>
                    </a:lnTo>
                    <a:lnTo>
                      <a:pt x="3951" y="3177"/>
                    </a:lnTo>
                    <a:lnTo>
                      <a:pt x="4023" y="3042"/>
                    </a:lnTo>
                    <a:lnTo>
                      <a:pt x="4085" y="2901"/>
                    </a:lnTo>
                    <a:lnTo>
                      <a:pt x="4138" y="2752"/>
                    </a:lnTo>
                    <a:lnTo>
                      <a:pt x="4182" y="2594"/>
                    </a:lnTo>
                    <a:lnTo>
                      <a:pt x="4200" y="2510"/>
                    </a:lnTo>
                    <a:lnTo>
                      <a:pt x="4208" y="2472"/>
                    </a:lnTo>
                    <a:lnTo>
                      <a:pt x="4219" y="2382"/>
                    </a:lnTo>
                    <a:lnTo>
                      <a:pt x="4229" y="2228"/>
                    </a:lnTo>
                    <a:lnTo>
                      <a:pt x="4229" y="2007"/>
                    </a:lnTo>
                    <a:lnTo>
                      <a:pt x="4218" y="1851"/>
                    </a:lnTo>
                    <a:lnTo>
                      <a:pt x="4206" y="1759"/>
                    </a:lnTo>
                    <a:lnTo>
                      <a:pt x="4199" y="1719"/>
                    </a:lnTo>
                    <a:lnTo>
                      <a:pt x="4181" y="1639"/>
                    </a:lnTo>
                    <a:lnTo>
                      <a:pt x="4137" y="1483"/>
                    </a:lnTo>
                    <a:lnTo>
                      <a:pt x="4082" y="1332"/>
                    </a:lnTo>
                    <a:lnTo>
                      <a:pt x="4017" y="1187"/>
                    </a:lnTo>
                    <a:lnTo>
                      <a:pt x="3941" y="1048"/>
                    </a:lnTo>
                    <a:lnTo>
                      <a:pt x="3857" y="916"/>
                    </a:lnTo>
                    <a:lnTo>
                      <a:pt x="3764" y="790"/>
                    </a:lnTo>
                    <a:lnTo>
                      <a:pt x="3662" y="672"/>
                    </a:lnTo>
                    <a:lnTo>
                      <a:pt x="3552" y="562"/>
                    </a:lnTo>
                    <a:lnTo>
                      <a:pt x="3434" y="460"/>
                    </a:lnTo>
                    <a:lnTo>
                      <a:pt x="3310" y="367"/>
                    </a:lnTo>
                    <a:lnTo>
                      <a:pt x="3179" y="284"/>
                    </a:lnTo>
                    <a:lnTo>
                      <a:pt x="3042" y="210"/>
                    </a:lnTo>
                    <a:lnTo>
                      <a:pt x="2899" y="146"/>
                    </a:lnTo>
                    <a:lnTo>
                      <a:pt x="2750" y="93"/>
                    </a:lnTo>
                    <a:lnTo>
                      <a:pt x="2597" y="51"/>
                    </a:lnTo>
                    <a:lnTo>
                      <a:pt x="2519" y="35"/>
                    </a:lnTo>
                    <a:lnTo>
                      <a:pt x="2460" y="26"/>
                    </a:lnTo>
                    <a:lnTo>
                      <a:pt x="2294" y="10"/>
                    </a:lnTo>
                    <a:lnTo>
                      <a:pt x="2110" y="0"/>
                    </a:lnTo>
                    <a:lnTo>
                      <a:pt x="1955" y="0"/>
                    </a:lnTo>
                    <a:lnTo>
                      <a:pt x="1905" y="4"/>
                    </a:lnTo>
                    <a:close/>
                    <a:moveTo>
                      <a:pt x="2349" y="362"/>
                    </a:moveTo>
                    <a:lnTo>
                      <a:pt x="2421" y="373"/>
                    </a:lnTo>
                    <a:lnTo>
                      <a:pt x="2564" y="404"/>
                    </a:lnTo>
                    <a:lnTo>
                      <a:pt x="2701" y="446"/>
                    </a:lnTo>
                    <a:lnTo>
                      <a:pt x="2834" y="499"/>
                    </a:lnTo>
                    <a:lnTo>
                      <a:pt x="2962" y="563"/>
                    </a:lnTo>
                    <a:lnTo>
                      <a:pt x="3084" y="637"/>
                    </a:lnTo>
                    <a:lnTo>
                      <a:pt x="3201" y="721"/>
                    </a:lnTo>
                    <a:lnTo>
                      <a:pt x="3312" y="816"/>
                    </a:lnTo>
                    <a:lnTo>
                      <a:pt x="3365" y="867"/>
                    </a:lnTo>
                    <a:lnTo>
                      <a:pt x="3428" y="932"/>
                    </a:lnTo>
                    <a:lnTo>
                      <a:pt x="3539" y="1068"/>
                    </a:lnTo>
                    <a:lnTo>
                      <a:pt x="3635" y="1211"/>
                    </a:lnTo>
                    <a:lnTo>
                      <a:pt x="3716" y="1361"/>
                    </a:lnTo>
                    <a:lnTo>
                      <a:pt x="3781" y="1516"/>
                    </a:lnTo>
                    <a:lnTo>
                      <a:pt x="3830" y="1676"/>
                    </a:lnTo>
                    <a:lnTo>
                      <a:pt x="3864" y="1838"/>
                    </a:lnTo>
                    <a:lnTo>
                      <a:pt x="3883" y="2003"/>
                    </a:lnTo>
                    <a:lnTo>
                      <a:pt x="3885" y="2169"/>
                    </a:lnTo>
                    <a:lnTo>
                      <a:pt x="3872" y="2334"/>
                    </a:lnTo>
                    <a:lnTo>
                      <a:pt x="3843" y="2499"/>
                    </a:lnTo>
                    <a:lnTo>
                      <a:pt x="3799" y="2661"/>
                    </a:lnTo>
                    <a:lnTo>
                      <a:pt x="3739" y="2820"/>
                    </a:lnTo>
                    <a:lnTo>
                      <a:pt x="3663" y="2974"/>
                    </a:lnTo>
                    <a:lnTo>
                      <a:pt x="3571" y="3123"/>
                    </a:lnTo>
                    <a:lnTo>
                      <a:pt x="3464" y="3266"/>
                    </a:lnTo>
                    <a:lnTo>
                      <a:pt x="3404" y="3334"/>
                    </a:lnTo>
                    <a:lnTo>
                      <a:pt x="3365" y="3375"/>
                    </a:lnTo>
                    <a:lnTo>
                      <a:pt x="3277" y="3455"/>
                    </a:lnTo>
                    <a:lnTo>
                      <a:pt x="3179" y="3532"/>
                    </a:lnTo>
                    <a:lnTo>
                      <a:pt x="3073" y="3604"/>
                    </a:lnTo>
                    <a:lnTo>
                      <a:pt x="2961" y="3670"/>
                    </a:lnTo>
                    <a:lnTo>
                      <a:pt x="2845" y="3729"/>
                    </a:lnTo>
                    <a:lnTo>
                      <a:pt x="2726" y="3780"/>
                    </a:lnTo>
                    <a:lnTo>
                      <a:pt x="2606" y="3822"/>
                    </a:lnTo>
                    <a:lnTo>
                      <a:pt x="2547" y="3839"/>
                    </a:lnTo>
                    <a:lnTo>
                      <a:pt x="2495" y="3852"/>
                    </a:lnTo>
                    <a:lnTo>
                      <a:pt x="2408" y="3870"/>
                    </a:lnTo>
                    <a:lnTo>
                      <a:pt x="2317" y="3879"/>
                    </a:lnTo>
                    <a:lnTo>
                      <a:pt x="2196" y="3882"/>
                    </a:lnTo>
                    <a:lnTo>
                      <a:pt x="2114" y="3882"/>
                    </a:lnTo>
                    <a:lnTo>
                      <a:pt x="2031" y="3882"/>
                    </a:lnTo>
                    <a:lnTo>
                      <a:pt x="1911" y="3879"/>
                    </a:lnTo>
                    <a:lnTo>
                      <a:pt x="1821" y="3870"/>
                    </a:lnTo>
                    <a:lnTo>
                      <a:pt x="1735" y="3852"/>
                    </a:lnTo>
                    <a:lnTo>
                      <a:pt x="1684" y="3839"/>
                    </a:lnTo>
                    <a:lnTo>
                      <a:pt x="1624" y="3822"/>
                    </a:lnTo>
                    <a:lnTo>
                      <a:pt x="1508" y="3783"/>
                    </a:lnTo>
                    <a:lnTo>
                      <a:pt x="1396" y="3737"/>
                    </a:lnTo>
                    <a:lnTo>
                      <a:pt x="1289" y="3684"/>
                    </a:lnTo>
                    <a:lnTo>
                      <a:pt x="1185" y="3625"/>
                    </a:lnTo>
                    <a:lnTo>
                      <a:pt x="1087" y="3560"/>
                    </a:lnTo>
                    <a:lnTo>
                      <a:pt x="993" y="3488"/>
                    </a:lnTo>
                    <a:lnTo>
                      <a:pt x="904" y="3411"/>
                    </a:lnTo>
                    <a:lnTo>
                      <a:pt x="821" y="3328"/>
                    </a:lnTo>
                    <a:lnTo>
                      <a:pt x="744" y="3240"/>
                    </a:lnTo>
                    <a:lnTo>
                      <a:pt x="672" y="3146"/>
                    </a:lnTo>
                    <a:lnTo>
                      <a:pt x="607" y="3048"/>
                    </a:lnTo>
                    <a:lnTo>
                      <a:pt x="547" y="2945"/>
                    </a:lnTo>
                    <a:lnTo>
                      <a:pt x="495" y="2838"/>
                    </a:lnTo>
                    <a:lnTo>
                      <a:pt x="449" y="2727"/>
                    </a:lnTo>
                    <a:lnTo>
                      <a:pt x="410" y="2611"/>
                    </a:lnTo>
                    <a:lnTo>
                      <a:pt x="394" y="2552"/>
                    </a:lnTo>
                    <a:lnTo>
                      <a:pt x="380" y="2500"/>
                    </a:lnTo>
                    <a:lnTo>
                      <a:pt x="363" y="2413"/>
                    </a:lnTo>
                    <a:lnTo>
                      <a:pt x="354" y="2322"/>
                    </a:lnTo>
                    <a:lnTo>
                      <a:pt x="350" y="2201"/>
                    </a:lnTo>
                    <a:lnTo>
                      <a:pt x="350" y="2119"/>
                    </a:lnTo>
                    <a:lnTo>
                      <a:pt x="350" y="2036"/>
                    </a:lnTo>
                    <a:lnTo>
                      <a:pt x="354" y="1916"/>
                    </a:lnTo>
                    <a:lnTo>
                      <a:pt x="363" y="1825"/>
                    </a:lnTo>
                    <a:lnTo>
                      <a:pt x="380" y="1737"/>
                    </a:lnTo>
                    <a:lnTo>
                      <a:pt x="394" y="1685"/>
                    </a:lnTo>
                    <a:lnTo>
                      <a:pt x="410" y="1627"/>
                    </a:lnTo>
                    <a:lnTo>
                      <a:pt x="448" y="1512"/>
                    </a:lnTo>
                    <a:lnTo>
                      <a:pt x="494" y="1401"/>
                    </a:lnTo>
                    <a:lnTo>
                      <a:pt x="546" y="1295"/>
                    </a:lnTo>
                    <a:lnTo>
                      <a:pt x="605" y="1192"/>
                    </a:lnTo>
                    <a:lnTo>
                      <a:pt x="670" y="1094"/>
                    </a:lnTo>
                    <a:lnTo>
                      <a:pt x="742" y="1000"/>
                    </a:lnTo>
                    <a:lnTo>
                      <a:pt x="820" y="910"/>
                    </a:lnTo>
                    <a:lnTo>
                      <a:pt x="862" y="867"/>
                    </a:lnTo>
                    <a:lnTo>
                      <a:pt x="899" y="831"/>
                    </a:lnTo>
                    <a:lnTo>
                      <a:pt x="977" y="762"/>
                    </a:lnTo>
                    <a:lnTo>
                      <a:pt x="1058" y="698"/>
                    </a:lnTo>
                    <a:lnTo>
                      <a:pt x="1142" y="639"/>
                    </a:lnTo>
                    <a:lnTo>
                      <a:pt x="1228" y="585"/>
                    </a:lnTo>
                    <a:lnTo>
                      <a:pt x="1318" y="537"/>
                    </a:lnTo>
                    <a:lnTo>
                      <a:pt x="1409" y="493"/>
                    </a:lnTo>
                    <a:lnTo>
                      <a:pt x="1503" y="456"/>
                    </a:lnTo>
                    <a:lnTo>
                      <a:pt x="1598" y="423"/>
                    </a:lnTo>
                    <a:lnTo>
                      <a:pt x="1695" y="396"/>
                    </a:lnTo>
                    <a:lnTo>
                      <a:pt x="1794" y="375"/>
                    </a:lnTo>
                    <a:lnTo>
                      <a:pt x="1893" y="359"/>
                    </a:lnTo>
                    <a:lnTo>
                      <a:pt x="1994" y="350"/>
                    </a:lnTo>
                    <a:lnTo>
                      <a:pt x="2095" y="346"/>
                    </a:lnTo>
                    <a:lnTo>
                      <a:pt x="2196" y="348"/>
                    </a:lnTo>
                    <a:lnTo>
                      <a:pt x="2298" y="355"/>
                    </a:lnTo>
                    <a:lnTo>
                      <a:pt x="2349"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0" name="Freeform 9">
                <a:extLst>
                  <a:ext uri="{FF2B5EF4-FFF2-40B4-BE49-F238E27FC236}">
                    <a16:creationId xmlns:a16="http://schemas.microsoft.com/office/drawing/2014/main" id="{4F526E35-A804-6DDF-0CBA-D9A088CC786E}"/>
                  </a:ext>
                </a:extLst>
              </p:cNvPr>
              <p:cNvSpPr>
                <a:spLocks/>
              </p:cNvSpPr>
              <p:nvPr/>
            </p:nvSpPr>
            <p:spPr bwMode="auto">
              <a:xfrm>
                <a:off x="10763484"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pPr algn="r" rtl="1"/>
                <a:endParaRPr lang="en-US"/>
              </a:p>
            </p:txBody>
          </p:sp>
          <p:sp>
            <p:nvSpPr>
              <p:cNvPr id="11" name="Freeform 10">
                <a:extLst>
                  <a:ext uri="{FF2B5EF4-FFF2-40B4-BE49-F238E27FC236}">
                    <a16:creationId xmlns:a16="http://schemas.microsoft.com/office/drawing/2014/main" id="{E9ECAAD5-EA4D-B307-EEB8-E468B5637A9E}"/>
                  </a:ext>
                </a:extLst>
              </p:cNvPr>
              <p:cNvSpPr>
                <a:spLocks/>
              </p:cNvSpPr>
              <p:nvPr/>
            </p:nvSpPr>
            <p:spPr bwMode="auto">
              <a:xfrm>
                <a:off x="10015708" y="3364401"/>
                <a:ext cx="588058" cy="24956"/>
              </a:xfrm>
              <a:custGeom>
                <a:avLst/>
                <a:gdLst>
                  <a:gd name="T0" fmla="*/ 5 w 3499"/>
                  <a:gd name="T1" fmla="*/ 23 h 150"/>
                  <a:gd name="T2" fmla="*/ 2 w 3499"/>
                  <a:gd name="T3" fmla="*/ 36 h 150"/>
                  <a:gd name="T4" fmla="*/ 0 w 3499"/>
                  <a:gd name="T5" fmla="*/ 74 h 150"/>
                  <a:gd name="T6" fmla="*/ 2 w 3499"/>
                  <a:gd name="T7" fmla="*/ 95 h 150"/>
                  <a:gd name="T8" fmla="*/ 7 w 3499"/>
                  <a:gd name="T9" fmla="*/ 142 h 150"/>
                  <a:gd name="T10" fmla="*/ 1720 w 3499"/>
                  <a:gd name="T11" fmla="*/ 147 h 150"/>
                  <a:gd name="T12" fmla="*/ 3432 w 3499"/>
                  <a:gd name="T13" fmla="*/ 150 h 150"/>
                  <a:gd name="T14" fmla="*/ 3465 w 3499"/>
                  <a:gd name="T15" fmla="*/ 97 h 150"/>
                  <a:gd name="T16" fmla="*/ 3479 w 3499"/>
                  <a:gd name="T17" fmla="*/ 74 h 150"/>
                  <a:gd name="T18" fmla="*/ 3497 w 3499"/>
                  <a:gd name="T19" fmla="*/ 32 h 150"/>
                  <a:gd name="T20" fmla="*/ 3499 w 3499"/>
                  <a:gd name="T21" fmla="*/ 20 h 150"/>
                  <a:gd name="T22" fmla="*/ 3496 w 3499"/>
                  <a:gd name="T23" fmla="*/ 17 h 150"/>
                  <a:gd name="T24" fmla="*/ 3458 w 3499"/>
                  <a:gd name="T25" fmla="*/ 13 h 150"/>
                  <a:gd name="T26" fmla="*/ 3321 w 3499"/>
                  <a:gd name="T27" fmla="*/ 7 h 150"/>
                  <a:gd name="T28" fmla="*/ 2666 w 3499"/>
                  <a:gd name="T29" fmla="*/ 1 h 150"/>
                  <a:gd name="T30" fmla="*/ 1757 w 3499"/>
                  <a:gd name="T31" fmla="*/ 0 h 150"/>
                  <a:gd name="T32" fmla="*/ 795 w 3499"/>
                  <a:gd name="T33" fmla="*/ 0 h 150"/>
                  <a:gd name="T34" fmla="*/ 161 w 3499"/>
                  <a:gd name="T35" fmla="*/ 7 h 150"/>
                  <a:gd name="T36" fmla="*/ 41 w 3499"/>
                  <a:gd name="T37" fmla="*/ 14 h 150"/>
                  <a:gd name="T38" fmla="*/ 9 w 3499"/>
                  <a:gd name="T39" fmla="*/ 20 h 150"/>
                  <a:gd name="T40" fmla="*/ 5 w 3499"/>
                  <a:gd name="T41"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99" h="150">
                    <a:moveTo>
                      <a:pt x="5" y="23"/>
                    </a:moveTo>
                    <a:lnTo>
                      <a:pt x="2" y="36"/>
                    </a:lnTo>
                    <a:lnTo>
                      <a:pt x="0" y="74"/>
                    </a:lnTo>
                    <a:lnTo>
                      <a:pt x="2" y="95"/>
                    </a:lnTo>
                    <a:lnTo>
                      <a:pt x="7" y="142"/>
                    </a:lnTo>
                    <a:lnTo>
                      <a:pt x="1720" y="147"/>
                    </a:lnTo>
                    <a:lnTo>
                      <a:pt x="3432" y="150"/>
                    </a:lnTo>
                    <a:lnTo>
                      <a:pt x="3465" y="97"/>
                    </a:lnTo>
                    <a:lnTo>
                      <a:pt x="3479" y="74"/>
                    </a:lnTo>
                    <a:lnTo>
                      <a:pt x="3497" y="32"/>
                    </a:lnTo>
                    <a:lnTo>
                      <a:pt x="3499" y="20"/>
                    </a:lnTo>
                    <a:lnTo>
                      <a:pt x="3496" y="17"/>
                    </a:lnTo>
                    <a:lnTo>
                      <a:pt x="3458" y="13"/>
                    </a:lnTo>
                    <a:lnTo>
                      <a:pt x="3321" y="7"/>
                    </a:lnTo>
                    <a:lnTo>
                      <a:pt x="2666" y="1"/>
                    </a:lnTo>
                    <a:lnTo>
                      <a:pt x="1757" y="0"/>
                    </a:lnTo>
                    <a:lnTo>
                      <a:pt x="795" y="0"/>
                    </a:lnTo>
                    <a:lnTo>
                      <a:pt x="161" y="7"/>
                    </a:lnTo>
                    <a:lnTo>
                      <a:pt x="41"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2" name="Freeform 11">
                <a:extLst>
                  <a:ext uri="{FF2B5EF4-FFF2-40B4-BE49-F238E27FC236}">
                    <a16:creationId xmlns:a16="http://schemas.microsoft.com/office/drawing/2014/main" id="{577A4336-646F-DE01-486A-D2ECCAABF4C7}"/>
                  </a:ext>
                </a:extLst>
              </p:cNvPr>
              <p:cNvSpPr>
                <a:spLocks/>
              </p:cNvSpPr>
              <p:nvPr/>
            </p:nvSpPr>
            <p:spPr bwMode="auto">
              <a:xfrm>
                <a:off x="10015708" y="3565865"/>
                <a:ext cx="534969" cy="25410"/>
              </a:xfrm>
              <a:custGeom>
                <a:avLst/>
                <a:gdLst>
                  <a:gd name="T0" fmla="*/ 5 w 3182"/>
                  <a:gd name="T1" fmla="*/ 23 h 150"/>
                  <a:gd name="T2" fmla="*/ 2 w 3182"/>
                  <a:gd name="T3" fmla="*/ 36 h 150"/>
                  <a:gd name="T4" fmla="*/ 0 w 3182"/>
                  <a:gd name="T5" fmla="*/ 74 h 150"/>
                  <a:gd name="T6" fmla="*/ 2 w 3182"/>
                  <a:gd name="T7" fmla="*/ 95 h 150"/>
                  <a:gd name="T8" fmla="*/ 7 w 3182"/>
                  <a:gd name="T9" fmla="*/ 142 h 150"/>
                  <a:gd name="T10" fmla="*/ 1595 w 3182"/>
                  <a:gd name="T11" fmla="*/ 147 h 150"/>
                  <a:gd name="T12" fmla="*/ 3182 w 3182"/>
                  <a:gd name="T13" fmla="*/ 150 h 150"/>
                  <a:gd name="T14" fmla="*/ 3182 w 3182"/>
                  <a:gd name="T15" fmla="*/ 75 h 150"/>
                  <a:gd name="T16" fmla="*/ 3182 w 3182"/>
                  <a:gd name="T17" fmla="*/ 0 h 150"/>
                  <a:gd name="T18" fmla="*/ 1599 w 3182"/>
                  <a:gd name="T19" fmla="*/ 0 h 150"/>
                  <a:gd name="T20" fmla="*/ 725 w 3182"/>
                  <a:gd name="T21" fmla="*/ 0 h 150"/>
                  <a:gd name="T22" fmla="*/ 148 w 3182"/>
                  <a:gd name="T23" fmla="*/ 7 h 150"/>
                  <a:gd name="T24" fmla="*/ 38 w 3182"/>
                  <a:gd name="T25" fmla="*/ 14 h 150"/>
                  <a:gd name="T26" fmla="*/ 9 w 3182"/>
                  <a:gd name="T27" fmla="*/ 20 h 150"/>
                  <a:gd name="T28" fmla="*/ 5 w 3182"/>
                  <a:gd name="T29"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82" h="150">
                    <a:moveTo>
                      <a:pt x="5" y="23"/>
                    </a:moveTo>
                    <a:lnTo>
                      <a:pt x="2" y="36"/>
                    </a:lnTo>
                    <a:lnTo>
                      <a:pt x="0" y="74"/>
                    </a:lnTo>
                    <a:lnTo>
                      <a:pt x="2" y="95"/>
                    </a:lnTo>
                    <a:lnTo>
                      <a:pt x="7" y="142"/>
                    </a:lnTo>
                    <a:lnTo>
                      <a:pt x="1595" y="147"/>
                    </a:lnTo>
                    <a:lnTo>
                      <a:pt x="3182" y="150"/>
                    </a:lnTo>
                    <a:lnTo>
                      <a:pt x="3182" y="75"/>
                    </a:lnTo>
                    <a:lnTo>
                      <a:pt x="3182" y="0"/>
                    </a:lnTo>
                    <a:lnTo>
                      <a:pt x="1599" y="0"/>
                    </a:lnTo>
                    <a:lnTo>
                      <a:pt x="725" y="0"/>
                    </a:lnTo>
                    <a:lnTo>
                      <a:pt x="148" y="7"/>
                    </a:lnTo>
                    <a:lnTo>
                      <a:pt x="38"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3" name="Freeform 12">
                <a:extLst>
                  <a:ext uri="{FF2B5EF4-FFF2-40B4-BE49-F238E27FC236}">
                    <a16:creationId xmlns:a16="http://schemas.microsoft.com/office/drawing/2014/main" id="{BD289E4C-C48C-1BDA-42E1-0F400FE65FC1}"/>
                  </a:ext>
                </a:extLst>
              </p:cNvPr>
              <p:cNvSpPr>
                <a:spLocks/>
              </p:cNvSpPr>
              <p:nvPr/>
            </p:nvSpPr>
            <p:spPr bwMode="auto">
              <a:xfrm>
                <a:off x="10015708" y="3756440"/>
                <a:ext cx="591688" cy="24956"/>
              </a:xfrm>
              <a:custGeom>
                <a:avLst/>
                <a:gdLst>
                  <a:gd name="T0" fmla="*/ 5 w 3519"/>
                  <a:gd name="T1" fmla="*/ 22 h 148"/>
                  <a:gd name="T2" fmla="*/ 2 w 3519"/>
                  <a:gd name="T3" fmla="*/ 34 h 148"/>
                  <a:gd name="T4" fmla="*/ 0 w 3519"/>
                  <a:gd name="T5" fmla="*/ 73 h 148"/>
                  <a:gd name="T6" fmla="*/ 2 w 3519"/>
                  <a:gd name="T7" fmla="*/ 93 h 148"/>
                  <a:gd name="T8" fmla="*/ 7 w 3519"/>
                  <a:gd name="T9" fmla="*/ 140 h 148"/>
                  <a:gd name="T10" fmla="*/ 1762 w 3519"/>
                  <a:gd name="T11" fmla="*/ 145 h 148"/>
                  <a:gd name="T12" fmla="*/ 3519 w 3519"/>
                  <a:gd name="T13" fmla="*/ 148 h 148"/>
                  <a:gd name="T14" fmla="*/ 3479 w 3519"/>
                  <a:gd name="T15" fmla="*/ 78 h 148"/>
                  <a:gd name="T16" fmla="*/ 3440 w 3519"/>
                  <a:gd name="T17" fmla="*/ 7 h 148"/>
                  <a:gd name="T18" fmla="*/ 1727 w 3519"/>
                  <a:gd name="T19" fmla="*/ 2 h 148"/>
                  <a:gd name="T20" fmla="*/ 779 w 3519"/>
                  <a:gd name="T21" fmla="*/ 0 h 148"/>
                  <a:gd name="T22" fmla="*/ 158 w 3519"/>
                  <a:gd name="T23" fmla="*/ 5 h 148"/>
                  <a:gd name="T24" fmla="*/ 40 w 3519"/>
                  <a:gd name="T25" fmla="*/ 12 h 148"/>
                  <a:gd name="T26" fmla="*/ 9 w 3519"/>
                  <a:gd name="T27" fmla="*/ 18 h 148"/>
                  <a:gd name="T28" fmla="*/ 5 w 3519"/>
                  <a:gd name="T29" fmla="*/ 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9" h="148">
                    <a:moveTo>
                      <a:pt x="5" y="22"/>
                    </a:moveTo>
                    <a:lnTo>
                      <a:pt x="2" y="34"/>
                    </a:lnTo>
                    <a:lnTo>
                      <a:pt x="0" y="73"/>
                    </a:lnTo>
                    <a:lnTo>
                      <a:pt x="2" y="93"/>
                    </a:lnTo>
                    <a:lnTo>
                      <a:pt x="7" y="140"/>
                    </a:lnTo>
                    <a:lnTo>
                      <a:pt x="1762" y="145"/>
                    </a:lnTo>
                    <a:lnTo>
                      <a:pt x="3519" y="148"/>
                    </a:lnTo>
                    <a:lnTo>
                      <a:pt x="3479" y="78"/>
                    </a:lnTo>
                    <a:lnTo>
                      <a:pt x="3440" y="7"/>
                    </a:lnTo>
                    <a:lnTo>
                      <a:pt x="1727" y="2"/>
                    </a:lnTo>
                    <a:lnTo>
                      <a:pt x="779" y="0"/>
                    </a:lnTo>
                    <a:lnTo>
                      <a:pt x="158" y="5"/>
                    </a:lnTo>
                    <a:lnTo>
                      <a:pt x="40"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4" name="Freeform 13">
                <a:extLst>
                  <a:ext uri="{FF2B5EF4-FFF2-40B4-BE49-F238E27FC236}">
                    <a16:creationId xmlns:a16="http://schemas.microsoft.com/office/drawing/2014/main" id="{0C4D1262-B931-A8A3-9FF3-0573D05C6ECB}"/>
                  </a:ext>
                </a:extLst>
              </p:cNvPr>
              <p:cNvSpPr>
                <a:spLocks/>
              </p:cNvSpPr>
              <p:nvPr/>
            </p:nvSpPr>
            <p:spPr bwMode="auto">
              <a:xfrm>
                <a:off x="10015253" y="3949283"/>
                <a:ext cx="697865" cy="22688"/>
              </a:xfrm>
              <a:custGeom>
                <a:avLst/>
                <a:gdLst>
                  <a:gd name="T0" fmla="*/ 0 w 4150"/>
                  <a:gd name="T1" fmla="*/ 67 h 134"/>
                  <a:gd name="T2" fmla="*/ 0 w 4150"/>
                  <a:gd name="T3" fmla="*/ 134 h 134"/>
                  <a:gd name="T4" fmla="*/ 2075 w 4150"/>
                  <a:gd name="T5" fmla="*/ 134 h 134"/>
                  <a:gd name="T6" fmla="*/ 4150 w 4150"/>
                  <a:gd name="T7" fmla="*/ 134 h 134"/>
                  <a:gd name="T8" fmla="*/ 4150 w 4150"/>
                  <a:gd name="T9" fmla="*/ 67 h 134"/>
                  <a:gd name="T10" fmla="*/ 4150 w 4150"/>
                  <a:gd name="T11" fmla="*/ 0 h 134"/>
                  <a:gd name="T12" fmla="*/ 2075 w 4150"/>
                  <a:gd name="T13" fmla="*/ 0 h 134"/>
                  <a:gd name="T14" fmla="*/ 0 w 4150"/>
                  <a:gd name="T15" fmla="*/ 0 h 134"/>
                  <a:gd name="T16" fmla="*/ 0 w 4150"/>
                  <a:gd name="T17" fmla="*/ 6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50" h="134">
                    <a:moveTo>
                      <a:pt x="0" y="67"/>
                    </a:moveTo>
                    <a:lnTo>
                      <a:pt x="0" y="134"/>
                    </a:lnTo>
                    <a:lnTo>
                      <a:pt x="2075" y="134"/>
                    </a:lnTo>
                    <a:lnTo>
                      <a:pt x="4150" y="134"/>
                    </a:lnTo>
                    <a:lnTo>
                      <a:pt x="4150" y="67"/>
                    </a:lnTo>
                    <a:lnTo>
                      <a:pt x="4150" y="0"/>
                    </a:lnTo>
                    <a:lnTo>
                      <a:pt x="2075" y="0"/>
                    </a:lnTo>
                    <a:lnTo>
                      <a:pt x="0"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grpSp>
        <p:sp>
          <p:nvSpPr>
            <p:cNvPr id="6" name="Freeform 9">
              <a:extLst>
                <a:ext uri="{FF2B5EF4-FFF2-40B4-BE49-F238E27FC236}">
                  <a16:creationId xmlns:a16="http://schemas.microsoft.com/office/drawing/2014/main" id="{EB9C351F-0EF2-E5D7-B2D9-31ACD299E002}"/>
                </a:ext>
              </a:extLst>
            </p:cNvPr>
            <p:cNvSpPr>
              <a:spLocks/>
            </p:cNvSpPr>
            <p:nvPr/>
          </p:nvSpPr>
          <p:spPr bwMode="auto">
            <a:xfrm flipH="1">
              <a:off x="1210776"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dirty="0"/>
            </a:p>
          </p:txBody>
        </p:sp>
      </p:grpSp>
      <p:sp>
        <p:nvSpPr>
          <p:cNvPr id="15" name="Rectangle 14">
            <a:extLst>
              <a:ext uri="{FF2B5EF4-FFF2-40B4-BE49-F238E27FC236}">
                <a16:creationId xmlns:a16="http://schemas.microsoft.com/office/drawing/2014/main" id="{7B21A5CB-82AC-F540-2F06-31E6BF4F283A}"/>
              </a:ext>
            </a:extLst>
          </p:cNvPr>
          <p:cNvSpPr/>
          <p:nvPr/>
        </p:nvSpPr>
        <p:spPr>
          <a:xfrm>
            <a:off x="1396538" y="1648798"/>
            <a:ext cx="7874137" cy="3430278"/>
          </a:xfrm>
          <a:prstGeom prst="rect">
            <a:avLst/>
          </a:prstGeom>
        </p:spPr>
        <p:txBody>
          <a:bodyPr anchor="ctr" anchorCtr="0">
            <a:normAutofit lnSpcReduction="10000"/>
          </a:bodyPr>
          <a:lstStyle/>
          <a:p>
            <a:pPr algn="r" rtl="1">
              <a:lnSpc>
                <a:spcPct val="150000"/>
              </a:lnSpc>
              <a:spcAft>
                <a:spcPts val="1200"/>
              </a:spcAft>
            </a:pPr>
            <a:r>
              <a:rPr lang="ar-EG" sz="2400" dirty="0"/>
              <a:t>لضمان نجاح تطبيق ممارسة البنية المؤسسية لدى الهيئة؛ فإنه من المهم تعريف مجموعة من المبادئ المرتبطة بكل مجال من مجالات البنية المؤسسية والتي تهدف إلى تعريف المبادئ الرئيسية لتطوير مكونات البنية المؤسسية.</a:t>
            </a:r>
          </a:p>
          <a:p>
            <a:pPr algn="r" rtl="1">
              <a:lnSpc>
                <a:spcPct val="150000"/>
              </a:lnSpc>
              <a:spcAft>
                <a:spcPts val="1200"/>
              </a:spcAft>
            </a:pPr>
            <a:r>
              <a:rPr lang="ar-EG" sz="2400" dirty="0"/>
              <a:t>هذه المبادئ تم استقاؤها بالأساس من التوجهات الوطنية المتعلقة بالحكومة الرقمية، بما في ذلك السياسات والضوابط والأدلة الاسترشادية ذات العلاقة بالتحول الرقمي، كما تم بناؤها أيضا بالتنسيق مع أصحاب الاختصاص لدى الهيئة.</a:t>
            </a:r>
          </a:p>
        </p:txBody>
      </p:sp>
    </p:spTree>
    <p:extLst>
      <p:ext uri="{BB962C8B-B14F-4D97-AF65-F5344CB8AC3E}">
        <p14:creationId xmlns:p14="http://schemas.microsoft.com/office/powerpoint/2010/main" val="39365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9</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الفرق بين المبادئ والمعايير في ممارسة البنية المؤسسية</a:t>
            </a:r>
            <a:endParaRPr lang="en-US" dirty="0"/>
          </a:p>
        </p:txBody>
      </p:sp>
      <p:graphicFrame>
        <p:nvGraphicFramePr>
          <p:cNvPr id="3" name="Content Placeholder 5">
            <a:extLst>
              <a:ext uri="{FF2B5EF4-FFF2-40B4-BE49-F238E27FC236}">
                <a16:creationId xmlns:a16="http://schemas.microsoft.com/office/drawing/2014/main" id="{528832CE-5AE3-AD81-9355-F175A54DFA9C}"/>
              </a:ext>
            </a:extLst>
          </p:cNvPr>
          <p:cNvGraphicFramePr>
            <a:graphicFrameLocks/>
          </p:cNvGraphicFramePr>
          <p:nvPr>
            <p:extLst>
              <p:ext uri="{D42A27DB-BD31-4B8C-83A1-F6EECF244321}">
                <p14:modId xmlns:p14="http://schemas.microsoft.com/office/powerpoint/2010/main" val="3878479916"/>
              </p:ext>
            </p:extLst>
          </p:nvPr>
        </p:nvGraphicFramePr>
        <p:xfrm>
          <a:off x="896107" y="1588142"/>
          <a:ext cx="10399785" cy="3365723"/>
        </p:xfrm>
        <a:graphic>
          <a:graphicData uri="http://schemas.openxmlformats.org/drawingml/2006/table">
            <a:tbl>
              <a:tblPr rtl="1" firstRow="1" bandRow="1">
                <a:tableStyleId>{5C22544A-7EE6-4342-B048-85BDC9FD1C3A}</a:tableStyleId>
              </a:tblPr>
              <a:tblGrid>
                <a:gridCol w="1723563">
                  <a:extLst>
                    <a:ext uri="{9D8B030D-6E8A-4147-A177-3AD203B41FA5}">
                      <a16:colId xmlns:a16="http://schemas.microsoft.com/office/drawing/2014/main" val="72010324"/>
                    </a:ext>
                  </a:extLst>
                </a:gridCol>
                <a:gridCol w="4338111">
                  <a:extLst>
                    <a:ext uri="{9D8B030D-6E8A-4147-A177-3AD203B41FA5}">
                      <a16:colId xmlns:a16="http://schemas.microsoft.com/office/drawing/2014/main" val="2262792513"/>
                    </a:ext>
                  </a:extLst>
                </a:gridCol>
                <a:gridCol w="4338111">
                  <a:extLst>
                    <a:ext uri="{9D8B030D-6E8A-4147-A177-3AD203B41FA5}">
                      <a16:colId xmlns:a16="http://schemas.microsoft.com/office/drawing/2014/main" val="676226813"/>
                    </a:ext>
                  </a:extLst>
                </a:gridCol>
              </a:tblGrid>
              <a:tr h="718476">
                <a:tc>
                  <a:txBody>
                    <a:bodyPr/>
                    <a:lstStyle/>
                    <a:p>
                      <a:pPr algn="ctr" rtl="1"/>
                      <a:r>
                        <a:rPr lang="ar-EG" sz="2400" baseline="0" dirty="0">
                          <a:solidFill>
                            <a:schemeClr val="bg1"/>
                          </a:solidFill>
                          <a:latin typeface="Sakkal Majalla" panose="02000000000000000000" pitchFamily="2" charset="-78"/>
                          <a:cs typeface="Sakkal Majalla" panose="02000000000000000000" pitchFamily="2" charset="-78"/>
                        </a:rPr>
                        <a:t>العنصر</a:t>
                      </a:r>
                      <a:endParaRPr lang="en-US" sz="2400" b="1" baseline="0" dirty="0">
                        <a:solidFill>
                          <a:schemeClr val="bg1"/>
                        </a:solidFill>
                        <a:latin typeface="Sakkal Majalla" panose="02000000000000000000" pitchFamily="2" charset="-78"/>
                        <a:cs typeface="Sakkal Majalla" panose="02000000000000000000" pitchFamily="2" charset="-78"/>
                      </a:endParaRPr>
                    </a:p>
                  </a:txBody>
                  <a:tcPr anchor="ctr"/>
                </a:tc>
                <a:tc>
                  <a:txBody>
                    <a:bodyPr/>
                    <a:lstStyle/>
                    <a:p>
                      <a:pPr algn="ctr" rtl="1"/>
                      <a:r>
                        <a:rPr lang="ar-EG" sz="2400" b="1" baseline="0" dirty="0">
                          <a:solidFill>
                            <a:schemeClr val="bg1"/>
                          </a:solidFill>
                          <a:latin typeface="Sakkal Majalla" panose="02000000000000000000" pitchFamily="2" charset="-78"/>
                          <a:cs typeface="Sakkal Majalla" panose="02000000000000000000" pitchFamily="2" charset="-78"/>
                        </a:rPr>
                        <a:t>المبادئ (</a:t>
                      </a:r>
                      <a:r>
                        <a:rPr lang="en-US" sz="2400" b="1" baseline="0" dirty="0">
                          <a:solidFill>
                            <a:schemeClr val="bg1"/>
                          </a:solidFill>
                          <a:latin typeface="Sakkal Majalla" panose="02000000000000000000" pitchFamily="2" charset="-78"/>
                          <a:cs typeface="Sakkal Majalla" panose="02000000000000000000" pitchFamily="2" charset="-78"/>
                        </a:rPr>
                        <a:t>Principles</a:t>
                      </a:r>
                      <a:r>
                        <a:rPr lang="ar-EG" sz="2400" b="1" baseline="0" dirty="0">
                          <a:solidFill>
                            <a:schemeClr val="bg1"/>
                          </a:solidFill>
                          <a:latin typeface="Sakkal Majalla" panose="02000000000000000000" pitchFamily="2" charset="-78"/>
                          <a:cs typeface="Sakkal Majalla" panose="02000000000000000000" pitchFamily="2" charset="-78"/>
                        </a:rPr>
                        <a:t>)</a:t>
                      </a:r>
                      <a:endParaRPr lang="en-US" sz="2400" b="1" baseline="0" dirty="0">
                        <a:solidFill>
                          <a:schemeClr val="bg1"/>
                        </a:solidFill>
                        <a:latin typeface="Sakkal Majalla" panose="02000000000000000000" pitchFamily="2" charset="-78"/>
                        <a:cs typeface="Sakkal Majalla" panose="02000000000000000000" pitchFamily="2" charset="-78"/>
                      </a:endParaRPr>
                    </a:p>
                  </a:txBody>
                  <a:tcPr anchor="ctr"/>
                </a:tc>
                <a:tc>
                  <a:txBody>
                    <a:bodyPr/>
                    <a:lstStyle/>
                    <a:p>
                      <a:pPr algn="ctr" rtl="1"/>
                      <a:r>
                        <a:rPr lang="ar-EG" sz="2400" b="1" baseline="0" dirty="0">
                          <a:solidFill>
                            <a:schemeClr val="bg1"/>
                          </a:solidFill>
                          <a:latin typeface="Sakkal Majalla" panose="02000000000000000000" pitchFamily="2" charset="-78"/>
                          <a:cs typeface="Sakkal Majalla" panose="02000000000000000000" pitchFamily="2" charset="-78"/>
                        </a:rPr>
                        <a:t>المعايير  (</a:t>
                      </a:r>
                      <a:r>
                        <a:rPr lang="en-US" sz="2400" b="1" baseline="0" dirty="0">
                          <a:solidFill>
                            <a:schemeClr val="bg1"/>
                          </a:solidFill>
                          <a:latin typeface="Sakkal Majalla" panose="02000000000000000000" pitchFamily="2" charset="-78"/>
                          <a:cs typeface="Sakkal Majalla" panose="02000000000000000000" pitchFamily="2" charset="-78"/>
                        </a:rPr>
                        <a:t>Standards</a:t>
                      </a:r>
                      <a:r>
                        <a:rPr lang="ar-EG" sz="2400" b="1" baseline="0" dirty="0">
                          <a:solidFill>
                            <a:schemeClr val="bg1"/>
                          </a:solidFill>
                          <a:latin typeface="Sakkal Majalla" panose="02000000000000000000" pitchFamily="2" charset="-78"/>
                          <a:cs typeface="Sakkal Majalla" panose="02000000000000000000" pitchFamily="2" charset="-78"/>
                        </a:rPr>
                        <a:t>)</a:t>
                      </a:r>
                      <a:endParaRPr lang="en-US" sz="2400" b="1" baseline="0" dirty="0">
                        <a:solidFill>
                          <a:schemeClr val="bg1"/>
                        </a:solidFill>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560484865"/>
                  </a:ext>
                </a:extLst>
              </a:tr>
              <a:tr h="1211993">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dirty="0">
                          <a:ln>
                            <a:noFill/>
                          </a:ln>
                          <a:solidFill>
                            <a:schemeClr val="bg1"/>
                          </a:solidFill>
                          <a:effectLst/>
                          <a:uLnTx/>
                          <a:uFillTx/>
                          <a:latin typeface="Sakkal Majalla" panose="02000000000000000000" pitchFamily="2" charset="-78"/>
                          <a:ea typeface="+mn-ea"/>
                          <a:cs typeface="Sakkal Majalla" panose="02000000000000000000" pitchFamily="2" charset="-78"/>
                        </a:rPr>
                        <a:t>التعريف</a:t>
                      </a:r>
                      <a:endParaRPr kumimoji="0" lang="en-US" sz="2400" b="1" i="0" u="none" strike="noStrike" kern="1200" cap="none" spc="0" normalizeH="0" baseline="0" dirty="0">
                        <a:ln>
                          <a:noFill/>
                        </a:ln>
                        <a:solidFill>
                          <a:schemeClr val="bg1"/>
                        </a:solidFill>
                        <a:effectLst/>
                        <a:uLnTx/>
                        <a:uFillTx/>
                        <a:latin typeface="Sakkal Majalla" panose="02000000000000000000" pitchFamily="2" charset="-78"/>
                        <a:ea typeface="+mn-ea"/>
                        <a:cs typeface="Sakkal Majalla" panose="02000000000000000000" pitchFamily="2" charset="-78"/>
                      </a:endParaRPr>
                    </a:p>
                  </a:txBody>
                  <a:tcPr anchor="ctr">
                    <a:lnB w="12700"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000" b="0"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هي قواعد وإرشادات عامة توجه عملية اتخاذ القرار وتطوير البنية المؤسسية، وتعكس قيم وأهداف </a:t>
                      </a:r>
                      <a:r>
                        <a:rPr kumimoji="0" lang="ar-EG" sz="2000" b="0"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الهيئة</a:t>
                      </a:r>
                      <a:endParaRPr kumimoji="0" lang="en-US" sz="2000" b="0"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marL="137160" marR="137160" marT="137160" marB="137160" anchor="ctr">
                    <a:lnB w="12700" cap="flat" cmpd="sng" algn="ctr">
                      <a:solidFill>
                        <a:schemeClr val="accent2"/>
                      </a:solidFill>
                      <a:prstDash val="solid"/>
                      <a:round/>
                      <a:headEnd type="none" w="med" len="med"/>
                      <a:tailEnd type="none" w="med" len="med"/>
                    </a:lnB>
                    <a:no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2000" b="0"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هي مواصفات وقواعد محددة قابلة للقياس يجب الالتزام بها في تصميم وتنفيذ البنية المؤسسية ومكوناتها</a:t>
                      </a:r>
                      <a:endParaRPr kumimoji="0" lang="en-US" sz="2000" b="0"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marL="137160" marR="137160" marT="137160" marB="137160" anchor="ctr">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968815825"/>
                  </a:ext>
                </a:extLst>
              </a:tr>
              <a:tr h="1435254">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400" b="1" i="0" u="none" strike="noStrike" kern="1200" cap="none" spc="0" normalizeH="0" baseline="0" noProof="0" dirty="0">
                          <a:ln>
                            <a:noFill/>
                          </a:ln>
                          <a:solidFill>
                            <a:schemeClr val="bg1"/>
                          </a:solidFill>
                          <a:effectLst/>
                          <a:uLnTx/>
                          <a:uFillTx/>
                          <a:latin typeface="Sakkal Majalla" panose="02000000000000000000" pitchFamily="2" charset="-78"/>
                          <a:ea typeface="+mn-ea"/>
                          <a:cs typeface="Sakkal Majalla" panose="02000000000000000000" pitchFamily="2" charset="-78"/>
                        </a:rPr>
                        <a:t>مجال الاستخدام</a:t>
                      </a:r>
                      <a:endParaRPr kumimoji="0" lang="en-US" sz="2400" b="1" i="0" u="none" strike="noStrike" kern="1200" cap="none" spc="0" normalizeH="0" baseline="0" noProof="0" dirty="0">
                        <a:ln>
                          <a:noFill/>
                        </a:ln>
                        <a:solidFill>
                          <a:schemeClr val="bg1"/>
                        </a:solidFill>
                        <a:effectLst/>
                        <a:uLnTx/>
                        <a:uFillTx/>
                        <a:latin typeface="Sakkal Majalla" panose="02000000000000000000" pitchFamily="2" charset="-78"/>
                        <a:ea typeface="+mn-ea"/>
                        <a:cs typeface="Sakkal Majalla" panose="02000000000000000000" pitchFamily="2" charset="-78"/>
                      </a:endParaRP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20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تستخدم لتوجيه التفكير والتخطيط الاستراتيجي، وتساعد في توحيد الجهود نحو تحقيق الرؤية والرسالة والأهداف</a:t>
                      </a:r>
                      <a:endParaRPr kumimoji="0" lang="en-US" sz="20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marL="137160" marR="137160" marT="137160" marB="13716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20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تستخدم لضمان الاتساق والامتثال في تنفيذ المشاريع والأنظمة، وتحدد التقنيات والمنهجيات المعتمدة</a:t>
                      </a:r>
                      <a:endParaRPr kumimoji="0" lang="en-US" sz="20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marL="137160" marR="137160" marT="137160" marB="13716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592398942"/>
                  </a:ext>
                </a:extLst>
              </a:tr>
            </a:tbl>
          </a:graphicData>
        </a:graphic>
      </p:graphicFrame>
    </p:spTree>
    <p:extLst>
      <p:ext uri="{BB962C8B-B14F-4D97-AF65-F5344CB8AC3E}">
        <p14:creationId xmlns:p14="http://schemas.microsoft.com/office/powerpoint/2010/main" val="2536131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BE4EC83-A869-464E-AE9F-881796FB085E}" type="slidenum">
              <a:rPr lang="en-US" smtClean="0"/>
              <a:t>10</a:t>
            </a:fld>
            <a:endParaRPr lang="en-US"/>
          </a:p>
        </p:txBody>
      </p:sp>
      <p:graphicFrame>
        <p:nvGraphicFramePr>
          <p:cNvPr id="4" name="Content Placeholder 5"/>
          <p:cNvGraphicFramePr>
            <a:graphicFrameLocks/>
          </p:cNvGraphicFramePr>
          <p:nvPr>
            <p:extLst>
              <p:ext uri="{D42A27DB-BD31-4B8C-83A1-F6EECF244321}">
                <p14:modId xmlns:p14="http://schemas.microsoft.com/office/powerpoint/2010/main" val="3542075770"/>
              </p:ext>
            </p:extLst>
          </p:nvPr>
        </p:nvGraphicFramePr>
        <p:xfrm>
          <a:off x="1956816" y="1041299"/>
          <a:ext cx="8278368" cy="5121762"/>
        </p:xfrm>
        <a:graphic>
          <a:graphicData uri="http://schemas.openxmlformats.org/drawingml/2006/table">
            <a:tbl>
              <a:tblPr rtl="1" firstRow="1" bandRow="1">
                <a:tableStyleId>{5C22544A-7EE6-4342-B048-85BDC9FD1C3A}</a:tableStyleId>
              </a:tblPr>
              <a:tblGrid>
                <a:gridCol w="8278368">
                  <a:extLst>
                    <a:ext uri="{9D8B030D-6E8A-4147-A177-3AD203B41FA5}">
                      <a16:colId xmlns:a16="http://schemas.microsoft.com/office/drawing/2014/main" val="2225789071"/>
                    </a:ext>
                  </a:extLst>
                </a:gridCol>
              </a:tblGrid>
              <a:tr h="380623">
                <a:tc>
                  <a:txBody>
                    <a:bodyPr/>
                    <a:lstStyle/>
                    <a:p>
                      <a:pPr algn="ctr"/>
                      <a:r>
                        <a:rPr lang="ar-EG" sz="2400" baseline="0" dirty="0">
                          <a:latin typeface="Sakkal Majalla" panose="02000000000000000000" pitchFamily="2" charset="-78"/>
                          <a:cs typeface="Sakkal Majalla" panose="02000000000000000000" pitchFamily="2" charset="-78"/>
                        </a:rPr>
                        <a:t>يساهم النجاح في تطبيق مبادئ البنية المؤسسية الجهات على تحقيق الفوائد التالية</a:t>
                      </a:r>
                      <a:r>
                        <a:rPr lang="ar-SA" sz="2400" baseline="0" dirty="0">
                          <a:latin typeface="Sakkal Majalla" panose="02000000000000000000" pitchFamily="2" charset="-78"/>
                          <a:cs typeface="Sakkal Majalla" panose="02000000000000000000" pitchFamily="2" charset="-78"/>
                        </a:rPr>
                        <a:t>:</a:t>
                      </a:r>
                      <a:endParaRPr lang="en-US" sz="1600" b="1" baseline="0" dirty="0">
                        <a:solidFill>
                          <a:srgbClr val="FF0000"/>
                        </a:solidFill>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560484865"/>
                  </a:ext>
                </a:extLst>
              </a:tr>
              <a:tr h="5437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رفع كفاءة توثيق وتطوير مكونات ومناظير البنية المؤسسية</a:t>
                      </a:r>
                    </a:p>
                  </a:txBody>
                  <a:tcPr anchor="ctr">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968815825"/>
                  </a:ext>
                </a:extLst>
              </a:tr>
              <a:tr h="5437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ضمان التناسق والمواءمة بين مكونات كل مجال من مجالات البنية المؤسسية</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592398942"/>
                  </a:ext>
                </a:extLst>
              </a:tr>
              <a:tr h="5437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الامتثال للمتطلبات التنظيمية المرتبطة بكل مجال من مجالات البنية المؤسسية</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425585210"/>
                  </a:ext>
                </a:extLst>
              </a:tr>
              <a:tr h="5437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تحقيق المنفعة من كل مرحلة من مراحل منهجية البنية المؤسسية وضمان تطوير مخرجات متوائمة</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للوصول إلى النتائج المرجوة من تلك المراحل</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2847485707"/>
                  </a:ext>
                </a:extLst>
              </a:tr>
              <a:tr h="5437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تحقيق كفاءة الإنفاق في قرارات الاستثمار في المبادرات والمشاريع المقترحة</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432633986"/>
                  </a:ext>
                </a:extLst>
              </a:tr>
              <a:tr h="5437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تحسين أعمال حوكمة البنية المؤسسية وعمليات اتخاذ القرار</a:t>
                      </a:r>
                      <a:r>
                        <a:rPr kumimoji="0" lang="ar-SA"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a:t>
                      </a: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 والتحقق من الامتثال لمبادئ البنية</a:t>
                      </a:r>
                      <a:r>
                        <a:rPr kumimoji="0" lang="ar-SA"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 </a:t>
                      </a: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المؤسسية</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733437279"/>
                  </a:ext>
                </a:extLst>
              </a:tr>
              <a:tr h="5437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اختيار الحلول المناسبة المتوافقة مع مبادئ البنية المؤسسية والتي تلبي احتياجات </a:t>
                      </a:r>
                      <a:r>
                        <a:rPr kumimoji="0" lang="ar-SA"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الهيئة</a:t>
                      </a:r>
                      <a:endPar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11955518"/>
                  </a:ext>
                </a:extLst>
              </a:tr>
              <a:tr h="5437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بناء نماذج مرجعية لكافة </a:t>
                      </a:r>
                      <a:r>
                        <a:rPr kumimoji="0" lang="ar-SA"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ال</a:t>
                      </a: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مجالات على أسس متوافقة مع مبادئ البنية المؤسسية وتلبي </a:t>
                      </a:r>
                      <a:r>
                        <a:rPr kumimoji="0" lang="ar-SA"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احتياجات الهيئة</a:t>
                      </a:r>
                      <a:endPar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والتطورات التقنية</a:t>
                      </a:r>
                    </a:p>
                  </a:txBody>
                  <a:tcPr anchor="ctr">
                    <a:lnT w="12700" cap="flat" cmpd="sng" algn="ctr">
                      <a:solidFill>
                        <a:schemeClr val="accent2"/>
                      </a:solidFill>
                      <a:prstDash val="solid"/>
                      <a:round/>
                      <a:headEnd type="none" w="med" len="med"/>
                      <a:tailEnd type="none" w="med" len="med"/>
                    </a:lnT>
                    <a:noFill/>
                  </a:tcPr>
                </a:tc>
                <a:extLst>
                  <a:ext uri="{0D108BD9-81ED-4DB2-BD59-A6C34878D82A}">
                    <a16:rowId xmlns:a16="http://schemas.microsoft.com/office/drawing/2014/main" val="1788492967"/>
                  </a:ext>
                </a:extLst>
              </a:tr>
            </a:tbl>
          </a:graphicData>
        </a:graphic>
      </p:graphicFrame>
      <p:sp>
        <p:nvSpPr>
          <p:cNvPr id="7" name="Title 1">
            <a:extLst>
              <a:ext uri="{FF2B5EF4-FFF2-40B4-BE49-F238E27FC236}">
                <a16:creationId xmlns:a16="http://schemas.microsoft.com/office/drawing/2014/main" id="{C895D5FA-9A51-9A6F-DCDA-702A2513A0A2}"/>
              </a:ext>
            </a:extLst>
          </p:cNvPr>
          <p:cNvSpPr txBox="1">
            <a:spLocks/>
          </p:cNvSpPr>
          <p:nvPr/>
        </p:nvSpPr>
        <p:spPr>
          <a:xfrm>
            <a:off x="2361733" y="408242"/>
            <a:ext cx="89920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فوائد </a:t>
            </a:r>
            <a:r>
              <a:rPr lang="ar-SA" dirty="0"/>
              <a:t>تطبيق </a:t>
            </a:r>
            <a:r>
              <a:rPr lang="ar-EG" dirty="0"/>
              <a:t>مبادئ البنية المؤسسية</a:t>
            </a:r>
          </a:p>
        </p:txBody>
      </p:sp>
    </p:spTree>
    <p:extLst>
      <p:ext uri="{BB962C8B-B14F-4D97-AF65-F5344CB8AC3E}">
        <p14:creationId xmlns:p14="http://schemas.microsoft.com/office/powerpoint/2010/main" val="227697892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B7F4011-B976-54F9-3162-6690826CE786}"/>
              </a:ext>
            </a:extLst>
          </p:cNvPr>
          <p:cNvSpPr>
            <a:spLocks noGrp="1"/>
          </p:cNvSpPr>
          <p:nvPr>
            <p:ph type="sldNum" sz="quarter" idx="12"/>
          </p:nvPr>
        </p:nvSpPr>
        <p:spPr/>
        <p:txBody>
          <a:bodyPr/>
          <a:lstStyle/>
          <a:p>
            <a:fld id="{0BE4EC83-A869-464E-AE9F-881796FB085E}" type="slidenum">
              <a:rPr lang="en-US" smtClean="0"/>
              <a:t>11</a:t>
            </a:fld>
            <a:endParaRPr lang="en-US" dirty="0"/>
          </a:p>
        </p:txBody>
      </p:sp>
      <p:graphicFrame>
        <p:nvGraphicFramePr>
          <p:cNvPr id="5" name="Table 8">
            <a:extLst>
              <a:ext uri="{FF2B5EF4-FFF2-40B4-BE49-F238E27FC236}">
                <a16:creationId xmlns:a16="http://schemas.microsoft.com/office/drawing/2014/main" id="{9D2EA704-8933-4B4A-A5FD-8F999892EFB6}"/>
              </a:ext>
            </a:extLst>
          </p:cNvPr>
          <p:cNvGraphicFramePr>
            <a:graphicFrameLocks noGrp="1"/>
          </p:cNvGraphicFramePr>
          <p:nvPr>
            <p:extLst>
              <p:ext uri="{D42A27DB-BD31-4B8C-83A1-F6EECF244321}">
                <p14:modId xmlns:p14="http://schemas.microsoft.com/office/powerpoint/2010/main" val="373488628"/>
              </p:ext>
            </p:extLst>
          </p:nvPr>
        </p:nvGraphicFramePr>
        <p:xfrm>
          <a:off x="733887" y="1047592"/>
          <a:ext cx="10724226" cy="5076749"/>
        </p:xfrm>
        <a:graphic>
          <a:graphicData uri="http://schemas.openxmlformats.org/drawingml/2006/table">
            <a:tbl>
              <a:tblPr firstRow="1" bandRow="1">
                <a:tableStyleId>{5C22544A-7EE6-4342-B048-85BDC9FD1C3A}</a:tableStyleId>
              </a:tblPr>
              <a:tblGrid>
                <a:gridCol w="8375389">
                  <a:extLst>
                    <a:ext uri="{9D8B030D-6E8A-4147-A177-3AD203B41FA5}">
                      <a16:colId xmlns:a16="http://schemas.microsoft.com/office/drawing/2014/main" val="637829901"/>
                    </a:ext>
                  </a:extLst>
                </a:gridCol>
                <a:gridCol w="2348837">
                  <a:extLst>
                    <a:ext uri="{9D8B030D-6E8A-4147-A177-3AD203B41FA5}">
                      <a16:colId xmlns:a16="http://schemas.microsoft.com/office/drawing/2014/main" val="543068415"/>
                    </a:ext>
                  </a:extLst>
                </a:gridCol>
              </a:tblGrid>
              <a:tr h="404663">
                <a:tc>
                  <a:txBody>
                    <a:bodyPr/>
                    <a:lstStyle/>
                    <a:p>
                      <a:pPr algn="ctr" rtl="1"/>
                      <a:r>
                        <a:rPr lang="ar-EG" sz="2000" b="1" kern="1200" baseline="0" dirty="0">
                          <a:solidFill>
                            <a:schemeClr val="bg1"/>
                          </a:solidFill>
                          <a:latin typeface="Sakkal Majalla" panose="02000000000000000000" pitchFamily="2" charset="-78"/>
                          <a:ea typeface="+mj-ea"/>
                          <a:cs typeface="Sakkal Majalla" panose="02000000000000000000" pitchFamily="2" charset="-78"/>
                        </a:rPr>
                        <a:t>التعريف</a:t>
                      </a:r>
                      <a:endParaRPr lang="en-US"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tc>
                  <a:txBody>
                    <a:bodyPr/>
                    <a:lstStyle/>
                    <a:p>
                      <a:pPr algn="ctr" rtl="1"/>
                      <a:r>
                        <a:rPr lang="ar-EG" sz="2000" b="1" kern="1200" baseline="0" dirty="0">
                          <a:solidFill>
                            <a:schemeClr val="bg1"/>
                          </a:solidFill>
                          <a:latin typeface="Sakkal Majalla" panose="02000000000000000000" pitchFamily="2" charset="-78"/>
                          <a:ea typeface="+mj-ea"/>
                          <a:cs typeface="Sakkal Majalla" panose="02000000000000000000" pitchFamily="2" charset="-78"/>
                        </a:rPr>
                        <a:t>المصطلح</a:t>
                      </a:r>
                      <a:endParaRPr lang="en-US"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extLst>
                  <a:ext uri="{0D108BD9-81ED-4DB2-BD59-A6C34878D82A}">
                    <a16:rowId xmlns:a16="http://schemas.microsoft.com/office/drawing/2014/main" val="3194809227"/>
                  </a:ext>
                </a:extLst>
              </a:tr>
              <a:tr h="473997">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التأكد من توافق مجموعة من الأنشطة والأهداف مع التوجهات الاستراتيجية</a:t>
                      </a:r>
                    </a:p>
                  </a:txBody>
                  <a:tcPr anchor="ctr"/>
                </a:tc>
                <a:tc>
                  <a:txBody>
                    <a:bodyPr/>
                    <a:lstStyle/>
                    <a:p>
                      <a:pPr algn="r" rtl="1" fontAlgn="b"/>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المواءمة الاستراتيجية</a:t>
                      </a:r>
                    </a:p>
                  </a:txBody>
                  <a:tcPr anchor="ctr"/>
                </a:tc>
                <a:extLst>
                  <a:ext uri="{0D108BD9-81ED-4DB2-BD59-A6C34878D82A}">
                    <a16:rowId xmlns:a16="http://schemas.microsoft.com/office/drawing/2014/main" val="2306921876"/>
                  </a:ext>
                </a:extLst>
              </a:tr>
              <a:tr h="473997">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ضمان وصول الخدمات للمستفيدين بسهولة باستخدام تقنيات حديثة وقنوات متعددة</a:t>
                      </a:r>
                    </a:p>
                  </a:txBody>
                  <a:tcPr anchor="ctr"/>
                </a:tc>
                <a:tc>
                  <a:txBody>
                    <a:bodyPr/>
                    <a:lstStyle/>
                    <a:p>
                      <a:pPr algn="r" rtl="1" fontAlgn="b"/>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تسهيل الخدمات</a:t>
                      </a:r>
                    </a:p>
                  </a:txBody>
                  <a:tcPr anchor="ctr"/>
                </a:tc>
                <a:extLst>
                  <a:ext uri="{0D108BD9-81ED-4DB2-BD59-A6C34878D82A}">
                    <a16:rowId xmlns:a16="http://schemas.microsoft.com/office/drawing/2014/main" val="3372816279"/>
                  </a:ext>
                </a:extLst>
              </a:tr>
              <a:tr h="473997">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القدرة على مواصلة تقديم الخدمات والعمليات الهامة حتى في حالات الطوارئ أو الأزمات</a:t>
                      </a:r>
                    </a:p>
                  </a:txBody>
                  <a:tcPr anchor="ctr"/>
                </a:tc>
                <a:tc>
                  <a:txBody>
                    <a:bodyPr/>
                    <a:lstStyle/>
                    <a:p>
                      <a:pPr algn="r" rtl="1" fontAlgn="b"/>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استمرارية الأعمال</a:t>
                      </a:r>
                    </a:p>
                  </a:txBody>
                  <a:tcPr anchor="ctr"/>
                </a:tc>
                <a:extLst>
                  <a:ext uri="{0D108BD9-81ED-4DB2-BD59-A6C34878D82A}">
                    <a16:rowId xmlns:a16="http://schemas.microsoft.com/office/drawing/2014/main" val="3947784764"/>
                  </a:ext>
                </a:extLst>
              </a:tr>
              <a:tr h="473997">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الاهتمام بوضع المستفيد واحتياجاته يُعتبر من صميم عملية اتخاذ القرار وتصميم الخدمات</a:t>
                      </a:r>
                    </a:p>
                  </a:txBody>
                  <a:tcPr anchor="ctr"/>
                </a:tc>
                <a:tc>
                  <a:txBody>
                    <a:bodyPr/>
                    <a:lstStyle/>
                    <a:p>
                      <a:pPr algn="r" rtl="1" fontAlgn="b"/>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مركزية المستفيد</a:t>
                      </a:r>
                    </a:p>
                  </a:txBody>
                  <a:tcPr anchor="ctr"/>
                </a:tc>
                <a:extLst>
                  <a:ext uri="{0D108BD9-81ED-4DB2-BD59-A6C34878D82A}">
                    <a16:rowId xmlns:a16="http://schemas.microsoft.com/office/drawing/2014/main" val="3602485621"/>
                  </a:ext>
                </a:extLst>
              </a:tr>
              <a:tr h="473997">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استخدام التكنولوجيا لتنفيذ المهام بشكل تلقائي دون تدخل يدوي</a:t>
                      </a:r>
                    </a:p>
                  </a:txBody>
                  <a:tcPr anchor="ctr"/>
                </a:tc>
                <a:tc>
                  <a:txBody>
                    <a:bodyPr/>
                    <a:lstStyle/>
                    <a:p>
                      <a:pPr algn="r" rtl="1" fontAlgn="b"/>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أتمتة</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1200409264"/>
                  </a:ext>
                </a:extLst>
              </a:tr>
              <a:tr h="473997">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نهج يجمع بين تطوير البرمجيات وتشغيل الأنظمة لتحسين الإنتاجية وتسريع التسليم</a:t>
                      </a:r>
                    </a:p>
                  </a:txBody>
                  <a:tcPr anchor="ctr"/>
                </a:tc>
                <a:tc>
                  <a:txBody>
                    <a:bodyPr/>
                    <a:lstStyle/>
                    <a:p>
                      <a:pPr algn="r" rtl="0" fontAlgn="b"/>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DevOps</a:t>
                      </a:r>
                    </a:p>
                  </a:txBody>
                  <a:tcPr anchor="ctr"/>
                </a:tc>
                <a:extLst>
                  <a:ext uri="{0D108BD9-81ED-4DB2-BD59-A6C34878D82A}">
                    <a16:rowId xmlns:a16="http://schemas.microsoft.com/office/drawing/2014/main" val="1998998549"/>
                  </a:ext>
                </a:extLst>
              </a:tr>
              <a:tr h="473997">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تقنيات تمكن الحواسيب من محاكاة القدرات الذهنية البشرية مثل التعلم واتخاذ القرارات</a:t>
                      </a:r>
                    </a:p>
                  </a:txBody>
                  <a:tcPr anchor="ctr"/>
                </a:tc>
                <a:tc>
                  <a:txBody>
                    <a:bodyPr/>
                    <a:lstStyle/>
                    <a:p>
                      <a:pPr algn="r" rtl="1" fontAlgn="b"/>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الذكاء الاصطناعي</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2776434887"/>
                  </a:ext>
                </a:extLst>
              </a:tr>
              <a:tr h="473997">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البرمجيات التي تتيح للمطورين الاطلاع على الشفرة المصدرية وتعديلها بحرية لتلبية احتياجاتهم الخاصة</a:t>
                      </a:r>
                    </a:p>
                  </a:txBody>
                  <a:tcPr anchor="ctr"/>
                </a:tc>
                <a:tc>
                  <a:txBody>
                    <a:bodyPr/>
                    <a:lstStyle/>
                    <a:p>
                      <a:pPr algn="r" rtl="1" fontAlgn="b"/>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البرمجيات مفتوحة المصدر</a:t>
                      </a:r>
                    </a:p>
                  </a:txBody>
                  <a:tcPr anchor="ctr"/>
                </a:tc>
                <a:extLst>
                  <a:ext uri="{0D108BD9-81ED-4DB2-BD59-A6C34878D82A}">
                    <a16:rowId xmlns:a16="http://schemas.microsoft.com/office/drawing/2014/main" val="2749343101"/>
                  </a:ext>
                </a:extLst>
              </a:tr>
              <a:tr h="809326">
                <a:tc>
                  <a:txBody>
                    <a:bodyPr/>
                    <a:lstStyle/>
                    <a:p>
                      <a:pPr algn="r">
                        <a:lnSpc>
                          <a:spcPct val="150000"/>
                        </a:lnSpc>
                      </a:pPr>
                      <a:r>
                        <a:rPr lang="ar-SA" sz="1800" b="0" baseline="0" dirty="0">
                          <a:latin typeface="Sakkal Majalla" panose="02000000000000000000" pitchFamily="2" charset="-78"/>
                          <a:cs typeface="Sakkal Majalla" panose="02000000000000000000" pitchFamily="2" charset="-78"/>
                        </a:rPr>
                        <a:t>إدارة العمليات بشكل فعال لتحقيق النتائج المطلوبة بأقل تكاليف ممكنة، مع التركيز على تحسين الأداء وتقليل العوائق وضمان الاستخدام الأمثل للموارد، سواء كانت بشرية أو مادية أو تقنية</a:t>
                      </a:r>
                      <a:endParaRPr lang="en-US" sz="1800" b="0" baseline="0" dirty="0">
                        <a:latin typeface="Sakkal Majalla" panose="02000000000000000000" pitchFamily="2" charset="-78"/>
                        <a:cs typeface="Sakkal Majalla" panose="02000000000000000000" pitchFamily="2" charset="-78"/>
                      </a:endParaRPr>
                    </a:p>
                  </a:txBody>
                  <a:tcPr anchor="ctr"/>
                </a:tc>
                <a:tc>
                  <a:txBody>
                    <a:bodyPr/>
                    <a:lstStyle/>
                    <a:p>
                      <a:pPr algn="r">
                        <a:lnSpc>
                          <a:spcPct val="150000"/>
                        </a:lnSpc>
                      </a:pPr>
                      <a:r>
                        <a:rPr lang="ar-SA" sz="2000" b="1" baseline="0" dirty="0">
                          <a:latin typeface="Sakkal Majalla" panose="02000000000000000000" pitchFamily="2" charset="-78"/>
                          <a:cs typeface="Sakkal Majalla" panose="02000000000000000000" pitchFamily="2" charset="-78"/>
                        </a:rPr>
                        <a:t>الكفاءة التشغيلية</a:t>
                      </a:r>
                      <a:endParaRPr lang="en-US" sz="2000" b="1" baseline="0"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1544499624"/>
                  </a:ext>
                </a:extLst>
              </a:tr>
            </a:tbl>
          </a:graphicData>
        </a:graphic>
      </p:graphicFrame>
      <p:sp>
        <p:nvSpPr>
          <p:cNvPr id="7" name="Title 1">
            <a:extLst>
              <a:ext uri="{FF2B5EF4-FFF2-40B4-BE49-F238E27FC236}">
                <a16:creationId xmlns:a16="http://schemas.microsoft.com/office/drawing/2014/main" id="{C6675DDE-E58E-982D-BB96-FEC5B8EC85A8}"/>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المصطلحات والتعريفات (</a:t>
            </a:r>
            <a:r>
              <a:rPr lang="en-US" dirty="0"/>
              <a:t>1/2</a:t>
            </a:r>
            <a:r>
              <a:rPr lang="ar-EG" dirty="0"/>
              <a:t>)</a:t>
            </a:r>
            <a:endParaRPr lang="en-US" dirty="0"/>
          </a:p>
        </p:txBody>
      </p:sp>
    </p:spTree>
    <p:extLst>
      <p:ext uri="{BB962C8B-B14F-4D97-AF65-F5344CB8AC3E}">
        <p14:creationId xmlns:p14="http://schemas.microsoft.com/office/powerpoint/2010/main" val="266833208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84109-0237-D873-3667-3383B0134E5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1893554-4B94-3E7C-39A6-4BC789870F06}"/>
              </a:ext>
            </a:extLst>
          </p:cNvPr>
          <p:cNvSpPr>
            <a:spLocks noGrp="1"/>
          </p:cNvSpPr>
          <p:nvPr>
            <p:ph type="sldNum" sz="quarter" idx="12"/>
          </p:nvPr>
        </p:nvSpPr>
        <p:spPr/>
        <p:txBody>
          <a:bodyPr/>
          <a:lstStyle/>
          <a:p>
            <a:fld id="{0BE4EC83-A869-464E-AE9F-881796FB085E}" type="slidenum">
              <a:rPr lang="en-US" smtClean="0"/>
              <a:t>12</a:t>
            </a:fld>
            <a:endParaRPr lang="en-US" dirty="0"/>
          </a:p>
        </p:txBody>
      </p:sp>
      <p:graphicFrame>
        <p:nvGraphicFramePr>
          <p:cNvPr id="5" name="Table 8">
            <a:extLst>
              <a:ext uri="{FF2B5EF4-FFF2-40B4-BE49-F238E27FC236}">
                <a16:creationId xmlns:a16="http://schemas.microsoft.com/office/drawing/2014/main" id="{E1AE6370-C0BA-D326-6E4E-BAD0B973931E}"/>
              </a:ext>
            </a:extLst>
          </p:cNvPr>
          <p:cNvGraphicFramePr>
            <a:graphicFrameLocks noGrp="1"/>
          </p:cNvGraphicFramePr>
          <p:nvPr>
            <p:extLst>
              <p:ext uri="{D42A27DB-BD31-4B8C-83A1-F6EECF244321}">
                <p14:modId xmlns:p14="http://schemas.microsoft.com/office/powerpoint/2010/main" val="1736992942"/>
              </p:ext>
            </p:extLst>
          </p:nvPr>
        </p:nvGraphicFramePr>
        <p:xfrm>
          <a:off x="733887" y="1047593"/>
          <a:ext cx="10724226" cy="4997609"/>
        </p:xfrm>
        <a:graphic>
          <a:graphicData uri="http://schemas.openxmlformats.org/drawingml/2006/table">
            <a:tbl>
              <a:tblPr firstRow="1" bandRow="1">
                <a:tableStyleId>{5C22544A-7EE6-4342-B048-85BDC9FD1C3A}</a:tableStyleId>
              </a:tblPr>
              <a:tblGrid>
                <a:gridCol w="8501553">
                  <a:extLst>
                    <a:ext uri="{9D8B030D-6E8A-4147-A177-3AD203B41FA5}">
                      <a16:colId xmlns:a16="http://schemas.microsoft.com/office/drawing/2014/main" val="637829901"/>
                    </a:ext>
                  </a:extLst>
                </a:gridCol>
                <a:gridCol w="2222673">
                  <a:extLst>
                    <a:ext uri="{9D8B030D-6E8A-4147-A177-3AD203B41FA5}">
                      <a16:colId xmlns:a16="http://schemas.microsoft.com/office/drawing/2014/main" val="543068415"/>
                    </a:ext>
                  </a:extLst>
                </a:gridCol>
              </a:tblGrid>
              <a:tr h="411389">
                <a:tc>
                  <a:txBody>
                    <a:bodyPr/>
                    <a:lstStyle/>
                    <a:p>
                      <a:pPr algn="ctr" rtl="1"/>
                      <a:r>
                        <a:rPr lang="ar-EG" sz="2000" b="1" kern="1200" baseline="0" dirty="0">
                          <a:solidFill>
                            <a:schemeClr val="bg1"/>
                          </a:solidFill>
                          <a:latin typeface="Sakkal Majalla" panose="02000000000000000000" pitchFamily="2" charset="-78"/>
                          <a:ea typeface="+mj-ea"/>
                          <a:cs typeface="Sakkal Majalla" panose="02000000000000000000" pitchFamily="2" charset="-78"/>
                        </a:rPr>
                        <a:t>التعريف</a:t>
                      </a:r>
                      <a:endParaRPr lang="en-US"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tc>
                  <a:txBody>
                    <a:bodyPr/>
                    <a:lstStyle/>
                    <a:p>
                      <a:pPr algn="ctr" rtl="1"/>
                      <a:r>
                        <a:rPr lang="ar-EG" sz="2000" b="1" kern="1200" baseline="0" dirty="0">
                          <a:solidFill>
                            <a:schemeClr val="bg1"/>
                          </a:solidFill>
                          <a:latin typeface="Sakkal Majalla" panose="02000000000000000000" pitchFamily="2" charset="-78"/>
                          <a:ea typeface="+mj-ea"/>
                          <a:cs typeface="Sakkal Majalla" panose="02000000000000000000" pitchFamily="2" charset="-78"/>
                        </a:rPr>
                        <a:t>المصطلح</a:t>
                      </a:r>
                      <a:endParaRPr lang="en-US"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extLst>
                  <a:ext uri="{0D108BD9-81ED-4DB2-BD59-A6C34878D82A}">
                    <a16:rowId xmlns:a16="http://schemas.microsoft.com/office/drawing/2014/main" val="3194809227"/>
                  </a:ext>
                </a:extLst>
              </a:tr>
              <a:tr h="509580">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مجموعة من القواعد والإجراءات التي تضمن إدارة البيانات بشكل آمن ومنظم وموثوق</a:t>
                      </a:r>
                    </a:p>
                  </a:txBody>
                  <a:tcPr anchor="ctr"/>
                </a:tc>
                <a:tc>
                  <a:txBody>
                    <a:bodyPr/>
                    <a:lstStyle/>
                    <a:p>
                      <a:pPr algn="r" rtl="1" fontAlgn="b"/>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حوكمة البيانات</a:t>
                      </a:r>
                    </a:p>
                  </a:txBody>
                  <a:tcPr anchor="ctr"/>
                </a:tc>
                <a:extLst>
                  <a:ext uri="{0D108BD9-81ED-4DB2-BD59-A6C34878D82A}">
                    <a16:rowId xmlns:a16="http://schemas.microsoft.com/office/drawing/2014/main" val="2306921876"/>
                  </a:ext>
                </a:extLst>
              </a:tr>
              <a:tr h="509580">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حماية البيانات من التهديدات مثل الاختراقات أو التسريب لضمان سريتها وسلامتها وتوفيرها للمستخدمين المصرح لهم</a:t>
                      </a:r>
                    </a:p>
                  </a:txBody>
                  <a:tcPr anchor="ctr"/>
                </a:tc>
                <a:tc>
                  <a:txBody>
                    <a:bodyPr/>
                    <a:lstStyle/>
                    <a:p>
                      <a:pPr algn="r" rtl="1" fontAlgn="b"/>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حماية البيانات</a:t>
                      </a:r>
                    </a:p>
                  </a:txBody>
                  <a:tcPr anchor="ctr"/>
                </a:tc>
                <a:extLst>
                  <a:ext uri="{0D108BD9-81ED-4DB2-BD59-A6C34878D82A}">
                    <a16:rowId xmlns:a16="http://schemas.microsoft.com/office/drawing/2014/main" val="3372816279"/>
                  </a:ext>
                </a:extLst>
              </a:tr>
              <a:tr h="509580">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ضمان أن تكون البيانات متاحة دائمًا وبدون انقطاع للمستخدمين الذين لديهم صلاحيات للوصول إليها</a:t>
                      </a:r>
                    </a:p>
                  </a:txBody>
                  <a:tcPr anchor="ctr"/>
                </a:tc>
                <a:tc>
                  <a:txBody>
                    <a:bodyPr/>
                    <a:lstStyle/>
                    <a:p>
                      <a:pPr algn="r" rtl="1" fontAlgn="b"/>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استمرارية وإتاحة البيانات</a:t>
                      </a:r>
                    </a:p>
                  </a:txBody>
                  <a:tcPr anchor="ctr"/>
                </a:tc>
                <a:extLst>
                  <a:ext uri="{0D108BD9-81ED-4DB2-BD59-A6C34878D82A}">
                    <a16:rowId xmlns:a16="http://schemas.microsoft.com/office/drawing/2014/main" val="3947784764"/>
                  </a:ext>
                </a:extLst>
              </a:tr>
              <a:tr h="509580">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تصميم الأنظمة لضمان استمرارية الخدمة دون توقف في حالة تعطل أحد المكونات من خلال تكرار الموارد والتقنيات</a:t>
                      </a:r>
                    </a:p>
                  </a:txBody>
                  <a:tcPr anchor="ctr"/>
                </a:tc>
                <a:tc>
                  <a:txBody>
                    <a:bodyPr/>
                    <a:lstStyle/>
                    <a:p>
                      <a:pPr algn="r" rtl="1" fontAlgn="b"/>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المرونة والتوافرية العالية</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602485621"/>
                  </a:ext>
                </a:extLst>
              </a:tr>
              <a:tr h="509580">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تصميم الحلول التقنية لتلبية الطلب المتزايد وضمان النمو المستقبلي للأعمال، مع القدرة على تقديم أداء قوي حتى في الظروف المتغيرة</a:t>
                      </a:r>
                    </a:p>
                  </a:txBody>
                  <a:tcPr anchor="ctr"/>
                </a:tc>
                <a:tc>
                  <a:txBody>
                    <a:bodyPr/>
                    <a:lstStyle/>
                    <a:p>
                      <a:pPr algn="r" rtl="1" fontAlgn="b"/>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قابلية التوسع والأداء</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1200409264"/>
                  </a:ext>
                </a:extLst>
              </a:tr>
              <a:tr h="509580">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تحقيق تواصل فعال بين التطبيقات والتقنيات المختلفة، لضمان تبادل البيانات والتعاون بين الأنظمة المختلفة بسلاسة</a:t>
                      </a:r>
                    </a:p>
                  </a:txBody>
                  <a:tcPr anchor="ctr"/>
                </a:tc>
                <a:tc>
                  <a:txBody>
                    <a:bodyPr/>
                    <a:lstStyle/>
                    <a:p>
                      <a:pPr algn="r" rtl="1" fontAlgn="b"/>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التوافق التشغيلي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البيني</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1998998549"/>
                  </a:ext>
                </a:extLst>
              </a:tr>
              <a:tr h="509580">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مبدأ أمني يتم فيه منح المستخدمين أدنى مستوى من الصلاحيات المطلوبة لتنفيذ مهامهم فقط، للحد من الهجمات والاختراقات</a:t>
                      </a:r>
                    </a:p>
                  </a:txBody>
                  <a:tcPr anchor="ctr"/>
                </a:tc>
                <a:tc>
                  <a:txBody>
                    <a:bodyPr/>
                    <a:lstStyle/>
                    <a:p>
                      <a:pPr algn="r" rtl="0" fontAlgn="b"/>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أقل امتياز</a:t>
                      </a:r>
                    </a:p>
                  </a:txBody>
                  <a:tcPr anchor="ctr"/>
                </a:tc>
                <a:extLst>
                  <a:ext uri="{0D108BD9-81ED-4DB2-BD59-A6C34878D82A}">
                    <a16:rowId xmlns:a16="http://schemas.microsoft.com/office/drawing/2014/main" val="2776434887"/>
                  </a:ext>
                </a:extLst>
              </a:tr>
              <a:tr h="509580">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نهج أمني يفرض عدم الثقة بأي مكونات داخل أو خارج الشبكة، ويتطلب التحقق المستمر لضمان أمان البيانات</a:t>
                      </a:r>
                    </a:p>
                  </a:txBody>
                  <a:tcPr anchor="ctr"/>
                </a:tc>
                <a:tc>
                  <a:txBody>
                    <a:bodyPr/>
                    <a:lstStyle/>
                    <a:p>
                      <a:pPr algn="r" rtl="0" fontAlgn="b"/>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بنية الثقة الصفرية</a:t>
                      </a:r>
                    </a:p>
                  </a:txBody>
                  <a:tcPr anchor="ctr"/>
                </a:tc>
                <a:extLst>
                  <a:ext uri="{0D108BD9-81ED-4DB2-BD59-A6C34878D82A}">
                    <a16:rowId xmlns:a16="http://schemas.microsoft.com/office/drawing/2014/main" val="2749343101"/>
                  </a:ext>
                </a:extLst>
              </a:tr>
              <a:tr h="509580">
                <a:tc>
                  <a:txBody>
                    <a:bodyPr/>
                    <a:lstStyle/>
                    <a:p>
                      <a:pPr algn="r" rtl="1"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يتم </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إنشاء هوية رقمية قوية للمستخدمين لضمان المصادقة الصحيحة وتفويض الأدوار بأمان ومنع الوصول غير المصرح به</a:t>
                      </a:r>
                    </a:p>
                  </a:txBody>
                  <a:tcPr anchor="ctr"/>
                </a:tc>
                <a:tc>
                  <a:txBody>
                    <a:bodyPr/>
                    <a:lstStyle/>
                    <a:p>
                      <a:pPr algn="r" rtl="0" fontAlgn="b"/>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هوية رقمية قوية</a:t>
                      </a:r>
                    </a:p>
                  </a:txBody>
                  <a:tcPr anchor="ctr"/>
                </a:tc>
                <a:extLst>
                  <a:ext uri="{0D108BD9-81ED-4DB2-BD59-A6C34878D82A}">
                    <a16:rowId xmlns:a16="http://schemas.microsoft.com/office/drawing/2014/main" val="1544499624"/>
                  </a:ext>
                </a:extLst>
              </a:tr>
            </a:tbl>
          </a:graphicData>
        </a:graphic>
      </p:graphicFrame>
      <p:sp>
        <p:nvSpPr>
          <p:cNvPr id="7" name="Title 1">
            <a:extLst>
              <a:ext uri="{FF2B5EF4-FFF2-40B4-BE49-F238E27FC236}">
                <a16:creationId xmlns:a16="http://schemas.microsoft.com/office/drawing/2014/main" id="{6B9D9890-B3C1-B11F-535A-10A3408DE6A9}"/>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المصطلحات والتعريفات (</a:t>
            </a:r>
            <a:r>
              <a:rPr lang="en-US" dirty="0"/>
              <a:t>2/2</a:t>
            </a:r>
            <a:r>
              <a:rPr lang="ar-EG" dirty="0"/>
              <a:t>)</a:t>
            </a:r>
            <a:endParaRPr lang="en-US" dirty="0"/>
          </a:p>
        </p:txBody>
      </p:sp>
    </p:spTree>
    <p:extLst>
      <p:ext uri="{BB962C8B-B14F-4D97-AF65-F5344CB8AC3E}">
        <p14:creationId xmlns:p14="http://schemas.microsoft.com/office/powerpoint/2010/main" val="341599718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EG" dirty="0"/>
              <a:t>بطاقات مبادئ </a:t>
            </a:r>
            <a:r>
              <a:rPr lang="ar-SA" dirty="0"/>
              <a:t>مجالات </a:t>
            </a:r>
            <a:r>
              <a:rPr lang="ar-EG" dirty="0"/>
              <a:t>البنية المؤسسية</a:t>
            </a:r>
            <a:endParaRPr lang="en-US" dirty="0"/>
          </a:p>
        </p:txBody>
      </p:sp>
      <p:sp>
        <p:nvSpPr>
          <p:cNvPr id="4" name="Text Placeholder 3"/>
          <p:cNvSpPr>
            <a:spLocks noGrp="1"/>
          </p:cNvSpPr>
          <p:nvPr>
            <p:ph type="body" sz="quarter" idx="14"/>
          </p:nvPr>
        </p:nvSpPr>
        <p:spPr/>
        <p:txBody>
          <a:bodyPr/>
          <a:lstStyle/>
          <a:p>
            <a:r>
              <a:rPr lang="en-US" dirty="0"/>
              <a:t>02</a:t>
            </a:r>
          </a:p>
        </p:txBody>
      </p:sp>
    </p:spTree>
    <p:extLst>
      <p:ext uri="{BB962C8B-B14F-4D97-AF65-F5344CB8AC3E}">
        <p14:creationId xmlns:p14="http://schemas.microsoft.com/office/powerpoint/2010/main" val="1657789898"/>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62880" y="3925452"/>
            <a:ext cx="6281420" cy="641639"/>
          </a:xfrm>
        </p:spPr>
        <p:txBody>
          <a:bodyPr/>
          <a:lstStyle/>
          <a:p>
            <a:r>
              <a:rPr lang="ar-SA" sz="2800" dirty="0"/>
              <a:t>مبادئ بنية الأعمال</a:t>
            </a:r>
            <a:endParaRPr lang="en-US" sz="2800" dirty="0"/>
          </a:p>
        </p:txBody>
      </p:sp>
      <p:sp>
        <p:nvSpPr>
          <p:cNvPr id="4" name="Text Placeholder 3"/>
          <p:cNvSpPr>
            <a:spLocks noGrp="1"/>
          </p:cNvSpPr>
          <p:nvPr>
            <p:ph type="body" sz="quarter" idx="14"/>
          </p:nvPr>
        </p:nvSpPr>
        <p:spPr/>
        <p:txBody>
          <a:bodyPr/>
          <a:lstStyle/>
          <a:p>
            <a:r>
              <a:rPr lang="en-US" sz="7200" dirty="0"/>
              <a:t>2.1</a:t>
            </a:r>
          </a:p>
        </p:txBody>
      </p:sp>
    </p:spTree>
    <p:extLst>
      <p:ext uri="{BB962C8B-B14F-4D97-AF65-F5344CB8AC3E}">
        <p14:creationId xmlns:p14="http://schemas.microsoft.com/office/powerpoint/2010/main" val="139443744"/>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D0878-27C7-A922-9A2A-4B91578B3B4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79CF98A-21FF-8B7D-CCE4-E6CAC5D48746}"/>
              </a:ext>
            </a:extLst>
          </p:cNvPr>
          <p:cNvSpPr>
            <a:spLocks noGrp="1"/>
          </p:cNvSpPr>
          <p:nvPr>
            <p:ph type="sldNum" sz="quarter" idx="12"/>
          </p:nvPr>
        </p:nvSpPr>
        <p:spPr/>
        <p:txBody>
          <a:bodyPr/>
          <a:lstStyle/>
          <a:p>
            <a:fld id="{0BE4EC83-A869-464E-AE9F-881796FB085E}" type="slidenum">
              <a:rPr lang="en-US" smtClean="0"/>
              <a:t>15</a:t>
            </a:fld>
            <a:endParaRPr lang="en-US" dirty="0"/>
          </a:p>
        </p:txBody>
      </p:sp>
      <p:graphicFrame>
        <p:nvGraphicFramePr>
          <p:cNvPr id="5" name="Table 8">
            <a:extLst>
              <a:ext uri="{FF2B5EF4-FFF2-40B4-BE49-F238E27FC236}">
                <a16:creationId xmlns:a16="http://schemas.microsoft.com/office/drawing/2014/main" id="{872EC74C-0549-DA6F-ED95-B8E77BB008D7}"/>
              </a:ext>
            </a:extLst>
          </p:cNvPr>
          <p:cNvGraphicFramePr>
            <a:graphicFrameLocks noGrp="1"/>
          </p:cNvGraphicFramePr>
          <p:nvPr>
            <p:extLst>
              <p:ext uri="{D42A27DB-BD31-4B8C-83A1-F6EECF244321}">
                <p14:modId xmlns:p14="http://schemas.microsoft.com/office/powerpoint/2010/main" val="1089492585"/>
              </p:ext>
            </p:extLst>
          </p:nvPr>
        </p:nvGraphicFramePr>
        <p:xfrm>
          <a:off x="621452" y="971826"/>
          <a:ext cx="10949096" cy="3469891"/>
        </p:xfrm>
        <a:graphic>
          <a:graphicData uri="http://schemas.openxmlformats.org/drawingml/2006/table">
            <a:tbl>
              <a:tblPr firstRow="1" bandRow="1">
                <a:tableStyleId>{5C22544A-7EE6-4342-B048-85BDC9FD1C3A}</a:tableStyleId>
              </a:tblPr>
              <a:tblGrid>
                <a:gridCol w="7190137">
                  <a:extLst>
                    <a:ext uri="{9D8B030D-6E8A-4147-A177-3AD203B41FA5}">
                      <a16:colId xmlns:a16="http://schemas.microsoft.com/office/drawing/2014/main" val="637829901"/>
                    </a:ext>
                  </a:extLst>
                </a:gridCol>
                <a:gridCol w="3758959">
                  <a:extLst>
                    <a:ext uri="{9D8B030D-6E8A-4147-A177-3AD203B41FA5}">
                      <a16:colId xmlns:a16="http://schemas.microsoft.com/office/drawing/2014/main" val="543068415"/>
                    </a:ext>
                  </a:extLst>
                </a:gridCol>
              </a:tblGrid>
              <a:tr h="399191">
                <a:tc>
                  <a:txBody>
                    <a:bodyPr/>
                    <a:lstStyle/>
                    <a:p>
                      <a:pPr algn="ctr" rtl="1"/>
                      <a:r>
                        <a:rPr lang="ar-SA" sz="2000" b="1" kern="1200" baseline="0" dirty="0">
                          <a:solidFill>
                            <a:schemeClr val="bg1"/>
                          </a:solidFill>
                          <a:latin typeface="Sakkal Majalla" panose="02000000000000000000" pitchFamily="2" charset="-78"/>
                          <a:ea typeface="+mj-ea"/>
                          <a:cs typeface="Sakkal Majalla" panose="02000000000000000000" pitchFamily="2" charset="-78"/>
                        </a:rPr>
                        <a:t>وصف</a:t>
                      </a:r>
                      <a:r>
                        <a:rPr lang="ar-EG" sz="2000" b="1" kern="1200" baseline="0" dirty="0">
                          <a:solidFill>
                            <a:schemeClr val="bg1"/>
                          </a:solidFill>
                          <a:latin typeface="Sakkal Majalla" panose="02000000000000000000" pitchFamily="2" charset="-78"/>
                          <a:ea typeface="+mj-ea"/>
                          <a:cs typeface="Sakkal Majalla" panose="02000000000000000000" pitchFamily="2" charset="-78"/>
                        </a:rPr>
                        <a:t> المبدأ</a:t>
                      </a:r>
                    </a:p>
                  </a:txBody>
                  <a:tcPr anchor="ctr"/>
                </a:tc>
                <a:tc>
                  <a:txBody>
                    <a:bodyPr/>
                    <a:lstStyle/>
                    <a:p>
                      <a:pPr algn="ctr" rtl="1"/>
                      <a:r>
                        <a:rPr lang="ar-EG" sz="2000" b="1" kern="1200" baseline="0" dirty="0">
                          <a:solidFill>
                            <a:schemeClr val="bg1"/>
                          </a:solidFill>
                          <a:latin typeface="Sakkal Majalla" panose="02000000000000000000" pitchFamily="2" charset="-78"/>
                          <a:ea typeface="+mj-ea"/>
                          <a:cs typeface="Sakkal Majalla" panose="02000000000000000000" pitchFamily="2" charset="-78"/>
                        </a:rPr>
                        <a:t>رمز</a:t>
                      </a:r>
                      <a:r>
                        <a:rPr lang="ar-SA" sz="2000" b="1" kern="1200" baseline="0" dirty="0">
                          <a:solidFill>
                            <a:schemeClr val="bg1"/>
                          </a:solidFill>
                          <a:latin typeface="Sakkal Majalla" panose="02000000000000000000" pitchFamily="2" charset="-78"/>
                          <a:ea typeface="+mj-ea"/>
                          <a:cs typeface="Sakkal Majalla" panose="02000000000000000000" pitchFamily="2" charset="-78"/>
                        </a:rPr>
                        <a:t>: اسم</a:t>
                      </a:r>
                      <a:r>
                        <a:rPr lang="ar-EG" sz="2000" b="1" kern="1200" baseline="0" dirty="0">
                          <a:solidFill>
                            <a:schemeClr val="bg1"/>
                          </a:solidFill>
                          <a:latin typeface="Sakkal Majalla" panose="02000000000000000000" pitchFamily="2" charset="-78"/>
                          <a:ea typeface="+mj-ea"/>
                          <a:cs typeface="Sakkal Majalla" panose="02000000000000000000" pitchFamily="2" charset="-78"/>
                        </a:rPr>
                        <a:t> المبدأ</a:t>
                      </a:r>
                    </a:p>
                  </a:txBody>
                  <a:tcPr anchor="ctr"/>
                </a:tc>
                <a:extLst>
                  <a:ext uri="{0D108BD9-81ED-4DB2-BD59-A6C34878D82A}">
                    <a16:rowId xmlns:a16="http://schemas.microsoft.com/office/drawing/2014/main" val="3194809227"/>
                  </a:ext>
                </a:extLst>
              </a:tr>
              <a:tr h="644847">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يلزم اتباع معايير مرجعية موحدة عند توثيق قدرات أعمال وخدمات وإجراءات عمل الهيئة، والتأكد  من تنفيذها بشكل موحد داخل الهيئة وفقا للنماذج الموثقة والمعتمدة</a:t>
                      </a:r>
                    </a:p>
                  </a:txBody>
                  <a:tcPr anchor="ctr"/>
                </a:tc>
                <a:tc>
                  <a:txBody>
                    <a:bodyPr/>
                    <a:lstStyle/>
                    <a:p>
                      <a:pPr algn="r" rtl="1" fontAlgn="b">
                        <a:lnSpc>
                          <a:spcPct val="100000"/>
                        </a:lnSpc>
                      </a:pPr>
                      <a:r>
                        <a:rPr kumimoji="0" lang="en-US"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2" action="ppaction://hlinksldjump"/>
                        </a:rPr>
                        <a:t>BP01</a:t>
                      </a:r>
                      <a:r>
                        <a:rPr kumimoji="0" lang="ar-EG"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2" action="ppaction://hlinksldjump"/>
                        </a:rPr>
                        <a:t>: </a:t>
                      </a:r>
                      <a:r>
                        <a:rPr kumimoji="0" lang="ar-SA"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2" action="ppaction://hlinksldjump"/>
                        </a:rPr>
                        <a:t>النهج الموحد لتوثيق وتنفيذ الخدمات والإجراءات </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2306921876"/>
                  </a:ext>
                </a:extLst>
              </a:tr>
              <a:tr h="368484">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يجب تحديد مسؤولية تطوير وصيانة إجراءات الأعمال  الداخلية في الهيئة</a:t>
                      </a:r>
                    </a:p>
                  </a:txBody>
                  <a:tcPr anchor="ctr"/>
                </a:tc>
                <a:tc>
                  <a:txBody>
                    <a:bodyPr/>
                    <a:lstStyle/>
                    <a:p>
                      <a:pPr algn="r" rtl="1" fontAlgn="b">
                        <a:lnSpc>
                          <a:spcPct val="100000"/>
                        </a:lnSpc>
                      </a:pPr>
                      <a:r>
                        <a:rPr kumimoji="0" lang="en-US"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3" action="ppaction://hlinksldjump"/>
                        </a:rPr>
                        <a:t>BP02</a:t>
                      </a:r>
                      <a:r>
                        <a:rPr kumimoji="0" lang="ar-EG"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3" action="ppaction://hlinksldjump"/>
                        </a:rPr>
                        <a:t>: </a:t>
                      </a:r>
                      <a:r>
                        <a:rPr kumimoji="0" lang="ar-SA"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3" action="ppaction://hlinksldjump"/>
                        </a:rPr>
                        <a:t>مركزية تطوير وصيانة إجراءات العمل الداخلية</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372816279"/>
                  </a:ext>
                </a:extLst>
              </a:tr>
              <a:tr h="583433">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الالتزام بالتحسين المستمر لإجراءات سير العمل من خلال مراقبة الأداء وتدقيق الإجراءات بشكل دوري  لتحديد الفجوات وتحقيق التحسينات</a:t>
                      </a:r>
                    </a:p>
                  </a:txBody>
                  <a:tcPr anchor="ctr"/>
                </a:tc>
                <a:tc>
                  <a:txBody>
                    <a:bodyPr/>
                    <a:lstStyle/>
                    <a:p>
                      <a:pPr algn="r" rtl="1" fontAlgn="b">
                        <a:lnSpc>
                          <a:spcPct val="100000"/>
                        </a:lnSpc>
                      </a:pPr>
                      <a:r>
                        <a:rPr kumimoji="0" lang="en-US"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4" action="ppaction://hlinksldjump"/>
                        </a:rPr>
                        <a:t>BP03</a:t>
                      </a:r>
                      <a:r>
                        <a:rPr kumimoji="0" lang="ar-EG"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4" action="ppaction://hlinksldjump"/>
                        </a:rPr>
                        <a:t>: </a:t>
                      </a:r>
                      <a:r>
                        <a:rPr kumimoji="0" lang="ar-SA"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4" action="ppaction://hlinksldjump"/>
                        </a:rPr>
                        <a:t>التحسين المستمر لإجراءات سير العمل</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947784764"/>
                  </a:ext>
                </a:extLst>
              </a:tr>
              <a:tr h="368484">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يجب تسهيل الخدمات المقدمة للمستفيدين قدر الإمكان والسعي لرضا العميل عن طريق أتمتة وتبسيط الوصول إلى الخدمات</a:t>
                      </a:r>
                    </a:p>
                  </a:txBody>
                  <a:tcPr anchor="ctr"/>
                </a:tc>
                <a:tc>
                  <a:txBody>
                    <a:bodyPr/>
                    <a:lstStyle/>
                    <a:p>
                      <a:pPr algn="r" rtl="1" fontAlgn="b">
                        <a:lnSpc>
                          <a:spcPct val="100000"/>
                        </a:lnSpc>
                      </a:pPr>
                      <a:r>
                        <a:rPr kumimoji="0" lang="en-US"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5" action="ppaction://hlinksldjump"/>
                        </a:rPr>
                        <a:t>BP04</a:t>
                      </a:r>
                      <a:r>
                        <a:rPr kumimoji="0" lang="ar-EG"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5" action="ppaction://hlinksldjump"/>
                        </a:rPr>
                        <a:t>: </a:t>
                      </a:r>
                      <a:r>
                        <a:rPr kumimoji="0" lang="ar-SA"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5" action="ppaction://hlinksldjump"/>
                        </a:rPr>
                        <a:t>تسهيل الخدمات</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602485621"/>
                  </a:ext>
                </a:extLst>
              </a:tr>
              <a:tr h="368484">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يلزم ضمان أن تُحقق مكونات بنية الاعمال كافة التوجهات الاستراتيجية من خلال نهج متكامل ومتسق</a:t>
                      </a:r>
                    </a:p>
                  </a:txBody>
                  <a:tcPr anchor="ctr"/>
                </a:tc>
                <a:tc>
                  <a:txBody>
                    <a:bodyPr/>
                    <a:lstStyle/>
                    <a:p>
                      <a:pPr algn="r" rtl="1" fontAlgn="b">
                        <a:lnSpc>
                          <a:spcPct val="100000"/>
                        </a:lnSpc>
                      </a:pPr>
                      <a:r>
                        <a:rPr kumimoji="0" lang="en-US"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6" action="ppaction://hlinksldjump"/>
                        </a:rPr>
                        <a:t>BP05</a:t>
                      </a:r>
                      <a:r>
                        <a:rPr kumimoji="0" lang="ar-EG"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6" action="ppaction://hlinksldjump"/>
                        </a:rPr>
                        <a:t>: </a:t>
                      </a:r>
                      <a:r>
                        <a:rPr kumimoji="0" lang="ar-SA"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6" action="ppaction://hlinksldjump"/>
                        </a:rPr>
                        <a:t>الموائمة الاستراتيجية</a:t>
                      </a:r>
                      <a:endParaRPr lang="en-US"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1200409264"/>
                  </a:ext>
                </a:extLst>
              </a:tr>
              <a:tr h="368484">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يجب ضمان استمرارية تنفيذ قدرات وخدمات وإجراءات العمل الحرجة في الهيئة ضمن المستوى المستهدف في كافة الظروف</a:t>
                      </a:r>
                    </a:p>
                  </a:txBody>
                  <a:tcPr anchor="ctr"/>
                </a:tc>
                <a:tc>
                  <a:txBody>
                    <a:bodyPr/>
                    <a:lstStyle/>
                    <a:p>
                      <a:pPr algn="r" rtl="1" fontAlgn="b">
                        <a:lnSpc>
                          <a:spcPct val="100000"/>
                        </a:lnSpc>
                      </a:pPr>
                      <a:r>
                        <a:rPr kumimoji="0" lang="en-US"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7" action="ppaction://hlinksldjump"/>
                        </a:rPr>
                        <a:t>BP06</a:t>
                      </a:r>
                      <a:r>
                        <a:rPr kumimoji="0" lang="ar-EG"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7" action="ppaction://hlinksldjump"/>
                        </a:rPr>
                        <a:t>: </a:t>
                      </a:r>
                      <a:r>
                        <a:rPr kumimoji="0" lang="ar-SA"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7" action="ppaction://hlinksldjump"/>
                        </a:rPr>
                        <a:t>استمرارية الأعمال</a:t>
                      </a:r>
                      <a:endParaRPr lang="en-US"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1998998549"/>
                  </a:ext>
                </a:extLst>
              </a:tr>
              <a:tr h="368484">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يلزم توافق كافة مكونات بينة الأعمال مع جميع القوانين والسياسات واللوائح ذات الصلة</a:t>
                      </a:r>
                    </a:p>
                  </a:txBody>
                  <a:tcPr anchor="ctr"/>
                </a:tc>
                <a:tc>
                  <a:txBody>
                    <a:bodyPr/>
                    <a:lstStyle/>
                    <a:p>
                      <a:pPr algn="r" rtl="1" fontAlgn="b">
                        <a:lnSpc>
                          <a:spcPct val="100000"/>
                        </a:lnSpc>
                      </a:pPr>
                      <a:r>
                        <a:rPr kumimoji="0" lang="en-US"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8" action="ppaction://hlinksldjump"/>
                        </a:rPr>
                        <a:t>BP07</a:t>
                      </a:r>
                      <a:r>
                        <a:rPr kumimoji="0" lang="ar-EG"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8" action="ppaction://hlinksldjump"/>
                        </a:rPr>
                        <a:t>: </a:t>
                      </a:r>
                      <a:r>
                        <a:rPr kumimoji="0" lang="ar-SA"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rId8" action="ppaction://hlinksldjump"/>
                        </a:rPr>
                        <a:t>الامتثال للقوانين واللوائح والسياسات</a:t>
                      </a:r>
                      <a:endParaRPr lang="en-US"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2776434887"/>
                  </a:ext>
                </a:extLst>
              </a:tr>
            </a:tbl>
          </a:graphicData>
        </a:graphic>
      </p:graphicFrame>
      <p:sp>
        <p:nvSpPr>
          <p:cNvPr id="7" name="Title 1">
            <a:extLst>
              <a:ext uri="{FF2B5EF4-FFF2-40B4-BE49-F238E27FC236}">
                <a16:creationId xmlns:a16="http://schemas.microsoft.com/office/drawing/2014/main" id="{28BD2195-12CE-86CE-BA18-95B1B9857CAD}"/>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مبادئ بنية الأعمال</a:t>
            </a:r>
            <a:endParaRPr lang="en-US" dirty="0"/>
          </a:p>
        </p:txBody>
      </p:sp>
    </p:spTree>
    <p:extLst>
      <p:ext uri="{BB962C8B-B14F-4D97-AF65-F5344CB8AC3E}">
        <p14:creationId xmlns:p14="http://schemas.microsoft.com/office/powerpoint/2010/main" val="181696340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16</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BP01</a:t>
            </a:r>
            <a:r>
              <a:rPr lang="ar-SA" dirty="0"/>
              <a:t>: النهج الموحد لتوثيق وتنفيذ الخدمات والإجراءات "</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3715480633"/>
              </p:ext>
            </p:extLst>
          </p:nvPr>
        </p:nvGraphicFramePr>
        <p:xfrm>
          <a:off x="788319" y="1268997"/>
          <a:ext cx="10615362" cy="4660317"/>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407675">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النهج الموحد لتوثيق وتنفيذ الخدمات والإجراءات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BP01</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645485">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يلزم اتباع معايير مرجعية موحدة عند توثيق قدرات أعمال وخدمات وإجراءات عمل الهيئة، والتأكد  من تنفيذها بشكل موحد داخل الهيئة وفقا للنماذج الموثقة والمعتمدة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667800">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توحيد آلية العمل بين مختلف أصحاب العلاقة وإزالة أي لبس في فهم الخدمات وإجراءات العمل</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ضمان توافق قواعد عمل ومخرجات الخدمات وإجراءات العمل وتطبيقها بشكل متسق وموحد بين مختلف الوحدات التنظيمية في الهيئة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1939357">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اعتماد لغة ترميز موحدة عند توثيق وتطوير خدمات وإجراءات العمل، ومشاركتها ونشر الوعي بها داخليا</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تطبيق إطار حوكمة يضمن تبني وتطبيق آليات توثيق وتنفيذ الخدمات وإجراءات العمل بشكل فعال</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833840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17</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BP02</a:t>
            </a:r>
            <a:r>
              <a:rPr lang="ar-SA" dirty="0"/>
              <a:t>: مركزية تطوير وصيانة إجراءات العمل الداخلية"</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2729962000"/>
              </p:ext>
            </p:extLst>
          </p:nvPr>
        </p:nvGraphicFramePr>
        <p:xfrm>
          <a:off x="788319" y="1268997"/>
          <a:ext cx="10615362" cy="4626978"/>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413421">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مركزية تطوير وصيانة إجراءات العمل الداخلية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BP02</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378969">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يجب تحديد مسؤولية تطوير وصيانة إجراءات الأعمال  الداخلية في الهيئة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772955">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إن تحديد مسؤولية تطوير وصيانة إجراءات العمل الداخلية في الهيئة هي عملية أساسية لتسهيل عمليات الحوكمة على الإجراءات وضمان جودتها ودعم الشفافية في توضيح الأدوار التي تؤدي الإجراءات</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061633">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تحديد أو إنشاء إدارة تكون مسؤولة عن إدارة إجراءات العمل. (مثل إدارة التميز المؤسسي)</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تحديد دور هذه الإدارة في تطوير، أو تعديل، أو إلغاء إجراءات الأعمال الخاصة بأي وحدة تنظيمية  بالهيئة وآلية تلبية طلبات التطوير أو التعديل أو الحذف</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189856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18</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BP03</a:t>
            </a:r>
            <a:r>
              <a:rPr lang="ar-SA" dirty="0"/>
              <a:t>: التحسين المستمر لإجراءات سير العمل"</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2137923922"/>
              </p:ext>
            </p:extLst>
          </p:nvPr>
        </p:nvGraphicFramePr>
        <p:xfrm>
          <a:off x="788319" y="1268998"/>
          <a:ext cx="10615362" cy="4697929"/>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35677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التحسين المستمر لإجراءات سير العمل</a:t>
                      </a:r>
                      <a:r>
                        <a:rPr lang="en-US" sz="1800" baseline="0" dirty="0">
                          <a:solidFill>
                            <a:schemeClr val="tx1"/>
                          </a:solidFill>
                          <a:latin typeface="Sakkal Majalla" panose="02000000000000000000" pitchFamily="2" charset="-78"/>
                          <a:cs typeface="Sakkal Majalla" panose="02000000000000000000" pitchFamily="2" charset="-78"/>
                        </a:rPr>
                        <a:t> </a:t>
                      </a:r>
                      <a:endParaRPr lang="ar-SA" sz="18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BP03</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563399">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dirty="0"/>
                        <a:t>الالتزام بالتحسين المستمر لإجراءات سير العمل من خلال مراقبة الأداء وتدقيق الإجراءات بشكل دوري  لتحديد الفجوات وتحقيق التحسينات</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991964">
                <a:tc gridSpan="3">
                  <a:txBody>
                    <a:bodyPr/>
                    <a:lstStyle/>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0" dirty="0"/>
                        <a:t>تحسين الأداء التنظيمي من خلال التدقيق المستمر، حيث يتم رصد الأداء الحقيقي مقابل الأهداف المخطط لها، مما يسمح بتحسين الإجراءات باستمرار لتكون أكثر فعالية</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0" dirty="0"/>
                        <a:t>تقليل التكاليف التشغيلية، حيث يساهم التدقيق في تحديد النقاط التي تتسبب في الهدر أو البطء، مما يؤدي إلى تحسين إجراءات سير العمل وتقليل التكاليف</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0" dirty="0"/>
                        <a:t>التكيف مع التغيرات، حيث يساعد التدقيق المستمر للإجراءات في التأكد من أن الإجراءات متوافقة مع المتغيرات في البيئة المؤسسية مثل التغيرات في التشريعات أو التكنولوجيا</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0" dirty="0"/>
                        <a:t>تعزيز الشفافية والمسؤولية، حيث يؤكد التدقيق على مراقبة الإجراءات بشكل واضح ومنتظم، مما يعزز الشفافية ويضمن التزام جميع الأطراف المعنية بالمعايير المتبعة</a:t>
                      </a:r>
                      <a:endParaRPr lang="ar-SA" sz="1600" b="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1726610">
                <a:tc gridSpan="3">
                  <a:txBody>
                    <a:bodyPr/>
                    <a:lstStyle/>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0" dirty="0"/>
                        <a:t>التحسين المستمر للأداء المؤسسي وتحسين كفاءة الإجراءات، حيث تتم معالجة التحديات في وقتها بناءً على مخرجات تدقيق الإجراءات</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0" kern="1200" dirty="0">
                          <a:solidFill>
                            <a:schemeClr val="dk1"/>
                          </a:solidFill>
                          <a:latin typeface="+mn-lt"/>
                          <a:ea typeface="+mn-ea"/>
                          <a:cs typeface="+mn-cs"/>
                        </a:rPr>
                        <a:t>التزام أعلى بالجودة، حيث يتيح التدقيق المستمر للإجراءات فرصة للتأكد من أن الإجراءات تسير وفقًا للمعايير </a:t>
                      </a:r>
                      <a:r>
                        <a:rPr lang="ar-SA" sz="1600" b="0" dirty="0"/>
                        <a:t>التنظيمية والتشغيلية </a:t>
                      </a:r>
                      <a:r>
                        <a:rPr lang="ar-SA" sz="1600" b="0" kern="1200" dirty="0">
                          <a:solidFill>
                            <a:schemeClr val="dk1"/>
                          </a:solidFill>
                          <a:latin typeface="+mn-lt"/>
                          <a:ea typeface="+mn-ea"/>
                          <a:cs typeface="+mn-cs"/>
                        </a:rPr>
                        <a:t>المطلوبة، مما يرفع من مستوى الجودة العام</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0" dirty="0"/>
                        <a:t>تحقيق الامتثال التنظيمي، حيث يساعد تدقيق الإجراءات في ضمان توافق الإجراءات مع اللوائح والقوانين المعمول بها، مما يقلل من المخاطر التنظيمية</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0" dirty="0"/>
                        <a:t>إعادة تصميم وتحسين الإجراءات، حيث كنتيجة لتدقيق الإجراءات، قد يتم اتخاذ قرارات هامة بإعادة تصميم بعض الإجراءات لجعلها أكثر كفاءة وفعالية</a:t>
                      </a:r>
                      <a:endParaRPr lang="ar-SA" sz="1600" b="0" kern="1200" dirty="0">
                        <a:solidFill>
                          <a:schemeClr val="dk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3994539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19</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BP04</a:t>
            </a:r>
            <a:r>
              <a:rPr lang="ar-SA" dirty="0"/>
              <a:t>: تسهيل الخدمات"</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3724098032"/>
              </p:ext>
            </p:extLst>
          </p:nvPr>
        </p:nvGraphicFramePr>
        <p:xfrm>
          <a:off x="788319" y="1268997"/>
          <a:ext cx="10615362" cy="4631741"/>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40729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تسهيل الخدمات</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BP04</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373358">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يجب تسهيل الخدمات المقدمة للمستفيدين قدر الإمكان </a:t>
                      </a:r>
                      <a:r>
                        <a:rPr lang="ar-EG" sz="1600" baseline="0" dirty="0">
                          <a:solidFill>
                            <a:schemeClr val="tx1"/>
                          </a:solidFill>
                          <a:latin typeface="Sakkal Majalla" panose="02000000000000000000" pitchFamily="2" charset="-78"/>
                          <a:cs typeface="Sakkal Majalla" panose="02000000000000000000" pitchFamily="2" charset="-78"/>
                        </a:rPr>
                        <a:t>و</a:t>
                      </a:r>
                      <a:r>
                        <a:rPr lang="ar-SA" sz="1600" baseline="0" dirty="0">
                          <a:solidFill>
                            <a:schemeClr val="tx1"/>
                          </a:solidFill>
                          <a:latin typeface="Sakkal Majalla" panose="02000000000000000000" pitchFamily="2" charset="-78"/>
                          <a:cs typeface="Sakkal Majalla" panose="02000000000000000000" pitchFamily="2" charset="-78"/>
                        </a:rPr>
                        <a:t>السعي لرضا العميل عن طريق أتمتة وتبسيط الوصول إلى الخدمات</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746703">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تسهيل تقديم الخدمات للمستفيدين وضمان جودتها لرفع مستوى الرضى عن الخدمة مما يؤدي إلى تحقيق أهداف الهيئة فيما يخص التحول الرقمي</a:t>
                      </a:r>
                      <a:endParaRPr lang="ar-EG" sz="1600" baseline="0" dirty="0">
                        <a:solidFill>
                          <a:schemeClr val="tx1"/>
                        </a:solidFill>
                        <a:latin typeface="Sakkal Majalla" panose="02000000000000000000" pitchFamily="2" charset="-78"/>
                        <a:cs typeface="Sakkal Majalla" panose="02000000000000000000" pitchFamily="2" charset="-78"/>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ويحقق هذا المبدأ المادة الحادية عشر من </a:t>
                      </a:r>
                      <a:r>
                        <a:rPr lang="ar-SA" sz="1600" baseline="0" dirty="0">
                          <a:solidFill>
                            <a:schemeClr val="tx1"/>
                          </a:solidFill>
                          <a:latin typeface="Sakkal Majalla" panose="02000000000000000000" pitchFamily="2" charset="-78"/>
                          <a:cs typeface="Sakkal Majalla" panose="02000000000000000000" pitchFamily="2" charset="-78"/>
                          <a:hlinkClick r:id="rId3"/>
                        </a:rPr>
                        <a:t>ضوابط تطبيق التعاملات الإلكترونية</a:t>
                      </a:r>
                      <a:r>
                        <a:rPr lang="ar-SA" sz="1600" baseline="0" dirty="0">
                          <a:solidFill>
                            <a:schemeClr val="tx1"/>
                          </a:solidFill>
                          <a:latin typeface="Sakkal Majalla" panose="02000000000000000000" pitchFamily="2" charset="-78"/>
                          <a:cs typeface="Sakkal Majalla" panose="02000000000000000000" pitchFamily="2" charset="-78"/>
                        </a:rPr>
                        <a:t>، الصادر من مجلس الوزراء رقم 40 وتاريخ 27/2/1427هـ الموافق 27/3/2006م</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104381">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إعادة تصميم الخدمات</a:t>
                      </a:r>
                      <a:r>
                        <a:rPr lang="ar-EG" sz="1600" baseline="0" dirty="0">
                          <a:solidFill>
                            <a:schemeClr val="tx1"/>
                          </a:solidFill>
                          <a:latin typeface="Sakkal Majalla" panose="02000000000000000000" pitchFamily="2" charset="-78"/>
                          <a:cs typeface="Sakkal Majalla" panose="02000000000000000000" pitchFamily="2" charset="-78"/>
                        </a:rPr>
                        <a:t>، وتصميمها لتكون قابلة للوصول عبر قنوات متعددة مثل المواقع، تطبيقات الجوال</a:t>
                      </a:r>
                      <a:endParaRPr lang="ar-SA" sz="1600" baseline="0" dirty="0">
                        <a:solidFill>
                          <a:schemeClr val="tx1"/>
                        </a:solidFill>
                        <a:latin typeface="Sakkal Majalla" panose="02000000000000000000" pitchFamily="2" charset="-78"/>
                        <a:cs typeface="Sakkal Majalla" panose="02000000000000000000" pitchFamily="2" charset="-78"/>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أتمتة الخدمات لغرض تسهيل استخدامها والوصول إليها</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فتح قناة تواصل مع المستفيدين لتوثيق احتياجاتهم وتوصياتهم وأخذها بعين الاعتبار عند تحسين الإجراءات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توفير التدريب اللازم لموظفي </a:t>
                      </a:r>
                      <a:r>
                        <a:rPr lang="ar-EG" sz="1600" baseline="0" dirty="0">
                          <a:solidFill>
                            <a:schemeClr val="tx1"/>
                          </a:solidFill>
                          <a:latin typeface="Sakkal Majalla" panose="02000000000000000000" pitchFamily="2" charset="-78"/>
                          <a:cs typeface="Sakkal Majalla" panose="02000000000000000000" pitchFamily="2" charset="-78"/>
                        </a:rPr>
                        <a:t>الهيئة</a:t>
                      </a:r>
                      <a:r>
                        <a:rPr lang="ar-SA" sz="1600" baseline="0" dirty="0">
                          <a:solidFill>
                            <a:schemeClr val="tx1"/>
                          </a:solidFill>
                          <a:latin typeface="Sakkal Majalla" panose="02000000000000000000" pitchFamily="2" charset="-78"/>
                          <a:cs typeface="Sakkal Majalla" panose="02000000000000000000" pitchFamily="2" charset="-78"/>
                        </a:rPr>
                        <a:t> على "تجربة المستفيد"</a:t>
                      </a:r>
                      <a:r>
                        <a:rPr lang="ar-EG" sz="1600" baseline="0" dirty="0">
                          <a:solidFill>
                            <a:schemeClr val="tx1"/>
                          </a:solidFill>
                          <a:latin typeface="Sakkal Majalla" panose="02000000000000000000" pitchFamily="2" charset="-78"/>
                          <a:cs typeface="Sakkal Majalla" panose="02000000000000000000" pitchFamily="2" charset="-78"/>
                        </a:rPr>
                        <a:t> وعلى دعم مختلف القنوات</a:t>
                      </a:r>
                      <a:endParaRPr lang="ar-SA" sz="1600" baseline="0" dirty="0">
                        <a:solidFill>
                          <a:schemeClr val="tx1"/>
                        </a:solidFill>
                        <a:latin typeface="Sakkal Majalla" panose="02000000000000000000" pitchFamily="2" charset="-78"/>
                        <a:cs typeface="Sakkal Majalla" panose="02000000000000000000" pitchFamily="2" charset="-78"/>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استعراض وطرح الخدمات بأكثر من لغة (مثل تضمين اللغة الإنجليزية) تيسيراً على غير الناطقين باللغة العربية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34161734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20</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BP05</a:t>
            </a:r>
            <a:r>
              <a:rPr lang="ar-SA" dirty="0"/>
              <a:t>: الموائمة الاستراتيجية"</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953149434"/>
              </p:ext>
            </p:extLst>
          </p:nvPr>
        </p:nvGraphicFramePr>
        <p:xfrm>
          <a:off x="788319" y="1268997"/>
          <a:ext cx="10615362" cy="4617453"/>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406043">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الموائمة الاستراتيجية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BP05</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372206">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يلزم ضمان أن تُحقق مكونات بنية الاعمال كافة التوجهات الاستراتيجية من خلال نهج متكامل ومتسق</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741315">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تترجم مكونات بنية الاعمال  مصطلحات الأعمال التي يتم التعامل بها داخل الهيئة </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تعتبر مكونات بنية الاعمال ممكّن رئيسي لتحقيق استراتيجية الأعمال في </a:t>
                      </a:r>
                      <a:r>
                        <a:rPr lang="ar-EG" sz="1600" baseline="0" dirty="0">
                          <a:solidFill>
                            <a:schemeClr val="tx1"/>
                          </a:solidFill>
                          <a:latin typeface="Sakkal Majalla" panose="02000000000000000000" pitchFamily="2" charset="-78"/>
                          <a:cs typeface="Sakkal Majalla" panose="02000000000000000000" pitchFamily="2" charset="-78"/>
                        </a:rPr>
                        <a:t>الهيئة</a:t>
                      </a:r>
                      <a:r>
                        <a:rPr lang="ar-SA" sz="1600" baseline="0" dirty="0">
                          <a:solidFill>
                            <a:schemeClr val="tx1"/>
                          </a:solidFill>
                          <a:latin typeface="Sakkal Majalla" panose="02000000000000000000" pitchFamily="2" charset="-78"/>
                          <a:cs typeface="Sakkal Majalla" panose="02000000000000000000" pitchFamily="2" charset="-78"/>
                        </a:rPr>
                        <a:t> والاستراتيجيات ذات العلاقة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ارتباط العديد من مكونات بنية الأعمال مع مكونات بنية المواءمة الاستراتيجية مثل الأهداف والمؤشرات والمبادرات والمشاريع</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097889">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عكس استراتيجية الأعمال على مكونات بنية الأعمال وما يترتب عليه من مكونات أخرى في مجالات البنية المؤسسية المرتبطة ببنية الأعمال</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ربط مختلف مكونات بنية الأعمال بأهداف استراتيجية أو تشغيلية لضمان المواءمة الكاملة مع مستهدفات الهيئة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دراسة أثر تطبيق بنية الأعمال المستقبلية على تحقيق استراتيجية الهيئة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في حال تم تحديث استراتيجية الأعمال في الهيئة؛ يجب أن يتم تنفيذ دورة تطوير لمكونات بنية الأعمال من أجل تحديد أثر الاستراتيجية المحدثة على مكونات بنية الأعمال وتحديث ما يلزم</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3136595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21</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highlight>
                  <a:srgbClr val="F2F2F2"/>
                </a:highlight>
              </a:rPr>
              <a:t>بطاقة المبدأ "</a:t>
            </a:r>
            <a:r>
              <a:rPr lang="en-US" dirty="0">
                <a:highlight>
                  <a:srgbClr val="F2F2F2"/>
                </a:highlight>
              </a:rPr>
              <a:t>BP06</a:t>
            </a:r>
            <a:r>
              <a:rPr lang="ar-SA" dirty="0">
                <a:highlight>
                  <a:srgbClr val="F2F2F2"/>
                </a:highlight>
              </a:rPr>
              <a:t>: استمرارية الأعمال"</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1313635019"/>
              </p:ext>
            </p:extLst>
          </p:nvPr>
        </p:nvGraphicFramePr>
        <p:xfrm>
          <a:off x="788319" y="1268996"/>
          <a:ext cx="10615362" cy="4631741"/>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41384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استمرارية الأعمال</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BP06</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379359">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يجب ضمان استمرارية تنفيذ قدرات وخدمات وإجراءات العمل الحرجة في الهيئة ضمن المستوى المستهدف في كافة الظروف</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774780">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توفير حلول البنية المؤسسية التي تدعم استمرارية الأعمال وذلك من خلال اعتبارها كمحور أساسي عند تقييم الحلول والفرص التحسينية المقترحة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دراسة وتحديد قدرات وخدمات وإجراءات العمل الحرجة في الهيئة أثناء تطوير مكونات البنية المؤسسية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063755">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إعداد "خطة استمرارية الأعمال والتعافي من الكوارث" والتي تشتمل على تحديد قدرات الأعمال الحرجة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ضمان توفير حلول البنية المؤسسية البديلة لضمان التشغيل المستمر لخدمات وإجراءات عمل الهيئة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1351676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22</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highlight>
                  <a:srgbClr val="F2F2F2"/>
                </a:highlight>
              </a:rPr>
              <a:t>بطاقة المبدأ "</a:t>
            </a:r>
            <a:r>
              <a:rPr lang="en-US" dirty="0">
                <a:highlight>
                  <a:srgbClr val="F2F2F2"/>
                </a:highlight>
              </a:rPr>
              <a:t>BP07</a:t>
            </a:r>
            <a:r>
              <a:rPr lang="ar-SA" dirty="0">
                <a:highlight>
                  <a:srgbClr val="F2F2F2"/>
                </a:highlight>
              </a:rPr>
              <a:t>: الامتثال للقوانين واللوائح والسياسات"</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54938258"/>
              </p:ext>
            </p:extLst>
          </p:nvPr>
        </p:nvGraphicFramePr>
        <p:xfrm>
          <a:off x="788319" y="1268997"/>
          <a:ext cx="10615362" cy="4622216"/>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40946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الامتثال للقوانين واللوائح والسياسات</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BP07</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375341">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يلزم توافق كافة مكونات بينة الأعمال مع جميع القوانين والسياسات واللوائح ذات الصلة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755979">
                <a:tc gridSpan="3">
                  <a:txBody>
                    <a:bodyPr/>
                    <a:lstStyle/>
                    <a:p>
                      <a:pPr marL="285750" marR="0" lvl="0" indent="-285750" algn="r" defTabSz="914400" rtl="1" eaLnBrk="1" fontAlgn="auto" latinLnBrk="0" hangingPunct="1">
                        <a:lnSpc>
                          <a:spcPct val="100000"/>
                        </a:lnSpc>
                        <a:spcBef>
                          <a:spcPts val="6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تتمثل سياسة الهيئة في الالتزام بالقوانين والسياسات واللوائح، ولن يمنع هذا تحسينات عمليات الأعمال التي تؤدي إلى تغييرات في السياسات واللوائح</a:t>
                      </a:r>
                    </a:p>
                    <a:p>
                      <a:pPr marL="285750" marR="0" lvl="0" indent="-285750" algn="r" defTabSz="914400" rtl="1" eaLnBrk="1" fontAlgn="auto" latinLnBrk="0" hangingPunct="1">
                        <a:lnSpc>
                          <a:spcPct val="100000"/>
                        </a:lnSpc>
                        <a:spcBef>
                          <a:spcPts val="6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الامتثال يساهم في تعزيز استقرار الهيئة من خلال ضمان أن العمليات والإجراءات تتماشى مع الإطار القانوني والتنظيمي المعمول به</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081434">
                <a:tc gridSpan="3">
                  <a:txBody>
                    <a:bodyPr/>
                    <a:lstStyle/>
                    <a:p>
                      <a:pPr marL="285750" marR="0" lvl="0" indent="-285750" algn="r" defTabSz="914400" rtl="1" eaLnBrk="1" fontAlgn="auto" latinLnBrk="0" hangingPunct="1">
                        <a:lnSpc>
                          <a:spcPct val="100000"/>
                        </a:lnSpc>
                        <a:spcBef>
                          <a:spcPts val="6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يجب على الهيئة أن تكون حريصة على الامتثال </a:t>
                      </a:r>
                      <a:r>
                        <a:rPr lang="ar-EG" sz="1600" baseline="0" dirty="0">
                          <a:solidFill>
                            <a:schemeClr val="tx1"/>
                          </a:solidFill>
                          <a:latin typeface="Sakkal Majalla" panose="02000000000000000000" pitchFamily="2" charset="-78"/>
                          <a:cs typeface="Sakkal Majalla" panose="02000000000000000000" pitchFamily="2" charset="-78"/>
                        </a:rPr>
                        <a:t>ل</a:t>
                      </a:r>
                      <a:r>
                        <a:rPr lang="ar-SA" sz="1600" baseline="0" dirty="0">
                          <a:solidFill>
                            <a:schemeClr val="tx1"/>
                          </a:solidFill>
                          <a:latin typeface="Sakkal Majalla" panose="02000000000000000000" pitchFamily="2" charset="-78"/>
                          <a:cs typeface="Sakkal Majalla" panose="02000000000000000000" pitchFamily="2" charset="-78"/>
                        </a:rPr>
                        <a:t>لقوانين واللوائح والتشريعات</a:t>
                      </a:r>
                      <a:r>
                        <a:rPr lang="ar-EG" sz="1600" baseline="0" dirty="0">
                          <a:solidFill>
                            <a:schemeClr val="tx1"/>
                          </a:solidFill>
                          <a:latin typeface="Sakkal Majalla" panose="02000000000000000000" pitchFamily="2" charset="-78"/>
                          <a:cs typeface="Sakkal Majalla" panose="02000000000000000000" pitchFamily="2" charset="-78"/>
                        </a:rPr>
                        <a:t> </a:t>
                      </a:r>
                      <a:r>
                        <a:rPr lang="ar-SA" sz="1600" baseline="0" dirty="0">
                          <a:solidFill>
                            <a:schemeClr val="tx1"/>
                          </a:solidFill>
                          <a:latin typeface="Sakkal Majalla" panose="02000000000000000000" pitchFamily="2" charset="-78"/>
                          <a:cs typeface="Sakkal Majalla" panose="02000000000000000000" pitchFamily="2" charset="-78"/>
                        </a:rPr>
                        <a:t>ذات العلاقة</a:t>
                      </a:r>
                    </a:p>
                    <a:p>
                      <a:pPr marL="285750" marR="0" lvl="0" indent="-285750" algn="r" defTabSz="914400" rtl="1" eaLnBrk="1" fontAlgn="auto" latinLnBrk="0" hangingPunct="1">
                        <a:lnSpc>
                          <a:spcPct val="100000"/>
                        </a:lnSpc>
                        <a:spcBef>
                          <a:spcPts val="6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التزام الهيئة بالقوانين واللوائح ذات </a:t>
                      </a:r>
                      <a:r>
                        <a:rPr lang="ar-EG" sz="1600" baseline="0" dirty="0">
                          <a:solidFill>
                            <a:schemeClr val="tx1"/>
                          </a:solidFill>
                          <a:latin typeface="Sakkal Majalla" panose="02000000000000000000" pitchFamily="2" charset="-78"/>
                          <a:cs typeface="Sakkal Majalla" panose="02000000000000000000" pitchFamily="2" charset="-78"/>
                        </a:rPr>
                        <a:t>العلاقة</a:t>
                      </a:r>
                      <a:r>
                        <a:rPr lang="ar-SA" sz="1600" baseline="0" dirty="0">
                          <a:solidFill>
                            <a:schemeClr val="tx1"/>
                          </a:solidFill>
                          <a:latin typeface="Sakkal Majalla" panose="02000000000000000000" pitchFamily="2" charset="-78"/>
                          <a:cs typeface="Sakkal Majalla" panose="02000000000000000000" pitchFamily="2" charset="-78"/>
                        </a:rPr>
                        <a:t> يقلل من المخاطر القانونية ويجنب العقوبات والغرامات المحتملة</a:t>
                      </a:r>
                    </a:p>
                    <a:p>
                      <a:pPr marL="285750" marR="0" lvl="0" indent="-285750" algn="r" defTabSz="914400" rtl="1" eaLnBrk="1" fontAlgn="auto" latinLnBrk="0" hangingPunct="1">
                        <a:lnSpc>
                          <a:spcPct val="100000"/>
                        </a:lnSpc>
                        <a:spcBef>
                          <a:spcPts val="6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الامتثال للقوانين </a:t>
                      </a:r>
                      <a:r>
                        <a:rPr lang="ar-EG" sz="1600" baseline="0" dirty="0">
                          <a:solidFill>
                            <a:schemeClr val="tx1"/>
                          </a:solidFill>
                          <a:latin typeface="Sakkal Majalla" panose="02000000000000000000" pitchFamily="2" charset="-78"/>
                          <a:cs typeface="Sakkal Majalla" panose="02000000000000000000" pitchFamily="2" charset="-78"/>
                        </a:rPr>
                        <a:t>والتشريعات</a:t>
                      </a:r>
                      <a:r>
                        <a:rPr lang="ar-SA" sz="1600" baseline="0" dirty="0">
                          <a:solidFill>
                            <a:schemeClr val="tx1"/>
                          </a:solidFill>
                          <a:latin typeface="Sakkal Majalla" panose="02000000000000000000" pitchFamily="2" charset="-78"/>
                          <a:cs typeface="Sakkal Majalla" panose="02000000000000000000" pitchFamily="2" charset="-78"/>
                        </a:rPr>
                        <a:t> يعزز من الشفافية في العمليات ويزيد من مستوى المساءلة داخل الهيئة وخارجها</a:t>
                      </a:r>
                    </a:p>
                    <a:p>
                      <a:pPr marL="285750" marR="0" lvl="0" indent="-285750" algn="r" defTabSz="914400" rtl="1" eaLnBrk="1" fontAlgn="auto" latinLnBrk="0" hangingPunct="1">
                        <a:lnSpc>
                          <a:spcPct val="100000"/>
                        </a:lnSpc>
                        <a:spcBef>
                          <a:spcPts val="6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الامتثال يظهر التزام الهيئة بالمعايير العالية ويعزز من سمعتها ومصداقيتها أمام المستفيدين</a:t>
                      </a:r>
                    </a:p>
                    <a:p>
                      <a:pPr marL="285750" marR="0" lvl="0" indent="-285750" algn="r" defTabSz="914400" rtl="1" eaLnBrk="1" fontAlgn="auto" latinLnBrk="0" hangingPunct="1">
                        <a:lnSpc>
                          <a:spcPct val="100000"/>
                        </a:lnSpc>
                        <a:spcBef>
                          <a:spcPts val="6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المبدأ لا يمنع تحسين عمليات الأعمال، بل يشجع على التحسين المستمر الذي قد يؤدي إلى تغييرات في السياسات واللوائح، مما يساعد الهيئة على التكيف مع التغيرات المستمرة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827162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20A37-ADA5-8769-75B3-07ED352994E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0862E3C-19CB-B7C8-3438-8877A69BDF2F}"/>
              </a:ext>
            </a:extLst>
          </p:cNvPr>
          <p:cNvSpPr>
            <a:spLocks noGrp="1"/>
          </p:cNvSpPr>
          <p:nvPr>
            <p:ph type="title"/>
          </p:nvPr>
        </p:nvSpPr>
        <p:spPr>
          <a:xfrm>
            <a:off x="5262880" y="3925452"/>
            <a:ext cx="6281420" cy="641639"/>
          </a:xfrm>
        </p:spPr>
        <p:txBody>
          <a:bodyPr/>
          <a:lstStyle/>
          <a:p>
            <a:r>
              <a:rPr lang="ar-SA" sz="2800" dirty="0"/>
              <a:t>مبادئ بنية </a:t>
            </a:r>
            <a:r>
              <a:rPr lang="ar-EG" sz="2800" dirty="0"/>
              <a:t>تجربة المستفيد</a:t>
            </a:r>
            <a:endParaRPr lang="en-US" sz="2800" dirty="0"/>
          </a:p>
        </p:txBody>
      </p:sp>
      <p:sp>
        <p:nvSpPr>
          <p:cNvPr id="4" name="Text Placeholder 3">
            <a:extLst>
              <a:ext uri="{FF2B5EF4-FFF2-40B4-BE49-F238E27FC236}">
                <a16:creationId xmlns:a16="http://schemas.microsoft.com/office/drawing/2014/main" id="{7B9357FA-65C5-1A10-3E66-E4B4665804A6}"/>
              </a:ext>
            </a:extLst>
          </p:cNvPr>
          <p:cNvSpPr>
            <a:spLocks noGrp="1"/>
          </p:cNvSpPr>
          <p:nvPr>
            <p:ph type="body" sz="quarter" idx="14"/>
          </p:nvPr>
        </p:nvSpPr>
        <p:spPr/>
        <p:txBody>
          <a:bodyPr/>
          <a:lstStyle/>
          <a:p>
            <a:r>
              <a:rPr lang="ar-EG" sz="7200" dirty="0"/>
              <a:t>2.2</a:t>
            </a:r>
            <a:endParaRPr lang="en-US" sz="7200" dirty="0"/>
          </a:p>
        </p:txBody>
      </p:sp>
    </p:spTree>
    <p:extLst>
      <p:ext uri="{BB962C8B-B14F-4D97-AF65-F5344CB8AC3E}">
        <p14:creationId xmlns:p14="http://schemas.microsoft.com/office/powerpoint/2010/main" val="499224187"/>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86C53-C981-5A5C-EAF1-FF2ACB1CE99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CE851EB-27D3-D6F3-4CC1-8E18763000D8}"/>
              </a:ext>
            </a:extLst>
          </p:cNvPr>
          <p:cNvSpPr>
            <a:spLocks noGrp="1"/>
          </p:cNvSpPr>
          <p:nvPr>
            <p:ph type="sldNum" sz="quarter" idx="12"/>
          </p:nvPr>
        </p:nvSpPr>
        <p:spPr/>
        <p:txBody>
          <a:bodyPr/>
          <a:lstStyle/>
          <a:p>
            <a:fld id="{0BE4EC83-A869-464E-AE9F-881796FB085E}" type="slidenum">
              <a:rPr lang="en-US" smtClean="0"/>
              <a:t>24</a:t>
            </a:fld>
            <a:endParaRPr lang="en-US" dirty="0"/>
          </a:p>
        </p:txBody>
      </p:sp>
      <p:graphicFrame>
        <p:nvGraphicFramePr>
          <p:cNvPr id="5" name="Table 8">
            <a:extLst>
              <a:ext uri="{FF2B5EF4-FFF2-40B4-BE49-F238E27FC236}">
                <a16:creationId xmlns:a16="http://schemas.microsoft.com/office/drawing/2014/main" id="{8265C68D-FB87-F3EB-B60D-0C676398EC56}"/>
              </a:ext>
            </a:extLst>
          </p:cNvPr>
          <p:cNvGraphicFramePr>
            <a:graphicFrameLocks noGrp="1"/>
          </p:cNvGraphicFramePr>
          <p:nvPr>
            <p:extLst>
              <p:ext uri="{D42A27DB-BD31-4B8C-83A1-F6EECF244321}">
                <p14:modId xmlns:p14="http://schemas.microsoft.com/office/powerpoint/2010/main" val="2015728124"/>
              </p:ext>
            </p:extLst>
          </p:nvPr>
        </p:nvGraphicFramePr>
        <p:xfrm>
          <a:off x="621452" y="971826"/>
          <a:ext cx="10949096" cy="2029088"/>
        </p:xfrm>
        <a:graphic>
          <a:graphicData uri="http://schemas.openxmlformats.org/drawingml/2006/table">
            <a:tbl>
              <a:tblPr firstRow="1" bandRow="1">
                <a:tableStyleId>{5C22544A-7EE6-4342-B048-85BDC9FD1C3A}</a:tableStyleId>
              </a:tblPr>
              <a:tblGrid>
                <a:gridCol w="7190137">
                  <a:extLst>
                    <a:ext uri="{9D8B030D-6E8A-4147-A177-3AD203B41FA5}">
                      <a16:colId xmlns:a16="http://schemas.microsoft.com/office/drawing/2014/main" val="637829901"/>
                    </a:ext>
                  </a:extLst>
                </a:gridCol>
                <a:gridCol w="3758959">
                  <a:extLst>
                    <a:ext uri="{9D8B030D-6E8A-4147-A177-3AD203B41FA5}">
                      <a16:colId xmlns:a16="http://schemas.microsoft.com/office/drawing/2014/main" val="543068415"/>
                    </a:ext>
                  </a:extLst>
                </a:gridCol>
              </a:tblGrid>
              <a:tr h="399191">
                <a:tc>
                  <a:txBody>
                    <a:bodyPr/>
                    <a:lstStyle/>
                    <a:p>
                      <a:pPr algn="ctr" rtl="1"/>
                      <a:r>
                        <a:rPr lang="ar-SA" sz="2000" b="1" kern="1200" baseline="0" dirty="0">
                          <a:solidFill>
                            <a:schemeClr val="bg1"/>
                          </a:solidFill>
                          <a:latin typeface="Sakkal Majalla" panose="02000000000000000000" pitchFamily="2" charset="-78"/>
                          <a:ea typeface="+mj-ea"/>
                          <a:cs typeface="Sakkal Majalla" panose="02000000000000000000" pitchFamily="2" charset="-78"/>
                        </a:rPr>
                        <a:t>وصف</a:t>
                      </a:r>
                      <a:r>
                        <a:rPr lang="ar-EG" sz="2000" b="1" kern="1200" baseline="0" dirty="0">
                          <a:solidFill>
                            <a:schemeClr val="bg1"/>
                          </a:solidFill>
                          <a:latin typeface="Sakkal Majalla" panose="02000000000000000000" pitchFamily="2" charset="-78"/>
                          <a:ea typeface="+mj-ea"/>
                          <a:cs typeface="Sakkal Majalla" panose="02000000000000000000" pitchFamily="2" charset="-78"/>
                        </a:rPr>
                        <a:t> المبدأ</a:t>
                      </a:r>
                    </a:p>
                  </a:txBody>
                  <a:tcPr anchor="ctr"/>
                </a:tc>
                <a:tc>
                  <a:txBody>
                    <a:bodyPr/>
                    <a:lstStyle/>
                    <a:p>
                      <a:pPr algn="ctr" rtl="1"/>
                      <a:r>
                        <a:rPr lang="ar-EG" sz="2000" b="1" kern="1200" baseline="0" dirty="0">
                          <a:solidFill>
                            <a:schemeClr val="bg1"/>
                          </a:solidFill>
                          <a:latin typeface="Sakkal Majalla" panose="02000000000000000000" pitchFamily="2" charset="-78"/>
                          <a:ea typeface="+mj-ea"/>
                          <a:cs typeface="Sakkal Majalla" panose="02000000000000000000" pitchFamily="2" charset="-78"/>
                        </a:rPr>
                        <a:t>رمز</a:t>
                      </a:r>
                      <a:r>
                        <a:rPr lang="ar-SA" sz="2000" b="1" kern="1200" baseline="0" dirty="0">
                          <a:solidFill>
                            <a:schemeClr val="bg1"/>
                          </a:solidFill>
                          <a:latin typeface="Sakkal Majalla" panose="02000000000000000000" pitchFamily="2" charset="-78"/>
                          <a:ea typeface="+mj-ea"/>
                          <a:cs typeface="Sakkal Majalla" panose="02000000000000000000" pitchFamily="2" charset="-78"/>
                        </a:rPr>
                        <a:t>: اسم</a:t>
                      </a:r>
                      <a:r>
                        <a:rPr lang="ar-EG" sz="2000" b="1" kern="1200" baseline="0" dirty="0">
                          <a:solidFill>
                            <a:schemeClr val="bg1"/>
                          </a:solidFill>
                          <a:latin typeface="Sakkal Majalla" panose="02000000000000000000" pitchFamily="2" charset="-78"/>
                          <a:ea typeface="+mj-ea"/>
                          <a:cs typeface="Sakkal Majalla" panose="02000000000000000000" pitchFamily="2" charset="-78"/>
                        </a:rPr>
                        <a:t> المبدأ</a:t>
                      </a:r>
                    </a:p>
                  </a:txBody>
                  <a:tcPr anchor="ctr"/>
                </a:tc>
                <a:extLst>
                  <a:ext uri="{0D108BD9-81ED-4DB2-BD59-A6C34878D82A}">
                    <a16:rowId xmlns:a16="http://schemas.microsoft.com/office/drawing/2014/main" val="3194809227"/>
                  </a:ext>
                </a:extLst>
              </a:tr>
              <a:tr h="583433">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يلزم تطوير مكونات بنية الاعمال من خلال نهج يرتكز على فهم احتياجات المستفيد وتطلعاته كأساس لعملية التحسين المستمر، وبناء علاقات مستدامة معه، والتقسيم التفصيلي لشرائح المستفيدين من مختلف المناظير</a:t>
                      </a:r>
                    </a:p>
                  </a:txBody>
                  <a:tcPr anchor="ctr"/>
                </a:tc>
                <a:tc>
                  <a:txBody>
                    <a:bodyPr/>
                    <a:lstStyle/>
                    <a:p>
                      <a:pPr algn="r" rtl="1" fontAlgn="b">
                        <a:lnSpc>
                          <a:spcPct val="100000"/>
                        </a:lnSpc>
                      </a:pPr>
                      <a:r>
                        <a:rPr kumimoji="0" lang="en-US"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rPr>
                        <a:t>CXP01</a:t>
                      </a:r>
                      <a:r>
                        <a:rPr kumimoji="0" lang="ar-EG"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rPr>
                        <a:t>: </a:t>
                      </a:r>
                      <a:r>
                        <a:rPr kumimoji="0" lang="ar-SA"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rPr>
                        <a:t>مركزية المستفيد</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2749343101"/>
                  </a:ext>
                </a:extLst>
              </a:tr>
              <a:tr h="463031">
                <a:tc>
                  <a:txBody>
                    <a:bodyPr/>
                    <a:lstStyle/>
                    <a:p>
                      <a:pPr algn="r" rtl="1">
                        <a:lnSpc>
                          <a:spcPct val="100000"/>
                        </a:lnSpc>
                      </a:pPr>
                      <a:r>
                        <a:rPr lang="ar-SA" sz="1600" b="0" baseline="0" dirty="0">
                          <a:latin typeface="Sakkal Majalla" panose="02000000000000000000" pitchFamily="2" charset="-78"/>
                          <a:cs typeface="Sakkal Majalla" panose="02000000000000000000" pitchFamily="2" charset="-78"/>
                        </a:rPr>
                        <a:t>يلزم إشراك المستفيدين في كل جوانب الخدمات التي تُقدّم لهم وتؤثر عليهم، بحيث تكون مشاركة نشطة في عمليات صنع القرار</a:t>
                      </a:r>
                      <a:endParaRPr lang="en-US" sz="1600" b="0" baseline="0" dirty="0">
                        <a:latin typeface="Sakkal Majalla" panose="02000000000000000000" pitchFamily="2" charset="-78"/>
                        <a:cs typeface="Sakkal Majalla" panose="02000000000000000000" pitchFamily="2" charset="-78"/>
                      </a:endParaRPr>
                    </a:p>
                  </a:txBody>
                  <a:tcPr anchor="ctr"/>
                </a:tc>
                <a:tc>
                  <a:txBody>
                    <a:bodyPr/>
                    <a:lstStyle/>
                    <a:p>
                      <a:pPr algn="r" rtl="1">
                        <a:lnSpc>
                          <a:spcPct val="100000"/>
                        </a:lnSpc>
                      </a:pPr>
                      <a:r>
                        <a:rPr kumimoji="0" lang="en-US"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rPr>
                        <a:t>CXP02</a:t>
                      </a:r>
                      <a:r>
                        <a:rPr kumimoji="0" lang="ar-EG"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rPr>
                        <a:t>: </a:t>
                      </a:r>
                      <a:r>
                        <a:rPr kumimoji="0" lang="ar-SA"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rPr>
                        <a:t>تعزيز مشاركة المستفيد</a:t>
                      </a:r>
                      <a:endParaRPr lang="en-US" sz="1800" b="1" baseline="0"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1544499624"/>
                  </a:ext>
                </a:extLst>
              </a:tr>
              <a:tr h="583433">
                <a:tc>
                  <a:txBody>
                    <a:bodyPr/>
                    <a:lstStyle/>
                    <a:p>
                      <a:pPr algn="r" rtl="1">
                        <a:lnSpc>
                          <a:spcPct val="100000"/>
                        </a:lnSpc>
                      </a:pPr>
                      <a:r>
                        <a:rPr lang="ar-SA" sz="1600" b="0" baseline="0" dirty="0">
                          <a:latin typeface="Sakkal Majalla" panose="02000000000000000000" pitchFamily="2" charset="-78"/>
                          <a:cs typeface="Sakkal Majalla" panose="02000000000000000000" pitchFamily="2" charset="-78"/>
                        </a:rPr>
                        <a:t>تطوير وتحسين الخدمات بشكل مستمر، يجب أن يرتكز على تحسين تجربة المستفيد ورحلاته المختلفة، بالإضافة إلى تعزيز القيمة المضافة في كل مرحلة من رحلة المستفيد لضمان تحقيق الرضا الشامل</a:t>
                      </a:r>
                    </a:p>
                  </a:txBody>
                  <a:tcPr anchor="ctr"/>
                </a:tc>
                <a:tc>
                  <a:txBody>
                    <a:bodyPr/>
                    <a:lstStyle/>
                    <a:p>
                      <a:pPr algn="r" rtl="1">
                        <a:lnSpc>
                          <a:spcPct val="100000"/>
                        </a:lnSpc>
                      </a:pPr>
                      <a:r>
                        <a:rPr kumimoji="0" lang="en-US"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rPr>
                        <a:t>CXP03</a:t>
                      </a:r>
                      <a:r>
                        <a:rPr kumimoji="0" lang="ar-EG"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rPr>
                        <a:t>: </a:t>
                      </a:r>
                      <a:r>
                        <a:rPr kumimoji="0" lang="ar-SA" sz="18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rPr>
                        <a:t>التحسين المرتكز على رحلة المستفيد</a:t>
                      </a:r>
                      <a:endParaRPr lang="en-US" sz="1800" b="1" baseline="0"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774828597"/>
                  </a:ext>
                </a:extLst>
              </a:tr>
            </a:tbl>
          </a:graphicData>
        </a:graphic>
      </p:graphicFrame>
      <p:sp>
        <p:nvSpPr>
          <p:cNvPr id="7" name="Title 1">
            <a:extLst>
              <a:ext uri="{FF2B5EF4-FFF2-40B4-BE49-F238E27FC236}">
                <a16:creationId xmlns:a16="http://schemas.microsoft.com/office/drawing/2014/main" id="{6CEA5148-0D46-CEBD-3E72-36B7D374A14F}"/>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مبادئ بنية تجربة المستفيد</a:t>
            </a:r>
            <a:endParaRPr lang="en-US" dirty="0"/>
          </a:p>
        </p:txBody>
      </p:sp>
    </p:spTree>
    <p:extLst>
      <p:ext uri="{BB962C8B-B14F-4D97-AF65-F5344CB8AC3E}">
        <p14:creationId xmlns:p14="http://schemas.microsoft.com/office/powerpoint/2010/main" val="332433634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25</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highlight>
                  <a:srgbClr val="F2F2F2"/>
                </a:highlight>
              </a:rPr>
              <a:t>بطاقة المبدأ "</a:t>
            </a:r>
            <a:r>
              <a:rPr lang="en-US" dirty="0">
                <a:highlight>
                  <a:srgbClr val="F2F2F2"/>
                </a:highlight>
              </a:rPr>
              <a:t>CXP01</a:t>
            </a:r>
            <a:r>
              <a:rPr lang="ar-SA" dirty="0">
                <a:highlight>
                  <a:srgbClr val="F2F2F2"/>
                </a:highlight>
              </a:rPr>
              <a:t>: مركزية المستفيد"</a:t>
            </a:r>
          </a:p>
        </p:txBody>
      </p:sp>
      <p:sp>
        <p:nvSpPr>
          <p:cNvPr id="16" name="Rectangle 15">
            <a:extLst>
              <a:ext uri="{FF2B5EF4-FFF2-40B4-BE49-F238E27FC236}">
                <a16:creationId xmlns:a16="http://schemas.microsoft.com/office/drawing/2014/main" id="{762F2D24-0298-4115-9699-8CA7B5A6524A}"/>
              </a:ext>
            </a:extLst>
          </p:cNvPr>
          <p:cNvSpPr/>
          <p:nvPr/>
        </p:nvSpPr>
        <p:spPr>
          <a:xfrm>
            <a:off x="654424" y="948242"/>
            <a:ext cx="10927976" cy="5165689"/>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2924206961"/>
              </p:ext>
            </p:extLst>
          </p:nvPr>
        </p:nvGraphicFramePr>
        <p:xfrm>
          <a:off x="788319" y="991090"/>
          <a:ext cx="10615362" cy="5027768"/>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414698">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مركزية المستفيد</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CXP01</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380139">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يلزم تطوير مكونات بنية الاعمال من خلال نهج يرتكز على فهم احتياجات المستفيد وتطلعاته كأساس لعملية التحسين المستمر، وبناء علاقات مستدامة معه، والتقسيم التفصيلي لشرائح المستفيدين من مختلف المناظير</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778430">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تمثل تجربة المستفيد المجال الرئيسي للتواصل وإشراك المستفيدين في تصميم وتطوير الخدمات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أهمية تبني ثقافة مركزية المستفيد داخل الهيئة والعاملين فيها والذين يتواصلون بشكل دائم مع المستفيدين ويعدون ممثلين للهيئة أمام المستفيدين، ودون تبنيهم لتلك المفاهيم فإنه من الصعب تطبيقها وضمان نجاحها</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067999">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اقتراح فرص التحسين وتصميم حلول بنية الأعمال بما يتواءم مع احتياجات وتطلعات المستفيدين من الخدمات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تحليل وتحديد التحديات التي تواجه الهيئة في تقديم خدماتها وتفاعلها الخارجي من وجهة نظر المستفيدين</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رفع الوعي بتنظيميات وتشريعات الهيئة والخدمات المقدمة من </a:t>
                      </a:r>
                      <a:r>
                        <a:rPr lang="ar-EG" sz="1600" baseline="0" dirty="0">
                          <a:solidFill>
                            <a:schemeClr val="tx1"/>
                          </a:solidFill>
                          <a:latin typeface="Sakkal Majalla" panose="02000000000000000000" pitchFamily="2" charset="-78"/>
                          <a:cs typeface="Sakkal Majalla" panose="02000000000000000000" pitchFamily="2" charset="-78"/>
                        </a:rPr>
                        <a:t>الهيئة</a:t>
                      </a:r>
                      <a:r>
                        <a:rPr lang="ar-SA" sz="1600" baseline="0" dirty="0">
                          <a:solidFill>
                            <a:schemeClr val="tx1"/>
                          </a:solidFill>
                          <a:latin typeface="Sakkal Majalla" panose="02000000000000000000" pitchFamily="2" charset="-78"/>
                          <a:cs typeface="Sakkal Majalla" panose="02000000000000000000" pitchFamily="2" charset="-78"/>
                        </a:rPr>
                        <a:t> وتقليل الشكاوى</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تعزيز ثقة المستفيدين بالهيئة وبناء جسور التواصل المستمر مع المستفيدين</a:t>
                      </a:r>
                      <a:endParaRPr lang="en-US" sz="1600" baseline="0" dirty="0">
                        <a:solidFill>
                          <a:schemeClr val="tx1"/>
                        </a:solidFill>
                        <a:latin typeface="Sakkal Majalla" panose="02000000000000000000" pitchFamily="2" charset="-78"/>
                        <a:cs typeface="Sakkal Majalla" panose="02000000000000000000" pitchFamily="2" charset="-78"/>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تحسين تجربة المستفيدين من خدمات الهيئة بكافة فئاتهم</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مراعاة خصوصية كل فئة من فئات المستفيدين من خدمات الهيئة أثناء تحليل الفجوات وتطوير خارطة طريق تطوير البنية المؤسسية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22940884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26</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CXP02</a:t>
            </a:r>
            <a:r>
              <a:rPr lang="ar-SA" dirty="0"/>
              <a:t>: تعزيز مشاركة المستفيد"</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1248795698"/>
              </p:ext>
            </p:extLst>
          </p:nvPr>
        </p:nvGraphicFramePr>
        <p:xfrm>
          <a:off x="788319" y="1268998"/>
          <a:ext cx="10615362" cy="4655553"/>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422781">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تعزيز مشاركة المستفيد</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CXP02</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432218">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يلزم إشراك المستفيدين في كل جوانب الخدمات التي تُقدّم لهم وتؤثر عليهم، بحيث تكون مشاركة نشطة في عمليات صنع القرار</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972978">
                <a:tc gridSpan="3">
                  <a:txBody>
                    <a:bodyPr/>
                    <a:lstStyle/>
                    <a:p>
                      <a:pPr marL="285750" marR="0" lvl="0" indent="-285750" algn="r" defTabSz="914400" rtl="1" eaLnBrk="1" fontAlgn="auto" latinLnBrk="0" hangingPunct="1">
                        <a:lnSpc>
                          <a:spcPct val="100000"/>
                        </a:lnSpc>
                        <a:spcBef>
                          <a:spcPts val="6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إشراك المستفيدين في عملية تطوير الخدمات الرقمية يتيح للهيئة فهم احتياجاتهم وتوقعاتهم بشكل أفضل، هذا الفهم يؤدي إلى تحسين جودة الخدمات المقدمة، حيث يتم تصميمها بشكل يلبي احتياجات المستفيدين بدقة أكبر</a:t>
                      </a:r>
                    </a:p>
                    <a:p>
                      <a:pPr marL="285750" marR="0" lvl="0" indent="-285750" algn="r" defTabSz="914400" rtl="1" eaLnBrk="1" fontAlgn="auto" latinLnBrk="0" hangingPunct="1">
                        <a:lnSpc>
                          <a:spcPct val="100000"/>
                        </a:lnSpc>
                        <a:spcBef>
                          <a:spcPts val="6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عندما يشعر المستفيدون بأنهم مشاركون في تصميم الخدمات التي يستخدمونها، يزداد رضاهم عن تلك الخدمات. زيادة الرضا تعزز من الثقة في الهيئة وتؤدي إلى علاقات أقوى بين الهيئة والمستفيدين</a:t>
                      </a:r>
                    </a:p>
                    <a:p>
                      <a:pPr marL="285750" marR="0" lvl="0" indent="-285750" algn="r" defTabSz="914400" rtl="1" eaLnBrk="1" fontAlgn="auto" latinLnBrk="0" hangingPunct="1">
                        <a:lnSpc>
                          <a:spcPct val="100000"/>
                        </a:lnSpc>
                        <a:spcBef>
                          <a:spcPts val="6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مشاركة المستفيدين في المراحل المبكرة من تطوير الخدمات تساعد في الكشف عن المشكلات أو العيوب قبل إطلاقها بشكل واسع، وهذا قد يقلل من التكاليف المرتبطة بتصحيح الأخطاء في مراحل متقدمة، ويضمن إطلاق خدمات عالية الجودة من البداية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1827576">
                <a:tc gridSpan="3">
                  <a:txBody>
                    <a:bodyPr/>
                    <a:lstStyle/>
                    <a:p>
                      <a:pPr marL="285750" marR="0" lvl="0" indent="-285750" algn="r" defTabSz="914400" rtl="1" eaLnBrk="1" fontAlgn="auto" latinLnBrk="0" hangingPunct="1">
                        <a:lnSpc>
                          <a:spcPct val="100000"/>
                        </a:lnSpc>
                        <a:spcBef>
                          <a:spcPts val="6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مشاركة المعلومات العامة وتعزيز الشفافية في جميع القطاعات الحكومية</a:t>
                      </a:r>
                    </a:p>
                    <a:p>
                      <a:pPr marL="285750" marR="0" lvl="0" indent="-285750" algn="r" defTabSz="914400" rtl="1" eaLnBrk="1" fontAlgn="auto" latinLnBrk="0" hangingPunct="1">
                        <a:lnSpc>
                          <a:spcPct val="100000"/>
                        </a:lnSpc>
                        <a:spcBef>
                          <a:spcPts val="6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إتاحة قنوات وموضوعات للمستفيدين لمشاركة مرئياتهم وملاحظاتهم ومقترحاتهم</a:t>
                      </a:r>
                    </a:p>
                    <a:p>
                      <a:pPr marL="285750" marR="0" lvl="0" indent="-285750" algn="r" defTabSz="914400" rtl="1" eaLnBrk="1" fontAlgn="auto" latinLnBrk="0" hangingPunct="1">
                        <a:lnSpc>
                          <a:spcPct val="100000"/>
                        </a:lnSpc>
                        <a:spcBef>
                          <a:spcPts val="6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متابعة القنوات المخصصة لمشاركة المستفيدين بشكل مستمر ورصد الآراء والاستجابة لملاحظاتهم</a:t>
                      </a:r>
                    </a:p>
                    <a:p>
                      <a:pPr marL="285750" marR="0" lvl="0" indent="-285750" algn="r" defTabSz="914400" rtl="1" eaLnBrk="1" fontAlgn="auto" latinLnBrk="0" hangingPunct="1">
                        <a:lnSpc>
                          <a:spcPct val="100000"/>
                        </a:lnSpc>
                        <a:spcBef>
                          <a:spcPts val="6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عرض نتائج المشاركة الإلكترونية، والاستفادة من مشاركات المستفيدين في عملية صنع القرار وإطلاق الخدمات وتحسينها</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37984495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27</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CXP03</a:t>
            </a:r>
            <a:r>
              <a:rPr lang="ar-SA" dirty="0"/>
              <a:t>: التحسين المرتكز على رحلة المستفيد"</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3090368648"/>
              </p:ext>
            </p:extLst>
          </p:nvPr>
        </p:nvGraphicFramePr>
        <p:xfrm>
          <a:off x="788319" y="1268998"/>
          <a:ext cx="10615362" cy="4655551"/>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39761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التحسين المرتكز على رحلة المستفيد</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CXP03</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629561">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تطوير </a:t>
                      </a:r>
                      <a:r>
                        <a:rPr lang="ar-EG" sz="1600" baseline="0" dirty="0">
                          <a:solidFill>
                            <a:schemeClr val="tx1"/>
                          </a:solidFill>
                          <a:latin typeface="Sakkal Majalla" panose="02000000000000000000" pitchFamily="2" charset="-78"/>
                          <a:cs typeface="Sakkal Majalla" panose="02000000000000000000" pitchFamily="2" charset="-78"/>
                        </a:rPr>
                        <a:t>وتحسين </a:t>
                      </a:r>
                      <a:r>
                        <a:rPr lang="ar-SA" sz="1600" baseline="0" dirty="0">
                          <a:solidFill>
                            <a:schemeClr val="tx1"/>
                          </a:solidFill>
                          <a:latin typeface="Sakkal Majalla" panose="02000000000000000000" pitchFamily="2" charset="-78"/>
                          <a:cs typeface="Sakkal Majalla" panose="02000000000000000000" pitchFamily="2" charset="-78"/>
                        </a:rPr>
                        <a:t>الخدمات </a:t>
                      </a:r>
                      <a:r>
                        <a:rPr lang="ar-EG" sz="1600" baseline="0" dirty="0">
                          <a:solidFill>
                            <a:schemeClr val="tx1"/>
                          </a:solidFill>
                          <a:latin typeface="Sakkal Majalla" panose="02000000000000000000" pitchFamily="2" charset="-78"/>
                          <a:cs typeface="Sakkal Majalla" panose="02000000000000000000" pitchFamily="2" charset="-78"/>
                        </a:rPr>
                        <a:t>بشكل </a:t>
                      </a:r>
                      <a:r>
                        <a:rPr lang="ar-SA" sz="1600" baseline="0" dirty="0">
                          <a:solidFill>
                            <a:schemeClr val="tx1"/>
                          </a:solidFill>
                          <a:latin typeface="Sakkal Majalla" panose="02000000000000000000" pitchFamily="2" charset="-78"/>
                          <a:cs typeface="Sakkal Majalla" panose="02000000000000000000" pitchFamily="2" charset="-78"/>
                        </a:rPr>
                        <a:t>مستمر، يجب </a:t>
                      </a:r>
                      <a:r>
                        <a:rPr lang="ar-EG" sz="1600" baseline="0" dirty="0">
                          <a:solidFill>
                            <a:schemeClr val="tx1"/>
                          </a:solidFill>
                          <a:latin typeface="Sakkal Majalla" panose="02000000000000000000" pitchFamily="2" charset="-78"/>
                          <a:cs typeface="Sakkal Majalla" panose="02000000000000000000" pitchFamily="2" charset="-78"/>
                        </a:rPr>
                        <a:t>أن يرتكز </a:t>
                      </a:r>
                      <a:r>
                        <a:rPr lang="ar-SA" sz="1600" baseline="0" dirty="0">
                          <a:solidFill>
                            <a:schemeClr val="tx1"/>
                          </a:solidFill>
                          <a:latin typeface="Sakkal Majalla" panose="02000000000000000000" pitchFamily="2" charset="-78"/>
                          <a:cs typeface="Sakkal Majalla" panose="02000000000000000000" pitchFamily="2" charset="-78"/>
                        </a:rPr>
                        <a:t>على </a:t>
                      </a:r>
                      <a:r>
                        <a:rPr lang="ar-EG" sz="1600" baseline="0" dirty="0">
                          <a:solidFill>
                            <a:schemeClr val="tx1"/>
                          </a:solidFill>
                          <a:latin typeface="Sakkal Majalla" panose="02000000000000000000" pitchFamily="2" charset="-78"/>
                          <a:cs typeface="Sakkal Majalla" panose="02000000000000000000" pitchFamily="2" charset="-78"/>
                        </a:rPr>
                        <a:t>تحسين </a:t>
                      </a:r>
                      <a:r>
                        <a:rPr lang="ar-SA" sz="1600" baseline="0" dirty="0">
                          <a:solidFill>
                            <a:schemeClr val="tx1"/>
                          </a:solidFill>
                          <a:latin typeface="Sakkal Majalla" panose="02000000000000000000" pitchFamily="2" charset="-78"/>
                          <a:cs typeface="Sakkal Majalla" panose="02000000000000000000" pitchFamily="2" charset="-78"/>
                        </a:rPr>
                        <a:t>تجربة المستفيد ورحلاته المختلفة،</a:t>
                      </a:r>
                      <a:r>
                        <a:rPr lang="ar-EG" sz="1600" baseline="0" dirty="0">
                          <a:solidFill>
                            <a:schemeClr val="tx1"/>
                          </a:solidFill>
                          <a:latin typeface="Sakkal Majalla" panose="02000000000000000000" pitchFamily="2" charset="-78"/>
                          <a:cs typeface="Sakkal Majalla" panose="02000000000000000000" pitchFamily="2" charset="-78"/>
                        </a:rPr>
                        <a:t> بالإضافة إلى</a:t>
                      </a:r>
                      <a:r>
                        <a:rPr lang="ar-SA" sz="1600" baseline="0" dirty="0">
                          <a:solidFill>
                            <a:schemeClr val="tx1"/>
                          </a:solidFill>
                          <a:latin typeface="Sakkal Majalla" panose="02000000000000000000" pitchFamily="2" charset="-78"/>
                          <a:cs typeface="Sakkal Majalla" panose="02000000000000000000" pitchFamily="2" charset="-78"/>
                        </a:rPr>
                        <a:t> تعزيز القيمة المضافة في كل مرحلة </a:t>
                      </a:r>
                      <a:r>
                        <a:rPr lang="ar-EG" sz="1600" baseline="0" dirty="0">
                          <a:solidFill>
                            <a:schemeClr val="tx1"/>
                          </a:solidFill>
                          <a:latin typeface="Sakkal Majalla" panose="02000000000000000000" pitchFamily="2" charset="-78"/>
                          <a:cs typeface="Sakkal Majalla" panose="02000000000000000000" pitchFamily="2" charset="-78"/>
                        </a:rPr>
                        <a:t>من رحلة المستفيد </a:t>
                      </a:r>
                      <a:r>
                        <a:rPr lang="ar-SA" sz="1600" baseline="0" dirty="0">
                          <a:solidFill>
                            <a:schemeClr val="tx1"/>
                          </a:solidFill>
                          <a:latin typeface="Sakkal Majalla" panose="02000000000000000000" pitchFamily="2" charset="-78"/>
                          <a:cs typeface="Sakkal Majalla" panose="02000000000000000000" pitchFamily="2" charset="-78"/>
                        </a:rPr>
                        <a:t>لضمان تحقيق الرضا الشامل</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699000">
                <a:tc gridSpan="3">
                  <a:txBody>
                    <a:bodyPr/>
                    <a:lstStyle/>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توثيق رحلة المستفيد يساعد الهيئة  على فهم احتياجات وتوقعات المستفيد في كل مرحلة من مراحل التفاعل. هذا الفهم العميق يمكن أن يوجه تحسين المنتجات والخدمات لتلبية هذه الاحتياجات بشكل أفضل</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من خلال تحديد نقاط التفاعل الأساسية، يمكن للهيئة تحسين تجربة المستفيد، مما يعزز من رضا المستفيد ويقلل من المشكلات أو الإحباطات التي قد يواجهها المستفيد</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تطوير رحلات المستفيد  بناء على توقعاتهم بما يساهم في رفع رضا المستفيد عن نقاط التفاعل والخدمات المقدمة من الهيئة </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بحث حلول التكامل بين الجهات ذات العلاقة وتطوير خدمات مشتركة ومتكاملة تعزز تجربة المستفيد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1929373">
                <a:tc gridSpan="3">
                  <a:txBody>
                    <a:bodyPr/>
                    <a:lstStyle/>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تحسين تجربة المستفيد من خلال تحديد النقاط الحرجة في رحلته ومعالجة العقبات. مما يؤدي إلى زيادة رضا المستفيدين</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من خلال فهم أعمق لاحتياجات المستفيدين ورحلتهم، يمكن للهيئة اكتشاف فرص جديدة للابتكار سواء في الخدمات أو تجربة المستفيدين بشكل عام</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نتائج توثيق رحلة المستفيد يمكن أن تؤثر على القرارات الاستراتيجية، مثل تعديل استراتيجيات الهيئة، كما يمكن أن يؤدي هذا إلى تغيير في الأولويات أو إعادة توجيه الموارد</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تصميم تجربة مستفيد موحدة ومتكاملة بدلا عن تجارب مختلفة ومتعددة </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التأكد من توافق مكونات بنية الأعمال مع متطلبات بنية تجربة المستفيد وعكسها على مكونات مجالات البنية المؤسسية ذات العلاقة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1530152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62880" y="3925452"/>
            <a:ext cx="6281420" cy="641639"/>
          </a:xfrm>
        </p:spPr>
        <p:txBody>
          <a:bodyPr/>
          <a:lstStyle/>
          <a:p>
            <a:r>
              <a:rPr lang="ar-SA" sz="2800" dirty="0"/>
              <a:t>مبادئ بنية التطبيقات</a:t>
            </a:r>
            <a:endParaRPr lang="en-US" sz="2800" dirty="0"/>
          </a:p>
        </p:txBody>
      </p:sp>
      <p:sp>
        <p:nvSpPr>
          <p:cNvPr id="4" name="Text Placeholder 3"/>
          <p:cNvSpPr>
            <a:spLocks noGrp="1"/>
          </p:cNvSpPr>
          <p:nvPr>
            <p:ph type="body" sz="quarter" idx="14"/>
          </p:nvPr>
        </p:nvSpPr>
        <p:spPr/>
        <p:txBody>
          <a:bodyPr/>
          <a:lstStyle/>
          <a:p>
            <a:r>
              <a:rPr lang="ar-EG" sz="7200" dirty="0"/>
              <a:t>2.3</a:t>
            </a:r>
            <a:endParaRPr lang="en-US" sz="7200" dirty="0"/>
          </a:p>
        </p:txBody>
      </p:sp>
    </p:spTree>
    <p:extLst>
      <p:ext uri="{BB962C8B-B14F-4D97-AF65-F5344CB8AC3E}">
        <p14:creationId xmlns:p14="http://schemas.microsoft.com/office/powerpoint/2010/main" val="699513053"/>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DB412-F2D5-C096-4881-CB0BD2AECE0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4C4F1D8-6499-C9F0-D563-6BAFC3699270}"/>
              </a:ext>
            </a:extLst>
          </p:cNvPr>
          <p:cNvSpPr>
            <a:spLocks noGrp="1"/>
          </p:cNvSpPr>
          <p:nvPr>
            <p:ph type="sldNum" sz="quarter" idx="12"/>
          </p:nvPr>
        </p:nvSpPr>
        <p:spPr/>
        <p:txBody>
          <a:bodyPr/>
          <a:lstStyle/>
          <a:p>
            <a:fld id="{0BE4EC83-A869-464E-AE9F-881796FB085E}" type="slidenum">
              <a:rPr lang="en-US" smtClean="0"/>
              <a:t>29</a:t>
            </a:fld>
            <a:endParaRPr lang="en-US" dirty="0"/>
          </a:p>
        </p:txBody>
      </p:sp>
      <p:graphicFrame>
        <p:nvGraphicFramePr>
          <p:cNvPr id="5" name="Table 8">
            <a:extLst>
              <a:ext uri="{FF2B5EF4-FFF2-40B4-BE49-F238E27FC236}">
                <a16:creationId xmlns:a16="http://schemas.microsoft.com/office/drawing/2014/main" id="{F90D5F4D-D6EC-C508-85CB-787AA0404186}"/>
              </a:ext>
            </a:extLst>
          </p:cNvPr>
          <p:cNvGraphicFramePr>
            <a:graphicFrameLocks noGrp="1"/>
          </p:cNvGraphicFramePr>
          <p:nvPr>
            <p:extLst>
              <p:ext uri="{D42A27DB-BD31-4B8C-83A1-F6EECF244321}">
                <p14:modId xmlns:p14="http://schemas.microsoft.com/office/powerpoint/2010/main" val="378991833"/>
              </p:ext>
            </p:extLst>
          </p:nvPr>
        </p:nvGraphicFramePr>
        <p:xfrm>
          <a:off x="621452" y="872552"/>
          <a:ext cx="10949096" cy="5242560"/>
        </p:xfrm>
        <a:graphic>
          <a:graphicData uri="http://schemas.openxmlformats.org/drawingml/2006/table">
            <a:tbl>
              <a:tblPr firstRow="1" bandRow="1">
                <a:tableStyleId>{5C22544A-7EE6-4342-B048-85BDC9FD1C3A}</a:tableStyleId>
              </a:tblPr>
              <a:tblGrid>
                <a:gridCol w="7190137">
                  <a:extLst>
                    <a:ext uri="{9D8B030D-6E8A-4147-A177-3AD203B41FA5}">
                      <a16:colId xmlns:a16="http://schemas.microsoft.com/office/drawing/2014/main" val="637829901"/>
                    </a:ext>
                  </a:extLst>
                </a:gridCol>
                <a:gridCol w="3758959">
                  <a:extLst>
                    <a:ext uri="{9D8B030D-6E8A-4147-A177-3AD203B41FA5}">
                      <a16:colId xmlns:a16="http://schemas.microsoft.com/office/drawing/2014/main" val="543068415"/>
                    </a:ext>
                  </a:extLst>
                </a:gridCol>
              </a:tblGrid>
              <a:tr h="347536">
                <a:tc>
                  <a:txBody>
                    <a:bodyPr/>
                    <a:lstStyle/>
                    <a:p>
                      <a:pPr algn="ctr" rtl="1"/>
                      <a:r>
                        <a:rPr lang="ar-SA" sz="2000" b="1" kern="1200" baseline="0" dirty="0">
                          <a:solidFill>
                            <a:schemeClr val="bg1"/>
                          </a:solidFill>
                          <a:latin typeface="Sakkal Majalla" panose="02000000000000000000" pitchFamily="2" charset="-78"/>
                          <a:ea typeface="+mj-ea"/>
                          <a:cs typeface="Sakkal Majalla" panose="02000000000000000000" pitchFamily="2" charset="-78"/>
                        </a:rPr>
                        <a:t>وصف</a:t>
                      </a:r>
                      <a:r>
                        <a:rPr lang="ar-EG" sz="2000" b="1" kern="1200" baseline="0" dirty="0">
                          <a:solidFill>
                            <a:schemeClr val="bg1"/>
                          </a:solidFill>
                          <a:latin typeface="Sakkal Majalla" panose="02000000000000000000" pitchFamily="2" charset="-78"/>
                          <a:ea typeface="+mj-ea"/>
                          <a:cs typeface="Sakkal Majalla" panose="02000000000000000000" pitchFamily="2" charset="-78"/>
                        </a:rPr>
                        <a:t> المبدأ</a:t>
                      </a:r>
                    </a:p>
                  </a:txBody>
                  <a:tcPr anchor="ctr"/>
                </a:tc>
                <a:tc>
                  <a:txBody>
                    <a:bodyPr/>
                    <a:lstStyle/>
                    <a:p>
                      <a:pPr algn="ctr" rtl="1"/>
                      <a:r>
                        <a:rPr lang="ar-EG" sz="2000" b="1" kern="1200" baseline="0" dirty="0">
                          <a:solidFill>
                            <a:schemeClr val="bg1"/>
                          </a:solidFill>
                          <a:latin typeface="Sakkal Majalla" panose="02000000000000000000" pitchFamily="2" charset="-78"/>
                          <a:ea typeface="+mj-ea"/>
                          <a:cs typeface="Sakkal Majalla" panose="02000000000000000000" pitchFamily="2" charset="-78"/>
                        </a:rPr>
                        <a:t>رمز</a:t>
                      </a:r>
                      <a:r>
                        <a:rPr lang="ar-SA" sz="2000" b="1" kern="1200" baseline="0" dirty="0">
                          <a:solidFill>
                            <a:schemeClr val="bg1"/>
                          </a:solidFill>
                          <a:latin typeface="Sakkal Majalla" panose="02000000000000000000" pitchFamily="2" charset="-78"/>
                          <a:ea typeface="+mj-ea"/>
                          <a:cs typeface="Sakkal Majalla" panose="02000000000000000000" pitchFamily="2" charset="-78"/>
                        </a:rPr>
                        <a:t>: اسم</a:t>
                      </a:r>
                      <a:r>
                        <a:rPr lang="ar-EG" sz="2000" b="1" kern="1200" baseline="0" dirty="0">
                          <a:solidFill>
                            <a:schemeClr val="bg1"/>
                          </a:solidFill>
                          <a:latin typeface="Sakkal Majalla" panose="02000000000000000000" pitchFamily="2" charset="-78"/>
                          <a:ea typeface="+mj-ea"/>
                          <a:cs typeface="Sakkal Majalla" panose="02000000000000000000" pitchFamily="2" charset="-78"/>
                        </a:rPr>
                        <a:t> المبدأ</a:t>
                      </a:r>
                    </a:p>
                  </a:txBody>
                  <a:tcPr anchor="ctr"/>
                </a:tc>
                <a:extLst>
                  <a:ext uri="{0D108BD9-81ED-4DB2-BD59-A6C34878D82A}">
                    <a16:rowId xmlns:a16="http://schemas.microsoft.com/office/drawing/2014/main" val="3194809227"/>
                  </a:ext>
                </a:extLst>
              </a:tr>
              <a:tr h="320803">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تحديد التطبيقات ووظائف التطبيقات المثلى لرقمنة متطلبات الأعمال وضمان مواءمتها مع التوجهات الاستراتيجية للهيئة</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2" action="ppaction://hlinksldjump"/>
                        </a:rPr>
                        <a:t>AP01</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2" action="ppaction://hlinksldjump"/>
                        </a:rPr>
                        <a:t>: الملاءمة والاستخدام الاستراتيجي للتطبيقات</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2306921876"/>
                  </a:ext>
                </a:extLst>
              </a:tr>
              <a:tr h="507938">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يهدف المبدأ إلى تصميم وتطوير التطبيقات والخدمات الرقمية بحيث تكون سهلة الاستخدام، وتدعم تجربة مستخدم فعالة ومرنة عبر مختلف القنوات الرقمية مما يسهم في تعزيز الرضا والاستخدام المستمر</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3" action="ppaction://hlinksldjump"/>
                        </a:rPr>
                        <a:t>AP02</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3" action="ppaction://hlinksldjump"/>
                        </a:rPr>
                        <a:t>: تجربة مستخدم فعالة وسهلة الاستخدام</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372816279"/>
                  </a:ext>
                </a:extLst>
              </a:tr>
              <a:tr h="320803">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بناء هيكلة التطبيقات بطريقة تستوعب تغييرات متطلبات وحجم الأعمال ونمو البيانات بمنهجية</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4" action="ppaction://hlinksldjump"/>
                        </a:rPr>
                        <a:t>AP03</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4" action="ppaction://hlinksldjump"/>
                        </a:rPr>
                        <a:t>: المرونة وقابلية التطوير</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947784764"/>
                  </a:ext>
                </a:extLst>
              </a:tr>
              <a:tr h="507938">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بناء مكونات التطبيقات بحيث تعمل بشكل مستقل ويمكن استخدامها أكثر من مرة في سياقات وظيفية تختلف عن تلك التي صممت من أجلها في البداية ويمكن أن تحقق متطلبات أعمال أخرى</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5" action="ppaction://hlinksldjump"/>
                        </a:rPr>
                        <a:t>AP04</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5" action="ppaction://hlinksldjump"/>
                        </a:rPr>
                        <a:t>: قابلية إعادة استخدام مكونات التطبيقات</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602485621"/>
                  </a:ext>
                </a:extLst>
              </a:tr>
              <a:tr h="507938">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يجب أن تكون الأنظمة أو التطبيقات المختلفة قادرة على التكامل بفعالية وسلاسة، مما يضمن تنسيق العمل بينها وتحقيق كفاءة تشغيلية عالية</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6" action="ppaction://hlinksldjump"/>
                        </a:rPr>
                        <a:t>AP05</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6" action="ppaction://hlinksldjump"/>
                        </a:rPr>
                        <a:t>: قابلية التكامل</a:t>
                      </a:r>
                      <a:endParaRPr lang="en-US"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1200409264"/>
                  </a:ext>
                </a:extLst>
              </a:tr>
              <a:tr h="507938">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حماية التطبيقات، والبيانات على مستوى التخزين والنقل والاستخدام من التهديدات الأمنية من خلال الالتزام بالمعايير وأفضل الممارسات، وسياسات الأمن السيبراني</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7" action="ppaction://hlinksldjump"/>
                        </a:rPr>
                        <a:t>AP06</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7" action="ppaction://hlinksldjump"/>
                        </a:rPr>
                        <a:t>: أمن التطبيقات</a:t>
                      </a:r>
                      <a:endParaRPr lang="en-US"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1998998549"/>
                  </a:ext>
                </a:extLst>
              </a:tr>
              <a:tr h="507938">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تطوير التطبيقات وإدارتها باستخدام تقنيات التحديث المستمرة والتكامل مع ممارسات </a:t>
                      </a:r>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DevOps</a:t>
                      </a: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 لضمان تحسين الأداء، وتوسيع الوظائف، وتحقيق التوافق مع التقنيات الحديثة، مع تعزيز الكفاءة والمرونة في عمليات التطوير والتشغيل</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8" action="ppaction://hlinksldjump"/>
                        </a:rPr>
                        <a:t>AP07</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8" action="ppaction://hlinksldjump"/>
                        </a:rPr>
                        <a:t>: قابلية دعم ممارسات </a:t>
                      </a: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8" action="ppaction://hlinksldjump"/>
                        </a:rPr>
                        <a:t>DevOps</a:t>
                      </a:r>
                      <a:endParaRPr lang="en-US"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2776434887"/>
                  </a:ext>
                </a:extLst>
              </a:tr>
              <a:tr h="507938">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تعزيز اعتماد البرمجيات الحرة ومفتوحة المصدر في تطوير وتشغيل الأنظمة والتطبيقات التقنية الخاصة بالهيئة بهدف تحسين القدرة على التكيف مع الاحتياجات المتغيرة وتعزيز الابتكار</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9" action="ppaction://hlinksldjump"/>
                        </a:rPr>
                        <a:t>AP08</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9" action="ppaction://hlinksldjump"/>
                        </a:rPr>
                        <a:t>: تبني البرمجيات الحرة ومفتوحة المصدر</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2749343101"/>
                  </a:ext>
                </a:extLst>
              </a:tr>
              <a:tr h="561405">
                <a:tc>
                  <a:txBody>
                    <a:bodyPr/>
                    <a:lstStyle/>
                    <a:p>
                      <a:pPr algn="r" rtl="1">
                        <a:lnSpc>
                          <a:spcPct val="100000"/>
                        </a:lnSpc>
                      </a:pPr>
                      <a:r>
                        <a:rPr lang="ar-SA" sz="1600" b="0" baseline="0" dirty="0">
                          <a:latin typeface="Sakkal Majalla" panose="02000000000000000000" pitchFamily="2" charset="-78"/>
                          <a:cs typeface="Sakkal Majalla" panose="02000000000000000000" pitchFamily="2" charset="-78"/>
                        </a:rPr>
                        <a:t>تعزيز الإدراك العميق لأهمية الابتكار والذكاء الصناعي في تطوير وتقديم الحلول الرقمية</a:t>
                      </a:r>
                    </a:p>
                  </a:txBody>
                  <a:tcPr anchor="ctr"/>
                </a:tc>
                <a:tc>
                  <a:txBody>
                    <a:bodyPr/>
                    <a:lstStyle/>
                    <a:p>
                      <a:pPr algn="r" rtl="1">
                        <a:lnSpc>
                          <a:spcPct val="100000"/>
                        </a:lnSpc>
                      </a:pPr>
                      <a:r>
                        <a:rPr lang="en-US" sz="1800" b="1" baseline="0" dirty="0">
                          <a:latin typeface="Sakkal Majalla" panose="02000000000000000000" pitchFamily="2" charset="-78"/>
                          <a:cs typeface="Sakkal Majalla" panose="02000000000000000000" pitchFamily="2" charset="-78"/>
                          <a:hlinkClick r:id="rId10" action="ppaction://hlinksldjump"/>
                        </a:rPr>
                        <a:t>AP09</a:t>
                      </a:r>
                      <a:r>
                        <a:rPr lang="ar-SA" sz="1800" b="1" baseline="0" dirty="0">
                          <a:latin typeface="Sakkal Majalla" panose="02000000000000000000" pitchFamily="2" charset="-78"/>
                          <a:cs typeface="Sakkal Majalla" panose="02000000000000000000" pitchFamily="2" charset="-78"/>
                          <a:hlinkClick r:id="rId10" action="ppaction://hlinksldjump"/>
                        </a:rPr>
                        <a:t>: تعزيز الابتكار  من خلال دمج الذكاء الاصطناعي في تطوير الحلول الرقمية</a:t>
                      </a:r>
                      <a:endParaRPr lang="en-US" sz="1800" b="1" baseline="0" dirty="0">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1544499624"/>
                  </a:ext>
                </a:extLst>
              </a:tr>
            </a:tbl>
          </a:graphicData>
        </a:graphic>
      </p:graphicFrame>
      <p:sp>
        <p:nvSpPr>
          <p:cNvPr id="7" name="Title 1">
            <a:extLst>
              <a:ext uri="{FF2B5EF4-FFF2-40B4-BE49-F238E27FC236}">
                <a16:creationId xmlns:a16="http://schemas.microsoft.com/office/drawing/2014/main" id="{5089F128-8088-92FB-66A9-A5AD0E788793}"/>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مبادئ بنية التطبيقات</a:t>
            </a:r>
            <a:endParaRPr lang="en-US" dirty="0"/>
          </a:p>
        </p:txBody>
      </p:sp>
    </p:spTree>
    <p:extLst>
      <p:ext uri="{BB962C8B-B14F-4D97-AF65-F5344CB8AC3E}">
        <p14:creationId xmlns:p14="http://schemas.microsoft.com/office/powerpoint/2010/main" val="154344900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30</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AP01</a:t>
            </a:r>
            <a:r>
              <a:rPr lang="ar-SA" dirty="0"/>
              <a:t>: الملاءمة والاستخدام الاستراتيجي</a:t>
            </a:r>
            <a:r>
              <a:rPr lang="ar-EG" dirty="0"/>
              <a:t> للتطبيقات</a:t>
            </a:r>
            <a:r>
              <a:rPr lang="ar-SA" dirty="0"/>
              <a:t>"</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3160079383"/>
              </p:ext>
            </p:extLst>
          </p:nvPr>
        </p:nvGraphicFramePr>
        <p:xfrm>
          <a:off x="788319" y="1268997"/>
          <a:ext cx="10615362" cy="4632616"/>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38481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ملائمة الاستخدام وذات توجه استراتيجي</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AP01</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609293">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تحديد </a:t>
                      </a:r>
                      <a:r>
                        <a:rPr lang="ar-EG" sz="1600" baseline="0" dirty="0">
                          <a:solidFill>
                            <a:schemeClr val="tx1"/>
                          </a:solidFill>
                          <a:latin typeface="Sakkal Majalla" panose="02000000000000000000" pitchFamily="2" charset="-78"/>
                          <a:cs typeface="Sakkal Majalla" panose="02000000000000000000" pitchFamily="2" charset="-78"/>
                        </a:rPr>
                        <a:t>التطبيقات و</a:t>
                      </a:r>
                      <a:r>
                        <a:rPr lang="ar-SA" sz="1600" baseline="0" dirty="0">
                          <a:solidFill>
                            <a:schemeClr val="tx1"/>
                          </a:solidFill>
                          <a:latin typeface="Sakkal Majalla" panose="02000000000000000000" pitchFamily="2" charset="-78"/>
                          <a:cs typeface="Sakkal Majalla" panose="02000000000000000000" pitchFamily="2" charset="-78"/>
                        </a:rPr>
                        <a:t>وظائف التطبيقات </a:t>
                      </a:r>
                      <a:r>
                        <a:rPr lang="ar-EG" sz="1600" baseline="0" dirty="0">
                          <a:solidFill>
                            <a:schemeClr val="tx1"/>
                          </a:solidFill>
                          <a:latin typeface="Sakkal Majalla" panose="02000000000000000000" pitchFamily="2" charset="-78"/>
                          <a:cs typeface="Sakkal Majalla" panose="02000000000000000000" pitchFamily="2" charset="-78"/>
                        </a:rPr>
                        <a:t>المثلى</a:t>
                      </a:r>
                      <a:r>
                        <a:rPr lang="ar-SA" sz="1600" baseline="0" dirty="0">
                          <a:solidFill>
                            <a:schemeClr val="tx1"/>
                          </a:solidFill>
                          <a:latin typeface="Sakkal Majalla" panose="02000000000000000000" pitchFamily="2" charset="-78"/>
                          <a:cs typeface="Sakkal Majalla" panose="02000000000000000000" pitchFamily="2" charset="-78"/>
                        </a:rPr>
                        <a:t> لرقمنة متطلبات الأعمال وضمان مواءمتها مع </a:t>
                      </a:r>
                      <a:r>
                        <a:rPr lang="ar-EG" sz="1600" baseline="0" dirty="0">
                          <a:solidFill>
                            <a:schemeClr val="tx1"/>
                          </a:solidFill>
                          <a:latin typeface="Sakkal Majalla" panose="02000000000000000000" pitchFamily="2" charset="-78"/>
                          <a:cs typeface="Sakkal Majalla" panose="02000000000000000000" pitchFamily="2" charset="-78"/>
                        </a:rPr>
                        <a:t>التوجهات الاستراتيجية للهيئة</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650286">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ترشيد الإنفاق في التطبيقات بما يتناسب مع متطلبات الأعمال والتوجهات المستقبلية </a:t>
                      </a:r>
                      <a:r>
                        <a:rPr lang="ar-EG" sz="1600" baseline="0" dirty="0">
                          <a:solidFill>
                            <a:schemeClr val="tx1"/>
                          </a:solidFill>
                          <a:latin typeface="Sakkal Majalla" panose="02000000000000000000" pitchFamily="2" charset="-78"/>
                          <a:cs typeface="Sakkal Majalla" panose="02000000000000000000" pitchFamily="2" charset="-78"/>
                        </a:rPr>
                        <a:t>للهيئة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EG" sz="1600" baseline="0" dirty="0">
                          <a:solidFill>
                            <a:schemeClr val="tx1"/>
                          </a:solidFill>
                          <a:latin typeface="Sakkal Majalla" panose="02000000000000000000" pitchFamily="2" charset="-78"/>
                          <a:cs typeface="Sakkal Majalla" panose="02000000000000000000" pitchFamily="2" charset="-78"/>
                        </a:rPr>
                        <a:t>تسريع تنفيذ متطلبات الرقمنة لكافة قطاعات الأعمال باستخدام الحلول الأكثر فعالية</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1988220">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EG" sz="1600" baseline="0" dirty="0">
                          <a:solidFill>
                            <a:schemeClr val="tx1"/>
                          </a:solidFill>
                          <a:latin typeface="Sakkal Majalla" panose="02000000000000000000" pitchFamily="2" charset="-78"/>
                          <a:cs typeface="Sakkal Majalla" panose="02000000000000000000" pitchFamily="2" charset="-78"/>
                        </a:rPr>
                        <a:t>يجب الالتزام بالمعايير المحددة لاتخاذ قرارات استراتيجية حول الحلول المناسبة للتطبيقات المستهدفة، مع موازنة بين الحلول التجارية الجاهزة، أو المصادر المفتوحة، أو الحلول المصممة خصيصا، مع مراعاة تلبية متطلبات الأمان</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اختيار تقنية التطبيقات الأنسب لمتطلبات وأولويات العمل مع الأخذ بعين الاعتبار الخطط المستقبلية قدر الإمكان </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اعتماد منهجيات التنفيذ الحديثة لتسريع وتيرة التطوير وتقليل الوقت اللازم للتسويق </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ضمان وجود نموذج حوكمة محدد وتفعيله لفرض نقاط فحص الجودة والتدابير أثناء تنفيذ مكونات التطبيقات المستهدفة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20469401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31</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AP02</a:t>
            </a:r>
            <a:r>
              <a:rPr lang="ar-SA" dirty="0"/>
              <a:t>: تجربة مستخدم فعالة وسهلة الاستخدام"</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4125086945"/>
              </p:ext>
            </p:extLst>
          </p:nvPr>
        </p:nvGraphicFramePr>
        <p:xfrm>
          <a:off x="788319" y="1268997"/>
          <a:ext cx="10615362" cy="4556070"/>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378458">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سهولة الاستخدام</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AP02</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599226">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يهدف المبدأ إلى تصميم وتطوير التطبيقات والخدمات الرقمية بحيث تكون سهلة الاستخدام، وتدعم تجربة مستخدم فعالة ومرنة عبر مختلف القنوات الرق</a:t>
                      </a:r>
                      <a:r>
                        <a:rPr lang="ar-EG" sz="1600" baseline="0" dirty="0">
                          <a:solidFill>
                            <a:schemeClr val="tx1"/>
                          </a:solidFill>
                          <a:latin typeface="Sakkal Majalla" panose="02000000000000000000" pitchFamily="2" charset="-78"/>
                          <a:cs typeface="Sakkal Majalla" panose="02000000000000000000" pitchFamily="2" charset="-78"/>
                        </a:rPr>
                        <a:t>مية </a:t>
                      </a:r>
                      <a:r>
                        <a:rPr lang="ar-SA" sz="1600" baseline="0" dirty="0">
                          <a:solidFill>
                            <a:schemeClr val="tx1"/>
                          </a:solidFill>
                          <a:latin typeface="Sakkal Majalla" panose="02000000000000000000" pitchFamily="2" charset="-78"/>
                          <a:cs typeface="Sakkal Majalla" panose="02000000000000000000" pitchFamily="2" charset="-78"/>
                        </a:rPr>
                        <a:t>مما يسهم في تعزيز الرضا والاستخدام المستمر</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623018">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EG" sz="1600" baseline="0" dirty="0">
                          <a:solidFill>
                            <a:schemeClr val="tx1"/>
                          </a:solidFill>
                          <a:latin typeface="Sakkal Majalla" panose="02000000000000000000" pitchFamily="2" charset="-78"/>
                          <a:cs typeface="Sakkal Majalla" panose="02000000000000000000" pitchFamily="2" charset="-78"/>
                        </a:rPr>
                        <a:t>تعزيز تجربة المستخدمين من خلال استخدام خدمات وإجراءات رقمية سهلة الوصول وسلسة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EG" sz="1600" baseline="0" dirty="0">
                          <a:solidFill>
                            <a:schemeClr val="tx1"/>
                          </a:solidFill>
                          <a:latin typeface="Sakkal Majalla" panose="02000000000000000000" pitchFamily="2" charset="-78"/>
                          <a:cs typeface="Sakkal Majalla" panose="02000000000000000000" pitchFamily="2" charset="-78"/>
                        </a:rPr>
                        <a:t>تسهيل وصول المستفيدين إلى التطبيقات عبر القنوات المناسبة لكل مستخدم</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EG" sz="1600" baseline="0" dirty="0">
                          <a:solidFill>
                            <a:schemeClr val="tx1"/>
                          </a:solidFill>
                          <a:latin typeface="Sakkal Majalla" panose="02000000000000000000" pitchFamily="2" charset="-78"/>
                          <a:cs typeface="Sakkal Majalla" panose="02000000000000000000" pitchFamily="2" charset="-78"/>
                        </a:rPr>
                        <a:t>توحيد الهوية الرقمية للهيئة عبر مختلف القنوات لضمان مواءمة التصميم مع تقديم الخدمات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EG" sz="1600" baseline="0" dirty="0">
                          <a:solidFill>
                            <a:schemeClr val="tx1"/>
                          </a:solidFill>
                          <a:latin typeface="Sakkal Majalla" panose="02000000000000000000" pitchFamily="2" charset="-78"/>
                          <a:cs typeface="Sakkal Majalla" panose="02000000000000000000" pitchFamily="2" charset="-78"/>
                        </a:rPr>
                        <a:t>تحسين رضا المستفيدين من خلال توفير تجربة رقمية مصممة بعناية لتلبية احتياجاتهم وتوقعاتهم</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1955368">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تطوير وتصميم التطبيقات وفقا لمعايير تجربة المستخدم الحديثة لضمان سهولة الاستخدام في مختلف القنوات الرقمية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إتاحة الوصول إلى التطبيقات بشكل فعال من خلال قنوات مختلفة مثل (الويب، الهاتف المحمول)</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مراعاة عدم الاتصال بالإنترنت عند تنفيذ خدمات معينة لضمان استمرارية الخدمة قدر الإمكان</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تطوير واجهات استخدام متكيفة مع مختلف الأجهزة والمنصات لتلبية احتياجات المستخدمين المتنوعة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الأخذ بعين الاعتبار المستخدمين أصحاب الاحتياجات الخاصة وتطوير التطبيقات بما تتلاءم مع احتياجاتهم</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16771764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32</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AP03</a:t>
            </a:r>
            <a:r>
              <a:rPr lang="ar-SA" dirty="0"/>
              <a:t>: المرونة وقابلية التطوير"</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3153425461"/>
              </p:ext>
            </p:extLst>
          </p:nvPr>
        </p:nvGraphicFramePr>
        <p:xfrm>
          <a:off x="788319" y="1268996"/>
          <a:ext cx="10615362" cy="4618619"/>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412674">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المرونة وقابلية التطوير</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AP03</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378285">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بناء هيكلة التطبيقات بطريقة تستوعب تغييرات متطلبات وحجم الأعمال ونمو البيانات بمنهجية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769752">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ضمان المرونة وقابلية التطوير المستمر من بداية تصميم التطبيقات لتلبية التغييرات المتوقعة وغير المتوقعة في الخدمات المنشورة </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تمكين توزيع التطبيقات بفعالية بين مزودي الخدمات السحابية ومركز بيانات </a:t>
                      </a:r>
                      <a:r>
                        <a:rPr lang="ar-EG" sz="1600" baseline="0" dirty="0">
                          <a:solidFill>
                            <a:schemeClr val="tx1"/>
                          </a:solidFill>
                          <a:latin typeface="Sakkal Majalla" panose="02000000000000000000" pitchFamily="2" charset="-78"/>
                          <a:cs typeface="Sakkal Majalla" panose="02000000000000000000" pitchFamily="2" charset="-78"/>
                        </a:rPr>
                        <a:t>الهيئة</a:t>
                      </a:r>
                      <a:r>
                        <a:rPr lang="ar-SA" sz="1600" baseline="0" dirty="0">
                          <a:solidFill>
                            <a:schemeClr val="tx1"/>
                          </a:solidFill>
                          <a:latin typeface="Sakkal Majalla" panose="02000000000000000000" pitchFamily="2" charset="-78"/>
                          <a:cs typeface="Sakkal Majalla" panose="02000000000000000000" pitchFamily="2" charset="-78"/>
                        </a:rPr>
                        <a:t> المحلي بناء على حجم الطلب الفعلي </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تعزيز الاستفادة من الاستثمار في التطبيقات المملوكة </a:t>
                      </a:r>
                      <a:r>
                        <a:rPr lang="ar-EG" sz="1600" baseline="0" dirty="0">
                          <a:solidFill>
                            <a:schemeClr val="tx1"/>
                          </a:solidFill>
                          <a:latin typeface="Sakkal Majalla" panose="02000000000000000000" pitchFamily="2" charset="-78"/>
                          <a:cs typeface="Sakkal Majalla" panose="02000000000000000000" pitchFamily="2" charset="-78"/>
                        </a:rPr>
                        <a:t>للهيئة</a:t>
                      </a:r>
                      <a:r>
                        <a:rPr lang="ar-SA" sz="1600" baseline="0" dirty="0">
                          <a:solidFill>
                            <a:schemeClr val="tx1"/>
                          </a:solidFill>
                          <a:latin typeface="Sakkal Majalla" panose="02000000000000000000" pitchFamily="2" charset="-78"/>
                          <a:cs typeface="Sakkal Majalla" panose="02000000000000000000" pitchFamily="2" charset="-78"/>
                        </a:rPr>
                        <a:t> وعدم الحاجة إلى إعادة تطوير التطبيقات</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057908">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دراسة حجم الاستخدام للتطبيقات وتحديد المكونات التي تتطلب إعادة هيكلتها بشكل يتقبل التوسع التقني </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الحد من التطبيقات ذات طابع التطوير البرمجي المثبت</a:t>
                      </a:r>
                      <a:r>
                        <a:rPr lang="ar-EG" sz="1600" baseline="0" dirty="0">
                          <a:solidFill>
                            <a:schemeClr val="tx1"/>
                          </a:solidFill>
                          <a:latin typeface="Sakkal Majalla" panose="02000000000000000000" pitchFamily="2" charset="-78"/>
                          <a:cs typeface="Sakkal Majalla" panose="02000000000000000000" pitchFamily="2" charset="-78"/>
                        </a:rPr>
                        <a:t> (</a:t>
                      </a:r>
                      <a:r>
                        <a:rPr lang="en-US" sz="1600" baseline="0" dirty="0">
                          <a:solidFill>
                            <a:schemeClr val="tx1"/>
                          </a:solidFill>
                          <a:latin typeface="Sakkal Majalla" panose="02000000000000000000" pitchFamily="2" charset="-78"/>
                          <a:cs typeface="Sakkal Majalla" panose="02000000000000000000" pitchFamily="2" charset="-78"/>
                        </a:rPr>
                        <a:t>Hardcoding</a:t>
                      </a:r>
                      <a:r>
                        <a:rPr lang="ar-EG" sz="1600" baseline="0" dirty="0">
                          <a:solidFill>
                            <a:schemeClr val="tx1"/>
                          </a:solidFill>
                          <a:latin typeface="Sakkal Majalla" panose="02000000000000000000" pitchFamily="2" charset="-78"/>
                          <a:cs typeface="Sakkal Majalla" panose="02000000000000000000" pitchFamily="2" charset="-78"/>
                        </a:rPr>
                        <a:t>)</a:t>
                      </a:r>
                      <a:r>
                        <a:rPr lang="en-US" sz="1600" baseline="0" dirty="0">
                          <a:solidFill>
                            <a:schemeClr val="tx1"/>
                          </a:solidFill>
                          <a:latin typeface="Sakkal Majalla" panose="02000000000000000000" pitchFamily="2" charset="-78"/>
                          <a:cs typeface="Sakkal Majalla" panose="02000000000000000000" pitchFamily="2" charset="-78"/>
                        </a:rPr>
                        <a:t>، </a:t>
                      </a:r>
                      <a:r>
                        <a:rPr lang="ar-SA" sz="1600" baseline="0" dirty="0">
                          <a:solidFill>
                            <a:schemeClr val="tx1"/>
                          </a:solidFill>
                          <a:latin typeface="Sakkal Majalla" panose="02000000000000000000" pitchFamily="2" charset="-78"/>
                          <a:cs typeface="Sakkal Majalla" panose="02000000000000000000" pitchFamily="2" charset="-78"/>
                        </a:rPr>
                        <a:t>والتي تفتقر إلى مرونة التغيير وتحتاج إلى مجهودات عالية لتشغيلها وتعديلها</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11216876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33</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AP04</a:t>
            </a:r>
            <a:r>
              <a:rPr lang="ar-SA" dirty="0"/>
              <a:t>: قابلية إعادة استخدام</a:t>
            </a:r>
            <a:r>
              <a:rPr lang="ar-EG" dirty="0"/>
              <a:t> مكونات التطبيقات</a:t>
            </a:r>
            <a:r>
              <a:rPr lang="ar-SA" dirty="0"/>
              <a:t>"</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3034877827"/>
              </p:ext>
            </p:extLst>
          </p:nvPr>
        </p:nvGraphicFramePr>
        <p:xfrm>
          <a:off x="788319" y="1268996"/>
          <a:ext cx="10615362" cy="4595292"/>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38750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قابلية إعادة استخدام مكونات التطبيقات</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AP04</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613553">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بناء مكونات التطبيقات بحيث تعمل بشكل مستقل ويمكن استخدامها أكثر من مرة في سياقات وظيفية تختلف عن تلك التي صممت من أجلها في البداية ويمكن أن تحقق متطلبات أعمال أخرى</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661824">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مواءمة متطلبات الأعمال وتقنية المعلومات والاستفادة من القدرات التقنية في تلبية الأعمال المشتركة بين الوحدات التنظيمية في </a:t>
                      </a:r>
                      <a:r>
                        <a:rPr lang="ar-EG" sz="1600" baseline="0" dirty="0">
                          <a:solidFill>
                            <a:schemeClr val="tx1"/>
                          </a:solidFill>
                          <a:latin typeface="Sakkal Majalla" panose="02000000000000000000" pitchFamily="2" charset="-78"/>
                          <a:cs typeface="Sakkal Majalla" panose="02000000000000000000" pitchFamily="2" charset="-78"/>
                        </a:rPr>
                        <a:t>الهيئة</a:t>
                      </a:r>
                      <a:endParaRPr lang="ar-SA" sz="1600" baseline="0" dirty="0">
                        <a:solidFill>
                          <a:schemeClr val="tx1"/>
                        </a:solidFill>
                        <a:latin typeface="Sakkal Majalla" panose="02000000000000000000" pitchFamily="2" charset="-78"/>
                        <a:cs typeface="Sakkal Majalla" panose="02000000000000000000" pitchFamily="2" charset="-78"/>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تسريع وتيرة تطوير التطبيقات مما يساهم في تقليل التكلفة والجهد</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1932408">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تجنب تكرار الوظائف بين التطبيقات للحد من الجهود المبذولة لتشغيل هذه التطبيقات وتجنب توفير بيانات في أكثر من تطبيق بنفس الأدوار </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توحيد التطبيقات (سواء الرئيسية أو الفرعية) والتي تمتلك وظائف متشابهة، لتسهيل مهام إدارة التطبيق وتوفير التحسينات الموحدة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12163665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34</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AP05</a:t>
            </a:r>
            <a:r>
              <a:rPr lang="ar-SA" dirty="0"/>
              <a:t>: قابلية التكامل"</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726166731"/>
              </p:ext>
            </p:extLst>
          </p:nvPr>
        </p:nvGraphicFramePr>
        <p:xfrm>
          <a:off x="788319" y="1268996"/>
          <a:ext cx="10615362" cy="4674603"/>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417676">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قابلية التكامل</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AP05</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382870">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يجب أن تكون الأنظمة أو التطبيقات المختلفة قادرة على التكامل بفعالية وسلاسة، مما يضمن تنسيق العمل بينها وتحقيق كفاءة تشغيلية عالية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791204">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تسهيل عملية التكامل مع الأنظمة الأخرى</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تحسين الكفاءة التشغيلية عبر تقليل التعقيدات في العمل بين مختلف الوحدات أو الفرق</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تجنب التكاليف المرتبطة بضرورة إعادة هيكلة أو تعديل الأنظمة لتحقيق التوافق بينها</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يصبح من السهل إضافة ميزات جديدة أو التكيف مع التغيرات التكنولوجية دون الحاجة إلى إجراء تعديلات جوهرية على النظام الأساسي</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082853">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لابد من التخطيط الجيد وتنفيذ الاستراتيجيات الصحيحة لتكامل الأنظمة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يجب ضمان أن التكامل بين الأنظمة لا يعرض البيانات الحساسة للمخاطر</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قد يتطلب التكامل إعادة تصميم بعض العمليات التشغيلية لتتوافق مع الأنظمة الجديدة المتكاملة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يجب أن يلتزم التكامل بالمتطلبات القانونية والتنظيمية، مثل حماية البيانات والخصوصية، مما قد يتطلب تدابير إضافية لضمان الامتثال</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يؤدي إلى تحسين تجربة المستخدم من خلال توفير واجهات متكاملة وسهلة الاستخدام</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22568727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35</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AP06</a:t>
            </a:r>
            <a:r>
              <a:rPr lang="ar-SA" dirty="0"/>
              <a:t>: أمن التطبيقات"</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1072198899"/>
              </p:ext>
            </p:extLst>
          </p:nvPr>
        </p:nvGraphicFramePr>
        <p:xfrm>
          <a:off x="788319" y="1268997"/>
          <a:ext cx="10615362" cy="4689162"/>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365774">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أمن التطبيقات</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AP06</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572925">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حماية التطبيقات، والبيانات على مستوى التخزين والنقل والاستخدام من التهديدات الأمنية من خلال الالتزام بالمعايير وأفضل الممارسات، وسياسات الأمن السيبراني</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869543">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حماية البيانات الحساسة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ضمان استمرارية الأعمال</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تقليل التكاليف المرتبطة بالاختراقات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تحسين جودة التطبيقات من خلال الكشف عن الأخطاء والثغرات المحتملة في المراحل المبكرة من التطوير</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تعزيز ثقة المستخدمين والعملاء</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1824028">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التهديدات الأمنية تتطور باستمرار، مما يتطلب من </a:t>
                      </a:r>
                      <a:r>
                        <a:rPr lang="ar-EG" sz="1600" baseline="0" dirty="0">
                          <a:solidFill>
                            <a:schemeClr val="tx1"/>
                          </a:solidFill>
                          <a:latin typeface="Sakkal Majalla" panose="02000000000000000000" pitchFamily="2" charset="-78"/>
                          <a:cs typeface="Sakkal Majalla" panose="02000000000000000000" pitchFamily="2" charset="-78"/>
                        </a:rPr>
                        <a:t>الهيئة</a:t>
                      </a:r>
                      <a:r>
                        <a:rPr lang="ar-SA" sz="1600" baseline="0" dirty="0">
                          <a:solidFill>
                            <a:schemeClr val="tx1"/>
                          </a:solidFill>
                          <a:latin typeface="Sakkal Majalla" panose="02000000000000000000" pitchFamily="2" charset="-78"/>
                          <a:cs typeface="Sakkal Majalla" panose="02000000000000000000" pitchFamily="2" charset="-78"/>
                        </a:rPr>
                        <a:t> أن تكون دائم</a:t>
                      </a:r>
                      <a:r>
                        <a:rPr lang="ar-EG" sz="1600" baseline="0" dirty="0">
                          <a:solidFill>
                            <a:schemeClr val="tx1"/>
                          </a:solidFill>
                          <a:latin typeface="Sakkal Majalla" panose="02000000000000000000" pitchFamily="2" charset="-78"/>
                          <a:cs typeface="Sakkal Majalla" panose="02000000000000000000" pitchFamily="2" charset="-78"/>
                        </a:rPr>
                        <a:t>ا</a:t>
                      </a:r>
                      <a:r>
                        <a:rPr lang="ar-SA" sz="1600" baseline="0" dirty="0">
                          <a:solidFill>
                            <a:schemeClr val="tx1"/>
                          </a:solidFill>
                          <a:latin typeface="Sakkal Majalla" panose="02000000000000000000" pitchFamily="2" charset="-78"/>
                          <a:cs typeface="Sakkal Majalla" panose="02000000000000000000" pitchFamily="2" charset="-78"/>
                        </a:rPr>
                        <a:t> على استعداد لمواجهة هذه التهديدات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يجب استخدام الذكاء الاصطناعي لتحديد التهديدات بشكل أسرع وأكثر دقة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قد تؤدي بعض تدابير الأمان، مثل المصادقة متعددة العوامل</a:t>
                      </a:r>
                      <a:r>
                        <a:rPr lang="ar-EG" sz="1600" baseline="0" dirty="0">
                          <a:solidFill>
                            <a:schemeClr val="tx1"/>
                          </a:solidFill>
                          <a:latin typeface="Sakkal Majalla" panose="02000000000000000000" pitchFamily="2" charset="-78"/>
                          <a:cs typeface="Sakkal Majalla" panose="02000000000000000000" pitchFamily="2" charset="-78"/>
                        </a:rPr>
                        <a:t> (</a:t>
                      </a:r>
                      <a:r>
                        <a:rPr lang="en-US" sz="1600" baseline="0" dirty="0">
                          <a:solidFill>
                            <a:schemeClr val="tx1"/>
                          </a:solidFill>
                          <a:latin typeface="Sakkal Majalla" panose="02000000000000000000" pitchFamily="2" charset="-78"/>
                          <a:cs typeface="Sakkal Majalla" panose="02000000000000000000" pitchFamily="2" charset="-78"/>
                        </a:rPr>
                        <a:t>MFA</a:t>
                      </a:r>
                      <a:r>
                        <a:rPr lang="ar-EG" sz="1600" baseline="0" dirty="0">
                          <a:solidFill>
                            <a:schemeClr val="tx1"/>
                          </a:solidFill>
                          <a:latin typeface="Sakkal Majalla" panose="02000000000000000000" pitchFamily="2" charset="-78"/>
                          <a:cs typeface="Sakkal Majalla" panose="02000000000000000000" pitchFamily="2" charset="-78"/>
                        </a:rPr>
                        <a:t>)</a:t>
                      </a:r>
                      <a:r>
                        <a:rPr lang="en-US" sz="1600" baseline="0" dirty="0">
                          <a:solidFill>
                            <a:schemeClr val="tx1"/>
                          </a:solidFill>
                          <a:latin typeface="Sakkal Majalla" panose="02000000000000000000" pitchFamily="2" charset="-78"/>
                          <a:cs typeface="Sakkal Majalla" panose="02000000000000000000" pitchFamily="2" charset="-78"/>
                        </a:rPr>
                        <a:t>، </a:t>
                      </a:r>
                      <a:r>
                        <a:rPr lang="ar-SA" sz="1600" baseline="0" dirty="0">
                          <a:solidFill>
                            <a:schemeClr val="tx1"/>
                          </a:solidFill>
                          <a:latin typeface="Sakkal Majalla" panose="02000000000000000000" pitchFamily="2" charset="-78"/>
                          <a:cs typeface="Sakkal Majalla" panose="02000000000000000000" pitchFamily="2" charset="-78"/>
                        </a:rPr>
                        <a:t>إلى زيادة تعقيد تجربة المستخدم</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تطبيق معايير أمان عالية قد يتطلب تحديثات أو تعديلات على التطبيقات لضمان التوافق مع بروتوكولات الأمان الجديدة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23148173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36</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AP07</a:t>
            </a:r>
            <a:r>
              <a:rPr lang="ar-SA" dirty="0"/>
              <a:t>: قابلية دعم ممارسات </a:t>
            </a:r>
            <a:r>
              <a:rPr lang="en-US" dirty="0"/>
              <a:t>DevOps</a:t>
            </a:r>
            <a:r>
              <a:rPr lang="ar-SA" dirty="0"/>
              <a:t>"</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1626611054"/>
              </p:ext>
            </p:extLst>
          </p:nvPr>
        </p:nvGraphicFramePr>
        <p:xfrm>
          <a:off x="788319" y="1235664"/>
          <a:ext cx="10615362" cy="4693920"/>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331234">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قابلية دعم ممارسات </a:t>
                      </a:r>
                      <a:r>
                        <a:rPr lang="en-US" sz="1800" baseline="0" dirty="0">
                          <a:solidFill>
                            <a:schemeClr val="tx1"/>
                          </a:solidFill>
                          <a:latin typeface="Sakkal Majalla" panose="02000000000000000000" pitchFamily="2" charset="-78"/>
                          <a:cs typeface="Sakkal Majalla" panose="02000000000000000000" pitchFamily="2" charset="-78"/>
                        </a:rPr>
                        <a:t>DevOps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AP07</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524454">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تطوير التطبيقات وإدارتها باستخدام تقنيات التحديث المستمرة والتكامل مع ممارسات</a:t>
                      </a:r>
                      <a:r>
                        <a:rPr lang="ar-EG" sz="1600" baseline="0" dirty="0">
                          <a:solidFill>
                            <a:schemeClr val="tx1"/>
                          </a:solidFill>
                          <a:latin typeface="Sakkal Majalla" panose="02000000000000000000" pitchFamily="2" charset="-78"/>
                          <a:cs typeface="Sakkal Majalla" panose="02000000000000000000" pitchFamily="2" charset="-78"/>
                        </a:rPr>
                        <a:t> </a:t>
                      </a:r>
                      <a:r>
                        <a:rPr lang="en-US" sz="1600" baseline="0" dirty="0">
                          <a:solidFill>
                            <a:schemeClr val="tx1"/>
                          </a:solidFill>
                          <a:latin typeface="Sakkal Majalla" panose="02000000000000000000" pitchFamily="2" charset="-78"/>
                          <a:cs typeface="Sakkal Majalla" panose="02000000000000000000" pitchFamily="2" charset="-78"/>
                        </a:rPr>
                        <a:t>DevOps</a:t>
                      </a:r>
                      <a:r>
                        <a:rPr lang="ar-EG" sz="1600" baseline="0" dirty="0">
                          <a:solidFill>
                            <a:schemeClr val="tx1"/>
                          </a:solidFill>
                          <a:latin typeface="Sakkal Majalla" panose="02000000000000000000" pitchFamily="2" charset="-78"/>
                          <a:cs typeface="Sakkal Majalla" panose="02000000000000000000" pitchFamily="2" charset="-78"/>
                        </a:rPr>
                        <a:t> </a:t>
                      </a:r>
                      <a:r>
                        <a:rPr lang="ar-SA" sz="1600" baseline="0" dirty="0">
                          <a:solidFill>
                            <a:schemeClr val="tx1"/>
                          </a:solidFill>
                          <a:latin typeface="Sakkal Majalla" panose="02000000000000000000" pitchFamily="2" charset="-78"/>
                          <a:cs typeface="Sakkal Majalla" panose="02000000000000000000" pitchFamily="2" charset="-78"/>
                        </a:rPr>
                        <a:t>لضمان تحسين الأداء، وتوسيع الوظائف، وتحقيق التوافق مع التقنيات الحديثة، مع تعزيز الكفاءة والمرونة في عمليات التطوير والتشغيل</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522758">
                <a:tc gridSpan="3">
                  <a:txBody>
                    <a:bodyPr/>
                    <a:lstStyle/>
                    <a:p>
                      <a:pPr marL="285750" marR="0" lvl="0" indent="-285750" algn="r" defTabSz="914400" rtl="1" eaLnBrk="1" fontAlgn="auto" latinLnBrk="0" hangingPunct="1">
                        <a:lnSpc>
                          <a:spcPct val="10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الحاجة الى تحسين أداء التطبيقات من خلال اعتماد أحدث التقنيات والأدوات، </a:t>
                      </a:r>
                      <a:r>
                        <a:rPr lang="ar-EG" sz="1600" baseline="0" dirty="0">
                          <a:solidFill>
                            <a:schemeClr val="tx1"/>
                          </a:solidFill>
                          <a:latin typeface="Sakkal Majalla" panose="02000000000000000000" pitchFamily="2" charset="-78"/>
                          <a:cs typeface="Sakkal Majalla" panose="02000000000000000000" pitchFamily="2" charset="-78"/>
                        </a:rPr>
                        <a:t>حيث</a:t>
                      </a:r>
                      <a:r>
                        <a:rPr lang="ar-SA" sz="1600" baseline="0" dirty="0">
                          <a:solidFill>
                            <a:schemeClr val="tx1"/>
                          </a:solidFill>
                          <a:latin typeface="Sakkal Majalla" panose="02000000000000000000" pitchFamily="2" charset="-78"/>
                          <a:cs typeface="Sakkal Majalla" panose="02000000000000000000" pitchFamily="2" charset="-78"/>
                        </a:rPr>
                        <a:t> تضمن ممارسات</a:t>
                      </a:r>
                      <a:r>
                        <a:rPr lang="ar-EG" sz="1600" baseline="0" dirty="0">
                          <a:solidFill>
                            <a:schemeClr val="tx1"/>
                          </a:solidFill>
                          <a:latin typeface="Sakkal Majalla" panose="02000000000000000000" pitchFamily="2" charset="-78"/>
                          <a:cs typeface="Sakkal Majalla" panose="02000000000000000000" pitchFamily="2" charset="-78"/>
                        </a:rPr>
                        <a:t> </a:t>
                      </a:r>
                      <a:r>
                        <a:rPr lang="en-US" sz="1600" baseline="0" dirty="0">
                          <a:solidFill>
                            <a:schemeClr val="tx1"/>
                          </a:solidFill>
                          <a:latin typeface="Sakkal Majalla" panose="02000000000000000000" pitchFamily="2" charset="-78"/>
                          <a:cs typeface="Sakkal Majalla" panose="02000000000000000000" pitchFamily="2" charset="-78"/>
                        </a:rPr>
                        <a:t>DevOps</a:t>
                      </a:r>
                      <a:r>
                        <a:rPr lang="ar-EG" sz="1600" baseline="0" dirty="0">
                          <a:solidFill>
                            <a:schemeClr val="tx1"/>
                          </a:solidFill>
                          <a:latin typeface="Sakkal Majalla" panose="02000000000000000000" pitchFamily="2" charset="-78"/>
                          <a:cs typeface="Sakkal Majalla" panose="02000000000000000000" pitchFamily="2" charset="-78"/>
                        </a:rPr>
                        <a:t> </a:t>
                      </a:r>
                      <a:r>
                        <a:rPr lang="ar-SA" sz="1600" baseline="0" dirty="0">
                          <a:solidFill>
                            <a:schemeClr val="tx1"/>
                          </a:solidFill>
                          <a:latin typeface="Sakkal Majalla" panose="02000000000000000000" pitchFamily="2" charset="-78"/>
                          <a:cs typeface="Sakkal Majalla" panose="02000000000000000000" pitchFamily="2" charset="-78"/>
                        </a:rPr>
                        <a:t>التسليم السريع والفعال للتحسينات</a:t>
                      </a:r>
                    </a:p>
                    <a:p>
                      <a:pPr marL="285750" marR="0" lvl="0" indent="-285750" algn="r" defTabSz="914400" rtl="1" eaLnBrk="1" fontAlgn="auto" latinLnBrk="0" hangingPunct="1">
                        <a:lnSpc>
                          <a:spcPct val="10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الحاجة الى إضافة وظائف جديدة للتطبيقات، مما يعزز قدرتها على تلبية المتطلبات المتغيرة للأعمال</a:t>
                      </a:r>
                    </a:p>
                    <a:p>
                      <a:pPr marL="285750" marR="0" lvl="0" indent="-285750" algn="r" defTabSz="914400" rtl="1" eaLnBrk="1" fontAlgn="auto" latinLnBrk="0" hangingPunct="1">
                        <a:lnSpc>
                          <a:spcPct val="10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يضمن التحديث المستمر أن التطبيقات تظل متوافقة مع الأنظمة والبنية التحتية الحديثة</a:t>
                      </a:r>
                    </a:p>
                    <a:p>
                      <a:pPr marL="285750" marR="0" lvl="0" indent="-285750" algn="r" defTabSz="914400" rtl="1" eaLnBrk="1" fontAlgn="auto" latinLnBrk="0" hangingPunct="1">
                        <a:lnSpc>
                          <a:spcPct val="10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إطالة عمر التطبيقات الموجودة، مما يقلل من الحاجة إلى تطوير أنظمة جديدة بشكل جذري</a:t>
                      </a:r>
                    </a:p>
                    <a:p>
                      <a:pPr marL="285750" marR="0" lvl="0" indent="-285750" algn="r" defTabSz="914400" rtl="1" eaLnBrk="1" fontAlgn="auto" latinLnBrk="0" hangingPunct="1">
                        <a:lnSpc>
                          <a:spcPct val="10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تعزيز أمان التطبيقات من خلال سد الثغرات الأمنية والتصدي للتهديدات الجديدة</a:t>
                      </a:r>
                    </a:p>
                    <a:p>
                      <a:pPr marL="285750" marR="0" lvl="0" indent="-285750" algn="r" defTabSz="914400" rtl="1" eaLnBrk="1" fontAlgn="auto" latinLnBrk="0" hangingPunct="1">
                        <a:lnSpc>
                          <a:spcPct val="10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تحسين الكفاءة التشغيلية والإنتاجية من خلال التكامل المستمر والتسليم المستمر</a:t>
                      </a:r>
                      <a:r>
                        <a:rPr lang="ar-EG" sz="1600" baseline="0" dirty="0">
                          <a:solidFill>
                            <a:schemeClr val="tx1"/>
                          </a:solidFill>
                          <a:latin typeface="Sakkal Majalla" panose="02000000000000000000" pitchFamily="2" charset="-78"/>
                          <a:cs typeface="Sakkal Majalla" panose="02000000000000000000" pitchFamily="2" charset="-78"/>
                        </a:rPr>
                        <a:t> </a:t>
                      </a:r>
                      <a:r>
                        <a:rPr lang="ar-SA" sz="1600" baseline="0" dirty="0">
                          <a:solidFill>
                            <a:schemeClr val="tx1"/>
                          </a:solidFill>
                          <a:latin typeface="Sakkal Majalla" panose="02000000000000000000" pitchFamily="2" charset="-78"/>
                          <a:cs typeface="Sakkal Majalla" panose="02000000000000000000" pitchFamily="2" charset="-78"/>
                        </a:rPr>
                        <a:t>(</a:t>
                      </a:r>
                      <a:r>
                        <a:rPr lang="en-US" sz="1600" baseline="0" dirty="0">
                          <a:solidFill>
                            <a:schemeClr val="tx1"/>
                          </a:solidFill>
                          <a:latin typeface="Sakkal Majalla" panose="02000000000000000000" pitchFamily="2" charset="-78"/>
                          <a:cs typeface="Sakkal Majalla" panose="02000000000000000000" pitchFamily="2" charset="-78"/>
                        </a:rPr>
                        <a:t>CI/CD</a:t>
                      </a:r>
                      <a:r>
                        <a:rPr lang="ar-EG" sz="1600" baseline="0" dirty="0">
                          <a:solidFill>
                            <a:schemeClr val="tx1"/>
                          </a:solidFill>
                          <a:latin typeface="Sakkal Majalla" panose="02000000000000000000" pitchFamily="2" charset="-78"/>
                          <a:cs typeface="Sakkal Majalla" panose="02000000000000000000" pitchFamily="2" charset="-78"/>
                        </a:rPr>
                        <a:t>)</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010408">
                <a:tc gridSpan="3">
                  <a:txBody>
                    <a:bodyPr/>
                    <a:lstStyle/>
                    <a:p>
                      <a:pPr marL="285750" marR="0" lvl="0" indent="-285750" algn="r" defTabSz="914400" rtl="1" eaLnBrk="1" fontAlgn="auto" latinLnBrk="0" hangingPunct="1">
                        <a:lnSpc>
                          <a:spcPct val="10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تحسين سرعة عملية التسليم، مما يسمح بتحديث التطبيقات وإطلاق الميزات الجديدة بشكل أسرع</a:t>
                      </a:r>
                    </a:p>
                    <a:p>
                      <a:pPr marL="285750" marR="0" lvl="0" indent="-285750" algn="r" defTabSz="914400" rtl="1" eaLnBrk="1" fontAlgn="auto" latinLnBrk="0" hangingPunct="1">
                        <a:lnSpc>
                          <a:spcPct val="10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تحسين الكفاءة التشغيلية من خلال الأتمتة المستمرة والعمليات المدمجة، مما يقلل من وقت التوقف ويزيد من الإنتاجية</a:t>
                      </a:r>
                    </a:p>
                    <a:p>
                      <a:pPr marL="285750" marR="0" lvl="0" indent="-285750" algn="r" defTabSz="914400" rtl="1" eaLnBrk="1" fontAlgn="auto" latinLnBrk="0" hangingPunct="1">
                        <a:lnSpc>
                          <a:spcPct val="10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تعزيز جودة التطبيقات عبر تحسين أداء الأنظمة وضمان استقرارها من خلال الاختبار المستمر والتحسينات المتكررة</a:t>
                      </a:r>
                    </a:p>
                    <a:p>
                      <a:pPr marL="285750" marR="0" lvl="0" indent="-285750" algn="r" defTabSz="914400" rtl="1" eaLnBrk="1" fontAlgn="auto" latinLnBrk="0" hangingPunct="1">
                        <a:lnSpc>
                          <a:spcPct val="10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مرونة أعلى للتكيف بسرعة مع المتطلبات المتغيرة واحتياجات الأعمال، مما يعزز من القدرة على الابتكار</a:t>
                      </a:r>
                    </a:p>
                    <a:p>
                      <a:pPr marL="285750" marR="0" lvl="0" indent="-285750" algn="r" defTabSz="914400" rtl="1" eaLnBrk="1" fontAlgn="auto" latinLnBrk="0" hangingPunct="1">
                        <a:lnSpc>
                          <a:spcPct val="10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تحسين وتعزيز أمان التطبيقات بشكل دائم من خلال سد الثغرات الأمنية والاستجابة السريعة للتهديدات الجديدة</a:t>
                      </a:r>
                    </a:p>
                    <a:p>
                      <a:pPr marL="285750" marR="0" lvl="0" indent="-285750" algn="r" defTabSz="914400" rtl="1" eaLnBrk="1" fontAlgn="auto" latinLnBrk="0" hangingPunct="1">
                        <a:lnSpc>
                          <a:spcPct val="10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استدامة إطالة عمر التطبيقات، مما يقلل من الحاجة إلى استثمارات كبيرة في تطوير أنظمة جديدة</a:t>
                      </a:r>
                    </a:p>
                    <a:p>
                      <a:pPr marL="285750" marR="0" lvl="0" indent="-285750" algn="r" defTabSz="914400" rtl="1" eaLnBrk="1" fontAlgn="auto" latinLnBrk="0" hangingPunct="1">
                        <a:lnSpc>
                          <a:spcPct val="10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تحسين التعاون بين فرق التطوير والعمليات، مما يسهم في بيئة عمل أكثر تكاملا وفعالية</a:t>
                      </a:r>
                    </a:p>
                    <a:p>
                      <a:pPr marL="285750" marR="0" lvl="0" indent="-285750" algn="r" defTabSz="914400" rtl="1" eaLnBrk="1" fontAlgn="auto" latinLnBrk="0" hangingPunct="1">
                        <a:lnSpc>
                          <a:spcPct val="10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رفع الكفاءة التشغيلية مما يمكن من تقليل التكاليف المتعلقة بالصيانة والإصلاحات الطارئة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27869241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37</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AP08</a:t>
            </a:r>
            <a:r>
              <a:rPr lang="ar-SA" dirty="0"/>
              <a:t>: تبني البرمجيات الحرة ومفتوحة المصدر"</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721118874"/>
              </p:ext>
            </p:extLst>
          </p:nvPr>
        </p:nvGraphicFramePr>
        <p:xfrm>
          <a:off x="788319" y="1235662"/>
          <a:ext cx="10615362" cy="4682999"/>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37140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تبني البرمجيات الحرة ومفتوحة المصدر</a:t>
                      </a:r>
                      <a:endParaRPr lang="en-US" sz="18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AP08</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588050">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تعزيز اعتماد البرمجيات الحرة ومفتوحة المصدر في تطوير وتشغيل الأنظمة والتطبيقات التقنية الخاصة بالهيئة</a:t>
                      </a:r>
                      <a:r>
                        <a:rPr lang="ar-EG" sz="1600" baseline="0" dirty="0">
                          <a:solidFill>
                            <a:schemeClr val="tx1"/>
                          </a:solidFill>
                          <a:latin typeface="Sakkal Majalla" panose="02000000000000000000" pitchFamily="2" charset="-78"/>
                          <a:cs typeface="Sakkal Majalla" panose="02000000000000000000" pitchFamily="2" charset="-78"/>
                        </a:rPr>
                        <a:t> بهدف </a:t>
                      </a:r>
                      <a:r>
                        <a:rPr lang="ar-SA" sz="1600" baseline="0" dirty="0">
                          <a:solidFill>
                            <a:schemeClr val="tx1"/>
                          </a:solidFill>
                          <a:latin typeface="Sakkal Majalla" panose="02000000000000000000" pitchFamily="2" charset="-78"/>
                          <a:cs typeface="Sakkal Majalla" panose="02000000000000000000" pitchFamily="2" charset="-78"/>
                        </a:rPr>
                        <a:t>تحسين القدرة على التكيف مع الاحتياجات المتغيرة وتعزيز الابتكار</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407456">
                <a:tc gridSpan="3">
                  <a:txBody>
                    <a:bodyPr/>
                    <a:lstStyle/>
                    <a:p>
                      <a:pPr marL="285750" marR="0" lvl="0" indent="-285750" algn="r" defTabSz="914400" rtl="1" eaLnBrk="1" fontAlgn="auto" latinLnBrk="0" hangingPunct="1">
                        <a:lnSpc>
                          <a:spcPct val="15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توفر البرمجيات الحرة مرونة أكبر لتلبية الاحتياجات المتغيرة، مما يمكن الهيئة من تحديث الأنظمة بسرعة أكبر وفعالية أعلى</a:t>
                      </a:r>
                      <a:endParaRPr lang="ar-EG" sz="1600" baseline="0" dirty="0">
                        <a:solidFill>
                          <a:schemeClr val="tx1"/>
                        </a:solidFill>
                        <a:latin typeface="Sakkal Majalla" panose="02000000000000000000" pitchFamily="2" charset="-78"/>
                        <a:cs typeface="Sakkal Majalla" panose="02000000000000000000" pitchFamily="2" charset="-78"/>
                      </a:endParaRPr>
                    </a:p>
                    <a:p>
                      <a:pPr marL="285750" marR="0" lvl="0" indent="-285750" algn="r" defTabSz="914400" rtl="1" eaLnBrk="1" fontAlgn="auto" latinLnBrk="0" hangingPunct="1">
                        <a:lnSpc>
                          <a:spcPct val="15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تعزيز الابتكار من خلال إمكانية التعديل والتطوير على البرمجيات المفتوحة</a:t>
                      </a:r>
                      <a:r>
                        <a:rPr lang="ar-EG" sz="1600" baseline="0" dirty="0">
                          <a:solidFill>
                            <a:schemeClr val="tx1"/>
                          </a:solidFill>
                          <a:latin typeface="Sakkal Majalla" panose="02000000000000000000" pitchFamily="2" charset="-78"/>
                          <a:cs typeface="Sakkal Majalla" panose="02000000000000000000" pitchFamily="2" charset="-78"/>
                        </a:rPr>
                        <a:t> و</a:t>
                      </a:r>
                      <a:r>
                        <a:rPr lang="ar-SA" sz="1600" baseline="0" dirty="0">
                          <a:solidFill>
                            <a:schemeClr val="tx1"/>
                          </a:solidFill>
                          <a:latin typeface="Sakkal Majalla" panose="02000000000000000000" pitchFamily="2" charset="-78"/>
                          <a:cs typeface="Sakkal Majalla" panose="02000000000000000000" pitchFamily="2" charset="-78"/>
                        </a:rPr>
                        <a:t>استحداث حلول جديدة</a:t>
                      </a:r>
                      <a:endParaRPr lang="ar-EG" sz="1600" baseline="0" dirty="0">
                        <a:solidFill>
                          <a:schemeClr val="tx1"/>
                        </a:solidFill>
                        <a:latin typeface="Sakkal Majalla" panose="02000000000000000000" pitchFamily="2" charset="-78"/>
                        <a:cs typeface="Sakkal Majalla" panose="02000000000000000000" pitchFamily="2" charset="-78"/>
                      </a:endParaRPr>
                    </a:p>
                    <a:p>
                      <a:pPr marL="285750" marR="0" lvl="0" indent="-285750" algn="r" defTabSz="914400" rtl="1" eaLnBrk="1" fontAlgn="auto" latinLnBrk="0" hangingPunct="1">
                        <a:lnSpc>
                          <a:spcPct val="15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يتيح تبني البرمجيات الحرة للهيئة تحقيق كفاءة أعلى في الإنفاق من خلال تقليل تكاليف التراخيص المغلقة والصيانة التقنية</a:t>
                      </a:r>
                      <a:endParaRPr lang="ar-EG"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316093">
                <a:tc gridSpan="3">
                  <a:txBody>
                    <a:bodyPr/>
                    <a:lstStyle/>
                    <a:p>
                      <a:pPr marL="285750" marR="0" lvl="0" indent="-285750" algn="r" defTabSz="914400" rtl="1" eaLnBrk="1" fontAlgn="auto" latinLnBrk="0" hangingPunct="1">
                        <a:lnSpc>
                          <a:spcPct val="15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تحسين الكفاءة التشغيلية من خلال استخدام البرمجيات الحرة، </a:t>
                      </a:r>
                      <a:r>
                        <a:rPr lang="ar-EG" sz="1600" baseline="0" dirty="0">
                          <a:solidFill>
                            <a:schemeClr val="tx1"/>
                          </a:solidFill>
                          <a:latin typeface="Sakkal Majalla" panose="02000000000000000000" pitchFamily="2" charset="-78"/>
                          <a:cs typeface="Sakkal Majalla" panose="02000000000000000000" pitchFamily="2" charset="-78"/>
                        </a:rPr>
                        <a:t>حيث س</a:t>
                      </a:r>
                      <a:r>
                        <a:rPr lang="ar-SA" sz="1600" baseline="0" dirty="0">
                          <a:solidFill>
                            <a:schemeClr val="tx1"/>
                          </a:solidFill>
                          <a:latin typeface="Sakkal Majalla" panose="02000000000000000000" pitchFamily="2" charset="-78"/>
                          <a:cs typeface="Sakkal Majalla" panose="02000000000000000000" pitchFamily="2" charset="-78"/>
                        </a:rPr>
                        <a:t>تتمكن الهيئة من تعديل التطبيقات والأنظمة بما يتوافق مع متطلبات الهيئة والجهات المرتبطة، مما يحسن الكفاءة التشغيلية ويسرع من تنفيذ المشروعات التقنية</a:t>
                      </a:r>
                      <a:endParaRPr lang="ar-EG" sz="1600" baseline="0" dirty="0">
                        <a:solidFill>
                          <a:schemeClr val="tx1"/>
                        </a:solidFill>
                        <a:latin typeface="Sakkal Majalla" panose="02000000000000000000" pitchFamily="2" charset="-78"/>
                        <a:cs typeface="Sakkal Majalla" panose="02000000000000000000" pitchFamily="2" charset="-78"/>
                      </a:endParaRPr>
                    </a:p>
                    <a:p>
                      <a:pPr marL="285750" marR="0" lvl="0" indent="-285750" algn="r" defTabSz="914400" rtl="1" eaLnBrk="1" fontAlgn="auto" latinLnBrk="0" hangingPunct="1">
                        <a:lnSpc>
                          <a:spcPct val="15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تحقيق الشفافية والأمان</a:t>
                      </a:r>
                      <a:r>
                        <a:rPr lang="ar-EG" sz="1600" baseline="0" dirty="0">
                          <a:solidFill>
                            <a:schemeClr val="tx1"/>
                          </a:solidFill>
                          <a:latin typeface="Sakkal Majalla" panose="02000000000000000000" pitchFamily="2" charset="-78"/>
                          <a:cs typeface="Sakkal Majalla" panose="02000000000000000000" pitchFamily="2" charset="-78"/>
                        </a:rPr>
                        <a:t>، حيث</a:t>
                      </a:r>
                      <a:r>
                        <a:rPr lang="ar-SA" sz="1600" baseline="0" dirty="0">
                          <a:solidFill>
                            <a:schemeClr val="tx1"/>
                          </a:solidFill>
                          <a:latin typeface="Sakkal Majalla" panose="02000000000000000000" pitchFamily="2" charset="-78"/>
                          <a:cs typeface="Sakkal Majalla" panose="02000000000000000000" pitchFamily="2" charset="-78"/>
                        </a:rPr>
                        <a:t> </a:t>
                      </a:r>
                      <a:r>
                        <a:rPr lang="ar-EG" sz="1600" baseline="0" dirty="0">
                          <a:solidFill>
                            <a:schemeClr val="tx1"/>
                          </a:solidFill>
                          <a:latin typeface="Sakkal Majalla" panose="02000000000000000000" pitchFamily="2" charset="-78"/>
                          <a:cs typeface="Sakkal Majalla" panose="02000000000000000000" pitchFamily="2" charset="-78"/>
                        </a:rPr>
                        <a:t>تتيح</a:t>
                      </a:r>
                      <a:r>
                        <a:rPr lang="ar-SA" sz="1600" baseline="0" dirty="0">
                          <a:solidFill>
                            <a:schemeClr val="tx1"/>
                          </a:solidFill>
                          <a:latin typeface="Sakkal Majalla" panose="02000000000000000000" pitchFamily="2" charset="-78"/>
                          <a:cs typeface="Sakkal Majalla" panose="02000000000000000000" pitchFamily="2" charset="-78"/>
                        </a:rPr>
                        <a:t> البرمجيات المفتوحة الهيئة من</a:t>
                      </a:r>
                      <a:r>
                        <a:rPr lang="ar-EG" sz="1600" baseline="0" dirty="0">
                          <a:solidFill>
                            <a:schemeClr val="tx1"/>
                          </a:solidFill>
                          <a:latin typeface="Sakkal Majalla" panose="02000000000000000000" pitchFamily="2" charset="-78"/>
                          <a:cs typeface="Sakkal Majalla" panose="02000000000000000000" pitchFamily="2" charset="-78"/>
                        </a:rPr>
                        <a:t> إمكانية</a:t>
                      </a:r>
                      <a:r>
                        <a:rPr lang="ar-SA" sz="1600" baseline="0" dirty="0">
                          <a:solidFill>
                            <a:schemeClr val="tx1"/>
                          </a:solidFill>
                          <a:latin typeface="Sakkal Majalla" panose="02000000000000000000" pitchFamily="2" charset="-78"/>
                          <a:cs typeface="Sakkal Majalla" panose="02000000000000000000" pitchFamily="2" charset="-78"/>
                        </a:rPr>
                        <a:t> فحص ومراجعة الشفرات بشكل دقيق، مما يزيد من مستوى الأمان والشفافية في التطبيقات المستخدمة</a:t>
                      </a:r>
                      <a:endParaRPr lang="ar-EG" sz="1600" baseline="0" dirty="0">
                        <a:solidFill>
                          <a:schemeClr val="tx1"/>
                        </a:solidFill>
                        <a:latin typeface="Sakkal Majalla" panose="02000000000000000000" pitchFamily="2" charset="-78"/>
                        <a:cs typeface="Sakkal Majalla" panose="02000000000000000000" pitchFamily="2" charset="-78"/>
                      </a:endParaRPr>
                    </a:p>
                    <a:p>
                      <a:pPr marL="285750" marR="0" lvl="0" indent="-285750" algn="r" defTabSz="914400" rtl="1" eaLnBrk="1" fontAlgn="auto" latinLnBrk="0" hangingPunct="1">
                        <a:lnSpc>
                          <a:spcPct val="150000"/>
                        </a:lnSpc>
                        <a:spcBef>
                          <a:spcPts val="1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الاستدامة التقنية</a:t>
                      </a:r>
                      <a:r>
                        <a:rPr lang="ar-EG" sz="1600" baseline="0" dirty="0">
                          <a:solidFill>
                            <a:schemeClr val="tx1"/>
                          </a:solidFill>
                          <a:latin typeface="Sakkal Majalla" panose="02000000000000000000" pitchFamily="2" charset="-78"/>
                          <a:cs typeface="Sakkal Majalla" panose="02000000000000000000" pitchFamily="2" charset="-78"/>
                        </a:rPr>
                        <a:t>، حيث</a:t>
                      </a:r>
                      <a:r>
                        <a:rPr lang="ar-SA" sz="1600" baseline="0" dirty="0">
                          <a:solidFill>
                            <a:schemeClr val="tx1"/>
                          </a:solidFill>
                          <a:latin typeface="Sakkal Majalla" panose="02000000000000000000" pitchFamily="2" charset="-78"/>
                          <a:cs typeface="Sakkal Majalla" panose="02000000000000000000" pitchFamily="2" charset="-78"/>
                        </a:rPr>
                        <a:t> يسهم هذا المبدأ في ضمان استمرارية استخدام البرمجيات وتطويرها بشكل مستقل دون الحاجة إلى الاعتماد الكامل على مزودي حلول تقنية محددة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33851097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38</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408242"/>
            <a:ext cx="11098696"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AP09</a:t>
            </a:r>
            <a:r>
              <a:rPr lang="ar-SA" dirty="0"/>
              <a:t>: تعزيز الابتكار  من خلال دمج الذكاء الاصطناعي في تطوير الحلول الرقمية</a:t>
            </a:r>
            <a:r>
              <a:rPr lang="ar-EG" dirty="0"/>
              <a:t>"</a:t>
            </a:r>
            <a:endParaRPr lang="ar-SA" dirty="0"/>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nvGraphicFramePr>
        <p:xfrm>
          <a:off x="788319" y="1268996"/>
          <a:ext cx="10615362" cy="4674603"/>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417676">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1" kern="1200" baseline="0" dirty="0">
                          <a:solidFill>
                            <a:schemeClr val="tx1"/>
                          </a:solidFill>
                          <a:latin typeface="Sakkal Majalla" panose="02000000000000000000" pitchFamily="2" charset="-78"/>
                          <a:ea typeface="+mn-ea"/>
                          <a:cs typeface="Sakkal Majalla" panose="02000000000000000000" pitchFamily="2" charset="-78"/>
                        </a:rPr>
                        <a:t>تعزيز الابتكار من خلال الذكاء الصناعي في بناء وتطوير الحلول الرقمية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AP09</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382870">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dirty="0"/>
                        <a:t>تعزيز الإدراك العميق لأهمية الابتكار والذكاء الصناعي في تطوير وتقديم الحلول الرقمية</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791204">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dirty="0"/>
                        <a:t>تحقيق أهداف التحول الرقمي</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dirty="0"/>
                        <a:t>تشجيع فرق التطوير على الابتكار والتعلم المستمر </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dirty="0"/>
                        <a:t>تحسين العمليات وتطوير حلول رقمية ذكية وذات كفاءة عالية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سهولة الصيانة والتطوير</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082853">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تحسين الكفاءة والجودة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dirty="0"/>
                        <a:t>مواكبة المنافسة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dirty="0"/>
                        <a:t>خلق قيمة مضافة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dirty="0"/>
                        <a:t>تحفيز الإبداع والمواهب</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26676314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62880" y="3925452"/>
            <a:ext cx="6281420" cy="641639"/>
          </a:xfrm>
        </p:spPr>
        <p:txBody>
          <a:bodyPr/>
          <a:lstStyle/>
          <a:p>
            <a:r>
              <a:rPr lang="ar-SA" sz="2800" dirty="0"/>
              <a:t>مبادئ بنية البيانات</a:t>
            </a:r>
            <a:endParaRPr lang="en-US" sz="2800" dirty="0"/>
          </a:p>
        </p:txBody>
      </p:sp>
      <p:sp>
        <p:nvSpPr>
          <p:cNvPr id="4" name="Text Placeholder 3"/>
          <p:cNvSpPr>
            <a:spLocks noGrp="1"/>
          </p:cNvSpPr>
          <p:nvPr>
            <p:ph type="body" sz="quarter" idx="14"/>
          </p:nvPr>
        </p:nvSpPr>
        <p:spPr/>
        <p:txBody>
          <a:bodyPr/>
          <a:lstStyle/>
          <a:p>
            <a:r>
              <a:rPr lang="ar-EG" sz="7200" dirty="0"/>
              <a:t>2.4</a:t>
            </a:r>
            <a:endParaRPr lang="en-US" sz="7200" dirty="0"/>
          </a:p>
        </p:txBody>
      </p:sp>
    </p:spTree>
    <p:extLst>
      <p:ext uri="{BB962C8B-B14F-4D97-AF65-F5344CB8AC3E}">
        <p14:creationId xmlns:p14="http://schemas.microsoft.com/office/powerpoint/2010/main" val="662064673"/>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88D90-26F3-C9D6-0688-00782DE89DE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09D7B9E-2EFF-BC3A-1809-CD09ED424699}"/>
              </a:ext>
            </a:extLst>
          </p:cNvPr>
          <p:cNvSpPr>
            <a:spLocks noGrp="1"/>
          </p:cNvSpPr>
          <p:nvPr>
            <p:ph type="sldNum" sz="quarter" idx="12"/>
          </p:nvPr>
        </p:nvSpPr>
        <p:spPr/>
        <p:txBody>
          <a:bodyPr/>
          <a:lstStyle/>
          <a:p>
            <a:fld id="{0BE4EC83-A869-464E-AE9F-881796FB085E}" type="slidenum">
              <a:rPr lang="en-US" smtClean="0"/>
              <a:t>40</a:t>
            </a:fld>
            <a:endParaRPr lang="en-US" dirty="0"/>
          </a:p>
        </p:txBody>
      </p:sp>
      <p:graphicFrame>
        <p:nvGraphicFramePr>
          <p:cNvPr id="5" name="Table 8">
            <a:extLst>
              <a:ext uri="{FF2B5EF4-FFF2-40B4-BE49-F238E27FC236}">
                <a16:creationId xmlns:a16="http://schemas.microsoft.com/office/drawing/2014/main" id="{98A5B00D-10C2-BC35-B8AC-C61B5F1D5BCC}"/>
              </a:ext>
            </a:extLst>
          </p:cNvPr>
          <p:cNvGraphicFramePr>
            <a:graphicFrameLocks noGrp="1"/>
          </p:cNvGraphicFramePr>
          <p:nvPr>
            <p:extLst>
              <p:ext uri="{D42A27DB-BD31-4B8C-83A1-F6EECF244321}">
                <p14:modId xmlns:p14="http://schemas.microsoft.com/office/powerpoint/2010/main" val="828450156"/>
              </p:ext>
            </p:extLst>
          </p:nvPr>
        </p:nvGraphicFramePr>
        <p:xfrm>
          <a:off x="621452" y="1008402"/>
          <a:ext cx="10949096" cy="5037084"/>
        </p:xfrm>
        <a:graphic>
          <a:graphicData uri="http://schemas.openxmlformats.org/drawingml/2006/table">
            <a:tbl>
              <a:tblPr firstRow="1" bandRow="1">
                <a:tableStyleId>{5C22544A-7EE6-4342-B048-85BDC9FD1C3A}</a:tableStyleId>
              </a:tblPr>
              <a:tblGrid>
                <a:gridCol w="7043833">
                  <a:extLst>
                    <a:ext uri="{9D8B030D-6E8A-4147-A177-3AD203B41FA5}">
                      <a16:colId xmlns:a16="http://schemas.microsoft.com/office/drawing/2014/main" val="637829901"/>
                    </a:ext>
                  </a:extLst>
                </a:gridCol>
                <a:gridCol w="3905263">
                  <a:extLst>
                    <a:ext uri="{9D8B030D-6E8A-4147-A177-3AD203B41FA5}">
                      <a16:colId xmlns:a16="http://schemas.microsoft.com/office/drawing/2014/main" val="543068415"/>
                    </a:ext>
                  </a:extLst>
                </a:gridCol>
              </a:tblGrid>
              <a:tr h="464432">
                <a:tc>
                  <a:txBody>
                    <a:bodyPr/>
                    <a:lstStyle/>
                    <a:p>
                      <a:pPr algn="ctr" rtl="1"/>
                      <a:r>
                        <a:rPr lang="ar-SA" sz="2000" b="1" kern="1200" baseline="0" dirty="0">
                          <a:solidFill>
                            <a:schemeClr val="bg1"/>
                          </a:solidFill>
                          <a:latin typeface="Sakkal Majalla" panose="02000000000000000000" pitchFamily="2" charset="-78"/>
                          <a:ea typeface="+mj-ea"/>
                          <a:cs typeface="Sakkal Majalla" panose="02000000000000000000" pitchFamily="2" charset="-78"/>
                        </a:rPr>
                        <a:t>وصف</a:t>
                      </a:r>
                      <a:r>
                        <a:rPr lang="ar-EG" sz="2000" b="1" kern="1200" baseline="0" dirty="0">
                          <a:solidFill>
                            <a:schemeClr val="bg1"/>
                          </a:solidFill>
                          <a:latin typeface="Sakkal Majalla" panose="02000000000000000000" pitchFamily="2" charset="-78"/>
                          <a:ea typeface="+mj-ea"/>
                          <a:cs typeface="Sakkal Majalla" panose="02000000000000000000" pitchFamily="2" charset="-78"/>
                        </a:rPr>
                        <a:t> المبدأ</a:t>
                      </a:r>
                    </a:p>
                  </a:txBody>
                  <a:tcPr anchor="ctr"/>
                </a:tc>
                <a:tc>
                  <a:txBody>
                    <a:bodyPr/>
                    <a:lstStyle/>
                    <a:p>
                      <a:pPr algn="ctr" rtl="1"/>
                      <a:r>
                        <a:rPr lang="ar-EG" sz="2000" b="1" kern="1200" baseline="0" dirty="0">
                          <a:solidFill>
                            <a:schemeClr val="bg1"/>
                          </a:solidFill>
                          <a:latin typeface="Sakkal Majalla" panose="02000000000000000000" pitchFamily="2" charset="-78"/>
                          <a:ea typeface="+mj-ea"/>
                          <a:cs typeface="Sakkal Majalla" panose="02000000000000000000" pitchFamily="2" charset="-78"/>
                        </a:rPr>
                        <a:t>رمز</a:t>
                      </a:r>
                      <a:r>
                        <a:rPr lang="ar-SA" sz="2000" b="1" kern="1200" baseline="0" dirty="0">
                          <a:solidFill>
                            <a:schemeClr val="bg1"/>
                          </a:solidFill>
                          <a:latin typeface="Sakkal Majalla" panose="02000000000000000000" pitchFamily="2" charset="-78"/>
                          <a:ea typeface="+mj-ea"/>
                          <a:cs typeface="Sakkal Majalla" panose="02000000000000000000" pitchFamily="2" charset="-78"/>
                        </a:rPr>
                        <a:t>: اسم</a:t>
                      </a:r>
                      <a:r>
                        <a:rPr lang="ar-EG" sz="2000" b="1" kern="1200" baseline="0" dirty="0">
                          <a:solidFill>
                            <a:schemeClr val="bg1"/>
                          </a:solidFill>
                          <a:latin typeface="Sakkal Majalla" panose="02000000000000000000" pitchFamily="2" charset="-78"/>
                          <a:ea typeface="+mj-ea"/>
                          <a:cs typeface="Sakkal Majalla" panose="02000000000000000000" pitchFamily="2" charset="-78"/>
                        </a:rPr>
                        <a:t> المبدأ</a:t>
                      </a:r>
                    </a:p>
                  </a:txBody>
                  <a:tcPr anchor="ctr"/>
                </a:tc>
                <a:extLst>
                  <a:ext uri="{0D108BD9-81ED-4DB2-BD59-A6C34878D82A}">
                    <a16:rowId xmlns:a16="http://schemas.microsoft.com/office/drawing/2014/main" val="3194809227"/>
                  </a:ext>
                </a:extLst>
              </a:tr>
              <a:tr h="653236">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طلب البيانات من المستفيدين لمرة واحدة، وفي حال توفر البيانات داخليا أو خارجيا لدى أي من الجهات الحكومية أو مزودي الخدمات فيتم العمل على توفير تكامل تقني مع الأنظمة / الجهات للحصول على تلك البيانات من مصادرها</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2" action="ppaction://hlinksldjump"/>
                        </a:rPr>
                        <a:t>DP01</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2" action="ppaction://hlinksldjump"/>
                        </a:rPr>
                        <a:t>: طلب البيانات لمرة واحدة</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2306921876"/>
                  </a:ext>
                </a:extLst>
              </a:tr>
              <a:tr h="653236">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الاعتماد على مصدر موثوق لتعريف وحصر كل كيانات البيانات والاعتماد على مالك البيانات في توثيق سمات كيانات البيانات</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3" action="ppaction://hlinksldjump"/>
                        </a:rPr>
                        <a:t>DP02</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3" action="ppaction://hlinksldjump"/>
                        </a:rPr>
                        <a:t>: مصدر واحد للبيانات</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372816279"/>
                  </a:ext>
                </a:extLst>
              </a:tr>
              <a:tr h="653236">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الالتزام بالمتطلبات والمعايير المعتمدة فيما يخص إدارة وحوكمة البيانات وعكس ذلك على مكونات بنية البيانات في جميع مراحلها (الوضع الراهن والوضع المستقبلي)</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4" action="ppaction://hlinksldjump"/>
                        </a:rPr>
                        <a:t>DP03</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4" action="ppaction://hlinksldjump"/>
                        </a:rPr>
                        <a:t>: الالتزام بمتطلبات ومعايير إدارة وحوكمة البيانات</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947784764"/>
                  </a:ext>
                </a:extLst>
              </a:tr>
              <a:tr h="653236">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تفعيل استخدام البيانات لدعم القيادات في اتخاذ القرار وصياغة قواعد العمل ومتابعة مؤشرات الأداء بناء على بيانات ذات موثوقية عالية</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5" action="ppaction://hlinksldjump"/>
                        </a:rPr>
                        <a:t>DP04</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5" action="ppaction://hlinksldjump"/>
                        </a:rPr>
                        <a:t>: دعم التحليل واتخاذ القرارات</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602485621"/>
                  </a:ext>
                </a:extLst>
              </a:tr>
              <a:tr h="653236">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حماية البيانات من خلال حوكمة عمليات إدخالها، تشفيرها، عرضها ومشاركتها ووضع ضوابط الوصول</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6" action="ppaction://hlinksldjump"/>
                        </a:rPr>
                        <a:t>DP05</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6" action="ppaction://hlinksldjump"/>
                        </a:rPr>
                        <a:t>: حماية البيانات</a:t>
                      </a:r>
                      <a:endParaRPr lang="en-US"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1200409264"/>
                  </a:ext>
                </a:extLst>
              </a:tr>
              <a:tr h="653236">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تمكين المستخدمين من مشاركة بيانات محددة مع أطراف أخرى حسب الحاجة، بما يضمن توفر المعلومات المتعلقة بمصدر البيانات، وطريقة جمعها ،ومعالجتها وتحليلها</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7" action="ppaction://hlinksldjump"/>
                        </a:rPr>
                        <a:t>DP06</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7" action="ppaction://hlinksldjump"/>
                        </a:rPr>
                        <a:t>: مشاركة البيانات</a:t>
                      </a:r>
                      <a:endParaRPr lang="en-US"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1998998549"/>
                  </a:ext>
                </a:extLst>
              </a:tr>
              <a:tr h="653236">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ضمان وصول المستخدمين الذين لديهم الصلاحيات المناسبة للوصول إلى البيانات، وتوفير البيانات بشكل مستمر ودون انقطاع</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8" action="ppaction://hlinksldjump"/>
                        </a:rPr>
                        <a:t>DP07</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8" action="ppaction://hlinksldjump"/>
                        </a:rPr>
                        <a:t>: الاستمرارية والإتاحة</a:t>
                      </a:r>
                      <a:endParaRPr lang="en-US"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2776434887"/>
                  </a:ext>
                </a:extLst>
              </a:tr>
            </a:tbl>
          </a:graphicData>
        </a:graphic>
      </p:graphicFrame>
      <p:sp>
        <p:nvSpPr>
          <p:cNvPr id="7" name="Title 1">
            <a:extLst>
              <a:ext uri="{FF2B5EF4-FFF2-40B4-BE49-F238E27FC236}">
                <a16:creationId xmlns:a16="http://schemas.microsoft.com/office/drawing/2014/main" id="{236F4DE7-4527-A9BD-986A-7CC3D4EEDB16}"/>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مبادئ بنية البيانات</a:t>
            </a:r>
            <a:endParaRPr lang="en-US" dirty="0"/>
          </a:p>
        </p:txBody>
      </p:sp>
    </p:spTree>
    <p:extLst>
      <p:ext uri="{BB962C8B-B14F-4D97-AF65-F5344CB8AC3E}">
        <p14:creationId xmlns:p14="http://schemas.microsoft.com/office/powerpoint/2010/main" val="3194119196"/>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41</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DP01</a:t>
            </a:r>
            <a:r>
              <a:rPr lang="ar-SA" dirty="0"/>
              <a:t>: طلب البيانات لمرة واحدة"</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4292908835"/>
              </p:ext>
            </p:extLst>
          </p:nvPr>
        </p:nvGraphicFramePr>
        <p:xfrm>
          <a:off x="788319" y="1268997"/>
          <a:ext cx="10615362" cy="4609833"/>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391828">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طلب البيانات لمرة واحدة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DP01</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583692">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طلب البيانات من المستفيدين لمرة واحدة، وفي حال توفر البيانات داخليا أو خارجيا لدى أي من الجهات الحكومية أو مزودي الخدمات فيتم العمل على توفير تكامل تقني مع الأنظمة / الجهات للحصول على تلك البيانات من مصادرها</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680356">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تقليل الوقت والجهد في توفير البيانات من قبل المستفيدين</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ضمان أعلى لصحة البيانات المطلوبة من خلال </a:t>
                      </a:r>
                      <a:r>
                        <a:rPr lang="ar-EG" sz="1600" baseline="0" dirty="0">
                          <a:solidFill>
                            <a:schemeClr val="tx1"/>
                          </a:solidFill>
                          <a:latin typeface="Sakkal Majalla" panose="02000000000000000000" pitchFamily="2" charset="-78"/>
                          <a:cs typeface="Sakkal Majalla" panose="02000000000000000000" pitchFamily="2" charset="-78"/>
                        </a:rPr>
                        <a:t>ال</a:t>
                      </a:r>
                      <a:r>
                        <a:rPr lang="ar-SA" sz="1600" baseline="0" dirty="0">
                          <a:solidFill>
                            <a:schemeClr val="tx1"/>
                          </a:solidFill>
                          <a:latin typeface="Sakkal Majalla" panose="02000000000000000000" pitchFamily="2" charset="-78"/>
                          <a:cs typeface="Sakkal Majalla" panose="02000000000000000000" pitchFamily="2" charset="-78"/>
                        </a:rPr>
                        <a:t>حصول عليها من مصدرها</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ضمان عدم تكرار إدخال البيانات ووجود أكثر من مصدر لتلك البيانات</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1953957">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توفير منصة لتكامل البيانات على مستوى </a:t>
                      </a:r>
                      <a:r>
                        <a:rPr lang="ar-EG" sz="1600" baseline="0" dirty="0">
                          <a:solidFill>
                            <a:schemeClr val="tx1"/>
                          </a:solidFill>
                          <a:latin typeface="Sakkal Majalla" panose="02000000000000000000" pitchFamily="2" charset="-78"/>
                          <a:cs typeface="Sakkal Majalla" panose="02000000000000000000" pitchFamily="2" charset="-78"/>
                        </a:rPr>
                        <a:t>الهيئة</a:t>
                      </a:r>
                      <a:endParaRPr lang="ar-SA" sz="1600" baseline="0" dirty="0">
                        <a:solidFill>
                          <a:schemeClr val="tx1"/>
                        </a:solidFill>
                        <a:latin typeface="Sakkal Majalla" panose="02000000000000000000" pitchFamily="2" charset="-78"/>
                        <a:cs typeface="Sakkal Majalla" panose="02000000000000000000" pitchFamily="2" charset="-78"/>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تحديد الجهات الخارجية المالكة للبيانات التي يتم التعامل معها ليتم الربط مع أنظمتها</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تحديد الإدارات والتطبيقات المالكة للبيانات الداخلية والمعايير والاشتراطات الخاصة بمشاركتها</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32137099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42</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DP02</a:t>
            </a:r>
            <a:r>
              <a:rPr lang="ar-SA" dirty="0"/>
              <a:t>: مصدر واحد للبيانات"</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3208206308"/>
              </p:ext>
            </p:extLst>
          </p:nvPr>
        </p:nvGraphicFramePr>
        <p:xfrm>
          <a:off x="788319" y="1268996"/>
          <a:ext cx="10615362" cy="4674603"/>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417676">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مصدر واحد للبيانات</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DP02</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382870">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الاعتماد على مصدر موثوق لتعريف وحصر كل كيانات البيانات والاعتماد على مالك البيانات في توثيق سمات كيانات البيانات</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791204">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تمكين مبادئ حوكمة البيانات والمحافظة على سلامتها وتوفير البيانات من مصادرها الموثوقة الصحيحة لرفع جودة مخرجات بنية البيانات</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082853">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توفير منصة لتكامل البيانات على مستوى </a:t>
                      </a:r>
                      <a:r>
                        <a:rPr lang="ar-EG" sz="1600" baseline="0" dirty="0">
                          <a:solidFill>
                            <a:schemeClr val="tx1"/>
                          </a:solidFill>
                          <a:latin typeface="Sakkal Majalla" panose="02000000000000000000" pitchFamily="2" charset="-78"/>
                          <a:cs typeface="Sakkal Majalla" panose="02000000000000000000" pitchFamily="2" charset="-78"/>
                        </a:rPr>
                        <a:t>الهيئة</a:t>
                      </a:r>
                      <a:endParaRPr lang="ar-SA" sz="1600" baseline="0" dirty="0">
                        <a:solidFill>
                          <a:schemeClr val="tx1"/>
                        </a:solidFill>
                        <a:latin typeface="Sakkal Majalla" panose="02000000000000000000" pitchFamily="2" charset="-78"/>
                        <a:cs typeface="Sakkal Majalla" panose="02000000000000000000" pitchFamily="2" charset="-78"/>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تعريف متطلبات كيانات البيانات لكل إجراء/ تطبيق</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تحديد الإدارات والتطبيقات المالكة للبيانات الداخلية وتعريف ملّاك البيانات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إعادة هندسة تصاميم التطبيقات وقواعد البيانات المرتبطة لتجنب تكرار تخزين نفس كيان البيانات</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42145586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43</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DP03</a:t>
            </a:r>
            <a:r>
              <a:rPr lang="ar-SA" dirty="0"/>
              <a:t>: الالتزام بمتطلبات ومعايير إدارة وحوكمة البيانات"</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1626749253"/>
              </p:ext>
            </p:extLst>
          </p:nvPr>
        </p:nvGraphicFramePr>
        <p:xfrm>
          <a:off x="788319" y="1268997"/>
          <a:ext cx="10615362" cy="4646028"/>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373306">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الالتزام بمتطلبات ومعايير إدارة وحوكمة البيانات</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DP03</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591067">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الالتزام بالمتطلبات والمعايير المعتمدة فيما يخص إدارة وحوكمة البيانات وعكس ذلك على مكونات بنية البيانات في جميع مراحلها (الوضع الراهن والوضع المستقبلي)</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498895">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الالتزام بالمتطلبات الوطنية الصادرة عن مكتب إدارة البيانات الوطنية لما لها من عظيم الأثر على موثوقية البيانات وسهولة إدارتها وحوكمتها</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ضمان مواءمة أعمال البنية المؤسسية مع مكتب إدارة البيانات في ال</a:t>
                      </a:r>
                      <a:r>
                        <a:rPr lang="ar-EG" sz="1600" baseline="0" dirty="0">
                          <a:solidFill>
                            <a:schemeClr val="tx1"/>
                          </a:solidFill>
                          <a:latin typeface="Sakkal Majalla" panose="02000000000000000000" pitchFamily="2" charset="-78"/>
                          <a:cs typeface="Sakkal Majalla" panose="02000000000000000000" pitchFamily="2" charset="-78"/>
                        </a:rPr>
                        <a:t>هيئة</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182760">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تحديد الأثر المترتب على تعريف مستويات سرية البيانات والتأكد من تطبيق معايير حوكمة البيانات عند تطوير مكونات بنية البيانات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تحديد متطلبات تخزين وحفظ البيانات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تعريف وتطبيق متطلبات الوصول للبيانات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الاستفادة من صلاحيات الإشراف على البيانات وملكيتها المعتمدة على مستوى </a:t>
                      </a:r>
                      <a:r>
                        <a:rPr lang="ar-EG" sz="1600" baseline="0" dirty="0">
                          <a:solidFill>
                            <a:schemeClr val="tx1"/>
                          </a:solidFill>
                          <a:latin typeface="Sakkal Majalla" panose="02000000000000000000" pitchFamily="2" charset="-78"/>
                          <a:cs typeface="Sakkal Majalla" panose="02000000000000000000" pitchFamily="2" charset="-78"/>
                        </a:rPr>
                        <a:t>الهيئة</a:t>
                      </a:r>
                      <a:r>
                        <a:rPr lang="ar-SA" sz="1600" baseline="0" dirty="0">
                          <a:solidFill>
                            <a:schemeClr val="tx1"/>
                          </a:solidFill>
                          <a:latin typeface="Sakkal Majalla" panose="02000000000000000000" pitchFamily="2" charset="-78"/>
                          <a:cs typeface="Sakkal Majalla" panose="02000000000000000000" pitchFamily="2" charset="-78"/>
                        </a:rPr>
                        <a:t> عند تحديد أصحاب المصلحة وتعريف آلية التعاون معهم في تطوير مكونات البنية المؤسسية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30095691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44</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DP04</a:t>
            </a:r>
            <a:r>
              <a:rPr lang="ar-SA" dirty="0"/>
              <a:t>: دعم التحليل واتخاذ القرارات"</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2505242564"/>
              </p:ext>
            </p:extLst>
          </p:nvPr>
        </p:nvGraphicFramePr>
        <p:xfrm>
          <a:off x="788319" y="1268996"/>
          <a:ext cx="10615362" cy="4674603"/>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417676">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دعم التحليل واتخاذ القرارات</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DP04</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382870">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تفعيل استخدام البيانات لدعم القيادات في اتخاذ القرار وصياغة قواعد العمل ومتابعة مؤشرات الأداء بناء على بيانات ذات موثوقية عالية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791204">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تمكين القيادات من الحصول على مؤشرات الأداء الاستراتيجية الدقيقة وتقارير الأعمال للمساعدة في اتخاذ القرار ودعم التخطيط الاستراتيجي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082853">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تعريف وحصر مناظير بنية البيانات بما يناسب تطلعات أصحاب المصلحة والمسؤولين عن إعداد التقارير ولوحات المعلومات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تضمين قدرات تحليل البيانات المتقدمة ومكونات مستودع البيانات ضمن مكونات البنية المؤسسية ذات الصلة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6647929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45</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DP05</a:t>
            </a:r>
            <a:r>
              <a:rPr lang="ar-SA" dirty="0"/>
              <a:t>: حماية البيانات"</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167143384"/>
              </p:ext>
            </p:extLst>
          </p:nvPr>
        </p:nvGraphicFramePr>
        <p:xfrm>
          <a:off x="788319" y="1268996"/>
          <a:ext cx="10615362" cy="4674603"/>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417676">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حماية البيانات</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DP05</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382870">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حماية البيانات من خلال حوكمة عمليات إدخالها، تشفيرها، عرضها ومشاركتها ووضع ضوابط الوصول</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791204">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حماية البيانات من الاختراقات والانتهاكات، وضمان السرية،</a:t>
                      </a:r>
                      <a:r>
                        <a:rPr lang="ar-EG" sz="1600" baseline="0" dirty="0">
                          <a:solidFill>
                            <a:schemeClr val="tx1"/>
                          </a:solidFill>
                          <a:latin typeface="Sakkal Majalla" panose="02000000000000000000" pitchFamily="2" charset="-78"/>
                          <a:cs typeface="Sakkal Majalla" panose="02000000000000000000" pitchFamily="2" charset="-78"/>
                        </a:rPr>
                        <a:t> </a:t>
                      </a:r>
                      <a:r>
                        <a:rPr lang="ar-SA" sz="1600" baseline="0" dirty="0">
                          <a:solidFill>
                            <a:schemeClr val="tx1"/>
                          </a:solidFill>
                          <a:latin typeface="Sakkal Majalla" panose="02000000000000000000" pitchFamily="2" charset="-78"/>
                          <a:cs typeface="Sakkal Majalla" panose="02000000000000000000" pitchFamily="2" charset="-78"/>
                        </a:rPr>
                        <a:t>والسلامة، والتوافر</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ضمان استخدام البيانات بالشكل الذي وضعت له ومن ثم تفعيل المراقبة والتدقيق</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082853">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يتطلب استثمارا كبيرا في التكنولوجيا</a:t>
                      </a:r>
                      <a:r>
                        <a:rPr lang="ar-EG" sz="1600" baseline="0" dirty="0">
                          <a:solidFill>
                            <a:schemeClr val="tx1"/>
                          </a:solidFill>
                          <a:latin typeface="Sakkal Majalla" panose="02000000000000000000" pitchFamily="2" charset="-78"/>
                          <a:cs typeface="Sakkal Majalla" panose="02000000000000000000" pitchFamily="2" charset="-78"/>
                        </a:rPr>
                        <a:t>، </a:t>
                      </a:r>
                      <a:r>
                        <a:rPr lang="ar-SA" sz="1600" baseline="0" dirty="0">
                          <a:solidFill>
                            <a:schemeClr val="tx1"/>
                          </a:solidFill>
                          <a:latin typeface="Sakkal Majalla" panose="02000000000000000000" pitchFamily="2" charset="-78"/>
                          <a:cs typeface="Sakkal Majalla" panose="02000000000000000000" pitchFamily="2" charset="-78"/>
                        </a:rPr>
                        <a:t>وتحديثات دورية لضمان الامتثال لمعايير الأمان</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يمكن أن يؤدي إلى بطء في الوصول إلى البيانات</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31299501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46</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DP06</a:t>
            </a:r>
            <a:r>
              <a:rPr lang="ar-SA" dirty="0"/>
              <a:t>: مشاركة البيانات"</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3700067446"/>
              </p:ext>
            </p:extLst>
          </p:nvPr>
        </p:nvGraphicFramePr>
        <p:xfrm>
          <a:off x="788319" y="1268997"/>
          <a:ext cx="10615362" cy="4688840"/>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27343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مشاركة البيانات</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DP06</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432933">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تمكين المستخدمين من مشاركة بيانات محددة مع أطراف أخرى حسب الحاجة، بما يضمن توفر المعلومات المتعلقة بمصدر البيانات، وطريقة جمعها ،ومعالجتها وتحليلها</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968404">
                <a:tc gridSpan="3">
                  <a:txBody>
                    <a:bodyPr/>
                    <a:lstStyle/>
                    <a:p>
                      <a:pPr marL="285750" marR="0" lvl="0" indent="-285750" algn="r" defTabSz="914400" rtl="1" eaLnBrk="1" fontAlgn="auto" latinLnBrk="0" hangingPunct="1">
                        <a:lnSpc>
                          <a:spcPct val="100000"/>
                        </a:lnSpc>
                        <a:spcBef>
                          <a:spcPts val="5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تحسين الإنتاجية وسرعة اتخاذ القرارات</a:t>
                      </a:r>
                    </a:p>
                    <a:p>
                      <a:pPr marL="285750" marR="0" lvl="0" indent="-285750" algn="r" defTabSz="914400" rtl="1" eaLnBrk="1" fontAlgn="auto" latinLnBrk="0" hangingPunct="1">
                        <a:lnSpc>
                          <a:spcPct val="100000"/>
                        </a:lnSpc>
                        <a:spcBef>
                          <a:spcPts val="5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تحقيق تكامل أكبر بين الأنظمة والعمليات</a:t>
                      </a:r>
                    </a:p>
                    <a:p>
                      <a:pPr marL="285750" marR="0" lvl="0" indent="-285750" algn="r" defTabSz="914400" rtl="1" eaLnBrk="1" fontAlgn="auto" latinLnBrk="0" hangingPunct="1">
                        <a:lnSpc>
                          <a:spcPct val="100000"/>
                        </a:lnSpc>
                        <a:spcBef>
                          <a:spcPts val="5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تعزيز الشفافية والمسائلة والمشاركة المفتوحة للبيانات</a:t>
                      </a:r>
                    </a:p>
                    <a:p>
                      <a:pPr marL="285750" marR="0" lvl="0" indent="-285750" algn="r" defTabSz="914400" rtl="1" eaLnBrk="1" fontAlgn="auto" latinLnBrk="0" hangingPunct="1">
                        <a:lnSpc>
                          <a:spcPct val="100000"/>
                        </a:lnSpc>
                        <a:spcBef>
                          <a:spcPts val="5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تحسين الابتكار والتعاون</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1925414">
                <a:tc gridSpan="3">
                  <a:txBody>
                    <a:bodyPr/>
                    <a:lstStyle/>
                    <a:p>
                      <a:pPr marL="285750" marR="0" lvl="0" indent="-285750" algn="r" defTabSz="914400" rtl="1" eaLnBrk="1" fontAlgn="auto" latinLnBrk="0" hangingPunct="1">
                        <a:lnSpc>
                          <a:spcPct val="100000"/>
                        </a:lnSpc>
                        <a:spcBef>
                          <a:spcPts val="5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زيادة تبادل البيانات بين الأنظمة والأفراد مما يسهم في ضمان أن الجميع يعمل على نفس الأساس من المعلومات، مما يقلل من الأخطاء ويزيد من الإنتاجية</a:t>
                      </a:r>
                    </a:p>
                    <a:p>
                      <a:pPr marL="285750" marR="0" lvl="0" indent="-285750" algn="r" defTabSz="914400" rtl="1" eaLnBrk="1" fontAlgn="auto" latinLnBrk="0" hangingPunct="1">
                        <a:lnSpc>
                          <a:spcPct val="100000"/>
                        </a:lnSpc>
                        <a:spcBef>
                          <a:spcPts val="5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يمكن  استخدام البيانات المشتركة لتحليل الأداء، التعلم من النجاحات والإخفاقات، وتطوير ممارسات أفضل</a:t>
                      </a:r>
                    </a:p>
                    <a:p>
                      <a:pPr marL="285750" marR="0" lvl="0" indent="-285750" algn="r" defTabSz="914400" rtl="1" eaLnBrk="1" fontAlgn="auto" latinLnBrk="0" hangingPunct="1">
                        <a:lnSpc>
                          <a:spcPct val="100000"/>
                        </a:lnSpc>
                        <a:spcBef>
                          <a:spcPts val="5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تطوير ثقافة تعاونية تعزز بيئة العمل التعاونية والثقة بين الموظفين</a:t>
                      </a:r>
                    </a:p>
                    <a:p>
                      <a:pPr marL="285750" marR="0" lvl="0" indent="-285750" algn="r" defTabSz="914400" rtl="1" eaLnBrk="1" fontAlgn="auto" latinLnBrk="0" hangingPunct="1">
                        <a:lnSpc>
                          <a:spcPct val="100000"/>
                        </a:lnSpc>
                        <a:spcBef>
                          <a:spcPts val="5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ضمان اتساق البيانات</a:t>
                      </a:r>
                    </a:p>
                    <a:p>
                      <a:pPr marL="285750" marR="0" lvl="0" indent="-285750" algn="r" defTabSz="914400" rtl="1" eaLnBrk="1" fontAlgn="auto" latinLnBrk="0" hangingPunct="1">
                        <a:lnSpc>
                          <a:spcPct val="100000"/>
                        </a:lnSpc>
                        <a:spcBef>
                          <a:spcPts val="5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فتح قنوات لمشاركة البيانات قد يزيد من خطر التعرض للاختراقات أو الوصول غير المصرح به إلى البيانات الحساسة، مما يستلزم وجود إجراءات أمنية قوية</a:t>
                      </a:r>
                    </a:p>
                    <a:p>
                      <a:pPr marL="285750" marR="0" lvl="0" indent="-285750" algn="r" defTabSz="914400" rtl="1" eaLnBrk="1" fontAlgn="auto" latinLnBrk="0" hangingPunct="1">
                        <a:lnSpc>
                          <a:spcPct val="100000"/>
                        </a:lnSpc>
                        <a:spcBef>
                          <a:spcPts val="5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إدارة بيانات مشتركة تتطلب جهود</a:t>
                      </a:r>
                      <a:r>
                        <a:rPr lang="ar-EG" sz="1600" baseline="0" dirty="0">
                          <a:solidFill>
                            <a:schemeClr val="tx1"/>
                          </a:solidFill>
                          <a:latin typeface="Sakkal Majalla" panose="02000000000000000000" pitchFamily="2" charset="-78"/>
                          <a:cs typeface="Sakkal Majalla" panose="02000000000000000000" pitchFamily="2" charset="-78"/>
                        </a:rPr>
                        <a:t>ا</a:t>
                      </a:r>
                      <a:r>
                        <a:rPr lang="ar-SA" sz="1600" baseline="0" dirty="0">
                          <a:solidFill>
                            <a:schemeClr val="tx1"/>
                          </a:solidFill>
                          <a:latin typeface="Sakkal Majalla" panose="02000000000000000000" pitchFamily="2" charset="-78"/>
                          <a:cs typeface="Sakkal Majalla" panose="02000000000000000000" pitchFamily="2" charset="-78"/>
                        </a:rPr>
                        <a:t> إضافية في وضع السياسات والعمليات لضمان سلامة البيانات وخصوصيتها</a:t>
                      </a:r>
                    </a:p>
                    <a:p>
                      <a:pPr marL="285750" marR="0" lvl="0" indent="-285750" algn="r" defTabSz="914400" rtl="1" eaLnBrk="1" fontAlgn="auto" latinLnBrk="0" hangingPunct="1">
                        <a:lnSpc>
                          <a:spcPct val="100000"/>
                        </a:lnSpc>
                        <a:spcBef>
                          <a:spcPts val="5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مشاركة البيانات دون ضوابط قد تؤدي إلى انتهاكات لخصوصية الأفراد</a:t>
                      </a:r>
                    </a:p>
                    <a:p>
                      <a:pPr marL="285750" marR="0" lvl="0" indent="-285750" algn="r" defTabSz="914400" rtl="1" eaLnBrk="1" fontAlgn="auto" latinLnBrk="0" hangingPunct="1">
                        <a:lnSpc>
                          <a:spcPct val="100000"/>
                        </a:lnSpc>
                        <a:spcBef>
                          <a:spcPts val="5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مشاركة البيانات بين الأنظمة المختلفة قد يتطلب تكامل تقني متقدم، مما يمكن أن يزيد من الأعباء التقنية والتكلفة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24316706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47</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DP07</a:t>
            </a:r>
            <a:r>
              <a:rPr lang="ar-SA" dirty="0"/>
              <a:t>: الاستمرارية والإتاحة"</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2892795293"/>
              </p:ext>
            </p:extLst>
          </p:nvPr>
        </p:nvGraphicFramePr>
        <p:xfrm>
          <a:off x="788319" y="1192796"/>
          <a:ext cx="10615362" cy="4785360"/>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296191">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الاستمرارية والإتاحة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DP07</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271508">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ضمان وصول المستخدمين الذين لديهم الصلاحيات المناسبة للوصول إلى</a:t>
                      </a:r>
                      <a:r>
                        <a:rPr lang="ar-EG" sz="1600" baseline="0" dirty="0">
                          <a:solidFill>
                            <a:schemeClr val="tx1"/>
                          </a:solidFill>
                          <a:latin typeface="Sakkal Majalla" panose="02000000000000000000" pitchFamily="2" charset="-78"/>
                          <a:cs typeface="Sakkal Majalla" panose="02000000000000000000" pitchFamily="2" charset="-78"/>
                        </a:rPr>
                        <a:t> البيانات</a:t>
                      </a:r>
                      <a:r>
                        <a:rPr lang="ar-SA" sz="1600" baseline="0" dirty="0">
                          <a:solidFill>
                            <a:schemeClr val="tx1"/>
                          </a:solidFill>
                          <a:latin typeface="Sakkal Majalla" panose="02000000000000000000" pitchFamily="2" charset="-78"/>
                          <a:cs typeface="Sakkal Majalla" panose="02000000000000000000" pitchFamily="2" charset="-78"/>
                        </a:rPr>
                        <a:t>، وتوفير البيانات بشكل مستمر ودون انقطاع</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863890">
                <a:tc gridSpan="3">
                  <a:txBody>
                    <a:bodyPr/>
                    <a:lstStyle/>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زيادة كفاءة وفعالية العمل</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دعم اتخاذ القرارات المستندة إلى البيانات</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ضمان الامتثال للمتطلبات التنظيمية</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تحسين تجربة المستخدم</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641035">
                <a:tc gridSpan="3">
                  <a:txBody>
                    <a:bodyPr/>
                    <a:lstStyle/>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رفع كفاءة العمليات التشغيلية وتقليل  الوقت المستغرق في البحث عن المعلومات</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اتخاذ قرارات أفضل وأسرع</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التعاون بين الأقسام والفرق المختلفة الداخلية، حيث يمكن للجميع الوصول إلى نفس المعلومات . هذا يقلل من الحواجز بين الفرق ويساهم في تحقيق أهداف مشتركة</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تطبيق مبدأ الإتاحة يساعد  في الامتثال للمتطلبات القانونية والتنظيمية المتعلقة بإتاحة البيانات مما يعزز الشفافية بين أصحاب المصلحة الداخليين والخارجيين</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زيادة إتاحة البيانات يمكن أن تزيد من خطر الوصول غير المصرح به إلى البيانات الحساسة. قد يتعرض النظام لاختراقات أو تسريبات للبيانات إذا لم تكن هناك إجراءات أمان كافية</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الحفاظ على إتاحة البيانات بشكل مستمر يتطلب بنية تحتية قوية ومستدامة، بما في ذلك الخوادم وأنظمة النسخ الاحتياطي والتحديثات الأمنية</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تطبيق</a:t>
                      </a:r>
                      <a:r>
                        <a:rPr lang="ar-EG" sz="1600" baseline="0" dirty="0">
                          <a:solidFill>
                            <a:schemeClr val="tx1"/>
                          </a:solidFill>
                          <a:latin typeface="Sakkal Majalla" panose="02000000000000000000" pitchFamily="2" charset="-78"/>
                          <a:cs typeface="Sakkal Majalla" panose="02000000000000000000" pitchFamily="2" charset="-78"/>
                        </a:rPr>
                        <a:t> </a:t>
                      </a:r>
                      <a:r>
                        <a:rPr lang="ar-SA" sz="1600" baseline="0" dirty="0">
                          <a:solidFill>
                            <a:schemeClr val="tx1"/>
                          </a:solidFill>
                          <a:latin typeface="Sakkal Majalla" panose="02000000000000000000" pitchFamily="2" charset="-78"/>
                          <a:cs typeface="Sakkal Majalla" panose="02000000000000000000" pitchFamily="2" charset="-78"/>
                        </a:rPr>
                        <a:t>المبدأ يتطلب وجود نظم إدارة بيانات متقدمة</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إذا كانت البيانات متاحة بشكل مفرط أو دون تصفية مناسبة، قد يكون هناك تدفق زائد للمعلومات، مما يربك المستخدمين ويؤدي إلى صعوبة في التركيز على البيانات الأكثر أهمية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7880990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62880" y="3925452"/>
            <a:ext cx="6281420" cy="641639"/>
          </a:xfrm>
        </p:spPr>
        <p:txBody>
          <a:bodyPr/>
          <a:lstStyle/>
          <a:p>
            <a:r>
              <a:rPr lang="ar-SA" sz="2800" dirty="0"/>
              <a:t>مبادئ بنية التقنية</a:t>
            </a:r>
            <a:endParaRPr lang="en-US" sz="2800" dirty="0"/>
          </a:p>
        </p:txBody>
      </p:sp>
      <p:sp>
        <p:nvSpPr>
          <p:cNvPr id="4" name="Text Placeholder 3"/>
          <p:cNvSpPr>
            <a:spLocks noGrp="1"/>
          </p:cNvSpPr>
          <p:nvPr>
            <p:ph type="body" sz="quarter" idx="14"/>
          </p:nvPr>
        </p:nvSpPr>
        <p:spPr/>
        <p:txBody>
          <a:bodyPr/>
          <a:lstStyle/>
          <a:p>
            <a:r>
              <a:rPr lang="ar-EG" sz="7200" dirty="0"/>
              <a:t>2.5</a:t>
            </a:r>
            <a:endParaRPr lang="en-US" sz="7200" dirty="0"/>
          </a:p>
        </p:txBody>
      </p:sp>
    </p:spTree>
    <p:extLst>
      <p:ext uri="{BB962C8B-B14F-4D97-AF65-F5344CB8AC3E}">
        <p14:creationId xmlns:p14="http://schemas.microsoft.com/office/powerpoint/2010/main" val="3886591803"/>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7CC44-A749-53C2-539C-77B9982A362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A152532-4D8B-EC9D-DFB6-437DC75D0285}"/>
              </a:ext>
            </a:extLst>
          </p:cNvPr>
          <p:cNvSpPr>
            <a:spLocks noGrp="1"/>
          </p:cNvSpPr>
          <p:nvPr>
            <p:ph type="sldNum" sz="quarter" idx="12"/>
          </p:nvPr>
        </p:nvSpPr>
        <p:spPr/>
        <p:txBody>
          <a:bodyPr/>
          <a:lstStyle/>
          <a:p>
            <a:fld id="{0BE4EC83-A869-464E-AE9F-881796FB085E}" type="slidenum">
              <a:rPr lang="en-US" smtClean="0"/>
              <a:t>49</a:t>
            </a:fld>
            <a:endParaRPr lang="en-US" dirty="0"/>
          </a:p>
        </p:txBody>
      </p:sp>
      <p:graphicFrame>
        <p:nvGraphicFramePr>
          <p:cNvPr id="5" name="Table 8">
            <a:extLst>
              <a:ext uri="{FF2B5EF4-FFF2-40B4-BE49-F238E27FC236}">
                <a16:creationId xmlns:a16="http://schemas.microsoft.com/office/drawing/2014/main" id="{B3F3A827-914C-5905-2094-DD8DD7D0A236}"/>
              </a:ext>
            </a:extLst>
          </p:cNvPr>
          <p:cNvGraphicFramePr>
            <a:graphicFrameLocks noGrp="1"/>
          </p:cNvGraphicFramePr>
          <p:nvPr>
            <p:extLst>
              <p:ext uri="{D42A27DB-BD31-4B8C-83A1-F6EECF244321}">
                <p14:modId xmlns:p14="http://schemas.microsoft.com/office/powerpoint/2010/main" val="1438747240"/>
              </p:ext>
            </p:extLst>
          </p:nvPr>
        </p:nvGraphicFramePr>
        <p:xfrm>
          <a:off x="621452" y="914354"/>
          <a:ext cx="10949096" cy="2946346"/>
        </p:xfrm>
        <a:graphic>
          <a:graphicData uri="http://schemas.openxmlformats.org/drawingml/2006/table">
            <a:tbl>
              <a:tblPr firstRow="1" bandRow="1">
                <a:tableStyleId>{5C22544A-7EE6-4342-B048-85BDC9FD1C3A}</a:tableStyleId>
              </a:tblPr>
              <a:tblGrid>
                <a:gridCol w="7190137">
                  <a:extLst>
                    <a:ext uri="{9D8B030D-6E8A-4147-A177-3AD203B41FA5}">
                      <a16:colId xmlns:a16="http://schemas.microsoft.com/office/drawing/2014/main" val="637829901"/>
                    </a:ext>
                  </a:extLst>
                </a:gridCol>
                <a:gridCol w="3758959">
                  <a:extLst>
                    <a:ext uri="{9D8B030D-6E8A-4147-A177-3AD203B41FA5}">
                      <a16:colId xmlns:a16="http://schemas.microsoft.com/office/drawing/2014/main" val="543068415"/>
                    </a:ext>
                  </a:extLst>
                </a:gridCol>
              </a:tblGrid>
              <a:tr h="379400">
                <a:tc>
                  <a:txBody>
                    <a:bodyPr/>
                    <a:lstStyle/>
                    <a:p>
                      <a:pPr algn="ctr" rtl="1"/>
                      <a:r>
                        <a:rPr lang="ar-SA" sz="2000" b="1" kern="1200" baseline="0" dirty="0">
                          <a:solidFill>
                            <a:schemeClr val="bg1"/>
                          </a:solidFill>
                          <a:latin typeface="Sakkal Majalla" panose="02000000000000000000" pitchFamily="2" charset="-78"/>
                          <a:ea typeface="+mj-ea"/>
                          <a:cs typeface="Sakkal Majalla" panose="02000000000000000000" pitchFamily="2" charset="-78"/>
                        </a:rPr>
                        <a:t>وصف</a:t>
                      </a:r>
                      <a:r>
                        <a:rPr lang="ar-EG" sz="2000" b="1" kern="1200" baseline="0" dirty="0">
                          <a:solidFill>
                            <a:schemeClr val="bg1"/>
                          </a:solidFill>
                          <a:latin typeface="Sakkal Majalla" panose="02000000000000000000" pitchFamily="2" charset="-78"/>
                          <a:ea typeface="+mj-ea"/>
                          <a:cs typeface="Sakkal Majalla" panose="02000000000000000000" pitchFamily="2" charset="-78"/>
                        </a:rPr>
                        <a:t> المبدأ</a:t>
                      </a:r>
                    </a:p>
                  </a:txBody>
                  <a:tcPr anchor="ctr"/>
                </a:tc>
                <a:tc>
                  <a:txBody>
                    <a:bodyPr/>
                    <a:lstStyle/>
                    <a:p>
                      <a:pPr algn="ctr" rtl="1"/>
                      <a:r>
                        <a:rPr lang="ar-EG" sz="2000" b="1" kern="1200" baseline="0" dirty="0">
                          <a:solidFill>
                            <a:schemeClr val="bg1"/>
                          </a:solidFill>
                          <a:latin typeface="Sakkal Majalla" panose="02000000000000000000" pitchFamily="2" charset="-78"/>
                          <a:ea typeface="+mj-ea"/>
                          <a:cs typeface="Sakkal Majalla" panose="02000000000000000000" pitchFamily="2" charset="-78"/>
                        </a:rPr>
                        <a:t>رمز</a:t>
                      </a:r>
                      <a:r>
                        <a:rPr lang="ar-SA" sz="2000" b="1" kern="1200" baseline="0" dirty="0">
                          <a:solidFill>
                            <a:schemeClr val="bg1"/>
                          </a:solidFill>
                          <a:latin typeface="Sakkal Majalla" panose="02000000000000000000" pitchFamily="2" charset="-78"/>
                          <a:ea typeface="+mj-ea"/>
                          <a:cs typeface="Sakkal Majalla" panose="02000000000000000000" pitchFamily="2" charset="-78"/>
                        </a:rPr>
                        <a:t>: اسم</a:t>
                      </a:r>
                      <a:r>
                        <a:rPr lang="ar-EG" sz="2000" b="1" kern="1200" baseline="0" dirty="0">
                          <a:solidFill>
                            <a:schemeClr val="bg1"/>
                          </a:solidFill>
                          <a:latin typeface="Sakkal Majalla" panose="02000000000000000000" pitchFamily="2" charset="-78"/>
                          <a:ea typeface="+mj-ea"/>
                          <a:cs typeface="Sakkal Majalla" panose="02000000000000000000" pitchFamily="2" charset="-78"/>
                        </a:rPr>
                        <a:t> المبدأ</a:t>
                      </a:r>
                    </a:p>
                  </a:txBody>
                  <a:tcPr anchor="ctr"/>
                </a:tc>
                <a:extLst>
                  <a:ext uri="{0D108BD9-81ED-4DB2-BD59-A6C34878D82A}">
                    <a16:rowId xmlns:a16="http://schemas.microsoft.com/office/drawing/2014/main" val="3194809227"/>
                  </a:ext>
                </a:extLst>
              </a:tr>
              <a:tr h="452093">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أن تكون الحوسبة السحابية جزءا أساسيا من استراتيجية البنية التقنية.</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2" action="ppaction://hlinksldjump"/>
                        </a:rPr>
                        <a:t>TP01</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hlinkClick r:id="rId2" action="ppaction://hlinksldjump"/>
                        </a:rPr>
                        <a:t>: </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2" action="ppaction://hlinksldjump"/>
                        </a:rPr>
                        <a:t>السحابة أولا (</a:t>
                      </a: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2" action="ppaction://hlinksldjump"/>
                        </a:rPr>
                        <a:t>Cloud First</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hlinkClick r:id="rId2" action="ppaction://hlinksldjump"/>
                        </a:rPr>
                        <a:t>)</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372816279"/>
                  </a:ext>
                </a:extLst>
              </a:tr>
              <a:tr h="350216">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الاستجابة لاحتياجات ومتطلبات العمل، والتخطيط لتغييراتها في التطبيقات والتقنية وفقا لذلك</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3" action="ppaction://hlinksldjump"/>
                        </a:rPr>
                        <a:t>TP02</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hlinkClick r:id="rId3" action="ppaction://hlinksldjump"/>
                        </a:rPr>
                        <a:t>: </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3" action="ppaction://hlinksldjump"/>
                        </a:rPr>
                        <a:t>الأعمال تقود التغيير (</a:t>
                      </a: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3" action="ppaction://hlinksldjump"/>
                        </a:rPr>
                        <a:t>Business led changes</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hlinkClick r:id="rId3" action="ppaction://hlinksldjump"/>
                        </a:rPr>
                        <a:t>)</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947784764"/>
                  </a:ext>
                </a:extLst>
              </a:tr>
              <a:tr h="612877">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تبني التكرارية في جميع طبقات الشبكة وفي حال فشل أحد المكونات يستمر النظام في العمل على النحو الأمثل دون أي تأثير على مستويات الخدمة لضمان استمرارية الأعمال</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4" action="ppaction://hlinksldjump"/>
                        </a:rPr>
                        <a:t>TP03</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hlinkClick r:id="rId4" action="ppaction://hlinksldjump"/>
                        </a:rPr>
                        <a:t>: </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4" action="ppaction://hlinksldjump"/>
                        </a:rPr>
                        <a:t>المرونة والتوافرية العالية (</a:t>
                      </a: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4" action="ppaction://hlinksldjump"/>
                        </a:rPr>
                        <a:t>Resilience and High Availability</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hlinkClick r:id="rId4" action="ppaction://hlinksldjump"/>
                        </a:rPr>
                        <a:t>)</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602485621"/>
                  </a:ext>
                </a:extLst>
              </a:tr>
              <a:tr h="612877">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تصميم الحلول التقنية التي يمكنها التوسع لتلبية الطلب المتزايد وتوفير أداء مثالي تحت أعباء العمل المتنوعة. وضرورة التوقع للنمو المستقبلي وضمان أن الأنظمة يمكن أن تتعامل مع زيادة حركة المرور أو متطلبات المعالجة بدون تدهور في الأداء</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5" action="ppaction://hlinksldjump"/>
                        </a:rPr>
                        <a:t>TP04</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hlinkClick r:id="rId5" action="ppaction://hlinksldjump"/>
                        </a:rPr>
                        <a:t>: </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5" action="ppaction://hlinksldjump"/>
                        </a:rPr>
                        <a:t>قابلية التوسع والأداء (</a:t>
                      </a: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5" action="ppaction://hlinksldjump"/>
                        </a:rPr>
                        <a:t>Scalability and Performance</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hlinkClick r:id="rId5" action="ppaction://hlinksldjump"/>
                        </a:rPr>
                        <a:t>)</a:t>
                      </a:r>
                      <a:endParaRPr lang="en-US"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1200409264"/>
                  </a:ext>
                </a:extLst>
              </a:tr>
              <a:tr h="452093">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يجب أن تتوافق البرامج والأجهزة مع المعايير المحددة التي تعزز قابلية التشغيل المتبادل للبيانات والتطبيقات والتقنية</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6" action="ppaction://hlinksldjump"/>
                        </a:rPr>
                        <a:t>TP05</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hlinkClick r:id="rId6" action="ppaction://hlinksldjump"/>
                        </a:rPr>
                        <a:t>: </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hlinkClick r:id="rId6" action="ppaction://hlinksldjump"/>
                        </a:rPr>
                        <a:t>التوافق التشغيلي البيني (</a:t>
                      </a: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hlinkClick r:id="rId6" action="ppaction://hlinksldjump"/>
                        </a:rPr>
                        <a:t>Interoperability</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hlinkClick r:id="rId6" action="ppaction://hlinksldjump"/>
                        </a:rPr>
                        <a:t>)</a:t>
                      </a:r>
                      <a:endParaRPr lang="en-US"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1998998549"/>
                  </a:ext>
                </a:extLst>
              </a:tr>
            </a:tbl>
          </a:graphicData>
        </a:graphic>
      </p:graphicFrame>
      <p:sp>
        <p:nvSpPr>
          <p:cNvPr id="7" name="Title 1">
            <a:extLst>
              <a:ext uri="{FF2B5EF4-FFF2-40B4-BE49-F238E27FC236}">
                <a16:creationId xmlns:a16="http://schemas.microsoft.com/office/drawing/2014/main" id="{DBF8E3A0-6568-6D24-355C-DFD8E076B519}"/>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مبادئ بنية التقنية</a:t>
            </a:r>
            <a:endParaRPr lang="en-US" dirty="0"/>
          </a:p>
        </p:txBody>
      </p:sp>
    </p:spTree>
    <p:extLst>
      <p:ext uri="{BB962C8B-B14F-4D97-AF65-F5344CB8AC3E}">
        <p14:creationId xmlns:p14="http://schemas.microsoft.com/office/powerpoint/2010/main" val="185385865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50</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TP01</a:t>
            </a:r>
            <a:r>
              <a:rPr lang="ar-SA" dirty="0"/>
              <a:t>: السحابة أولا</a:t>
            </a:r>
            <a:r>
              <a:rPr lang="ar-EG" dirty="0"/>
              <a:t> (</a:t>
            </a:r>
            <a:r>
              <a:rPr lang="en-US" dirty="0"/>
              <a:t>Cloud First</a:t>
            </a:r>
            <a:r>
              <a:rPr lang="ar-EG" dirty="0"/>
              <a:t>)</a:t>
            </a:r>
            <a:r>
              <a:rPr lang="ar-SA" dirty="0"/>
              <a:t>"</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3895855292"/>
              </p:ext>
            </p:extLst>
          </p:nvPr>
        </p:nvGraphicFramePr>
        <p:xfrm>
          <a:off x="788319" y="1268997"/>
          <a:ext cx="10615362" cy="4678680"/>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295771">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السحابة أولا </a:t>
                      </a:r>
                      <a:r>
                        <a:rPr lang="ar-EG" sz="1800" baseline="0" dirty="0">
                          <a:solidFill>
                            <a:schemeClr val="tx1"/>
                          </a:solidFill>
                          <a:latin typeface="Sakkal Majalla" panose="02000000000000000000" pitchFamily="2" charset="-78"/>
                          <a:cs typeface="Sakkal Majalla" panose="02000000000000000000" pitchFamily="2" charset="-78"/>
                        </a:rPr>
                        <a:t>(</a:t>
                      </a:r>
                      <a:r>
                        <a:rPr lang="en-US" sz="1800" baseline="0" dirty="0">
                          <a:solidFill>
                            <a:schemeClr val="tx1"/>
                          </a:solidFill>
                          <a:latin typeface="Sakkal Majalla" panose="02000000000000000000" pitchFamily="2" charset="-78"/>
                          <a:cs typeface="Sakkal Majalla" panose="02000000000000000000" pitchFamily="2" charset="-78"/>
                        </a:rPr>
                        <a:t>Cloud First</a:t>
                      </a:r>
                      <a:r>
                        <a:rPr lang="ar-EG" sz="1800" baseline="0" dirty="0">
                          <a:solidFill>
                            <a:schemeClr val="tx1"/>
                          </a:solidFill>
                          <a:latin typeface="Sakkal Majalla" panose="02000000000000000000" pitchFamily="2" charset="-78"/>
                          <a:cs typeface="Sakkal Majalla" panose="02000000000000000000" pitchFamily="2" charset="-78"/>
                        </a:rPr>
                        <a:t>)</a:t>
                      </a:r>
                      <a:endParaRPr lang="en-US" sz="18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TP01</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271124">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أن تكون الحوسبة السحابية جزءا أساسيا من استراتيجية البنية التقنية.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659605">
                <a:tc gridSpan="3">
                  <a:txBody>
                    <a:bodyPr/>
                    <a:lstStyle/>
                    <a:p>
                      <a:pPr marL="285750" marR="0" lvl="0" indent="-285750" algn="r" defTabSz="914400" rtl="1" eaLnBrk="1" fontAlgn="auto" latinLnBrk="0" hangingPunct="1">
                        <a:lnSpc>
                          <a:spcPct val="100000"/>
                        </a:lnSpc>
                        <a:spcBef>
                          <a:spcPts val="3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ضمان توفير الخدمات حيث توفر خدمات الحوسبة السحابية وقت تشغيل مرتفع مقارنة بالتنفيذ المحلي وتساهم في تسريع التحول الرقمي </a:t>
                      </a:r>
                      <a:r>
                        <a:rPr lang="ar-EG" sz="1600" baseline="0" dirty="0">
                          <a:solidFill>
                            <a:schemeClr val="tx1"/>
                          </a:solidFill>
                          <a:latin typeface="Sakkal Majalla" panose="02000000000000000000" pitchFamily="2" charset="-78"/>
                          <a:cs typeface="Sakkal Majalla" panose="02000000000000000000" pitchFamily="2" charset="-78"/>
                        </a:rPr>
                        <a:t>للهيئة</a:t>
                      </a:r>
                      <a:r>
                        <a:rPr lang="ar-SA" sz="1600" baseline="0" dirty="0">
                          <a:solidFill>
                            <a:schemeClr val="tx1"/>
                          </a:solidFill>
                          <a:latin typeface="Sakkal Majalla" panose="02000000000000000000" pitchFamily="2" charset="-78"/>
                          <a:cs typeface="Sakkal Majalla" panose="02000000000000000000" pitchFamily="2" charset="-78"/>
                        </a:rPr>
                        <a:t> من خلال اعتماد أحدث التقنيات المتطورة</a:t>
                      </a:r>
                    </a:p>
                    <a:p>
                      <a:pPr marL="285750" marR="0" lvl="0" indent="-285750" algn="r" defTabSz="914400" rtl="1" eaLnBrk="1" fontAlgn="auto" latinLnBrk="0" hangingPunct="1">
                        <a:lnSpc>
                          <a:spcPct val="100000"/>
                        </a:lnSpc>
                        <a:spcBef>
                          <a:spcPts val="3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 توفير الموارد عند الطلب، والقدرة على التوسع بسرعة، ونماذج تسعير تعتمد على الاستخدام</a:t>
                      </a:r>
                    </a:p>
                    <a:p>
                      <a:pPr marL="285750" marR="0" lvl="0" indent="-285750" algn="r" defTabSz="914400" rtl="1" eaLnBrk="1" fontAlgn="auto" latinLnBrk="0" hangingPunct="1">
                        <a:lnSpc>
                          <a:spcPct val="100000"/>
                        </a:lnSpc>
                        <a:spcBef>
                          <a:spcPts val="3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تقليل التكاليف الرأسمالية وتحسين السرعة وتسريع </a:t>
                      </a:r>
                      <a:r>
                        <a:rPr lang="ar-EG" sz="1600" baseline="0" dirty="0">
                          <a:solidFill>
                            <a:schemeClr val="tx1"/>
                          </a:solidFill>
                          <a:latin typeface="Sakkal Majalla" panose="02000000000000000000" pitchFamily="2" charset="-78"/>
                          <a:cs typeface="Sakkal Majalla" panose="02000000000000000000" pitchFamily="2" charset="-78"/>
                        </a:rPr>
                        <a:t>وقت توفير ا</a:t>
                      </a:r>
                      <a:r>
                        <a:rPr lang="ar-SA" sz="1600" baseline="0" dirty="0">
                          <a:solidFill>
                            <a:schemeClr val="tx1"/>
                          </a:solidFill>
                          <a:latin typeface="Sakkal Majalla" panose="02000000000000000000" pitchFamily="2" charset="-78"/>
                          <a:cs typeface="Sakkal Majalla" panose="02000000000000000000" pitchFamily="2" charset="-78"/>
                        </a:rPr>
                        <a:t>لخدمات الجديدة</a:t>
                      </a:r>
                    </a:p>
                    <a:p>
                      <a:pPr marL="285750" marR="0" lvl="0" indent="-285750" algn="r" defTabSz="914400" rtl="1" eaLnBrk="1" fontAlgn="auto" latinLnBrk="0" hangingPunct="1">
                        <a:lnSpc>
                          <a:spcPct val="100000"/>
                        </a:lnSpc>
                        <a:spcBef>
                          <a:spcPts val="3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الوصول إلى مجموعة متنوعة من الخدمات المُدارة، مما يتيح للمؤسسات تخفيف الأعباء التشغيلية والتركيز على الأنشطة الأساسية للعمل</a:t>
                      </a:r>
                    </a:p>
                    <a:p>
                      <a:pPr marL="285750" marR="0" lvl="0" indent="-285750" algn="r" defTabSz="914400" rtl="1" eaLnBrk="1" fontAlgn="auto" latinLnBrk="0" hangingPunct="1">
                        <a:lnSpc>
                          <a:spcPct val="100000"/>
                        </a:lnSpc>
                        <a:spcBef>
                          <a:spcPts val="3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الاستفادة من المرونة والقدرة على التوسع والكفاءة التي توفرها منصات الحوسبة السحابية لتلبية احتياجات الأعمال المتغيرة وبالتالي التقليل من امتلاك مراكز البيانات والأجهزة والمهام التشغيلية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1762303">
                <a:tc gridSpan="3">
                  <a:txBody>
                    <a:bodyPr/>
                    <a:lstStyle/>
                    <a:p>
                      <a:pPr marL="285750" marR="0" lvl="0" indent="-285750" algn="r" defTabSz="914400" rtl="1" eaLnBrk="1" fontAlgn="auto" latinLnBrk="0" hangingPunct="1">
                        <a:lnSpc>
                          <a:spcPct val="100000"/>
                        </a:lnSpc>
                        <a:spcBef>
                          <a:spcPts val="3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تطوير إطار عمل الخدمات/ التطبيقات السحابية لتسهيل اعتماده وتطبيقه</a:t>
                      </a:r>
                    </a:p>
                    <a:p>
                      <a:pPr marL="285750" marR="0" lvl="0" indent="-285750" algn="r" defTabSz="914400" rtl="1" eaLnBrk="1" fontAlgn="auto" latinLnBrk="0" hangingPunct="1">
                        <a:lnSpc>
                          <a:spcPct val="100000"/>
                        </a:lnSpc>
                        <a:spcBef>
                          <a:spcPts val="3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التكامل بين إجراءات الإدارات</a:t>
                      </a:r>
                    </a:p>
                    <a:p>
                      <a:pPr marL="285750" marR="0" lvl="0" indent="-285750" algn="r" defTabSz="914400" rtl="1" eaLnBrk="1" fontAlgn="auto" latinLnBrk="0" hangingPunct="1">
                        <a:lnSpc>
                          <a:spcPct val="100000"/>
                        </a:lnSpc>
                        <a:spcBef>
                          <a:spcPts val="3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تطوير الاتفاقيات الإطارية في تقديم الخدمات السحابية</a:t>
                      </a:r>
                    </a:p>
                    <a:p>
                      <a:pPr marL="285750" marR="0" lvl="0" indent="-285750" algn="r" defTabSz="914400" rtl="1" eaLnBrk="1" fontAlgn="auto" latinLnBrk="0" hangingPunct="1">
                        <a:lnSpc>
                          <a:spcPct val="100000"/>
                        </a:lnSpc>
                        <a:spcBef>
                          <a:spcPts val="3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استخدام الحوسبة السحابية نهجا استراتيجيا لنقل الأعباء العملية وإدارة البيانات والأمان </a:t>
                      </a:r>
                    </a:p>
                    <a:p>
                      <a:pPr marL="285750" marR="0" lvl="0" indent="-285750" algn="r" defTabSz="914400" rtl="1" eaLnBrk="1" fontAlgn="auto" latinLnBrk="0" hangingPunct="1">
                        <a:lnSpc>
                          <a:spcPct val="100000"/>
                        </a:lnSpc>
                        <a:spcBef>
                          <a:spcPts val="3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تقييم مدى ملاءمة نماذج الحوسبة السحابية المختلفة (العامة، الخاصة، المشتركة في الموقع, الهجينة) استنادًا إلى الأداء والامتثال واعتبارات التكلفة</a:t>
                      </a:r>
                    </a:p>
                    <a:p>
                      <a:pPr marL="285750" marR="0" lvl="0" indent="-285750" algn="r" defTabSz="914400" rtl="1" eaLnBrk="1" fontAlgn="auto" latinLnBrk="0" hangingPunct="1">
                        <a:lnSpc>
                          <a:spcPct val="100000"/>
                        </a:lnSpc>
                        <a:spcBef>
                          <a:spcPts val="3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وضع استراتيجيات لنقل البيانات والأعباء إلى السحابة بطريقة سلسة وفعالة</a:t>
                      </a:r>
                    </a:p>
                    <a:p>
                      <a:pPr marL="285750" marR="0" lvl="0" indent="-285750" algn="r" defTabSz="914400" rtl="1" eaLnBrk="1" fontAlgn="auto" latinLnBrk="0" hangingPunct="1">
                        <a:lnSpc>
                          <a:spcPct val="100000"/>
                        </a:lnSpc>
                        <a:spcBef>
                          <a:spcPts val="30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تنفيذ أطر حوكمة السحابة المتينة، ووضع سياسات واضحة لحماية البيانات والامتثال للمعايير ذات الصلة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8611670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51</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TP02</a:t>
            </a:r>
            <a:r>
              <a:rPr lang="ar-SA" dirty="0"/>
              <a:t>: الأعمال تقود التغيير</a:t>
            </a:r>
            <a:r>
              <a:rPr lang="ar-EG" dirty="0"/>
              <a:t> (</a:t>
            </a:r>
            <a:r>
              <a:rPr lang="en-US" dirty="0"/>
              <a:t>Business led changes</a:t>
            </a:r>
            <a:r>
              <a:rPr lang="ar-EG" dirty="0"/>
              <a:t>)</a:t>
            </a:r>
            <a:r>
              <a:rPr lang="ar-SA" dirty="0"/>
              <a:t>"</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1988922405"/>
              </p:ext>
            </p:extLst>
          </p:nvPr>
        </p:nvGraphicFramePr>
        <p:xfrm>
          <a:off x="788319" y="1268996"/>
          <a:ext cx="10615362" cy="4715297"/>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417676">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الأعمال تقود التغيير</a:t>
                      </a:r>
                      <a:r>
                        <a:rPr lang="ar-EG" sz="1800" baseline="0" dirty="0">
                          <a:solidFill>
                            <a:schemeClr val="tx1"/>
                          </a:solidFill>
                          <a:latin typeface="Sakkal Majalla" panose="02000000000000000000" pitchFamily="2" charset="-78"/>
                          <a:cs typeface="Sakkal Majalla" panose="02000000000000000000" pitchFamily="2" charset="-78"/>
                        </a:rPr>
                        <a:t> </a:t>
                      </a:r>
                      <a:r>
                        <a:rPr lang="ar-SA" sz="1800" baseline="0" dirty="0">
                          <a:solidFill>
                            <a:schemeClr val="tx1"/>
                          </a:solidFill>
                          <a:latin typeface="Sakkal Majalla" panose="02000000000000000000" pitchFamily="2" charset="-78"/>
                          <a:cs typeface="Sakkal Majalla" panose="02000000000000000000" pitchFamily="2" charset="-78"/>
                        </a:rPr>
                        <a:t>(</a:t>
                      </a:r>
                      <a:r>
                        <a:rPr lang="en-US" sz="1800" baseline="0" dirty="0">
                          <a:solidFill>
                            <a:schemeClr val="tx1"/>
                          </a:solidFill>
                          <a:latin typeface="Sakkal Majalla" panose="02000000000000000000" pitchFamily="2" charset="-78"/>
                          <a:cs typeface="Sakkal Majalla" panose="02000000000000000000" pitchFamily="2" charset="-78"/>
                        </a:rPr>
                        <a:t>Business led changes</a:t>
                      </a:r>
                      <a:r>
                        <a:rPr lang="ar-EG" sz="1800" baseline="0" dirty="0">
                          <a:solidFill>
                            <a:schemeClr val="tx1"/>
                          </a:solidFill>
                          <a:latin typeface="Sakkal Majalla" panose="02000000000000000000" pitchFamily="2" charset="-78"/>
                          <a:cs typeface="Sakkal Majalla" panose="02000000000000000000" pitchFamily="2" charset="-78"/>
                        </a:rPr>
                        <a:t>)</a:t>
                      </a:r>
                      <a:endParaRPr lang="en-US" sz="18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TP02</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382870">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الاستجابة لاحتياجات ومتطلبات العمل، والتخطيط لتغييراتها في التطبيقات والتقنية وفقا لذلك</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831898">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حيث إن الأعمال هي المحرك الأساسي </a:t>
                      </a:r>
                      <a:r>
                        <a:rPr lang="ar-EG" sz="1600" baseline="0" dirty="0">
                          <a:solidFill>
                            <a:schemeClr val="tx1"/>
                          </a:solidFill>
                          <a:latin typeface="Sakkal Majalla" panose="02000000000000000000" pitchFamily="2" charset="-78"/>
                          <a:cs typeface="Sakkal Majalla" panose="02000000000000000000" pitchFamily="2" charset="-78"/>
                        </a:rPr>
                        <a:t>للهيئة</a:t>
                      </a:r>
                      <a:r>
                        <a:rPr lang="ar-SA" sz="1600" baseline="0" dirty="0">
                          <a:solidFill>
                            <a:schemeClr val="tx1"/>
                          </a:solidFill>
                          <a:latin typeface="Sakkal Majalla" panose="02000000000000000000" pitchFamily="2" charset="-78"/>
                          <a:cs typeface="Sakkal Majalla" panose="02000000000000000000" pitchFamily="2" charset="-78"/>
                        </a:rPr>
                        <a:t> فيجب على التطبيقات والتقنية الموائمة مع التغييرات لدعم وتحسين أعمال الهيئة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082853">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يتم اعتماد التغييرات في التنفيذ بعد مراجعة شاملة ودقيقة للمقترحات المطروحة، ضمن إطار عمل البنية المؤسسية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لا يوجد تمويل لتطوير الأنظمة والبنية التقنية ما لم تكن هناك حاجة عمل موثقة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قد يتعارض هذا المبدأ مع مبدأ الاستجابة للتغيرات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يجب أن تضمن </a:t>
                      </a:r>
                      <a:r>
                        <a:rPr lang="ar-EG" sz="1600" baseline="0" dirty="0">
                          <a:solidFill>
                            <a:schemeClr val="tx1"/>
                          </a:solidFill>
                          <a:latin typeface="Sakkal Majalla" panose="02000000000000000000" pitchFamily="2" charset="-78"/>
                          <a:cs typeface="Sakkal Majalla" panose="02000000000000000000" pitchFamily="2" charset="-78"/>
                        </a:rPr>
                        <a:t>الهيئة</a:t>
                      </a:r>
                      <a:r>
                        <a:rPr lang="ar-SA" sz="1600" baseline="0" dirty="0">
                          <a:solidFill>
                            <a:schemeClr val="tx1"/>
                          </a:solidFill>
                          <a:latin typeface="Sakkal Majalla" panose="02000000000000000000" pitchFamily="2" charset="-78"/>
                          <a:cs typeface="Sakkal Majalla" panose="02000000000000000000" pitchFamily="2" charset="-78"/>
                        </a:rPr>
                        <a:t> أن متطلبات إجراءات التوثيق لا تعيق استجابة التغيير لتلبية احتياجات العمل المشروعة حيث إن الغرض من هذا المبدأ هو الحفاظ على التركيز على الأعمال، وليس احتياجات التقنية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26172083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52</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921895" y="408242"/>
            <a:ext cx="10431905"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TP03</a:t>
            </a:r>
            <a:r>
              <a:rPr lang="ar-SA" dirty="0"/>
              <a:t>: المرونة والتوافرية العالية</a:t>
            </a:r>
            <a:r>
              <a:rPr lang="ar-EG" dirty="0"/>
              <a:t> (</a:t>
            </a:r>
            <a:r>
              <a:rPr lang="en-US" dirty="0"/>
              <a:t>Resilience and High Availability</a:t>
            </a:r>
            <a:r>
              <a:rPr lang="ar-EG" dirty="0"/>
              <a:t>)</a:t>
            </a:r>
            <a:r>
              <a:rPr lang="ar-SA" dirty="0"/>
              <a:t>"</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3438900797"/>
              </p:ext>
            </p:extLst>
          </p:nvPr>
        </p:nvGraphicFramePr>
        <p:xfrm>
          <a:off x="788319" y="1268997"/>
          <a:ext cx="10615362" cy="4658837"/>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349274">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المرونة والتوافرية العالية</a:t>
                      </a:r>
                      <a:r>
                        <a:rPr lang="ar-EG" sz="1800" baseline="0" dirty="0">
                          <a:solidFill>
                            <a:schemeClr val="tx1"/>
                          </a:solidFill>
                          <a:latin typeface="Sakkal Majalla" panose="02000000000000000000" pitchFamily="2" charset="-78"/>
                          <a:cs typeface="Sakkal Majalla" panose="02000000000000000000" pitchFamily="2" charset="-78"/>
                        </a:rPr>
                        <a:t> (</a:t>
                      </a:r>
                      <a:r>
                        <a:rPr lang="en-US" sz="1800" baseline="0" dirty="0">
                          <a:solidFill>
                            <a:schemeClr val="tx1"/>
                          </a:solidFill>
                          <a:latin typeface="Sakkal Majalla" panose="02000000000000000000" pitchFamily="2" charset="-78"/>
                          <a:cs typeface="Sakkal Majalla" panose="02000000000000000000" pitchFamily="2" charset="-78"/>
                        </a:rPr>
                        <a:t>Resilience and High Availability</a:t>
                      </a:r>
                      <a:r>
                        <a:rPr lang="ar-EG" sz="1800" baseline="0" dirty="0">
                          <a:solidFill>
                            <a:schemeClr val="tx1"/>
                          </a:solidFill>
                          <a:latin typeface="Sakkal Majalla" panose="02000000000000000000" pitchFamily="2" charset="-78"/>
                          <a:cs typeface="Sakkal Majalla" panose="02000000000000000000" pitchFamily="2" charset="-78"/>
                        </a:rPr>
                        <a:t>)</a:t>
                      </a:r>
                      <a:endParaRPr lang="en-US" sz="18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TP03</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553017">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تبني التكرارية في جميع طبقات الشبكة وفي حال فشل أحد المكونات يستمر النظام في العمل على النحو الأمثل دون أي تأثير على مستويات الخدمة لضمان استمرارية الأعمال</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458437">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يمكن أن يكون الوقت الذي يتوقف فيه النظام له عواقب خطيرة على </a:t>
                      </a:r>
                      <a:r>
                        <a:rPr lang="ar-EG" sz="1600" baseline="0" dirty="0">
                          <a:solidFill>
                            <a:schemeClr val="tx1"/>
                          </a:solidFill>
                          <a:latin typeface="Sakkal Majalla" panose="02000000000000000000" pitchFamily="2" charset="-78"/>
                          <a:cs typeface="Sakkal Majalla" panose="02000000000000000000" pitchFamily="2" charset="-78"/>
                        </a:rPr>
                        <a:t>الهيئة</a:t>
                      </a:r>
                      <a:r>
                        <a:rPr lang="ar-SA" sz="1600" baseline="0" dirty="0">
                          <a:solidFill>
                            <a:schemeClr val="tx1"/>
                          </a:solidFill>
                          <a:latin typeface="Sakkal Majalla" panose="02000000000000000000" pitchFamily="2" charset="-78"/>
                          <a:cs typeface="Sakkal Majalla" panose="02000000000000000000" pitchFamily="2" charset="-78"/>
                        </a:rPr>
                        <a:t>، مما يؤدي إلى وانخفاض الإنتاجية، والضرر بالسمعة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تضمن البنية التحتية المتينة استمرارية العمليات من خلال تقليل تأثير الأعطال وتمكين الاستعادة السريعة من الانقطاعات</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153855">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يجب تصميم الخدمات بحيث تتحمل عطل المكونات/النظام وفي حال فشل أحد المكونات يستمر النظام في العمل على النحو الأمثل دون أي تأثير على مستويات الخدمة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يجب تصميم أنظمة مع تكرار الموارد على مستويات متعددة، بما في ذلك الاتصال بالشبكة والتخزين وموارد الحوسبة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 يجب تنفيذ بنية مقاومة للأخطاء</a:t>
                      </a:r>
                      <a:r>
                        <a:rPr lang="ar-EG" sz="1600" baseline="0" dirty="0">
                          <a:solidFill>
                            <a:schemeClr val="tx1"/>
                          </a:solidFill>
                          <a:latin typeface="Sakkal Majalla" panose="02000000000000000000" pitchFamily="2" charset="-78"/>
                          <a:cs typeface="Sakkal Majalla" panose="02000000000000000000" pitchFamily="2" charset="-78"/>
                        </a:rPr>
                        <a:t> </a:t>
                      </a:r>
                      <a:r>
                        <a:rPr lang="ar-SA" sz="1600" baseline="0" dirty="0">
                          <a:solidFill>
                            <a:schemeClr val="tx1"/>
                          </a:solidFill>
                          <a:latin typeface="Sakkal Majalla" panose="02000000000000000000" pitchFamily="2" charset="-78"/>
                          <a:cs typeface="Sakkal Majalla" panose="02000000000000000000" pitchFamily="2" charset="-78"/>
                        </a:rPr>
                        <a:t>(</a:t>
                      </a:r>
                      <a:r>
                        <a:rPr lang="en-US" sz="1600" baseline="0" dirty="0">
                          <a:solidFill>
                            <a:schemeClr val="tx1"/>
                          </a:solidFill>
                          <a:latin typeface="Sakkal Majalla" panose="02000000000000000000" pitchFamily="2" charset="-78"/>
                          <a:cs typeface="Sakkal Majalla" panose="02000000000000000000" pitchFamily="2" charset="-78"/>
                        </a:rPr>
                        <a:t>fault-tolerant architecture</a:t>
                      </a:r>
                      <a:r>
                        <a:rPr lang="ar-EG" sz="1600" baseline="0" dirty="0">
                          <a:solidFill>
                            <a:schemeClr val="tx1"/>
                          </a:solidFill>
                          <a:latin typeface="Sakkal Majalla" panose="02000000000000000000" pitchFamily="2" charset="-78"/>
                          <a:cs typeface="Sakkal Majalla" panose="02000000000000000000" pitchFamily="2" charset="-78"/>
                        </a:rPr>
                        <a:t>) </a:t>
                      </a:r>
                      <a:r>
                        <a:rPr lang="ar-SA" sz="1600" baseline="0" dirty="0">
                          <a:solidFill>
                            <a:schemeClr val="tx1"/>
                          </a:solidFill>
                          <a:latin typeface="Sakkal Majalla" panose="02000000000000000000" pitchFamily="2" charset="-78"/>
                          <a:cs typeface="Sakkal Majalla" panose="02000000000000000000" pitchFamily="2" charset="-78"/>
                        </a:rPr>
                        <a:t>مثل التكوينات النشطة - النشطة أو النشطة – السلبية</a:t>
                      </a:r>
                      <a:r>
                        <a:rPr lang="ar-EG" sz="1600" baseline="0" dirty="0">
                          <a:solidFill>
                            <a:schemeClr val="tx1"/>
                          </a:solidFill>
                          <a:latin typeface="Sakkal Majalla" panose="02000000000000000000" pitchFamily="2" charset="-78"/>
                          <a:cs typeface="Sakkal Majalla" panose="02000000000000000000" pitchFamily="2" charset="-78"/>
                        </a:rPr>
                        <a:t> (</a:t>
                      </a:r>
                      <a:r>
                        <a:rPr lang="en-US" sz="1600" baseline="0" dirty="0">
                          <a:solidFill>
                            <a:schemeClr val="tx1"/>
                          </a:solidFill>
                          <a:latin typeface="Sakkal Majalla" panose="02000000000000000000" pitchFamily="2" charset="-78"/>
                          <a:cs typeface="Sakkal Majalla" panose="02000000000000000000" pitchFamily="2" charset="-78"/>
                        </a:rPr>
                        <a:t>active-active or active-passive</a:t>
                      </a:r>
                      <a:r>
                        <a:rPr lang="ar-EG" sz="1600" baseline="0" dirty="0">
                          <a:solidFill>
                            <a:schemeClr val="tx1"/>
                          </a:solidFill>
                          <a:latin typeface="Sakkal Majalla" panose="02000000000000000000" pitchFamily="2" charset="-78"/>
                          <a:cs typeface="Sakkal Majalla" panose="02000000000000000000" pitchFamily="2" charset="-78"/>
                        </a:rPr>
                        <a:t>)</a:t>
                      </a:r>
                      <a:endParaRPr lang="en-US" sz="1600" baseline="0" dirty="0">
                        <a:solidFill>
                          <a:schemeClr val="tx1"/>
                        </a:solidFill>
                        <a:latin typeface="Sakkal Majalla" panose="02000000000000000000" pitchFamily="2" charset="-78"/>
                        <a:cs typeface="Sakkal Majalla" panose="02000000000000000000" pitchFamily="2" charset="-78"/>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والاستفادة من التقنيات مثل توازن الحمل</a:t>
                      </a:r>
                      <a:r>
                        <a:rPr lang="ar-EG" sz="1600" baseline="0" dirty="0">
                          <a:solidFill>
                            <a:schemeClr val="tx1"/>
                          </a:solidFill>
                          <a:latin typeface="Sakkal Majalla" panose="02000000000000000000" pitchFamily="2" charset="-78"/>
                          <a:cs typeface="Sakkal Majalla" panose="02000000000000000000" pitchFamily="2" charset="-78"/>
                        </a:rPr>
                        <a:t> (</a:t>
                      </a:r>
                      <a:r>
                        <a:rPr lang="en-US" sz="1600" baseline="0" dirty="0">
                          <a:solidFill>
                            <a:schemeClr val="tx1"/>
                          </a:solidFill>
                          <a:latin typeface="Sakkal Majalla" panose="02000000000000000000" pitchFamily="2" charset="-78"/>
                          <a:cs typeface="Sakkal Majalla" panose="02000000000000000000" pitchFamily="2" charset="-78"/>
                        </a:rPr>
                        <a:t>Load Balancing</a:t>
                      </a:r>
                      <a:r>
                        <a:rPr lang="ar-EG" sz="1600" baseline="0" dirty="0">
                          <a:solidFill>
                            <a:schemeClr val="tx1"/>
                          </a:solidFill>
                          <a:latin typeface="Sakkal Majalla" panose="02000000000000000000" pitchFamily="2" charset="-78"/>
                          <a:cs typeface="Sakkal Majalla" panose="02000000000000000000" pitchFamily="2" charset="-78"/>
                        </a:rPr>
                        <a:t>) </a:t>
                      </a:r>
                      <a:r>
                        <a:rPr lang="ar-SA" sz="1600" baseline="0" dirty="0">
                          <a:solidFill>
                            <a:schemeClr val="tx1"/>
                          </a:solidFill>
                          <a:latin typeface="Sakkal Majalla" panose="02000000000000000000" pitchFamily="2" charset="-78"/>
                          <a:cs typeface="Sakkal Majalla" panose="02000000000000000000" pitchFamily="2" charset="-78"/>
                        </a:rPr>
                        <a:t>والتجميع والتكرار لضمان توافر مستمر للخدمات الحرجة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28322960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53</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1379095" y="408242"/>
            <a:ext cx="9974705"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TP04</a:t>
            </a:r>
            <a:r>
              <a:rPr lang="ar-SA" dirty="0"/>
              <a:t>: قابلية التوسع والأداء</a:t>
            </a:r>
            <a:r>
              <a:rPr lang="ar-EG" dirty="0"/>
              <a:t> (</a:t>
            </a:r>
            <a:r>
              <a:rPr lang="en-US" dirty="0"/>
              <a:t>Scalability and Performance</a:t>
            </a:r>
            <a:r>
              <a:rPr lang="ar-EG" dirty="0"/>
              <a:t>)</a:t>
            </a:r>
            <a:r>
              <a:rPr lang="ar-SA" dirty="0"/>
              <a:t>"</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2859734003"/>
              </p:ext>
            </p:extLst>
          </p:nvPr>
        </p:nvGraphicFramePr>
        <p:xfrm>
          <a:off x="788319" y="1268997"/>
          <a:ext cx="10615362" cy="4710527"/>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402073">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قابلية التوسع والأداء</a:t>
                      </a:r>
                      <a:r>
                        <a:rPr lang="ar-EG" sz="1800" baseline="0" dirty="0">
                          <a:solidFill>
                            <a:schemeClr val="tx1"/>
                          </a:solidFill>
                          <a:latin typeface="Sakkal Majalla" panose="02000000000000000000" pitchFamily="2" charset="-78"/>
                          <a:cs typeface="Sakkal Majalla" panose="02000000000000000000" pitchFamily="2" charset="-78"/>
                        </a:rPr>
                        <a:t> (</a:t>
                      </a:r>
                      <a:r>
                        <a:rPr lang="en-US" sz="1800" baseline="0" dirty="0">
                          <a:solidFill>
                            <a:schemeClr val="tx1"/>
                          </a:solidFill>
                          <a:latin typeface="Sakkal Majalla" panose="02000000000000000000" pitchFamily="2" charset="-78"/>
                          <a:cs typeface="Sakkal Majalla" panose="02000000000000000000" pitchFamily="2" charset="-78"/>
                        </a:rPr>
                        <a:t>Scalability and Performance</a:t>
                      </a:r>
                      <a:r>
                        <a:rPr lang="ar-EG" sz="1800" baseline="0" dirty="0">
                          <a:solidFill>
                            <a:schemeClr val="tx1"/>
                          </a:solidFill>
                          <a:latin typeface="Sakkal Majalla" panose="02000000000000000000" pitchFamily="2" charset="-78"/>
                          <a:cs typeface="Sakkal Majalla" panose="02000000000000000000" pitchFamily="2" charset="-78"/>
                        </a:rPr>
                        <a:t>)</a:t>
                      </a:r>
                      <a:endParaRPr lang="en-US" sz="18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TP04</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557486">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تصميم الحلول التقنية التي يمكنها التوسع لتلبية الطلب المتزايد وتوفير أداء مثالي تحت أعباء العمل المتنوعة. وضرورة التوقع للنمو المستقبلي وضمان أن الأنظمة يمكن أن تتعامل مع زيادة حركة المرور أو متطلبات المعالجة بدون تدهور في الأداء</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724290">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القابلية للتوسع والأداء هما عوامل حاسمة في تلبية توقعات المستخدمين ودعم نمو الأعمال والحفاظ على التنافسية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الأنظمة التي يمكنها التوسع أفقي</a:t>
                      </a:r>
                      <a:r>
                        <a:rPr lang="ar-EG" sz="1600" baseline="0" dirty="0">
                          <a:solidFill>
                            <a:schemeClr val="tx1"/>
                          </a:solidFill>
                          <a:latin typeface="Sakkal Majalla" panose="02000000000000000000" pitchFamily="2" charset="-78"/>
                          <a:cs typeface="Sakkal Majalla" panose="02000000000000000000" pitchFamily="2" charset="-78"/>
                        </a:rPr>
                        <a:t>ا</a:t>
                      </a:r>
                      <a:r>
                        <a:rPr lang="ar-SA" sz="1600" baseline="0" dirty="0">
                          <a:solidFill>
                            <a:schemeClr val="tx1"/>
                          </a:solidFill>
                          <a:latin typeface="Sakkal Majalla" panose="02000000000000000000" pitchFamily="2" charset="-78"/>
                          <a:cs typeface="Sakkal Majalla" panose="02000000000000000000" pitchFamily="2" charset="-78"/>
                        </a:rPr>
                        <a:t> أو رأسيا واستخدام الموارد بكفاءة يمكنها تقديم أداء واستجابة متفوقة، حتى تحت أعباء متوسطة أو في ظروف غير مواتية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005044">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يجب تصميم الأنظمة والحلول التقنية مع الأخذ بعين الاعتبار قابلية التوسع والأداء من البداية، باعتبار عوامل مثل التوازن في التحميل، والتخزين المؤقت ، والمعالجة الغير متزامنة ، والتوزيع الموازي</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يجب إجراء تمارين التخطيط للقدرة لتوقع الطلب المستقبلي وضمان قدرة الأنظمة على التوسع وفقا لذلك</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يجب أن تكون اختبارات الأداء والتحسين جزءا أساسيا من دورة حياة التطوير، مع مراجعات دورية لتحديد ومعالجة الضغط في الأداء </a:t>
                      </a:r>
                      <a:r>
                        <a:rPr lang="en-US" sz="1600" baseline="0" dirty="0">
                          <a:solidFill>
                            <a:schemeClr val="tx1"/>
                          </a:solidFill>
                          <a:latin typeface="Sakkal Majalla" panose="02000000000000000000" pitchFamily="2" charset="-78"/>
                          <a:cs typeface="Sakkal Majalla" panose="02000000000000000000" pitchFamily="2" charset="-78"/>
                        </a:rPr>
                        <a:t>Performance Bottlenecks </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23150623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54</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TP05</a:t>
            </a:r>
            <a:r>
              <a:rPr lang="ar-SA" dirty="0"/>
              <a:t>: التوافق التشغيلي</a:t>
            </a:r>
            <a:r>
              <a:rPr lang="ar-EG" dirty="0"/>
              <a:t> </a:t>
            </a:r>
            <a:r>
              <a:rPr lang="ar-SA" dirty="0"/>
              <a:t>البيني </a:t>
            </a:r>
            <a:r>
              <a:rPr lang="ar-EG" dirty="0"/>
              <a:t>(</a:t>
            </a:r>
            <a:r>
              <a:rPr lang="en-US" dirty="0"/>
              <a:t>Interoperability</a:t>
            </a:r>
            <a:r>
              <a:rPr lang="ar-EG" dirty="0"/>
              <a:t>)</a:t>
            </a:r>
            <a:r>
              <a:rPr lang="ar-SA" dirty="0"/>
              <a:t>"</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3030820657"/>
              </p:ext>
            </p:extLst>
          </p:nvPr>
        </p:nvGraphicFramePr>
        <p:xfrm>
          <a:off x="788319" y="1268996"/>
          <a:ext cx="10615362" cy="4674603"/>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417676">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التوافق التشغيلي البيني</a:t>
                      </a:r>
                      <a:r>
                        <a:rPr lang="ar-EG" sz="1800" baseline="0" dirty="0">
                          <a:solidFill>
                            <a:schemeClr val="tx1"/>
                          </a:solidFill>
                          <a:latin typeface="Sakkal Majalla" panose="02000000000000000000" pitchFamily="2" charset="-78"/>
                          <a:cs typeface="Sakkal Majalla" panose="02000000000000000000" pitchFamily="2" charset="-78"/>
                        </a:rPr>
                        <a:t> (</a:t>
                      </a:r>
                      <a:r>
                        <a:rPr lang="en-US" sz="1800" baseline="0" dirty="0">
                          <a:solidFill>
                            <a:schemeClr val="tx1"/>
                          </a:solidFill>
                          <a:latin typeface="Sakkal Majalla" panose="02000000000000000000" pitchFamily="2" charset="-78"/>
                          <a:cs typeface="Sakkal Majalla" panose="02000000000000000000" pitchFamily="2" charset="-78"/>
                        </a:rPr>
                        <a:t>Interoperability</a:t>
                      </a:r>
                      <a:r>
                        <a:rPr lang="ar-EG" sz="1800" baseline="0" dirty="0">
                          <a:solidFill>
                            <a:schemeClr val="tx1"/>
                          </a:solidFill>
                          <a:latin typeface="Sakkal Majalla" panose="02000000000000000000" pitchFamily="2" charset="-78"/>
                          <a:cs typeface="Sakkal Majalla" panose="02000000000000000000" pitchFamily="2" charset="-78"/>
                        </a:rPr>
                        <a:t>)</a:t>
                      </a:r>
                      <a:endParaRPr lang="en-US" sz="18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TP05</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382870">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يجب أن تتوافق البرامج والأجهزة مع المعايير المحددة التي تعزز قابلية التشغيل المتبادل للبيانات والتطبيقات والتقنية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791204">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تساعد المعايير في ضمان الاتساق، وبالتالي تحسين القدرة على إدارة الأنظمة وتحسين رضا المستخدمين، وحماية الاستثمارات الحالية في تقنية المعلومات، وبالتالي تعظيم العائد على الاستثمار وخفض التكاليف</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تساعد معايير التشغيل البيني في ضمان الدعم من العديد من المزودين، وتسهيل تكامل سلسلة التوريد</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082853">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سيتم اتباع معايير التشغيل البيني ومعايير الصناعة ما لم يكن هناك سبب مقنع لتطبيق حل غير قياسي</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يجب إنشاء عملية لوضع المعايير ومراجعتها وتعديلها بشكل دوري ومنح الاستثناءات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يجب تحديد منصات تقنية المعلومات الحالية وتوثيقها</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27202044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FFB14-1A3E-F7ED-0AA7-84DC2D82335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2A4025-BE92-30EF-6A27-0BBA5A7B310D}"/>
              </a:ext>
            </a:extLst>
          </p:cNvPr>
          <p:cNvSpPr>
            <a:spLocks noGrp="1"/>
          </p:cNvSpPr>
          <p:nvPr>
            <p:ph type="title"/>
          </p:nvPr>
        </p:nvSpPr>
        <p:spPr>
          <a:xfrm>
            <a:off x="5262880" y="3925452"/>
            <a:ext cx="6281420" cy="641639"/>
          </a:xfrm>
        </p:spPr>
        <p:txBody>
          <a:bodyPr/>
          <a:lstStyle/>
          <a:p>
            <a:r>
              <a:rPr lang="ar-SA" sz="2800" dirty="0"/>
              <a:t>مبادئ بنية </a:t>
            </a:r>
            <a:r>
              <a:rPr lang="ar-EG" sz="2800" dirty="0"/>
              <a:t>الأمن السيبراني</a:t>
            </a:r>
            <a:endParaRPr lang="en-US" sz="2800" dirty="0"/>
          </a:p>
        </p:txBody>
      </p:sp>
      <p:sp>
        <p:nvSpPr>
          <p:cNvPr id="4" name="Text Placeholder 3">
            <a:extLst>
              <a:ext uri="{FF2B5EF4-FFF2-40B4-BE49-F238E27FC236}">
                <a16:creationId xmlns:a16="http://schemas.microsoft.com/office/drawing/2014/main" id="{CB133C9A-A2BE-F0BC-A917-E52152067184}"/>
              </a:ext>
            </a:extLst>
          </p:cNvPr>
          <p:cNvSpPr>
            <a:spLocks noGrp="1"/>
          </p:cNvSpPr>
          <p:nvPr>
            <p:ph type="body" sz="quarter" idx="14"/>
          </p:nvPr>
        </p:nvSpPr>
        <p:spPr/>
        <p:txBody>
          <a:bodyPr/>
          <a:lstStyle/>
          <a:p>
            <a:r>
              <a:rPr lang="ar-EG" sz="7200" dirty="0"/>
              <a:t>2.6</a:t>
            </a:r>
            <a:endParaRPr lang="en-US" sz="7200" dirty="0"/>
          </a:p>
        </p:txBody>
      </p:sp>
    </p:spTree>
    <p:extLst>
      <p:ext uri="{BB962C8B-B14F-4D97-AF65-F5344CB8AC3E}">
        <p14:creationId xmlns:p14="http://schemas.microsoft.com/office/powerpoint/2010/main" val="3424754956"/>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5489F-EAED-97FB-7066-6ED51B0520D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FC99858-D6DE-7F1C-73F5-52679263396B}"/>
              </a:ext>
            </a:extLst>
          </p:cNvPr>
          <p:cNvSpPr>
            <a:spLocks noGrp="1"/>
          </p:cNvSpPr>
          <p:nvPr>
            <p:ph type="sldNum" sz="quarter" idx="12"/>
          </p:nvPr>
        </p:nvSpPr>
        <p:spPr/>
        <p:txBody>
          <a:bodyPr/>
          <a:lstStyle/>
          <a:p>
            <a:fld id="{0BE4EC83-A869-464E-AE9F-881796FB085E}" type="slidenum">
              <a:rPr lang="en-US" smtClean="0"/>
              <a:t>56</a:t>
            </a:fld>
            <a:endParaRPr lang="en-US" dirty="0"/>
          </a:p>
        </p:txBody>
      </p:sp>
      <p:graphicFrame>
        <p:nvGraphicFramePr>
          <p:cNvPr id="5" name="Table 8">
            <a:extLst>
              <a:ext uri="{FF2B5EF4-FFF2-40B4-BE49-F238E27FC236}">
                <a16:creationId xmlns:a16="http://schemas.microsoft.com/office/drawing/2014/main" id="{E770C29A-ECED-D96D-3691-3AF989216DD6}"/>
              </a:ext>
            </a:extLst>
          </p:cNvPr>
          <p:cNvGraphicFramePr>
            <a:graphicFrameLocks noGrp="1"/>
          </p:cNvGraphicFramePr>
          <p:nvPr>
            <p:extLst>
              <p:ext uri="{D42A27DB-BD31-4B8C-83A1-F6EECF244321}">
                <p14:modId xmlns:p14="http://schemas.microsoft.com/office/powerpoint/2010/main" val="2151597957"/>
              </p:ext>
            </p:extLst>
          </p:nvPr>
        </p:nvGraphicFramePr>
        <p:xfrm>
          <a:off x="621452" y="914354"/>
          <a:ext cx="10949096" cy="2628174"/>
        </p:xfrm>
        <a:graphic>
          <a:graphicData uri="http://schemas.openxmlformats.org/drawingml/2006/table">
            <a:tbl>
              <a:tblPr firstRow="1" bandRow="1">
                <a:tableStyleId>{5C22544A-7EE6-4342-B048-85BDC9FD1C3A}</a:tableStyleId>
              </a:tblPr>
              <a:tblGrid>
                <a:gridCol w="7190137">
                  <a:extLst>
                    <a:ext uri="{9D8B030D-6E8A-4147-A177-3AD203B41FA5}">
                      <a16:colId xmlns:a16="http://schemas.microsoft.com/office/drawing/2014/main" val="637829901"/>
                    </a:ext>
                  </a:extLst>
                </a:gridCol>
                <a:gridCol w="3758959">
                  <a:extLst>
                    <a:ext uri="{9D8B030D-6E8A-4147-A177-3AD203B41FA5}">
                      <a16:colId xmlns:a16="http://schemas.microsoft.com/office/drawing/2014/main" val="543068415"/>
                    </a:ext>
                  </a:extLst>
                </a:gridCol>
              </a:tblGrid>
              <a:tr h="379400">
                <a:tc>
                  <a:txBody>
                    <a:bodyPr/>
                    <a:lstStyle/>
                    <a:p>
                      <a:pPr algn="ctr" rtl="1"/>
                      <a:r>
                        <a:rPr lang="ar-SA" sz="2000" b="1" kern="1200" baseline="0" dirty="0">
                          <a:solidFill>
                            <a:schemeClr val="bg1"/>
                          </a:solidFill>
                          <a:latin typeface="Sakkal Majalla" panose="02000000000000000000" pitchFamily="2" charset="-78"/>
                          <a:ea typeface="+mj-ea"/>
                          <a:cs typeface="Sakkal Majalla" panose="02000000000000000000" pitchFamily="2" charset="-78"/>
                        </a:rPr>
                        <a:t>وصف</a:t>
                      </a:r>
                      <a:r>
                        <a:rPr lang="ar-EG" sz="2000" b="1" kern="1200" baseline="0" dirty="0">
                          <a:solidFill>
                            <a:schemeClr val="bg1"/>
                          </a:solidFill>
                          <a:latin typeface="Sakkal Majalla" panose="02000000000000000000" pitchFamily="2" charset="-78"/>
                          <a:ea typeface="+mj-ea"/>
                          <a:cs typeface="Sakkal Majalla" panose="02000000000000000000" pitchFamily="2" charset="-78"/>
                        </a:rPr>
                        <a:t> المبدأ</a:t>
                      </a:r>
                    </a:p>
                  </a:txBody>
                  <a:tcPr anchor="ctr"/>
                </a:tc>
                <a:tc>
                  <a:txBody>
                    <a:bodyPr/>
                    <a:lstStyle/>
                    <a:p>
                      <a:pPr algn="ctr" rtl="1"/>
                      <a:r>
                        <a:rPr lang="ar-EG" sz="2000" b="1" kern="1200" baseline="0" dirty="0">
                          <a:solidFill>
                            <a:schemeClr val="bg1"/>
                          </a:solidFill>
                          <a:latin typeface="Sakkal Majalla" panose="02000000000000000000" pitchFamily="2" charset="-78"/>
                          <a:ea typeface="+mj-ea"/>
                          <a:cs typeface="Sakkal Majalla" panose="02000000000000000000" pitchFamily="2" charset="-78"/>
                        </a:rPr>
                        <a:t>رمز</a:t>
                      </a:r>
                      <a:r>
                        <a:rPr lang="ar-SA" sz="2000" b="1" kern="1200" baseline="0" dirty="0">
                          <a:solidFill>
                            <a:schemeClr val="bg1"/>
                          </a:solidFill>
                          <a:latin typeface="Sakkal Majalla" panose="02000000000000000000" pitchFamily="2" charset="-78"/>
                          <a:ea typeface="+mj-ea"/>
                          <a:cs typeface="Sakkal Majalla" panose="02000000000000000000" pitchFamily="2" charset="-78"/>
                        </a:rPr>
                        <a:t>: اسم</a:t>
                      </a:r>
                      <a:r>
                        <a:rPr lang="ar-EG" sz="2000" b="1" kern="1200" baseline="0" dirty="0">
                          <a:solidFill>
                            <a:schemeClr val="bg1"/>
                          </a:solidFill>
                          <a:latin typeface="Sakkal Majalla" panose="02000000000000000000" pitchFamily="2" charset="-78"/>
                          <a:ea typeface="+mj-ea"/>
                          <a:cs typeface="Sakkal Majalla" panose="02000000000000000000" pitchFamily="2" charset="-78"/>
                        </a:rPr>
                        <a:t> المبدأ</a:t>
                      </a:r>
                    </a:p>
                  </a:txBody>
                  <a:tcPr anchor="ctr"/>
                </a:tc>
                <a:extLst>
                  <a:ext uri="{0D108BD9-81ED-4DB2-BD59-A6C34878D82A}">
                    <a16:rowId xmlns:a16="http://schemas.microsoft.com/office/drawing/2014/main" val="3194809227"/>
                  </a:ext>
                </a:extLst>
              </a:tr>
              <a:tr h="452093">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تقييد صلاحيات مستخدمي التطبيقات إلى الحد الأدنى اللازم لتنفيذ مهام عملهم</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CSP01</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أقل امتياز </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Least Privilege</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2776434887"/>
                  </a:ext>
                </a:extLst>
              </a:tr>
              <a:tr h="612877">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تطبيق مبدأ "لا تثق أبدا، وتحقق دائما"، والذي يفترض أن التهديدات الأمنية يمكن أن تكون موجودة داخل وخارج حدود الشبكة التقنية في الهيئة</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CSP02</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بنية الثقة الصفرية</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Zero Trust Architecture</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 </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2749343101"/>
                  </a:ext>
                </a:extLst>
              </a:tr>
              <a:tr h="612877">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إنشاء إطار شامل ومركزي  لإدارة الهوية والوصول </a:t>
                      </a:r>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Identity and Access Management (IAM)</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CSP03</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تطبيق أساس قوي للهوية</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Implement a Strong Identity Foundation</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 </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1798928502"/>
                  </a:ext>
                </a:extLst>
              </a:tr>
              <a:tr h="499681">
                <a:tc>
                  <a:txBody>
                    <a:bodyPr/>
                    <a:lstStyle/>
                    <a:p>
                      <a:pPr algn="r" rtl="1" fontAlgn="b">
                        <a:lnSpc>
                          <a:spcPct val="100000"/>
                        </a:lnSpc>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دمج الاعتبارات الأمنية بسلاسة في تصميم جميع مكونات البنية المؤسسية</a:t>
                      </a:r>
                    </a:p>
                  </a:txBody>
                  <a:tcPr anchor="ctr"/>
                </a:tc>
                <a:tc>
                  <a:txBody>
                    <a:bodyPr/>
                    <a:lstStyle/>
                    <a:p>
                      <a:pPr algn="r" rtl="1" fontAlgn="b">
                        <a:lnSpc>
                          <a:spcPct val="100000"/>
                        </a:lnSpc>
                      </a:pP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CSP04</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التصميم الآمن</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Secured by Design</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a:t>
                      </a: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 </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1544499624"/>
                  </a:ext>
                </a:extLst>
              </a:tr>
            </a:tbl>
          </a:graphicData>
        </a:graphic>
      </p:graphicFrame>
      <p:sp>
        <p:nvSpPr>
          <p:cNvPr id="7" name="Title 1">
            <a:extLst>
              <a:ext uri="{FF2B5EF4-FFF2-40B4-BE49-F238E27FC236}">
                <a16:creationId xmlns:a16="http://schemas.microsoft.com/office/drawing/2014/main" id="{C3585388-15C5-B535-C9C8-8253108E0095}"/>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مبادئ بنية الأمن السيبراني</a:t>
            </a:r>
            <a:endParaRPr lang="en-US" dirty="0"/>
          </a:p>
        </p:txBody>
      </p:sp>
    </p:spTree>
    <p:extLst>
      <p:ext uri="{BB962C8B-B14F-4D97-AF65-F5344CB8AC3E}">
        <p14:creationId xmlns:p14="http://schemas.microsoft.com/office/powerpoint/2010/main" val="308382110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57</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CSP01</a:t>
            </a:r>
            <a:r>
              <a:rPr lang="ar-SA" dirty="0"/>
              <a:t>: أقل امتياز</a:t>
            </a:r>
            <a:r>
              <a:rPr lang="ar-EG" dirty="0"/>
              <a:t> (</a:t>
            </a:r>
            <a:r>
              <a:rPr lang="en-US" dirty="0"/>
              <a:t>Least Privilege</a:t>
            </a:r>
            <a:r>
              <a:rPr lang="ar-EG" dirty="0"/>
              <a:t>)</a:t>
            </a:r>
            <a:r>
              <a:rPr lang="ar-SA" dirty="0"/>
              <a:t>"</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2833819539"/>
              </p:ext>
            </p:extLst>
          </p:nvPr>
        </p:nvGraphicFramePr>
        <p:xfrm>
          <a:off x="788319" y="1268996"/>
          <a:ext cx="10615362" cy="4674603"/>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417676">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أقل امتياز</a:t>
                      </a:r>
                      <a:r>
                        <a:rPr lang="ar-EG" sz="1800" baseline="0" dirty="0">
                          <a:solidFill>
                            <a:schemeClr val="tx1"/>
                          </a:solidFill>
                          <a:latin typeface="Sakkal Majalla" panose="02000000000000000000" pitchFamily="2" charset="-78"/>
                          <a:cs typeface="Sakkal Majalla" panose="02000000000000000000" pitchFamily="2" charset="-78"/>
                        </a:rPr>
                        <a:t> (</a:t>
                      </a:r>
                      <a:r>
                        <a:rPr lang="en-US" sz="1800" baseline="0" dirty="0">
                          <a:solidFill>
                            <a:schemeClr val="tx1"/>
                          </a:solidFill>
                          <a:latin typeface="Sakkal Majalla" panose="02000000000000000000" pitchFamily="2" charset="-78"/>
                          <a:cs typeface="Sakkal Majalla" panose="02000000000000000000" pitchFamily="2" charset="-78"/>
                        </a:rPr>
                        <a:t>Least Privilege</a:t>
                      </a:r>
                      <a:r>
                        <a:rPr lang="ar-EG" sz="1800" baseline="0" dirty="0">
                          <a:solidFill>
                            <a:schemeClr val="tx1"/>
                          </a:solidFill>
                          <a:latin typeface="Sakkal Majalla" panose="02000000000000000000" pitchFamily="2" charset="-78"/>
                          <a:cs typeface="Sakkal Majalla" panose="02000000000000000000" pitchFamily="2" charset="-78"/>
                        </a:rPr>
                        <a:t>)</a:t>
                      </a:r>
                      <a:endParaRPr lang="en-US" sz="18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CSP01</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382870">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تقييد صلاحيات مستخدمي التطبيقات إلى الحد الأدنى</a:t>
                      </a:r>
                      <a:r>
                        <a:rPr lang="ar-EG" sz="1600" baseline="0" dirty="0">
                          <a:solidFill>
                            <a:schemeClr val="tx1"/>
                          </a:solidFill>
                          <a:latin typeface="Sakkal Majalla" panose="02000000000000000000" pitchFamily="2" charset="-78"/>
                          <a:cs typeface="Sakkal Majalla" panose="02000000000000000000" pitchFamily="2" charset="-78"/>
                        </a:rPr>
                        <a:t> </a:t>
                      </a:r>
                      <a:r>
                        <a:rPr lang="ar-SA" sz="1600" baseline="0" dirty="0">
                          <a:solidFill>
                            <a:schemeClr val="tx1"/>
                          </a:solidFill>
                          <a:latin typeface="Sakkal Majalla" panose="02000000000000000000" pitchFamily="2" charset="-78"/>
                          <a:cs typeface="Sakkal Majalla" panose="02000000000000000000" pitchFamily="2" charset="-78"/>
                        </a:rPr>
                        <a:t>اللازم لتنفيذ مهام عملهم</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791204">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منح المستخدمين صلاحيات أو صلاحيات زائدة يزيد من خطر الوصول غير المصرح به وانتهاكات البيانات والأنشطة الخبيث</a:t>
                      </a:r>
                      <a:r>
                        <a:rPr lang="ar-EG" sz="1600" baseline="0" dirty="0">
                          <a:solidFill>
                            <a:schemeClr val="tx1"/>
                          </a:solidFill>
                          <a:latin typeface="Sakkal Majalla" panose="02000000000000000000" pitchFamily="2" charset="-78"/>
                          <a:cs typeface="Sakkal Majalla" panose="02000000000000000000" pitchFamily="2" charset="-78"/>
                        </a:rPr>
                        <a:t>ة</a:t>
                      </a:r>
                      <a:endParaRPr lang="ar-SA" sz="1600" baseline="0" dirty="0">
                        <a:solidFill>
                          <a:schemeClr val="tx1"/>
                        </a:solidFill>
                        <a:latin typeface="Sakkal Majalla" panose="02000000000000000000" pitchFamily="2" charset="-78"/>
                        <a:cs typeface="Sakkal Majalla" panose="02000000000000000000" pitchFamily="2" charset="-78"/>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تقليل سطح الهجوم</a:t>
                      </a:r>
                      <a:r>
                        <a:rPr lang="ar-EG" sz="1600" baseline="0" dirty="0">
                          <a:solidFill>
                            <a:schemeClr val="tx1"/>
                          </a:solidFill>
                          <a:latin typeface="Sakkal Majalla" panose="02000000000000000000" pitchFamily="2" charset="-78"/>
                          <a:cs typeface="Sakkal Majalla" panose="02000000000000000000" pitchFamily="2" charset="-78"/>
                        </a:rPr>
                        <a:t> (</a:t>
                      </a:r>
                      <a:r>
                        <a:rPr lang="en-US" sz="1600" baseline="0" dirty="0">
                          <a:solidFill>
                            <a:schemeClr val="tx1"/>
                          </a:solidFill>
                          <a:latin typeface="Sakkal Majalla" panose="02000000000000000000" pitchFamily="2" charset="-78"/>
                          <a:cs typeface="Sakkal Majalla" panose="02000000000000000000" pitchFamily="2" charset="-78"/>
                        </a:rPr>
                        <a:t>Attack Surface</a:t>
                      </a:r>
                      <a:r>
                        <a:rPr lang="ar-EG" sz="1600" baseline="0" dirty="0">
                          <a:solidFill>
                            <a:schemeClr val="tx1"/>
                          </a:solidFill>
                          <a:latin typeface="Sakkal Majalla" panose="02000000000000000000" pitchFamily="2" charset="-78"/>
                          <a:cs typeface="Sakkal Majalla" panose="02000000000000000000" pitchFamily="2" charset="-78"/>
                        </a:rPr>
                        <a:t>) </a:t>
                      </a:r>
                      <a:r>
                        <a:rPr lang="ar-SA" sz="1600" baseline="0" dirty="0">
                          <a:solidFill>
                            <a:schemeClr val="tx1"/>
                          </a:solidFill>
                          <a:latin typeface="Sakkal Majalla" panose="02000000000000000000" pitchFamily="2" charset="-78"/>
                          <a:cs typeface="Sakkal Majalla" panose="02000000000000000000" pitchFamily="2" charset="-78"/>
                        </a:rPr>
                        <a:t>عن طريق تقييد وصول المستخدمين إلى الموارد والبيانات الضرورية فقط لأداء دورهم ومسؤولياتهم المحددة. وهذا يقلل من</a:t>
                      </a:r>
                      <a:r>
                        <a:rPr lang="en-US" sz="1600" baseline="0" dirty="0">
                          <a:solidFill>
                            <a:schemeClr val="tx1"/>
                          </a:solidFill>
                          <a:latin typeface="Sakkal Majalla" panose="02000000000000000000" pitchFamily="2" charset="-78"/>
                          <a:cs typeface="Sakkal Majalla" panose="02000000000000000000" pitchFamily="2" charset="-78"/>
                        </a:rPr>
                        <a:t> </a:t>
                      </a:r>
                      <a:r>
                        <a:rPr lang="ar-SA" sz="1600" baseline="0" dirty="0">
                          <a:solidFill>
                            <a:schemeClr val="tx1"/>
                          </a:solidFill>
                          <a:latin typeface="Sakkal Majalla" panose="02000000000000000000" pitchFamily="2" charset="-78"/>
                          <a:cs typeface="Sakkal Majalla" panose="02000000000000000000" pitchFamily="2" charset="-78"/>
                        </a:rPr>
                        <a:t>الأثر المحتمل لحوادث الأمن ويساعد في منع سوء الاستخدام أو إساءة استخدام الحسابات الخاصة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082853">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مراجعة وتحديد أدوار المستخدمين والصلاحيات ومستويات الوصول بعناية استناد</a:t>
                      </a:r>
                      <a:r>
                        <a:rPr lang="ar-EG" sz="1600" baseline="0" dirty="0">
                          <a:solidFill>
                            <a:schemeClr val="tx1"/>
                          </a:solidFill>
                          <a:latin typeface="Sakkal Majalla" panose="02000000000000000000" pitchFamily="2" charset="-78"/>
                          <a:cs typeface="Sakkal Majalla" panose="02000000000000000000" pitchFamily="2" charset="-78"/>
                        </a:rPr>
                        <a:t>ا</a:t>
                      </a:r>
                      <a:r>
                        <a:rPr lang="ar-SA" sz="1600" baseline="0" dirty="0">
                          <a:solidFill>
                            <a:schemeClr val="tx1"/>
                          </a:solidFill>
                          <a:latin typeface="Sakkal Majalla" panose="02000000000000000000" pitchFamily="2" charset="-78"/>
                          <a:cs typeface="Sakkal Majalla" panose="02000000000000000000" pitchFamily="2" charset="-78"/>
                        </a:rPr>
                        <a:t> إلى مبدأ الأدنى امتيازا</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يجب فرض ضوابط الوصول من خلال نظام التحكم في الوصول القائم على الأدوار </a:t>
                      </a:r>
                      <a:r>
                        <a:rPr lang="en-US" sz="1600" baseline="0" dirty="0">
                          <a:solidFill>
                            <a:schemeClr val="tx1"/>
                          </a:solidFill>
                          <a:latin typeface="Sakkal Majalla" panose="02000000000000000000" pitchFamily="2" charset="-78"/>
                          <a:cs typeface="Sakkal Majalla" panose="02000000000000000000" pitchFamily="2" charset="-78"/>
                        </a:rPr>
                        <a:t>Role-Based Access Control (RBAC)</a:t>
                      </a:r>
                      <a:r>
                        <a:rPr lang="ar-EG" sz="1600" baseline="0" dirty="0">
                          <a:solidFill>
                            <a:schemeClr val="tx1"/>
                          </a:solidFill>
                          <a:latin typeface="Sakkal Majalla" panose="02000000000000000000" pitchFamily="2" charset="-78"/>
                          <a:cs typeface="Sakkal Majalla" panose="02000000000000000000" pitchFamily="2" charset="-78"/>
                        </a:rPr>
                        <a:t> </a:t>
                      </a:r>
                      <a:r>
                        <a:rPr lang="ar-SA" sz="1600" baseline="0" dirty="0">
                          <a:solidFill>
                            <a:schemeClr val="tx1"/>
                          </a:solidFill>
                          <a:latin typeface="Sakkal Majalla" panose="02000000000000000000" pitchFamily="2" charset="-78"/>
                          <a:cs typeface="Sakkal Majalla" panose="02000000000000000000" pitchFamily="2" charset="-78"/>
                        </a:rPr>
                        <a:t>ونظام التحكم في الوصول القائم على السمات </a:t>
                      </a:r>
                      <a:r>
                        <a:rPr lang="en-US" sz="1600" baseline="0" dirty="0">
                          <a:solidFill>
                            <a:schemeClr val="tx1"/>
                          </a:solidFill>
                          <a:latin typeface="Sakkal Majalla" panose="02000000000000000000" pitchFamily="2" charset="-78"/>
                          <a:cs typeface="Sakkal Majalla" panose="02000000000000000000" pitchFamily="2" charset="-78"/>
                        </a:rPr>
                        <a:t>Attribute-Based Access Control (ABAC)</a:t>
                      </a:r>
                      <a:r>
                        <a:rPr lang="ar-EG" sz="1600" baseline="0" dirty="0">
                          <a:solidFill>
                            <a:schemeClr val="tx1"/>
                          </a:solidFill>
                          <a:latin typeface="Sakkal Majalla" panose="02000000000000000000" pitchFamily="2" charset="-78"/>
                          <a:cs typeface="Sakkal Majalla" panose="02000000000000000000" pitchFamily="2" charset="-78"/>
                        </a:rPr>
                        <a:t> </a:t>
                      </a:r>
                      <a:r>
                        <a:rPr lang="ar-SA" sz="1600" baseline="0" dirty="0">
                          <a:solidFill>
                            <a:schemeClr val="tx1"/>
                          </a:solidFill>
                          <a:latin typeface="Sakkal Majalla" panose="02000000000000000000" pitchFamily="2" charset="-78"/>
                          <a:cs typeface="Sakkal Majalla" panose="02000000000000000000" pitchFamily="2" charset="-78"/>
                        </a:rPr>
                        <a:t>وآليات إدارة الوصول الأخرى </a:t>
                      </a:r>
                      <a:endParaRPr lang="en-US" sz="1600" baseline="0" dirty="0">
                        <a:solidFill>
                          <a:schemeClr val="tx1"/>
                        </a:solidFill>
                        <a:latin typeface="Sakkal Majalla" panose="02000000000000000000" pitchFamily="2" charset="-78"/>
                        <a:cs typeface="Sakkal Majalla" panose="02000000000000000000" pitchFamily="2" charset="-78"/>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يجب إجراء مراجعات دورية لصلاحيات الوصول لضمان أن يمتلك المستخدمون فقط الصلاحيات التي يحتاجون إليها وأن تتماشى صلاحيات الوصول مع سياسات </a:t>
                      </a:r>
                      <a:r>
                        <a:rPr lang="ar-EG" sz="1600" baseline="0" dirty="0">
                          <a:solidFill>
                            <a:schemeClr val="tx1"/>
                          </a:solidFill>
                          <a:latin typeface="Sakkal Majalla" panose="02000000000000000000" pitchFamily="2" charset="-78"/>
                          <a:cs typeface="Sakkal Majalla" panose="02000000000000000000" pitchFamily="2" charset="-78"/>
                        </a:rPr>
                        <a:t>الهيئة</a:t>
                      </a:r>
                      <a:r>
                        <a:rPr lang="ar-SA" sz="1600" baseline="0" dirty="0">
                          <a:solidFill>
                            <a:schemeClr val="tx1"/>
                          </a:solidFill>
                          <a:latin typeface="Sakkal Majalla" panose="02000000000000000000" pitchFamily="2" charset="-78"/>
                          <a:cs typeface="Sakkal Majalla" panose="02000000000000000000" pitchFamily="2" charset="-78"/>
                        </a:rPr>
                        <a:t> والمتطلبات الأمنية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12147151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58</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CSP02</a:t>
            </a:r>
            <a:r>
              <a:rPr lang="ar-SA" dirty="0"/>
              <a:t>:</a:t>
            </a:r>
            <a:r>
              <a:rPr lang="ar-EG" dirty="0"/>
              <a:t> </a:t>
            </a:r>
            <a:r>
              <a:rPr lang="ar-SA" dirty="0"/>
              <a:t>بنية الثقة الصفرية</a:t>
            </a:r>
            <a:r>
              <a:rPr lang="en-US" dirty="0"/>
              <a:t>(Zero Trust Architecture) </a:t>
            </a:r>
            <a:r>
              <a:rPr lang="ar-SA" dirty="0"/>
              <a:t>"</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3044796209"/>
              </p:ext>
            </p:extLst>
          </p:nvPr>
        </p:nvGraphicFramePr>
        <p:xfrm>
          <a:off x="788319" y="1268997"/>
          <a:ext cx="10615362" cy="4612691"/>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403634">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بنية الثقة الصفرية </a:t>
                      </a:r>
                      <a:r>
                        <a:rPr lang="en-US" sz="1800" baseline="0" dirty="0">
                          <a:solidFill>
                            <a:schemeClr val="tx1"/>
                          </a:solidFill>
                          <a:latin typeface="Sakkal Majalla" panose="02000000000000000000" pitchFamily="2" charset="-78"/>
                          <a:cs typeface="Sakkal Majalla" panose="02000000000000000000" pitchFamily="2" charset="-78"/>
                        </a:rPr>
                        <a:t>(Zero Trust Architecture)</a:t>
                      </a:r>
                      <a:endParaRPr lang="ar-SA" sz="18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CSP02</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369998">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تطبيق مبدأ "لا تثق أبدا، وتحقق دائما"، والذي يفترض أن التهديدات الأمنية يمكن أن تكون موجودة داخل وخارج حدود الشبكة التقنية في </a:t>
                      </a:r>
                      <a:r>
                        <a:rPr lang="ar-EG" sz="1600" baseline="0" dirty="0">
                          <a:solidFill>
                            <a:schemeClr val="tx1"/>
                          </a:solidFill>
                          <a:latin typeface="Sakkal Majalla" panose="02000000000000000000" pitchFamily="2" charset="-78"/>
                          <a:cs typeface="Sakkal Majalla" panose="02000000000000000000" pitchFamily="2" charset="-78"/>
                        </a:rPr>
                        <a:t>الهيئة</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826229">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قصور النماذج الأمنية التقليدية </a:t>
                      </a:r>
                      <a:r>
                        <a:rPr lang="ar-EG" sz="1600" baseline="0" dirty="0">
                          <a:solidFill>
                            <a:schemeClr val="tx1"/>
                          </a:solidFill>
                          <a:latin typeface="Sakkal Majalla" panose="02000000000000000000" pitchFamily="2" charset="-78"/>
                          <a:cs typeface="Sakkal Majalla" panose="02000000000000000000" pitchFamily="2" charset="-78"/>
                        </a:rPr>
                        <a:t>في بعض الأحيان </a:t>
                      </a:r>
                      <a:r>
                        <a:rPr lang="ar-SA" sz="1600" baseline="0" dirty="0">
                          <a:solidFill>
                            <a:schemeClr val="tx1"/>
                          </a:solidFill>
                          <a:latin typeface="Sakkal Majalla" panose="02000000000000000000" pitchFamily="2" charset="-78"/>
                          <a:cs typeface="Sakkal Majalla" panose="02000000000000000000" pitchFamily="2" charset="-78"/>
                        </a:rPr>
                        <a:t>عن تأمين الحماية للأصول التقنية والبيانات من خلال الدفاعات المطبقة على حدود الشبكة</a:t>
                      </a:r>
                      <a:r>
                        <a:rPr lang="ar-EG" sz="1600" baseline="0" dirty="0">
                          <a:solidFill>
                            <a:schemeClr val="tx1"/>
                          </a:solidFill>
                          <a:latin typeface="Sakkal Majalla" panose="02000000000000000000" pitchFamily="2" charset="-78"/>
                          <a:cs typeface="Sakkal Majalla" panose="02000000000000000000" pitchFamily="2" charset="-78"/>
                        </a:rPr>
                        <a:t>،</a:t>
                      </a:r>
                      <a:r>
                        <a:rPr lang="ar-SA" sz="1600" baseline="0" dirty="0">
                          <a:solidFill>
                            <a:schemeClr val="tx1"/>
                          </a:solidFill>
                          <a:latin typeface="Sakkal Majalla" panose="02000000000000000000" pitchFamily="2" charset="-78"/>
                          <a:cs typeface="Sakkal Majalla" panose="02000000000000000000" pitchFamily="2" charset="-78"/>
                        </a:rPr>
                        <a:t> </a:t>
                      </a:r>
                      <a:r>
                        <a:rPr lang="ar-EG" sz="1600" baseline="0" dirty="0">
                          <a:solidFill>
                            <a:schemeClr val="tx1"/>
                          </a:solidFill>
                          <a:latin typeface="Sakkal Majalla" panose="02000000000000000000" pitchFamily="2" charset="-78"/>
                          <a:cs typeface="Sakkal Majalla" panose="02000000000000000000" pitchFamily="2" charset="-78"/>
                        </a:rPr>
                        <a:t>حيث</a:t>
                      </a:r>
                      <a:r>
                        <a:rPr lang="ar-SA" sz="1600" baseline="0" dirty="0">
                          <a:solidFill>
                            <a:schemeClr val="tx1"/>
                          </a:solidFill>
                          <a:latin typeface="Sakkal Majalla" panose="02000000000000000000" pitchFamily="2" charset="-78"/>
                          <a:cs typeface="Sakkal Majalla" panose="02000000000000000000" pitchFamily="2" charset="-78"/>
                        </a:rPr>
                        <a:t> تفترض </a:t>
                      </a:r>
                      <a:r>
                        <a:rPr lang="ar-EG" sz="1600" baseline="0" dirty="0">
                          <a:solidFill>
                            <a:schemeClr val="tx1"/>
                          </a:solidFill>
                          <a:latin typeface="Sakkal Majalla" panose="02000000000000000000" pitchFamily="2" charset="-78"/>
                          <a:cs typeface="Sakkal Majalla" panose="02000000000000000000" pitchFamily="2" charset="-78"/>
                        </a:rPr>
                        <a:t>الجهات</a:t>
                      </a:r>
                      <a:r>
                        <a:rPr lang="ar-SA" sz="1600" baseline="0" dirty="0">
                          <a:solidFill>
                            <a:schemeClr val="tx1"/>
                          </a:solidFill>
                          <a:latin typeface="Sakkal Majalla" panose="02000000000000000000" pitchFamily="2" charset="-78"/>
                          <a:cs typeface="Sakkal Majalla" panose="02000000000000000000" pitchFamily="2" charset="-78"/>
                        </a:rPr>
                        <a:t> أن الكيانات داخل الشبكة موثوق بها بشكل افتراضي</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تمكين </a:t>
                      </a:r>
                      <a:r>
                        <a:rPr lang="ar-EG" sz="1600" baseline="0" dirty="0">
                          <a:solidFill>
                            <a:schemeClr val="tx1"/>
                          </a:solidFill>
                          <a:latin typeface="Sakkal Majalla" panose="02000000000000000000" pitchFamily="2" charset="-78"/>
                          <a:cs typeface="Sakkal Majalla" panose="02000000000000000000" pitchFamily="2" charset="-78"/>
                        </a:rPr>
                        <a:t>الهيئة</a:t>
                      </a:r>
                      <a:r>
                        <a:rPr lang="ar-SA" sz="1600" baseline="0" dirty="0">
                          <a:solidFill>
                            <a:schemeClr val="tx1"/>
                          </a:solidFill>
                          <a:latin typeface="Sakkal Majalla" panose="02000000000000000000" pitchFamily="2" charset="-78"/>
                          <a:cs typeface="Sakkal Majalla" panose="02000000000000000000" pitchFamily="2" charset="-78"/>
                        </a:rPr>
                        <a:t> من التكيف الآمن مع العمل عن بعد وتلبية جميع ضوابط الهيئة الوطنية للأمن السيبراني</a:t>
                      </a:r>
                      <a:endParaRPr lang="en-US" sz="1600" baseline="0" dirty="0">
                        <a:solidFill>
                          <a:srgbClr val="FF0000"/>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012830">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اعتماد نهج شامل للأمن يشمل إدارة الهوية والوصول، وتقسيم الشبكة، والتشفير، والمراقبة المستمرة، والتحليلات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يجب على </a:t>
                      </a:r>
                      <a:r>
                        <a:rPr lang="ar-EG" sz="1600" baseline="0" dirty="0">
                          <a:solidFill>
                            <a:schemeClr val="tx1"/>
                          </a:solidFill>
                          <a:latin typeface="Sakkal Majalla" panose="02000000000000000000" pitchFamily="2" charset="-78"/>
                          <a:cs typeface="Sakkal Majalla" panose="02000000000000000000" pitchFamily="2" charset="-78"/>
                        </a:rPr>
                        <a:t>الهيئة</a:t>
                      </a:r>
                      <a:r>
                        <a:rPr lang="ar-SA" sz="1600" baseline="0" dirty="0">
                          <a:solidFill>
                            <a:schemeClr val="tx1"/>
                          </a:solidFill>
                          <a:latin typeface="Sakkal Majalla" panose="02000000000000000000" pitchFamily="2" charset="-78"/>
                          <a:cs typeface="Sakkal Majalla" panose="02000000000000000000" pitchFamily="2" charset="-78"/>
                        </a:rPr>
                        <a:t> وضع ضوابط وصول صارمة تستند إلى مبادئ أقل الامتياز، وتنفيذ آليات موثوقة للمصادقة مثل المصادقة متعددة العوامل، ومراقبة وتحليل سلوك المستخدمين والأجهزة بشكل مستمر عن علامات الاختراق</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التحقق المستمر من هويات المستخدمين والأجهزة والخدمات بغض النظر عن موقعهم أو سياق الشبكة قبل منح الوصول إلى الموارد</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19545489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59</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833443" y="408242"/>
            <a:ext cx="10520358"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sz="2800" dirty="0"/>
              <a:t>بطاقة المبدأ "</a:t>
            </a:r>
            <a:r>
              <a:rPr lang="en-US" sz="2800" dirty="0"/>
              <a:t>CSP03</a:t>
            </a:r>
            <a:r>
              <a:rPr lang="ar-SA" sz="2800" dirty="0"/>
              <a:t>:</a:t>
            </a:r>
            <a:r>
              <a:rPr lang="ar-EG" sz="2800" dirty="0"/>
              <a:t> </a:t>
            </a:r>
            <a:r>
              <a:rPr lang="ar-SA" sz="2400" dirty="0"/>
              <a:t>تطبيق أساس قوي للهوية</a:t>
            </a:r>
            <a:r>
              <a:rPr lang="en-US" sz="2400" dirty="0"/>
              <a:t>(Implement a Strong Identity </a:t>
            </a:r>
            <a:r>
              <a:rPr lang="en-US" sz="2800" dirty="0"/>
              <a:t>Foundation) </a:t>
            </a:r>
            <a:r>
              <a:rPr lang="ar-SA" sz="2800" dirty="0"/>
              <a:t>"</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252201093"/>
              </p:ext>
            </p:extLst>
          </p:nvPr>
        </p:nvGraphicFramePr>
        <p:xfrm>
          <a:off x="788319" y="1268997"/>
          <a:ext cx="10615362" cy="4617454"/>
        </p:xfrm>
        <a:graphic>
          <a:graphicData uri="http://schemas.openxmlformats.org/drawingml/2006/table">
            <a:tbl>
              <a:tblPr firstRow="1" bandRow="1">
                <a:tableStyleId>{5C22544A-7EE6-4342-B048-85BDC9FD1C3A}</a:tableStyleId>
              </a:tblPr>
              <a:tblGrid>
                <a:gridCol w="6834862">
                  <a:extLst>
                    <a:ext uri="{9D8B030D-6E8A-4147-A177-3AD203B41FA5}">
                      <a16:colId xmlns:a16="http://schemas.microsoft.com/office/drawing/2014/main" val="3425632507"/>
                    </a:ext>
                  </a:extLst>
                </a:gridCol>
                <a:gridCol w="968189">
                  <a:extLst>
                    <a:ext uri="{9D8B030D-6E8A-4147-A177-3AD203B41FA5}">
                      <a16:colId xmlns:a16="http://schemas.microsoft.com/office/drawing/2014/main" val="1656291851"/>
                    </a:ext>
                  </a:extLst>
                </a:gridCol>
                <a:gridCol w="1244362">
                  <a:extLst>
                    <a:ext uri="{9D8B030D-6E8A-4147-A177-3AD203B41FA5}">
                      <a16:colId xmlns:a16="http://schemas.microsoft.com/office/drawing/2014/main" val="1722210802"/>
                    </a:ext>
                  </a:extLst>
                </a:gridCol>
                <a:gridCol w="1567949">
                  <a:extLst>
                    <a:ext uri="{9D8B030D-6E8A-4147-A177-3AD203B41FA5}">
                      <a16:colId xmlns:a16="http://schemas.microsoft.com/office/drawing/2014/main" val="3313289339"/>
                    </a:ext>
                  </a:extLst>
                </a:gridCol>
              </a:tblGrid>
              <a:tr h="389441">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تطبيق أساس قوي للهوية</a:t>
                      </a:r>
                      <a:r>
                        <a:rPr lang="ar-EG" sz="1800" baseline="0" dirty="0">
                          <a:solidFill>
                            <a:schemeClr val="tx1"/>
                          </a:solidFill>
                          <a:latin typeface="Sakkal Majalla" panose="02000000000000000000" pitchFamily="2" charset="-78"/>
                          <a:cs typeface="Sakkal Majalla" panose="02000000000000000000" pitchFamily="2" charset="-78"/>
                        </a:rPr>
                        <a:t> </a:t>
                      </a:r>
                      <a:r>
                        <a:rPr lang="en-US" sz="1800" baseline="0" dirty="0">
                          <a:solidFill>
                            <a:schemeClr val="tx1"/>
                          </a:solidFill>
                          <a:latin typeface="Sakkal Majalla" panose="02000000000000000000" pitchFamily="2" charset="-78"/>
                          <a:cs typeface="Sakkal Majalla" panose="02000000000000000000" pitchFamily="2" charset="-78"/>
                        </a:rPr>
                        <a:t>(Implement a Strong Identity Foundation)</a:t>
                      </a:r>
                      <a:endParaRPr lang="ar-SA" sz="18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CSP03</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356988">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إنشاء إطار شامل ومركزي  لإدارة الهوية والوصول</a:t>
                      </a:r>
                      <a:r>
                        <a:rPr lang="ar-EG" sz="1600" baseline="0" dirty="0">
                          <a:solidFill>
                            <a:schemeClr val="tx1"/>
                          </a:solidFill>
                          <a:latin typeface="Sakkal Majalla" panose="02000000000000000000" pitchFamily="2" charset="-78"/>
                          <a:cs typeface="Sakkal Majalla" panose="02000000000000000000" pitchFamily="2" charset="-78"/>
                        </a:rPr>
                        <a:t> </a:t>
                      </a:r>
                      <a:r>
                        <a:rPr lang="en-US" sz="1600" baseline="0" dirty="0">
                          <a:solidFill>
                            <a:schemeClr val="tx1"/>
                          </a:solidFill>
                          <a:latin typeface="Sakkal Majalla" panose="02000000000000000000" pitchFamily="2" charset="-78"/>
                          <a:cs typeface="Sakkal Majalla" panose="02000000000000000000" pitchFamily="2" charset="-78"/>
                        </a:rPr>
                        <a:t>Identity and Access Management (IAM)</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670118">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تشكل الهوية أساس الأمان، حيث تعتبر وسيلة الاعتماد الأساسية والتفويض الأساسي</a:t>
                      </a:r>
                      <a:endParaRPr lang="ar-EG" sz="1600" baseline="0" dirty="0">
                        <a:solidFill>
                          <a:schemeClr val="tx1"/>
                        </a:solidFill>
                        <a:latin typeface="Sakkal Majalla" panose="02000000000000000000" pitchFamily="2" charset="-78"/>
                        <a:cs typeface="Sakkal Majalla" panose="02000000000000000000" pitchFamily="2" charset="-78"/>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يشمل أساس قوي للهوية هويات المستخدمين وهويات الأجهزة وهويات الخدمات، ويتضمن آليات قوية للمصادقة والتفويض والمساءلة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تقليل خطر الوصول غير المصرح به وسرقة البيانات الاعتمادية والهجمات ذات الصلة بالهوية</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ضمان الوصول المصرح له فقط إلى الموارد من قِبل المستخدمين والأجهزة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200907">
                <a:tc gridSpan="3">
                  <a:txBody>
                    <a:bodyPr/>
                    <a:lstStyle/>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اعتماد نهج مبني على المخاطر في إدارة الهوية، موازنة متطلبات الأمان مع السهولة والسلاسة؛ بما يشمل تنفيذ المصادقة متعددة العوامل </a:t>
                      </a:r>
                      <a:r>
                        <a:rPr lang="en-US" sz="1600" baseline="0" dirty="0">
                          <a:solidFill>
                            <a:schemeClr val="tx1"/>
                          </a:solidFill>
                          <a:latin typeface="Sakkal Majalla" panose="02000000000000000000" pitchFamily="2" charset="-78"/>
                          <a:cs typeface="Sakkal Majalla" panose="02000000000000000000" pitchFamily="2" charset="-78"/>
                        </a:rPr>
                        <a:t>Multi-Factor Authentication</a:t>
                      </a:r>
                      <a:r>
                        <a:rPr lang="ar-EG" sz="1600" baseline="0" dirty="0">
                          <a:solidFill>
                            <a:schemeClr val="tx1"/>
                          </a:solidFill>
                          <a:latin typeface="Sakkal Majalla" panose="02000000000000000000" pitchFamily="2" charset="-78"/>
                          <a:cs typeface="Sakkal Majalla" panose="02000000000000000000" pitchFamily="2" charset="-78"/>
                        </a:rPr>
                        <a:t> </a:t>
                      </a:r>
                      <a:r>
                        <a:rPr lang="ar-SA" sz="1600" baseline="0" dirty="0">
                          <a:solidFill>
                            <a:schemeClr val="tx1"/>
                          </a:solidFill>
                          <a:latin typeface="Sakkal Majalla" panose="02000000000000000000" pitchFamily="2" charset="-78"/>
                          <a:cs typeface="Sakkal Majalla" panose="02000000000000000000" pitchFamily="2" charset="-78"/>
                        </a:rPr>
                        <a:t>وتسجيل الدخول الموحد</a:t>
                      </a:r>
                      <a:r>
                        <a:rPr lang="en-US" sz="1600" baseline="0" dirty="0">
                          <a:solidFill>
                            <a:schemeClr val="tx1"/>
                          </a:solidFill>
                          <a:latin typeface="Sakkal Majalla" panose="02000000000000000000" pitchFamily="2" charset="-78"/>
                          <a:cs typeface="Sakkal Majalla" panose="02000000000000000000" pitchFamily="2" charset="-78"/>
                        </a:rPr>
                        <a:t>Single Sign On (SSO) ، </a:t>
                      </a:r>
                      <a:r>
                        <a:rPr lang="ar-SA" sz="1600" baseline="0" dirty="0">
                          <a:solidFill>
                            <a:schemeClr val="tx1"/>
                          </a:solidFill>
                          <a:latin typeface="Sakkal Majalla" panose="02000000000000000000" pitchFamily="2" charset="-78"/>
                          <a:cs typeface="Sakkal Majalla" panose="02000000000000000000" pitchFamily="2" charset="-78"/>
                        </a:rPr>
                        <a:t>والاتحاد بين الهويات، وآليات المصادقة التكيفية للتحقق من هويات المستخدمين وفرض ضوابط الوصول</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إنشاء عمليات حوكمة الهوية، وإجراءات إدارة دورة حياة الهوية، وتطبيق إمكانيات مراقبة وتحليل مستمرة للكشف والاستجابة لتهديدات الهوية والسلوك الغير اعتيادي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39571432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60</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المبدأ "</a:t>
            </a:r>
            <a:r>
              <a:rPr lang="en-US" dirty="0"/>
              <a:t>CSP04</a:t>
            </a:r>
            <a:r>
              <a:rPr lang="ar-SA" dirty="0"/>
              <a:t>:</a:t>
            </a:r>
            <a:r>
              <a:rPr lang="ar-EG" dirty="0"/>
              <a:t> </a:t>
            </a:r>
            <a:r>
              <a:rPr lang="ar-SA" dirty="0"/>
              <a:t>التصميم الآمن</a:t>
            </a:r>
            <a:r>
              <a:rPr lang="en-US" dirty="0"/>
              <a:t>(Secured by Design) </a:t>
            </a:r>
            <a:r>
              <a:rPr lang="ar-SA" dirty="0"/>
              <a:t>"</a:t>
            </a:r>
          </a:p>
        </p:txBody>
      </p:sp>
      <p:sp>
        <p:nvSpPr>
          <p:cNvPr id="16" name="Rectangle 15">
            <a:extLst>
              <a:ext uri="{FF2B5EF4-FFF2-40B4-BE49-F238E27FC236}">
                <a16:creationId xmlns:a16="http://schemas.microsoft.com/office/drawing/2014/main" id="{762F2D24-0298-4115-9699-8CA7B5A6524A}"/>
              </a:ext>
            </a:extLst>
          </p:cNvPr>
          <p:cNvSpPr/>
          <p:nvPr/>
        </p:nvSpPr>
        <p:spPr>
          <a:xfrm>
            <a:off x="609600" y="1154429"/>
            <a:ext cx="10972800" cy="4869853"/>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noProof="0" dirty="0">
              <a:ln>
                <a:noFill/>
              </a:ln>
              <a:solidFill>
                <a:prstClr val="white"/>
              </a:solidFill>
              <a:effectLst/>
              <a:uLnTx/>
              <a:uFillTx/>
              <a:latin typeface="Sakkal Majalla" panose="02000000000000000000" pitchFamily="2" charset="-78"/>
              <a:ea typeface="+mn-ea"/>
              <a:cs typeface="Sakkal Majalla" panose="02000000000000000000" pitchFamily="2" charset="-78"/>
            </a:endParaRPr>
          </a:p>
        </p:txBody>
      </p:sp>
      <p:graphicFrame>
        <p:nvGraphicFramePr>
          <p:cNvPr id="39" name="Table 38">
            <a:extLst>
              <a:ext uri="{FF2B5EF4-FFF2-40B4-BE49-F238E27FC236}">
                <a16:creationId xmlns:a16="http://schemas.microsoft.com/office/drawing/2014/main" id="{F8DD9B06-A867-4CE0-9AB8-E6DF1BA047F0}"/>
              </a:ext>
            </a:extLst>
          </p:cNvPr>
          <p:cNvGraphicFramePr>
            <a:graphicFrameLocks noGrp="1"/>
          </p:cNvGraphicFramePr>
          <p:nvPr>
            <p:extLst>
              <p:ext uri="{D42A27DB-BD31-4B8C-83A1-F6EECF244321}">
                <p14:modId xmlns:p14="http://schemas.microsoft.com/office/powerpoint/2010/main" val="2340309894"/>
              </p:ext>
            </p:extLst>
          </p:nvPr>
        </p:nvGraphicFramePr>
        <p:xfrm>
          <a:off x="682466" y="1192796"/>
          <a:ext cx="10827068" cy="4785360"/>
        </p:xfrm>
        <a:graphic>
          <a:graphicData uri="http://schemas.openxmlformats.org/drawingml/2006/table">
            <a:tbl>
              <a:tblPr firstRow="1" bandRow="1">
                <a:tableStyleId>{5C22544A-7EE6-4342-B048-85BDC9FD1C3A}</a:tableStyleId>
              </a:tblPr>
              <a:tblGrid>
                <a:gridCol w="6971173">
                  <a:extLst>
                    <a:ext uri="{9D8B030D-6E8A-4147-A177-3AD203B41FA5}">
                      <a16:colId xmlns:a16="http://schemas.microsoft.com/office/drawing/2014/main" val="3425632507"/>
                    </a:ext>
                  </a:extLst>
                </a:gridCol>
                <a:gridCol w="987498">
                  <a:extLst>
                    <a:ext uri="{9D8B030D-6E8A-4147-A177-3AD203B41FA5}">
                      <a16:colId xmlns:a16="http://schemas.microsoft.com/office/drawing/2014/main" val="1656291851"/>
                    </a:ext>
                  </a:extLst>
                </a:gridCol>
                <a:gridCol w="1448145">
                  <a:extLst>
                    <a:ext uri="{9D8B030D-6E8A-4147-A177-3AD203B41FA5}">
                      <a16:colId xmlns:a16="http://schemas.microsoft.com/office/drawing/2014/main" val="1722210802"/>
                    </a:ext>
                  </a:extLst>
                </a:gridCol>
                <a:gridCol w="1420252">
                  <a:extLst>
                    <a:ext uri="{9D8B030D-6E8A-4147-A177-3AD203B41FA5}">
                      <a16:colId xmlns:a16="http://schemas.microsoft.com/office/drawing/2014/main" val="3313289339"/>
                    </a:ext>
                  </a:extLst>
                </a:gridCol>
              </a:tblGrid>
              <a:tr h="276191">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800" baseline="0" dirty="0">
                          <a:solidFill>
                            <a:schemeClr val="tx1"/>
                          </a:solidFill>
                          <a:latin typeface="Sakkal Majalla" panose="02000000000000000000" pitchFamily="2" charset="-78"/>
                          <a:cs typeface="Sakkal Majalla" panose="02000000000000000000" pitchFamily="2" charset="-78"/>
                        </a:rPr>
                        <a:t>التصميم الآمن</a:t>
                      </a:r>
                      <a:r>
                        <a:rPr lang="ar-EG" sz="1800" baseline="0" dirty="0">
                          <a:solidFill>
                            <a:schemeClr val="tx1"/>
                          </a:solidFill>
                          <a:latin typeface="Sakkal Majalla" panose="02000000000000000000" pitchFamily="2" charset="-78"/>
                          <a:cs typeface="Sakkal Majalla" panose="02000000000000000000" pitchFamily="2" charset="-78"/>
                        </a:rPr>
                        <a:t> </a:t>
                      </a:r>
                      <a:r>
                        <a:rPr lang="en-US" sz="1800" baseline="0" dirty="0">
                          <a:solidFill>
                            <a:schemeClr val="tx1"/>
                          </a:solidFill>
                          <a:latin typeface="Sakkal Majalla" panose="02000000000000000000" pitchFamily="2" charset="-78"/>
                          <a:cs typeface="Sakkal Majalla" panose="02000000000000000000" pitchFamily="2" charset="-78"/>
                        </a:rPr>
                        <a:t>(Secured by Design)</a:t>
                      </a:r>
                      <a:endParaRPr lang="ar-SA" sz="18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اسم المبدأ</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aseline="0" dirty="0">
                          <a:solidFill>
                            <a:schemeClr val="tx1"/>
                          </a:solidFill>
                          <a:latin typeface="Sakkal Majalla" panose="02000000000000000000" pitchFamily="2" charset="-78"/>
                          <a:cs typeface="Sakkal Majalla" panose="02000000000000000000" pitchFamily="2" charset="-78"/>
                        </a:rPr>
                        <a:t>CSP04</a:t>
                      </a:r>
                      <a:endParaRPr lang="ar-SA" sz="1600" baseline="0" dirty="0">
                        <a:solidFill>
                          <a:schemeClr val="tx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رمز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392D6A"/>
                    </a:solidFill>
                  </a:tcPr>
                </a:tc>
                <a:extLst>
                  <a:ext uri="{0D108BD9-81ED-4DB2-BD59-A6C34878D82A}">
                    <a16:rowId xmlns:a16="http://schemas.microsoft.com/office/drawing/2014/main" val="3734077733"/>
                  </a:ext>
                </a:extLst>
              </a:tr>
              <a:tr h="253175">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600" baseline="0" dirty="0">
                          <a:solidFill>
                            <a:schemeClr val="tx1"/>
                          </a:solidFill>
                          <a:latin typeface="Sakkal Majalla" panose="02000000000000000000" pitchFamily="2" charset="-78"/>
                          <a:cs typeface="Sakkal Majalla" panose="02000000000000000000" pitchFamily="2" charset="-78"/>
                        </a:rPr>
                        <a:t>دمج الاعتبارات الأمنية بسلاسة في تصميم جميع مكونات البنية المؤسسية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وصف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683285047"/>
                  </a:ext>
                </a:extLst>
              </a:tr>
              <a:tr h="1055426">
                <a:tc gridSpan="3">
                  <a:txBody>
                    <a:bodyPr/>
                    <a:lstStyle/>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حماية المعلومات الحساسة وتقليل المخاطر </a:t>
                      </a:r>
                      <a:r>
                        <a:rPr lang="ar-EG" sz="1600" baseline="0" dirty="0">
                          <a:solidFill>
                            <a:schemeClr val="tx1"/>
                          </a:solidFill>
                          <a:latin typeface="Sakkal Majalla" panose="02000000000000000000" pitchFamily="2" charset="-78"/>
                          <a:cs typeface="Sakkal Majalla" panose="02000000000000000000" pitchFamily="2" charset="-78"/>
                        </a:rPr>
                        <a:t>بالإضافة الى </a:t>
                      </a:r>
                      <a:r>
                        <a:rPr lang="ar-SA" sz="1600" baseline="0" dirty="0">
                          <a:solidFill>
                            <a:schemeClr val="tx1"/>
                          </a:solidFill>
                          <a:latin typeface="Sakkal Majalla" panose="02000000000000000000" pitchFamily="2" charset="-78"/>
                          <a:cs typeface="Sakkal Majalla" panose="02000000000000000000" pitchFamily="2" charset="-78"/>
                        </a:rPr>
                        <a:t>المساهمة في ضمان الالتزام بضوابط وسياسات الجهات التنظيمية ذات العلاقة (مثل: ضوابط هيئة الأمن السيبراني) وفي ضمان المحافظة على سمعة الأمن الرقمي في </a:t>
                      </a:r>
                      <a:r>
                        <a:rPr lang="ar-EG" sz="1600" baseline="0" dirty="0">
                          <a:solidFill>
                            <a:schemeClr val="tx1"/>
                          </a:solidFill>
                          <a:latin typeface="Sakkal Majalla" panose="02000000000000000000" pitchFamily="2" charset="-78"/>
                          <a:cs typeface="Sakkal Majalla" panose="02000000000000000000" pitchFamily="2" charset="-78"/>
                        </a:rPr>
                        <a:t>الهيئة</a:t>
                      </a:r>
                      <a:r>
                        <a:rPr lang="ar-SA" sz="1600" baseline="0" dirty="0">
                          <a:solidFill>
                            <a:schemeClr val="tx1"/>
                          </a:solidFill>
                          <a:latin typeface="Sakkal Majalla" panose="02000000000000000000" pitchFamily="2" charset="-78"/>
                          <a:cs typeface="Sakkal Majalla" panose="02000000000000000000" pitchFamily="2" charset="-78"/>
                        </a:rPr>
                        <a:t> وتقديمه كنموذج يحتذى به أثناء تقديم خدمات الأعمال للمستفيدين</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تقليل الوقت والجهد والتكلفة المترتبة على تلبية متطلبات الأمن خلال مراحل تطوير التطبيقات وبناء قدرات التعامل مع البيانات وتصميم وتطبيق الحلول التقنية التحتية والأمنية</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تجنب وجود ثغرات أمنية وتقليل احتمال حصول الحوادث الأمنية بعد إطلاق التطبيقات أو تفعيل القدرات المتعلقة بالبيانات أو تشغيل الحلول التقنية والأمنية</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مبررات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925732597"/>
                  </a:ext>
                </a:extLst>
              </a:tr>
              <a:tr h="2094450">
                <a:tc gridSpan="3">
                  <a:txBody>
                    <a:bodyPr/>
                    <a:lstStyle/>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يجب تطوير التطبيقات بممارسات برمجية آمنة وخضوعها لتقييمات الضعف بانتظام، بما في ذلك اختبار اختراق النظام ومراجعة الشفرة.</a:t>
                      </a:r>
                      <a:endParaRPr lang="ar-EG" sz="1600" baseline="0" dirty="0">
                        <a:solidFill>
                          <a:schemeClr val="tx1"/>
                        </a:solidFill>
                        <a:latin typeface="Sakkal Majalla" panose="02000000000000000000" pitchFamily="2" charset="-78"/>
                        <a:cs typeface="Sakkal Majalla" panose="02000000000000000000" pitchFamily="2" charset="-78"/>
                      </a:endParaRP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يجب تنفيذ ضوابط الأمان مثل التحقق من الإدخالات، والمصادقة، والتخويل، وإدارة الجلسة, وتبني مفهوم "بنية انعدام الثقة" لفرض تدابير أمنية عبر طبقات التطبيق المختلفة </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تكامل جميع التطبيقات مع مكونات مراقبة الأمن في </a:t>
                      </a:r>
                      <a:r>
                        <a:rPr lang="ar-EG" sz="1600" baseline="0" dirty="0">
                          <a:solidFill>
                            <a:schemeClr val="tx1"/>
                          </a:solidFill>
                          <a:latin typeface="Sakkal Majalla" panose="02000000000000000000" pitchFamily="2" charset="-78"/>
                          <a:cs typeface="Sakkal Majalla" panose="02000000000000000000" pitchFamily="2" charset="-78"/>
                        </a:rPr>
                        <a:t>الهيئة</a:t>
                      </a:r>
                      <a:r>
                        <a:rPr lang="ar-SA" sz="1600" baseline="0" dirty="0">
                          <a:solidFill>
                            <a:schemeClr val="tx1"/>
                          </a:solidFill>
                          <a:latin typeface="Sakkal Majalla" panose="02000000000000000000" pitchFamily="2" charset="-78"/>
                          <a:cs typeface="Sakkal Majalla" panose="02000000000000000000" pitchFamily="2" charset="-78"/>
                        </a:rPr>
                        <a:t> لضمان أكبر قدر من الحماية ضد أي تهديد محتمل قد يؤثر على استمرارية العمل أو إمكانية الوصول إلى خدمات الأعمال أو سرية البيانات ذات الصلة</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إجراء جميع أنواع الاختبارات الأمنية قبل نشر أي تطبيق أو خدمة جديدة لضمان التوافق الكامل مع السياسات والضوابط الأمنية المحددة وتجنب أي حادث أمني في البيئة الإنتاجية</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يجب حماية البيانات طوال دورة حياتها باستخدام التشفير، وضوابط الوصول، وتقنيات تشويه البيانات</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 يجب أن تضمن سياسات وإجراءات حوكمة البيانات جودة البيانات، وامتثالها، والخصوصية</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lang="ar-SA" sz="1600" baseline="0" dirty="0">
                          <a:solidFill>
                            <a:schemeClr val="tx1"/>
                          </a:solidFill>
                          <a:latin typeface="Sakkal Majalla" panose="02000000000000000000" pitchFamily="2" charset="-78"/>
                          <a:cs typeface="Sakkal Majalla" panose="02000000000000000000" pitchFamily="2" charset="-78"/>
                        </a:rPr>
                        <a:t>يجب تصميم وبناء وتكوين مكونات البنية التحتية بشكل آمن وتقويتها ضد التهديدات السيبرانية، وذلك باتباع أفضل الممارسات الأمنية لتكوينات قدرات البنية التقنية التحتية مثل الشبكة، والخوادم، والتخزين، وغيرها . يشمل ذلك تطبيق التصحيحات الأمنية بسرعة وتنفيذ أنظمة الكشف والوقاية من الاختراق</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a:txBody>
                    <a:bodyPr/>
                    <a:lstStyle/>
                    <a:p>
                      <a:pPr marL="0" marR="0" algn="r" rtl="1">
                        <a:lnSpc>
                          <a:spcPct val="115000"/>
                        </a:lnSpc>
                        <a:spcBef>
                          <a:spcPts val="0"/>
                        </a:spcBef>
                        <a:spcAft>
                          <a:spcPts val="0"/>
                        </a:spcAft>
                      </a:pPr>
                      <a:r>
                        <a:rPr lang="ar-SA"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rPr>
                        <a:t>تبعات تطبيق المبدأ</a:t>
                      </a:r>
                      <a:endParaRPr lang="en-US" sz="1600" b="1"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769854075"/>
                  </a:ext>
                </a:extLst>
              </a:tr>
            </a:tbl>
          </a:graphicData>
        </a:graphic>
      </p:graphicFrame>
    </p:spTree>
    <p:extLst>
      <p:ext uri="{BB962C8B-B14F-4D97-AF65-F5344CB8AC3E}">
        <p14:creationId xmlns:p14="http://schemas.microsoft.com/office/powerpoint/2010/main" val="10238861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2325397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هيئة تقويم التعليم والتدريب">
      <a:dk1>
        <a:sysClr val="windowText" lastClr="000000"/>
      </a:dk1>
      <a:lt1>
        <a:sysClr val="window" lastClr="FFFFFF"/>
      </a:lt1>
      <a:dk2>
        <a:srgbClr val="44546A"/>
      </a:dk2>
      <a:lt2>
        <a:srgbClr val="E7E6E6"/>
      </a:lt2>
      <a:accent1>
        <a:srgbClr val="4C3C8D"/>
      </a:accent1>
      <a:accent2>
        <a:srgbClr val="3FA0D9"/>
      </a:accent2>
      <a:accent3>
        <a:srgbClr val="F5A053"/>
      </a:accent3>
      <a:accent4>
        <a:srgbClr val="44AC52"/>
      </a:accent4>
      <a:accent5>
        <a:srgbClr val="5C79B9"/>
      </a:accent5>
      <a:accent6>
        <a:srgbClr val="8C493C"/>
      </a:accent6>
      <a:hlink>
        <a:srgbClr val="0563C1"/>
      </a:hlink>
      <a:folHlink>
        <a:srgbClr val="954F72"/>
      </a:folHlink>
    </a:clrScheme>
    <a:fontScheme name="Custom 2">
      <a:majorFont>
        <a:latin typeface="Sakkal Majalla"/>
        <a:ea typeface=""/>
        <a:cs typeface="Sakkal Majalla"/>
      </a:majorFont>
      <a:minorFont>
        <a:latin typeface="Sakkal Majalla"/>
        <a:ea typeface=""/>
        <a:cs typeface="Sakkal Majall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قالب هيئة تقويم التعليم والتدريب" id="{9A6817DC-B17F-4D1B-B5C7-111B32FC2AAE}" vid="{4B21A0E3-9419-4B4C-8023-7E7AF5CFDC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قالب هيئة تقويم التعليم والتدريب</Template>
  <TotalTime>18419</TotalTime>
  <Words>7716</Words>
  <Application>Microsoft Office PowerPoint</Application>
  <PresentationFormat>Widescreen</PresentationFormat>
  <Paragraphs>921</Paragraphs>
  <Slides>61</Slides>
  <Notes>49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61</vt:i4>
      </vt:variant>
    </vt:vector>
  </HeadingPairs>
  <TitlesOfParts>
    <vt:vector size="68" baseType="lpstr">
      <vt:lpstr>Calibri</vt:lpstr>
      <vt:lpstr>Arial</vt:lpstr>
      <vt:lpstr>Tajawal</vt:lpstr>
      <vt:lpstr>DIN Next LT Arabic</vt:lpstr>
      <vt:lpstr>Wingdings</vt:lpstr>
      <vt:lpstr>Sakkal Majalla</vt:lpstr>
      <vt:lpstr>Office Theme</vt:lpstr>
      <vt:lpstr>وثيقة مبادئ البنية المؤسسية</vt:lpstr>
      <vt:lpstr>PowerPoint Presentation</vt:lpstr>
      <vt:lpstr>PowerPoint Presentation</vt:lpstr>
      <vt:lpstr>PowerPoint Presentation</vt:lpstr>
      <vt:lpstr>جدول المحتويات</vt:lpstr>
      <vt:lpstr>مقدمة حول مبادئ البنية المؤسسية</vt:lpstr>
      <vt:lpstr>PowerPoint Presentation</vt:lpstr>
      <vt:lpstr>PowerPoint Presentation</vt:lpstr>
      <vt:lpstr>PowerPoint Presentation</vt:lpstr>
      <vt:lpstr>PowerPoint Presentation</vt:lpstr>
      <vt:lpstr>PowerPoint Presentation</vt:lpstr>
      <vt:lpstr>PowerPoint Presentation</vt:lpstr>
      <vt:lpstr>بطاقات مبادئ مجالات البنية المؤسسية</vt:lpstr>
      <vt:lpstr>مبادئ بنية الأعمال</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مبادئ بنية تجربة المستفيد</vt:lpstr>
      <vt:lpstr>PowerPoint Presentation</vt:lpstr>
      <vt:lpstr>PowerPoint Presentation</vt:lpstr>
      <vt:lpstr>PowerPoint Presentation</vt:lpstr>
      <vt:lpstr>PowerPoint Presentation</vt:lpstr>
      <vt:lpstr>مبادئ بنية التطبيقات</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مبادئ بنية البيانات</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مبادئ بنية التقنية</vt:lpstr>
      <vt:lpstr>PowerPoint Presentation</vt:lpstr>
      <vt:lpstr>PowerPoint Presentation</vt:lpstr>
      <vt:lpstr>PowerPoint Presentation</vt:lpstr>
      <vt:lpstr>PowerPoint Presentation</vt:lpstr>
      <vt:lpstr>PowerPoint Presentation</vt:lpstr>
      <vt:lpstr>PowerPoint Presentation</vt:lpstr>
      <vt:lpstr>مبادئ بنية الأمن السيبراني</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اجتماع إطلاق مشروع</dc:title>
  <dc:creator>ashawky</dc:creator>
  <cp:lastModifiedBy>Hani Adel Ibraheem Rehan</cp:lastModifiedBy>
  <cp:revision>1314</cp:revision>
  <dcterms:created xsi:type="dcterms:W3CDTF">2024-05-29T18:26:52Z</dcterms:created>
  <dcterms:modified xsi:type="dcterms:W3CDTF">2025-12-16T10:46:03Z</dcterms:modified>
</cp:coreProperties>
</file>