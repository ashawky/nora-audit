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61"/>
  </p:notesMasterIdLst>
  <p:handoutMasterIdLst>
    <p:handoutMasterId r:id="rId62"/>
  </p:handoutMasterIdLst>
  <p:sldIdLst>
    <p:sldId id="542" r:id="rId2"/>
    <p:sldId id="576" r:id="rId3"/>
    <p:sldId id="577" r:id="rId4"/>
    <p:sldId id="578" r:id="rId5"/>
    <p:sldId id="5333" r:id="rId6"/>
    <p:sldId id="597" r:id="rId7"/>
    <p:sldId id="634" r:id="rId8"/>
    <p:sldId id="595" r:id="rId9"/>
    <p:sldId id="507" r:id="rId10"/>
    <p:sldId id="608" r:id="rId11"/>
    <p:sldId id="5334" r:id="rId12"/>
    <p:sldId id="5355" r:id="rId13"/>
    <p:sldId id="5356" r:id="rId14"/>
    <p:sldId id="5357" r:id="rId15"/>
    <p:sldId id="5339" r:id="rId16"/>
    <p:sldId id="5340" r:id="rId17"/>
    <p:sldId id="5341" r:id="rId18"/>
    <p:sldId id="5342" r:id="rId19"/>
    <p:sldId id="5343" r:id="rId20"/>
    <p:sldId id="5345" r:id="rId21"/>
    <p:sldId id="5346" r:id="rId22"/>
    <p:sldId id="5347" r:id="rId23"/>
    <p:sldId id="5348" r:id="rId24"/>
    <p:sldId id="5349" r:id="rId25"/>
    <p:sldId id="5350" r:id="rId26"/>
    <p:sldId id="5351" r:id="rId27"/>
    <p:sldId id="5352" r:id="rId28"/>
    <p:sldId id="5353" r:id="rId29"/>
    <p:sldId id="5354" r:id="rId30"/>
    <p:sldId id="5252" r:id="rId31"/>
    <p:sldId id="5278" r:id="rId32"/>
    <p:sldId id="5358" r:id="rId33"/>
    <p:sldId id="5359" r:id="rId34"/>
    <p:sldId id="5378" r:id="rId35"/>
    <p:sldId id="5393" r:id="rId36"/>
    <p:sldId id="5379" r:id="rId37"/>
    <p:sldId id="5279" r:id="rId38"/>
    <p:sldId id="5360" r:id="rId39"/>
    <p:sldId id="5361" r:id="rId40"/>
    <p:sldId id="5362" r:id="rId41"/>
    <p:sldId id="5363" r:id="rId42"/>
    <p:sldId id="5364" r:id="rId43"/>
    <p:sldId id="5377" r:id="rId44"/>
    <p:sldId id="656" r:id="rId45"/>
    <p:sldId id="5365" r:id="rId46"/>
    <p:sldId id="5366" r:id="rId47"/>
    <p:sldId id="5367" r:id="rId48"/>
    <p:sldId id="5297" r:id="rId49"/>
    <p:sldId id="5388" r:id="rId50"/>
    <p:sldId id="5389" r:id="rId51"/>
    <p:sldId id="5390" r:id="rId52"/>
    <p:sldId id="5391" r:id="rId53"/>
    <p:sldId id="5392" r:id="rId54"/>
    <p:sldId id="5394" r:id="rId55"/>
    <p:sldId id="5384" r:id="rId56"/>
    <p:sldId id="5385" r:id="rId57"/>
    <p:sldId id="5386" r:id="rId58"/>
    <p:sldId id="5387" r:id="rId59"/>
    <p:sldId id="5254" r:id="rId60"/>
  </p:sldIdLst>
  <p:sldSz cx="12192000" cy="6858000"/>
  <p:notesSz cx="6858000" cy="9144000"/>
  <p:embeddedFontLst>
    <p:embeddedFont>
      <p:font typeface="Sakkal Majalla" panose="02000000000000000000" pitchFamily="2" charset="-78"/>
      <p:regular r:id="rId63"/>
      <p:bold r:id="rId64"/>
    </p:embeddedFont>
    <p:embeddedFont>
      <p:font typeface="Tajawal" panose="00000500000000000000" pitchFamily="2" charset="-78"/>
      <p:regular r:id="rId65"/>
      <p:bold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مبادئ البنية المؤسسية" id="{6379A7A7-AC00-4837-984B-A208BB03B352}">
          <p14:sldIdLst>
            <p14:sldId id="542"/>
            <p14:sldId id="576"/>
            <p14:sldId id="577"/>
            <p14:sldId id="578"/>
            <p14:sldId id="5333"/>
          </p14:sldIdLst>
        </p14:section>
        <p14:section name="مقدمة حول معايير البنية المؤسسية" id="{C10D3DF1-FB9E-4E6B-8328-C9DA3E93948C}">
          <p14:sldIdLst>
            <p14:sldId id="597"/>
            <p14:sldId id="634"/>
            <p14:sldId id="595"/>
            <p14:sldId id="507"/>
            <p14:sldId id="608"/>
          </p14:sldIdLst>
        </p14:section>
        <p14:section name="مكتبة المعايير المحلية والعالمية" id="{1C108743-FAAB-495A-8199-78B0B54E5B72}">
          <p14:sldIdLst>
            <p14:sldId id="5334"/>
            <p14:sldId id="5355"/>
            <p14:sldId id="5356"/>
            <p14:sldId id="5357"/>
            <p14:sldId id="5339"/>
            <p14:sldId id="5340"/>
            <p14:sldId id="5341"/>
            <p14:sldId id="5342"/>
            <p14:sldId id="5343"/>
            <p14:sldId id="5345"/>
            <p14:sldId id="5346"/>
            <p14:sldId id="5347"/>
            <p14:sldId id="5348"/>
            <p14:sldId id="5349"/>
            <p14:sldId id="5350"/>
            <p14:sldId id="5351"/>
            <p14:sldId id="5352"/>
            <p14:sldId id="5353"/>
            <p14:sldId id="5354"/>
          </p14:sldIdLst>
        </p14:section>
        <p14:section name="معايير البنية المؤسسية" id="{C79F56EC-9E94-47B3-8017-32A47F779F6F}">
          <p14:sldIdLst>
            <p14:sldId id="5252"/>
          </p14:sldIdLst>
        </p14:section>
        <p14:section name="المعايير المرتبطة ببنية الأعمال" id="{27838E87-8FE4-4959-B678-021C6C4428D1}">
          <p14:sldIdLst>
            <p14:sldId id="5278"/>
            <p14:sldId id="5358"/>
            <p14:sldId id="5359"/>
            <p14:sldId id="5378"/>
          </p14:sldIdLst>
        </p14:section>
        <p14:section name="المعايير المرتبطة بتجربة المستفيد" id="{008E2136-B0A8-47AB-AB0B-35156FE67FDF}">
          <p14:sldIdLst>
            <p14:sldId id="5393"/>
            <p14:sldId id="5379"/>
          </p14:sldIdLst>
        </p14:section>
        <p14:section name="المعايير المرتبطة ببنية التطبيقات" id="{1816B241-199D-4D7F-BFBB-B4A1161FB1CF}">
          <p14:sldIdLst>
            <p14:sldId id="5279"/>
            <p14:sldId id="5360"/>
            <p14:sldId id="5361"/>
            <p14:sldId id="5362"/>
            <p14:sldId id="5363"/>
            <p14:sldId id="5364"/>
            <p14:sldId id="5377"/>
          </p14:sldIdLst>
        </p14:section>
        <p14:section name="المعايير المرتبطة ببنية البيانات" id="{5BEDB6AA-249D-425C-BC5B-24EE5C403DB5}">
          <p14:sldIdLst>
            <p14:sldId id="656"/>
            <p14:sldId id="5365"/>
            <p14:sldId id="5366"/>
            <p14:sldId id="5367"/>
          </p14:sldIdLst>
        </p14:section>
        <p14:section name="المعايير المرتبطة ببنية التقنية" id="{55213760-523F-4270-978F-52EFE3AD6058}">
          <p14:sldIdLst>
            <p14:sldId id="5297"/>
            <p14:sldId id="5388"/>
            <p14:sldId id="5389"/>
            <p14:sldId id="5390"/>
            <p14:sldId id="5391"/>
            <p14:sldId id="5392"/>
          </p14:sldIdLst>
        </p14:section>
        <p14:section name="المعايير المرتبطة ببنية الأمن السيبراني" id="{0BFF2BCB-30F1-440F-88E5-3F2742939ADF}">
          <p14:sldIdLst>
            <p14:sldId id="5394"/>
            <p14:sldId id="5384"/>
            <p14:sldId id="5385"/>
            <p14:sldId id="5386"/>
            <p14:sldId id="5387"/>
            <p14:sldId id="52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 id="4" name="Alaa  Alwatban" initials="AA" lastIdx="4" clrIdx="3">
    <p:extLst>
      <p:ext uri="{19B8F6BF-5375-455C-9EA6-DF929625EA0E}">
        <p15:presenceInfo xmlns:p15="http://schemas.microsoft.com/office/powerpoint/2012/main" userId="S-1-5-21-2411063874-488449627-3027057399-117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7"/>
    <a:srgbClr val="F2F2F2"/>
    <a:srgbClr val="392D6A"/>
    <a:srgbClr val="B2D9F0"/>
    <a:srgbClr val="8CC6E8"/>
    <a:srgbClr val="F5A053"/>
    <a:srgbClr val="3FA0D9"/>
    <a:srgbClr val="51B4C2"/>
    <a:srgbClr val="4C3C8D"/>
    <a:srgbClr val="2256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99" autoAdjust="0"/>
    <p:restoredTop sz="75202" autoAdjust="0"/>
  </p:normalViewPr>
  <p:slideViewPr>
    <p:cSldViewPr snapToGrid="0">
      <p:cViewPr varScale="1">
        <p:scale>
          <a:sx n="95" d="100"/>
          <a:sy n="95" d="100"/>
        </p:scale>
        <p:origin x="115" y="72"/>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12/9/2025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3030717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3408436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3461089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13</a:t>
            </a:fld>
            <a:endParaRPr lang="en-US"/>
          </a:p>
        </p:txBody>
      </p:sp>
    </p:spTree>
    <p:extLst>
      <p:ext uri="{BB962C8B-B14F-4D97-AF65-F5344CB8AC3E}">
        <p14:creationId xmlns:p14="http://schemas.microsoft.com/office/powerpoint/2010/main" val="2872949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1121675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4151625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4033204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90597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18</a:t>
            </a:fld>
            <a:endParaRPr lang="en-US"/>
          </a:p>
        </p:txBody>
      </p:sp>
    </p:spTree>
    <p:extLst>
      <p:ext uri="{BB962C8B-B14F-4D97-AF65-F5344CB8AC3E}">
        <p14:creationId xmlns:p14="http://schemas.microsoft.com/office/powerpoint/2010/main" val="1501344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19</a:t>
            </a:fld>
            <a:endParaRPr lang="en-US"/>
          </a:p>
        </p:txBody>
      </p:sp>
    </p:spTree>
    <p:extLst>
      <p:ext uri="{BB962C8B-B14F-4D97-AF65-F5344CB8AC3E}">
        <p14:creationId xmlns:p14="http://schemas.microsoft.com/office/powerpoint/2010/main" val="3956827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3644787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909441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1254707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1260537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24</a:t>
            </a:fld>
            <a:endParaRPr lang="en-US"/>
          </a:p>
        </p:txBody>
      </p:sp>
    </p:spTree>
    <p:extLst>
      <p:ext uri="{BB962C8B-B14F-4D97-AF65-F5344CB8AC3E}">
        <p14:creationId xmlns:p14="http://schemas.microsoft.com/office/powerpoint/2010/main" val="42850827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1567705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2001322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4152190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2955791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2765199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3372049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21632458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33</a:t>
            </a:fld>
            <a:endParaRPr lang="en-US"/>
          </a:p>
        </p:txBody>
      </p:sp>
    </p:spTree>
    <p:extLst>
      <p:ext uri="{BB962C8B-B14F-4D97-AF65-F5344CB8AC3E}">
        <p14:creationId xmlns:p14="http://schemas.microsoft.com/office/powerpoint/2010/main" val="2347232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32552-8DEA-6698-B894-DF264D7B8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DA95C-F223-FAFE-B905-220125FDD8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2CE6E5-3C9E-995E-79D9-63952EB17597}"/>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E6F702F0-1F5D-A9F0-89EC-87190515E554}"/>
              </a:ext>
            </a:extLst>
          </p:cNvPr>
          <p:cNvSpPr>
            <a:spLocks noGrp="1"/>
          </p:cNvSpPr>
          <p:nvPr>
            <p:ph type="sldNum" sz="quarter" idx="5"/>
          </p:nvPr>
        </p:nvSpPr>
        <p:spPr/>
        <p:txBody>
          <a:bodyPr/>
          <a:lstStyle/>
          <a:p>
            <a:fld id="{B97FDBCA-D751-4A03-819B-45597328ED86}" type="slidenum">
              <a:rPr lang="en-US" smtClean="0"/>
              <a:t>34</a:t>
            </a:fld>
            <a:endParaRPr lang="en-US"/>
          </a:p>
        </p:txBody>
      </p:sp>
    </p:spTree>
    <p:extLst>
      <p:ext uri="{BB962C8B-B14F-4D97-AF65-F5344CB8AC3E}">
        <p14:creationId xmlns:p14="http://schemas.microsoft.com/office/powerpoint/2010/main" val="1765515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3C515-9842-FD66-8DEF-000C0E677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5E76F-A592-748B-4DE3-53B24A504A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6AC269-CE27-956A-0676-F48A2AEF7A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312B01-041A-73B6-B85A-875B2F91EE83}"/>
              </a:ext>
            </a:extLst>
          </p:cNvPr>
          <p:cNvSpPr>
            <a:spLocks noGrp="1"/>
          </p:cNvSpPr>
          <p:nvPr>
            <p:ph type="sldNum" sz="quarter" idx="5"/>
          </p:nvPr>
        </p:nvSpPr>
        <p:spPr/>
        <p:txBody>
          <a:bodyPr/>
          <a:lstStyle/>
          <a:p>
            <a:fld id="{B97FDBCA-D751-4A03-819B-45597328ED86}" type="slidenum">
              <a:rPr lang="en-US" smtClean="0"/>
              <a:t>35</a:t>
            </a:fld>
            <a:endParaRPr lang="en-US"/>
          </a:p>
        </p:txBody>
      </p:sp>
    </p:spTree>
    <p:extLst>
      <p:ext uri="{BB962C8B-B14F-4D97-AF65-F5344CB8AC3E}">
        <p14:creationId xmlns:p14="http://schemas.microsoft.com/office/powerpoint/2010/main" val="33390847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33583-7819-6AB0-26F8-B38BFE765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AAB55-9CAD-BD6C-EC0D-7572CB3545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6C8FAD-AA68-F99E-947F-F61D3A38EEBF}"/>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2893C344-80FB-D479-73E2-EF243E4E5309}"/>
              </a:ext>
            </a:extLst>
          </p:cNvPr>
          <p:cNvSpPr>
            <a:spLocks noGrp="1"/>
          </p:cNvSpPr>
          <p:nvPr>
            <p:ph type="sldNum" sz="quarter" idx="5"/>
          </p:nvPr>
        </p:nvSpPr>
        <p:spPr/>
        <p:txBody>
          <a:bodyPr/>
          <a:lstStyle/>
          <a:p>
            <a:fld id="{B97FDBCA-D751-4A03-819B-45597328ED86}" type="slidenum">
              <a:rPr lang="en-US" smtClean="0"/>
              <a:t>36</a:t>
            </a:fld>
            <a:endParaRPr lang="en-US"/>
          </a:p>
        </p:txBody>
      </p:sp>
    </p:spTree>
    <p:extLst>
      <p:ext uri="{BB962C8B-B14F-4D97-AF65-F5344CB8AC3E}">
        <p14:creationId xmlns:p14="http://schemas.microsoft.com/office/powerpoint/2010/main" val="1205062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37</a:t>
            </a:fld>
            <a:endParaRPr lang="en-US"/>
          </a:p>
        </p:txBody>
      </p:sp>
    </p:spTree>
    <p:extLst>
      <p:ext uri="{BB962C8B-B14F-4D97-AF65-F5344CB8AC3E}">
        <p14:creationId xmlns:p14="http://schemas.microsoft.com/office/powerpoint/2010/main" val="1209928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38</a:t>
            </a:fld>
            <a:endParaRPr lang="en-US"/>
          </a:p>
        </p:txBody>
      </p:sp>
    </p:spTree>
    <p:extLst>
      <p:ext uri="{BB962C8B-B14F-4D97-AF65-F5344CB8AC3E}">
        <p14:creationId xmlns:p14="http://schemas.microsoft.com/office/powerpoint/2010/main" val="10438596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39</a:t>
            </a:fld>
            <a:endParaRPr lang="en-US"/>
          </a:p>
        </p:txBody>
      </p:sp>
    </p:spTree>
    <p:extLst>
      <p:ext uri="{BB962C8B-B14F-4D97-AF65-F5344CB8AC3E}">
        <p14:creationId xmlns:p14="http://schemas.microsoft.com/office/powerpoint/2010/main" val="9100050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40</a:t>
            </a:fld>
            <a:endParaRPr lang="en-US"/>
          </a:p>
        </p:txBody>
      </p:sp>
    </p:spTree>
    <p:extLst>
      <p:ext uri="{BB962C8B-B14F-4D97-AF65-F5344CB8AC3E}">
        <p14:creationId xmlns:p14="http://schemas.microsoft.com/office/powerpoint/2010/main" val="13069790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41</a:t>
            </a:fld>
            <a:endParaRPr lang="en-US"/>
          </a:p>
        </p:txBody>
      </p:sp>
    </p:spTree>
    <p:extLst>
      <p:ext uri="{BB962C8B-B14F-4D97-AF65-F5344CB8AC3E}">
        <p14:creationId xmlns:p14="http://schemas.microsoft.com/office/powerpoint/2010/main" val="27550513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42</a:t>
            </a:fld>
            <a:endParaRPr lang="en-US"/>
          </a:p>
        </p:txBody>
      </p:sp>
    </p:spTree>
    <p:extLst>
      <p:ext uri="{BB962C8B-B14F-4D97-AF65-F5344CB8AC3E}">
        <p14:creationId xmlns:p14="http://schemas.microsoft.com/office/powerpoint/2010/main" val="1390048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43</a:t>
            </a:fld>
            <a:endParaRPr lang="en-US"/>
          </a:p>
        </p:txBody>
      </p:sp>
    </p:spTree>
    <p:extLst>
      <p:ext uri="{BB962C8B-B14F-4D97-AF65-F5344CB8AC3E}">
        <p14:creationId xmlns:p14="http://schemas.microsoft.com/office/powerpoint/2010/main" val="13239274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44</a:t>
            </a:fld>
            <a:endParaRPr lang="en-US"/>
          </a:p>
        </p:txBody>
      </p:sp>
    </p:spTree>
    <p:extLst>
      <p:ext uri="{BB962C8B-B14F-4D97-AF65-F5344CB8AC3E}">
        <p14:creationId xmlns:p14="http://schemas.microsoft.com/office/powerpoint/2010/main" val="2686740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45</a:t>
            </a:fld>
            <a:endParaRPr lang="en-US"/>
          </a:p>
        </p:txBody>
      </p:sp>
    </p:spTree>
    <p:extLst>
      <p:ext uri="{BB962C8B-B14F-4D97-AF65-F5344CB8AC3E}">
        <p14:creationId xmlns:p14="http://schemas.microsoft.com/office/powerpoint/2010/main" val="31780541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46</a:t>
            </a:fld>
            <a:endParaRPr lang="en-US"/>
          </a:p>
        </p:txBody>
      </p:sp>
    </p:spTree>
    <p:extLst>
      <p:ext uri="{BB962C8B-B14F-4D97-AF65-F5344CB8AC3E}">
        <p14:creationId xmlns:p14="http://schemas.microsoft.com/office/powerpoint/2010/main" val="13188730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47</a:t>
            </a:fld>
            <a:endParaRPr lang="en-US"/>
          </a:p>
        </p:txBody>
      </p:sp>
    </p:spTree>
    <p:extLst>
      <p:ext uri="{BB962C8B-B14F-4D97-AF65-F5344CB8AC3E}">
        <p14:creationId xmlns:p14="http://schemas.microsoft.com/office/powerpoint/2010/main" val="21939288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48</a:t>
            </a:fld>
            <a:endParaRPr lang="en-US"/>
          </a:p>
        </p:txBody>
      </p:sp>
    </p:spTree>
    <p:extLst>
      <p:ext uri="{BB962C8B-B14F-4D97-AF65-F5344CB8AC3E}">
        <p14:creationId xmlns:p14="http://schemas.microsoft.com/office/powerpoint/2010/main" val="30769454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B6C79-D3FE-47B6-9F1B-7E9E08E2C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E2B3E-F1FC-6320-8210-130D9789E7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755963-5991-D709-2C98-354B60FD69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B7EDB0-B0EE-1E53-A1FF-4B7F2E5D997F}"/>
              </a:ext>
            </a:extLst>
          </p:cNvPr>
          <p:cNvSpPr>
            <a:spLocks noGrp="1"/>
          </p:cNvSpPr>
          <p:nvPr>
            <p:ph type="sldNum" sz="quarter" idx="5"/>
          </p:nvPr>
        </p:nvSpPr>
        <p:spPr/>
        <p:txBody>
          <a:bodyPr/>
          <a:lstStyle/>
          <a:p>
            <a:fld id="{B97FDBCA-D751-4A03-819B-45597328ED86}" type="slidenum">
              <a:rPr lang="en-US" smtClean="0"/>
              <a:t>54</a:t>
            </a:fld>
            <a:endParaRPr lang="en-US"/>
          </a:p>
        </p:txBody>
      </p:sp>
    </p:spTree>
    <p:extLst>
      <p:ext uri="{BB962C8B-B14F-4D97-AF65-F5344CB8AC3E}">
        <p14:creationId xmlns:p14="http://schemas.microsoft.com/office/powerpoint/2010/main" val="920333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12/9/2025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12/9/2025</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12/9/2025</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12/9/2025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12/9/2025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12/9/2025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12/9/2025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12/9/2025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658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11.xml"/><Relationship Id="rId7" Type="http://schemas.openxmlformats.org/officeDocument/2006/relationships/slide" Target="slide10.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9.xml"/><Relationship Id="rId5" Type="http://schemas.openxmlformats.org/officeDocument/2006/relationships/slide" Target="slide30.xml"/><Relationship Id="rId4" Type="http://schemas.openxmlformats.org/officeDocument/2006/relationships/slide" Target="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EG"/>
              <a:t>وثيقة </a:t>
            </a:r>
            <a:r>
              <a:rPr lang="ar-EG" dirty="0"/>
              <a:t>معايير البنية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en-US" dirty="0"/>
              <a:t>0.3</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3908347804"/>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10-Sep-2024</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Y"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حصر وتقييم المعايير المحلية والعالمية</a:t>
                      </a: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وبناء قائمة مخصصة لمعايير البنية المؤسسية</a:t>
                      </a: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10-Sep-2024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 احمد شوقي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أول</a:t>
                      </a:r>
                      <a:r>
                        <a:rPr lang="ar-SY" sz="1800" kern="1200" dirty="0">
                          <a:solidFill>
                            <a:schemeClr val="tx1"/>
                          </a:solidFill>
                          <a:effectLst/>
                          <a:latin typeface="Sakkal Majalla" panose="02000000000000000000" pitchFamily="2" charset="-78"/>
                          <a:ea typeface="+mn-ea"/>
                          <a:cs typeface="Sakkal Majalla" panose="02000000000000000000" pitchFamily="2" charset="-78"/>
                        </a:rPr>
                        <a:t>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إعداد مسودة الوثيقة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0.2</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19-Sep-2024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البنية</a:t>
                      </a:r>
                      <a:r>
                        <a:rPr lang="ar-SA" sz="1800" kern="1200" baseline="0" dirty="0">
                          <a:solidFill>
                            <a:schemeClr val="tx1"/>
                          </a:solidFill>
                          <a:effectLst/>
                          <a:latin typeface="Sakkal Majalla" panose="02000000000000000000" pitchFamily="2" charset="-78"/>
                          <a:ea typeface="+mn-ea"/>
                          <a:cs typeface="Sakkal Majalla" panose="02000000000000000000" pitchFamily="2" charset="-78"/>
                        </a:rPr>
                        <a:t> المؤسسية في الهيئة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مراجعة الوثيقة</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0.2</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08-Oct-2024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 احمد شوقي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أول</a:t>
                      </a:r>
                      <a:r>
                        <a:rPr lang="ar-SY" sz="1800" kern="1200" dirty="0">
                          <a:solidFill>
                            <a:schemeClr val="tx1"/>
                          </a:solidFill>
                          <a:effectLst/>
                          <a:latin typeface="Sakkal Majalla" panose="02000000000000000000" pitchFamily="2" charset="-78"/>
                          <a:ea typeface="+mn-ea"/>
                          <a:cs typeface="Sakkal Majalla" panose="02000000000000000000" pitchFamily="2" charset="-78"/>
                        </a:rPr>
                        <a:t>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تطبيق ملاحظات مراجعة فريق البنية المؤسسية لدى الهيئة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0.3</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31-Oct-2024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 احمد شوقي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أول</a:t>
                      </a:r>
                      <a:r>
                        <a:rPr lang="ar-SY" sz="1800" kern="1200" dirty="0">
                          <a:solidFill>
                            <a:schemeClr val="tx1"/>
                          </a:solidFill>
                          <a:effectLst/>
                          <a:latin typeface="Sakkal Majalla" panose="02000000000000000000" pitchFamily="2" charset="-78"/>
                          <a:ea typeface="+mn-ea"/>
                          <a:cs typeface="Sakkal Majalla" panose="02000000000000000000" pitchFamily="2" charset="-78"/>
                        </a:rPr>
                        <a:t>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تطبيق ملاحظات مراجعة فريق البنية المؤسسية لدى الهيئة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810637164"/>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مدير قسم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20/11/2024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 يوسف </a:t>
                      </a:r>
                      <a:r>
                        <a:rPr lang="ar-SA" sz="1800" kern="1200" dirty="0" err="1">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العوهلي</a:t>
                      </a: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مساعد الرئيس للبيانات والتحول الرقمي</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lvl="0" indent="-1905" algn="ctr" defTabSz="914400" rtl="1" eaLnBrk="1" fontAlgn="auto" latinLnBrk="0" hangingPunct="1">
                        <a:lnSpc>
                          <a:spcPct val="115000"/>
                        </a:lnSpc>
                        <a:spcBef>
                          <a:spcPts val="500"/>
                        </a:spcBef>
                        <a:spcAft>
                          <a:spcPts val="0"/>
                        </a:spcAft>
                        <a:buClrTx/>
                        <a:buSzTx/>
                        <a:buFontTx/>
                        <a:buNone/>
                        <a:tabLst/>
                        <a:defRPr/>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20/11/2024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443008"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حول معايير البنية المؤسسية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715771"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609601"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3" action="ppaction://hlinksldjump"/>
              </a:rPr>
              <a:t>مكتبة المعايير المحلية والعالمية</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882364"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132" name="Text Placeholder 11">
            <a:extLst>
              <a:ext uri="{FF2B5EF4-FFF2-40B4-BE49-F238E27FC236}">
                <a16:creationId xmlns:a16="http://schemas.microsoft.com/office/drawing/2014/main" id="{1E68A69F-808A-5EF6-F6B5-DCE1E0909512}"/>
              </a:ext>
            </a:extLst>
          </p:cNvPr>
          <p:cNvSpPr txBox="1">
            <a:spLocks/>
          </p:cNvSpPr>
          <p:nvPr/>
        </p:nvSpPr>
        <p:spPr>
          <a:xfrm>
            <a:off x="4438005" y="152516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4" action="ppaction://hlinksldjump"/>
              </a:rPr>
              <a:t>1.1 أهمية معايير البنية المؤسسية</a:t>
            </a:r>
            <a:endParaRPr lang="ar-EG" sz="1400" dirty="0">
              <a:solidFill>
                <a:schemeClr val="accent2"/>
              </a:solidFill>
            </a:endParaRPr>
          </a:p>
        </p:txBody>
      </p:sp>
      <p:sp>
        <p:nvSpPr>
          <p:cNvPr id="6" name="Text Placeholder 11">
            <a:extLst>
              <a:ext uri="{FF2B5EF4-FFF2-40B4-BE49-F238E27FC236}">
                <a16:creationId xmlns:a16="http://schemas.microsoft.com/office/drawing/2014/main" id="{E672BFDF-BC2C-4D81-F49E-815258EE34C5}"/>
              </a:ext>
            </a:extLst>
          </p:cNvPr>
          <p:cNvSpPr txBox="1">
            <a:spLocks/>
          </p:cNvSpPr>
          <p:nvPr/>
        </p:nvSpPr>
        <p:spPr>
          <a:xfrm>
            <a:off x="4443008" y="2545214"/>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5" action="ppaction://hlinksldjump"/>
              </a:rPr>
              <a:t>معايير البنية المؤسسية</a:t>
            </a:r>
            <a:endParaRPr lang="ar-EG" dirty="0">
              <a:solidFill>
                <a:schemeClr val="accent1"/>
              </a:solidFill>
            </a:endParaRPr>
          </a:p>
        </p:txBody>
      </p:sp>
      <p:sp>
        <p:nvSpPr>
          <p:cNvPr id="7" name="Text Placeholder 11">
            <a:extLst>
              <a:ext uri="{FF2B5EF4-FFF2-40B4-BE49-F238E27FC236}">
                <a16:creationId xmlns:a16="http://schemas.microsoft.com/office/drawing/2014/main" id="{E2390403-19EA-BD49-4C31-702C4DE2F7EF}"/>
              </a:ext>
            </a:extLst>
          </p:cNvPr>
          <p:cNvSpPr txBox="1">
            <a:spLocks/>
          </p:cNvSpPr>
          <p:nvPr/>
        </p:nvSpPr>
        <p:spPr>
          <a:xfrm>
            <a:off x="4438005" y="2892441"/>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rPr>
              <a:t>3.1 المعايير المرتبطة ببنية الأعمال</a:t>
            </a:r>
          </a:p>
        </p:txBody>
      </p:sp>
      <p:sp>
        <p:nvSpPr>
          <p:cNvPr id="8" name="Text Placeholder 6">
            <a:extLst>
              <a:ext uri="{FF2B5EF4-FFF2-40B4-BE49-F238E27FC236}">
                <a16:creationId xmlns:a16="http://schemas.microsoft.com/office/drawing/2014/main" id="{1F70DEF4-D70A-96B4-B917-E2AADE86E876}"/>
              </a:ext>
            </a:extLst>
          </p:cNvPr>
          <p:cNvSpPr txBox="1">
            <a:spLocks/>
          </p:cNvSpPr>
          <p:nvPr/>
        </p:nvSpPr>
        <p:spPr>
          <a:xfrm>
            <a:off x="7715771" y="2517505"/>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3</a:t>
            </a:r>
          </a:p>
        </p:txBody>
      </p:sp>
      <p:sp>
        <p:nvSpPr>
          <p:cNvPr id="9" name="Text Placeholder 11">
            <a:extLst>
              <a:ext uri="{FF2B5EF4-FFF2-40B4-BE49-F238E27FC236}">
                <a16:creationId xmlns:a16="http://schemas.microsoft.com/office/drawing/2014/main" id="{4D8EAE61-4A8F-0F25-ED99-EBA06D7216F8}"/>
              </a:ext>
            </a:extLst>
          </p:cNvPr>
          <p:cNvSpPr txBox="1">
            <a:spLocks/>
          </p:cNvSpPr>
          <p:nvPr/>
        </p:nvSpPr>
        <p:spPr>
          <a:xfrm>
            <a:off x="4430792" y="3501195"/>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rPr>
              <a:t>3.3 المعايير المرتبطة ببنية التطبيقات</a:t>
            </a:r>
          </a:p>
        </p:txBody>
      </p:sp>
      <p:sp>
        <p:nvSpPr>
          <p:cNvPr id="10" name="Text Placeholder 11">
            <a:extLst>
              <a:ext uri="{FF2B5EF4-FFF2-40B4-BE49-F238E27FC236}">
                <a16:creationId xmlns:a16="http://schemas.microsoft.com/office/drawing/2014/main" id="{113C9158-5B97-CA09-82E9-0E8B128F821B}"/>
              </a:ext>
            </a:extLst>
          </p:cNvPr>
          <p:cNvSpPr txBox="1">
            <a:spLocks/>
          </p:cNvSpPr>
          <p:nvPr/>
        </p:nvSpPr>
        <p:spPr>
          <a:xfrm>
            <a:off x="4421370" y="3717776"/>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rPr>
              <a:t>3.4 المعايير المرتبطة ببنية البيانات</a:t>
            </a:r>
          </a:p>
        </p:txBody>
      </p:sp>
      <p:sp>
        <p:nvSpPr>
          <p:cNvPr id="11" name="Text Placeholder 11">
            <a:extLst>
              <a:ext uri="{FF2B5EF4-FFF2-40B4-BE49-F238E27FC236}">
                <a16:creationId xmlns:a16="http://schemas.microsoft.com/office/drawing/2014/main" id="{6120F0C2-6D23-41AA-BDA7-B3BAA1140BB9}"/>
              </a:ext>
            </a:extLst>
          </p:cNvPr>
          <p:cNvSpPr txBox="1">
            <a:spLocks/>
          </p:cNvSpPr>
          <p:nvPr/>
        </p:nvSpPr>
        <p:spPr>
          <a:xfrm>
            <a:off x="4421370" y="3971001"/>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rPr>
              <a:t>3.5 المعايير المرتبطة ببنية التقنية</a:t>
            </a:r>
          </a:p>
        </p:txBody>
      </p:sp>
      <p:sp>
        <p:nvSpPr>
          <p:cNvPr id="13" name="Text Placeholder 11">
            <a:extLst>
              <a:ext uri="{FF2B5EF4-FFF2-40B4-BE49-F238E27FC236}">
                <a16:creationId xmlns:a16="http://schemas.microsoft.com/office/drawing/2014/main" id="{C69C353C-C37F-E975-A66E-9567DB20BB4B}"/>
              </a:ext>
            </a:extLst>
          </p:cNvPr>
          <p:cNvSpPr txBox="1">
            <a:spLocks/>
          </p:cNvSpPr>
          <p:nvPr/>
        </p:nvSpPr>
        <p:spPr>
          <a:xfrm>
            <a:off x="4435795" y="176649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6" action="ppaction://hlinksldjump"/>
              </a:rPr>
              <a:t>1.2 فوائد تطبيق معايير البنية المؤسسية</a:t>
            </a:r>
            <a:endParaRPr lang="ar-EG" sz="1400" dirty="0">
              <a:solidFill>
                <a:schemeClr val="accent2"/>
              </a:solidFill>
            </a:endParaRPr>
          </a:p>
        </p:txBody>
      </p:sp>
      <p:sp>
        <p:nvSpPr>
          <p:cNvPr id="14" name="Text Placeholder 11">
            <a:extLst>
              <a:ext uri="{FF2B5EF4-FFF2-40B4-BE49-F238E27FC236}">
                <a16:creationId xmlns:a16="http://schemas.microsoft.com/office/drawing/2014/main" id="{2FC12EC2-424A-46E2-D3F5-10576002FB61}"/>
              </a:ext>
            </a:extLst>
          </p:cNvPr>
          <p:cNvSpPr txBox="1">
            <a:spLocks/>
          </p:cNvSpPr>
          <p:nvPr/>
        </p:nvSpPr>
        <p:spPr>
          <a:xfrm>
            <a:off x="4443008" y="2035187"/>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7" action="ppaction://hlinksldjump"/>
              </a:rPr>
              <a:t>1.3 خطوات بناء معايير البنية المؤسسية</a:t>
            </a:r>
            <a:endParaRPr lang="ar-EG" sz="1400" dirty="0">
              <a:solidFill>
                <a:schemeClr val="accent2"/>
              </a:solidFill>
            </a:endParaRPr>
          </a:p>
        </p:txBody>
      </p:sp>
      <p:sp>
        <p:nvSpPr>
          <p:cNvPr id="2" name="Text Placeholder 11">
            <a:extLst>
              <a:ext uri="{FF2B5EF4-FFF2-40B4-BE49-F238E27FC236}">
                <a16:creationId xmlns:a16="http://schemas.microsoft.com/office/drawing/2014/main" id="{16359022-C449-648F-B50F-38C264938401}"/>
              </a:ext>
            </a:extLst>
          </p:cNvPr>
          <p:cNvSpPr txBox="1">
            <a:spLocks/>
          </p:cNvSpPr>
          <p:nvPr/>
        </p:nvSpPr>
        <p:spPr>
          <a:xfrm>
            <a:off x="4428582" y="4224226"/>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rPr>
              <a:t>3.6 المعايير المرتبطة ببنية الامن السيبراني</a:t>
            </a:r>
          </a:p>
        </p:txBody>
      </p:sp>
      <p:sp>
        <p:nvSpPr>
          <p:cNvPr id="4" name="Text Placeholder 11">
            <a:extLst>
              <a:ext uri="{FF2B5EF4-FFF2-40B4-BE49-F238E27FC236}">
                <a16:creationId xmlns:a16="http://schemas.microsoft.com/office/drawing/2014/main" id="{8575D736-CCDD-E323-F51F-7AAC62776014}"/>
              </a:ext>
            </a:extLst>
          </p:cNvPr>
          <p:cNvSpPr txBox="1">
            <a:spLocks/>
          </p:cNvSpPr>
          <p:nvPr/>
        </p:nvSpPr>
        <p:spPr>
          <a:xfrm>
            <a:off x="4421369" y="3196818"/>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rPr>
              <a:t>3.2 المعايير المرتبطة ببنية تجربة المستفيد</a:t>
            </a:r>
          </a:p>
        </p:txBody>
      </p:sp>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مقدمة </a:t>
            </a:r>
            <a:r>
              <a:rPr lang="ar-SA" dirty="0"/>
              <a:t>حول</a:t>
            </a:r>
            <a:r>
              <a:rPr lang="ar-EG" dirty="0"/>
              <a:t> معايير البنية المؤسسية</a:t>
            </a:r>
            <a:endParaRPr lang="en-US" dirty="0"/>
          </a:p>
        </p:txBody>
      </p:sp>
      <p:sp>
        <p:nvSpPr>
          <p:cNvPr id="4" name="Text Placeholder 3"/>
          <p:cNvSpPr>
            <a:spLocks noGrp="1"/>
          </p:cNvSpPr>
          <p:nvPr>
            <p:ph type="body" sz="quarter" idx="14"/>
          </p:nvPr>
        </p:nvSpPr>
        <p:spPr/>
        <p:txBody>
          <a:bodyPr/>
          <a:lstStyle/>
          <a:p>
            <a:r>
              <a:rPr lang="ar-EG" dirty="0"/>
              <a:t>01</a:t>
            </a:r>
            <a:endParaRPr lang="en-US" dirty="0"/>
          </a:p>
        </p:txBody>
      </p:sp>
    </p:spTree>
    <p:extLst>
      <p:ext uri="{BB962C8B-B14F-4D97-AF65-F5344CB8AC3E}">
        <p14:creationId xmlns:p14="http://schemas.microsoft.com/office/powerpoint/2010/main" val="328187822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 </a:t>
            </a:r>
            <a:r>
              <a:rPr lang="ar-SA" dirty="0"/>
              <a:t>البنية المؤسسية</a:t>
            </a:r>
            <a:endParaRPr lang="en-US" dirty="0"/>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just" rtl="1"/>
            <a:r>
              <a:rPr lang="ar-SA" sz="2400" dirty="0">
                <a:latin typeface="Sakkal Majalla" panose="02000000000000000000" pitchFamily="2" charset="-78"/>
                <a:cs typeface="Sakkal Majalla" panose="02000000000000000000" pitchFamily="2" charset="-78"/>
              </a:rPr>
              <a:t>هي ممارسات وضوابط لدراسة الوضع الحالي </a:t>
            </a:r>
            <a:r>
              <a:rPr lang="ar-EG" sz="2400" dirty="0">
                <a:latin typeface="Sakkal Majalla" panose="02000000000000000000" pitchFamily="2" charset="-78"/>
                <a:cs typeface="Sakkal Majalla" panose="02000000000000000000" pitchFamily="2" charset="-78"/>
              </a:rPr>
              <a:t>للهيئة</a:t>
            </a:r>
            <a:r>
              <a:rPr lang="ar-SA" sz="2400" dirty="0">
                <a:latin typeface="Sakkal Majalla" panose="02000000000000000000" pitchFamily="2" charset="-78"/>
                <a:cs typeface="Sakkal Majalla" panose="02000000000000000000" pitchFamily="2" charset="-78"/>
              </a:rPr>
              <a:t>، وبناء خارطة الطريق للتحول إلى الوضع المستقبلي لتحقيق المواءمة بين قطاع الأعمال (الخدمات والإجراءات) وتقنية المعلومات (البيانات، والتطبيقات، والبينة التحتية</a:t>
            </a:r>
            <a:r>
              <a:rPr lang="en-US" sz="2400" dirty="0">
                <a:latin typeface="Sakkal Majalla" panose="02000000000000000000" pitchFamily="2" charset="-78"/>
                <a:cs typeface="Sakkal Majalla" panose="02000000000000000000" pitchFamily="2" charset="-78"/>
              </a:rPr>
              <a:t> ,</a:t>
            </a:r>
            <a:r>
              <a:rPr lang="ar-EG" sz="2400" dirty="0">
                <a:latin typeface="Sakkal Majalla" panose="02000000000000000000" pitchFamily="2" charset="-78"/>
                <a:cs typeface="Sakkal Majalla" panose="02000000000000000000" pitchFamily="2" charset="-78"/>
              </a:rPr>
              <a:t> الامن السيبراني و تجربة المستفيد</a:t>
            </a:r>
            <a:r>
              <a:rPr lang="ar-SA" sz="2400" dirty="0">
                <a:latin typeface="Sakkal Majalla" panose="02000000000000000000" pitchFamily="2" charset="-78"/>
                <a:cs typeface="Sakkal Majalla" panose="02000000000000000000" pitchFamily="2" charset="-78"/>
              </a:rPr>
              <a:t>) والأهداف الاستراتيجية </a:t>
            </a:r>
            <a:r>
              <a:rPr lang="ar-EG" sz="2400" dirty="0">
                <a:latin typeface="Sakkal Majalla" panose="02000000000000000000" pitchFamily="2" charset="-78"/>
                <a:cs typeface="Sakkal Majalla" panose="02000000000000000000" pitchFamily="2" charset="-78"/>
              </a:rPr>
              <a:t>للهيئة.</a:t>
            </a:r>
            <a:endParaRPr lang="ar-SA" sz="2400" dirty="0">
              <a:latin typeface="Sakkal Majalla" panose="02000000000000000000" pitchFamily="2" charset="-78"/>
              <a:cs typeface="Sakkal Majalla" panose="02000000000000000000" pitchFamily="2" charset="-78"/>
            </a:endParaRP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218808"/>
            <a:ext cx="3127528" cy="259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أهمية معايير البنية المؤسسية</a:t>
            </a:r>
            <a:endParaRPr lang="en-US" dirty="0"/>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641323" y="1914805"/>
            <a:ext cx="7572633" cy="2694902"/>
          </a:xfrm>
          <a:prstGeom prst="rect">
            <a:avLst/>
          </a:prstGeom>
        </p:spPr>
        <p:txBody>
          <a:bodyPr anchor="ctr" anchorCtr="0">
            <a:normAutofit fontScale="85000" lnSpcReduction="10000"/>
          </a:bodyPr>
          <a:lstStyle/>
          <a:p>
            <a:pPr algn="r" rtl="1">
              <a:lnSpc>
                <a:spcPct val="150000"/>
              </a:lnSpc>
              <a:spcAft>
                <a:spcPts val="1200"/>
              </a:spcAft>
            </a:pPr>
            <a:r>
              <a:rPr lang="ar-EG" sz="2400" dirty="0"/>
              <a:t>لضمان تطبيق فعال لممارسات البنية المؤسسية، من المهم تحديد مجموعة معايير لكل مجال من مجالات البنية المؤسسية. هذه المعايير تضمن التزام الحلول التقنية والعمليات بتصاميم وتنفيذات متسقة ومتوائمة مع المتطلبات التنظيمية. الهدف من الوثيقة هو تقديم المعايير في مجالات البنية المؤسسية المختلفة، بنية الأعمال، بنية التطبيقات، بنية البيانات وبنية التقنية </a:t>
            </a:r>
            <a:r>
              <a:rPr lang="en-US" sz="2400" dirty="0"/>
              <a:t>,</a:t>
            </a:r>
            <a:r>
              <a:rPr lang="ar-EG" sz="2400" dirty="0"/>
              <a:t>بنية الامن السيبراني </a:t>
            </a:r>
            <a:r>
              <a:rPr lang="en-US" sz="2400" dirty="0"/>
              <a:t>,</a:t>
            </a:r>
            <a:r>
              <a:rPr lang="ar-EG" sz="2400" dirty="0"/>
              <a:t> بنية تجربة المستفيد  وتستهدف المعايير فرق البنى المعمارية، المهندسين، ومديري المشاريع.</a:t>
            </a:r>
          </a:p>
        </p:txBody>
      </p:sp>
    </p:spTree>
    <p:extLst>
      <p:ext uri="{BB962C8B-B14F-4D97-AF65-F5344CB8AC3E}">
        <p14:creationId xmlns:p14="http://schemas.microsoft.com/office/powerpoint/2010/main" val="39365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9</a:t>
            </a:fld>
            <a:endParaRPr lang="en-US"/>
          </a:p>
        </p:txBody>
      </p:sp>
      <p:graphicFrame>
        <p:nvGraphicFramePr>
          <p:cNvPr id="4" name="Content Placeholder 5"/>
          <p:cNvGraphicFramePr>
            <a:graphicFrameLocks/>
          </p:cNvGraphicFramePr>
          <p:nvPr>
            <p:extLst>
              <p:ext uri="{D42A27DB-BD31-4B8C-83A1-F6EECF244321}">
                <p14:modId xmlns:p14="http://schemas.microsoft.com/office/powerpoint/2010/main" val="1040238161"/>
              </p:ext>
            </p:extLst>
          </p:nvPr>
        </p:nvGraphicFramePr>
        <p:xfrm>
          <a:off x="636812" y="1047592"/>
          <a:ext cx="10918376" cy="4934958"/>
        </p:xfrm>
        <a:graphic>
          <a:graphicData uri="http://schemas.openxmlformats.org/drawingml/2006/table">
            <a:tbl>
              <a:tblPr rtl="1" firstRow="1" bandRow="1">
                <a:tableStyleId>{5C22544A-7EE6-4342-B048-85BDC9FD1C3A}</a:tableStyleId>
              </a:tblPr>
              <a:tblGrid>
                <a:gridCol w="5459188">
                  <a:extLst>
                    <a:ext uri="{9D8B030D-6E8A-4147-A177-3AD203B41FA5}">
                      <a16:colId xmlns:a16="http://schemas.microsoft.com/office/drawing/2014/main" val="2680158277"/>
                    </a:ext>
                  </a:extLst>
                </a:gridCol>
                <a:gridCol w="5459188">
                  <a:extLst>
                    <a:ext uri="{9D8B030D-6E8A-4147-A177-3AD203B41FA5}">
                      <a16:colId xmlns:a16="http://schemas.microsoft.com/office/drawing/2014/main" val="2225789071"/>
                    </a:ext>
                  </a:extLst>
                </a:gridCol>
              </a:tblGrid>
              <a:tr h="653248">
                <a:tc gridSpan="2">
                  <a:txBody>
                    <a:bodyPr/>
                    <a:lstStyle/>
                    <a:p>
                      <a:pPr algn="ctr"/>
                      <a:r>
                        <a:rPr lang="ar-EG" sz="2400" baseline="0" dirty="0">
                          <a:latin typeface="Sakkal Majalla" panose="02000000000000000000" pitchFamily="2" charset="-78"/>
                          <a:cs typeface="Sakkal Majalla" panose="02000000000000000000" pitchFamily="2" charset="-78"/>
                        </a:rPr>
                        <a:t>يساهم النجاح في تطبيق معايير البنية المؤسسية الجهات على تحقيق الفوائد التالية</a:t>
                      </a:r>
                      <a:r>
                        <a:rPr lang="ar-SA" sz="2400" baseline="0" dirty="0">
                          <a:latin typeface="Sakkal Majalla" panose="02000000000000000000" pitchFamily="2" charset="-78"/>
                          <a:cs typeface="Sakkal Majalla" panose="02000000000000000000" pitchFamily="2" charset="-78"/>
                        </a:rPr>
                        <a:t>:</a:t>
                      </a:r>
                      <a:endParaRPr lang="en-US" sz="1600" b="1" baseline="0" dirty="0">
                        <a:solidFill>
                          <a:srgbClr val="FF0000"/>
                        </a:solidFill>
                        <a:latin typeface="Sakkal Majalla" panose="02000000000000000000" pitchFamily="2" charset="-78"/>
                        <a:cs typeface="Sakkal Majalla" panose="02000000000000000000" pitchFamily="2" charset="-78"/>
                      </a:endParaRPr>
                    </a:p>
                  </a:txBody>
                  <a:tcPr anchor="ctr"/>
                </a:tc>
                <a:tc hMerge="1">
                  <a:txBody>
                    <a:bodyPr/>
                    <a:lstStyle/>
                    <a:p>
                      <a:endParaRPr dirty="0"/>
                    </a:p>
                  </a:txBody>
                  <a:tcPr anchor="ctr"/>
                </a:tc>
                <a:extLst>
                  <a:ext uri="{0D108BD9-81ED-4DB2-BD59-A6C34878D82A}">
                    <a16:rowId xmlns:a16="http://schemas.microsoft.com/office/drawing/2014/main" val="3560484865"/>
                  </a:ext>
                </a:extLst>
              </a:tr>
              <a:tr h="85634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1. التزام الحلول التقنية والعمليات بمعايير محددة مسبقا، مما يؤدي إلى التوحيد في التصميم والتنفيذ</a:t>
                      </a:r>
                    </a:p>
                  </a:txBody>
                  <a:tcPr anchor="ctr">
                    <a:lnB w="12700" cap="flat" cmpd="sng" algn="ctr">
                      <a:solidFill>
                        <a:schemeClr val="accent2"/>
                      </a:solidFill>
                      <a:prstDash val="solid"/>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6. تنفيذ المعايير الأمنية والمطابقة والحوكمة يساعد في التخفيف من المخاطر المرتبطة بانتهاكات البيانات وعدم الامتثال للتشريعات وثغرات الأنظمة</a:t>
                      </a:r>
                    </a:p>
                  </a:txBody>
                  <a:tcPr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85634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2. الامتثال للمتطلبات التنظيمية المرتبطة بكل مجال من مجالات البنية المؤسسية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7. الحد من التكرار والتعقيد وتكلفة التشغيل والصيانة من خلال توحيد المعايير مما يؤدي إلى رفع كفاءة الإنفاق</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85634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3. ضمان التناسق والمواءمة بين مكونات كل مجال من مجالات البنية المؤسسية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8. تحسين أعمال حوكمة البنية المؤسسية وعمليات اتخاذ القرار, والتحقق من الامتثال لمعايير البنية المؤسسية وذلك من خلال تطوير قوائم للتحقق والتدقيق بما يشمل (الكراسات، العروض الفنية، المتطلبات الفنية، الهياكل المعمارية.. وغيرها)</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85634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4. توفير التكامل والتوافق حيث إن الواجهات والبروتوكولات والتنسيقات الموحدة تعزز التكامل والتواصل السلس بين الأنظمة والتطبيقات</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vMerge="1">
                  <a:txBody>
                    <a:bodyPr/>
                    <a:lstStyle/>
                    <a:p>
                      <a:endParaRPr dirty="0"/>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847485707"/>
                  </a:ext>
                </a:extLst>
              </a:tr>
              <a:tr h="85634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5. ضمان دعم المبادرات والحلول التقنية لأهداف الأعمال والامتثال للتشريعات وتلبية احتياجات الهيئة والموظفين والمستفيدين</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9. تعزيز جودة خدمات الهيئة الرقمية ، مما يؤدي في النهاية إلى زيادة رضا المستخدم وتقديم حلول رقمية آمنة وسهلة الاستخدام</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32633986"/>
                  </a:ext>
                </a:extLst>
              </a:tr>
            </a:tbl>
          </a:graphicData>
        </a:graphic>
      </p:graphicFrame>
      <p:sp>
        <p:nvSpPr>
          <p:cNvPr id="7" name="Title 1">
            <a:extLst>
              <a:ext uri="{FF2B5EF4-FFF2-40B4-BE49-F238E27FC236}">
                <a16:creationId xmlns:a16="http://schemas.microsoft.com/office/drawing/2014/main" id="{C895D5FA-9A51-9A6F-DCDA-702A2513A0A2}"/>
              </a:ext>
            </a:extLst>
          </p:cNvPr>
          <p:cNvSpPr txBox="1">
            <a:spLocks/>
          </p:cNvSpPr>
          <p:nvPr/>
        </p:nvSpPr>
        <p:spPr>
          <a:xfrm>
            <a:off x="2361733" y="408242"/>
            <a:ext cx="8992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فوائد </a:t>
            </a:r>
            <a:r>
              <a:rPr lang="ar-SA" dirty="0"/>
              <a:t>تطبيق </a:t>
            </a:r>
            <a:r>
              <a:rPr lang="ar-EG" dirty="0"/>
              <a:t>معايير البنية المؤسسية</a:t>
            </a:r>
          </a:p>
        </p:txBody>
      </p:sp>
    </p:spTree>
    <p:extLst>
      <p:ext uri="{BB962C8B-B14F-4D97-AF65-F5344CB8AC3E}">
        <p14:creationId xmlns:p14="http://schemas.microsoft.com/office/powerpoint/2010/main" val="227697892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خطوات بناء معايير البنية المؤسسية</a:t>
            </a:r>
            <a:endParaRPr lang="en-US" dirty="0"/>
          </a:p>
        </p:txBody>
      </p:sp>
      <p:sp>
        <p:nvSpPr>
          <p:cNvPr id="5" name="Rectangle 4">
            <a:extLst>
              <a:ext uri="{FF2B5EF4-FFF2-40B4-BE49-F238E27FC236}">
                <a16:creationId xmlns:a16="http://schemas.microsoft.com/office/drawing/2014/main" id="{FDA5E4F2-4CC9-556A-7CE6-16C66698628E}"/>
              </a:ext>
            </a:extLst>
          </p:cNvPr>
          <p:cNvSpPr/>
          <p:nvPr/>
        </p:nvSpPr>
        <p:spPr>
          <a:xfrm>
            <a:off x="680357" y="1820093"/>
            <a:ext cx="10972800" cy="7225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6" name="Rectangle 5">
            <a:extLst>
              <a:ext uri="{FF2B5EF4-FFF2-40B4-BE49-F238E27FC236}">
                <a16:creationId xmlns:a16="http://schemas.microsoft.com/office/drawing/2014/main" id="{54638EFC-9881-7021-510A-8D9210A30DC9}"/>
              </a:ext>
            </a:extLst>
          </p:cNvPr>
          <p:cNvSpPr/>
          <p:nvPr/>
        </p:nvSpPr>
        <p:spPr>
          <a:xfrm>
            <a:off x="680357" y="1839253"/>
            <a:ext cx="10972800" cy="707886"/>
          </a:xfrm>
          <a:prstGeom prst="rect">
            <a:avLst/>
          </a:prstGeom>
        </p:spPr>
        <p:txBody>
          <a:bodyPr wrap="square">
            <a:spAutoFit/>
          </a:bodyPr>
          <a:lstStyle/>
          <a:p>
            <a:pPr algn="ctr" rtl="1"/>
            <a:r>
              <a:rPr lang="ar-EG" sz="2000" dirty="0">
                <a:latin typeface="Sakkal Majalla" panose="02000000000000000000" pitchFamily="2" charset="-78"/>
                <a:cs typeface="Sakkal Majalla" panose="02000000000000000000" pitchFamily="2" charset="-78"/>
              </a:rPr>
              <a:t>من خلال اتباع الخطوات المحددة التالية، تمكنت هيئة تقويم التعليم والتدريب من إنشاء قائمة معايير بنية مؤسسية ناضجة ومتسقة، مما يضمن الامتثال عبر مختلف مجالات البنية المؤسسية وإدارة المبادرات والمشاريع الرقمية بفعالية لتحقيق الأهداف الاستراتيجية للهيئة.</a:t>
            </a:r>
            <a:endParaRPr lang="en-AE" sz="2000" dirty="0">
              <a:latin typeface="Sakkal Majalla" panose="02000000000000000000" pitchFamily="2" charset="-78"/>
              <a:cs typeface="Sakkal Majalla" panose="02000000000000000000" pitchFamily="2" charset="-78"/>
            </a:endParaRPr>
          </a:p>
        </p:txBody>
      </p:sp>
      <p:sp>
        <p:nvSpPr>
          <p:cNvPr id="8" name="Rectangle: Rounded Corners 170">
            <a:extLst>
              <a:ext uri="{FF2B5EF4-FFF2-40B4-BE49-F238E27FC236}">
                <a16:creationId xmlns:a16="http://schemas.microsoft.com/office/drawing/2014/main" id="{8D49AAD0-75B8-6325-94FE-B32F319DC32F}"/>
              </a:ext>
            </a:extLst>
          </p:cNvPr>
          <p:cNvSpPr/>
          <p:nvPr/>
        </p:nvSpPr>
        <p:spPr>
          <a:xfrm flipH="1">
            <a:off x="1853885" y="2987695"/>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sp>
        <p:nvSpPr>
          <p:cNvPr id="9" name="Rectangle: Rounded Corners 166">
            <a:extLst>
              <a:ext uri="{FF2B5EF4-FFF2-40B4-BE49-F238E27FC236}">
                <a16:creationId xmlns:a16="http://schemas.microsoft.com/office/drawing/2014/main" id="{8BDC3C91-85D6-FC81-5520-911955F55D23}"/>
              </a:ext>
            </a:extLst>
          </p:cNvPr>
          <p:cNvSpPr/>
          <p:nvPr/>
        </p:nvSpPr>
        <p:spPr>
          <a:xfrm flipH="1">
            <a:off x="4075546" y="2987695"/>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sp>
        <p:nvSpPr>
          <p:cNvPr id="10" name="Rectangle: Rounded Corners 162">
            <a:extLst>
              <a:ext uri="{FF2B5EF4-FFF2-40B4-BE49-F238E27FC236}">
                <a16:creationId xmlns:a16="http://schemas.microsoft.com/office/drawing/2014/main" id="{6D5B4DA9-94BA-2A5C-FA15-B7B4287C149D}"/>
              </a:ext>
            </a:extLst>
          </p:cNvPr>
          <p:cNvSpPr/>
          <p:nvPr/>
        </p:nvSpPr>
        <p:spPr>
          <a:xfrm flipH="1">
            <a:off x="6310508" y="2987695"/>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grpSp>
        <p:nvGrpSpPr>
          <p:cNvPr id="11" name="Group 10">
            <a:extLst>
              <a:ext uri="{FF2B5EF4-FFF2-40B4-BE49-F238E27FC236}">
                <a16:creationId xmlns:a16="http://schemas.microsoft.com/office/drawing/2014/main" id="{723CA0DC-9018-77F9-0168-7A1D9554C63F}"/>
              </a:ext>
            </a:extLst>
          </p:cNvPr>
          <p:cNvGrpSpPr/>
          <p:nvPr/>
        </p:nvGrpSpPr>
        <p:grpSpPr>
          <a:xfrm>
            <a:off x="6987373" y="2663031"/>
            <a:ext cx="645136" cy="645136"/>
            <a:chOff x="10238765" y="2145029"/>
            <a:chExt cx="589470" cy="589470"/>
          </a:xfrm>
        </p:grpSpPr>
        <p:sp>
          <p:nvSpPr>
            <p:cNvPr id="12" name="Freeform 67">
              <a:extLst>
                <a:ext uri="{FF2B5EF4-FFF2-40B4-BE49-F238E27FC236}">
                  <a16:creationId xmlns:a16="http://schemas.microsoft.com/office/drawing/2014/main" id="{9107330B-4527-735E-4FA0-8C2C90BBAB65}"/>
                </a:ext>
              </a:extLst>
            </p:cNvPr>
            <p:cNvSpPr>
              <a:spLocks noChangeArrowheads="1"/>
            </p:cNvSpPr>
            <p:nvPr/>
          </p:nvSpPr>
          <p:spPr bwMode="auto">
            <a:xfrm flipH="1">
              <a:off x="10250514" y="2154902"/>
              <a:ext cx="565970" cy="565968"/>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3" name="Freeform 68">
              <a:extLst>
                <a:ext uri="{FF2B5EF4-FFF2-40B4-BE49-F238E27FC236}">
                  <a16:creationId xmlns:a16="http://schemas.microsoft.com/office/drawing/2014/main" id="{3FAC4B39-C02E-937A-EBBA-1CF7BC0A6195}"/>
                </a:ext>
              </a:extLst>
            </p:cNvPr>
            <p:cNvSpPr>
              <a:spLocks noChangeArrowheads="1"/>
            </p:cNvSpPr>
            <p:nvPr/>
          </p:nvSpPr>
          <p:spPr bwMode="auto">
            <a:xfrm flipH="1">
              <a:off x="10238765" y="2145029"/>
              <a:ext cx="589470" cy="589470"/>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sp>
        <p:nvSpPr>
          <p:cNvPr id="20" name="Freeform 139">
            <a:extLst>
              <a:ext uri="{FF2B5EF4-FFF2-40B4-BE49-F238E27FC236}">
                <a16:creationId xmlns:a16="http://schemas.microsoft.com/office/drawing/2014/main" id="{A331623F-B4E8-6485-B6B4-FB0E3CE4ADD1}"/>
              </a:ext>
            </a:extLst>
          </p:cNvPr>
          <p:cNvSpPr>
            <a:spLocks noChangeArrowheads="1"/>
          </p:cNvSpPr>
          <p:nvPr/>
        </p:nvSpPr>
        <p:spPr bwMode="auto">
          <a:xfrm flipH="1">
            <a:off x="4754746" y="2661968"/>
            <a:ext cx="642990" cy="645136"/>
          </a:xfrm>
          <a:custGeom>
            <a:avLst/>
            <a:gdLst>
              <a:gd name="T0" fmla="*/ 661 w 1325"/>
              <a:gd name="T1" fmla="*/ 51 h 1326"/>
              <a:gd name="T2" fmla="*/ 661 w 1325"/>
              <a:gd name="T3" fmla="*/ 51 h 1326"/>
              <a:gd name="T4" fmla="*/ 50 w 1325"/>
              <a:gd name="T5" fmla="*/ 663 h 1326"/>
              <a:gd name="T6" fmla="*/ 50 w 1325"/>
              <a:gd name="T7" fmla="*/ 663 h 1326"/>
              <a:gd name="T8" fmla="*/ 661 w 1325"/>
              <a:gd name="T9" fmla="*/ 1274 h 1326"/>
              <a:gd name="T10" fmla="*/ 661 w 1325"/>
              <a:gd name="T11" fmla="*/ 1274 h 1326"/>
              <a:gd name="T12" fmla="*/ 1273 w 1325"/>
              <a:gd name="T13" fmla="*/ 663 h 1326"/>
              <a:gd name="T14" fmla="*/ 1273 w 1325"/>
              <a:gd name="T15" fmla="*/ 663 h 1326"/>
              <a:gd name="T16" fmla="*/ 661 w 1325"/>
              <a:gd name="T17" fmla="*/ 51 h 1326"/>
              <a:gd name="T18" fmla="*/ 661 w 1325"/>
              <a:gd name="T19" fmla="*/ 1325 h 1326"/>
              <a:gd name="T20" fmla="*/ 661 w 1325"/>
              <a:gd name="T21" fmla="*/ 1325 h 1326"/>
              <a:gd name="T22" fmla="*/ 0 w 1325"/>
              <a:gd name="T23" fmla="*/ 663 h 1326"/>
              <a:gd name="T24" fmla="*/ 0 w 1325"/>
              <a:gd name="T25" fmla="*/ 663 h 1326"/>
              <a:gd name="T26" fmla="*/ 661 w 1325"/>
              <a:gd name="T27" fmla="*/ 0 h 1326"/>
              <a:gd name="T28" fmla="*/ 661 w 1325"/>
              <a:gd name="T29" fmla="*/ 0 h 1326"/>
              <a:gd name="T30" fmla="*/ 1324 w 1325"/>
              <a:gd name="T31" fmla="*/ 663 h 1326"/>
              <a:gd name="T32" fmla="*/ 1324 w 1325"/>
              <a:gd name="T33" fmla="*/ 663 h 1326"/>
              <a:gd name="T34" fmla="*/ 661 w 1325"/>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5" h="1326">
                <a:moveTo>
                  <a:pt x="661" y="51"/>
                </a:moveTo>
                <a:lnTo>
                  <a:pt x="661" y="51"/>
                </a:lnTo>
                <a:cubicBezTo>
                  <a:pt x="325" y="51"/>
                  <a:pt x="50" y="326"/>
                  <a:pt x="50" y="663"/>
                </a:cubicBezTo>
                <a:lnTo>
                  <a:pt x="50" y="663"/>
                </a:lnTo>
                <a:cubicBezTo>
                  <a:pt x="50" y="1000"/>
                  <a:pt x="325" y="1274"/>
                  <a:pt x="661" y="1274"/>
                </a:cubicBezTo>
                <a:lnTo>
                  <a:pt x="661" y="1274"/>
                </a:lnTo>
                <a:cubicBezTo>
                  <a:pt x="999" y="1274"/>
                  <a:pt x="1273" y="1000"/>
                  <a:pt x="1273" y="663"/>
                </a:cubicBezTo>
                <a:lnTo>
                  <a:pt x="1273" y="663"/>
                </a:lnTo>
                <a:cubicBezTo>
                  <a:pt x="1273" y="326"/>
                  <a:pt x="999" y="51"/>
                  <a:pt x="661" y="51"/>
                </a:cubicBezTo>
                <a:close/>
                <a:moveTo>
                  <a:pt x="661" y="1325"/>
                </a:moveTo>
                <a:lnTo>
                  <a:pt x="661" y="1325"/>
                </a:lnTo>
                <a:cubicBezTo>
                  <a:pt x="296" y="1325"/>
                  <a:pt x="0" y="1028"/>
                  <a:pt x="0" y="663"/>
                </a:cubicBezTo>
                <a:lnTo>
                  <a:pt x="0" y="663"/>
                </a:lnTo>
                <a:cubicBezTo>
                  <a:pt x="0" y="297"/>
                  <a:pt x="296" y="0"/>
                  <a:pt x="661" y="0"/>
                </a:cubicBezTo>
                <a:lnTo>
                  <a:pt x="661" y="0"/>
                </a:lnTo>
                <a:cubicBezTo>
                  <a:pt x="1027" y="0"/>
                  <a:pt x="1324" y="297"/>
                  <a:pt x="1324" y="663"/>
                </a:cubicBezTo>
                <a:lnTo>
                  <a:pt x="1324" y="663"/>
                </a:lnTo>
                <a:cubicBezTo>
                  <a:pt x="1324" y="1028"/>
                  <a:pt x="1027" y="1325"/>
                  <a:pt x="661"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nvGrpSpPr>
          <p:cNvPr id="31" name="Group 30">
            <a:extLst>
              <a:ext uri="{FF2B5EF4-FFF2-40B4-BE49-F238E27FC236}">
                <a16:creationId xmlns:a16="http://schemas.microsoft.com/office/drawing/2014/main" id="{F500DD38-8C7E-4006-EA4E-5F4EA643F36E}"/>
              </a:ext>
            </a:extLst>
          </p:cNvPr>
          <p:cNvGrpSpPr/>
          <p:nvPr/>
        </p:nvGrpSpPr>
        <p:grpSpPr>
          <a:xfrm>
            <a:off x="2526853" y="2663031"/>
            <a:ext cx="645136" cy="645136"/>
            <a:chOff x="6658781" y="2135626"/>
            <a:chExt cx="589470" cy="589470"/>
          </a:xfrm>
        </p:grpSpPr>
        <p:sp>
          <p:nvSpPr>
            <p:cNvPr id="32" name="Freeform 208">
              <a:extLst>
                <a:ext uri="{FF2B5EF4-FFF2-40B4-BE49-F238E27FC236}">
                  <a16:creationId xmlns:a16="http://schemas.microsoft.com/office/drawing/2014/main" id="{E38B55BB-A05D-D744-F98D-5897A9B504CD}"/>
                </a:ext>
              </a:extLst>
            </p:cNvPr>
            <p:cNvSpPr>
              <a:spLocks noChangeArrowheads="1"/>
            </p:cNvSpPr>
            <p:nvPr/>
          </p:nvSpPr>
          <p:spPr bwMode="auto">
            <a:xfrm flipH="1">
              <a:off x="6681812" y="2156779"/>
              <a:ext cx="543407" cy="543405"/>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gradFill>
                <a:gsLst>
                  <a:gs pos="0">
                    <a:schemeClr val="accent1">
                      <a:lumMod val="5000"/>
                      <a:lumOff val="95000"/>
                    </a:schemeClr>
                  </a:gs>
                  <a:gs pos="100000">
                    <a:schemeClr val="accent1">
                      <a:lumMod val="30000"/>
                      <a:lumOff val="70000"/>
                    </a:schemeClr>
                  </a:gs>
                </a:gsLst>
                <a:lin ang="5400000" scaled="1"/>
              </a:grad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33" name="Freeform 209">
              <a:extLst>
                <a:ext uri="{FF2B5EF4-FFF2-40B4-BE49-F238E27FC236}">
                  <a16:creationId xmlns:a16="http://schemas.microsoft.com/office/drawing/2014/main" id="{C33819B2-2262-2C2B-4D07-2C0CB7193A12}"/>
                </a:ext>
              </a:extLst>
            </p:cNvPr>
            <p:cNvSpPr>
              <a:spLocks noChangeArrowheads="1"/>
            </p:cNvSpPr>
            <p:nvPr/>
          </p:nvSpPr>
          <p:spPr bwMode="auto">
            <a:xfrm flipH="1">
              <a:off x="6658781" y="2135626"/>
              <a:ext cx="589470" cy="589470"/>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sp>
        <p:nvSpPr>
          <p:cNvPr id="83" name="Freeform 203">
            <a:extLst>
              <a:ext uri="{FF2B5EF4-FFF2-40B4-BE49-F238E27FC236}">
                <a16:creationId xmlns:a16="http://schemas.microsoft.com/office/drawing/2014/main" id="{57B49BF6-FAD7-CF32-7DF3-ADB9243CA3A3}"/>
              </a:ext>
            </a:extLst>
          </p:cNvPr>
          <p:cNvSpPr>
            <a:spLocks noChangeArrowheads="1"/>
          </p:cNvSpPr>
          <p:nvPr/>
        </p:nvSpPr>
        <p:spPr bwMode="auto">
          <a:xfrm flipH="1">
            <a:off x="1598649" y="4516849"/>
            <a:ext cx="2378122" cy="548640"/>
          </a:xfrm>
          <a:custGeom>
            <a:avLst/>
            <a:gdLst>
              <a:gd name="T0" fmla="*/ 673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5 w 5254"/>
              <a:gd name="T15" fmla="*/ 563 h 1225"/>
              <a:gd name="T16" fmla="*/ 5225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3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3" y="563"/>
                </a:moveTo>
                <a:lnTo>
                  <a:pt x="42" y="92"/>
                </a:lnTo>
                <a:lnTo>
                  <a:pt x="42" y="92"/>
                </a:lnTo>
                <a:cubicBezTo>
                  <a:pt x="2" y="63"/>
                  <a:pt x="23" y="0"/>
                  <a:pt x="72" y="0"/>
                </a:cubicBezTo>
                <a:lnTo>
                  <a:pt x="4442" y="0"/>
                </a:lnTo>
                <a:lnTo>
                  <a:pt x="4442" y="0"/>
                </a:lnTo>
                <a:cubicBezTo>
                  <a:pt x="4452" y="0"/>
                  <a:pt x="4463" y="3"/>
                  <a:pt x="4472" y="10"/>
                </a:cubicBezTo>
                <a:lnTo>
                  <a:pt x="5225" y="563"/>
                </a:lnTo>
                <a:lnTo>
                  <a:pt x="5225" y="563"/>
                </a:lnTo>
                <a:cubicBezTo>
                  <a:pt x="5252" y="583"/>
                  <a:pt x="5253" y="624"/>
                  <a:pt x="5225"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0" y="583"/>
                  <a:pt x="673"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84" name="TextBox 83">
            <a:extLst>
              <a:ext uri="{FF2B5EF4-FFF2-40B4-BE49-F238E27FC236}">
                <a16:creationId xmlns:a16="http://schemas.microsoft.com/office/drawing/2014/main" id="{7EEB5F47-3905-9BA6-4EBF-F85A3BB36D0B}"/>
              </a:ext>
            </a:extLst>
          </p:cNvPr>
          <p:cNvSpPr txBox="1"/>
          <p:nvPr/>
        </p:nvSpPr>
        <p:spPr>
          <a:xfrm flipH="1">
            <a:off x="1886984" y="4468003"/>
            <a:ext cx="1826707" cy="646331"/>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التحسين المستمر</a:t>
            </a:r>
          </a:p>
        </p:txBody>
      </p:sp>
      <p:sp>
        <p:nvSpPr>
          <p:cNvPr id="85" name="Freeform 133">
            <a:extLst>
              <a:ext uri="{FF2B5EF4-FFF2-40B4-BE49-F238E27FC236}">
                <a16:creationId xmlns:a16="http://schemas.microsoft.com/office/drawing/2014/main" id="{580BF73E-2AEB-5BEB-7C2E-9BDF6B1B5C18}"/>
              </a:ext>
            </a:extLst>
          </p:cNvPr>
          <p:cNvSpPr>
            <a:spLocks noChangeArrowheads="1"/>
          </p:cNvSpPr>
          <p:nvPr/>
        </p:nvSpPr>
        <p:spPr bwMode="auto">
          <a:xfrm flipH="1">
            <a:off x="3827830" y="4516849"/>
            <a:ext cx="2378124" cy="548640"/>
          </a:xfrm>
          <a:custGeom>
            <a:avLst/>
            <a:gdLst>
              <a:gd name="T0" fmla="*/ 674 w 5254"/>
              <a:gd name="T1" fmla="*/ 563 h 1225"/>
              <a:gd name="T2" fmla="*/ 42 w 5254"/>
              <a:gd name="T3" fmla="*/ 92 h 1225"/>
              <a:gd name="T4" fmla="*/ 42 w 5254"/>
              <a:gd name="T5" fmla="*/ 92 h 1225"/>
              <a:gd name="T6" fmla="*/ 73 w 5254"/>
              <a:gd name="T7" fmla="*/ 0 h 1225"/>
              <a:gd name="T8" fmla="*/ 4441 w 5254"/>
              <a:gd name="T9" fmla="*/ 0 h 1225"/>
              <a:gd name="T10" fmla="*/ 4441 w 5254"/>
              <a:gd name="T11" fmla="*/ 0 h 1225"/>
              <a:gd name="T12" fmla="*/ 4471 w 5254"/>
              <a:gd name="T13" fmla="*/ 10 h 1225"/>
              <a:gd name="T14" fmla="*/ 5224 w 5254"/>
              <a:gd name="T15" fmla="*/ 563 h 1225"/>
              <a:gd name="T16" fmla="*/ 5224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9 w 5254"/>
              <a:gd name="T31" fmla="*/ 1132 h 1225"/>
              <a:gd name="T32" fmla="*/ 675 w 5254"/>
              <a:gd name="T33" fmla="*/ 644 h 1225"/>
              <a:gd name="T34" fmla="*/ 675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3" y="0"/>
                </a:cubicBezTo>
                <a:lnTo>
                  <a:pt x="4441" y="0"/>
                </a:lnTo>
                <a:lnTo>
                  <a:pt x="4441" y="0"/>
                </a:lnTo>
                <a:cubicBezTo>
                  <a:pt x="4452" y="0"/>
                  <a:pt x="4463" y="3"/>
                  <a:pt x="4471" y="10"/>
                </a:cubicBezTo>
                <a:lnTo>
                  <a:pt x="5224" y="563"/>
                </a:lnTo>
                <a:lnTo>
                  <a:pt x="5224" y="563"/>
                </a:lnTo>
                <a:cubicBezTo>
                  <a:pt x="5252" y="583"/>
                  <a:pt x="5253" y="624"/>
                  <a:pt x="5225" y="644"/>
                </a:cubicBezTo>
                <a:lnTo>
                  <a:pt x="4472" y="1213"/>
                </a:lnTo>
                <a:lnTo>
                  <a:pt x="4472" y="1213"/>
                </a:lnTo>
                <a:cubicBezTo>
                  <a:pt x="4463" y="1220"/>
                  <a:pt x="4452" y="1224"/>
                  <a:pt x="4441" y="1224"/>
                </a:cubicBezTo>
                <a:lnTo>
                  <a:pt x="69" y="1224"/>
                </a:lnTo>
                <a:lnTo>
                  <a:pt x="69" y="1224"/>
                </a:lnTo>
                <a:cubicBezTo>
                  <a:pt x="21" y="1224"/>
                  <a:pt x="0" y="1162"/>
                  <a:pt x="39" y="1132"/>
                </a:cubicBezTo>
                <a:lnTo>
                  <a:pt x="675" y="644"/>
                </a:lnTo>
                <a:lnTo>
                  <a:pt x="675" y="644"/>
                </a:lnTo>
                <a:cubicBezTo>
                  <a:pt x="702" y="624"/>
                  <a:pt x="701" y="583"/>
                  <a:pt x="674"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86" name="TextBox 85">
            <a:extLst>
              <a:ext uri="{FF2B5EF4-FFF2-40B4-BE49-F238E27FC236}">
                <a16:creationId xmlns:a16="http://schemas.microsoft.com/office/drawing/2014/main" id="{AABF2623-3700-8F7B-F632-1622265AAA23}"/>
              </a:ext>
            </a:extLst>
          </p:cNvPr>
          <p:cNvSpPr txBox="1"/>
          <p:nvPr/>
        </p:nvSpPr>
        <p:spPr>
          <a:xfrm flipH="1">
            <a:off x="4053124" y="4468002"/>
            <a:ext cx="1927578" cy="646331"/>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بناء قائمة مخصصة لمعايير البنية المؤسسية</a:t>
            </a:r>
          </a:p>
        </p:txBody>
      </p:sp>
      <p:sp>
        <p:nvSpPr>
          <p:cNvPr id="87" name="Freeform 62">
            <a:extLst>
              <a:ext uri="{FF2B5EF4-FFF2-40B4-BE49-F238E27FC236}">
                <a16:creationId xmlns:a16="http://schemas.microsoft.com/office/drawing/2014/main" id="{F5DA197C-7C63-DB72-B83C-BA1A63E5F668}"/>
              </a:ext>
            </a:extLst>
          </p:cNvPr>
          <p:cNvSpPr>
            <a:spLocks noChangeArrowheads="1"/>
          </p:cNvSpPr>
          <p:nvPr/>
        </p:nvSpPr>
        <p:spPr bwMode="auto">
          <a:xfrm flipH="1">
            <a:off x="6061852" y="4516849"/>
            <a:ext cx="2378124" cy="548640"/>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88" name="TextBox 87">
            <a:extLst>
              <a:ext uri="{FF2B5EF4-FFF2-40B4-BE49-F238E27FC236}">
                <a16:creationId xmlns:a16="http://schemas.microsoft.com/office/drawing/2014/main" id="{4DC2D2E4-67E0-2F93-C64A-270D4D773BBD}"/>
              </a:ext>
            </a:extLst>
          </p:cNvPr>
          <p:cNvSpPr txBox="1"/>
          <p:nvPr/>
        </p:nvSpPr>
        <p:spPr>
          <a:xfrm flipH="1">
            <a:off x="6340294" y="4606502"/>
            <a:ext cx="1808322" cy="369332"/>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المشاركة مع أصحاب المصلحة</a:t>
            </a:r>
          </a:p>
        </p:txBody>
      </p:sp>
      <p:sp>
        <p:nvSpPr>
          <p:cNvPr id="90" name="ZoneTexte 13">
            <a:extLst>
              <a:ext uri="{FF2B5EF4-FFF2-40B4-BE49-F238E27FC236}">
                <a16:creationId xmlns:a16="http://schemas.microsoft.com/office/drawing/2014/main" id="{3998D5B9-1D27-ACC8-C823-708299E68E6B}"/>
              </a:ext>
            </a:extLst>
          </p:cNvPr>
          <p:cNvSpPr txBox="1"/>
          <p:nvPr/>
        </p:nvSpPr>
        <p:spPr>
          <a:xfrm>
            <a:off x="6297207" y="3333501"/>
            <a:ext cx="1988773" cy="1200329"/>
          </a:xfrm>
          <a:prstGeom prst="rect">
            <a:avLst/>
          </a:prstGeom>
          <a:noFill/>
        </p:spPr>
        <p:txBody>
          <a:bodyPr wrap="square" rtlCol="1">
            <a:spAutoFit/>
          </a:bodyPr>
          <a:lstStyle/>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مراجعة مكتبة المعايير من الخطوة السابقة لضمان الشمولية والتغطية.</a:t>
            </a:r>
          </a:p>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يشمل خبراء لمجالات البنى المختلفة.</a:t>
            </a:r>
          </a:p>
          <a:p>
            <a:pPr marL="115888" indent="-115888" algn="r" rtl="1">
              <a:buSzPct val="90000"/>
              <a:buFont typeface="Arial" pitchFamily="34" charset="0"/>
              <a:buChar char="•"/>
            </a:pPr>
            <a:r>
              <a:rPr lang="ar-SA" sz="1200" dirty="0">
                <a:latin typeface="Sakkal Majalla" panose="02000000000000000000" pitchFamily="2" charset="-78"/>
                <a:cs typeface="Sakkal Majalla" panose="02000000000000000000" pitchFamily="2" charset="-78"/>
              </a:rPr>
              <a:t>يحدد أصحاب المصلحة المعايير المناسبة لاحتياجات الأعمال</a:t>
            </a:r>
            <a:r>
              <a:rPr lang="ar-EG" sz="1200" dirty="0">
                <a:latin typeface="Sakkal Majalla" panose="02000000000000000000" pitchFamily="2" charset="-78"/>
                <a:cs typeface="Sakkal Majalla" panose="02000000000000000000" pitchFamily="2" charset="-78"/>
              </a:rPr>
              <a:t>، وبحيث تعالج المعايير التحديات العملية الموجودة.</a:t>
            </a:r>
            <a:endParaRPr lang="ar-SA" sz="1200" dirty="0">
              <a:latin typeface="Sakkal Majalla" panose="02000000000000000000" pitchFamily="2" charset="-78"/>
              <a:cs typeface="Sakkal Majalla" panose="02000000000000000000" pitchFamily="2" charset="-78"/>
            </a:endParaRPr>
          </a:p>
        </p:txBody>
      </p:sp>
      <p:sp>
        <p:nvSpPr>
          <p:cNvPr id="94" name="ZoneTexte 13">
            <a:extLst>
              <a:ext uri="{FF2B5EF4-FFF2-40B4-BE49-F238E27FC236}">
                <a16:creationId xmlns:a16="http://schemas.microsoft.com/office/drawing/2014/main" id="{F272694A-8E72-A234-2FDB-2921337A8CC1}"/>
              </a:ext>
            </a:extLst>
          </p:cNvPr>
          <p:cNvSpPr txBox="1"/>
          <p:nvPr/>
        </p:nvSpPr>
        <p:spPr>
          <a:xfrm>
            <a:off x="4053124" y="3333501"/>
            <a:ext cx="1983433" cy="1200329"/>
          </a:xfrm>
          <a:prstGeom prst="rect">
            <a:avLst/>
          </a:prstGeom>
          <a:noFill/>
        </p:spPr>
        <p:txBody>
          <a:bodyPr wrap="square" rtlCol="1">
            <a:spAutoFit/>
          </a:bodyPr>
          <a:lstStyle/>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اشتقاق المعايير من المكتبة المرجعية المتبناة والتي تم حصرها في الخطوة (1).</a:t>
            </a:r>
          </a:p>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توثيق وترميز المعايير بطريقة واضحة.</a:t>
            </a:r>
          </a:p>
          <a:p>
            <a:pPr marL="115888" indent="-115888" algn="r" rtl="1">
              <a:buSzPct val="90000"/>
              <a:buFont typeface="Arial" pitchFamily="34" charset="0"/>
              <a:buChar char="•"/>
            </a:pPr>
            <a:r>
              <a:rPr lang="ar-SA" sz="1200" dirty="0">
                <a:solidFill>
                  <a:schemeClr val="tx1">
                    <a:lumMod val="75000"/>
                    <a:lumOff val="25000"/>
                  </a:schemeClr>
                </a:solidFill>
                <a:latin typeface="Sakkal Majalla" panose="02000000000000000000" pitchFamily="2" charset="-78"/>
                <a:cs typeface="Sakkal Majalla" panose="02000000000000000000" pitchFamily="2" charset="-78"/>
              </a:rPr>
              <a:t>استخدام قوالب موحدة لضمان التناسق</a:t>
            </a: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 بين المجالات المختلفة، وتسهيل الفهم بين جميع أصحاب المصلحة.</a:t>
            </a:r>
            <a:endParaRPr lang="en-US" sz="1200" dirty="0">
              <a:solidFill>
                <a:schemeClr val="tx1">
                  <a:lumMod val="75000"/>
                  <a:lumOff val="25000"/>
                </a:schemeClr>
              </a:solidFill>
              <a:latin typeface="Sakkal Majalla" panose="02000000000000000000" pitchFamily="2" charset="-78"/>
              <a:cs typeface="Sakkal Majalla" panose="02000000000000000000" pitchFamily="2" charset="-78"/>
            </a:endParaRPr>
          </a:p>
        </p:txBody>
      </p:sp>
      <p:sp>
        <p:nvSpPr>
          <p:cNvPr id="95" name="ZoneTexte 13">
            <a:extLst>
              <a:ext uri="{FF2B5EF4-FFF2-40B4-BE49-F238E27FC236}">
                <a16:creationId xmlns:a16="http://schemas.microsoft.com/office/drawing/2014/main" id="{EC9172BC-6490-EAE0-FAAB-501A68438DD0}"/>
              </a:ext>
            </a:extLst>
          </p:cNvPr>
          <p:cNvSpPr txBox="1"/>
          <p:nvPr/>
        </p:nvSpPr>
        <p:spPr>
          <a:xfrm>
            <a:off x="1770742" y="3333501"/>
            <a:ext cx="2092907" cy="1200329"/>
          </a:xfrm>
          <a:prstGeom prst="rect">
            <a:avLst/>
          </a:prstGeom>
          <a:noFill/>
        </p:spPr>
        <p:txBody>
          <a:bodyPr wrap="square" rtlCol="1">
            <a:spAutoFit/>
          </a:bodyPr>
          <a:lstStyle/>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التعاون مع أصحاب المصلحة لتحقيق التحسين.</a:t>
            </a:r>
          </a:p>
          <a:p>
            <a:pPr marL="115888" indent="-115888" algn="r" rtl="1">
              <a:buSzPct val="90000"/>
              <a:buFont typeface="Arial" pitchFamily="34" charset="0"/>
              <a:buChar char="•"/>
            </a:pPr>
            <a:r>
              <a:rPr lang="ar-SA" sz="1200" dirty="0">
                <a:latin typeface="Sakkal Majalla" panose="02000000000000000000" pitchFamily="2" charset="-78"/>
                <a:cs typeface="Sakkal Majalla" panose="02000000000000000000" pitchFamily="2" charset="-78"/>
              </a:rPr>
              <a:t>إجراء مراجعة دورية على قائمة المعايير</a:t>
            </a:r>
            <a:r>
              <a:rPr lang="ar-EG" sz="1200" dirty="0">
                <a:latin typeface="Sakkal Majalla" panose="02000000000000000000" pitchFamily="2" charset="-78"/>
                <a:cs typeface="Sakkal Majalla" panose="02000000000000000000" pitchFamily="2" charset="-78"/>
              </a:rPr>
              <a:t>.</a:t>
            </a:r>
          </a:p>
          <a:p>
            <a:pPr marL="115888" indent="-115888" algn="r" rtl="1">
              <a:buSzPct val="90000"/>
              <a:buFont typeface="Arial" pitchFamily="34" charset="0"/>
              <a:buChar char="•"/>
            </a:pPr>
            <a:r>
              <a:rPr lang="ar-SA" sz="1200" dirty="0">
                <a:latin typeface="Sakkal Majalla" panose="02000000000000000000" pitchFamily="2" charset="-78"/>
                <a:cs typeface="Sakkal Majalla" panose="02000000000000000000" pitchFamily="2" charset="-78"/>
              </a:rPr>
              <a:t>تحديث مستمر لضمان مواءمة </a:t>
            </a:r>
            <a:r>
              <a:rPr lang="ar-EG" sz="1200" dirty="0">
                <a:latin typeface="Sakkal Majalla" panose="02000000000000000000" pitchFamily="2" charset="-78"/>
                <a:cs typeface="Sakkal Majalla" panose="02000000000000000000" pitchFamily="2" charset="-78"/>
              </a:rPr>
              <a:t>وتوافق </a:t>
            </a:r>
            <a:r>
              <a:rPr lang="ar-SA" sz="1200" dirty="0">
                <a:latin typeface="Sakkal Majalla" panose="02000000000000000000" pitchFamily="2" charset="-78"/>
                <a:cs typeface="Sakkal Majalla" panose="02000000000000000000" pitchFamily="2" charset="-78"/>
              </a:rPr>
              <a:t>المعايير</a:t>
            </a:r>
            <a:r>
              <a:rPr lang="ar-EG" sz="1200" dirty="0">
                <a:latin typeface="Sakkal Majalla" panose="02000000000000000000" pitchFamily="2" charset="-78"/>
                <a:cs typeface="Sakkal Majalla" panose="02000000000000000000" pitchFamily="2" charset="-78"/>
              </a:rPr>
              <a:t> مع متطلبات الأعمال.</a:t>
            </a:r>
          </a:p>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ضمان </a:t>
            </a:r>
            <a:r>
              <a:rPr lang="ar-SA" sz="1200" dirty="0">
                <a:latin typeface="Sakkal Majalla" panose="02000000000000000000" pitchFamily="2" charset="-78"/>
                <a:cs typeface="Sakkal Majalla" panose="02000000000000000000" pitchFamily="2" charset="-78"/>
              </a:rPr>
              <a:t>مواكبة المعايير للمتغيرات التقنية</a:t>
            </a:r>
            <a:r>
              <a:rPr lang="ar-EG" sz="1200" dirty="0">
                <a:latin typeface="Sakkal Majalla" panose="02000000000000000000" pitchFamily="2" charset="-78"/>
                <a:cs typeface="Sakkal Majalla" panose="02000000000000000000" pitchFamily="2" charset="-78"/>
              </a:rPr>
              <a:t>.</a:t>
            </a:r>
            <a:endParaRPr lang="ar-SA" sz="1200" dirty="0">
              <a:latin typeface="Sakkal Majalla" panose="02000000000000000000" pitchFamily="2" charset="-78"/>
              <a:cs typeface="Sakkal Majalla" panose="02000000000000000000" pitchFamily="2" charset="-78"/>
            </a:endParaRPr>
          </a:p>
        </p:txBody>
      </p:sp>
      <p:sp>
        <p:nvSpPr>
          <p:cNvPr id="129" name="Rectangle: Rounded Corners 162">
            <a:extLst>
              <a:ext uri="{FF2B5EF4-FFF2-40B4-BE49-F238E27FC236}">
                <a16:creationId xmlns:a16="http://schemas.microsoft.com/office/drawing/2014/main" id="{81CD0FD3-08E2-721D-23F8-D5F2C7D12DA1}"/>
              </a:ext>
            </a:extLst>
          </p:cNvPr>
          <p:cNvSpPr/>
          <p:nvPr/>
        </p:nvSpPr>
        <p:spPr>
          <a:xfrm flipH="1">
            <a:off x="8525679" y="2987695"/>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grpSp>
        <p:nvGrpSpPr>
          <p:cNvPr id="130" name="Group 129">
            <a:extLst>
              <a:ext uri="{FF2B5EF4-FFF2-40B4-BE49-F238E27FC236}">
                <a16:creationId xmlns:a16="http://schemas.microsoft.com/office/drawing/2014/main" id="{1983339C-2F1C-A26C-2421-288107EAE4DE}"/>
              </a:ext>
            </a:extLst>
          </p:cNvPr>
          <p:cNvGrpSpPr/>
          <p:nvPr/>
        </p:nvGrpSpPr>
        <p:grpSpPr>
          <a:xfrm>
            <a:off x="9188030" y="2663031"/>
            <a:ext cx="645136" cy="645136"/>
            <a:chOff x="10238765" y="2145029"/>
            <a:chExt cx="589470" cy="589470"/>
          </a:xfrm>
        </p:grpSpPr>
        <p:sp>
          <p:nvSpPr>
            <p:cNvPr id="131" name="Freeform 67">
              <a:extLst>
                <a:ext uri="{FF2B5EF4-FFF2-40B4-BE49-F238E27FC236}">
                  <a16:creationId xmlns:a16="http://schemas.microsoft.com/office/drawing/2014/main" id="{B7A16F5A-8E4B-BF18-1CA2-49E16A29DD0B}"/>
                </a:ext>
              </a:extLst>
            </p:cNvPr>
            <p:cNvSpPr>
              <a:spLocks noChangeArrowheads="1"/>
            </p:cNvSpPr>
            <p:nvPr/>
          </p:nvSpPr>
          <p:spPr bwMode="auto">
            <a:xfrm flipH="1">
              <a:off x="10250514" y="2154902"/>
              <a:ext cx="565970" cy="565968"/>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32" name="Freeform 68">
              <a:extLst>
                <a:ext uri="{FF2B5EF4-FFF2-40B4-BE49-F238E27FC236}">
                  <a16:creationId xmlns:a16="http://schemas.microsoft.com/office/drawing/2014/main" id="{5E06A301-5EFA-2AF6-6C09-2ABF29C867C0}"/>
                </a:ext>
              </a:extLst>
            </p:cNvPr>
            <p:cNvSpPr>
              <a:spLocks noChangeArrowheads="1"/>
            </p:cNvSpPr>
            <p:nvPr/>
          </p:nvSpPr>
          <p:spPr bwMode="auto">
            <a:xfrm flipH="1">
              <a:off x="10238765" y="2145029"/>
              <a:ext cx="589470" cy="589470"/>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sp>
        <p:nvSpPr>
          <p:cNvPr id="139" name="Freeform 62">
            <a:extLst>
              <a:ext uri="{FF2B5EF4-FFF2-40B4-BE49-F238E27FC236}">
                <a16:creationId xmlns:a16="http://schemas.microsoft.com/office/drawing/2014/main" id="{E681D45C-6541-92D8-F1F8-DA5F455DA37D}"/>
              </a:ext>
            </a:extLst>
          </p:cNvPr>
          <p:cNvSpPr>
            <a:spLocks noChangeArrowheads="1"/>
          </p:cNvSpPr>
          <p:nvPr/>
        </p:nvSpPr>
        <p:spPr bwMode="auto">
          <a:xfrm flipH="1">
            <a:off x="8277023" y="4516849"/>
            <a:ext cx="2378124" cy="548640"/>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40" name="TextBox 139">
            <a:extLst>
              <a:ext uri="{FF2B5EF4-FFF2-40B4-BE49-F238E27FC236}">
                <a16:creationId xmlns:a16="http://schemas.microsoft.com/office/drawing/2014/main" id="{F1AB45B7-3403-52B6-F4DE-ECE57F890CC8}"/>
              </a:ext>
            </a:extLst>
          </p:cNvPr>
          <p:cNvSpPr txBox="1"/>
          <p:nvPr/>
        </p:nvSpPr>
        <p:spPr>
          <a:xfrm flipH="1">
            <a:off x="8555465" y="4606502"/>
            <a:ext cx="1808322" cy="369332"/>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حصر وتقييم المعايير المحلية والعالمية</a:t>
            </a:r>
          </a:p>
        </p:txBody>
      </p:sp>
      <p:sp>
        <p:nvSpPr>
          <p:cNvPr id="141" name="TextBox 140">
            <a:extLst>
              <a:ext uri="{FF2B5EF4-FFF2-40B4-BE49-F238E27FC236}">
                <a16:creationId xmlns:a16="http://schemas.microsoft.com/office/drawing/2014/main" id="{0F16C973-DD20-6568-B73D-E739A5E4DEB2}"/>
              </a:ext>
            </a:extLst>
          </p:cNvPr>
          <p:cNvSpPr txBox="1"/>
          <p:nvPr/>
        </p:nvSpPr>
        <p:spPr>
          <a:xfrm>
            <a:off x="9341217" y="2848934"/>
            <a:ext cx="320040" cy="320040"/>
          </a:xfrm>
          <a:prstGeom prst="ellipse">
            <a:avLst/>
          </a:prstGeom>
          <a:solidFill>
            <a:schemeClr val="bg1"/>
          </a:solidFill>
        </p:spPr>
        <p:txBody>
          <a:bodyPr wrap="square" lIns="0" tIns="0" rIns="0" bIns="0" rtlCol="0" anchor="ctr" anchorCtr="0">
            <a:noAutofit/>
          </a:bodyPr>
          <a:lstStyle/>
          <a:p>
            <a:pPr algn="ctr"/>
            <a:r>
              <a:rPr lang="en-US" sz="2800" b="1" dirty="0">
                <a:solidFill>
                  <a:schemeClr val="tx1">
                    <a:lumMod val="65000"/>
                    <a:lumOff val="35000"/>
                  </a:schemeClr>
                </a:solidFill>
                <a:latin typeface="Sakkal Majalla" panose="02000000000000000000" pitchFamily="2" charset="-78"/>
                <a:cs typeface="Sakkal Majalla" panose="02000000000000000000" pitchFamily="2" charset="-78"/>
              </a:rPr>
              <a:t>1</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
        <p:nvSpPr>
          <p:cNvPr id="142" name="ZoneTexte 13">
            <a:extLst>
              <a:ext uri="{FF2B5EF4-FFF2-40B4-BE49-F238E27FC236}">
                <a16:creationId xmlns:a16="http://schemas.microsoft.com/office/drawing/2014/main" id="{2B560E0F-F652-0CB2-9AA1-00D99E70E1D7}"/>
              </a:ext>
            </a:extLst>
          </p:cNvPr>
          <p:cNvSpPr txBox="1"/>
          <p:nvPr/>
        </p:nvSpPr>
        <p:spPr>
          <a:xfrm>
            <a:off x="8544530" y="3333501"/>
            <a:ext cx="1956621" cy="1200329"/>
          </a:xfrm>
          <a:prstGeom prst="rect">
            <a:avLst/>
          </a:prstGeom>
          <a:noFill/>
        </p:spPr>
        <p:txBody>
          <a:bodyPr wrap="square" rtlCol="1">
            <a:spAutoFit/>
          </a:bodyPr>
          <a:lstStyle/>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حصر المعايير والأطر المحلية والعالمية.</a:t>
            </a:r>
          </a:p>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تقييم أفضل الممارسات ذات الصلة بمجالات البنية المؤسسية.</a:t>
            </a:r>
          </a:p>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تحليل المعايير الفنية والتخصصية.</a:t>
            </a:r>
          </a:p>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بناء م</a:t>
            </a:r>
            <a:r>
              <a:rPr lang="ar-SA" sz="1200" dirty="0">
                <a:solidFill>
                  <a:schemeClr val="tx1">
                    <a:lumMod val="75000"/>
                    <a:lumOff val="25000"/>
                  </a:schemeClr>
                </a:solidFill>
                <a:latin typeface="Sakkal Majalla" panose="02000000000000000000" pitchFamily="2" charset="-78"/>
                <a:cs typeface="Sakkal Majalla" panose="02000000000000000000" pitchFamily="2" charset="-78"/>
              </a:rPr>
              <a:t>كتبة معايير محلية وعالمية مرتبطة بمجال البنية</a:t>
            </a: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 مع تحديد المصدر.</a:t>
            </a:r>
            <a:endParaRPr lang="ar-SA" sz="1200" dirty="0">
              <a:solidFill>
                <a:schemeClr val="tx1">
                  <a:lumMod val="75000"/>
                  <a:lumOff val="25000"/>
                </a:schemeClr>
              </a:solidFill>
              <a:latin typeface="Sakkal Majalla" panose="02000000000000000000" pitchFamily="2" charset="-78"/>
              <a:cs typeface="Sakkal Majalla" panose="02000000000000000000" pitchFamily="2" charset="-78"/>
            </a:endParaRPr>
          </a:p>
        </p:txBody>
      </p:sp>
      <p:sp>
        <p:nvSpPr>
          <p:cNvPr id="152" name="Freeform 138">
            <a:extLst>
              <a:ext uri="{FF2B5EF4-FFF2-40B4-BE49-F238E27FC236}">
                <a16:creationId xmlns:a16="http://schemas.microsoft.com/office/drawing/2014/main" id="{E4F721C8-A9D2-0652-FAAA-2AA888F02FB5}"/>
              </a:ext>
            </a:extLst>
          </p:cNvPr>
          <p:cNvSpPr>
            <a:spLocks noChangeArrowheads="1"/>
          </p:cNvSpPr>
          <p:nvPr/>
        </p:nvSpPr>
        <p:spPr bwMode="auto">
          <a:xfrm flipH="1">
            <a:off x="4786712" y="2691215"/>
            <a:ext cx="580790" cy="586935"/>
          </a:xfrm>
          <a:custGeom>
            <a:avLst/>
            <a:gdLst>
              <a:gd name="T0" fmla="*/ 636 w 1275"/>
              <a:gd name="T1" fmla="*/ 0 h 1275"/>
              <a:gd name="T2" fmla="*/ 636 w 1275"/>
              <a:gd name="T3" fmla="*/ 0 h 1275"/>
              <a:gd name="T4" fmla="*/ 1274 w 1275"/>
              <a:gd name="T5" fmla="*/ 637 h 1275"/>
              <a:gd name="T6" fmla="*/ 1274 w 1275"/>
              <a:gd name="T7" fmla="*/ 637 h 1275"/>
              <a:gd name="T8" fmla="*/ 636 w 1275"/>
              <a:gd name="T9" fmla="*/ 1274 h 1275"/>
              <a:gd name="T10" fmla="*/ 636 w 1275"/>
              <a:gd name="T11" fmla="*/ 1274 h 1275"/>
              <a:gd name="T12" fmla="*/ 0 w 1275"/>
              <a:gd name="T13" fmla="*/ 637 h 1275"/>
              <a:gd name="T14" fmla="*/ 0 w 1275"/>
              <a:gd name="T15" fmla="*/ 637 h 1275"/>
              <a:gd name="T16" fmla="*/ 636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6" y="0"/>
                </a:moveTo>
                <a:lnTo>
                  <a:pt x="636" y="0"/>
                </a:lnTo>
                <a:cubicBezTo>
                  <a:pt x="989" y="0"/>
                  <a:pt x="1274" y="285"/>
                  <a:pt x="1274" y="637"/>
                </a:cubicBezTo>
                <a:lnTo>
                  <a:pt x="1274" y="637"/>
                </a:lnTo>
                <a:cubicBezTo>
                  <a:pt x="1274" y="988"/>
                  <a:pt x="989" y="1274"/>
                  <a:pt x="636" y="1274"/>
                </a:cubicBezTo>
                <a:lnTo>
                  <a:pt x="636" y="1274"/>
                </a:lnTo>
                <a:cubicBezTo>
                  <a:pt x="285" y="1274"/>
                  <a:pt x="0" y="988"/>
                  <a:pt x="0" y="637"/>
                </a:cubicBezTo>
                <a:lnTo>
                  <a:pt x="0" y="637"/>
                </a:lnTo>
                <a:cubicBezTo>
                  <a:pt x="0" y="285"/>
                  <a:pt x="285" y="0"/>
                  <a:pt x="636" y="0"/>
                </a:cubicBezTo>
              </a:path>
            </a:pathLst>
          </a:custGeom>
          <a:solidFill>
            <a:schemeClr val="bg1"/>
          </a:soli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54" name="TextBox 153">
            <a:extLst>
              <a:ext uri="{FF2B5EF4-FFF2-40B4-BE49-F238E27FC236}">
                <a16:creationId xmlns:a16="http://schemas.microsoft.com/office/drawing/2014/main" id="{6CABC5E6-D6CD-EBDE-019D-50ECC098262B}"/>
              </a:ext>
            </a:extLst>
          </p:cNvPr>
          <p:cNvSpPr txBox="1"/>
          <p:nvPr/>
        </p:nvSpPr>
        <p:spPr>
          <a:xfrm>
            <a:off x="7139668" y="2848934"/>
            <a:ext cx="320040" cy="320040"/>
          </a:xfrm>
          <a:prstGeom prst="ellipse">
            <a:avLst/>
          </a:prstGeom>
          <a:solidFill>
            <a:schemeClr val="bg1"/>
          </a:solidFill>
        </p:spPr>
        <p:txBody>
          <a:bodyPr wrap="square" lIns="0" tIns="0" rIns="0" bIns="0" rtlCol="0" anchor="ctr" anchorCtr="0">
            <a:noAutofit/>
          </a:bodyPr>
          <a:lstStyle/>
          <a:p>
            <a:pPr algn="ctr"/>
            <a:r>
              <a:rPr lang="ar-EG" sz="2800" b="1" dirty="0">
                <a:solidFill>
                  <a:schemeClr val="tx1">
                    <a:lumMod val="65000"/>
                    <a:lumOff val="35000"/>
                  </a:schemeClr>
                </a:solidFill>
                <a:latin typeface="Sakkal Majalla" panose="02000000000000000000" pitchFamily="2" charset="-78"/>
                <a:cs typeface="Sakkal Majalla" panose="02000000000000000000" pitchFamily="2" charset="-78"/>
              </a:rPr>
              <a:t>2</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
        <p:nvSpPr>
          <p:cNvPr id="155" name="TextBox 154">
            <a:extLst>
              <a:ext uri="{FF2B5EF4-FFF2-40B4-BE49-F238E27FC236}">
                <a16:creationId xmlns:a16="http://schemas.microsoft.com/office/drawing/2014/main" id="{DB1F91FA-EA33-13A5-C904-D2127195FF95}"/>
              </a:ext>
            </a:extLst>
          </p:cNvPr>
          <p:cNvSpPr txBox="1"/>
          <p:nvPr/>
        </p:nvSpPr>
        <p:spPr>
          <a:xfrm>
            <a:off x="4898109" y="2848934"/>
            <a:ext cx="320040" cy="320040"/>
          </a:xfrm>
          <a:prstGeom prst="ellipse">
            <a:avLst/>
          </a:prstGeom>
          <a:solidFill>
            <a:schemeClr val="bg1"/>
          </a:solidFill>
        </p:spPr>
        <p:txBody>
          <a:bodyPr wrap="square" lIns="0" tIns="0" rIns="0" bIns="0" rtlCol="0" anchor="ctr" anchorCtr="0">
            <a:noAutofit/>
          </a:bodyPr>
          <a:lstStyle/>
          <a:p>
            <a:pPr algn="ctr"/>
            <a:r>
              <a:rPr lang="ar-EG" sz="2800" b="1" dirty="0">
                <a:solidFill>
                  <a:schemeClr val="tx1">
                    <a:lumMod val="65000"/>
                    <a:lumOff val="35000"/>
                  </a:schemeClr>
                </a:solidFill>
                <a:latin typeface="Sakkal Majalla" panose="02000000000000000000" pitchFamily="2" charset="-78"/>
                <a:cs typeface="Sakkal Majalla" panose="02000000000000000000" pitchFamily="2" charset="-78"/>
              </a:rPr>
              <a:t>3</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
        <p:nvSpPr>
          <p:cNvPr id="156" name="TextBox 155">
            <a:extLst>
              <a:ext uri="{FF2B5EF4-FFF2-40B4-BE49-F238E27FC236}">
                <a16:creationId xmlns:a16="http://schemas.microsoft.com/office/drawing/2014/main" id="{B80BE051-1180-4108-04B3-C302F7E26AEA}"/>
              </a:ext>
            </a:extLst>
          </p:cNvPr>
          <p:cNvSpPr txBox="1"/>
          <p:nvPr/>
        </p:nvSpPr>
        <p:spPr>
          <a:xfrm>
            <a:off x="2681329" y="2848934"/>
            <a:ext cx="320040" cy="320040"/>
          </a:xfrm>
          <a:prstGeom prst="ellipse">
            <a:avLst/>
          </a:prstGeom>
          <a:solidFill>
            <a:schemeClr val="bg1"/>
          </a:solidFill>
        </p:spPr>
        <p:txBody>
          <a:bodyPr wrap="square" lIns="0" tIns="0" rIns="0" bIns="0" rtlCol="0" anchor="ctr" anchorCtr="0">
            <a:noAutofit/>
          </a:bodyPr>
          <a:lstStyle/>
          <a:p>
            <a:pPr algn="ctr"/>
            <a:r>
              <a:rPr lang="ar-EG" sz="2800" b="1" dirty="0">
                <a:solidFill>
                  <a:schemeClr val="tx1">
                    <a:lumMod val="65000"/>
                    <a:lumOff val="35000"/>
                  </a:schemeClr>
                </a:solidFill>
                <a:latin typeface="Sakkal Majalla" panose="02000000000000000000" pitchFamily="2" charset="-78"/>
                <a:cs typeface="Sakkal Majalla" panose="02000000000000000000" pitchFamily="2" charset="-78"/>
              </a:rPr>
              <a:t>4</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857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مكتبة المعايير المحلية والعالمية</a:t>
            </a:r>
            <a:endParaRPr lang="en-US" dirty="0"/>
          </a:p>
        </p:txBody>
      </p:sp>
      <p:sp>
        <p:nvSpPr>
          <p:cNvPr id="4" name="Text Placeholder 3"/>
          <p:cNvSpPr>
            <a:spLocks noGrp="1"/>
          </p:cNvSpPr>
          <p:nvPr>
            <p:ph type="body" sz="quarter" idx="14"/>
          </p:nvPr>
        </p:nvSpPr>
        <p:spPr/>
        <p:txBody>
          <a:bodyPr/>
          <a:lstStyle/>
          <a:p>
            <a:r>
              <a:rPr lang="en-US" dirty="0"/>
              <a:t>02</a:t>
            </a:r>
          </a:p>
        </p:txBody>
      </p:sp>
    </p:spTree>
    <p:extLst>
      <p:ext uri="{BB962C8B-B14F-4D97-AF65-F5344CB8AC3E}">
        <p14:creationId xmlns:p14="http://schemas.microsoft.com/office/powerpoint/2010/main" val="206875200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(1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12</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2700942035"/>
              </p:ext>
            </p:extLst>
          </p:nvPr>
        </p:nvGraphicFramePr>
        <p:xfrm>
          <a:off x="486138" y="1104705"/>
          <a:ext cx="11218181" cy="4925255"/>
        </p:xfrm>
        <a:graphic>
          <a:graphicData uri="http://schemas.openxmlformats.org/drawingml/2006/table">
            <a:tbl>
              <a:tblPr rtl="1" firstRow="1" bandRow="1">
                <a:tableStyleId>{5C22544A-7EE6-4342-B048-85BDC9FD1C3A}</a:tableStyleId>
              </a:tblPr>
              <a:tblGrid>
                <a:gridCol w="292562">
                  <a:extLst>
                    <a:ext uri="{9D8B030D-6E8A-4147-A177-3AD203B41FA5}">
                      <a16:colId xmlns:a16="http://schemas.microsoft.com/office/drawing/2014/main" val="1990645311"/>
                    </a:ext>
                  </a:extLst>
                </a:gridCol>
                <a:gridCol w="2113945">
                  <a:extLst>
                    <a:ext uri="{9D8B030D-6E8A-4147-A177-3AD203B41FA5}">
                      <a16:colId xmlns:a16="http://schemas.microsoft.com/office/drawing/2014/main" val="3032189522"/>
                    </a:ext>
                  </a:extLst>
                </a:gridCol>
                <a:gridCol w="5957778">
                  <a:extLst>
                    <a:ext uri="{9D8B030D-6E8A-4147-A177-3AD203B41FA5}">
                      <a16:colId xmlns:a16="http://schemas.microsoft.com/office/drawing/2014/main" val="2428084489"/>
                    </a:ext>
                  </a:extLst>
                </a:gridCol>
                <a:gridCol w="959584">
                  <a:extLst>
                    <a:ext uri="{9D8B030D-6E8A-4147-A177-3AD203B41FA5}">
                      <a16:colId xmlns:a16="http://schemas.microsoft.com/office/drawing/2014/main" val="927704768"/>
                    </a:ext>
                  </a:extLst>
                </a:gridCol>
                <a:gridCol w="907425">
                  <a:extLst>
                    <a:ext uri="{9D8B030D-6E8A-4147-A177-3AD203B41FA5}">
                      <a16:colId xmlns:a16="http://schemas.microsoft.com/office/drawing/2014/main" val="3125827397"/>
                    </a:ext>
                  </a:extLst>
                </a:gridCol>
                <a:gridCol w="986887">
                  <a:extLst>
                    <a:ext uri="{9D8B030D-6E8A-4147-A177-3AD203B41FA5}">
                      <a16:colId xmlns:a16="http://schemas.microsoft.com/office/drawing/2014/main" val="2186125283"/>
                    </a:ext>
                  </a:extLst>
                </a:gridCol>
              </a:tblGrid>
              <a:tr h="380727">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767299">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Business Process Model and Notation (BPMN) 2.0</a:t>
                      </a:r>
                      <a:b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نمذجة عمليات الأعمال</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معيار تمثيل رسومي لتحديد عمليات وإجراءات  الأعمال من خلال رسم  تخطيط عمليات الأعمال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BPD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حيث يوفر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BPMN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لغة مشتركة للمستخدمين في الأعمال وفرق تقنية المعلومات للتواصل وفهم عمليات الأعمال مما يعزز  شفافية العمليات وكفاءتها.</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Object Management Group (OMG)</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2644189213"/>
                  </a:ext>
                </a:extLst>
              </a:tr>
              <a:tr h="667732">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Business Capability Model</a:t>
                      </a:r>
                      <a:b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نماذج نضوج القدرات</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إطار لتنظيم وفهم القدرات المطلوبة من قبل الجهة لتنفيذ استراتيجيتها , حيث تساعد نماذج قدرات الأعمال على تحديد وترتيب ومواءمة قدرات الأعمال مع الأهداف الاستراتيجية، مما يمكن من اتخاذ قرارات أفضل</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وتخصيص الموارد بشكل أفضل</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The Open Group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1765859621"/>
                  </a:ext>
                </a:extLst>
              </a:tr>
              <a:tr h="888992">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Business Architecture Guild</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تعتبر</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Business Architecture Guild</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منظمة دولية تهدف</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إلى تعزيز مجال بنية الأعمال وتطوير معاييره وممارساته.</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يُعتبر المعيار الخاص بها مرجعا هاما للمحترفين في مجال بنية الأعمال ويوفر إطار عمل موحد ومعايير لتطبيقات بنية الأعمال.</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Business Architecture Guild®</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467711384"/>
                  </a:ext>
                </a:extLst>
              </a:tr>
              <a:tr h="888992">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لنضج التجربة الرقمية للخدمات الحكومية </a:t>
                      </a:r>
                      <a:b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(مؤشر نضج التجربة الرقمية للخدمات الحكومية )</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يقدّم هذا الدليل تعريفا بمؤشر نضج التجربة الرقمية، وأهدافه، ويستعرض المواءمة الاستراتيجية مع توجهات الحكومة الرقمية، وتفصيل منهجية المؤشر بما يشمل تحديد المنصات  والخدمات الحكومية المستهدفة في المؤشر ومعايير اختيارها، وتوضيح المناظير والمحاور التي تضمنها المؤشر، وآليات التقييم المُتبَعة، إلى جانب توضيح مستويات النضج التي سيتم تصنيف المنصات والخدمات الحكومية بنا ء عليها</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الحكومة الرقمية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DGA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1400162761"/>
                  </a:ext>
                </a:extLst>
              </a:tr>
              <a:tr h="133151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سياسة مركزية المستفيد</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تهدف سياسة مركزية المستفيد إلى دعم الجهات الحكومية لضمان سهولة </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استخدام الخدمات الحكومية الرقمية وتوفير المعلومات اللازمة للمستفيدين</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بالإضافة إلى رفع مستوى المشاركة والتفاعل بين الجهات الحكومية</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والمستفيدين، وتوفير تجربة سلسة للمستفيدين من الخدمات الحكومية الرقمية</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والذي سيعمل بدوره على زيادة الثقة في الخدمات الحكومية الرقمية المقدمة ورفع</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مستويات استخدامها.</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الحكومة الرقمية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DGA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تجربة المستفيد</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558896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2</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13</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3587215395"/>
              </p:ext>
            </p:extLst>
          </p:nvPr>
        </p:nvGraphicFramePr>
        <p:xfrm>
          <a:off x="503499" y="1072046"/>
          <a:ext cx="11200820" cy="5034383"/>
        </p:xfrm>
        <a:graphic>
          <a:graphicData uri="http://schemas.openxmlformats.org/drawingml/2006/table">
            <a:tbl>
              <a:tblPr rtl="1" firstRow="1" bandRow="1">
                <a:tableStyleId>{5C22544A-7EE6-4342-B048-85BDC9FD1C3A}</a:tableStyleId>
              </a:tblPr>
              <a:tblGrid>
                <a:gridCol w="292109">
                  <a:extLst>
                    <a:ext uri="{9D8B030D-6E8A-4147-A177-3AD203B41FA5}">
                      <a16:colId xmlns:a16="http://schemas.microsoft.com/office/drawing/2014/main" val="1990645311"/>
                    </a:ext>
                  </a:extLst>
                </a:gridCol>
                <a:gridCol w="2110673">
                  <a:extLst>
                    <a:ext uri="{9D8B030D-6E8A-4147-A177-3AD203B41FA5}">
                      <a16:colId xmlns:a16="http://schemas.microsoft.com/office/drawing/2014/main" val="3032189522"/>
                    </a:ext>
                  </a:extLst>
                </a:gridCol>
                <a:gridCol w="5948558">
                  <a:extLst>
                    <a:ext uri="{9D8B030D-6E8A-4147-A177-3AD203B41FA5}">
                      <a16:colId xmlns:a16="http://schemas.microsoft.com/office/drawing/2014/main" val="2428084489"/>
                    </a:ext>
                  </a:extLst>
                </a:gridCol>
                <a:gridCol w="958099">
                  <a:extLst>
                    <a:ext uri="{9D8B030D-6E8A-4147-A177-3AD203B41FA5}">
                      <a16:colId xmlns:a16="http://schemas.microsoft.com/office/drawing/2014/main" val="927704768"/>
                    </a:ext>
                  </a:extLst>
                </a:gridCol>
                <a:gridCol w="906021">
                  <a:extLst>
                    <a:ext uri="{9D8B030D-6E8A-4147-A177-3AD203B41FA5}">
                      <a16:colId xmlns:a16="http://schemas.microsoft.com/office/drawing/2014/main" val="3125827397"/>
                    </a:ext>
                  </a:extLst>
                </a:gridCol>
                <a:gridCol w="985360">
                  <a:extLst>
                    <a:ext uri="{9D8B030D-6E8A-4147-A177-3AD203B41FA5}">
                      <a16:colId xmlns:a16="http://schemas.microsoft.com/office/drawing/2014/main" val="2186125283"/>
                    </a:ext>
                  </a:extLst>
                </a:gridCol>
              </a:tblGrid>
              <a:tr h="193543">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451921">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a:txBody>
                    <a:bodyPr/>
                    <a:lstStyle/>
                    <a:p>
                      <a:pPr algn="ctr" rtl="1"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 22301 Business Continuity</a:t>
                      </a:r>
                      <a:b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معيار الايزو 22301 الخاص باستمرارية الاعمال</a:t>
                      </a:r>
                    </a:p>
                  </a:txBody>
                  <a:tcPr marL="3810" marR="3810" marT="3810" marB="0" anchor="ctr"/>
                </a:tc>
                <a:tc>
                  <a:txBody>
                    <a:bodyPr/>
                    <a:lstStyle/>
                    <a:p>
                      <a:pPr algn="ctr" rtl="0" fontAlgn="ct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معيار دولي يحدد متطلبات إدارة استمرارية الأعمال , يهدف إلى مساعدة الجهات </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على التحضير للتعامل مع الطوارئ والأحداث غير المتوقعة التي قد تؤثر على استمرارية</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 عملياتها. يتضمن المعيار مجموعة من الممارسات والإجراءات التي يمكن للجهات </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اتباعها لتطوير وتنفيذ خطط استمرارية الأعمال الفعالة.</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المنظمة الدولية للتوحيد القياسي </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ISO)</a:t>
                      </a:r>
                    </a:p>
                  </a:txBody>
                  <a:tcPr marL="3810" marR="3810" marT="3810" marB="0" anchor="ctr"/>
                </a:tc>
                <a:tc>
                  <a:txBody>
                    <a:bodyPr/>
                    <a:lstStyle/>
                    <a:p>
                      <a:pPr algn="ctr" rtl="0"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644189213"/>
                  </a:ext>
                </a:extLst>
              </a:tr>
              <a:tr h="67687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لحصر ونشر  الخدمات الحكومية </a:t>
                      </a:r>
                    </a:p>
                  </a:txBody>
                  <a:tcPr marL="3810" marR="3810" marT="3810" marB="0" anchor="ctr"/>
                </a:tc>
                <a:tc>
                  <a:txBody>
                    <a:bodyPr/>
                    <a:lstStyle/>
                    <a:p>
                      <a:pPr algn="ctr" rtl="0" fontAlgn="ct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يهدف هذا الدليل إلى توضيح إجراءات وتفاصيل حصر ونشر  الخدمات الحكومية </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حيث يهدف الدليل إلى :-</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1- التوافق مع التوجهات الدولية لتقييم الحكومة الإلكترونية في العالم.</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2- تقييم مدى التقدم في الجهات الحكومية في مسار الخدمات الإلكترونية بشكل صحيح ودقيق بناء على بيانات موثقة ومحدثة يتم توثيقها من قبل الجهات نفسها.</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3-تسهيل وصول المستفيدين للخدمات الحكومية.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هيئة الحكومة الرقمية</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DGA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1765859621"/>
                  </a:ext>
                </a:extLst>
              </a:tr>
              <a:tr h="45192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للمنهجية الوطنية للبنية المؤسسية </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NORA</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يهدف هذا الدليل  إلى وصف المنهجية الوطنية للبنية المؤسسية وتوضيحها  والتي تستخدم  دليلا للجهات الحكومية لأعداد البنية المؤسسية الخاصة بها</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هيئة الحكومة الرقمية</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DGA</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بينية البيانات </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 </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 </a:t>
                      </a:r>
                    </a:p>
                  </a:txBody>
                  <a:tcPr marL="3810" marR="3810" marT="3810" marB="0" anchor="ctr"/>
                </a:tc>
                <a:extLst>
                  <a:ext uri="{0D108BD9-81ED-4DB2-BD59-A6C34878D82A}">
                    <a16:rowId xmlns:a16="http://schemas.microsoft.com/office/drawing/2014/main" val="467711384"/>
                  </a:ext>
                </a:extLst>
              </a:tr>
              <a:tr h="226965">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a:txBody>
                    <a:bodyPr/>
                    <a:lstStyle/>
                    <a:p>
                      <a:pPr algn="ctr" rtl="1"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TOGAF (The Open Group Architecture Framework)</a:t>
                      </a:r>
                    </a:p>
                  </a:txBody>
                  <a:tcPr marL="3810" marR="3810" marT="3810" marB="0" anchor="ctr"/>
                </a:tc>
                <a:tc>
                  <a:txBody>
                    <a:bodyPr/>
                    <a:lstStyle/>
                    <a:p>
                      <a:pPr algn="ctr" rtl="0" fontAlgn="ctr"/>
                      <a:r>
                        <a:rPr lang="en-US" sz="1300" b="0" i="0" u="none" strike="noStrike" baseline="0" dirty="0">
                          <a:solidFill>
                            <a:srgbClr val="000000"/>
                          </a:solidFill>
                          <a:effectLst/>
                          <a:latin typeface="Sakkal Majalla" panose="02000000000000000000" pitchFamily="2" charset="-78"/>
                          <a:cs typeface="Sakkal Majalla" panose="02000000000000000000" pitchFamily="2" charset="-78"/>
                        </a:rPr>
                        <a:t>TOGAF  </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هو إطار عمل متكامل لتطوير بنية الأعمال، يركز على تحسين كفاءة العمليات التنظيمية. يوفر إرشادات لتصميم، تخطيط، تنفيذ، وإدارة بنية الأعمال بطريقة تحقق الاتساق والتناغم مع أهداف المنظمة.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The Open Group</a:t>
                      </a:r>
                    </a:p>
                  </a:txBody>
                  <a:tcPr marL="3810" marR="3810" marT="3810" marB="0" anchor="ctr"/>
                </a:tc>
                <a:tc>
                  <a:txBody>
                    <a:bodyPr/>
                    <a:lstStyle/>
                    <a:p>
                      <a:pPr algn="ctr" rtl="0"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1400162761"/>
                  </a:ext>
                </a:extLst>
              </a:tr>
              <a:tr h="1014312">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10</a:t>
                      </a:r>
                    </a:p>
                  </a:txBody>
                  <a:tcPr marL="3810" marR="3810" marT="3810" marB="0" anchor="ctr"/>
                </a:tc>
                <a:tc>
                  <a:txBody>
                    <a:bodyPr/>
                    <a:lstStyle/>
                    <a:p>
                      <a:pPr algn="ctr" rtl="1"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 9001 Quality Management System</a:t>
                      </a:r>
                      <a:b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معيار الايزو 9001 الخاص بنظام إدارة الجودة وتحسين العمليات</a:t>
                      </a:r>
                    </a:p>
                  </a:txBody>
                  <a:tcPr marL="3810" marR="3810" marT="3810" marB="0" anchor="ctr"/>
                </a:tc>
                <a:tc>
                  <a:txBody>
                    <a:bodyPr/>
                    <a:lstStyle/>
                    <a:p>
                      <a:pPr algn="ctr" rtl="0" fontAlgn="ct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الايزو 9001 هو معيار عالمي يساعد المؤسسات على تحسين العمليات الإدارية، وتحقيق الجودة بغض النظر عن حجمها أو مجالها. إن تطبيق نظام إدارة الجودة في مؤسستك يمكنك من تقديم منتجات وخدمات أفضل وتلبية احتياجات العملاء بفاعلية ورفع مستويات التنافس محلياً وعالمياً.</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تمر عملية تطبيق معيار الايزو 9001 بمجموعة من المراحل وهي:</a:t>
                      </a:r>
                      <a:b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1- الحصول على الالتزام والدعم من إدارة المؤسسة</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2- تحديد المتطلبات</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3- تعريف العمليات والإجراءات</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4- تحديد نطاق عمل المعيار</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5</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 تطبيق العمليات والإجراءات</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6</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 إتاحة برامج تدريبية</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7</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 إعداد الموظفين لاجتياز التدقيق الداخلي والخارجي</a:t>
                      </a:r>
                      <a:r>
                        <a:rPr lang="ar-EG" sz="1300" b="0" i="0" u="none" strike="noStrike" baseline="0" dirty="0">
                          <a:solidFill>
                            <a:srgbClr val="000000"/>
                          </a:solidFill>
                          <a:effectLst/>
                          <a:latin typeface="Sakkal Majalla" panose="02000000000000000000" pitchFamily="2" charset="-78"/>
                          <a:cs typeface="Sakkal Majalla" panose="02000000000000000000" pitchFamily="2" charset="-78"/>
                        </a:rPr>
                        <a:t> 8</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 مراجعة عمل نظام الجودة </a:t>
                      </a:r>
                      <a:r>
                        <a:rPr lang="en-US" sz="1300" b="0" i="0" u="none" strike="noStrike" baseline="0" dirty="0">
                          <a:solidFill>
                            <a:srgbClr val="000000"/>
                          </a:solidFill>
                          <a:effectLst/>
                          <a:latin typeface="Sakkal Majalla" panose="02000000000000000000" pitchFamily="2" charset="-78"/>
                          <a:cs typeface="Sakkal Majalla" panose="02000000000000000000" pitchFamily="2" charset="-78"/>
                        </a:rPr>
                        <a:t>ISO 9001 </a:t>
                      </a:r>
                      <a:r>
                        <a:rPr lang="ar-SA" sz="1300" b="0" i="0" u="none" strike="noStrike" baseline="0" dirty="0">
                          <a:solidFill>
                            <a:srgbClr val="000000"/>
                          </a:solidFill>
                          <a:effectLst/>
                          <a:latin typeface="Sakkal Majalla" panose="02000000000000000000" pitchFamily="2" charset="-78"/>
                          <a:cs typeface="Sakkal Majalla" panose="02000000000000000000" pitchFamily="2" charset="-78"/>
                        </a:rPr>
                        <a:t>بشكل دوري للتأكد من فعاليته والتحسن المستمر </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المنظمة الدولية للتوحيد القياسي </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ISO)</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الأعمال</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3455619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3</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14</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2758221594"/>
              </p:ext>
            </p:extLst>
          </p:nvPr>
        </p:nvGraphicFramePr>
        <p:xfrm>
          <a:off x="480348" y="1104705"/>
          <a:ext cx="11223971" cy="4912463"/>
        </p:xfrm>
        <a:graphic>
          <a:graphicData uri="http://schemas.openxmlformats.org/drawingml/2006/table">
            <a:tbl>
              <a:tblPr rtl="1" firstRow="1" bandRow="1">
                <a:tableStyleId>{5C22544A-7EE6-4342-B048-85BDC9FD1C3A}</a:tableStyleId>
              </a:tblPr>
              <a:tblGrid>
                <a:gridCol w="292713">
                  <a:extLst>
                    <a:ext uri="{9D8B030D-6E8A-4147-A177-3AD203B41FA5}">
                      <a16:colId xmlns:a16="http://schemas.microsoft.com/office/drawing/2014/main" val="1990645311"/>
                    </a:ext>
                  </a:extLst>
                </a:gridCol>
                <a:gridCol w="2115036">
                  <a:extLst>
                    <a:ext uri="{9D8B030D-6E8A-4147-A177-3AD203B41FA5}">
                      <a16:colId xmlns:a16="http://schemas.microsoft.com/office/drawing/2014/main" val="3032189522"/>
                    </a:ext>
                  </a:extLst>
                </a:gridCol>
                <a:gridCol w="5960852">
                  <a:extLst>
                    <a:ext uri="{9D8B030D-6E8A-4147-A177-3AD203B41FA5}">
                      <a16:colId xmlns:a16="http://schemas.microsoft.com/office/drawing/2014/main" val="2428084489"/>
                    </a:ext>
                  </a:extLst>
                </a:gridCol>
                <a:gridCol w="960080">
                  <a:extLst>
                    <a:ext uri="{9D8B030D-6E8A-4147-A177-3AD203B41FA5}">
                      <a16:colId xmlns:a16="http://schemas.microsoft.com/office/drawing/2014/main" val="927704768"/>
                    </a:ext>
                  </a:extLst>
                </a:gridCol>
                <a:gridCol w="907894">
                  <a:extLst>
                    <a:ext uri="{9D8B030D-6E8A-4147-A177-3AD203B41FA5}">
                      <a16:colId xmlns:a16="http://schemas.microsoft.com/office/drawing/2014/main" val="3125827397"/>
                    </a:ext>
                  </a:extLst>
                </a:gridCol>
                <a:gridCol w="987396">
                  <a:extLst>
                    <a:ext uri="{9D8B030D-6E8A-4147-A177-3AD203B41FA5}">
                      <a16:colId xmlns:a16="http://schemas.microsoft.com/office/drawing/2014/main" val="2186125283"/>
                    </a:ext>
                  </a:extLst>
                </a:gridCol>
              </a:tblGrid>
              <a:tr h="232909">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626684">
                <a:tc>
                  <a:txBody>
                    <a:bodyPr/>
                    <a:lstStyle/>
                    <a:p>
                      <a:pPr algn="ctr" rtl="0" fontAlgn="ctr"/>
                      <a:r>
                        <a:rPr lang="en-US" sz="1400" b="0" i="0" u="none" strike="noStrike" dirty="0">
                          <a:solidFill>
                            <a:srgbClr val="000000"/>
                          </a:solidFill>
                          <a:effectLst/>
                          <a:latin typeface="+mj-lt"/>
                        </a:rPr>
                        <a:t>11</a:t>
                      </a:r>
                    </a:p>
                  </a:txBody>
                  <a:tcPr marL="3810" marR="3810" marT="3810" marB="0" anchor="ctr"/>
                </a:tc>
                <a:tc>
                  <a:txBody>
                    <a:bodyPr/>
                    <a:lstStyle/>
                    <a:p>
                      <a:pPr algn="ctr" rtl="0" fontAlgn="ctr"/>
                      <a:r>
                        <a:rPr lang="en-US" sz="1400" b="1" i="0" u="none" strike="noStrike" dirty="0">
                          <a:solidFill>
                            <a:srgbClr val="000000"/>
                          </a:solidFill>
                          <a:effectLst/>
                          <a:latin typeface="+mj-lt"/>
                        </a:rPr>
                        <a:t>CMMI (Capability Maturity Model Integration)</a:t>
                      </a:r>
                      <a:br>
                        <a:rPr lang="en-US" sz="1400" b="1" i="0" u="none" strike="noStrike" dirty="0">
                          <a:solidFill>
                            <a:srgbClr val="000000"/>
                          </a:solidFill>
                          <a:effectLst/>
                          <a:latin typeface="+mj-lt"/>
                        </a:rPr>
                      </a:br>
                      <a:r>
                        <a:rPr lang="ar-SA" sz="1400" b="1" i="0" u="none" strike="noStrike" dirty="0">
                          <a:solidFill>
                            <a:srgbClr val="000000"/>
                          </a:solidFill>
                          <a:effectLst/>
                          <a:latin typeface="+mj-lt"/>
                        </a:rPr>
                        <a:t>تكامل نموذج نضج القدرات</a:t>
                      </a:r>
                      <a:br>
                        <a:rPr lang="ar-SA" sz="1400" b="1" i="0" u="none" strike="noStrike" dirty="0">
                          <a:solidFill>
                            <a:srgbClr val="000000"/>
                          </a:solidFill>
                          <a:effectLst/>
                          <a:latin typeface="+mj-lt"/>
                        </a:rPr>
                      </a:br>
                      <a:r>
                        <a:rPr lang="ar-SA" sz="1400" b="1" i="0" u="none" strike="noStrike" dirty="0">
                          <a:solidFill>
                            <a:srgbClr val="000000"/>
                          </a:solidFill>
                          <a:effectLst/>
                          <a:latin typeface="+mj-lt"/>
                        </a:rPr>
                        <a:t> </a:t>
                      </a:r>
                    </a:p>
                  </a:txBody>
                  <a:tcPr marL="3810" marR="3810" marT="3810" marB="0" anchor="ctr"/>
                </a:tc>
                <a:tc>
                  <a:txBody>
                    <a:bodyPr/>
                    <a:lstStyle/>
                    <a:p>
                      <a:pPr algn="ctr" rtl="1" fontAlgn="ctr"/>
                      <a:r>
                        <a:rPr lang="ar-SA" sz="1350" b="0" i="0" u="none" strike="noStrike" dirty="0">
                          <a:solidFill>
                            <a:srgbClr val="000000"/>
                          </a:solidFill>
                          <a:effectLst/>
                          <a:latin typeface="+mj-lt"/>
                        </a:rPr>
                        <a:t>تم تطوير تكامل نموذج نضج القدرة المتكامل</a:t>
                      </a:r>
                      <a:r>
                        <a:rPr lang="ar-EG" sz="1350" b="0" i="0" u="none" strike="noStrike" dirty="0">
                          <a:solidFill>
                            <a:srgbClr val="000000"/>
                          </a:solidFill>
                          <a:effectLst/>
                          <a:latin typeface="+mj-lt"/>
                        </a:rPr>
                        <a:t> (</a:t>
                      </a:r>
                      <a:r>
                        <a:rPr lang="en-US" sz="1350" b="0" i="0" u="none" strike="noStrike" dirty="0">
                          <a:solidFill>
                            <a:srgbClr val="000000"/>
                          </a:solidFill>
                          <a:effectLst/>
                          <a:latin typeface="+mj-lt"/>
                        </a:rPr>
                        <a:t>CMMI</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في البداية لصالح وزارة الدفاع الأمريكية وذلك لضمان جودة وقدرة برامجها. بعد ذلك، تم استخدام هذه التقنية الجديدة ليس فقط ضمن شركات البرمجيات، ولكن ضمن أي جهة ترغب في بناء قدراتها وأدائها وقياسها وتحسينها في أي مجال كان.</a:t>
                      </a:r>
                      <a:br>
                        <a:rPr lang="ar-SA" sz="1350" b="0" i="0" u="none" strike="noStrike" dirty="0">
                          <a:solidFill>
                            <a:srgbClr val="000000"/>
                          </a:solidFill>
                          <a:effectLst/>
                          <a:latin typeface="+mj-lt"/>
                        </a:rPr>
                      </a:br>
                      <a:r>
                        <a:rPr lang="ar-SA" sz="1350" b="0" i="0" u="none" strike="noStrike" dirty="0">
                          <a:solidFill>
                            <a:srgbClr val="000000"/>
                          </a:solidFill>
                          <a:effectLst/>
                          <a:latin typeface="+mj-lt"/>
                        </a:rPr>
                        <a:t>ويمكن تعريف </a:t>
                      </a:r>
                      <a:r>
                        <a:rPr lang="en-US" sz="1350" b="0" i="0" u="none" strike="noStrike" dirty="0">
                          <a:solidFill>
                            <a:srgbClr val="000000"/>
                          </a:solidFill>
                          <a:effectLst/>
                          <a:latin typeface="+mj-lt"/>
                        </a:rPr>
                        <a:t>CMMI </a:t>
                      </a:r>
                      <a:r>
                        <a:rPr lang="ar-SA" sz="1350" b="0" i="0" u="none" strike="noStrike" dirty="0">
                          <a:solidFill>
                            <a:srgbClr val="000000"/>
                          </a:solidFill>
                          <a:effectLst/>
                          <a:latin typeface="+mj-lt"/>
                        </a:rPr>
                        <a:t>على أنه منهج وممارسات عملية تساعد الجهات في تحسين وزيادة الإنتاجية بهدف تقليل المخاطر عند تطوير البرمجيات أو ضمن دورة الحياة ، بمعنى هو مجموعة من الفعاليات التي تستخدم لتحسين الإجراءات وذلك من خلال النماذج المستخدمة وطرق التقييم  .</a:t>
                      </a:r>
                      <a:br>
                        <a:rPr lang="ar-SA" sz="1350" b="0" i="0" u="none" strike="noStrike" dirty="0">
                          <a:solidFill>
                            <a:srgbClr val="000000"/>
                          </a:solidFill>
                          <a:effectLst/>
                          <a:latin typeface="+mj-lt"/>
                        </a:rPr>
                      </a:br>
                      <a:r>
                        <a:rPr lang="ar-SA" sz="1350" b="0" i="0" u="none" strike="noStrike" dirty="0">
                          <a:solidFill>
                            <a:srgbClr val="000000"/>
                          </a:solidFill>
                          <a:effectLst/>
                          <a:latin typeface="+mj-lt"/>
                        </a:rPr>
                        <a:t>وقد حقق </a:t>
                      </a:r>
                      <a:r>
                        <a:rPr lang="en-US" sz="1350" b="0" i="0" u="none" strike="noStrike" dirty="0">
                          <a:solidFill>
                            <a:srgbClr val="000000"/>
                          </a:solidFill>
                          <a:effectLst/>
                          <a:latin typeface="+mj-lt"/>
                        </a:rPr>
                        <a:t>CMMI </a:t>
                      </a:r>
                      <a:r>
                        <a:rPr lang="ar-SA" sz="1350" b="0" i="0" u="none" strike="noStrike" dirty="0">
                          <a:solidFill>
                            <a:srgbClr val="000000"/>
                          </a:solidFill>
                          <a:effectLst/>
                          <a:latin typeface="+mj-lt"/>
                        </a:rPr>
                        <a:t>نجاحاً هاماً منذ حوالي 25 عاماً حيث ساعد الجهات الكبيرة في جميع أنحاء العالم على تحقيق النتائج المرجوة.</a:t>
                      </a:r>
                      <a:br>
                        <a:rPr lang="ar-SA" sz="1350" b="0" i="0" u="none" strike="noStrike" dirty="0">
                          <a:solidFill>
                            <a:srgbClr val="000000"/>
                          </a:solidFill>
                          <a:effectLst/>
                          <a:latin typeface="+mj-lt"/>
                        </a:rPr>
                      </a:br>
                      <a:r>
                        <a:rPr lang="ar-SA" sz="1350" b="0" i="0" u="none" strike="noStrike" dirty="0">
                          <a:solidFill>
                            <a:srgbClr val="000000"/>
                          </a:solidFill>
                          <a:effectLst/>
                          <a:latin typeface="+mj-lt"/>
                        </a:rPr>
                        <a:t>أصبح من الواضح الآن مدى الفائدة التي يمكن أن يحققها تطبيق </a:t>
                      </a:r>
                      <a:r>
                        <a:rPr lang="en-US" sz="1350" b="0" i="0" u="none" strike="noStrike" dirty="0">
                          <a:solidFill>
                            <a:srgbClr val="000000"/>
                          </a:solidFill>
                          <a:effectLst/>
                          <a:latin typeface="+mj-lt"/>
                        </a:rPr>
                        <a:t>CMMI </a:t>
                      </a:r>
                      <a:r>
                        <a:rPr lang="ar-SA" sz="1350" b="0" i="0" u="none" strike="noStrike" dirty="0">
                          <a:solidFill>
                            <a:srgbClr val="000000"/>
                          </a:solidFill>
                          <a:effectLst/>
                          <a:latin typeface="+mj-lt"/>
                        </a:rPr>
                        <a:t>في أي جهة لمعرفة مدى تحسن نقاط قوتها، تقييم العمليات، وتحديد فيما إذا كانت منتجات هذه الجهة جيدة بما يكفي. وبالإضافة إلى كل تلك الميزات، ستتمكن الجهات أيضاً عن طريق تطبيق </a:t>
                      </a:r>
                      <a:r>
                        <a:rPr lang="en-US" sz="1350" b="0" i="0" u="none" strike="noStrike" dirty="0">
                          <a:solidFill>
                            <a:srgbClr val="000000"/>
                          </a:solidFill>
                          <a:effectLst/>
                          <a:latin typeface="+mj-lt"/>
                        </a:rPr>
                        <a:t>CMMI </a:t>
                      </a:r>
                      <a:r>
                        <a:rPr lang="ar-SA" sz="1350" b="0" i="0" u="none" strike="noStrike" dirty="0">
                          <a:solidFill>
                            <a:srgbClr val="000000"/>
                          </a:solidFill>
                          <a:effectLst/>
                          <a:latin typeface="+mj-lt"/>
                        </a:rPr>
                        <a:t>من:</a:t>
                      </a:r>
                      <a:br>
                        <a:rPr lang="ar-SA" sz="1350" b="0" i="0" u="none" strike="noStrike" dirty="0">
                          <a:solidFill>
                            <a:srgbClr val="000000"/>
                          </a:solidFill>
                          <a:effectLst/>
                          <a:latin typeface="+mj-lt"/>
                        </a:rPr>
                      </a:br>
                      <a:r>
                        <a:rPr lang="ar-SA" sz="1350" b="0" i="0" u="none" strike="noStrike" dirty="0">
                          <a:solidFill>
                            <a:srgbClr val="000000"/>
                          </a:solidFill>
                          <a:effectLst/>
                          <a:latin typeface="+mj-lt"/>
                        </a:rPr>
                        <a:t>1- زيادة الإنتاجية.</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2- زيادة الرضا للعملاء.</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3- تخفيض المخاطر.</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4- زيادة الربح.</a:t>
                      </a:r>
                    </a:p>
                  </a:txBody>
                  <a:tcPr marL="3810" marR="3810" marT="3810" marB="0" anchor="ctr"/>
                </a:tc>
                <a:tc>
                  <a:txBody>
                    <a:bodyPr/>
                    <a:lstStyle/>
                    <a:p>
                      <a:pPr algn="ctr" rtl="0" fontAlgn="ctr"/>
                      <a:r>
                        <a:rPr lang="en-US" sz="1400" b="0" i="0" u="none" strike="noStrike" dirty="0">
                          <a:solidFill>
                            <a:srgbClr val="000000"/>
                          </a:solidFill>
                          <a:effectLst/>
                          <a:latin typeface="+mj-lt"/>
                        </a:rPr>
                        <a:t>ISACA (Information Systems Audit and Control Association)</a:t>
                      </a:r>
                    </a:p>
                  </a:txBody>
                  <a:tcPr marL="3810" marR="3810" marT="3810" marB="0" anchor="ctr"/>
                </a:tc>
                <a:tc>
                  <a:txBody>
                    <a:bodyPr/>
                    <a:lstStyle/>
                    <a:p>
                      <a:pPr algn="ctr" rtl="1" fontAlgn="ctr"/>
                      <a:r>
                        <a:rPr lang="ar-SA" sz="1400" b="0" i="0" u="none" strike="noStrike" dirty="0">
                          <a:solidFill>
                            <a:srgbClr val="000000"/>
                          </a:solidFill>
                          <a:effectLst/>
                          <a:latin typeface="+mj-lt"/>
                        </a:rPr>
                        <a:t>اختياري</a:t>
                      </a:r>
                    </a:p>
                  </a:txBody>
                  <a:tcPr marL="3810" marR="3810" marT="3810" marB="0" anchor="ctr"/>
                </a:tc>
                <a:tc>
                  <a:txBody>
                    <a:bodyPr/>
                    <a:lstStyle/>
                    <a:p>
                      <a:pPr algn="ctr" rtl="1" fontAlgn="ctr"/>
                      <a:r>
                        <a:rPr lang="ar-SA" sz="1400" b="0" i="0" u="none" strike="noStrike" dirty="0">
                          <a:solidFill>
                            <a:srgbClr val="000000"/>
                          </a:solidFill>
                          <a:effectLst/>
                          <a:latin typeface="+mj-lt"/>
                        </a:rPr>
                        <a:t>بنية الأعمال</a:t>
                      </a:r>
                      <a:br>
                        <a:rPr lang="ar-SA" sz="1400" b="0" i="0" u="none" strike="noStrike" dirty="0">
                          <a:solidFill>
                            <a:srgbClr val="000000"/>
                          </a:solidFill>
                          <a:effectLst/>
                          <a:latin typeface="+mj-lt"/>
                        </a:rPr>
                      </a:br>
                      <a:r>
                        <a:rPr lang="ar-SA" sz="1400" b="0" i="0" u="none" strike="noStrike" dirty="0">
                          <a:solidFill>
                            <a:srgbClr val="000000"/>
                          </a:solidFill>
                          <a:effectLst/>
                          <a:latin typeface="+mj-lt"/>
                        </a:rPr>
                        <a:t>بنية التطبيقات</a:t>
                      </a:r>
                    </a:p>
                  </a:txBody>
                  <a:tcPr marL="3810" marR="3810" marT="3810" marB="0" anchor="ctr"/>
                </a:tc>
                <a:extLst>
                  <a:ext uri="{0D108BD9-81ED-4DB2-BD59-A6C34878D82A}">
                    <a16:rowId xmlns:a16="http://schemas.microsoft.com/office/drawing/2014/main" val="2644189213"/>
                  </a:ext>
                </a:extLst>
              </a:tr>
              <a:tr h="408484">
                <a:tc>
                  <a:txBody>
                    <a:bodyPr/>
                    <a:lstStyle/>
                    <a:p>
                      <a:pPr algn="ctr" rtl="0" fontAlgn="ctr"/>
                      <a:r>
                        <a:rPr lang="en-US" sz="1400" b="0" i="0" u="none" strike="noStrike" dirty="0">
                          <a:solidFill>
                            <a:srgbClr val="000000"/>
                          </a:solidFill>
                          <a:effectLst/>
                          <a:latin typeface="+mj-lt"/>
                        </a:rPr>
                        <a:t>12</a:t>
                      </a:r>
                    </a:p>
                  </a:txBody>
                  <a:tcPr marL="3810" marR="3810" marT="3810" marB="0" anchor="ctr"/>
                </a:tc>
                <a:tc>
                  <a:txBody>
                    <a:bodyPr/>
                    <a:lstStyle/>
                    <a:p>
                      <a:pPr algn="ctr" rtl="0" fontAlgn="ctr"/>
                      <a:r>
                        <a:rPr lang="en-US" sz="1400" b="1" i="0" u="none" strike="noStrike" dirty="0">
                          <a:solidFill>
                            <a:srgbClr val="000000"/>
                          </a:solidFill>
                          <a:effectLst/>
                          <a:latin typeface="+mj-lt"/>
                        </a:rPr>
                        <a:t>Capability Maturity Model Integration (CMMI)</a:t>
                      </a:r>
                    </a:p>
                  </a:txBody>
                  <a:tcPr marL="3810" marR="3810" marT="3810" marB="0" anchor="ctr"/>
                </a:tc>
                <a:tc>
                  <a:txBody>
                    <a:bodyPr/>
                    <a:lstStyle/>
                    <a:p>
                      <a:pPr algn="ctr" rtl="1" fontAlgn="ctr"/>
                      <a:r>
                        <a:rPr lang="ar-SA" sz="1350" b="0" i="0" u="none" strike="noStrike" dirty="0">
                          <a:solidFill>
                            <a:srgbClr val="000000"/>
                          </a:solidFill>
                          <a:effectLst/>
                          <a:latin typeface="+mj-lt"/>
                        </a:rPr>
                        <a:t>اطار عمل يستخدم لتقييم وتحسين عمليات الإنتاجية والخدمية في المؤسسات. يهدف </a:t>
                      </a:r>
                      <a:r>
                        <a:rPr lang="en-US" sz="1350" b="0" i="0" u="none" strike="noStrike" dirty="0">
                          <a:solidFill>
                            <a:srgbClr val="000000"/>
                          </a:solidFill>
                          <a:effectLst/>
                          <a:latin typeface="+mj-lt"/>
                        </a:rPr>
                        <a:t>CMMI</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إلى تعزيز الجودة والكفاءة من خلال تطوير ممارسات العمل المستمرة وتحسينها. يعتبر </a:t>
                      </a:r>
                      <a:r>
                        <a:rPr lang="en-US" sz="1350" b="0" i="0" u="none" strike="noStrike" dirty="0">
                          <a:solidFill>
                            <a:srgbClr val="000000"/>
                          </a:solidFill>
                          <a:effectLst/>
                          <a:latin typeface="+mj-lt"/>
                        </a:rPr>
                        <a:t>CMMI</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من أبرز النماذج المعتمدة عالمي في مجال إدارة الجودة وتطوير البرمجيات وإدارة المشاريع. </a:t>
                      </a:r>
                    </a:p>
                  </a:txBody>
                  <a:tcPr marL="3810" marR="3810" marT="3810" marB="0" anchor="ctr"/>
                </a:tc>
                <a:tc>
                  <a:txBody>
                    <a:bodyPr/>
                    <a:lstStyle/>
                    <a:p>
                      <a:pPr algn="ctr" rtl="0" fontAlgn="ctr"/>
                      <a:r>
                        <a:rPr lang="en-US" sz="1400" b="0" i="0" u="none" strike="noStrike">
                          <a:solidFill>
                            <a:srgbClr val="000000"/>
                          </a:solidFill>
                          <a:effectLst/>
                          <a:latin typeface="+mj-lt"/>
                        </a:rPr>
                        <a:t>CCMI Institute</a:t>
                      </a:r>
                    </a:p>
                  </a:txBody>
                  <a:tcPr marL="3810" marR="3810" marT="3810" marB="0" anchor="ctr"/>
                </a:tc>
                <a:tc>
                  <a:txBody>
                    <a:bodyPr/>
                    <a:lstStyle/>
                    <a:p>
                      <a:pPr algn="ctr" rtl="1" fontAlgn="ctr"/>
                      <a:r>
                        <a:rPr lang="ar-SA" sz="1400" b="0" i="0" u="none" strike="noStrike" dirty="0">
                          <a:solidFill>
                            <a:srgbClr val="000000"/>
                          </a:solidFill>
                          <a:effectLst/>
                          <a:latin typeface="+mj-lt"/>
                        </a:rPr>
                        <a:t>اختياري</a:t>
                      </a:r>
                    </a:p>
                  </a:txBody>
                  <a:tcPr marL="3810" marR="3810" marT="3810" marB="0" anchor="ctr"/>
                </a:tc>
                <a:tc>
                  <a:txBody>
                    <a:bodyPr/>
                    <a:lstStyle/>
                    <a:p>
                      <a:pPr algn="ctr" rtl="1" fontAlgn="ctr"/>
                      <a:r>
                        <a:rPr lang="ar-SA" sz="1400" b="0" i="0" u="none" strike="noStrike" dirty="0">
                          <a:solidFill>
                            <a:srgbClr val="000000"/>
                          </a:solidFill>
                          <a:effectLst/>
                          <a:latin typeface="+mj-lt"/>
                        </a:rPr>
                        <a:t>بنية التطبيقات</a:t>
                      </a:r>
                    </a:p>
                  </a:txBody>
                  <a:tcPr marL="3810" marR="3810" marT="3810" marB="0" anchor="ctr"/>
                </a:tc>
                <a:extLst>
                  <a:ext uri="{0D108BD9-81ED-4DB2-BD59-A6C34878D82A}">
                    <a16:rowId xmlns:a16="http://schemas.microsoft.com/office/drawing/2014/main" val="1765859621"/>
                  </a:ext>
                </a:extLst>
              </a:tr>
              <a:tr h="543839">
                <a:tc>
                  <a:txBody>
                    <a:bodyPr/>
                    <a:lstStyle/>
                    <a:p>
                      <a:pPr algn="ctr" rtl="0" fontAlgn="ctr"/>
                      <a:r>
                        <a:rPr lang="en-US" sz="1400" b="0" i="0" u="none" strike="noStrike">
                          <a:solidFill>
                            <a:srgbClr val="000000"/>
                          </a:solidFill>
                          <a:effectLst/>
                          <a:latin typeface="+mj-lt"/>
                        </a:rPr>
                        <a:t>13</a:t>
                      </a:r>
                    </a:p>
                  </a:txBody>
                  <a:tcPr marL="3810" marR="3810" marT="3810" marB="0" anchor="ctr"/>
                </a:tc>
                <a:tc>
                  <a:txBody>
                    <a:bodyPr/>
                    <a:lstStyle/>
                    <a:p>
                      <a:pPr algn="ctr" rtl="0" fontAlgn="ctr"/>
                      <a:r>
                        <a:rPr lang="en-US" sz="1400" b="1" i="0" u="none" strike="noStrike" dirty="0">
                          <a:solidFill>
                            <a:srgbClr val="000000"/>
                          </a:solidFill>
                          <a:effectLst/>
                          <a:latin typeface="+mj-lt"/>
                        </a:rPr>
                        <a:t>Scaled Agile Framework (SAFe)</a:t>
                      </a:r>
                    </a:p>
                  </a:txBody>
                  <a:tcPr marL="3810" marR="3810" marT="3810" marB="0" anchor="ctr"/>
                </a:tc>
                <a:tc>
                  <a:txBody>
                    <a:bodyPr/>
                    <a:lstStyle/>
                    <a:p>
                      <a:pPr algn="ctr" rtl="1" fontAlgn="ctr"/>
                      <a:r>
                        <a:rPr lang="ar-SA" sz="1350" b="0" i="0" u="none" strike="noStrike" dirty="0">
                          <a:solidFill>
                            <a:srgbClr val="000000"/>
                          </a:solidFill>
                          <a:effectLst/>
                          <a:latin typeface="+mj-lt"/>
                        </a:rPr>
                        <a:t>إطار عمل يستخدم لتوسيع أساليب تطوير البرمجيات  السريعة إلى المستوى التنظيمي الكبير. يهدف </a:t>
                      </a:r>
                      <a:r>
                        <a:rPr lang="en-US" sz="1350" b="0" i="0" u="none" strike="noStrike" dirty="0">
                          <a:solidFill>
                            <a:srgbClr val="000000"/>
                          </a:solidFill>
                          <a:effectLst/>
                          <a:latin typeface="+mj-lt"/>
                        </a:rPr>
                        <a:t>SAFe</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إلى تحقيق تنسيق أفضل بين فرق التطوير وتوحيد العمليات وتسريع تسليم البرمجيات. يُعتبر  </a:t>
                      </a:r>
                      <a:r>
                        <a:rPr lang="en-US" sz="1350" b="0" i="0" u="none" strike="noStrike" dirty="0">
                          <a:solidFill>
                            <a:srgbClr val="000000"/>
                          </a:solidFill>
                          <a:effectLst/>
                          <a:latin typeface="+mj-lt"/>
                        </a:rPr>
                        <a:t>SAFe</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من أشهر إطارات العمل التي تدعم التطوير السريع للبرمجيات في بيئات الشركات الكبيرة. يوفر </a:t>
                      </a:r>
                      <a:r>
                        <a:rPr lang="en-US" sz="1350" b="0" i="0" u="none" strike="noStrike" dirty="0">
                          <a:solidFill>
                            <a:srgbClr val="000000"/>
                          </a:solidFill>
                          <a:effectLst/>
                          <a:latin typeface="+mj-lt"/>
                        </a:rPr>
                        <a:t>SAFe</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هيكلية للتخطيط والتعاون والتسليم تعتمد على مفاهيم المرونة</a:t>
                      </a:r>
                    </a:p>
                  </a:txBody>
                  <a:tcPr marL="3810" marR="3810" marT="3810" marB="0" anchor="ctr"/>
                </a:tc>
                <a:tc>
                  <a:txBody>
                    <a:bodyPr/>
                    <a:lstStyle/>
                    <a:p>
                      <a:pPr algn="ctr" rtl="0" fontAlgn="ctr"/>
                      <a:r>
                        <a:rPr lang="en-US" sz="1400" b="0" i="0" u="none" strike="noStrike">
                          <a:solidFill>
                            <a:srgbClr val="000000"/>
                          </a:solidFill>
                          <a:effectLst/>
                          <a:latin typeface="+mj-lt"/>
                        </a:rPr>
                        <a:t>Scaled Agile</a:t>
                      </a:r>
                    </a:p>
                  </a:txBody>
                  <a:tcPr marL="3810" marR="3810" marT="3810" marB="0" anchor="ctr"/>
                </a:tc>
                <a:tc>
                  <a:txBody>
                    <a:bodyPr/>
                    <a:lstStyle/>
                    <a:p>
                      <a:pPr algn="ctr" rtl="1" fontAlgn="ctr"/>
                      <a:r>
                        <a:rPr lang="ar-SA" sz="1400" b="0" i="0" u="none" strike="noStrike">
                          <a:solidFill>
                            <a:srgbClr val="000000"/>
                          </a:solidFill>
                          <a:effectLst/>
                          <a:latin typeface="+mj-lt"/>
                        </a:rPr>
                        <a:t>اختياري</a:t>
                      </a:r>
                    </a:p>
                  </a:txBody>
                  <a:tcPr marL="3810" marR="3810" marT="3810" marB="0" anchor="ctr"/>
                </a:tc>
                <a:tc>
                  <a:txBody>
                    <a:bodyPr/>
                    <a:lstStyle/>
                    <a:p>
                      <a:pPr algn="ctr" rtl="1" fontAlgn="ctr"/>
                      <a:r>
                        <a:rPr lang="ar-SA" sz="1400" b="0" i="0" u="none" strike="noStrike" dirty="0">
                          <a:solidFill>
                            <a:srgbClr val="000000"/>
                          </a:solidFill>
                          <a:effectLst/>
                          <a:latin typeface="+mj-lt"/>
                        </a:rPr>
                        <a:t>بنية التطبيقات</a:t>
                      </a:r>
                    </a:p>
                  </a:txBody>
                  <a:tcPr marL="3810" marR="3810" marT="3810" marB="0" anchor="ctr"/>
                </a:tc>
                <a:extLst>
                  <a:ext uri="{0D108BD9-81ED-4DB2-BD59-A6C34878D82A}">
                    <a16:rowId xmlns:a16="http://schemas.microsoft.com/office/drawing/2014/main" val="467711384"/>
                  </a:ext>
                </a:extLst>
              </a:tr>
              <a:tr h="543839">
                <a:tc>
                  <a:txBody>
                    <a:bodyPr/>
                    <a:lstStyle/>
                    <a:p>
                      <a:pPr algn="ctr" rtl="0" fontAlgn="ctr"/>
                      <a:r>
                        <a:rPr lang="en-US" sz="1400" b="0" i="0" u="none" strike="noStrike">
                          <a:solidFill>
                            <a:srgbClr val="000000"/>
                          </a:solidFill>
                          <a:effectLst/>
                          <a:latin typeface="+mj-lt"/>
                        </a:rPr>
                        <a:t>14</a:t>
                      </a:r>
                    </a:p>
                  </a:txBody>
                  <a:tcPr marL="3810" marR="3810" marT="3810" marB="0" anchor="ctr"/>
                </a:tc>
                <a:tc>
                  <a:txBody>
                    <a:bodyPr/>
                    <a:lstStyle/>
                    <a:p>
                      <a:pPr algn="ctr" rtl="0" fontAlgn="ctr"/>
                      <a:r>
                        <a:rPr lang="en-US" sz="1400" b="1" i="0" u="none" strike="noStrike" dirty="0">
                          <a:solidFill>
                            <a:srgbClr val="000000"/>
                          </a:solidFill>
                          <a:effectLst/>
                          <a:latin typeface="+mj-lt"/>
                        </a:rPr>
                        <a:t>ISO/IEC 9126</a:t>
                      </a:r>
                    </a:p>
                  </a:txBody>
                  <a:tcPr marL="3810" marR="3810" marT="3810" marB="0" anchor="ctr"/>
                </a:tc>
                <a:tc>
                  <a:txBody>
                    <a:bodyPr/>
                    <a:lstStyle/>
                    <a:p>
                      <a:pPr algn="ctr" rtl="1" fontAlgn="ctr"/>
                      <a:r>
                        <a:rPr lang="ar-SA" sz="1350" b="0" i="0" u="none" strike="noStrike" dirty="0">
                          <a:solidFill>
                            <a:srgbClr val="000000"/>
                          </a:solidFill>
                          <a:effectLst/>
                          <a:latin typeface="+mj-lt"/>
                        </a:rPr>
                        <a:t>معيار دولي يتعلق بجودة البرمجيات وتقييمها. يهدف المعيار إلى توفير إطار لتقييم الجودة في عمليات تطوير البرمجيات، بما في ذلك الوظائف، والأداء، والموثوقية، والصيانة، والقابلية للتوسع، والقابلية للتحمل. يساعد هذا المعيار المنظمات في فهم مدى جودة البرمجيات التي يتم تطويرها أو شراؤها، ويساعدها على اتخاذ قرارات استراتيجية متعلقة بالجودة والتحسين المستمر.</a:t>
                      </a:r>
                    </a:p>
                  </a:txBody>
                  <a:tcPr marL="3810" marR="3810" marT="3810" marB="0" anchor="ctr"/>
                </a:tc>
                <a:tc>
                  <a:txBody>
                    <a:bodyPr/>
                    <a:lstStyle/>
                    <a:p>
                      <a:pPr algn="ctr" rtl="0" fontAlgn="ctr"/>
                      <a:r>
                        <a:rPr lang="en-US" sz="1400" b="0" i="0" u="none" strike="noStrike">
                          <a:solidFill>
                            <a:srgbClr val="000000"/>
                          </a:solidFill>
                          <a:effectLst/>
                          <a:latin typeface="+mj-lt"/>
                        </a:rPr>
                        <a:t>ISO/IEC </a:t>
                      </a:r>
                    </a:p>
                  </a:txBody>
                  <a:tcPr marL="3810" marR="3810" marT="3810" marB="0" anchor="ctr"/>
                </a:tc>
                <a:tc>
                  <a:txBody>
                    <a:bodyPr/>
                    <a:lstStyle/>
                    <a:p>
                      <a:pPr algn="ctr" rtl="1" fontAlgn="ctr"/>
                      <a:r>
                        <a:rPr lang="ar-SA" sz="1400" b="0" i="0" u="none" strike="noStrike" dirty="0">
                          <a:solidFill>
                            <a:srgbClr val="000000"/>
                          </a:solidFill>
                          <a:effectLst/>
                          <a:latin typeface="+mj-lt"/>
                        </a:rPr>
                        <a:t>اختياري</a:t>
                      </a:r>
                    </a:p>
                  </a:txBody>
                  <a:tcPr marL="3810" marR="3810" marT="3810" marB="0" anchor="ctr"/>
                </a:tc>
                <a:tc>
                  <a:txBody>
                    <a:bodyPr/>
                    <a:lstStyle/>
                    <a:p>
                      <a:pPr algn="ctr" rtl="1" fontAlgn="ctr"/>
                      <a:r>
                        <a:rPr lang="ar-SA" sz="1400" b="0" i="0" u="none" strike="noStrike" dirty="0">
                          <a:solidFill>
                            <a:srgbClr val="000000"/>
                          </a:solidFill>
                          <a:effectLst/>
                          <a:latin typeface="+mj-lt"/>
                        </a:rPr>
                        <a:t>بنية التطبيقات</a:t>
                      </a:r>
                    </a:p>
                  </a:txBody>
                  <a:tcPr marL="3810" marR="3810" marT="3810" marB="0" anchor="ctr"/>
                </a:tc>
                <a:extLst>
                  <a:ext uri="{0D108BD9-81ED-4DB2-BD59-A6C34878D82A}">
                    <a16:rowId xmlns:a16="http://schemas.microsoft.com/office/drawing/2014/main" val="1400162761"/>
                  </a:ext>
                </a:extLst>
              </a:tr>
              <a:tr h="408484">
                <a:tc>
                  <a:txBody>
                    <a:bodyPr/>
                    <a:lstStyle/>
                    <a:p>
                      <a:pPr algn="ctr" rtl="0" fontAlgn="ctr"/>
                      <a:r>
                        <a:rPr lang="en-US" sz="1400" b="0" i="0" u="none" strike="noStrike">
                          <a:solidFill>
                            <a:srgbClr val="000000"/>
                          </a:solidFill>
                          <a:effectLst/>
                          <a:latin typeface="+mj-lt"/>
                        </a:rPr>
                        <a:t>15</a:t>
                      </a:r>
                    </a:p>
                  </a:txBody>
                  <a:tcPr marL="3810" marR="3810" marT="3810" marB="0" anchor="ctr"/>
                </a:tc>
                <a:tc>
                  <a:txBody>
                    <a:bodyPr/>
                    <a:lstStyle/>
                    <a:p>
                      <a:pPr algn="ctr" rtl="0" fontAlgn="ctr"/>
                      <a:r>
                        <a:rPr lang="en-US" sz="1400" b="1" i="0" u="none" strike="noStrike" dirty="0">
                          <a:solidFill>
                            <a:srgbClr val="000000"/>
                          </a:solidFill>
                          <a:effectLst/>
                          <a:latin typeface="+mj-lt"/>
                        </a:rPr>
                        <a:t>DevSecOps</a:t>
                      </a:r>
                    </a:p>
                  </a:txBody>
                  <a:tcPr marL="3810" marR="3810" marT="3810" marB="0" anchor="ctr"/>
                </a:tc>
                <a:tc>
                  <a:txBody>
                    <a:bodyPr/>
                    <a:lstStyle/>
                    <a:p>
                      <a:pPr algn="ctr" rtl="1" fontAlgn="ctr"/>
                      <a:r>
                        <a:rPr lang="ar-SA" sz="1350" b="0" i="0" u="none" strike="noStrike" dirty="0">
                          <a:solidFill>
                            <a:srgbClr val="000000"/>
                          </a:solidFill>
                          <a:effectLst/>
                          <a:latin typeface="+mj-lt"/>
                        </a:rPr>
                        <a:t>أسلوب لتطوير البرمجيات يجمع بين مفاهيم تطوير البرمجيات</a:t>
                      </a:r>
                      <a:r>
                        <a:rPr lang="ar-EG" sz="1350" b="0" i="0" u="none" strike="noStrike" dirty="0">
                          <a:solidFill>
                            <a:srgbClr val="000000"/>
                          </a:solidFill>
                          <a:effectLst/>
                          <a:latin typeface="+mj-lt"/>
                        </a:rPr>
                        <a:t> (</a:t>
                      </a:r>
                      <a:r>
                        <a:rPr lang="en-US" sz="1350" b="0" i="0" u="none" strike="noStrike" dirty="0">
                          <a:solidFill>
                            <a:srgbClr val="000000"/>
                          </a:solidFill>
                          <a:effectLst/>
                          <a:latin typeface="+mj-lt"/>
                        </a:rPr>
                        <a:t>Dev</a:t>
                      </a:r>
                      <a:r>
                        <a:rPr lang="ar-EG" sz="1350" b="0" i="0" u="none" strike="noStrike" dirty="0">
                          <a:solidFill>
                            <a:srgbClr val="000000"/>
                          </a:solidFill>
                          <a:effectLst/>
                          <a:latin typeface="+mj-lt"/>
                        </a:rPr>
                        <a:t>), </a:t>
                      </a:r>
                      <a:r>
                        <a:rPr lang="ar-SA" sz="1350" b="0" i="0" u="none" strike="noStrike" dirty="0">
                          <a:solidFill>
                            <a:srgbClr val="000000"/>
                          </a:solidFill>
                          <a:effectLst/>
                          <a:latin typeface="+mj-lt"/>
                        </a:rPr>
                        <a:t>الأمن</a:t>
                      </a:r>
                      <a:r>
                        <a:rPr lang="ar-EG" sz="1350" b="0" i="0" u="none" strike="noStrike" dirty="0">
                          <a:solidFill>
                            <a:srgbClr val="000000"/>
                          </a:solidFill>
                          <a:effectLst/>
                          <a:latin typeface="+mj-lt"/>
                        </a:rPr>
                        <a:t> (</a:t>
                      </a:r>
                      <a:r>
                        <a:rPr lang="en-US" sz="1350" b="0" i="0" u="none" strike="noStrike" dirty="0">
                          <a:solidFill>
                            <a:srgbClr val="000000"/>
                          </a:solidFill>
                          <a:effectLst/>
                          <a:latin typeface="+mj-lt"/>
                        </a:rPr>
                        <a:t>Sec</a:t>
                      </a:r>
                      <a:r>
                        <a:rPr lang="ar-EG" sz="1350" b="0" i="0" u="none" strike="noStrike" dirty="0">
                          <a:solidFill>
                            <a:srgbClr val="000000"/>
                          </a:solidFill>
                          <a:effectLst/>
                          <a:latin typeface="+mj-lt"/>
                        </a:rPr>
                        <a:t>)</a:t>
                      </a:r>
                      <a:r>
                        <a:rPr lang="en-US" sz="1350" b="0" i="0" u="none" strike="noStrike" dirty="0">
                          <a:solidFill>
                            <a:srgbClr val="000000"/>
                          </a:solidFill>
                          <a:effectLst/>
                          <a:latin typeface="+mj-lt"/>
                        </a:rPr>
                        <a:t>، </a:t>
                      </a:r>
                      <a:r>
                        <a:rPr lang="ar-SA" sz="1350" b="0" i="0" u="none" strike="noStrike" dirty="0">
                          <a:solidFill>
                            <a:srgbClr val="000000"/>
                          </a:solidFill>
                          <a:effectLst/>
                          <a:latin typeface="+mj-lt"/>
                        </a:rPr>
                        <a:t>والعمليات</a:t>
                      </a:r>
                      <a:r>
                        <a:rPr lang="ar-EG" sz="1350" b="0" i="0" u="none" strike="noStrike" dirty="0">
                          <a:solidFill>
                            <a:srgbClr val="000000"/>
                          </a:solidFill>
                          <a:effectLst/>
                          <a:latin typeface="+mj-lt"/>
                        </a:rPr>
                        <a:t> (</a:t>
                      </a:r>
                      <a:r>
                        <a:rPr lang="en-US" sz="1350" b="0" i="0" u="none" strike="noStrike" dirty="0">
                          <a:solidFill>
                            <a:srgbClr val="000000"/>
                          </a:solidFill>
                          <a:effectLst/>
                          <a:latin typeface="+mj-lt"/>
                        </a:rPr>
                        <a:t>Ops</a:t>
                      </a:r>
                      <a:r>
                        <a:rPr lang="ar-EG" sz="1350" b="0" i="0" u="none" strike="noStrike" dirty="0">
                          <a:solidFill>
                            <a:srgbClr val="000000"/>
                          </a:solidFill>
                          <a:effectLst/>
                          <a:latin typeface="+mj-lt"/>
                        </a:rPr>
                        <a:t>)</a:t>
                      </a:r>
                      <a:r>
                        <a:rPr lang="en-US" sz="1350" b="0" i="0" u="none" strike="noStrike" dirty="0">
                          <a:solidFill>
                            <a:srgbClr val="000000"/>
                          </a:solidFill>
                          <a:effectLst/>
                          <a:latin typeface="+mj-lt"/>
                        </a:rPr>
                        <a:t>، </a:t>
                      </a:r>
                      <a:r>
                        <a:rPr lang="ar-SA" sz="1350" b="0" i="0" u="none" strike="noStrike" dirty="0">
                          <a:solidFill>
                            <a:srgbClr val="000000"/>
                          </a:solidFill>
                          <a:effectLst/>
                          <a:latin typeface="+mj-lt"/>
                        </a:rPr>
                        <a:t>بهدف تحسين تعاون الفرق ودمج الأمان في عمليات التطوير والنشر. يهدف إلى تعزيز الأمان وتسريع عمليات التطوير والنشر بشكل مستمر ومتكرر.</a:t>
                      </a:r>
                    </a:p>
                  </a:txBody>
                  <a:tcPr marL="3810" marR="3810" marT="3810" marB="0" anchor="ctr"/>
                </a:tc>
                <a:tc>
                  <a:txBody>
                    <a:bodyPr/>
                    <a:lstStyle/>
                    <a:p>
                      <a:pPr algn="ctr" rtl="0" fontAlgn="ctr"/>
                      <a:r>
                        <a:rPr lang="en-US" sz="1400" b="0" i="0" u="none" strike="noStrike" dirty="0">
                          <a:solidFill>
                            <a:srgbClr val="000000"/>
                          </a:solidFill>
                          <a:effectLst/>
                          <a:latin typeface="+mj-lt"/>
                        </a:rPr>
                        <a:t>DevSecOps</a:t>
                      </a:r>
                    </a:p>
                  </a:txBody>
                  <a:tcPr marL="3810" marR="3810" marT="3810" marB="0" anchor="ctr"/>
                </a:tc>
                <a:tc>
                  <a:txBody>
                    <a:bodyPr/>
                    <a:lstStyle/>
                    <a:p>
                      <a:pPr algn="ctr" rtl="1" fontAlgn="ctr"/>
                      <a:r>
                        <a:rPr lang="ar-SA" sz="1400" b="0" i="0" u="none" strike="noStrike" dirty="0">
                          <a:solidFill>
                            <a:srgbClr val="000000"/>
                          </a:solidFill>
                          <a:effectLst/>
                          <a:latin typeface="+mj-lt"/>
                        </a:rPr>
                        <a:t>اختياري</a:t>
                      </a:r>
                    </a:p>
                  </a:txBody>
                  <a:tcPr marL="3810" marR="3810" marT="3810" marB="0" anchor="ctr"/>
                </a:tc>
                <a:tc>
                  <a:txBody>
                    <a:bodyPr/>
                    <a:lstStyle/>
                    <a:p>
                      <a:pPr algn="ctr" rtl="1" fontAlgn="ctr"/>
                      <a:r>
                        <a:rPr lang="ar-SA" sz="1400" b="0" i="0" u="none" strike="noStrike" dirty="0">
                          <a:solidFill>
                            <a:srgbClr val="000000"/>
                          </a:solidFill>
                          <a:effectLst/>
                          <a:latin typeface="+mj-lt"/>
                        </a:rPr>
                        <a:t>بنية التطبيقات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3485721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4</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15</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3916963587"/>
              </p:ext>
            </p:extLst>
          </p:nvPr>
        </p:nvGraphicFramePr>
        <p:xfrm>
          <a:off x="497711" y="1104704"/>
          <a:ext cx="11206608" cy="4986359"/>
        </p:xfrm>
        <a:graphic>
          <a:graphicData uri="http://schemas.openxmlformats.org/drawingml/2006/table">
            <a:tbl>
              <a:tblPr rtl="1" firstRow="1" bandRow="1">
                <a:tableStyleId>{5C22544A-7EE6-4342-B048-85BDC9FD1C3A}</a:tableStyleId>
              </a:tblPr>
              <a:tblGrid>
                <a:gridCol w="292260">
                  <a:extLst>
                    <a:ext uri="{9D8B030D-6E8A-4147-A177-3AD203B41FA5}">
                      <a16:colId xmlns:a16="http://schemas.microsoft.com/office/drawing/2014/main" val="1990645311"/>
                    </a:ext>
                  </a:extLst>
                </a:gridCol>
                <a:gridCol w="2111764">
                  <a:extLst>
                    <a:ext uri="{9D8B030D-6E8A-4147-A177-3AD203B41FA5}">
                      <a16:colId xmlns:a16="http://schemas.microsoft.com/office/drawing/2014/main" val="3032189522"/>
                    </a:ext>
                  </a:extLst>
                </a:gridCol>
                <a:gridCol w="5951632">
                  <a:extLst>
                    <a:ext uri="{9D8B030D-6E8A-4147-A177-3AD203B41FA5}">
                      <a16:colId xmlns:a16="http://schemas.microsoft.com/office/drawing/2014/main" val="2428084489"/>
                    </a:ext>
                  </a:extLst>
                </a:gridCol>
                <a:gridCol w="958594">
                  <a:extLst>
                    <a:ext uri="{9D8B030D-6E8A-4147-A177-3AD203B41FA5}">
                      <a16:colId xmlns:a16="http://schemas.microsoft.com/office/drawing/2014/main" val="927704768"/>
                    </a:ext>
                  </a:extLst>
                </a:gridCol>
                <a:gridCol w="906489">
                  <a:extLst>
                    <a:ext uri="{9D8B030D-6E8A-4147-A177-3AD203B41FA5}">
                      <a16:colId xmlns:a16="http://schemas.microsoft.com/office/drawing/2014/main" val="3125827397"/>
                    </a:ext>
                  </a:extLst>
                </a:gridCol>
                <a:gridCol w="985869">
                  <a:extLst>
                    <a:ext uri="{9D8B030D-6E8A-4147-A177-3AD203B41FA5}">
                      <a16:colId xmlns:a16="http://schemas.microsoft.com/office/drawing/2014/main" val="2186125283"/>
                    </a:ext>
                  </a:extLst>
                </a:gridCol>
              </a:tblGrid>
              <a:tr h="350828">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541086">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16</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Service-Oriented Architecture (SOA)</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نهج معماري يمكن من خلق خدمات برمجية فائقة التمازج وقابلة لإعادة الاستخدام لدعم العمليات التجارية وتكامل الأنظمة المتنوعة. تعزز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SOA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التشغيل التعاوني والمرونة والتوسيعية من خلال تقسيم التطبيقات إلى خدمات قابلة للتعليق يمكن دمجها واستخدامها بسهولة عبر منصات مختلفة.</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The Open Group</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644189213"/>
                  </a:ext>
                </a:extLst>
              </a:tr>
              <a:tr h="57369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17</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W3C web standards</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معيار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W3C</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للويب (معهد الويب العالمي) هو مجموعة من المعايير والمواصفات المتعلقة بتقنيات الويب مثل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HTML</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CSS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XML</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وغيرها. يهدف هذا المعيار إلى تعزيز توافقية وتواصلية الويب وضمان تطوير وتوسع مواقع الويب بشكل متوافق مع معايير الصناعة ومبادئ الحوسبة النقالة. يتم إدارة هذه المعايير بواسطة معهد الويب العالمي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W3C</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W3C - World Wide Web Consortium</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765859621"/>
                  </a:ext>
                </a:extLst>
              </a:tr>
              <a:tr h="58063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18</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Software Life Cycle Processes</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يقدم معيارًا لإدارة دورة حياة تطوير البرمجيات، ويغطي مراحل التخطيط، التطوير، التنفيذ، الصيانة، والتقاعد.</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467711384"/>
                  </a:ext>
                </a:extLst>
              </a:tr>
              <a:tr h="58063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19</a:t>
                      </a:r>
                    </a:p>
                  </a:txBody>
                  <a:tcPr marL="3810" marR="3810" marT="3810" marB="0" anchor="ctr"/>
                </a:tc>
                <a:tc>
                  <a:txBody>
                    <a:bodyPr/>
                    <a:lstStyle/>
                    <a:p>
                      <a:pPr algn="ctr" rtl="0" fontAlgn="ctr"/>
                      <a:r>
                        <a:rPr lang="it-IT" sz="1400" b="1" i="0" u="none" strike="noStrike" baseline="0" dirty="0">
                          <a:solidFill>
                            <a:srgbClr val="000000"/>
                          </a:solidFill>
                          <a:effectLst/>
                          <a:latin typeface="Sakkal Majalla" panose="02000000000000000000" pitchFamily="2" charset="-78"/>
                          <a:cs typeface="Sakkal Majalla" panose="02000000000000000000" pitchFamily="2" charset="-78"/>
                        </a:rPr>
                        <a:t>ISO/IEC 29119 (Software Testing)</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معايير عالمية لاختبار البرمجيات، ويغطي عمليات الاختبار، التقنيات، والتوثيق لضمان الجودة.</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ISO/IEC </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400162761"/>
                  </a:ext>
                </a:extLst>
              </a:tr>
              <a:tr h="1272978">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20</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IEEE 1016 - Software Design Descriptions</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إرشادات حول كيفية توثيق تصميم البرمجيات بطريقة منظمة. يشمل ذلك هيكلة النظام، الوحدات الفرعية، التفاعلات بين المكونات، وغيرها من جوانب التصميم.</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IEEE</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3843383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5</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16</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2198133375"/>
              </p:ext>
            </p:extLst>
          </p:nvPr>
        </p:nvGraphicFramePr>
        <p:xfrm>
          <a:off x="474561" y="1104704"/>
          <a:ext cx="11229758" cy="4945264"/>
        </p:xfrm>
        <a:graphic>
          <a:graphicData uri="http://schemas.openxmlformats.org/drawingml/2006/table">
            <a:tbl>
              <a:tblPr rtl="1" firstRow="1" bandRow="1">
                <a:tableStyleId>{5C22544A-7EE6-4342-B048-85BDC9FD1C3A}</a:tableStyleId>
              </a:tblPr>
              <a:tblGrid>
                <a:gridCol w="292864">
                  <a:extLst>
                    <a:ext uri="{9D8B030D-6E8A-4147-A177-3AD203B41FA5}">
                      <a16:colId xmlns:a16="http://schemas.microsoft.com/office/drawing/2014/main" val="1990645311"/>
                    </a:ext>
                  </a:extLst>
                </a:gridCol>
                <a:gridCol w="2116126">
                  <a:extLst>
                    <a:ext uri="{9D8B030D-6E8A-4147-A177-3AD203B41FA5}">
                      <a16:colId xmlns:a16="http://schemas.microsoft.com/office/drawing/2014/main" val="3032189522"/>
                    </a:ext>
                  </a:extLst>
                </a:gridCol>
                <a:gridCol w="5963926">
                  <a:extLst>
                    <a:ext uri="{9D8B030D-6E8A-4147-A177-3AD203B41FA5}">
                      <a16:colId xmlns:a16="http://schemas.microsoft.com/office/drawing/2014/main" val="2428084489"/>
                    </a:ext>
                  </a:extLst>
                </a:gridCol>
                <a:gridCol w="960575">
                  <a:extLst>
                    <a:ext uri="{9D8B030D-6E8A-4147-A177-3AD203B41FA5}">
                      <a16:colId xmlns:a16="http://schemas.microsoft.com/office/drawing/2014/main" val="927704768"/>
                    </a:ext>
                  </a:extLst>
                </a:gridCol>
                <a:gridCol w="908362">
                  <a:extLst>
                    <a:ext uri="{9D8B030D-6E8A-4147-A177-3AD203B41FA5}">
                      <a16:colId xmlns:a16="http://schemas.microsoft.com/office/drawing/2014/main" val="3125827397"/>
                    </a:ext>
                  </a:extLst>
                </a:gridCol>
                <a:gridCol w="987905">
                  <a:extLst>
                    <a:ext uri="{9D8B030D-6E8A-4147-A177-3AD203B41FA5}">
                      <a16:colId xmlns:a16="http://schemas.microsoft.com/office/drawing/2014/main" val="2186125283"/>
                    </a:ext>
                  </a:extLst>
                </a:gridCol>
              </a:tblGrid>
              <a:tr h="36209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59057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21</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ممارسات الترميز الآمن (ممارسات الترميز الآمن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OWASP Secure Coding Practices</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مجموعة من الممارسات والإرشادات التي تهدف إلى تطوير برمجيات آمنة وخالية من الثغرات، مما يقلل من مخاطر الهجمات السيبرانية.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644189213"/>
                  </a:ext>
                </a:extLst>
              </a:tr>
              <a:tr h="40102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22</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 ISO/IEC/IEEE 32675:2022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بناء تطبيقات موثوقة وآمنة وتغليفها ونشرها</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يحدد الممارسات والمنهجيات لتبني </a:t>
                      </a:r>
                      <a:r>
                        <a:rPr lang="en-US" sz="1400" b="0" i="0" u="none" strike="noStrike" baseline="0">
                          <a:solidFill>
                            <a:srgbClr val="000000"/>
                          </a:solidFill>
                          <a:effectLst/>
                          <a:latin typeface="Sakkal Majalla" panose="02000000000000000000" pitchFamily="2" charset="-78"/>
                          <a:cs typeface="Sakkal Majalla" panose="02000000000000000000" pitchFamily="2" charset="-78"/>
                        </a:rPr>
                        <a:t>DevOps </a:t>
                      </a: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من أجل بناء أنظمة موثوقة وآمنة، يغطي جوانب بناء التطبيقات وتغليفها ونشرها.</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765859621"/>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23</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ISO/IEC 33202:2024: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هندسة البرمجيات والنظم — الممارسات الأساسية الرشيقة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يركز على الممارسات الأساسية في تطوير البرمجيات الرشيقة، ويقدم إرشادات حول كيفية تنفيذ مبادئ </a:t>
                      </a:r>
                      <a:r>
                        <a:rPr lang="en-US" sz="1400" b="0" i="0" u="none" strike="noStrike" baseline="0">
                          <a:solidFill>
                            <a:srgbClr val="000000"/>
                          </a:solidFill>
                          <a:effectLst/>
                          <a:latin typeface="Sakkal Majalla" panose="02000000000000000000" pitchFamily="2" charset="-78"/>
                          <a:cs typeface="Sakkal Majalla" panose="02000000000000000000" pitchFamily="2" charset="-78"/>
                        </a:rPr>
                        <a:t>Agile </a:t>
                      </a: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الأساسية بشكل فعال.</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467711384"/>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24</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معايير الهيئة الوطنية للأمن السيبراني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مجموعة من المعايير والإرشادات الصادرة عن الهيئة الوطنية للأمن السيبراني في المملكة العربية السعودية، تهدف إلى تعزيز الأمان السيبراني وحماية الأصول الرقمية في المؤسسات.</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400162761"/>
                  </a:ext>
                </a:extLst>
              </a:tr>
              <a:tr h="131385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25</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لإمكانية الوصول لمحتوى المواقع الإلكترونية الحكومية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دليل يقدم إرشادات حول كيفية تصميم وتطوير مواقع إلكترونية حكومية تكون متاحة وسهلة الوصول للأشخاص ذوي الإعاقة، مما يعزز الشمولية والامتثال لمعايير الوصول العالمية.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3542998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6</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17</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946888256"/>
              </p:ext>
            </p:extLst>
          </p:nvPr>
        </p:nvGraphicFramePr>
        <p:xfrm>
          <a:off x="520861" y="1104704"/>
          <a:ext cx="11183458" cy="4985013"/>
        </p:xfrm>
        <a:graphic>
          <a:graphicData uri="http://schemas.openxmlformats.org/drawingml/2006/table">
            <a:tbl>
              <a:tblPr rtl="1" firstRow="1" bandRow="1">
                <a:tableStyleId>{5C22544A-7EE6-4342-B048-85BDC9FD1C3A}</a:tableStyleId>
              </a:tblPr>
              <a:tblGrid>
                <a:gridCol w="291656">
                  <a:extLst>
                    <a:ext uri="{9D8B030D-6E8A-4147-A177-3AD203B41FA5}">
                      <a16:colId xmlns:a16="http://schemas.microsoft.com/office/drawing/2014/main" val="1990645311"/>
                    </a:ext>
                  </a:extLst>
                </a:gridCol>
                <a:gridCol w="2107402">
                  <a:extLst>
                    <a:ext uri="{9D8B030D-6E8A-4147-A177-3AD203B41FA5}">
                      <a16:colId xmlns:a16="http://schemas.microsoft.com/office/drawing/2014/main" val="3032189522"/>
                    </a:ext>
                  </a:extLst>
                </a:gridCol>
                <a:gridCol w="5939337">
                  <a:extLst>
                    <a:ext uri="{9D8B030D-6E8A-4147-A177-3AD203B41FA5}">
                      <a16:colId xmlns:a16="http://schemas.microsoft.com/office/drawing/2014/main" val="2428084489"/>
                    </a:ext>
                  </a:extLst>
                </a:gridCol>
                <a:gridCol w="956614">
                  <a:extLst>
                    <a:ext uri="{9D8B030D-6E8A-4147-A177-3AD203B41FA5}">
                      <a16:colId xmlns:a16="http://schemas.microsoft.com/office/drawing/2014/main" val="927704768"/>
                    </a:ext>
                  </a:extLst>
                </a:gridCol>
                <a:gridCol w="904617">
                  <a:extLst>
                    <a:ext uri="{9D8B030D-6E8A-4147-A177-3AD203B41FA5}">
                      <a16:colId xmlns:a16="http://schemas.microsoft.com/office/drawing/2014/main" val="3125827397"/>
                    </a:ext>
                  </a:extLst>
                </a:gridCol>
                <a:gridCol w="983832">
                  <a:extLst>
                    <a:ext uri="{9D8B030D-6E8A-4147-A177-3AD203B41FA5}">
                      <a16:colId xmlns:a16="http://schemas.microsoft.com/office/drawing/2014/main" val="2186125283"/>
                    </a:ext>
                  </a:extLst>
                </a:gridCol>
              </a:tblGrid>
              <a:tr h="373453">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61795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التعريفي للمنصات والمنتجات الرقمية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دليل يهدف إلى تعريف المعايير والإرشادات المتعلقة بتطوير وإدارة المنصات والمنتجات الرقمية، مع التركيز على تحسين تجربة المستخدم وضمان الجودة.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644189213"/>
                  </a:ext>
                </a:extLst>
              </a:tr>
              <a:tr h="43794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27</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المعايير الأساسية لقياس التحول الرقمي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مجموعة من المعايير التي تستخدم لقياس مدى نجاح المؤسسات في التحول الرقمي، تركز على الجوانب التكنولوجية، العملية، والتنظيمية.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765859621"/>
                  </a:ext>
                </a:extLst>
              </a:tr>
              <a:tr h="60959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28</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لأساسيات الظهور على محركات البحث للمواقع الحكومية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دليل يقدم إرشادات للمواقع الحكومية لتحسين ظهورها في نتائج محركات البحث، مما يسهل على المستخدمين العثور على المعلومات والخدمات بسهولة.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467711384"/>
                  </a:ext>
                </a:extLst>
              </a:tr>
              <a:tr h="60959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29</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لإدارة استمرارية الأعمال للحكومة الرقمية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دليل يوفر إرشادات لإعداد وتنفيذ خطط استمرارية الأعمال في الحكومة الرقمية، لضمان استمرارية تقديم الخدمات الرقمية حتى في حالات الطوارئ أو الكوارث.</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400162761"/>
                  </a:ext>
                </a:extLst>
              </a:tr>
              <a:tr h="1336472">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30</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مشروع أمان تطبيقات الويب المفتوح: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OWASP (Open Web Application Security Project)</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مبادرة غير ربحية تهدف إلى تحسين أمان البرمجيات، من خلال تقديم إرشادات وأدوات مفتوحة المصدر لمساعدة المطورين في تحديد الثغرات الأمنية ومعالجتها في تطبيقات الويب.</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1035486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7</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18</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4195277571"/>
              </p:ext>
            </p:extLst>
          </p:nvPr>
        </p:nvGraphicFramePr>
        <p:xfrm>
          <a:off x="520861" y="1104703"/>
          <a:ext cx="11183458" cy="4909597"/>
        </p:xfrm>
        <a:graphic>
          <a:graphicData uri="http://schemas.openxmlformats.org/drawingml/2006/table">
            <a:tbl>
              <a:tblPr rtl="1" firstRow="1" bandRow="1">
                <a:tableStyleId>{5C22544A-7EE6-4342-B048-85BDC9FD1C3A}</a:tableStyleId>
              </a:tblPr>
              <a:tblGrid>
                <a:gridCol w="291656">
                  <a:extLst>
                    <a:ext uri="{9D8B030D-6E8A-4147-A177-3AD203B41FA5}">
                      <a16:colId xmlns:a16="http://schemas.microsoft.com/office/drawing/2014/main" val="1990645311"/>
                    </a:ext>
                  </a:extLst>
                </a:gridCol>
                <a:gridCol w="2107402">
                  <a:extLst>
                    <a:ext uri="{9D8B030D-6E8A-4147-A177-3AD203B41FA5}">
                      <a16:colId xmlns:a16="http://schemas.microsoft.com/office/drawing/2014/main" val="3032189522"/>
                    </a:ext>
                  </a:extLst>
                </a:gridCol>
                <a:gridCol w="5939337">
                  <a:extLst>
                    <a:ext uri="{9D8B030D-6E8A-4147-A177-3AD203B41FA5}">
                      <a16:colId xmlns:a16="http://schemas.microsoft.com/office/drawing/2014/main" val="2428084489"/>
                    </a:ext>
                  </a:extLst>
                </a:gridCol>
                <a:gridCol w="956614">
                  <a:extLst>
                    <a:ext uri="{9D8B030D-6E8A-4147-A177-3AD203B41FA5}">
                      <a16:colId xmlns:a16="http://schemas.microsoft.com/office/drawing/2014/main" val="927704768"/>
                    </a:ext>
                  </a:extLst>
                </a:gridCol>
                <a:gridCol w="904617">
                  <a:extLst>
                    <a:ext uri="{9D8B030D-6E8A-4147-A177-3AD203B41FA5}">
                      <a16:colId xmlns:a16="http://schemas.microsoft.com/office/drawing/2014/main" val="3125827397"/>
                    </a:ext>
                  </a:extLst>
                </a:gridCol>
                <a:gridCol w="983832">
                  <a:extLst>
                    <a:ext uri="{9D8B030D-6E8A-4147-A177-3AD203B41FA5}">
                      <a16:colId xmlns:a16="http://schemas.microsoft.com/office/drawing/2014/main" val="2186125283"/>
                    </a:ext>
                  </a:extLst>
                </a:gridCol>
              </a:tblGrid>
              <a:tr h="417715">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45733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31</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 OWASP Top Ten</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قائمة بأهم عشرة مخاطر أمان شائعة تواجه تطبيقات الويب. تشمل هذه القائمة التهديدات الأكثر انتشاراً مثل إدخال الأوامر</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Injection</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وكسر المصادقة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Broken Authentication</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والكشف عن البيانات الحساسة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Sensitive Data Exposure</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والهجوم عبر المواقع</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Cross-Site Scripting – XSS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وتهدف إلى توعية المطورين وأصحاب المشاريع بأهم التهديدات الأمنية وتقديم توصيات للحد منها.</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644189213"/>
                  </a:ext>
                </a:extLst>
              </a:tr>
              <a:tr h="73260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32</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OWASP ASVS (Application Security Verification Standard)</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للتحقق من أمان التطبيقات يقدم مجموعة شاملة من المتطلبات الأمنية التي يمكن استخدامها للتحقق من أمان التطبيقات بشكل منتظم. وتهدف إلى مساعدة المؤسسات في بناء واختبار التطبيقات الآمنة وضمان أنها تفي بالمعايير الأمنية المطلوبة.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765859621"/>
                  </a:ext>
                </a:extLst>
              </a:tr>
              <a:tr h="549078">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33</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OWASP SAMM (Software Assurance Maturity Model)</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نموذج نضج ضمان البرمجيات، وهو إطار عمل يساعد المؤسسات على تقييم وتحسين أمان البرمجيات التي تقوم بتطويرها. وتهدف إلى تقديم إرشادات للمؤسسات حول كيفية تنفيذ وتوسيع نطاق ممارسات أمان البرمجيات بشكل منهجي ومستدام.</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467711384"/>
                  </a:ext>
                </a:extLst>
              </a:tr>
              <a:tr h="549078">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34</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OWASP Mobile Security Project</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مجموعة من الأدوات والإرشادات لتحديد ومعالجة الثغرات الأمنية في تطبيقات الهواتف المحمولة. وتهدف إلى توفير موارد للمطورين لتحسين أمان التطبيقات المحمولة وضمان حماية البيانات والمعلومات الشخصية للمستخدمين.</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120379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35</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OWASP Cheat Sheet Series</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سلسلة من الأوراق الإرشادية التي تغطي مختلف جوانب أمان البرمجيات وتقدم نصائح وإرشادات عملية لتجنب الثغرات الأمنية. وتهدف إلى تقديم إرشادات سريعة ومختصرة للمطورين حول كيفية تنفيذ الممارسات الأمنية بشكل فعال في تطوير التطبيقات.</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OWASP</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2877871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8</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19</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452924401"/>
              </p:ext>
            </p:extLst>
          </p:nvPr>
        </p:nvGraphicFramePr>
        <p:xfrm>
          <a:off x="497711" y="1104704"/>
          <a:ext cx="11206608" cy="4945264"/>
        </p:xfrm>
        <a:graphic>
          <a:graphicData uri="http://schemas.openxmlformats.org/drawingml/2006/table">
            <a:tbl>
              <a:tblPr rtl="1" firstRow="1" bandRow="1">
                <a:tableStyleId>{5C22544A-7EE6-4342-B048-85BDC9FD1C3A}</a:tableStyleId>
              </a:tblPr>
              <a:tblGrid>
                <a:gridCol w="292260">
                  <a:extLst>
                    <a:ext uri="{9D8B030D-6E8A-4147-A177-3AD203B41FA5}">
                      <a16:colId xmlns:a16="http://schemas.microsoft.com/office/drawing/2014/main" val="1990645311"/>
                    </a:ext>
                  </a:extLst>
                </a:gridCol>
                <a:gridCol w="2111764">
                  <a:extLst>
                    <a:ext uri="{9D8B030D-6E8A-4147-A177-3AD203B41FA5}">
                      <a16:colId xmlns:a16="http://schemas.microsoft.com/office/drawing/2014/main" val="3032189522"/>
                    </a:ext>
                  </a:extLst>
                </a:gridCol>
                <a:gridCol w="5951632">
                  <a:extLst>
                    <a:ext uri="{9D8B030D-6E8A-4147-A177-3AD203B41FA5}">
                      <a16:colId xmlns:a16="http://schemas.microsoft.com/office/drawing/2014/main" val="2428084489"/>
                    </a:ext>
                  </a:extLst>
                </a:gridCol>
                <a:gridCol w="958594">
                  <a:extLst>
                    <a:ext uri="{9D8B030D-6E8A-4147-A177-3AD203B41FA5}">
                      <a16:colId xmlns:a16="http://schemas.microsoft.com/office/drawing/2014/main" val="927704768"/>
                    </a:ext>
                  </a:extLst>
                </a:gridCol>
                <a:gridCol w="906489">
                  <a:extLst>
                    <a:ext uri="{9D8B030D-6E8A-4147-A177-3AD203B41FA5}">
                      <a16:colId xmlns:a16="http://schemas.microsoft.com/office/drawing/2014/main" val="3125827397"/>
                    </a:ext>
                  </a:extLst>
                </a:gridCol>
                <a:gridCol w="985869">
                  <a:extLst>
                    <a:ext uri="{9D8B030D-6E8A-4147-A177-3AD203B41FA5}">
                      <a16:colId xmlns:a16="http://schemas.microsoft.com/office/drawing/2014/main" val="2186125283"/>
                    </a:ext>
                  </a:extLst>
                </a:gridCol>
              </a:tblGrid>
              <a:tr h="36209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59057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إطار العمل</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Scrum</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وممارساته</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إطار عمل يركز على تحقيق التنمية الرشيقة في تطوير البرمجيات وإدارة المشاريع، معتمداً على دورات زمنية قصيرة تسمى “سباق السرعة”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Sprints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ويشجع على التفاعل المستمر بين فرق العمل والتكيف مع التغييرات.</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Scrum.org</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644189213"/>
                  </a:ext>
                </a:extLst>
              </a:tr>
              <a:tr h="40102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37</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تطبيق الاثني عشر عامل : 12</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factor App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مجموعة من المبادئ والأنماط لإعداد التطبيقات السحابية الحديثة، تهدف إلى تحسين مرونة التطبيقات وقابليتها للتوسع والصيانة.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12factor.net</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765859621"/>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38</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ISO/IEC TR 24587:2021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هندسة البرمجيات والنظم — التطوير الرشيق — اعتبارات اعتماد المنهجية الرشيقة</a:t>
                      </a:r>
                      <a:r>
                        <a:rPr lang="ar-SA" sz="1400" b="1" i="0" u="none" strike="noStrike" baseline="0" dirty="0">
                          <a:solidFill>
                            <a:srgbClr val="0E0E0E"/>
                          </a:solidFill>
                          <a:effectLst/>
                          <a:latin typeface="Sakkal Majalla" panose="02000000000000000000" pitchFamily="2" charset="-78"/>
                          <a:cs typeface="Sakkal Majalla" panose="02000000000000000000" pitchFamily="2" charset="-78"/>
                        </a:rPr>
                        <a:t>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يوفر التقرير الفني توجيهات وممارسات لتبني منهجيات التطوير الرشيقة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Agile</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يهدف إلى المساعدة  في فهم وتطبيق مبادئ التطوير الرشيق بفعالية، مع مراعاة التحديات والاعتبارات المختلفة التي قد تواجهها أثناء اعتماد هذه المنهجية.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467711384"/>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39</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سياسة الحوسبة السحابية أولا</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 تهدف إلى تشجيع اعتماد الحوسبة السحابية كخيار رئيسي في تقديم الخدمات الحكومية. تهدف هذه السياسة إلى تحسين الكفاءة وتقليل التكلفة، وتعزيز الأمان والمرونة في تقديم الخدمات الرقمية.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وزارة الاتصالات وتقنية المعلومات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400162761"/>
                  </a:ext>
                </a:extLst>
              </a:tr>
              <a:tr h="131385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40</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الأساسية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ECC-1</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مجموعة من الضوابط الأمنية الصادرة عن الهيئة الوطنية للأمن السيبراني، تهدف إلى حماية الأنظمة والشبكات والبيانات من التهديدات السيبرانية. تشمل الضوابط الحد الأدنى من الإجراءات الأمنية التي يجب على الجهات الالتزام بها لضمان الأمان السيبراني.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الهيئة الوطنية للأمن السيبراني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NCA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671218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9</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20</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1985402603"/>
              </p:ext>
            </p:extLst>
          </p:nvPr>
        </p:nvGraphicFramePr>
        <p:xfrm>
          <a:off x="486138" y="1104704"/>
          <a:ext cx="11218181" cy="4925707"/>
        </p:xfrm>
        <a:graphic>
          <a:graphicData uri="http://schemas.openxmlformats.org/drawingml/2006/table">
            <a:tbl>
              <a:tblPr rtl="1" firstRow="1" bandRow="1">
                <a:tableStyleId>{5C22544A-7EE6-4342-B048-85BDC9FD1C3A}</a:tableStyleId>
              </a:tblPr>
              <a:tblGrid>
                <a:gridCol w="292562">
                  <a:extLst>
                    <a:ext uri="{9D8B030D-6E8A-4147-A177-3AD203B41FA5}">
                      <a16:colId xmlns:a16="http://schemas.microsoft.com/office/drawing/2014/main" val="1990645311"/>
                    </a:ext>
                  </a:extLst>
                </a:gridCol>
                <a:gridCol w="2113945">
                  <a:extLst>
                    <a:ext uri="{9D8B030D-6E8A-4147-A177-3AD203B41FA5}">
                      <a16:colId xmlns:a16="http://schemas.microsoft.com/office/drawing/2014/main" val="3032189522"/>
                    </a:ext>
                  </a:extLst>
                </a:gridCol>
                <a:gridCol w="5957778">
                  <a:extLst>
                    <a:ext uri="{9D8B030D-6E8A-4147-A177-3AD203B41FA5}">
                      <a16:colId xmlns:a16="http://schemas.microsoft.com/office/drawing/2014/main" val="2428084489"/>
                    </a:ext>
                  </a:extLst>
                </a:gridCol>
                <a:gridCol w="959584">
                  <a:extLst>
                    <a:ext uri="{9D8B030D-6E8A-4147-A177-3AD203B41FA5}">
                      <a16:colId xmlns:a16="http://schemas.microsoft.com/office/drawing/2014/main" val="927704768"/>
                    </a:ext>
                  </a:extLst>
                </a:gridCol>
                <a:gridCol w="907425">
                  <a:extLst>
                    <a:ext uri="{9D8B030D-6E8A-4147-A177-3AD203B41FA5}">
                      <a16:colId xmlns:a16="http://schemas.microsoft.com/office/drawing/2014/main" val="3125827397"/>
                    </a:ext>
                  </a:extLst>
                </a:gridCol>
                <a:gridCol w="986887">
                  <a:extLst>
                    <a:ext uri="{9D8B030D-6E8A-4147-A177-3AD203B41FA5}">
                      <a16:colId xmlns:a16="http://schemas.microsoft.com/office/drawing/2014/main" val="2186125283"/>
                    </a:ext>
                  </a:extLst>
                </a:gridCol>
              </a:tblGrid>
              <a:tr h="370792">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42604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41</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للحوسبة السحابية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CCC-1</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تتناول هذه الضوابط الجوانب الأمنية المتعلقة باستخدام الخدمات السحابية، وتحدد التدابير والإجراءات التي يجب اتخاذها لضمان أمان البيانات والأنظمة السحابية، سواء للمستخدمين أو لمقدمي الخدمات السحابية.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644189213"/>
                  </a:ext>
                </a:extLst>
              </a:tr>
              <a:tr h="65030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42</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لتطبيقات الإنترنت</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WAMC-1</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تركز هذه الضوابط على حماية تطبيقات الإنترنت من التهديدات السيبرانية، من خلال وضع متطلبات وإجراءات لضمان أمان التطبيقات وحماية البيانات المتداولة عبر الإنترنت.</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1765859621"/>
                  </a:ext>
                </a:extLst>
              </a:tr>
              <a:tr h="65030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43</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إرشادات الأمن السيبراني للتجارة الإلكترونية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 تقدم هذه الإرشادات نصائح وتوصيات لضمان أمان المعاملات التجارية عبر الإنترنت، بما في ذلك حماية بيانات العملاء والدفع، والتأكد من سلامة الأنظمة المستخدمة في التجارة الإلكترونية.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467711384"/>
                  </a:ext>
                </a:extLst>
              </a:tr>
              <a:tr h="65030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44</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المعايير الوطنية للتشفير</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تحدد هذه المعايير الطرق والتقنيات المستخدمة لتشفير البيانات لضمان حماية المعلومات الحساسة من الوصول غير المصرح به والتجسس السيبراني، مما يعزز من أمان البيانات المخزنة والمنقولة.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117795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45</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إرشادات الأمن السيبراني لاختيار مستوى التحقق من هوية مستخدمي الخدمات الإلكترونية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 توفر هذه الإرشادات توجيهات حول كيفية اختيار مستويات التحقق المناسبة من هوية المستخدمين عند تقديم الخدمات الإلكترونية، لضمان حماية الخدمات من الوصول غير المصرح به.</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3051231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10</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21</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1858017677"/>
              </p:ext>
            </p:extLst>
          </p:nvPr>
        </p:nvGraphicFramePr>
        <p:xfrm>
          <a:off x="486138" y="1104706"/>
          <a:ext cx="11218181" cy="5003903"/>
        </p:xfrm>
        <a:graphic>
          <a:graphicData uri="http://schemas.openxmlformats.org/drawingml/2006/table">
            <a:tbl>
              <a:tblPr rtl="1" firstRow="1" bandRow="1">
                <a:tableStyleId>{5C22544A-7EE6-4342-B048-85BDC9FD1C3A}</a:tableStyleId>
              </a:tblPr>
              <a:tblGrid>
                <a:gridCol w="292562">
                  <a:extLst>
                    <a:ext uri="{9D8B030D-6E8A-4147-A177-3AD203B41FA5}">
                      <a16:colId xmlns:a16="http://schemas.microsoft.com/office/drawing/2014/main" val="1990645311"/>
                    </a:ext>
                  </a:extLst>
                </a:gridCol>
                <a:gridCol w="2113945">
                  <a:extLst>
                    <a:ext uri="{9D8B030D-6E8A-4147-A177-3AD203B41FA5}">
                      <a16:colId xmlns:a16="http://schemas.microsoft.com/office/drawing/2014/main" val="3032189522"/>
                    </a:ext>
                  </a:extLst>
                </a:gridCol>
                <a:gridCol w="5957778">
                  <a:extLst>
                    <a:ext uri="{9D8B030D-6E8A-4147-A177-3AD203B41FA5}">
                      <a16:colId xmlns:a16="http://schemas.microsoft.com/office/drawing/2014/main" val="2428084489"/>
                    </a:ext>
                  </a:extLst>
                </a:gridCol>
                <a:gridCol w="959584">
                  <a:extLst>
                    <a:ext uri="{9D8B030D-6E8A-4147-A177-3AD203B41FA5}">
                      <a16:colId xmlns:a16="http://schemas.microsoft.com/office/drawing/2014/main" val="927704768"/>
                    </a:ext>
                  </a:extLst>
                </a:gridCol>
                <a:gridCol w="907425">
                  <a:extLst>
                    <a:ext uri="{9D8B030D-6E8A-4147-A177-3AD203B41FA5}">
                      <a16:colId xmlns:a16="http://schemas.microsoft.com/office/drawing/2014/main" val="3125827397"/>
                    </a:ext>
                  </a:extLst>
                </a:gridCol>
                <a:gridCol w="986887">
                  <a:extLst>
                    <a:ext uri="{9D8B030D-6E8A-4147-A177-3AD203B41FA5}">
                      <a16:colId xmlns:a16="http://schemas.microsoft.com/office/drawing/2014/main" val="2186125283"/>
                    </a:ext>
                  </a:extLst>
                </a:gridCol>
              </a:tblGrid>
              <a:tr h="294519">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51653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إرشادات الأمن السيبراني لإنترنت الأشياء</a:t>
                      </a:r>
                    </a:p>
                  </a:txBody>
                  <a:tcPr marL="3810" marR="3810" marT="3810" marB="0" anchor="ctr"/>
                </a:tc>
                <a:tc>
                  <a:txBody>
                    <a:bodyPr/>
                    <a:lstStyle/>
                    <a:p>
                      <a:pPr algn="ct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 تقدم هذه الإرشادات توصيات لضمان أمان الأجهزة المتصلة بالإنترنت (إنترنت الأشياء) وحمايتها من التهديدات السيبرانية، وتشمل الإجراءات الوقائية والتدابير الأمنية المناسبة.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p>
                  </a:txBody>
                  <a:tcPr marL="3810" marR="3810" marT="3810" marB="0" anchor="ctr"/>
                </a:tc>
                <a:extLst>
                  <a:ext uri="{0D108BD9-81ED-4DB2-BD59-A6C34878D82A}">
                    <a16:rowId xmlns:a16="http://schemas.microsoft.com/office/drawing/2014/main" val="2644189213"/>
                  </a:ext>
                </a:extLst>
              </a:tr>
              <a:tr h="51653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47</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الإرشادي لتطبيق ضوابط الأمن السيبراني للأنظمة الحساسة</a:t>
                      </a:r>
                    </a:p>
                  </a:txBody>
                  <a:tcPr marL="3810" marR="3810" marT="3810" marB="0" anchor="ctr"/>
                </a:tc>
                <a:tc>
                  <a:txBody>
                    <a:bodyPr/>
                    <a:lstStyle/>
                    <a:p>
                      <a:pPr algn="ct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 يهدف هذا الدليل إلى مساعدة الجهات في تطبيق الضوابط الأمنية الخاصة بالأنظمة الحساسة، لضمان حمايتها من التهديدات السيبرانية وتأمين البيانات الحساسة التي تتعامل معها.</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765859621"/>
                  </a:ext>
                </a:extLst>
              </a:tr>
              <a:tr h="51653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48</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الإرشادي لتطبيق ضوابط الأمن السيبراني للحوسبة السحابية للمشتركين </a:t>
                      </a:r>
                    </a:p>
                  </a:txBody>
                  <a:tcPr marL="3810" marR="3810" marT="3810" marB="0" anchor="ctr"/>
                </a:tc>
                <a:tc>
                  <a:txBody>
                    <a:bodyPr/>
                    <a:lstStyle/>
                    <a:p>
                      <a:pPr algn="ct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 يقدم هذا الدليل إرشادات للمشتركين في خدمات الحوسبة السحابية حول كيفية تطبيق ضوابط الأمن السيبراني لحماية بياناتهم وأمان الأنظمة السحابية التي يستخدمونها.</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467711384"/>
                  </a:ext>
                </a:extLst>
              </a:tr>
              <a:tr h="516537">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49</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الإرشادي لتطبيق ضوابط الأمن السيبراني للحوسبة السحابية لمقدمي الخدمات</a:t>
                      </a:r>
                    </a:p>
                  </a:txBody>
                  <a:tcPr marL="3810" marR="3810" marT="3810" marB="0" anchor="ctr"/>
                </a:tc>
                <a:tc>
                  <a:txBody>
                    <a:bodyPr/>
                    <a:lstStyle/>
                    <a:p>
                      <a:pPr algn="ctr" rtl="1" fontAlgn="ctr"/>
                      <a:r>
                        <a:rPr lang="ar-SA" sz="1350" b="0" i="0" u="none" strike="noStrike" baseline="0">
                          <a:solidFill>
                            <a:srgbClr val="000000"/>
                          </a:solidFill>
                          <a:effectLst/>
                          <a:latin typeface="Sakkal Majalla" panose="02000000000000000000" pitchFamily="2" charset="-78"/>
                          <a:cs typeface="Sakkal Majalla" panose="02000000000000000000" pitchFamily="2" charset="-78"/>
                        </a:rPr>
                        <a:t>• يوفر هذا الدليل إرشادات لمقدمي خدمات الحوسبة السحابية حول كيفية تطبيق الضوابط الأمنية المطلوبة لضمان أمان البيئة السحابية وحماية بيانات العملاء.</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1714658">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50</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نظام حماية البيانات الشخصية</a:t>
                      </a:r>
                    </a:p>
                  </a:txBody>
                  <a:tcPr marL="3810" marR="3810" marT="3810" marB="0" anchor="ctr"/>
                </a:tc>
                <a:tc>
                  <a:txBody>
                    <a:bodyPr/>
                    <a:lstStyle/>
                    <a:p>
                      <a:pPr algn="ct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هو إطار قانوني وتنظيمي يهدف إلى حماية حقوق الأفراد فيما يتعلق ببياناتهم الشخصية، وضمان خصوصيتهم وأمان معلوماتهم الشخصية. تم إصدار هذا النظام لتعزيز الثقة في البيئة الرقمية ولتشجيع الاستثمار في الاقتصاد الرقمي بالمملكة. ويحدد النظام كيفية جمع ومعالجة وتخزين وتبادل البيانات الشخصية، ويضع معايير للأمان والخصوصية والشفافية.</a:t>
                      </a:r>
                    </a:p>
                  </a:txBody>
                  <a:tcPr marL="3810" marR="3810" marT="3810" marB="0" anchor="ctr"/>
                </a:tc>
                <a:tc>
                  <a:txBody>
                    <a:bodyPr/>
                    <a:lstStyle/>
                    <a:p>
                      <a:pPr algn="ct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الهيئة السعودية للبيانات والذكاء الاصطناعي</a:t>
                      </a:r>
                      <a:r>
                        <a:rPr lang="ar-EG" sz="135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350" b="0" i="0" u="none" strike="noStrike" baseline="0" dirty="0">
                          <a:solidFill>
                            <a:srgbClr val="000000"/>
                          </a:solidFill>
                          <a:effectLst/>
                          <a:latin typeface="Sakkal Majalla" panose="02000000000000000000" pitchFamily="2" charset="-78"/>
                          <a:cs typeface="Sakkal Majalla" panose="02000000000000000000" pitchFamily="2" charset="-78"/>
                        </a:rPr>
                        <a:t>SDAIA</a:t>
                      </a:r>
                      <a:r>
                        <a:rPr lang="ar-EG" sz="1350" b="0" i="0" u="none" strike="noStrike" baseline="0" dirty="0">
                          <a:solidFill>
                            <a:srgbClr val="000000"/>
                          </a:solidFill>
                          <a:effectLst/>
                          <a:latin typeface="Sakkal Majalla" panose="02000000000000000000" pitchFamily="2" charset="-78"/>
                          <a:cs typeface="Sakkal Majalla" panose="02000000000000000000" pitchFamily="2" charset="-78"/>
                        </a:rPr>
                        <a:t>)</a:t>
                      </a:r>
                      <a:br>
                        <a:rPr lang="en-US" sz="135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مرسوم ملكي رقم (م/19) وتاريخ 1443/2/9هـ</a:t>
                      </a:r>
                      <a:b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قرار مجلس الوزراء رقم (98) وتاريخ 1443/2/7هـ</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4193729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11</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22</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3232237269"/>
              </p:ext>
            </p:extLst>
          </p:nvPr>
        </p:nvGraphicFramePr>
        <p:xfrm>
          <a:off x="491925" y="1104705"/>
          <a:ext cx="11212394" cy="4970869"/>
        </p:xfrm>
        <a:graphic>
          <a:graphicData uri="http://schemas.openxmlformats.org/drawingml/2006/table">
            <a:tbl>
              <a:tblPr rtl="1" firstRow="1" bandRow="1">
                <a:tableStyleId>{5C22544A-7EE6-4342-B048-85BDC9FD1C3A}</a:tableStyleId>
              </a:tblPr>
              <a:tblGrid>
                <a:gridCol w="292411">
                  <a:extLst>
                    <a:ext uri="{9D8B030D-6E8A-4147-A177-3AD203B41FA5}">
                      <a16:colId xmlns:a16="http://schemas.microsoft.com/office/drawing/2014/main" val="1990645311"/>
                    </a:ext>
                  </a:extLst>
                </a:gridCol>
                <a:gridCol w="2112854">
                  <a:extLst>
                    <a:ext uri="{9D8B030D-6E8A-4147-A177-3AD203B41FA5}">
                      <a16:colId xmlns:a16="http://schemas.microsoft.com/office/drawing/2014/main" val="3032189522"/>
                    </a:ext>
                  </a:extLst>
                </a:gridCol>
                <a:gridCol w="5954705">
                  <a:extLst>
                    <a:ext uri="{9D8B030D-6E8A-4147-A177-3AD203B41FA5}">
                      <a16:colId xmlns:a16="http://schemas.microsoft.com/office/drawing/2014/main" val="2428084489"/>
                    </a:ext>
                  </a:extLst>
                </a:gridCol>
                <a:gridCol w="959089">
                  <a:extLst>
                    <a:ext uri="{9D8B030D-6E8A-4147-A177-3AD203B41FA5}">
                      <a16:colId xmlns:a16="http://schemas.microsoft.com/office/drawing/2014/main" val="927704768"/>
                    </a:ext>
                  </a:extLst>
                </a:gridCol>
                <a:gridCol w="906957">
                  <a:extLst>
                    <a:ext uri="{9D8B030D-6E8A-4147-A177-3AD203B41FA5}">
                      <a16:colId xmlns:a16="http://schemas.microsoft.com/office/drawing/2014/main" val="3125827397"/>
                    </a:ext>
                  </a:extLst>
                </a:gridCol>
                <a:gridCol w="986378">
                  <a:extLst>
                    <a:ext uri="{9D8B030D-6E8A-4147-A177-3AD203B41FA5}">
                      <a16:colId xmlns:a16="http://schemas.microsoft.com/office/drawing/2014/main" val="2186125283"/>
                    </a:ext>
                  </a:extLst>
                </a:gridCol>
              </a:tblGrid>
              <a:tr h="372261">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09031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51</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دليل علم البيانات للتنفيذيين</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يوفر هذا الدليل إرشادات للتنفيذيين وقادة الأعمال حول كيفية استخدام علم البيانات لتحسين اتخاذ القرارات الاستراتيجية. يشمل توجيهات حول جمع البيانات، التحليل، وتفسير النتائج بشكل يمكن من تحقيق القيمة المضافة للأعمال.</a:t>
                      </a:r>
                    </a:p>
                  </a:txBody>
                  <a:tcPr marL="3810" marR="3810" marT="3810" marB="0" anchor="ctr"/>
                </a:tc>
                <a:tc>
                  <a:txBody>
                    <a:bodyPr/>
                    <a:lstStyle/>
                    <a:p>
                      <a:pPr algn="ctr" rtl="1" fontAlgn="ct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644189213"/>
                  </a:ext>
                </a:extLst>
              </a:tr>
              <a:tr h="86922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52</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سياسات حوكمة البيانات الوطنية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تهدف هذه السياسات إلى وضع إطار عمل وطني لإدارة البيانات وحوكمتها في المملكة، مما يضمن الامتثال للمعايير التنظيمية ويعزز من جودة وموثوقية البيانات.</a:t>
                      </a:r>
                    </a:p>
                  </a:txBody>
                  <a:tcPr marL="3810" marR="3810" marT="3810" marB="0" anchor="ctr"/>
                </a:tc>
                <a:tc>
                  <a:txBody>
                    <a:bodyPr/>
                    <a:lstStyle/>
                    <a:p>
                      <a:pPr algn="ctr" rtl="1" fontAlgn="ct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765859621"/>
                  </a:ext>
                </a:extLst>
              </a:tr>
              <a:tr h="86922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53</a:t>
                      </a:r>
                    </a:p>
                  </a:txBody>
                  <a:tcPr marL="3810" marR="3810" marT="3810" marB="0" anchor="ctr"/>
                </a:tc>
                <a:tc>
                  <a:txBody>
                    <a:bodyPr/>
                    <a:lstStyle/>
                    <a:p>
                      <a:pPr algn="ctr" rtl="1" fontAlgn="ctr"/>
                      <a:r>
                        <a:rPr lang="ar-SA" sz="1400" b="1" i="0" u="none" strike="noStrike" baseline="0">
                          <a:solidFill>
                            <a:srgbClr val="000000"/>
                          </a:solidFill>
                          <a:effectLst/>
                          <a:latin typeface="Sakkal Majalla" panose="02000000000000000000" pitchFamily="2" charset="-78"/>
                          <a:cs typeface="Sakkal Majalla" panose="02000000000000000000" pitchFamily="2" charset="-78"/>
                        </a:rPr>
                        <a:t>سياسة البيانات المفتوحة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تحدد هذه السياسة كيفية نشر البيانات الحكومية بشكل مفتوح للعامة، بهدف تعزيز الشفافية والابتكار. تسعى إلى تمكين الباحثين ورواد الأعمال والمواطنين من الوصول إلى البيانات لاستخدامها في تطوير حلول مبتكرة.</a:t>
                      </a:r>
                    </a:p>
                  </a:txBody>
                  <a:tcPr marL="3810" marR="3810" marT="3810" marB="0" anchor="ctr"/>
                </a:tc>
                <a:tc>
                  <a:txBody>
                    <a:bodyPr/>
                    <a:lstStyle/>
                    <a:p>
                      <a:pPr algn="ctr" rtl="1" fontAlgn="ct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467711384"/>
                  </a:ext>
                </a:extLst>
              </a:tr>
              <a:tr h="86922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54</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سياسة حماية البيانات الشخصية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تضع هذه السياسة القواعد والإرشادات التي تنظم جمع ومعالجة وتخزين البيانات الشخصية، بهدف حماية خصوصية الأفراد وضمان أن البيانات تُعامل بطرق قانونية وآمنة.</a:t>
                      </a:r>
                    </a:p>
                  </a:txBody>
                  <a:tcPr marL="3810" marR="3810" marT="3810" marB="0" anchor="ctr"/>
                </a:tc>
                <a:tc>
                  <a:txBody>
                    <a:bodyPr/>
                    <a:lstStyle/>
                    <a:p>
                      <a:pPr algn="ctr" rtl="1" fontAlgn="ct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400162761"/>
                  </a:ext>
                </a:extLst>
              </a:tr>
              <a:tr h="900625">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55</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اﻹﻃﺎر اﻟﻮﻃﻨﻲ ﻟﻠﻤﻌﺎﻳﻴﺮ اﻟﻤﻬﻨﻴـــﺔ ﻟﻠﺒﻴﺎﻧﺎت واﻟﺬﻛﺎء اﻻﺻﻄﻨﺎﻋﻲ</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يحدد هذا الإطار المعايير المهنية للتعامل مع البيانات وتطبيقات الذكاء الاصطناعي في المملكة. يهدف إلى تعزيز الجودة والموثوقية في المشاريع القائمة على البيانات والذكاء الاصطناعي.</a:t>
                      </a:r>
                    </a:p>
                  </a:txBody>
                  <a:tcPr marL="3810" marR="3810" marT="3810" marB="0" anchor="ctr"/>
                </a:tc>
                <a:tc>
                  <a:txBody>
                    <a:bodyPr/>
                    <a:lstStyle/>
                    <a:p>
                      <a:pPr algn="ctr" rtl="1" fontAlgn="ct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2127967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12</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23</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1866630915"/>
              </p:ext>
            </p:extLst>
          </p:nvPr>
        </p:nvGraphicFramePr>
        <p:xfrm>
          <a:off x="486138" y="1104706"/>
          <a:ext cx="11218181" cy="4914308"/>
        </p:xfrm>
        <a:graphic>
          <a:graphicData uri="http://schemas.openxmlformats.org/drawingml/2006/table">
            <a:tbl>
              <a:tblPr rtl="1" firstRow="1" bandRow="1">
                <a:tableStyleId>{5C22544A-7EE6-4342-B048-85BDC9FD1C3A}</a:tableStyleId>
              </a:tblPr>
              <a:tblGrid>
                <a:gridCol w="292562">
                  <a:extLst>
                    <a:ext uri="{9D8B030D-6E8A-4147-A177-3AD203B41FA5}">
                      <a16:colId xmlns:a16="http://schemas.microsoft.com/office/drawing/2014/main" val="1990645311"/>
                    </a:ext>
                  </a:extLst>
                </a:gridCol>
                <a:gridCol w="2113945">
                  <a:extLst>
                    <a:ext uri="{9D8B030D-6E8A-4147-A177-3AD203B41FA5}">
                      <a16:colId xmlns:a16="http://schemas.microsoft.com/office/drawing/2014/main" val="3032189522"/>
                    </a:ext>
                  </a:extLst>
                </a:gridCol>
                <a:gridCol w="5800468">
                  <a:extLst>
                    <a:ext uri="{9D8B030D-6E8A-4147-A177-3AD203B41FA5}">
                      <a16:colId xmlns:a16="http://schemas.microsoft.com/office/drawing/2014/main" val="2428084489"/>
                    </a:ext>
                  </a:extLst>
                </a:gridCol>
                <a:gridCol w="1116894">
                  <a:extLst>
                    <a:ext uri="{9D8B030D-6E8A-4147-A177-3AD203B41FA5}">
                      <a16:colId xmlns:a16="http://schemas.microsoft.com/office/drawing/2014/main" val="927704768"/>
                    </a:ext>
                  </a:extLst>
                </a:gridCol>
                <a:gridCol w="907425">
                  <a:extLst>
                    <a:ext uri="{9D8B030D-6E8A-4147-A177-3AD203B41FA5}">
                      <a16:colId xmlns:a16="http://schemas.microsoft.com/office/drawing/2014/main" val="3125827397"/>
                    </a:ext>
                  </a:extLst>
                </a:gridCol>
                <a:gridCol w="986887">
                  <a:extLst>
                    <a:ext uri="{9D8B030D-6E8A-4147-A177-3AD203B41FA5}">
                      <a16:colId xmlns:a16="http://schemas.microsoft.com/office/drawing/2014/main" val="2186125283"/>
                    </a:ext>
                  </a:extLst>
                </a:gridCol>
              </a:tblGrid>
              <a:tr h="393273">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374075">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ومواصفات إدارة البيانات الوطنية وحوكمتها وحماية البيانات الشخصية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تقدم هذه الضوابط مجموعة من الإجراءات والمعايير لضمان الإدارة الآمنة والفعالة للبيانات الوطنية، بما في ذلك حوكمة البيانات وحماية البيانات الشخصية من المخاطر والتهديدات.</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مكتب إدارة البيانات الوطنية</a:t>
                      </a:r>
                      <a:r>
                        <a:rPr lang="ar-EG" sz="135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350" b="0" i="0" u="none" strike="noStrike" baseline="0" dirty="0">
                          <a:solidFill>
                            <a:srgbClr val="000000"/>
                          </a:solidFill>
                          <a:effectLst/>
                          <a:latin typeface="Sakkal Majalla" panose="02000000000000000000" pitchFamily="2" charset="-78"/>
                          <a:cs typeface="Sakkal Majalla" panose="02000000000000000000" pitchFamily="2" charset="-78"/>
                        </a:rPr>
                        <a:t>NDMO</a:t>
                      </a:r>
                      <a:r>
                        <a:rPr lang="ar-EG" sz="135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35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سابقا</a:t>
                      </a:r>
                      <a:b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b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35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644189213"/>
                  </a:ext>
                </a:extLst>
              </a:tr>
              <a:tr h="78674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57</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الترتيبات التنظيمية للهيئة السعودية للبيانات والذكاء الاصطناعي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تحدد هذه الترتيبات الهيكل التنظيمي والوظائف والمسؤوليات للهيئة السعودية للبيانات والذكاء الاصطناعي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SDAIA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تهدف إلى تعزيز التنسيق والتنظيم في جهود البيانات والذكاء الاصطناعي على مستوى المملكة.</a:t>
                      </a:r>
                    </a:p>
                  </a:txBody>
                  <a:tcPr marL="3810" marR="3810" marT="3810" marB="0" anchor="ctr"/>
                </a:tc>
                <a:tc>
                  <a:txBody>
                    <a:bodyPr/>
                    <a:lstStyle/>
                    <a:p>
                      <a:pPr algn="ctr" rtl="1" fontAlgn="ct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35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765859621"/>
                  </a:ext>
                </a:extLst>
              </a:tr>
              <a:tr h="78674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58</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سياسة وضوابط تصنيف البيانات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توفر هذه السياسة مجموعة من الضوابط لتصنيف البيانات وفقًا لمستويات السرية والأهمية، مما يساهم في تحديد كيفية التعامل مع البيانات وحمايتها بناءً على تصنيفها.</a:t>
                      </a:r>
                    </a:p>
                  </a:txBody>
                  <a:tcPr marL="3810" marR="3810" marT="3810" marB="0" anchor="ctr"/>
                </a:tc>
                <a:tc>
                  <a:txBody>
                    <a:bodyPr/>
                    <a:lstStyle/>
                    <a:p>
                      <a:pPr algn="ctr" rtl="1" fontAlgn="ct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35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467711384"/>
                  </a:ext>
                </a:extLst>
              </a:tr>
              <a:tr h="78674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59</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لائحة نقل البيانات الشخصية إلى خارج المملكة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تضع هذه اللائحة الشروط والضوابط التي يجب اتباعها عند نقل البيانات الشخصية من المملكة إلى دول أخرى، بهدف ضمان أن البيانات تظل محمية وتحترم الخصوصية حتى خارج حدود المملكة.</a:t>
                      </a:r>
                    </a:p>
                  </a:txBody>
                  <a:tcPr marL="3810" marR="3810" marT="3810" marB="0" anchor="ctr"/>
                </a:tc>
                <a:tc>
                  <a:txBody>
                    <a:bodyPr/>
                    <a:lstStyle/>
                    <a:p>
                      <a:pPr algn="ctr" rtl="1" fontAlgn="ct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35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400162761"/>
                  </a:ext>
                </a:extLst>
              </a:tr>
              <a:tr h="78674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60</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اللائحة التنفيذية لنظام حماية البيانات الشخصية </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تقدم هذه اللائحة تفاصيل تنفيذية لنظام حماية البيانات الشخصية في المملكة، بما في ذلك الإجراءات والآليات التي يجب أن تتبعها المؤسسات لضمان الامتثال لحماية البيانات الشخصية.</a:t>
                      </a:r>
                    </a:p>
                  </a:txBody>
                  <a:tcPr marL="3810" marR="3810" marT="3810" marB="0" anchor="ctr"/>
                </a:tc>
                <a:tc>
                  <a:txBody>
                    <a:bodyPr/>
                    <a:lstStyle/>
                    <a:p>
                      <a:pPr algn="ctr" rtl="1" fontAlgn="ct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السعودية للبيانات والذكاء الاصطناعي</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en-US"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SDAIA</a:t>
                      </a:r>
                      <a:r>
                        <a:rPr kumimoji="0" lang="ar-EG" sz="135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sz="135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208499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13</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24</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1309766232"/>
              </p:ext>
            </p:extLst>
          </p:nvPr>
        </p:nvGraphicFramePr>
        <p:xfrm>
          <a:off x="509286" y="1104705"/>
          <a:ext cx="11195033" cy="4956730"/>
        </p:xfrm>
        <a:graphic>
          <a:graphicData uri="http://schemas.openxmlformats.org/drawingml/2006/table">
            <a:tbl>
              <a:tblPr rtl="1" firstRow="1" bandRow="1">
                <a:tableStyleId>{5C22544A-7EE6-4342-B048-85BDC9FD1C3A}</a:tableStyleId>
              </a:tblPr>
              <a:tblGrid>
                <a:gridCol w="291958">
                  <a:extLst>
                    <a:ext uri="{9D8B030D-6E8A-4147-A177-3AD203B41FA5}">
                      <a16:colId xmlns:a16="http://schemas.microsoft.com/office/drawing/2014/main" val="1990645311"/>
                    </a:ext>
                  </a:extLst>
                </a:gridCol>
                <a:gridCol w="2109583">
                  <a:extLst>
                    <a:ext uri="{9D8B030D-6E8A-4147-A177-3AD203B41FA5}">
                      <a16:colId xmlns:a16="http://schemas.microsoft.com/office/drawing/2014/main" val="3032189522"/>
                    </a:ext>
                  </a:extLst>
                </a:gridCol>
                <a:gridCol w="5541483">
                  <a:extLst>
                    <a:ext uri="{9D8B030D-6E8A-4147-A177-3AD203B41FA5}">
                      <a16:colId xmlns:a16="http://schemas.microsoft.com/office/drawing/2014/main" val="2428084489"/>
                    </a:ext>
                  </a:extLst>
                </a:gridCol>
                <a:gridCol w="1361605">
                  <a:extLst>
                    <a:ext uri="{9D8B030D-6E8A-4147-A177-3AD203B41FA5}">
                      <a16:colId xmlns:a16="http://schemas.microsoft.com/office/drawing/2014/main" val="927704768"/>
                    </a:ext>
                  </a:extLst>
                </a:gridCol>
                <a:gridCol w="905553">
                  <a:extLst>
                    <a:ext uri="{9D8B030D-6E8A-4147-A177-3AD203B41FA5}">
                      <a16:colId xmlns:a16="http://schemas.microsoft.com/office/drawing/2014/main" val="3125827397"/>
                    </a:ext>
                  </a:extLst>
                </a:gridCol>
                <a:gridCol w="984851">
                  <a:extLst>
                    <a:ext uri="{9D8B030D-6E8A-4147-A177-3AD203B41FA5}">
                      <a16:colId xmlns:a16="http://schemas.microsoft.com/office/drawing/2014/main" val="2186125283"/>
                    </a:ext>
                  </a:extLst>
                </a:gridCol>
              </a:tblGrid>
              <a:tr h="38360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544428">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61</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دليل إرشادي - إدارة الأزمات 2022 في قطاع الاتصالات وتقنية المعلومات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يقدم إرشادات للمؤسسات العاملة في قطاع الاتصالات وتقنية المعلومات حول كيفية الاستعداد والاستجابة للأزمات والطوارئ، بما يضمن استمرارية الخدمات وتقليل التأثيرات السلبية.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وزارة الاتصالات وتقنية المعلومات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644189213"/>
                  </a:ext>
                </a:extLst>
              </a:tr>
              <a:tr h="449845">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62</a:t>
                      </a:r>
                    </a:p>
                  </a:txBody>
                  <a:tcPr marL="3810" marR="3810" marT="3810" marB="0" anchor="ctr"/>
                </a:tc>
                <a:tc>
                  <a:txBody>
                    <a:bodyPr/>
                    <a:lstStyle/>
                    <a:p>
                      <a:pPr algn="ctr" rtl="1" fontAlgn="ctr"/>
                      <a:r>
                        <a:rPr lang="ar-SA" sz="1400" b="1" i="0" u="none" strike="noStrike" baseline="0">
                          <a:solidFill>
                            <a:srgbClr val="000000"/>
                          </a:solidFill>
                          <a:effectLst/>
                          <a:latin typeface="Sakkal Majalla" panose="02000000000000000000" pitchFamily="2" charset="-78"/>
                          <a:cs typeface="Sakkal Majalla" panose="02000000000000000000" pitchFamily="2" charset="-78"/>
                        </a:rPr>
                        <a:t>تنظيمات  قواعد حماية حقوق المستخدم</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تتضمن مجموعة من القواعد التي تهدف إلى حماية حقوق مستخدمي خدمات الاتصالات وتقنية المعلومات، بما في ذلك الشفافية والخصوصية وضمان جودة الخدمة المقدمة.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الاتصالات والفضاء والتقنية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CST</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765859621"/>
                  </a:ext>
                </a:extLst>
              </a:tr>
              <a:tr h="449845">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63</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تنظيمات تقديم خدمات الحوسبة السحابية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مجموعة من اللوائح التي تنظم تقديم خدمات الحوسبة السحابية في المملكة، بما يضمن الامتثال لمعايير الأمان والخصوصية والجودة.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الاتصالات والفضاء والتقنية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CST</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467711384"/>
                  </a:ext>
                </a:extLst>
              </a:tr>
              <a:tr h="156450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64</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نظام الاتصالات وتقنية المعلومات</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إطار قانوني ينظم قطاع الاتصالات وتقنية المعلومات في المملكة، ويحدد حقوق ومسؤوليات مقدمي الخدمات والمستخدمين.</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الاتصالات والفضاء والتقنية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CST</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b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قرار مجلس الوزراء رقم 592 وتاريخ 1443/11/01هـ</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المرسوم الملكي الكريم رقم م106/ والتاريخ 1443/11/02هـ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400162761"/>
                  </a:ext>
                </a:extLst>
              </a:tr>
              <a:tr h="156450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65</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​​​​​​​​​​​​​​اللائحة التنفيذية لنظام الاتصالات وتقنية المعلومات​</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تفسر وتوضح تفاصيل نظام الاتصالات وتقنية المعلومات، وتحدد الإجراءات والتدابير التنفيذية اللازمة لضمان الامتثال للقوانين واللوائح.</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الاتصالات والفضاء والتقنية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CST</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قرار مجلس الوزراء رقم 592 وتاريخ 1443/11/01هـ</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المرسوم الملكي الكريم رقم م106/ والتاريخ 1443/11/02هـ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2488107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14</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25</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1946651140"/>
              </p:ext>
            </p:extLst>
          </p:nvPr>
        </p:nvGraphicFramePr>
        <p:xfrm>
          <a:off x="503499" y="1104704"/>
          <a:ext cx="11200820" cy="4919023"/>
        </p:xfrm>
        <a:graphic>
          <a:graphicData uri="http://schemas.openxmlformats.org/drawingml/2006/table">
            <a:tbl>
              <a:tblPr rtl="1" firstRow="1" bandRow="1">
                <a:tableStyleId>{5C22544A-7EE6-4342-B048-85BDC9FD1C3A}</a:tableStyleId>
              </a:tblPr>
              <a:tblGrid>
                <a:gridCol w="292109">
                  <a:extLst>
                    <a:ext uri="{9D8B030D-6E8A-4147-A177-3AD203B41FA5}">
                      <a16:colId xmlns:a16="http://schemas.microsoft.com/office/drawing/2014/main" val="1990645311"/>
                    </a:ext>
                  </a:extLst>
                </a:gridCol>
                <a:gridCol w="2110673">
                  <a:extLst>
                    <a:ext uri="{9D8B030D-6E8A-4147-A177-3AD203B41FA5}">
                      <a16:colId xmlns:a16="http://schemas.microsoft.com/office/drawing/2014/main" val="3032189522"/>
                    </a:ext>
                  </a:extLst>
                </a:gridCol>
                <a:gridCol w="5948558">
                  <a:extLst>
                    <a:ext uri="{9D8B030D-6E8A-4147-A177-3AD203B41FA5}">
                      <a16:colId xmlns:a16="http://schemas.microsoft.com/office/drawing/2014/main" val="2428084489"/>
                    </a:ext>
                  </a:extLst>
                </a:gridCol>
                <a:gridCol w="958099">
                  <a:extLst>
                    <a:ext uri="{9D8B030D-6E8A-4147-A177-3AD203B41FA5}">
                      <a16:colId xmlns:a16="http://schemas.microsoft.com/office/drawing/2014/main" val="927704768"/>
                    </a:ext>
                  </a:extLst>
                </a:gridCol>
                <a:gridCol w="906021">
                  <a:extLst>
                    <a:ext uri="{9D8B030D-6E8A-4147-A177-3AD203B41FA5}">
                      <a16:colId xmlns:a16="http://schemas.microsoft.com/office/drawing/2014/main" val="3125827397"/>
                    </a:ext>
                  </a:extLst>
                </a:gridCol>
                <a:gridCol w="985360">
                  <a:extLst>
                    <a:ext uri="{9D8B030D-6E8A-4147-A177-3AD203B41FA5}">
                      <a16:colId xmlns:a16="http://schemas.microsoft.com/office/drawing/2014/main" val="2186125283"/>
                    </a:ext>
                  </a:extLst>
                </a:gridCol>
              </a:tblGrid>
              <a:tr h="377915">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397958">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الإرشادي لتطبيق الضوابط الأساسية للأمن السيبراني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إرشادات للمؤسسات حول كيفية تطبيق الضوابط الأساسية للأمن السيبراني لضمان حماية الأنظمة والبيانات من التهديدات السيبرانية.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644189213"/>
                  </a:ext>
                </a:extLst>
              </a:tr>
              <a:tr h="66280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67</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الإرشادي لتطبيق ضوابط الأمن السيبراني للبيانات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يقدم إرشادات لتطبيق ضوابط محددة لضمان أمان البيانات، بما في ذلك كيفية حماية البيانات من الوصول غير المصرح به والتسريبات.</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765859621"/>
                  </a:ext>
                </a:extLst>
              </a:tr>
              <a:tr h="66280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68</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المنهجية والمواءمة لضوابط الأمن السيبراني للحوسبة السحابية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يحدد إطار العمل والإجراءات اللازمة لتحقيق التوافق والمواءمة في تطبيق ضوابط الأمن السيبراني للحوسبة السحابية.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467711384"/>
                  </a:ext>
                </a:extLst>
              </a:tr>
              <a:tr h="66280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69</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للبيانات</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DCC -1</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تحدد متطلبات وضوابط لحماية البيانات من التهديدات السيبرانية، بما يشمل التشفير والمراقبة والتحكم في الوصول.</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115475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70</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للأنظمة التشغيلية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OTCC-1:2022</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توفر مجموعة من الضوابط الأمنية المصممة خصيصًا لحماية الأنظمة التشغيلية المستخدمة في البنية التحتية الحيوية.</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الهيئة الوطنية للأمن السيبراني</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NCA</a:t>
                      </a:r>
                      <a:r>
                        <a:rPr kumimoji="0" lang="ar-EG"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en-US" sz="14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2708673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15</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26</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2166246652"/>
              </p:ext>
            </p:extLst>
          </p:nvPr>
        </p:nvGraphicFramePr>
        <p:xfrm>
          <a:off x="480348" y="1104704"/>
          <a:ext cx="11223971" cy="4945264"/>
        </p:xfrm>
        <a:graphic>
          <a:graphicData uri="http://schemas.openxmlformats.org/drawingml/2006/table">
            <a:tbl>
              <a:tblPr rtl="1" firstRow="1" bandRow="1">
                <a:tableStyleId>{5C22544A-7EE6-4342-B048-85BDC9FD1C3A}</a:tableStyleId>
              </a:tblPr>
              <a:tblGrid>
                <a:gridCol w="292713">
                  <a:extLst>
                    <a:ext uri="{9D8B030D-6E8A-4147-A177-3AD203B41FA5}">
                      <a16:colId xmlns:a16="http://schemas.microsoft.com/office/drawing/2014/main" val="1990645311"/>
                    </a:ext>
                  </a:extLst>
                </a:gridCol>
                <a:gridCol w="2115036">
                  <a:extLst>
                    <a:ext uri="{9D8B030D-6E8A-4147-A177-3AD203B41FA5}">
                      <a16:colId xmlns:a16="http://schemas.microsoft.com/office/drawing/2014/main" val="3032189522"/>
                    </a:ext>
                  </a:extLst>
                </a:gridCol>
                <a:gridCol w="5960852">
                  <a:extLst>
                    <a:ext uri="{9D8B030D-6E8A-4147-A177-3AD203B41FA5}">
                      <a16:colId xmlns:a16="http://schemas.microsoft.com/office/drawing/2014/main" val="2428084489"/>
                    </a:ext>
                  </a:extLst>
                </a:gridCol>
                <a:gridCol w="960080">
                  <a:extLst>
                    <a:ext uri="{9D8B030D-6E8A-4147-A177-3AD203B41FA5}">
                      <a16:colId xmlns:a16="http://schemas.microsoft.com/office/drawing/2014/main" val="927704768"/>
                    </a:ext>
                  </a:extLst>
                </a:gridCol>
                <a:gridCol w="907894">
                  <a:extLst>
                    <a:ext uri="{9D8B030D-6E8A-4147-A177-3AD203B41FA5}">
                      <a16:colId xmlns:a16="http://schemas.microsoft.com/office/drawing/2014/main" val="3125827397"/>
                    </a:ext>
                  </a:extLst>
                </a:gridCol>
                <a:gridCol w="987396">
                  <a:extLst>
                    <a:ext uri="{9D8B030D-6E8A-4147-A177-3AD203B41FA5}">
                      <a16:colId xmlns:a16="http://schemas.microsoft.com/office/drawing/2014/main" val="2186125283"/>
                    </a:ext>
                  </a:extLst>
                </a:gridCol>
              </a:tblGrid>
              <a:tr h="36209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59057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71</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ملحق المنهجية والمواءمة لضوابط الأمن السيبراني للأنظمة التشغيلية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OTCC-1:2022</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يكمل ويوضح الإجراءات اللازمة لتطبيق ضوابط الأمن السيبراني المحددة في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OTCC-1:2022</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للأنظمة التشغيلية.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الهيئة الوطنية للأمن السيبراني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NCA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644189213"/>
                  </a:ext>
                </a:extLst>
              </a:tr>
              <a:tr h="40102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72</a:t>
                      </a:r>
                    </a:p>
                  </a:txBody>
                  <a:tcPr marL="3810" marR="3810" marT="3810" marB="0" anchor="ctr"/>
                </a:tc>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ISO/ IEC 27001 </a:t>
                      </a:r>
                      <a:r>
                        <a:rPr lang="ar-SA" sz="1400" b="1" i="0" u="none" strike="noStrike" baseline="0">
                          <a:solidFill>
                            <a:srgbClr val="000000"/>
                          </a:solidFill>
                          <a:effectLst/>
                          <a:latin typeface="Sakkal Majalla" panose="02000000000000000000" pitchFamily="2" charset="-78"/>
                          <a:cs typeface="Sakkal Majalla" panose="02000000000000000000" pitchFamily="2" charset="-78"/>
                        </a:rPr>
                        <a:t>نظام إدارة أمن المعلومات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دولي يحدد متطلبات إنشاء وتنفيذ وصيانة وتحسين نظام إدارة أمن المعلومات لضمان حماية المعلومات.</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765859621"/>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73</a:t>
                      </a:r>
                    </a:p>
                  </a:txBody>
                  <a:tcPr marL="3810" marR="3810" marT="3810" marB="0" anchor="ctr"/>
                </a:tc>
                <a:tc>
                  <a:txBody>
                    <a:bodyPr/>
                    <a:lstStyle/>
                    <a:p>
                      <a:pPr algn="ctr" rtl="1"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ISO/IEC 27018</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حماية معلومات التعريف الشخصية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PII</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في الخدمات السحابية العامة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يحدد ضوابط حماية معلومات التعريف الشخصية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PII</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عند استخدامها في بيئات الحوسبة السحابية العامة.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467711384"/>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74</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ISO/IEC 42001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نظام إدارة الذكاء الاصطناعي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يحدد المتطلبات والإرشادات لإنشاء وإدارة أنظمة الذكاء الاصطناعي بطريقة آمنة وأخلاقية وشفافة.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400162761"/>
                  </a:ext>
                </a:extLst>
              </a:tr>
              <a:tr h="131385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75</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ISO/IEC 23053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إطار عمل الذكاء الاصطناعي والتعلم الآلي </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يوفر إطار عمل لتطوير وتطبيق تقنيات الذكاء الاصطناعي والتعلم الآلي مع التركيز على المبادئ الأخلاقية والشفافية.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1272788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16</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27</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4137408982"/>
              </p:ext>
            </p:extLst>
          </p:nvPr>
        </p:nvGraphicFramePr>
        <p:xfrm>
          <a:off x="474561" y="1104704"/>
          <a:ext cx="11229758" cy="4989873"/>
        </p:xfrm>
        <a:graphic>
          <a:graphicData uri="http://schemas.openxmlformats.org/drawingml/2006/table">
            <a:tbl>
              <a:tblPr rtl="1" firstRow="1" bandRow="1">
                <a:tableStyleId>{5C22544A-7EE6-4342-B048-85BDC9FD1C3A}</a:tableStyleId>
              </a:tblPr>
              <a:tblGrid>
                <a:gridCol w="292864">
                  <a:extLst>
                    <a:ext uri="{9D8B030D-6E8A-4147-A177-3AD203B41FA5}">
                      <a16:colId xmlns:a16="http://schemas.microsoft.com/office/drawing/2014/main" val="1990645311"/>
                    </a:ext>
                  </a:extLst>
                </a:gridCol>
                <a:gridCol w="2116126">
                  <a:extLst>
                    <a:ext uri="{9D8B030D-6E8A-4147-A177-3AD203B41FA5}">
                      <a16:colId xmlns:a16="http://schemas.microsoft.com/office/drawing/2014/main" val="3032189522"/>
                    </a:ext>
                  </a:extLst>
                </a:gridCol>
                <a:gridCol w="5963926">
                  <a:extLst>
                    <a:ext uri="{9D8B030D-6E8A-4147-A177-3AD203B41FA5}">
                      <a16:colId xmlns:a16="http://schemas.microsoft.com/office/drawing/2014/main" val="2428084489"/>
                    </a:ext>
                  </a:extLst>
                </a:gridCol>
                <a:gridCol w="960575">
                  <a:extLst>
                    <a:ext uri="{9D8B030D-6E8A-4147-A177-3AD203B41FA5}">
                      <a16:colId xmlns:a16="http://schemas.microsoft.com/office/drawing/2014/main" val="927704768"/>
                    </a:ext>
                  </a:extLst>
                </a:gridCol>
                <a:gridCol w="908362">
                  <a:extLst>
                    <a:ext uri="{9D8B030D-6E8A-4147-A177-3AD203B41FA5}">
                      <a16:colId xmlns:a16="http://schemas.microsoft.com/office/drawing/2014/main" val="3125827397"/>
                    </a:ext>
                  </a:extLst>
                </a:gridCol>
                <a:gridCol w="987905">
                  <a:extLst>
                    <a:ext uri="{9D8B030D-6E8A-4147-A177-3AD203B41FA5}">
                      <a16:colId xmlns:a16="http://schemas.microsoft.com/office/drawing/2014/main" val="2186125283"/>
                    </a:ext>
                  </a:extLst>
                </a:gridCol>
              </a:tblGrid>
              <a:tr h="36209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59057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76</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 30401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نظم ادارة المعرفة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يحدد الإرشادات لإنشاء وتنفيذ وإدارة نظم إدارة المعرفة لتعزيز الكفاءة والابتكار في المؤسسات.</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المنظمة الدولية للتوحيد القياسي </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ISO)</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2644189213"/>
                  </a:ext>
                </a:extLst>
              </a:tr>
              <a:tr h="40102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77</a:t>
                      </a:r>
                    </a:p>
                  </a:txBody>
                  <a:tcPr marL="3810" marR="3810" marT="3810" marB="0" anchor="ctr"/>
                </a:tc>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ISO/IEC 38500 </a:t>
                      </a:r>
                      <a:r>
                        <a:rPr lang="ar-SA" sz="1400" b="1" i="0" u="none" strike="noStrike" baseline="0">
                          <a:solidFill>
                            <a:srgbClr val="000000"/>
                          </a:solidFill>
                          <a:effectLst/>
                          <a:latin typeface="Sakkal Majalla" panose="02000000000000000000" pitchFamily="2" charset="-78"/>
                          <a:cs typeface="Sakkal Majalla" panose="02000000000000000000" pitchFamily="2" charset="-78"/>
                        </a:rPr>
                        <a:t>نظام حوكمة تقنية المعلومات</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يوفر إرشادات حول حوكمة تقنية المعلومات لضمان توافر وتكامل واستدامة تكنولوجيا المعلومات بما يتوافق مع الأهداف التنظيمية.</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1765859621"/>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78</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 31000 </a:t>
                      </a: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نظام إدارة المخاطر</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دولي يوفر مبادئ وإرشادات لإدارة المخاطر التي تواجه المؤسسات، بهدف تحسين قدرتها على التعامل مع التحديات والفرص.</a:t>
                      </a:r>
                    </a:p>
                  </a:txBody>
                  <a:tcPr marL="3810" marR="3810" marT="3810" marB="0" anchor="ctr"/>
                </a:tc>
                <a:tc>
                  <a:txBody>
                    <a:bodyPr/>
                    <a:lstStyle/>
                    <a:p>
                      <a:pPr algn="ctr" rtl="0"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المنظمة الدولية للتوحيد القياسي </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ISO)</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p>
                  </a:txBody>
                  <a:tcPr marL="3810" marR="3810" marT="3810" marB="0" anchor="ctr"/>
                </a:tc>
                <a:extLst>
                  <a:ext uri="{0D108BD9-81ED-4DB2-BD59-A6C34878D82A}">
                    <a16:rowId xmlns:a16="http://schemas.microsoft.com/office/drawing/2014/main" val="467711384"/>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79</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DevSecOps</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هو أسلوب لتطوير البرمجيات يجمع بين مفاهيم تطوير البرمجيات</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Dev</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الأمن</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Sec</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والعمليات</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Ops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بهدف تحسين تعاون الفرق ودمج الأمان في عمليات التطوير والنشر. يهدف إلى تعزيز الأمان وتسريع عمليات التطوير والنشر بشكل مستمر ومتكرر</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DevSecOps Community</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131385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80</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ISO/IEC 20000: IT Service Management (ITSM)</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 20000  </a:t>
                      </a: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هو المعيار الدولي لإدارة خدمات تقنية المعلومات، حيث يحدد متطلبات التخطيط والتنفيذ والصيانة لخدمات تقنية المعلومات لتحقيق أهداف العمل. يساعد هذا المعيار المؤسسات في ضمان تقديم خدمات تقنية المعلومات عالية الجودة مع تحسين التكاليف والموارد.</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ISO/IEC</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931456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17</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28</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1954218250"/>
              </p:ext>
            </p:extLst>
          </p:nvPr>
        </p:nvGraphicFramePr>
        <p:xfrm>
          <a:off x="491925" y="1104704"/>
          <a:ext cx="11212394" cy="4989873"/>
        </p:xfrm>
        <a:graphic>
          <a:graphicData uri="http://schemas.openxmlformats.org/drawingml/2006/table">
            <a:tbl>
              <a:tblPr rtl="1" firstRow="1" bandRow="1">
                <a:tableStyleId>{5C22544A-7EE6-4342-B048-85BDC9FD1C3A}</a:tableStyleId>
              </a:tblPr>
              <a:tblGrid>
                <a:gridCol w="292411">
                  <a:extLst>
                    <a:ext uri="{9D8B030D-6E8A-4147-A177-3AD203B41FA5}">
                      <a16:colId xmlns:a16="http://schemas.microsoft.com/office/drawing/2014/main" val="1990645311"/>
                    </a:ext>
                  </a:extLst>
                </a:gridCol>
                <a:gridCol w="2112854">
                  <a:extLst>
                    <a:ext uri="{9D8B030D-6E8A-4147-A177-3AD203B41FA5}">
                      <a16:colId xmlns:a16="http://schemas.microsoft.com/office/drawing/2014/main" val="3032189522"/>
                    </a:ext>
                  </a:extLst>
                </a:gridCol>
                <a:gridCol w="5954705">
                  <a:extLst>
                    <a:ext uri="{9D8B030D-6E8A-4147-A177-3AD203B41FA5}">
                      <a16:colId xmlns:a16="http://schemas.microsoft.com/office/drawing/2014/main" val="2428084489"/>
                    </a:ext>
                  </a:extLst>
                </a:gridCol>
                <a:gridCol w="959089">
                  <a:extLst>
                    <a:ext uri="{9D8B030D-6E8A-4147-A177-3AD203B41FA5}">
                      <a16:colId xmlns:a16="http://schemas.microsoft.com/office/drawing/2014/main" val="927704768"/>
                    </a:ext>
                  </a:extLst>
                </a:gridCol>
                <a:gridCol w="906957">
                  <a:extLst>
                    <a:ext uri="{9D8B030D-6E8A-4147-A177-3AD203B41FA5}">
                      <a16:colId xmlns:a16="http://schemas.microsoft.com/office/drawing/2014/main" val="3125827397"/>
                    </a:ext>
                  </a:extLst>
                </a:gridCol>
                <a:gridCol w="986378">
                  <a:extLst>
                    <a:ext uri="{9D8B030D-6E8A-4147-A177-3AD203B41FA5}">
                      <a16:colId xmlns:a16="http://schemas.microsoft.com/office/drawing/2014/main" val="2186125283"/>
                    </a:ext>
                  </a:extLst>
                </a:gridCol>
              </a:tblGrid>
              <a:tr h="36209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590574">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81</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 ANSI/TIA-942</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معيار تقني يتعلق بتصميم وتشغيل مراكز البيانات. يوفر هذا المعيار متطلبات محددة لتصميم وتشغيل مركز البيانات بما في ذلك الهيكل الفيزيائي والتصميم الكهربائي ونظام الإنذار والتهوية وأنظمة الحماية من الحريق والأمان الفيزيائي والأمان اللوجستي وتصميم الأرضيات والحماية البيئية. يهدف هذا المعيار إلى ضمان توفير بيئة موثوقة وآمنة لتشغيل الأجهزة والتطبيقات الحاسوبية. يتم إصدار المعايير من قبل معهد الاتصالات الأمريكي </a:t>
                      </a:r>
                      <a:r>
                        <a:rPr lang="en-US" sz="1400" b="0" i="0" u="none" strike="noStrike" baseline="0">
                          <a:solidFill>
                            <a:srgbClr val="000000"/>
                          </a:solidFill>
                          <a:effectLst/>
                          <a:latin typeface="Sakkal Majalla" panose="02000000000000000000" pitchFamily="2" charset="-78"/>
                          <a:cs typeface="Sakkal Majalla" panose="02000000000000000000" pitchFamily="2" charset="-78"/>
                        </a:rPr>
                        <a:t>TIA</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معهد الاتصالات  الأمريكي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TIA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644189213"/>
                  </a:ext>
                </a:extLst>
              </a:tr>
              <a:tr h="401023">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82</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NIST SP - 500-292</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يقدم معمارية الحوسبة السحابية المرجعية ويوضح بدقة مكونات وعروض الحوسبة السحابية . ويشمل مبادئ توجيهية لإنشاء هندسة الحوسبة السحابية للمرجعية كمعمارية محايدة للبائعين ولا تقمع الابتكار وتعريف حل تقني محدد</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NIST</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765859621"/>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83</a:t>
                      </a:r>
                    </a:p>
                  </a:txBody>
                  <a:tcPr marL="3810" marR="3810" marT="3810" marB="0" anchor="ctr"/>
                </a:tc>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ITIL (Information Technology Infrastructure Library)</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إطار يضم أفضل الممارسات لتقديم خدمات تقنية المعلومات بكفاءة وفعالية. يقدم إرشادات حول مواءمة</a:t>
                      </a:r>
                      <a:br>
                        <a:rPr lang="ar-SA" sz="1400" b="0" i="0" u="none" strike="noStrike" baseline="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خدمات تقنية المعلومات مع احتياجات الأعمال، وتحسين جودة الخدمة، وتحسين عمليات إدارة البنية التحتية لتقنية المعلومات</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AXELOS</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467711384"/>
                  </a:ext>
                </a:extLst>
              </a:tr>
              <a:tr h="599281">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84</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الدليل الاسترشادي لتبني الحوسبة السحابية للجهات الحكومية</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تحدد الإرشادات المذكورة في هذا الدليل الجوانب الرئيسة التي يمكن أن تساعد على توفير الدعم اللازم للجهات الحكومية أثناء تبني خدمات الحوسبة السحابية، ودعم استراتيجية المملكة ورؤيتها بهذا الخصوص، كما تركز هذه الإرشادات على تبني خدمات الحوسبة السحابية بهدف ضمان تنفيذ هذه العملية بصورة آمنة وفعالة.</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هيئة الحكومة الرقمية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DGA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1313856">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85</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للعمل عن بعد -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NCA TCC-1:2021</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قامت الهيئة بتطوير ضوابط الأمن السيبراني للعمل عن بعد، وذلك بعد دراسة عدة معايير وأطر وضوابط</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وممارسات دولية للأمن السيبراني. وتهدف الوثيقة إلى الإسهام في رفع مستوى الأمن السيبراني على المستوى</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الوطني عن طريق تمكين الجهة من أداء أعمالها عن بعد بطريقة آمنة والتكيف مع التغييرات في بيئة الأعمال</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وأنظمة العمل عن بعد. بالإضافة إلى تعزيز قدرات الأمن السيبراني والصمود ضد التهديدات السيبرانية عند إتاحة العمل عن بعد.</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الهيئة الوطنية للأمن السيبراني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NCA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772742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مكتبة المعايير المحلية والعالمية</a:t>
            </a:r>
            <a:r>
              <a:rPr lang="ar-EG" dirty="0"/>
              <a:t> (</a:t>
            </a:r>
            <a:r>
              <a:rPr lang="en-US" dirty="0"/>
              <a:t>18</a:t>
            </a:r>
            <a:r>
              <a:rPr lang="ar-EG" dirty="0"/>
              <a:t> </a:t>
            </a:r>
            <a:r>
              <a:rPr lang="en-US" dirty="0"/>
              <a:t>/</a:t>
            </a:r>
            <a:r>
              <a:rPr lang="ar-SA" dirty="0"/>
              <a:t> </a:t>
            </a:r>
            <a:r>
              <a:rPr lang="en-US" dirty="0"/>
              <a:t>18</a:t>
            </a:r>
            <a:r>
              <a:rPr lang="ar-EG" dirty="0"/>
              <a:t>)</a:t>
            </a:r>
            <a:endParaRPr lang="en-US" dirty="0"/>
          </a:p>
        </p:txBody>
      </p:sp>
      <p:sp>
        <p:nvSpPr>
          <p:cNvPr id="30" name="Slide Number Placeholder 4">
            <a:extLst>
              <a:ext uri="{FF2B5EF4-FFF2-40B4-BE49-F238E27FC236}">
                <a16:creationId xmlns:a16="http://schemas.microsoft.com/office/drawing/2014/main" id="{7362F0B5-8664-3144-E2CB-637248A453E9}"/>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29</a:t>
            </a:fld>
            <a:endParaRPr lang="en-US"/>
          </a:p>
        </p:txBody>
      </p:sp>
      <p:graphicFrame>
        <p:nvGraphicFramePr>
          <p:cNvPr id="4" name="Table 3">
            <a:extLst>
              <a:ext uri="{FF2B5EF4-FFF2-40B4-BE49-F238E27FC236}">
                <a16:creationId xmlns:a16="http://schemas.microsoft.com/office/drawing/2014/main" id="{7F20E91D-C189-E8BA-3D05-35D7E149FE56}"/>
              </a:ext>
            </a:extLst>
          </p:cNvPr>
          <p:cNvGraphicFramePr>
            <a:graphicFrameLocks noGrp="1"/>
          </p:cNvGraphicFramePr>
          <p:nvPr>
            <p:extLst>
              <p:ext uri="{D42A27DB-BD31-4B8C-83A1-F6EECF244321}">
                <p14:modId xmlns:p14="http://schemas.microsoft.com/office/powerpoint/2010/main" val="3543773646"/>
              </p:ext>
            </p:extLst>
          </p:nvPr>
        </p:nvGraphicFramePr>
        <p:xfrm>
          <a:off x="503499" y="1104704"/>
          <a:ext cx="11200820" cy="4980298"/>
        </p:xfrm>
        <a:graphic>
          <a:graphicData uri="http://schemas.openxmlformats.org/drawingml/2006/table">
            <a:tbl>
              <a:tblPr rtl="1" firstRow="1" bandRow="1">
                <a:tableStyleId>{5C22544A-7EE6-4342-B048-85BDC9FD1C3A}</a:tableStyleId>
              </a:tblPr>
              <a:tblGrid>
                <a:gridCol w="292109">
                  <a:extLst>
                    <a:ext uri="{9D8B030D-6E8A-4147-A177-3AD203B41FA5}">
                      <a16:colId xmlns:a16="http://schemas.microsoft.com/office/drawing/2014/main" val="1990645311"/>
                    </a:ext>
                  </a:extLst>
                </a:gridCol>
                <a:gridCol w="2110673">
                  <a:extLst>
                    <a:ext uri="{9D8B030D-6E8A-4147-A177-3AD203B41FA5}">
                      <a16:colId xmlns:a16="http://schemas.microsoft.com/office/drawing/2014/main" val="3032189522"/>
                    </a:ext>
                  </a:extLst>
                </a:gridCol>
                <a:gridCol w="5948558">
                  <a:extLst>
                    <a:ext uri="{9D8B030D-6E8A-4147-A177-3AD203B41FA5}">
                      <a16:colId xmlns:a16="http://schemas.microsoft.com/office/drawing/2014/main" val="2428084489"/>
                    </a:ext>
                  </a:extLst>
                </a:gridCol>
                <a:gridCol w="958099">
                  <a:extLst>
                    <a:ext uri="{9D8B030D-6E8A-4147-A177-3AD203B41FA5}">
                      <a16:colId xmlns:a16="http://schemas.microsoft.com/office/drawing/2014/main" val="927704768"/>
                    </a:ext>
                  </a:extLst>
                </a:gridCol>
                <a:gridCol w="906021">
                  <a:extLst>
                    <a:ext uri="{9D8B030D-6E8A-4147-A177-3AD203B41FA5}">
                      <a16:colId xmlns:a16="http://schemas.microsoft.com/office/drawing/2014/main" val="3125827397"/>
                    </a:ext>
                  </a:extLst>
                </a:gridCol>
                <a:gridCol w="985360">
                  <a:extLst>
                    <a:ext uri="{9D8B030D-6E8A-4147-A177-3AD203B41FA5}">
                      <a16:colId xmlns:a16="http://schemas.microsoft.com/office/drawing/2014/main" val="2186125283"/>
                    </a:ext>
                  </a:extLst>
                </a:gridCol>
              </a:tblGrid>
              <a:tr h="400024">
                <a:tc>
                  <a:txBody>
                    <a:bodyPr/>
                    <a:lstStyle/>
                    <a:p>
                      <a:pPr algn="ctr" rtl="1" fontAlgn="ctr"/>
                      <a:r>
                        <a:rPr lang="en-US" sz="1200" u="none" strike="noStrike" baseline="0" dirty="0">
                          <a:effectLst/>
                          <a:latin typeface="Sakkal Majalla" panose="02000000000000000000" pitchFamily="2" charset="-78"/>
                          <a:cs typeface="Sakkal Majalla" panose="02000000000000000000" pitchFamily="2" charset="-78"/>
                        </a:rPr>
                        <a:t>#</a:t>
                      </a:r>
                      <a:endParaRPr lang="en-US"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المعيار / الإطار المرجعي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الوصف</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المصدر</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200" u="none" strike="noStrike" baseline="0" dirty="0">
                          <a:effectLst/>
                          <a:latin typeface="Sakkal Majalla" panose="02000000000000000000" pitchFamily="2" charset="-78"/>
                          <a:cs typeface="Sakkal Majalla" panose="02000000000000000000" pitchFamily="2" charset="-78"/>
                        </a:rPr>
                        <a:t>تطبيق المعيا ر (إلزامي / اختياري)</a:t>
                      </a:r>
                      <a:endParaRPr lang="ar-SA" sz="12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tc>
                  <a:txBody>
                    <a:bodyPr/>
                    <a:lstStyle/>
                    <a:p>
                      <a:pPr algn="ctr" rtl="1" fontAlgn="ctr"/>
                      <a:r>
                        <a:rPr lang="ar-SA" sz="1000" u="none" strike="noStrike" baseline="0" dirty="0">
                          <a:effectLst/>
                          <a:latin typeface="Sakkal Majalla" panose="02000000000000000000" pitchFamily="2" charset="-78"/>
                          <a:cs typeface="Sakkal Majalla" panose="02000000000000000000" pitchFamily="2" charset="-78"/>
                        </a:rPr>
                        <a:t>مجا ل / مجالات البنية المؤسسية المرتبطة بالمعيار</a:t>
                      </a:r>
                      <a:endParaRPr lang="ar-SA" sz="1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1373" marR="1373" marT="1373" marB="0" anchor="ctr"/>
                </a:tc>
                <a:extLst>
                  <a:ext uri="{0D108BD9-81ED-4DB2-BD59-A6C34878D82A}">
                    <a16:rowId xmlns:a16="http://schemas.microsoft.com/office/drawing/2014/main" val="1291661004"/>
                  </a:ext>
                </a:extLst>
              </a:tr>
              <a:tr h="1101079">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لحسابات التواصل الاجتماعي -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NCA OSMACC-1:2021</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لحسابات التواصل الاجتماعي للجهات تخدم كافة الجهات العامة والخاصة في المملكة لتعزيز الأمن السيبراني لحسابات التواصل الاجتماعي الخاصة بها لمعالجة مخاطر جرائم سرقة حسابات التواصل الرسمية أو سوء استغلالها أو انتحال شخصيتها.</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الهيئة الوطنية للأمن السيبراني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NCA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644189213"/>
                  </a:ext>
                </a:extLst>
              </a:tr>
              <a:tr h="701575">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87</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NIST SP 800-207</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يحتوي هذا المعيار على تعريف مجرد لمعمارية الثقة الصفرية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ZTA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ويقدم نماذج عامة للنشر وحالات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الاستخدام حيث يمكن أن تحسن معمارية الثقة الصفرية بشكل عام لمؤسسة الوضع الأمني الشامل لتقنية المعلومات في المؤسسات</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NIST</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765859621"/>
                  </a:ext>
                </a:extLst>
              </a:tr>
              <a:tr h="93405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88</a:t>
                      </a:r>
                    </a:p>
                  </a:txBody>
                  <a:tcPr marL="3810" marR="3810" marT="3810" marB="0" anchor="ctr"/>
                </a:tc>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NIST SP 800-207A</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نموذج معمارية الثقة الصفرية للتحكم في الوصول في تطبيقات السحابة الأصلية في بيئات متعددة المواقع,</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يقدم إرشادات لتطوير إطار سياسة سيشكل الأساس لتحقيق معمارية الثقة الصفرية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ZTA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مع دمج مبادئ الثقة الصفرية في تصميمه لتطبيقات السحابة الأصلية. يجب أن يتكون الإطار أيضا من مجموعة شاملة من السياسات التي تغطي جميع الكيانات الحرجة والموارد في مكدس التطبيقات، بما في ذلك الشبكة، وأجهزة الشبكة، والمستخدمين، والخدمات</a:t>
                      </a:r>
                    </a:p>
                  </a:txBody>
                  <a:tcPr marL="3810" marR="3810" marT="3810" marB="0" anchor="ctr"/>
                </a:tc>
                <a:tc>
                  <a:txBody>
                    <a:bodyPr/>
                    <a:lstStyle/>
                    <a:p>
                      <a:pPr algn="ctr" rtl="0" fontAlgn="ct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NIST</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467711384"/>
                  </a:ext>
                </a:extLst>
              </a:tr>
              <a:tr h="93405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89</a:t>
                      </a:r>
                    </a:p>
                  </a:txBody>
                  <a:tcPr marL="3810" marR="3810" marT="3810" marB="0" anchor="ctr"/>
                </a:tc>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PCI DSS (Payment Card Industry Data Security Standard)</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مجموعة من المعايير الأمنية المصممة لضمان التعامل الآمن مع معلومات حاملي البطاقات أثناء عمليات الدفع باستخدام بطاقات الدفع. تتضمن متطلبات لتأمين البنية التحتية للشبكة، وحماية بيانات حاملي البطاقات، وتنفيذ ضوابط الوصول، ومراقبة واختبار أنظمة الأمن بانتظام</a:t>
                      </a:r>
                    </a:p>
                  </a:txBody>
                  <a:tcPr marL="3810" marR="3810" marT="3810" marB="0" anchor="ctr"/>
                </a:tc>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Payment Card Industry Security Standards Council</a:t>
                      </a: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اختياري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1400162761"/>
                  </a:ext>
                </a:extLst>
              </a:tr>
              <a:tr h="909520">
                <a:tc>
                  <a:txBody>
                    <a:bodyPr/>
                    <a:lstStyle/>
                    <a:p>
                      <a:pPr algn="ctr" rtl="0" fontAlgn="ctr"/>
                      <a:r>
                        <a:rPr lang="en-US" sz="1400" b="0" i="0" u="none" strike="noStrike" baseline="0">
                          <a:solidFill>
                            <a:srgbClr val="000000"/>
                          </a:solidFill>
                          <a:effectLst/>
                          <a:latin typeface="Sakkal Majalla" panose="02000000000000000000" pitchFamily="2" charset="-78"/>
                          <a:cs typeface="Sakkal Majalla" panose="02000000000000000000" pitchFamily="2" charset="-78"/>
                        </a:rPr>
                        <a:t>86</a:t>
                      </a:r>
                    </a:p>
                  </a:txBody>
                  <a:tcPr marL="3810" marR="3810" marT="381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لحسابات التواصل الاجتماعي - </a:t>
                      </a: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NCA OSMACC-1:2021</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ضوابط الأمن السيبراني لحسابات التواصل الاجتماعي للجهات تخدم كافة الجهات العامة والخاصة في المملكة لتعزيز الأمن السيبراني لحسابات التواصل الاجتماعي الخاصة بها لمعالجة مخاطر جرائم سرقة حسابات التواصل الرسمية أو سوء استغلالها أو انتحال شخصيتها.</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الهيئة الوطنية للأمن السيبراني</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NCA</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إلزامي</a:t>
                      </a:r>
                    </a:p>
                  </a:txBody>
                  <a:tcPr marL="3810" marR="3810" marT="3810" marB="0" anchor="ctr"/>
                </a:tc>
                <a:tc>
                  <a:txBody>
                    <a:bodyPr/>
                    <a:lstStyle/>
                    <a:p>
                      <a:pPr algn="ct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التطبيقات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البيانات</a:t>
                      </a:r>
                      <a:b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b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بنية التقنية</a:t>
                      </a:r>
                    </a:p>
                  </a:txBody>
                  <a:tcPr marL="3810" marR="3810" marT="3810" marB="0" anchor="ctr"/>
                </a:tc>
                <a:extLst>
                  <a:ext uri="{0D108BD9-81ED-4DB2-BD59-A6C34878D82A}">
                    <a16:rowId xmlns:a16="http://schemas.microsoft.com/office/drawing/2014/main" val="2579417550"/>
                  </a:ext>
                </a:extLst>
              </a:tr>
            </a:tbl>
          </a:graphicData>
        </a:graphic>
      </p:graphicFrame>
    </p:spTree>
    <p:extLst>
      <p:ext uri="{BB962C8B-B14F-4D97-AF65-F5344CB8AC3E}">
        <p14:creationId xmlns:p14="http://schemas.microsoft.com/office/powerpoint/2010/main" val="1629453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معايير البنية المؤسسية</a:t>
            </a:r>
            <a:endParaRPr lang="en-US" dirty="0"/>
          </a:p>
        </p:txBody>
      </p:sp>
      <p:sp>
        <p:nvSpPr>
          <p:cNvPr id="4" name="Text Placeholder 3"/>
          <p:cNvSpPr>
            <a:spLocks noGrp="1"/>
          </p:cNvSpPr>
          <p:nvPr>
            <p:ph type="body" sz="quarter" idx="14"/>
          </p:nvPr>
        </p:nvSpPr>
        <p:spPr/>
        <p:txBody>
          <a:bodyPr/>
          <a:lstStyle/>
          <a:p>
            <a:r>
              <a:rPr lang="en-US" dirty="0"/>
              <a:t>02</a:t>
            </a:r>
          </a:p>
        </p:txBody>
      </p:sp>
    </p:spTree>
    <p:extLst>
      <p:ext uri="{BB962C8B-B14F-4D97-AF65-F5344CB8AC3E}">
        <p14:creationId xmlns:p14="http://schemas.microsoft.com/office/powerpoint/2010/main" val="165778989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المعايير المرتبطة ببنية الأعمال</a:t>
            </a:r>
            <a:endParaRPr lang="en-US" sz="2800" dirty="0"/>
          </a:p>
        </p:txBody>
      </p:sp>
      <p:sp>
        <p:nvSpPr>
          <p:cNvPr id="4" name="Text Placeholder 3"/>
          <p:cNvSpPr>
            <a:spLocks noGrp="1"/>
          </p:cNvSpPr>
          <p:nvPr>
            <p:ph type="body" sz="quarter" idx="14"/>
          </p:nvPr>
        </p:nvSpPr>
        <p:spPr/>
        <p:txBody>
          <a:bodyPr/>
          <a:lstStyle/>
          <a:p>
            <a:r>
              <a:rPr lang="en-US" sz="7200" dirty="0"/>
              <a:t>3.1</a:t>
            </a:r>
          </a:p>
        </p:txBody>
      </p:sp>
    </p:spTree>
    <p:extLst>
      <p:ext uri="{BB962C8B-B14F-4D97-AF65-F5344CB8AC3E}">
        <p14:creationId xmlns:p14="http://schemas.microsoft.com/office/powerpoint/2010/main" val="13944374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الأعمال (2 / 1)</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32</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710936429"/>
              </p:ext>
            </p:extLst>
          </p:nvPr>
        </p:nvGraphicFramePr>
        <p:xfrm>
          <a:off x="6128658" y="1134810"/>
          <a:ext cx="5551715" cy="4874105"/>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7513">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315092">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BS01</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استخدام رموز ومخططات بصرية موحدة لنمذجة عمليات الأعمال بشكل دقيق وسهل الفهم.</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489963446"/>
                  </a:ext>
                </a:extLst>
              </a:tr>
              <a:tr h="569010">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BS02</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تسهيل التوافق والتكامل بين أدوات النمذجة المختلفة ونظم المعلومات المتعددة لتعزيز التكامل وكفاءة العمليات.</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665810392"/>
                  </a:ext>
                </a:extLst>
              </a:tr>
              <a:tr h="569010">
                <a:tc>
                  <a:txBody>
                    <a:bodyPr/>
                    <a:lstStyle/>
                    <a:p>
                      <a:pPr algn="ctr" rtl="0" fontAlgn="ctr"/>
                      <a:r>
                        <a:rPr lang="en-US" sz="1400" b="1" u="none" strike="noStrike" baseline="0">
                          <a:effectLst/>
                          <a:latin typeface="Sakkal Majalla" panose="02000000000000000000" pitchFamily="2" charset="-78"/>
                          <a:cs typeface="Sakkal Majalla" panose="02000000000000000000" pitchFamily="2" charset="-78"/>
                        </a:rPr>
                        <a:t>BS03</a:t>
                      </a:r>
                      <a:endParaRPr lang="en-US" sz="1400" b="1" i="0" u="none" strike="noStrike" baseline="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تحسين الكفاءة التشغيلية وتقليل التكاليف من خلال تحسين عمليات الأعمال استنادا إلى تحليل بيانات الأداء الفعلية</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512632214"/>
                  </a:ext>
                </a:extLst>
              </a:tr>
              <a:tr h="569010">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BS04</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تصميم خدمات الأعمال بالمواءمة مع الأهداف الاستراتيجية للأعمال وبهدف تعزيز القيمة المضافة للمستفيد</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4193838665"/>
                  </a:ext>
                </a:extLst>
              </a:tr>
              <a:tr h="315092">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BS05</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تصميم وتطوير خدمات الأعمال ارتكازاً على سياسة مركزية المستفيد</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3456641915"/>
                  </a:ext>
                </a:extLst>
              </a:tr>
              <a:tr h="315092">
                <a:tc>
                  <a:txBody>
                    <a:bodyPr/>
                    <a:lstStyle/>
                    <a:p>
                      <a:pPr algn="ctr" rtl="0" fontAlgn="ctr"/>
                      <a:r>
                        <a:rPr lang="en-US" sz="1400" b="1" u="none" strike="noStrike" baseline="0">
                          <a:effectLst/>
                          <a:latin typeface="Sakkal Majalla" panose="02000000000000000000" pitchFamily="2" charset="-78"/>
                          <a:cs typeface="Sakkal Majalla" panose="02000000000000000000" pitchFamily="2" charset="-78"/>
                        </a:rPr>
                        <a:t>BS06</a:t>
                      </a:r>
                      <a:endParaRPr lang="en-US" sz="1400" b="1" i="0" u="none" strike="noStrike" baseline="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تصميم وتطوير خدمات الأعمال  بما يحقق البساطة وسهولة الوصول والاستخدام</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761637634"/>
                  </a:ext>
                </a:extLst>
              </a:tr>
              <a:tr h="315092">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BS07</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التحسين المستمر لخدمات الأعمال بما يعزز رضا المستفيد</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1472548560"/>
                  </a:ext>
                </a:extLst>
              </a:tr>
              <a:tr h="315092">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BS08</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تقديم خدمات الأعمال من خلال قنوات متعددة وبما يحافظ على اتساقها</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399687734"/>
                  </a:ext>
                </a:extLst>
              </a:tr>
              <a:tr h="315092">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BS09</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تقديم خدمات الأعمال من خلال وضع اتفاقيات مستوى الخدمة  والالتزام بها</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1821309394"/>
                  </a:ext>
                </a:extLst>
              </a:tr>
              <a:tr h="569010">
                <a:tc>
                  <a:txBody>
                    <a:bodyPr/>
                    <a:lstStyle/>
                    <a:p>
                      <a:pPr algn="ctr" rtl="0" fontAlgn="ctr"/>
                      <a:r>
                        <a:rPr lang="en-US" sz="1400" b="1" u="none" strike="noStrike" baseline="0" dirty="0">
                          <a:effectLst/>
                          <a:latin typeface="Sakkal Majalla" panose="02000000000000000000" pitchFamily="2" charset="-78"/>
                          <a:cs typeface="Sakkal Majalla" panose="02000000000000000000" pitchFamily="2" charset="-78"/>
                        </a:rPr>
                        <a:t>BS10</a:t>
                      </a:r>
                      <a:endParaRPr lang="en-US"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r" rtl="1" fontAlgn="ctr"/>
                      <a:r>
                        <a:rPr lang="ar-SA" sz="1400" u="none" strike="noStrike" baseline="0" dirty="0">
                          <a:effectLst/>
                          <a:latin typeface="Sakkal Majalla" panose="02000000000000000000" pitchFamily="2" charset="-78"/>
                          <a:cs typeface="Sakkal Majalla" panose="02000000000000000000" pitchFamily="2" charset="-78"/>
                        </a:rPr>
                        <a:t>ضمان الجودة والكفاءة التشغيلية  للعمليات من خلال وضع مؤشرات قياس أداء لكافة العمليات ومن خلال اتفاقيات المستوى التشغيلي</a:t>
                      </a:r>
                      <a:endParaRPr lang="ar-SA"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826135630"/>
              </p:ext>
            </p:extLst>
          </p:nvPr>
        </p:nvGraphicFramePr>
        <p:xfrm>
          <a:off x="511629" y="1134810"/>
          <a:ext cx="5551715" cy="4874103"/>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7513">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BS11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تطوير وتنفيذ خطط فعالة لاستمرارية الأعمال </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BS12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مراقبة وتقييم مخاطر الامتثال والضوابط والهياكل والعمليات بشكل مستمر</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BS13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تحسين الإجراءات والعمليات وإعادة هندستها بما يضمن كفاءة التشغيل</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BS14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ارتكاز عملية تحسين الإجراءات على مبررات محددة وفقا للتحليل النوعي والكمي </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BS15</a:t>
                      </a:r>
                    </a:p>
                  </a:txBody>
                  <a:tcPr marL="3810" marR="3810" marT="3810" marB="0" anchor="ctr"/>
                </a:tc>
                <a:tc>
                  <a:txBody>
                    <a:bodyPr/>
                    <a:lstStyle/>
                    <a:p>
                      <a:pPr algn="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التحكم في إصدارات العمليات والإجراءات والنسخ المحسنة منها وتواريخ تحدثها</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BS16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تحليل ونمذجة قدرات الأعمال والاستفادة منها في عمليات التخطيط واتخاذ القرار</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BS17</a:t>
                      </a:r>
                    </a:p>
                  </a:txBody>
                  <a:tcPr marL="3810" marR="3810" marT="3810" marB="0" anchor="ctr"/>
                </a:tc>
                <a:tc>
                  <a:txBody>
                    <a:bodyPr/>
                    <a:lstStyle/>
                    <a:p>
                      <a:pPr algn="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استعمال نماذج قياس النضج كاساس للتطوير والتحسين المستمر</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BS18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استعمال نماذج وبطاقات موحدة لجمع متطلبات الأعمال</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BS19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استعمال نماذج وبطاقات موحدة لتوصيف مؤشرات قياس الأداء</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BS20</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تحقيق المواءمة بين الأهداف الاستراتيجية والمستويات التشغيلية في الأعمال</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1493077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الأعمال (2 / 2)</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33</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668799768"/>
              </p:ext>
            </p:extLst>
          </p:nvPr>
        </p:nvGraphicFramePr>
        <p:xfrm>
          <a:off x="6128658" y="1134810"/>
          <a:ext cx="5551715" cy="399000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7513">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10311">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BS21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استعمال أداة تخطيط المعلومات لتوصيف المعلومات داخل المنظمة وتوضيح العلاقات فيما بينها</a:t>
                      </a:r>
                    </a:p>
                  </a:txBody>
                  <a:tcPr marL="3810" marR="3810" marT="3810" marB="0" anchor="ctr"/>
                </a:tc>
                <a:extLst>
                  <a:ext uri="{0D108BD9-81ED-4DB2-BD59-A6C34878D82A}">
                    <a16:rowId xmlns:a16="http://schemas.microsoft.com/office/drawing/2014/main" val="2489963446"/>
                  </a:ext>
                </a:extLst>
              </a:tr>
              <a:tr h="410311">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BS22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تعزيز العلاقة مع المستفيد</a:t>
                      </a:r>
                    </a:p>
                  </a:txBody>
                  <a:tcPr marL="3810" marR="3810" marT="3810" marB="0" anchor="ctr"/>
                </a:tc>
                <a:extLst>
                  <a:ext uri="{0D108BD9-81ED-4DB2-BD59-A6C34878D82A}">
                    <a16:rowId xmlns:a16="http://schemas.microsoft.com/office/drawing/2014/main" val="665810392"/>
                  </a:ext>
                </a:extLst>
              </a:tr>
              <a:tr h="41031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BS23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تحفيز المستفيدين على المشاركة</a:t>
                      </a:r>
                    </a:p>
                  </a:txBody>
                  <a:tcPr marL="3810" marR="3810" marT="3810" marB="0" anchor="ctr"/>
                </a:tc>
                <a:extLst>
                  <a:ext uri="{0D108BD9-81ED-4DB2-BD59-A6C34878D82A}">
                    <a16:rowId xmlns:a16="http://schemas.microsoft.com/office/drawing/2014/main" val="2512632214"/>
                  </a:ext>
                </a:extLst>
              </a:tr>
              <a:tr h="41031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BS24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اعتماد آليات محددة لمعالجة مشاركات المستفيدين والرد عليها والاستفادة منها</a:t>
                      </a:r>
                    </a:p>
                  </a:txBody>
                  <a:tcPr marL="3810" marR="3810" marT="3810" marB="0" anchor="ctr"/>
                </a:tc>
                <a:extLst>
                  <a:ext uri="{0D108BD9-81ED-4DB2-BD59-A6C34878D82A}">
                    <a16:rowId xmlns:a16="http://schemas.microsoft.com/office/drawing/2014/main" val="4193838665"/>
                  </a:ext>
                </a:extLst>
              </a:tr>
              <a:tr h="41031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BS25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اتاحة قنوات متعددة لاستقبال مشاركات المستفيدين</a:t>
                      </a:r>
                    </a:p>
                  </a:txBody>
                  <a:tcPr marL="3810" marR="3810" marT="3810" marB="0" anchor="ctr"/>
                </a:tc>
                <a:extLst>
                  <a:ext uri="{0D108BD9-81ED-4DB2-BD59-A6C34878D82A}">
                    <a16:rowId xmlns:a16="http://schemas.microsoft.com/office/drawing/2014/main" val="3456641915"/>
                  </a:ext>
                </a:extLst>
              </a:tr>
              <a:tr h="41031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BS26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تقديم تجارب مخصصة للمستفيدين بناءً على تفضيلاتهم وسلوكياتهم</a:t>
                      </a:r>
                    </a:p>
                  </a:txBody>
                  <a:tcPr marL="3810" marR="3810" marT="3810" marB="0" anchor="ctr"/>
                </a:tc>
                <a:extLst>
                  <a:ext uri="{0D108BD9-81ED-4DB2-BD59-A6C34878D82A}">
                    <a16:rowId xmlns:a16="http://schemas.microsoft.com/office/drawing/2014/main" val="761637634"/>
                  </a:ext>
                </a:extLst>
              </a:tr>
              <a:tr h="41031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BS27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استطلاع أراء المستفيدين حول الأنظمة واللوائح والسياسات التي تؤثر عليهم</a:t>
                      </a:r>
                    </a:p>
                  </a:txBody>
                  <a:tcPr marL="3810" marR="3810" marT="3810" marB="0" anchor="ctr"/>
                </a:tc>
                <a:extLst>
                  <a:ext uri="{0D108BD9-81ED-4DB2-BD59-A6C34878D82A}">
                    <a16:rowId xmlns:a16="http://schemas.microsoft.com/office/drawing/2014/main" val="1472548560"/>
                  </a:ext>
                </a:extLst>
              </a:tr>
              <a:tr h="41031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BS28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وضع آليات محددة لقياس اثر تطبيق ممارسات مركزية المستفيد وتطبيق تجربة المستفيد</a:t>
                      </a:r>
                    </a:p>
                  </a:txBody>
                  <a:tcPr marL="3810" marR="3810" marT="3810" marB="0" anchor="ctr"/>
                </a:tc>
                <a:extLst>
                  <a:ext uri="{0D108BD9-81ED-4DB2-BD59-A6C34878D82A}">
                    <a16:rowId xmlns:a16="http://schemas.microsoft.com/office/drawing/2014/main" val="399687734"/>
                  </a:ext>
                </a:extLst>
              </a:tr>
            </a:tbl>
          </a:graphicData>
        </a:graphic>
      </p:graphicFrame>
    </p:spTree>
    <p:extLst>
      <p:ext uri="{BB962C8B-B14F-4D97-AF65-F5344CB8AC3E}">
        <p14:creationId xmlns:p14="http://schemas.microsoft.com/office/powerpoint/2010/main" val="704461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98D7C-3422-719D-1981-2F0E4AD08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1AB3C-2251-A6D4-EAD9-592F50267E98}"/>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الأعمال</a:t>
            </a:r>
          </a:p>
        </p:txBody>
      </p:sp>
      <p:sp>
        <p:nvSpPr>
          <p:cNvPr id="30" name="Slide Number Placeholder 4">
            <a:extLst>
              <a:ext uri="{FF2B5EF4-FFF2-40B4-BE49-F238E27FC236}">
                <a16:creationId xmlns:a16="http://schemas.microsoft.com/office/drawing/2014/main" id="{5977CD5E-12A9-C0B1-AAD8-4D79F265B212}"/>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34</a:t>
            </a:fld>
            <a:endParaRPr lang="en-US"/>
          </a:p>
        </p:txBody>
      </p:sp>
      <p:graphicFrame>
        <p:nvGraphicFramePr>
          <p:cNvPr id="3" name="Table 2">
            <a:extLst>
              <a:ext uri="{FF2B5EF4-FFF2-40B4-BE49-F238E27FC236}">
                <a16:creationId xmlns:a16="http://schemas.microsoft.com/office/drawing/2014/main" id="{374C6A58-1914-1DFD-D765-BC31C726D34A}"/>
              </a:ext>
            </a:extLst>
          </p:cNvPr>
          <p:cNvGraphicFramePr>
            <a:graphicFrameLocks noGrp="1"/>
          </p:cNvGraphicFramePr>
          <p:nvPr>
            <p:extLst>
              <p:ext uri="{D42A27DB-BD31-4B8C-83A1-F6EECF244321}">
                <p14:modId xmlns:p14="http://schemas.microsoft.com/office/powerpoint/2010/main" val="4042852464"/>
              </p:ext>
            </p:extLst>
          </p:nvPr>
        </p:nvGraphicFramePr>
        <p:xfrm>
          <a:off x="609600" y="1337691"/>
          <a:ext cx="10972800" cy="4816602"/>
        </p:xfrm>
        <a:graphic>
          <a:graphicData uri="http://schemas.openxmlformats.org/drawingml/2006/table">
            <a:tbl>
              <a:tblPr rtl="1" firstRow="1" firstCol="1" bandRow="1">
                <a:tableStyleId>{5C22544A-7EE6-4342-B048-85BDC9FD1C3A}</a:tableStyleId>
              </a:tblPr>
              <a:tblGrid>
                <a:gridCol w="1307432">
                  <a:extLst>
                    <a:ext uri="{9D8B030D-6E8A-4147-A177-3AD203B41FA5}">
                      <a16:colId xmlns:a16="http://schemas.microsoft.com/office/drawing/2014/main" val="464519492"/>
                    </a:ext>
                  </a:extLst>
                </a:gridCol>
                <a:gridCol w="9665368">
                  <a:extLst>
                    <a:ext uri="{9D8B030D-6E8A-4147-A177-3AD203B41FA5}">
                      <a16:colId xmlns:a16="http://schemas.microsoft.com/office/drawing/2014/main" val="1413092457"/>
                    </a:ext>
                  </a:extLst>
                </a:gridCol>
              </a:tblGrid>
              <a:tr h="0">
                <a:tc>
                  <a:txBody>
                    <a:bodyPr/>
                    <a:lstStyle/>
                    <a:p>
                      <a:pPr marL="0" marR="0" algn="ctr" rtl="1">
                        <a:lnSpc>
                          <a:spcPct val="115000"/>
                        </a:lnSpc>
                        <a:spcAft>
                          <a:spcPts val="800"/>
                        </a:spcAft>
                        <a:buNone/>
                      </a:pPr>
                      <a:r>
                        <a:rPr lang="ar-SA" sz="1200" kern="100" dirty="0">
                          <a:effectLst/>
                        </a:rPr>
                        <a:t>رمز المعيار</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dirty="0">
                          <a:effectLst/>
                        </a:rPr>
                        <a:t>وصف المعيار</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00592414"/>
                  </a:ext>
                </a:extLst>
              </a:tr>
              <a:tr h="0">
                <a:tc>
                  <a:txBody>
                    <a:bodyPr/>
                    <a:lstStyle/>
                    <a:p>
                      <a:pPr marL="0" marR="0" algn="ctr" rtl="1">
                        <a:lnSpc>
                          <a:spcPct val="115000"/>
                        </a:lnSpc>
                        <a:spcAft>
                          <a:spcPts val="800"/>
                        </a:spcAft>
                        <a:buNone/>
                      </a:pPr>
                      <a:r>
                        <a:rPr lang="en-US" sz="1200" kern="100" dirty="0">
                          <a:effectLst/>
                        </a:rPr>
                        <a:t>BS01</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استخدام رموز ومخططات بصرية موحدة لنمذجة عمليات الأعمال بشكل دقيق وسهل الفهم</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12122890"/>
                  </a:ext>
                </a:extLst>
              </a:tr>
              <a:tr h="0">
                <a:tc>
                  <a:txBody>
                    <a:bodyPr/>
                    <a:lstStyle/>
                    <a:p>
                      <a:pPr marL="0" marR="0" algn="ctr" rtl="1">
                        <a:lnSpc>
                          <a:spcPct val="115000"/>
                        </a:lnSpc>
                        <a:spcAft>
                          <a:spcPts val="800"/>
                        </a:spcAft>
                        <a:buNone/>
                      </a:pPr>
                      <a:r>
                        <a:rPr lang="en-US" sz="1200" kern="100">
                          <a:effectLst/>
                        </a:rPr>
                        <a:t>BS02</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تسهيل التوافق والتكامل بين أدوات النمذجة المختلفة ونظم المعلومات المتعددة لتعزيز التكامل وكفاءة العمليات</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986111289"/>
                  </a:ext>
                </a:extLst>
              </a:tr>
              <a:tr h="0">
                <a:tc>
                  <a:txBody>
                    <a:bodyPr/>
                    <a:lstStyle/>
                    <a:p>
                      <a:pPr marL="0" marR="0" algn="ctr" rtl="1">
                        <a:lnSpc>
                          <a:spcPct val="115000"/>
                        </a:lnSpc>
                        <a:spcAft>
                          <a:spcPts val="800"/>
                        </a:spcAft>
                        <a:buNone/>
                      </a:pPr>
                      <a:r>
                        <a:rPr lang="en-US" sz="1200" kern="100" dirty="0">
                          <a:effectLst/>
                        </a:rPr>
                        <a:t>BS03</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تحسين الكفاءة التشغيلية وتقليل التكاليف من خلال تحسين عمليات الأعمال استناداً إلى تحليل بيانات الأداء الفعلية</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852175434"/>
                  </a:ext>
                </a:extLst>
              </a:tr>
              <a:tr h="0">
                <a:tc>
                  <a:txBody>
                    <a:bodyPr/>
                    <a:lstStyle/>
                    <a:p>
                      <a:pPr marL="0" marR="0" algn="ctr" rtl="1">
                        <a:lnSpc>
                          <a:spcPct val="115000"/>
                        </a:lnSpc>
                        <a:spcAft>
                          <a:spcPts val="800"/>
                        </a:spcAft>
                        <a:buNone/>
                      </a:pPr>
                      <a:r>
                        <a:rPr lang="en-US" sz="1200" kern="100">
                          <a:effectLst/>
                        </a:rPr>
                        <a:t>BS04</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تصميم خدمات الأعمال بالمواءمة مع الأهداف الاستراتيجية للأعمال ووصف تعزيز القيمة المضافة للمستفيد</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47199296"/>
                  </a:ext>
                </a:extLst>
              </a:tr>
              <a:tr h="0">
                <a:tc>
                  <a:txBody>
                    <a:bodyPr/>
                    <a:lstStyle/>
                    <a:p>
                      <a:pPr marL="0" marR="0" algn="ctr" rtl="1">
                        <a:lnSpc>
                          <a:spcPct val="115000"/>
                        </a:lnSpc>
                        <a:spcAft>
                          <a:spcPts val="800"/>
                        </a:spcAft>
                        <a:buNone/>
                      </a:pPr>
                      <a:r>
                        <a:rPr lang="en-US" sz="1200" kern="100">
                          <a:effectLst/>
                        </a:rPr>
                        <a:t>BS05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تصميم وتطوير خدمات الأعمال ارتكازاً على سياسة مركزية للمستفيد</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63268986"/>
                  </a:ext>
                </a:extLst>
              </a:tr>
              <a:tr h="0">
                <a:tc>
                  <a:txBody>
                    <a:bodyPr/>
                    <a:lstStyle/>
                    <a:p>
                      <a:pPr marL="0" marR="0" algn="ctr" rtl="1">
                        <a:lnSpc>
                          <a:spcPct val="115000"/>
                        </a:lnSpc>
                        <a:spcAft>
                          <a:spcPts val="800"/>
                        </a:spcAft>
                        <a:buNone/>
                      </a:pPr>
                      <a:r>
                        <a:rPr lang="en-US" sz="1200" kern="100">
                          <a:effectLst/>
                        </a:rPr>
                        <a:t>BS06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تصميم وتطوير خدمات الأعمال بما يحقق البساطة وسهولة الوصول والاستخدام</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3299715"/>
                  </a:ext>
                </a:extLst>
              </a:tr>
              <a:tr h="0">
                <a:tc>
                  <a:txBody>
                    <a:bodyPr/>
                    <a:lstStyle/>
                    <a:p>
                      <a:pPr marL="0" marR="0" algn="ctr" rtl="1">
                        <a:lnSpc>
                          <a:spcPct val="115000"/>
                        </a:lnSpc>
                        <a:spcAft>
                          <a:spcPts val="800"/>
                        </a:spcAft>
                        <a:buNone/>
                      </a:pPr>
                      <a:r>
                        <a:rPr lang="en-US" sz="1200" kern="100">
                          <a:effectLst/>
                        </a:rPr>
                        <a:t>BS07</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التحسين المستمر لخدمات الأعمال بما يعزز رضا المستفيد</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07436966"/>
                  </a:ext>
                </a:extLst>
              </a:tr>
              <a:tr h="0">
                <a:tc>
                  <a:txBody>
                    <a:bodyPr/>
                    <a:lstStyle/>
                    <a:p>
                      <a:pPr marL="0" marR="0" algn="ctr" rtl="1">
                        <a:lnSpc>
                          <a:spcPct val="115000"/>
                        </a:lnSpc>
                        <a:spcAft>
                          <a:spcPts val="800"/>
                        </a:spcAft>
                        <a:buNone/>
                      </a:pPr>
                      <a:r>
                        <a:rPr lang="en-US" sz="1200" kern="100">
                          <a:effectLst/>
                        </a:rPr>
                        <a:t>BS08</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تقديم خدمات الأعمال من خلال قنوات متسقة ومترابطة على اتساقها</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18206602"/>
                  </a:ext>
                </a:extLst>
              </a:tr>
              <a:tr h="0">
                <a:tc>
                  <a:txBody>
                    <a:bodyPr/>
                    <a:lstStyle/>
                    <a:p>
                      <a:pPr marL="0" marR="0" algn="ctr" rtl="1">
                        <a:lnSpc>
                          <a:spcPct val="115000"/>
                        </a:lnSpc>
                        <a:spcAft>
                          <a:spcPts val="800"/>
                        </a:spcAft>
                        <a:buNone/>
                      </a:pPr>
                      <a:r>
                        <a:rPr lang="en-US" sz="1200" kern="100" dirty="0">
                          <a:effectLst/>
                        </a:rPr>
                        <a:t>BS09</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تقديم خدمات الأعمال من خلال وضع مؤشرات موحدة لوصف الخدمة والالتزام بها</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0814522"/>
                  </a:ext>
                </a:extLst>
              </a:tr>
              <a:tr h="0">
                <a:tc>
                  <a:txBody>
                    <a:bodyPr/>
                    <a:lstStyle/>
                    <a:p>
                      <a:pPr marL="0" marR="0" algn="ctr" rtl="1">
                        <a:lnSpc>
                          <a:spcPct val="115000"/>
                        </a:lnSpc>
                        <a:spcAft>
                          <a:spcPts val="800"/>
                        </a:spcAft>
                        <a:buNone/>
                      </a:pPr>
                      <a:r>
                        <a:rPr lang="en-US" sz="1200" kern="100">
                          <a:effectLst/>
                        </a:rPr>
                        <a:t>BS10</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ضمان الجودة والكفاءة التشغيلية للعمليات من خلال مؤشرات قياس الأداء التشغيلي ومن خلال اتفاقيات المستوى التشغيلي</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465986455"/>
                  </a:ext>
                </a:extLst>
              </a:tr>
              <a:tr h="0">
                <a:tc>
                  <a:txBody>
                    <a:bodyPr/>
                    <a:lstStyle/>
                    <a:p>
                      <a:pPr marL="0" marR="0" algn="ctr" rtl="1">
                        <a:lnSpc>
                          <a:spcPct val="115000"/>
                        </a:lnSpc>
                        <a:spcAft>
                          <a:spcPts val="800"/>
                        </a:spcAft>
                        <a:buNone/>
                      </a:pPr>
                      <a:r>
                        <a:rPr lang="en-US" sz="1200" kern="100">
                          <a:effectLst/>
                        </a:rPr>
                        <a:t>BS11</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تطوير وتنفيذ خطط فعالة لاستمرارية الأعمال</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68700224"/>
                  </a:ext>
                </a:extLst>
              </a:tr>
              <a:tr h="0">
                <a:tc>
                  <a:txBody>
                    <a:bodyPr/>
                    <a:lstStyle/>
                    <a:p>
                      <a:pPr marL="0" marR="0" algn="ctr" rtl="1">
                        <a:lnSpc>
                          <a:spcPct val="115000"/>
                        </a:lnSpc>
                        <a:spcAft>
                          <a:spcPts val="800"/>
                        </a:spcAft>
                        <a:buNone/>
                      </a:pPr>
                      <a:r>
                        <a:rPr lang="en-US" sz="1200" kern="100">
                          <a:effectLst/>
                        </a:rPr>
                        <a:t>BS12</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مراقبة وتقسيم مخاطر الامتثال والضوابط والهياكل والعمليات بشكل مستمر</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105688572"/>
                  </a:ext>
                </a:extLst>
              </a:tr>
              <a:tr h="0">
                <a:tc>
                  <a:txBody>
                    <a:bodyPr/>
                    <a:lstStyle/>
                    <a:p>
                      <a:pPr marL="0" marR="0" algn="ctr" rtl="1">
                        <a:lnSpc>
                          <a:spcPct val="115000"/>
                        </a:lnSpc>
                        <a:spcAft>
                          <a:spcPts val="800"/>
                        </a:spcAft>
                        <a:buNone/>
                      </a:pPr>
                      <a:r>
                        <a:rPr lang="en-US" sz="1200" kern="100">
                          <a:effectLst/>
                        </a:rPr>
                        <a:t>BS13</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تحسين الإجراءات والعمليات وإعادة هندستها بما يضمن كفاءة التشغيل</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743300494"/>
                  </a:ext>
                </a:extLst>
              </a:tr>
              <a:tr h="0">
                <a:tc>
                  <a:txBody>
                    <a:bodyPr/>
                    <a:lstStyle/>
                    <a:p>
                      <a:pPr marL="0" marR="0" algn="ctr" rtl="1">
                        <a:lnSpc>
                          <a:spcPct val="115000"/>
                        </a:lnSpc>
                        <a:spcAft>
                          <a:spcPts val="800"/>
                        </a:spcAft>
                        <a:buNone/>
                      </a:pPr>
                      <a:r>
                        <a:rPr lang="en-US" sz="1200" kern="100" dirty="0">
                          <a:effectLst/>
                        </a:rPr>
                        <a:t>BS14</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ارتكاز عملية تحسين الإجراءات على مبررات محددة ووفقاً للتحليل النوعي والكمي</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928044656"/>
                  </a:ext>
                </a:extLst>
              </a:tr>
              <a:tr h="0">
                <a:tc>
                  <a:txBody>
                    <a:bodyPr/>
                    <a:lstStyle/>
                    <a:p>
                      <a:pPr marL="0" marR="0" algn="ctr" rtl="1">
                        <a:lnSpc>
                          <a:spcPct val="115000"/>
                        </a:lnSpc>
                        <a:spcAft>
                          <a:spcPts val="800"/>
                        </a:spcAft>
                        <a:buNone/>
                      </a:pPr>
                      <a:r>
                        <a:rPr lang="en-US" sz="1200" kern="100">
                          <a:effectLst/>
                        </a:rPr>
                        <a:t>BS15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التحكم في إصدارات العمليات والإجراءات والنسخ المحسنة منها وتواريخ تحديثها</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59804744"/>
                  </a:ext>
                </a:extLst>
              </a:tr>
              <a:tr h="0">
                <a:tc>
                  <a:txBody>
                    <a:bodyPr/>
                    <a:lstStyle/>
                    <a:p>
                      <a:pPr marL="0" marR="0" algn="ctr" rtl="1">
                        <a:lnSpc>
                          <a:spcPct val="115000"/>
                        </a:lnSpc>
                        <a:spcAft>
                          <a:spcPts val="800"/>
                        </a:spcAft>
                        <a:buNone/>
                      </a:pPr>
                      <a:r>
                        <a:rPr lang="en-US" sz="1200" kern="100">
                          <a:effectLst/>
                        </a:rPr>
                        <a:t>BS16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تحليل منهجية عمليات الأعمال والاستفادة منها في عمليات التخطيط واتخاذ القرار</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18517481"/>
                  </a:ext>
                </a:extLst>
              </a:tr>
              <a:tr h="0">
                <a:tc>
                  <a:txBody>
                    <a:bodyPr/>
                    <a:lstStyle/>
                    <a:p>
                      <a:pPr marL="0" marR="0" algn="ctr" rtl="1">
                        <a:lnSpc>
                          <a:spcPct val="115000"/>
                        </a:lnSpc>
                        <a:spcAft>
                          <a:spcPts val="800"/>
                        </a:spcAft>
                        <a:buNone/>
                      </a:pPr>
                      <a:r>
                        <a:rPr lang="en-US" sz="1200" kern="100" dirty="0">
                          <a:effectLst/>
                        </a:rPr>
                        <a:t>BS17</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استعمال نماذج قياس النضج كأداة للتطوير والتحسين المستمر</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98833509"/>
                  </a:ext>
                </a:extLst>
              </a:tr>
              <a:tr h="0">
                <a:tc>
                  <a:txBody>
                    <a:bodyPr/>
                    <a:lstStyle/>
                    <a:p>
                      <a:pPr marL="0" marR="0" algn="ctr" rtl="1">
                        <a:lnSpc>
                          <a:spcPct val="115000"/>
                        </a:lnSpc>
                        <a:spcAft>
                          <a:spcPts val="800"/>
                        </a:spcAft>
                        <a:buNone/>
                      </a:pPr>
                      <a:r>
                        <a:rPr lang="en-US" sz="1200" kern="100">
                          <a:effectLst/>
                        </a:rPr>
                        <a:t>BS18</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استعمال نماذج وبطاقات موحدة لجمع متطلبات الأعمال</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912136725"/>
                  </a:ext>
                </a:extLst>
              </a:tr>
              <a:tr h="0">
                <a:tc>
                  <a:txBody>
                    <a:bodyPr/>
                    <a:lstStyle/>
                    <a:p>
                      <a:pPr marL="0" marR="0" algn="ctr" rtl="1">
                        <a:lnSpc>
                          <a:spcPct val="115000"/>
                        </a:lnSpc>
                        <a:spcAft>
                          <a:spcPts val="800"/>
                        </a:spcAft>
                        <a:buNone/>
                      </a:pPr>
                      <a:r>
                        <a:rPr lang="en-US" sz="1200" kern="100" dirty="0">
                          <a:effectLst/>
                        </a:rPr>
                        <a:t>BS19</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استعمال نماذج وبطاقات موحدة لوصف مؤشرات قياس الأداء</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66604393"/>
                  </a:ext>
                </a:extLst>
              </a:tr>
              <a:tr h="0">
                <a:tc>
                  <a:txBody>
                    <a:bodyPr/>
                    <a:lstStyle/>
                    <a:p>
                      <a:pPr marL="0" marR="0" algn="ctr" rtl="1">
                        <a:lnSpc>
                          <a:spcPct val="115000"/>
                        </a:lnSpc>
                        <a:spcAft>
                          <a:spcPts val="800"/>
                        </a:spcAft>
                        <a:buNone/>
                      </a:pPr>
                      <a:r>
                        <a:rPr lang="en-US" sz="1200" kern="100" dirty="0">
                          <a:effectLst/>
                        </a:rPr>
                        <a:t>BS20</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تحقيق المواءمة بين الأهداف الاستراتيجية والمستويات التشغيلية في الأعمال</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19724413"/>
                  </a:ext>
                </a:extLst>
              </a:tr>
            </a:tbl>
          </a:graphicData>
        </a:graphic>
      </p:graphicFrame>
    </p:spTree>
    <p:extLst>
      <p:ext uri="{BB962C8B-B14F-4D97-AF65-F5344CB8AC3E}">
        <p14:creationId xmlns:p14="http://schemas.microsoft.com/office/powerpoint/2010/main" val="33426676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FB0C7-AB42-AF8B-17A0-2F8D418E5E2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FA6398F-122F-0F21-1F28-ADBF02332B45}"/>
              </a:ext>
            </a:extLst>
          </p:cNvPr>
          <p:cNvSpPr>
            <a:spLocks noGrp="1"/>
          </p:cNvSpPr>
          <p:nvPr>
            <p:ph type="title"/>
          </p:nvPr>
        </p:nvSpPr>
        <p:spPr>
          <a:xfrm>
            <a:off x="5262880" y="3925452"/>
            <a:ext cx="6281420" cy="641639"/>
          </a:xfrm>
        </p:spPr>
        <p:txBody>
          <a:bodyPr/>
          <a:lstStyle/>
          <a:p>
            <a:r>
              <a:rPr lang="ar-EG" sz="2800" dirty="0"/>
              <a:t>المعايير المرتبطة ببنية تجربة المستفيد</a:t>
            </a:r>
            <a:endParaRPr lang="en-US" sz="2800" dirty="0"/>
          </a:p>
        </p:txBody>
      </p:sp>
      <p:sp>
        <p:nvSpPr>
          <p:cNvPr id="4" name="Text Placeholder 3">
            <a:extLst>
              <a:ext uri="{FF2B5EF4-FFF2-40B4-BE49-F238E27FC236}">
                <a16:creationId xmlns:a16="http://schemas.microsoft.com/office/drawing/2014/main" id="{64DF2596-6926-D89C-B8D3-846188FA918A}"/>
              </a:ext>
            </a:extLst>
          </p:cNvPr>
          <p:cNvSpPr>
            <a:spLocks noGrp="1"/>
          </p:cNvSpPr>
          <p:nvPr>
            <p:ph type="body" sz="quarter" idx="14"/>
          </p:nvPr>
        </p:nvSpPr>
        <p:spPr/>
        <p:txBody>
          <a:bodyPr/>
          <a:lstStyle/>
          <a:p>
            <a:r>
              <a:rPr lang="ar-EG" sz="7200" dirty="0"/>
              <a:t>3.2</a:t>
            </a:r>
            <a:endParaRPr lang="en-US" sz="7200" dirty="0"/>
          </a:p>
        </p:txBody>
      </p:sp>
    </p:spTree>
    <p:extLst>
      <p:ext uri="{BB962C8B-B14F-4D97-AF65-F5344CB8AC3E}">
        <p14:creationId xmlns:p14="http://schemas.microsoft.com/office/powerpoint/2010/main" val="26284137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41ED5-44EA-06CE-ECBB-9EA1D83E6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37D41-55D4-9025-78ED-F329FB25B8D4}"/>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EG" dirty="0"/>
              <a:t>المستفيد</a:t>
            </a:r>
            <a:endParaRPr lang="en-US" dirty="0"/>
          </a:p>
        </p:txBody>
      </p:sp>
      <p:sp>
        <p:nvSpPr>
          <p:cNvPr id="30" name="Slide Number Placeholder 4">
            <a:extLst>
              <a:ext uri="{FF2B5EF4-FFF2-40B4-BE49-F238E27FC236}">
                <a16:creationId xmlns:a16="http://schemas.microsoft.com/office/drawing/2014/main" id="{8A009B49-B094-17C9-8212-6B3003F493BC}"/>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36</a:t>
            </a:fld>
            <a:endParaRPr lang="en-US"/>
          </a:p>
        </p:txBody>
      </p:sp>
      <p:graphicFrame>
        <p:nvGraphicFramePr>
          <p:cNvPr id="4" name="Table 3">
            <a:extLst>
              <a:ext uri="{FF2B5EF4-FFF2-40B4-BE49-F238E27FC236}">
                <a16:creationId xmlns:a16="http://schemas.microsoft.com/office/drawing/2014/main" id="{A68E5D99-2799-4958-A4D1-494A177F15F0}"/>
              </a:ext>
            </a:extLst>
          </p:cNvPr>
          <p:cNvGraphicFramePr>
            <a:graphicFrameLocks noGrp="1"/>
          </p:cNvGraphicFramePr>
          <p:nvPr/>
        </p:nvGraphicFramePr>
        <p:xfrm>
          <a:off x="609600" y="1315453"/>
          <a:ext cx="10972800" cy="4684293"/>
        </p:xfrm>
        <a:graphic>
          <a:graphicData uri="http://schemas.openxmlformats.org/drawingml/2006/table">
            <a:tbl>
              <a:tblPr rtl="1" firstRow="1" firstCol="1" bandRow="1">
                <a:tableStyleId>{5C22544A-7EE6-4342-B048-85BDC9FD1C3A}</a:tableStyleId>
              </a:tblPr>
              <a:tblGrid>
                <a:gridCol w="1387642">
                  <a:extLst>
                    <a:ext uri="{9D8B030D-6E8A-4147-A177-3AD203B41FA5}">
                      <a16:colId xmlns:a16="http://schemas.microsoft.com/office/drawing/2014/main" val="3356110565"/>
                    </a:ext>
                  </a:extLst>
                </a:gridCol>
                <a:gridCol w="9585158">
                  <a:extLst>
                    <a:ext uri="{9D8B030D-6E8A-4147-A177-3AD203B41FA5}">
                      <a16:colId xmlns:a16="http://schemas.microsoft.com/office/drawing/2014/main" val="3323585046"/>
                    </a:ext>
                  </a:extLst>
                </a:gridCol>
              </a:tblGrid>
              <a:tr h="520477">
                <a:tc>
                  <a:txBody>
                    <a:bodyPr/>
                    <a:lstStyle/>
                    <a:p>
                      <a:pPr marL="0" marR="0" algn="ctr" rtl="1">
                        <a:lnSpc>
                          <a:spcPct val="115000"/>
                        </a:lnSpc>
                        <a:spcAft>
                          <a:spcPts val="800"/>
                        </a:spcAft>
                        <a:buNone/>
                      </a:pPr>
                      <a:r>
                        <a:rPr lang="ar-SA" sz="1200" kern="100" dirty="0">
                          <a:effectLst/>
                        </a:rPr>
                        <a:t>رمز المعيار</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dirty="0">
                          <a:effectLst/>
                        </a:rPr>
                        <a:t>وصف المعيار</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137506801"/>
                  </a:ext>
                </a:extLst>
              </a:tr>
              <a:tr h="520477">
                <a:tc>
                  <a:txBody>
                    <a:bodyPr/>
                    <a:lstStyle/>
                    <a:p>
                      <a:pPr marL="0" marR="0" algn="ctr" rtl="1">
                        <a:lnSpc>
                          <a:spcPct val="115000"/>
                        </a:lnSpc>
                        <a:spcAft>
                          <a:spcPts val="800"/>
                        </a:spcAft>
                        <a:buNone/>
                      </a:pPr>
                      <a:r>
                        <a:rPr lang="en-US" sz="1200" kern="100" dirty="0">
                          <a:effectLst/>
                        </a:rPr>
                        <a:t>CX01</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استعمال أداة تخطيط المعلومات لتوصيف المعلومات داخل المنظمة وتوضيح العلاقات فيما بينها</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95416396"/>
                  </a:ext>
                </a:extLst>
              </a:tr>
              <a:tr h="520477">
                <a:tc>
                  <a:txBody>
                    <a:bodyPr/>
                    <a:lstStyle/>
                    <a:p>
                      <a:pPr marL="0" marR="0" algn="ctr" rtl="1">
                        <a:lnSpc>
                          <a:spcPct val="115000"/>
                        </a:lnSpc>
                        <a:spcAft>
                          <a:spcPts val="800"/>
                        </a:spcAft>
                        <a:buNone/>
                      </a:pPr>
                      <a:r>
                        <a:rPr lang="en-US" sz="1200" kern="100" dirty="0">
                          <a:effectLst/>
                        </a:rPr>
                        <a:t>CX02</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a:effectLst/>
                        </a:rPr>
                        <a:t>تعزيز العلاقة مع المستفيد</a:t>
                      </a: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96827439"/>
                  </a:ext>
                </a:extLst>
              </a:tr>
              <a:tr h="520477">
                <a:tc>
                  <a:txBody>
                    <a:bodyPr/>
                    <a:lstStyle/>
                    <a:p>
                      <a:pPr marL="0" marR="0" algn="ctr" rtl="1">
                        <a:lnSpc>
                          <a:spcPct val="115000"/>
                        </a:lnSpc>
                        <a:spcAft>
                          <a:spcPts val="800"/>
                        </a:spcAft>
                        <a:buNone/>
                      </a:pPr>
                      <a:r>
                        <a:rPr lang="en-US" sz="1200" kern="100">
                          <a:effectLst/>
                        </a:rPr>
                        <a:t>CX03</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تحفيز المستفيدين على المشاركة</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525354161"/>
                  </a:ext>
                </a:extLst>
              </a:tr>
              <a:tr h="520477">
                <a:tc>
                  <a:txBody>
                    <a:bodyPr/>
                    <a:lstStyle/>
                    <a:p>
                      <a:pPr marL="0" marR="0" algn="ctr" rtl="1">
                        <a:lnSpc>
                          <a:spcPct val="115000"/>
                        </a:lnSpc>
                        <a:spcAft>
                          <a:spcPts val="800"/>
                        </a:spcAft>
                        <a:buNone/>
                      </a:pPr>
                      <a:r>
                        <a:rPr lang="en-US" sz="1200" kern="100">
                          <a:effectLst/>
                        </a:rPr>
                        <a:t>CX04</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اعتماد آليات محددة لمعالجة مشاركات المستفيدين والرد عليها والاستفادة منها</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91203657"/>
                  </a:ext>
                </a:extLst>
              </a:tr>
              <a:tr h="520477">
                <a:tc>
                  <a:txBody>
                    <a:bodyPr/>
                    <a:lstStyle/>
                    <a:p>
                      <a:pPr marL="0" marR="0" algn="ctr" rtl="1">
                        <a:lnSpc>
                          <a:spcPct val="115000"/>
                        </a:lnSpc>
                        <a:spcAft>
                          <a:spcPts val="800"/>
                        </a:spcAft>
                        <a:buNone/>
                      </a:pPr>
                      <a:r>
                        <a:rPr lang="en-US" sz="1200" kern="100">
                          <a:effectLst/>
                        </a:rPr>
                        <a:t>CX05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إتاحة قنوات متعددة لاستقبال مشاركات المستفيدين</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96041988"/>
                  </a:ext>
                </a:extLst>
              </a:tr>
              <a:tr h="520477">
                <a:tc>
                  <a:txBody>
                    <a:bodyPr/>
                    <a:lstStyle/>
                    <a:p>
                      <a:pPr marL="0" marR="0" algn="ctr" rtl="1">
                        <a:lnSpc>
                          <a:spcPct val="115000"/>
                        </a:lnSpc>
                        <a:spcAft>
                          <a:spcPts val="800"/>
                        </a:spcAft>
                        <a:buNone/>
                      </a:pPr>
                      <a:r>
                        <a:rPr lang="en-US" sz="1200" kern="100">
                          <a:effectLst/>
                        </a:rPr>
                        <a:t>CX06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تقديم تجارب مخصصة للمستفيدين بناءً على تفضيلاتهم وسلوكياتهم</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66153966"/>
                  </a:ext>
                </a:extLst>
              </a:tr>
              <a:tr h="520477">
                <a:tc>
                  <a:txBody>
                    <a:bodyPr/>
                    <a:lstStyle/>
                    <a:p>
                      <a:pPr marL="0" marR="0" algn="ctr" rtl="1">
                        <a:lnSpc>
                          <a:spcPct val="115000"/>
                        </a:lnSpc>
                        <a:spcAft>
                          <a:spcPts val="800"/>
                        </a:spcAft>
                        <a:buNone/>
                      </a:pPr>
                      <a:r>
                        <a:rPr lang="en-US" sz="1200" kern="100" dirty="0">
                          <a:effectLst/>
                        </a:rPr>
                        <a:t>CX07</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استطلاع آراء المستفيدين حول الأنظمة واللوائح والسياسات التي تؤثر عليهم</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70684809"/>
                  </a:ext>
                </a:extLst>
              </a:tr>
              <a:tr h="520477">
                <a:tc>
                  <a:txBody>
                    <a:bodyPr/>
                    <a:lstStyle/>
                    <a:p>
                      <a:pPr marL="0" marR="0" algn="ctr" rtl="1">
                        <a:lnSpc>
                          <a:spcPct val="115000"/>
                        </a:lnSpc>
                        <a:spcAft>
                          <a:spcPts val="800"/>
                        </a:spcAft>
                        <a:buNone/>
                      </a:pPr>
                      <a:r>
                        <a:rPr lang="en-US" sz="1200" kern="100" dirty="0">
                          <a:effectLst/>
                        </a:rPr>
                        <a:t>CX08</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r" rtl="1">
                        <a:lnSpc>
                          <a:spcPct val="115000"/>
                        </a:lnSpc>
                        <a:spcAft>
                          <a:spcPts val="800"/>
                        </a:spcAft>
                        <a:buNone/>
                      </a:pPr>
                      <a:r>
                        <a:rPr lang="ar-SA" sz="1200" kern="100" dirty="0">
                          <a:effectLst/>
                        </a:rPr>
                        <a:t>وضع آليات محددة لقياس أثر تطبيق ممارسات مُمكنة لتجربة المستفيد وتطبيق تجربة المستفيد</a:t>
                      </a: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374287212"/>
                  </a:ext>
                </a:extLst>
              </a:tr>
            </a:tbl>
          </a:graphicData>
        </a:graphic>
      </p:graphicFrame>
    </p:spTree>
    <p:extLst>
      <p:ext uri="{BB962C8B-B14F-4D97-AF65-F5344CB8AC3E}">
        <p14:creationId xmlns:p14="http://schemas.microsoft.com/office/powerpoint/2010/main" val="335947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المعايير المرتبطة ببنية </a:t>
            </a:r>
            <a:r>
              <a:rPr lang="ar-EG" sz="2800" dirty="0"/>
              <a:t>التطبيقات</a:t>
            </a:r>
            <a:endParaRPr lang="en-US" sz="2800" dirty="0"/>
          </a:p>
        </p:txBody>
      </p:sp>
      <p:sp>
        <p:nvSpPr>
          <p:cNvPr id="4" name="Text Placeholder 3"/>
          <p:cNvSpPr>
            <a:spLocks noGrp="1"/>
          </p:cNvSpPr>
          <p:nvPr>
            <p:ph type="body" sz="quarter" idx="14"/>
          </p:nvPr>
        </p:nvSpPr>
        <p:spPr/>
        <p:txBody>
          <a:bodyPr/>
          <a:lstStyle/>
          <a:p>
            <a:r>
              <a:rPr lang="ar-EG" sz="7200" dirty="0"/>
              <a:t>3.4</a:t>
            </a:r>
            <a:endParaRPr lang="en-US" sz="7200" dirty="0"/>
          </a:p>
        </p:txBody>
      </p:sp>
    </p:spTree>
    <p:extLst>
      <p:ext uri="{BB962C8B-B14F-4D97-AF65-F5344CB8AC3E}">
        <p14:creationId xmlns:p14="http://schemas.microsoft.com/office/powerpoint/2010/main" val="69951305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التطبيقات</a:t>
            </a:r>
            <a:r>
              <a:rPr lang="en-US" dirty="0"/>
              <a:t> (5 / 1)</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38</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859393528"/>
              </p:ext>
            </p:extLst>
          </p:nvPr>
        </p:nvGraphicFramePr>
        <p:xfrm>
          <a:off x="6128658" y="1134810"/>
          <a:ext cx="5551715" cy="489489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90631">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25333">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AS01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تصميم التطبيقات بحيث تكون قابلة للوصول من قبل جميع المستخدمين، بما في ذلك الأشخاص ذوي الإعاقات. بما في ذلك اتباع إرشادات الوصول إلى محتوى الويب</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WCAG</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489963446"/>
                  </a:ext>
                </a:extLst>
              </a:tr>
              <a:tr h="425333">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AS02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توافق تصميم التطبيق مع معايير التباين والألوان لضمان وصول أفضل للمستخدمين ذوي الإعاقة البصرية.</a:t>
                      </a:r>
                    </a:p>
                  </a:txBody>
                  <a:tcPr marL="3810" marR="3810" marT="3810" marB="0" anchor="ctr"/>
                </a:tc>
                <a:extLst>
                  <a:ext uri="{0D108BD9-81ED-4DB2-BD59-A6C34878D82A}">
                    <a16:rowId xmlns:a16="http://schemas.microsoft.com/office/drawing/2014/main" val="665810392"/>
                  </a:ext>
                </a:extLst>
              </a:tr>
              <a:tr h="41369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AS03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تصميم التطبيق ليكون فعالاً في استهلاك البيانات، خاصة على الشبكات المحدودة.</a:t>
                      </a:r>
                    </a:p>
                  </a:txBody>
                  <a:tcPr marL="3810" marR="3810" marT="3810" marB="0" anchor="ctr"/>
                </a:tc>
                <a:extLst>
                  <a:ext uri="{0D108BD9-81ED-4DB2-BD59-A6C34878D82A}">
                    <a16:rowId xmlns:a16="http://schemas.microsoft.com/office/drawing/2014/main" val="2512632214"/>
                  </a:ext>
                </a:extLst>
              </a:tr>
              <a:tr h="41369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AS04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تصميم التطبيق لتقليل زمن الانتظار في العمليات الحيوية لضمان تجربة مستخدم سريعة.</a:t>
                      </a:r>
                    </a:p>
                  </a:txBody>
                  <a:tcPr marL="3810" marR="3810" marT="3810" marB="0" anchor="ctr"/>
                </a:tc>
                <a:extLst>
                  <a:ext uri="{0D108BD9-81ED-4DB2-BD59-A6C34878D82A}">
                    <a16:rowId xmlns:a16="http://schemas.microsoft.com/office/drawing/2014/main" val="4193838665"/>
                  </a:ext>
                </a:extLst>
              </a:tr>
              <a:tr h="41369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AS05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تصميم التطبيق ليعمل بشكل صحيح على الأجهزة المحمولة مثل الهواتف الذكية والأجهزة اللوحية.</a:t>
                      </a:r>
                    </a:p>
                  </a:txBody>
                  <a:tcPr marL="3810" marR="3810" marT="3810" marB="0" anchor="ctr"/>
                </a:tc>
                <a:extLst>
                  <a:ext uri="{0D108BD9-81ED-4DB2-BD59-A6C34878D82A}">
                    <a16:rowId xmlns:a16="http://schemas.microsoft.com/office/drawing/2014/main" val="3456641915"/>
                  </a:ext>
                </a:extLst>
              </a:tr>
              <a:tr h="41369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AS06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تصميم التطبيق بشكل يقلل من استهلاك البطارية على الأجهزة المحمولة.</a:t>
                      </a:r>
                    </a:p>
                  </a:txBody>
                  <a:tcPr marL="3810" marR="3810" marT="3810" marB="0" anchor="ctr"/>
                </a:tc>
                <a:extLst>
                  <a:ext uri="{0D108BD9-81ED-4DB2-BD59-A6C34878D82A}">
                    <a16:rowId xmlns:a16="http://schemas.microsoft.com/office/drawing/2014/main" val="761637634"/>
                  </a:ext>
                </a:extLst>
              </a:tr>
              <a:tr h="41369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AS07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تصميم التطبيق باستخدام مكونات قابلة لإعادة الاستخدام.</a:t>
                      </a:r>
                    </a:p>
                  </a:txBody>
                  <a:tcPr marL="3810" marR="3810" marT="3810" marB="0" anchor="ctr"/>
                </a:tc>
                <a:extLst>
                  <a:ext uri="{0D108BD9-81ED-4DB2-BD59-A6C34878D82A}">
                    <a16:rowId xmlns:a16="http://schemas.microsoft.com/office/drawing/2014/main" val="1472548560"/>
                  </a:ext>
                </a:extLst>
              </a:tr>
              <a:tr h="41369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AS08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تصميم التطبيق بطريقة تضمن سهولة التنقل والتصفح داخل التطبيق.</a:t>
                      </a:r>
                    </a:p>
                  </a:txBody>
                  <a:tcPr marL="3810" marR="3810" marT="3810" marB="0" anchor="ctr"/>
                </a:tc>
                <a:extLst>
                  <a:ext uri="{0D108BD9-81ED-4DB2-BD59-A6C34878D82A}">
                    <a16:rowId xmlns:a16="http://schemas.microsoft.com/office/drawing/2014/main" val="399687734"/>
                  </a:ext>
                </a:extLst>
              </a:tr>
              <a:tr h="42533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AS09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يكون تصميم واجهة المستخدم</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UI</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بسيطاً وسهل الاستخدام، مع مراعاة المبادئ الأساسية لتجربة المستخدم</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UX</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extLst>
                  <a:ext uri="{0D108BD9-81ED-4DB2-BD59-A6C34878D82A}">
                    <a16:rowId xmlns:a16="http://schemas.microsoft.com/office/drawing/2014/main" val="1821309394"/>
                  </a:ext>
                </a:extLst>
              </a:tr>
              <a:tr h="42533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AS10</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التطبيق نظاماً لإدارة الصلاحيات وأذونات الوصول والتحكم في الوصول لضمان أمان البيانات والوظائف.</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3495012814"/>
              </p:ext>
            </p:extLst>
          </p:nvPr>
        </p:nvGraphicFramePr>
        <p:xfrm>
          <a:off x="511629" y="1134810"/>
          <a:ext cx="5551715" cy="4874103"/>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7513">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AS11</a:t>
                      </a:r>
                    </a:p>
                  </a:txBody>
                  <a:tcPr marL="3810" marR="3810" marT="3810" marB="0" anchor="ctr"/>
                </a:tc>
                <a:tc>
                  <a:txBody>
                    <a:bodyPr/>
                    <a:lstStyle/>
                    <a:p>
                      <a:pPr algn="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يكون الوصول إلى البيانات الحساسة محددًا ومراقبًا بدقة لضمان الامتثال للقوانين.</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AS12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إدارة حسابات المستخدمين وتحديث المعلومات الشخصية بشكل آمن.</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AS13</a:t>
                      </a:r>
                    </a:p>
                  </a:txBody>
                  <a:tcPr marL="3810" marR="3810" marT="3810" marB="0" anchor="ctr"/>
                </a:tc>
                <a:tc>
                  <a:txBody>
                    <a:bodyPr/>
                    <a:lstStyle/>
                    <a:p>
                      <a:pPr algn="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يكون هناك نظام للتحكم في الأذونات التي يمنحها المستخدم للتطبيق.</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واجهات برمجة التطبيقات</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APIs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المعيارية لتمكين التفاعل مع خدمات أخرى.</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تأمين واجهات برمجة التطبيقات</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APIs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باستخدام الرموز المميزة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Tokens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والتشفير.</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التعامل مع الأخطاء بشكل فعال مع تقديم رسائل توضيحية للمستخدم.</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AS17</a:t>
                      </a:r>
                    </a:p>
                  </a:txBody>
                  <a:tcPr marL="3810" marR="3810" marT="3810" marB="0" anchor="ctr"/>
                </a:tc>
                <a:tc>
                  <a:txBody>
                    <a:bodyPr/>
                    <a:lstStyle/>
                    <a:p>
                      <a:pPr algn="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يدعم التطبيق تنفيذ العمليات بشكل آلي لتقليل الأخطاء البشرية وزيادة الكفاءة.</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التحديثات التلقائية لضمان تحسين الأداء وتصحيح الأخطاء بشكل مستمر.</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AS19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يكون التطبيق قابلاً للتوسع بشكل أفقي وعمودي لاستيعاب زيادة المستخدمين والبيانات.</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AS20</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اختبار التطبيق للتأكد من استجابته بشكل مناسب تحت أحمال مختلفة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Load Testing</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2616847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التطبيقات</a:t>
            </a:r>
            <a:r>
              <a:rPr lang="en-US" dirty="0"/>
              <a:t> (5 / 2)</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39</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712999759"/>
              </p:ext>
            </p:extLst>
          </p:nvPr>
        </p:nvGraphicFramePr>
        <p:xfrm>
          <a:off x="6128658" y="1084010"/>
          <a:ext cx="5551715" cy="4995035"/>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89735">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3053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AS21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يكون لدى التطبيق نظام نسخ احتياطي للبيانات لضمان استعادة البيانات في حال حدوث فقدان.</a:t>
                      </a:r>
                    </a:p>
                  </a:txBody>
                  <a:tcPr marL="3810" marR="3810" marT="3810" marB="0" anchor="ctr"/>
                </a:tc>
                <a:extLst>
                  <a:ext uri="{0D108BD9-81ED-4DB2-BD59-A6C34878D82A}">
                    <a16:rowId xmlns:a16="http://schemas.microsoft.com/office/drawing/2014/main" val="2489963446"/>
                  </a:ext>
                </a:extLst>
              </a:tr>
              <a:tr h="43053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AS22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لغات متعددة لضمان توافقه مع مستخدمين من خلفيات لغوية مختلفة.</a:t>
                      </a:r>
                    </a:p>
                  </a:txBody>
                  <a:tcPr marL="3810" marR="3810" marT="3810" marB="0" anchor="ctr"/>
                </a:tc>
                <a:extLst>
                  <a:ext uri="{0D108BD9-81ED-4DB2-BD59-A6C34878D82A}">
                    <a16:rowId xmlns:a16="http://schemas.microsoft.com/office/drawing/2014/main" val="665810392"/>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AS23</a:t>
                      </a:r>
                    </a:p>
                  </a:txBody>
                  <a:tcPr marL="3810" marR="3810" marT="3810" marB="0" anchor="ctr"/>
                </a:tc>
                <a:tc>
                  <a:txBody>
                    <a:bodyPr/>
                    <a:lstStyle/>
                    <a:p>
                      <a:pPr algn="r" rtl="1" fontAlgn="ctr"/>
                      <a:r>
                        <a:rPr lang="ar-SA" sz="1400" b="0"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يدعم التطبيق التصفح أوفلاين من خلال تخزين المحتوى مؤقتًا في الجهاز.</a:t>
                      </a:r>
                    </a:p>
                  </a:txBody>
                  <a:tcPr marL="3810" marR="3810" marT="3810" marB="0" anchor="ctr"/>
                </a:tc>
                <a:extLst>
                  <a:ext uri="{0D108BD9-81ED-4DB2-BD59-A6C34878D82A}">
                    <a16:rowId xmlns:a16="http://schemas.microsoft.com/office/drawing/2014/main" val="2512632214"/>
                  </a:ext>
                </a:extLst>
              </a:tr>
              <a:tr h="43053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AS24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يكون التطبيق قابلاً للتخصيص من قبل المستخدمين لضمان ملاءمته لاحتياجاتهم المختلفة.</a:t>
                      </a:r>
                    </a:p>
                  </a:txBody>
                  <a:tcPr marL="3810" marR="3810" marT="3810" marB="0" anchor="ctr"/>
                </a:tc>
                <a:extLst>
                  <a:ext uri="{0D108BD9-81ED-4DB2-BD59-A6C34878D82A}">
                    <a16:rowId xmlns:a16="http://schemas.microsoft.com/office/drawing/2014/main" val="4193838665"/>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أدوات لتصفية المحتوى غير المرغوب فيه أو الضار لضمان تجربة مستخدم آمنة.</a:t>
                      </a:r>
                    </a:p>
                  </a:txBody>
                  <a:tcPr marL="3810" marR="3810" marT="3810" marB="0" anchor="ctr"/>
                </a:tc>
                <a:extLst>
                  <a:ext uri="{0D108BD9-81ED-4DB2-BD59-A6C34878D82A}">
                    <a16:rowId xmlns:a16="http://schemas.microsoft.com/office/drawing/2014/main" val="3456641915"/>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يكون هناك خطة استعادة للبيانات لضمان استمرارية الخدمة في حالة حدوث أي فشل في النظام.</a:t>
                      </a:r>
                    </a:p>
                  </a:txBody>
                  <a:tcPr marL="3810" marR="3810" marT="3810" marB="0" anchor="ctr"/>
                </a:tc>
                <a:extLst>
                  <a:ext uri="{0D108BD9-81ED-4DB2-BD59-A6C34878D82A}">
                    <a16:rowId xmlns:a16="http://schemas.microsoft.com/office/drawing/2014/main" val="761637634"/>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يدعم التطبيق المصادقة المتعددة العوامل لتعزيز أمان حسابات المستخدمين.</a:t>
                      </a:r>
                    </a:p>
                  </a:txBody>
                  <a:tcPr marL="3810" marR="3810" marT="3810" marB="0" anchor="ctr"/>
                </a:tc>
                <a:extLst>
                  <a:ext uri="{0D108BD9-81ED-4DB2-BD59-A6C34878D82A}">
                    <a16:rowId xmlns:a16="http://schemas.microsoft.com/office/drawing/2014/main" val="1472548560"/>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توفير تحديثات أمنية منتظمة للتطبيق لضمان الحماية من الثغرات الأمنية الجديدة.</a:t>
                      </a:r>
                    </a:p>
                  </a:txBody>
                  <a:tcPr marL="3810" marR="3810" marT="3810" marB="0" anchor="ctr"/>
                </a:tc>
                <a:extLst>
                  <a:ext uri="{0D108BD9-81ED-4DB2-BD59-A6C34878D82A}">
                    <a16:rowId xmlns:a16="http://schemas.microsoft.com/office/drawing/2014/main" val="399687734"/>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AS29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إدارة الجلسات بطريقة تمنع اختراق الجلسات وتأمينها باستخدام الرموز المميزة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Token</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للجلسة.</a:t>
                      </a:r>
                    </a:p>
                  </a:txBody>
                  <a:tcPr marL="3810" marR="3810" marT="3810" marB="0" anchor="ctr"/>
                </a:tc>
                <a:extLst>
                  <a:ext uri="{0D108BD9-81ED-4DB2-BD59-A6C34878D82A}">
                    <a16:rowId xmlns:a16="http://schemas.microsoft.com/office/drawing/2014/main" val="1821309394"/>
                  </a:ext>
                </a:extLst>
              </a:tr>
              <a:tr h="43053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AS30</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يتضمن التطبيق أدوات لتحليل سلوك المستخدم لتحديد الأنماط غير العادية التي قد تشير إلى نشاط ضار.</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3438996207"/>
              </p:ext>
            </p:extLst>
          </p:nvPr>
        </p:nvGraphicFramePr>
        <p:xfrm>
          <a:off x="511629" y="1084010"/>
          <a:ext cx="5551715" cy="4998088"/>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5004">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29003">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AS31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يدعم التطبيق إدارة ومعالجة البيانات الضخمة بشكل فعال لضمان استجابة سريعة.</a:t>
                      </a:r>
                    </a:p>
                  </a:txBody>
                  <a:tcPr marL="3810" marR="3810" marT="3810" marB="0" anchor="ctr"/>
                </a:tc>
                <a:extLst>
                  <a:ext uri="{0D108BD9-81ED-4DB2-BD59-A6C34878D82A}">
                    <a16:rowId xmlns:a16="http://schemas.microsoft.com/office/drawing/2014/main" val="2489963446"/>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يكون هناك آليات لضمان النزاهة وعدم التلاعب بالبيانات المخزنة في النظام.</a:t>
                      </a:r>
                    </a:p>
                  </a:txBody>
                  <a:tcPr marL="3810" marR="3810" marT="3810" marB="0" anchor="ctr"/>
                </a:tc>
                <a:extLst>
                  <a:ext uri="{0D108BD9-81ED-4DB2-BD59-A6C34878D82A}">
                    <a16:rowId xmlns:a16="http://schemas.microsoft.com/office/drawing/2014/main" val="665810392"/>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إجراء اختبارات أمان دورية للتطبيق للتحقق من عدم وجود ثغرات.</a:t>
                      </a:r>
                    </a:p>
                  </a:txBody>
                  <a:tcPr marL="3810" marR="3810" marT="3810" marB="0" anchor="ctr"/>
                </a:tc>
                <a:extLst>
                  <a:ext uri="{0D108BD9-81ED-4DB2-BD59-A6C34878D82A}">
                    <a16:rowId xmlns:a16="http://schemas.microsoft.com/office/drawing/2014/main" val="2512632214"/>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يدعم التطبيق النسخ المختلفة من نفسه للتوافق مع تحديثات النظام.</a:t>
                      </a:r>
                    </a:p>
                  </a:txBody>
                  <a:tcPr marL="3810" marR="3810" marT="3810" marB="0" anchor="ctr"/>
                </a:tc>
                <a:extLst>
                  <a:ext uri="{0D108BD9-81ED-4DB2-BD59-A6C34878D82A}">
                    <a16:rowId xmlns:a16="http://schemas.microsoft.com/office/drawing/2014/main" val="4193838665"/>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يدعم التطبيق التحديثات التلقائية لضمان التحديث المستمر دون تدخل المستخدم.</a:t>
                      </a:r>
                    </a:p>
                  </a:txBody>
                  <a:tcPr marL="3810" marR="3810" marT="3810" marB="0" anchor="ctr"/>
                </a:tc>
                <a:extLst>
                  <a:ext uri="{0D108BD9-81ED-4DB2-BD59-A6C34878D82A}">
                    <a16:rowId xmlns:a16="http://schemas.microsoft.com/office/drawing/2014/main" val="3456641915"/>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يدعم التطبيق تقنيات البث الحي لضمان توفير محتوى مباشر عالي الجودة.</a:t>
                      </a:r>
                    </a:p>
                  </a:txBody>
                  <a:tcPr marL="3810" marR="3810" marT="3810" marB="0" anchor="ctr"/>
                </a:tc>
                <a:extLst>
                  <a:ext uri="{0D108BD9-81ED-4DB2-BD59-A6C34878D82A}">
                    <a16:rowId xmlns:a16="http://schemas.microsoft.com/office/drawing/2014/main" val="761637634"/>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يدعم التطبيق تقنية تسجيل الدخول الموحد لتمكين المستخدمين من الدخول بسهولة عبر أنظمة مختلفة.</a:t>
                      </a:r>
                    </a:p>
                  </a:txBody>
                  <a:tcPr marL="3810" marR="3810" marT="3810" marB="0" anchor="ctr"/>
                </a:tc>
                <a:extLst>
                  <a:ext uri="{0D108BD9-81ED-4DB2-BD59-A6C34878D82A}">
                    <a16:rowId xmlns:a16="http://schemas.microsoft.com/office/drawing/2014/main" val="1472548560"/>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AS38</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 مراقبة أداء التطبيق بشكل آلي ومستمر لتحديد أي مشاكل ومعالجتها فوراً.</a:t>
                      </a:r>
                    </a:p>
                  </a:txBody>
                  <a:tcPr marL="3810" marR="3810" marT="3810" marB="0" anchor="ctr"/>
                </a:tc>
                <a:extLst>
                  <a:ext uri="{0D108BD9-81ED-4DB2-BD59-A6C34878D82A}">
                    <a16:rowId xmlns:a16="http://schemas.microsoft.com/office/drawing/2014/main" val="399687734"/>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AS39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تحسين تقنيات التخزين المؤقت لضمان استجابة سريعة للتطبيق.</a:t>
                      </a:r>
                    </a:p>
                  </a:txBody>
                  <a:tcPr marL="3810" marR="3810" marT="3810" marB="0" anchor="ctr"/>
                </a:tc>
                <a:extLst>
                  <a:ext uri="{0D108BD9-81ED-4DB2-BD59-A6C34878D82A}">
                    <a16:rowId xmlns:a16="http://schemas.microsoft.com/office/drawing/2014/main" val="1821309394"/>
                  </a:ext>
                </a:extLst>
              </a:tr>
              <a:tr h="429003">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AS40</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يوفر التطبيق تجربة مستخدم متسقة عبر جميع الأنظمة الأساسية لضمان الراحة وسهولة الاستخدام.</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2220560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التطبيقات</a:t>
            </a:r>
            <a:r>
              <a:rPr lang="en-US" dirty="0"/>
              <a:t> (5 / 3)</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40</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173756405"/>
              </p:ext>
            </p:extLst>
          </p:nvPr>
        </p:nvGraphicFramePr>
        <p:xfrm>
          <a:off x="6128658" y="1134810"/>
          <a:ext cx="5551715" cy="4874105"/>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87935">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18617">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AS41</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ضغط الصور وتقليل حجمها لضمان سرعة التحميل.</a:t>
                      </a:r>
                    </a:p>
                  </a:txBody>
                  <a:tcPr marL="3810" marR="3810" marT="3810" marB="0" anchor="ctr"/>
                </a:tc>
                <a:extLst>
                  <a:ext uri="{0D108BD9-81ED-4DB2-BD59-A6C34878D82A}">
                    <a16:rowId xmlns:a16="http://schemas.microsoft.com/office/drawing/2014/main" val="2489963446"/>
                  </a:ext>
                </a:extLst>
              </a:tr>
              <a:tr h="418617">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AS42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إدارة الجلسات بشكل آمن وتحديد مدة صلاحية قصيرة.</a:t>
                      </a:r>
                    </a:p>
                  </a:txBody>
                  <a:tcPr marL="3810" marR="3810" marT="3810" marB="0" anchor="ctr"/>
                </a:tc>
                <a:extLst>
                  <a:ext uri="{0D108BD9-81ED-4DB2-BD59-A6C34878D82A}">
                    <a16:rowId xmlns:a16="http://schemas.microsoft.com/office/drawing/2014/main" val="665810392"/>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AS43</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تسجيل جميع الأنشطة الهامة بشكل آلي وآمن ومراقبتها.</a:t>
                      </a:r>
                    </a:p>
                  </a:txBody>
                  <a:tcPr marL="3810" marR="3810" marT="3810" marB="0" anchor="ctr"/>
                </a:tc>
                <a:extLst>
                  <a:ext uri="{0D108BD9-81ED-4DB2-BD59-A6C34878D82A}">
                    <a16:rowId xmlns:a16="http://schemas.microsoft.com/office/drawing/2014/main" val="251263221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AS44</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توثيق الكود بشكل جيد لتسهيل الصيانة والتطوير المستقبلي.</a:t>
                      </a:r>
                    </a:p>
                  </a:txBody>
                  <a:tcPr marL="3810" marR="3810" marT="3810" marB="0" anchor="ctr"/>
                </a:tc>
                <a:extLst>
                  <a:ext uri="{0D108BD9-81ED-4DB2-BD59-A6C34878D82A}">
                    <a16:rowId xmlns:a16="http://schemas.microsoft.com/office/drawing/2014/main" val="4193838665"/>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AS45</a:t>
                      </a:r>
                    </a:p>
                  </a:txBody>
                  <a:tcPr marL="3810" marR="3810" marT="3810" marB="0" anchor="ctr"/>
                </a:tc>
                <a:tc>
                  <a:txBody>
                    <a:bodyPr/>
                    <a:lstStyle/>
                    <a:p>
                      <a:pPr algn="r" rtl="1" fontAlgn="ctr"/>
                      <a:r>
                        <a:rPr lang="ar-SA" sz="1400" b="0" i="0" u="none" strike="noStrike" dirty="0">
                          <a:solidFill>
                            <a:srgbClr val="000000"/>
                          </a:solidFill>
                          <a:effectLst/>
                          <a:latin typeface="+mj-lt"/>
                        </a:rPr>
                        <a:t>تنفيذ اختبارات الوحدة لضمان عمل كل وحدة برمجية بشكل صحيح.</a:t>
                      </a:r>
                    </a:p>
                  </a:txBody>
                  <a:tcPr marL="3810" marR="3810" marT="3810" marB="0" anchor="ctr"/>
                </a:tc>
                <a:extLst>
                  <a:ext uri="{0D108BD9-81ED-4DB2-BD59-A6C34878D82A}">
                    <a16:rowId xmlns:a16="http://schemas.microsoft.com/office/drawing/2014/main" val="3456641915"/>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AS46</a:t>
                      </a:r>
                    </a:p>
                  </a:txBody>
                  <a:tcPr marL="3810" marR="3810" marT="3810" marB="0" anchor="ctr"/>
                </a:tc>
                <a:tc>
                  <a:txBody>
                    <a:bodyPr/>
                    <a:lstStyle/>
                    <a:p>
                      <a:pPr algn="r" rtl="1" fontAlgn="ctr"/>
                      <a:r>
                        <a:rPr lang="ar-SA" sz="1400" b="0" i="0" u="none" strike="noStrike" dirty="0">
                          <a:solidFill>
                            <a:srgbClr val="000000"/>
                          </a:solidFill>
                          <a:effectLst/>
                          <a:latin typeface="+mj-lt"/>
                        </a:rPr>
                        <a:t>استخدام نظام إدارة النسخ</a:t>
                      </a:r>
                      <a:r>
                        <a:rPr lang="ar-EG" sz="1400" b="0" i="0" u="none" strike="noStrike" dirty="0">
                          <a:solidFill>
                            <a:srgbClr val="000000"/>
                          </a:solidFill>
                          <a:effectLst/>
                          <a:latin typeface="+mj-lt"/>
                        </a:rPr>
                        <a:t> </a:t>
                      </a:r>
                      <a:r>
                        <a:rPr lang="ar-SA" sz="1400" b="0" i="0" u="none" strike="noStrike" dirty="0">
                          <a:solidFill>
                            <a:srgbClr val="000000"/>
                          </a:solidFill>
                          <a:effectLst/>
                          <a:latin typeface="+mj-lt"/>
                        </a:rPr>
                        <a:t>مثل</a:t>
                      </a:r>
                      <a:r>
                        <a:rPr lang="ar-EG" sz="1400" b="0" i="0" u="none" strike="noStrike" dirty="0">
                          <a:solidFill>
                            <a:srgbClr val="000000"/>
                          </a:solidFill>
                          <a:effectLst/>
                          <a:latin typeface="+mj-lt"/>
                        </a:rPr>
                        <a:t> (</a:t>
                      </a:r>
                      <a:r>
                        <a:rPr lang="en-US" sz="1400" b="0" i="0" u="none" strike="noStrike" dirty="0">
                          <a:solidFill>
                            <a:srgbClr val="000000"/>
                          </a:solidFill>
                          <a:effectLst/>
                          <a:latin typeface="+mj-lt"/>
                        </a:rPr>
                        <a:t>Git</a:t>
                      </a:r>
                      <a:r>
                        <a:rPr lang="ar-EG" sz="1400" b="0" i="0" u="none" strike="noStrike" dirty="0">
                          <a:solidFill>
                            <a:srgbClr val="000000"/>
                          </a:solidFill>
                          <a:effectLst/>
                          <a:latin typeface="+mj-lt"/>
                        </a:rPr>
                        <a:t>) </a:t>
                      </a:r>
                      <a:r>
                        <a:rPr lang="ar-SA" sz="1400" b="0" i="0" u="none" strike="noStrike" dirty="0">
                          <a:solidFill>
                            <a:srgbClr val="000000"/>
                          </a:solidFill>
                          <a:effectLst/>
                          <a:latin typeface="+mj-lt"/>
                        </a:rPr>
                        <a:t>لضمان إدارة التغييرات بكفاءة.</a:t>
                      </a:r>
                    </a:p>
                  </a:txBody>
                  <a:tcPr marL="3810" marR="3810" marT="3810" marB="0" anchor="ctr"/>
                </a:tc>
                <a:extLst>
                  <a:ext uri="{0D108BD9-81ED-4DB2-BD59-A6C34878D82A}">
                    <a16:rowId xmlns:a16="http://schemas.microsoft.com/office/drawing/2014/main" val="76163763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AS47</a:t>
                      </a:r>
                    </a:p>
                  </a:txBody>
                  <a:tcPr marL="3810" marR="3810" marT="3810" marB="0" anchor="ctr"/>
                </a:tc>
                <a:tc>
                  <a:txBody>
                    <a:bodyPr/>
                    <a:lstStyle/>
                    <a:p>
                      <a:pPr algn="r" rtl="1" fontAlgn="ctr"/>
                      <a:r>
                        <a:rPr lang="ar-SA" sz="1400" b="0" i="0" u="none" strike="noStrike" dirty="0">
                          <a:solidFill>
                            <a:srgbClr val="000000"/>
                          </a:solidFill>
                          <a:effectLst/>
                          <a:latin typeface="+mj-lt"/>
                        </a:rPr>
                        <a:t>اعتماد منهجية </a:t>
                      </a:r>
                      <a:r>
                        <a:rPr lang="en-US" sz="1400" b="0" i="0" u="none" strike="noStrike" dirty="0">
                          <a:solidFill>
                            <a:srgbClr val="000000"/>
                          </a:solidFill>
                          <a:effectLst/>
                          <a:latin typeface="+mj-lt"/>
                        </a:rPr>
                        <a:t>CI/CD</a:t>
                      </a:r>
                      <a:r>
                        <a:rPr lang="ar-EG" sz="1400" b="0" i="0" u="none" strike="noStrike" dirty="0">
                          <a:solidFill>
                            <a:srgbClr val="000000"/>
                          </a:solidFill>
                          <a:effectLst/>
                          <a:latin typeface="+mj-lt"/>
                        </a:rPr>
                        <a:t> </a:t>
                      </a:r>
                      <a:r>
                        <a:rPr lang="ar-SA" sz="1400" b="0" i="0" u="none" strike="noStrike" dirty="0">
                          <a:solidFill>
                            <a:srgbClr val="000000"/>
                          </a:solidFill>
                          <a:effectLst/>
                          <a:latin typeface="+mj-lt"/>
                        </a:rPr>
                        <a:t>لتسريع وتيرة التطوير والتحديث.</a:t>
                      </a:r>
                    </a:p>
                  </a:txBody>
                  <a:tcPr marL="3810" marR="3810" marT="3810" marB="0" anchor="ctr"/>
                </a:tc>
                <a:extLst>
                  <a:ext uri="{0D108BD9-81ED-4DB2-BD59-A6C34878D82A}">
                    <a16:rowId xmlns:a16="http://schemas.microsoft.com/office/drawing/2014/main" val="1472548560"/>
                  </a:ext>
                </a:extLst>
              </a:tr>
              <a:tr h="418617">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AS48</a:t>
                      </a:r>
                    </a:p>
                  </a:txBody>
                  <a:tcPr marL="3810" marR="3810" marT="3810" marB="0" anchor="ctr"/>
                </a:tc>
                <a:tc>
                  <a:txBody>
                    <a:bodyPr/>
                    <a:lstStyle/>
                    <a:p>
                      <a:pPr algn="r" rtl="1" fontAlgn="ctr"/>
                      <a:r>
                        <a:rPr lang="ar-SA" sz="1400" b="0" i="0" u="none" strike="noStrike" dirty="0">
                          <a:solidFill>
                            <a:srgbClr val="000000"/>
                          </a:solidFill>
                          <a:effectLst/>
                          <a:latin typeface="+mj-lt"/>
                        </a:rPr>
                        <a:t>يدعم التطبيق آليات التحسين المستمر لضمان جودة التطبيق.</a:t>
                      </a:r>
                    </a:p>
                  </a:txBody>
                  <a:tcPr marL="3810" marR="3810" marT="3810" marB="0" anchor="ctr"/>
                </a:tc>
                <a:extLst>
                  <a:ext uri="{0D108BD9-81ED-4DB2-BD59-A6C34878D82A}">
                    <a16:rowId xmlns:a16="http://schemas.microsoft.com/office/drawing/2014/main" val="39968773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AS49</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kern="1200" dirty="0">
                          <a:solidFill>
                            <a:srgbClr val="000000"/>
                          </a:solidFill>
                          <a:effectLst/>
                          <a:latin typeface="+mn-lt"/>
                          <a:ea typeface="+mn-ea"/>
                          <a:cs typeface="+mn-cs"/>
                        </a:rPr>
                        <a:t>يكون التطبيق سهل الاستخدام ومبسطًا قدر الإمكان.</a:t>
                      </a:r>
                    </a:p>
                  </a:txBody>
                  <a:tcPr marL="3810" marR="3810" marT="3810" marB="0" anchor="ctr"/>
                </a:tc>
                <a:extLst>
                  <a:ext uri="{0D108BD9-81ED-4DB2-BD59-A6C34878D82A}">
                    <a16:rowId xmlns:a16="http://schemas.microsoft.com/office/drawing/2014/main" val="182130939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AS50</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kern="1200" dirty="0">
                          <a:solidFill>
                            <a:srgbClr val="000000"/>
                          </a:solidFill>
                          <a:effectLst/>
                          <a:latin typeface="+mn-lt"/>
                          <a:ea typeface="+mn-ea"/>
                          <a:cs typeface="+mn-cs"/>
                        </a:rPr>
                        <a:t>يقدم التطبيق ردود فعل مرئية فورية عند تفاعل المستخدمين معه.</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1503360708"/>
              </p:ext>
            </p:extLst>
          </p:nvPr>
        </p:nvGraphicFramePr>
        <p:xfrm>
          <a:off x="511629" y="1134810"/>
          <a:ext cx="5551715" cy="4874103"/>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7513">
                <a:tc>
                  <a:txBody>
                    <a:bodyPr/>
                    <a:lstStyle/>
                    <a:p>
                      <a:pPr algn="ctr" rtl="1" fontAlgn="ctr"/>
                      <a:r>
                        <a:rPr lang="ar-SA" sz="2000" u="none" strike="noStrike" dirty="0">
                          <a:effectLst/>
                        </a:rPr>
                        <a:t>رمز المعيار</a:t>
                      </a:r>
                      <a:endParaRPr lang="ar-SA" sz="2000" b="1" i="0" u="none" strike="noStrike" dirty="0">
                        <a:solidFill>
                          <a:srgbClr val="FFFFFF"/>
                        </a:solidFill>
                        <a:effectLst/>
                        <a:latin typeface="Calibri" panose="020F0502020204030204" pitchFamily="34" charset="0"/>
                      </a:endParaRPr>
                    </a:p>
                  </a:txBody>
                  <a:tcPr marL="4311" marR="4311" marT="4311" marB="0" anchor="ctr"/>
                </a:tc>
                <a:tc>
                  <a:txBody>
                    <a:bodyPr/>
                    <a:lstStyle/>
                    <a:p>
                      <a:pPr algn="ctr" rtl="1" fontAlgn="ctr"/>
                      <a:r>
                        <a:rPr lang="ar-SA" sz="2000" u="none" strike="noStrike" dirty="0">
                          <a:effectLst/>
                        </a:rPr>
                        <a:t>وصف المعيار</a:t>
                      </a:r>
                      <a:endParaRPr lang="ar-SA" sz="2000" b="1" i="0" u="none" strike="noStrike" dirty="0">
                        <a:solidFill>
                          <a:srgbClr val="FFFFFF"/>
                        </a:solidFill>
                        <a:effectLst/>
                        <a:latin typeface="Calibri" panose="020F0502020204030204" pitchFamily="34" charset="0"/>
                      </a:endParaRP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1400" b="1" i="0" u="none" strike="noStrike" dirty="0">
                          <a:solidFill>
                            <a:srgbClr val="000000"/>
                          </a:solidFill>
                          <a:effectLst/>
                          <a:latin typeface="+mj-lt"/>
                        </a:rPr>
                        <a:t>AS51</a:t>
                      </a:r>
                    </a:p>
                  </a:txBody>
                  <a:tcPr marL="3810" marR="3810" marT="3810" marB="0" anchor="ctr"/>
                </a:tc>
                <a:tc>
                  <a:txBody>
                    <a:bodyPr/>
                    <a:lstStyle/>
                    <a:p>
                      <a:pPr algn="r" rtl="1" fontAlgn="ctr"/>
                      <a:r>
                        <a:rPr lang="ar-SA" sz="1400" b="0" i="0" u="none" strike="noStrike" dirty="0">
                          <a:solidFill>
                            <a:srgbClr val="000000"/>
                          </a:solidFill>
                          <a:effectLst/>
                          <a:latin typeface="+mj-lt"/>
                        </a:rPr>
                        <a:t>دمج أدوات تحليل سلوك المستخدم لفهم كيفية تفاعل المستخدمين مع التطبيق.</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1400" b="1" i="0" u="none" strike="noStrike" dirty="0">
                          <a:solidFill>
                            <a:srgbClr val="000000"/>
                          </a:solidFill>
                          <a:effectLst/>
                          <a:latin typeface="+mj-lt"/>
                        </a:rPr>
                        <a:t>AS52</a:t>
                      </a:r>
                    </a:p>
                  </a:txBody>
                  <a:tcPr marL="3810" marR="3810" marT="3810" marB="0" anchor="ctr"/>
                </a:tc>
                <a:tc>
                  <a:txBody>
                    <a:bodyPr/>
                    <a:lstStyle/>
                    <a:p>
                      <a:pPr algn="r" rtl="1" fontAlgn="ctr"/>
                      <a:r>
                        <a:rPr lang="ar-SA" sz="1400" b="0" i="0" u="none" strike="noStrike" dirty="0">
                          <a:solidFill>
                            <a:srgbClr val="000000"/>
                          </a:solidFill>
                          <a:effectLst/>
                          <a:latin typeface="+mj-lt"/>
                        </a:rPr>
                        <a:t>يدعم التطبيق إرسال إشعارات فورية للمستخدمين عند الحاجة.</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1400" b="1" i="0" u="none" strike="noStrike" dirty="0">
                          <a:solidFill>
                            <a:srgbClr val="000000"/>
                          </a:solidFill>
                          <a:effectLst/>
                          <a:latin typeface="+mj-lt"/>
                        </a:rPr>
                        <a:t>AS53</a:t>
                      </a:r>
                    </a:p>
                  </a:txBody>
                  <a:tcPr marL="3810" marR="3810" marT="3810" marB="0" anchor="ctr"/>
                </a:tc>
                <a:tc>
                  <a:txBody>
                    <a:bodyPr/>
                    <a:lstStyle/>
                    <a:p>
                      <a:pPr algn="r" rtl="1" fontAlgn="ctr"/>
                      <a:r>
                        <a:rPr lang="ar-SA" sz="1400" b="0" i="0" u="none" strike="noStrike" dirty="0">
                          <a:solidFill>
                            <a:srgbClr val="000000"/>
                          </a:solidFill>
                          <a:effectLst/>
                          <a:latin typeface="+mj-lt"/>
                        </a:rPr>
                        <a:t>يتضمن التطبيق دليلًا أو تعليمات واضحة للمستخدمين الجدد.</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1400" b="1" i="0" u="none" strike="noStrike" dirty="0">
                          <a:solidFill>
                            <a:srgbClr val="000000"/>
                          </a:solidFill>
                          <a:effectLst/>
                          <a:latin typeface="+mj-lt"/>
                        </a:rPr>
                        <a:t>AS54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التطبيق وظائف بحث متقدمة لتمكين المستخدمين من العثور على المحتوى بسهولة.</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1400" b="1" i="0" u="none" strike="noStrike" dirty="0">
                          <a:solidFill>
                            <a:srgbClr val="000000"/>
                          </a:solidFill>
                          <a:effectLst/>
                          <a:latin typeface="+mj-lt"/>
                        </a:rPr>
                        <a:t>AS55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التفاعل الصوتي مثل التحكم بالأوامر الصوتية.</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1400" b="1" i="0" u="none" strike="noStrike" dirty="0">
                          <a:solidFill>
                            <a:srgbClr val="000000"/>
                          </a:solidFill>
                          <a:effectLst/>
                          <a:latin typeface="+mj-lt"/>
                        </a:rPr>
                        <a:t>AS56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يكون التطبيق قادراً على التعامل مع عدد كبير من المستخدمين في وقت واحد دون تدهور الأداء.</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1400" b="1" i="0" u="none" strike="noStrike" dirty="0">
                          <a:solidFill>
                            <a:srgbClr val="000000"/>
                          </a:solidFill>
                          <a:effectLst/>
                          <a:latin typeface="+mj-lt"/>
                        </a:rPr>
                        <a:t>AS57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استخدام قواعد البيانات المؤقتة لتحسين أداء استرجاع البيانات.</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1400" b="1" i="0" u="none" strike="noStrike" dirty="0">
                          <a:solidFill>
                            <a:srgbClr val="000000"/>
                          </a:solidFill>
                          <a:effectLst/>
                          <a:latin typeface="+mj-lt"/>
                        </a:rPr>
                        <a:t>AS58</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توزيع الأحمال لضمان الأداء المستقر.</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en-US" sz="1400" b="1" i="0" u="none" strike="noStrike" dirty="0">
                          <a:solidFill>
                            <a:srgbClr val="000000"/>
                          </a:solidFill>
                          <a:effectLst/>
                          <a:latin typeface="+mj-lt"/>
                        </a:rPr>
                        <a:t>AS59</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تنفيذ اختبارات اختراق دورية للتطبيق للتحقق من نقاط الضعف.</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en-US" sz="1400" b="1" i="0" u="none" strike="noStrike" dirty="0">
                          <a:solidFill>
                            <a:srgbClr val="000000"/>
                          </a:solidFill>
                          <a:effectLst/>
                          <a:latin typeface="+mj-lt"/>
                        </a:rPr>
                        <a:t>AS60</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تنفيذ نسخ احتياطية بشكل منتظم لضمان استعادة البيانات في حال الفشل.</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33487632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التطبيقات</a:t>
            </a:r>
            <a:r>
              <a:rPr lang="en-US" dirty="0"/>
              <a:t> (5 / 4)</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41</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517206981"/>
              </p:ext>
            </p:extLst>
          </p:nvPr>
        </p:nvGraphicFramePr>
        <p:xfrm>
          <a:off x="6128658" y="1134810"/>
          <a:ext cx="5551715" cy="4887974"/>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707513">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AS61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يراعي التطبيق استهلاك الطاقة والموارد بطريقة فعالة وصديقة للبيئة.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التوسع في البنية التحتية باستخدام تقنيات الحوسبة السحابية.</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يلتزم التطبيق بجميع القوانين المحلية والدولية المتعلقة بالخصوصية وحماية البيانات.</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التطبيق نظامًا للحصول على موافقة المستخدمين على جمع البيانات واستخدامها.</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التطبيق آليات لحماية خصوصية المستخدمين وضمان عدم استخدام بياناتهم بشكل غير مصرح به.</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يحتوي التطبيق على آليات لاكتشاف ومنع الاحتيال.</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تدقيق أمان التطبيق بشكل دوري لضمان الامتثال لأفضل الممارسات.</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يتوافق التطبيق مع المعايير الصناعة المتعلقة بالأمان مثل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PCI DSS</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4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AS69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يحترم التطبيق حقوق الملكية الفكرية ويتجنب استخدام محتوى محمي بدون تصريح.</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AS70</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يقدم التطبيق تقارير منتظمة </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آلية</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 حول مدى الامتثال للمعايير القانونية والتنظيمية.</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3401964987"/>
              </p:ext>
            </p:extLst>
          </p:nvPr>
        </p:nvGraphicFramePr>
        <p:xfrm>
          <a:off x="511629" y="1134810"/>
          <a:ext cx="5551715" cy="4874105"/>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87935">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18617">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AS71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يتبع التطبيق معايير الأرشفة الرقمية لضمان حفظ البيانات على المدى الطويل.</a:t>
                      </a:r>
                    </a:p>
                  </a:txBody>
                  <a:tcPr marL="3810" marR="3810" marT="3810" marB="0" anchor="ctr"/>
                </a:tc>
                <a:extLst>
                  <a:ext uri="{0D108BD9-81ED-4DB2-BD59-A6C34878D82A}">
                    <a16:rowId xmlns:a16="http://schemas.microsoft.com/office/drawing/2014/main" val="2489963446"/>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يلتزم التطبيق بأحدث معايير الأمان السيبراني لحماية البنية التحتية الرقمية.</a:t>
                      </a:r>
                    </a:p>
                  </a:txBody>
                  <a:tcPr marL="3810" marR="3810" marT="3810" marB="0" anchor="ctr"/>
                </a:tc>
                <a:extLst>
                  <a:ext uri="{0D108BD9-81ED-4DB2-BD59-A6C34878D82A}">
                    <a16:rowId xmlns:a16="http://schemas.microsoft.com/office/drawing/2014/main" val="665810392"/>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يتضمن التطبيق آلية لإدارة الشهادات الرقمية لضمان أمان الاتصالات.</a:t>
                      </a:r>
                    </a:p>
                  </a:txBody>
                  <a:tcPr marL="3810" marR="3810" marT="3810" marB="0" anchor="ctr"/>
                </a:tc>
                <a:extLst>
                  <a:ext uri="{0D108BD9-81ED-4DB2-BD59-A6C34878D82A}">
                    <a16:rowId xmlns:a16="http://schemas.microsoft.com/office/drawing/2014/main" val="251263221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استخدام التوقيعات الرقمية والفحص الضوئي وفقًا للمعايير الدولية.</a:t>
                      </a:r>
                    </a:p>
                  </a:txBody>
                  <a:tcPr marL="3810" marR="3810" marT="3810" marB="0" anchor="ctr"/>
                </a:tc>
                <a:extLst>
                  <a:ext uri="{0D108BD9-81ED-4DB2-BD59-A6C34878D82A}">
                    <a16:rowId xmlns:a16="http://schemas.microsoft.com/office/drawing/2014/main" val="4193838665"/>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يحتوي التطبيق على نظام قوي للتحقق من هوية المستخدمين.</a:t>
                      </a:r>
                    </a:p>
                  </a:txBody>
                  <a:tcPr marL="3810" marR="3810" marT="3810" marB="0" anchor="ctr"/>
                </a:tc>
                <a:extLst>
                  <a:ext uri="{0D108BD9-81ED-4DB2-BD59-A6C34878D82A}">
                    <a16:rowId xmlns:a16="http://schemas.microsoft.com/office/drawing/2014/main" val="3456641915"/>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إدارة البيانات بطريقة لامركزية لضمان الأمان والمرونة.</a:t>
                      </a:r>
                    </a:p>
                  </a:txBody>
                  <a:tcPr marL="3810" marR="3810" marT="3810" marB="0" anchor="ctr"/>
                </a:tc>
                <a:extLst>
                  <a:ext uri="{0D108BD9-81ED-4DB2-BD59-A6C34878D82A}">
                    <a16:rowId xmlns:a16="http://schemas.microsoft.com/office/drawing/2014/main" val="76163763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يحتوي التطبيق على نظام فعال لإدارة الحوادث والاستجابة للأزمات الرقمية.</a:t>
                      </a:r>
                    </a:p>
                  </a:txBody>
                  <a:tcPr marL="3810" marR="3810" marT="3810" marB="0" anchor="ctr"/>
                </a:tc>
                <a:extLst>
                  <a:ext uri="{0D108BD9-81ED-4DB2-BD59-A6C34878D82A}">
                    <a16:rowId xmlns:a16="http://schemas.microsoft.com/office/drawing/2014/main" val="1472548560"/>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AS78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يحتوي التطبيق على خطة لاستمرارية العمل وضمان استعادة البيانات في حال حدوث كوارث.</a:t>
                      </a:r>
                    </a:p>
                  </a:txBody>
                  <a:tcPr marL="3810" marR="3810" marT="3810" marB="0" anchor="ctr"/>
                </a:tc>
                <a:extLst>
                  <a:ext uri="{0D108BD9-81ED-4DB2-BD59-A6C34878D82A}">
                    <a16:rowId xmlns:a16="http://schemas.microsoft.com/office/drawing/2014/main" val="399687734"/>
                  </a:ext>
                </a:extLst>
              </a:tr>
              <a:tr h="418617">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AS79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استخدام الروبوتات البرمجية لأتمتة العمليات المتكررة.</a:t>
                      </a:r>
                    </a:p>
                  </a:txBody>
                  <a:tcPr marL="3810" marR="3810" marT="3810" marB="0" anchor="ctr"/>
                </a:tc>
                <a:extLst>
                  <a:ext uri="{0D108BD9-81ED-4DB2-BD59-A6C34878D82A}">
                    <a16:rowId xmlns:a16="http://schemas.microsoft.com/office/drawing/2014/main" val="1821309394"/>
                  </a:ext>
                </a:extLst>
              </a:tr>
              <a:tr h="418617">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AS80</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مراقبة أداء التطبيق بشكل فوري لاكتشاف المشاكل ومعالجتها فورًا.</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28295237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التطبيقات</a:t>
            </a:r>
            <a:r>
              <a:rPr lang="en-US" dirty="0"/>
              <a:t> (5 / 5)</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42</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357946298"/>
              </p:ext>
            </p:extLst>
          </p:nvPr>
        </p:nvGraphicFramePr>
        <p:xfrm>
          <a:off x="6128658" y="1134811"/>
          <a:ext cx="5551715" cy="492091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91851">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2100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AS81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إدارة عمليات التدقيق الداخلي لضمان الامتثال للمعايير.</a:t>
                      </a:r>
                    </a:p>
                  </a:txBody>
                  <a:tcPr marL="3810" marR="3810" marT="3810" marB="0" anchor="ctr"/>
                </a:tc>
                <a:extLst>
                  <a:ext uri="{0D108BD9-81ED-4DB2-BD59-A6C34878D82A}">
                    <a16:rowId xmlns:a16="http://schemas.microsoft.com/office/drawing/2014/main" val="2489963446"/>
                  </a:ext>
                </a:extLst>
              </a:tr>
              <a:tr h="42100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AS82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يوفر التطبيق آليات لإدارة ومراقبة المحتوى الذي ينشئه المستخدمون.</a:t>
                      </a:r>
                    </a:p>
                  </a:txBody>
                  <a:tcPr marL="3810" marR="3810" marT="3810" marB="0" anchor="ctr"/>
                </a:tc>
                <a:extLst>
                  <a:ext uri="{0D108BD9-81ED-4DB2-BD59-A6C34878D82A}">
                    <a16:rowId xmlns:a16="http://schemas.microsoft.com/office/drawing/2014/main" val="665810392"/>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يتضمن التطبيق أدوات لقياس وتحليل رضا العملاء بشكل دوري.</a:t>
                      </a:r>
                    </a:p>
                  </a:txBody>
                  <a:tcPr marL="3810" marR="3810" marT="3810" marB="0" anchor="ctr"/>
                </a:tc>
                <a:extLst>
                  <a:ext uri="{0D108BD9-81ED-4DB2-BD59-A6C34878D82A}">
                    <a16:rowId xmlns:a16="http://schemas.microsoft.com/office/drawing/2014/main" val="2512632214"/>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يتضمن التطبيق نظامًا لإدارة التقييمات والمراجعات، وجمع وتحليل التغذية الراجعة من المستخدمين لتحسين الخدمة.</a:t>
                      </a:r>
                    </a:p>
                  </a:txBody>
                  <a:tcPr marL="3810" marR="3810" marT="3810" marB="0" anchor="ctr"/>
                </a:tc>
                <a:extLst>
                  <a:ext uri="{0D108BD9-81ED-4DB2-BD59-A6C34878D82A}">
                    <a16:rowId xmlns:a16="http://schemas.microsoft.com/office/drawing/2014/main" val="4193838665"/>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يتضمن التطبيق آليات لتقديم الدعم الفني الفوري للمستخدمين.</a:t>
                      </a:r>
                    </a:p>
                  </a:txBody>
                  <a:tcPr marL="3810" marR="3810" marT="3810" marB="0" anchor="ctr"/>
                </a:tc>
                <a:extLst>
                  <a:ext uri="{0D108BD9-81ED-4DB2-BD59-A6C34878D82A}">
                    <a16:rowId xmlns:a16="http://schemas.microsoft.com/office/drawing/2014/main" val="3456641915"/>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التكامل مع تقنيات الذكاء الاصطناعي والتعلم الآلي لتحسين التفاعل مع المستخدمين وتحليل البيانات.</a:t>
                      </a:r>
                    </a:p>
                  </a:txBody>
                  <a:tcPr marL="3810" marR="3810" marT="3810" marB="0" anchor="ctr"/>
                </a:tc>
                <a:extLst>
                  <a:ext uri="{0D108BD9-81ED-4DB2-BD59-A6C34878D82A}">
                    <a16:rowId xmlns:a16="http://schemas.microsoft.com/office/drawing/2014/main" val="761637634"/>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يدعم التطبيق استخدام الوسائط المتعددة مثل الفيديو والصوت لتحسين تجربة المستخدم.</a:t>
                      </a:r>
                    </a:p>
                  </a:txBody>
                  <a:tcPr marL="3810" marR="3810" marT="3810" marB="0" anchor="ctr"/>
                </a:tc>
                <a:extLst>
                  <a:ext uri="{0D108BD9-81ED-4DB2-BD59-A6C34878D82A}">
                    <a16:rowId xmlns:a16="http://schemas.microsoft.com/office/drawing/2014/main" val="1472548560"/>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AS88</a:t>
                      </a:r>
                    </a:p>
                  </a:txBody>
                  <a:tcPr marL="3810" marR="3810" marT="3810" marB="0" anchor="ctr"/>
                </a:tc>
                <a:tc>
                  <a:txBody>
                    <a:bodyPr/>
                    <a:lstStyle/>
                    <a:p>
                      <a:pPr marL="0" algn="r" defTabSz="914400" rtl="1" eaLnBrk="1" fontAlgn="ctr" latinLnBrk="0" hangingPunct="1"/>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 يدعم التطبيق عمليات اختبار الجودة الآلية والمؤتمتة</a:t>
                      </a:r>
                    </a:p>
                  </a:txBody>
                  <a:tcPr marL="3810" marR="3810" marT="3810" marB="0" anchor="ctr"/>
                </a:tc>
                <a:extLst>
                  <a:ext uri="{0D108BD9-81ED-4DB2-BD59-A6C34878D82A}">
                    <a16:rowId xmlns:a16="http://schemas.microsoft.com/office/drawing/2014/main" val="399687734"/>
                  </a:ext>
                </a:extLst>
              </a:tr>
              <a:tr h="42100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AS89</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 حصر جميع الأخطاء المحتملة وإدارتها برسائل واضحة للمستخدم</a:t>
                      </a:r>
                    </a:p>
                  </a:txBody>
                  <a:tcPr marL="3810" marR="3810" marT="3810" marB="0" anchor="ctr"/>
                </a:tc>
                <a:extLst>
                  <a:ext uri="{0D108BD9-81ED-4DB2-BD59-A6C34878D82A}">
                    <a16:rowId xmlns:a16="http://schemas.microsoft.com/office/drawing/2014/main" val="1821309394"/>
                  </a:ext>
                </a:extLst>
              </a:tr>
              <a:tr h="421000">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AS90</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 توثيق جميع مراحل التطبيق وتحديث الوثيقة باستمرار </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722259918"/>
              </p:ext>
            </p:extLst>
          </p:nvPr>
        </p:nvGraphicFramePr>
        <p:xfrm>
          <a:off x="511629" y="1134810"/>
          <a:ext cx="5551715" cy="4901848"/>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93528">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20832">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AS91</a:t>
                      </a:r>
                    </a:p>
                  </a:txBody>
                  <a:tcPr marL="3810" marR="3810" marT="3810" marB="0" anchor="ctr"/>
                </a:tc>
                <a:tc>
                  <a:txBody>
                    <a:bodyPr/>
                    <a:lstStyle/>
                    <a:p>
                      <a:pPr marL="0" algn="r" defTabSz="914400" rtl="0" eaLnBrk="1" fontAlgn="ctr" latinLnBrk="0" hangingPunct="1"/>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أن يكون محتوى التطبيق يمكن إدراكه في حال لم تتم إضافة نص وذلك بإضافة أيقونات أو غيره </a:t>
                      </a:r>
                    </a:p>
                  </a:txBody>
                  <a:tcPr marL="3810" marR="3810" marT="3810" marB="0" anchor="ctr"/>
                </a:tc>
                <a:extLst>
                  <a:ext uri="{0D108BD9-81ED-4DB2-BD59-A6C34878D82A}">
                    <a16:rowId xmlns:a16="http://schemas.microsoft.com/office/drawing/2014/main" val="2489963446"/>
                  </a:ext>
                </a:extLst>
              </a:tr>
              <a:tr h="420832">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AS92</a:t>
                      </a:r>
                    </a:p>
                  </a:txBody>
                  <a:tcPr marL="3810" marR="3810" marT="3810" marB="0" anchor="ctr"/>
                </a:tc>
                <a:tc>
                  <a:txBody>
                    <a:bodyPr/>
                    <a:lstStyle/>
                    <a:p>
                      <a:pPr marL="0" algn="r" defTabSz="914400" rtl="0" eaLnBrk="1" fontAlgn="ctr" latinLnBrk="0" hangingPunct="1"/>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أن تتضمن خطة إطلاق التطبيق قابلية التراجع في حال حدوث مشكلة في الإطلاق</a:t>
                      </a:r>
                    </a:p>
                  </a:txBody>
                  <a:tcPr marL="3810" marR="3810" marT="3810" marB="0" anchor="ctr"/>
                </a:tc>
                <a:extLst>
                  <a:ext uri="{0D108BD9-81ED-4DB2-BD59-A6C34878D82A}">
                    <a16:rowId xmlns:a16="http://schemas.microsoft.com/office/drawing/2014/main" val="665810392"/>
                  </a:ext>
                </a:extLst>
              </a:tr>
              <a:tr h="420832">
                <a:tc>
                  <a:txBody>
                    <a:bodyPr/>
                    <a:lstStyle/>
                    <a:p>
                      <a:pPr algn="ctr" rtl="0" fontAlgn="ctr"/>
                      <a:r>
                        <a:rPr lang="en-US" sz="1400" b="1" i="0" u="none" strike="noStrike" baseline="0">
                          <a:solidFill>
                            <a:schemeClr val="tx1"/>
                          </a:solidFill>
                          <a:effectLst/>
                          <a:latin typeface="Sakkal Majalla" panose="02000000000000000000" pitchFamily="2" charset="-78"/>
                          <a:cs typeface="Sakkal Majalla" panose="02000000000000000000" pitchFamily="2" charset="-78"/>
                        </a:rPr>
                        <a:t>AS93</a:t>
                      </a:r>
                    </a:p>
                  </a:txBody>
                  <a:tcPr marL="3810" marR="3810" marT="3810" marB="0" anchor="ctr"/>
                </a:tc>
                <a:tc>
                  <a:txBody>
                    <a:bodyPr/>
                    <a:lstStyle/>
                    <a:p>
                      <a:pPr marL="0" algn="r" defTabSz="914400" rtl="0" eaLnBrk="1" fontAlgn="ctr" latinLnBrk="0" hangingPunct="1"/>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توضيح آلية الاتصال بالإنترنت اللازمة للتطبيق داخلياً أو داخلياً وخارجياً أم فقط خارجياً </a:t>
                      </a:r>
                    </a:p>
                  </a:txBody>
                  <a:tcPr marL="3810" marR="3810" marT="3810" marB="0" anchor="ctr"/>
                </a:tc>
                <a:extLst>
                  <a:ext uri="{0D108BD9-81ED-4DB2-BD59-A6C34878D82A}">
                    <a16:rowId xmlns:a16="http://schemas.microsoft.com/office/drawing/2014/main" val="2512632214"/>
                  </a:ext>
                </a:extLst>
              </a:tr>
              <a:tr h="420832">
                <a:tc>
                  <a:txBody>
                    <a:bodyPr/>
                    <a:lstStyle/>
                    <a:p>
                      <a:pPr algn="ctr" rtl="0" fontAlgn="ctr"/>
                      <a:r>
                        <a:rPr lang="en-US" sz="1400" b="1" i="0" u="none" strike="noStrike" baseline="0">
                          <a:solidFill>
                            <a:schemeClr val="tx1"/>
                          </a:solidFill>
                          <a:effectLst/>
                          <a:latin typeface="Sakkal Majalla" panose="02000000000000000000" pitchFamily="2" charset="-78"/>
                          <a:cs typeface="Sakkal Majalla" panose="02000000000000000000" pitchFamily="2" charset="-78"/>
                        </a:rPr>
                        <a:t>AS94</a:t>
                      </a:r>
                    </a:p>
                  </a:txBody>
                  <a:tcPr marL="3810" marR="3810" marT="3810" marB="0" anchor="ctr"/>
                </a:tc>
                <a:tc>
                  <a:txBody>
                    <a:bodyPr/>
                    <a:lstStyle/>
                    <a:p>
                      <a:pPr marL="0" algn="r" defTabSz="914400" rtl="0" eaLnBrk="1" fontAlgn="ctr" latinLnBrk="0" hangingPunct="1"/>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يتضمن اختبار التطبيق على اجراء اختبار قبول الأعمال قبل الإطلاق وتوثيقها</a:t>
                      </a:r>
                    </a:p>
                  </a:txBody>
                  <a:tcPr marL="3810" marR="3810" marT="3810" marB="0" anchor="ctr"/>
                </a:tc>
                <a:extLst>
                  <a:ext uri="{0D108BD9-81ED-4DB2-BD59-A6C34878D82A}">
                    <a16:rowId xmlns:a16="http://schemas.microsoft.com/office/drawing/2014/main" val="4193838665"/>
                  </a:ext>
                </a:extLst>
              </a:tr>
              <a:tr h="420832">
                <a:tc>
                  <a:txBody>
                    <a:bodyPr/>
                    <a:lstStyle/>
                    <a:p>
                      <a:pPr algn="ctr" rtl="0" fontAlgn="ctr"/>
                      <a:r>
                        <a:rPr lang="en-US" sz="1400" b="1" i="0" u="none" strike="noStrike" baseline="0">
                          <a:solidFill>
                            <a:schemeClr val="tx1"/>
                          </a:solidFill>
                          <a:effectLst/>
                          <a:latin typeface="Sakkal Majalla" panose="02000000000000000000" pitchFamily="2" charset="-78"/>
                          <a:cs typeface="Sakkal Majalla" panose="02000000000000000000" pitchFamily="2" charset="-78"/>
                        </a:rPr>
                        <a:t>AS95</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ضمان تشغيل التطبيق بشكل مستمر مع الحد الأدنى من التوقفات.</a:t>
                      </a:r>
                    </a:p>
                  </a:txBody>
                  <a:tcPr marL="3810" marR="3810" marT="3810" marB="0" anchor="ctr"/>
                </a:tc>
                <a:extLst>
                  <a:ext uri="{0D108BD9-81ED-4DB2-BD59-A6C34878D82A}">
                    <a16:rowId xmlns:a16="http://schemas.microsoft.com/office/drawing/2014/main" val="3456641915"/>
                  </a:ext>
                </a:extLst>
              </a:tr>
              <a:tr h="420832">
                <a:tc>
                  <a:txBody>
                    <a:bodyPr/>
                    <a:lstStyle/>
                    <a:p>
                      <a:pPr algn="ctr" rtl="0" fontAlgn="ctr"/>
                      <a:r>
                        <a:rPr lang="en-US" sz="1400" b="1" i="0" u="none" strike="noStrike" baseline="0">
                          <a:solidFill>
                            <a:schemeClr val="tx1"/>
                          </a:solidFill>
                          <a:effectLst/>
                          <a:latin typeface="Sakkal Majalla" panose="02000000000000000000" pitchFamily="2" charset="-78"/>
                          <a:cs typeface="Sakkal Majalla" panose="02000000000000000000" pitchFamily="2" charset="-78"/>
                        </a:rPr>
                        <a:t>AS96</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توافق التطبيق مع متصفحات مختلفة</a:t>
                      </a:r>
                    </a:p>
                  </a:txBody>
                  <a:tcPr marL="3810" marR="3810" marT="3810" marB="0" anchor="ctr"/>
                </a:tc>
                <a:extLst>
                  <a:ext uri="{0D108BD9-81ED-4DB2-BD59-A6C34878D82A}">
                    <a16:rowId xmlns:a16="http://schemas.microsoft.com/office/drawing/2014/main" val="761637634"/>
                  </a:ext>
                </a:extLst>
              </a:tr>
              <a:tr h="420832">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AS97</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إمكانية تخصيص المستخدمين لبعض جوانب التطبيق وفقاً لاحتياجاتهم</a:t>
                      </a:r>
                      <a:r>
                        <a:rPr lang="ar-EG" sz="1400" b="0" i="0" u="none" strike="noStrike" baseline="0" dirty="0">
                          <a:solidFill>
                            <a:schemeClr val="tx1"/>
                          </a:solidFill>
                          <a:effectLst/>
                          <a:latin typeface="Sakkal Majalla" panose="02000000000000000000" pitchFamily="2" charset="-78"/>
                          <a:cs typeface="Sakkal Majalla" panose="02000000000000000000" pitchFamily="2" charset="-78"/>
                        </a:rPr>
                        <a:t> </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a:t>
                      </a:r>
                      <a:r>
                        <a:rPr lang="en-US" sz="1400" b="0" i="0" u="none" strike="noStrike" baseline="0" dirty="0">
                          <a:solidFill>
                            <a:schemeClr val="tx1"/>
                          </a:solidFill>
                          <a:effectLst/>
                          <a:latin typeface="Sakkal Majalla" panose="02000000000000000000" pitchFamily="2" charset="-78"/>
                          <a:cs typeface="Sakkal Majalla" panose="02000000000000000000" pitchFamily="2" charset="-78"/>
                        </a:rPr>
                        <a:t>Dark/Light</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a:t>
                      </a:r>
                    </a:p>
                  </a:txBody>
                  <a:tcPr marL="3810" marR="3810" marT="3810" marB="0" anchor="ctr"/>
                </a:tc>
                <a:extLst>
                  <a:ext uri="{0D108BD9-81ED-4DB2-BD59-A6C34878D82A}">
                    <a16:rowId xmlns:a16="http://schemas.microsoft.com/office/drawing/2014/main" val="3862879794"/>
                  </a:ext>
                </a:extLst>
              </a:tr>
              <a:tr h="420832">
                <a:tc>
                  <a:txBody>
                    <a:bodyPr/>
                    <a:lstStyle/>
                    <a:p>
                      <a:pPr marL="0" algn="ctr" defTabSz="914400" rtl="1" eaLnBrk="1" fontAlgn="ctr" latinLnBrk="0" hangingPunct="1"/>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AS98</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عملية تثبيت التطبيق بسيطة وسريعة وموثقة آليتها</a:t>
                      </a:r>
                    </a:p>
                  </a:txBody>
                  <a:tcPr marL="3810" marR="3810" marT="3810" marB="0" anchor="ctr"/>
                </a:tc>
                <a:extLst>
                  <a:ext uri="{0D108BD9-81ED-4DB2-BD59-A6C34878D82A}">
                    <a16:rowId xmlns:a16="http://schemas.microsoft.com/office/drawing/2014/main" val="3611006536"/>
                  </a:ext>
                </a:extLst>
              </a:tr>
              <a:tr h="420832">
                <a:tc>
                  <a:txBody>
                    <a:bodyPr/>
                    <a:lstStyle/>
                    <a:p>
                      <a:pPr marL="0" algn="ctr" defTabSz="914400" rtl="1" eaLnBrk="1" fontAlgn="ctr" latinLnBrk="0" hangingPunct="1"/>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AS99</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توفير دليل مستخدم شامل ووثائق دعم لتسهيل استخدام التطبيق</a:t>
                      </a:r>
                    </a:p>
                  </a:txBody>
                  <a:tcPr marL="3810" marR="3810" marT="3810" marB="0" anchor="ctr"/>
                </a:tc>
                <a:extLst>
                  <a:ext uri="{0D108BD9-81ED-4DB2-BD59-A6C34878D82A}">
                    <a16:rowId xmlns:a16="http://schemas.microsoft.com/office/drawing/2014/main" val="2435635466"/>
                  </a:ext>
                </a:extLst>
              </a:tr>
              <a:tr h="420832">
                <a:tc>
                  <a:txBody>
                    <a:bodyPr/>
                    <a:lstStyle/>
                    <a:p>
                      <a:pPr marL="0" algn="ctr" defTabSz="914400" rtl="1" eaLnBrk="1" fontAlgn="ctr" latinLnBrk="0" hangingPunct="1"/>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AS100</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ضمان تحديث فرق الدعم بمعلومات حول أحدث الميزات والتحديثات للتطبيق</a:t>
                      </a:r>
                    </a:p>
                  </a:txBody>
                  <a:tcPr marL="3810" marR="3810" marT="3810" marB="0" anchor="ctr"/>
                </a:tc>
                <a:extLst>
                  <a:ext uri="{0D108BD9-81ED-4DB2-BD59-A6C34878D82A}">
                    <a16:rowId xmlns:a16="http://schemas.microsoft.com/office/drawing/2014/main" val="1910184747"/>
                  </a:ext>
                </a:extLst>
              </a:tr>
            </a:tbl>
          </a:graphicData>
        </a:graphic>
      </p:graphicFrame>
    </p:spTree>
    <p:extLst>
      <p:ext uri="{BB962C8B-B14F-4D97-AF65-F5344CB8AC3E}">
        <p14:creationId xmlns:p14="http://schemas.microsoft.com/office/powerpoint/2010/main" val="1950360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التطبيقات</a:t>
            </a:r>
            <a:r>
              <a:rPr lang="en-US" dirty="0"/>
              <a:t> (5 / 5)</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43</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271654926"/>
              </p:ext>
            </p:extLst>
          </p:nvPr>
        </p:nvGraphicFramePr>
        <p:xfrm>
          <a:off x="6128658" y="1134810"/>
          <a:ext cx="5551715" cy="450393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90667">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AS101</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استجابة سريعة للأحداث والأخطاء وإظهار إشعار توضيحي للمستخدم بذلك </a:t>
                      </a:r>
                    </a:p>
                  </a:txBody>
                  <a:tcPr marL="3810" marR="3810" marT="3810" marB="0" anchor="ctr"/>
                </a:tc>
                <a:extLst>
                  <a:ext uri="{0D108BD9-81ED-4DB2-BD59-A6C34878D82A}">
                    <a16:rowId xmlns:a16="http://schemas.microsoft.com/office/drawing/2014/main" val="665810392"/>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AS102</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وجود مؤشرات أداء رئيسية لقياس نجاح التطبيق وتحقيق أهدافه</a:t>
                      </a:r>
                    </a:p>
                  </a:txBody>
                  <a:tcPr marL="3810" marR="3810" marT="3810" marB="0" anchor="ctr"/>
                </a:tc>
                <a:extLst>
                  <a:ext uri="{0D108BD9-81ED-4DB2-BD59-A6C34878D82A}">
                    <a16:rowId xmlns:a16="http://schemas.microsoft.com/office/drawing/2014/main" val="2512632214"/>
                  </a:ext>
                </a:extLst>
              </a:tr>
              <a:tr h="420279">
                <a:tc>
                  <a:txBody>
                    <a:bodyPr/>
                    <a:lstStyle/>
                    <a:p>
                      <a:pPr marL="0" algn="ctr" defTabSz="914400" rtl="1" eaLnBrk="1" fontAlgn="ctr" latinLnBrk="0" hangingPunct="1"/>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AS103</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دعم التطبيق لإصدار تقارير تلقائية حول المشكلات لتسريع الإصلاح واخذ القرارات</a:t>
                      </a:r>
                    </a:p>
                  </a:txBody>
                  <a:tcPr marL="3810" marR="3810" marT="3810" marB="0" anchor="ctr"/>
                </a:tc>
                <a:extLst>
                  <a:ext uri="{0D108BD9-81ED-4DB2-BD59-A6C34878D82A}">
                    <a16:rowId xmlns:a16="http://schemas.microsoft.com/office/drawing/2014/main" val="4193838665"/>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AS104</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تبني التطبيق لسياسات قوية وفعالة أمنية لاختيار المستخدم لكلمة المرور عند التسجيل</a:t>
                      </a:r>
                    </a:p>
                  </a:txBody>
                  <a:tcPr marL="3810" marR="3810" marT="3810" marB="0" anchor="ctr"/>
                </a:tc>
                <a:extLst>
                  <a:ext uri="{0D108BD9-81ED-4DB2-BD59-A6C34878D82A}">
                    <a16:rowId xmlns:a16="http://schemas.microsoft.com/office/drawing/2014/main" val="3456641915"/>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AS105</a:t>
                      </a:r>
                    </a:p>
                  </a:txBody>
                  <a:tcPr marL="3810" marR="3810" marT="3810" marB="0" anchor="ctr"/>
                </a:tc>
                <a:tc>
                  <a:txBody>
                    <a:bodyPr/>
                    <a:lstStyle/>
                    <a:p>
                      <a:pPr algn="r" rtl="1" fontAlgn="ct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 تعزيز الابتكار واستخدام الذكاء الاصطناعي في بناء التطبيقات لتحسين تجربة المستفيد</a:t>
                      </a:r>
                    </a:p>
                  </a:txBody>
                  <a:tcPr marL="3810" marR="3810" marT="3810" marB="0" anchor="ctr"/>
                </a:tc>
                <a:extLst>
                  <a:ext uri="{0D108BD9-81ED-4DB2-BD59-A6C34878D82A}">
                    <a16:rowId xmlns:a16="http://schemas.microsoft.com/office/drawing/2014/main" val="761637634"/>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AS106</a:t>
                      </a:r>
                    </a:p>
                  </a:txBody>
                  <a:tcPr marL="3810" marR="3810" marT="3810" marB="0" anchor="ctr"/>
                </a:tc>
                <a:tc>
                  <a:txBody>
                    <a:bodyPr/>
                    <a:lstStyle/>
                    <a:p>
                      <a:pPr marL="0" marR="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يتم التركيز على التحسين المستمر للتطبيق من خلال التعلم من التجارب السابقة والتغذية الراجعة من المستفيد والابتكار.</a:t>
                      </a:r>
                    </a:p>
                  </a:txBody>
                  <a:tcPr marL="3810" marR="3810" marT="3810" marB="0" anchor="ctr"/>
                </a:tc>
                <a:extLst>
                  <a:ext uri="{0D108BD9-81ED-4DB2-BD59-A6C34878D82A}">
                    <a16:rowId xmlns:a16="http://schemas.microsoft.com/office/drawing/2014/main" val="1472548560"/>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AS107</a:t>
                      </a:r>
                    </a:p>
                  </a:txBody>
                  <a:tcPr marL="3810" marR="3810" marT="3810" marB="0" anchor="ctr"/>
                </a:tc>
                <a:tc>
                  <a:txBody>
                    <a:bodyPr/>
                    <a:lstStyle/>
                    <a:p>
                      <a:pPr marL="0" marR="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يتم استخدام منهجيات مرنة لتنظيم العمل على مستوى الفرق، مع الحفاظ على مرونة التكيف مع التغييرات.</a:t>
                      </a:r>
                    </a:p>
                  </a:txBody>
                  <a:tcPr marL="3810" marR="3810" marT="3810" marB="0" anchor="ctr"/>
                </a:tc>
                <a:extLst>
                  <a:ext uri="{0D108BD9-81ED-4DB2-BD59-A6C34878D82A}">
                    <a16:rowId xmlns:a16="http://schemas.microsoft.com/office/drawing/2014/main" val="399687734"/>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AS108</a:t>
                      </a:r>
                    </a:p>
                  </a:txBody>
                  <a:tcPr marL="3810" marR="3810" marT="3810" marB="0" anchor="ctr"/>
                </a:tc>
                <a:tc>
                  <a:txBody>
                    <a:bodyPr/>
                    <a:lstStyle/>
                    <a:p>
                      <a:pPr marL="0" marR="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التنسيق بين الفرق المختلفة للتطبيق لضمان تكامل وتوافق التطبيق، مما يساهم في تقديم حلول متكاملة.</a:t>
                      </a:r>
                    </a:p>
                  </a:txBody>
                  <a:tcPr marL="3810" marR="3810" marT="3810" marB="0" anchor="ctr"/>
                </a:tc>
                <a:extLst>
                  <a:ext uri="{0D108BD9-81ED-4DB2-BD59-A6C34878D82A}">
                    <a16:rowId xmlns:a16="http://schemas.microsoft.com/office/drawing/2014/main" val="1821309394"/>
                  </a:ext>
                </a:extLst>
              </a:tr>
              <a:tr h="420279">
                <a:tc>
                  <a:txBody>
                    <a:bodyPr/>
                    <a:lstStyle/>
                    <a:p>
                      <a:pPr algn="ctr" rtl="0" fontAlgn="ctr"/>
                      <a:r>
                        <a:rPr lang="en-US" sz="1400" b="1" i="0" u="none" strike="noStrike" baseline="0" dirty="0">
                          <a:solidFill>
                            <a:schemeClr val="tx1"/>
                          </a:solidFill>
                          <a:effectLst/>
                          <a:latin typeface="Sakkal Majalla" panose="02000000000000000000" pitchFamily="2" charset="-78"/>
                          <a:cs typeface="Sakkal Majalla" panose="02000000000000000000" pitchFamily="2" charset="-78"/>
                        </a:rPr>
                        <a:t>AS109</a:t>
                      </a:r>
                    </a:p>
                  </a:txBody>
                  <a:tcPr marL="3810" marR="3810" marT="3810" marB="0" anchor="ct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توعية وتدريب الموظفين والمطورين حول الممارسات الأمنية وأهمية اتباعها.</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1826603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المعايير المرتبطة ببنية </a:t>
            </a:r>
            <a:r>
              <a:rPr lang="ar-EG" sz="2800" dirty="0"/>
              <a:t>البيانات</a:t>
            </a:r>
            <a:endParaRPr lang="en-US" sz="2800" dirty="0"/>
          </a:p>
        </p:txBody>
      </p:sp>
      <p:sp>
        <p:nvSpPr>
          <p:cNvPr id="4" name="Text Placeholder 3"/>
          <p:cNvSpPr>
            <a:spLocks noGrp="1"/>
          </p:cNvSpPr>
          <p:nvPr>
            <p:ph type="body" sz="quarter" idx="14"/>
          </p:nvPr>
        </p:nvSpPr>
        <p:spPr/>
        <p:txBody>
          <a:bodyPr/>
          <a:lstStyle/>
          <a:p>
            <a:r>
              <a:rPr lang="ar-EG" sz="7200" dirty="0"/>
              <a:t>3.3</a:t>
            </a:r>
            <a:endParaRPr lang="en-US" sz="7200" dirty="0"/>
          </a:p>
        </p:txBody>
      </p:sp>
    </p:spTree>
    <p:extLst>
      <p:ext uri="{BB962C8B-B14F-4D97-AF65-F5344CB8AC3E}">
        <p14:creationId xmlns:p14="http://schemas.microsoft.com/office/powerpoint/2010/main" val="66206467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البيانات</a:t>
            </a:r>
            <a:r>
              <a:rPr lang="en-US" dirty="0"/>
              <a:t> (3 / 1)</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45</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754041803"/>
              </p:ext>
            </p:extLst>
          </p:nvPr>
        </p:nvGraphicFramePr>
        <p:xfrm>
          <a:off x="6128658" y="1134814"/>
          <a:ext cx="5551715" cy="4919206"/>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33538">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28567">
                <a:tc>
                  <a:txBody>
                    <a:bodyPr/>
                    <a:lstStyle/>
                    <a:p>
                      <a:pPr algn="ctr" rtl="0" fontAlgn="ctr"/>
                      <a:r>
                        <a:rPr lang="en-US" sz="1350" b="1" i="0" u="none" strike="noStrike" baseline="0" dirty="0">
                          <a:solidFill>
                            <a:srgbClr val="000000"/>
                          </a:solidFill>
                          <a:effectLst/>
                          <a:latin typeface="Sakkal Majalla" panose="02000000000000000000" pitchFamily="2" charset="-78"/>
                          <a:cs typeface="Sakkal Majalla" panose="02000000000000000000" pitchFamily="2" charset="-78"/>
                        </a:rPr>
                        <a:t>DS01</a:t>
                      </a:r>
                    </a:p>
                  </a:txBody>
                  <a:tcPr marL="3810" marR="3810" marT="3810" marB="0" anchor="ctr"/>
                </a:tc>
                <a:tc>
                  <a:txBody>
                    <a:bodyPr/>
                    <a:lstStyle/>
                    <a:p>
                      <a:pPr algn="r" rtl="1" fontAlgn="ctr"/>
                      <a:r>
                        <a:rPr lang="ar-SA" sz="1350" b="0" i="0" u="none" strike="noStrike" baseline="0">
                          <a:solidFill>
                            <a:srgbClr val="000000"/>
                          </a:solidFill>
                          <a:effectLst/>
                          <a:latin typeface="Sakkal Majalla" panose="02000000000000000000" pitchFamily="2" charset="-78"/>
                          <a:cs typeface="Sakkal Majalla" panose="02000000000000000000" pitchFamily="2" charset="-78"/>
                        </a:rPr>
                        <a:t>تُدار دورة حياة البيانات بشكل منظم ومخطط له لضمان استدامة البيانات وسهولة الوصول إليها واستخدامها طوال فترة صلاحيتها</a:t>
                      </a:r>
                    </a:p>
                  </a:txBody>
                  <a:tcPr marL="3810" marR="3810" marT="3810" marB="0" anchor="ctr"/>
                </a:tc>
                <a:extLst>
                  <a:ext uri="{0D108BD9-81ED-4DB2-BD59-A6C34878D82A}">
                    <a16:rowId xmlns:a16="http://schemas.microsoft.com/office/drawing/2014/main" val="2489963446"/>
                  </a:ext>
                </a:extLst>
              </a:tr>
              <a:tr h="216249">
                <a:tc>
                  <a:txBody>
                    <a:bodyPr/>
                    <a:lstStyle/>
                    <a:p>
                      <a:pPr algn="ctr" rtl="0" fontAlgn="ctr"/>
                      <a:r>
                        <a:rPr lang="en-US" sz="1350" b="1" i="0" u="none" strike="noStrike" baseline="0" dirty="0">
                          <a:solidFill>
                            <a:srgbClr val="000000"/>
                          </a:solidFill>
                          <a:effectLst/>
                          <a:latin typeface="Sakkal Majalla" panose="02000000000000000000" pitchFamily="2" charset="-78"/>
                          <a:cs typeface="Sakkal Majalla" panose="02000000000000000000" pitchFamily="2" charset="-78"/>
                        </a:rPr>
                        <a:t>DS02</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ضمان أن جميع البيانات المستخدمة في العمليات تتمتع بجودة عالية وتتسم بالدقة والاكتمال والاتساق.</a:t>
                      </a:r>
                    </a:p>
                  </a:txBody>
                  <a:tcPr marL="3810" marR="3810" marT="3810" marB="0" anchor="ctr"/>
                </a:tc>
                <a:extLst>
                  <a:ext uri="{0D108BD9-81ED-4DB2-BD59-A6C34878D82A}">
                    <a16:rowId xmlns:a16="http://schemas.microsoft.com/office/drawing/2014/main" val="665810392"/>
                  </a:ext>
                </a:extLst>
              </a:tr>
              <a:tr h="428567">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DS03</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ضمان أن البيانات تتم إدارتها واستخدامها بشكل مسؤول وفعال بما يتماشى مع الأهداف التنظيمية ومتطلبات الامتثال</a:t>
                      </a:r>
                    </a:p>
                  </a:txBody>
                  <a:tcPr marL="3810" marR="3810" marT="3810" marB="0" anchor="ctr"/>
                </a:tc>
                <a:extLst>
                  <a:ext uri="{0D108BD9-81ED-4DB2-BD59-A6C34878D82A}">
                    <a16:rowId xmlns:a16="http://schemas.microsoft.com/office/drawing/2014/main" val="2512632214"/>
                  </a:ext>
                </a:extLst>
              </a:tr>
              <a:tr h="640884">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DS04</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تحديد معايير لحوكمة البيانات تشمل توجيه عملية جمع البيانات وتخزينها وتحليلها لضمان الجودة والدقة. كما تشمل على تطبيق سياسات تصنيف البيانات بناءً على حساسيتها وأهميتها، وتطبيق السياسات المناسبة لكل مستوى او فئة من البيانات.</a:t>
                      </a:r>
                    </a:p>
                  </a:txBody>
                  <a:tcPr marL="3810" marR="3810" marT="3810" marB="0" anchor="ctr"/>
                </a:tc>
                <a:extLst>
                  <a:ext uri="{0D108BD9-81ED-4DB2-BD59-A6C34878D82A}">
                    <a16:rowId xmlns:a16="http://schemas.microsoft.com/office/drawing/2014/main" val="4193838665"/>
                  </a:ext>
                </a:extLst>
              </a:tr>
              <a:tr h="216249">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DS05</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تنفيذ إجراءات للتأكد من سلامة البيانات وعدم تعرضها للتغيير أو التلاعب، بما يضمن حماية مصداقيتها.</a:t>
                      </a:r>
                    </a:p>
                  </a:txBody>
                  <a:tcPr marL="3810" marR="3810" marT="3810" marB="0" anchor="ctr"/>
                </a:tc>
                <a:extLst>
                  <a:ext uri="{0D108BD9-81ED-4DB2-BD59-A6C34878D82A}">
                    <a16:rowId xmlns:a16="http://schemas.microsoft.com/office/drawing/2014/main" val="3456641915"/>
                  </a:ext>
                </a:extLst>
              </a:tr>
              <a:tr h="428567">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DS06</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توثيق جميع الأنظمة والتطبيقات المستخدمة لإدارة البيانات، وتوفير معلومات شاملة عن البنية التحتية لتمكين التدقيق والتحليل.</a:t>
                      </a:r>
                    </a:p>
                  </a:txBody>
                  <a:tcPr marL="3810" marR="3810" marT="3810" marB="0" anchor="ctr"/>
                </a:tc>
                <a:extLst>
                  <a:ext uri="{0D108BD9-81ED-4DB2-BD59-A6C34878D82A}">
                    <a16:rowId xmlns:a16="http://schemas.microsoft.com/office/drawing/2014/main" val="761637634"/>
                  </a:ext>
                </a:extLst>
              </a:tr>
              <a:tr h="428567">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DS07</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تطوير إجراءات لإدارة الحوادث السيبرانية تشمل تحديد مصادر الهجمات والاستجابة الفعالة لحماية الأنظمة.</a:t>
                      </a:r>
                    </a:p>
                  </a:txBody>
                  <a:tcPr marL="3810" marR="3810" marT="3810" marB="0" anchor="ctr"/>
                </a:tc>
                <a:extLst>
                  <a:ext uri="{0D108BD9-81ED-4DB2-BD59-A6C34878D82A}">
                    <a16:rowId xmlns:a16="http://schemas.microsoft.com/office/drawing/2014/main" val="1472548560"/>
                  </a:ext>
                </a:extLst>
              </a:tr>
              <a:tr h="428567">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DS08</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استخدام منصات البيانات السحابية التي توفر مستويات أمان عالية وتحافظ على خصوصية البيانات التي تتم معالجتها أو تخزينها.</a:t>
                      </a:r>
                    </a:p>
                  </a:txBody>
                  <a:tcPr marL="3810" marR="3810" marT="3810" marB="0" anchor="ctr"/>
                </a:tc>
                <a:extLst>
                  <a:ext uri="{0D108BD9-81ED-4DB2-BD59-A6C34878D82A}">
                    <a16:rowId xmlns:a16="http://schemas.microsoft.com/office/drawing/2014/main" val="399687734"/>
                  </a:ext>
                </a:extLst>
              </a:tr>
              <a:tr h="428567">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DS09</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استخدام منصات إدارة البيانات المركزية لتوحيد الجهود وضمان التنسيق الفعال بين مختلف الأقسام في إدارة البيانات.</a:t>
                      </a:r>
                    </a:p>
                  </a:txBody>
                  <a:tcPr marL="3810" marR="3810" marT="3810" marB="0" anchor="ctr"/>
                </a:tc>
                <a:extLst>
                  <a:ext uri="{0D108BD9-81ED-4DB2-BD59-A6C34878D82A}">
                    <a16:rowId xmlns:a16="http://schemas.microsoft.com/office/drawing/2014/main" val="1821309394"/>
                  </a:ext>
                </a:extLst>
              </a:tr>
              <a:tr h="640884">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DS10</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إجراء تقييم دوري للمخاطر المتعلقة بإدارة البيانات، لتحديد الثغرات المحتملة وتطبيق الإجراءات الوقائية المناسبة لتقليل المخاطر. وتنفيذ برامج لتقييم الأمان تشمل تحليل الأنظمة وتحديد الثغرات الأمنية وتحسين الأداء الأمني.</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1828680753"/>
              </p:ext>
            </p:extLst>
          </p:nvPr>
        </p:nvGraphicFramePr>
        <p:xfrm>
          <a:off x="511629" y="1134810"/>
          <a:ext cx="5551715" cy="491921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490813">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298666">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DS11</a:t>
                      </a:r>
                    </a:p>
                  </a:txBody>
                  <a:tcPr marL="3810" marR="3810" marT="3810" marB="0" anchor="ctr"/>
                </a:tc>
                <a:tc>
                  <a:txBody>
                    <a:bodyPr/>
                    <a:lstStyle/>
                    <a:p>
                      <a:pPr algn="r" rtl="1" fontAlgn="ctr"/>
                      <a:r>
                        <a:rPr lang="ar-SA" sz="1400" b="0" i="0" u="none" strike="noStrike" baseline="0">
                          <a:solidFill>
                            <a:srgbClr val="000000"/>
                          </a:solidFill>
                          <a:effectLst/>
                          <a:latin typeface="Sakkal Majalla" panose="02000000000000000000" pitchFamily="2" charset="-78"/>
                          <a:cs typeface="Sakkal Majalla" panose="02000000000000000000" pitchFamily="2" charset="-78"/>
                        </a:rPr>
                        <a:t>استخدام حلول أمان الأجهزة المحمولة لضمان حماية البيانات المخزنة أو المنقولة عبر الأجهزة المحمولة.</a:t>
                      </a:r>
                    </a:p>
                  </a:txBody>
                  <a:tcPr marL="3810" marR="3810" marT="3810" marB="0" anchor="ctr"/>
                </a:tc>
                <a:extLst>
                  <a:ext uri="{0D108BD9-81ED-4DB2-BD59-A6C34878D82A}">
                    <a16:rowId xmlns:a16="http://schemas.microsoft.com/office/drawing/2014/main" val="2489963446"/>
                  </a:ext>
                </a:extLst>
              </a:tr>
              <a:tr h="39473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تطوير استراتيجيات لإدارة الأمن السيبراني تشمل تحليل التهديدات المحتملة ووضع إجراءات وقائية لحماية الأنظمة والبيانات.</a:t>
                      </a:r>
                    </a:p>
                  </a:txBody>
                  <a:tcPr marL="3810" marR="3810" marT="3810" marB="0" anchor="ctr"/>
                </a:tc>
                <a:extLst>
                  <a:ext uri="{0D108BD9-81ED-4DB2-BD59-A6C34878D82A}">
                    <a16:rowId xmlns:a16="http://schemas.microsoft.com/office/drawing/2014/main" val="665810392"/>
                  </a:ext>
                </a:extLst>
              </a:tr>
              <a:tr h="39473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DS13</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تضمين متطلبات الأمن السيبراني في جميع مراحل دورة حياة تطوير البرمجيات والتطبيقات لضمان حماية البيانات من البداية (التصميم) حتى التشغيل.</a:t>
                      </a:r>
                    </a:p>
                  </a:txBody>
                  <a:tcPr marL="3810" marR="3810" marT="3810" marB="0" anchor="ctr"/>
                </a:tc>
                <a:extLst>
                  <a:ext uri="{0D108BD9-81ED-4DB2-BD59-A6C34878D82A}">
                    <a16:rowId xmlns:a16="http://schemas.microsoft.com/office/drawing/2014/main" val="2512632214"/>
                  </a:ext>
                </a:extLst>
              </a:tr>
              <a:tr h="39473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DS14</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تطوير استراتيجيات لإدارة البيانات الكبيرة تشمل تحديد المعايير المناسبة لجمع وتخزين وتحليل البيانات بسرعة، وفعالية، وكفاءة وأمان.</a:t>
                      </a:r>
                    </a:p>
                  </a:txBody>
                  <a:tcPr marL="3810" marR="3810" marT="3810" marB="0" anchor="ctr"/>
                </a:tc>
                <a:extLst>
                  <a:ext uri="{0D108BD9-81ED-4DB2-BD59-A6C34878D82A}">
                    <a16:rowId xmlns:a16="http://schemas.microsoft.com/office/drawing/2014/main" val="4193838665"/>
                  </a:ext>
                </a:extLst>
              </a:tr>
              <a:tr h="298666">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DS15</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استخدام تقنيات النسخ الاحتياطي المنتظمة لضمان وجود نسخ محدثة من البيانات الهامة والحساسة، بما يدعم استمرارية العمل في حالات الطوارئ.</a:t>
                      </a:r>
                    </a:p>
                  </a:txBody>
                  <a:tcPr marL="3810" marR="3810" marT="3810" marB="0" anchor="ctr"/>
                </a:tc>
                <a:extLst>
                  <a:ext uri="{0D108BD9-81ED-4DB2-BD59-A6C34878D82A}">
                    <a16:rowId xmlns:a16="http://schemas.microsoft.com/office/drawing/2014/main" val="3456641915"/>
                  </a:ext>
                </a:extLst>
              </a:tr>
              <a:tr h="298666">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DS16</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تنفيذ برامج التوعية لتثقيف الموظفين حول التهديدات الشائعة وأساليب الاحتيال وكيفية حماية البيانات.</a:t>
                      </a:r>
                    </a:p>
                  </a:txBody>
                  <a:tcPr marL="3810" marR="3810" marT="3810" marB="0" anchor="ctr"/>
                </a:tc>
                <a:extLst>
                  <a:ext uri="{0D108BD9-81ED-4DB2-BD59-A6C34878D82A}">
                    <a16:rowId xmlns:a16="http://schemas.microsoft.com/office/drawing/2014/main" val="761637634"/>
                  </a:ext>
                </a:extLst>
              </a:tr>
              <a:tr h="298666">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DS17</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توفير التدريب المستمر للموظفين على سياسات وإجراءات إدارة البيانات لضمان التزامهم بالممارسات الصحيحة.</a:t>
                      </a:r>
                    </a:p>
                  </a:txBody>
                  <a:tcPr marL="3810" marR="3810" marT="3810" marB="0" anchor="ctr"/>
                </a:tc>
                <a:extLst>
                  <a:ext uri="{0D108BD9-81ED-4DB2-BD59-A6C34878D82A}">
                    <a16:rowId xmlns:a16="http://schemas.microsoft.com/office/drawing/2014/main" val="1472548560"/>
                  </a:ext>
                </a:extLst>
              </a:tr>
              <a:tr h="298666">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DS18</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توفير برامج لتدريب الموظفين على كيفية التعامل مع البيانات الحساسة وحمايتها من الوصول غير المصرح به.</a:t>
                      </a:r>
                    </a:p>
                  </a:txBody>
                  <a:tcPr marL="3810" marR="3810" marT="3810" marB="0" anchor="ctr"/>
                </a:tc>
                <a:extLst>
                  <a:ext uri="{0D108BD9-81ED-4DB2-BD59-A6C34878D82A}">
                    <a16:rowId xmlns:a16="http://schemas.microsoft.com/office/drawing/2014/main" val="399687734"/>
                  </a:ext>
                </a:extLst>
              </a:tr>
              <a:tr h="298666">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DS19</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تحديد سياسات واضحة لإدارة البيانات تتضمن عمليات الجمع والتخزين والتحليل، مع مراعاة الخصوصية والأمان والامتثال للوائح المحلية والدولية.</a:t>
                      </a:r>
                    </a:p>
                  </a:txBody>
                  <a:tcPr marL="3810" marR="3810" marT="3810" marB="0" anchor="ctr"/>
                </a:tc>
                <a:extLst>
                  <a:ext uri="{0D108BD9-81ED-4DB2-BD59-A6C34878D82A}">
                    <a16:rowId xmlns:a16="http://schemas.microsoft.com/office/drawing/2014/main" val="1821309394"/>
                  </a:ext>
                </a:extLst>
              </a:tr>
              <a:tr h="394731">
                <a:tc>
                  <a:txBody>
                    <a:bodyPr/>
                    <a:lstStyle/>
                    <a:p>
                      <a:pPr algn="ctr" rtl="0" fontAlgn="ctr"/>
                      <a:r>
                        <a:rPr lang="en-US" sz="1400" b="1" i="0" u="none" strike="noStrike" baseline="0">
                          <a:solidFill>
                            <a:srgbClr val="000000"/>
                          </a:solidFill>
                          <a:effectLst/>
                          <a:latin typeface="Sakkal Majalla" panose="02000000000000000000" pitchFamily="2" charset="-78"/>
                          <a:cs typeface="Sakkal Majalla" panose="02000000000000000000" pitchFamily="2" charset="-78"/>
                        </a:rPr>
                        <a:t>DS20</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تنفيذ إجراءات التقييم الدوري واستخدام أدوات تحليل البيانات لتحسين جودة البيانات والمعلومات المستخلصة، لضمان تحسين مستمر في الدقة والاتساق والشمولية.</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3802843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البيانات</a:t>
            </a:r>
            <a:r>
              <a:rPr lang="en-US" dirty="0"/>
              <a:t> (3 / 2)</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46</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4051230418"/>
              </p:ext>
            </p:extLst>
          </p:nvPr>
        </p:nvGraphicFramePr>
        <p:xfrm>
          <a:off x="6128658" y="1134811"/>
          <a:ext cx="5551715" cy="504113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08126">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41570">
                <a:tc>
                  <a:txBody>
                    <a:bodyPr/>
                    <a:lstStyle/>
                    <a:p>
                      <a:pPr algn="ctr" rtl="0" fontAlgn="ctr"/>
                      <a:r>
                        <a:rPr lang="en-US" sz="1450" b="1" i="0" u="none" strike="noStrike" baseline="0" dirty="0">
                          <a:solidFill>
                            <a:srgbClr val="000000"/>
                          </a:solidFill>
                          <a:effectLst/>
                          <a:latin typeface="Sakkal Majalla" panose="02000000000000000000" pitchFamily="2" charset="-78"/>
                          <a:cs typeface="Sakkal Majalla" panose="02000000000000000000" pitchFamily="2" charset="-78"/>
                        </a:rPr>
                        <a:t>DS21</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وضع سياسات لاستمرارية الأعمال وتقييمها والامتثال بشكل دوري، ووضع خطط استعادة البيانات في حالات الطوارئ.</a:t>
                      </a:r>
                    </a:p>
                  </a:txBody>
                  <a:tcPr marL="3810" marR="3810" marT="3810" marB="0" anchor="ctr"/>
                </a:tc>
                <a:extLst>
                  <a:ext uri="{0D108BD9-81ED-4DB2-BD59-A6C34878D82A}">
                    <a16:rowId xmlns:a16="http://schemas.microsoft.com/office/drawing/2014/main" val="2489963446"/>
                  </a:ext>
                </a:extLst>
              </a:tr>
              <a:tr h="441570">
                <a:tc>
                  <a:txBody>
                    <a:bodyPr/>
                    <a:lstStyle/>
                    <a:p>
                      <a:pPr algn="ctr" rtl="0" fontAlgn="ctr"/>
                      <a:r>
                        <a:rPr lang="en-US" sz="1450" b="1" i="0" u="none" strike="noStrike" baseline="0" dirty="0">
                          <a:solidFill>
                            <a:srgbClr val="000000"/>
                          </a:solidFill>
                          <a:effectLst/>
                          <a:latin typeface="Sakkal Majalla" panose="02000000000000000000" pitchFamily="2" charset="-78"/>
                          <a:cs typeface="Sakkal Majalla" panose="02000000000000000000" pitchFamily="2" charset="-78"/>
                        </a:rPr>
                        <a:t>DS22</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توثيق جميع عمليات معالجة البيانات بشكل دقيق لضمان الشفافية والمسؤولية وتوفير سجل يمكن مراجعته للتحقق من الامتثال.</a:t>
                      </a:r>
                    </a:p>
                  </a:txBody>
                  <a:tcPr marL="3810" marR="3810" marT="3810" marB="0" anchor="ctr"/>
                </a:tc>
                <a:extLst>
                  <a:ext uri="{0D108BD9-81ED-4DB2-BD59-A6C34878D82A}">
                    <a16:rowId xmlns:a16="http://schemas.microsoft.com/office/drawing/2014/main" val="665810392"/>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DS23</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تطبيق سياسات وأدوات وتقنيات إدارة الهوية والوصول لضمان أن جميع المستخدمين مصرح لهم ولديهم الصلاحيات المناسبة للوصول إلى البيانات.</a:t>
                      </a:r>
                    </a:p>
                  </a:txBody>
                  <a:tcPr marL="3810" marR="3810" marT="3810" marB="0" anchor="ctr"/>
                </a:tc>
                <a:extLst>
                  <a:ext uri="{0D108BD9-81ED-4DB2-BD59-A6C34878D82A}">
                    <a16:rowId xmlns:a16="http://schemas.microsoft.com/office/drawing/2014/main" val="2512632214"/>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DS24</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تطبيق سياسات للتشفير التلقائي للبيانات الحساسة لضمان حماية المعلومات حتى في حالة الوصول غير المصرح به.</a:t>
                      </a:r>
                    </a:p>
                  </a:txBody>
                  <a:tcPr marL="3810" marR="3810" marT="3810" marB="0" anchor="ctr"/>
                </a:tc>
                <a:extLst>
                  <a:ext uri="{0D108BD9-81ED-4DB2-BD59-A6C34878D82A}">
                    <a16:rowId xmlns:a16="http://schemas.microsoft.com/office/drawing/2014/main" val="4193838665"/>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DS25</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وضع خطط وتقنيات لحماية البيانات أثناء النقل والتخزين ، بما في ذلك التشفير والمصادقة وتحديد الصلاحيات واستخدام بروتوكولات الأمان المناسبة لضمان الأمان.</a:t>
                      </a:r>
                    </a:p>
                  </a:txBody>
                  <a:tcPr marL="3810" marR="3810" marT="3810" marB="0" anchor="ctr"/>
                </a:tc>
                <a:extLst>
                  <a:ext uri="{0D108BD9-81ED-4DB2-BD59-A6C34878D82A}">
                    <a16:rowId xmlns:a16="http://schemas.microsoft.com/office/drawing/2014/main" val="3456641915"/>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DS26</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وضع خطط لإدارة البيانات المؤرشفة تشمل تحديد المعايير المناسبة للتخزين الآمن والوصول إلى البيانات القديمة عند الحاجة.</a:t>
                      </a:r>
                    </a:p>
                  </a:txBody>
                  <a:tcPr marL="3810" marR="3810" marT="3810" marB="0" anchor="ctr"/>
                </a:tc>
                <a:extLst>
                  <a:ext uri="{0D108BD9-81ED-4DB2-BD59-A6C34878D82A}">
                    <a16:rowId xmlns:a16="http://schemas.microsoft.com/office/drawing/2014/main" val="761637634"/>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DS27</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وضع خطط لإدارة استمرارية الأعمال تشمل استراتيجيات لحماية البيانات واستعادتها في حالة الكوارث أو الانقطاعات.</a:t>
                      </a:r>
                    </a:p>
                  </a:txBody>
                  <a:tcPr marL="3810" marR="3810" marT="3810" marB="0" anchor="ctr"/>
                </a:tc>
                <a:extLst>
                  <a:ext uri="{0D108BD9-81ED-4DB2-BD59-A6C34878D82A}">
                    <a16:rowId xmlns:a16="http://schemas.microsoft.com/office/drawing/2014/main" val="1472548560"/>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DS28</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وضع خطط لإدارة البيانات المهملة أو غير المستخدمة، بما يضمن التخلص الآمن منها أو إعادة تدويرها بطريقة تحافظ على الأمان.</a:t>
                      </a:r>
                    </a:p>
                  </a:txBody>
                  <a:tcPr marL="3810" marR="3810" marT="3810" marB="0" anchor="ctr"/>
                </a:tc>
                <a:extLst>
                  <a:ext uri="{0D108BD9-81ED-4DB2-BD59-A6C34878D82A}">
                    <a16:rowId xmlns:a16="http://schemas.microsoft.com/office/drawing/2014/main" val="399687734"/>
                  </a:ext>
                </a:extLst>
              </a:tr>
              <a:tr h="441570">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DS29</a:t>
                      </a:r>
                    </a:p>
                  </a:txBody>
                  <a:tcPr marL="3810" marR="3810" marT="3810" marB="0" anchor="ctr"/>
                </a:tc>
                <a:tc>
                  <a:txBody>
                    <a:bodyPr/>
                    <a:lstStyle/>
                    <a:p>
                      <a:pPr algn="r" rtl="1" fontAlgn="ctr"/>
                      <a:r>
                        <a:rPr lang="ar-SA" sz="1450" b="0" i="0" u="none" strike="noStrike" baseline="0" dirty="0">
                          <a:solidFill>
                            <a:srgbClr val="000000"/>
                          </a:solidFill>
                          <a:effectLst/>
                          <a:latin typeface="Sakkal Majalla" panose="02000000000000000000" pitchFamily="2" charset="-78"/>
                          <a:cs typeface="Sakkal Majalla" panose="02000000000000000000" pitchFamily="2" charset="-78"/>
                        </a:rPr>
                        <a:t>استخدام أدوات مراقبة وتحليل الأداء لضمان استمرارية وصول البيانات بجودة عالية، مما يدعم اتخاذ القرارات المستنيرة بناءً على معلومات دقيقة.</a:t>
                      </a:r>
                    </a:p>
                  </a:txBody>
                  <a:tcPr marL="3810" marR="3810" marT="3810" marB="0" anchor="ctr"/>
                </a:tc>
                <a:extLst>
                  <a:ext uri="{0D108BD9-81ED-4DB2-BD59-A6C34878D82A}">
                    <a16:rowId xmlns:a16="http://schemas.microsoft.com/office/drawing/2014/main" val="1821309394"/>
                  </a:ext>
                </a:extLst>
              </a:tr>
              <a:tr h="411377">
                <a:tc>
                  <a:txBody>
                    <a:bodyPr/>
                    <a:lstStyle/>
                    <a:p>
                      <a:pPr algn="ctr" rtl="0" fontAlgn="ctr"/>
                      <a:r>
                        <a:rPr lang="en-US" sz="1450" b="1" i="0" u="none" strike="noStrike" baseline="0">
                          <a:solidFill>
                            <a:srgbClr val="000000"/>
                          </a:solidFill>
                          <a:effectLst/>
                          <a:latin typeface="Sakkal Majalla" panose="02000000000000000000" pitchFamily="2" charset="-78"/>
                          <a:cs typeface="Sakkal Majalla" panose="02000000000000000000" pitchFamily="2" charset="-78"/>
                        </a:rPr>
                        <a:t>DS30</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استخدام تقنيات التحليل التنبؤي للكشف عن الأنماط والسلوكيات التي تشير إلى تهديدات في استخدام الأنظمة والبيانات والتنبؤ بالمخاطر الأمنية والتخطيط لإجراءات وقائية مسبقة. </a:t>
                      </a:r>
                    </a:p>
                  </a:txBody>
                  <a:tcPr marL="3810" marR="3810" marT="3810" marB="0" anchor="ctr"/>
                </a:tc>
                <a:extLst>
                  <a:ext uri="{0D108BD9-81ED-4DB2-BD59-A6C34878D82A}">
                    <a16:rowId xmlns:a16="http://schemas.microsoft.com/office/drawing/2014/main" val="3243285888"/>
                  </a:ext>
                </a:extLst>
              </a:tr>
            </a:tbl>
          </a:graphicData>
        </a:graphic>
      </p:graphicFrame>
      <p:graphicFrame>
        <p:nvGraphicFramePr>
          <p:cNvPr id="9" name="Table 8">
            <a:extLst>
              <a:ext uri="{FF2B5EF4-FFF2-40B4-BE49-F238E27FC236}">
                <a16:creationId xmlns:a16="http://schemas.microsoft.com/office/drawing/2014/main" id="{55776C7D-F28B-BC02-153C-93B8FEC211B5}"/>
              </a:ext>
            </a:extLst>
          </p:cNvPr>
          <p:cNvGraphicFramePr>
            <a:graphicFrameLocks noGrp="1"/>
          </p:cNvGraphicFramePr>
          <p:nvPr>
            <p:extLst>
              <p:ext uri="{D42A27DB-BD31-4B8C-83A1-F6EECF244321}">
                <p14:modId xmlns:p14="http://schemas.microsoft.com/office/powerpoint/2010/main" val="3854651585"/>
              </p:ext>
            </p:extLst>
          </p:nvPr>
        </p:nvGraphicFramePr>
        <p:xfrm>
          <a:off x="511629" y="1134811"/>
          <a:ext cx="5551715" cy="504113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619751">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399001">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DS31</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استخدام تقنيات التحليل الجنائي الرقمي لتحديد مصادر الهجمات والتحقيق في الحوادث السيبرانية.</a:t>
                      </a:r>
                    </a:p>
                  </a:txBody>
                  <a:tcPr marL="3810" marR="3810" marT="3810" marB="0" anchor="ctr"/>
                </a:tc>
                <a:extLst>
                  <a:ext uri="{0D108BD9-81ED-4DB2-BD59-A6C34878D82A}">
                    <a16:rowId xmlns:a16="http://schemas.microsoft.com/office/drawing/2014/main" val="2489963446"/>
                  </a:ext>
                </a:extLst>
              </a:tr>
              <a:tr h="439335">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DS32</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تحديد نقاط الوصول إلى البيانات ووضع ضوابط صارمة على هذه النقاط، بما يقلل من فرص الوصول غير المصرح به.</a:t>
                      </a:r>
                    </a:p>
                  </a:txBody>
                  <a:tcPr marL="3810" marR="3810" marT="3810" marB="0" anchor="ctr"/>
                </a:tc>
                <a:extLst>
                  <a:ext uri="{0D108BD9-81ED-4DB2-BD59-A6C34878D82A}">
                    <a16:rowId xmlns:a16="http://schemas.microsoft.com/office/drawing/2014/main" val="665810392"/>
                  </a:ext>
                </a:extLst>
              </a:tr>
              <a:tr h="439335">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DS33</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تنفيذ ضوابط الوصول على أساس الحاجة إلى المعرفة فقط، مما يحد من وصول غير المصرح لهم إلى البيانات الحساسة.</a:t>
                      </a:r>
                    </a:p>
                  </a:txBody>
                  <a:tcPr marL="3810" marR="3810" marT="3810" marB="0" anchor="ctr"/>
                </a:tc>
                <a:extLst>
                  <a:ext uri="{0D108BD9-81ED-4DB2-BD59-A6C34878D82A}">
                    <a16:rowId xmlns:a16="http://schemas.microsoft.com/office/drawing/2014/main" val="2512632214"/>
                  </a:ext>
                </a:extLst>
              </a:tr>
              <a:tr h="439335">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DS34</a:t>
                      </a:r>
                    </a:p>
                  </a:txBody>
                  <a:tcPr marL="3810" marR="3810" marT="3810" marB="0" anchor="ctr"/>
                </a:tc>
                <a:tc>
                  <a:txBody>
                    <a:bodyPr/>
                    <a:lstStyle/>
                    <a:p>
                      <a:pPr algn="r" rtl="1" fontAlgn="ctr"/>
                      <a:r>
                        <a:rPr lang="ar-SA" sz="1350" b="0" i="0" u="none" strike="noStrike" baseline="0">
                          <a:solidFill>
                            <a:srgbClr val="000000"/>
                          </a:solidFill>
                          <a:effectLst/>
                          <a:latin typeface="Sakkal Majalla" panose="02000000000000000000" pitchFamily="2" charset="-78"/>
                          <a:cs typeface="Sakkal Majalla" panose="02000000000000000000" pitchFamily="2" charset="-78"/>
                        </a:rPr>
                        <a:t>تضمين شروط حماية البيانات في عقود التعامل مع الأطراف الثالثة، لضمان أن الشركاء يمتثلون لمعايير الأمان والخصوصية.</a:t>
                      </a:r>
                    </a:p>
                  </a:txBody>
                  <a:tcPr marL="3810" marR="3810" marT="3810" marB="0" anchor="ctr"/>
                </a:tc>
                <a:extLst>
                  <a:ext uri="{0D108BD9-81ED-4DB2-BD59-A6C34878D82A}">
                    <a16:rowId xmlns:a16="http://schemas.microsoft.com/office/drawing/2014/main" val="4193838665"/>
                  </a:ext>
                </a:extLst>
              </a:tr>
              <a:tr h="399001">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DS35</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تحديد معايير الجودة للبيانات وتطبيق سياسات لضمان أن البيانات المستلمة أو المنتجة تفي بهذه المعايير.</a:t>
                      </a:r>
                    </a:p>
                  </a:txBody>
                  <a:tcPr marL="3810" marR="3810" marT="3810" marB="0" anchor="ctr"/>
                </a:tc>
                <a:extLst>
                  <a:ext uri="{0D108BD9-81ED-4DB2-BD59-A6C34878D82A}">
                    <a16:rowId xmlns:a16="http://schemas.microsoft.com/office/drawing/2014/main" val="3456641915"/>
                  </a:ext>
                </a:extLst>
              </a:tr>
              <a:tr h="243283">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DS36</a:t>
                      </a:r>
                    </a:p>
                  </a:txBody>
                  <a:tcPr marL="3810" marR="3810" marT="3810" marB="0" anchor="ctr"/>
                </a:tc>
                <a:tc>
                  <a:txBody>
                    <a:bodyPr/>
                    <a:lstStyle/>
                    <a:p>
                      <a:pPr algn="r" rtl="1" fontAlgn="ctr"/>
                      <a:r>
                        <a:rPr lang="ar-SA" sz="1350" b="0" i="0" u="none" strike="noStrike" baseline="0">
                          <a:solidFill>
                            <a:srgbClr val="000000"/>
                          </a:solidFill>
                          <a:effectLst/>
                          <a:latin typeface="Sakkal Majalla" panose="02000000000000000000" pitchFamily="2" charset="-78"/>
                          <a:cs typeface="Sakkal Majalla" panose="02000000000000000000" pitchFamily="2" charset="-78"/>
                        </a:rPr>
                        <a:t>تقديم تقارير دورية حول الامتثال لمعايير الأمان والسياسات الداخلية إلى الجهات المختصة لمتابعة الأداء.</a:t>
                      </a:r>
                    </a:p>
                  </a:txBody>
                  <a:tcPr marL="3810" marR="3810" marT="3810" marB="0" anchor="ctr"/>
                </a:tc>
                <a:extLst>
                  <a:ext uri="{0D108BD9-81ED-4DB2-BD59-A6C34878D82A}">
                    <a16:rowId xmlns:a16="http://schemas.microsoft.com/office/drawing/2014/main" val="761637634"/>
                  </a:ext>
                </a:extLst>
              </a:tr>
              <a:tr h="419240">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DS37</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تحديد معايير واضحة لمشاركة البيانات داخل المؤسسة ومع الأطراف الخارجية لضمان الأمان والامتثال للسياسات التنظيمية.</a:t>
                      </a:r>
                    </a:p>
                  </a:txBody>
                  <a:tcPr marL="3810" marR="3810" marT="3810" marB="0" anchor="ctr"/>
                </a:tc>
                <a:extLst>
                  <a:ext uri="{0D108BD9-81ED-4DB2-BD59-A6C34878D82A}">
                    <a16:rowId xmlns:a16="http://schemas.microsoft.com/office/drawing/2014/main" val="1472548560"/>
                  </a:ext>
                </a:extLst>
              </a:tr>
              <a:tr h="419240">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DS38</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استخدام تقنيات تسجيل الدخول الثنائي ومتعددة العوامل كإجراء أمني إضافي لحماية الحسابات والبيانات والأنظمة الحساسة.</a:t>
                      </a:r>
                    </a:p>
                  </a:txBody>
                  <a:tcPr marL="3810" marR="3810" marT="3810" marB="0" anchor="ctr"/>
                </a:tc>
                <a:extLst>
                  <a:ext uri="{0D108BD9-81ED-4DB2-BD59-A6C34878D82A}">
                    <a16:rowId xmlns:a16="http://schemas.microsoft.com/office/drawing/2014/main" val="399687734"/>
                  </a:ext>
                </a:extLst>
              </a:tr>
              <a:tr h="626938">
                <a:tc>
                  <a:txBody>
                    <a:bodyPr/>
                    <a:lstStyle/>
                    <a:p>
                      <a:pPr algn="ctr" rtl="0" fontAlgn="ctr"/>
                      <a:r>
                        <a:rPr lang="en-US" sz="1350" b="1" i="0" u="none" strike="noStrike" baseline="0">
                          <a:solidFill>
                            <a:srgbClr val="000000"/>
                          </a:solidFill>
                          <a:effectLst/>
                          <a:latin typeface="Sakkal Majalla" panose="02000000000000000000" pitchFamily="2" charset="-78"/>
                          <a:cs typeface="Sakkal Majalla" panose="02000000000000000000" pitchFamily="2" charset="-78"/>
                        </a:rPr>
                        <a:t>DS39</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تشمل استراتيجيات إدارة البيانات قواعد للحفاظ على البيانات القديمة والتي لم تعد مستخدمة بطريقة آمنة ومنظمة. ويشمل وضع سياسات للتعامل مع البيانات المفقودة أو المسروقة وكيفية التحقيق والإبلاغ عن الحوادث السيبرانية.</a:t>
                      </a:r>
                    </a:p>
                  </a:txBody>
                  <a:tcPr marL="3810" marR="3810" marT="3810" marB="0" anchor="ctr"/>
                </a:tc>
                <a:extLst>
                  <a:ext uri="{0D108BD9-81ED-4DB2-BD59-A6C34878D82A}">
                    <a16:rowId xmlns:a16="http://schemas.microsoft.com/office/drawing/2014/main" val="1821309394"/>
                  </a:ext>
                </a:extLst>
              </a:tr>
              <a:tr h="596672">
                <a:tc>
                  <a:txBody>
                    <a:bodyPr/>
                    <a:lstStyle/>
                    <a:p>
                      <a:pPr algn="ctr" rtl="0" fontAlgn="ctr"/>
                      <a:r>
                        <a:rPr lang="en-US" sz="1350" b="1" i="0" u="none" strike="noStrike" baseline="0" dirty="0">
                          <a:solidFill>
                            <a:srgbClr val="000000"/>
                          </a:solidFill>
                          <a:effectLst/>
                          <a:latin typeface="Sakkal Majalla" panose="02000000000000000000" pitchFamily="2" charset="-78"/>
                          <a:cs typeface="Sakkal Majalla" panose="02000000000000000000" pitchFamily="2" charset="-78"/>
                        </a:rPr>
                        <a:t>DS40</a:t>
                      </a:r>
                    </a:p>
                  </a:txBody>
                  <a:tcPr marL="3810" marR="3810" marT="3810" marB="0" anchor="ctr"/>
                </a:tc>
                <a:tc>
                  <a:txBody>
                    <a:bodyPr/>
                    <a:lstStyle/>
                    <a:p>
                      <a:pPr algn="r" rtl="1" fontAlgn="ctr"/>
                      <a:r>
                        <a:rPr lang="ar-SA" sz="1350" b="0" i="0" u="none" strike="noStrike" baseline="0" dirty="0">
                          <a:solidFill>
                            <a:srgbClr val="000000"/>
                          </a:solidFill>
                          <a:effectLst/>
                          <a:latin typeface="Sakkal Majalla" panose="02000000000000000000" pitchFamily="2" charset="-78"/>
                          <a:cs typeface="Sakkal Majalla" panose="02000000000000000000" pitchFamily="2" charset="-78"/>
                        </a:rPr>
                        <a:t>تحديث سياسات وإجراءات إدارة البيانات بانتظام لضمان توافقها مع التطورات التقنية والتغييرات في اللوائح التنظيمية.</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2642259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المعايير المرتبطة ببنية </a:t>
            </a:r>
            <a:r>
              <a:rPr lang="ar-SA" dirty="0"/>
              <a:t>البيانات</a:t>
            </a:r>
            <a:r>
              <a:rPr lang="en-US" dirty="0"/>
              <a:t> (3 / 3)</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47</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604696745"/>
              </p:ext>
            </p:extLst>
          </p:nvPr>
        </p:nvGraphicFramePr>
        <p:xfrm>
          <a:off x="6128658" y="1134811"/>
          <a:ext cx="5551715" cy="1474971"/>
        </p:xfrm>
        <a:graphic>
          <a:graphicData uri="http://schemas.openxmlformats.org/drawingml/2006/table">
            <a:tbl>
              <a:tblPr rtl="1" firstRow="1" bandRow="1">
                <a:tableStyleId>{5C22544A-7EE6-4342-B048-85BDC9FD1C3A}</a:tableStyleId>
              </a:tblPr>
              <a:tblGrid>
                <a:gridCol w="617712">
                  <a:extLst>
                    <a:ext uri="{9D8B030D-6E8A-4147-A177-3AD203B41FA5}">
                      <a16:colId xmlns:a16="http://schemas.microsoft.com/office/drawing/2014/main" val="3903813106"/>
                    </a:ext>
                  </a:extLst>
                </a:gridCol>
                <a:gridCol w="4934003">
                  <a:extLst>
                    <a:ext uri="{9D8B030D-6E8A-4147-A177-3AD203B41FA5}">
                      <a16:colId xmlns:a16="http://schemas.microsoft.com/office/drawing/2014/main" val="1509377109"/>
                    </a:ext>
                  </a:extLst>
                </a:gridCol>
              </a:tblGrid>
              <a:tr h="452870">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رمز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000" u="none" strike="noStrike" baseline="0" dirty="0">
                          <a:effectLst/>
                          <a:latin typeface="Sakkal Majalla" panose="02000000000000000000" pitchFamily="2" charset="-78"/>
                          <a:cs typeface="Sakkal Majalla" panose="02000000000000000000" pitchFamily="2" charset="-78"/>
                        </a:rPr>
                        <a:t>وصف المعيار</a:t>
                      </a:r>
                      <a:endParaRPr lang="ar-SA" sz="20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extLst>
                  <a:ext uri="{0D108BD9-81ED-4DB2-BD59-A6C34878D82A}">
                    <a16:rowId xmlns:a16="http://schemas.microsoft.com/office/drawing/2014/main" val="2314702902"/>
                  </a:ext>
                </a:extLst>
              </a:tr>
              <a:tr h="43053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DS41</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تطبيق سياسات لإدارة الحقوق الرقمية تشمل حماية المحتوى الرقمي من الاستخدام غير المصرح به أو التوزيع غير القانوني.</a:t>
                      </a:r>
                    </a:p>
                  </a:txBody>
                  <a:tcPr marL="3810" marR="3810" marT="3810" marB="0" anchor="ctr"/>
                </a:tc>
                <a:extLst>
                  <a:ext uri="{0D108BD9-81ED-4DB2-BD59-A6C34878D82A}">
                    <a16:rowId xmlns:a16="http://schemas.microsoft.com/office/drawing/2014/main" val="2489963446"/>
                  </a:ext>
                </a:extLst>
              </a:tr>
              <a:tr h="430530">
                <a:tc>
                  <a:txBody>
                    <a:bodyPr/>
                    <a:lstStyle/>
                    <a:p>
                      <a:pPr algn="ctr" rtl="0" fontAlgn="ctr"/>
                      <a:r>
                        <a:rPr lang="en-US" sz="1400" b="1" i="0" u="none" strike="noStrike" baseline="0" dirty="0">
                          <a:solidFill>
                            <a:srgbClr val="000000"/>
                          </a:solidFill>
                          <a:effectLst/>
                          <a:latin typeface="Sakkal Majalla" panose="02000000000000000000" pitchFamily="2" charset="-78"/>
                          <a:cs typeface="Sakkal Majalla" panose="02000000000000000000" pitchFamily="2" charset="-78"/>
                        </a:rPr>
                        <a:t>DS42</a:t>
                      </a:r>
                    </a:p>
                  </a:txBody>
                  <a:tcPr marL="3810" marR="3810" marT="3810" marB="0" anchor="ctr"/>
                </a:tc>
                <a:tc>
                  <a:txBody>
                    <a:bodyPr/>
                    <a:lstStyle/>
                    <a:p>
                      <a:pPr algn="r" rtl="1" fontAlgn="ct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تبني منهجيات الرشيقة</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400" b="0" i="0" u="none" strike="noStrike" baseline="0" dirty="0">
                          <a:solidFill>
                            <a:srgbClr val="000000"/>
                          </a:solidFill>
                          <a:effectLst/>
                          <a:latin typeface="Sakkal Majalla" panose="02000000000000000000" pitchFamily="2" charset="-78"/>
                          <a:cs typeface="Sakkal Majalla" panose="02000000000000000000" pitchFamily="2" charset="-78"/>
                        </a:rPr>
                        <a:t>Agile</a:t>
                      </a:r>
                      <a:r>
                        <a:rPr lang="ar-EG" sz="1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400" b="0" i="0" u="none" strike="noStrike" baseline="0" dirty="0">
                          <a:solidFill>
                            <a:srgbClr val="000000"/>
                          </a:solidFill>
                          <a:effectLst/>
                          <a:latin typeface="Sakkal Majalla" panose="02000000000000000000" pitchFamily="2" charset="-78"/>
                          <a:cs typeface="Sakkal Majalla" panose="02000000000000000000" pitchFamily="2" charset="-78"/>
                        </a:rPr>
                        <a:t>في إدارة البيانات لضمان تحسين مستمر وسرعة استجابة لتغيرات السوق والاحتياجات التنظيمية.</a:t>
                      </a:r>
                    </a:p>
                  </a:txBody>
                  <a:tcPr marL="3810" marR="3810" marT="3810" marB="0" anchor="ctr"/>
                </a:tc>
                <a:extLst>
                  <a:ext uri="{0D108BD9-81ED-4DB2-BD59-A6C34878D82A}">
                    <a16:rowId xmlns:a16="http://schemas.microsoft.com/office/drawing/2014/main" val="665810392"/>
                  </a:ext>
                </a:extLst>
              </a:tr>
            </a:tbl>
          </a:graphicData>
        </a:graphic>
      </p:graphicFrame>
    </p:spTree>
    <p:extLst>
      <p:ext uri="{BB962C8B-B14F-4D97-AF65-F5344CB8AC3E}">
        <p14:creationId xmlns:p14="http://schemas.microsoft.com/office/powerpoint/2010/main" val="714253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المعايير المرتبطة ببنية </a:t>
            </a:r>
            <a:r>
              <a:rPr lang="ar-EG" sz="2800" dirty="0"/>
              <a:t>التقنية</a:t>
            </a:r>
            <a:endParaRPr lang="en-US" sz="2800" dirty="0"/>
          </a:p>
        </p:txBody>
      </p:sp>
      <p:sp>
        <p:nvSpPr>
          <p:cNvPr id="4" name="Text Placeholder 3"/>
          <p:cNvSpPr>
            <a:spLocks noGrp="1"/>
          </p:cNvSpPr>
          <p:nvPr>
            <p:ph type="body" sz="quarter" idx="14"/>
          </p:nvPr>
        </p:nvSpPr>
        <p:spPr/>
        <p:txBody>
          <a:bodyPr/>
          <a:lstStyle/>
          <a:p>
            <a:r>
              <a:rPr lang="ar-EG" sz="7200" dirty="0"/>
              <a:t>3.5</a:t>
            </a:r>
            <a:endParaRPr lang="en-US" sz="7200" dirty="0"/>
          </a:p>
        </p:txBody>
      </p:sp>
    </p:spTree>
    <p:extLst>
      <p:ext uri="{BB962C8B-B14F-4D97-AF65-F5344CB8AC3E}">
        <p14:creationId xmlns:p14="http://schemas.microsoft.com/office/powerpoint/2010/main" val="388659180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40683-76A2-49CB-42A1-E164878554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764815-3589-CE1D-65A5-46F0D60DB5BA}"/>
              </a:ext>
            </a:extLst>
          </p:cNvPr>
          <p:cNvSpPr>
            <a:spLocks noGrp="1"/>
          </p:cNvSpPr>
          <p:nvPr>
            <p:ph type="title"/>
          </p:nvPr>
        </p:nvSpPr>
        <p:spPr/>
        <p:txBody>
          <a:bodyPr/>
          <a:lstStyle/>
          <a:p>
            <a:r>
              <a:rPr lang="ar-SA" dirty="0"/>
              <a:t>المعايير المرتبطة ببنية التقنية </a:t>
            </a:r>
            <a:endParaRPr lang="en-US" dirty="0"/>
          </a:p>
        </p:txBody>
      </p:sp>
      <p:sp>
        <p:nvSpPr>
          <p:cNvPr id="5" name="Slide Number Placeholder 4">
            <a:extLst>
              <a:ext uri="{FF2B5EF4-FFF2-40B4-BE49-F238E27FC236}">
                <a16:creationId xmlns:a16="http://schemas.microsoft.com/office/drawing/2014/main" id="{D20D0845-753D-0CEB-D21E-E735D4418E55}"/>
              </a:ext>
            </a:extLst>
          </p:cNvPr>
          <p:cNvSpPr>
            <a:spLocks noGrp="1"/>
          </p:cNvSpPr>
          <p:nvPr>
            <p:ph type="sldNum" sz="quarter" idx="12"/>
          </p:nvPr>
        </p:nvSpPr>
        <p:spPr/>
        <p:txBody>
          <a:bodyPr/>
          <a:lstStyle/>
          <a:p>
            <a:fld id="{0BE4EC83-A869-464E-AE9F-881796FB085E}" type="slidenum">
              <a:rPr lang="en-US" smtClean="0"/>
              <a:t>49</a:t>
            </a:fld>
            <a:endParaRPr lang="en-US" dirty="0"/>
          </a:p>
        </p:txBody>
      </p:sp>
      <p:graphicFrame>
        <p:nvGraphicFramePr>
          <p:cNvPr id="7" name="Table 6">
            <a:extLst>
              <a:ext uri="{FF2B5EF4-FFF2-40B4-BE49-F238E27FC236}">
                <a16:creationId xmlns:a16="http://schemas.microsoft.com/office/drawing/2014/main" id="{90482BD3-0481-04F7-85E2-5F7EE31F83D5}"/>
              </a:ext>
            </a:extLst>
          </p:cNvPr>
          <p:cNvGraphicFramePr>
            <a:graphicFrameLocks noGrp="1"/>
          </p:cNvGraphicFramePr>
          <p:nvPr>
            <p:extLst>
              <p:ext uri="{D42A27DB-BD31-4B8C-83A1-F6EECF244321}">
                <p14:modId xmlns:p14="http://schemas.microsoft.com/office/powerpoint/2010/main" val="2564364383"/>
              </p:ext>
            </p:extLst>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TS01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مراقبة الوصول وتسجيل الأحداث بشكل فعال لتتبع النشاطات غير المصرح بها.</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TS02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يكون تصميم بنية التقنية متكامل وفعال لضمان توافر الخدمات والتحمل والقدرة على الاستمرارية في تقديم الخدمات بوتيرة عالية دون تعطيل أو انقطاع.</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TS03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ضمان توفير الدعم التقني الفعال والمستمر للعمليات الأساسية والتحسين المستمر للخدمات.</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TS04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العزل والتقسيم المادي أو المنطقي لأجزاء الشبكة بشكل آمن.</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TS05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عزل شبكة بيئة الإنتاج عن شبكات بيئات التطوير والاختبار.</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TS06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حصر جميع الأصول المعلوماتية والتقنية باستخدام التقنيات المناسبة كقاعدة بيانات إدارة الإعدادات (</a:t>
                      </a:r>
                      <a:r>
                        <a:rPr lang="en-US" sz="1100" b="0" i="0" u="none" strike="noStrike">
                          <a:solidFill>
                            <a:srgbClr val="000000"/>
                          </a:solidFill>
                          <a:effectLst/>
                          <a:latin typeface="Calibri" panose="020F0502020204030204" pitchFamily="34" charset="0"/>
                        </a:rPr>
                        <a:t>CMDB)، </a:t>
                      </a:r>
                      <a:r>
                        <a:rPr lang="ar-SA" sz="1100" b="0" i="0" u="none" strike="noStrike">
                          <a:solidFill>
                            <a:srgbClr val="000000"/>
                          </a:solidFill>
                          <a:effectLst/>
                          <a:latin typeface="Calibri" panose="020F0502020204030204" pitchFamily="34" charset="0"/>
                        </a:rPr>
                        <a:t>أو قدرة مماثلة، تتضمن جردًا لكل الأصول التقنية.</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TS07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مالك الأصول (</a:t>
                      </a:r>
                      <a:r>
                        <a:rPr lang="en-US" sz="1100" b="0" i="0" u="none" strike="noStrike">
                          <a:solidFill>
                            <a:srgbClr val="000000"/>
                          </a:solidFill>
                          <a:effectLst/>
                          <a:latin typeface="Calibri" panose="020F0502020204030204" pitchFamily="34" charset="0"/>
                        </a:rPr>
                        <a:t>Asset Owners) </a:t>
                      </a:r>
                      <a:r>
                        <a:rPr lang="ar-SA" sz="1100" b="0" i="0" u="none" strike="noStrike">
                          <a:solidFill>
                            <a:srgbClr val="000000"/>
                          </a:solidFill>
                          <a:effectLst/>
                          <a:latin typeface="Calibri" panose="020F0502020204030204" pitchFamily="34" charset="0"/>
                        </a:rPr>
                        <a:t>وإشراكهم في دورة حياة إدارة الأصول.</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TS08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التحكم في دورة حياة الأصول وتسجيل جميع التغييرات في الأصول (الحالة – الموقع – الخصائص – التعيين).</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TS09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تصنيف الأصول المعلوماتية والتقنية للجهة وترميزها (</a:t>
                      </a:r>
                      <a:r>
                        <a:rPr lang="en-US" sz="1100" b="0" i="0" u="none" strike="noStrike">
                          <a:solidFill>
                            <a:srgbClr val="000000"/>
                          </a:solidFill>
                          <a:effectLst/>
                          <a:latin typeface="Calibri" panose="020F0502020204030204" pitchFamily="34" charset="0"/>
                        </a:rPr>
                        <a:t>Labeling).</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TS10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الأصول والوسائط ذات الصلة والتوافق ودفع التحسينات التصحيحية والوقائية للمشكلات المكتشفة.</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وتوثيق واعتماد ونشر سياسة الاستخدام المقبول للأصول المعلوماتية والتقنية للجهة.</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الدخول المصرح به للأماكن الحساسة (مركز البيانات – مركز التعافي من الكوارث – غرف الاتصالات…).</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أمن إتلاف وإعادة استخدام الأصول المادية التي تحتوي معلومات مصنفة.</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أمن الأجهزة والمعدات داخل مباني الجهة وخارجها.</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متطلبات الأمن المادي لحماية الأصول المعلوماتية والتقنية من الوصول المادي غير المصرح به والفقدان والسرقة والتخريب.</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سجلات الدخول والمراقبة </a:t>
                      </a:r>
                      <a:r>
                        <a:rPr lang="en-US" sz="1100" b="0" i="0" u="none" strike="noStrike">
                          <a:solidFill>
                            <a:srgbClr val="000000"/>
                          </a:solidFill>
                          <a:effectLst/>
                          <a:latin typeface="Calibri" panose="020F0502020204030204" pitchFamily="34" charset="0"/>
                        </a:rPr>
                        <a:t>CCTV.</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TS17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حماية معلومات سجلات الدخول والمراقبة.</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972566516"/>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6EFB-AE1F-BFA5-0078-887D541356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AE67D7-FE04-3ED5-BC7F-BA6FF5527FAF}"/>
              </a:ext>
            </a:extLst>
          </p:cNvPr>
          <p:cNvSpPr>
            <a:spLocks noGrp="1"/>
          </p:cNvSpPr>
          <p:nvPr>
            <p:ph type="title"/>
          </p:nvPr>
        </p:nvSpPr>
        <p:spPr/>
        <p:txBody>
          <a:bodyPr/>
          <a:lstStyle/>
          <a:p>
            <a:r>
              <a:rPr lang="ar-SA" dirty="0"/>
              <a:t>المعايير المرتبطة ببنية التقنية </a:t>
            </a:r>
            <a:endParaRPr lang="en-US" dirty="0"/>
          </a:p>
        </p:txBody>
      </p:sp>
      <p:sp>
        <p:nvSpPr>
          <p:cNvPr id="5" name="Slide Number Placeholder 4">
            <a:extLst>
              <a:ext uri="{FF2B5EF4-FFF2-40B4-BE49-F238E27FC236}">
                <a16:creationId xmlns:a16="http://schemas.microsoft.com/office/drawing/2014/main" id="{D5FB30C8-43BB-25F7-6854-7DAEEF44EDE1}"/>
              </a:ext>
            </a:extLst>
          </p:cNvPr>
          <p:cNvSpPr>
            <a:spLocks noGrp="1"/>
          </p:cNvSpPr>
          <p:nvPr>
            <p:ph type="sldNum" sz="quarter" idx="12"/>
          </p:nvPr>
        </p:nvSpPr>
        <p:spPr/>
        <p:txBody>
          <a:bodyPr/>
          <a:lstStyle/>
          <a:p>
            <a:fld id="{0BE4EC83-A869-464E-AE9F-881796FB085E}" type="slidenum">
              <a:rPr lang="en-US" smtClean="0"/>
              <a:t>50</a:t>
            </a:fld>
            <a:endParaRPr lang="en-US" dirty="0"/>
          </a:p>
        </p:txBody>
      </p:sp>
      <p:graphicFrame>
        <p:nvGraphicFramePr>
          <p:cNvPr id="7" name="Table 6">
            <a:extLst>
              <a:ext uri="{FF2B5EF4-FFF2-40B4-BE49-F238E27FC236}">
                <a16:creationId xmlns:a16="http://schemas.microsoft.com/office/drawing/2014/main" id="{F876E759-21E4-1B0B-CB0C-FF51FDAECAF0}"/>
              </a:ext>
            </a:extLst>
          </p:cNvPr>
          <p:cNvGraphicFramePr>
            <a:graphicFrameLocks noGrp="1"/>
          </p:cNvGraphicFramePr>
          <p:nvPr>
            <p:extLst>
              <p:ext uri="{D42A27DB-BD31-4B8C-83A1-F6EECF244321}">
                <p14:modId xmlns:p14="http://schemas.microsoft.com/office/powerpoint/2010/main" val="1550576450"/>
              </p:ext>
            </p:extLst>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TS21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جدار الحماية لتطبيقات الويب </a:t>
                      </a:r>
                      <a:r>
                        <a:rPr lang="en-US" sz="1100" b="0" i="0" u="none" strike="noStrike">
                          <a:solidFill>
                            <a:srgbClr val="000000"/>
                          </a:solidFill>
                          <a:effectLst/>
                          <a:latin typeface="Calibri" panose="020F0502020204030204" pitchFamily="34" charset="0"/>
                        </a:rPr>
                        <a:t>Web Application Firewall.</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TS22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مبدأ المعمارية متعددة المستويات </a:t>
                      </a:r>
                      <a:r>
                        <a:rPr lang="en-US" sz="1100" b="0" i="0" u="none" strike="noStrike">
                          <a:solidFill>
                            <a:srgbClr val="000000"/>
                          </a:solidFill>
                          <a:effectLst/>
                          <a:latin typeface="Calibri" panose="020F0502020204030204" pitchFamily="34" charset="0"/>
                        </a:rPr>
                        <a:t>Multi-tier Architecture.</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TS23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بروتوكولات آمنة مثل </a:t>
                      </a:r>
                      <a:r>
                        <a:rPr lang="en-US" sz="1100" b="0" i="0" u="none" strike="noStrike">
                          <a:solidFill>
                            <a:srgbClr val="000000"/>
                          </a:solidFill>
                          <a:effectLst/>
                          <a:latin typeface="Calibri" panose="020F0502020204030204" pitchFamily="34" charset="0"/>
                        </a:rPr>
                        <a:t>HTTPS.</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TS24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توضيح سياسة الاستخدام الآمن للمستخدمين.</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TS25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إدارة حزم التحديثات والإصلاحات للأنظمة والتطبيقات والأجهزة </a:t>
                      </a:r>
                      <a:r>
                        <a:rPr lang="en-US" sz="1100" b="0" i="0" u="none" strike="noStrike">
                          <a:solidFill>
                            <a:srgbClr val="000000"/>
                          </a:solidFill>
                          <a:effectLst/>
                          <a:latin typeface="Calibri" panose="020F0502020204030204" pitchFamily="34" charset="0"/>
                        </a:rPr>
                        <a:t>Patch Management.</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TS26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مزامنة التوقيت مركزيًا </a:t>
                      </a:r>
                      <a:r>
                        <a:rPr lang="en-US" sz="1100" b="0" i="0" u="none" strike="noStrike">
                          <a:solidFill>
                            <a:srgbClr val="000000"/>
                          </a:solidFill>
                          <a:effectLst/>
                          <a:latin typeface="Calibri" panose="020F0502020204030204" pitchFamily="34" charset="0"/>
                        </a:rPr>
                        <a:t>Synchronization Clock </a:t>
                      </a:r>
                      <a:r>
                        <a:rPr lang="ar-SA" sz="1100" b="0" i="0" u="none" strike="noStrike">
                          <a:solidFill>
                            <a:srgbClr val="000000"/>
                          </a:solidFill>
                          <a:effectLst/>
                          <a:latin typeface="Calibri" panose="020F0502020204030204" pitchFamily="34" charset="0"/>
                        </a:rPr>
                        <a:t>من مصدر دقيق وموثوق.</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TS27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تحليل وتصفية رسائل البريد الإلكتروني باستخدام تقنيات وآليات الحماية الحديثة والمتقدمة.</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TS28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توثيق مجال البريد الإلكتروني للجهة باستخدام الطرق التقنية مثل </a:t>
                      </a:r>
                      <a:r>
                        <a:rPr lang="en-US" sz="1100" b="0" i="0" u="none" strike="noStrike">
                          <a:solidFill>
                            <a:srgbClr val="000000"/>
                          </a:solidFill>
                          <a:effectLst/>
                          <a:latin typeface="Calibri" panose="020F0502020204030204" pitchFamily="34" charset="0"/>
                        </a:rPr>
                        <a:t>SPF.</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TS29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بروتوكول الإصدار السادس </a:t>
                      </a:r>
                      <a:r>
                        <a:rPr lang="en-US" sz="1100" b="0" i="0" u="none" strike="noStrike">
                          <a:solidFill>
                            <a:srgbClr val="000000"/>
                          </a:solidFill>
                          <a:effectLst/>
                          <a:latin typeface="Calibri" panose="020F0502020204030204" pitchFamily="34" charset="0"/>
                        </a:rPr>
                        <a:t>IPv6.</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TS30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إجراء فحص دوري لفعالية استعادة النسخ الاحتياطية.</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TS31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التحقق من الهوية متعدد العوامل لعمليات دخول المستخدمين.</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TS32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تصنيف البيانات قبل استضافتها لدى مقدمي خدمات الحوسبة السحابية وإعادتها بصيغة قابلة للاستخدام.</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TS33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فصل البيئة الخاصة بالجهة (الخوادم الافتراضية خصوصًا) عن بيئات جهات أخرى في السحابة.</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TS34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موقع استضافة وتخزين معلومات الجهة أن يكون داخل المملكة.</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TS35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متطلبات الأمن السيبراني الخاصة بخدمات السحابة دورياً.</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TS36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السماح فقط بقائمة محددة </a:t>
                      </a:r>
                      <a:r>
                        <a:rPr lang="en-US" sz="1100" b="0" i="0" u="none" strike="noStrike">
                          <a:solidFill>
                            <a:srgbClr val="000000"/>
                          </a:solidFill>
                          <a:effectLst/>
                          <a:latin typeface="Calibri" panose="020F0502020204030204" pitchFamily="34" charset="0"/>
                        </a:rPr>
                        <a:t>Whitelisting </a:t>
                      </a:r>
                      <a:r>
                        <a:rPr lang="ar-SA" sz="1100" b="0" i="0" u="none" strike="noStrike">
                          <a:solidFill>
                            <a:srgbClr val="000000"/>
                          </a:solidFill>
                          <a:effectLst/>
                          <a:latin typeface="Calibri" panose="020F0502020204030204" pitchFamily="34" charset="0"/>
                        </a:rPr>
                        <a:t>للعمل على الخوادم الخاصة بالأنظمة الحساسة.</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TS37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حماية الخوادم الحساسة بتقنيات </a:t>
                      </a:r>
                      <a:r>
                        <a:rPr lang="en-US" sz="1100" b="0" i="0" u="none" strike="noStrike" dirty="0">
                          <a:solidFill>
                            <a:srgbClr val="000000"/>
                          </a:solidFill>
                          <a:effectLst/>
                          <a:latin typeface="Calibri" panose="020F0502020204030204" pitchFamily="34" charset="0"/>
                        </a:rPr>
                        <a:t>Endpoint Protection.</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2342175432"/>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DE4E5-F0A5-BE00-2432-8328872125A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43CF849-3E71-B6E5-0AE1-9FC4F94D9508}"/>
              </a:ext>
            </a:extLst>
          </p:cNvPr>
          <p:cNvSpPr>
            <a:spLocks noGrp="1"/>
          </p:cNvSpPr>
          <p:nvPr>
            <p:ph type="title"/>
          </p:nvPr>
        </p:nvSpPr>
        <p:spPr/>
        <p:txBody>
          <a:bodyPr/>
          <a:lstStyle/>
          <a:p>
            <a:r>
              <a:rPr lang="ar-SA" dirty="0"/>
              <a:t>المعايير المرتبطة ببنية التقنية </a:t>
            </a:r>
            <a:endParaRPr lang="en-US" dirty="0"/>
          </a:p>
        </p:txBody>
      </p:sp>
      <p:sp>
        <p:nvSpPr>
          <p:cNvPr id="5" name="Slide Number Placeholder 4">
            <a:extLst>
              <a:ext uri="{FF2B5EF4-FFF2-40B4-BE49-F238E27FC236}">
                <a16:creationId xmlns:a16="http://schemas.microsoft.com/office/drawing/2014/main" id="{B5334895-4C4D-899B-DC46-05E21858FD74}"/>
              </a:ext>
            </a:extLst>
          </p:cNvPr>
          <p:cNvSpPr>
            <a:spLocks noGrp="1"/>
          </p:cNvSpPr>
          <p:nvPr>
            <p:ph type="sldNum" sz="quarter" idx="12"/>
          </p:nvPr>
        </p:nvSpPr>
        <p:spPr/>
        <p:txBody>
          <a:bodyPr/>
          <a:lstStyle/>
          <a:p>
            <a:fld id="{0BE4EC83-A869-464E-AE9F-881796FB085E}" type="slidenum">
              <a:rPr lang="en-US" smtClean="0"/>
              <a:t>51</a:t>
            </a:fld>
            <a:endParaRPr lang="en-US" dirty="0"/>
          </a:p>
        </p:txBody>
      </p:sp>
      <p:graphicFrame>
        <p:nvGraphicFramePr>
          <p:cNvPr id="7" name="Table 6">
            <a:extLst>
              <a:ext uri="{FF2B5EF4-FFF2-40B4-BE49-F238E27FC236}">
                <a16:creationId xmlns:a16="http://schemas.microsoft.com/office/drawing/2014/main" id="{7362C673-703B-20CB-4CDE-56EB547B699F}"/>
              </a:ext>
            </a:extLst>
          </p:cNvPr>
          <p:cNvGraphicFramePr>
            <a:graphicFrameLocks noGrp="1"/>
          </p:cNvGraphicFramePr>
          <p:nvPr>
            <p:extLst>
              <p:ext uri="{D42A27DB-BD31-4B8C-83A1-F6EECF244321}">
                <p14:modId xmlns:p14="http://schemas.microsoft.com/office/powerpoint/2010/main" val="3612577474"/>
              </p:ext>
            </p:extLst>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TS41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الحماية من هجمات تعطيل الخدمة </a:t>
                      </a:r>
                      <a:r>
                        <a:rPr lang="en-US" sz="1100" b="0" i="0" u="none" strike="noStrike">
                          <a:solidFill>
                            <a:srgbClr val="000000"/>
                          </a:solidFill>
                          <a:effectLst/>
                          <a:latin typeface="Calibri" panose="020F0502020204030204" pitchFamily="34" charset="0"/>
                        </a:rPr>
                        <a:t>DDoS.</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TS42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السماح بقائمة محددة فقط في جدار الحماية للأنظمة الحساسة.</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TS43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منع الوصول من الأجهزة المحمولة للأنظمة الحساسة إلا مؤقتًا بعد تقييم المخاطر.</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TS44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مدة الاحتفاظ ببيانات الأعمال للأنظمة الحساسة حسب التشريعات.</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TS45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منع نقل بيانات الإنتاج إلى أي بيئة أخرى.</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TS46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تفعيل التنبيهات وسجلات الأحداث المتعلقة بإدارة تغييرات الملفات </a:t>
                      </a:r>
                      <a:r>
                        <a:rPr lang="en-US" sz="1100" b="0" i="0" u="none" strike="noStrike">
                          <a:solidFill>
                            <a:srgbClr val="000000"/>
                          </a:solidFill>
                          <a:effectLst/>
                          <a:latin typeface="Calibri" panose="020F0502020204030204" pitchFamily="34" charset="0"/>
                        </a:rPr>
                        <a:t>File Integrity Management.</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TS47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مراقبة سلوك المستخدم </a:t>
                      </a:r>
                      <a:r>
                        <a:rPr lang="en-US" sz="1100" b="0" i="0" u="none" strike="noStrike">
                          <a:solidFill>
                            <a:srgbClr val="000000"/>
                          </a:solidFill>
                          <a:effectLst/>
                          <a:latin typeface="Calibri" panose="020F0502020204030204" pitchFamily="34" charset="0"/>
                        </a:rPr>
                        <a:t>UBA </a:t>
                      </a:r>
                      <a:r>
                        <a:rPr lang="ar-SA" sz="1100" b="0" i="0" u="none" strike="noStrike">
                          <a:solidFill>
                            <a:srgbClr val="000000"/>
                          </a:solidFill>
                          <a:effectLst/>
                          <a:latin typeface="Calibri" panose="020F0502020204030204" pitchFamily="34" charset="0"/>
                        </a:rPr>
                        <a:t>وتحليله.</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TS48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مراقبة سجلات الأنظمة الحساسة على مدار الساعة.</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TS49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الاحتفاظ بسجلات الأمن السيبراني للأنظمة الحساسة…</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TS50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مدة الاحتفاظ بسجلات الأمن السيبراني للأنظمة الحساسة لا تقل عن 18 شهرًا.</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الإدارة الآمنة للجلسات (</a:t>
                      </a:r>
                      <a:r>
                        <a:rPr lang="en-US" sz="1100" b="0" i="0" u="none" strike="noStrike">
                          <a:solidFill>
                            <a:srgbClr val="000000"/>
                          </a:solidFill>
                          <a:effectLst/>
                          <a:latin typeface="Calibri" panose="020F0502020204030204" pitchFamily="34" charset="0"/>
                        </a:rPr>
                        <a:t>Timeout – Lockout – Authenticity).</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مبدأ المعمارية متعددة المستويات (3-</a:t>
                      </a:r>
                      <a:r>
                        <a:rPr lang="en-US" sz="1100" b="0" i="0" u="none" strike="noStrike">
                          <a:solidFill>
                            <a:srgbClr val="000000"/>
                          </a:solidFill>
                          <a:effectLst/>
                          <a:latin typeface="Calibri" panose="020F0502020204030204" pitchFamily="34" charset="0"/>
                        </a:rPr>
                        <a:t>Tier).</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وضع مركز للتعافي من الكوارث للأنظمة الحساسة.</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إدراج الأنظمة الحساسة ضمن خطط التعافي من الكوارث.</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اختبارات دورية لفعالية خطط التعافي من الكوارث.</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اختبار حي </a:t>
                      </a:r>
                      <a:r>
                        <a:rPr lang="en-US" sz="1100" b="0" i="0" u="none" strike="noStrike">
                          <a:solidFill>
                            <a:srgbClr val="000000"/>
                          </a:solidFill>
                          <a:effectLst/>
                          <a:latin typeface="Calibri" panose="020F0502020204030204" pitchFamily="34" charset="0"/>
                        </a:rPr>
                        <a:t>Live Test </a:t>
                      </a:r>
                      <a:r>
                        <a:rPr lang="ar-SA" sz="1100" b="0" i="0" u="none" strike="noStrike">
                          <a:solidFill>
                            <a:srgbClr val="000000"/>
                          </a:solidFill>
                          <a:effectLst/>
                          <a:latin typeface="Calibri" panose="020F0502020204030204" pitchFamily="34" charset="0"/>
                        </a:rPr>
                        <a:t>للتعافي من الكوارث.</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TS57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المسح الأمني لشركات خدمات الإسناد وموظفيها.</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4050735101"/>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DB86-0AF8-826C-D535-0B853FAB4DE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7E56DAC-F22A-CBAB-02DA-BFAE84AA9412}"/>
              </a:ext>
            </a:extLst>
          </p:cNvPr>
          <p:cNvSpPr>
            <a:spLocks noGrp="1"/>
          </p:cNvSpPr>
          <p:nvPr>
            <p:ph type="title"/>
          </p:nvPr>
        </p:nvSpPr>
        <p:spPr/>
        <p:txBody>
          <a:bodyPr/>
          <a:lstStyle/>
          <a:p>
            <a:r>
              <a:rPr lang="ar-SA" dirty="0"/>
              <a:t>المعايير المرتبطة ببنية التقنية </a:t>
            </a:r>
            <a:endParaRPr lang="en-US" dirty="0"/>
          </a:p>
        </p:txBody>
      </p:sp>
      <p:sp>
        <p:nvSpPr>
          <p:cNvPr id="5" name="Slide Number Placeholder 4">
            <a:extLst>
              <a:ext uri="{FF2B5EF4-FFF2-40B4-BE49-F238E27FC236}">
                <a16:creationId xmlns:a16="http://schemas.microsoft.com/office/drawing/2014/main" id="{1B30FED8-2006-E4AE-FE7A-809BA52E6B6C}"/>
              </a:ext>
            </a:extLst>
          </p:cNvPr>
          <p:cNvSpPr>
            <a:spLocks noGrp="1"/>
          </p:cNvSpPr>
          <p:nvPr>
            <p:ph type="sldNum" sz="quarter" idx="12"/>
          </p:nvPr>
        </p:nvSpPr>
        <p:spPr/>
        <p:txBody>
          <a:bodyPr/>
          <a:lstStyle/>
          <a:p>
            <a:fld id="{0BE4EC83-A869-464E-AE9F-881796FB085E}" type="slidenum">
              <a:rPr lang="en-US" smtClean="0"/>
              <a:t>52</a:t>
            </a:fld>
            <a:endParaRPr lang="en-US" dirty="0"/>
          </a:p>
        </p:txBody>
      </p:sp>
      <p:graphicFrame>
        <p:nvGraphicFramePr>
          <p:cNvPr id="7" name="Table 6">
            <a:extLst>
              <a:ext uri="{FF2B5EF4-FFF2-40B4-BE49-F238E27FC236}">
                <a16:creationId xmlns:a16="http://schemas.microsoft.com/office/drawing/2014/main" id="{839657EA-ACE7-F531-5CF3-0545A26AF199}"/>
              </a:ext>
            </a:extLst>
          </p:cNvPr>
          <p:cNvGraphicFramePr>
            <a:graphicFrameLocks noGrp="1"/>
          </p:cNvGraphicFramePr>
          <p:nvPr>
            <p:extLst>
              <p:ext uri="{D42A27DB-BD31-4B8C-83A1-F6EECF244321}">
                <p14:modId xmlns:p14="http://schemas.microsoft.com/office/powerpoint/2010/main" val="3304586576"/>
              </p:ext>
            </p:extLst>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TS61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مستوى المخاطر المقبول لخدمات الحوسبة السحابية.</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TS62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إنشاء سجل مخاطر الأمن السيبراني الخاص بالسحابة.</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TS63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أخذ تصنيف البيانات في الاعتبار بمنهجية إدارة مخاطر السحابة.</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TS64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شغل وظائف الأمن السيبراني داخل مراكز بيانات مقدم الخدمة بموظفين سعوديين.</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TS65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إجراء المسح الأمني للعاملين الذين لهم حق الوصول إلى الأنظمة التقنية السحابية.</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TS66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توقيع العاملين على سياسات الأمن السيبراني قبل الوصول للأنظمة السحابية.</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TS67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ضمان إعادة الأصول الخاصة بمقدمي الخدمات عند انتهاء الخدمة.</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TS68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المسح الأمني للعاملين ذوي المهام الحساسة في السحابة.</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TS69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الاستخدام الآمن للأجهزة المخصصة للعمل عن بعد.</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TS70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التعامل الآمن مع هويات الدخول وكلمات المرور.</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TS71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حماية البيانات المحفوظة على أجهزة العمل عن بعد.</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TS72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التعامل الآمن مع التطبيقات والحلول المستخدمة للعمل عن بعد.</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TS73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التعامل الآمن مع الشبكات المنزلية والتأكد من إعدادات الحماية.</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TS74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تجنب العمل عن بعد باستخدام شبكات عامة غير موثوقة.</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TS75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الوصول المادي غير المصرح به للأجهزة والأنظمة الخاصة بالعمل عن بعد.</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TS76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التواصل مع إدارة الأمن السيبراني عند الاشتباه بتهديد.</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TS77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تحديد وحصر الأصول المعلوماتية للعمل عن بعد وتحديثها سنويًا.</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4029449290"/>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72E19-C0B8-9991-2D68-75F31002FBD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7FE8D8D-7AA1-0F3B-D554-F83B6EA3D49C}"/>
              </a:ext>
            </a:extLst>
          </p:cNvPr>
          <p:cNvSpPr>
            <a:spLocks noGrp="1"/>
          </p:cNvSpPr>
          <p:nvPr>
            <p:ph type="title"/>
          </p:nvPr>
        </p:nvSpPr>
        <p:spPr/>
        <p:txBody>
          <a:bodyPr/>
          <a:lstStyle/>
          <a:p>
            <a:r>
              <a:rPr lang="ar-SA" dirty="0"/>
              <a:t>المعايير المرتبطة ببنية التقنية </a:t>
            </a:r>
            <a:endParaRPr lang="en-US" dirty="0"/>
          </a:p>
        </p:txBody>
      </p:sp>
      <p:sp>
        <p:nvSpPr>
          <p:cNvPr id="5" name="Slide Number Placeholder 4">
            <a:extLst>
              <a:ext uri="{FF2B5EF4-FFF2-40B4-BE49-F238E27FC236}">
                <a16:creationId xmlns:a16="http://schemas.microsoft.com/office/drawing/2014/main" id="{B155B04B-538F-06AA-26DF-60045A57080F}"/>
              </a:ext>
            </a:extLst>
          </p:cNvPr>
          <p:cNvSpPr>
            <a:spLocks noGrp="1"/>
          </p:cNvSpPr>
          <p:nvPr>
            <p:ph type="sldNum" sz="quarter" idx="12"/>
          </p:nvPr>
        </p:nvSpPr>
        <p:spPr/>
        <p:txBody>
          <a:bodyPr/>
          <a:lstStyle/>
          <a:p>
            <a:fld id="{0BE4EC83-A869-464E-AE9F-881796FB085E}" type="slidenum">
              <a:rPr lang="en-US" smtClean="0"/>
              <a:t>53</a:t>
            </a:fld>
            <a:endParaRPr lang="en-US" dirty="0"/>
          </a:p>
        </p:txBody>
      </p:sp>
      <p:graphicFrame>
        <p:nvGraphicFramePr>
          <p:cNvPr id="7" name="Table 6">
            <a:extLst>
              <a:ext uri="{FF2B5EF4-FFF2-40B4-BE49-F238E27FC236}">
                <a16:creationId xmlns:a16="http://schemas.microsoft.com/office/drawing/2014/main" id="{1D1B394B-8EDA-CAD5-B2FE-C4B0BA283A54}"/>
              </a:ext>
            </a:extLst>
          </p:cNvPr>
          <p:cNvGraphicFramePr>
            <a:graphicFrameLocks noGrp="1"/>
          </p:cNvGraphicFramePr>
          <p:nvPr>
            <p:extLst>
              <p:ext uri="{D42A27DB-BD31-4B8C-83A1-F6EECF244321}">
                <p14:modId xmlns:p14="http://schemas.microsoft.com/office/powerpoint/2010/main" val="363274901"/>
              </p:ext>
            </p:extLst>
          </p:nvPr>
        </p:nvGraphicFramePr>
        <p:xfrm>
          <a:off x="697833" y="1313180"/>
          <a:ext cx="10884568" cy="2881100"/>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TS81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هويات الدخول والصلاحيات المستخدمة للعمل عن بعد سنويًا.</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TS82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التحديثات والإصلاحات الأمنية لأنظمة العمل عن بعد شهريًا.</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TS83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وتحصين إعدادات الحماية لأنظمة العمل عن بعد سنويًا.</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TS84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وتحصين الإعدادات المصنعية للأصول التقنية لأنظمة العمل عن بعد.</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TS85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تقييد تفعيل الخصائص والخدمات في أنظمة العمل عن بعد.</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TS86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تقييد منافذ وبروتوكولات الشبكة المستخدمة للدخول عن بعد.</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TS87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إدارة الأجهزة المحمولة وأجهزة </a:t>
                      </a:r>
                      <a:r>
                        <a:rPr lang="en-US" sz="1100" b="0" i="0" u="none" strike="noStrike">
                          <a:solidFill>
                            <a:srgbClr val="000000"/>
                          </a:solidFill>
                          <a:effectLst/>
                          <a:latin typeface="Calibri" panose="020F0502020204030204" pitchFamily="34" charset="0"/>
                        </a:rPr>
                        <a:t>BYOD </a:t>
                      </a:r>
                      <a:r>
                        <a:rPr lang="ar-SA" sz="1100" b="0" i="0" u="none" strike="noStrike">
                          <a:solidFill>
                            <a:srgbClr val="000000"/>
                          </a:solidFill>
                          <a:effectLst/>
                          <a:latin typeface="Calibri" panose="020F0502020204030204" pitchFamily="34" charset="0"/>
                        </a:rPr>
                        <a:t>باستخدام </a:t>
                      </a:r>
                      <a:r>
                        <a:rPr lang="en-US" sz="1100" b="0" i="0" u="none" strike="noStrike">
                          <a:solidFill>
                            <a:srgbClr val="000000"/>
                          </a:solidFill>
                          <a:effectLst/>
                          <a:latin typeface="Calibri" panose="020F0502020204030204" pitchFamily="34" charset="0"/>
                        </a:rPr>
                        <a:t>MDM.</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TS88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عمل النسخ الاحتياطي لأنظمة العمل عن بعد حسب تقييم المخاطر.</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TS89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حصر حسابات التواصل الاجتماعي للجهة ومراجعتها.</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TS90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الأصول التقنية والأنظمة التي تتعامل مع حسابات التواصل الاجتماعي.</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TS91</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تطبيق الضوابط على حسابات التواصل الاجتماعي ومتابعتها.</a:t>
                      </a:r>
                    </a:p>
                  </a:txBody>
                  <a:tcPr marL="7620" marR="7620" marT="7620" marB="0" anchor="ctr"/>
                </a:tc>
                <a:extLst>
                  <a:ext uri="{0D108BD9-81ED-4DB2-BD59-A6C34878D82A}">
                    <a16:rowId xmlns:a16="http://schemas.microsoft.com/office/drawing/2014/main" val="398168507"/>
                  </a:ext>
                </a:extLst>
              </a:tr>
            </a:tbl>
          </a:graphicData>
        </a:graphic>
      </p:graphicFrame>
    </p:spTree>
    <p:extLst>
      <p:ext uri="{BB962C8B-B14F-4D97-AF65-F5344CB8AC3E}">
        <p14:creationId xmlns:p14="http://schemas.microsoft.com/office/powerpoint/2010/main" val="1117417355"/>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B8F9A-4798-A7B7-5D55-4F61ACE8CB0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223FE4D-DDD2-BEC9-139C-3D92E743ED50}"/>
              </a:ext>
            </a:extLst>
          </p:cNvPr>
          <p:cNvSpPr>
            <a:spLocks noGrp="1"/>
          </p:cNvSpPr>
          <p:nvPr>
            <p:ph type="title"/>
          </p:nvPr>
        </p:nvSpPr>
        <p:spPr>
          <a:xfrm>
            <a:off x="5262880" y="3925452"/>
            <a:ext cx="6281420" cy="641639"/>
          </a:xfrm>
        </p:spPr>
        <p:txBody>
          <a:bodyPr/>
          <a:lstStyle/>
          <a:p>
            <a:r>
              <a:rPr lang="ar-SA" sz="2800" dirty="0"/>
              <a:t>المعايير المرتبطة ببنية </a:t>
            </a:r>
            <a:r>
              <a:rPr lang="ar-EG" sz="2800" dirty="0"/>
              <a:t>الأمن السيبراني</a:t>
            </a:r>
            <a:endParaRPr lang="en-US" sz="2800" dirty="0"/>
          </a:p>
        </p:txBody>
      </p:sp>
      <p:sp>
        <p:nvSpPr>
          <p:cNvPr id="4" name="Text Placeholder 3">
            <a:extLst>
              <a:ext uri="{FF2B5EF4-FFF2-40B4-BE49-F238E27FC236}">
                <a16:creationId xmlns:a16="http://schemas.microsoft.com/office/drawing/2014/main" id="{BBEDF722-4528-38AA-7B41-41A0E137A6CB}"/>
              </a:ext>
            </a:extLst>
          </p:cNvPr>
          <p:cNvSpPr>
            <a:spLocks noGrp="1"/>
          </p:cNvSpPr>
          <p:nvPr>
            <p:ph type="body" sz="quarter" idx="14"/>
          </p:nvPr>
        </p:nvSpPr>
        <p:spPr/>
        <p:txBody>
          <a:bodyPr/>
          <a:lstStyle/>
          <a:p>
            <a:r>
              <a:rPr lang="ar-EG" sz="7200" dirty="0"/>
              <a:t>3.6</a:t>
            </a:r>
            <a:endParaRPr lang="en-US" sz="7200" dirty="0"/>
          </a:p>
        </p:txBody>
      </p:sp>
    </p:spTree>
    <p:extLst>
      <p:ext uri="{BB962C8B-B14F-4D97-AF65-F5344CB8AC3E}">
        <p14:creationId xmlns:p14="http://schemas.microsoft.com/office/powerpoint/2010/main" val="201164586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F3D6D-3E1E-8F90-ACBE-67F3CF0E74B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1122A6-F389-800D-711F-902D055F36B4}"/>
              </a:ext>
            </a:extLst>
          </p:cNvPr>
          <p:cNvSpPr>
            <a:spLocks noGrp="1"/>
          </p:cNvSpPr>
          <p:nvPr>
            <p:ph type="title"/>
          </p:nvPr>
        </p:nvSpPr>
        <p:spPr/>
        <p:txBody>
          <a:bodyPr/>
          <a:lstStyle/>
          <a:p>
            <a:r>
              <a:rPr lang="ar-SA" dirty="0"/>
              <a:t>المعايير المرتبطة ببنية </a:t>
            </a:r>
            <a:r>
              <a:rPr lang="ar-EG" dirty="0"/>
              <a:t>الامن السيبراني</a:t>
            </a:r>
            <a:r>
              <a:rPr lang="ar-SA" dirty="0"/>
              <a:t> </a:t>
            </a:r>
            <a:endParaRPr lang="en-US" dirty="0"/>
          </a:p>
        </p:txBody>
      </p:sp>
      <p:sp>
        <p:nvSpPr>
          <p:cNvPr id="5" name="Slide Number Placeholder 4">
            <a:extLst>
              <a:ext uri="{FF2B5EF4-FFF2-40B4-BE49-F238E27FC236}">
                <a16:creationId xmlns:a16="http://schemas.microsoft.com/office/drawing/2014/main" id="{FB161545-1E53-0F98-DE9E-8BEA2FB7D7C4}"/>
              </a:ext>
            </a:extLst>
          </p:cNvPr>
          <p:cNvSpPr>
            <a:spLocks noGrp="1"/>
          </p:cNvSpPr>
          <p:nvPr>
            <p:ph type="sldNum" sz="quarter" idx="12"/>
          </p:nvPr>
        </p:nvSpPr>
        <p:spPr/>
        <p:txBody>
          <a:bodyPr/>
          <a:lstStyle/>
          <a:p>
            <a:fld id="{0BE4EC83-A869-464E-AE9F-881796FB085E}" type="slidenum">
              <a:rPr lang="en-US" smtClean="0"/>
              <a:t>55</a:t>
            </a:fld>
            <a:endParaRPr lang="en-US" dirty="0"/>
          </a:p>
        </p:txBody>
      </p:sp>
      <p:graphicFrame>
        <p:nvGraphicFramePr>
          <p:cNvPr id="7" name="Table 6">
            <a:extLst>
              <a:ext uri="{FF2B5EF4-FFF2-40B4-BE49-F238E27FC236}">
                <a16:creationId xmlns:a16="http://schemas.microsoft.com/office/drawing/2014/main" id="{9727A7DE-A2E1-AFF9-51AF-E95E8F53C5F5}"/>
              </a:ext>
            </a:extLst>
          </p:cNvPr>
          <p:cNvGraphicFramePr>
            <a:graphicFrameLocks noGrp="1"/>
          </p:cNvGraphicFramePr>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CS01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وتوثيق واعتماد متطلبات الأمن السيبراني الخاصة بأمن الأجهزة المحمولة والأجهزة الشخصية للعاملين عند ارتباطها بشبكة الجهة</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CS02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متطلبات الأمن السيبراني الخاصة بأمن الأجهزة المحمولة وأجهزة </a:t>
                      </a:r>
                      <a:r>
                        <a:rPr lang="en-US" sz="1100" b="0" i="0" u="none" strike="noStrike">
                          <a:solidFill>
                            <a:srgbClr val="000000"/>
                          </a:solidFill>
                          <a:effectLst/>
                          <a:latin typeface="Calibri" panose="020F0502020204030204" pitchFamily="34" charset="0"/>
                        </a:rPr>
                        <a:t>BYOD </a:t>
                      </a:r>
                      <a:r>
                        <a:rPr lang="ar-SA" sz="1100" b="0" i="0" u="none" strike="noStrike">
                          <a:solidFill>
                            <a:srgbClr val="000000"/>
                          </a:solidFill>
                          <a:effectLst/>
                          <a:latin typeface="Calibri" panose="020F0502020204030204" pitchFamily="34" charset="0"/>
                        </a:rPr>
                        <a:t>للجهة</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CS03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فصل وتشفير البيانات والمعلومات الخاصة بالجهة المخزنة على الأجهزة المحمولة وأجهزة </a:t>
                      </a:r>
                      <a:r>
                        <a:rPr lang="en-US" sz="1100" b="0" i="0" u="none" strike="noStrike">
                          <a:solidFill>
                            <a:srgbClr val="000000"/>
                          </a:solidFill>
                          <a:effectLst/>
                          <a:latin typeface="Calibri" panose="020F0502020204030204" pitchFamily="34" charset="0"/>
                        </a:rPr>
                        <a:t>BYOD</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CS04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أنظمة الحماية المتقدمة لاكتشاف ومنع الاختراقات </a:t>
                      </a:r>
                      <a:r>
                        <a:rPr lang="en-US" sz="1100" b="0" i="0" u="none" strike="noStrike">
                          <a:solidFill>
                            <a:srgbClr val="000000"/>
                          </a:solidFill>
                          <a:effectLst/>
                          <a:latin typeface="Calibri" panose="020F0502020204030204" pitchFamily="34" charset="0"/>
                        </a:rPr>
                        <a:t>Systems Intrusion Prevention</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CS05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الحماية من الفيروسات والبرامج والأنشطة المشبوهة والبرمجيات الضارة على أجهزة المستخدمين والخوادم…</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CS06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النسخ الاحتياطي والأرشفة للبريد الإلكتروني</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CS07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أمان نظام اسم المجال </a:t>
                      </a:r>
                      <a:r>
                        <a:rPr lang="en-US" sz="1100" b="0" i="0" u="none" strike="noStrike">
                          <a:solidFill>
                            <a:srgbClr val="000000"/>
                          </a:solidFill>
                          <a:effectLst/>
                          <a:latin typeface="Calibri" panose="020F0502020204030204" pitchFamily="34" charset="0"/>
                        </a:rPr>
                        <a:t>DNSSEC</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CS08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وتوثيق واعتماد متطلبات الأمن السيبراني لإدارة النسخ الاحتياطية للجهة</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CS09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متطلبات الأمن السيبراني لإدارة النسخ الاحتياطية للجهة</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CS10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عمل النسخ الاحتياطي على فترات زمنية مخططة بناء على تقييم المخاطر…</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CS11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تأمين الوصول والتخزين والنقل لمحتوى النسخ الاحتياطية للأنظمة الحساسة…</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CS12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إجراء فحص دوري لتحديد مدى فعالية استعادة النسخ الاحتياطية</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CS13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وتوثيق واعتماد متطلبات الأمن السيبراني لإدارة الهويات والصلاحيات</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CS14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متطلبات الأمن السيبراني لإدارة هويات الدخول والصلاحيات</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CS15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التحقق من هوية المستخدم </a:t>
                      </a:r>
                      <a:r>
                        <a:rPr lang="en-US" sz="1100" b="0" i="0" u="none" strike="noStrike">
                          <a:solidFill>
                            <a:srgbClr val="000000"/>
                          </a:solidFill>
                          <a:effectLst/>
                          <a:latin typeface="Calibri" panose="020F0502020204030204" pitchFamily="34" charset="0"/>
                        </a:rPr>
                        <a:t>Authentication</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CS16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التحقق من الهوية متعدد العوامل </a:t>
                      </a:r>
                      <a:r>
                        <a:rPr lang="en-US" sz="1100" b="0" i="0" u="none" strike="noStrike">
                          <a:solidFill>
                            <a:srgbClr val="000000"/>
                          </a:solidFill>
                          <a:effectLst/>
                          <a:latin typeface="Calibri" panose="020F0502020204030204" pitchFamily="34" charset="0"/>
                        </a:rPr>
                        <a:t>Multi-Factor Authentication</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CS17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إدارة تصاريح وصلاحيات المستخدمين </a:t>
                      </a:r>
                      <a:r>
                        <a:rPr lang="en-US" sz="1100" b="0" i="0" u="none" strike="noStrike" dirty="0">
                          <a:solidFill>
                            <a:srgbClr val="000000"/>
                          </a:solidFill>
                          <a:effectLst/>
                          <a:latin typeface="Calibri" panose="020F0502020204030204" pitchFamily="34" charset="0"/>
                        </a:rPr>
                        <a:t>Authorization (Least Privilege – </a:t>
                      </a:r>
                      <a:r>
                        <a:rPr lang="en-US" sz="1100" b="0" i="0" u="none" strike="noStrike" dirty="0" err="1">
                          <a:solidFill>
                            <a:srgbClr val="000000"/>
                          </a:solidFill>
                          <a:effectLst/>
                          <a:latin typeface="Calibri" panose="020F0502020204030204" pitchFamily="34" charset="0"/>
                        </a:rPr>
                        <a:t>SoD</a:t>
                      </a:r>
                      <a:r>
                        <a:rPr lang="en-US" sz="1100" b="0" i="0" u="none" strike="noStrike" dirty="0">
                          <a:solidFill>
                            <a:srgbClr val="000000"/>
                          </a:solidFill>
                          <a:effectLst/>
                          <a:latin typeface="Calibri" panose="020F0502020204030204" pitchFamily="34" charset="0"/>
                        </a:rPr>
                        <a:t>…)</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2875730615"/>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559A-8AE9-C308-9010-6078A71BE87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DF905F-3368-C328-5E68-8E3A7B0C157A}"/>
              </a:ext>
            </a:extLst>
          </p:cNvPr>
          <p:cNvSpPr>
            <a:spLocks noGrp="1"/>
          </p:cNvSpPr>
          <p:nvPr>
            <p:ph type="title"/>
          </p:nvPr>
        </p:nvSpPr>
        <p:spPr/>
        <p:txBody>
          <a:bodyPr/>
          <a:lstStyle/>
          <a:p>
            <a:r>
              <a:rPr lang="ar-SA" dirty="0"/>
              <a:t>المعايير المرتبطة ببنية </a:t>
            </a:r>
            <a:r>
              <a:rPr lang="ar-EG" dirty="0"/>
              <a:t>الامن السيبراني</a:t>
            </a:r>
            <a:r>
              <a:rPr lang="ar-SA" dirty="0"/>
              <a:t> </a:t>
            </a:r>
            <a:endParaRPr lang="en-US" dirty="0"/>
          </a:p>
        </p:txBody>
      </p:sp>
      <p:sp>
        <p:nvSpPr>
          <p:cNvPr id="5" name="Slide Number Placeholder 4">
            <a:extLst>
              <a:ext uri="{FF2B5EF4-FFF2-40B4-BE49-F238E27FC236}">
                <a16:creationId xmlns:a16="http://schemas.microsoft.com/office/drawing/2014/main" id="{B5CF2193-EAA4-688B-D6D0-AF00826F82C0}"/>
              </a:ext>
            </a:extLst>
          </p:cNvPr>
          <p:cNvSpPr>
            <a:spLocks noGrp="1"/>
          </p:cNvSpPr>
          <p:nvPr>
            <p:ph type="sldNum" sz="quarter" idx="12"/>
          </p:nvPr>
        </p:nvSpPr>
        <p:spPr/>
        <p:txBody>
          <a:bodyPr/>
          <a:lstStyle/>
          <a:p>
            <a:fld id="{0BE4EC83-A869-464E-AE9F-881796FB085E}" type="slidenum">
              <a:rPr lang="en-US" smtClean="0"/>
              <a:t>56</a:t>
            </a:fld>
            <a:endParaRPr lang="en-US" dirty="0"/>
          </a:p>
        </p:txBody>
      </p:sp>
      <p:graphicFrame>
        <p:nvGraphicFramePr>
          <p:cNvPr id="7" name="Table 6">
            <a:extLst>
              <a:ext uri="{FF2B5EF4-FFF2-40B4-BE49-F238E27FC236}">
                <a16:creationId xmlns:a16="http://schemas.microsoft.com/office/drawing/2014/main" id="{4B14279C-1832-B870-4E52-D74DF64AA525}"/>
              </a:ext>
            </a:extLst>
          </p:cNvPr>
          <p:cNvGraphicFramePr>
            <a:graphicFrameLocks noGrp="1"/>
          </p:cNvGraphicFramePr>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CS21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إدارة حزم التحديثات والإصلاحات الأمنية لمعالجة الثغرات</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CS22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التواصل مع مصادر موثوقة للتنبيهات الأمنية الجديدة والمحدثة</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CS23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تطبيق متطلبات الأمن السيبراني لإدارة الثغرات التقنية دورياً</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CS24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وتوثيق واعتماد متطلبات الأمن السيبراني لاختبار الاختراق</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CS25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تنفيذ عمليات اختبار الاختراق في الجهة</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CS26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تفعيل سجلات الأحداث الخاصة بالأمن السيبراني على الأصول المعلوماتية الحساسة</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CS27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تفعيل سجلات الأحداث للحسابات ذات الصلاحيات الهامة</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CS28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تحديد تقنيات </a:t>
                      </a:r>
                      <a:r>
                        <a:rPr lang="en-US" sz="1100" b="0" i="0" u="none" strike="noStrike">
                          <a:solidFill>
                            <a:srgbClr val="000000"/>
                          </a:solidFill>
                          <a:effectLst/>
                          <a:latin typeface="Calibri" panose="020F0502020204030204" pitchFamily="34" charset="0"/>
                        </a:rPr>
                        <a:t>SIEM </a:t>
                      </a:r>
                      <a:r>
                        <a:rPr lang="ar-SA" sz="1100" b="0" i="0" u="none" strike="noStrike">
                          <a:solidFill>
                            <a:srgbClr val="000000"/>
                          </a:solidFill>
                          <a:effectLst/>
                          <a:latin typeface="Calibri" panose="020F0502020204030204" pitchFamily="34" charset="0"/>
                        </a:rPr>
                        <a:t>اللازمة لجمع وتحليل السجلات</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CS29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المراقبة المستمرة لسجلات الأمن السيبراني</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CS30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مدة الاحتفاظ بسجلات الأمن السيبراني (لا تقل عن 12 شهراً)</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وضع خطط الاستجابة للحوادث وآليات التصعيد</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تصنيف حوادث الأمن السيبراني</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تبليغ الهيئة الوطنية للأمن السيبراني عند حدوث حادثة</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مشاركة التنبيهات والمعلومات الاستباقية ومؤشرات الاختراق</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الحصول على المعلومات الاستباقية </a:t>
                      </a:r>
                      <a:r>
                        <a:rPr lang="en-US" sz="1100" b="0" i="0" u="none" strike="noStrike">
                          <a:solidFill>
                            <a:srgbClr val="000000"/>
                          </a:solidFill>
                          <a:effectLst/>
                          <a:latin typeface="Calibri" panose="020F0502020204030204" pitchFamily="34" charset="0"/>
                        </a:rPr>
                        <a:t>Threat Intelligence</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متطلبات إدارة الحوادث والتهديدات دورياً</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CS37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مراجعة متطلبات الأمن السيبراني لحماية تطبيقات الويب</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3273598843"/>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BDD3-FC4D-7D07-2963-9A0E9D2EC85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156AC1A-D141-C9BE-561A-3130D7514664}"/>
              </a:ext>
            </a:extLst>
          </p:cNvPr>
          <p:cNvSpPr>
            <a:spLocks noGrp="1"/>
          </p:cNvSpPr>
          <p:nvPr>
            <p:ph type="title"/>
          </p:nvPr>
        </p:nvSpPr>
        <p:spPr/>
        <p:txBody>
          <a:bodyPr/>
          <a:lstStyle/>
          <a:p>
            <a:r>
              <a:rPr lang="ar-SA" dirty="0"/>
              <a:t>المعايير المرتبطة ببنية </a:t>
            </a:r>
            <a:r>
              <a:rPr lang="ar-EG" dirty="0"/>
              <a:t>الامن السيبراني</a:t>
            </a:r>
            <a:r>
              <a:rPr lang="ar-SA" dirty="0"/>
              <a:t> </a:t>
            </a:r>
            <a:endParaRPr lang="en-US" dirty="0"/>
          </a:p>
        </p:txBody>
      </p:sp>
      <p:sp>
        <p:nvSpPr>
          <p:cNvPr id="5" name="Slide Number Placeholder 4">
            <a:extLst>
              <a:ext uri="{FF2B5EF4-FFF2-40B4-BE49-F238E27FC236}">
                <a16:creationId xmlns:a16="http://schemas.microsoft.com/office/drawing/2014/main" id="{9DBF252B-6528-6AA3-EC05-307044305FF6}"/>
              </a:ext>
            </a:extLst>
          </p:cNvPr>
          <p:cNvSpPr>
            <a:spLocks noGrp="1"/>
          </p:cNvSpPr>
          <p:nvPr>
            <p:ph type="sldNum" sz="quarter" idx="12"/>
          </p:nvPr>
        </p:nvSpPr>
        <p:spPr/>
        <p:txBody>
          <a:bodyPr/>
          <a:lstStyle/>
          <a:p>
            <a:fld id="{0BE4EC83-A869-464E-AE9F-881796FB085E}" type="slidenum">
              <a:rPr lang="en-US" smtClean="0"/>
              <a:t>57</a:t>
            </a:fld>
            <a:endParaRPr lang="en-US" dirty="0"/>
          </a:p>
        </p:txBody>
      </p:sp>
      <p:graphicFrame>
        <p:nvGraphicFramePr>
          <p:cNvPr id="7" name="Table 6">
            <a:extLst>
              <a:ext uri="{FF2B5EF4-FFF2-40B4-BE49-F238E27FC236}">
                <a16:creationId xmlns:a16="http://schemas.microsoft.com/office/drawing/2014/main" id="{FB0519E1-3976-2033-4D29-B7266CE0FD44}"/>
              </a:ext>
            </a:extLst>
          </p:cNvPr>
          <p:cNvGraphicFramePr>
            <a:graphicFrameLocks noGrp="1"/>
          </p:cNvGraphicFramePr>
          <p:nvPr/>
        </p:nvGraphicFramePr>
        <p:xfrm>
          <a:off x="697833" y="1313180"/>
          <a:ext cx="10884568" cy="4592121"/>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CS41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إعدادات الأنظمة الحساسة وتحصينها </a:t>
                      </a:r>
                      <a:r>
                        <a:rPr lang="en-US" sz="1100" b="0" i="0" u="none" strike="noStrike">
                          <a:solidFill>
                            <a:srgbClr val="000000"/>
                          </a:solidFill>
                          <a:effectLst/>
                          <a:latin typeface="Calibri" panose="020F0502020204030204" pitchFamily="34" charset="0"/>
                        </a:rPr>
                        <a:t>Hardening</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CS42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العزل والتقسيم لشبكات الأنظمة الحساسة</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CS43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مراجعة إعدادات جدار الحماية للأنظمة الحساسة</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CS44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منع التوصيل المباشر لأي جهاز بالشبكة الحساسة قبل فحصه</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CS45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منع الأنظمة الحساسة من الاتصال بالشبكة اللاسلكية</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CS46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الحماية من التهديدات المتقدمة </a:t>
                      </a:r>
                      <a:r>
                        <a:rPr lang="en-US" sz="1100" b="0" i="0" u="none" strike="noStrike">
                          <a:solidFill>
                            <a:srgbClr val="000000"/>
                          </a:solidFill>
                          <a:effectLst/>
                          <a:latin typeface="Calibri" panose="020F0502020204030204" pitchFamily="34" charset="0"/>
                        </a:rPr>
                        <a:t>APT</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CS47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منع الأنظمة الحساسة من الاتصال بالإنترنت إلا للضرورة</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CS48</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تشفير أقراص الأجهزة المحمولة للأفراد ذوي الصلاحيات الحساسة</a:t>
                      </a:r>
                    </a:p>
                  </a:txBody>
                  <a:tcPr marL="7620" marR="7620" marT="7620" marB="0" anchor="ctr"/>
                </a:tc>
                <a:extLst>
                  <a:ext uri="{0D108BD9-81ED-4DB2-BD59-A6C34878D82A}">
                    <a16:rowId xmlns:a16="http://schemas.microsoft.com/office/drawing/2014/main" val="67065541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CS49</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عدم استخدام بيانات الأنظمة الحساسة خارج بيئة الإنتاج إلا بحماية </a:t>
                      </a:r>
                      <a:r>
                        <a:rPr lang="en-US" sz="1100" b="0" i="0" u="none" strike="noStrike">
                          <a:solidFill>
                            <a:srgbClr val="000000"/>
                          </a:solidFill>
                          <a:effectLst/>
                          <a:latin typeface="Calibri" panose="020F0502020204030204" pitchFamily="34" charset="0"/>
                        </a:rPr>
                        <a:t>Masking/Scrambling</a:t>
                      </a:r>
                    </a:p>
                  </a:txBody>
                  <a:tcPr marL="7620" marR="7620" marT="7620" marB="0" anchor="ctr"/>
                </a:tc>
                <a:extLst>
                  <a:ext uri="{0D108BD9-81ED-4DB2-BD59-A6C34878D82A}">
                    <a16:rowId xmlns:a16="http://schemas.microsoft.com/office/drawing/2014/main" val="86692055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CS50</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تصنيف جميع بيانات الأنظمة الحساسة</a:t>
                      </a:r>
                    </a:p>
                  </a:txBody>
                  <a:tcPr marL="7620" marR="7620" marT="7620" marB="0" anchor="ctr"/>
                </a:tc>
                <a:extLst>
                  <a:ext uri="{0D108BD9-81ED-4DB2-BD59-A6C34878D82A}">
                    <a16:rowId xmlns:a16="http://schemas.microsoft.com/office/drawing/2014/main" val="920234999"/>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CS51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حماية البيانات المصنفة باستخدام </a:t>
                      </a:r>
                      <a:r>
                        <a:rPr lang="en-US" sz="1100" b="0" i="0" u="none" strike="noStrike">
                          <a:solidFill>
                            <a:srgbClr val="000000"/>
                          </a:solidFill>
                          <a:effectLst/>
                          <a:latin typeface="Calibri" panose="020F0502020204030204" pitchFamily="34" charset="0"/>
                        </a:rPr>
                        <a:t>DLP</a:t>
                      </a:r>
                    </a:p>
                  </a:txBody>
                  <a:tcPr marL="7620" marR="7620" marT="7620" marB="0" anchor="ctr"/>
                </a:tc>
                <a:extLst>
                  <a:ext uri="{0D108BD9-81ED-4DB2-BD59-A6C34878D82A}">
                    <a16:rowId xmlns:a16="http://schemas.microsoft.com/office/drawing/2014/main" val="398168507"/>
                  </a:ext>
                </a:extLst>
              </a:tr>
              <a:tr h="47414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تشفير بيانات الأنظمة الحساسة أثناء النقل</a:t>
                      </a:r>
                    </a:p>
                  </a:txBody>
                  <a:tcPr marL="7620" marR="7620" marT="7620" marB="0" anchor="ctr"/>
                </a:tc>
                <a:extLst>
                  <a:ext uri="{0D108BD9-81ED-4DB2-BD59-A6C34878D82A}">
                    <a16:rowId xmlns:a16="http://schemas.microsoft.com/office/drawing/2014/main" val="932548281"/>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تشفير بيانات الأنظمة الحساسة أثناء التخزين</a:t>
                      </a:r>
                    </a:p>
                  </a:txBody>
                  <a:tcPr marL="7620" marR="7620" marT="7620" marB="0" anchor="ctr"/>
                </a:tc>
                <a:extLst>
                  <a:ext uri="{0D108BD9-81ED-4DB2-BD59-A6C34878D82A}">
                    <a16:rowId xmlns:a16="http://schemas.microsoft.com/office/drawing/2014/main" val="3392526932"/>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خوارزميات ومفاتيح تشفير آمنة ومحدثة</a:t>
                      </a:r>
                    </a:p>
                  </a:txBody>
                  <a:tcPr marL="7620" marR="7620" marT="7620" marB="0" anchor="ctr"/>
                </a:tc>
                <a:extLst>
                  <a:ext uri="{0D108BD9-81ED-4DB2-BD59-A6C34878D82A}">
                    <a16:rowId xmlns:a16="http://schemas.microsoft.com/office/drawing/2014/main" val="3703333784"/>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أدوات موثوقة لاكتشاف الثغرات</a:t>
                      </a:r>
                    </a:p>
                  </a:txBody>
                  <a:tcPr marL="7620" marR="7620" marT="7620" marB="0" anchor="ctr"/>
                </a:tc>
                <a:extLst>
                  <a:ext uri="{0D108BD9-81ED-4DB2-BD59-A6C34878D82A}">
                    <a16:rowId xmlns:a16="http://schemas.microsoft.com/office/drawing/2014/main" val="405798496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معالجة الثغرات الأمنية</a:t>
                      </a:r>
                    </a:p>
                  </a:txBody>
                  <a:tcPr marL="7620" marR="7620" marT="7620" marB="0" anchor="ctr"/>
                </a:tc>
                <a:extLst>
                  <a:ext uri="{0D108BD9-81ED-4DB2-BD59-A6C34878D82A}">
                    <a16:rowId xmlns:a16="http://schemas.microsoft.com/office/drawing/2014/main" val="399863873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CS57</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المعالجة الفورية للثغرات الحرجة</a:t>
                      </a:r>
                    </a:p>
                  </a:txBody>
                  <a:tcPr marL="7620" marR="7620" marT="7620" marB="0" anchor="ctr"/>
                </a:tc>
                <a:extLst>
                  <a:ext uri="{0D108BD9-81ED-4DB2-BD59-A6C34878D82A}">
                    <a16:rowId xmlns:a16="http://schemas.microsoft.com/office/drawing/2014/main" val="2388597510"/>
                  </a:ext>
                </a:extLst>
              </a:tr>
            </a:tbl>
          </a:graphicData>
        </a:graphic>
      </p:graphicFrame>
    </p:spTree>
    <p:extLst>
      <p:ext uri="{BB962C8B-B14F-4D97-AF65-F5344CB8AC3E}">
        <p14:creationId xmlns:p14="http://schemas.microsoft.com/office/powerpoint/2010/main" val="317082846"/>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D21BC-13D6-8785-1ED6-C679E9F166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09884F8-6B77-4E72-4B92-ADF96F145D8A}"/>
              </a:ext>
            </a:extLst>
          </p:cNvPr>
          <p:cNvSpPr>
            <a:spLocks noGrp="1"/>
          </p:cNvSpPr>
          <p:nvPr>
            <p:ph type="title"/>
          </p:nvPr>
        </p:nvSpPr>
        <p:spPr/>
        <p:txBody>
          <a:bodyPr/>
          <a:lstStyle/>
          <a:p>
            <a:r>
              <a:rPr lang="ar-SA" dirty="0"/>
              <a:t>المعايير المرتبطة ببنية </a:t>
            </a:r>
            <a:r>
              <a:rPr lang="ar-EG" dirty="0"/>
              <a:t>الامن السيبراني</a:t>
            </a:r>
            <a:r>
              <a:rPr lang="ar-SA" dirty="0"/>
              <a:t> </a:t>
            </a:r>
            <a:endParaRPr lang="en-US" dirty="0"/>
          </a:p>
        </p:txBody>
      </p:sp>
      <p:sp>
        <p:nvSpPr>
          <p:cNvPr id="5" name="Slide Number Placeholder 4">
            <a:extLst>
              <a:ext uri="{FF2B5EF4-FFF2-40B4-BE49-F238E27FC236}">
                <a16:creationId xmlns:a16="http://schemas.microsoft.com/office/drawing/2014/main" id="{2370DFEE-1E84-0FA3-6400-9FF729478CE3}"/>
              </a:ext>
            </a:extLst>
          </p:cNvPr>
          <p:cNvSpPr>
            <a:spLocks noGrp="1"/>
          </p:cNvSpPr>
          <p:nvPr>
            <p:ph type="sldNum" sz="quarter" idx="12"/>
          </p:nvPr>
        </p:nvSpPr>
        <p:spPr/>
        <p:txBody>
          <a:bodyPr/>
          <a:lstStyle/>
          <a:p>
            <a:fld id="{0BE4EC83-A869-464E-AE9F-881796FB085E}" type="slidenum">
              <a:rPr lang="en-US" smtClean="0"/>
              <a:t>58</a:t>
            </a:fld>
            <a:endParaRPr lang="en-US" dirty="0"/>
          </a:p>
        </p:txBody>
      </p:sp>
      <p:graphicFrame>
        <p:nvGraphicFramePr>
          <p:cNvPr id="7" name="Table 6">
            <a:extLst>
              <a:ext uri="{FF2B5EF4-FFF2-40B4-BE49-F238E27FC236}">
                <a16:creationId xmlns:a16="http://schemas.microsoft.com/office/drawing/2014/main" id="{856497D4-5654-5C1B-DA6E-E945F5988ABF}"/>
              </a:ext>
            </a:extLst>
          </p:cNvPr>
          <p:cNvGraphicFramePr>
            <a:graphicFrameLocks noGrp="1"/>
          </p:cNvGraphicFramePr>
          <p:nvPr/>
        </p:nvGraphicFramePr>
        <p:xfrm>
          <a:off x="697833" y="1313180"/>
          <a:ext cx="10884568" cy="2162460"/>
        </p:xfrm>
        <a:graphic>
          <a:graphicData uri="http://schemas.openxmlformats.org/drawingml/2006/table">
            <a:tbl>
              <a:tblPr rtl="1" firstRow="1" firstCol="1" bandRow="1">
                <a:tableStyleId>{5C22544A-7EE6-4342-B048-85BDC9FD1C3A}</a:tableStyleId>
              </a:tblPr>
              <a:tblGrid>
                <a:gridCol w="1026696">
                  <a:extLst>
                    <a:ext uri="{9D8B030D-6E8A-4147-A177-3AD203B41FA5}">
                      <a16:colId xmlns:a16="http://schemas.microsoft.com/office/drawing/2014/main" val="1197596565"/>
                    </a:ext>
                  </a:extLst>
                </a:gridCol>
                <a:gridCol w="9857872">
                  <a:extLst>
                    <a:ext uri="{9D8B030D-6E8A-4147-A177-3AD203B41FA5}">
                      <a16:colId xmlns:a16="http://schemas.microsoft.com/office/drawing/2014/main" val="1878160107"/>
                    </a:ext>
                  </a:extLst>
                </a:gridCol>
              </a:tblGrid>
              <a:tr h="161510">
                <a:tc>
                  <a:txBody>
                    <a:bodyPr/>
                    <a:lstStyle/>
                    <a:p>
                      <a:pPr marL="0" marR="0" algn="r" rtl="1">
                        <a:lnSpc>
                          <a:spcPct val="115000"/>
                        </a:lnSpc>
                        <a:spcAft>
                          <a:spcPts val="800"/>
                        </a:spcAft>
                        <a:buNone/>
                      </a:pPr>
                      <a:r>
                        <a:rPr lang="ar-SA" sz="1100" kern="100" dirty="0">
                          <a:effectLst/>
                        </a:rPr>
                        <a:t>رمز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tc>
                  <a:txBody>
                    <a:bodyPr/>
                    <a:lstStyle/>
                    <a:p>
                      <a:pPr marL="0" marR="0" algn="r" rtl="1">
                        <a:lnSpc>
                          <a:spcPct val="115000"/>
                        </a:lnSpc>
                        <a:spcAft>
                          <a:spcPts val="800"/>
                        </a:spcAft>
                        <a:buNone/>
                      </a:pPr>
                      <a:r>
                        <a:rPr lang="ar-SA" sz="1100" kern="100" dirty="0">
                          <a:effectLst/>
                        </a:rPr>
                        <a:t>وصف المعيار</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7080" marR="7080" marT="7080" marB="7080" anchor="ctr"/>
                </a:tc>
                <a:extLst>
                  <a:ext uri="{0D108BD9-81ED-4DB2-BD59-A6C34878D82A}">
                    <a16:rowId xmlns:a16="http://schemas.microsoft.com/office/drawing/2014/main" val="834610114"/>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CS61</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تفعيل سجلات الأمن السيبراني للأنظمة الحساسة</a:t>
                      </a:r>
                    </a:p>
                  </a:txBody>
                  <a:tcPr marL="7620" marR="7620" marT="7620" marB="0" anchor="ctr"/>
                </a:tc>
                <a:extLst>
                  <a:ext uri="{0D108BD9-81ED-4DB2-BD59-A6C34878D82A}">
                    <a16:rowId xmlns:a16="http://schemas.microsoft.com/office/drawing/2014/main" val="2057246352"/>
                  </a:ext>
                </a:extLst>
              </a:tr>
              <a:tr h="317828">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CS62</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تطبيق </a:t>
                      </a:r>
                      <a:r>
                        <a:rPr lang="en-US" sz="1100" b="0" i="0" u="none" strike="noStrike">
                          <a:solidFill>
                            <a:srgbClr val="000000"/>
                          </a:solidFill>
                          <a:effectLst/>
                          <a:latin typeface="Calibri" panose="020F0502020204030204" pitchFamily="34" charset="0"/>
                        </a:rPr>
                        <a:t>OWASP Top 10</a:t>
                      </a:r>
                    </a:p>
                  </a:txBody>
                  <a:tcPr marL="7620" marR="7620" marT="7620" marB="0" anchor="ctr"/>
                </a:tc>
                <a:extLst>
                  <a:ext uri="{0D108BD9-81ED-4DB2-BD59-A6C34878D82A}">
                    <a16:rowId xmlns:a16="http://schemas.microsoft.com/office/drawing/2014/main" val="3125297863"/>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CS63</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تقييم مخاطر الأمن السيبراني لأنظمة العمل عن بعد</a:t>
                      </a:r>
                    </a:p>
                  </a:txBody>
                  <a:tcPr marL="7620" marR="7620" marT="7620" marB="0" anchor="ctr"/>
                </a:tc>
                <a:extLst>
                  <a:ext uri="{0D108BD9-81ED-4DB2-BD59-A6C34878D82A}">
                    <a16:rowId xmlns:a16="http://schemas.microsoft.com/office/drawing/2014/main" val="2331635601"/>
                  </a:ext>
                </a:extLst>
              </a:tr>
              <a:tr h="162737">
                <a:tc>
                  <a:txBody>
                    <a:bodyPr/>
                    <a:lstStyle/>
                    <a:p>
                      <a:pPr marL="0" marR="0" algn="ctr" defTabSz="914400" rtl="1" eaLnBrk="1" fontAlgn="ctr" latinLnBrk="0" hangingPunct="1">
                        <a:lnSpc>
                          <a:spcPct val="115000"/>
                        </a:lnSpc>
                        <a:spcAft>
                          <a:spcPts val="800"/>
                        </a:spcAft>
                        <a:buNone/>
                      </a:pPr>
                      <a:r>
                        <a:rPr lang="en-US" sz="1100" b="1" kern="100">
                          <a:solidFill>
                            <a:schemeClr val="lt1"/>
                          </a:solidFill>
                          <a:effectLst/>
                          <a:latin typeface="+mn-lt"/>
                          <a:ea typeface="+mn-ea"/>
                          <a:cs typeface="+mn-cs"/>
                        </a:rPr>
                        <a:t>CS64</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ضوابط أمن حسابات التواصل الاجتماعي</a:t>
                      </a:r>
                    </a:p>
                  </a:txBody>
                  <a:tcPr marL="7620" marR="7620" marT="7620" marB="0" anchor="ctr"/>
                </a:tc>
                <a:extLst>
                  <a:ext uri="{0D108BD9-81ED-4DB2-BD59-A6C34878D82A}">
                    <a16:rowId xmlns:a16="http://schemas.microsoft.com/office/drawing/2014/main" val="2743806196"/>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CS65</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تقييم مخاطر حسابات التواصل الاجتماعي</a:t>
                      </a:r>
                    </a:p>
                  </a:txBody>
                  <a:tcPr marL="7620" marR="7620" marT="7620" marB="0" anchor="ctr"/>
                </a:tc>
                <a:extLst>
                  <a:ext uri="{0D108BD9-81ED-4DB2-BD59-A6C34878D82A}">
                    <a16:rowId xmlns:a16="http://schemas.microsoft.com/office/drawing/2014/main" val="392239519"/>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CS66</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استخدام حسابات التواصل الاجتماعي المخصصة للجهة</a:t>
                      </a:r>
                    </a:p>
                  </a:txBody>
                  <a:tcPr marL="7620" marR="7620" marT="7620" marB="0" anchor="ctr"/>
                </a:tc>
                <a:extLst>
                  <a:ext uri="{0D108BD9-81ED-4DB2-BD59-A6C34878D82A}">
                    <a16:rowId xmlns:a16="http://schemas.microsoft.com/office/drawing/2014/main" val="3221965058"/>
                  </a:ext>
                </a:extLst>
              </a:tr>
              <a:tr h="162737">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CS67</a:t>
                      </a:r>
                    </a:p>
                  </a:txBody>
                  <a:tcPr marL="7620" marR="7620" marT="7620" marB="0" anchor="ctr"/>
                </a:tc>
                <a:tc>
                  <a:txBody>
                    <a:bodyPr/>
                    <a:lstStyle/>
                    <a:p>
                      <a:pPr algn="r" rtl="1" fontAlgn="ctr">
                        <a:buNone/>
                      </a:pPr>
                      <a:r>
                        <a:rPr lang="ar-SA" sz="1100" b="0" i="0" u="none" strike="noStrike">
                          <a:solidFill>
                            <a:srgbClr val="000000"/>
                          </a:solidFill>
                          <a:effectLst/>
                          <a:latin typeface="Calibri" panose="020F0502020204030204" pitchFamily="34" charset="0"/>
                        </a:rPr>
                        <a:t>حصر صلاحيات مقدمي خدمة إدارة حسابات التواصل الاجتماعي</a:t>
                      </a:r>
                    </a:p>
                  </a:txBody>
                  <a:tcPr marL="7620" marR="7620" marT="7620" marB="0" anchor="ctr"/>
                </a:tc>
                <a:extLst>
                  <a:ext uri="{0D108BD9-81ED-4DB2-BD59-A6C34878D82A}">
                    <a16:rowId xmlns:a16="http://schemas.microsoft.com/office/drawing/2014/main" val="4251034942"/>
                  </a:ext>
                </a:extLst>
              </a:tr>
              <a:tr h="317828">
                <a:tc>
                  <a:txBody>
                    <a:bodyPr/>
                    <a:lstStyle/>
                    <a:p>
                      <a:pPr marL="0" marR="0" algn="ctr" defTabSz="914400" rtl="1" eaLnBrk="1" fontAlgn="ctr" latinLnBrk="0" hangingPunct="1">
                        <a:lnSpc>
                          <a:spcPct val="115000"/>
                        </a:lnSpc>
                        <a:spcAft>
                          <a:spcPts val="800"/>
                        </a:spcAft>
                        <a:buNone/>
                      </a:pPr>
                      <a:r>
                        <a:rPr lang="en-US" sz="1100" b="1" kern="100" dirty="0">
                          <a:solidFill>
                            <a:schemeClr val="lt1"/>
                          </a:solidFill>
                          <a:effectLst/>
                          <a:latin typeface="+mn-lt"/>
                          <a:ea typeface="+mn-ea"/>
                          <a:cs typeface="+mn-cs"/>
                        </a:rPr>
                        <a:t>CS68</a:t>
                      </a:r>
                    </a:p>
                  </a:txBody>
                  <a:tcPr marL="7620" marR="7620" marT="7620" marB="0" anchor="ctr"/>
                </a:tc>
                <a:tc>
                  <a:txBody>
                    <a:bodyPr/>
                    <a:lstStyle/>
                    <a:p>
                      <a:pPr algn="r" rtl="1" fontAlgn="ctr">
                        <a:buNone/>
                      </a:pPr>
                      <a:r>
                        <a:rPr lang="ar-SA" sz="1100" b="0" i="0" u="none" strike="noStrike" dirty="0">
                          <a:solidFill>
                            <a:srgbClr val="000000"/>
                          </a:solidFill>
                          <a:effectLst/>
                          <a:latin typeface="Calibri" panose="020F0502020204030204" pitchFamily="34" charset="0"/>
                        </a:rPr>
                        <a:t>تحديد الأجهزة المسموح لها للوصول إلى حسابات التواصل الاجتماعي</a:t>
                      </a:r>
                    </a:p>
                  </a:txBody>
                  <a:tcPr marL="7620" marR="7620" marT="7620" marB="0" anchor="ctr"/>
                </a:tc>
                <a:extLst>
                  <a:ext uri="{0D108BD9-81ED-4DB2-BD59-A6C34878D82A}">
                    <a16:rowId xmlns:a16="http://schemas.microsoft.com/office/drawing/2014/main" val="670655419"/>
                  </a:ext>
                </a:extLst>
              </a:tr>
            </a:tbl>
          </a:graphicData>
        </a:graphic>
      </p:graphicFrame>
    </p:spTree>
    <p:extLst>
      <p:ext uri="{BB962C8B-B14F-4D97-AF65-F5344CB8AC3E}">
        <p14:creationId xmlns:p14="http://schemas.microsoft.com/office/powerpoint/2010/main" val="2476478719"/>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18473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12190</TotalTime>
  <Words>10780</Words>
  <Application>Microsoft Office PowerPoint</Application>
  <PresentationFormat>Widescreen</PresentationFormat>
  <Paragraphs>1666</Paragraphs>
  <Slides>59</Slides>
  <Notes>45</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Sakkal Majalla</vt:lpstr>
      <vt:lpstr>DIN Next LT Arabic</vt:lpstr>
      <vt:lpstr>Tajawal</vt:lpstr>
      <vt:lpstr>Wingdings</vt:lpstr>
      <vt:lpstr>Calibri</vt:lpstr>
      <vt:lpstr>Arial</vt:lpstr>
      <vt:lpstr>Aptos</vt:lpstr>
      <vt:lpstr>Office Theme</vt:lpstr>
      <vt:lpstr>وثيقة معايير البنية المؤسسية</vt:lpstr>
      <vt:lpstr>PowerPoint Presentation</vt:lpstr>
      <vt:lpstr>PowerPoint Presentation</vt:lpstr>
      <vt:lpstr>PowerPoint Presentation</vt:lpstr>
      <vt:lpstr>جدول المحتويات</vt:lpstr>
      <vt:lpstr>مقدمة حول معايير البنية المؤسسية</vt:lpstr>
      <vt:lpstr>PowerPoint Presentation</vt:lpstr>
      <vt:lpstr>PowerPoint Presentation</vt:lpstr>
      <vt:lpstr>PowerPoint Presentation</vt:lpstr>
      <vt:lpstr>PowerPoint Presentation</vt:lpstr>
      <vt:lpstr>مكتبة المعايير المحلية والعالمية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معايير البنية المؤسسية</vt:lpstr>
      <vt:lpstr>المعايير المرتبطة ببنية الأعمال</vt:lpstr>
      <vt:lpstr>PowerPoint Presentation</vt:lpstr>
      <vt:lpstr>PowerPoint Presentation</vt:lpstr>
      <vt:lpstr>PowerPoint Presentation</vt:lpstr>
      <vt:lpstr>المعايير المرتبطة ببنية تجربة المستفيد</vt:lpstr>
      <vt:lpstr>PowerPoint Presentation</vt:lpstr>
      <vt:lpstr>المعايير المرتبطة ببنية التطبيقات</vt:lpstr>
      <vt:lpstr>PowerPoint Presentation</vt:lpstr>
      <vt:lpstr>PowerPoint Presentation</vt:lpstr>
      <vt:lpstr>PowerPoint Presentation</vt:lpstr>
      <vt:lpstr>PowerPoint Presentation</vt:lpstr>
      <vt:lpstr>PowerPoint Presentation</vt:lpstr>
      <vt:lpstr>PowerPoint Presentation</vt:lpstr>
      <vt:lpstr>المعايير المرتبطة ببنية البيانات</vt:lpstr>
      <vt:lpstr>PowerPoint Presentation</vt:lpstr>
      <vt:lpstr>PowerPoint Presentation</vt:lpstr>
      <vt:lpstr>PowerPoint Presentation</vt:lpstr>
      <vt:lpstr>المعايير المرتبطة ببنية التقنية</vt:lpstr>
      <vt:lpstr>المعايير المرتبطة ببنية التقنية </vt:lpstr>
      <vt:lpstr>المعايير المرتبطة ببنية التقنية </vt:lpstr>
      <vt:lpstr>المعايير المرتبطة ببنية التقنية </vt:lpstr>
      <vt:lpstr>المعايير المرتبطة ببنية التقنية </vt:lpstr>
      <vt:lpstr>المعايير المرتبطة ببنية التقنية </vt:lpstr>
      <vt:lpstr>المعايير المرتبطة ببنية الأمن السيبراني</vt:lpstr>
      <vt:lpstr>المعايير المرتبطة ببنية الامن السيبراني </vt:lpstr>
      <vt:lpstr>المعايير المرتبطة ببنية الامن السيبراني </vt:lpstr>
      <vt:lpstr>المعايير المرتبطة ببنية الامن السيبراني </vt:lpstr>
      <vt:lpstr>المعايير المرتبطة ببنية الامن السيبراني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Hani Adel Ibraheem Rehan</cp:lastModifiedBy>
  <cp:revision>1309</cp:revision>
  <dcterms:created xsi:type="dcterms:W3CDTF">2024-05-29T18:26:52Z</dcterms:created>
  <dcterms:modified xsi:type="dcterms:W3CDTF">2025-12-10T06:41:47Z</dcterms:modified>
</cp:coreProperties>
</file>