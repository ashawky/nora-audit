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67"/>
  </p:notesMasterIdLst>
  <p:handoutMasterIdLst>
    <p:handoutMasterId r:id="rId68"/>
  </p:handoutMasterIdLst>
  <p:sldIdLst>
    <p:sldId id="542" r:id="rId2"/>
    <p:sldId id="576" r:id="rId3"/>
    <p:sldId id="577" r:id="rId4"/>
    <p:sldId id="578" r:id="rId5"/>
    <p:sldId id="5333" r:id="rId6"/>
    <p:sldId id="2147476352" r:id="rId7"/>
    <p:sldId id="634" r:id="rId8"/>
    <p:sldId id="2147476547" r:id="rId9"/>
    <p:sldId id="2147476548" r:id="rId10"/>
    <p:sldId id="724" r:id="rId11"/>
    <p:sldId id="2147476391" r:id="rId12"/>
    <p:sldId id="2147476538" r:id="rId13"/>
    <p:sldId id="2147476392" r:id="rId14"/>
    <p:sldId id="2147476560" r:id="rId15"/>
    <p:sldId id="2147476563" r:id="rId16"/>
    <p:sldId id="2147476583" r:id="rId17"/>
    <p:sldId id="2147476617" r:id="rId18"/>
    <p:sldId id="2147476587" r:id="rId19"/>
    <p:sldId id="2147476584" r:id="rId20"/>
    <p:sldId id="2147476585" r:id="rId21"/>
    <p:sldId id="2147476586" r:id="rId22"/>
    <p:sldId id="2147476558" r:id="rId23"/>
    <p:sldId id="2147476559" r:id="rId24"/>
    <p:sldId id="2147476618" r:id="rId25"/>
    <p:sldId id="2147476566" r:id="rId26"/>
    <p:sldId id="2147476567" r:id="rId27"/>
    <p:sldId id="2147476568" r:id="rId28"/>
    <p:sldId id="2147476569" r:id="rId29"/>
    <p:sldId id="2147476570" r:id="rId30"/>
    <p:sldId id="2147476591" r:id="rId31"/>
    <p:sldId id="2147476580" r:id="rId32"/>
    <p:sldId id="2147476595" r:id="rId33"/>
    <p:sldId id="2147476613" r:id="rId34"/>
    <p:sldId id="2147476592" r:id="rId35"/>
    <p:sldId id="2147476616" r:id="rId36"/>
    <p:sldId id="2147476588" r:id="rId37"/>
    <p:sldId id="2147476615" r:id="rId38"/>
    <p:sldId id="2147476582" r:id="rId39"/>
    <p:sldId id="2147476597" r:id="rId40"/>
    <p:sldId id="2147476598" r:id="rId41"/>
    <p:sldId id="2147476599" r:id="rId42"/>
    <p:sldId id="2147476601" r:id="rId43"/>
    <p:sldId id="2147476602" r:id="rId44"/>
    <p:sldId id="2147476603" r:id="rId45"/>
    <p:sldId id="2147476604" r:id="rId46"/>
    <p:sldId id="2147476605" r:id="rId47"/>
    <p:sldId id="2147476606" r:id="rId48"/>
    <p:sldId id="2147476607" r:id="rId49"/>
    <p:sldId id="2147476608" r:id="rId50"/>
    <p:sldId id="2147476609" r:id="rId51"/>
    <p:sldId id="2147476620" r:id="rId52"/>
    <p:sldId id="2147476652" r:id="rId53"/>
    <p:sldId id="2147476654" r:id="rId54"/>
    <p:sldId id="2147476653" r:id="rId55"/>
    <p:sldId id="2147476655" r:id="rId56"/>
    <p:sldId id="2147476656" r:id="rId57"/>
    <p:sldId id="2147476657" r:id="rId58"/>
    <p:sldId id="2147476658" r:id="rId59"/>
    <p:sldId id="2147476659" r:id="rId60"/>
    <p:sldId id="2147476660" r:id="rId61"/>
    <p:sldId id="2147476662" r:id="rId62"/>
    <p:sldId id="2147476664" r:id="rId63"/>
    <p:sldId id="2147476665" r:id="rId64"/>
    <p:sldId id="2147476666" r:id="rId65"/>
    <p:sldId id="5254" r:id="rId66"/>
  </p:sldIdLst>
  <p:sldSz cx="12192000" cy="6858000"/>
  <p:notesSz cx="6858000" cy="9144000"/>
  <p:embeddedFontLst>
    <p:embeddedFont>
      <p:font typeface="Neo Sans Arabic" panose="020B0504030504040204" pitchFamily="34" charset="-78"/>
      <p:regular r:id="rId69"/>
    </p:embeddedFont>
    <p:embeddedFont>
      <p:font typeface="Open Sans SemiBold" panose="020B0706030804020204" pitchFamily="34" charset="0"/>
      <p:bold r:id="rId70"/>
      <p:boldItalic r:id="rId71"/>
    </p:embeddedFont>
    <p:embeddedFont>
      <p:font typeface="Sakkal Majalla" panose="02000000000000000000" pitchFamily="2" charset="-78"/>
      <p:regular r:id="rId72"/>
      <p:bold r:id="rId73"/>
    </p:embeddedFont>
    <p:embeddedFont>
      <p:font typeface="Segoe UI" panose="020B0502040204020203" pitchFamily="34" charset="0"/>
      <p:regular r:id="rId74"/>
      <p:bold r:id="rId75"/>
      <p:italic r:id="rId76"/>
      <p:boldItalic r:id="rId77"/>
    </p:embeddedFont>
    <p:embeddedFont>
      <p:font typeface="Tajawal" panose="020B0604020202020204" charset="-78"/>
      <p:regular r:id="rId78"/>
      <p:bold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وثيقة النماذج المرجعية للبنية المؤسسية" id="{25F21764-0714-46C5-BF30-1F77E71FBBCD}">
          <p14:sldIdLst>
            <p14:sldId id="542"/>
            <p14:sldId id="576"/>
            <p14:sldId id="577"/>
            <p14:sldId id="578"/>
            <p14:sldId id="5333"/>
          </p14:sldIdLst>
        </p14:section>
        <p14:section name="مقدمة عن النماذج المرجعية" id="{00BD3BFB-19AD-4F62-A2F8-957625ADED09}">
          <p14:sldIdLst>
            <p14:sldId id="2147476352"/>
            <p14:sldId id="634"/>
            <p14:sldId id="2147476547"/>
            <p14:sldId id="2147476548"/>
            <p14:sldId id="724"/>
          </p14:sldIdLst>
        </p14:section>
        <p14:section name="النموذج المرجعي لبنية الأعمال" id="{4A60BFB2-0974-4337-B68D-1C1BCAFD82AB}">
          <p14:sldIdLst>
            <p14:sldId id="2147476391"/>
            <p14:sldId id="2147476538"/>
            <p14:sldId id="2147476392"/>
            <p14:sldId id="2147476560"/>
            <p14:sldId id="2147476563"/>
            <p14:sldId id="2147476583"/>
            <p14:sldId id="2147476617"/>
            <p14:sldId id="2147476587"/>
            <p14:sldId id="2147476584"/>
            <p14:sldId id="2147476585"/>
            <p14:sldId id="2147476586"/>
            <p14:sldId id="2147476558"/>
            <p14:sldId id="2147476559"/>
            <p14:sldId id="2147476618"/>
            <p14:sldId id="2147476566"/>
            <p14:sldId id="2147476567"/>
            <p14:sldId id="2147476568"/>
            <p14:sldId id="2147476569"/>
            <p14:sldId id="2147476570"/>
          </p14:sldIdLst>
        </p14:section>
        <p14:section name="النموذج المرجعي لبنية التطبيقات" id="{95308138-3358-405F-BBCE-A2650C5FDB10}">
          <p14:sldIdLst>
            <p14:sldId id="2147476591"/>
            <p14:sldId id="2147476580"/>
            <p14:sldId id="2147476595"/>
            <p14:sldId id="2147476613"/>
            <p14:sldId id="2147476592"/>
            <p14:sldId id="2147476616"/>
          </p14:sldIdLst>
        </p14:section>
        <p14:section name="النموذج المرجعي لبنية البيانات" id="{0AD86273-CE5E-4EF1-B880-D8CDACB9C965}">
          <p14:sldIdLst>
            <p14:sldId id="2147476588"/>
            <p14:sldId id="2147476615"/>
            <p14:sldId id="2147476582"/>
            <p14:sldId id="2147476597"/>
          </p14:sldIdLst>
        </p14:section>
        <p14:section name="النموذج المرجعي لبنية التقنية" id="{67E53231-0909-469E-8522-A20CB3235505}">
          <p14:sldIdLst>
            <p14:sldId id="2147476598"/>
            <p14:sldId id="2147476599"/>
            <p14:sldId id="2147476601"/>
            <p14:sldId id="2147476602"/>
            <p14:sldId id="2147476603"/>
            <p14:sldId id="2147476604"/>
            <p14:sldId id="2147476605"/>
            <p14:sldId id="2147476606"/>
            <p14:sldId id="2147476607"/>
            <p14:sldId id="2147476608"/>
            <p14:sldId id="2147476609"/>
            <p14:sldId id="2147476620"/>
            <p14:sldId id="2147476652"/>
            <p14:sldId id="2147476654"/>
            <p14:sldId id="2147476653"/>
            <p14:sldId id="2147476655"/>
            <p14:sldId id="2147476656"/>
            <p14:sldId id="2147476657"/>
            <p14:sldId id="2147476658"/>
            <p14:sldId id="2147476659"/>
            <p14:sldId id="2147476660"/>
            <p14:sldId id="2147476662"/>
            <p14:sldId id="2147476664"/>
            <p14:sldId id="2147476665"/>
            <p14:sldId id="2147476666"/>
            <p14:sldId id="52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0"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3C8D"/>
    <a:srgbClr val="F5A053"/>
    <a:srgbClr val="3FA0D9"/>
    <a:srgbClr val="46B154"/>
    <a:srgbClr val="FFB400"/>
    <a:srgbClr val="6AC477"/>
    <a:srgbClr val="6FB7E3"/>
    <a:srgbClr val="7D6DC1"/>
    <a:srgbClr val="44AC52"/>
    <a:srgbClr val="00A8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426" autoAdjust="0"/>
    <p:restoredTop sz="80234" autoAdjust="0"/>
  </p:normalViewPr>
  <p:slideViewPr>
    <p:cSldViewPr snapToGrid="0">
      <p:cViewPr varScale="1">
        <p:scale>
          <a:sx n="82" d="100"/>
          <a:sy n="82" d="100"/>
        </p:scale>
        <p:origin x="461" y="72"/>
      </p:cViewPr>
      <p:guideLst/>
    </p:cSldViewPr>
  </p:slideViewPr>
  <p:outlineViewPr>
    <p:cViewPr>
      <p:scale>
        <a:sx n="33" d="100"/>
        <a:sy n="33" d="100"/>
      </p:scale>
      <p:origin x="0" y="-2107"/>
    </p:cViewPr>
  </p:outlin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6.fntdata"/><Relationship Id="rId79" Type="http://schemas.openxmlformats.org/officeDocument/2006/relationships/font" Target="fonts/font11.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4/13/2026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337920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5B9DA-3164-40C5-58D0-7BC6D4A05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A9BE6-AC35-F1DA-8AF0-04662D1A62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B7304-4E62-EEE3-9AE4-0AFFD9644B7D}"/>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C5ED276C-6195-8A66-5780-EC245959A0D0}"/>
              </a:ext>
            </a:extLst>
          </p:cNvPr>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2794669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E0B8A-8557-BFD7-2DA7-C19291DFB9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74005-0013-C305-4EE9-340B1104A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7CDCF-6A92-FF8D-DBD5-8E07E672E33A}"/>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43305AC9-9D7A-E188-B1EA-6D908DAB5C7F}"/>
              </a:ext>
            </a:extLst>
          </p:cNvPr>
          <p:cNvSpPr>
            <a:spLocks noGrp="1"/>
          </p:cNvSpPr>
          <p:nvPr>
            <p:ph type="sldNum" sz="quarter" idx="5"/>
          </p:nvPr>
        </p:nvSpPr>
        <p:spPr/>
        <p:txBody>
          <a:bodyPr/>
          <a:lstStyle/>
          <a:p>
            <a:fld id="{B97FDBCA-D751-4A03-819B-45597328ED86}" type="slidenum">
              <a:rPr lang="en-US" smtClean="0"/>
              <a:t>9</a:t>
            </a:fld>
            <a:endParaRPr lang="en-US"/>
          </a:p>
        </p:txBody>
      </p:sp>
    </p:spTree>
    <p:extLst>
      <p:ext uri="{BB962C8B-B14F-4D97-AF65-F5344CB8AC3E}">
        <p14:creationId xmlns:p14="http://schemas.microsoft.com/office/powerpoint/2010/main" val="2360891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10</a:t>
            </a:fld>
            <a:endParaRPr lang="en-US"/>
          </a:p>
        </p:txBody>
      </p:sp>
    </p:spTree>
    <p:extLst>
      <p:ext uri="{BB962C8B-B14F-4D97-AF65-F5344CB8AC3E}">
        <p14:creationId xmlns:p14="http://schemas.microsoft.com/office/powerpoint/2010/main" val="2864772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24789-7B4D-39D8-A8DB-DA2D1B21A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243FF-52FD-DB78-12AF-4986C15CF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B0918-C83B-74DA-BA84-508108A3C759}"/>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BA04D2B0-4BBD-09EA-524E-7AFFF7035598}"/>
              </a:ext>
            </a:extLst>
          </p:cNvPr>
          <p:cNvSpPr>
            <a:spLocks noGrp="1"/>
          </p:cNvSpPr>
          <p:nvPr>
            <p:ph type="sldNum" sz="quarter" idx="5"/>
          </p:nvPr>
        </p:nvSpPr>
        <p:spPr/>
        <p:txBody>
          <a:bodyPr/>
          <a:lstStyle/>
          <a:p>
            <a:fld id="{B97FDBCA-D751-4A03-819B-45597328ED86}" type="slidenum">
              <a:rPr lang="en-US" smtClean="0"/>
              <a:t>12</a:t>
            </a:fld>
            <a:endParaRPr lang="en-US"/>
          </a:p>
        </p:txBody>
      </p:sp>
    </p:spTree>
    <p:extLst>
      <p:ext uri="{BB962C8B-B14F-4D97-AF65-F5344CB8AC3E}">
        <p14:creationId xmlns:p14="http://schemas.microsoft.com/office/powerpoint/2010/main" val="4180636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13</a:t>
            </a:fld>
            <a:endParaRPr lang="en-US"/>
          </a:p>
        </p:txBody>
      </p:sp>
    </p:spTree>
    <p:extLst>
      <p:ext uri="{BB962C8B-B14F-4D97-AF65-F5344CB8AC3E}">
        <p14:creationId xmlns:p14="http://schemas.microsoft.com/office/powerpoint/2010/main" val="949614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0918C-008E-DF08-DA0E-143761345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A0009-C20F-C0DD-82F6-87859C2FA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76CF0-52DB-9F80-6048-BC34F7E77D28}"/>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3A1E94BB-F20D-03DB-C3A7-BAE3F435DBFD}"/>
              </a:ext>
            </a:extLst>
          </p:cNvPr>
          <p:cNvSpPr>
            <a:spLocks noGrp="1"/>
          </p:cNvSpPr>
          <p:nvPr>
            <p:ph type="sldNum" sz="quarter" idx="5"/>
          </p:nvPr>
        </p:nvSpPr>
        <p:spPr/>
        <p:txBody>
          <a:bodyPr/>
          <a:lstStyle/>
          <a:p>
            <a:fld id="{B97FDBCA-D751-4A03-819B-45597328ED86}" type="slidenum">
              <a:rPr lang="en-US" smtClean="0"/>
              <a:t>14</a:t>
            </a:fld>
            <a:endParaRPr lang="en-US"/>
          </a:p>
        </p:txBody>
      </p:sp>
    </p:spTree>
    <p:extLst>
      <p:ext uri="{BB962C8B-B14F-4D97-AF65-F5344CB8AC3E}">
        <p14:creationId xmlns:p14="http://schemas.microsoft.com/office/powerpoint/2010/main" val="4105382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5ABDE-B3B8-83FA-DF79-E0FDEDA94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5728A-B9F6-E653-0E8E-2BD5A57DD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8B78A-1292-EDB1-FE03-5909AF099CDF}"/>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D5503ED-FE2B-E601-38E1-42034581F93B}"/>
              </a:ext>
            </a:extLst>
          </p:cNvPr>
          <p:cNvSpPr>
            <a:spLocks noGrp="1"/>
          </p:cNvSpPr>
          <p:nvPr>
            <p:ph type="sldNum" sz="quarter" idx="5"/>
          </p:nvPr>
        </p:nvSpPr>
        <p:spPr/>
        <p:txBody>
          <a:bodyPr/>
          <a:lstStyle/>
          <a:p>
            <a:fld id="{B97FDBCA-D751-4A03-819B-45597328ED86}" type="slidenum">
              <a:rPr lang="en-US" smtClean="0"/>
              <a:t>15</a:t>
            </a:fld>
            <a:endParaRPr lang="en-US"/>
          </a:p>
        </p:txBody>
      </p:sp>
    </p:spTree>
    <p:extLst>
      <p:ext uri="{BB962C8B-B14F-4D97-AF65-F5344CB8AC3E}">
        <p14:creationId xmlns:p14="http://schemas.microsoft.com/office/powerpoint/2010/main" val="2035959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296D3-78B1-1B96-1274-D645377E99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AED80-A3BB-0D7E-A9EC-D9A6C4CE8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A7700-01BF-C68D-2F33-0F5553B60F76}"/>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D9218E6-C2FA-205C-3336-4D8FE4ED2025}"/>
              </a:ext>
            </a:extLst>
          </p:cNvPr>
          <p:cNvSpPr>
            <a:spLocks noGrp="1"/>
          </p:cNvSpPr>
          <p:nvPr>
            <p:ph type="sldNum" sz="quarter" idx="5"/>
          </p:nvPr>
        </p:nvSpPr>
        <p:spPr/>
        <p:txBody>
          <a:bodyPr/>
          <a:lstStyle/>
          <a:p>
            <a:fld id="{B97FDBCA-D751-4A03-819B-45597328ED86}" type="slidenum">
              <a:rPr lang="en-US" smtClean="0"/>
              <a:t>16</a:t>
            </a:fld>
            <a:endParaRPr lang="en-US"/>
          </a:p>
        </p:txBody>
      </p:sp>
    </p:spTree>
    <p:extLst>
      <p:ext uri="{BB962C8B-B14F-4D97-AF65-F5344CB8AC3E}">
        <p14:creationId xmlns:p14="http://schemas.microsoft.com/office/powerpoint/2010/main" val="946008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6E1F-991F-3D07-EC5C-245880EDB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D3C56-6B21-6173-85D2-8CB7C077D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7382CB-5F2B-77B1-C32A-FB86F4AA612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03F97E7-CE03-9E1B-E8CA-313C8A31FD32}"/>
              </a:ext>
            </a:extLst>
          </p:cNvPr>
          <p:cNvSpPr>
            <a:spLocks noGrp="1"/>
          </p:cNvSpPr>
          <p:nvPr>
            <p:ph type="sldNum" sz="quarter" idx="5"/>
          </p:nvPr>
        </p:nvSpPr>
        <p:spPr/>
        <p:txBody>
          <a:bodyPr/>
          <a:lstStyle/>
          <a:p>
            <a:fld id="{B97FDBCA-D751-4A03-819B-45597328ED86}" type="slidenum">
              <a:rPr lang="en-US" smtClean="0"/>
              <a:t>17</a:t>
            </a:fld>
            <a:endParaRPr lang="en-US"/>
          </a:p>
        </p:txBody>
      </p:sp>
    </p:spTree>
    <p:extLst>
      <p:ext uri="{BB962C8B-B14F-4D97-AF65-F5344CB8AC3E}">
        <p14:creationId xmlns:p14="http://schemas.microsoft.com/office/powerpoint/2010/main" val="900537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AF608-D6BC-7BAD-3D6F-62AF310C2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1370C-BB56-76DF-9F04-749574BB6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F28752-C384-D8DE-6269-654AD698E244}"/>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70BAAA80-50AB-C7B0-2093-CFDDF1E8E3E9}"/>
              </a:ext>
            </a:extLst>
          </p:cNvPr>
          <p:cNvSpPr>
            <a:spLocks noGrp="1"/>
          </p:cNvSpPr>
          <p:nvPr>
            <p:ph type="sldNum" sz="quarter" idx="5"/>
          </p:nvPr>
        </p:nvSpPr>
        <p:spPr/>
        <p:txBody>
          <a:bodyPr/>
          <a:lstStyle/>
          <a:p>
            <a:fld id="{B97FDBCA-D751-4A03-819B-45597328ED86}" type="slidenum">
              <a:rPr lang="en-US" smtClean="0"/>
              <a:t>18</a:t>
            </a:fld>
            <a:endParaRPr lang="en-US"/>
          </a:p>
        </p:txBody>
      </p:sp>
    </p:spTree>
    <p:extLst>
      <p:ext uri="{BB962C8B-B14F-4D97-AF65-F5344CB8AC3E}">
        <p14:creationId xmlns:p14="http://schemas.microsoft.com/office/powerpoint/2010/main" val="3150915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8724C-0AF2-E432-2EC0-68B0C02C86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67F20-4FAB-5507-6A62-6F4FEE472F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AD75A-73B8-22BA-66AB-AC0CC9B4E996}"/>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84BFA18C-4286-D81F-F19F-1B9258E09B48}"/>
              </a:ext>
            </a:extLst>
          </p:cNvPr>
          <p:cNvSpPr>
            <a:spLocks noGrp="1"/>
          </p:cNvSpPr>
          <p:nvPr>
            <p:ph type="sldNum" sz="quarter" idx="5"/>
          </p:nvPr>
        </p:nvSpPr>
        <p:spPr/>
        <p:txBody>
          <a:bodyPr/>
          <a:lstStyle/>
          <a:p>
            <a:fld id="{B97FDBCA-D751-4A03-819B-45597328ED86}" type="slidenum">
              <a:rPr lang="en-US" smtClean="0"/>
              <a:t>19</a:t>
            </a:fld>
            <a:endParaRPr lang="en-US"/>
          </a:p>
        </p:txBody>
      </p:sp>
    </p:spTree>
    <p:extLst>
      <p:ext uri="{BB962C8B-B14F-4D97-AF65-F5344CB8AC3E}">
        <p14:creationId xmlns:p14="http://schemas.microsoft.com/office/powerpoint/2010/main" val="1638772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9D3A3-F181-844B-05D9-2135F12B6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C6B91-9BB8-CA39-4913-F5DA42370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85CCD-28CD-3A56-C08E-1FB0EFBC71CA}"/>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287A6FC9-E679-875D-DB87-76426CB1808E}"/>
              </a:ext>
            </a:extLst>
          </p:cNvPr>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3651418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99F40-9904-27A5-906B-AA059EFEB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8C7DB-C7C8-A543-3308-476C93C61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BDE6A-13DE-F32C-1758-FC837E7433B4}"/>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C1F27D57-1F25-F31B-C7DF-276F6DBF0353}"/>
              </a:ext>
            </a:extLst>
          </p:cNvPr>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2159964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C7348-2F7D-B12C-4F52-D1007AD1B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E3FF4-FB5A-7804-321F-2A2244CDBF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220F2-D299-03C2-C183-8A23E3FD8821}"/>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C358A043-AAC9-DE5F-B098-B04375734A49}"/>
              </a:ext>
            </a:extLst>
          </p:cNvPr>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4518050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74CA2-F53C-176A-FB9B-417C3A1B8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A3119-3A92-9DC0-221F-5FA1BEE7F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30AB5-6F8B-6049-FE61-CAFB336DCC2C}"/>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D3D7DF11-2877-EC71-8785-F98A39235BBE}"/>
              </a:ext>
            </a:extLst>
          </p:cNvPr>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9616514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C87E2-F8C8-050C-9567-73371A150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AE0B9-054A-6B5A-4DDA-C38AE89E2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475928-C5F5-BCB2-3F9D-5B29CEA0701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3F21EF4B-23B8-50C1-E78A-8CD01CED3479}"/>
              </a:ext>
            </a:extLst>
          </p:cNvPr>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253778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B9213-359C-19CE-EBFC-CA63B0B09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1C49A-070C-DCC8-B68D-DF352BA2DB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BD421-85D0-AE36-6A93-7A6716B520CD}"/>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4FA66B1D-DA56-6966-F7C0-BD31DC70893D}"/>
              </a:ext>
            </a:extLst>
          </p:cNvPr>
          <p:cNvSpPr>
            <a:spLocks noGrp="1"/>
          </p:cNvSpPr>
          <p:nvPr>
            <p:ph type="sldNum" sz="quarter" idx="5"/>
          </p:nvPr>
        </p:nvSpPr>
        <p:spPr/>
        <p:txBody>
          <a:bodyPr/>
          <a:lstStyle/>
          <a:p>
            <a:fld id="{B97FDBCA-D751-4A03-819B-45597328ED86}" type="slidenum">
              <a:rPr lang="en-US" smtClean="0"/>
              <a:t>26</a:t>
            </a:fld>
            <a:endParaRPr lang="en-US"/>
          </a:p>
        </p:txBody>
      </p:sp>
    </p:spTree>
    <p:extLst>
      <p:ext uri="{BB962C8B-B14F-4D97-AF65-F5344CB8AC3E}">
        <p14:creationId xmlns:p14="http://schemas.microsoft.com/office/powerpoint/2010/main" val="1006635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5D5C7-081B-0FD4-BA69-0A5596EA0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B0C8C4-B087-AD66-2B5F-F4AB20EBC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E002C6-0238-4CF4-A638-621615DF48BF}"/>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D4A33D11-A579-B496-4379-D431D878DC5C}"/>
              </a:ext>
            </a:extLst>
          </p:cNvPr>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36012562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B4DE-B021-C1FB-F447-551984829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1585E-96BA-6293-35AC-A1AFF12EE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1D9D1-19E7-7BBE-F62F-82DE32CB0A08}"/>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CF4F1AA-3FEB-E064-9447-3A8E7E4398CC}"/>
              </a:ext>
            </a:extLst>
          </p:cNvPr>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16566703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0B5A0-D978-F096-343D-FDD4ACAED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6969B-035A-72D1-948E-9D377C1DE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ADB596-88B1-C0AA-BAC3-A6713FF50740}"/>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E396A6B8-16E8-11D5-1474-32573E31BDE3}"/>
              </a:ext>
            </a:extLst>
          </p:cNvPr>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39878950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E51CB-B4C9-54A4-1270-5DE0C296A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836DAA-C7D9-48F6-D07F-76BDB5D09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92E45-86E1-6A27-517C-7F4B96866DAD}"/>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C923C04C-1D7C-306F-A865-2157EE511586}"/>
              </a:ext>
            </a:extLst>
          </p:cNvPr>
          <p:cNvSpPr>
            <a:spLocks noGrp="1"/>
          </p:cNvSpPr>
          <p:nvPr>
            <p:ph type="sldNum" sz="quarter" idx="5"/>
          </p:nvPr>
        </p:nvSpPr>
        <p:spPr/>
        <p:txBody>
          <a:bodyPr/>
          <a:lstStyle/>
          <a:p>
            <a:fld id="{B97FDBCA-D751-4A03-819B-45597328ED86}" type="slidenum">
              <a:rPr lang="en-US" smtClean="0"/>
              <a:t>31</a:t>
            </a:fld>
            <a:endParaRPr lang="en-US"/>
          </a:p>
        </p:txBody>
      </p:sp>
    </p:spTree>
    <p:extLst>
      <p:ext uri="{BB962C8B-B14F-4D97-AF65-F5344CB8AC3E}">
        <p14:creationId xmlns:p14="http://schemas.microsoft.com/office/powerpoint/2010/main" val="844970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AC5E8-608C-42F3-9FF6-D5407A3EF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4D656-7D70-A675-C8AB-CF10906AB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AE72F-7EF8-DC58-2CAF-70C47D2489C1}"/>
              </a:ext>
            </a:extLst>
          </p:cNvPr>
          <p:cNvSpPr>
            <a:spLocks noGrp="1"/>
          </p:cNvSpPr>
          <p:nvPr>
            <p:ph type="body" idx="1"/>
          </p:nvPr>
        </p:nvSpPr>
        <p:spPr/>
        <p:txBody>
          <a:bodyPr/>
          <a:lstStyle/>
          <a:p>
            <a:pPr algn="r" rtl="1"/>
            <a:endParaRPr lang="ar-SA" dirty="0"/>
          </a:p>
        </p:txBody>
      </p:sp>
      <p:sp>
        <p:nvSpPr>
          <p:cNvPr id="4" name="Slide Number Placeholder 3">
            <a:extLst>
              <a:ext uri="{FF2B5EF4-FFF2-40B4-BE49-F238E27FC236}">
                <a16:creationId xmlns:a16="http://schemas.microsoft.com/office/drawing/2014/main" id="{AE7D40CC-64C8-5972-7B64-7CEA322C9439}"/>
              </a:ext>
            </a:extLst>
          </p:cNvPr>
          <p:cNvSpPr>
            <a:spLocks noGrp="1"/>
          </p:cNvSpPr>
          <p:nvPr>
            <p:ph type="sldNum" sz="quarter" idx="5"/>
          </p:nvPr>
        </p:nvSpPr>
        <p:spPr/>
        <p:txBody>
          <a:bodyPr/>
          <a:lstStyle/>
          <a:p>
            <a:fld id="{B97FDBCA-D751-4A03-819B-45597328ED86}" type="slidenum">
              <a:rPr lang="en-US" smtClean="0"/>
              <a:t>32</a:t>
            </a:fld>
            <a:endParaRPr lang="en-US"/>
          </a:p>
        </p:txBody>
      </p:sp>
    </p:spTree>
    <p:extLst>
      <p:ext uri="{BB962C8B-B14F-4D97-AF65-F5344CB8AC3E}">
        <p14:creationId xmlns:p14="http://schemas.microsoft.com/office/powerpoint/2010/main" val="17335501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79577-CCBB-1EBF-68D3-4971E1BA1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44468-3590-0A90-CAC6-1E8708F2BD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D7188-97C1-1D4B-221C-8D8D2DD109A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448DD96-55E8-8527-AA45-EAE01F47DB77}"/>
              </a:ext>
            </a:extLst>
          </p:cNvPr>
          <p:cNvSpPr>
            <a:spLocks noGrp="1"/>
          </p:cNvSpPr>
          <p:nvPr>
            <p:ph type="sldNum" sz="quarter" idx="5"/>
          </p:nvPr>
        </p:nvSpPr>
        <p:spPr/>
        <p:txBody>
          <a:bodyPr/>
          <a:lstStyle/>
          <a:p>
            <a:fld id="{B97FDBCA-D751-4A03-819B-45597328ED86}" type="slidenum">
              <a:rPr lang="en-US" smtClean="0"/>
              <a:t>33</a:t>
            </a:fld>
            <a:endParaRPr lang="en-US"/>
          </a:p>
        </p:txBody>
      </p:sp>
    </p:spTree>
    <p:extLst>
      <p:ext uri="{BB962C8B-B14F-4D97-AF65-F5344CB8AC3E}">
        <p14:creationId xmlns:p14="http://schemas.microsoft.com/office/powerpoint/2010/main" val="8419269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7E079-6459-75B6-197E-95D487735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A9EBE-1771-07D7-B100-64BE681AFB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86CF8-AE8C-019D-FD42-507B5DD3998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088981B-CAD8-30DF-A13C-5CE8C543B74E}"/>
              </a:ext>
            </a:extLst>
          </p:cNvPr>
          <p:cNvSpPr>
            <a:spLocks noGrp="1"/>
          </p:cNvSpPr>
          <p:nvPr>
            <p:ph type="sldNum" sz="quarter" idx="5"/>
          </p:nvPr>
        </p:nvSpPr>
        <p:spPr/>
        <p:txBody>
          <a:bodyPr/>
          <a:lstStyle/>
          <a:p>
            <a:fld id="{B97FDBCA-D751-4A03-819B-45597328ED86}" type="slidenum">
              <a:rPr lang="en-US" smtClean="0"/>
              <a:t>34</a:t>
            </a:fld>
            <a:endParaRPr lang="en-US"/>
          </a:p>
        </p:txBody>
      </p:sp>
    </p:spTree>
    <p:extLst>
      <p:ext uri="{BB962C8B-B14F-4D97-AF65-F5344CB8AC3E}">
        <p14:creationId xmlns:p14="http://schemas.microsoft.com/office/powerpoint/2010/main" val="3902333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E1AE4-5737-D317-6529-04DCE4173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63C9B-9CA2-9C5E-4651-79B102C25A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B53C6-3695-B221-CD1B-248EFDF409E1}"/>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F3C47DD9-314E-FC28-FCC8-71BF2EB52DA6}"/>
              </a:ext>
            </a:extLst>
          </p:cNvPr>
          <p:cNvSpPr>
            <a:spLocks noGrp="1"/>
          </p:cNvSpPr>
          <p:nvPr>
            <p:ph type="sldNum" sz="quarter" idx="5"/>
          </p:nvPr>
        </p:nvSpPr>
        <p:spPr/>
        <p:txBody>
          <a:bodyPr/>
          <a:lstStyle/>
          <a:p>
            <a:fld id="{B97FDBCA-D751-4A03-819B-45597328ED86}" type="slidenum">
              <a:rPr lang="en-US" smtClean="0"/>
              <a:t>35</a:t>
            </a:fld>
            <a:endParaRPr lang="en-US"/>
          </a:p>
        </p:txBody>
      </p:sp>
    </p:spTree>
    <p:extLst>
      <p:ext uri="{BB962C8B-B14F-4D97-AF65-F5344CB8AC3E}">
        <p14:creationId xmlns:p14="http://schemas.microsoft.com/office/powerpoint/2010/main" val="40852449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8888B-F753-E6B7-47D6-A18F2A6AD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112CD-D7D7-E05A-ADDE-00C81E2111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897FA-F3F3-43FD-1EE8-FF63F16E7389}"/>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3B649A5A-9B71-9ACE-6696-D1EA6B12352D}"/>
              </a:ext>
            </a:extLst>
          </p:cNvPr>
          <p:cNvSpPr>
            <a:spLocks noGrp="1"/>
          </p:cNvSpPr>
          <p:nvPr>
            <p:ph type="sldNum" sz="quarter" idx="5"/>
          </p:nvPr>
        </p:nvSpPr>
        <p:spPr/>
        <p:txBody>
          <a:bodyPr/>
          <a:lstStyle/>
          <a:p>
            <a:fld id="{B97FDBCA-D751-4A03-819B-45597328ED86}" type="slidenum">
              <a:rPr lang="en-US" smtClean="0"/>
              <a:t>37</a:t>
            </a:fld>
            <a:endParaRPr lang="en-US"/>
          </a:p>
        </p:txBody>
      </p:sp>
    </p:spTree>
    <p:extLst>
      <p:ext uri="{BB962C8B-B14F-4D97-AF65-F5344CB8AC3E}">
        <p14:creationId xmlns:p14="http://schemas.microsoft.com/office/powerpoint/2010/main" val="20295656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39E85-BE4F-B295-BA74-F5141F84F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6BEB4-8087-ED6F-C1A4-01D86A29F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A8BA0F-96F7-BD48-986D-06F7FBA3B8D1}"/>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D913D173-6DAC-EF3E-EE10-B8270B7B6DE5}"/>
              </a:ext>
            </a:extLst>
          </p:cNvPr>
          <p:cNvSpPr>
            <a:spLocks noGrp="1"/>
          </p:cNvSpPr>
          <p:nvPr>
            <p:ph type="sldNum" sz="quarter" idx="5"/>
          </p:nvPr>
        </p:nvSpPr>
        <p:spPr/>
        <p:txBody>
          <a:bodyPr/>
          <a:lstStyle/>
          <a:p>
            <a:fld id="{B97FDBCA-D751-4A03-819B-45597328ED86}" type="slidenum">
              <a:rPr lang="en-US" smtClean="0"/>
              <a:t>38</a:t>
            </a:fld>
            <a:endParaRPr lang="en-US"/>
          </a:p>
        </p:txBody>
      </p:sp>
    </p:spTree>
    <p:extLst>
      <p:ext uri="{BB962C8B-B14F-4D97-AF65-F5344CB8AC3E}">
        <p14:creationId xmlns:p14="http://schemas.microsoft.com/office/powerpoint/2010/main" val="1073838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72F24-D4D3-4AB9-6DC1-1AE5B56CB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C0B6B-58F9-ED9D-3709-446EF32E7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AD21D-EF00-26E7-E341-E9341C2E5DB5}"/>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0C34064A-90F9-D583-B9AE-215BC26A98FB}"/>
              </a:ext>
            </a:extLst>
          </p:cNvPr>
          <p:cNvSpPr>
            <a:spLocks noGrp="1"/>
          </p:cNvSpPr>
          <p:nvPr>
            <p:ph type="sldNum" sz="quarter" idx="5"/>
          </p:nvPr>
        </p:nvSpPr>
        <p:spPr/>
        <p:txBody>
          <a:bodyPr/>
          <a:lstStyle/>
          <a:p>
            <a:fld id="{B97FDBCA-D751-4A03-819B-45597328ED86}" type="slidenum">
              <a:rPr lang="en-US" smtClean="0"/>
              <a:t>39</a:t>
            </a:fld>
            <a:endParaRPr lang="en-US"/>
          </a:p>
        </p:txBody>
      </p:sp>
    </p:spTree>
    <p:extLst>
      <p:ext uri="{BB962C8B-B14F-4D97-AF65-F5344CB8AC3E}">
        <p14:creationId xmlns:p14="http://schemas.microsoft.com/office/powerpoint/2010/main" val="17284507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9161E-4596-CA14-4997-1CCA8E383F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8D086-05D7-AB6B-6242-906CF17A94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22FD8-EF5E-924C-BF5C-122D076E8709}"/>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CAB4757C-3D20-9737-BDBF-5E89E94E809F}"/>
              </a:ext>
            </a:extLst>
          </p:cNvPr>
          <p:cNvSpPr>
            <a:spLocks noGrp="1"/>
          </p:cNvSpPr>
          <p:nvPr>
            <p:ph type="sldNum" sz="quarter" idx="5"/>
          </p:nvPr>
        </p:nvSpPr>
        <p:spPr/>
        <p:txBody>
          <a:bodyPr/>
          <a:lstStyle/>
          <a:p>
            <a:fld id="{B97FDBCA-D751-4A03-819B-45597328ED86}" type="slidenum">
              <a:rPr lang="en-US" smtClean="0"/>
              <a:t>41</a:t>
            </a:fld>
            <a:endParaRPr lang="en-US"/>
          </a:p>
        </p:txBody>
      </p:sp>
    </p:spTree>
    <p:extLst>
      <p:ext uri="{BB962C8B-B14F-4D97-AF65-F5344CB8AC3E}">
        <p14:creationId xmlns:p14="http://schemas.microsoft.com/office/powerpoint/2010/main" val="1504844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B7828-13D9-86F2-9841-9CDDC0E0A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6A1EB-F9A4-E1B6-633F-9124EFC2E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3F64D-A581-D2F7-0151-02BCBD31DD40}"/>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77A97150-5EA3-DFB5-167D-8148B1C23F74}"/>
              </a:ext>
            </a:extLst>
          </p:cNvPr>
          <p:cNvSpPr>
            <a:spLocks noGrp="1"/>
          </p:cNvSpPr>
          <p:nvPr>
            <p:ph type="sldNum" sz="quarter" idx="5"/>
          </p:nvPr>
        </p:nvSpPr>
        <p:spPr/>
        <p:txBody>
          <a:bodyPr/>
          <a:lstStyle/>
          <a:p>
            <a:fld id="{B97FDBCA-D751-4A03-819B-45597328ED86}" type="slidenum">
              <a:rPr lang="en-US" smtClean="0"/>
              <a:t>42</a:t>
            </a:fld>
            <a:endParaRPr lang="en-US"/>
          </a:p>
        </p:txBody>
      </p:sp>
    </p:spTree>
    <p:extLst>
      <p:ext uri="{BB962C8B-B14F-4D97-AF65-F5344CB8AC3E}">
        <p14:creationId xmlns:p14="http://schemas.microsoft.com/office/powerpoint/2010/main" val="4044959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0FA93-55DC-3B5B-62D7-A6345D9FE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F3A012-2D48-0925-5F69-DEA234D65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59B31-95BE-8854-9A47-53402D7991C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B32FACFF-8E3D-0D70-83A9-5D0A08632094}"/>
              </a:ext>
            </a:extLst>
          </p:cNvPr>
          <p:cNvSpPr>
            <a:spLocks noGrp="1"/>
          </p:cNvSpPr>
          <p:nvPr>
            <p:ph type="sldNum" sz="quarter" idx="5"/>
          </p:nvPr>
        </p:nvSpPr>
        <p:spPr/>
        <p:txBody>
          <a:bodyPr/>
          <a:lstStyle/>
          <a:p>
            <a:fld id="{B97FDBCA-D751-4A03-819B-45597328ED86}" type="slidenum">
              <a:rPr lang="en-US" smtClean="0"/>
              <a:t>43</a:t>
            </a:fld>
            <a:endParaRPr lang="en-US"/>
          </a:p>
        </p:txBody>
      </p:sp>
    </p:spTree>
    <p:extLst>
      <p:ext uri="{BB962C8B-B14F-4D97-AF65-F5344CB8AC3E}">
        <p14:creationId xmlns:p14="http://schemas.microsoft.com/office/powerpoint/2010/main" val="36385081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DBEA0-6D15-0388-1E89-31CC5C81D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1B346-0F6B-6B06-F82D-640FBB212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4D2E0-2BED-2E7A-F794-4CD4072CAD8F}"/>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B638C8C-094A-F795-3410-B50197ACC4DA}"/>
              </a:ext>
            </a:extLst>
          </p:cNvPr>
          <p:cNvSpPr>
            <a:spLocks noGrp="1"/>
          </p:cNvSpPr>
          <p:nvPr>
            <p:ph type="sldNum" sz="quarter" idx="5"/>
          </p:nvPr>
        </p:nvSpPr>
        <p:spPr/>
        <p:txBody>
          <a:bodyPr/>
          <a:lstStyle/>
          <a:p>
            <a:fld id="{B97FDBCA-D751-4A03-819B-45597328ED86}" type="slidenum">
              <a:rPr lang="en-US" smtClean="0"/>
              <a:t>44</a:t>
            </a:fld>
            <a:endParaRPr lang="en-US"/>
          </a:p>
        </p:txBody>
      </p:sp>
    </p:spTree>
    <p:extLst>
      <p:ext uri="{BB962C8B-B14F-4D97-AF65-F5344CB8AC3E}">
        <p14:creationId xmlns:p14="http://schemas.microsoft.com/office/powerpoint/2010/main" val="16492627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99EC6-9165-3242-A8ED-9DC9DAE96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8B4D7-0EAB-9663-42A3-6CEE6D5EB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02E4B-D67D-8D2C-6F7F-CBA47E97FDE6}"/>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7C82946-5729-EAF1-A48D-2C204410E231}"/>
              </a:ext>
            </a:extLst>
          </p:cNvPr>
          <p:cNvSpPr>
            <a:spLocks noGrp="1"/>
          </p:cNvSpPr>
          <p:nvPr>
            <p:ph type="sldNum" sz="quarter" idx="5"/>
          </p:nvPr>
        </p:nvSpPr>
        <p:spPr/>
        <p:txBody>
          <a:bodyPr/>
          <a:lstStyle/>
          <a:p>
            <a:fld id="{B97FDBCA-D751-4A03-819B-45597328ED86}" type="slidenum">
              <a:rPr lang="en-US" smtClean="0"/>
              <a:t>45</a:t>
            </a:fld>
            <a:endParaRPr lang="en-US"/>
          </a:p>
        </p:txBody>
      </p:sp>
    </p:spTree>
    <p:extLst>
      <p:ext uri="{BB962C8B-B14F-4D97-AF65-F5344CB8AC3E}">
        <p14:creationId xmlns:p14="http://schemas.microsoft.com/office/powerpoint/2010/main" val="1289927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DC666-6C01-72CF-9BF1-335FBFADD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793B4-DC49-8C17-E592-B7F5AB815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83A27-26F2-8E89-DC70-B19A9816B504}"/>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2BA1E823-A8AB-6133-FFFC-809404EDB2B6}"/>
              </a:ext>
            </a:extLst>
          </p:cNvPr>
          <p:cNvSpPr>
            <a:spLocks noGrp="1"/>
          </p:cNvSpPr>
          <p:nvPr>
            <p:ph type="sldNum" sz="quarter" idx="5"/>
          </p:nvPr>
        </p:nvSpPr>
        <p:spPr/>
        <p:txBody>
          <a:bodyPr/>
          <a:lstStyle/>
          <a:p>
            <a:fld id="{B97FDBCA-D751-4A03-819B-45597328ED86}" type="slidenum">
              <a:rPr lang="en-US" smtClean="0"/>
              <a:t>46</a:t>
            </a:fld>
            <a:endParaRPr lang="en-US"/>
          </a:p>
        </p:txBody>
      </p:sp>
    </p:spTree>
    <p:extLst>
      <p:ext uri="{BB962C8B-B14F-4D97-AF65-F5344CB8AC3E}">
        <p14:creationId xmlns:p14="http://schemas.microsoft.com/office/powerpoint/2010/main" val="39060268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6DA15-419D-BF5D-2C45-7BE23CA2E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98AF1-7B8E-3E6B-5B53-8D4BE98DC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1CB371-5976-C00D-4775-B0E80D948302}"/>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21CDA3A-786E-E5C3-F148-2A3A39852932}"/>
              </a:ext>
            </a:extLst>
          </p:cNvPr>
          <p:cNvSpPr>
            <a:spLocks noGrp="1"/>
          </p:cNvSpPr>
          <p:nvPr>
            <p:ph type="sldNum" sz="quarter" idx="5"/>
          </p:nvPr>
        </p:nvSpPr>
        <p:spPr/>
        <p:txBody>
          <a:bodyPr/>
          <a:lstStyle/>
          <a:p>
            <a:fld id="{B97FDBCA-D751-4A03-819B-45597328ED86}" type="slidenum">
              <a:rPr lang="en-US" smtClean="0"/>
              <a:t>47</a:t>
            </a:fld>
            <a:endParaRPr lang="en-US"/>
          </a:p>
        </p:txBody>
      </p:sp>
    </p:spTree>
    <p:extLst>
      <p:ext uri="{BB962C8B-B14F-4D97-AF65-F5344CB8AC3E}">
        <p14:creationId xmlns:p14="http://schemas.microsoft.com/office/powerpoint/2010/main" val="16836180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91214-D372-0BAB-C932-3248EE920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F25D5-5725-2B49-1CF2-17564F898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40A61-74B7-D581-080F-427B21982122}"/>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D19CD0E6-B93A-EC7A-5D0C-318F6C6D00FE}"/>
              </a:ext>
            </a:extLst>
          </p:cNvPr>
          <p:cNvSpPr>
            <a:spLocks noGrp="1"/>
          </p:cNvSpPr>
          <p:nvPr>
            <p:ph type="sldNum" sz="quarter" idx="5"/>
          </p:nvPr>
        </p:nvSpPr>
        <p:spPr/>
        <p:txBody>
          <a:bodyPr/>
          <a:lstStyle/>
          <a:p>
            <a:fld id="{B97FDBCA-D751-4A03-819B-45597328ED86}" type="slidenum">
              <a:rPr lang="en-US" smtClean="0"/>
              <a:t>48</a:t>
            </a:fld>
            <a:endParaRPr lang="en-US"/>
          </a:p>
        </p:txBody>
      </p:sp>
    </p:spTree>
    <p:extLst>
      <p:ext uri="{BB962C8B-B14F-4D97-AF65-F5344CB8AC3E}">
        <p14:creationId xmlns:p14="http://schemas.microsoft.com/office/powerpoint/2010/main" val="22428602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3CEDC-0B16-D859-FC13-A42CC9D0E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32141-6175-691A-EA29-B7F9B18F4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C3BD6-1E85-0DC4-8BB0-C6DE0CC8BEF0}"/>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E9931FDC-80B7-BB05-FB3B-F8FF8B43A20F}"/>
              </a:ext>
            </a:extLst>
          </p:cNvPr>
          <p:cNvSpPr>
            <a:spLocks noGrp="1"/>
          </p:cNvSpPr>
          <p:nvPr>
            <p:ph type="sldNum" sz="quarter" idx="5"/>
          </p:nvPr>
        </p:nvSpPr>
        <p:spPr/>
        <p:txBody>
          <a:bodyPr/>
          <a:lstStyle/>
          <a:p>
            <a:fld id="{B97FDBCA-D751-4A03-819B-45597328ED86}" type="slidenum">
              <a:rPr lang="en-US" smtClean="0"/>
              <a:t>49</a:t>
            </a:fld>
            <a:endParaRPr lang="en-US"/>
          </a:p>
        </p:txBody>
      </p:sp>
    </p:spTree>
    <p:extLst>
      <p:ext uri="{BB962C8B-B14F-4D97-AF65-F5344CB8AC3E}">
        <p14:creationId xmlns:p14="http://schemas.microsoft.com/office/powerpoint/2010/main" val="35420472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B0159-BFC2-DD5C-5F80-828349652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EE54B-A56F-7A40-0602-EEF61D06C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BED8E-CC0A-8F57-E7E0-C3E9037447FF}"/>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9F236D4-593F-3690-BFE7-143854D0C66F}"/>
              </a:ext>
            </a:extLst>
          </p:cNvPr>
          <p:cNvSpPr>
            <a:spLocks noGrp="1"/>
          </p:cNvSpPr>
          <p:nvPr>
            <p:ph type="sldNum" sz="quarter" idx="5"/>
          </p:nvPr>
        </p:nvSpPr>
        <p:spPr/>
        <p:txBody>
          <a:bodyPr/>
          <a:lstStyle/>
          <a:p>
            <a:fld id="{B97FDBCA-D751-4A03-819B-45597328ED86}" type="slidenum">
              <a:rPr lang="en-US" smtClean="0"/>
              <a:t>50</a:t>
            </a:fld>
            <a:endParaRPr lang="en-US"/>
          </a:p>
        </p:txBody>
      </p:sp>
    </p:spTree>
    <p:extLst>
      <p:ext uri="{BB962C8B-B14F-4D97-AF65-F5344CB8AC3E}">
        <p14:creationId xmlns:p14="http://schemas.microsoft.com/office/powerpoint/2010/main" val="9169329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52</a:t>
            </a:fld>
            <a:endParaRPr lang="en-US"/>
          </a:p>
        </p:txBody>
      </p:sp>
    </p:spTree>
    <p:extLst>
      <p:ext uri="{BB962C8B-B14F-4D97-AF65-F5344CB8AC3E}">
        <p14:creationId xmlns:p14="http://schemas.microsoft.com/office/powerpoint/2010/main" val="24393865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53</a:t>
            </a:fld>
            <a:endParaRPr lang="en-US"/>
          </a:p>
        </p:txBody>
      </p:sp>
    </p:spTree>
    <p:extLst>
      <p:ext uri="{BB962C8B-B14F-4D97-AF65-F5344CB8AC3E}">
        <p14:creationId xmlns:p14="http://schemas.microsoft.com/office/powerpoint/2010/main" val="19212662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54</a:t>
            </a:fld>
            <a:endParaRPr lang="en-US"/>
          </a:p>
        </p:txBody>
      </p:sp>
    </p:spTree>
    <p:extLst>
      <p:ext uri="{BB962C8B-B14F-4D97-AF65-F5344CB8AC3E}">
        <p14:creationId xmlns:p14="http://schemas.microsoft.com/office/powerpoint/2010/main" val="39837452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55</a:t>
            </a:fld>
            <a:endParaRPr lang="en-US"/>
          </a:p>
        </p:txBody>
      </p:sp>
    </p:spTree>
    <p:extLst>
      <p:ext uri="{BB962C8B-B14F-4D97-AF65-F5344CB8AC3E}">
        <p14:creationId xmlns:p14="http://schemas.microsoft.com/office/powerpoint/2010/main" val="36231773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56</a:t>
            </a:fld>
            <a:endParaRPr lang="en-US"/>
          </a:p>
        </p:txBody>
      </p:sp>
    </p:spTree>
    <p:extLst>
      <p:ext uri="{BB962C8B-B14F-4D97-AF65-F5344CB8AC3E}">
        <p14:creationId xmlns:p14="http://schemas.microsoft.com/office/powerpoint/2010/main" val="9379094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57</a:t>
            </a:fld>
            <a:endParaRPr lang="en-US"/>
          </a:p>
        </p:txBody>
      </p:sp>
    </p:spTree>
    <p:extLst>
      <p:ext uri="{BB962C8B-B14F-4D97-AF65-F5344CB8AC3E}">
        <p14:creationId xmlns:p14="http://schemas.microsoft.com/office/powerpoint/2010/main" val="242111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58</a:t>
            </a:fld>
            <a:endParaRPr lang="en-US"/>
          </a:p>
        </p:txBody>
      </p:sp>
    </p:spTree>
    <p:extLst>
      <p:ext uri="{BB962C8B-B14F-4D97-AF65-F5344CB8AC3E}">
        <p14:creationId xmlns:p14="http://schemas.microsoft.com/office/powerpoint/2010/main" val="25395984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59</a:t>
            </a:fld>
            <a:endParaRPr lang="en-US"/>
          </a:p>
        </p:txBody>
      </p:sp>
    </p:spTree>
    <p:extLst>
      <p:ext uri="{BB962C8B-B14F-4D97-AF65-F5344CB8AC3E}">
        <p14:creationId xmlns:p14="http://schemas.microsoft.com/office/powerpoint/2010/main" val="18744211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60</a:t>
            </a:fld>
            <a:endParaRPr lang="en-US"/>
          </a:p>
        </p:txBody>
      </p:sp>
    </p:spTree>
    <p:extLst>
      <p:ext uri="{BB962C8B-B14F-4D97-AF65-F5344CB8AC3E}">
        <p14:creationId xmlns:p14="http://schemas.microsoft.com/office/powerpoint/2010/main" val="6692430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61</a:t>
            </a:fld>
            <a:endParaRPr lang="en-US"/>
          </a:p>
        </p:txBody>
      </p:sp>
    </p:spTree>
    <p:extLst>
      <p:ext uri="{BB962C8B-B14F-4D97-AF65-F5344CB8AC3E}">
        <p14:creationId xmlns:p14="http://schemas.microsoft.com/office/powerpoint/2010/main" val="12447163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62</a:t>
            </a:fld>
            <a:endParaRPr lang="en-US"/>
          </a:p>
        </p:txBody>
      </p:sp>
    </p:spTree>
    <p:extLst>
      <p:ext uri="{BB962C8B-B14F-4D97-AF65-F5344CB8AC3E}">
        <p14:creationId xmlns:p14="http://schemas.microsoft.com/office/powerpoint/2010/main" val="38069930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63</a:t>
            </a:fld>
            <a:endParaRPr lang="en-US"/>
          </a:p>
        </p:txBody>
      </p:sp>
    </p:spTree>
    <p:extLst>
      <p:ext uri="{BB962C8B-B14F-4D97-AF65-F5344CB8AC3E}">
        <p14:creationId xmlns:p14="http://schemas.microsoft.com/office/powerpoint/2010/main" val="31957435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cs typeface="Neo Sans Arabic" panose="020B0504030504040204" pitchFamily="34" charset="-78"/>
              </a:rPr>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64</a:t>
            </a:fld>
            <a:endParaRPr lang="en-US"/>
          </a:p>
        </p:txBody>
      </p:sp>
    </p:spTree>
    <p:extLst>
      <p:ext uri="{BB962C8B-B14F-4D97-AF65-F5344CB8AC3E}">
        <p14:creationId xmlns:p14="http://schemas.microsoft.com/office/powerpoint/2010/main" val="33487546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4/13/2026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4/13/2026</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4/13/2026</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DIN Next LT Arabic" panose="020B0503020203050203" pitchFamily="34" charset="-78"/>
                <a:cs typeface="DIN Next LT Arabic" panose="020B0503020203050203" pitchFamily="34"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4/13/2026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4/13/2026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4/13/2026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4/13/2026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4/13/2026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658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11.xml"/><Relationship Id="rId7" Type="http://schemas.openxmlformats.org/officeDocument/2006/relationships/slide" Target="slide51.xml"/><Relationship Id="rId2" Type="http://schemas.openxmlformats.org/officeDocument/2006/relationships/slide" Target="slide6.xml"/><Relationship Id="rId1" Type="http://schemas.openxmlformats.org/officeDocument/2006/relationships/slideLayout" Target="../slideLayouts/slideLayout23.xml"/><Relationship Id="rId6" Type="http://schemas.openxmlformats.org/officeDocument/2006/relationships/slide" Target="slide36.xml"/><Relationship Id="rId5" Type="http://schemas.openxmlformats.org/officeDocument/2006/relationships/slide" Target="slide30.xml"/><Relationship Id="rId4" Type="http://schemas.openxmlformats.org/officeDocument/2006/relationships/slide" Target="slide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7.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9827" y="3749232"/>
            <a:ext cx="5022574" cy="1204833"/>
          </a:xfrm>
        </p:spPr>
        <p:txBody>
          <a:bodyPr/>
          <a:lstStyle/>
          <a:p>
            <a:pPr>
              <a:lnSpc>
                <a:spcPct val="125000"/>
              </a:lnSpc>
            </a:pPr>
            <a:r>
              <a:rPr lang="ar-EG" dirty="0"/>
              <a:t>وثيقة النماذج المرجعية للبنية المؤسسية</a:t>
            </a:r>
            <a:endParaRPr lang="en-US" dirty="0"/>
          </a:p>
        </p:txBody>
      </p:sp>
      <p:sp>
        <p:nvSpPr>
          <p:cNvPr id="3" name="Subtitle 2"/>
          <p:cNvSpPr>
            <a:spLocks noGrp="1"/>
          </p:cNvSpPr>
          <p:nvPr>
            <p:ph type="subTitle" idx="1"/>
          </p:nvPr>
        </p:nvSpPr>
        <p:spPr/>
        <p:txBody>
          <a:bodyPr>
            <a:normAutofit/>
          </a:bodyPr>
          <a:lstStyle/>
          <a:p>
            <a:r>
              <a:rPr lang="ar-EG" dirty="0"/>
              <a:t>النسخة </a:t>
            </a:r>
            <a:r>
              <a:rPr lang="ar-SA" dirty="0"/>
              <a:t>1.5</a:t>
            </a:r>
            <a:endParaRPr lang="ar-EG"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1500636427"/>
              </p:ext>
            </p:extLst>
          </p:nvPr>
        </p:nvGraphicFramePr>
        <p:xfrm>
          <a:off x="609601" y="1237422"/>
          <a:ext cx="10972798" cy="4572986"/>
        </p:xfrm>
        <a:graphic>
          <a:graphicData uri="http://schemas.openxmlformats.org/drawingml/2006/table">
            <a:tbl>
              <a:tblPr rtl="1" firstRow="1" bandRow="1">
                <a:tableStyleId>{2D5ABB26-0587-4C30-8999-92F81FD0307C}</a:tableStyleId>
              </a:tblPr>
              <a:tblGrid>
                <a:gridCol w="1288225">
                  <a:extLst>
                    <a:ext uri="{9D8B030D-6E8A-4147-A177-3AD203B41FA5}">
                      <a16:colId xmlns:a16="http://schemas.microsoft.com/office/drawing/2014/main" val="3246697180"/>
                    </a:ext>
                  </a:extLst>
                </a:gridCol>
                <a:gridCol w="1233878">
                  <a:extLst>
                    <a:ext uri="{9D8B030D-6E8A-4147-A177-3AD203B41FA5}">
                      <a16:colId xmlns:a16="http://schemas.microsoft.com/office/drawing/2014/main" val="1695347223"/>
                    </a:ext>
                  </a:extLst>
                </a:gridCol>
                <a:gridCol w="2586925">
                  <a:extLst>
                    <a:ext uri="{9D8B030D-6E8A-4147-A177-3AD203B41FA5}">
                      <a16:colId xmlns:a16="http://schemas.microsoft.com/office/drawing/2014/main" val="2017486071"/>
                    </a:ext>
                  </a:extLst>
                </a:gridCol>
                <a:gridCol w="2937305">
                  <a:extLst>
                    <a:ext uri="{9D8B030D-6E8A-4147-A177-3AD203B41FA5}">
                      <a16:colId xmlns:a16="http://schemas.microsoft.com/office/drawing/2014/main" val="2702421411"/>
                    </a:ext>
                  </a:extLst>
                </a:gridCol>
                <a:gridCol w="2926465">
                  <a:extLst>
                    <a:ext uri="{9D8B030D-6E8A-4147-A177-3AD203B41FA5}">
                      <a16:colId xmlns:a16="http://schemas.microsoft.com/office/drawing/2014/main" val="3621974949"/>
                    </a:ext>
                  </a:extLst>
                </a:gridCol>
              </a:tblGrid>
              <a:tr h="506402">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0.1</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0.3</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0.4</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4072705470"/>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دانا الغضبان</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مدير قسم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20/11/2024</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 يوسف </a:t>
                      </a:r>
                      <a:r>
                        <a:rPr lang="ar-SA" sz="1800" kern="1200" dirty="0" err="1">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العوهلي</a:t>
                      </a: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kumimoji="0" lang="ar-SA"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مساعد الرئيس للبيانات والتحول الرقمي</a:t>
                      </a: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lvl="0" indent="-1905" algn="ctr" defTabSz="914400" rtl="1" eaLnBrk="1" fontAlgn="auto" latinLnBrk="0" hangingPunct="1">
                        <a:lnSpc>
                          <a:spcPct val="115000"/>
                        </a:lnSpc>
                        <a:spcBef>
                          <a:spcPts val="500"/>
                        </a:spcBef>
                        <a:spcAft>
                          <a:spcPts val="0"/>
                        </a:spcAft>
                        <a:buClrTx/>
                        <a:buSzTx/>
                        <a:buFontTx/>
                        <a:buNone/>
                        <a:tabLst/>
                        <a:defRPr/>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20/11/2024</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sp>
        <p:nvSpPr>
          <p:cNvPr id="111" name="Text Placeholder 11">
            <a:extLst>
              <a:ext uri="{FF2B5EF4-FFF2-40B4-BE49-F238E27FC236}">
                <a16:creationId xmlns:a16="http://schemas.microsoft.com/office/drawing/2014/main" id="{AC9FBA39-545A-2B44-3B82-F6A05AD587ED}"/>
              </a:ext>
            </a:extLst>
          </p:cNvPr>
          <p:cNvSpPr txBox="1">
            <a:spLocks/>
          </p:cNvSpPr>
          <p:nvPr/>
        </p:nvSpPr>
        <p:spPr>
          <a:xfrm>
            <a:off x="4443008"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2" action="ppaction://hlinksldjump"/>
              </a:rPr>
              <a:t>مقدمة عن النماذج المرجعية</a:t>
            </a:r>
            <a:endParaRPr lang="ar-EG" dirty="0">
              <a:solidFill>
                <a:schemeClr val="accent1"/>
              </a:solidFill>
            </a:endParaRPr>
          </a:p>
        </p:txBody>
      </p:sp>
      <p:sp>
        <p:nvSpPr>
          <p:cNvPr id="113" name="Text Placeholder 6">
            <a:extLst>
              <a:ext uri="{FF2B5EF4-FFF2-40B4-BE49-F238E27FC236}">
                <a16:creationId xmlns:a16="http://schemas.microsoft.com/office/drawing/2014/main" id="{6B10A3DA-6096-5CBC-3C34-1BDB4D3ED90C}"/>
              </a:ext>
            </a:extLst>
          </p:cNvPr>
          <p:cNvSpPr txBox="1">
            <a:spLocks/>
          </p:cNvSpPr>
          <p:nvPr/>
        </p:nvSpPr>
        <p:spPr>
          <a:xfrm>
            <a:off x="7715771"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1</a:t>
            </a:r>
            <a:endParaRPr lang="en-US" sz="1800" dirty="0"/>
          </a:p>
        </p:txBody>
      </p:sp>
      <p:sp>
        <p:nvSpPr>
          <p:cNvPr id="120" name="Text Placeholder 11">
            <a:extLst>
              <a:ext uri="{FF2B5EF4-FFF2-40B4-BE49-F238E27FC236}">
                <a16:creationId xmlns:a16="http://schemas.microsoft.com/office/drawing/2014/main" id="{7486E810-41A9-8353-E944-7E95541923EF}"/>
              </a:ext>
            </a:extLst>
          </p:cNvPr>
          <p:cNvSpPr txBox="1">
            <a:spLocks/>
          </p:cNvSpPr>
          <p:nvPr/>
        </p:nvSpPr>
        <p:spPr>
          <a:xfrm>
            <a:off x="609601"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3" action="ppaction://hlinksldjump"/>
              </a:rPr>
              <a:t>النموذج المرجعي لبنية الأعمال</a:t>
            </a:r>
            <a:endParaRPr lang="ar-EG" dirty="0">
              <a:solidFill>
                <a:schemeClr val="accent1"/>
              </a:solidFill>
            </a:endParaRPr>
          </a:p>
        </p:txBody>
      </p:sp>
      <p:sp>
        <p:nvSpPr>
          <p:cNvPr id="122" name="Text Placeholder 6">
            <a:extLst>
              <a:ext uri="{FF2B5EF4-FFF2-40B4-BE49-F238E27FC236}">
                <a16:creationId xmlns:a16="http://schemas.microsoft.com/office/drawing/2014/main" id="{98A2FD5D-5EBB-BA9D-4871-8F2CBDB452E1}"/>
              </a:ext>
            </a:extLst>
          </p:cNvPr>
          <p:cNvSpPr txBox="1">
            <a:spLocks/>
          </p:cNvSpPr>
          <p:nvPr/>
        </p:nvSpPr>
        <p:spPr>
          <a:xfrm>
            <a:off x="3882364"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2</a:t>
            </a:r>
            <a:endParaRPr lang="en-US" sz="1800" dirty="0"/>
          </a:p>
        </p:txBody>
      </p:sp>
      <p:sp>
        <p:nvSpPr>
          <p:cNvPr id="6" name="Text Placeholder 11">
            <a:extLst>
              <a:ext uri="{FF2B5EF4-FFF2-40B4-BE49-F238E27FC236}">
                <a16:creationId xmlns:a16="http://schemas.microsoft.com/office/drawing/2014/main" id="{E672BFDF-BC2C-4D81-F49E-815258EE34C5}"/>
              </a:ext>
            </a:extLst>
          </p:cNvPr>
          <p:cNvSpPr txBox="1">
            <a:spLocks/>
          </p:cNvSpPr>
          <p:nvPr/>
        </p:nvSpPr>
        <p:spPr>
          <a:xfrm>
            <a:off x="609601" y="2580973"/>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4" action="ppaction://hlinksldjump"/>
              </a:rPr>
              <a:t>النموذج المرجعي لبنية التقنية</a:t>
            </a:r>
            <a:endParaRPr lang="ar-EG" dirty="0">
              <a:solidFill>
                <a:schemeClr val="accent1"/>
              </a:solidFill>
            </a:endParaRPr>
          </a:p>
        </p:txBody>
      </p:sp>
      <p:sp>
        <p:nvSpPr>
          <p:cNvPr id="8" name="Text Placeholder 6">
            <a:extLst>
              <a:ext uri="{FF2B5EF4-FFF2-40B4-BE49-F238E27FC236}">
                <a16:creationId xmlns:a16="http://schemas.microsoft.com/office/drawing/2014/main" id="{1F70DEF4-D70A-96B4-B917-E2AADE86E876}"/>
              </a:ext>
            </a:extLst>
          </p:cNvPr>
          <p:cNvSpPr txBox="1">
            <a:spLocks/>
          </p:cNvSpPr>
          <p:nvPr/>
        </p:nvSpPr>
        <p:spPr>
          <a:xfrm>
            <a:off x="3882364" y="2553264"/>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sz="1800" dirty="0"/>
              <a:t>6</a:t>
            </a:r>
            <a:endParaRPr lang="en-US" sz="1800" dirty="0"/>
          </a:p>
        </p:txBody>
      </p:sp>
      <p:sp>
        <p:nvSpPr>
          <p:cNvPr id="2" name="Text Placeholder 11">
            <a:extLst>
              <a:ext uri="{FF2B5EF4-FFF2-40B4-BE49-F238E27FC236}">
                <a16:creationId xmlns:a16="http://schemas.microsoft.com/office/drawing/2014/main" id="{1A0F48E5-3ED9-8364-2808-F6577F748E03}"/>
              </a:ext>
            </a:extLst>
          </p:cNvPr>
          <p:cNvSpPr txBox="1">
            <a:spLocks/>
          </p:cNvSpPr>
          <p:nvPr/>
        </p:nvSpPr>
        <p:spPr>
          <a:xfrm>
            <a:off x="609601" y="1890008"/>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5" action="ppaction://hlinksldjump"/>
              </a:rPr>
              <a:t>النموذج المرجعي لبنية التطبيقات</a:t>
            </a:r>
            <a:endParaRPr lang="ar-EG" dirty="0">
              <a:solidFill>
                <a:schemeClr val="accent1"/>
              </a:solidFill>
            </a:endParaRPr>
          </a:p>
        </p:txBody>
      </p:sp>
      <p:sp>
        <p:nvSpPr>
          <p:cNvPr id="3" name="Text Placeholder 6">
            <a:extLst>
              <a:ext uri="{FF2B5EF4-FFF2-40B4-BE49-F238E27FC236}">
                <a16:creationId xmlns:a16="http://schemas.microsoft.com/office/drawing/2014/main" id="{B6E45A99-1631-2E5C-E1B7-E4EFA25F50BE}"/>
              </a:ext>
            </a:extLst>
          </p:cNvPr>
          <p:cNvSpPr txBox="1">
            <a:spLocks/>
          </p:cNvSpPr>
          <p:nvPr/>
        </p:nvSpPr>
        <p:spPr>
          <a:xfrm>
            <a:off x="3882364" y="1862299"/>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4</a:t>
            </a:r>
          </a:p>
        </p:txBody>
      </p:sp>
      <p:sp>
        <p:nvSpPr>
          <p:cNvPr id="4" name="Text Placeholder 11">
            <a:extLst>
              <a:ext uri="{FF2B5EF4-FFF2-40B4-BE49-F238E27FC236}">
                <a16:creationId xmlns:a16="http://schemas.microsoft.com/office/drawing/2014/main" id="{3CD7B498-2B51-EC93-2985-446CEFCEF032}"/>
              </a:ext>
            </a:extLst>
          </p:cNvPr>
          <p:cNvSpPr txBox="1">
            <a:spLocks/>
          </p:cNvSpPr>
          <p:nvPr/>
        </p:nvSpPr>
        <p:spPr>
          <a:xfrm>
            <a:off x="4443008" y="2548816"/>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6" action="ppaction://hlinksldjump"/>
              </a:rPr>
              <a:t>النموذج المرجعي لبنية البيانات</a:t>
            </a:r>
            <a:endParaRPr lang="ar-EG" dirty="0">
              <a:solidFill>
                <a:schemeClr val="accent1"/>
              </a:solidFill>
            </a:endParaRPr>
          </a:p>
        </p:txBody>
      </p:sp>
      <p:sp>
        <p:nvSpPr>
          <p:cNvPr id="5" name="Text Placeholder 6">
            <a:extLst>
              <a:ext uri="{FF2B5EF4-FFF2-40B4-BE49-F238E27FC236}">
                <a16:creationId xmlns:a16="http://schemas.microsoft.com/office/drawing/2014/main" id="{E8BBA443-6014-F364-2C98-CE5DB2E46CF9}"/>
              </a:ext>
            </a:extLst>
          </p:cNvPr>
          <p:cNvSpPr txBox="1">
            <a:spLocks/>
          </p:cNvSpPr>
          <p:nvPr/>
        </p:nvSpPr>
        <p:spPr>
          <a:xfrm>
            <a:off x="7715771" y="2521107"/>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sz="1800" dirty="0"/>
              <a:t>5</a:t>
            </a:r>
            <a:endParaRPr lang="en-US" sz="1800" dirty="0"/>
          </a:p>
        </p:txBody>
      </p:sp>
      <p:sp>
        <p:nvSpPr>
          <p:cNvPr id="7" name="Text Placeholder 11">
            <a:extLst>
              <a:ext uri="{FF2B5EF4-FFF2-40B4-BE49-F238E27FC236}">
                <a16:creationId xmlns:a16="http://schemas.microsoft.com/office/drawing/2014/main" id="{60239967-01DD-0089-C30C-2DFE95195C48}"/>
              </a:ext>
            </a:extLst>
          </p:cNvPr>
          <p:cNvSpPr txBox="1">
            <a:spLocks/>
          </p:cNvSpPr>
          <p:nvPr/>
        </p:nvSpPr>
        <p:spPr>
          <a:xfrm>
            <a:off x="4443008" y="3252473"/>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7" action="ppaction://hlinksldjump"/>
              </a:rPr>
              <a:t>النموذج المرجعي لبنية ال</a:t>
            </a:r>
            <a:r>
              <a:rPr lang="ar-SA" dirty="0">
                <a:solidFill>
                  <a:schemeClr val="accent1"/>
                </a:solidFill>
                <a:hlinkClick r:id="rId7" action="ppaction://hlinksldjump"/>
              </a:rPr>
              <a:t>أمن السيبراني</a:t>
            </a:r>
            <a:endParaRPr lang="ar-EG" dirty="0">
              <a:solidFill>
                <a:schemeClr val="accent1"/>
              </a:solidFill>
            </a:endParaRPr>
          </a:p>
        </p:txBody>
      </p:sp>
      <p:sp>
        <p:nvSpPr>
          <p:cNvPr id="9" name="Text Placeholder 6">
            <a:extLst>
              <a:ext uri="{FF2B5EF4-FFF2-40B4-BE49-F238E27FC236}">
                <a16:creationId xmlns:a16="http://schemas.microsoft.com/office/drawing/2014/main" id="{CA11B6E3-50E1-9243-92D5-9587C7BD1626}"/>
              </a:ext>
            </a:extLst>
          </p:cNvPr>
          <p:cNvSpPr txBox="1">
            <a:spLocks/>
          </p:cNvSpPr>
          <p:nvPr/>
        </p:nvSpPr>
        <p:spPr>
          <a:xfrm>
            <a:off x="7715771" y="3224764"/>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7</a:t>
            </a:r>
          </a:p>
        </p:txBody>
      </p:sp>
      <p:sp>
        <p:nvSpPr>
          <p:cNvPr id="10" name="Text Placeholder 11">
            <a:extLst>
              <a:ext uri="{FF2B5EF4-FFF2-40B4-BE49-F238E27FC236}">
                <a16:creationId xmlns:a16="http://schemas.microsoft.com/office/drawing/2014/main" id="{F287AD74-C3C5-4B87-0917-BC87518D5366}"/>
              </a:ext>
            </a:extLst>
          </p:cNvPr>
          <p:cNvSpPr txBox="1">
            <a:spLocks/>
          </p:cNvSpPr>
          <p:nvPr/>
        </p:nvSpPr>
        <p:spPr>
          <a:xfrm>
            <a:off x="4443008" y="1851928"/>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8" action="ppaction://hlinksldjump"/>
              </a:rPr>
              <a:t>النموذج المرجعي لبنية</a:t>
            </a:r>
            <a:r>
              <a:rPr lang="ar-SA" dirty="0">
                <a:solidFill>
                  <a:schemeClr val="accent1"/>
                </a:solidFill>
                <a:hlinkClick r:id="rId8" action="ppaction://hlinksldjump"/>
              </a:rPr>
              <a:t> تجربة المستفيد</a:t>
            </a:r>
            <a:endParaRPr lang="ar-EG" dirty="0">
              <a:solidFill>
                <a:schemeClr val="accent1"/>
              </a:solidFill>
            </a:endParaRPr>
          </a:p>
        </p:txBody>
      </p:sp>
      <p:sp>
        <p:nvSpPr>
          <p:cNvPr id="11" name="Text Placeholder 6">
            <a:extLst>
              <a:ext uri="{FF2B5EF4-FFF2-40B4-BE49-F238E27FC236}">
                <a16:creationId xmlns:a16="http://schemas.microsoft.com/office/drawing/2014/main" id="{9E2BD0DA-B9D2-B181-47F8-68AD77436626}"/>
              </a:ext>
            </a:extLst>
          </p:cNvPr>
          <p:cNvSpPr txBox="1">
            <a:spLocks/>
          </p:cNvSpPr>
          <p:nvPr/>
        </p:nvSpPr>
        <p:spPr>
          <a:xfrm>
            <a:off x="7715771" y="1824219"/>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sz="1800" dirty="0"/>
              <a:t>3</a:t>
            </a:r>
            <a:endParaRPr lang="en-US" sz="1800" dirty="0"/>
          </a:p>
        </p:txBody>
      </p:sp>
    </p:spTree>
    <p:extLst>
      <p:ext uri="{BB962C8B-B14F-4D97-AF65-F5344CB8AC3E}">
        <p14:creationId xmlns:p14="http://schemas.microsoft.com/office/powerpoint/2010/main" val="1003467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مقدمة عن النماذج المرجعية</a:t>
            </a:r>
            <a:endParaRPr lang="en-US" dirty="0"/>
          </a:p>
        </p:txBody>
      </p:sp>
      <p:sp>
        <p:nvSpPr>
          <p:cNvPr id="4" name="Text Placeholder 3"/>
          <p:cNvSpPr>
            <a:spLocks noGrp="1"/>
          </p:cNvSpPr>
          <p:nvPr>
            <p:ph type="body" sz="quarter" idx="14"/>
          </p:nvPr>
        </p:nvSpPr>
        <p:spPr/>
        <p:txBody>
          <a:bodyPr/>
          <a:lstStyle/>
          <a:p>
            <a:r>
              <a:rPr lang="ar-EG" dirty="0"/>
              <a:t>01</a:t>
            </a:r>
            <a:endParaRPr lang="en-US" dirty="0"/>
          </a:p>
        </p:txBody>
      </p:sp>
    </p:spTree>
    <p:extLst>
      <p:ext uri="{BB962C8B-B14F-4D97-AF65-F5344CB8AC3E}">
        <p14:creationId xmlns:p14="http://schemas.microsoft.com/office/powerpoint/2010/main" val="419047485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تعريف </a:t>
            </a:r>
            <a:r>
              <a:rPr lang="ar-SA" dirty="0"/>
              <a:t>البنية المؤسسية</a:t>
            </a:r>
            <a:endParaRPr lang="en-US" dirty="0"/>
          </a:p>
        </p:txBody>
      </p:sp>
      <p:sp>
        <p:nvSpPr>
          <p:cNvPr id="3" name="Snip Diagonal Corner Rectangle 4">
            <a:extLst>
              <a:ext uri="{FF2B5EF4-FFF2-40B4-BE49-F238E27FC236}">
                <a16:creationId xmlns:a16="http://schemas.microsoft.com/office/drawing/2014/main" id="{EDC006DF-6C86-A400-657E-C7E28783571B}"/>
              </a:ext>
            </a:extLst>
          </p:cNvPr>
          <p:cNvSpPr/>
          <p:nvPr/>
        </p:nvSpPr>
        <p:spPr>
          <a:xfrm>
            <a:off x="2378677" y="1862019"/>
            <a:ext cx="7434648" cy="3117755"/>
          </a:xfrm>
          <a:prstGeom prst="snip2DiagRect">
            <a:avLst>
              <a:gd name="adj1" fmla="val 8219"/>
              <a:gd name="adj2" fmla="val 7991"/>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16" name="Snip Diagonal Corner Rectangle 13">
            <a:extLst>
              <a:ext uri="{FF2B5EF4-FFF2-40B4-BE49-F238E27FC236}">
                <a16:creationId xmlns:a16="http://schemas.microsoft.com/office/drawing/2014/main" id="{80AE987F-69CD-B600-1409-1D9AE5AA3D98}"/>
              </a:ext>
            </a:extLst>
          </p:cNvPr>
          <p:cNvSpPr/>
          <p:nvPr/>
        </p:nvSpPr>
        <p:spPr>
          <a:xfrm>
            <a:off x="2825410" y="1990146"/>
            <a:ext cx="6809356" cy="2861501"/>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grpSp>
        <p:nvGrpSpPr>
          <p:cNvPr id="17" name="Group 4">
            <a:extLst>
              <a:ext uri="{FF2B5EF4-FFF2-40B4-BE49-F238E27FC236}">
                <a16:creationId xmlns:a16="http://schemas.microsoft.com/office/drawing/2014/main" id="{F7B7C762-1E67-A9BB-FDA1-4B12FE395E39}"/>
              </a:ext>
            </a:extLst>
          </p:cNvPr>
          <p:cNvGrpSpPr>
            <a:grpSpLocks noChangeAspect="1"/>
          </p:cNvGrpSpPr>
          <p:nvPr/>
        </p:nvGrpSpPr>
        <p:grpSpPr bwMode="auto">
          <a:xfrm flipH="1" flipV="1">
            <a:off x="2949146" y="4724778"/>
            <a:ext cx="634365" cy="485276"/>
            <a:chOff x="-305" y="203"/>
            <a:chExt cx="533" cy="470"/>
          </a:xfrm>
          <a:gradFill>
            <a:gsLst>
              <a:gs pos="34000">
                <a:schemeClr val="accent2"/>
              </a:gs>
              <a:gs pos="80000">
                <a:schemeClr val="accent1"/>
              </a:gs>
            </a:gsLst>
            <a:lin ang="8400000" scaled="0"/>
          </a:gradFill>
        </p:grpSpPr>
        <p:sp>
          <p:nvSpPr>
            <p:cNvPr id="18" name="Freeform 6">
              <a:extLst>
                <a:ext uri="{FF2B5EF4-FFF2-40B4-BE49-F238E27FC236}">
                  <a16:creationId xmlns:a16="http://schemas.microsoft.com/office/drawing/2014/main" id="{BD3494F7-9006-6028-3787-9C644214C2E0}"/>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sp>
          <p:nvSpPr>
            <p:cNvPr id="19" name="Freeform 7">
              <a:extLst>
                <a:ext uri="{FF2B5EF4-FFF2-40B4-BE49-F238E27FC236}">
                  <a16:creationId xmlns:a16="http://schemas.microsoft.com/office/drawing/2014/main" id="{2CB1DCBB-B6CD-C821-C403-443AAA8252B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grpSp>
      <p:sp>
        <p:nvSpPr>
          <p:cNvPr id="21" name="Snip Diagonal Corner Rectangle 29">
            <a:extLst>
              <a:ext uri="{FF2B5EF4-FFF2-40B4-BE49-F238E27FC236}">
                <a16:creationId xmlns:a16="http://schemas.microsoft.com/office/drawing/2014/main" id="{7538C7A3-9C89-8F71-F1BC-7A407B1496BB}"/>
              </a:ext>
            </a:extLst>
          </p:cNvPr>
          <p:cNvSpPr/>
          <p:nvPr/>
        </p:nvSpPr>
        <p:spPr>
          <a:xfrm>
            <a:off x="2378677" y="1862019"/>
            <a:ext cx="256248" cy="256248"/>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2" name="Snip Diagonal Corner Rectangle 13">
            <a:extLst>
              <a:ext uri="{FF2B5EF4-FFF2-40B4-BE49-F238E27FC236}">
                <a16:creationId xmlns:a16="http://schemas.microsoft.com/office/drawing/2014/main" id="{CCA6C9D6-09DA-BEA6-0499-8A8CE4123CD6}"/>
              </a:ext>
            </a:extLst>
          </p:cNvPr>
          <p:cNvSpPr/>
          <p:nvPr/>
        </p:nvSpPr>
        <p:spPr>
          <a:xfrm>
            <a:off x="9374035" y="1990146"/>
            <a:ext cx="260731" cy="228662"/>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 name="connsiteX0" fmla="*/ 5663 w 204136"/>
              <a:gd name="connsiteY0" fmla="*/ 0 h 2483708"/>
              <a:gd name="connsiteX1" fmla="*/ 204136 w 204136"/>
              <a:gd name="connsiteY1" fmla="*/ 198473 h 2483708"/>
              <a:gd name="connsiteX2" fmla="*/ 204136 w 204136"/>
              <a:gd name="connsiteY2" fmla="*/ 2279572 h 2483708"/>
              <a:gd name="connsiteX3" fmla="*/ 0 w 204136"/>
              <a:gd name="connsiteY3" fmla="*/ 2483708 h 2483708"/>
              <a:gd name="connsiteX0" fmla="*/ 0 w 198473"/>
              <a:gd name="connsiteY0" fmla="*/ 0 h 2279572"/>
              <a:gd name="connsiteX1" fmla="*/ 198473 w 198473"/>
              <a:gd name="connsiteY1" fmla="*/ 198473 h 2279572"/>
              <a:gd name="connsiteX2" fmla="*/ 198473 w 198473"/>
              <a:gd name="connsiteY2" fmla="*/ 2279572 h 2279572"/>
              <a:gd name="connsiteX0" fmla="*/ 0 w 198473"/>
              <a:gd name="connsiteY0" fmla="*/ 0 h 198473"/>
              <a:gd name="connsiteX1" fmla="*/ 198473 w 198473"/>
              <a:gd name="connsiteY1" fmla="*/ 198473 h 198473"/>
            </a:gdLst>
            <a:ahLst/>
            <a:cxnLst>
              <a:cxn ang="0">
                <a:pos x="connsiteX0" y="connsiteY0"/>
              </a:cxn>
              <a:cxn ang="0">
                <a:pos x="connsiteX1" y="connsiteY1"/>
              </a:cxn>
            </a:cxnLst>
            <a:rect l="l" t="t" r="r" b="b"/>
            <a:pathLst>
              <a:path w="198473" h="198473">
                <a:moveTo>
                  <a:pt x="0" y="0"/>
                </a:moveTo>
                <a:lnTo>
                  <a:pt x="198473" y="19847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9" name="Rectangle 28">
            <a:extLst>
              <a:ext uri="{FF2B5EF4-FFF2-40B4-BE49-F238E27FC236}">
                <a16:creationId xmlns:a16="http://schemas.microsoft.com/office/drawing/2014/main" id="{FB3D3C8A-8607-C5F8-15B0-61E4100CE9EF}"/>
              </a:ext>
            </a:extLst>
          </p:cNvPr>
          <p:cNvSpPr/>
          <p:nvPr/>
        </p:nvSpPr>
        <p:spPr>
          <a:xfrm>
            <a:off x="2407567" y="2325874"/>
            <a:ext cx="4228901" cy="2275854"/>
          </a:xfrm>
          <a:prstGeom prst="rect">
            <a:avLst/>
          </a:prstGeom>
        </p:spPr>
        <p:txBody>
          <a:bodyPr vert="horz" lIns="91440" tIns="45720" rIns="91440" bIns="45720" rtlCol="0" anchor="ctr" anchorCtr="0">
            <a:noAutofit/>
          </a:bodyPr>
          <a:lstStyle/>
          <a:p>
            <a:pPr algn="just" rtl="1"/>
            <a:r>
              <a:rPr lang="ar-SA" sz="2400" dirty="0">
                <a:latin typeface="Sakkal Majalla" panose="02000000000000000000" pitchFamily="2" charset="-78"/>
                <a:cs typeface="Sakkal Majalla" panose="02000000000000000000" pitchFamily="2" charset="-78"/>
              </a:rPr>
              <a:t>هي ممارسات وضوابط لدراسة الوضع الحالي </a:t>
            </a:r>
            <a:r>
              <a:rPr lang="ar-EG" sz="2400" dirty="0">
                <a:latin typeface="Sakkal Majalla" panose="02000000000000000000" pitchFamily="2" charset="-78"/>
                <a:cs typeface="Sakkal Majalla" panose="02000000000000000000" pitchFamily="2" charset="-78"/>
              </a:rPr>
              <a:t>للهيئة</a:t>
            </a:r>
            <a:r>
              <a:rPr lang="ar-SA" sz="2400" dirty="0">
                <a:latin typeface="Sakkal Majalla" panose="02000000000000000000" pitchFamily="2" charset="-78"/>
                <a:cs typeface="Sakkal Majalla" panose="02000000000000000000" pitchFamily="2" charset="-78"/>
              </a:rPr>
              <a:t>، وبناء خارطة الطريق للتحول إلى الوضع المستقبلي لتحقيق المواءمة بين قطاع الأعمال (الخدمات والإجراءات) وتقنية المعلومات (البيانات، والتطبيقات، والبينة التحتية) والأهداف الاستراتيجية </a:t>
            </a:r>
            <a:r>
              <a:rPr lang="ar-EG" sz="2400" dirty="0">
                <a:latin typeface="Sakkal Majalla" panose="02000000000000000000" pitchFamily="2" charset="-78"/>
                <a:cs typeface="Sakkal Majalla" panose="02000000000000000000" pitchFamily="2" charset="-78"/>
              </a:rPr>
              <a:t>للهيئة.</a:t>
            </a:r>
            <a:endParaRPr lang="ar-SA" sz="2400" dirty="0">
              <a:latin typeface="Sakkal Majalla" panose="02000000000000000000" pitchFamily="2" charset="-78"/>
              <a:cs typeface="Sakkal Majalla" panose="02000000000000000000" pitchFamily="2" charset="-78"/>
            </a:endParaRPr>
          </a:p>
        </p:txBody>
      </p:sp>
      <p:pic>
        <p:nvPicPr>
          <p:cNvPr id="4" name="Picture 2">
            <a:extLst>
              <a:ext uri="{FF2B5EF4-FFF2-40B4-BE49-F238E27FC236}">
                <a16:creationId xmlns:a16="http://schemas.microsoft.com/office/drawing/2014/main" id="{F39A46C0-CCED-C747-D4D2-D542F746E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635" y="2218808"/>
            <a:ext cx="3127528" cy="2599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82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DE395-6683-0C0C-26B2-9FD53B76DE8B}"/>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7193C87-6D16-ACA9-82AD-0D4BB74BED8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8</a:t>
            </a:fld>
            <a:endParaRPr lang="en-US" sz="1400" b="1" dirty="0">
              <a:solidFill>
                <a:schemeClr val="accent1"/>
              </a:solidFill>
            </a:endParaRPr>
          </a:p>
        </p:txBody>
      </p:sp>
      <p:sp>
        <p:nvSpPr>
          <p:cNvPr id="2" name="Title 1">
            <a:extLst>
              <a:ext uri="{FF2B5EF4-FFF2-40B4-BE49-F238E27FC236}">
                <a16:creationId xmlns:a16="http://schemas.microsoft.com/office/drawing/2014/main" id="{667CA048-46A1-5FA3-A842-864359CA735A}"/>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مفهوم النماذج المرجعية ودورها في البنية المؤسسية</a:t>
            </a:r>
          </a:p>
        </p:txBody>
      </p:sp>
      <p:sp>
        <p:nvSpPr>
          <p:cNvPr id="15" name="Rectangle 14">
            <a:extLst>
              <a:ext uri="{FF2B5EF4-FFF2-40B4-BE49-F238E27FC236}">
                <a16:creationId xmlns:a16="http://schemas.microsoft.com/office/drawing/2014/main" id="{CB101ADD-77C4-3192-E593-51F2753B34A9}"/>
              </a:ext>
            </a:extLst>
          </p:cNvPr>
          <p:cNvSpPr/>
          <p:nvPr/>
        </p:nvSpPr>
        <p:spPr>
          <a:xfrm>
            <a:off x="731520" y="1123836"/>
            <a:ext cx="8774832" cy="4488293"/>
          </a:xfrm>
          <a:prstGeom prst="rect">
            <a:avLst/>
          </a:prstGeom>
        </p:spPr>
        <p:txBody>
          <a:bodyPr anchor="ctr" anchorCtr="0">
            <a:normAutofit/>
          </a:bodyPr>
          <a:lstStyle/>
          <a:p>
            <a:pPr algn="ctr" rtl="1">
              <a:lnSpc>
                <a:spcPct val="150000"/>
              </a:lnSpc>
              <a:spcAft>
                <a:spcPts val="1200"/>
              </a:spcAft>
            </a:pPr>
            <a:r>
              <a:rPr lang="ar-EG" sz="2400" b="1" dirty="0"/>
              <a:t>تتضمن النماذج المرجعية للبنية المؤسسية مجموعة من المكونات القابلة لإعادة الاستخدام، بالإضافة إلى أفضل الممارسات المعتمدة في تطوير البنى المؤسسية للمجالات المختلفة (الأعمال، البيانات، التطبيقات، والتقنية). تهدف هذه النماذج إلى توفير إطار عمل موحد يمكن للهيئة الاستناد إليه لتطوير وتحديث مكونات البنية المؤسسية بكفاءة وفعالية</a:t>
            </a:r>
            <a:endParaRPr lang="en-US" sz="2400" b="1" dirty="0"/>
          </a:p>
          <a:p>
            <a:pPr algn="ctr" rtl="1">
              <a:lnSpc>
                <a:spcPct val="150000"/>
              </a:lnSpc>
              <a:spcAft>
                <a:spcPts val="1200"/>
              </a:spcAft>
            </a:pPr>
            <a:endParaRPr lang="ar-EG" sz="1600" b="1" dirty="0"/>
          </a:p>
          <a:p>
            <a:pPr marL="457200" indent="-457200" algn="r" rtl="1">
              <a:lnSpc>
                <a:spcPct val="150000"/>
              </a:lnSpc>
              <a:spcAft>
                <a:spcPts val="1200"/>
              </a:spcAft>
              <a:buFont typeface="Arial" panose="020B0604020202020204" pitchFamily="34" charset="0"/>
              <a:buChar char="•"/>
            </a:pPr>
            <a:r>
              <a:rPr lang="ar-EG" sz="2000" u="sng" dirty="0"/>
              <a:t>المكونات القابلة لإعادة الاستخدام</a:t>
            </a:r>
            <a:r>
              <a:rPr lang="ar-EG" sz="2000" dirty="0"/>
              <a:t>: يمكن تضمين قوالب، نماذج</a:t>
            </a:r>
            <a:r>
              <a:rPr lang="en-US" sz="2000" dirty="0"/>
              <a:t> </a:t>
            </a:r>
            <a:r>
              <a:rPr lang="ar-EG" sz="2000" dirty="0"/>
              <a:t>يمكن استخدامها مباشرة في تطوير البنية المؤسسية</a:t>
            </a:r>
          </a:p>
          <a:p>
            <a:pPr marL="457200" indent="-457200" algn="r" rtl="1">
              <a:lnSpc>
                <a:spcPct val="150000"/>
              </a:lnSpc>
              <a:spcAft>
                <a:spcPts val="1200"/>
              </a:spcAft>
              <a:buFont typeface="Arial" panose="020B0604020202020204" pitchFamily="34" charset="0"/>
              <a:buChar char="•"/>
            </a:pPr>
            <a:r>
              <a:rPr lang="ar-EG" sz="2000" u="sng" dirty="0"/>
              <a:t>أفضل الممارسات</a:t>
            </a:r>
            <a:r>
              <a:rPr lang="ar-EG" sz="2000" dirty="0"/>
              <a:t>: تضمين توجيهات، إرشادات، ومعايير دولية ومحلية</a:t>
            </a:r>
            <a:r>
              <a:rPr lang="en-US" sz="2000" dirty="0"/>
              <a:t> </a:t>
            </a:r>
            <a:r>
              <a:rPr lang="ar-EG" sz="2000" dirty="0"/>
              <a:t>تساعد في تحسين جودة وفعالية البنية المؤسسية</a:t>
            </a:r>
          </a:p>
        </p:txBody>
      </p:sp>
      <p:grpSp>
        <p:nvGrpSpPr>
          <p:cNvPr id="4" name="Group 3">
            <a:extLst>
              <a:ext uri="{FF2B5EF4-FFF2-40B4-BE49-F238E27FC236}">
                <a16:creationId xmlns:a16="http://schemas.microsoft.com/office/drawing/2014/main" id="{FF274E10-AE09-20BA-FBDD-2359398E94EF}"/>
              </a:ext>
            </a:extLst>
          </p:cNvPr>
          <p:cNvGrpSpPr/>
          <p:nvPr/>
        </p:nvGrpSpPr>
        <p:grpSpPr>
          <a:xfrm flipH="1">
            <a:off x="9736652" y="2512210"/>
            <a:ext cx="1588573" cy="1483303"/>
            <a:chOff x="1037897" y="2843466"/>
            <a:chExt cx="1588573" cy="1483303"/>
          </a:xfrm>
          <a:solidFill>
            <a:srgbClr val="4C3C8D"/>
          </a:solidFill>
        </p:grpSpPr>
        <p:grpSp>
          <p:nvGrpSpPr>
            <p:cNvPr id="5" name="Group 4">
              <a:extLst>
                <a:ext uri="{FF2B5EF4-FFF2-40B4-BE49-F238E27FC236}">
                  <a16:creationId xmlns:a16="http://schemas.microsoft.com/office/drawing/2014/main" id="{FD5CAD8D-BF77-0826-0686-94CBE384876F}"/>
                </a:ext>
              </a:extLst>
            </p:cNvPr>
            <p:cNvGrpSpPr/>
            <p:nvPr/>
          </p:nvGrpSpPr>
          <p:grpSpPr>
            <a:xfrm flipH="1">
              <a:off x="1037897" y="2843466"/>
              <a:ext cx="1588573" cy="1483303"/>
              <a:chOff x="9736652" y="2841229"/>
              <a:chExt cx="1588573" cy="1483303"/>
            </a:xfrm>
            <a:grpFill/>
          </p:grpSpPr>
          <p:sp>
            <p:nvSpPr>
              <p:cNvPr id="7" name="Freeform 6">
                <a:extLst>
                  <a:ext uri="{FF2B5EF4-FFF2-40B4-BE49-F238E27FC236}">
                    <a16:creationId xmlns:a16="http://schemas.microsoft.com/office/drawing/2014/main" id="{6C3CA113-7DDE-C0E5-DC44-8342AA823E36}"/>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A4C06F39-CED2-DF71-C590-4DE4798AC7FF}"/>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D9EC78F6-6927-58C7-AD52-F27FCC25E9FA}"/>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92634A4B-FC6A-A54B-4C31-E1F82A5F5A24}"/>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B4881E58-98AE-255F-1C17-E9502F925F3D}"/>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3AB5AF77-F93C-773E-E2A9-663E964C510A}"/>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408C63E8-D49F-BB37-D303-394E7082A87B}"/>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682267AC-A496-CFC1-1BBD-6185F371E6E9}"/>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578CD3F6-6DCD-1EE1-4C30-C5015F2E60CA}"/>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Tree>
    <p:extLst>
      <p:ext uri="{BB962C8B-B14F-4D97-AF65-F5344CB8AC3E}">
        <p14:creationId xmlns:p14="http://schemas.microsoft.com/office/powerpoint/2010/main" val="3976114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B0FF0-6730-CCB0-1D76-CE8C5536748F}"/>
            </a:ext>
          </a:extLst>
        </p:cNvPr>
        <p:cNvGrpSpPr/>
        <p:nvPr/>
      </p:nvGrpSpPr>
      <p:grpSpPr>
        <a:xfrm>
          <a:off x="0" y="0"/>
          <a:ext cx="0" cy="0"/>
          <a:chOff x="0" y="0"/>
          <a:chExt cx="0" cy="0"/>
        </a:xfrm>
      </p:grpSpPr>
      <p:cxnSp>
        <p:nvCxnSpPr>
          <p:cNvPr id="54" name="Straight Connector 53">
            <a:extLst>
              <a:ext uri="{FF2B5EF4-FFF2-40B4-BE49-F238E27FC236}">
                <a16:creationId xmlns:a16="http://schemas.microsoft.com/office/drawing/2014/main" id="{746454B9-F27D-2759-204E-AC6070452752}"/>
              </a:ext>
            </a:extLst>
          </p:cNvPr>
          <p:cNvCxnSpPr>
            <a:cxnSpLocks/>
            <a:endCxn id="58" idx="0"/>
          </p:cNvCxnSpPr>
          <p:nvPr/>
        </p:nvCxnSpPr>
        <p:spPr>
          <a:xfrm>
            <a:off x="10760826" y="1638867"/>
            <a:ext cx="8518" cy="328901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D57F4C0-4927-D90C-C01A-BD419C10AAB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9</a:t>
            </a:fld>
            <a:endParaRPr lang="en-US" sz="1400" b="1" dirty="0">
              <a:solidFill>
                <a:schemeClr val="accent1"/>
              </a:solidFill>
            </a:endParaRPr>
          </a:p>
        </p:txBody>
      </p:sp>
      <p:sp>
        <p:nvSpPr>
          <p:cNvPr id="2" name="Title 1">
            <a:extLst>
              <a:ext uri="{FF2B5EF4-FFF2-40B4-BE49-F238E27FC236}">
                <a16:creationId xmlns:a16="http://schemas.microsoft.com/office/drawing/2014/main" id="{EBC80ADF-11C0-3AED-08CC-5C9E07D03015}"/>
              </a:ext>
            </a:extLst>
          </p:cNvPr>
          <p:cNvSpPr txBox="1">
            <a:spLocks/>
          </p:cNvSpPr>
          <p:nvPr/>
        </p:nvSpPr>
        <p:spPr>
          <a:xfrm>
            <a:off x="1869440" y="408242"/>
            <a:ext cx="948436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فوائد استخدام النماذج المرجعية</a:t>
            </a:r>
          </a:p>
        </p:txBody>
      </p:sp>
      <p:sp>
        <p:nvSpPr>
          <p:cNvPr id="3" name="Rectangle 2">
            <a:extLst>
              <a:ext uri="{FF2B5EF4-FFF2-40B4-BE49-F238E27FC236}">
                <a16:creationId xmlns:a16="http://schemas.microsoft.com/office/drawing/2014/main" id="{C249DA51-46BD-5724-7EEE-547015E1395E}"/>
              </a:ext>
            </a:extLst>
          </p:cNvPr>
          <p:cNvSpPr/>
          <p:nvPr/>
        </p:nvSpPr>
        <p:spPr>
          <a:xfrm>
            <a:off x="6187942" y="1366735"/>
            <a:ext cx="4177580" cy="461665"/>
          </a:xfrm>
          <a:prstGeom prst="rect">
            <a:avLst/>
          </a:prstGeom>
        </p:spPr>
        <p:txBody>
          <a:bodyPr wrap="square">
            <a:spAutoFit/>
          </a:bodyPr>
          <a:lstStyle/>
          <a:p>
            <a:pPr marR="0" lvl="0" algn="just" rtl="1">
              <a:spcBef>
                <a:spcPts val="600"/>
              </a:spcBef>
              <a:spcAft>
                <a:spcPts val="600"/>
              </a:spcAft>
              <a:buClr>
                <a:srgbClr val="007599"/>
              </a:buClr>
              <a:buSzPts val="1400"/>
            </a:pPr>
            <a:r>
              <a:rPr lang="ar-EG" sz="2400" b="1" dirty="0">
                <a:solidFill>
                  <a:srgbClr val="3FA0D9"/>
                </a:solidFill>
                <a:latin typeface="Sakkal Majalla" panose="02000000000000000000" pitchFamily="2" charset="-78"/>
                <a:ea typeface="Sakkal Majalla" panose="02000000000000000000" pitchFamily="2" charset="-78"/>
                <a:cs typeface="Sakkal Majalla" panose="02000000000000000000" pitchFamily="2" charset="-78"/>
              </a:rPr>
              <a:t>التوحيد والتناسق</a:t>
            </a:r>
            <a:endParaRPr lang="en-US" sz="2400" b="1" dirty="0">
              <a:solidFill>
                <a:srgbClr val="3FA0D9"/>
              </a:solidFill>
              <a:latin typeface="Sakkal Majalla" panose="02000000000000000000" pitchFamily="2" charset="-78"/>
              <a:ea typeface="Sakkal Majalla" panose="02000000000000000000" pitchFamily="2" charset="-78"/>
              <a:cs typeface="Sakkal Majalla" panose="02000000000000000000" pitchFamily="2" charset="-78"/>
            </a:endParaRPr>
          </a:p>
        </p:txBody>
      </p:sp>
      <p:sp>
        <p:nvSpPr>
          <p:cNvPr id="16" name="Rectangle 15">
            <a:extLst>
              <a:ext uri="{FF2B5EF4-FFF2-40B4-BE49-F238E27FC236}">
                <a16:creationId xmlns:a16="http://schemas.microsoft.com/office/drawing/2014/main" id="{24FCE165-FF10-7A09-2C9A-AB141E0EFAFA}"/>
              </a:ext>
            </a:extLst>
          </p:cNvPr>
          <p:cNvSpPr/>
          <p:nvPr/>
        </p:nvSpPr>
        <p:spPr>
          <a:xfrm>
            <a:off x="1585404" y="1665412"/>
            <a:ext cx="8784044" cy="515526"/>
          </a:xfrm>
          <a:prstGeom prst="rect">
            <a:avLst/>
          </a:prstGeom>
        </p:spPr>
        <p:txBody>
          <a:bodyPr wrap="square">
            <a:spAutoFit/>
          </a:bodyPr>
          <a:lstStyle/>
          <a:p>
            <a:pPr algn="just" rtl="1">
              <a:lnSpc>
                <a:spcPct val="150000"/>
              </a:lnSpc>
              <a:spcBef>
                <a:spcPts val="1200"/>
              </a:spcBef>
              <a:spcAft>
                <a:spcPts val="1200"/>
              </a:spcAft>
            </a:pPr>
            <a:r>
              <a:rPr lang="ar-EG" sz="2000" dirty="0">
                <a:latin typeface="Sakkal Majalla" panose="02000000000000000000" pitchFamily="2" charset="-78"/>
                <a:ea typeface="Sakkal Majalla" panose="02000000000000000000" pitchFamily="2" charset="-78"/>
                <a:cs typeface="Sakkal Majalla" panose="02000000000000000000" pitchFamily="2" charset="-78"/>
              </a:rPr>
              <a:t>تضمن النماذج المرجعية تطبيق نهج موحد في تطوير البنية المؤسسية، مما يسهل التواصل والتنسيق بين الإدارات المختلفة</a:t>
            </a:r>
            <a:endParaRPr lang="en-US" sz="2000" dirty="0">
              <a:latin typeface="Sakkal Majalla" panose="02000000000000000000" pitchFamily="2" charset="-78"/>
              <a:ea typeface="Sakkal Majalla" panose="02000000000000000000" pitchFamily="2" charset="-78"/>
              <a:cs typeface="Sakkal Majalla" panose="02000000000000000000" pitchFamily="2" charset="-78"/>
            </a:endParaRPr>
          </a:p>
        </p:txBody>
      </p:sp>
      <p:sp>
        <p:nvSpPr>
          <p:cNvPr id="17" name="Rectangle 16">
            <a:extLst>
              <a:ext uri="{FF2B5EF4-FFF2-40B4-BE49-F238E27FC236}">
                <a16:creationId xmlns:a16="http://schemas.microsoft.com/office/drawing/2014/main" id="{094A4C1F-E8B0-8D46-B086-179DACC895B5}"/>
              </a:ext>
            </a:extLst>
          </p:cNvPr>
          <p:cNvSpPr/>
          <p:nvPr/>
        </p:nvSpPr>
        <p:spPr>
          <a:xfrm>
            <a:off x="8378197" y="2486984"/>
            <a:ext cx="1991251" cy="461665"/>
          </a:xfrm>
          <a:prstGeom prst="rect">
            <a:avLst/>
          </a:prstGeom>
        </p:spPr>
        <p:txBody>
          <a:bodyPr wrap="none">
            <a:spAutoFit/>
          </a:bodyPr>
          <a:lstStyle/>
          <a:p>
            <a:pPr marR="0" lvl="0" algn="r" rtl="1">
              <a:spcBef>
                <a:spcPts val="600"/>
              </a:spcBef>
              <a:spcAft>
                <a:spcPts val="600"/>
              </a:spcAft>
              <a:buClr>
                <a:srgbClr val="007599"/>
              </a:buClr>
              <a:buSzPts val="1400"/>
            </a:pPr>
            <a:r>
              <a:rPr lang="ar-EG" sz="2400" b="1" dirty="0">
                <a:solidFill>
                  <a:srgbClr val="3FA0D9"/>
                </a:solidFill>
                <a:latin typeface="Sakkal Majalla" panose="02000000000000000000" pitchFamily="2" charset="-78"/>
                <a:ea typeface="Sakkal Majalla" panose="02000000000000000000" pitchFamily="2" charset="-78"/>
                <a:cs typeface="Sakkal Majalla" panose="02000000000000000000" pitchFamily="2" charset="-78"/>
              </a:rPr>
              <a:t>تقليل الجهد والوقت</a:t>
            </a:r>
          </a:p>
        </p:txBody>
      </p:sp>
      <p:sp>
        <p:nvSpPr>
          <p:cNvPr id="18" name="Rectangle 17">
            <a:extLst>
              <a:ext uri="{FF2B5EF4-FFF2-40B4-BE49-F238E27FC236}">
                <a16:creationId xmlns:a16="http://schemas.microsoft.com/office/drawing/2014/main" id="{AA1E8CF1-A7F9-AFE6-5423-52413D450A65}"/>
              </a:ext>
            </a:extLst>
          </p:cNvPr>
          <p:cNvSpPr/>
          <p:nvPr/>
        </p:nvSpPr>
        <p:spPr>
          <a:xfrm>
            <a:off x="1585404" y="2771233"/>
            <a:ext cx="8784044" cy="515526"/>
          </a:xfrm>
          <a:prstGeom prst="rect">
            <a:avLst/>
          </a:prstGeom>
        </p:spPr>
        <p:txBody>
          <a:bodyPr wrap="square">
            <a:spAutoFit/>
          </a:bodyPr>
          <a:lstStyle/>
          <a:p>
            <a:pPr algn="just" rtl="1">
              <a:lnSpc>
                <a:spcPct val="150000"/>
              </a:lnSpc>
              <a:spcBef>
                <a:spcPts val="1200"/>
              </a:spcBef>
              <a:spcAft>
                <a:spcPts val="1200"/>
              </a:spcAft>
            </a:pPr>
            <a:r>
              <a:rPr lang="ar-EG" sz="2000" dirty="0">
                <a:latin typeface="Sakkal Majalla" panose="02000000000000000000" pitchFamily="2" charset="-78"/>
                <a:ea typeface="Sakkal Majalla" panose="02000000000000000000" pitchFamily="2" charset="-78"/>
                <a:cs typeface="Sakkal Majalla" panose="02000000000000000000" pitchFamily="2" charset="-78"/>
              </a:rPr>
              <a:t>باستخدام المكونات القابلة لإعادة الاستخدام، يمكن تقليل الوقت والجهد المطلوبين لتطوير المكونات الجديدة</a:t>
            </a:r>
          </a:p>
        </p:txBody>
      </p:sp>
      <p:sp>
        <p:nvSpPr>
          <p:cNvPr id="19" name="Rectangle 18">
            <a:extLst>
              <a:ext uri="{FF2B5EF4-FFF2-40B4-BE49-F238E27FC236}">
                <a16:creationId xmlns:a16="http://schemas.microsoft.com/office/drawing/2014/main" id="{CFE1FC63-C7CB-F1E6-4DD2-68C252352830}"/>
              </a:ext>
            </a:extLst>
          </p:cNvPr>
          <p:cNvSpPr/>
          <p:nvPr/>
        </p:nvSpPr>
        <p:spPr>
          <a:xfrm>
            <a:off x="8065611" y="3646998"/>
            <a:ext cx="2303837" cy="461665"/>
          </a:xfrm>
          <a:prstGeom prst="rect">
            <a:avLst/>
          </a:prstGeom>
        </p:spPr>
        <p:txBody>
          <a:bodyPr wrap="none">
            <a:spAutoFit/>
          </a:bodyPr>
          <a:lstStyle/>
          <a:p>
            <a:pPr marR="0" lvl="0" algn="r" rtl="1">
              <a:spcBef>
                <a:spcPts val="600"/>
              </a:spcBef>
              <a:spcAft>
                <a:spcPts val="600"/>
              </a:spcAft>
              <a:buClr>
                <a:srgbClr val="007599"/>
              </a:buClr>
              <a:buSzPts val="1400"/>
            </a:pPr>
            <a:r>
              <a:rPr lang="ar-EG" sz="2400" b="1" dirty="0">
                <a:solidFill>
                  <a:srgbClr val="3FA0D9"/>
                </a:solidFill>
                <a:latin typeface="Sakkal Majalla" panose="02000000000000000000" pitchFamily="2" charset="-78"/>
                <a:ea typeface="Sakkal Majalla" panose="02000000000000000000" pitchFamily="2" charset="-78"/>
                <a:cs typeface="Sakkal Majalla" panose="02000000000000000000" pitchFamily="2" charset="-78"/>
              </a:rPr>
              <a:t>تحسين الجودة والكفاءة</a:t>
            </a:r>
          </a:p>
        </p:txBody>
      </p:sp>
      <p:sp>
        <p:nvSpPr>
          <p:cNvPr id="20" name="Rectangle 19">
            <a:extLst>
              <a:ext uri="{FF2B5EF4-FFF2-40B4-BE49-F238E27FC236}">
                <a16:creationId xmlns:a16="http://schemas.microsoft.com/office/drawing/2014/main" id="{FE469491-8595-4982-0457-1DB4C4B55D7E}"/>
              </a:ext>
            </a:extLst>
          </p:cNvPr>
          <p:cNvSpPr/>
          <p:nvPr/>
        </p:nvSpPr>
        <p:spPr>
          <a:xfrm>
            <a:off x="2424546" y="3931247"/>
            <a:ext cx="7944902" cy="515526"/>
          </a:xfrm>
          <a:prstGeom prst="rect">
            <a:avLst/>
          </a:prstGeom>
        </p:spPr>
        <p:txBody>
          <a:bodyPr wrap="square">
            <a:spAutoFit/>
          </a:bodyPr>
          <a:lstStyle/>
          <a:p>
            <a:pPr algn="just" rtl="1">
              <a:lnSpc>
                <a:spcPct val="150000"/>
              </a:lnSpc>
              <a:spcBef>
                <a:spcPts val="1200"/>
              </a:spcBef>
              <a:spcAft>
                <a:spcPts val="1200"/>
              </a:spcAft>
            </a:pPr>
            <a:r>
              <a:rPr lang="ar-EG" sz="2000" dirty="0">
                <a:latin typeface="Sakkal Majalla" panose="02000000000000000000" pitchFamily="2" charset="-78"/>
                <a:ea typeface="Sakkal Majalla" panose="02000000000000000000" pitchFamily="2" charset="-78"/>
                <a:cs typeface="Sakkal Majalla" panose="02000000000000000000" pitchFamily="2" charset="-78"/>
              </a:rPr>
              <a:t>تساعد أفضل الممارسات في ضمان تطبيق معايير عالية الجودة، مما يؤدي إلى تحسين الكفاءة التشغيلية</a:t>
            </a:r>
          </a:p>
        </p:txBody>
      </p:sp>
      <p:cxnSp>
        <p:nvCxnSpPr>
          <p:cNvPr id="24" name="Straight Connector 23">
            <a:extLst>
              <a:ext uri="{FF2B5EF4-FFF2-40B4-BE49-F238E27FC236}">
                <a16:creationId xmlns:a16="http://schemas.microsoft.com/office/drawing/2014/main" id="{9FA16E3D-8BD5-3EFF-0346-3FFCC523E843}"/>
              </a:ext>
            </a:extLst>
          </p:cNvPr>
          <p:cNvCxnSpPr/>
          <p:nvPr/>
        </p:nvCxnSpPr>
        <p:spPr>
          <a:xfrm flipH="1">
            <a:off x="10546210" y="1545012"/>
            <a:ext cx="2190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43CFD5B-CB7D-24F3-563C-9C551701AACC}"/>
              </a:ext>
            </a:extLst>
          </p:cNvPr>
          <p:cNvCxnSpPr/>
          <p:nvPr/>
        </p:nvCxnSpPr>
        <p:spPr>
          <a:xfrm flipH="1">
            <a:off x="10546210" y="2728970"/>
            <a:ext cx="2190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63471A8-C5D0-0472-0945-144F9CB2ECE9}"/>
              </a:ext>
            </a:extLst>
          </p:cNvPr>
          <p:cNvCxnSpPr/>
          <p:nvPr/>
        </p:nvCxnSpPr>
        <p:spPr>
          <a:xfrm flipH="1">
            <a:off x="10546210" y="3896308"/>
            <a:ext cx="2190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3128368E-DD39-80EA-F1F2-4D1D31E7C64C}"/>
              </a:ext>
            </a:extLst>
          </p:cNvPr>
          <p:cNvSpPr/>
          <p:nvPr/>
        </p:nvSpPr>
        <p:spPr>
          <a:xfrm>
            <a:off x="10723002" y="1502730"/>
            <a:ext cx="84565" cy="8456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sz="1600" dirty="0">
              <a:latin typeface="Sakkal Majalla" panose="02000000000000000000" pitchFamily="2" charset="-78"/>
              <a:cs typeface="Sakkal Majalla" panose="02000000000000000000" pitchFamily="2" charset="-78"/>
            </a:endParaRPr>
          </a:p>
        </p:txBody>
      </p:sp>
      <p:sp>
        <p:nvSpPr>
          <p:cNvPr id="29" name="Oval 28">
            <a:extLst>
              <a:ext uri="{FF2B5EF4-FFF2-40B4-BE49-F238E27FC236}">
                <a16:creationId xmlns:a16="http://schemas.microsoft.com/office/drawing/2014/main" id="{9DA0A449-36AE-C3AC-71F1-0E8ECF1DAC73}"/>
              </a:ext>
            </a:extLst>
          </p:cNvPr>
          <p:cNvSpPr/>
          <p:nvPr/>
        </p:nvSpPr>
        <p:spPr>
          <a:xfrm>
            <a:off x="10723002" y="2686688"/>
            <a:ext cx="84565" cy="8456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sz="1600" dirty="0">
              <a:latin typeface="Sakkal Majalla" panose="02000000000000000000" pitchFamily="2" charset="-78"/>
              <a:cs typeface="Sakkal Majalla" panose="02000000000000000000" pitchFamily="2" charset="-78"/>
            </a:endParaRPr>
          </a:p>
        </p:txBody>
      </p:sp>
      <p:sp>
        <p:nvSpPr>
          <p:cNvPr id="30" name="Oval 29">
            <a:extLst>
              <a:ext uri="{FF2B5EF4-FFF2-40B4-BE49-F238E27FC236}">
                <a16:creationId xmlns:a16="http://schemas.microsoft.com/office/drawing/2014/main" id="{491AC2D5-B105-0889-773B-626659E3C205}"/>
              </a:ext>
            </a:extLst>
          </p:cNvPr>
          <p:cNvSpPr/>
          <p:nvPr/>
        </p:nvSpPr>
        <p:spPr>
          <a:xfrm>
            <a:off x="10723002" y="3847930"/>
            <a:ext cx="84565" cy="8456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sz="1600" dirty="0">
              <a:latin typeface="Sakkal Majalla" panose="02000000000000000000" pitchFamily="2" charset="-78"/>
              <a:cs typeface="Sakkal Majalla" panose="02000000000000000000" pitchFamily="2" charset="-78"/>
            </a:endParaRPr>
          </a:p>
        </p:txBody>
      </p:sp>
      <p:sp>
        <p:nvSpPr>
          <p:cNvPr id="55" name="Rectangle 54">
            <a:extLst>
              <a:ext uri="{FF2B5EF4-FFF2-40B4-BE49-F238E27FC236}">
                <a16:creationId xmlns:a16="http://schemas.microsoft.com/office/drawing/2014/main" id="{BBD803C1-AEB4-29F6-163A-24C19CC77C6B}"/>
              </a:ext>
            </a:extLst>
          </p:cNvPr>
          <p:cNvSpPr/>
          <p:nvPr/>
        </p:nvSpPr>
        <p:spPr>
          <a:xfrm>
            <a:off x="6699103" y="4773960"/>
            <a:ext cx="3674404" cy="461665"/>
          </a:xfrm>
          <a:prstGeom prst="rect">
            <a:avLst/>
          </a:prstGeom>
        </p:spPr>
        <p:txBody>
          <a:bodyPr wrap="none">
            <a:spAutoFit/>
          </a:bodyPr>
          <a:lstStyle/>
          <a:p>
            <a:pPr marR="0" lvl="0" algn="r" rtl="1">
              <a:spcBef>
                <a:spcPts val="600"/>
              </a:spcBef>
              <a:spcAft>
                <a:spcPts val="600"/>
              </a:spcAft>
              <a:buClr>
                <a:srgbClr val="007599"/>
              </a:buClr>
              <a:buSzPts val="1400"/>
            </a:pPr>
            <a:r>
              <a:rPr lang="ar-EG" sz="2400" b="1" dirty="0">
                <a:solidFill>
                  <a:srgbClr val="3FA0D9"/>
                </a:solidFill>
                <a:latin typeface="Sakkal Majalla" panose="02000000000000000000" pitchFamily="2" charset="-78"/>
                <a:ea typeface="Sakkal Majalla" panose="02000000000000000000" pitchFamily="2" charset="-78"/>
                <a:cs typeface="Sakkal Majalla" panose="02000000000000000000" pitchFamily="2" charset="-78"/>
              </a:rPr>
              <a:t>التوافق مع المتطلبات الوطنية والدولية</a:t>
            </a:r>
          </a:p>
        </p:txBody>
      </p:sp>
      <p:sp>
        <p:nvSpPr>
          <p:cNvPr id="56" name="Rectangle 55">
            <a:extLst>
              <a:ext uri="{FF2B5EF4-FFF2-40B4-BE49-F238E27FC236}">
                <a16:creationId xmlns:a16="http://schemas.microsoft.com/office/drawing/2014/main" id="{5E647422-BDF2-C801-23B2-3D6E88F98E14}"/>
              </a:ext>
            </a:extLst>
          </p:cNvPr>
          <p:cNvSpPr/>
          <p:nvPr/>
        </p:nvSpPr>
        <p:spPr>
          <a:xfrm>
            <a:off x="3464925" y="5058209"/>
            <a:ext cx="6908582" cy="515526"/>
          </a:xfrm>
          <a:prstGeom prst="rect">
            <a:avLst/>
          </a:prstGeom>
        </p:spPr>
        <p:txBody>
          <a:bodyPr wrap="square">
            <a:spAutoFit/>
          </a:bodyPr>
          <a:lstStyle/>
          <a:p>
            <a:pPr algn="just" rtl="1">
              <a:lnSpc>
                <a:spcPct val="150000"/>
              </a:lnSpc>
              <a:spcBef>
                <a:spcPts val="1200"/>
              </a:spcBef>
              <a:spcAft>
                <a:spcPts val="1200"/>
              </a:spcAft>
            </a:pPr>
            <a:r>
              <a:rPr lang="ar-EG" sz="2000" dirty="0">
                <a:latin typeface="Sakkal Majalla" panose="02000000000000000000" pitchFamily="2" charset="-78"/>
                <a:ea typeface="Sakkal Majalla" panose="02000000000000000000" pitchFamily="2" charset="-78"/>
                <a:cs typeface="Sakkal Majalla" panose="02000000000000000000" pitchFamily="2" charset="-78"/>
              </a:rPr>
              <a:t>تضمن الامتثال للضوابط والمعايير المعتمدة، مما يسهم في تجنب المخاطر التنظيمية</a:t>
            </a:r>
          </a:p>
        </p:txBody>
      </p:sp>
      <p:cxnSp>
        <p:nvCxnSpPr>
          <p:cNvPr id="57" name="Straight Connector 56">
            <a:extLst>
              <a:ext uri="{FF2B5EF4-FFF2-40B4-BE49-F238E27FC236}">
                <a16:creationId xmlns:a16="http://schemas.microsoft.com/office/drawing/2014/main" id="{C6EF3020-762A-8634-8B14-414E1D984540}"/>
              </a:ext>
            </a:extLst>
          </p:cNvPr>
          <p:cNvCxnSpPr/>
          <p:nvPr/>
        </p:nvCxnSpPr>
        <p:spPr>
          <a:xfrm flipH="1">
            <a:off x="10550269" y="4970160"/>
            <a:ext cx="2190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7FA9BC81-BBC5-C5A2-B5E3-54B9A2C83F1C}"/>
              </a:ext>
            </a:extLst>
          </p:cNvPr>
          <p:cNvSpPr/>
          <p:nvPr/>
        </p:nvSpPr>
        <p:spPr>
          <a:xfrm>
            <a:off x="10727061" y="4927878"/>
            <a:ext cx="84565" cy="8456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sz="16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09426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7F4011-B976-54F9-3162-6690826CE786}"/>
              </a:ext>
            </a:extLst>
          </p:cNvPr>
          <p:cNvSpPr>
            <a:spLocks noGrp="1"/>
          </p:cNvSpPr>
          <p:nvPr>
            <p:ph type="sldNum" sz="quarter" idx="12"/>
          </p:nvPr>
        </p:nvSpPr>
        <p:spPr/>
        <p:txBody>
          <a:bodyPr/>
          <a:lstStyle/>
          <a:p>
            <a:fld id="{0BE4EC83-A869-464E-AE9F-881796FB085E}" type="slidenum">
              <a:rPr lang="en-US" smtClean="0"/>
              <a:t>10</a:t>
            </a:fld>
            <a:endParaRPr lang="en-US" dirty="0"/>
          </a:p>
        </p:txBody>
      </p:sp>
      <p:sp>
        <p:nvSpPr>
          <p:cNvPr id="7" name="Title 1">
            <a:extLst>
              <a:ext uri="{FF2B5EF4-FFF2-40B4-BE49-F238E27FC236}">
                <a16:creationId xmlns:a16="http://schemas.microsoft.com/office/drawing/2014/main" id="{C6675DDE-E58E-982D-BB96-FEC5B8EC85A8}"/>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المصطلحات والتعريفات</a:t>
            </a:r>
            <a:endParaRPr lang="en-US" dirty="0"/>
          </a:p>
        </p:txBody>
      </p:sp>
      <p:graphicFrame>
        <p:nvGraphicFramePr>
          <p:cNvPr id="2" name="Table 8">
            <a:extLst>
              <a:ext uri="{FF2B5EF4-FFF2-40B4-BE49-F238E27FC236}">
                <a16:creationId xmlns:a16="http://schemas.microsoft.com/office/drawing/2014/main" id="{84B77470-44A2-CE6A-B35A-A1FC093BBD88}"/>
              </a:ext>
            </a:extLst>
          </p:cNvPr>
          <p:cNvGraphicFramePr>
            <a:graphicFrameLocks noGrp="1"/>
          </p:cNvGraphicFramePr>
          <p:nvPr>
            <p:extLst>
              <p:ext uri="{D42A27DB-BD31-4B8C-83A1-F6EECF244321}">
                <p14:modId xmlns:p14="http://schemas.microsoft.com/office/powerpoint/2010/main" val="2386105426"/>
              </p:ext>
            </p:extLst>
          </p:nvPr>
        </p:nvGraphicFramePr>
        <p:xfrm>
          <a:off x="585291" y="1047592"/>
          <a:ext cx="11021418" cy="5037858"/>
        </p:xfrm>
        <a:graphic>
          <a:graphicData uri="http://schemas.openxmlformats.org/drawingml/2006/table">
            <a:tbl>
              <a:tblPr firstRow="1" bandRow="1">
                <a:tableStyleId>{5C22544A-7EE6-4342-B048-85BDC9FD1C3A}</a:tableStyleId>
              </a:tblPr>
              <a:tblGrid>
                <a:gridCol w="8908379">
                  <a:extLst>
                    <a:ext uri="{9D8B030D-6E8A-4147-A177-3AD203B41FA5}">
                      <a16:colId xmlns:a16="http://schemas.microsoft.com/office/drawing/2014/main" val="637829901"/>
                    </a:ext>
                  </a:extLst>
                </a:gridCol>
                <a:gridCol w="2113039">
                  <a:extLst>
                    <a:ext uri="{9D8B030D-6E8A-4147-A177-3AD203B41FA5}">
                      <a16:colId xmlns:a16="http://schemas.microsoft.com/office/drawing/2014/main" val="543068415"/>
                    </a:ext>
                  </a:extLst>
                </a:gridCol>
              </a:tblGrid>
              <a:tr h="343454">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التعريف</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المصطلح</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626333">
                <a:tc>
                  <a:txBody>
                    <a:bodyPr/>
                    <a:lstStyle/>
                    <a:p>
                      <a:pPr marL="0" marR="0" algn="r" rtl="1">
                        <a:lnSpc>
                          <a:spcPct val="150000"/>
                        </a:lnSpc>
                        <a:spcBef>
                          <a:spcPts val="0"/>
                        </a:spcBef>
                        <a:spcAft>
                          <a:spcPts val="0"/>
                        </a:spcAft>
                      </a:pPr>
                      <a:r>
                        <a:rPr lang="ar-EG" sz="1400" baseline="0" dirty="0">
                          <a:effectLst/>
                          <a:latin typeface="Sakkal Majalla" panose="02000000000000000000" pitchFamily="2" charset="-78"/>
                          <a:ea typeface="Sakkal Majalla" panose="02000000000000000000" pitchFamily="2" charset="-78"/>
                          <a:cs typeface="Sakkal Majalla" panose="02000000000000000000" pitchFamily="2" charset="-78"/>
                        </a:rPr>
                        <a:t>هي عبارة عن تنفيذ مجموعة من الإجراءات المرتبطة ببعضها لأداء وظيفة كاملة تقدمها </a:t>
                      </a:r>
                      <a:r>
                        <a:rPr lang="ar-SA" sz="1400" baseline="0" dirty="0">
                          <a:effectLst/>
                          <a:latin typeface="Sakkal Majalla" panose="02000000000000000000" pitchFamily="2" charset="-78"/>
                          <a:ea typeface="Sakkal Majalla" panose="02000000000000000000" pitchFamily="2" charset="-78"/>
                          <a:cs typeface="Sakkal Majalla" panose="02000000000000000000" pitchFamily="2" charset="-78"/>
                        </a:rPr>
                        <a:t>الهيئة </a:t>
                      </a:r>
                      <a:r>
                        <a:rPr lang="ar-EG" sz="1400" baseline="0" dirty="0">
                          <a:effectLst/>
                          <a:latin typeface="Sakkal Majalla" panose="02000000000000000000" pitchFamily="2" charset="-78"/>
                          <a:ea typeface="Sakkal Majalla" panose="02000000000000000000" pitchFamily="2" charset="-78"/>
                          <a:cs typeface="Sakkal Majalla" panose="02000000000000000000" pitchFamily="2" charset="-78"/>
                        </a:rPr>
                        <a:t>إلى المستفيدين عن طريق مختلف القنوات وتكون ذات مخرج رئيسي واحد معرف ومحدد</a:t>
                      </a:r>
                      <a:endParaRPr lang="en-US" sz="1400"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tc>
                  <a:txBody>
                    <a:bodyPr/>
                    <a:lstStyle/>
                    <a:p>
                      <a:pPr marL="0" marR="0" algn="r" rtl="1">
                        <a:lnSpc>
                          <a:spcPct val="150000"/>
                        </a:lnSpc>
                        <a:spcBef>
                          <a:spcPts val="0"/>
                        </a:spcBef>
                        <a:spcAft>
                          <a:spcPts val="0"/>
                        </a:spcAft>
                      </a:pPr>
                      <a:r>
                        <a:rPr lang="ar-EG" sz="1600" b="1" baseline="0" dirty="0">
                          <a:effectLst/>
                          <a:latin typeface="Sakkal Majalla" panose="02000000000000000000" pitchFamily="2" charset="-78"/>
                          <a:ea typeface="Sakkal Majalla" panose="02000000000000000000" pitchFamily="2" charset="-78"/>
                          <a:cs typeface="Sakkal Majalla" panose="02000000000000000000" pitchFamily="2" charset="-78"/>
                        </a:rPr>
                        <a:t>خدمة الأعمال </a:t>
                      </a:r>
                      <a:endParaRPr lang="en-US" sz="1600" b="1"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extLst>
                  <a:ext uri="{0D108BD9-81ED-4DB2-BD59-A6C34878D82A}">
                    <a16:rowId xmlns:a16="http://schemas.microsoft.com/office/drawing/2014/main" val="2306921876"/>
                  </a:ext>
                </a:extLst>
              </a:tr>
              <a:tr h="1219703">
                <a:tc>
                  <a:txBody>
                    <a:bodyPr/>
                    <a:lstStyle/>
                    <a:p>
                      <a:pPr marL="0" marR="0" algn="r" rtl="1">
                        <a:spcBef>
                          <a:spcPts val="200"/>
                        </a:spcBef>
                        <a:spcAft>
                          <a:spcPts val="0"/>
                        </a:spcAft>
                      </a:pP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يتم تصنيف نضج الخدمة في وضعها الحالي حسب إمكانية المستفيدين من التقدم بطلب الخدمة إلكترونيا ومعالجة الطلب إلكترونيا، وتصنّف الخدمة بأحد القيم التالية:</a:t>
                      </a:r>
                      <a:endPar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342900" marR="0" lvl="0" indent="-342900" algn="r" rtl="1">
                        <a:spcBef>
                          <a:spcPts val="200"/>
                        </a:spcBef>
                        <a:spcAft>
                          <a:spcPts val="0"/>
                        </a:spcAft>
                        <a:buFont typeface="+mj-lt"/>
                        <a:buAutoNum type="arabicPeriod"/>
                      </a:pP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تقليدية (</a:t>
                      </a:r>
                      <a:r>
                        <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rPr>
                        <a:t>Traditional</a:t>
                      </a: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 خدمة غير متاحة إلكترونيا.</a:t>
                      </a:r>
                      <a:endPar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342900" marR="0" lvl="0" indent="-342900" algn="r" rtl="1">
                        <a:spcBef>
                          <a:spcPts val="200"/>
                        </a:spcBef>
                        <a:spcAft>
                          <a:spcPts val="0"/>
                        </a:spcAft>
                        <a:buFont typeface="+mj-lt"/>
                        <a:buAutoNum type="arabicPeriod"/>
                      </a:pP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معلوماتية (</a:t>
                      </a:r>
                      <a:r>
                        <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rPr>
                        <a:t>Informational</a:t>
                      </a: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 معلومات نصية عن الخدمة عبر الموقع الإلكتروني. </a:t>
                      </a:r>
                      <a:endPar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342900" marR="0" lvl="0" indent="-342900" algn="r" rtl="1">
                        <a:spcBef>
                          <a:spcPts val="200"/>
                        </a:spcBef>
                        <a:spcAft>
                          <a:spcPts val="0"/>
                        </a:spcAft>
                        <a:buFont typeface="+mj-lt"/>
                        <a:buAutoNum type="arabicPeriod"/>
                      </a:pP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تفاعلية (</a:t>
                      </a:r>
                      <a:r>
                        <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rPr>
                        <a:t>Interactive</a:t>
                      </a: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 الخدمة متاحة إلكترونيا عبر قناة تواصل إلكترونية، إلا أن إجراءات العمل الداخلية للخدمة غير مؤتمتة أو مؤتمتة جزئيًا.</a:t>
                      </a:r>
                      <a:endPar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342900" marR="0" lvl="0" indent="-342900" algn="r" rtl="1">
                        <a:spcBef>
                          <a:spcPts val="200"/>
                        </a:spcBef>
                        <a:spcAft>
                          <a:spcPts val="0"/>
                        </a:spcAft>
                        <a:buFont typeface="+mj-lt"/>
                        <a:buAutoNum type="arabicPeriod"/>
                      </a:pP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إجرائية (</a:t>
                      </a:r>
                      <a:r>
                        <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rPr>
                        <a:t>Procedural</a:t>
                      </a: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 الخدمة متاحة إلكترونيا عبر قناة تواصل إلكترونية، كما أن إجراءات العمل الداخلية للخدمة مؤتمتة بشكل كامل.</a:t>
                      </a:r>
                      <a:endPar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342900" marR="0" lvl="0" indent="-342900" algn="r" rtl="1">
                        <a:spcBef>
                          <a:spcPts val="200"/>
                        </a:spcBef>
                        <a:spcAft>
                          <a:spcPts val="0"/>
                        </a:spcAft>
                        <a:buFont typeface="+mj-lt"/>
                        <a:buAutoNum type="arabicPeriod"/>
                      </a:pP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تكاملية (</a:t>
                      </a:r>
                      <a:r>
                        <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rPr>
                        <a:t>Integrative</a:t>
                      </a: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 الخدمة متاحة إلكترونيا عبر قناة تواصل إلكترونية، إجراءات عمل الخدمة مؤتمتة بالكامل داخل </a:t>
                      </a:r>
                      <a:r>
                        <a:rPr lang="ar-SA" sz="1400" baseline="0" dirty="0">
                          <a:effectLst/>
                          <a:latin typeface="Sakkal Majalla" panose="02000000000000000000" pitchFamily="2" charset="-78"/>
                          <a:ea typeface="Times New Roman" panose="02020603050405020304" pitchFamily="18" charset="0"/>
                          <a:cs typeface="Sakkal Majalla" panose="02000000000000000000" pitchFamily="2" charset="-78"/>
                        </a:rPr>
                        <a:t>الهيئة</a:t>
                      </a:r>
                      <a:r>
                        <a:rPr lang="ar-SY" sz="1400" baseline="0" dirty="0">
                          <a:effectLst/>
                          <a:latin typeface="Sakkal Majalla" panose="02000000000000000000" pitchFamily="2" charset="-78"/>
                          <a:ea typeface="Times New Roman" panose="02020603050405020304" pitchFamily="18" charset="0"/>
                          <a:cs typeface="Sakkal Majalla" panose="02000000000000000000" pitchFamily="2" charset="-78"/>
                        </a:rPr>
                        <a:t>، ومع الجهات الخارجية المعنية بالخدمة.</a:t>
                      </a:r>
                      <a:endParaRPr lang="en-US" sz="1400" baseline="0" dirty="0">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43151" marR="43151" marT="0" marB="0" anchor="ctr"/>
                </a:tc>
                <a:tc>
                  <a:txBody>
                    <a:bodyPr/>
                    <a:lstStyle/>
                    <a:p>
                      <a:pPr marL="0" marR="0" algn="r" rtl="1">
                        <a:lnSpc>
                          <a:spcPct val="150000"/>
                        </a:lnSpc>
                        <a:spcBef>
                          <a:spcPts val="0"/>
                        </a:spcBef>
                        <a:spcAft>
                          <a:spcPts val="0"/>
                        </a:spcAft>
                      </a:pPr>
                      <a:r>
                        <a:rPr lang="ar-EG" sz="1600" b="1" baseline="0" dirty="0">
                          <a:effectLst/>
                          <a:latin typeface="Sakkal Majalla" panose="02000000000000000000" pitchFamily="2" charset="-78"/>
                          <a:ea typeface="Sakkal Majalla" panose="02000000000000000000" pitchFamily="2" charset="-78"/>
                          <a:cs typeface="Sakkal Majalla" panose="02000000000000000000" pitchFamily="2" charset="-78"/>
                        </a:rPr>
                        <a:t>تصنيف نضج الخدمة</a:t>
                      </a:r>
                      <a:endParaRPr lang="en-US" sz="1600" b="1"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extLst>
                  <a:ext uri="{0D108BD9-81ED-4DB2-BD59-A6C34878D82A}">
                    <a16:rowId xmlns:a16="http://schemas.microsoft.com/office/drawing/2014/main" val="4104712247"/>
                  </a:ext>
                </a:extLst>
              </a:tr>
              <a:tr h="531694">
                <a:tc>
                  <a:txBody>
                    <a:bodyPr/>
                    <a:lstStyle/>
                    <a:p>
                      <a:pPr marL="0" marR="0" algn="r" rtl="1">
                        <a:lnSpc>
                          <a:spcPct val="150000"/>
                        </a:lnSpc>
                        <a:spcBef>
                          <a:spcPts val="0"/>
                        </a:spcBef>
                        <a:spcAft>
                          <a:spcPts val="0"/>
                        </a:spcAft>
                      </a:pPr>
                      <a:r>
                        <a:rPr lang="ar-EG" sz="1400" baseline="0" dirty="0">
                          <a:effectLst/>
                          <a:latin typeface="Sakkal Majalla" panose="02000000000000000000" pitchFamily="2" charset="-78"/>
                          <a:ea typeface="Sakkal Majalla" panose="02000000000000000000" pitchFamily="2" charset="-78"/>
                          <a:cs typeface="Sakkal Majalla" panose="02000000000000000000" pitchFamily="2" charset="-78"/>
                        </a:rPr>
                        <a:t>هو مجموعة الخطوات التي يتم تنفيذها من أحد الوحدات التنظيمية في </a:t>
                      </a:r>
                      <a:r>
                        <a:rPr lang="ar-SA" sz="1400" baseline="0" dirty="0">
                          <a:effectLst/>
                          <a:latin typeface="Sakkal Majalla" panose="02000000000000000000" pitchFamily="2" charset="-78"/>
                          <a:ea typeface="Sakkal Majalla" panose="02000000000000000000" pitchFamily="2" charset="-78"/>
                          <a:cs typeface="Sakkal Majalla" panose="02000000000000000000" pitchFamily="2" charset="-78"/>
                        </a:rPr>
                        <a:t>الهيئة</a:t>
                      </a:r>
                      <a:r>
                        <a:rPr lang="ar-EG" sz="1400" baseline="0" dirty="0">
                          <a:effectLst/>
                          <a:latin typeface="Sakkal Majalla" panose="02000000000000000000" pitchFamily="2" charset="-78"/>
                          <a:ea typeface="Sakkal Majalla" panose="02000000000000000000" pitchFamily="2" charset="-78"/>
                          <a:cs typeface="Sakkal Majalla" panose="02000000000000000000" pitchFamily="2" charset="-78"/>
                        </a:rPr>
                        <a:t> أو أكثر من وحدة لتقديم الخدمة، وذلك من أجل معالجة طلب مقدم من أحد المستفيدين والحصول على المخرج النهائي </a:t>
                      </a:r>
                      <a:endParaRPr lang="en-US" sz="1400"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tc>
                  <a:txBody>
                    <a:bodyPr/>
                    <a:lstStyle/>
                    <a:p>
                      <a:pPr marL="0" marR="0" algn="r" rtl="1">
                        <a:lnSpc>
                          <a:spcPct val="115000"/>
                        </a:lnSpc>
                        <a:spcBef>
                          <a:spcPts val="0"/>
                        </a:spcBef>
                        <a:spcAft>
                          <a:spcPts val="0"/>
                        </a:spcAft>
                      </a:pPr>
                      <a:r>
                        <a:rPr lang="ar-EG" sz="1600" b="1" baseline="0" dirty="0">
                          <a:effectLst/>
                          <a:latin typeface="Sakkal Majalla" panose="02000000000000000000" pitchFamily="2" charset="-78"/>
                          <a:ea typeface="Sakkal Majalla" panose="02000000000000000000" pitchFamily="2" charset="-78"/>
                          <a:cs typeface="Sakkal Majalla" panose="02000000000000000000" pitchFamily="2" charset="-78"/>
                        </a:rPr>
                        <a:t>الإجراء</a:t>
                      </a:r>
                      <a:endParaRPr lang="en-US" sz="1600" b="1"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extLst>
                  <a:ext uri="{0D108BD9-81ED-4DB2-BD59-A6C34878D82A}">
                    <a16:rowId xmlns:a16="http://schemas.microsoft.com/office/drawing/2014/main" val="3372816279"/>
                  </a:ext>
                </a:extLst>
              </a:tr>
              <a:tr h="626333">
                <a:tc>
                  <a:txBody>
                    <a:bodyPr/>
                    <a:lstStyle/>
                    <a:p>
                      <a:pPr marL="0" marR="0" algn="r" rtl="1">
                        <a:lnSpc>
                          <a:spcPct val="150000"/>
                        </a:lnSpc>
                        <a:spcBef>
                          <a:spcPts val="0"/>
                        </a:spcBef>
                        <a:spcAft>
                          <a:spcPts val="0"/>
                        </a:spcAft>
                      </a:pPr>
                      <a:r>
                        <a:rPr lang="ar-EG" sz="1400" baseline="0" dirty="0">
                          <a:effectLst/>
                          <a:latin typeface="Sakkal Majalla" panose="02000000000000000000" pitchFamily="2" charset="-78"/>
                          <a:ea typeface="Sakkal Majalla" panose="02000000000000000000" pitchFamily="2" charset="-78"/>
                          <a:cs typeface="Sakkal Majalla" panose="02000000000000000000" pitchFamily="2" charset="-78"/>
                        </a:rPr>
                        <a:t>المكون الأساسي للهيكل التنظيمي وتكون ذات مستوى إداري معين يتم تخصيصه لإنجاز مهام أو أنشطة معينة ويُحدد مسماه ومستواه حسب طبيعة تلك المهام والأنشطة. حيث تكون الوحدة التنظيمية كالتالي ("وكالة"، </a:t>
                      </a:r>
                      <a:r>
                        <a:rPr lang="ar-SA" sz="1400" baseline="0" dirty="0">
                          <a:effectLst/>
                          <a:latin typeface="Sakkal Majalla" panose="02000000000000000000" pitchFamily="2" charset="-78"/>
                          <a:ea typeface="Sakkal Majalla" panose="02000000000000000000" pitchFamily="2" charset="-78"/>
                          <a:cs typeface="Sakkal Majalla" panose="02000000000000000000" pitchFamily="2" charset="-78"/>
                        </a:rPr>
                        <a:t>"قطاع"،</a:t>
                      </a:r>
                      <a:r>
                        <a:rPr lang="ar-EG" sz="1400" baseline="0" dirty="0">
                          <a:effectLst/>
                          <a:latin typeface="Sakkal Majalla" panose="02000000000000000000" pitchFamily="2" charset="-78"/>
                          <a:ea typeface="Sakkal Majalla" panose="02000000000000000000" pitchFamily="2" charset="-78"/>
                          <a:cs typeface="Sakkal Majalla" panose="02000000000000000000" pitchFamily="2" charset="-78"/>
                        </a:rPr>
                        <a:t>"إدارة عامة"، "إدارة "، "وحدة"، </a:t>
                      </a:r>
                      <a:r>
                        <a:rPr lang="ar-SA" sz="1400" baseline="0" dirty="0">
                          <a:effectLst/>
                          <a:latin typeface="Sakkal Majalla" panose="02000000000000000000" pitchFamily="2" charset="-78"/>
                          <a:ea typeface="Sakkal Majalla" panose="02000000000000000000" pitchFamily="2" charset="-78"/>
                          <a:cs typeface="Sakkal Majalla" panose="02000000000000000000" pitchFamily="2" charset="-78"/>
                        </a:rPr>
                        <a:t>قسم</a:t>
                      </a:r>
                      <a:r>
                        <a:rPr lang="ar-EG" sz="1400" baseline="0" dirty="0">
                          <a:effectLst/>
                          <a:latin typeface="Sakkal Majalla" panose="02000000000000000000" pitchFamily="2" charset="-78"/>
                          <a:ea typeface="Sakkal Majalla" panose="02000000000000000000" pitchFamily="2" charset="-78"/>
                          <a:cs typeface="Sakkal Majalla" panose="02000000000000000000" pitchFamily="2" charset="-78"/>
                        </a:rPr>
                        <a:t>"، "معهد"، "مركز"، "مكتب")</a:t>
                      </a:r>
                      <a:endParaRPr lang="en-US" sz="1400"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tc>
                  <a:txBody>
                    <a:bodyPr/>
                    <a:lstStyle/>
                    <a:p>
                      <a:pPr marL="0" marR="0" algn="r" rtl="1">
                        <a:lnSpc>
                          <a:spcPct val="115000"/>
                        </a:lnSpc>
                        <a:spcBef>
                          <a:spcPts val="0"/>
                        </a:spcBef>
                        <a:spcAft>
                          <a:spcPts val="0"/>
                        </a:spcAft>
                      </a:pPr>
                      <a:r>
                        <a:rPr lang="ar-EG" sz="1600" b="1" baseline="0" dirty="0">
                          <a:effectLst/>
                          <a:latin typeface="Sakkal Majalla" panose="02000000000000000000" pitchFamily="2" charset="-78"/>
                          <a:ea typeface="Sakkal Majalla" panose="02000000000000000000" pitchFamily="2" charset="-78"/>
                          <a:cs typeface="Sakkal Majalla" panose="02000000000000000000" pitchFamily="2" charset="-78"/>
                        </a:rPr>
                        <a:t>الوحدة التنظيمية</a:t>
                      </a:r>
                      <a:endParaRPr lang="en-US" sz="1600" b="1"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extLst>
                  <a:ext uri="{0D108BD9-81ED-4DB2-BD59-A6C34878D82A}">
                    <a16:rowId xmlns:a16="http://schemas.microsoft.com/office/drawing/2014/main" val="3947784764"/>
                  </a:ext>
                </a:extLst>
              </a:tr>
              <a:tr h="742049">
                <a:tc>
                  <a:txBody>
                    <a:bodyPr/>
                    <a:lstStyle/>
                    <a:p>
                      <a:pPr marL="0" marR="0" algn="r" rtl="1">
                        <a:lnSpc>
                          <a:spcPct val="150000"/>
                        </a:lnSpc>
                        <a:spcBef>
                          <a:spcPts val="0"/>
                        </a:spcBef>
                        <a:spcAft>
                          <a:spcPts val="0"/>
                        </a:spcAft>
                      </a:pPr>
                      <a:r>
                        <a:rPr lang="ar-SA" sz="1400" b="0" i="0" u="none" strike="noStrike" baseline="0" dirty="0">
                          <a:latin typeface="Sakkal Majalla" panose="02000000000000000000" pitchFamily="2" charset="-78"/>
                          <a:cs typeface="Sakkal Majalla" panose="02000000000000000000" pitchFamily="2" charset="-78"/>
                        </a:rPr>
                        <a:t>تمثل القدرة الاستراتيجية والتشغيلية التي تميز الجهة وتمكّنها من تحقيق أهدافها، تتضمن قدرة الأعمال مجموعة متكاملة من الجوانب مثل المهارات، والمعرفة، والتقنيات، والموارد المالية، والعلاقات </a:t>
                      </a:r>
                      <a:endParaRPr lang="en-US" sz="1400"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tc>
                  <a:txBody>
                    <a:bodyPr/>
                    <a:lstStyle/>
                    <a:p>
                      <a:pPr marL="0" marR="0" algn="r" rtl="1">
                        <a:lnSpc>
                          <a:spcPct val="150000"/>
                        </a:lnSpc>
                        <a:spcBef>
                          <a:spcPts val="0"/>
                        </a:spcBef>
                        <a:spcAft>
                          <a:spcPts val="0"/>
                        </a:spcAft>
                      </a:pPr>
                      <a:r>
                        <a:rPr lang="ar-SA" sz="1600" b="1" baseline="0" dirty="0">
                          <a:effectLst/>
                          <a:latin typeface="Sakkal Majalla" panose="02000000000000000000" pitchFamily="2" charset="-78"/>
                          <a:ea typeface="Sakkal Majalla" panose="02000000000000000000" pitchFamily="2" charset="-78"/>
                          <a:cs typeface="Sakkal Majalla" panose="02000000000000000000" pitchFamily="2" charset="-78"/>
                        </a:rPr>
                        <a:t>قدرة الأعمال </a:t>
                      </a:r>
                      <a:endParaRPr lang="en-US" sz="1600" b="1"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extLst>
                  <a:ext uri="{0D108BD9-81ED-4DB2-BD59-A6C34878D82A}">
                    <a16:rowId xmlns:a16="http://schemas.microsoft.com/office/drawing/2014/main" val="3602485621"/>
                  </a:ext>
                </a:extLst>
              </a:tr>
              <a:tr h="626333">
                <a:tc>
                  <a:txBody>
                    <a:bodyPr/>
                    <a:lstStyle/>
                    <a:p>
                      <a:pPr marL="0" marR="0" algn="r" rtl="1">
                        <a:lnSpc>
                          <a:spcPct val="150000"/>
                        </a:lnSpc>
                        <a:spcBef>
                          <a:spcPts val="0"/>
                        </a:spcBef>
                        <a:spcAft>
                          <a:spcPts val="0"/>
                        </a:spcAft>
                      </a:pPr>
                      <a:r>
                        <a:rPr lang="ar-EG" sz="1400" baseline="0" dirty="0">
                          <a:effectLst/>
                          <a:latin typeface="Sakkal Majalla" panose="02000000000000000000" pitchFamily="2" charset="-78"/>
                          <a:ea typeface="Sakkal Majalla" panose="02000000000000000000" pitchFamily="2" charset="-78"/>
                          <a:cs typeface="Sakkal Majalla" panose="02000000000000000000" pitchFamily="2" charset="-78"/>
                        </a:rPr>
                        <a:t>هي عبارة عن مجموعة من المستفيدين الذين يتشاركون في احتياج أو متطلب واحد. ويتم خدمتهم عبر نشاط واحد</a:t>
                      </a:r>
                      <a:r>
                        <a:rPr lang="en-US" sz="1400" baseline="0" dirty="0">
                          <a:effectLst/>
                          <a:latin typeface="Sakkal Majalla" panose="02000000000000000000" pitchFamily="2" charset="-78"/>
                          <a:ea typeface="Sakkal Majalla" panose="02000000000000000000" pitchFamily="2" charset="-78"/>
                          <a:cs typeface="Sakkal Majalla" panose="02000000000000000000" pitchFamily="2" charset="-78"/>
                        </a:rPr>
                        <a:t>.</a:t>
                      </a:r>
                    </a:p>
                  </a:txBody>
                  <a:tcPr marL="43151" marR="43151" marT="0" marB="0" anchor="ctr"/>
                </a:tc>
                <a:tc>
                  <a:txBody>
                    <a:bodyPr/>
                    <a:lstStyle/>
                    <a:p>
                      <a:pPr marL="0" marR="0" algn="r" rtl="1">
                        <a:lnSpc>
                          <a:spcPct val="150000"/>
                        </a:lnSpc>
                        <a:spcBef>
                          <a:spcPts val="0"/>
                        </a:spcBef>
                        <a:spcAft>
                          <a:spcPts val="0"/>
                        </a:spcAft>
                      </a:pPr>
                      <a:r>
                        <a:rPr lang="ar-SA" sz="1600" b="1" baseline="0" dirty="0">
                          <a:effectLst/>
                          <a:latin typeface="Sakkal Majalla" panose="02000000000000000000" pitchFamily="2" charset="-78"/>
                          <a:ea typeface="Sakkal Majalla" panose="02000000000000000000" pitchFamily="2" charset="-78"/>
                          <a:cs typeface="Sakkal Majalla" panose="02000000000000000000" pitchFamily="2" charset="-78"/>
                        </a:rPr>
                        <a:t>فئة المستفيدين</a:t>
                      </a:r>
                      <a:r>
                        <a:rPr lang="ar-EG" sz="1600" b="1" baseline="0" dirty="0">
                          <a:effectLst/>
                          <a:latin typeface="Sakkal Majalla" panose="02000000000000000000" pitchFamily="2" charset="-78"/>
                          <a:ea typeface="Sakkal Majalla" panose="02000000000000000000" pitchFamily="2" charset="-78"/>
                          <a:cs typeface="Sakkal Majalla" panose="02000000000000000000" pitchFamily="2" charset="-78"/>
                        </a:rPr>
                        <a:t> المستهدفة</a:t>
                      </a:r>
                      <a:endParaRPr lang="en-US" sz="1600" b="1" baseline="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43151" marR="43151" marT="0" marB="0" anchor="ctr"/>
                </a:tc>
                <a:extLst>
                  <a:ext uri="{0D108BD9-81ED-4DB2-BD59-A6C34878D82A}">
                    <a16:rowId xmlns:a16="http://schemas.microsoft.com/office/drawing/2014/main" val="1200409264"/>
                  </a:ext>
                </a:extLst>
              </a:tr>
            </a:tbl>
          </a:graphicData>
        </a:graphic>
      </p:graphicFrame>
    </p:spTree>
    <p:extLst>
      <p:ext uri="{BB962C8B-B14F-4D97-AF65-F5344CB8AC3E}">
        <p14:creationId xmlns:p14="http://schemas.microsoft.com/office/powerpoint/2010/main" val="266833208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النموذج المرجعي لبنية الأعمال</a:t>
            </a:r>
            <a:endParaRPr lang="en-US" dirty="0"/>
          </a:p>
        </p:txBody>
      </p:sp>
      <p:sp>
        <p:nvSpPr>
          <p:cNvPr id="4" name="Text Placeholder 3"/>
          <p:cNvSpPr>
            <a:spLocks noGrp="1"/>
          </p:cNvSpPr>
          <p:nvPr>
            <p:ph type="body" sz="quarter" idx="14"/>
          </p:nvPr>
        </p:nvSpPr>
        <p:spPr/>
        <p:txBody>
          <a:bodyPr/>
          <a:lstStyle/>
          <a:p>
            <a:r>
              <a:rPr lang="ar-SA" dirty="0"/>
              <a:t>02</a:t>
            </a:r>
            <a:endParaRPr lang="en-US" dirty="0"/>
          </a:p>
        </p:txBody>
      </p:sp>
    </p:spTree>
    <p:extLst>
      <p:ext uri="{BB962C8B-B14F-4D97-AF65-F5344CB8AC3E}">
        <p14:creationId xmlns:p14="http://schemas.microsoft.com/office/powerpoint/2010/main" val="979821425"/>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27904-701B-57E7-42ED-8BFB56DA32FB}"/>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E667CC2C-6A18-3479-377C-715ECA7CE633}"/>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12</a:t>
            </a:fld>
            <a:endParaRPr lang="en-US" sz="1400" b="1" dirty="0">
              <a:solidFill>
                <a:schemeClr val="accent1"/>
              </a:solidFill>
            </a:endParaRPr>
          </a:p>
        </p:txBody>
      </p:sp>
      <p:sp>
        <p:nvSpPr>
          <p:cNvPr id="2" name="Title 1">
            <a:extLst>
              <a:ext uri="{FF2B5EF4-FFF2-40B4-BE49-F238E27FC236}">
                <a16:creationId xmlns:a16="http://schemas.microsoft.com/office/drawing/2014/main" id="{137518F7-4566-9F5A-7CDA-6339365AF93E}"/>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المشهد العام لقدرات الأعمال</a:t>
            </a:r>
            <a:endParaRPr lang="en-US" dirty="0"/>
          </a:p>
        </p:txBody>
      </p:sp>
      <p:sp>
        <p:nvSpPr>
          <p:cNvPr id="3" name="Rectangle: Rounded Corners 2">
            <a:extLst>
              <a:ext uri="{FF2B5EF4-FFF2-40B4-BE49-F238E27FC236}">
                <a16:creationId xmlns:a16="http://schemas.microsoft.com/office/drawing/2014/main" id="{28FA058D-38AB-C1F7-C978-FB7922429AEE}"/>
              </a:ext>
            </a:extLst>
          </p:cNvPr>
          <p:cNvSpPr/>
          <p:nvPr/>
        </p:nvSpPr>
        <p:spPr>
          <a:xfrm>
            <a:off x="597408" y="1671992"/>
            <a:ext cx="10997184" cy="43958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 name="Rectangle: Rounded Corners 3">
            <a:extLst>
              <a:ext uri="{FF2B5EF4-FFF2-40B4-BE49-F238E27FC236}">
                <a16:creationId xmlns:a16="http://schemas.microsoft.com/office/drawing/2014/main" id="{DA8945DC-BC64-3660-DDD8-321671C13329}"/>
              </a:ext>
            </a:extLst>
          </p:cNvPr>
          <p:cNvSpPr/>
          <p:nvPr/>
        </p:nvSpPr>
        <p:spPr>
          <a:xfrm>
            <a:off x="985445" y="1813073"/>
            <a:ext cx="10217687" cy="1255423"/>
          </a:xfrm>
          <a:prstGeom prst="roundRect">
            <a:avLst/>
          </a:prstGeom>
          <a:solidFill>
            <a:srgbClr val="3FA0D9"/>
          </a:solidFill>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r>
              <a:rPr lang="ar-SA" sz="2400" b="1" dirty="0">
                <a:solidFill>
                  <a:schemeClr val="tx1"/>
                </a:solidFill>
              </a:rPr>
              <a:t>قدرات الأعمال الإستراتيجية</a:t>
            </a:r>
          </a:p>
          <a:p>
            <a:pPr algn="ctr"/>
            <a:r>
              <a:rPr lang="ar-SA" sz="1600" dirty="0">
                <a:solidFill>
                  <a:schemeClr val="tx1"/>
                </a:solidFill>
              </a:rPr>
              <a:t>تُمثّل مجموعة الأعمال التي تعمل على رسم التوجهات الاستراتيجية </a:t>
            </a:r>
            <a:r>
              <a:rPr lang="ar-EG" sz="1600" dirty="0">
                <a:solidFill>
                  <a:schemeClr val="tx1"/>
                </a:solidFill>
              </a:rPr>
              <a:t>للهيئة</a:t>
            </a:r>
            <a:r>
              <a:rPr lang="ar-SA" sz="1600" dirty="0">
                <a:solidFill>
                  <a:schemeClr val="tx1"/>
                </a:solidFill>
              </a:rPr>
              <a:t> وإدارة وحوكمة الأعمال التي تعمل على تحقيق تلك التوجهات ومراقبة مستويات إنجازها. ويشمل هذا النوع على القدرات المرتبطة بمجالات التخطيط والتطوير والحوكمة ومتابعة الإنجاز في أعمال القدرات المحورية (الرئيسية) والداعمة لضمان تحقيقها لمستهدفات </a:t>
            </a:r>
            <a:r>
              <a:rPr lang="ar-EG" sz="1600" dirty="0">
                <a:solidFill>
                  <a:schemeClr val="tx1"/>
                </a:solidFill>
              </a:rPr>
              <a:t>الهيئة</a:t>
            </a:r>
            <a:endParaRPr lang="ar-SA" sz="1600" dirty="0">
              <a:solidFill>
                <a:schemeClr val="tx1"/>
              </a:solidFill>
            </a:endParaRPr>
          </a:p>
        </p:txBody>
      </p:sp>
      <p:sp>
        <p:nvSpPr>
          <p:cNvPr id="5" name="Rectangle: Rounded Corners 4">
            <a:extLst>
              <a:ext uri="{FF2B5EF4-FFF2-40B4-BE49-F238E27FC236}">
                <a16:creationId xmlns:a16="http://schemas.microsoft.com/office/drawing/2014/main" id="{26C9C2C9-8D29-82D3-1BF3-27274BD3D905}"/>
              </a:ext>
            </a:extLst>
          </p:cNvPr>
          <p:cNvSpPr/>
          <p:nvPr/>
        </p:nvSpPr>
        <p:spPr>
          <a:xfrm>
            <a:off x="985445" y="3222827"/>
            <a:ext cx="10217686" cy="1256455"/>
          </a:xfrm>
          <a:prstGeom prst="roundRect">
            <a:avLst/>
          </a:prstGeom>
          <a:solidFill>
            <a:srgbClr val="3FA0D9"/>
          </a:solidFill>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r>
              <a:rPr lang="ar-SA" sz="2400" b="1" dirty="0">
                <a:solidFill>
                  <a:schemeClr val="tx1"/>
                </a:solidFill>
              </a:rPr>
              <a:t>قدرات الأعمال المحورية</a:t>
            </a:r>
            <a:r>
              <a:rPr lang="ar-EG" sz="2400" b="1" dirty="0">
                <a:solidFill>
                  <a:schemeClr val="tx1"/>
                </a:solidFill>
              </a:rPr>
              <a:t> </a:t>
            </a:r>
            <a:r>
              <a:rPr lang="ar-SA" sz="2400" b="1" dirty="0">
                <a:solidFill>
                  <a:schemeClr val="tx1"/>
                </a:solidFill>
              </a:rPr>
              <a:t>(الرئيسية)</a:t>
            </a:r>
          </a:p>
          <a:p>
            <a:pPr algn="ctr"/>
            <a:r>
              <a:rPr lang="ar-SA" sz="1600" dirty="0">
                <a:solidFill>
                  <a:schemeClr val="tx1"/>
                </a:solidFill>
              </a:rPr>
              <a:t>تُمثّل مجموعة الأعمال التي تساهم في تحقق وتفعيل المهام الرئيسية </a:t>
            </a:r>
            <a:r>
              <a:rPr lang="ar-EG" sz="1600" dirty="0">
                <a:solidFill>
                  <a:schemeClr val="tx1"/>
                </a:solidFill>
              </a:rPr>
              <a:t>للهيئة</a:t>
            </a:r>
            <a:r>
              <a:rPr lang="ar-SA" sz="1600" dirty="0">
                <a:solidFill>
                  <a:schemeClr val="tx1"/>
                </a:solidFill>
              </a:rPr>
              <a:t> وسبب نشأتها. وتشمل هذه القدرات على الأعمال التي تنفذها </a:t>
            </a:r>
            <a:r>
              <a:rPr lang="ar-EG" sz="1600" dirty="0">
                <a:solidFill>
                  <a:schemeClr val="tx1"/>
                </a:solidFill>
              </a:rPr>
              <a:t>الهيئة</a:t>
            </a:r>
            <a:r>
              <a:rPr lang="ar-SA" sz="1600" dirty="0">
                <a:solidFill>
                  <a:schemeClr val="tx1"/>
                </a:solidFill>
              </a:rPr>
              <a:t> في مجالات رئيسية مثل تقديم الخدمات </a:t>
            </a:r>
            <a:r>
              <a:rPr lang="ar-EG" sz="1600" dirty="0">
                <a:solidFill>
                  <a:schemeClr val="tx1"/>
                </a:solidFill>
              </a:rPr>
              <a:t>والتقويم</a:t>
            </a:r>
            <a:r>
              <a:rPr lang="ar-SA" sz="1600" dirty="0">
                <a:solidFill>
                  <a:schemeClr val="tx1"/>
                </a:solidFill>
              </a:rPr>
              <a:t> والتنظيم والترخيص لمجال عمل </a:t>
            </a:r>
            <a:r>
              <a:rPr lang="ar-EG" sz="1600" dirty="0">
                <a:solidFill>
                  <a:schemeClr val="tx1"/>
                </a:solidFill>
              </a:rPr>
              <a:t>الهيئة</a:t>
            </a:r>
            <a:endParaRPr lang="ar-SA" sz="1600" dirty="0">
              <a:solidFill>
                <a:schemeClr val="tx1"/>
              </a:solidFill>
            </a:endParaRPr>
          </a:p>
        </p:txBody>
      </p:sp>
      <p:sp>
        <p:nvSpPr>
          <p:cNvPr id="6" name="Rectangle: Rounded Corners 5">
            <a:extLst>
              <a:ext uri="{FF2B5EF4-FFF2-40B4-BE49-F238E27FC236}">
                <a16:creationId xmlns:a16="http://schemas.microsoft.com/office/drawing/2014/main" id="{97893E5D-5F24-A851-6169-DF2EE4854356}"/>
              </a:ext>
            </a:extLst>
          </p:cNvPr>
          <p:cNvSpPr/>
          <p:nvPr/>
        </p:nvSpPr>
        <p:spPr>
          <a:xfrm>
            <a:off x="985445" y="4639873"/>
            <a:ext cx="10217686" cy="1256455"/>
          </a:xfrm>
          <a:prstGeom prst="roundRect">
            <a:avLst/>
          </a:prstGeom>
          <a:solidFill>
            <a:srgbClr val="3FA0D9"/>
          </a:solidFill>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r>
              <a:rPr lang="ar-SA" sz="2400" b="1" dirty="0">
                <a:solidFill>
                  <a:schemeClr val="tx1"/>
                </a:solidFill>
              </a:rPr>
              <a:t>قدرات الأعمال الداعمة</a:t>
            </a:r>
          </a:p>
          <a:p>
            <a:pPr algn="ctr"/>
            <a:r>
              <a:rPr lang="ar-SA" sz="1600" dirty="0">
                <a:solidFill>
                  <a:schemeClr val="tx1"/>
                </a:solidFill>
              </a:rPr>
              <a:t>تُمثّل مجموعة الأعمال التي تُمكّن قدرات الأعمال الاستراتيجية وقدرات الأعمال المحورية (الرئيسية) من تنفيذ أعمالها اليومية الإدارية، إلا أن هذه القدرات لا تساهم بشكل مباشر في تحقيق التوجهات الاستراتيجية</a:t>
            </a:r>
            <a:r>
              <a:rPr lang="ar-EG" sz="1600" dirty="0">
                <a:solidFill>
                  <a:schemeClr val="tx1"/>
                </a:solidFill>
              </a:rPr>
              <a:t> للهيئة</a:t>
            </a:r>
            <a:endParaRPr lang="ar-SA" sz="1600" dirty="0">
              <a:solidFill>
                <a:schemeClr val="tx1"/>
              </a:solidFill>
            </a:endParaRPr>
          </a:p>
        </p:txBody>
      </p:sp>
      <p:sp>
        <p:nvSpPr>
          <p:cNvPr id="7" name="Rectangle 6">
            <a:extLst>
              <a:ext uri="{FF2B5EF4-FFF2-40B4-BE49-F238E27FC236}">
                <a16:creationId xmlns:a16="http://schemas.microsoft.com/office/drawing/2014/main" id="{4D9ED36C-3A0C-9362-8614-7B3C692BDD53}"/>
              </a:ext>
            </a:extLst>
          </p:cNvPr>
          <p:cNvSpPr/>
          <p:nvPr/>
        </p:nvSpPr>
        <p:spPr>
          <a:xfrm>
            <a:off x="838200" y="961672"/>
            <a:ext cx="10515600" cy="646331"/>
          </a:xfrm>
          <a:prstGeom prst="rect">
            <a:avLst/>
          </a:prstGeom>
        </p:spPr>
        <p:txBody>
          <a:bodyPr wrap="square">
            <a:spAutoFit/>
          </a:bodyPr>
          <a:lstStyle/>
          <a:p>
            <a:pPr algn="just" rtl="1"/>
            <a:r>
              <a:rPr lang="ar-EG" dirty="0">
                <a:latin typeface="Sakkal Majalla" panose="02000000000000000000" pitchFamily="2" charset="-78"/>
                <a:cs typeface="Sakkal Majalla" panose="02000000000000000000" pitchFamily="2" charset="-78"/>
              </a:rPr>
              <a:t>تنقسم قدرات الأعمال في النموذج المرجعي لبنية الأعمال إلى ثلاثة أنواع هي: القدرات الإستراتيجية، والقدرات المحورية، والقدرات الداعمة، بحيث يحتوي كل نوع على قدرات أعمال رئيسية ينطوي تحتها مجموعة من القدرات الفرعية المرتبطة بها، ويلخص الشكل التالي أنواع قدرات الأعمال:</a:t>
            </a:r>
            <a:endParaRPr 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58259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مستويات تقييم نضج الخدمات</a:t>
            </a:r>
            <a:endParaRPr lang="en-US" dirty="0"/>
          </a:p>
        </p:txBody>
      </p:sp>
      <p:sp>
        <p:nvSpPr>
          <p:cNvPr id="3" name="Rectangle 2">
            <a:extLst>
              <a:ext uri="{FF2B5EF4-FFF2-40B4-BE49-F238E27FC236}">
                <a16:creationId xmlns:a16="http://schemas.microsoft.com/office/drawing/2014/main" id="{97E89B60-0463-CCF8-E110-58F32AEC6D43}"/>
              </a:ext>
            </a:extLst>
          </p:cNvPr>
          <p:cNvSpPr/>
          <p:nvPr/>
        </p:nvSpPr>
        <p:spPr>
          <a:xfrm>
            <a:off x="838200" y="1333500"/>
            <a:ext cx="10515600" cy="923330"/>
          </a:xfrm>
          <a:prstGeom prst="rect">
            <a:avLst/>
          </a:prstGeom>
        </p:spPr>
        <p:txBody>
          <a:bodyPr wrap="square">
            <a:spAutoFit/>
          </a:bodyPr>
          <a:lstStyle/>
          <a:p>
            <a:pPr algn="just" rtl="1"/>
            <a:r>
              <a:rPr lang="ar-EG" dirty="0">
                <a:latin typeface="Sakkal Majalla" panose="02000000000000000000" pitchFamily="2" charset="-78"/>
                <a:cs typeface="Sakkal Majalla" panose="02000000000000000000" pitchFamily="2" charset="-78"/>
              </a:rPr>
              <a:t>بناءً على تشريعات وتوصيات هيئة الحكومة الرقمية، تم وضع مستويات قياسية لتحديد مستوى أو درجة النضج في تطبيق الخدمات الرقمية، وبناء عليه يتم تقسيم الخدمات حسب مستوى نضجها الى المستويات التالية (تقليدي، معلوماتي، تفاعلي، إجرائي، تكاملي)، وتوضح هذه المستويات إمكانية المستفيدين من التقدم بطلب الخدمة إلكترونياً ومن ثم معالجة الطلب إلكترونياً، ويبين الجدول التالي تفاصيل معايير تقييم نضج الخدمات.</a:t>
            </a: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C29232ED-EA0C-0B49-5685-B5A3793BBC10}"/>
              </a:ext>
            </a:extLst>
          </p:cNvPr>
          <p:cNvGraphicFramePr>
            <a:graphicFrameLocks noGrp="1"/>
          </p:cNvGraphicFramePr>
          <p:nvPr>
            <p:extLst>
              <p:ext uri="{D42A27DB-BD31-4B8C-83A1-F6EECF244321}">
                <p14:modId xmlns:p14="http://schemas.microsoft.com/office/powerpoint/2010/main" val="1296245794"/>
              </p:ext>
            </p:extLst>
          </p:nvPr>
        </p:nvGraphicFramePr>
        <p:xfrm>
          <a:off x="851984" y="2552772"/>
          <a:ext cx="10515602" cy="2928734"/>
        </p:xfrm>
        <a:graphic>
          <a:graphicData uri="http://schemas.openxmlformats.org/drawingml/2006/table">
            <a:tbl>
              <a:tblPr rtl="1" firstRow="1" bandRow="1"/>
              <a:tblGrid>
                <a:gridCol w="1413373">
                  <a:extLst>
                    <a:ext uri="{9D8B030D-6E8A-4147-A177-3AD203B41FA5}">
                      <a16:colId xmlns:a16="http://schemas.microsoft.com/office/drawing/2014/main" val="2114363915"/>
                    </a:ext>
                  </a:extLst>
                </a:gridCol>
                <a:gridCol w="1413373">
                  <a:extLst>
                    <a:ext uri="{9D8B030D-6E8A-4147-A177-3AD203B41FA5}">
                      <a16:colId xmlns:a16="http://schemas.microsoft.com/office/drawing/2014/main" val="2545357232"/>
                    </a:ext>
                  </a:extLst>
                </a:gridCol>
                <a:gridCol w="1922214">
                  <a:extLst>
                    <a:ext uri="{9D8B030D-6E8A-4147-A177-3AD203B41FA5}">
                      <a16:colId xmlns:a16="http://schemas.microsoft.com/office/drawing/2014/main" val="4283666389"/>
                    </a:ext>
                  </a:extLst>
                </a:gridCol>
                <a:gridCol w="1922214">
                  <a:extLst>
                    <a:ext uri="{9D8B030D-6E8A-4147-A177-3AD203B41FA5}">
                      <a16:colId xmlns:a16="http://schemas.microsoft.com/office/drawing/2014/main" val="2161002421"/>
                    </a:ext>
                  </a:extLst>
                </a:gridCol>
                <a:gridCol w="1922214">
                  <a:extLst>
                    <a:ext uri="{9D8B030D-6E8A-4147-A177-3AD203B41FA5}">
                      <a16:colId xmlns:a16="http://schemas.microsoft.com/office/drawing/2014/main" val="327428495"/>
                    </a:ext>
                  </a:extLst>
                </a:gridCol>
                <a:gridCol w="1922214">
                  <a:extLst>
                    <a:ext uri="{9D8B030D-6E8A-4147-A177-3AD203B41FA5}">
                      <a16:colId xmlns:a16="http://schemas.microsoft.com/office/drawing/2014/main" val="3111204985"/>
                    </a:ext>
                  </a:extLst>
                </a:gridCol>
              </a:tblGrid>
              <a:tr h="128984">
                <a:tc rowSpan="2" gridSpan="2">
                  <a:txBody>
                    <a:bodyPr/>
                    <a:lstStyle/>
                    <a:p>
                      <a:pPr marL="0" marR="0" algn="ctr" rtl="1">
                        <a:lnSpc>
                          <a:spcPct val="150000"/>
                        </a:lnSpc>
                        <a:spcBef>
                          <a:spcPts val="0"/>
                        </a:spcBef>
                        <a:spcAft>
                          <a:spcPts val="0"/>
                        </a:spcAft>
                      </a:pPr>
                      <a:r>
                        <a:rPr lang="ar-SY" sz="2000" b="1"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مستوى النضج</a:t>
                      </a:r>
                      <a:endParaRPr lang="en-US" sz="2000" dirty="0">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63829" marR="63829" marT="23866" marB="23866" anchor="ctr">
                    <a:lnL>
                      <a:noFill/>
                    </a:lnL>
                    <a:lnR>
                      <a:noFill/>
                    </a:lnR>
                    <a:lnT>
                      <a:noFill/>
                    </a:lnT>
                    <a:lnB w="12700" cap="flat" cmpd="sng" algn="ctr">
                      <a:solidFill>
                        <a:schemeClr val="accent2"/>
                      </a:solidFill>
                      <a:prstDash val="solid"/>
                      <a:round/>
                      <a:headEnd type="none" w="med" len="med"/>
                      <a:tailEnd type="none" w="med" len="med"/>
                    </a:lnB>
                    <a:solidFill>
                      <a:schemeClr val="accent2"/>
                    </a:solidFill>
                  </a:tcPr>
                </a:tc>
                <a:tc rowSpan="2" hMerge="1">
                  <a:txBody>
                    <a:bodyPr/>
                    <a:lstStyle/>
                    <a:p>
                      <a:endParaRPr lang="en-US"/>
                    </a:p>
                  </a:txBody>
                  <a:tcPr/>
                </a:tc>
                <a:tc gridSpan="4">
                  <a:txBody>
                    <a:bodyPr/>
                    <a:lstStyle/>
                    <a:p>
                      <a:pPr marL="0" marR="0" algn="ctr" rtl="1">
                        <a:lnSpc>
                          <a:spcPct val="150000"/>
                        </a:lnSpc>
                        <a:spcBef>
                          <a:spcPts val="0"/>
                        </a:spcBef>
                        <a:spcAft>
                          <a:spcPts val="0"/>
                        </a:spcAft>
                      </a:pPr>
                      <a:r>
                        <a:rPr lang="ar-SY" sz="1800" b="1"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مزايا مستوى النضج</a:t>
                      </a:r>
                      <a:endParaRPr lang="en-US" sz="1800" dirty="0">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63829" marR="63829" marT="23866" marB="23866">
                    <a:lnL>
                      <a:noFill/>
                    </a:lnL>
                    <a:lnR w="12700" cap="flat" cmpd="sng" algn="ctr">
                      <a:noFill/>
                      <a:prstDash val="solid"/>
                      <a:round/>
                      <a:headEnd type="none" w="med" len="med"/>
                      <a:tailEnd type="none" w="med" len="med"/>
                    </a:lnR>
                    <a:lnT>
                      <a:noFill/>
                    </a:lnT>
                    <a:lnB w="12700" cap="flat" cmpd="sng" algn="ctr">
                      <a:solidFill>
                        <a:srgbClr val="7E7C7E"/>
                      </a:solidFill>
                      <a:prstDash val="solid"/>
                      <a:round/>
                      <a:headEnd type="none" w="med" len="med"/>
                      <a:tailEnd type="none" w="med" len="med"/>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74943863"/>
                  </a:ext>
                </a:extLst>
              </a:tr>
              <a:tr h="358194">
                <a:tc gridSpan="2" vMerge="1">
                  <a:txBody>
                    <a:bodyPr/>
                    <a:lstStyle/>
                    <a:p>
                      <a:endParaRPr lang="en-US"/>
                    </a:p>
                  </a:txBody>
                  <a:tcPr/>
                </a:tc>
                <a:tc hMerge="1" vMerge="1">
                  <a:txBody>
                    <a:bodyPr/>
                    <a:lstStyle/>
                    <a:p>
                      <a:endParaRPr lang="en-US"/>
                    </a:p>
                  </a:txBody>
                  <a:tcPr/>
                </a:tc>
                <a:tc>
                  <a:txBody>
                    <a:bodyPr/>
                    <a:lstStyle/>
                    <a:p>
                      <a:pPr marL="0" marR="0" algn="ctr" rtl="1">
                        <a:lnSpc>
                          <a:spcPct val="100000"/>
                        </a:lnSpc>
                        <a:spcBef>
                          <a:spcPts val="0"/>
                        </a:spcBef>
                        <a:spcAft>
                          <a:spcPts val="0"/>
                        </a:spcAft>
                      </a:pPr>
                      <a:r>
                        <a:rPr lang="ar-SY" sz="1400" b="1"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الموقع الرسمي يوفر معلومات الخدمة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63829" marR="63829" marT="23866" marB="23866" anchor="ctr">
                    <a:lnL>
                      <a:noFill/>
                    </a:lnL>
                    <a:lnR>
                      <a:noFill/>
                    </a:lnR>
                    <a:lnT w="12700" cap="flat" cmpd="sng" algn="ctr">
                      <a:solidFill>
                        <a:srgbClr val="7E7C7E"/>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solidFill>
                  </a:tcPr>
                </a:tc>
                <a:tc>
                  <a:txBody>
                    <a:bodyPr/>
                    <a:lstStyle/>
                    <a:p>
                      <a:pPr marL="0" marR="0" algn="ctr" rtl="1">
                        <a:lnSpc>
                          <a:spcPct val="100000"/>
                        </a:lnSpc>
                        <a:spcBef>
                          <a:spcPts val="0"/>
                        </a:spcBef>
                        <a:spcAft>
                          <a:spcPts val="0"/>
                        </a:spcAft>
                      </a:pPr>
                      <a:r>
                        <a:rPr lang="ar-SY" sz="1400" b="1"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الخدمة متاحة عبر قناة تواصل إلكترونية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63829" marR="63829" marT="23866" marB="23866" anchor="ctr">
                    <a:lnL>
                      <a:noFill/>
                    </a:lnL>
                    <a:lnR>
                      <a:noFill/>
                    </a:lnR>
                    <a:lnT w="12700" cap="flat" cmpd="sng" algn="ctr">
                      <a:solidFill>
                        <a:srgbClr val="7E7C7E"/>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solidFill>
                  </a:tcPr>
                </a:tc>
                <a:tc>
                  <a:txBody>
                    <a:bodyPr/>
                    <a:lstStyle/>
                    <a:p>
                      <a:pPr marL="0" marR="0" algn="ctr" rtl="1">
                        <a:lnSpc>
                          <a:spcPct val="100000"/>
                        </a:lnSpc>
                        <a:spcBef>
                          <a:spcPts val="0"/>
                        </a:spcBef>
                        <a:spcAft>
                          <a:spcPts val="0"/>
                        </a:spcAft>
                      </a:pPr>
                      <a:r>
                        <a:rPr lang="ar-SY" sz="1400" b="1"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إجراءات العمل الداخلية مؤتمتة بالكامل</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63829" marR="63829" marT="23866" marB="23866" anchor="ctr">
                    <a:lnL>
                      <a:noFill/>
                    </a:lnL>
                    <a:lnR>
                      <a:noFill/>
                    </a:lnR>
                    <a:lnT w="12700" cap="flat" cmpd="sng" algn="ctr">
                      <a:solidFill>
                        <a:srgbClr val="7E7C7E"/>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solidFill>
                  </a:tcPr>
                </a:tc>
                <a:tc>
                  <a:txBody>
                    <a:bodyPr/>
                    <a:lstStyle/>
                    <a:p>
                      <a:pPr marL="0" marR="0" algn="ctr" rtl="1">
                        <a:lnSpc>
                          <a:spcPct val="100000"/>
                        </a:lnSpc>
                        <a:spcBef>
                          <a:spcPts val="0"/>
                        </a:spcBef>
                        <a:spcAft>
                          <a:spcPts val="0"/>
                        </a:spcAft>
                      </a:pPr>
                      <a:r>
                        <a:rPr lang="ar-SY" sz="1400" b="1"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إجراءات العمل الداخلية مؤتمتة بالكامل إضافة للتكامل المؤتمت مع الجهات الخارجية المعنية بالخدمة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63829" marR="63829" marT="23866" marB="23866" anchor="ctr">
                    <a:lnL>
                      <a:noFill/>
                    </a:lnL>
                    <a:lnR>
                      <a:noFill/>
                    </a:lnR>
                    <a:lnT w="12700" cap="flat" cmpd="sng" algn="ctr">
                      <a:solidFill>
                        <a:srgbClr val="7E7C7E"/>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solidFill>
                  </a:tcPr>
                </a:tc>
                <a:extLst>
                  <a:ext uri="{0D108BD9-81ED-4DB2-BD59-A6C34878D82A}">
                    <a16:rowId xmlns:a16="http://schemas.microsoft.com/office/drawing/2014/main" val="510013981"/>
                  </a:ext>
                </a:extLst>
              </a:tr>
              <a:tr h="111793">
                <a:tc>
                  <a:txBody>
                    <a:bodyPr/>
                    <a:lstStyle/>
                    <a:p>
                      <a:pPr marL="0" marR="0" algn="ctr" rtl="1">
                        <a:lnSpc>
                          <a:spcPct val="115000"/>
                        </a:lnSpc>
                        <a:spcBef>
                          <a:spcPts val="0"/>
                        </a:spcBef>
                        <a:spcAft>
                          <a:spcPts val="0"/>
                        </a:spcAft>
                      </a:pPr>
                      <a:r>
                        <a:rPr lang="ar-EG" sz="1800" b="1" dirty="0">
                          <a:effectLst/>
                          <a:latin typeface="Sakkal Majalla" panose="02000000000000000000" pitchFamily="2" charset="-78"/>
                          <a:ea typeface="Sakkal Majalla" panose="02000000000000000000" pitchFamily="2" charset="-78"/>
                          <a:cs typeface="Sakkal Majalla" panose="02000000000000000000" pitchFamily="2" charset="-78"/>
                        </a:rPr>
                        <a:t>تقليدي</a:t>
                      </a:r>
                      <a:endParaRPr lang="en-US" sz="1800" b="1"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en-US" sz="1800" b="1" dirty="0">
                          <a:effectLst/>
                          <a:latin typeface="Sakkal Majalla" panose="02000000000000000000" pitchFamily="2" charset="-78"/>
                          <a:ea typeface="Sakkal Majalla" panose="02000000000000000000" pitchFamily="2" charset="-78"/>
                          <a:cs typeface="Sakkal Majalla" panose="02000000000000000000" pitchFamily="2" charset="-78"/>
                        </a:rPr>
                        <a:t>Traditional</a:t>
                      </a: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53014173"/>
                  </a:ext>
                </a:extLst>
              </a:tr>
              <a:tr h="111793">
                <a:tc>
                  <a:txBody>
                    <a:bodyPr/>
                    <a:lstStyle/>
                    <a:p>
                      <a:pPr marL="0" marR="0" algn="ctr" rtl="1">
                        <a:lnSpc>
                          <a:spcPct val="115000"/>
                        </a:lnSpc>
                        <a:spcBef>
                          <a:spcPts val="0"/>
                        </a:spcBef>
                        <a:spcAft>
                          <a:spcPts val="0"/>
                        </a:spcAft>
                      </a:pPr>
                      <a:r>
                        <a:rPr lang="ar-EG" sz="1800" b="1" dirty="0">
                          <a:effectLst/>
                          <a:latin typeface="Sakkal Majalla" panose="02000000000000000000" pitchFamily="2" charset="-78"/>
                          <a:ea typeface="Sakkal Majalla" panose="02000000000000000000" pitchFamily="2" charset="-78"/>
                          <a:cs typeface="Sakkal Majalla" panose="02000000000000000000" pitchFamily="2" charset="-78"/>
                        </a:rPr>
                        <a:t>معلوماتي</a:t>
                      </a:r>
                      <a:endParaRPr lang="en-US" sz="1800" b="1"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en-US" sz="1800" b="1" dirty="0">
                          <a:effectLst/>
                          <a:latin typeface="Sakkal Majalla" panose="02000000000000000000" pitchFamily="2" charset="-78"/>
                          <a:ea typeface="Sakkal Majalla" panose="02000000000000000000" pitchFamily="2" charset="-78"/>
                          <a:cs typeface="Sakkal Majalla" panose="02000000000000000000" pitchFamily="2" charset="-78"/>
                        </a:rPr>
                        <a:t>Informational</a:t>
                      </a: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4101750369"/>
                  </a:ext>
                </a:extLst>
              </a:tr>
              <a:tr h="111793">
                <a:tc>
                  <a:txBody>
                    <a:bodyPr/>
                    <a:lstStyle/>
                    <a:p>
                      <a:pPr marL="0" marR="0" algn="ctr" rtl="1">
                        <a:lnSpc>
                          <a:spcPct val="115000"/>
                        </a:lnSpc>
                        <a:spcBef>
                          <a:spcPts val="0"/>
                        </a:spcBef>
                        <a:spcAft>
                          <a:spcPts val="0"/>
                        </a:spcAft>
                      </a:pPr>
                      <a:r>
                        <a:rPr lang="ar-EG" sz="1800" b="1" dirty="0">
                          <a:effectLst/>
                          <a:latin typeface="Sakkal Majalla" panose="02000000000000000000" pitchFamily="2" charset="-78"/>
                          <a:ea typeface="Sakkal Majalla" panose="02000000000000000000" pitchFamily="2" charset="-78"/>
                          <a:cs typeface="Sakkal Majalla" panose="02000000000000000000" pitchFamily="2" charset="-78"/>
                        </a:rPr>
                        <a:t>تفاعلي</a:t>
                      </a:r>
                      <a:endParaRPr lang="en-US" sz="1800" b="1"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en-US" sz="1800" b="1" dirty="0">
                          <a:effectLst/>
                          <a:latin typeface="Sakkal Majalla" panose="02000000000000000000" pitchFamily="2" charset="-78"/>
                          <a:ea typeface="Sakkal Majalla" panose="02000000000000000000" pitchFamily="2" charset="-78"/>
                          <a:cs typeface="Sakkal Majalla" panose="02000000000000000000" pitchFamily="2" charset="-78"/>
                        </a:rPr>
                        <a:t>Interactive</a:t>
                      </a: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149359542"/>
                  </a:ext>
                </a:extLst>
              </a:tr>
              <a:tr h="111793">
                <a:tc>
                  <a:txBody>
                    <a:bodyPr/>
                    <a:lstStyle/>
                    <a:p>
                      <a:pPr marL="0" marR="0" algn="ctr" rtl="1">
                        <a:lnSpc>
                          <a:spcPct val="115000"/>
                        </a:lnSpc>
                        <a:spcBef>
                          <a:spcPts val="0"/>
                        </a:spcBef>
                        <a:spcAft>
                          <a:spcPts val="0"/>
                        </a:spcAft>
                      </a:pPr>
                      <a:r>
                        <a:rPr lang="ar-EG" sz="1800" b="1" dirty="0">
                          <a:effectLst/>
                          <a:latin typeface="Sakkal Majalla" panose="02000000000000000000" pitchFamily="2" charset="-78"/>
                          <a:ea typeface="Sakkal Majalla" panose="02000000000000000000" pitchFamily="2" charset="-78"/>
                          <a:cs typeface="Sakkal Majalla" panose="02000000000000000000" pitchFamily="2" charset="-78"/>
                        </a:rPr>
                        <a:t>إجرائي</a:t>
                      </a:r>
                      <a:endParaRPr lang="en-US" sz="1800" b="1"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en-US" sz="1800" b="1" dirty="0">
                          <a:effectLst/>
                          <a:latin typeface="Sakkal Majalla" panose="02000000000000000000" pitchFamily="2" charset="-78"/>
                          <a:ea typeface="Sakkal Majalla" panose="02000000000000000000" pitchFamily="2" charset="-78"/>
                          <a:cs typeface="Sakkal Majalla" panose="02000000000000000000" pitchFamily="2" charset="-78"/>
                        </a:rPr>
                        <a:t>Procedural</a:t>
                      </a: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لا</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501413384"/>
                  </a:ext>
                </a:extLst>
              </a:tr>
              <a:tr h="111793">
                <a:tc>
                  <a:txBody>
                    <a:bodyPr/>
                    <a:lstStyle/>
                    <a:p>
                      <a:pPr marL="0" marR="0" algn="ctr" rtl="1">
                        <a:lnSpc>
                          <a:spcPct val="115000"/>
                        </a:lnSpc>
                        <a:spcBef>
                          <a:spcPts val="0"/>
                        </a:spcBef>
                        <a:spcAft>
                          <a:spcPts val="0"/>
                        </a:spcAft>
                      </a:pPr>
                      <a:r>
                        <a:rPr lang="ar-EG" sz="1800" b="1" dirty="0">
                          <a:effectLst/>
                          <a:latin typeface="Sakkal Majalla" panose="02000000000000000000" pitchFamily="2" charset="-78"/>
                          <a:ea typeface="Sakkal Majalla" panose="02000000000000000000" pitchFamily="2" charset="-78"/>
                          <a:cs typeface="Sakkal Majalla" panose="02000000000000000000" pitchFamily="2" charset="-78"/>
                        </a:rPr>
                        <a:t>تكاملي</a:t>
                      </a:r>
                      <a:endParaRPr lang="en-US" sz="1800" b="1"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a:noFill/>
                    </a:lnB>
                  </a:tcPr>
                </a:tc>
                <a:tc>
                  <a:txBody>
                    <a:bodyPr/>
                    <a:lstStyle/>
                    <a:p>
                      <a:pPr marL="0" marR="0" algn="ctr" rtl="1">
                        <a:lnSpc>
                          <a:spcPct val="115000"/>
                        </a:lnSpc>
                        <a:spcBef>
                          <a:spcPts val="0"/>
                        </a:spcBef>
                        <a:spcAft>
                          <a:spcPts val="0"/>
                        </a:spcAft>
                      </a:pPr>
                      <a:r>
                        <a:rPr lang="en-US" sz="1800" b="1" dirty="0">
                          <a:effectLst/>
                          <a:latin typeface="Sakkal Majalla" panose="02000000000000000000" pitchFamily="2" charset="-78"/>
                          <a:ea typeface="Sakkal Majalla" panose="02000000000000000000" pitchFamily="2" charset="-78"/>
                          <a:cs typeface="Sakkal Majalla" panose="02000000000000000000" pitchFamily="2" charset="-78"/>
                        </a:rPr>
                        <a:t>Integrative</a:t>
                      </a: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a:noFill/>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a:noFill/>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a:noFill/>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a:noFill/>
                    </a:lnB>
                  </a:tcPr>
                </a:tc>
                <a:tc>
                  <a:txBody>
                    <a:bodyPr/>
                    <a:lstStyle/>
                    <a:p>
                      <a:pPr marL="0" marR="0" algn="ctr" rtl="1">
                        <a:lnSpc>
                          <a:spcPct val="115000"/>
                        </a:lnSpc>
                        <a:spcBef>
                          <a:spcPts val="0"/>
                        </a:spcBef>
                        <a:spcAft>
                          <a:spcPts val="0"/>
                        </a:spcAft>
                      </a:pPr>
                      <a:r>
                        <a:rPr lang="ar-EG" sz="1600" dirty="0">
                          <a:effectLst/>
                          <a:latin typeface="Sakkal Majalla" panose="02000000000000000000" pitchFamily="2" charset="-78"/>
                          <a:ea typeface="Sakkal Majalla" panose="02000000000000000000" pitchFamily="2" charset="-78"/>
                          <a:cs typeface="Sakkal Majalla" panose="02000000000000000000" pitchFamily="2" charset="-78"/>
                        </a:rPr>
                        <a:t>نعم</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3829" marR="63829" marT="23866" marB="23866" anchor="ctr">
                    <a:lnL>
                      <a:noFill/>
                    </a:lnL>
                    <a:lnR>
                      <a:noFill/>
                    </a:lnR>
                    <a:lnT w="12700" cap="flat" cmpd="sng" algn="ctr">
                      <a:solidFill>
                        <a:schemeClr val="accent2"/>
                      </a:solidFill>
                      <a:prstDash val="solid"/>
                      <a:round/>
                      <a:headEnd type="none" w="med" len="med"/>
                      <a:tailEnd type="none" w="med" len="med"/>
                    </a:lnT>
                    <a:lnB>
                      <a:noFill/>
                    </a:lnB>
                  </a:tcPr>
                </a:tc>
                <a:extLst>
                  <a:ext uri="{0D108BD9-81ED-4DB2-BD59-A6C34878D82A}">
                    <a16:rowId xmlns:a16="http://schemas.microsoft.com/office/drawing/2014/main" val="372590113"/>
                  </a:ext>
                </a:extLst>
              </a:tr>
            </a:tbl>
          </a:graphicData>
        </a:graphic>
      </p:graphicFrame>
    </p:spTree>
    <p:extLst>
      <p:ext uri="{BB962C8B-B14F-4D97-AF65-F5344CB8AC3E}">
        <p14:creationId xmlns:p14="http://schemas.microsoft.com/office/powerpoint/2010/main" val="1899216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9A3CE-CE4D-F659-5069-02A5013155C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12A5F6-C342-C49E-CEAB-B7A6514229BE}"/>
              </a:ext>
            </a:extLst>
          </p:cNvPr>
          <p:cNvSpPr>
            <a:spLocks noGrp="1"/>
          </p:cNvSpPr>
          <p:nvPr>
            <p:ph type="sldNum" sz="quarter" idx="12"/>
          </p:nvPr>
        </p:nvSpPr>
        <p:spPr/>
        <p:txBody>
          <a:bodyPr/>
          <a:lstStyle/>
          <a:p>
            <a:fld id="{0BE4EC83-A869-464E-AE9F-881796FB085E}" type="slidenum">
              <a:rPr lang="en-US" smtClean="0"/>
              <a:t>14</a:t>
            </a:fld>
            <a:endParaRPr lang="en-US" dirty="0"/>
          </a:p>
        </p:txBody>
      </p:sp>
      <p:sp>
        <p:nvSpPr>
          <p:cNvPr id="7" name="Title 1">
            <a:extLst>
              <a:ext uri="{FF2B5EF4-FFF2-40B4-BE49-F238E27FC236}">
                <a16:creationId xmlns:a16="http://schemas.microsoft.com/office/drawing/2014/main" id="{74EE4C83-EB42-CEF9-5B73-44AB21C0536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أجزاء دليل الخدمات</a:t>
            </a:r>
            <a:endParaRPr lang="en-US" dirty="0"/>
          </a:p>
        </p:txBody>
      </p:sp>
      <p:graphicFrame>
        <p:nvGraphicFramePr>
          <p:cNvPr id="2" name="Table 5">
            <a:extLst>
              <a:ext uri="{FF2B5EF4-FFF2-40B4-BE49-F238E27FC236}">
                <a16:creationId xmlns:a16="http://schemas.microsoft.com/office/drawing/2014/main" id="{EDCAAA5B-BA6B-BDE6-646C-BCE0AF3AFDC4}"/>
              </a:ext>
            </a:extLst>
          </p:cNvPr>
          <p:cNvGraphicFramePr>
            <a:graphicFrameLocks noGrp="1"/>
          </p:cNvGraphicFramePr>
          <p:nvPr>
            <p:extLst>
              <p:ext uri="{D42A27DB-BD31-4B8C-83A1-F6EECF244321}">
                <p14:modId xmlns:p14="http://schemas.microsoft.com/office/powerpoint/2010/main" val="289969240"/>
              </p:ext>
            </p:extLst>
          </p:nvPr>
        </p:nvGraphicFramePr>
        <p:xfrm>
          <a:off x="911225" y="1065364"/>
          <a:ext cx="10369550" cy="5036256"/>
        </p:xfrm>
        <a:graphic>
          <a:graphicData uri="http://schemas.openxmlformats.org/drawingml/2006/table">
            <a:tbl>
              <a:tblPr rtl="1" firstRow="1" bandRow="1">
                <a:tableStyleId>{5C22544A-7EE6-4342-B048-85BDC9FD1C3A}</a:tableStyleId>
              </a:tblPr>
              <a:tblGrid>
                <a:gridCol w="3105840">
                  <a:extLst>
                    <a:ext uri="{9D8B030D-6E8A-4147-A177-3AD203B41FA5}">
                      <a16:colId xmlns:a16="http://schemas.microsoft.com/office/drawing/2014/main" val="4100376994"/>
                    </a:ext>
                  </a:extLst>
                </a:gridCol>
                <a:gridCol w="7263710">
                  <a:extLst>
                    <a:ext uri="{9D8B030D-6E8A-4147-A177-3AD203B41FA5}">
                      <a16:colId xmlns:a16="http://schemas.microsoft.com/office/drawing/2014/main" val="1139260925"/>
                    </a:ext>
                  </a:extLst>
                </a:gridCol>
              </a:tblGrid>
              <a:tr h="322248">
                <a:tc>
                  <a:txBody>
                    <a:bodyPr/>
                    <a:lstStyle/>
                    <a:p>
                      <a:pPr algn="ctr" rtl="1"/>
                      <a:r>
                        <a:rPr lang="ar-SA" dirty="0"/>
                        <a:t>الأجزاء الرئيسية لبناء دليل الخدمات </a:t>
                      </a:r>
                    </a:p>
                  </a:txBody>
                  <a:tcPr/>
                </a:tc>
                <a:tc>
                  <a:txBody>
                    <a:bodyPr/>
                    <a:lstStyle/>
                    <a:p>
                      <a:pPr algn="ctr" rtl="1"/>
                      <a:r>
                        <a:rPr lang="ar-SA" dirty="0"/>
                        <a:t>وصف  للأجزاء الرئيسية </a:t>
                      </a:r>
                    </a:p>
                  </a:txBody>
                  <a:tcPr/>
                </a:tc>
                <a:extLst>
                  <a:ext uri="{0D108BD9-81ED-4DB2-BD59-A6C34878D82A}">
                    <a16:rowId xmlns:a16="http://schemas.microsoft.com/office/drawing/2014/main" val="2504490364"/>
                  </a:ext>
                </a:extLst>
              </a:tr>
              <a:tr h="5838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dirty="0"/>
                        <a:t>كتابة المقدمة</a:t>
                      </a:r>
                    </a:p>
                  </a:txBody>
                  <a:tcPr marL="137160" marR="137160" marT="137160" marB="137160" anchor="ctr"/>
                </a:tc>
                <a:tc>
                  <a:txBody>
                    <a:bodyPr/>
                    <a:lstStyle/>
                    <a:p>
                      <a:pPr algn="r" rtl="1"/>
                      <a:r>
                        <a:rPr lang="ar-SA" dirty="0"/>
                        <a:t>المقدمة نبذة بسيطة عن الهدف من الوثيقة وفائدة الوثيقة </a:t>
                      </a:r>
                      <a:r>
                        <a:rPr lang="ar-EG" dirty="0"/>
                        <a:t>للهيئة</a:t>
                      </a:r>
                      <a:r>
                        <a:rPr lang="ar-SA" dirty="0"/>
                        <a:t> وما النتائج المتوقعة من الوثيقة</a:t>
                      </a:r>
                    </a:p>
                  </a:txBody>
                  <a:tcPr marL="137160" marR="137160" marT="137160" marB="137160" anchor="ctr"/>
                </a:tc>
                <a:extLst>
                  <a:ext uri="{0D108BD9-81ED-4DB2-BD59-A6C34878D82A}">
                    <a16:rowId xmlns:a16="http://schemas.microsoft.com/office/drawing/2014/main" val="499713370"/>
                  </a:ext>
                </a:extLst>
              </a:tr>
              <a:tr h="5838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dirty="0"/>
                        <a:t>وصف عام للخدمات المقدمة </a:t>
                      </a:r>
                    </a:p>
                  </a:txBody>
                  <a:tcPr marL="137160" marR="137160" marT="137160" marB="137160" anchor="ctr"/>
                </a:tc>
                <a:tc>
                  <a:txBody>
                    <a:bodyPr/>
                    <a:lstStyle/>
                    <a:p>
                      <a:pPr algn="r" rtl="1"/>
                      <a:r>
                        <a:rPr lang="ar-SA" dirty="0"/>
                        <a:t>توصيف عن الخدمة وما تقدمة للمستفيد </a:t>
                      </a:r>
                    </a:p>
                  </a:txBody>
                  <a:tcPr marL="137160" marR="137160" marT="137160" marB="137160" anchor="ctr"/>
                </a:tc>
                <a:extLst>
                  <a:ext uri="{0D108BD9-81ED-4DB2-BD59-A6C34878D82A}">
                    <a16:rowId xmlns:a16="http://schemas.microsoft.com/office/drawing/2014/main" val="1688136719"/>
                  </a:ext>
                </a:extLst>
              </a:tr>
              <a:tr h="5838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dirty="0"/>
                        <a:t>الفئات المستهدفة </a:t>
                      </a:r>
                    </a:p>
                  </a:txBody>
                  <a:tcPr marL="137160" marR="137160" marT="137160" marB="137160" anchor="ctr"/>
                </a:tc>
                <a:tc>
                  <a:txBody>
                    <a:bodyPr/>
                    <a:lstStyle/>
                    <a:p>
                      <a:pPr algn="r" rtl="1"/>
                      <a:r>
                        <a:rPr lang="ar-SA" dirty="0"/>
                        <a:t>الأشخاص او الجهات ذات العلاقة بالخدمة </a:t>
                      </a:r>
                    </a:p>
                  </a:txBody>
                  <a:tcPr marL="137160" marR="137160" marT="137160" marB="137160" anchor="ctr"/>
                </a:tc>
                <a:extLst>
                  <a:ext uri="{0D108BD9-81ED-4DB2-BD59-A6C34878D82A}">
                    <a16:rowId xmlns:a16="http://schemas.microsoft.com/office/drawing/2014/main" val="1826125884"/>
                  </a:ext>
                </a:extLst>
              </a:tr>
              <a:tr h="5838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dirty="0"/>
                        <a:t>تفاصيل الخدمة </a:t>
                      </a:r>
                    </a:p>
                  </a:txBody>
                  <a:tcPr marL="137160" marR="137160" marT="137160" marB="137160" anchor="ctr"/>
                </a:tc>
                <a:tc>
                  <a:txBody>
                    <a:bodyPr/>
                    <a:lstStyle/>
                    <a:p>
                      <a:pPr algn="r" rtl="1"/>
                      <a:r>
                        <a:rPr lang="ar-SA" dirty="0"/>
                        <a:t>توصيف الخدمة والية عملها ومن هم المتعاملون معها </a:t>
                      </a:r>
                    </a:p>
                  </a:txBody>
                  <a:tcPr marL="137160" marR="137160" marT="137160" marB="137160" anchor="ctr"/>
                </a:tc>
                <a:extLst>
                  <a:ext uri="{0D108BD9-81ED-4DB2-BD59-A6C34878D82A}">
                    <a16:rowId xmlns:a16="http://schemas.microsoft.com/office/drawing/2014/main" val="1442279659"/>
                  </a:ext>
                </a:extLst>
              </a:tr>
              <a:tr h="5838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dirty="0"/>
                        <a:t>إجراءات التقديم والمتابعة </a:t>
                      </a:r>
                    </a:p>
                  </a:txBody>
                  <a:tcPr marL="137160" marR="137160" marT="137160" marB="137160"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dirty="0">
                          <a:effectLst/>
                          <a:latin typeface="Times New Roman" panose="02020603050405020304" pitchFamily="18" charset="0"/>
                          <a:ea typeface="Times New Roman" panose="02020603050405020304" pitchFamily="18" charset="0"/>
                          <a:cs typeface="Sakkal Majalla" panose="02000000000000000000" pitchFamily="2" charset="-78"/>
                        </a:rPr>
                        <a:t>كيفية التقديم على الخدمة</a:t>
                      </a:r>
                      <a:r>
                        <a:rPr lang="ar-SA" sz="1800" dirty="0">
                          <a:latin typeface="Times New Roman" panose="02020603050405020304" pitchFamily="18" charset="0"/>
                          <a:ea typeface="Calibri" panose="020F0502020204030204" pitchFamily="34" charset="0"/>
                        </a:rPr>
                        <a:t> وماهي </a:t>
                      </a:r>
                      <a:r>
                        <a:rPr lang="ar-SA" sz="1800" dirty="0">
                          <a:effectLst/>
                          <a:latin typeface="Times New Roman" panose="02020603050405020304" pitchFamily="18" charset="0"/>
                          <a:ea typeface="Times New Roman" panose="02020603050405020304" pitchFamily="18" charset="0"/>
                          <a:cs typeface="Sakkal Majalla" panose="02000000000000000000" pitchFamily="2" charset="-78"/>
                        </a:rPr>
                        <a:t>قنوات التقديم وكيفية متابعة حالة الطلب</a:t>
                      </a:r>
                      <a:endParaRPr lang="ar-SA" dirty="0">
                        <a:highlight>
                          <a:srgbClr val="FFFF00"/>
                        </a:highlight>
                      </a:endParaRPr>
                    </a:p>
                  </a:txBody>
                  <a:tcPr marL="137160" marR="137160" marT="137160" marB="137160" anchor="ctr"/>
                </a:tc>
                <a:extLst>
                  <a:ext uri="{0D108BD9-81ED-4DB2-BD59-A6C34878D82A}">
                    <a16:rowId xmlns:a16="http://schemas.microsoft.com/office/drawing/2014/main" val="330922336"/>
                  </a:ext>
                </a:extLst>
              </a:tr>
              <a:tr h="5838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dirty="0"/>
                        <a:t> حقوق ومسؤوليات المستفيد </a:t>
                      </a:r>
                    </a:p>
                  </a:txBody>
                  <a:tcPr marL="137160" marR="137160" marT="137160" marB="137160"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dirty="0">
                          <a:effectLst/>
                          <a:latin typeface="Times New Roman" panose="02020603050405020304" pitchFamily="18" charset="0"/>
                          <a:ea typeface="Times New Roman" panose="02020603050405020304" pitchFamily="18" charset="0"/>
                          <a:cs typeface="Sakkal Majalla" panose="02000000000000000000" pitchFamily="2" charset="-78"/>
                        </a:rPr>
                        <a:t> معرفة حقوق المستفيد</a:t>
                      </a:r>
                      <a:r>
                        <a:rPr lang="ar-SA" sz="1800" dirty="0">
                          <a:latin typeface="Times New Roman" panose="02020603050405020304" pitchFamily="18" charset="0"/>
                          <a:ea typeface="Calibri" panose="020F0502020204030204" pitchFamily="34" charset="0"/>
                        </a:rPr>
                        <a:t> وماهي ال</a:t>
                      </a:r>
                      <a:r>
                        <a:rPr lang="ar-SA" sz="1800" dirty="0">
                          <a:effectLst/>
                          <a:latin typeface="Times New Roman" panose="02020603050405020304" pitchFamily="18" charset="0"/>
                          <a:ea typeface="Times New Roman" panose="02020603050405020304" pitchFamily="18" charset="0"/>
                          <a:cs typeface="Sakkal Majalla" panose="02000000000000000000" pitchFamily="2" charset="-78"/>
                        </a:rPr>
                        <a:t>مسؤوليات المستفيد المترتبة من المستفيد </a:t>
                      </a:r>
                      <a:endParaRPr lang="ar-SA" dirty="0">
                        <a:highlight>
                          <a:srgbClr val="FFFF00"/>
                        </a:highlight>
                      </a:endParaRPr>
                    </a:p>
                  </a:txBody>
                  <a:tcPr marL="137160" marR="137160" marT="137160" marB="137160" anchor="ctr"/>
                </a:tc>
                <a:extLst>
                  <a:ext uri="{0D108BD9-81ED-4DB2-BD59-A6C34878D82A}">
                    <a16:rowId xmlns:a16="http://schemas.microsoft.com/office/drawing/2014/main" val="448533665"/>
                  </a:ext>
                </a:extLst>
              </a:tr>
              <a:tr h="5838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dirty="0"/>
                        <a:t>التحديثات والتعديلات </a:t>
                      </a:r>
                    </a:p>
                  </a:txBody>
                  <a:tcPr marL="137160" marR="137160" marT="137160" marB="137160"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dirty="0">
                          <a:effectLst/>
                          <a:latin typeface="Times New Roman" panose="02020603050405020304" pitchFamily="18" charset="0"/>
                          <a:ea typeface="Times New Roman" panose="02020603050405020304" pitchFamily="18" charset="0"/>
                          <a:cs typeface="Sakkal Majalla" panose="02000000000000000000" pitchFamily="2" charset="-78"/>
                        </a:rPr>
                        <a:t>الية تحديث الوثيقة وتوضيح المسؤولين عن التعديل على الوثيقة</a:t>
                      </a:r>
                      <a:endParaRPr lang="ar-SA" dirty="0"/>
                    </a:p>
                  </a:txBody>
                  <a:tcPr marL="137160" marR="137160" marT="137160" marB="137160" anchor="ctr"/>
                </a:tc>
                <a:extLst>
                  <a:ext uri="{0D108BD9-81ED-4DB2-BD59-A6C34878D82A}">
                    <a16:rowId xmlns:a16="http://schemas.microsoft.com/office/drawing/2014/main" val="2077699548"/>
                  </a:ext>
                </a:extLst>
              </a:tr>
              <a:tr h="5838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dirty="0"/>
                        <a:t>الملاحق</a:t>
                      </a:r>
                    </a:p>
                  </a:txBody>
                  <a:tcPr marL="137160" marR="137160" marT="137160" marB="137160"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dirty="0">
                          <a:effectLst/>
                          <a:latin typeface="Times New Roman" panose="02020603050405020304" pitchFamily="18" charset="0"/>
                          <a:ea typeface="Times New Roman" panose="02020603050405020304" pitchFamily="18" charset="0"/>
                          <a:cs typeface="Sakkal Majalla" panose="02000000000000000000" pitchFamily="2" charset="-78"/>
                        </a:rPr>
                        <a:t>معلومات إضافية ذات صلة مثل نماذج الطلبات</a:t>
                      </a:r>
                      <a:r>
                        <a:rPr lang="ar-SA" sz="1800" dirty="0">
                          <a:latin typeface="Times New Roman" panose="02020603050405020304" pitchFamily="18" charset="0"/>
                          <a:ea typeface="Calibri" panose="020F0502020204030204" pitchFamily="34" charset="0"/>
                        </a:rPr>
                        <a:t> و</a:t>
                      </a:r>
                      <a:r>
                        <a:rPr lang="ar-SA" sz="1800" dirty="0">
                          <a:effectLst/>
                          <a:latin typeface="Times New Roman" panose="02020603050405020304" pitchFamily="18" charset="0"/>
                          <a:ea typeface="Times New Roman" panose="02020603050405020304" pitchFamily="18" charset="0"/>
                          <a:cs typeface="Sakkal Majalla" panose="02000000000000000000" pitchFamily="2" charset="-78"/>
                        </a:rPr>
                        <a:t>قائمة بالمصطلحات والاختصارات</a:t>
                      </a:r>
                      <a:endParaRPr lang="en-US" sz="1800" dirty="0">
                        <a:effectLst/>
                        <a:latin typeface="Times New Roman" panose="02020603050405020304" pitchFamily="18" charset="0"/>
                        <a:ea typeface="Calibri" panose="020F0502020204030204" pitchFamily="34" charset="0"/>
                      </a:endParaRPr>
                    </a:p>
                  </a:txBody>
                  <a:tcPr marL="137160" marR="137160" marT="137160" marB="137160" anchor="ctr"/>
                </a:tc>
                <a:extLst>
                  <a:ext uri="{0D108BD9-81ED-4DB2-BD59-A6C34878D82A}">
                    <a16:rowId xmlns:a16="http://schemas.microsoft.com/office/drawing/2014/main" val="1451634438"/>
                  </a:ext>
                </a:extLst>
              </a:tr>
            </a:tbl>
          </a:graphicData>
        </a:graphic>
      </p:graphicFrame>
    </p:spTree>
    <p:extLst>
      <p:ext uri="{BB962C8B-B14F-4D97-AF65-F5344CB8AC3E}">
        <p14:creationId xmlns:p14="http://schemas.microsoft.com/office/powerpoint/2010/main" val="20698456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54DAC-EBA5-7FCC-FF18-14A04002973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64B668-B957-FC0C-0AFD-418C5CFD26F4}"/>
              </a:ext>
            </a:extLst>
          </p:cNvPr>
          <p:cNvSpPr>
            <a:spLocks noGrp="1"/>
          </p:cNvSpPr>
          <p:nvPr>
            <p:ph type="sldNum" sz="quarter" idx="12"/>
          </p:nvPr>
        </p:nvSpPr>
        <p:spPr/>
        <p:txBody>
          <a:bodyPr/>
          <a:lstStyle/>
          <a:p>
            <a:fld id="{0BE4EC83-A869-464E-AE9F-881796FB085E}" type="slidenum">
              <a:rPr lang="en-US" smtClean="0"/>
              <a:t>15</a:t>
            </a:fld>
            <a:endParaRPr lang="en-US" dirty="0"/>
          </a:p>
        </p:txBody>
      </p:sp>
      <p:sp>
        <p:nvSpPr>
          <p:cNvPr id="7" name="Title 1">
            <a:extLst>
              <a:ext uri="{FF2B5EF4-FFF2-40B4-BE49-F238E27FC236}">
                <a16:creationId xmlns:a16="http://schemas.microsoft.com/office/drawing/2014/main" id="{C896E0DB-AC9F-5493-C3CE-EFAE460E2200}"/>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تفاصيل </a:t>
            </a:r>
            <a:r>
              <a:rPr lang="ar-EG" dirty="0"/>
              <a:t>الخدمات</a:t>
            </a:r>
            <a:endParaRPr lang="en-US" dirty="0"/>
          </a:p>
        </p:txBody>
      </p:sp>
      <p:graphicFrame>
        <p:nvGraphicFramePr>
          <p:cNvPr id="2" name="Table 5">
            <a:extLst>
              <a:ext uri="{FF2B5EF4-FFF2-40B4-BE49-F238E27FC236}">
                <a16:creationId xmlns:a16="http://schemas.microsoft.com/office/drawing/2014/main" id="{C427BE08-DFBF-AAEE-EA4D-31CADF41DB52}"/>
              </a:ext>
            </a:extLst>
          </p:cNvPr>
          <p:cNvGraphicFramePr>
            <a:graphicFrameLocks noGrp="1"/>
          </p:cNvGraphicFramePr>
          <p:nvPr>
            <p:extLst>
              <p:ext uri="{D42A27DB-BD31-4B8C-83A1-F6EECF244321}">
                <p14:modId xmlns:p14="http://schemas.microsoft.com/office/powerpoint/2010/main" val="2075060203"/>
              </p:ext>
            </p:extLst>
          </p:nvPr>
        </p:nvGraphicFramePr>
        <p:xfrm>
          <a:off x="2490581" y="871788"/>
          <a:ext cx="7210838" cy="5486400"/>
        </p:xfrm>
        <a:graphic>
          <a:graphicData uri="http://schemas.openxmlformats.org/drawingml/2006/table">
            <a:tbl>
              <a:tblPr rtl="1" firstRow="1" bandRow="1">
                <a:tableStyleId>{5C22544A-7EE6-4342-B048-85BDC9FD1C3A}</a:tableStyleId>
              </a:tblPr>
              <a:tblGrid>
                <a:gridCol w="2684393">
                  <a:extLst>
                    <a:ext uri="{9D8B030D-6E8A-4147-A177-3AD203B41FA5}">
                      <a16:colId xmlns:a16="http://schemas.microsoft.com/office/drawing/2014/main" val="4100376994"/>
                    </a:ext>
                  </a:extLst>
                </a:gridCol>
                <a:gridCol w="4526445">
                  <a:extLst>
                    <a:ext uri="{9D8B030D-6E8A-4147-A177-3AD203B41FA5}">
                      <a16:colId xmlns:a16="http://schemas.microsoft.com/office/drawing/2014/main" val="1139260925"/>
                    </a:ext>
                  </a:extLst>
                </a:gridCol>
              </a:tblGrid>
              <a:tr h="295449">
                <a:tc>
                  <a:txBody>
                    <a:bodyPr/>
                    <a:lstStyle/>
                    <a:p>
                      <a:pPr algn="ctr" rtl="1"/>
                      <a:r>
                        <a:rPr lang="ar-SA" sz="1800" dirty="0"/>
                        <a:t>الأجزاء الرئيسية لبناء دليل الخدمات </a:t>
                      </a:r>
                    </a:p>
                  </a:txBody>
                  <a:tcPr/>
                </a:tc>
                <a:tc>
                  <a:txBody>
                    <a:bodyPr/>
                    <a:lstStyle/>
                    <a:p>
                      <a:pPr algn="ctr" rtl="1"/>
                      <a:r>
                        <a:rPr lang="ar-SA" sz="1800" dirty="0"/>
                        <a:t>الأجزاء الفرعية </a:t>
                      </a:r>
                    </a:p>
                  </a:txBody>
                  <a:tcPr/>
                </a:tc>
                <a:extLst>
                  <a:ext uri="{0D108BD9-81ED-4DB2-BD59-A6C34878D82A}">
                    <a16:rowId xmlns:a16="http://schemas.microsoft.com/office/drawing/2014/main" val="2504490364"/>
                  </a:ext>
                </a:extLst>
              </a:tr>
              <a:tr h="344690">
                <a:tc rowSpan="1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2400" b="1" dirty="0"/>
                        <a:t>تفاصيل الخدمات</a:t>
                      </a:r>
                    </a:p>
                  </a:txBody>
                  <a:tcPr marL="137160" marR="137160" marT="137160" marB="137160" anchor="ctr"/>
                </a:tc>
                <a:tc>
                  <a:txBody>
                    <a:bodyPr/>
                    <a:lstStyle/>
                    <a:p>
                      <a:pPr algn="ctr" rtl="1"/>
                      <a:r>
                        <a:rPr lang="ar-SA" sz="1600" b="1" dirty="0"/>
                        <a:t>اسم الخدمة</a:t>
                      </a:r>
                    </a:p>
                  </a:txBody>
                  <a:tcPr marL="137160" marR="137160" marT="91440" marB="91440" anchor="ctr"/>
                </a:tc>
                <a:extLst>
                  <a:ext uri="{0D108BD9-81ED-4DB2-BD59-A6C34878D82A}">
                    <a16:rowId xmlns:a16="http://schemas.microsoft.com/office/drawing/2014/main" val="499713370"/>
                  </a:ext>
                </a:extLst>
              </a:tr>
              <a:tr h="344690">
                <a:tc vMerge="1">
                  <a:txBody>
                    <a:bodyPr/>
                    <a:lstStyle/>
                    <a:p>
                      <a:pPr algn="r" rtl="1"/>
                      <a:endParaRPr lang="ar-SA" sz="1100" dirty="0"/>
                    </a:p>
                  </a:txBody>
                  <a:tcPr/>
                </a:tc>
                <a:tc>
                  <a:txBody>
                    <a:bodyPr/>
                    <a:lstStyle/>
                    <a:p>
                      <a:pPr algn="ctr" rtl="1"/>
                      <a:r>
                        <a:rPr lang="ar-SA" sz="1600" b="1" dirty="0"/>
                        <a:t>وصف الخدمة</a:t>
                      </a:r>
                    </a:p>
                  </a:txBody>
                  <a:tcPr marL="137160" marR="137160" marT="91440" marB="91440" anchor="ctr"/>
                </a:tc>
                <a:extLst>
                  <a:ext uri="{0D108BD9-81ED-4DB2-BD59-A6C34878D82A}">
                    <a16:rowId xmlns:a16="http://schemas.microsoft.com/office/drawing/2014/main" val="1205090898"/>
                  </a:ext>
                </a:extLst>
              </a:tr>
              <a:tr h="344690">
                <a:tc vMerge="1">
                  <a:txBody>
                    <a:bodyPr/>
                    <a:lstStyle/>
                    <a:p>
                      <a:endParaRPr lang="en-US"/>
                    </a:p>
                  </a:txBody>
                  <a:tcPr/>
                </a:tc>
                <a:tc>
                  <a:txBody>
                    <a:bodyPr/>
                    <a:lstStyle/>
                    <a:p>
                      <a:pPr algn="ctr" rtl="1"/>
                      <a:r>
                        <a:rPr lang="ar-SA" sz="1600" b="1" dirty="0"/>
                        <a:t>مدخلات الخدمة </a:t>
                      </a:r>
                    </a:p>
                  </a:txBody>
                  <a:tcPr marL="137160" marR="137160" marT="91440" marB="91440" anchor="ctr"/>
                </a:tc>
                <a:extLst>
                  <a:ext uri="{0D108BD9-81ED-4DB2-BD59-A6C34878D82A}">
                    <a16:rowId xmlns:a16="http://schemas.microsoft.com/office/drawing/2014/main" val="2925664857"/>
                  </a:ext>
                </a:extLst>
              </a:tr>
              <a:tr h="344690">
                <a:tc vMerge="1">
                  <a:txBody>
                    <a:bodyPr/>
                    <a:lstStyle/>
                    <a:p>
                      <a:pPr algn="r" rtl="1"/>
                      <a:endParaRPr lang="ar-SA" sz="1100" dirty="0"/>
                    </a:p>
                  </a:txBody>
                  <a:tcPr/>
                </a:tc>
                <a:tc>
                  <a:txBody>
                    <a:bodyPr/>
                    <a:lstStyle/>
                    <a:p>
                      <a:pPr algn="ctr" rtl="1"/>
                      <a:r>
                        <a:rPr lang="ar-SA" sz="1600" b="1" dirty="0"/>
                        <a:t>متطلبات / شروط الخدمة</a:t>
                      </a:r>
                    </a:p>
                  </a:txBody>
                  <a:tcPr marL="137160" marR="137160" marT="91440" marB="91440" anchor="ctr"/>
                </a:tc>
                <a:extLst>
                  <a:ext uri="{0D108BD9-81ED-4DB2-BD59-A6C34878D82A}">
                    <a16:rowId xmlns:a16="http://schemas.microsoft.com/office/drawing/2014/main" val="2889206168"/>
                  </a:ext>
                </a:extLst>
              </a:tr>
              <a:tr h="344690">
                <a:tc vMerge="1">
                  <a:txBody>
                    <a:bodyPr/>
                    <a:lstStyle/>
                    <a:p>
                      <a:pPr algn="r" rtl="1"/>
                      <a:endParaRPr lang="ar-SA" sz="1100" dirty="0"/>
                    </a:p>
                  </a:txBody>
                  <a:tcPr/>
                </a:tc>
                <a:tc>
                  <a:txBody>
                    <a:bodyPr/>
                    <a:lstStyle/>
                    <a:p>
                      <a:pPr algn="ctr" rtl="1"/>
                      <a:r>
                        <a:rPr lang="ar-EG" sz="1600" b="1"/>
                        <a:t>ال</a:t>
                      </a:r>
                      <a:r>
                        <a:rPr lang="ar-SA" sz="1600" b="1"/>
                        <a:t>خطوات </a:t>
                      </a:r>
                      <a:r>
                        <a:rPr lang="ar-SA" sz="1600" b="1" dirty="0"/>
                        <a:t>الرئيسية للحصول على الخدمة</a:t>
                      </a:r>
                    </a:p>
                  </a:txBody>
                  <a:tcPr marL="137160" marR="137160" marT="91440" marB="91440" anchor="ctr"/>
                </a:tc>
                <a:extLst>
                  <a:ext uri="{0D108BD9-81ED-4DB2-BD59-A6C34878D82A}">
                    <a16:rowId xmlns:a16="http://schemas.microsoft.com/office/drawing/2014/main" val="2394445919"/>
                  </a:ext>
                </a:extLst>
              </a:tr>
              <a:tr h="344690">
                <a:tc vMerge="1">
                  <a:txBody>
                    <a:bodyPr/>
                    <a:lstStyle/>
                    <a:p>
                      <a:pPr algn="r" rtl="1"/>
                      <a:endParaRPr lang="ar-SA" sz="1100" dirty="0"/>
                    </a:p>
                  </a:txBody>
                  <a:tcPr/>
                </a:tc>
                <a:tc>
                  <a:txBody>
                    <a:bodyPr/>
                    <a:lstStyle/>
                    <a:p>
                      <a:pPr algn="ctr" rtl="1"/>
                      <a:r>
                        <a:rPr lang="ar-SA" sz="1600" b="1" dirty="0"/>
                        <a:t>المقابل المالي للخدمة (رسوم الخدمة)</a:t>
                      </a:r>
                      <a:endParaRPr lang="ar-SA" sz="1600" b="1" dirty="0">
                        <a:solidFill>
                          <a:srgbClr val="FF0000"/>
                        </a:solidFill>
                      </a:endParaRPr>
                    </a:p>
                  </a:txBody>
                  <a:tcPr marL="137160" marR="137160" marT="91440" marB="91440" anchor="ctr"/>
                </a:tc>
                <a:extLst>
                  <a:ext uri="{0D108BD9-81ED-4DB2-BD59-A6C34878D82A}">
                    <a16:rowId xmlns:a16="http://schemas.microsoft.com/office/drawing/2014/main" val="1809959141"/>
                  </a:ext>
                </a:extLst>
              </a:tr>
              <a:tr h="344690">
                <a:tc vMerge="1">
                  <a:txBody>
                    <a:bodyPr/>
                    <a:lstStyle/>
                    <a:p>
                      <a:pPr algn="r" rtl="1"/>
                      <a:endParaRPr lang="ar-SA" sz="1100" dirty="0"/>
                    </a:p>
                  </a:txBody>
                  <a:tcPr/>
                </a:tc>
                <a:tc>
                  <a:txBody>
                    <a:bodyPr/>
                    <a:lstStyle/>
                    <a:p>
                      <a:pPr algn="ctr" rtl="1"/>
                      <a:r>
                        <a:rPr lang="ar-SA" sz="1600" b="1" dirty="0"/>
                        <a:t>قنوات التقديم على الخدمة</a:t>
                      </a:r>
                      <a:endParaRPr lang="ar-SA" sz="1600" b="1" dirty="0">
                        <a:solidFill>
                          <a:srgbClr val="FF0000"/>
                        </a:solidFill>
                      </a:endParaRPr>
                    </a:p>
                  </a:txBody>
                  <a:tcPr marL="137160" marR="137160" marT="91440" marB="91440" anchor="ctr"/>
                </a:tc>
                <a:extLst>
                  <a:ext uri="{0D108BD9-81ED-4DB2-BD59-A6C34878D82A}">
                    <a16:rowId xmlns:a16="http://schemas.microsoft.com/office/drawing/2014/main" val="785779098"/>
                  </a:ext>
                </a:extLst>
              </a:tr>
              <a:tr h="344690">
                <a:tc vMerge="1">
                  <a:txBody>
                    <a:bodyPr/>
                    <a:lstStyle/>
                    <a:p>
                      <a:pPr algn="r" rtl="1"/>
                      <a:endParaRPr lang="ar-SA" sz="1100" dirty="0"/>
                    </a:p>
                  </a:txBody>
                  <a:tcPr/>
                </a:tc>
                <a:tc>
                  <a:txBody>
                    <a:bodyPr/>
                    <a:lstStyle/>
                    <a:p>
                      <a:pPr algn="ctr" rtl="1"/>
                      <a:r>
                        <a:rPr lang="ar-SA" sz="1600" b="1" dirty="0">
                          <a:solidFill>
                            <a:schemeClr val="tx1"/>
                          </a:solidFill>
                        </a:rPr>
                        <a:t>التطبيقات الداعمة للخدمة</a:t>
                      </a:r>
                    </a:p>
                  </a:txBody>
                  <a:tcPr marL="137160" marR="137160" marT="91440" marB="91440" anchor="ctr"/>
                </a:tc>
                <a:extLst>
                  <a:ext uri="{0D108BD9-81ED-4DB2-BD59-A6C34878D82A}">
                    <a16:rowId xmlns:a16="http://schemas.microsoft.com/office/drawing/2014/main" val="2010566118"/>
                  </a:ext>
                </a:extLst>
              </a:tr>
              <a:tr h="344690">
                <a:tc vMerge="1">
                  <a:txBody>
                    <a:bodyPr/>
                    <a:lstStyle/>
                    <a:p>
                      <a:pPr algn="r" rtl="1"/>
                      <a:endParaRPr lang="ar-SA" sz="1100" dirty="0"/>
                    </a:p>
                  </a:txBody>
                  <a:tcPr/>
                </a:tc>
                <a:tc>
                  <a:txBody>
                    <a:bodyPr/>
                    <a:lstStyle/>
                    <a:p>
                      <a:pPr algn="ctr" rtl="1"/>
                      <a:r>
                        <a:rPr lang="ar-SA" sz="1600" b="1" dirty="0"/>
                        <a:t>المدة الزمنية لتنفيذ الخدمة</a:t>
                      </a:r>
                      <a:endParaRPr lang="ar-SA" sz="1600" b="1" dirty="0">
                        <a:solidFill>
                          <a:srgbClr val="FF0000"/>
                        </a:solidFill>
                      </a:endParaRPr>
                    </a:p>
                  </a:txBody>
                  <a:tcPr marL="137160" marR="137160" marT="91440" marB="91440" anchor="ctr"/>
                </a:tc>
                <a:extLst>
                  <a:ext uri="{0D108BD9-81ED-4DB2-BD59-A6C34878D82A}">
                    <a16:rowId xmlns:a16="http://schemas.microsoft.com/office/drawing/2014/main" val="2571922220"/>
                  </a:ext>
                </a:extLst>
              </a:tr>
              <a:tr h="344690">
                <a:tc vMerge="1">
                  <a:txBody>
                    <a:bodyPr/>
                    <a:lstStyle/>
                    <a:p>
                      <a:pPr algn="r" rtl="1"/>
                      <a:endParaRPr lang="ar-SA" sz="1100" dirty="0"/>
                    </a:p>
                  </a:txBody>
                  <a:tcPr/>
                </a:tc>
                <a:tc>
                  <a:txBody>
                    <a:bodyPr/>
                    <a:lstStyle/>
                    <a:p>
                      <a:pPr marL="0" algn="ctr" defTabSz="914400" rtl="1" eaLnBrk="1" latinLnBrk="0" hangingPunct="1"/>
                      <a:r>
                        <a:rPr lang="ar-SA" sz="1600" b="1" kern="1200" dirty="0">
                          <a:solidFill>
                            <a:schemeClr val="dk1"/>
                          </a:solidFill>
                          <a:latin typeface="+mn-lt"/>
                          <a:ea typeface="+mn-ea"/>
                          <a:cs typeface="+mn-cs"/>
                        </a:rPr>
                        <a:t>رابط الخدمة</a:t>
                      </a:r>
                    </a:p>
                  </a:txBody>
                  <a:tcPr marL="137160" marR="137160" marT="91440" marB="91440" anchor="ctr"/>
                </a:tc>
                <a:extLst>
                  <a:ext uri="{0D108BD9-81ED-4DB2-BD59-A6C34878D82A}">
                    <a16:rowId xmlns:a16="http://schemas.microsoft.com/office/drawing/2014/main" val="2779922723"/>
                  </a:ext>
                </a:extLst>
              </a:tr>
              <a:tr h="344690">
                <a:tc vMerge="1">
                  <a:txBody>
                    <a:bodyPr/>
                    <a:lstStyle/>
                    <a:p>
                      <a:endParaRPr lang="en-US"/>
                    </a:p>
                  </a:txBody>
                  <a:tcPr/>
                </a:tc>
                <a:tc>
                  <a:txBody>
                    <a:bodyPr/>
                    <a:lstStyle/>
                    <a:p>
                      <a:pPr marL="0" algn="ctr" defTabSz="914400" rtl="1" eaLnBrk="1" latinLnBrk="0" hangingPunct="1"/>
                      <a:r>
                        <a:rPr lang="ar-SA" sz="1600" b="1" kern="1200" dirty="0">
                          <a:solidFill>
                            <a:schemeClr val="dk1"/>
                          </a:solidFill>
                          <a:latin typeface="+mn-lt"/>
                          <a:ea typeface="+mn-ea"/>
                          <a:cs typeface="+mn-cs"/>
                        </a:rPr>
                        <a:t>مزود الخدمة</a:t>
                      </a:r>
                    </a:p>
                  </a:txBody>
                  <a:tcPr marL="137160" marR="137160" marT="91440" marB="91440" anchor="ctr"/>
                </a:tc>
                <a:extLst>
                  <a:ext uri="{0D108BD9-81ED-4DB2-BD59-A6C34878D82A}">
                    <a16:rowId xmlns:a16="http://schemas.microsoft.com/office/drawing/2014/main" val="3308192293"/>
                  </a:ext>
                </a:extLst>
              </a:tr>
              <a:tr h="344690">
                <a:tc vMerge="1">
                  <a:txBody>
                    <a:bodyPr/>
                    <a:lstStyle/>
                    <a:p>
                      <a:pPr algn="r" rtl="1"/>
                      <a:endParaRPr lang="ar-SA" sz="1100" dirty="0"/>
                    </a:p>
                  </a:txBody>
                  <a:tcPr/>
                </a:tc>
                <a:tc>
                  <a:txBody>
                    <a:bodyPr/>
                    <a:lstStyle/>
                    <a:p>
                      <a:pPr algn="ctr" rtl="1"/>
                      <a:r>
                        <a:rPr lang="ar-SA" sz="1600" b="1" dirty="0"/>
                        <a:t>المستفيدون</a:t>
                      </a:r>
                    </a:p>
                  </a:txBody>
                  <a:tcPr marL="137160" marR="137160" marT="91440" marB="91440" anchor="ctr"/>
                </a:tc>
                <a:extLst>
                  <a:ext uri="{0D108BD9-81ED-4DB2-BD59-A6C34878D82A}">
                    <a16:rowId xmlns:a16="http://schemas.microsoft.com/office/drawing/2014/main" val="2068661513"/>
                  </a:ext>
                </a:extLst>
              </a:tr>
            </a:tbl>
          </a:graphicData>
        </a:graphic>
      </p:graphicFrame>
    </p:spTree>
    <p:extLst>
      <p:ext uri="{BB962C8B-B14F-4D97-AF65-F5344CB8AC3E}">
        <p14:creationId xmlns:p14="http://schemas.microsoft.com/office/powerpoint/2010/main" val="68729912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6B3F0-957D-42A0-5DE2-16D1614916C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396B3C-3FE8-9893-FEA9-AC0E77378575}"/>
              </a:ext>
            </a:extLst>
          </p:cNvPr>
          <p:cNvSpPr>
            <a:spLocks noGrp="1"/>
          </p:cNvSpPr>
          <p:nvPr>
            <p:ph type="sldNum" sz="quarter" idx="12"/>
          </p:nvPr>
        </p:nvSpPr>
        <p:spPr/>
        <p:txBody>
          <a:bodyPr/>
          <a:lstStyle/>
          <a:p>
            <a:fld id="{0BE4EC83-A869-464E-AE9F-881796FB085E}" type="slidenum">
              <a:rPr lang="en-US" smtClean="0"/>
              <a:t>16</a:t>
            </a:fld>
            <a:endParaRPr lang="en-US" dirty="0"/>
          </a:p>
        </p:txBody>
      </p:sp>
      <p:sp>
        <p:nvSpPr>
          <p:cNvPr id="7" name="Title 1">
            <a:extLst>
              <a:ext uri="{FF2B5EF4-FFF2-40B4-BE49-F238E27FC236}">
                <a16:creationId xmlns:a16="http://schemas.microsoft.com/office/drawing/2014/main" id="{7E8AADDE-1579-196A-711C-36635EDCF6C7}"/>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منهجية تصميم الخدمات الرقمية</a:t>
            </a:r>
            <a:endParaRPr lang="en-US" dirty="0"/>
          </a:p>
        </p:txBody>
      </p:sp>
      <p:graphicFrame>
        <p:nvGraphicFramePr>
          <p:cNvPr id="2" name="Table 5">
            <a:extLst>
              <a:ext uri="{FF2B5EF4-FFF2-40B4-BE49-F238E27FC236}">
                <a16:creationId xmlns:a16="http://schemas.microsoft.com/office/drawing/2014/main" id="{441F7892-7758-743C-9F99-0E17560D2080}"/>
              </a:ext>
            </a:extLst>
          </p:cNvPr>
          <p:cNvGraphicFramePr>
            <a:graphicFrameLocks noGrp="1"/>
          </p:cNvGraphicFramePr>
          <p:nvPr>
            <p:extLst>
              <p:ext uri="{D42A27DB-BD31-4B8C-83A1-F6EECF244321}">
                <p14:modId xmlns:p14="http://schemas.microsoft.com/office/powerpoint/2010/main" val="293216678"/>
              </p:ext>
            </p:extLst>
          </p:nvPr>
        </p:nvGraphicFramePr>
        <p:xfrm>
          <a:off x="1227666" y="935288"/>
          <a:ext cx="9736668" cy="5178777"/>
        </p:xfrm>
        <a:graphic>
          <a:graphicData uri="http://schemas.openxmlformats.org/drawingml/2006/table">
            <a:tbl>
              <a:tblPr rtl="1" firstRow="1" bandRow="1">
                <a:tableStyleId>{5C22544A-7EE6-4342-B048-85BDC9FD1C3A}</a:tableStyleId>
              </a:tblPr>
              <a:tblGrid>
                <a:gridCol w="2216575">
                  <a:extLst>
                    <a:ext uri="{9D8B030D-6E8A-4147-A177-3AD203B41FA5}">
                      <a16:colId xmlns:a16="http://schemas.microsoft.com/office/drawing/2014/main" val="4100376994"/>
                    </a:ext>
                  </a:extLst>
                </a:gridCol>
                <a:gridCol w="7520093">
                  <a:extLst>
                    <a:ext uri="{9D8B030D-6E8A-4147-A177-3AD203B41FA5}">
                      <a16:colId xmlns:a16="http://schemas.microsoft.com/office/drawing/2014/main" val="1139260925"/>
                    </a:ext>
                  </a:extLst>
                </a:gridCol>
              </a:tblGrid>
              <a:tr h="423897">
                <a:tc>
                  <a:txBody>
                    <a:bodyPr/>
                    <a:lstStyle/>
                    <a:p>
                      <a:pPr algn="ctr" rtl="1"/>
                      <a:r>
                        <a:rPr lang="ar-EG" dirty="0"/>
                        <a:t>العنصر</a:t>
                      </a:r>
                      <a:endParaRPr lang="ar-SA" dirty="0"/>
                    </a:p>
                  </a:txBody>
                  <a:tcPr/>
                </a:tc>
                <a:tc>
                  <a:txBody>
                    <a:bodyPr/>
                    <a:lstStyle/>
                    <a:p>
                      <a:pPr algn="ctr" rtl="1"/>
                      <a:r>
                        <a:rPr lang="ar-EG" dirty="0"/>
                        <a:t>الوصف</a:t>
                      </a:r>
                      <a:endParaRPr lang="ar-SA" dirty="0"/>
                    </a:p>
                  </a:txBody>
                  <a:tcPr/>
                </a:tc>
                <a:extLst>
                  <a:ext uri="{0D108BD9-81ED-4DB2-BD59-A6C34878D82A}">
                    <a16:rowId xmlns:a16="http://schemas.microsoft.com/office/drawing/2014/main" val="2504490364"/>
                  </a:ext>
                </a:extLst>
              </a:tr>
              <a:tr h="56519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1" dirty="0">
                          <a:latin typeface="+mj-lt"/>
                        </a:rPr>
                        <a:t>الهدف الأساسي</a:t>
                      </a:r>
                    </a:p>
                  </a:txBody>
                  <a:tcPr marL="137160" marR="137160" marT="137160" marB="137160" anchor="ctr"/>
                </a:tc>
                <a:tc>
                  <a:txBody>
                    <a:bodyPr/>
                    <a:lstStyle/>
                    <a:p>
                      <a:pPr marL="285750" indent="-285750" algn="r" rtl="1">
                        <a:buFont typeface="Arial" panose="020B0604020202020204" pitchFamily="34" charset="0"/>
                        <a:buChar char="•"/>
                      </a:pPr>
                      <a:r>
                        <a:rPr lang="ar-SA" sz="1600" dirty="0">
                          <a:latin typeface="+mj-lt"/>
                        </a:rPr>
                        <a:t>تمكين المستفيدين من استخدام الخدمات </a:t>
                      </a:r>
                      <a:r>
                        <a:rPr lang="ar-EG" sz="1600" dirty="0">
                          <a:latin typeface="+mj-lt"/>
                        </a:rPr>
                        <a:t>رقميا</a:t>
                      </a:r>
                      <a:r>
                        <a:rPr lang="ar-SA" sz="1600" dirty="0">
                          <a:latin typeface="+mj-lt"/>
                        </a:rPr>
                        <a:t>، بحيث تغطي جميع أو معظم مراحل دورة تنفيذ الخدمة.</a:t>
                      </a:r>
                      <a:endParaRPr lang="ar-EG" sz="1600" dirty="0">
                        <a:latin typeface="+mj-lt"/>
                      </a:endParaRPr>
                    </a:p>
                    <a:p>
                      <a:pPr marL="285750" indent="-285750" algn="r" rtl="1">
                        <a:buFont typeface="Arial" panose="020B0604020202020204" pitchFamily="34" charset="0"/>
                        <a:buChar char="•"/>
                      </a:pPr>
                      <a:r>
                        <a:rPr lang="ar-SA" sz="1600" dirty="0">
                          <a:latin typeface="+mj-lt"/>
                        </a:rPr>
                        <a:t> يبدأ ذلك من لحظة تقديم المستفيد لطلبه وحتى حصوله على النتيجة أو المخرج النهائي.</a:t>
                      </a:r>
                    </a:p>
                  </a:txBody>
                  <a:tcPr marL="137160" marR="137160" marT="137160" marB="137160" anchor="ctr"/>
                </a:tc>
                <a:extLst>
                  <a:ext uri="{0D108BD9-81ED-4DB2-BD59-A6C34878D82A}">
                    <a16:rowId xmlns:a16="http://schemas.microsoft.com/office/drawing/2014/main" val="499713370"/>
                  </a:ext>
                </a:extLst>
              </a:tr>
              <a:tr h="169559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1" dirty="0">
                          <a:latin typeface="+mj-lt"/>
                        </a:rPr>
                        <a:t>التحديات</a:t>
                      </a:r>
                    </a:p>
                  </a:txBody>
                  <a:tcPr marL="137160" marR="137160" marT="137160" marB="137160" anchor="ctr"/>
                </a:tc>
                <a:tc>
                  <a:txBody>
                    <a:bodyPr/>
                    <a:lstStyle/>
                    <a:p>
                      <a:pPr marL="285750" indent="-285750" algn="r" rtl="1">
                        <a:buFont typeface="Arial" panose="020B0604020202020204" pitchFamily="34" charset="0"/>
                        <a:buChar char="•"/>
                      </a:pPr>
                      <a:r>
                        <a:rPr lang="ar-SA" sz="1600" b="1" dirty="0">
                          <a:latin typeface="+mj-lt"/>
                        </a:rPr>
                        <a:t>تداخل إجراءات الخدمات الحكومية</a:t>
                      </a:r>
                      <a:r>
                        <a:rPr lang="ar-SA" sz="1600" dirty="0">
                          <a:latin typeface="+mj-lt"/>
                        </a:rPr>
                        <a:t>:</a:t>
                      </a:r>
                      <a:endParaRPr lang="ar-EG" sz="1600" dirty="0">
                        <a:latin typeface="+mj-lt"/>
                      </a:endParaRPr>
                    </a:p>
                    <a:p>
                      <a:pPr marL="742950" lvl="1" indent="-285750" algn="r" rtl="1">
                        <a:buFont typeface="Arial" panose="020B0604020202020204" pitchFamily="34" charset="0"/>
                        <a:buChar char="•"/>
                      </a:pPr>
                      <a:r>
                        <a:rPr lang="ar-SA" sz="1600" dirty="0">
                          <a:latin typeface="+mj-lt"/>
                        </a:rPr>
                        <a:t>تتداخل الإجراءات بين الجهات الحكومية المختلفة.</a:t>
                      </a:r>
                      <a:endParaRPr lang="ar-EG" sz="1600" dirty="0">
                        <a:latin typeface="+mj-lt"/>
                      </a:endParaRPr>
                    </a:p>
                    <a:p>
                      <a:pPr marL="742950" lvl="1" indent="-285750" algn="r" rtl="1">
                        <a:buFont typeface="Arial" panose="020B0604020202020204" pitchFamily="34" charset="0"/>
                        <a:buChar char="•"/>
                      </a:pPr>
                      <a:r>
                        <a:rPr lang="ar-SA" sz="1600" dirty="0">
                          <a:latin typeface="+mj-lt"/>
                        </a:rPr>
                        <a:t>يتطلب الوصول إلى دورة عمل حكومية متكاملة الربط مع التطبيقات الآلية للجهات الأخرى.</a:t>
                      </a:r>
                      <a:endParaRPr lang="ar-EG" sz="1600" dirty="0">
                        <a:latin typeface="+mj-lt"/>
                      </a:endParaRPr>
                    </a:p>
                    <a:p>
                      <a:pPr marL="285750" lvl="0" indent="-285750" algn="r" rtl="1">
                        <a:buFont typeface="Arial" panose="020B0604020202020204" pitchFamily="34" charset="0"/>
                        <a:buChar char="•"/>
                      </a:pPr>
                      <a:r>
                        <a:rPr lang="ar-SA" sz="1600" b="1" dirty="0">
                          <a:latin typeface="+mj-lt"/>
                        </a:rPr>
                        <a:t>متطلبات الربط والتكامل</a:t>
                      </a:r>
                      <a:r>
                        <a:rPr lang="ar-SA" sz="1600" dirty="0">
                          <a:latin typeface="+mj-lt"/>
                        </a:rPr>
                        <a:t>:</a:t>
                      </a:r>
                      <a:endParaRPr lang="ar-EG" sz="1600" dirty="0">
                        <a:latin typeface="+mj-lt"/>
                      </a:endParaRPr>
                    </a:p>
                    <a:p>
                      <a:pPr marL="742950" lvl="1" indent="-285750" algn="r" rtl="1">
                        <a:buFont typeface="Arial" panose="020B0604020202020204" pitchFamily="34" charset="0"/>
                        <a:buChar char="•"/>
                      </a:pPr>
                      <a:r>
                        <a:rPr lang="ar-SA" sz="1600" dirty="0">
                          <a:latin typeface="+mj-lt"/>
                        </a:rPr>
                        <a:t>الربط عبر قناة التكامل الحكومية أو الربط المباشر مع الجهات الأخرى.-</a:t>
                      </a:r>
                      <a:endParaRPr lang="ar-EG" sz="1600" dirty="0">
                        <a:latin typeface="+mj-lt"/>
                      </a:endParaRPr>
                    </a:p>
                    <a:p>
                      <a:pPr marL="742950" lvl="1" indent="-285750" algn="r" rtl="1">
                        <a:buFont typeface="Arial" panose="020B0604020202020204" pitchFamily="34" charset="0"/>
                        <a:buChar char="•"/>
                      </a:pPr>
                      <a:r>
                        <a:rPr lang="ar-SA" sz="1600" dirty="0">
                          <a:latin typeface="+mj-lt"/>
                        </a:rPr>
                        <a:t>قد يكون الربط: متوفر كليا</a:t>
                      </a:r>
                      <a:r>
                        <a:rPr lang="ar-EG" sz="1600" dirty="0">
                          <a:latin typeface="+mj-lt"/>
                        </a:rPr>
                        <a:t>،</a:t>
                      </a:r>
                      <a:r>
                        <a:rPr lang="ar-SA" sz="1600" dirty="0">
                          <a:latin typeface="+mj-lt"/>
                        </a:rPr>
                        <a:t> متوفر جزئيا</a:t>
                      </a:r>
                      <a:r>
                        <a:rPr lang="ar-EG" sz="1600" dirty="0">
                          <a:latin typeface="+mj-lt"/>
                        </a:rPr>
                        <a:t>،</a:t>
                      </a:r>
                      <a:r>
                        <a:rPr lang="ar-SA" sz="1600" dirty="0">
                          <a:latin typeface="+mj-lt"/>
                        </a:rPr>
                        <a:t> غير متوفر حاليا ولا يمكن إنجازه دفعة واحدة.</a:t>
                      </a:r>
                    </a:p>
                  </a:txBody>
                  <a:tcPr marL="137160" marR="137160" marT="137160" marB="137160" anchor="ctr"/>
                </a:tc>
                <a:extLst>
                  <a:ext uri="{0D108BD9-81ED-4DB2-BD59-A6C34878D82A}">
                    <a16:rowId xmlns:a16="http://schemas.microsoft.com/office/drawing/2014/main" val="1688136719"/>
                  </a:ext>
                </a:extLst>
              </a:tr>
              <a:tr h="56519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1" dirty="0">
                          <a:latin typeface="+mj-lt"/>
                        </a:rPr>
                        <a:t>الحل النموذجي</a:t>
                      </a:r>
                    </a:p>
                  </a:txBody>
                  <a:tcPr marL="137160" marR="137160" marT="137160" marB="137160" anchor="ctr"/>
                </a:tc>
                <a:tc>
                  <a:txBody>
                    <a:bodyPr/>
                    <a:lstStyle/>
                    <a:p>
                      <a:pPr marL="285750" indent="-285750" algn="r" rtl="1">
                        <a:buFont typeface="Arial" panose="020B0604020202020204" pitchFamily="34" charset="0"/>
                        <a:buChar char="•"/>
                      </a:pPr>
                      <a:r>
                        <a:rPr lang="ar-SA" sz="1600" dirty="0">
                          <a:latin typeface="+mj-lt"/>
                        </a:rPr>
                        <a:t>تقديم حل نموذجي للخدمات الرقمية يمثل الحل الأمثل لتحقيق دورة عمل إلكترونية متكاملة بين الجهات الحكومية.</a:t>
                      </a:r>
                      <a:endParaRPr lang="en-US" sz="1600" dirty="0">
                        <a:latin typeface="+mj-lt"/>
                      </a:endParaRPr>
                    </a:p>
                    <a:p>
                      <a:pPr marL="285750" indent="-285750" algn="r" rtl="1">
                        <a:buFont typeface="Arial" panose="020B0604020202020204" pitchFamily="34" charset="0"/>
                        <a:buChar char="•"/>
                      </a:pPr>
                      <a:r>
                        <a:rPr lang="ar-SA" sz="1600" dirty="0">
                          <a:latin typeface="+mj-lt"/>
                        </a:rPr>
                        <a:t>يهدف إلى تسهيل التكامل والتعاون بين الجهات لتحقيق خدمة متكاملة للمستفيد.</a:t>
                      </a:r>
                    </a:p>
                  </a:txBody>
                  <a:tcPr marL="137160" marR="137160" marT="137160" marB="137160" anchor="ctr"/>
                </a:tc>
                <a:extLst>
                  <a:ext uri="{0D108BD9-81ED-4DB2-BD59-A6C34878D82A}">
                    <a16:rowId xmlns:a16="http://schemas.microsoft.com/office/drawing/2014/main" val="1826125884"/>
                  </a:ext>
                </a:extLst>
              </a:tr>
              <a:tr h="141299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1" dirty="0">
                          <a:latin typeface="+mj-lt"/>
                        </a:rPr>
                        <a:t>آليات العمل المؤقتة</a:t>
                      </a:r>
                    </a:p>
                  </a:txBody>
                  <a:tcPr marL="137160" marR="137160" marT="137160" marB="137160" anchor="ctr"/>
                </a:tc>
                <a:tc>
                  <a:txBody>
                    <a:bodyPr/>
                    <a:lstStyle/>
                    <a:p>
                      <a:pPr marL="285750" indent="-285750" algn="r" rtl="1">
                        <a:buFont typeface="Arial" panose="020B0604020202020204" pitchFamily="34" charset="0"/>
                        <a:buChar char="•"/>
                      </a:pPr>
                      <a:r>
                        <a:rPr lang="ar-SA" sz="1600" b="1" dirty="0">
                          <a:latin typeface="+mj-lt"/>
                        </a:rPr>
                        <a:t>في حال غياب المتطلبات الضرورية لتنفيذ الحل النموذجي:</a:t>
                      </a:r>
                      <a:endParaRPr lang="ar-EG" sz="1600" b="1" dirty="0">
                        <a:latin typeface="+mj-lt"/>
                      </a:endParaRPr>
                    </a:p>
                    <a:p>
                      <a:pPr marL="742950" lvl="1" indent="-285750" algn="r" rtl="1">
                        <a:buFont typeface="Arial" panose="020B0604020202020204" pitchFamily="34" charset="0"/>
                        <a:buChar char="•"/>
                      </a:pPr>
                      <a:r>
                        <a:rPr lang="ar-SA" sz="1600" dirty="0">
                          <a:latin typeface="+mj-lt"/>
                        </a:rPr>
                        <a:t>استخدام آليات عمل مؤقتة لحين توفر المتطلبات اللازمة.</a:t>
                      </a:r>
                      <a:endParaRPr lang="ar-EG" sz="1600" dirty="0">
                        <a:latin typeface="+mj-lt"/>
                      </a:endParaRPr>
                    </a:p>
                    <a:p>
                      <a:pPr marL="285750" indent="-285750" algn="r" rtl="1">
                        <a:buFont typeface="Arial" panose="020B0604020202020204" pitchFamily="34" charset="0"/>
                        <a:buChar char="•"/>
                      </a:pPr>
                      <a:r>
                        <a:rPr lang="ar-SA" sz="1600" b="1" dirty="0">
                          <a:latin typeface="+mj-lt"/>
                        </a:rPr>
                        <a:t>الأسباب قد تشمل:</a:t>
                      </a:r>
                      <a:endParaRPr lang="ar-EG" sz="1600" b="1" dirty="0">
                        <a:latin typeface="+mj-lt"/>
                      </a:endParaRPr>
                    </a:p>
                    <a:p>
                      <a:pPr marL="742950" lvl="1" indent="-285750" algn="r" rtl="1">
                        <a:buFont typeface="Arial" panose="020B0604020202020204" pitchFamily="34" charset="0"/>
                        <a:buChar char="•"/>
                      </a:pPr>
                      <a:r>
                        <a:rPr lang="ar-SA" sz="1600" dirty="0">
                          <a:latin typeface="+mj-lt"/>
                        </a:rPr>
                        <a:t>عدم توفر قناة التكامل الحكومية.</a:t>
                      </a:r>
                      <a:endParaRPr lang="en-US" sz="1600" dirty="0">
                        <a:latin typeface="+mj-lt"/>
                      </a:endParaRPr>
                    </a:p>
                    <a:p>
                      <a:pPr marL="742950" lvl="1" indent="-285750" algn="r" rtl="1">
                        <a:buFont typeface="Arial" panose="020B0604020202020204" pitchFamily="34" charset="0"/>
                        <a:buChar char="•"/>
                      </a:pPr>
                      <a:r>
                        <a:rPr lang="ar-SA" sz="1600" dirty="0">
                          <a:latin typeface="+mj-lt"/>
                        </a:rPr>
                        <a:t>عدم توفر التقنية اللازمة حاليا.</a:t>
                      </a:r>
                    </a:p>
                  </a:txBody>
                  <a:tcPr marL="137160" marR="137160" marT="137160" marB="137160" anchor="ctr"/>
                </a:tc>
                <a:extLst>
                  <a:ext uri="{0D108BD9-81ED-4DB2-BD59-A6C34878D82A}">
                    <a16:rowId xmlns:a16="http://schemas.microsoft.com/office/drawing/2014/main" val="1442279659"/>
                  </a:ext>
                </a:extLst>
              </a:tr>
            </a:tbl>
          </a:graphicData>
        </a:graphic>
      </p:graphicFrame>
    </p:spTree>
    <p:extLst>
      <p:ext uri="{BB962C8B-B14F-4D97-AF65-F5344CB8AC3E}">
        <p14:creationId xmlns:p14="http://schemas.microsoft.com/office/powerpoint/2010/main" val="12820283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EEBFA-C588-A4A3-35D6-119E8E2AE58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A2640D-AD30-5396-D8CE-37629AFC7977}"/>
              </a:ext>
            </a:extLst>
          </p:cNvPr>
          <p:cNvSpPr>
            <a:spLocks noGrp="1"/>
          </p:cNvSpPr>
          <p:nvPr>
            <p:ph type="sldNum" sz="quarter" idx="12"/>
          </p:nvPr>
        </p:nvSpPr>
        <p:spPr/>
        <p:txBody>
          <a:bodyPr/>
          <a:lstStyle/>
          <a:p>
            <a:fld id="{0BE4EC83-A869-464E-AE9F-881796FB085E}" type="slidenum">
              <a:rPr lang="en-US" smtClean="0"/>
              <a:t>17</a:t>
            </a:fld>
            <a:endParaRPr lang="en-US" dirty="0"/>
          </a:p>
        </p:txBody>
      </p:sp>
      <p:sp>
        <p:nvSpPr>
          <p:cNvPr id="7" name="Title 1">
            <a:extLst>
              <a:ext uri="{FF2B5EF4-FFF2-40B4-BE49-F238E27FC236}">
                <a16:creationId xmlns:a16="http://schemas.microsoft.com/office/drawing/2014/main" id="{64CF4A2D-CA16-C66D-8C6F-C4601599B539}"/>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منهجية تصميم الخدمات الرقمية</a:t>
            </a:r>
            <a:endParaRPr lang="en-US" dirty="0"/>
          </a:p>
        </p:txBody>
      </p:sp>
      <p:sp>
        <p:nvSpPr>
          <p:cNvPr id="8" name="Rectangle 7">
            <a:extLst>
              <a:ext uri="{FF2B5EF4-FFF2-40B4-BE49-F238E27FC236}">
                <a16:creationId xmlns:a16="http://schemas.microsoft.com/office/drawing/2014/main" id="{583FB3F4-5846-66EE-3791-18DF3B8221B1}"/>
              </a:ext>
            </a:extLst>
          </p:cNvPr>
          <p:cNvSpPr/>
          <p:nvPr/>
        </p:nvSpPr>
        <p:spPr>
          <a:xfrm>
            <a:off x="840139" y="1493536"/>
            <a:ext cx="10515600" cy="3381695"/>
          </a:xfrm>
          <a:prstGeom prst="rect">
            <a:avLst/>
          </a:prstGeom>
        </p:spPr>
        <p:txBody>
          <a:bodyPr wrap="square">
            <a:spAutoFit/>
          </a:bodyPr>
          <a:lstStyle/>
          <a:p>
            <a:pPr algn="just" rtl="1">
              <a:lnSpc>
                <a:spcPct val="150000"/>
              </a:lnSpc>
            </a:pPr>
            <a:r>
              <a:rPr lang="ar-EG" dirty="0">
                <a:latin typeface="Sakkal Majalla" panose="02000000000000000000" pitchFamily="2" charset="-78"/>
                <a:cs typeface="Sakkal Majalla" panose="02000000000000000000" pitchFamily="2" charset="-78"/>
              </a:rPr>
              <a:t>إن الهدف الأساسي من تصميم الخدمات بشكل إلكتروني هو إتاحة استخدامها من قبل المستفيدين إلكترونيّاً بشكل يغطي جميع أو معظم مراحل دورة تنفيذ الخدمة وذلك من اللحظة التي يبدأ بها المستفيد من الخدمة بتقديم طلبه إلى لحظة حصوله على النتيجة أو المخرج النهائي ، ولكون إجراءات الخدمات الحكومية مُتداخلة فيما بين الجهات الحكومية في كثير من الأحيان؛ فإن الوصول إلى دورة عمل حكومية كاملة يتطلب الربط مع التطبيقات الآلية للجهات الحكومية الأخرى من خلال قناة التكامل الحكومية أو الربط المباشر مع تلك الجهات، وقد يكون هذا الأمر متوفر كلياً أو متوفر جزئيّاً أو لا يمكن إنجازه دفعة واحدة. لهذا السبب سيتم طرح الحل النموذجي للخدمات والذي يمثل الحل الأمثل لتحقيق دورة عمل إلكترونية متكاملة بين الجهات الحكومية. وفي حال غياب أي من المتطلبات الضرورية لتنفيذ الحل النموذجي سيتم الاستعاضة عنها بآلية عمل مؤقتة لحين توفرها، سواءً كانت هذه المتطلبات من قناة التكامل الحكومية أو بسبب عدم توفر التقنية اللازمة في الوقت الراهن، إضافة إلى ذلك، فإنه من المهم تحديد المعلومات ال</a:t>
            </a:r>
            <a:r>
              <a:rPr lang="ar-SA" dirty="0">
                <a:latin typeface="Sakkal Majalla" panose="02000000000000000000" pitchFamily="2" charset="-78"/>
                <a:cs typeface="Sakkal Majalla" panose="02000000000000000000" pitchFamily="2" charset="-78"/>
              </a:rPr>
              <a:t>تي</a:t>
            </a:r>
            <a:r>
              <a:rPr lang="ar-EG" dirty="0">
                <a:latin typeface="Sakkal Majalla" panose="02000000000000000000" pitchFamily="2" charset="-78"/>
                <a:cs typeface="Sakkal Majalla" panose="02000000000000000000" pitchFamily="2" charset="-78"/>
              </a:rPr>
              <a:t> يتوجب على الهيئة</a:t>
            </a:r>
            <a:r>
              <a:rPr lang="ar-SA" dirty="0">
                <a:latin typeface="Sakkal Majalla" panose="02000000000000000000" pitchFamily="2" charset="-78"/>
                <a:cs typeface="Sakkal Majalla" panose="02000000000000000000" pitchFamily="2" charset="-78"/>
              </a:rPr>
              <a:t> </a:t>
            </a:r>
            <a:r>
              <a:rPr lang="ar-EG" dirty="0">
                <a:latin typeface="Sakkal Majalla" panose="02000000000000000000" pitchFamily="2" charset="-78"/>
                <a:cs typeface="Sakkal Majalla" panose="02000000000000000000" pitchFamily="2" charset="-78"/>
              </a:rPr>
              <a:t>مشاركتها عن طريق مثلاً خدمات الويب</a:t>
            </a:r>
            <a:r>
              <a:rPr lang="en-US" dirty="0">
                <a:latin typeface="Sakkal Majalla" panose="02000000000000000000" pitchFamily="2" charset="-78"/>
                <a:cs typeface="Sakkal Majalla" panose="02000000000000000000" pitchFamily="2" charset="-78"/>
              </a:rPr>
              <a:t>Web Services</a:t>
            </a:r>
            <a:r>
              <a:rPr lang="ar-EG" dirty="0">
                <a:latin typeface="Sakkal Majalla" panose="02000000000000000000" pitchFamily="2" charset="-78"/>
                <a:cs typeface="Sakkal Majalla" panose="02000000000000000000" pitchFamily="2" charset="-78"/>
              </a:rPr>
              <a:t> بحيث تساهم الهيئة</a:t>
            </a:r>
            <a:r>
              <a:rPr lang="ar-SA" dirty="0">
                <a:latin typeface="Sakkal Majalla" panose="02000000000000000000" pitchFamily="2" charset="-78"/>
                <a:cs typeface="Sakkal Majalla" panose="02000000000000000000" pitchFamily="2" charset="-78"/>
              </a:rPr>
              <a:t> </a:t>
            </a:r>
            <a:r>
              <a:rPr lang="ar-EG" dirty="0">
                <a:latin typeface="Sakkal Majalla" panose="02000000000000000000" pitchFamily="2" charset="-78"/>
                <a:cs typeface="Sakkal Majalla" panose="02000000000000000000" pitchFamily="2" charset="-78"/>
              </a:rPr>
              <a:t>بدعم التكامل الإلكتروني الحكومي.</a:t>
            </a:r>
            <a:endParaRPr 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7906559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CFA5-9591-F5F1-FDB6-D94F9F04CC7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84A08D-679D-F9E1-954B-40DC31639DDD}"/>
              </a:ext>
            </a:extLst>
          </p:cNvPr>
          <p:cNvSpPr>
            <a:spLocks noGrp="1"/>
          </p:cNvSpPr>
          <p:nvPr>
            <p:ph type="sldNum" sz="quarter" idx="12"/>
          </p:nvPr>
        </p:nvSpPr>
        <p:spPr/>
        <p:txBody>
          <a:bodyPr/>
          <a:lstStyle/>
          <a:p>
            <a:fld id="{0BE4EC83-A869-464E-AE9F-881796FB085E}" type="slidenum">
              <a:rPr lang="en-US" smtClean="0"/>
              <a:t>18</a:t>
            </a:fld>
            <a:endParaRPr lang="en-US" dirty="0"/>
          </a:p>
        </p:txBody>
      </p:sp>
      <p:sp>
        <p:nvSpPr>
          <p:cNvPr id="7" name="Title 1">
            <a:extLst>
              <a:ext uri="{FF2B5EF4-FFF2-40B4-BE49-F238E27FC236}">
                <a16:creationId xmlns:a16="http://schemas.microsoft.com/office/drawing/2014/main" id="{1BB0F95C-5FB6-843C-06D5-06CA771C0407}"/>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شكل توضيحي ل</a:t>
            </a:r>
            <a:r>
              <a:rPr lang="ar-SA" dirty="0"/>
              <a:t>منهجية تصميم الخدمات الرقمية</a:t>
            </a:r>
            <a:endParaRPr lang="en-US" dirty="0"/>
          </a:p>
        </p:txBody>
      </p:sp>
      <p:sp>
        <p:nvSpPr>
          <p:cNvPr id="5" name="Rectangle: Rounded Corners 4">
            <a:extLst>
              <a:ext uri="{FF2B5EF4-FFF2-40B4-BE49-F238E27FC236}">
                <a16:creationId xmlns:a16="http://schemas.microsoft.com/office/drawing/2014/main" id="{3F423126-5DE8-B577-66A5-3339990F9A40}"/>
              </a:ext>
            </a:extLst>
          </p:cNvPr>
          <p:cNvSpPr/>
          <p:nvPr/>
        </p:nvSpPr>
        <p:spPr>
          <a:xfrm>
            <a:off x="9743558" y="1581582"/>
            <a:ext cx="1843955" cy="4388229"/>
          </a:xfrm>
          <a:prstGeom prst="roundRect">
            <a:avLst/>
          </a:prstGeom>
          <a:solidFill>
            <a:srgbClr val="4C3C8D"/>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2A84687C-8FDE-0855-9912-0D551A00EE89}"/>
              </a:ext>
            </a:extLst>
          </p:cNvPr>
          <p:cNvSpPr/>
          <p:nvPr/>
        </p:nvSpPr>
        <p:spPr>
          <a:xfrm>
            <a:off x="3738769" y="1640163"/>
            <a:ext cx="4724402" cy="2613782"/>
          </a:xfrm>
          <a:prstGeom prst="roundRect">
            <a:avLst/>
          </a:prstGeom>
          <a:solidFill>
            <a:srgbClr val="4C3C8D"/>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26B98B32-7E1A-5863-8A46-8077998646FB}"/>
              </a:ext>
            </a:extLst>
          </p:cNvPr>
          <p:cNvSpPr/>
          <p:nvPr/>
        </p:nvSpPr>
        <p:spPr>
          <a:xfrm>
            <a:off x="839906" y="1616369"/>
            <a:ext cx="1843955" cy="2680448"/>
          </a:xfrm>
          <a:prstGeom prst="roundRect">
            <a:avLst/>
          </a:prstGeom>
          <a:solidFill>
            <a:srgbClr val="4C3C8D"/>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 name="Arrow: Left 8">
            <a:extLst>
              <a:ext uri="{FF2B5EF4-FFF2-40B4-BE49-F238E27FC236}">
                <a16:creationId xmlns:a16="http://schemas.microsoft.com/office/drawing/2014/main" id="{C922445F-87BE-B69F-0537-7A79FB384666}"/>
              </a:ext>
            </a:extLst>
          </p:cNvPr>
          <p:cNvSpPr/>
          <p:nvPr/>
        </p:nvSpPr>
        <p:spPr>
          <a:xfrm>
            <a:off x="8803450" y="2741149"/>
            <a:ext cx="559218" cy="430887"/>
          </a:xfrm>
          <a:prstGeom prst="leftArrow">
            <a:avLst/>
          </a:prstGeom>
          <a:solidFill>
            <a:srgbClr val="4C3C8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Arrow: Left 9">
            <a:extLst>
              <a:ext uri="{FF2B5EF4-FFF2-40B4-BE49-F238E27FC236}">
                <a16:creationId xmlns:a16="http://schemas.microsoft.com/office/drawing/2014/main" id="{DDD214D8-F217-0C10-109E-19D58E9393D5}"/>
              </a:ext>
            </a:extLst>
          </p:cNvPr>
          <p:cNvSpPr/>
          <p:nvPr/>
        </p:nvSpPr>
        <p:spPr>
          <a:xfrm>
            <a:off x="2887177" y="2734812"/>
            <a:ext cx="572829" cy="430887"/>
          </a:xfrm>
          <a:prstGeom prst="leftArrow">
            <a:avLst/>
          </a:prstGeom>
          <a:solidFill>
            <a:srgbClr val="4C3C8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Rounded Rectangle 15">
            <a:extLst>
              <a:ext uri="{FF2B5EF4-FFF2-40B4-BE49-F238E27FC236}">
                <a16:creationId xmlns:a16="http://schemas.microsoft.com/office/drawing/2014/main" id="{C7D7CF62-39CB-1A7A-523F-3D1D14EC17DF}"/>
              </a:ext>
            </a:extLst>
          </p:cNvPr>
          <p:cNvSpPr/>
          <p:nvPr/>
        </p:nvSpPr>
        <p:spPr>
          <a:xfrm>
            <a:off x="9932033" y="2093157"/>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متطلبات الخدمة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12" name="Rounded Rectangle 15">
            <a:extLst>
              <a:ext uri="{FF2B5EF4-FFF2-40B4-BE49-F238E27FC236}">
                <a16:creationId xmlns:a16="http://schemas.microsoft.com/office/drawing/2014/main" id="{F21A6C60-FF85-8DD0-A86F-7A3E97F297DF}"/>
              </a:ext>
            </a:extLst>
          </p:cNvPr>
          <p:cNvSpPr/>
          <p:nvPr/>
        </p:nvSpPr>
        <p:spPr>
          <a:xfrm>
            <a:off x="9932031" y="1640356"/>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الوضع الحالي للخدمة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13" name="Rounded Rectangle 15">
            <a:extLst>
              <a:ext uri="{FF2B5EF4-FFF2-40B4-BE49-F238E27FC236}">
                <a16:creationId xmlns:a16="http://schemas.microsoft.com/office/drawing/2014/main" id="{ED8F3D2E-C22A-3C03-8AE2-D277AE73618A}"/>
              </a:ext>
            </a:extLst>
          </p:cNvPr>
          <p:cNvSpPr/>
          <p:nvPr/>
        </p:nvSpPr>
        <p:spPr>
          <a:xfrm>
            <a:off x="9940997" y="4906073"/>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استراتيجية </a:t>
            </a: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الأعمال </a:t>
            </a:r>
            <a:r>
              <a:rPr lang="ar-EG" sz="1600" b="1" dirty="0">
                <a:solidFill>
                  <a:srgbClr val="FFFFFF"/>
                </a:solidFill>
                <a:latin typeface="Sakkal Majalla" panose="02000000000000000000" pitchFamily="2" charset="-78"/>
                <a:ea typeface="Times New Roman" panose="02020603050405020304" pitchFamily="18" charset="0"/>
                <a:cs typeface="Sakkal Majalla" panose="02000000000000000000" pitchFamily="2" charset="-78"/>
              </a:rPr>
              <a:t>للهيئة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14" name="Rounded Rectangle 15">
            <a:extLst>
              <a:ext uri="{FF2B5EF4-FFF2-40B4-BE49-F238E27FC236}">
                <a16:creationId xmlns:a16="http://schemas.microsoft.com/office/drawing/2014/main" id="{0A893DF8-F3D6-C7EA-F39C-377952A658E1}"/>
              </a:ext>
            </a:extLst>
          </p:cNvPr>
          <p:cNvSpPr/>
          <p:nvPr/>
        </p:nvSpPr>
        <p:spPr>
          <a:xfrm>
            <a:off x="4571635" y="2988266"/>
            <a:ext cx="2861448"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تصميم رحلة المستفيد المستقبلية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15" name="Rounded Rectangle 15">
            <a:extLst>
              <a:ext uri="{FF2B5EF4-FFF2-40B4-BE49-F238E27FC236}">
                <a16:creationId xmlns:a16="http://schemas.microsoft.com/office/drawing/2014/main" id="{DEDA4EB1-33EE-813A-3D57-8674A5F3C327}"/>
              </a:ext>
            </a:extLst>
          </p:cNvPr>
          <p:cNvSpPr/>
          <p:nvPr/>
        </p:nvSpPr>
        <p:spPr>
          <a:xfrm>
            <a:off x="4553706" y="2432321"/>
            <a:ext cx="2861448"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تطبيق </a:t>
            </a: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أفضل الممارسات</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16" name="Rounded Rectangle 15">
            <a:extLst>
              <a:ext uri="{FF2B5EF4-FFF2-40B4-BE49-F238E27FC236}">
                <a16:creationId xmlns:a16="http://schemas.microsoft.com/office/drawing/2014/main" id="{BEBF2009-4CC8-7979-801D-CB57440E3365}"/>
              </a:ext>
            </a:extLst>
          </p:cNvPr>
          <p:cNvSpPr/>
          <p:nvPr/>
        </p:nvSpPr>
        <p:spPr>
          <a:xfrm>
            <a:off x="1023262" y="2400488"/>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خدمة إلكترونية </a:t>
            </a: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2</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17" name="Rounded Rectangle 15">
            <a:extLst>
              <a:ext uri="{FF2B5EF4-FFF2-40B4-BE49-F238E27FC236}">
                <a16:creationId xmlns:a16="http://schemas.microsoft.com/office/drawing/2014/main" id="{87D6DE40-10EF-896A-CDCE-8C05EB257258}"/>
              </a:ext>
            </a:extLst>
          </p:cNvPr>
          <p:cNvSpPr/>
          <p:nvPr/>
        </p:nvSpPr>
        <p:spPr>
          <a:xfrm>
            <a:off x="1023262" y="1840783"/>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خدمة إلكترونية 1</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18" name="Rounded Rectangle 15">
            <a:extLst>
              <a:ext uri="{FF2B5EF4-FFF2-40B4-BE49-F238E27FC236}">
                <a16:creationId xmlns:a16="http://schemas.microsoft.com/office/drawing/2014/main" id="{0A27B021-A376-8399-F18C-4003887A1991}"/>
              </a:ext>
            </a:extLst>
          </p:cNvPr>
          <p:cNvSpPr/>
          <p:nvPr/>
        </p:nvSpPr>
        <p:spPr>
          <a:xfrm>
            <a:off x="1023261" y="2987087"/>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خدمة إلكترونية </a:t>
            </a: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3</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19" name="Rounded Rectangle 15">
            <a:extLst>
              <a:ext uri="{FF2B5EF4-FFF2-40B4-BE49-F238E27FC236}">
                <a16:creationId xmlns:a16="http://schemas.microsoft.com/office/drawing/2014/main" id="{9F466587-AEDF-1C07-2EC9-DF5F5C23229B}"/>
              </a:ext>
            </a:extLst>
          </p:cNvPr>
          <p:cNvSpPr/>
          <p:nvPr/>
        </p:nvSpPr>
        <p:spPr>
          <a:xfrm>
            <a:off x="1023261" y="3573686"/>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خدمة إلكترونية </a:t>
            </a: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4</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20" name="TextBox 19">
            <a:extLst>
              <a:ext uri="{FF2B5EF4-FFF2-40B4-BE49-F238E27FC236}">
                <a16:creationId xmlns:a16="http://schemas.microsoft.com/office/drawing/2014/main" id="{18CEFA3B-E605-21D2-5908-42D0A7BDF77D}"/>
              </a:ext>
            </a:extLst>
          </p:cNvPr>
          <p:cNvSpPr txBox="1"/>
          <p:nvPr/>
        </p:nvSpPr>
        <p:spPr>
          <a:xfrm>
            <a:off x="10168440" y="1210620"/>
            <a:ext cx="994183" cy="461665"/>
          </a:xfrm>
          <a:prstGeom prst="rect">
            <a:avLst/>
          </a:prstGeom>
          <a:noFill/>
        </p:spPr>
        <p:txBody>
          <a:bodyPr wrap="none" rtlCol="0">
            <a:spAutoFit/>
          </a:bodyPr>
          <a:lstStyle/>
          <a:p>
            <a:r>
              <a:rPr lang="ar-SA" sz="2400" b="1" dirty="0"/>
              <a:t>المدخلات</a:t>
            </a:r>
            <a:endParaRPr lang="en-US" sz="2000" b="1" dirty="0"/>
          </a:p>
        </p:txBody>
      </p:sp>
      <p:sp>
        <p:nvSpPr>
          <p:cNvPr id="21" name="TextBox 20">
            <a:extLst>
              <a:ext uri="{FF2B5EF4-FFF2-40B4-BE49-F238E27FC236}">
                <a16:creationId xmlns:a16="http://schemas.microsoft.com/office/drawing/2014/main" id="{86F5623D-6673-B0CD-87A9-DA0E1BC1C268}"/>
              </a:ext>
            </a:extLst>
          </p:cNvPr>
          <p:cNvSpPr txBox="1"/>
          <p:nvPr/>
        </p:nvSpPr>
        <p:spPr>
          <a:xfrm>
            <a:off x="457247" y="1173130"/>
            <a:ext cx="2803973" cy="461665"/>
          </a:xfrm>
          <a:prstGeom prst="rect">
            <a:avLst/>
          </a:prstGeom>
          <a:noFill/>
        </p:spPr>
        <p:txBody>
          <a:bodyPr wrap="none" rtlCol="0">
            <a:spAutoFit/>
          </a:bodyPr>
          <a:lstStyle/>
          <a:p>
            <a:r>
              <a:rPr lang="ar-SA" sz="2400" b="1" dirty="0"/>
              <a:t>المخرجات في الوضع المستقبلي</a:t>
            </a:r>
            <a:endParaRPr lang="en-US" sz="2400" b="1" dirty="0"/>
          </a:p>
        </p:txBody>
      </p:sp>
      <p:sp>
        <p:nvSpPr>
          <p:cNvPr id="22" name="TextBox 21">
            <a:extLst>
              <a:ext uri="{FF2B5EF4-FFF2-40B4-BE49-F238E27FC236}">
                <a16:creationId xmlns:a16="http://schemas.microsoft.com/office/drawing/2014/main" id="{636C72A8-CAB4-94A7-4809-D00CB752EE32}"/>
              </a:ext>
            </a:extLst>
          </p:cNvPr>
          <p:cNvSpPr txBox="1"/>
          <p:nvPr/>
        </p:nvSpPr>
        <p:spPr>
          <a:xfrm>
            <a:off x="4613450" y="1189268"/>
            <a:ext cx="3153427" cy="461665"/>
          </a:xfrm>
          <a:prstGeom prst="rect">
            <a:avLst/>
          </a:prstGeom>
          <a:noFill/>
        </p:spPr>
        <p:txBody>
          <a:bodyPr wrap="none" rtlCol="0">
            <a:spAutoFit/>
          </a:bodyPr>
          <a:lstStyle/>
          <a:p>
            <a:r>
              <a:rPr lang="ar-SA" sz="2400" b="1" dirty="0"/>
              <a:t>عمليات تصميم الخدمات الرقمية</a:t>
            </a:r>
            <a:endParaRPr lang="en-US" sz="2400" b="1" dirty="0"/>
          </a:p>
        </p:txBody>
      </p:sp>
      <p:sp>
        <p:nvSpPr>
          <p:cNvPr id="26" name="Rounded Rectangle 15">
            <a:extLst>
              <a:ext uri="{FF2B5EF4-FFF2-40B4-BE49-F238E27FC236}">
                <a16:creationId xmlns:a16="http://schemas.microsoft.com/office/drawing/2014/main" id="{42FE3F73-60BB-7509-6B6F-88AD52B92A0C}"/>
              </a:ext>
            </a:extLst>
          </p:cNvPr>
          <p:cNvSpPr/>
          <p:nvPr/>
        </p:nvSpPr>
        <p:spPr>
          <a:xfrm>
            <a:off x="9940996" y="5394959"/>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EG"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استراتيجية </a:t>
            </a: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التحول الرقمي </a:t>
            </a:r>
            <a:r>
              <a:rPr lang="ar-EG" sz="1600" b="1" dirty="0">
                <a:solidFill>
                  <a:srgbClr val="FFFFFF"/>
                </a:solidFill>
                <a:latin typeface="Sakkal Majalla" panose="02000000000000000000" pitchFamily="2" charset="-78"/>
                <a:ea typeface="Times New Roman" panose="02020603050405020304" pitchFamily="18" charset="0"/>
                <a:cs typeface="Sakkal Majalla" panose="02000000000000000000" pitchFamily="2" charset="-78"/>
              </a:rPr>
              <a:t>للهيئة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27" name="Rounded Rectangle 15">
            <a:extLst>
              <a:ext uri="{FF2B5EF4-FFF2-40B4-BE49-F238E27FC236}">
                <a16:creationId xmlns:a16="http://schemas.microsoft.com/office/drawing/2014/main" id="{A059DD02-7A7F-2D85-4F3A-5063E3303AD7}"/>
              </a:ext>
            </a:extLst>
          </p:cNvPr>
          <p:cNvSpPr/>
          <p:nvPr/>
        </p:nvSpPr>
        <p:spPr>
          <a:xfrm>
            <a:off x="9940996" y="3491237"/>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توقعات المستفيد</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28" name="Rounded Rectangle 15">
            <a:extLst>
              <a:ext uri="{FF2B5EF4-FFF2-40B4-BE49-F238E27FC236}">
                <a16:creationId xmlns:a16="http://schemas.microsoft.com/office/drawing/2014/main" id="{9483C82D-CF3D-5166-7FDF-205BD377EADA}"/>
              </a:ext>
            </a:extLst>
          </p:cNvPr>
          <p:cNvSpPr/>
          <p:nvPr/>
        </p:nvSpPr>
        <p:spPr>
          <a:xfrm>
            <a:off x="9953790" y="2563835"/>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فرص التكاملات الداخلية والخارجية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29" name="Rounded Rectangle 15">
            <a:extLst>
              <a:ext uri="{FF2B5EF4-FFF2-40B4-BE49-F238E27FC236}">
                <a16:creationId xmlns:a16="http://schemas.microsoft.com/office/drawing/2014/main" id="{4B6F6394-0CB7-AB64-B4A0-88087DCF4F61}"/>
              </a:ext>
            </a:extLst>
          </p:cNvPr>
          <p:cNvSpPr/>
          <p:nvPr/>
        </p:nvSpPr>
        <p:spPr>
          <a:xfrm>
            <a:off x="9953790" y="3033275"/>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الهيكل التنظيمي</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30" name="Rounded Rectangle 15">
            <a:extLst>
              <a:ext uri="{FF2B5EF4-FFF2-40B4-BE49-F238E27FC236}">
                <a16:creationId xmlns:a16="http://schemas.microsoft.com/office/drawing/2014/main" id="{29C8932B-5A3F-0A23-5CFA-E918EEFED00A}"/>
              </a:ext>
            </a:extLst>
          </p:cNvPr>
          <p:cNvSpPr/>
          <p:nvPr/>
        </p:nvSpPr>
        <p:spPr>
          <a:xfrm>
            <a:off x="9951016" y="3952955"/>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الوضع الحالي للتطبيقات</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31" name="Rounded Rectangle 15">
            <a:extLst>
              <a:ext uri="{FF2B5EF4-FFF2-40B4-BE49-F238E27FC236}">
                <a16:creationId xmlns:a16="http://schemas.microsoft.com/office/drawing/2014/main" id="{FEF966B2-1BE4-8C1B-6637-9188F558E015}"/>
              </a:ext>
            </a:extLst>
          </p:cNvPr>
          <p:cNvSpPr/>
          <p:nvPr/>
        </p:nvSpPr>
        <p:spPr>
          <a:xfrm>
            <a:off x="9950580" y="4420044"/>
            <a:ext cx="1467003"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الوضع الحالي للتقنية</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32" name="Rounded Rectangle 15">
            <a:extLst>
              <a:ext uri="{FF2B5EF4-FFF2-40B4-BE49-F238E27FC236}">
                <a16:creationId xmlns:a16="http://schemas.microsoft.com/office/drawing/2014/main" id="{DC1EAF76-6394-EA93-E001-BA9B1FE2D064}"/>
              </a:ext>
            </a:extLst>
          </p:cNvPr>
          <p:cNvSpPr/>
          <p:nvPr/>
        </p:nvSpPr>
        <p:spPr>
          <a:xfrm>
            <a:off x="4571635" y="3548609"/>
            <a:ext cx="2861448"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تحديد مؤشرات الأداء</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33" name="Rounded Rectangle 15">
            <a:extLst>
              <a:ext uri="{FF2B5EF4-FFF2-40B4-BE49-F238E27FC236}">
                <a16:creationId xmlns:a16="http://schemas.microsoft.com/office/drawing/2014/main" id="{19E06810-B434-CD8B-1F1A-8C3F315C9545}"/>
              </a:ext>
            </a:extLst>
          </p:cNvPr>
          <p:cNvSpPr/>
          <p:nvPr/>
        </p:nvSpPr>
        <p:spPr>
          <a:xfrm>
            <a:off x="4571635" y="1876969"/>
            <a:ext cx="2861448" cy="430887"/>
          </a:xfrm>
          <a:prstGeom prst="roundRec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6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تصميم الوضع المستقبلي للخدمات</a:t>
            </a:r>
            <a:endParaRPr lang="en-US" sz="14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34" name="Arrow: Left 33">
            <a:extLst>
              <a:ext uri="{FF2B5EF4-FFF2-40B4-BE49-F238E27FC236}">
                <a16:creationId xmlns:a16="http://schemas.microsoft.com/office/drawing/2014/main" id="{4148CDA1-DAD9-3F7E-E206-41EC46990025}"/>
              </a:ext>
            </a:extLst>
          </p:cNvPr>
          <p:cNvSpPr/>
          <p:nvPr/>
        </p:nvSpPr>
        <p:spPr>
          <a:xfrm>
            <a:off x="636362" y="4470043"/>
            <a:ext cx="8942592" cy="923365"/>
          </a:xfrm>
          <a:prstGeom prst="lef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ar-SA" sz="1800" dirty="0"/>
          </a:p>
          <a:p>
            <a:pPr algn="ctr"/>
            <a:r>
              <a:rPr lang="ar-SA" sz="2400" dirty="0"/>
              <a:t>التقييم والتحسين المستمر</a:t>
            </a:r>
            <a:endParaRPr lang="en-US" sz="2400" dirty="0"/>
          </a:p>
          <a:p>
            <a:pPr algn="ctr"/>
            <a:endParaRPr lang="en-US" dirty="0"/>
          </a:p>
        </p:txBody>
      </p:sp>
      <p:sp>
        <p:nvSpPr>
          <p:cNvPr id="35" name="Arrow: Curved Up 34">
            <a:extLst>
              <a:ext uri="{FF2B5EF4-FFF2-40B4-BE49-F238E27FC236}">
                <a16:creationId xmlns:a16="http://schemas.microsoft.com/office/drawing/2014/main" id="{457F8F0D-9B09-BB5B-1B56-F38D42242280}"/>
              </a:ext>
            </a:extLst>
          </p:cNvPr>
          <p:cNvSpPr/>
          <p:nvPr/>
        </p:nvSpPr>
        <p:spPr>
          <a:xfrm>
            <a:off x="4270483" y="5270330"/>
            <a:ext cx="2015352" cy="734649"/>
          </a:xfrm>
          <a:prstGeom prst="curved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103199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15F21-1BC6-3FC1-65CD-6EE78062F58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EFE682-BF0D-45BE-04E7-8C4C8AD777CE}"/>
              </a:ext>
            </a:extLst>
          </p:cNvPr>
          <p:cNvSpPr>
            <a:spLocks noGrp="1"/>
          </p:cNvSpPr>
          <p:nvPr>
            <p:ph type="sldNum" sz="quarter" idx="12"/>
          </p:nvPr>
        </p:nvSpPr>
        <p:spPr/>
        <p:txBody>
          <a:bodyPr/>
          <a:lstStyle/>
          <a:p>
            <a:fld id="{0BE4EC83-A869-464E-AE9F-881796FB085E}" type="slidenum">
              <a:rPr lang="en-US" smtClean="0"/>
              <a:t>19</a:t>
            </a:fld>
            <a:endParaRPr lang="en-US" dirty="0"/>
          </a:p>
        </p:txBody>
      </p:sp>
      <p:sp>
        <p:nvSpPr>
          <p:cNvPr id="7" name="Title 1">
            <a:extLst>
              <a:ext uri="{FF2B5EF4-FFF2-40B4-BE49-F238E27FC236}">
                <a16:creationId xmlns:a16="http://schemas.microsoft.com/office/drawing/2014/main" id="{7AA00805-67DA-B8D8-B271-A10E2093CA1A}"/>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وصف </a:t>
            </a:r>
            <a:r>
              <a:rPr lang="ar-EG" dirty="0"/>
              <a:t>ال</a:t>
            </a:r>
            <a:r>
              <a:rPr lang="ar-SA" dirty="0"/>
              <a:t>مدخلات </a:t>
            </a:r>
            <a:r>
              <a:rPr lang="ar-EG" dirty="0"/>
              <a:t>ل</a:t>
            </a:r>
            <a:r>
              <a:rPr lang="ar-SA" dirty="0"/>
              <a:t>منهجية تصميم الخدمات الرقمية</a:t>
            </a:r>
            <a:endParaRPr lang="en-US" dirty="0"/>
          </a:p>
        </p:txBody>
      </p:sp>
      <p:sp>
        <p:nvSpPr>
          <p:cNvPr id="4" name="Rectangle 3">
            <a:extLst>
              <a:ext uri="{FF2B5EF4-FFF2-40B4-BE49-F238E27FC236}">
                <a16:creationId xmlns:a16="http://schemas.microsoft.com/office/drawing/2014/main" id="{561A004A-D596-D555-0A89-EC7F494CA7BF}"/>
              </a:ext>
            </a:extLst>
          </p:cNvPr>
          <p:cNvSpPr/>
          <p:nvPr/>
        </p:nvSpPr>
        <p:spPr>
          <a:xfrm>
            <a:off x="385483" y="870097"/>
            <a:ext cx="11201401" cy="430887"/>
          </a:xfrm>
          <a:prstGeom prst="rect">
            <a:avLst/>
          </a:prstGeom>
        </p:spPr>
        <p:txBody>
          <a:bodyPr wrap="square">
            <a:spAutoFit/>
          </a:bodyPr>
          <a:lstStyle/>
          <a:p>
            <a:pPr algn="r" rtl="1">
              <a:lnSpc>
                <a:spcPct val="150000"/>
              </a:lnSpc>
            </a:pPr>
            <a:r>
              <a:rPr lang="ar-EG" sz="1600" b="1" dirty="0">
                <a:latin typeface="Sakkal Majalla" panose="02000000000000000000" pitchFamily="2" charset="-78"/>
                <a:cs typeface="Sakkal Majalla" panose="02000000000000000000" pitchFamily="2" charset="-78"/>
              </a:rPr>
              <a:t>سوف يقوم فريق العمل </a:t>
            </a:r>
            <a:r>
              <a:rPr lang="ar-SA" sz="1600" b="1" dirty="0">
                <a:latin typeface="Sakkal Majalla" panose="02000000000000000000" pitchFamily="2" charset="-78"/>
                <a:cs typeface="Sakkal Majalla" panose="02000000000000000000" pitchFamily="2" charset="-78"/>
              </a:rPr>
              <a:t>بتصميم</a:t>
            </a:r>
            <a:r>
              <a:rPr lang="ar-EG" sz="1600" b="1" dirty="0">
                <a:latin typeface="Sakkal Majalla" panose="02000000000000000000" pitchFamily="2" charset="-78"/>
                <a:cs typeface="Sakkal Majalla" panose="02000000000000000000" pitchFamily="2" charset="-78"/>
              </a:rPr>
              <a:t> الخدمات بشكلها المستقبلي عن طريق </a:t>
            </a:r>
            <a:r>
              <a:rPr lang="ar-SA" sz="1600" b="1" dirty="0">
                <a:latin typeface="Sakkal Majalla" panose="02000000000000000000" pitchFamily="2" charset="-78"/>
                <a:cs typeface="Sakkal Majalla" panose="02000000000000000000" pitchFamily="2" charset="-78"/>
              </a:rPr>
              <a:t>أخذ الاعتبار  بعدد من </a:t>
            </a:r>
            <a:r>
              <a:rPr lang="ar-EG" sz="1600" b="1" dirty="0">
                <a:latin typeface="Sakkal Majalla" panose="02000000000000000000" pitchFamily="2" charset="-78"/>
                <a:cs typeface="Sakkal Majalla" panose="02000000000000000000" pitchFamily="2" charset="-78"/>
              </a:rPr>
              <a:t>المدخلات</a:t>
            </a:r>
            <a:r>
              <a:rPr lang="ar-SA" sz="1600" b="1" dirty="0">
                <a:latin typeface="Sakkal Majalla" panose="02000000000000000000" pitchFamily="2" charset="-78"/>
                <a:cs typeface="Sakkal Majalla" panose="02000000000000000000" pitchFamily="2" charset="-78"/>
              </a:rPr>
              <a:t> والعمليات</a:t>
            </a:r>
            <a:r>
              <a:rPr lang="ar-EG" sz="1600" b="1" dirty="0">
                <a:latin typeface="Sakkal Majalla" panose="02000000000000000000" pitchFamily="2" charset="-78"/>
                <a:cs typeface="Sakkal Majalla" panose="02000000000000000000" pitchFamily="2" charset="-78"/>
              </a:rPr>
              <a:t> الخاصة </a:t>
            </a:r>
            <a:r>
              <a:rPr lang="ar-SA" sz="1600" b="1" dirty="0">
                <a:latin typeface="Sakkal Majalla" panose="02000000000000000000" pitchFamily="2" charset="-78"/>
                <a:cs typeface="Sakkal Majalla" panose="02000000000000000000" pitchFamily="2" charset="-78"/>
              </a:rPr>
              <a:t>بعملية التصميم لإصدار الخدمات الرقمية في الوضع المستقبلي</a:t>
            </a:r>
            <a:endParaRPr lang="en-US" sz="1600" b="1" dirty="0">
              <a:latin typeface="Sakkal Majalla" panose="02000000000000000000" pitchFamily="2" charset="-78"/>
              <a:cs typeface="Sakkal Majalla" panose="02000000000000000000" pitchFamily="2" charset="-78"/>
            </a:endParaRPr>
          </a:p>
        </p:txBody>
      </p:sp>
      <p:graphicFrame>
        <p:nvGraphicFramePr>
          <p:cNvPr id="5" name="Table 9">
            <a:extLst>
              <a:ext uri="{FF2B5EF4-FFF2-40B4-BE49-F238E27FC236}">
                <a16:creationId xmlns:a16="http://schemas.microsoft.com/office/drawing/2014/main" id="{BDE7635F-BAD4-825C-BEA0-E8582C7118C2}"/>
              </a:ext>
            </a:extLst>
          </p:cNvPr>
          <p:cNvGraphicFramePr>
            <a:graphicFrameLocks noGrp="1"/>
          </p:cNvGraphicFramePr>
          <p:nvPr>
            <p:extLst>
              <p:ext uri="{D42A27DB-BD31-4B8C-83A1-F6EECF244321}">
                <p14:modId xmlns:p14="http://schemas.microsoft.com/office/powerpoint/2010/main" val="4130577608"/>
              </p:ext>
            </p:extLst>
          </p:nvPr>
        </p:nvGraphicFramePr>
        <p:xfrm>
          <a:off x="538223" y="1283054"/>
          <a:ext cx="11138310" cy="5457227"/>
        </p:xfrm>
        <a:graphic>
          <a:graphicData uri="http://schemas.openxmlformats.org/drawingml/2006/table">
            <a:tbl>
              <a:tblPr rtl="1" firstRow="1" bandRow="1">
                <a:tableStyleId>{5C22544A-7EE6-4342-B048-85BDC9FD1C3A}</a:tableStyleId>
              </a:tblPr>
              <a:tblGrid>
                <a:gridCol w="2318401">
                  <a:extLst>
                    <a:ext uri="{9D8B030D-6E8A-4147-A177-3AD203B41FA5}">
                      <a16:colId xmlns:a16="http://schemas.microsoft.com/office/drawing/2014/main" val="1492798134"/>
                    </a:ext>
                  </a:extLst>
                </a:gridCol>
                <a:gridCol w="8819909">
                  <a:extLst>
                    <a:ext uri="{9D8B030D-6E8A-4147-A177-3AD203B41FA5}">
                      <a16:colId xmlns:a16="http://schemas.microsoft.com/office/drawing/2014/main" val="2282319773"/>
                    </a:ext>
                  </a:extLst>
                </a:gridCol>
              </a:tblGrid>
              <a:tr h="252261">
                <a:tc>
                  <a:txBody>
                    <a:bodyPr/>
                    <a:lstStyle/>
                    <a:p>
                      <a:pPr algn="ctr" rtl="1"/>
                      <a:r>
                        <a:rPr lang="ar-SA" sz="1600" dirty="0"/>
                        <a:t>المدخلات</a:t>
                      </a:r>
                    </a:p>
                  </a:txBody>
                  <a:tcPr/>
                </a:tc>
                <a:tc>
                  <a:txBody>
                    <a:bodyPr/>
                    <a:lstStyle/>
                    <a:p>
                      <a:pPr algn="ctr" rtl="1"/>
                      <a:r>
                        <a:rPr lang="ar-SA" sz="1600" dirty="0"/>
                        <a:t>الوصف</a:t>
                      </a:r>
                    </a:p>
                  </a:txBody>
                  <a:tcPr/>
                </a:tc>
                <a:extLst>
                  <a:ext uri="{0D108BD9-81ED-4DB2-BD59-A6C34878D82A}">
                    <a16:rowId xmlns:a16="http://schemas.microsoft.com/office/drawing/2014/main" val="4200118011"/>
                  </a:ext>
                </a:extLst>
              </a:tr>
              <a:tr h="53032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EG"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الوضع الحالي للخدمة</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400" dirty="0"/>
                        <a:t>يشير إلى تحليل الحالة الراهنة للخدمة المقدمة بما في ذلك تفاصيل الخدمة وقياس الأداء والجودة والتحديات التي تواجهها. يتم من خلال هذا التحليل تحديد النقاط التي تحتاج إلى تحسين</a:t>
                      </a:r>
                      <a:endParaRPr lang="ar-SA" sz="1400" b="1"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88052009"/>
                  </a:ext>
                </a:extLst>
              </a:tr>
              <a:tr h="53032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EG"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متطلبات الخدمة</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kern="1200" dirty="0">
                          <a:solidFill>
                            <a:schemeClr val="dk1"/>
                          </a:solidFill>
                          <a:latin typeface="+mn-lt"/>
                          <a:ea typeface="+mn-ea"/>
                          <a:cs typeface="+mn-cs"/>
                        </a:rPr>
                        <a:t>متطلبات الخدمة هي مجموعة من الشروط والمعايير التي يجب توافرها لتقديم الخدمة بشكل فعال. تتضمن هذه المتطلبات ما يحتاجه المستفيدون لضمان تحقيق الأهداف المرجوة من الخدمة</a:t>
                      </a:r>
                    </a:p>
                  </a:txBody>
                  <a:tcPr anchor="ctr"/>
                </a:tc>
                <a:extLst>
                  <a:ext uri="{0D108BD9-81ED-4DB2-BD59-A6C34878D82A}">
                    <a16:rowId xmlns:a16="http://schemas.microsoft.com/office/drawing/2014/main" val="3431854839"/>
                  </a:ext>
                </a:extLst>
              </a:tr>
              <a:tr h="53032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فرص التكاملات الداخلية والخارجية</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kern="1200" dirty="0">
                          <a:solidFill>
                            <a:schemeClr val="dk1"/>
                          </a:solidFill>
                          <a:latin typeface="+mn-lt"/>
                          <a:ea typeface="+mn-ea"/>
                          <a:cs typeface="+mn-cs"/>
                        </a:rPr>
                        <a:t>دراسة فرص التكاملات مع الجهات الداخلية في </a:t>
                      </a:r>
                      <a:r>
                        <a:rPr lang="ar-EG" sz="1400" kern="1200" dirty="0">
                          <a:solidFill>
                            <a:schemeClr val="dk1"/>
                          </a:solidFill>
                          <a:latin typeface="+mn-lt"/>
                          <a:ea typeface="+mn-ea"/>
                          <a:cs typeface="+mn-cs"/>
                        </a:rPr>
                        <a:t>الهيئة</a:t>
                      </a:r>
                      <a:r>
                        <a:rPr lang="ar-SA" sz="1400" kern="1200" dirty="0">
                          <a:solidFill>
                            <a:schemeClr val="dk1"/>
                          </a:solidFill>
                          <a:latin typeface="+mn-lt"/>
                          <a:ea typeface="+mn-ea"/>
                          <a:cs typeface="+mn-cs"/>
                        </a:rPr>
                        <a:t>  (مثل الإدارات الأخرى ) والجهات الخارجية  (مثل الجهات الحكومية وغير الحكومية) ، حتى يتم أخذها بعين الاعتبار عند تصميم الخدمات المستقبلية </a:t>
                      </a:r>
                    </a:p>
                  </a:txBody>
                  <a:tcPr anchor="ctr"/>
                </a:tc>
                <a:extLst>
                  <a:ext uri="{0D108BD9-81ED-4DB2-BD59-A6C34878D82A}">
                    <a16:rowId xmlns:a16="http://schemas.microsoft.com/office/drawing/2014/main" val="1885568536"/>
                  </a:ext>
                </a:extLst>
              </a:tr>
              <a:tr h="53032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الهيكل التنظيمي</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algn="r" rtl="1">
                        <a:lnSpc>
                          <a:spcPct val="150000"/>
                        </a:lnSpc>
                      </a:pPr>
                      <a:r>
                        <a:rPr lang="ar-SA" sz="1400" kern="1200" dirty="0">
                          <a:solidFill>
                            <a:schemeClr val="dk1"/>
                          </a:solidFill>
                          <a:latin typeface="+mn-lt"/>
                          <a:ea typeface="+mn-ea"/>
                          <a:cs typeface="+mn-cs"/>
                        </a:rPr>
                        <a:t>يتم دراسة الهيكل التنظيمي الحالي والمستقبلي بعين الاعتبار عند تصميم الخدمات المستقبلية لمعرفة التغيرات الخاصة به مثل  إضافة ، تعديل ، </a:t>
                      </a:r>
                      <a:r>
                        <a:rPr lang="ar-EG" sz="1400" kern="1200" dirty="0">
                          <a:solidFill>
                            <a:schemeClr val="dk1"/>
                          </a:solidFill>
                          <a:latin typeface="+mn-lt"/>
                          <a:ea typeface="+mn-ea"/>
                          <a:cs typeface="+mn-cs"/>
                        </a:rPr>
                        <a:t>أو </a:t>
                      </a:r>
                      <a:r>
                        <a:rPr lang="ar-SA" sz="1400" kern="1200" dirty="0">
                          <a:solidFill>
                            <a:schemeClr val="dk1"/>
                          </a:solidFill>
                          <a:latin typeface="+mn-lt"/>
                          <a:ea typeface="+mn-ea"/>
                          <a:cs typeface="+mn-cs"/>
                        </a:rPr>
                        <a:t>حذف </a:t>
                      </a:r>
                      <a:r>
                        <a:rPr lang="ar-EG" sz="1400" kern="1200" dirty="0">
                          <a:solidFill>
                            <a:schemeClr val="dk1"/>
                          </a:solidFill>
                          <a:latin typeface="+mn-lt"/>
                          <a:ea typeface="+mn-ea"/>
                          <a:cs typeface="+mn-cs"/>
                        </a:rPr>
                        <a:t> </a:t>
                      </a:r>
                      <a:r>
                        <a:rPr lang="ar-SA" sz="1400" kern="1200" dirty="0">
                          <a:solidFill>
                            <a:schemeClr val="dk1"/>
                          </a:solidFill>
                          <a:latin typeface="+mn-lt"/>
                          <a:ea typeface="+mn-ea"/>
                          <a:cs typeface="+mn-cs"/>
                        </a:rPr>
                        <a:t>وحدات تنظيمية </a:t>
                      </a:r>
                      <a:r>
                        <a:rPr lang="ar-EG" sz="1400" kern="1200" dirty="0">
                          <a:solidFill>
                            <a:schemeClr val="dk1"/>
                          </a:solidFill>
                          <a:latin typeface="+mn-lt"/>
                          <a:ea typeface="+mn-ea"/>
                          <a:cs typeface="+mn-cs"/>
                        </a:rPr>
                        <a:t>مما </a:t>
                      </a:r>
                      <a:r>
                        <a:rPr lang="ar-SA" sz="1400" kern="1200" dirty="0">
                          <a:solidFill>
                            <a:schemeClr val="dk1"/>
                          </a:solidFill>
                          <a:latin typeface="+mn-lt"/>
                          <a:ea typeface="+mn-ea"/>
                          <a:cs typeface="+mn-cs"/>
                        </a:rPr>
                        <a:t>قد </a:t>
                      </a:r>
                      <a:r>
                        <a:rPr lang="ar-EG" sz="1400" kern="1200" dirty="0">
                          <a:solidFill>
                            <a:schemeClr val="dk1"/>
                          </a:solidFill>
                          <a:latin typeface="+mn-lt"/>
                          <a:ea typeface="+mn-ea"/>
                          <a:cs typeface="+mn-cs"/>
                        </a:rPr>
                        <a:t>يؤثر</a:t>
                      </a:r>
                      <a:r>
                        <a:rPr lang="ar-SA" sz="1400" kern="1200" dirty="0">
                          <a:solidFill>
                            <a:schemeClr val="dk1"/>
                          </a:solidFill>
                          <a:latin typeface="+mn-lt"/>
                          <a:ea typeface="+mn-ea"/>
                          <a:cs typeface="+mn-cs"/>
                        </a:rPr>
                        <a:t> في تصميم الخدمات المستقبلية</a:t>
                      </a:r>
                      <a:r>
                        <a:rPr lang="ar-EG" sz="1400" kern="1200" dirty="0">
                          <a:solidFill>
                            <a:schemeClr val="dk1"/>
                          </a:solidFill>
                          <a:latin typeface="+mn-lt"/>
                          <a:ea typeface="+mn-ea"/>
                          <a:cs typeface="+mn-cs"/>
                        </a:rPr>
                        <a:t>،</a:t>
                      </a:r>
                      <a:r>
                        <a:rPr lang="ar-SA" sz="1400" kern="1200" dirty="0">
                          <a:solidFill>
                            <a:schemeClr val="dk1"/>
                          </a:solidFill>
                          <a:latin typeface="+mn-lt"/>
                          <a:ea typeface="+mn-ea"/>
                          <a:cs typeface="+mn-cs"/>
                        </a:rPr>
                        <a:t> أو لمعرفة في حال انتقلت ملكية الخدمات من إدارات معينة إلى إدارات أخرى</a:t>
                      </a:r>
                    </a:p>
                  </a:txBody>
                  <a:tcPr anchor="ctr"/>
                </a:tc>
                <a:extLst>
                  <a:ext uri="{0D108BD9-81ED-4DB2-BD59-A6C34878D82A}">
                    <a16:rowId xmlns:a16="http://schemas.microsoft.com/office/drawing/2014/main" val="674765917"/>
                  </a:ext>
                </a:extLst>
              </a:tr>
              <a:tr h="53032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توقعات المستفيد</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algn="r" rtl="1">
                        <a:lnSpc>
                          <a:spcPct val="150000"/>
                        </a:lnSpc>
                      </a:pPr>
                      <a:r>
                        <a:rPr lang="ar-SA" sz="1400" kern="1200" dirty="0">
                          <a:solidFill>
                            <a:schemeClr val="dk1"/>
                          </a:solidFill>
                          <a:latin typeface="+mn-lt"/>
                          <a:ea typeface="+mn-ea"/>
                          <a:cs typeface="+mn-cs"/>
                        </a:rPr>
                        <a:t>وهي تعبر عن ماهي التوقعات والطموحات والتحسينات التي يهتم بها المستفيد حيث يلزم أخذها بعين الاعتبار عن تصميم الخدمات المستقبلية</a:t>
                      </a:r>
                    </a:p>
                  </a:txBody>
                  <a:tcPr anchor="ctr"/>
                </a:tc>
                <a:extLst>
                  <a:ext uri="{0D108BD9-81ED-4DB2-BD59-A6C34878D82A}">
                    <a16:rowId xmlns:a16="http://schemas.microsoft.com/office/drawing/2014/main" val="3369090445"/>
                  </a:ext>
                </a:extLst>
              </a:tr>
              <a:tr h="53032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الوضع الحالي للتطبيقات</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kern="1200" dirty="0">
                          <a:solidFill>
                            <a:schemeClr val="dk1"/>
                          </a:solidFill>
                          <a:latin typeface="+mn-lt"/>
                          <a:ea typeface="+mn-ea"/>
                          <a:cs typeface="+mn-cs"/>
                        </a:rPr>
                        <a:t>دراسة وفهم الوضع الحالي للتطبيقات لمعرفة القدرات والإمكانيات والمحددات الحالية الخاصة بالتطبيقات</a:t>
                      </a:r>
                      <a:endParaRPr lang="en-US" sz="1400" kern="1200" dirty="0">
                        <a:solidFill>
                          <a:schemeClr val="dk1"/>
                        </a:solidFill>
                        <a:latin typeface="+mn-lt"/>
                        <a:ea typeface="+mn-ea"/>
                        <a:cs typeface="+mn-cs"/>
                      </a:endParaRPr>
                    </a:p>
                  </a:txBody>
                  <a:tcPr anchor="ctr"/>
                </a:tc>
                <a:extLst>
                  <a:ext uri="{0D108BD9-81ED-4DB2-BD59-A6C34878D82A}">
                    <a16:rowId xmlns:a16="http://schemas.microsoft.com/office/drawing/2014/main" val="563596234"/>
                  </a:ext>
                </a:extLst>
              </a:tr>
              <a:tr h="53032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الوضع الحالي للتقنية</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kern="1200" dirty="0">
                          <a:solidFill>
                            <a:schemeClr val="dk1"/>
                          </a:solidFill>
                          <a:latin typeface="+mn-lt"/>
                          <a:ea typeface="+mn-ea"/>
                          <a:cs typeface="+mn-cs"/>
                        </a:rPr>
                        <a:t>دراسة وفهم الوضع الحالي للتقنية لمعرفة القدرات والإمكانيات والمحددات الحالية الخاصة بالتقنية</a:t>
                      </a:r>
                      <a:endParaRPr lang="en-US" sz="1400" kern="1200" dirty="0">
                        <a:solidFill>
                          <a:schemeClr val="dk1"/>
                        </a:solidFill>
                        <a:latin typeface="+mn-lt"/>
                        <a:ea typeface="+mn-ea"/>
                        <a:cs typeface="+mn-cs"/>
                      </a:endParaRPr>
                    </a:p>
                  </a:txBody>
                  <a:tcPr anchor="ctr"/>
                </a:tc>
                <a:extLst>
                  <a:ext uri="{0D108BD9-81ED-4DB2-BD59-A6C34878D82A}">
                    <a16:rowId xmlns:a16="http://schemas.microsoft.com/office/drawing/2014/main" val="3753216017"/>
                  </a:ext>
                </a:extLst>
              </a:tr>
              <a:tr h="53032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EG"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استراتيجية </a:t>
                      </a: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الأعمال </a:t>
                      </a:r>
                      <a:r>
                        <a:rPr lang="ar-EG" sz="1600" b="1" dirty="0">
                          <a:solidFill>
                            <a:schemeClr val="tx1"/>
                          </a:solidFill>
                          <a:latin typeface="Sakkal Majalla" panose="02000000000000000000" pitchFamily="2" charset="-78"/>
                          <a:ea typeface="Times New Roman" panose="02020603050405020304" pitchFamily="18" charset="0"/>
                          <a:cs typeface="Sakkal Majalla" panose="02000000000000000000" pitchFamily="2" charset="-78"/>
                        </a:rPr>
                        <a:t>للهيئة</a:t>
                      </a:r>
                      <a:r>
                        <a:rPr lang="ar-SA" sz="1600" b="1" dirty="0">
                          <a:solidFill>
                            <a:schemeClr val="tx1"/>
                          </a:solidFill>
                          <a:latin typeface="Sakkal Majalla" panose="02000000000000000000" pitchFamily="2" charset="-78"/>
                          <a:ea typeface="Times New Roman" panose="02020603050405020304" pitchFamily="18" charset="0"/>
                          <a:cs typeface="Sakkal Majalla" panose="02000000000000000000" pitchFamily="2" charset="-78"/>
                        </a:rPr>
                        <a:t> </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kern="1200" dirty="0">
                          <a:solidFill>
                            <a:schemeClr val="dk1"/>
                          </a:solidFill>
                          <a:latin typeface="+mn-lt"/>
                          <a:ea typeface="+mn-ea"/>
                          <a:cs typeface="+mn-cs"/>
                        </a:rPr>
                        <a:t>استراتيجية الأعمال </a:t>
                      </a:r>
                      <a:r>
                        <a:rPr lang="ar-EG" sz="1400" kern="1200" dirty="0">
                          <a:solidFill>
                            <a:schemeClr val="dk1"/>
                          </a:solidFill>
                          <a:latin typeface="+mn-lt"/>
                          <a:ea typeface="+mn-ea"/>
                          <a:cs typeface="+mn-cs"/>
                        </a:rPr>
                        <a:t>للهيئة</a:t>
                      </a:r>
                      <a:r>
                        <a:rPr lang="ar-SA" sz="1400" kern="1200" dirty="0">
                          <a:solidFill>
                            <a:schemeClr val="dk1"/>
                          </a:solidFill>
                          <a:latin typeface="+mn-lt"/>
                          <a:ea typeface="+mn-ea"/>
                          <a:cs typeface="+mn-cs"/>
                        </a:rPr>
                        <a:t> هي الخطة الشاملة التي توجه </a:t>
                      </a:r>
                      <a:r>
                        <a:rPr lang="ar-EG" sz="1400" kern="1200" dirty="0">
                          <a:solidFill>
                            <a:schemeClr val="dk1"/>
                          </a:solidFill>
                          <a:latin typeface="+mn-lt"/>
                          <a:ea typeface="+mn-ea"/>
                          <a:cs typeface="+mn-cs"/>
                        </a:rPr>
                        <a:t>الهيئة</a:t>
                      </a:r>
                      <a:r>
                        <a:rPr lang="ar-SA" sz="1400" kern="1200" dirty="0">
                          <a:solidFill>
                            <a:schemeClr val="dk1"/>
                          </a:solidFill>
                          <a:latin typeface="+mn-lt"/>
                          <a:ea typeface="+mn-ea"/>
                          <a:cs typeface="+mn-cs"/>
                        </a:rPr>
                        <a:t> نحو تحقيق أهدافها وتنفيذ رؤيتها. تتضمن هذه الاستراتيجية تحديد الأهداف والموارد والأنشطة والمبادرات والمشاريع اللازمة لتحقيق النجاح في </a:t>
                      </a:r>
                      <a:r>
                        <a:rPr lang="ar-EG" sz="1400" kern="1200" dirty="0">
                          <a:solidFill>
                            <a:schemeClr val="dk1"/>
                          </a:solidFill>
                          <a:latin typeface="+mn-lt"/>
                          <a:ea typeface="+mn-ea"/>
                          <a:cs typeface="+mn-cs"/>
                        </a:rPr>
                        <a:t>الهيئة</a:t>
                      </a:r>
                      <a:endParaRPr lang="ar-SA" sz="1400" kern="1200" dirty="0">
                        <a:solidFill>
                          <a:schemeClr val="dk1"/>
                        </a:solidFill>
                        <a:latin typeface="+mn-lt"/>
                        <a:ea typeface="+mn-ea"/>
                        <a:cs typeface="+mn-cs"/>
                      </a:endParaRPr>
                    </a:p>
                  </a:txBody>
                  <a:tcPr anchor="ctr"/>
                </a:tc>
                <a:extLst>
                  <a:ext uri="{0D108BD9-81ED-4DB2-BD59-A6C34878D82A}">
                    <a16:rowId xmlns:a16="http://schemas.microsoft.com/office/drawing/2014/main" val="966569353"/>
                  </a:ext>
                </a:extLst>
              </a:tr>
              <a:tr h="530321">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استراتيجية </a:t>
                      </a: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التحول الرقمي </a:t>
                      </a:r>
                      <a:r>
                        <a:rPr lang="ar-EG" sz="1600" b="1" dirty="0">
                          <a:solidFill>
                            <a:schemeClr val="tx1"/>
                          </a:solidFill>
                          <a:latin typeface="Sakkal Majalla" panose="02000000000000000000" pitchFamily="2" charset="-78"/>
                          <a:ea typeface="Times New Roman" panose="02020603050405020304" pitchFamily="18" charset="0"/>
                          <a:cs typeface="Sakkal Majalla" panose="02000000000000000000" pitchFamily="2" charset="-78"/>
                        </a:rPr>
                        <a:t>للهيئة</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kern="1200" dirty="0">
                          <a:solidFill>
                            <a:schemeClr val="dk1"/>
                          </a:solidFill>
                          <a:latin typeface="+mn-lt"/>
                          <a:ea typeface="+mn-ea"/>
                          <a:cs typeface="+mn-cs"/>
                        </a:rPr>
                        <a:t>تتضمن استراتيجية التحول الرقمي مجموعة من الأهداف والمبادرات والمشاريع الخاصة بالتحول الرقمي والتي تهدف إلى تحسين الأداء المؤسسي وتحقيق الأهداف الاستراتيجية من خلال تبني وتكامل التقنيات الرقمية ومشاريع التحول الرقمي</a:t>
                      </a:r>
                    </a:p>
                  </a:txBody>
                  <a:tcPr anchor="ctr"/>
                </a:tc>
                <a:extLst>
                  <a:ext uri="{0D108BD9-81ED-4DB2-BD59-A6C34878D82A}">
                    <a16:rowId xmlns:a16="http://schemas.microsoft.com/office/drawing/2014/main" val="2955399071"/>
                  </a:ext>
                </a:extLst>
              </a:tr>
            </a:tbl>
          </a:graphicData>
        </a:graphic>
      </p:graphicFrame>
    </p:spTree>
    <p:extLst>
      <p:ext uri="{BB962C8B-B14F-4D97-AF65-F5344CB8AC3E}">
        <p14:creationId xmlns:p14="http://schemas.microsoft.com/office/powerpoint/2010/main" val="146238438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0971C-2F6C-34B1-7F99-43E7B14F5D8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DEC39D-8276-1AC0-1308-E9E805E30D22}"/>
              </a:ext>
            </a:extLst>
          </p:cNvPr>
          <p:cNvSpPr>
            <a:spLocks noGrp="1"/>
          </p:cNvSpPr>
          <p:nvPr>
            <p:ph type="sldNum" sz="quarter" idx="12"/>
          </p:nvPr>
        </p:nvSpPr>
        <p:spPr/>
        <p:txBody>
          <a:bodyPr/>
          <a:lstStyle/>
          <a:p>
            <a:fld id="{0BE4EC83-A869-464E-AE9F-881796FB085E}" type="slidenum">
              <a:rPr lang="en-US" smtClean="0"/>
              <a:t>20</a:t>
            </a:fld>
            <a:endParaRPr lang="en-US" dirty="0"/>
          </a:p>
        </p:txBody>
      </p:sp>
      <p:sp>
        <p:nvSpPr>
          <p:cNvPr id="7" name="Title 1">
            <a:extLst>
              <a:ext uri="{FF2B5EF4-FFF2-40B4-BE49-F238E27FC236}">
                <a16:creationId xmlns:a16="http://schemas.microsoft.com/office/drawing/2014/main" id="{38CA0CC9-2466-B76E-0388-68A8367537E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وصف عمليات تصميم الخدمات الرقمية</a:t>
            </a:r>
            <a:endParaRPr lang="en-US" dirty="0"/>
          </a:p>
        </p:txBody>
      </p:sp>
      <p:sp>
        <p:nvSpPr>
          <p:cNvPr id="2" name="Rectangle 1">
            <a:extLst>
              <a:ext uri="{FF2B5EF4-FFF2-40B4-BE49-F238E27FC236}">
                <a16:creationId xmlns:a16="http://schemas.microsoft.com/office/drawing/2014/main" id="{5B86F445-8720-8B45-7F8B-46DD1E69328F}"/>
              </a:ext>
            </a:extLst>
          </p:cNvPr>
          <p:cNvSpPr/>
          <p:nvPr/>
        </p:nvSpPr>
        <p:spPr>
          <a:xfrm>
            <a:off x="421342" y="870097"/>
            <a:ext cx="11158284" cy="430887"/>
          </a:xfrm>
          <a:prstGeom prst="rect">
            <a:avLst/>
          </a:prstGeom>
        </p:spPr>
        <p:txBody>
          <a:bodyPr wrap="square">
            <a:spAutoFit/>
          </a:bodyPr>
          <a:lstStyle/>
          <a:p>
            <a:pPr algn="r" rtl="1">
              <a:lnSpc>
                <a:spcPct val="150000"/>
              </a:lnSpc>
            </a:pPr>
            <a:r>
              <a:rPr lang="ar-EG" sz="1600" b="1" dirty="0">
                <a:latin typeface="Sakkal Majalla" panose="02000000000000000000" pitchFamily="2" charset="-78"/>
                <a:cs typeface="Sakkal Majalla" panose="02000000000000000000" pitchFamily="2" charset="-78"/>
              </a:rPr>
              <a:t>سوف يقوم فريق العمل </a:t>
            </a:r>
            <a:r>
              <a:rPr lang="ar-SA" sz="1600" b="1" dirty="0">
                <a:latin typeface="Sakkal Majalla" panose="02000000000000000000" pitchFamily="2" charset="-78"/>
                <a:cs typeface="Sakkal Majalla" panose="02000000000000000000" pitchFamily="2" charset="-78"/>
              </a:rPr>
              <a:t>بتصميم</a:t>
            </a:r>
            <a:r>
              <a:rPr lang="ar-EG" sz="1600" b="1" dirty="0">
                <a:latin typeface="Sakkal Majalla" panose="02000000000000000000" pitchFamily="2" charset="-78"/>
                <a:cs typeface="Sakkal Majalla" panose="02000000000000000000" pitchFamily="2" charset="-78"/>
              </a:rPr>
              <a:t> الخدمات بشكلها المستقبلي عن طريق </a:t>
            </a:r>
            <a:r>
              <a:rPr lang="ar-SA" sz="1600" b="1" dirty="0">
                <a:latin typeface="Sakkal Majalla" panose="02000000000000000000" pitchFamily="2" charset="-78"/>
                <a:cs typeface="Sakkal Majalla" panose="02000000000000000000" pitchFamily="2" charset="-78"/>
              </a:rPr>
              <a:t>أخذ الاعتبار  بعدد من </a:t>
            </a:r>
            <a:r>
              <a:rPr lang="ar-EG" sz="1600" b="1" dirty="0">
                <a:latin typeface="Sakkal Majalla" panose="02000000000000000000" pitchFamily="2" charset="-78"/>
                <a:cs typeface="Sakkal Majalla" panose="02000000000000000000" pitchFamily="2" charset="-78"/>
              </a:rPr>
              <a:t>المدخلات</a:t>
            </a:r>
            <a:r>
              <a:rPr lang="ar-SA" sz="1600" b="1" dirty="0">
                <a:latin typeface="Sakkal Majalla" panose="02000000000000000000" pitchFamily="2" charset="-78"/>
                <a:cs typeface="Sakkal Majalla" panose="02000000000000000000" pitchFamily="2" charset="-78"/>
              </a:rPr>
              <a:t> والعمليات</a:t>
            </a:r>
            <a:r>
              <a:rPr lang="ar-EG" sz="1600" b="1" dirty="0">
                <a:latin typeface="Sakkal Majalla" panose="02000000000000000000" pitchFamily="2" charset="-78"/>
                <a:cs typeface="Sakkal Majalla" panose="02000000000000000000" pitchFamily="2" charset="-78"/>
              </a:rPr>
              <a:t> الخاصة </a:t>
            </a:r>
            <a:r>
              <a:rPr lang="ar-SA" sz="1600" b="1" dirty="0">
                <a:latin typeface="Sakkal Majalla" panose="02000000000000000000" pitchFamily="2" charset="-78"/>
                <a:cs typeface="Sakkal Majalla" panose="02000000000000000000" pitchFamily="2" charset="-78"/>
              </a:rPr>
              <a:t>بعملية التصميم لإصدار الخدمات الرقمية في الوضع المستقبلي</a:t>
            </a:r>
            <a:endParaRPr lang="ar-SA" sz="1600" dirty="0"/>
          </a:p>
        </p:txBody>
      </p:sp>
      <p:graphicFrame>
        <p:nvGraphicFramePr>
          <p:cNvPr id="4" name="Table 9">
            <a:extLst>
              <a:ext uri="{FF2B5EF4-FFF2-40B4-BE49-F238E27FC236}">
                <a16:creationId xmlns:a16="http://schemas.microsoft.com/office/drawing/2014/main" id="{0D55E754-D31E-B95A-6CF9-084E9493E7E4}"/>
              </a:ext>
            </a:extLst>
          </p:cNvPr>
          <p:cNvGraphicFramePr>
            <a:graphicFrameLocks noGrp="1"/>
          </p:cNvGraphicFramePr>
          <p:nvPr>
            <p:extLst>
              <p:ext uri="{D42A27DB-BD31-4B8C-83A1-F6EECF244321}">
                <p14:modId xmlns:p14="http://schemas.microsoft.com/office/powerpoint/2010/main" val="2196933511"/>
              </p:ext>
            </p:extLst>
          </p:nvPr>
        </p:nvGraphicFramePr>
        <p:xfrm>
          <a:off x="944293" y="1507172"/>
          <a:ext cx="10393063" cy="3322320"/>
        </p:xfrm>
        <a:graphic>
          <a:graphicData uri="http://schemas.openxmlformats.org/drawingml/2006/table">
            <a:tbl>
              <a:tblPr rtl="1" firstRow="1" bandRow="1">
                <a:tableStyleId>{5C22544A-7EE6-4342-B048-85BDC9FD1C3A}</a:tableStyleId>
              </a:tblPr>
              <a:tblGrid>
                <a:gridCol w="2884126">
                  <a:extLst>
                    <a:ext uri="{9D8B030D-6E8A-4147-A177-3AD203B41FA5}">
                      <a16:colId xmlns:a16="http://schemas.microsoft.com/office/drawing/2014/main" val="1492798134"/>
                    </a:ext>
                  </a:extLst>
                </a:gridCol>
                <a:gridCol w="7508937">
                  <a:extLst>
                    <a:ext uri="{9D8B030D-6E8A-4147-A177-3AD203B41FA5}">
                      <a16:colId xmlns:a16="http://schemas.microsoft.com/office/drawing/2014/main" val="2282319773"/>
                    </a:ext>
                  </a:extLst>
                </a:gridCol>
              </a:tblGrid>
              <a:tr h="35277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600" dirty="0"/>
                        <a:t>عمليات تصميم الخدمات الرقمية</a:t>
                      </a:r>
                      <a:endParaRPr lang="en-US" sz="1600" dirty="0"/>
                    </a:p>
                  </a:txBody>
                  <a:tcPr marL="137160" marR="137160" marT="137160" marB="137160" anchor="ctr"/>
                </a:tc>
                <a:tc>
                  <a:txBody>
                    <a:bodyPr/>
                    <a:lstStyle/>
                    <a:p>
                      <a:pPr algn="ctr" rtl="1"/>
                      <a:r>
                        <a:rPr lang="ar-SA" sz="1600" dirty="0"/>
                        <a:t>الوصف</a:t>
                      </a:r>
                    </a:p>
                  </a:txBody>
                  <a:tcPr marL="137160" marR="137160" marT="137160" marB="137160" anchor="ctr"/>
                </a:tc>
                <a:extLst>
                  <a:ext uri="{0D108BD9-81ED-4DB2-BD59-A6C34878D82A}">
                    <a16:rowId xmlns:a16="http://schemas.microsoft.com/office/drawing/2014/main" val="4200118011"/>
                  </a:ext>
                </a:extLst>
              </a:tr>
              <a:tr h="41166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تصميم الوضع المستقبلي للخدمات</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137160" marR="137160" marT="137160" marB="137160" anchor="ct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kern="1200" dirty="0">
                          <a:solidFill>
                            <a:schemeClr val="dk1"/>
                          </a:solidFill>
                          <a:latin typeface="+mn-lt"/>
                          <a:ea typeface="+mn-ea"/>
                          <a:cs typeface="+mn-cs"/>
                        </a:rPr>
                        <a:t>تنفيذ خطوات عملية تصميم الوضع المستقبلي للخدمات مع أخذ جميع الاعتبارات والمدخلات في التصميم</a:t>
                      </a:r>
                      <a:endParaRPr lang="en-US" sz="1600" kern="1200" dirty="0">
                        <a:solidFill>
                          <a:schemeClr val="dk1"/>
                        </a:solidFill>
                        <a:latin typeface="+mn-lt"/>
                        <a:ea typeface="+mn-ea"/>
                        <a:cs typeface="+mn-cs"/>
                      </a:endParaRPr>
                    </a:p>
                  </a:txBody>
                  <a:tcPr marL="137160" marR="137160" marT="137160" marB="137160" anchor="ctr"/>
                </a:tc>
                <a:extLst>
                  <a:ext uri="{0D108BD9-81ED-4DB2-BD59-A6C34878D82A}">
                    <a16:rowId xmlns:a16="http://schemas.microsoft.com/office/drawing/2014/main" val="2788052009"/>
                  </a:ext>
                </a:extLst>
              </a:tr>
              <a:tr h="405934">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تطبيق </a:t>
                      </a:r>
                      <a:r>
                        <a:rPr lang="ar-EG" sz="1600" b="1"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أفضل الممارسات</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137160" marR="137160" marT="137160" marB="137160" anchor="ct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dirty="0"/>
                        <a:t>تطبيق الإجراءات والتقنيات المثبتة التي أثبتت فعاليتها في تحقيق الأداء الأمثل</a:t>
                      </a:r>
                      <a:r>
                        <a:rPr lang="ar-EG" sz="1600" dirty="0"/>
                        <a:t> </a:t>
                      </a:r>
                      <a:r>
                        <a:rPr lang="ar-SA" sz="1600" dirty="0"/>
                        <a:t>لتحسين العمليات وضمان الجودة</a:t>
                      </a:r>
                    </a:p>
                  </a:txBody>
                  <a:tcPr marL="137160" marR="137160" marT="137160" marB="137160" anchor="ctr"/>
                </a:tc>
                <a:extLst>
                  <a:ext uri="{0D108BD9-81ED-4DB2-BD59-A6C34878D82A}">
                    <a16:rowId xmlns:a16="http://schemas.microsoft.com/office/drawing/2014/main" val="3431854839"/>
                  </a:ext>
                </a:extLst>
              </a:tr>
              <a:tr h="405934">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تصميم رحلة المستفيد المستقبلية</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137160" marR="137160" marT="137160" marB="137160" anchor="ct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dirty="0"/>
                        <a:t>هي عملية تخطيط وتطوير جميع التفاعلات التي يمر بها المستفيد عند استخدام الخدمة. ويهدف التصميم إلى تحسين تجربة المستفيد وتلبية احتياجاته بشكل شامل</a:t>
                      </a:r>
                      <a:endParaRPr lang="ar-SA" sz="1600" b="1" dirty="0">
                        <a:latin typeface="Sakkal Majalla" panose="02000000000000000000" pitchFamily="2" charset="-78"/>
                        <a:cs typeface="Sakkal Majalla" panose="02000000000000000000" pitchFamily="2" charset="-78"/>
                      </a:endParaRPr>
                    </a:p>
                  </a:txBody>
                  <a:tcPr marL="137160" marR="137160" marT="137160" marB="137160" anchor="ctr"/>
                </a:tc>
                <a:extLst>
                  <a:ext uri="{0D108BD9-81ED-4DB2-BD59-A6C34878D82A}">
                    <a16:rowId xmlns:a16="http://schemas.microsoft.com/office/drawing/2014/main" val="1885568536"/>
                  </a:ext>
                </a:extLst>
              </a:tr>
              <a:tr h="54547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تحديد مؤشرات الأداء</a:t>
                      </a:r>
                      <a:endParaRPr lang="en-US" sz="16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137160" marR="137160" marT="137160" marB="137160" anchor="ctr"/>
                </a:tc>
                <a:tc>
                  <a:txBody>
                    <a:bodyPr/>
                    <a:lstStyle/>
                    <a:p>
                      <a:pPr algn="r" rtl="1">
                        <a:lnSpc>
                          <a:spcPct val="150000"/>
                        </a:lnSpc>
                      </a:pPr>
                      <a:r>
                        <a:rPr lang="ar-SA" sz="1600" kern="1200" dirty="0">
                          <a:solidFill>
                            <a:schemeClr val="dk1"/>
                          </a:solidFill>
                          <a:latin typeface="+mn-lt"/>
                          <a:ea typeface="+mn-ea"/>
                          <a:cs typeface="+mn-cs"/>
                        </a:rPr>
                        <a:t>تحديد مؤشرات قياس الأداء وتطويرها للخدمات المستقبلية مع توضيح كامل تفاصيل المؤشرات</a:t>
                      </a:r>
                    </a:p>
                  </a:txBody>
                  <a:tcPr marL="137160" marR="137160" marT="137160" marB="137160" anchor="ctr"/>
                </a:tc>
                <a:extLst>
                  <a:ext uri="{0D108BD9-81ED-4DB2-BD59-A6C34878D82A}">
                    <a16:rowId xmlns:a16="http://schemas.microsoft.com/office/drawing/2014/main" val="674765917"/>
                  </a:ext>
                </a:extLst>
              </a:tr>
            </a:tbl>
          </a:graphicData>
        </a:graphic>
      </p:graphicFrame>
    </p:spTree>
    <p:extLst>
      <p:ext uri="{BB962C8B-B14F-4D97-AF65-F5344CB8AC3E}">
        <p14:creationId xmlns:p14="http://schemas.microsoft.com/office/powerpoint/2010/main" val="183320476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36E1B-A4BF-9FE8-F6FF-21503BFA07F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E95938-6611-803F-DB09-B03D6E595686}"/>
              </a:ext>
            </a:extLst>
          </p:cNvPr>
          <p:cNvSpPr>
            <a:spLocks noGrp="1"/>
          </p:cNvSpPr>
          <p:nvPr>
            <p:ph type="sldNum" sz="quarter" idx="12"/>
          </p:nvPr>
        </p:nvSpPr>
        <p:spPr/>
        <p:txBody>
          <a:bodyPr/>
          <a:lstStyle/>
          <a:p>
            <a:fld id="{0BE4EC83-A869-464E-AE9F-881796FB085E}" type="slidenum">
              <a:rPr lang="en-US" smtClean="0"/>
              <a:t>21</a:t>
            </a:fld>
            <a:endParaRPr lang="en-US" dirty="0"/>
          </a:p>
        </p:txBody>
      </p:sp>
      <p:sp>
        <p:nvSpPr>
          <p:cNvPr id="7" name="Title 1">
            <a:extLst>
              <a:ext uri="{FF2B5EF4-FFF2-40B4-BE49-F238E27FC236}">
                <a16:creationId xmlns:a16="http://schemas.microsoft.com/office/drawing/2014/main" id="{9C421F3F-D6EB-C43E-99BD-018B3F3B905D}"/>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وصف </a:t>
            </a:r>
            <a:r>
              <a:rPr lang="ar-EG" dirty="0"/>
              <a:t>المخرجات</a:t>
            </a:r>
            <a:r>
              <a:rPr lang="ar-SA" dirty="0"/>
              <a:t> </a:t>
            </a:r>
            <a:r>
              <a:rPr lang="ar-EG" dirty="0"/>
              <a:t>ل</a:t>
            </a:r>
            <a:r>
              <a:rPr lang="ar-SA" dirty="0"/>
              <a:t>منهجية تصميم الخدمات الرقمية</a:t>
            </a:r>
            <a:endParaRPr lang="en-US" dirty="0"/>
          </a:p>
        </p:txBody>
      </p:sp>
      <p:sp>
        <p:nvSpPr>
          <p:cNvPr id="2" name="Rectangle 1">
            <a:extLst>
              <a:ext uri="{FF2B5EF4-FFF2-40B4-BE49-F238E27FC236}">
                <a16:creationId xmlns:a16="http://schemas.microsoft.com/office/drawing/2014/main" id="{CE6D5667-7B08-B501-2B6F-4DF48105B171}"/>
              </a:ext>
            </a:extLst>
          </p:cNvPr>
          <p:cNvSpPr/>
          <p:nvPr/>
        </p:nvSpPr>
        <p:spPr>
          <a:xfrm>
            <a:off x="233085" y="870097"/>
            <a:ext cx="11353801" cy="430887"/>
          </a:xfrm>
          <a:prstGeom prst="rect">
            <a:avLst/>
          </a:prstGeom>
        </p:spPr>
        <p:txBody>
          <a:bodyPr wrap="square">
            <a:spAutoFit/>
          </a:bodyPr>
          <a:lstStyle/>
          <a:p>
            <a:pPr algn="r" rtl="1">
              <a:lnSpc>
                <a:spcPct val="150000"/>
              </a:lnSpc>
            </a:pPr>
            <a:r>
              <a:rPr lang="ar-EG" sz="1600" b="1" dirty="0">
                <a:latin typeface="Sakkal Majalla" panose="02000000000000000000" pitchFamily="2" charset="-78"/>
                <a:cs typeface="Sakkal Majalla" panose="02000000000000000000" pitchFamily="2" charset="-78"/>
              </a:rPr>
              <a:t>سوف يقوم فريق العمل </a:t>
            </a:r>
            <a:r>
              <a:rPr lang="ar-SA" sz="1600" b="1" dirty="0">
                <a:latin typeface="Sakkal Majalla" panose="02000000000000000000" pitchFamily="2" charset="-78"/>
                <a:cs typeface="Sakkal Majalla" panose="02000000000000000000" pitchFamily="2" charset="-78"/>
              </a:rPr>
              <a:t>بتصميم</a:t>
            </a:r>
            <a:r>
              <a:rPr lang="ar-EG" sz="1600" b="1" dirty="0">
                <a:latin typeface="Sakkal Majalla" panose="02000000000000000000" pitchFamily="2" charset="-78"/>
                <a:cs typeface="Sakkal Majalla" panose="02000000000000000000" pitchFamily="2" charset="-78"/>
              </a:rPr>
              <a:t> الخدمات بشكلها المستقبلي عن طريق </a:t>
            </a:r>
            <a:r>
              <a:rPr lang="ar-SA" sz="1600" b="1" dirty="0">
                <a:latin typeface="Sakkal Majalla" panose="02000000000000000000" pitchFamily="2" charset="-78"/>
                <a:cs typeface="Sakkal Majalla" panose="02000000000000000000" pitchFamily="2" charset="-78"/>
              </a:rPr>
              <a:t>أخذ الاعتبار  بعدد من </a:t>
            </a:r>
            <a:r>
              <a:rPr lang="ar-EG" sz="1600" b="1" dirty="0">
                <a:latin typeface="Sakkal Majalla" panose="02000000000000000000" pitchFamily="2" charset="-78"/>
                <a:cs typeface="Sakkal Majalla" panose="02000000000000000000" pitchFamily="2" charset="-78"/>
              </a:rPr>
              <a:t>المدخلات</a:t>
            </a:r>
            <a:r>
              <a:rPr lang="ar-SA" sz="1600" b="1" dirty="0">
                <a:latin typeface="Sakkal Majalla" panose="02000000000000000000" pitchFamily="2" charset="-78"/>
                <a:cs typeface="Sakkal Majalla" panose="02000000000000000000" pitchFamily="2" charset="-78"/>
              </a:rPr>
              <a:t> والعمليات</a:t>
            </a:r>
            <a:r>
              <a:rPr lang="ar-EG" sz="1600" b="1" dirty="0">
                <a:latin typeface="Sakkal Majalla" panose="02000000000000000000" pitchFamily="2" charset="-78"/>
                <a:cs typeface="Sakkal Majalla" panose="02000000000000000000" pitchFamily="2" charset="-78"/>
              </a:rPr>
              <a:t> الخاصة </a:t>
            </a:r>
            <a:r>
              <a:rPr lang="ar-SA" sz="1600" b="1" dirty="0">
                <a:latin typeface="Sakkal Majalla" panose="02000000000000000000" pitchFamily="2" charset="-78"/>
                <a:cs typeface="Sakkal Majalla" panose="02000000000000000000" pitchFamily="2" charset="-78"/>
              </a:rPr>
              <a:t>بعملية التصميم لإصدار الخدمات الرقمية في الوضع المستقبلي</a:t>
            </a:r>
            <a:endParaRPr lang="en-US" sz="1600" b="1" dirty="0">
              <a:latin typeface="Sakkal Majalla" panose="02000000000000000000" pitchFamily="2" charset="-78"/>
              <a:cs typeface="Sakkal Majalla" panose="02000000000000000000" pitchFamily="2" charset="-78"/>
            </a:endParaRPr>
          </a:p>
        </p:txBody>
      </p:sp>
      <p:graphicFrame>
        <p:nvGraphicFramePr>
          <p:cNvPr id="4" name="Table 9">
            <a:extLst>
              <a:ext uri="{FF2B5EF4-FFF2-40B4-BE49-F238E27FC236}">
                <a16:creationId xmlns:a16="http://schemas.microsoft.com/office/drawing/2014/main" id="{1B0BE445-1E55-15CE-5637-0D5B5561079E}"/>
              </a:ext>
            </a:extLst>
          </p:cNvPr>
          <p:cNvGraphicFramePr>
            <a:graphicFrameLocks noGrp="1"/>
          </p:cNvGraphicFramePr>
          <p:nvPr>
            <p:extLst>
              <p:ext uri="{D42A27DB-BD31-4B8C-83A1-F6EECF244321}">
                <p14:modId xmlns:p14="http://schemas.microsoft.com/office/powerpoint/2010/main" val="3995641931"/>
              </p:ext>
            </p:extLst>
          </p:nvPr>
        </p:nvGraphicFramePr>
        <p:xfrm>
          <a:off x="899468" y="1360706"/>
          <a:ext cx="10393063" cy="2468880"/>
        </p:xfrm>
        <a:graphic>
          <a:graphicData uri="http://schemas.openxmlformats.org/drawingml/2006/table">
            <a:tbl>
              <a:tblPr rtl="1" firstRow="1" bandRow="1">
                <a:tableStyleId>{5C22544A-7EE6-4342-B048-85BDC9FD1C3A}</a:tableStyleId>
              </a:tblPr>
              <a:tblGrid>
                <a:gridCol w="2839301">
                  <a:extLst>
                    <a:ext uri="{9D8B030D-6E8A-4147-A177-3AD203B41FA5}">
                      <a16:colId xmlns:a16="http://schemas.microsoft.com/office/drawing/2014/main" val="1492798134"/>
                    </a:ext>
                  </a:extLst>
                </a:gridCol>
                <a:gridCol w="7553762">
                  <a:extLst>
                    <a:ext uri="{9D8B030D-6E8A-4147-A177-3AD203B41FA5}">
                      <a16:colId xmlns:a16="http://schemas.microsoft.com/office/drawing/2014/main" val="2282319773"/>
                    </a:ext>
                  </a:extLst>
                </a:gridCol>
              </a:tblGrid>
              <a:tr h="35277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600" dirty="0"/>
                        <a:t>المخرجات في الوضع المستقبلي</a:t>
                      </a:r>
                      <a:endParaRPr lang="en-US" sz="1600" dirty="0"/>
                    </a:p>
                  </a:txBody>
                  <a:tcPr marL="137160" marR="137160" marT="137160" marB="137160" anchor="ctr"/>
                </a:tc>
                <a:tc>
                  <a:txBody>
                    <a:bodyPr/>
                    <a:lstStyle/>
                    <a:p>
                      <a:pPr algn="ctr" rtl="1"/>
                      <a:r>
                        <a:rPr lang="ar-SA" sz="1600" dirty="0"/>
                        <a:t>الوصف</a:t>
                      </a:r>
                    </a:p>
                  </a:txBody>
                  <a:tcPr marL="137160" marR="137160" marT="137160" marB="137160" anchor="ctr"/>
                </a:tc>
                <a:extLst>
                  <a:ext uri="{0D108BD9-81ED-4DB2-BD59-A6C34878D82A}">
                    <a16:rowId xmlns:a16="http://schemas.microsoft.com/office/drawing/2014/main" val="4200118011"/>
                  </a:ext>
                </a:extLst>
              </a:tr>
              <a:tr h="41166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dirty="0">
                          <a:latin typeface="Sakkal Majalla" panose="02000000000000000000" pitchFamily="2" charset="-78"/>
                          <a:cs typeface="Sakkal Majalla" panose="02000000000000000000" pitchFamily="2" charset="-78"/>
                        </a:rPr>
                        <a:t>الخدمات الرقمية في الوضع المستقبلي</a:t>
                      </a:r>
                      <a:endParaRPr lang="ar-SA" sz="1600" dirty="0"/>
                    </a:p>
                  </a:txBody>
                  <a:tcPr marL="137160" marR="137160" marT="137160" marB="137160" anchor="ct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dirty="0"/>
                        <a:t>هي الخدمات في الوضع المستقبلي التي يتم تقديمها باستخدام التقنيات الرقمية. تهدف هذه الخدمات إلى توفير الوقت والجهد للمستفيدين من خلال تمكينهم من الوصول إلى الخدمات بسهولة</a:t>
                      </a:r>
                      <a:endParaRPr lang="ar-SA" sz="1600" b="1" dirty="0">
                        <a:latin typeface="Sakkal Majalla" panose="02000000000000000000" pitchFamily="2" charset="-78"/>
                        <a:cs typeface="Sakkal Majalla" panose="02000000000000000000" pitchFamily="2" charset="-78"/>
                      </a:endParaRPr>
                    </a:p>
                  </a:txBody>
                  <a:tcPr marL="137160" marR="137160" marT="137160" marB="137160" anchor="ctr"/>
                </a:tc>
                <a:extLst>
                  <a:ext uri="{0D108BD9-81ED-4DB2-BD59-A6C34878D82A}">
                    <a16:rowId xmlns:a16="http://schemas.microsoft.com/office/drawing/2014/main" val="2788052009"/>
                  </a:ext>
                </a:extLst>
              </a:tr>
              <a:tr h="41166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b="1" dirty="0">
                          <a:latin typeface="Sakkal Majalla" panose="02000000000000000000" pitchFamily="2" charset="-78"/>
                          <a:cs typeface="Sakkal Majalla" panose="02000000000000000000" pitchFamily="2" charset="-78"/>
                        </a:rPr>
                        <a:t>التقييم والتحسين المستم</a:t>
                      </a:r>
                      <a:r>
                        <a:rPr lang="ar-EG" sz="1600" b="1" dirty="0">
                          <a:latin typeface="Sakkal Majalla" panose="02000000000000000000" pitchFamily="2" charset="-78"/>
                          <a:cs typeface="Sakkal Majalla" panose="02000000000000000000" pitchFamily="2" charset="-78"/>
                        </a:rPr>
                        <a:t>ر</a:t>
                      </a:r>
                      <a:endParaRPr lang="ar-SA" sz="1600" dirty="0"/>
                    </a:p>
                  </a:txBody>
                  <a:tcPr marL="137160" marR="137160" marT="137160" marB="137160" anchor="ct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dirty="0"/>
                        <a:t>التقييم والتحسين المستمر هو نهج يسعى إلى تقييم وتحسين العمليات والخدمات بشكل مستمر من خلال الابتكار والتطوير. يتضمن ذلك تقييم الأداء بشكل دوري واتخاذ إجراءات لتحسينه</a:t>
                      </a:r>
                    </a:p>
                  </a:txBody>
                  <a:tcPr marL="137160" marR="137160" marT="137160" marB="137160" anchor="ctr"/>
                </a:tc>
                <a:extLst>
                  <a:ext uri="{0D108BD9-81ED-4DB2-BD59-A6C34878D82A}">
                    <a16:rowId xmlns:a16="http://schemas.microsoft.com/office/drawing/2014/main" val="1847523616"/>
                  </a:ext>
                </a:extLst>
              </a:tr>
            </a:tbl>
          </a:graphicData>
        </a:graphic>
      </p:graphicFrame>
    </p:spTree>
    <p:extLst>
      <p:ext uri="{BB962C8B-B14F-4D97-AF65-F5344CB8AC3E}">
        <p14:creationId xmlns:p14="http://schemas.microsoft.com/office/powerpoint/2010/main" val="636525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30CA2-804B-638A-B749-035434306C8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3BA565-DEC5-07A5-6118-57C3ED4E7DC8}"/>
              </a:ext>
            </a:extLst>
          </p:cNvPr>
          <p:cNvSpPr>
            <a:spLocks noGrp="1"/>
          </p:cNvSpPr>
          <p:nvPr>
            <p:ph type="sldNum" sz="quarter" idx="12"/>
          </p:nvPr>
        </p:nvSpPr>
        <p:spPr/>
        <p:txBody>
          <a:bodyPr/>
          <a:lstStyle/>
          <a:p>
            <a:fld id="{0BE4EC83-A869-464E-AE9F-881796FB085E}" type="slidenum">
              <a:rPr lang="en-US" smtClean="0"/>
              <a:t>22</a:t>
            </a:fld>
            <a:endParaRPr lang="en-US" dirty="0"/>
          </a:p>
        </p:txBody>
      </p:sp>
      <p:sp>
        <p:nvSpPr>
          <p:cNvPr id="7" name="Title 1">
            <a:extLst>
              <a:ext uri="{FF2B5EF4-FFF2-40B4-BE49-F238E27FC236}">
                <a16:creationId xmlns:a16="http://schemas.microsoft.com/office/drawing/2014/main" id="{18A26B48-77B5-C5D3-E08A-1B7E4B1DB9F6}"/>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مستويات إجراءات الأعمال</a:t>
            </a:r>
            <a:endParaRPr lang="en-US" dirty="0"/>
          </a:p>
        </p:txBody>
      </p:sp>
      <p:sp>
        <p:nvSpPr>
          <p:cNvPr id="4" name="Google Shape;259;p18">
            <a:extLst>
              <a:ext uri="{FF2B5EF4-FFF2-40B4-BE49-F238E27FC236}">
                <a16:creationId xmlns:a16="http://schemas.microsoft.com/office/drawing/2014/main" id="{ABB752E2-3570-0954-DE28-7E3F5C5355CD}"/>
              </a:ext>
            </a:extLst>
          </p:cNvPr>
          <p:cNvSpPr>
            <a:spLocks/>
          </p:cNvSpPr>
          <p:nvPr/>
        </p:nvSpPr>
        <p:spPr bwMode="auto">
          <a:xfrm>
            <a:off x="691445" y="4461208"/>
            <a:ext cx="4379912" cy="1655763"/>
          </a:xfrm>
          <a:custGeom>
            <a:avLst/>
            <a:gdLst>
              <a:gd name="T0" fmla="*/ 2070 w 2759"/>
              <a:gd name="T1" fmla="*/ 261 h 1043"/>
              <a:gd name="T2" fmla="*/ 1379 w 2759"/>
              <a:gd name="T3" fmla="*/ 0 h 1043"/>
              <a:gd name="T4" fmla="*/ 691 w 2759"/>
              <a:gd name="T5" fmla="*/ 261 h 1043"/>
              <a:gd name="T6" fmla="*/ 0 w 2759"/>
              <a:gd name="T7" fmla="*/ 523 h 1043"/>
              <a:gd name="T8" fmla="*/ 691 w 2759"/>
              <a:gd name="T9" fmla="*/ 782 h 1043"/>
              <a:gd name="T10" fmla="*/ 1379 w 2759"/>
              <a:gd name="T11" fmla="*/ 1043 h 1043"/>
              <a:gd name="T12" fmla="*/ 2070 w 2759"/>
              <a:gd name="T13" fmla="*/ 782 h 1043"/>
              <a:gd name="T14" fmla="*/ 2759 w 2759"/>
              <a:gd name="T15" fmla="*/ 523 h 1043"/>
              <a:gd name="T16" fmla="*/ 2070 w 2759"/>
              <a:gd name="T17" fmla="*/ 261 h 1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9" h="1043" extrusionOk="0">
                <a:moveTo>
                  <a:pt x="2070" y="261"/>
                </a:moveTo>
                <a:lnTo>
                  <a:pt x="1379" y="0"/>
                </a:lnTo>
                <a:lnTo>
                  <a:pt x="691" y="261"/>
                </a:lnTo>
                <a:lnTo>
                  <a:pt x="0" y="523"/>
                </a:lnTo>
                <a:lnTo>
                  <a:pt x="691" y="782"/>
                </a:lnTo>
                <a:lnTo>
                  <a:pt x="1379" y="1043"/>
                </a:lnTo>
                <a:lnTo>
                  <a:pt x="2070" y="782"/>
                </a:lnTo>
                <a:lnTo>
                  <a:pt x="2759" y="523"/>
                </a:lnTo>
                <a:lnTo>
                  <a:pt x="2070" y="261"/>
                </a:lnTo>
                <a:close/>
              </a:path>
            </a:pathLst>
          </a:custGeom>
          <a:solidFill>
            <a:srgbClr val="A97C5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5" name="Google Shape;260;p18">
            <a:extLst>
              <a:ext uri="{FF2B5EF4-FFF2-40B4-BE49-F238E27FC236}">
                <a16:creationId xmlns:a16="http://schemas.microsoft.com/office/drawing/2014/main" id="{57A1E30D-9B45-FF61-F7BB-7ECE33A3F50C}"/>
              </a:ext>
            </a:extLst>
          </p:cNvPr>
          <p:cNvSpPr>
            <a:spLocks/>
          </p:cNvSpPr>
          <p:nvPr/>
        </p:nvSpPr>
        <p:spPr bwMode="auto">
          <a:xfrm>
            <a:off x="967670" y="3745246"/>
            <a:ext cx="3827462" cy="1508125"/>
          </a:xfrm>
          <a:custGeom>
            <a:avLst/>
            <a:gdLst>
              <a:gd name="T0" fmla="*/ 1809 w 2411"/>
              <a:gd name="T1" fmla="*/ 264 h 950"/>
              <a:gd name="T2" fmla="*/ 1205 w 2411"/>
              <a:gd name="T3" fmla="*/ 0 h 950"/>
              <a:gd name="T4" fmla="*/ 577 w 2411"/>
              <a:gd name="T5" fmla="*/ 237 h 950"/>
              <a:gd name="T6" fmla="*/ 0 w 2411"/>
              <a:gd name="T7" fmla="*/ 493 h 950"/>
              <a:gd name="T8" fmla="*/ 577 w 2411"/>
              <a:gd name="T9" fmla="*/ 712 h 950"/>
              <a:gd name="T10" fmla="*/ 1205 w 2411"/>
              <a:gd name="T11" fmla="*/ 950 h 950"/>
              <a:gd name="T12" fmla="*/ 1833 w 2411"/>
              <a:gd name="T13" fmla="*/ 712 h 950"/>
              <a:gd name="T14" fmla="*/ 2411 w 2411"/>
              <a:gd name="T15" fmla="*/ 496 h 950"/>
              <a:gd name="T16" fmla="*/ 1809 w 2411"/>
              <a:gd name="T17" fmla="*/ 264 h 9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1" h="950" extrusionOk="0">
                <a:moveTo>
                  <a:pt x="1809" y="264"/>
                </a:moveTo>
                <a:lnTo>
                  <a:pt x="1205" y="0"/>
                </a:lnTo>
                <a:lnTo>
                  <a:pt x="577" y="237"/>
                </a:lnTo>
                <a:lnTo>
                  <a:pt x="0" y="493"/>
                </a:lnTo>
                <a:lnTo>
                  <a:pt x="577" y="712"/>
                </a:lnTo>
                <a:lnTo>
                  <a:pt x="1205" y="950"/>
                </a:lnTo>
                <a:lnTo>
                  <a:pt x="1833" y="712"/>
                </a:lnTo>
                <a:lnTo>
                  <a:pt x="2411" y="496"/>
                </a:lnTo>
                <a:lnTo>
                  <a:pt x="1809" y="264"/>
                </a:lnTo>
                <a:close/>
              </a:path>
            </a:pathLst>
          </a:custGeom>
          <a:solidFill>
            <a:srgbClr val="2F838A"/>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6" name="Google Shape;261;p18">
            <a:extLst>
              <a:ext uri="{FF2B5EF4-FFF2-40B4-BE49-F238E27FC236}">
                <a16:creationId xmlns:a16="http://schemas.microsoft.com/office/drawing/2014/main" id="{AD7684B3-2769-C786-CECE-67E3ECE8F727}"/>
              </a:ext>
            </a:extLst>
          </p:cNvPr>
          <p:cNvSpPr>
            <a:spLocks/>
          </p:cNvSpPr>
          <p:nvPr/>
        </p:nvSpPr>
        <p:spPr bwMode="auto">
          <a:xfrm>
            <a:off x="1364545" y="3153108"/>
            <a:ext cx="3032125" cy="1119188"/>
          </a:xfrm>
          <a:custGeom>
            <a:avLst/>
            <a:gdLst>
              <a:gd name="T0" fmla="*/ 1422 w 1910"/>
              <a:gd name="T1" fmla="*/ 175 h 705"/>
              <a:gd name="T2" fmla="*/ 955 w 1910"/>
              <a:gd name="T3" fmla="*/ 0 h 705"/>
              <a:gd name="T4" fmla="*/ 488 w 1910"/>
              <a:gd name="T5" fmla="*/ 175 h 705"/>
              <a:gd name="T6" fmla="*/ 0 w 1910"/>
              <a:gd name="T7" fmla="*/ 344 h 705"/>
              <a:gd name="T8" fmla="*/ 491 w 1910"/>
              <a:gd name="T9" fmla="*/ 528 h 705"/>
              <a:gd name="T10" fmla="*/ 955 w 1910"/>
              <a:gd name="T11" fmla="*/ 705 h 705"/>
              <a:gd name="T12" fmla="*/ 1411 w 1910"/>
              <a:gd name="T13" fmla="*/ 531 h 705"/>
              <a:gd name="T14" fmla="*/ 1910 w 1910"/>
              <a:gd name="T15" fmla="*/ 344 h 705"/>
              <a:gd name="T16" fmla="*/ 1422 w 1910"/>
              <a:gd name="T17" fmla="*/ 175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10" h="705" extrusionOk="0">
                <a:moveTo>
                  <a:pt x="1422" y="175"/>
                </a:moveTo>
                <a:lnTo>
                  <a:pt x="955" y="0"/>
                </a:lnTo>
                <a:lnTo>
                  <a:pt x="488" y="175"/>
                </a:lnTo>
                <a:lnTo>
                  <a:pt x="0" y="344"/>
                </a:lnTo>
                <a:lnTo>
                  <a:pt x="491" y="528"/>
                </a:lnTo>
                <a:lnTo>
                  <a:pt x="955" y="705"/>
                </a:lnTo>
                <a:lnTo>
                  <a:pt x="1411" y="531"/>
                </a:lnTo>
                <a:lnTo>
                  <a:pt x="1910" y="344"/>
                </a:lnTo>
                <a:lnTo>
                  <a:pt x="1422" y="175"/>
                </a:lnTo>
                <a:close/>
              </a:path>
            </a:pathLst>
          </a:custGeom>
          <a:solidFill>
            <a:srgbClr val="1E4C69"/>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8" name="Google Shape;262;p18">
            <a:extLst>
              <a:ext uri="{FF2B5EF4-FFF2-40B4-BE49-F238E27FC236}">
                <a16:creationId xmlns:a16="http://schemas.microsoft.com/office/drawing/2014/main" id="{052AAD36-B60C-DD8C-1129-CA73905980AA}"/>
              </a:ext>
            </a:extLst>
          </p:cNvPr>
          <p:cNvSpPr>
            <a:spLocks/>
          </p:cNvSpPr>
          <p:nvPr/>
        </p:nvSpPr>
        <p:spPr bwMode="auto">
          <a:xfrm>
            <a:off x="1766182" y="2465721"/>
            <a:ext cx="2232025" cy="830262"/>
          </a:xfrm>
          <a:custGeom>
            <a:avLst/>
            <a:gdLst>
              <a:gd name="T0" fmla="*/ 1048 w 1406"/>
              <a:gd name="T1" fmla="*/ 130 h 523"/>
              <a:gd name="T2" fmla="*/ 702 w 1406"/>
              <a:gd name="T3" fmla="*/ 0 h 523"/>
              <a:gd name="T4" fmla="*/ 359 w 1406"/>
              <a:gd name="T5" fmla="*/ 130 h 523"/>
              <a:gd name="T6" fmla="*/ 0 w 1406"/>
              <a:gd name="T7" fmla="*/ 256 h 523"/>
              <a:gd name="T8" fmla="*/ 359 w 1406"/>
              <a:gd name="T9" fmla="*/ 391 h 523"/>
              <a:gd name="T10" fmla="*/ 702 w 1406"/>
              <a:gd name="T11" fmla="*/ 523 h 523"/>
              <a:gd name="T12" fmla="*/ 1048 w 1406"/>
              <a:gd name="T13" fmla="*/ 391 h 523"/>
              <a:gd name="T14" fmla="*/ 1406 w 1406"/>
              <a:gd name="T15" fmla="*/ 256 h 523"/>
              <a:gd name="T16" fmla="*/ 1048 w 1406"/>
              <a:gd name="T17" fmla="*/ 13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6" h="523" extrusionOk="0">
                <a:moveTo>
                  <a:pt x="1048" y="130"/>
                </a:moveTo>
                <a:lnTo>
                  <a:pt x="702" y="0"/>
                </a:lnTo>
                <a:lnTo>
                  <a:pt x="359" y="130"/>
                </a:lnTo>
                <a:lnTo>
                  <a:pt x="0" y="256"/>
                </a:lnTo>
                <a:lnTo>
                  <a:pt x="359" y="391"/>
                </a:lnTo>
                <a:lnTo>
                  <a:pt x="702" y="523"/>
                </a:lnTo>
                <a:lnTo>
                  <a:pt x="1048" y="391"/>
                </a:lnTo>
                <a:lnTo>
                  <a:pt x="1406" y="256"/>
                </a:lnTo>
                <a:lnTo>
                  <a:pt x="1048" y="130"/>
                </a:lnTo>
                <a:close/>
              </a:path>
            </a:pathLst>
          </a:custGeom>
          <a:solidFill>
            <a:srgbClr val="66213A"/>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9" name="Google Shape;263;p18">
            <a:extLst>
              <a:ext uri="{FF2B5EF4-FFF2-40B4-BE49-F238E27FC236}">
                <a16:creationId xmlns:a16="http://schemas.microsoft.com/office/drawing/2014/main" id="{03C25108-51BE-2C55-384E-91ADE608514B}"/>
              </a:ext>
            </a:extLst>
          </p:cNvPr>
          <p:cNvSpPr>
            <a:spLocks/>
          </p:cNvSpPr>
          <p:nvPr/>
        </p:nvSpPr>
        <p:spPr bwMode="auto">
          <a:xfrm>
            <a:off x="2169407" y="1791033"/>
            <a:ext cx="1427163" cy="515938"/>
          </a:xfrm>
          <a:custGeom>
            <a:avLst/>
            <a:gdLst>
              <a:gd name="T0" fmla="*/ 667 w 899"/>
              <a:gd name="T1" fmla="*/ 71 h 325"/>
              <a:gd name="T2" fmla="*/ 448 w 899"/>
              <a:gd name="T3" fmla="*/ 0 h 325"/>
              <a:gd name="T4" fmla="*/ 234 w 899"/>
              <a:gd name="T5" fmla="*/ 74 h 325"/>
              <a:gd name="T6" fmla="*/ 0 w 899"/>
              <a:gd name="T7" fmla="*/ 153 h 325"/>
              <a:gd name="T8" fmla="*/ 234 w 899"/>
              <a:gd name="T9" fmla="*/ 243 h 325"/>
              <a:gd name="T10" fmla="*/ 448 w 899"/>
              <a:gd name="T11" fmla="*/ 325 h 325"/>
              <a:gd name="T12" fmla="*/ 662 w 899"/>
              <a:gd name="T13" fmla="*/ 243 h 325"/>
              <a:gd name="T14" fmla="*/ 899 w 899"/>
              <a:gd name="T15" fmla="*/ 153 h 325"/>
              <a:gd name="T16" fmla="*/ 667 w 899"/>
              <a:gd name="T17" fmla="*/ 7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9" h="325" extrusionOk="0">
                <a:moveTo>
                  <a:pt x="667" y="71"/>
                </a:moveTo>
                <a:lnTo>
                  <a:pt x="448" y="0"/>
                </a:lnTo>
                <a:lnTo>
                  <a:pt x="234" y="74"/>
                </a:lnTo>
                <a:lnTo>
                  <a:pt x="0" y="153"/>
                </a:lnTo>
                <a:lnTo>
                  <a:pt x="234" y="243"/>
                </a:lnTo>
                <a:lnTo>
                  <a:pt x="448" y="325"/>
                </a:lnTo>
                <a:lnTo>
                  <a:pt x="662" y="243"/>
                </a:lnTo>
                <a:lnTo>
                  <a:pt x="899" y="153"/>
                </a:lnTo>
                <a:lnTo>
                  <a:pt x="667" y="71"/>
                </a:lnTo>
                <a:close/>
              </a:path>
            </a:pathLst>
          </a:custGeom>
          <a:solidFill>
            <a:srgbClr val="BD6E24"/>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10" name="Google Shape;264;p18">
            <a:extLst>
              <a:ext uri="{FF2B5EF4-FFF2-40B4-BE49-F238E27FC236}">
                <a16:creationId xmlns:a16="http://schemas.microsoft.com/office/drawing/2014/main" id="{388767FF-6BC9-2C58-9FE0-934D5FE22DC3}"/>
              </a:ext>
            </a:extLst>
          </p:cNvPr>
          <p:cNvSpPr>
            <a:spLocks/>
          </p:cNvSpPr>
          <p:nvPr/>
        </p:nvSpPr>
        <p:spPr bwMode="auto">
          <a:xfrm>
            <a:off x="1034345" y="3699208"/>
            <a:ext cx="1846262" cy="1387475"/>
          </a:xfrm>
          <a:custGeom>
            <a:avLst/>
            <a:gdLst>
              <a:gd name="T0" fmla="*/ 1163 w 1163"/>
              <a:gd name="T1" fmla="*/ 874 h 874"/>
              <a:gd name="T2" fmla="*/ 1163 w 1163"/>
              <a:gd name="T3" fmla="*/ 361 h 874"/>
              <a:gd name="T4" fmla="*/ 1145 w 1163"/>
              <a:gd name="T5" fmla="*/ 353 h 874"/>
              <a:gd name="T6" fmla="*/ 211 w 1163"/>
              <a:gd name="T7" fmla="*/ 0 h 874"/>
              <a:gd name="T8" fmla="*/ 208 w 1163"/>
              <a:gd name="T9" fmla="*/ 0 h 874"/>
              <a:gd name="T10" fmla="*/ 0 w 1163"/>
              <a:gd name="T11" fmla="*/ 435 h 874"/>
              <a:gd name="T12" fmla="*/ 1163 w 1163"/>
              <a:gd name="T13" fmla="*/ 874 h 874"/>
            </a:gdLst>
            <a:ahLst/>
            <a:cxnLst>
              <a:cxn ang="0">
                <a:pos x="T0" y="T1"/>
              </a:cxn>
              <a:cxn ang="0">
                <a:pos x="T2" y="T3"/>
              </a:cxn>
              <a:cxn ang="0">
                <a:pos x="T4" y="T5"/>
              </a:cxn>
              <a:cxn ang="0">
                <a:pos x="T6" y="T7"/>
              </a:cxn>
              <a:cxn ang="0">
                <a:pos x="T8" y="T9"/>
              </a:cxn>
              <a:cxn ang="0">
                <a:pos x="T10" y="T11"/>
              </a:cxn>
              <a:cxn ang="0">
                <a:pos x="T12" y="T13"/>
              </a:cxn>
            </a:cxnLst>
            <a:rect l="0" t="0" r="r" b="b"/>
            <a:pathLst>
              <a:path w="1163" h="874" extrusionOk="0">
                <a:moveTo>
                  <a:pt x="1163" y="874"/>
                </a:moveTo>
                <a:lnTo>
                  <a:pt x="1163" y="361"/>
                </a:lnTo>
                <a:lnTo>
                  <a:pt x="1145" y="353"/>
                </a:lnTo>
                <a:lnTo>
                  <a:pt x="211" y="0"/>
                </a:lnTo>
                <a:lnTo>
                  <a:pt x="208" y="0"/>
                </a:lnTo>
                <a:lnTo>
                  <a:pt x="0" y="435"/>
                </a:lnTo>
                <a:lnTo>
                  <a:pt x="1163" y="874"/>
                </a:lnTo>
                <a:close/>
              </a:path>
            </a:pathLst>
          </a:custGeom>
          <a:solidFill>
            <a:srgbClr val="69D1DA"/>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pPr eaLnBrk="0" fontAlgn="base" hangingPunct="0">
              <a:spcBef>
                <a:spcPct val="0"/>
              </a:spcBef>
              <a:spcAft>
                <a:spcPct val="0"/>
              </a:spcAft>
            </a:pPr>
            <a:endParaRPr lang="en-US" sz="1400">
              <a:solidFill>
                <a:srgbClr val="000000"/>
              </a:solidFill>
              <a:latin typeface="Arial" panose="020B0604020202020204" pitchFamily="34" charset="0"/>
              <a:cs typeface="Arial" panose="020B0604020202020204" pitchFamily="34" charset="0"/>
            </a:endParaRPr>
          </a:p>
        </p:txBody>
      </p:sp>
      <p:sp>
        <p:nvSpPr>
          <p:cNvPr id="11" name="Google Shape;265;p18">
            <a:extLst>
              <a:ext uri="{FF2B5EF4-FFF2-40B4-BE49-F238E27FC236}">
                <a16:creationId xmlns:a16="http://schemas.microsoft.com/office/drawing/2014/main" id="{39D7B83A-7E2E-2DE0-547B-F2D2515C71AA}"/>
              </a:ext>
            </a:extLst>
          </p:cNvPr>
          <p:cNvSpPr>
            <a:spLocks/>
          </p:cNvSpPr>
          <p:nvPr/>
        </p:nvSpPr>
        <p:spPr bwMode="auto">
          <a:xfrm>
            <a:off x="1834445" y="2033921"/>
            <a:ext cx="1046162" cy="1093787"/>
          </a:xfrm>
          <a:custGeom>
            <a:avLst/>
            <a:gdLst>
              <a:gd name="T0" fmla="*/ 659 w 659"/>
              <a:gd name="T1" fmla="*/ 689 h 689"/>
              <a:gd name="T2" fmla="*/ 659 w 659"/>
              <a:gd name="T3" fmla="*/ 172 h 689"/>
              <a:gd name="T4" fmla="*/ 641 w 659"/>
              <a:gd name="T5" fmla="*/ 164 h 689"/>
              <a:gd name="T6" fmla="*/ 213 w 659"/>
              <a:gd name="T7" fmla="*/ 3 h 689"/>
              <a:gd name="T8" fmla="*/ 211 w 659"/>
              <a:gd name="T9" fmla="*/ 0 h 689"/>
              <a:gd name="T10" fmla="*/ 0 w 659"/>
              <a:gd name="T11" fmla="*/ 439 h 689"/>
              <a:gd name="T12" fmla="*/ 659 w 659"/>
              <a:gd name="T13" fmla="*/ 689 h 689"/>
            </a:gdLst>
            <a:ahLst/>
            <a:cxnLst>
              <a:cxn ang="0">
                <a:pos x="T0" y="T1"/>
              </a:cxn>
              <a:cxn ang="0">
                <a:pos x="T2" y="T3"/>
              </a:cxn>
              <a:cxn ang="0">
                <a:pos x="T4" y="T5"/>
              </a:cxn>
              <a:cxn ang="0">
                <a:pos x="T6" y="T7"/>
              </a:cxn>
              <a:cxn ang="0">
                <a:pos x="T8" y="T9"/>
              </a:cxn>
              <a:cxn ang="0">
                <a:pos x="T10" y="T11"/>
              </a:cxn>
              <a:cxn ang="0">
                <a:pos x="T12" y="T13"/>
              </a:cxn>
            </a:cxnLst>
            <a:rect l="0" t="0" r="r" b="b"/>
            <a:pathLst>
              <a:path w="659" h="689" extrusionOk="0">
                <a:moveTo>
                  <a:pt x="659" y="689"/>
                </a:moveTo>
                <a:lnTo>
                  <a:pt x="659" y="172"/>
                </a:lnTo>
                <a:lnTo>
                  <a:pt x="641" y="164"/>
                </a:lnTo>
                <a:lnTo>
                  <a:pt x="213" y="3"/>
                </a:lnTo>
                <a:lnTo>
                  <a:pt x="211" y="0"/>
                </a:lnTo>
                <a:lnTo>
                  <a:pt x="0" y="439"/>
                </a:lnTo>
                <a:lnTo>
                  <a:pt x="659" y="689"/>
                </a:lnTo>
                <a:close/>
              </a:path>
            </a:pathLst>
          </a:custGeom>
          <a:solidFill>
            <a:srgbClr val="8C103D"/>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pPr eaLnBrk="0" fontAlgn="base" hangingPunct="0">
              <a:spcBef>
                <a:spcPct val="0"/>
              </a:spcBef>
              <a:spcAft>
                <a:spcPct val="0"/>
              </a:spcAft>
            </a:pPr>
            <a:endParaRPr lang="en-US" sz="1400">
              <a:solidFill>
                <a:srgbClr val="000000"/>
              </a:solidFill>
              <a:latin typeface="Arial" panose="020B0604020202020204" pitchFamily="34" charset="0"/>
              <a:cs typeface="Arial" panose="020B0604020202020204" pitchFamily="34" charset="0"/>
            </a:endParaRPr>
          </a:p>
        </p:txBody>
      </p:sp>
      <p:sp>
        <p:nvSpPr>
          <p:cNvPr id="12" name="Google Shape;266;p18">
            <a:extLst>
              <a:ext uri="{FF2B5EF4-FFF2-40B4-BE49-F238E27FC236}">
                <a16:creationId xmlns:a16="http://schemas.microsoft.com/office/drawing/2014/main" id="{9DCB7DA2-6FB9-2321-EDE6-7918E2497DF7}"/>
              </a:ext>
            </a:extLst>
          </p:cNvPr>
          <p:cNvSpPr>
            <a:spLocks/>
          </p:cNvSpPr>
          <p:nvPr/>
        </p:nvSpPr>
        <p:spPr bwMode="auto">
          <a:xfrm>
            <a:off x="1435982" y="2872121"/>
            <a:ext cx="1444625" cy="1233487"/>
          </a:xfrm>
          <a:custGeom>
            <a:avLst/>
            <a:gdLst>
              <a:gd name="T0" fmla="*/ 910 w 910"/>
              <a:gd name="T1" fmla="*/ 264 h 777"/>
              <a:gd name="T2" fmla="*/ 894 w 910"/>
              <a:gd name="T3" fmla="*/ 259 h 777"/>
              <a:gd name="T4" fmla="*/ 208 w 910"/>
              <a:gd name="T5" fmla="*/ 0 h 777"/>
              <a:gd name="T6" fmla="*/ 0 w 910"/>
              <a:gd name="T7" fmla="*/ 431 h 777"/>
              <a:gd name="T8" fmla="*/ 910 w 910"/>
              <a:gd name="T9" fmla="*/ 777 h 777"/>
              <a:gd name="T10" fmla="*/ 910 w 910"/>
              <a:gd name="T11" fmla="*/ 264 h 777"/>
            </a:gdLst>
            <a:ahLst/>
            <a:cxnLst>
              <a:cxn ang="0">
                <a:pos x="T0" y="T1"/>
              </a:cxn>
              <a:cxn ang="0">
                <a:pos x="T2" y="T3"/>
              </a:cxn>
              <a:cxn ang="0">
                <a:pos x="T4" y="T5"/>
              </a:cxn>
              <a:cxn ang="0">
                <a:pos x="T6" y="T7"/>
              </a:cxn>
              <a:cxn ang="0">
                <a:pos x="T8" y="T9"/>
              </a:cxn>
              <a:cxn ang="0">
                <a:pos x="T10" y="T11"/>
              </a:cxn>
            </a:cxnLst>
            <a:rect l="0" t="0" r="r" b="b"/>
            <a:pathLst>
              <a:path w="910" h="777" extrusionOk="0">
                <a:moveTo>
                  <a:pt x="910" y="264"/>
                </a:moveTo>
                <a:lnTo>
                  <a:pt x="894" y="259"/>
                </a:lnTo>
                <a:lnTo>
                  <a:pt x="208" y="0"/>
                </a:lnTo>
                <a:lnTo>
                  <a:pt x="0" y="431"/>
                </a:lnTo>
                <a:lnTo>
                  <a:pt x="910" y="777"/>
                </a:lnTo>
                <a:lnTo>
                  <a:pt x="910" y="264"/>
                </a:lnTo>
                <a:close/>
              </a:path>
            </a:pathLst>
          </a:custGeom>
          <a:solidFill>
            <a:srgbClr val="AD2858"/>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13" name="Google Shape;267;p18">
            <a:extLst>
              <a:ext uri="{FF2B5EF4-FFF2-40B4-BE49-F238E27FC236}">
                <a16:creationId xmlns:a16="http://schemas.microsoft.com/office/drawing/2014/main" id="{204AED6B-6E0E-FD2F-FF6C-93FD956EE3E9}"/>
              </a:ext>
            </a:extLst>
          </p:cNvPr>
          <p:cNvSpPr>
            <a:spLocks/>
          </p:cNvSpPr>
          <p:nvPr/>
        </p:nvSpPr>
        <p:spPr bwMode="auto">
          <a:xfrm>
            <a:off x="2236082" y="554371"/>
            <a:ext cx="644525" cy="1584325"/>
          </a:xfrm>
          <a:custGeom>
            <a:avLst/>
            <a:gdLst>
              <a:gd name="T0" fmla="*/ 406 w 406"/>
              <a:gd name="T1" fmla="*/ 998 h 998"/>
              <a:gd name="T2" fmla="*/ 406 w 406"/>
              <a:gd name="T3" fmla="*/ 0 h 998"/>
              <a:gd name="T4" fmla="*/ 0 w 406"/>
              <a:gd name="T5" fmla="*/ 845 h 998"/>
              <a:gd name="T6" fmla="*/ 406 w 406"/>
              <a:gd name="T7" fmla="*/ 998 h 998"/>
            </a:gdLst>
            <a:ahLst/>
            <a:cxnLst>
              <a:cxn ang="0">
                <a:pos x="T0" y="T1"/>
              </a:cxn>
              <a:cxn ang="0">
                <a:pos x="T2" y="T3"/>
              </a:cxn>
              <a:cxn ang="0">
                <a:pos x="T4" y="T5"/>
              </a:cxn>
              <a:cxn ang="0">
                <a:pos x="T6" y="T7"/>
              </a:cxn>
            </a:cxnLst>
            <a:rect l="0" t="0" r="r" b="b"/>
            <a:pathLst>
              <a:path w="406" h="998" extrusionOk="0">
                <a:moveTo>
                  <a:pt x="406" y="998"/>
                </a:moveTo>
                <a:lnTo>
                  <a:pt x="406" y="0"/>
                </a:lnTo>
                <a:lnTo>
                  <a:pt x="0" y="845"/>
                </a:lnTo>
                <a:lnTo>
                  <a:pt x="406" y="998"/>
                </a:lnTo>
                <a:close/>
              </a:path>
            </a:pathLst>
          </a:custGeom>
          <a:solidFill>
            <a:srgbClr val="FFDF9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14" name="Google Shape;268;p18">
            <a:extLst>
              <a:ext uri="{FF2B5EF4-FFF2-40B4-BE49-F238E27FC236}">
                <a16:creationId xmlns:a16="http://schemas.microsoft.com/office/drawing/2014/main" id="{2019C264-3B7B-93D3-7156-AEA6F95F8556}"/>
              </a:ext>
            </a:extLst>
          </p:cNvPr>
          <p:cNvSpPr>
            <a:spLocks/>
          </p:cNvSpPr>
          <p:nvPr/>
        </p:nvSpPr>
        <p:spPr bwMode="auto">
          <a:xfrm>
            <a:off x="610482" y="4527883"/>
            <a:ext cx="2270125" cy="1589088"/>
          </a:xfrm>
          <a:custGeom>
            <a:avLst/>
            <a:gdLst>
              <a:gd name="T0" fmla="*/ 1414 w 1430"/>
              <a:gd name="T1" fmla="*/ 452 h 1001"/>
              <a:gd name="T2" fmla="*/ 227 w 1430"/>
              <a:gd name="T3" fmla="*/ 3 h 1001"/>
              <a:gd name="T4" fmla="*/ 225 w 1430"/>
              <a:gd name="T5" fmla="*/ 0 h 1001"/>
              <a:gd name="T6" fmla="*/ 0 w 1430"/>
              <a:gd name="T7" fmla="*/ 460 h 1001"/>
              <a:gd name="T8" fmla="*/ 1430 w 1430"/>
              <a:gd name="T9" fmla="*/ 1001 h 1001"/>
              <a:gd name="T10" fmla="*/ 1430 w 1430"/>
              <a:gd name="T11" fmla="*/ 457 h 1001"/>
              <a:gd name="T12" fmla="*/ 1414 w 1430"/>
              <a:gd name="T13" fmla="*/ 452 h 1001"/>
            </a:gdLst>
            <a:ahLst/>
            <a:cxnLst>
              <a:cxn ang="0">
                <a:pos x="T0" y="T1"/>
              </a:cxn>
              <a:cxn ang="0">
                <a:pos x="T2" y="T3"/>
              </a:cxn>
              <a:cxn ang="0">
                <a:pos x="T4" y="T5"/>
              </a:cxn>
              <a:cxn ang="0">
                <a:pos x="T6" y="T7"/>
              </a:cxn>
              <a:cxn ang="0">
                <a:pos x="T8" y="T9"/>
              </a:cxn>
              <a:cxn ang="0">
                <a:pos x="T10" y="T11"/>
              </a:cxn>
              <a:cxn ang="0">
                <a:pos x="T12" y="T13"/>
              </a:cxn>
            </a:cxnLst>
            <a:rect l="0" t="0" r="r" b="b"/>
            <a:pathLst>
              <a:path w="1430" h="1001" extrusionOk="0">
                <a:moveTo>
                  <a:pt x="1414" y="452"/>
                </a:moveTo>
                <a:lnTo>
                  <a:pt x="227" y="3"/>
                </a:lnTo>
                <a:lnTo>
                  <a:pt x="225" y="0"/>
                </a:lnTo>
                <a:lnTo>
                  <a:pt x="0" y="460"/>
                </a:lnTo>
                <a:lnTo>
                  <a:pt x="1430" y="1001"/>
                </a:lnTo>
                <a:lnTo>
                  <a:pt x="1430" y="457"/>
                </a:lnTo>
                <a:lnTo>
                  <a:pt x="1414" y="452"/>
                </a:lnTo>
                <a:close/>
              </a:path>
            </a:pathLst>
          </a:custGeom>
          <a:solidFill>
            <a:srgbClr val="9DE4EB"/>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15" name="Google Shape;269;p18">
            <a:extLst>
              <a:ext uri="{FF2B5EF4-FFF2-40B4-BE49-F238E27FC236}">
                <a16:creationId xmlns:a16="http://schemas.microsoft.com/office/drawing/2014/main" id="{F3A5F9F8-FE93-23ED-4322-1CC7C646A2D7}"/>
              </a:ext>
            </a:extLst>
          </p:cNvPr>
          <p:cNvSpPr>
            <a:spLocks/>
          </p:cNvSpPr>
          <p:nvPr/>
        </p:nvSpPr>
        <p:spPr bwMode="auto">
          <a:xfrm>
            <a:off x="2880607" y="3692858"/>
            <a:ext cx="1851025" cy="1387475"/>
          </a:xfrm>
          <a:custGeom>
            <a:avLst/>
            <a:gdLst>
              <a:gd name="T0" fmla="*/ 0 w 1166"/>
              <a:gd name="T1" fmla="*/ 874 h 874"/>
              <a:gd name="T2" fmla="*/ 0 w 1166"/>
              <a:gd name="T3" fmla="*/ 361 h 874"/>
              <a:gd name="T4" fmla="*/ 19 w 1166"/>
              <a:gd name="T5" fmla="*/ 353 h 874"/>
              <a:gd name="T6" fmla="*/ 955 w 1166"/>
              <a:gd name="T7" fmla="*/ 0 h 874"/>
              <a:gd name="T8" fmla="*/ 1166 w 1166"/>
              <a:gd name="T9" fmla="*/ 435 h 874"/>
              <a:gd name="T10" fmla="*/ 0 w 1166"/>
              <a:gd name="T11" fmla="*/ 874 h 874"/>
            </a:gdLst>
            <a:ahLst/>
            <a:cxnLst>
              <a:cxn ang="0">
                <a:pos x="T0" y="T1"/>
              </a:cxn>
              <a:cxn ang="0">
                <a:pos x="T2" y="T3"/>
              </a:cxn>
              <a:cxn ang="0">
                <a:pos x="T4" y="T5"/>
              </a:cxn>
              <a:cxn ang="0">
                <a:pos x="T6" y="T7"/>
              </a:cxn>
              <a:cxn ang="0">
                <a:pos x="T8" y="T9"/>
              </a:cxn>
              <a:cxn ang="0">
                <a:pos x="T10" y="T11"/>
              </a:cxn>
            </a:cxnLst>
            <a:rect l="0" t="0" r="r" b="b"/>
            <a:pathLst>
              <a:path w="1166" h="874" extrusionOk="0">
                <a:moveTo>
                  <a:pt x="0" y="874"/>
                </a:moveTo>
                <a:lnTo>
                  <a:pt x="0" y="361"/>
                </a:lnTo>
                <a:lnTo>
                  <a:pt x="19" y="353"/>
                </a:lnTo>
                <a:lnTo>
                  <a:pt x="955" y="0"/>
                </a:lnTo>
                <a:lnTo>
                  <a:pt x="1166" y="435"/>
                </a:lnTo>
                <a:lnTo>
                  <a:pt x="0" y="874"/>
                </a:lnTo>
                <a:close/>
              </a:path>
            </a:pathLst>
          </a:custGeom>
          <a:solidFill>
            <a:srgbClr val="69D1DA"/>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pPr eaLnBrk="0" fontAlgn="base" hangingPunct="0">
              <a:spcBef>
                <a:spcPct val="0"/>
              </a:spcBef>
              <a:spcAft>
                <a:spcPct val="0"/>
              </a:spcAft>
            </a:pPr>
            <a:endParaRPr lang="en-US" sz="1400">
              <a:solidFill>
                <a:srgbClr val="000000"/>
              </a:solidFill>
              <a:latin typeface="Arial" panose="020B0604020202020204" pitchFamily="34" charset="0"/>
              <a:cs typeface="Arial" panose="020B0604020202020204" pitchFamily="34" charset="0"/>
            </a:endParaRPr>
          </a:p>
        </p:txBody>
      </p:sp>
      <p:sp>
        <p:nvSpPr>
          <p:cNvPr id="16" name="Google Shape;270;p18">
            <a:extLst>
              <a:ext uri="{FF2B5EF4-FFF2-40B4-BE49-F238E27FC236}">
                <a16:creationId xmlns:a16="http://schemas.microsoft.com/office/drawing/2014/main" id="{3A2A7122-3008-A953-B077-E20B64F936B0}"/>
              </a:ext>
            </a:extLst>
          </p:cNvPr>
          <p:cNvSpPr>
            <a:spLocks/>
          </p:cNvSpPr>
          <p:nvPr/>
        </p:nvSpPr>
        <p:spPr bwMode="auto">
          <a:xfrm>
            <a:off x="2880607" y="2033921"/>
            <a:ext cx="1050925" cy="1093787"/>
          </a:xfrm>
          <a:custGeom>
            <a:avLst/>
            <a:gdLst>
              <a:gd name="T0" fmla="*/ 0 w 662"/>
              <a:gd name="T1" fmla="*/ 689 h 689"/>
              <a:gd name="T2" fmla="*/ 0 w 662"/>
              <a:gd name="T3" fmla="*/ 172 h 689"/>
              <a:gd name="T4" fmla="*/ 19 w 662"/>
              <a:gd name="T5" fmla="*/ 164 h 689"/>
              <a:gd name="T6" fmla="*/ 446 w 662"/>
              <a:gd name="T7" fmla="*/ 3 h 689"/>
              <a:gd name="T8" fmla="*/ 451 w 662"/>
              <a:gd name="T9" fmla="*/ 0 h 689"/>
              <a:gd name="T10" fmla="*/ 662 w 662"/>
              <a:gd name="T11" fmla="*/ 439 h 689"/>
              <a:gd name="T12" fmla="*/ 0 w 662"/>
              <a:gd name="T13" fmla="*/ 689 h 689"/>
            </a:gdLst>
            <a:ahLst/>
            <a:cxnLst>
              <a:cxn ang="0">
                <a:pos x="T0" y="T1"/>
              </a:cxn>
              <a:cxn ang="0">
                <a:pos x="T2" y="T3"/>
              </a:cxn>
              <a:cxn ang="0">
                <a:pos x="T4" y="T5"/>
              </a:cxn>
              <a:cxn ang="0">
                <a:pos x="T6" y="T7"/>
              </a:cxn>
              <a:cxn ang="0">
                <a:pos x="T8" y="T9"/>
              </a:cxn>
              <a:cxn ang="0">
                <a:pos x="T10" y="T11"/>
              </a:cxn>
              <a:cxn ang="0">
                <a:pos x="T12" y="T13"/>
              </a:cxn>
            </a:cxnLst>
            <a:rect l="0" t="0" r="r" b="b"/>
            <a:pathLst>
              <a:path w="662" h="689" extrusionOk="0">
                <a:moveTo>
                  <a:pt x="0" y="689"/>
                </a:moveTo>
                <a:lnTo>
                  <a:pt x="0" y="172"/>
                </a:lnTo>
                <a:lnTo>
                  <a:pt x="19" y="164"/>
                </a:lnTo>
                <a:lnTo>
                  <a:pt x="446" y="3"/>
                </a:lnTo>
                <a:lnTo>
                  <a:pt x="451" y="0"/>
                </a:lnTo>
                <a:lnTo>
                  <a:pt x="662" y="439"/>
                </a:lnTo>
                <a:lnTo>
                  <a:pt x="0" y="689"/>
                </a:lnTo>
                <a:close/>
              </a:path>
            </a:pathLst>
          </a:custGeom>
          <a:solidFill>
            <a:srgbClr val="8C103D"/>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pPr eaLnBrk="0" fontAlgn="base" hangingPunct="0">
              <a:spcBef>
                <a:spcPct val="0"/>
              </a:spcBef>
              <a:spcAft>
                <a:spcPct val="0"/>
              </a:spcAft>
            </a:pPr>
            <a:endParaRPr lang="en-US" sz="1400">
              <a:solidFill>
                <a:srgbClr val="000000"/>
              </a:solidFill>
              <a:latin typeface="Arial" panose="020B0604020202020204" pitchFamily="34" charset="0"/>
              <a:cs typeface="Arial" panose="020B0604020202020204" pitchFamily="34" charset="0"/>
            </a:endParaRPr>
          </a:p>
        </p:txBody>
      </p:sp>
      <p:sp>
        <p:nvSpPr>
          <p:cNvPr id="17" name="Google Shape;271;p18">
            <a:extLst>
              <a:ext uri="{FF2B5EF4-FFF2-40B4-BE49-F238E27FC236}">
                <a16:creationId xmlns:a16="http://schemas.microsoft.com/office/drawing/2014/main" id="{BDD333AB-2498-4827-AC94-28B83F5ABFC9}"/>
              </a:ext>
            </a:extLst>
          </p:cNvPr>
          <p:cNvSpPr>
            <a:spLocks/>
          </p:cNvSpPr>
          <p:nvPr/>
        </p:nvSpPr>
        <p:spPr bwMode="auto">
          <a:xfrm>
            <a:off x="2880607" y="2872121"/>
            <a:ext cx="1449388" cy="1233487"/>
          </a:xfrm>
          <a:custGeom>
            <a:avLst/>
            <a:gdLst>
              <a:gd name="T0" fmla="*/ 0 w 913"/>
              <a:gd name="T1" fmla="*/ 264 h 777"/>
              <a:gd name="T2" fmla="*/ 19 w 913"/>
              <a:gd name="T3" fmla="*/ 259 h 777"/>
              <a:gd name="T4" fmla="*/ 704 w 913"/>
              <a:gd name="T5" fmla="*/ 0 h 777"/>
              <a:gd name="T6" fmla="*/ 913 w 913"/>
              <a:gd name="T7" fmla="*/ 431 h 777"/>
              <a:gd name="T8" fmla="*/ 0 w 913"/>
              <a:gd name="T9" fmla="*/ 777 h 777"/>
              <a:gd name="T10" fmla="*/ 0 w 913"/>
              <a:gd name="T11" fmla="*/ 264 h 777"/>
            </a:gdLst>
            <a:ahLst/>
            <a:cxnLst>
              <a:cxn ang="0">
                <a:pos x="T0" y="T1"/>
              </a:cxn>
              <a:cxn ang="0">
                <a:pos x="T2" y="T3"/>
              </a:cxn>
              <a:cxn ang="0">
                <a:pos x="T4" y="T5"/>
              </a:cxn>
              <a:cxn ang="0">
                <a:pos x="T6" y="T7"/>
              </a:cxn>
              <a:cxn ang="0">
                <a:pos x="T8" y="T9"/>
              </a:cxn>
              <a:cxn ang="0">
                <a:pos x="T10" y="T11"/>
              </a:cxn>
            </a:cxnLst>
            <a:rect l="0" t="0" r="r" b="b"/>
            <a:pathLst>
              <a:path w="913" h="777" extrusionOk="0">
                <a:moveTo>
                  <a:pt x="0" y="264"/>
                </a:moveTo>
                <a:lnTo>
                  <a:pt x="19" y="259"/>
                </a:lnTo>
                <a:lnTo>
                  <a:pt x="704" y="0"/>
                </a:lnTo>
                <a:lnTo>
                  <a:pt x="913" y="431"/>
                </a:lnTo>
                <a:lnTo>
                  <a:pt x="0" y="777"/>
                </a:lnTo>
                <a:lnTo>
                  <a:pt x="0" y="264"/>
                </a:lnTo>
                <a:close/>
              </a:path>
            </a:pathLst>
          </a:custGeom>
          <a:solidFill>
            <a:srgbClr val="8C103D"/>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18" name="Google Shape;272;p18">
            <a:extLst>
              <a:ext uri="{FF2B5EF4-FFF2-40B4-BE49-F238E27FC236}">
                <a16:creationId xmlns:a16="http://schemas.microsoft.com/office/drawing/2014/main" id="{79CF2F8C-2C92-C47D-09D0-ECAD29BE02CB}"/>
              </a:ext>
            </a:extLst>
          </p:cNvPr>
          <p:cNvSpPr>
            <a:spLocks/>
          </p:cNvSpPr>
          <p:nvPr/>
        </p:nvSpPr>
        <p:spPr bwMode="auto">
          <a:xfrm>
            <a:off x="2880607" y="554371"/>
            <a:ext cx="644525" cy="1584325"/>
          </a:xfrm>
          <a:custGeom>
            <a:avLst/>
            <a:gdLst>
              <a:gd name="T0" fmla="*/ 0 w 406"/>
              <a:gd name="T1" fmla="*/ 998 h 998"/>
              <a:gd name="T2" fmla="*/ 0 w 406"/>
              <a:gd name="T3" fmla="*/ 0 h 998"/>
              <a:gd name="T4" fmla="*/ 406 w 406"/>
              <a:gd name="T5" fmla="*/ 845 h 998"/>
              <a:gd name="T6" fmla="*/ 0 w 406"/>
              <a:gd name="T7" fmla="*/ 998 h 998"/>
            </a:gdLst>
            <a:ahLst/>
            <a:cxnLst>
              <a:cxn ang="0">
                <a:pos x="T0" y="T1"/>
              </a:cxn>
              <a:cxn ang="0">
                <a:pos x="T2" y="T3"/>
              </a:cxn>
              <a:cxn ang="0">
                <a:pos x="T4" y="T5"/>
              </a:cxn>
              <a:cxn ang="0">
                <a:pos x="T6" y="T7"/>
              </a:cxn>
            </a:cxnLst>
            <a:rect l="0" t="0" r="r" b="b"/>
            <a:pathLst>
              <a:path w="406" h="998" extrusionOk="0">
                <a:moveTo>
                  <a:pt x="0" y="998"/>
                </a:moveTo>
                <a:lnTo>
                  <a:pt x="0" y="0"/>
                </a:lnTo>
                <a:lnTo>
                  <a:pt x="406" y="845"/>
                </a:lnTo>
                <a:lnTo>
                  <a:pt x="0" y="998"/>
                </a:lnTo>
                <a:close/>
              </a:path>
            </a:pathLst>
          </a:custGeom>
          <a:solidFill>
            <a:srgbClr val="FFCC5E"/>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19" name="Google Shape;273;p18">
            <a:extLst>
              <a:ext uri="{FF2B5EF4-FFF2-40B4-BE49-F238E27FC236}">
                <a16:creationId xmlns:a16="http://schemas.microsoft.com/office/drawing/2014/main" id="{76750B65-3F04-D779-7F61-8C034A8F34E8}"/>
              </a:ext>
            </a:extLst>
          </p:cNvPr>
          <p:cNvSpPr>
            <a:spLocks/>
          </p:cNvSpPr>
          <p:nvPr/>
        </p:nvSpPr>
        <p:spPr bwMode="auto">
          <a:xfrm>
            <a:off x="2880607" y="4521533"/>
            <a:ext cx="2270125" cy="1589088"/>
          </a:xfrm>
          <a:custGeom>
            <a:avLst/>
            <a:gdLst>
              <a:gd name="T0" fmla="*/ 19 w 1430"/>
              <a:gd name="T1" fmla="*/ 452 h 1001"/>
              <a:gd name="T2" fmla="*/ 1206 w 1430"/>
              <a:gd name="T3" fmla="*/ 3 h 1001"/>
              <a:gd name="T4" fmla="*/ 1208 w 1430"/>
              <a:gd name="T5" fmla="*/ 0 h 1001"/>
              <a:gd name="T6" fmla="*/ 1430 w 1430"/>
              <a:gd name="T7" fmla="*/ 460 h 1001"/>
              <a:gd name="T8" fmla="*/ 0 w 1430"/>
              <a:gd name="T9" fmla="*/ 1001 h 1001"/>
              <a:gd name="T10" fmla="*/ 0 w 1430"/>
              <a:gd name="T11" fmla="*/ 457 h 1001"/>
              <a:gd name="T12" fmla="*/ 19 w 1430"/>
              <a:gd name="T13" fmla="*/ 452 h 1001"/>
            </a:gdLst>
            <a:ahLst/>
            <a:cxnLst>
              <a:cxn ang="0">
                <a:pos x="T0" y="T1"/>
              </a:cxn>
              <a:cxn ang="0">
                <a:pos x="T2" y="T3"/>
              </a:cxn>
              <a:cxn ang="0">
                <a:pos x="T4" y="T5"/>
              </a:cxn>
              <a:cxn ang="0">
                <a:pos x="T6" y="T7"/>
              </a:cxn>
              <a:cxn ang="0">
                <a:pos x="T8" y="T9"/>
              </a:cxn>
              <a:cxn ang="0">
                <a:pos x="T10" y="T11"/>
              </a:cxn>
              <a:cxn ang="0">
                <a:pos x="T12" y="T13"/>
              </a:cxn>
            </a:cxnLst>
            <a:rect l="0" t="0" r="r" b="b"/>
            <a:pathLst>
              <a:path w="1430" h="1001" extrusionOk="0">
                <a:moveTo>
                  <a:pt x="19" y="452"/>
                </a:moveTo>
                <a:lnTo>
                  <a:pt x="1206" y="3"/>
                </a:lnTo>
                <a:lnTo>
                  <a:pt x="1208" y="0"/>
                </a:lnTo>
                <a:lnTo>
                  <a:pt x="1430" y="460"/>
                </a:lnTo>
                <a:lnTo>
                  <a:pt x="0" y="1001"/>
                </a:lnTo>
                <a:lnTo>
                  <a:pt x="0" y="457"/>
                </a:lnTo>
                <a:lnTo>
                  <a:pt x="19" y="452"/>
                </a:lnTo>
                <a:close/>
              </a:path>
            </a:pathLst>
          </a:custGeom>
          <a:solidFill>
            <a:srgbClr val="69D1DA"/>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endParaRPr lang="en-US"/>
          </a:p>
        </p:txBody>
      </p:sp>
      <p:sp>
        <p:nvSpPr>
          <p:cNvPr id="20" name="TextBox 19">
            <a:extLst>
              <a:ext uri="{FF2B5EF4-FFF2-40B4-BE49-F238E27FC236}">
                <a16:creationId xmlns:a16="http://schemas.microsoft.com/office/drawing/2014/main" id="{350A9922-2B7E-8B8B-1074-23AED033F1B6}"/>
              </a:ext>
            </a:extLst>
          </p:cNvPr>
          <p:cNvSpPr txBox="1"/>
          <p:nvPr/>
        </p:nvSpPr>
        <p:spPr>
          <a:xfrm>
            <a:off x="3140711" y="882352"/>
            <a:ext cx="1687000" cy="646331"/>
          </a:xfrm>
          <a:prstGeom prst="rect">
            <a:avLst/>
          </a:prstGeom>
          <a:noFill/>
        </p:spPr>
        <p:txBody>
          <a:bodyPr wrap="square" rtlCol="0">
            <a:spAutoFit/>
          </a:bodyPr>
          <a:lstStyle/>
          <a:p>
            <a:pPr algn="ctr" rtl="1"/>
            <a:r>
              <a:rPr lang="ar-SA" b="1" dirty="0">
                <a:solidFill>
                  <a:srgbClr val="FFC000"/>
                </a:solidFill>
              </a:rPr>
              <a:t>المستوي الأول</a:t>
            </a:r>
            <a:br>
              <a:rPr lang="ar-SA" b="1" dirty="0">
                <a:solidFill>
                  <a:srgbClr val="FFC000"/>
                </a:solidFill>
              </a:rPr>
            </a:br>
            <a:r>
              <a:rPr lang="ar-SA" b="1" dirty="0">
                <a:solidFill>
                  <a:srgbClr val="FFC000"/>
                </a:solidFill>
              </a:rPr>
              <a:t> قدرات الأعمال</a:t>
            </a:r>
            <a:endParaRPr lang="en-US" b="1" dirty="0">
              <a:solidFill>
                <a:srgbClr val="FFC000"/>
              </a:solidFill>
            </a:endParaRPr>
          </a:p>
        </p:txBody>
      </p:sp>
      <p:sp>
        <p:nvSpPr>
          <p:cNvPr id="21" name="TextBox 20">
            <a:extLst>
              <a:ext uri="{FF2B5EF4-FFF2-40B4-BE49-F238E27FC236}">
                <a16:creationId xmlns:a16="http://schemas.microsoft.com/office/drawing/2014/main" id="{C768687B-6054-8869-FC1B-09E016B52775}"/>
              </a:ext>
            </a:extLst>
          </p:cNvPr>
          <p:cNvSpPr txBox="1"/>
          <p:nvPr/>
        </p:nvSpPr>
        <p:spPr>
          <a:xfrm>
            <a:off x="4133753" y="2422975"/>
            <a:ext cx="1851025" cy="646331"/>
          </a:xfrm>
          <a:prstGeom prst="rect">
            <a:avLst/>
          </a:prstGeom>
          <a:noFill/>
        </p:spPr>
        <p:txBody>
          <a:bodyPr wrap="square" rtlCol="0">
            <a:spAutoFit/>
          </a:bodyPr>
          <a:lstStyle/>
          <a:p>
            <a:pPr algn="ctr" rtl="1"/>
            <a:r>
              <a:rPr lang="ar-SA" b="1" dirty="0">
                <a:solidFill>
                  <a:srgbClr val="C00000"/>
                </a:solidFill>
              </a:rPr>
              <a:t>المستوي الثاني</a:t>
            </a:r>
            <a:br>
              <a:rPr lang="ar-SA" b="1" dirty="0">
                <a:solidFill>
                  <a:srgbClr val="C00000"/>
                </a:solidFill>
              </a:rPr>
            </a:br>
            <a:r>
              <a:rPr lang="ar-SA" b="1" dirty="0">
                <a:solidFill>
                  <a:srgbClr val="C00000"/>
                </a:solidFill>
              </a:rPr>
              <a:t> مجموعة إجراءات العمل </a:t>
            </a:r>
            <a:endParaRPr lang="en-US" b="1" dirty="0">
              <a:solidFill>
                <a:srgbClr val="C00000"/>
              </a:solidFill>
            </a:endParaRPr>
          </a:p>
        </p:txBody>
      </p:sp>
      <p:sp>
        <p:nvSpPr>
          <p:cNvPr id="22" name="TextBox 21">
            <a:extLst>
              <a:ext uri="{FF2B5EF4-FFF2-40B4-BE49-F238E27FC236}">
                <a16:creationId xmlns:a16="http://schemas.microsoft.com/office/drawing/2014/main" id="{F28ED78C-FFB5-A127-F062-324A4174DF0D}"/>
              </a:ext>
            </a:extLst>
          </p:cNvPr>
          <p:cNvSpPr txBox="1"/>
          <p:nvPr/>
        </p:nvSpPr>
        <p:spPr>
          <a:xfrm>
            <a:off x="4647661" y="3907306"/>
            <a:ext cx="1851025" cy="646331"/>
          </a:xfrm>
          <a:prstGeom prst="rect">
            <a:avLst/>
          </a:prstGeom>
          <a:noFill/>
        </p:spPr>
        <p:txBody>
          <a:bodyPr wrap="square" rtlCol="0">
            <a:spAutoFit/>
          </a:bodyPr>
          <a:lstStyle/>
          <a:p>
            <a:pPr algn="ctr" rtl="1"/>
            <a:r>
              <a:rPr lang="ar-SA" b="1" dirty="0">
                <a:solidFill>
                  <a:srgbClr val="45C6D1"/>
                </a:solidFill>
                <a:latin typeface="Open Sans SemiBold" panose="020B0604020202020204" pitchFamily="34" charset="0"/>
                <a:cs typeface="Arial" panose="020B0604020202020204" pitchFamily="34" charset="0"/>
                <a:sym typeface="Arial" panose="020B0604020202020204" pitchFamily="34" charset="0"/>
              </a:rPr>
              <a:t>المستوي</a:t>
            </a:r>
            <a:r>
              <a:rPr lang="ar-SA" b="1" dirty="0">
                <a:solidFill>
                  <a:srgbClr val="45C6D1"/>
                </a:solidFill>
                <a:latin typeface="Open Sans SemiBold" panose="020B0604020202020204" pitchFamily="34" charset="0"/>
                <a:cs typeface="Arial" panose="020B0604020202020204" pitchFamily="34" charset="0"/>
              </a:rPr>
              <a:t> الثالث</a:t>
            </a:r>
            <a:br>
              <a:rPr lang="ar-SA" b="1" dirty="0">
                <a:solidFill>
                  <a:srgbClr val="45C6D1"/>
                </a:solidFill>
                <a:latin typeface="Open Sans SemiBold" panose="020B0604020202020204" pitchFamily="34" charset="0"/>
                <a:cs typeface="Arial" panose="020B0604020202020204" pitchFamily="34" charset="0"/>
              </a:rPr>
            </a:br>
            <a:r>
              <a:rPr lang="ar-SA" b="1" dirty="0">
                <a:solidFill>
                  <a:srgbClr val="45C6D1"/>
                </a:solidFill>
                <a:latin typeface="Open Sans SemiBold" panose="020B0604020202020204" pitchFamily="34" charset="0"/>
                <a:cs typeface="Arial" panose="020B0604020202020204" pitchFamily="34" charset="0"/>
              </a:rPr>
              <a:t>إجراءات العمل </a:t>
            </a:r>
            <a:endParaRPr lang="en-US" b="1" dirty="0">
              <a:solidFill>
                <a:srgbClr val="45C6D1"/>
              </a:solidFill>
              <a:latin typeface="Open Sans SemiBold"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CC2E26CC-2FB3-822A-5B91-8A0F45597D46}"/>
              </a:ext>
            </a:extLst>
          </p:cNvPr>
          <p:cNvSpPr/>
          <p:nvPr/>
        </p:nvSpPr>
        <p:spPr>
          <a:xfrm>
            <a:off x="6622931" y="3830361"/>
            <a:ext cx="5294674" cy="800219"/>
          </a:xfrm>
          <a:prstGeom prst="rect">
            <a:avLst/>
          </a:prstGeom>
        </p:spPr>
        <p:txBody>
          <a:bodyPr wrap="square">
            <a:spAutoFit/>
          </a:bodyPr>
          <a:lstStyle/>
          <a:p>
            <a:pPr algn="ctr" rtl="1">
              <a:lnSpc>
                <a:spcPct val="150000"/>
              </a:lnSpc>
            </a:pPr>
            <a:r>
              <a:rPr lang="ar-EG" sz="1600" b="1" dirty="0">
                <a:latin typeface="Sakkal Majalla" panose="02000000000000000000" pitchFamily="2" charset="-78"/>
                <a:cs typeface="Sakkal Majalla" panose="02000000000000000000" pitchFamily="2" charset="-78"/>
              </a:rPr>
              <a:t>تمثل سلسلة من الخطوات أو الأنشطة التي يقوم بها فرد أو مجموعة من الأفراد بغرض تحقيق هدف أو نتيجة محددة</a:t>
            </a:r>
            <a:endParaRPr lang="en-US" sz="1600" b="1" dirty="0">
              <a:latin typeface="Sakkal Majalla" panose="02000000000000000000" pitchFamily="2" charset="-78"/>
              <a:cs typeface="Sakkal Majalla" panose="02000000000000000000" pitchFamily="2" charset="-78"/>
            </a:endParaRPr>
          </a:p>
        </p:txBody>
      </p:sp>
      <p:sp>
        <p:nvSpPr>
          <p:cNvPr id="24" name="Rectangle 23">
            <a:extLst>
              <a:ext uri="{FF2B5EF4-FFF2-40B4-BE49-F238E27FC236}">
                <a16:creationId xmlns:a16="http://schemas.microsoft.com/office/drawing/2014/main" id="{D3417CA1-E434-2DBA-38E9-D579AEE471E2}"/>
              </a:ext>
            </a:extLst>
          </p:cNvPr>
          <p:cNvSpPr/>
          <p:nvPr/>
        </p:nvSpPr>
        <p:spPr>
          <a:xfrm>
            <a:off x="6307801" y="2342166"/>
            <a:ext cx="5294674" cy="800219"/>
          </a:xfrm>
          <a:prstGeom prst="rect">
            <a:avLst/>
          </a:prstGeom>
        </p:spPr>
        <p:txBody>
          <a:bodyPr wrap="square">
            <a:spAutoFit/>
          </a:bodyPr>
          <a:lstStyle/>
          <a:p>
            <a:pPr algn="ctr" rtl="1">
              <a:lnSpc>
                <a:spcPct val="150000"/>
              </a:lnSpc>
            </a:pPr>
            <a:r>
              <a:rPr lang="ar-EG" sz="1600" b="1" dirty="0">
                <a:latin typeface="Sakkal Majalla" panose="02000000000000000000" pitchFamily="2" charset="-78"/>
                <a:cs typeface="Sakkal Majalla" panose="02000000000000000000" pitchFamily="2" charset="-78"/>
              </a:rPr>
              <a:t>تمثل مجموعة منطقية من إجراءات العمل المترابطة فيما بينها والتي تخدم قدرة عمل معينة أو أكثر</a:t>
            </a:r>
          </a:p>
        </p:txBody>
      </p:sp>
      <p:sp>
        <p:nvSpPr>
          <p:cNvPr id="25" name="Rectangle 24">
            <a:extLst>
              <a:ext uri="{FF2B5EF4-FFF2-40B4-BE49-F238E27FC236}">
                <a16:creationId xmlns:a16="http://schemas.microsoft.com/office/drawing/2014/main" id="{95C7513B-A78B-16B4-D9D5-6BCE853E9542}"/>
              </a:ext>
            </a:extLst>
          </p:cNvPr>
          <p:cNvSpPr/>
          <p:nvPr/>
        </p:nvSpPr>
        <p:spPr>
          <a:xfrm>
            <a:off x="4857333" y="882873"/>
            <a:ext cx="5294674" cy="430887"/>
          </a:xfrm>
          <a:prstGeom prst="rect">
            <a:avLst/>
          </a:prstGeom>
        </p:spPr>
        <p:txBody>
          <a:bodyPr wrap="square">
            <a:spAutoFit/>
          </a:bodyPr>
          <a:lstStyle/>
          <a:p>
            <a:pPr algn="ctr" rtl="1">
              <a:lnSpc>
                <a:spcPct val="150000"/>
              </a:lnSpc>
            </a:pPr>
            <a:r>
              <a:rPr lang="ar-EG" sz="1600" b="1" dirty="0">
                <a:latin typeface="Sakkal Majalla" panose="02000000000000000000" pitchFamily="2" charset="-78"/>
                <a:cs typeface="Sakkal Majalla" panose="02000000000000000000" pitchFamily="2" charset="-78"/>
              </a:rPr>
              <a:t>تمثل القدرة الاستراتيجية والتشغيلية التي تميز الهيئة وتمكنها من تحقيق أهدافها</a:t>
            </a:r>
          </a:p>
        </p:txBody>
      </p:sp>
      <p:sp>
        <p:nvSpPr>
          <p:cNvPr id="26" name="Arrow: Left 25">
            <a:extLst>
              <a:ext uri="{FF2B5EF4-FFF2-40B4-BE49-F238E27FC236}">
                <a16:creationId xmlns:a16="http://schemas.microsoft.com/office/drawing/2014/main" id="{C6DC428D-37E4-02DA-A135-A1C7C7EA72B6}"/>
              </a:ext>
            </a:extLst>
          </p:cNvPr>
          <p:cNvSpPr/>
          <p:nvPr/>
        </p:nvSpPr>
        <p:spPr>
          <a:xfrm rot="10800000">
            <a:off x="4597660" y="1047592"/>
            <a:ext cx="394944" cy="224678"/>
          </a:xfrm>
          <a:prstGeom prst="leftArrow">
            <a:avLst/>
          </a:prstGeom>
          <a:solidFill>
            <a:srgbClr val="4C3C8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Arrow: Left 26">
            <a:extLst>
              <a:ext uri="{FF2B5EF4-FFF2-40B4-BE49-F238E27FC236}">
                <a16:creationId xmlns:a16="http://schemas.microsoft.com/office/drawing/2014/main" id="{264FF8DA-6796-AAE1-3E12-BBFB60B2FAD4}"/>
              </a:ext>
            </a:extLst>
          </p:cNvPr>
          <p:cNvSpPr/>
          <p:nvPr/>
        </p:nvSpPr>
        <p:spPr>
          <a:xfrm rot="10800000">
            <a:off x="5980414" y="2580814"/>
            <a:ext cx="394944" cy="224678"/>
          </a:xfrm>
          <a:prstGeom prst="leftArrow">
            <a:avLst/>
          </a:prstGeom>
          <a:solidFill>
            <a:srgbClr val="4C3C8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Arrow: Left 27">
            <a:extLst>
              <a:ext uri="{FF2B5EF4-FFF2-40B4-BE49-F238E27FC236}">
                <a16:creationId xmlns:a16="http://schemas.microsoft.com/office/drawing/2014/main" id="{B33D71FC-8904-CACE-41E9-251116C3F8DC}"/>
              </a:ext>
            </a:extLst>
          </p:cNvPr>
          <p:cNvSpPr/>
          <p:nvPr/>
        </p:nvSpPr>
        <p:spPr>
          <a:xfrm rot="10800000">
            <a:off x="6301214" y="4105608"/>
            <a:ext cx="394944" cy="224678"/>
          </a:xfrm>
          <a:prstGeom prst="leftArrow">
            <a:avLst/>
          </a:prstGeom>
          <a:solidFill>
            <a:srgbClr val="4C3C8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31073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BE38E-E7BC-6969-2F70-0E09D6C14E7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6477CEF-27B2-25FD-2CE3-E6A238B88773}"/>
              </a:ext>
            </a:extLst>
          </p:cNvPr>
          <p:cNvSpPr>
            <a:spLocks noGrp="1"/>
          </p:cNvSpPr>
          <p:nvPr>
            <p:ph type="sldNum" sz="quarter" idx="12"/>
          </p:nvPr>
        </p:nvSpPr>
        <p:spPr/>
        <p:txBody>
          <a:bodyPr/>
          <a:lstStyle/>
          <a:p>
            <a:fld id="{0BE4EC83-A869-464E-AE9F-881796FB085E}" type="slidenum">
              <a:rPr lang="en-US" smtClean="0"/>
              <a:t>23</a:t>
            </a:fld>
            <a:endParaRPr lang="en-US" dirty="0"/>
          </a:p>
        </p:txBody>
      </p:sp>
      <p:sp>
        <p:nvSpPr>
          <p:cNvPr id="7" name="Title 1">
            <a:extLst>
              <a:ext uri="{FF2B5EF4-FFF2-40B4-BE49-F238E27FC236}">
                <a16:creationId xmlns:a16="http://schemas.microsoft.com/office/drawing/2014/main" id="{F47188BC-8326-A432-ED98-172690ACE820}"/>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مستويات توثيق إجراءات العمل</a:t>
            </a:r>
            <a:endParaRPr lang="en-US" dirty="0"/>
          </a:p>
        </p:txBody>
      </p:sp>
      <p:graphicFrame>
        <p:nvGraphicFramePr>
          <p:cNvPr id="2" name="Table 4">
            <a:extLst>
              <a:ext uri="{FF2B5EF4-FFF2-40B4-BE49-F238E27FC236}">
                <a16:creationId xmlns:a16="http://schemas.microsoft.com/office/drawing/2014/main" id="{C850FACE-0FDC-4854-B211-FE3F00F93591}"/>
              </a:ext>
            </a:extLst>
          </p:cNvPr>
          <p:cNvGraphicFramePr>
            <a:graphicFrameLocks noGrp="1"/>
          </p:cNvGraphicFramePr>
          <p:nvPr>
            <p:extLst>
              <p:ext uri="{D42A27DB-BD31-4B8C-83A1-F6EECF244321}">
                <p14:modId xmlns:p14="http://schemas.microsoft.com/office/powerpoint/2010/main" val="3706121101"/>
              </p:ext>
            </p:extLst>
          </p:nvPr>
        </p:nvGraphicFramePr>
        <p:xfrm>
          <a:off x="563880" y="1145984"/>
          <a:ext cx="11064240" cy="4281168"/>
        </p:xfrm>
        <a:graphic>
          <a:graphicData uri="http://schemas.openxmlformats.org/drawingml/2006/table">
            <a:tbl>
              <a:tblPr firstRow="1" bandRow="1">
                <a:tableStyleId>{5C22544A-7EE6-4342-B048-85BDC9FD1C3A}</a:tableStyleId>
              </a:tblPr>
              <a:tblGrid>
                <a:gridCol w="3299861">
                  <a:extLst>
                    <a:ext uri="{9D8B030D-6E8A-4147-A177-3AD203B41FA5}">
                      <a16:colId xmlns:a16="http://schemas.microsoft.com/office/drawing/2014/main" val="4109250803"/>
                    </a:ext>
                  </a:extLst>
                </a:gridCol>
                <a:gridCol w="3299861">
                  <a:extLst>
                    <a:ext uri="{9D8B030D-6E8A-4147-A177-3AD203B41FA5}">
                      <a16:colId xmlns:a16="http://schemas.microsoft.com/office/drawing/2014/main" val="1723199360"/>
                    </a:ext>
                  </a:extLst>
                </a:gridCol>
                <a:gridCol w="3299861">
                  <a:extLst>
                    <a:ext uri="{9D8B030D-6E8A-4147-A177-3AD203B41FA5}">
                      <a16:colId xmlns:a16="http://schemas.microsoft.com/office/drawing/2014/main" val="3211590255"/>
                    </a:ext>
                  </a:extLst>
                </a:gridCol>
                <a:gridCol w="1164657">
                  <a:extLst>
                    <a:ext uri="{9D8B030D-6E8A-4147-A177-3AD203B41FA5}">
                      <a16:colId xmlns:a16="http://schemas.microsoft.com/office/drawing/2014/main" val="3324291776"/>
                    </a:ext>
                  </a:extLst>
                </a:gridCol>
              </a:tblGrid>
              <a:tr h="4110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800" b="1" dirty="0">
                          <a:solidFill>
                            <a:schemeClr val="bg1"/>
                          </a:solidFill>
                        </a:rPr>
                        <a:t>المستوى الثالث  (</a:t>
                      </a:r>
                      <a:r>
                        <a:rPr lang="ar-SA" sz="1800" b="1" dirty="0"/>
                        <a:t>إجراءات العمل</a:t>
                      </a:r>
                      <a:r>
                        <a:rPr lang="ar-SA" sz="1800" b="1" dirty="0">
                          <a:solidFill>
                            <a:schemeClr val="bg1"/>
                          </a:solidFill>
                        </a:rPr>
                        <a:t>)</a:t>
                      </a:r>
                      <a:endParaRPr lang="ar-SA" sz="1800" dirty="0"/>
                    </a:p>
                  </a:txBody>
                  <a:tcPr marL="137160" marR="137160" marT="137160" marB="13716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800" b="1" dirty="0">
                          <a:solidFill>
                            <a:schemeClr val="bg1"/>
                          </a:solidFill>
                        </a:rPr>
                        <a:t>المستوى</a:t>
                      </a:r>
                      <a:r>
                        <a:rPr lang="ar-SA" sz="1800" b="1" dirty="0"/>
                        <a:t> </a:t>
                      </a:r>
                      <a:r>
                        <a:rPr lang="ar-SA" sz="1800" b="1" kern="1200" dirty="0">
                          <a:solidFill>
                            <a:schemeClr val="bg1"/>
                          </a:solidFill>
                          <a:latin typeface="+mn-lt"/>
                          <a:ea typeface="+mn-ea"/>
                          <a:cs typeface="+mn-cs"/>
                        </a:rPr>
                        <a:t>الثاني</a:t>
                      </a:r>
                      <a:r>
                        <a:rPr lang="ar-SA" sz="1800" b="1" dirty="0"/>
                        <a:t> </a:t>
                      </a:r>
                      <a:r>
                        <a:rPr lang="ar-SA" sz="1800" b="1" kern="1200" dirty="0">
                          <a:solidFill>
                            <a:schemeClr val="bg1"/>
                          </a:solidFill>
                          <a:latin typeface="+mn-lt"/>
                          <a:ea typeface="+mn-ea"/>
                          <a:cs typeface="+mn-cs"/>
                        </a:rPr>
                        <a:t> (</a:t>
                      </a:r>
                      <a:r>
                        <a:rPr lang="ar-SA" sz="1800" b="1" dirty="0"/>
                        <a:t>مجموعات إجراءات العمل)</a:t>
                      </a:r>
                      <a:endParaRPr lang="ar-SA" sz="1800" dirty="0"/>
                    </a:p>
                  </a:txBody>
                  <a:tcPr marL="137160" marR="137160" marT="137160" marB="13716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800" b="1" kern="1200" dirty="0">
                          <a:solidFill>
                            <a:schemeClr val="bg1"/>
                          </a:solidFill>
                          <a:latin typeface="+mn-lt"/>
                          <a:ea typeface="+mn-ea"/>
                          <a:cs typeface="+mn-cs"/>
                        </a:rPr>
                        <a:t>المستوى الأول (قدرات الأعمال) </a:t>
                      </a:r>
                    </a:p>
                  </a:txBody>
                  <a:tcPr marL="137160" marR="137160" marT="137160" marB="137160" anchor="ctr"/>
                </a:tc>
                <a:tc>
                  <a:txBody>
                    <a:bodyPr/>
                    <a:lstStyle/>
                    <a:p>
                      <a:pPr algn="ctr"/>
                      <a:r>
                        <a:rPr lang="ar-SA" dirty="0"/>
                        <a:t>المستويات</a:t>
                      </a:r>
                      <a:endParaRPr lang="en-US" dirty="0"/>
                    </a:p>
                  </a:txBody>
                  <a:tcPr marL="137160" marR="137160" marT="137160" marB="137160" anchor="ctr"/>
                </a:tc>
                <a:extLst>
                  <a:ext uri="{0D108BD9-81ED-4DB2-BD59-A6C34878D82A}">
                    <a16:rowId xmlns:a16="http://schemas.microsoft.com/office/drawing/2014/main" val="110441575"/>
                  </a:ext>
                </a:extLst>
              </a:tr>
              <a:tr h="2029458">
                <a:tc>
                  <a:txBody>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ar-SA" sz="1800" kern="1200" dirty="0">
                          <a:solidFill>
                            <a:schemeClr val="dk1"/>
                          </a:solidFill>
                          <a:latin typeface="+mn-lt"/>
                          <a:ea typeface="+mn-ea"/>
                          <a:cs typeface="+mn-cs"/>
                        </a:rPr>
                        <a:t>تمثل سلسلة من الخطوات أو الأنشطة التي يقوم بها فرد أو مجموعة من الأفراد بغرض تحقيق هدف أو نتيجة محددة، وهو ما يمثل مكون "إجراء أعمال" في بنية الأعمال</a:t>
                      </a:r>
                      <a:endParaRPr lang="en-US" sz="1800" kern="1200" dirty="0">
                        <a:solidFill>
                          <a:schemeClr val="dk1"/>
                        </a:solidFill>
                        <a:latin typeface="+mn-lt"/>
                        <a:ea typeface="+mn-ea"/>
                        <a:cs typeface="+mn-cs"/>
                      </a:endParaRPr>
                    </a:p>
                  </a:txBody>
                  <a:tcPr anchor="ctr"/>
                </a:tc>
                <a:tc>
                  <a:txBody>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ar-SA" sz="1800" kern="1200" dirty="0">
                          <a:solidFill>
                            <a:schemeClr val="dk1"/>
                          </a:solidFill>
                          <a:latin typeface="+mn-lt"/>
                          <a:ea typeface="+mn-ea"/>
                          <a:cs typeface="+mn-cs"/>
                        </a:rPr>
                        <a:t>تمثل مجموعة منطقية من إجراءات العمل المترابطة فيما بينها والتي تخدم قدرة عمل معينة أو أكثر، وهو ما يمثل مكون "مجموعة إجراءات" في بنية الأعمال</a:t>
                      </a:r>
                    </a:p>
                  </a:txBody>
                  <a:tcPr anchor="ctr"/>
                </a:tc>
                <a:tc>
                  <a:txBody>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ar-SA" sz="1800" kern="1200" dirty="0">
                          <a:solidFill>
                            <a:schemeClr val="dk1"/>
                          </a:solidFill>
                          <a:latin typeface="+mn-lt"/>
                          <a:ea typeface="+mn-ea"/>
                          <a:cs typeface="+mn-cs"/>
                        </a:rPr>
                        <a:t>يمثل أعلى مستوى من الإجراءات على مستوى </a:t>
                      </a:r>
                      <a:r>
                        <a:rPr lang="ar-EG" sz="1800" kern="1200" dirty="0">
                          <a:solidFill>
                            <a:schemeClr val="dk1"/>
                          </a:solidFill>
                          <a:latin typeface="+mn-lt"/>
                          <a:ea typeface="+mn-ea"/>
                          <a:cs typeface="+mn-cs"/>
                        </a:rPr>
                        <a:t>الهيئة</a:t>
                      </a:r>
                      <a:r>
                        <a:rPr lang="ar-SA" sz="1800" kern="1200" dirty="0">
                          <a:solidFill>
                            <a:schemeClr val="dk1"/>
                          </a:solidFill>
                          <a:latin typeface="+mn-lt"/>
                          <a:ea typeface="+mn-ea"/>
                          <a:cs typeface="+mn-cs"/>
                        </a:rPr>
                        <a:t>، حيث يحصر كافة أعمال </a:t>
                      </a:r>
                      <a:r>
                        <a:rPr lang="ar-EG" sz="1800" kern="1200" dirty="0">
                          <a:solidFill>
                            <a:schemeClr val="dk1"/>
                          </a:solidFill>
                          <a:latin typeface="+mn-lt"/>
                          <a:ea typeface="+mn-ea"/>
                          <a:cs typeface="+mn-cs"/>
                        </a:rPr>
                        <a:t>الهيئة</a:t>
                      </a:r>
                      <a:r>
                        <a:rPr lang="ar-SA" sz="1800" kern="1200" dirty="0">
                          <a:solidFill>
                            <a:schemeClr val="dk1"/>
                          </a:solidFill>
                          <a:latin typeface="+mn-lt"/>
                          <a:ea typeface="+mn-ea"/>
                          <a:cs typeface="+mn-cs"/>
                        </a:rPr>
                        <a:t> ضمن منظور واحد وهو ما يمثل مكون "قدرة أعمال" في بنية الأعمال</a:t>
                      </a:r>
                      <a:endParaRPr lang="en-US" sz="1800" kern="1200" dirty="0">
                        <a:solidFill>
                          <a:schemeClr val="dk1"/>
                        </a:solidFill>
                        <a:latin typeface="+mn-lt"/>
                        <a:ea typeface="+mn-ea"/>
                        <a:cs typeface="+mn-cs"/>
                      </a:endParaRPr>
                    </a:p>
                  </a:txBody>
                  <a:tcPr anchor="ctr"/>
                </a:tc>
                <a:tc>
                  <a:txBody>
                    <a:bodyPr/>
                    <a:lstStyle/>
                    <a:p>
                      <a:pPr algn="ctr" rtl="1">
                        <a:lnSpc>
                          <a:spcPct val="100000"/>
                        </a:lnSpc>
                      </a:pPr>
                      <a:r>
                        <a:rPr lang="ar-SA" sz="2400" b="1" kern="1200" dirty="0">
                          <a:solidFill>
                            <a:schemeClr val="dk1"/>
                          </a:solidFill>
                          <a:latin typeface="+mn-lt"/>
                          <a:ea typeface="+mn-ea"/>
                          <a:cs typeface="+mn-cs"/>
                        </a:rPr>
                        <a:t>الوصف</a:t>
                      </a:r>
                      <a:endParaRPr lang="en-US" sz="2400" b="1" kern="1200" dirty="0">
                        <a:solidFill>
                          <a:schemeClr val="dk1"/>
                        </a:solidFill>
                        <a:latin typeface="+mn-lt"/>
                        <a:ea typeface="+mn-ea"/>
                        <a:cs typeface="+mn-cs"/>
                      </a:endParaRPr>
                    </a:p>
                  </a:txBody>
                  <a:tcPr anchor="ctr"/>
                </a:tc>
                <a:extLst>
                  <a:ext uri="{0D108BD9-81ED-4DB2-BD59-A6C34878D82A}">
                    <a16:rowId xmlns:a16="http://schemas.microsoft.com/office/drawing/2014/main" val="3906483655"/>
                  </a:ext>
                </a:extLst>
              </a:tr>
              <a:tr h="1412914">
                <a:tc>
                  <a:txBody>
                    <a:bodyPr/>
                    <a:lstStyle/>
                    <a:p>
                      <a:pPr algn="r">
                        <a:lnSpc>
                          <a:spcPct val="150000"/>
                        </a:lnSpc>
                      </a:pPr>
                      <a:r>
                        <a:rPr lang="ar-SA" dirty="0"/>
                        <a:t>إجراء عمل تسجيل منشأة</a:t>
                      </a:r>
                      <a:br>
                        <a:rPr lang="ar-SA" dirty="0"/>
                      </a:br>
                      <a:r>
                        <a:rPr lang="ar-SA" dirty="0"/>
                        <a:t> وإجراء عمل إطلاق مشروع</a:t>
                      </a:r>
                      <a:br>
                        <a:rPr lang="ar-SA" dirty="0"/>
                      </a:br>
                      <a:r>
                        <a:rPr lang="ar-SA" dirty="0"/>
                        <a:t> وإجراء عمل بناء خطة التدقيق الدورية وغيرها</a:t>
                      </a:r>
                      <a:endParaRPr lang="en-US" dirty="0"/>
                    </a:p>
                  </a:txBody>
                  <a:tcPr anchor="ctr"/>
                </a:tc>
                <a:tc>
                  <a:txBody>
                    <a:bodyPr/>
                    <a:lstStyle/>
                    <a:p>
                      <a:pPr algn="r">
                        <a:lnSpc>
                          <a:spcPct val="150000"/>
                        </a:lnSpc>
                      </a:pPr>
                      <a:r>
                        <a:rPr lang="ar-SA" dirty="0"/>
                        <a:t>مجموعة إجراءات عمل إدارة البرامج والمبادرات</a:t>
                      </a:r>
                      <a:br>
                        <a:rPr lang="ar-SA" dirty="0"/>
                      </a:br>
                      <a:r>
                        <a:rPr lang="ar-SA" dirty="0"/>
                        <a:t> ومجموعة إجراءات عمل التدقيق والامتثال </a:t>
                      </a:r>
                      <a:br>
                        <a:rPr lang="ar-SA" dirty="0"/>
                      </a:br>
                      <a:r>
                        <a:rPr lang="ar-SA" dirty="0"/>
                        <a:t>ومجموعة إجراءات عمل تصميم البرامج والخدمات</a:t>
                      </a:r>
                      <a:endParaRPr lang="en-US" dirty="0"/>
                    </a:p>
                  </a:txBody>
                  <a:tcPr anchor="ctr"/>
                </a:tc>
                <a:tc>
                  <a:txBody>
                    <a:bodyPr/>
                    <a:lstStyle/>
                    <a:p>
                      <a:pPr algn="r">
                        <a:lnSpc>
                          <a:spcPct val="150000"/>
                        </a:lnSpc>
                      </a:pPr>
                      <a:r>
                        <a:rPr lang="ar-SA" dirty="0"/>
                        <a:t>الاستراتيجية والتطوير </a:t>
                      </a:r>
                      <a:br>
                        <a:rPr lang="ar-SA" dirty="0"/>
                      </a:br>
                      <a:r>
                        <a:rPr lang="ar-SA" dirty="0"/>
                        <a:t>التراخيص</a:t>
                      </a:r>
                      <a:br>
                        <a:rPr lang="ar-SA" dirty="0"/>
                      </a:br>
                      <a:r>
                        <a:rPr lang="ar-SA" dirty="0"/>
                        <a:t> حماية المستفيدين</a:t>
                      </a:r>
                      <a:br>
                        <a:rPr lang="ar-SA" dirty="0"/>
                      </a:br>
                      <a:r>
                        <a:rPr lang="ar-SA" dirty="0"/>
                        <a:t>تقنية المعلومات وغيرها </a:t>
                      </a:r>
                      <a:endParaRPr lang="en-US" dirty="0"/>
                    </a:p>
                  </a:txBody>
                  <a:tcPr anchor="ctr"/>
                </a:tc>
                <a:tc>
                  <a:txBody>
                    <a:bodyPr/>
                    <a:lstStyle/>
                    <a:p>
                      <a:pPr algn="ctr">
                        <a:lnSpc>
                          <a:spcPct val="100000"/>
                        </a:lnSpc>
                      </a:pPr>
                      <a:r>
                        <a:rPr lang="ar-SA" sz="2400" b="1" dirty="0"/>
                        <a:t>مثال</a:t>
                      </a:r>
                      <a:endParaRPr lang="en-US" sz="2400" b="1" dirty="0"/>
                    </a:p>
                  </a:txBody>
                  <a:tcPr anchor="ctr"/>
                </a:tc>
                <a:extLst>
                  <a:ext uri="{0D108BD9-81ED-4DB2-BD59-A6C34878D82A}">
                    <a16:rowId xmlns:a16="http://schemas.microsoft.com/office/drawing/2014/main" val="2180443389"/>
                  </a:ext>
                </a:extLst>
              </a:tr>
            </a:tbl>
          </a:graphicData>
        </a:graphic>
      </p:graphicFrame>
    </p:spTree>
    <p:extLst>
      <p:ext uri="{BB962C8B-B14F-4D97-AF65-F5344CB8AC3E}">
        <p14:creationId xmlns:p14="http://schemas.microsoft.com/office/powerpoint/2010/main" val="334441134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68C98-7503-8589-EC18-FFB3F0D018B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1E7EA92-7189-173A-AA63-0B7C66245ECA}"/>
              </a:ext>
            </a:extLst>
          </p:cNvPr>
          <p:cNvSpPr>
            <a:spLocks noGrp="1"/>
          </p:cNvSpPr>
          <p:nvPr>
            <p:ph type="title"/>
          </p:nvPr>
        </p:nvSpPr>
        <p:spPr>
          <a:xfrm>
            <a:off x="3363985" y="3925452"/>
            <a:ext cx="8180315" cy="641639"/>
          </a:xfrm>
        </p:spPr>
        <p:txBody>
          <a:bodyPr/>
          <a:lstStyle/>
          <a:p>
            <a:r>
              <a:rPr lang="ar-EG" dirty="0"/>
              <a:t>النموذج المرجعي لبنية تجربة المستفيد</a:t>
            </a:r>
            <a:endParaRPr lang="en-US" dirty="0"/>
          </a:p>
        </p:txBody>
      </p:sp>
      <p:sp>
        <p:nvSpPr>
          <p:cNvPr id="4" name="Text Placeholder 3">
            <a:extLst>
              <a:ext uri="{FF2B5EF4-FFF2-40B4-BE49-F238E27FC236}">
                <a16:creationId xmlns:a16="http://schemas.microsoft.com/office/drawing/2014/main" id="{5B8E597C-5C11-6BB4-BBEC-541A904B0823}"/>
              </a:ext>
            </a:extLst>
          </p:cNvPr>
          <p:cNvSpPr>
            <a:spLocks noGrp="1"/>
          </p:cNvSpPr>
          <p:nvPr>
            <p:ph type="body" sz="quarter" idx="14"/>
          </p:nvPr>
        </p:nvSpPr>
        <p:spPr/>
        <p:txBody>
          <a:bodyPr/>
          <a:lstStyle/>
          <a:p>
            <a:r>
              <a:rPr lang="ar-EG" dirty="0"/>
              <a:t>03</a:t>
            </a:r>
            <a:endParaRPr lang="en-US" dirty="0"/>
          </a:p>
        </p:txBody>
      </p:sp>
    </p:spTree>
    <p:extLst>
      <p:ext uri="{BB962C8B-B14F-4D97-AF65-F5344CB8AC3E}">
        <p14:creationId xmlns:p14="http://schemas.microsoft.com/office/powerpoint/2010/main" val="1662736755"/>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4D8F6-8F37-5315-703A-4BF7D1ABA1B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496EA9-0709-6E4E-3684-04462DF02764}"/>
              </a:ext>
            </a:extLst>
          </p:cNvPr>
          <p:cNvSpPr>
            <a:spLocks noGrp="1"/>
          </p:cNvSpPr>
          <p:nvPr>
            <p:ph type="sldNum" sz="quarter" idx="12"/>
          </p:nvPr>
        </p:nvSpPr>
        <p:spPr/>
        <p:txBody>
          <a:bodyPr/>
          <a:lstStyle/>
          <a:p>
            <a:fld id="{0BE4EC83-A869-464E-AE9F-881796FB085E}" type="slidenum">
              <a:rPr lang="en-US" smtClean="0"/>
              <a:t>25</a:t>
            </a:fld>
            <a:endParaRPr lang="en-US" dirty="0"/>
          </a:p>
        </p:txBody>
      </p:sp>
      <p:sp>
        <p:nvSpPr>
          <p:cNvPr id="7" name="Title 1">
            <a:extLst>
              <a:ext uri="{FF2B5EF4-FFF2-40B4-BE49-F238E27FC236}">
                <a16:creationId xmlns:a16="http://schemas.microsoft.com/office/drawing/2014/main" id="{A4BF93E5-B1C2-D26F-8AFD-9F1EEB56CF58}"/>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آلية تصنيف المستفيد</a:t>
            </a:r>
            <a:endParaRPr lang="en-US" dirty="0"/>
          </a:p>
        </p:txBody>
      </p:sp>
      <p:sp>
        <p:nvSpPr>
          <p:cNvPr id="2" name="Rectangle: Rounded Corners 1">
            <a:extLst>
              <a:ext uri="{FF2B5EF4-FFF2-40B4-BE49-F238E27FC236}">
                <a16:creationId xmlns:a16="http://schemas.microsoft.com/office/drawing/2014/main" id="{FA874128-72FC-C65B-A244-FD410CE11489}"/>
              </a:ext>
            </a:extLst>
          </p:cNvPr>
          <p:cNvSpPr/>
          <p:nvPr/>
        </p:nvSpPr>
        <p:spPr>
          <a:xfrm>
            <a:off x="4579374" y="3278598"/>
            <a:ext cx="1231848" cy="5133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400" dirty="0"/>
              <a:t>المستفيد</a:t>
            </a:r>
            <a:endParaRPr lang="ar-SA" dirty="0"/>
          </a:p>
        </p:txBody>
      </p:sp>
      <p:cxnSp>
        <p:nvCxnSpPr>
          <p:cNvPr id="4" name="Connector: Elbow 3">
            <a:extLst>
              <a:ext uri="{FF2B5EF4-FFF2-40B4-BE49-F238E27FC236}">
                <a16:creationId xmlns:a16="http://schemas.microsoft.com/office/drawing/2014/main" id="{D6A4E8F8-5FC4-1507-968A-997F9134B674}"/>
              </a:ext>
            </a:extLst>
          </p:cNvPr>
          <p:cNvCxnSpPr>
            <a:cxnSpLocks/>
            <a:stCxn id="2" idx="2"/>
            <a:endCxn id="6" idx="0"/>
          </p:cNvCxnSpPr>
          <p:nvPr/>
        </p:nvCxnSpPr>
        <p:spPr>
          <a:xfrm rot="16200000" flipH="1">
            <a:off x="6392474" y="2594791"/>
            <a:ext cx="169469" cy="256382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C67B2730-5E09-F95F-2EE3-E43250CA2D13}"/>
              </a:ext>
            </a:extLst>
          </p:cNvPr>
          <p:cNvCxnSpPr>
            <a:cxnSpLocks/>
            <a:stCxn id="2" idx="2"/>
            <a:endCxn id="8" idx="0"/>
          </p:cNvCxnSpPr>
          <p:nvPr/>
        </p:nvCxnSpPr>
        <p:spPr>
          <a:xfrm rot="5400000">
            <a:off x="3943738" y="2701421"/>
            <a:ext cx="161015" cy="234210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2C1EFCAA-7A9E-C5A0-51C7-354CFBF79FAD}"/>
              </a:ext>
            </a:extLst>
          </p:cNvPr>
          <p:cNvSpPr/>
          <p:nvPr/>
        </p:nvSpPr>
        <p:spPr>
          <a:xfrm>
            <a:off x="7159307" y="3961436"/>
            <a:ext cx="1199622" cy="443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400" dirty="0"/>
              <a:t>خارجي</a:t>
            </a:r>
            <a:endParaRPr lang="ar-SA" dirty="0"/>
          </a:p>
        </p:txBody>
      </p:sp>
      <p:sp>
        <p:nvSpPr>
          <p:cNvPr id="8" name="Rectangle: Rounded Corners 7">
            <a:extLst>
              <a:ext uri="{FF2B5EF4-FFF2-40B4-BE49-F238E27FC236}">
                <a16:creationId xmlns:a16="http://schemas.microsoft.com/office/drawing/2014/main" id="{79EDC942-1072-22CE-A639-AA363D818A26}"/>
              </a:ext>
            </a:extLst>
          </p:cNvPr>
          <p:cNvSpPr/>
          <p:nvPr/>
        </p:nvSpPr>
        <p:spPr>
          <a:xfrm>
            <a:off x="2253380" y="3952982"/>
            <a:ext cx="1199622" cy="443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t>داخلي</a:t>
            </a:r>
          </a:p>
        </p:txBody>
      </p:sp>
      <p:cxnSp>
        <p:nvCxnSpPr>
          <p:cNvPr id="9" name="Connector: Elbow 8">
            <a:extLst>
              <a:ext uri="{FF2B5EF4-FFF2-40B4-BE49-F238E27FC236}">
                <a16:creationId xmlns:a16="http://schemas.microsoft.com/office/drawing/2014/main" id="{6E864D79-D4E4-F0F1-5CA9-7EC32C51F982}"/>
              </a:ext>
            </a:extLst>
          </p:cNvPr>
          <p:cNvCxnSpPr>
            <a:cxnSpLocks/>
          </p:cNvCxnSpPr>
          <p:nvPr/>
        </p:nvCxnSpPr>
        <p:spPr>
          <a:xfrm rot="5400000">
            <a:off x="2671312" y="4429390"/>
            <a:ext cx="346822" cy="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8EB46D00-97F1-A05F-62C6-35BF6785A23F}"/>
              </a:ext>
            </a:extLst>
          </p:cNvPr>
          <p:cNvSpPr/>
          <p:nvPr/>
        </p:nvSpPr>
        <p:spPr>
          <a:xfrm>
            <a:off x="2237265" y="4602801"/>
            <a:ext cx="1231848" cy="4734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t>منسوبي المنظمة</a:t>
            </a:r>
          </a:p>
        </p:txBody>
      </p:sp>
      <p:sp>
        <p:nvSpPr>
          <p:cNvPr id="11" name="Rectangle: Rounded Corners 10">
            <a:extLst>
              <a:ext uri="{FF2B5EF4-FFF2-40B4-BE49-F238E27FC236}">
                <a16:creationId xmlns:a16="http://schemas.microsoft.com/office/drawing/2014/main" id="{25315EB2-9014-2C86-6BC7-2182657D26DF}"/>
              </a:ext>
            </a:extLst>
          </p:cNvPr>
          <p:cNvSpPr/>
          <p:nvPr/>
        </p:nvSpPr>
        <p:spPr>
          <a:xfrm>
            <a:off x="8426921" y="4646930"/>
            <a:ext cx="1320800" cy="4734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SA" dirty="0"/>
              <a:t>جهات حكومية</a:t>
            </a:r>
            <a:r>
              <a:rPr lang="en-US" dirty="0"/>
              <a:t>G </a:t>
            </a:r>
            <a:endParaRPr lang="ar-SA" dirty="0"/>
          </a:p>
        </p:txBody>
      </p:sp>
      <p:sp>
        <p:nvSpPr>
          <p:cNvPr id="12" name="Rectangle: Rounded Corners 11">
            <a:extLst>
              <a:ext uri="{FF2B5EF4-FFF2-40B4-BE49-F238E27FC236}">
                <a16:creationId xmlns:a16="http://schemas.microsoft.com/office/drawing/2014/main" id="{CDB78187-922F-3AC6-5BF8-A9DABEA4AE6A}"/>
              </a:ext>
            </a:extLst>
          </p:cNvPr>
          <p:cNvSpPr/>
          <p:nvPr/>
        </p:nvSpPr>
        <p:spPr>
          <a:xfrm>
            <a:off x="6867211" y="4659407"/>
            <a:ext cx="1199622" cy="4734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SA" dirty="0"/>
              <a:t>قطاع اعمال </a:t>
            </a:r>
            <a:r>
              <a:rPr lang="en-US" dirty="0"/>
              <a:t>B</a:t>
            </a:r>
            <a:endParaRPr lang="ar-SA" dirty="0"/>
          </a:p>
        </p:txBody>
      </p:sp>
      <p:sp>
        <p:nvSpPr>
          <p:cNvPr id="13" name="Rectangle: Rounded Corners 12">
            <a:extLst>
              <a:ext uri="{FF2B5EF4-FFF2-40B4-BE49-F238E27FC236}">
                <a16:creationId xmlns:a16="http://schemas.microsoft.com/office/drawing/2014/main" id="{A5D412FB-33BE-EEE5-9E7C-967D9E5B0C79}"/>
              </a:ext>
            </a:extLst>
          </p:cNvPr>
          <p:cNvSpPr/>
          <p:nvPr/>
        </p:nvSpPr>
        <p:spPr>
          <a:xfrm>
            <a:off x="5267009" y="4638463"/>
            <a:ext cx="1199622" cy="4734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SA" dirty="0"/>
              <a:t>افراد </a:t>
            </a:r>
            <a:r>
              <a:rPr lang="en-US" dirty="0"/>
              <a:t>C</a:t>
            </a:r>
            <a:r>
              <a:rPr lang="ar-SA" dirty="0"/>
              <a:t> </a:t>
            </a:r>
          </a:p>
        </p:txBody>
      </p:sp>
      <p:sp>
        <p:nvSpPr>
          <p:cNvPr id="14" name="Rectangle: Rounded Corners 13">
            <a:extLst>
              <a:ext uri="{FF2B5EF4-FFF2-40B4-BE49-F238E27FC236}">
                <a16:creationId xmlns:a16="http://schemas.microsoft.com/office/drawing/2014/main" id="{2CEF1273-7CCC-9AF3-E66A-0A63E1AE86DF}"/>
              </a:ext>
            </a:extLst>
          </p:cNvPr>
          <p:cNvSpPr/>
          <p:nvPr/>
        </p:nvSpPr>
        <p:spPr>
          <a:xfrm>
            <a:off x="3658336" y="4629996"/>
            <a:ext cx="1199622" cy="4632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t>قطاع غير ربحي</a:t>
            </a:r>
          </a:p>
        </p:txBody>
      </p:sp>
      <p:cxnSp>
        <p:nvCxnSpPr>
          <p:cNvPr id="15" name="Connector: Elbow 14">
            <a:extLst>
              <a:ext uri="{FF2B5EF4-FFF2-40B4-BE49-F238E27FC236}">
                <a16:creationId xmlns:a16="http://schemas.microsoft.com/office/drawing/2014/main" id="{9273AC27-A663-DC62-F34E-A843D79D6F65}"/>
              </a:ext>
            </a:extLst>
          </p:cNvPr>
          <p:cNvCxnSpPr>
            <a:cxnSpLocks/>
            <a:stCxn id="6" idx="2"/>
            <a:endCxn id="11" idx="0"/>
          </p:cNvCxnSpPr>
          <p:nvPr/>
        </p:nvCxnSpPr>
        <p:spPr>
          <a:xfrm rot="16200000" flipH="1">
            <a:off x="8302170" y="3861779"/>
            <a:ext cx="242098" cy="1328203"/>
          </a:xfrm>
          <a:prstGeom prst="bentConnector3">
            <a:avLst>
              <a:gd name="adj1" fmla="val 48033"/>
            </a:avLst>
          </a:prstGeom>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BD60CB8F-27E8-D199-6285-5B78A7AC14F1}"/>
              </a:ext>
            </a:extLst>
          </p:cNvPr>
          <p:cNvCxnSpPr>
            <a:cxnSpLocks/>
          </p:cNvCxnSpPr>
          <p:nvPr/>
        </p:nvCxnSpPr>
        <p:spPr>
          <a:xfrm rot="5400000">
            <a:off x="7494253" y="4386072"/>
            <a:ext cx="254575" cy="292096"/>
          </a:xfrm>
          <a:prstGeom prst="bentConnector3">
            <a:avLst>
              <a:gd name="adj1" fmla="val 45510"/>
            </a:avLst>
          </a:prstGeom>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F3CEE31E-C7F8-1EC2-2722-6007E64444A7}"/>
              </a:ext>
            </a:extLst>
          </p:cNvPr>
          <p:cNvCxnSpPr>
            <a:cxnSpLocks/>
            <a:stCxn id="6" idx="2"/>
            <a:endCxn id="13" idx="0"/>
          </p:cNvCxnSpPr>
          <p:nvPr/>
        </p:nvCxnSpPr>
        <p:spPr>
          <a:xfrm rot="5400000">
            <a:off x="6696154" y="3575498"/>
            <a:ext cx="233631" cy="189229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AFAB0C01-96C1-6EC3-9CA6-7D9E1452877A}"/>
              </a:ext>
            </a:extLst>
          </p:cNvPr>
          <p:cNvCxnSpPr>
            <a:cxnSpLocks/>
            <a:stCxn id="6" idx="2"/>
            <a:endCxn id="14" idx="0"/>
          </p:cNvCxnSpPr>
          <p:nvPr/>
        </p:nvCxnSpPr>
        <p:spPr>
          <a:xfrm rot="5400000">
            <a:off x="5896051" y="2766929"/>
            <a:ext cx="225164" cy="3500971"/>
          </a:xfrm>
          <a:prstGeom prst="bentConnector3">
            <a:avLst>
              <a:gd name="adj1" fmla="val 51269"/>
            </a:avLst>
          </a:prstGeom>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E440401E-E76F-1619-ACA8-E34A475584C6}"/>
              </a:ext>
            </a:extLst>
          </p:cNvPr>
          <p:cNvSpPr/>
          <p:nvPr/>
        </p:nvSpPr>
        <p:spPr>
          <a:xfrm>
            <a:off x="10079526" y="4638463"/>
            <a:ext cx="1199622" cy="4547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t>منظمات دولية</a:t>
            </a:r>
          </a:p>
        </p:txBody>
      </p:sp>
      <p:cxnSp>
        <p:nvCxnSpPr>
          <p:cNvPr id="20" name="Connector: Elbow 19">
            <a:extLst>
              <a:ext uri="{FF2B5EF4-FFF2-40B4-BE49-F238E27FC236}">
                <a16:creationId xmlns:a16="http://schemas.microsoft.com/office/drawing/2014/main" id="{FD650578-3B2C-4E4D-6867-17B8CF15CD89}"/>
              </a:ext>
            </a:extLst>
          </p:cNvPr>
          <p:cNvCxnSpPr>
            <a:cxnSpLocks/>
            <a:stCxn id="6" idx="2"/>
            <a:endCxn id="19" idx="0"/>
          </p:cNvCxnSpPr>
          <p:nvPr/>
        </p:nvCxnSpPr>
        <p:spPr>
          <a:xfrm rot="16200000" flipH="1">
            <a:off x="9102412" y="3061537"/>
            <a:ext cx="233631" cy="292021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A1CDC77F-F74D-C722-7E86-DD3DFB12FCF1}"/>
              </a:ext>
            </a:extLst>
          </p:cNvPr>
          <p:cNvSpPr/>
          <p:nvPr/>
        </p:nvSpPr>
        <p:spPr>
          <a:xfrm>
            <a:off x="2244913" y="3952983"/>
            <a:ext cx="1199622" cy="443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400" dirty="0"/>
              <a:t>داخلي</a:t>
            </a:r>
            <a:endParaRPr lang="ar-SA" dirty="0"/>
          </a:p>
        </p:txBody>
      </p:sp>
      <p:sp>
        <p:nvSpPr>
          <p:cNvPr id="22" name="Rectangle: Rounded Corners 21">
            <a:extLst>
              <a:ext uri="{FF2B5EF4-FFF2-40B4-BE49-F238E27FC236}">
                <a16:creationId xmlns:a16="http://schemas.microsoft.com/office/drawing/2014/main" id="{B49E4581-37F5-D757-606B-A3FCAC1908E3}"/>
              </a:ext>
            </a:extLst>
          </p:cNvPr>
          <p:cNvSpPr/>
          <p:nvPr/>
        </p:nvSpPr>
        <p:spPr>
          <a:xfrm>
            <a:off x="2192016" y="4602802"/>
            <a:ext cx="1268630" cy="4734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SA" dirty="0"/>
              <a:t>منسوبي </a:t>
            </a:r>
            <a:r>
              <a:rPr lang="ar-EG" dirty="0"/>
              <a:t>الهيئة</a:t>
            </a:r>
            <a:r>
              <a:rPr lang="ar-SA" dirty="0"/>
              <a:t> </a:t>
            </a:r>
            <a:r>
              <a:rPr lang="en-US" dirty="0"/>
              <a:t>E</a:t>
            </a:r>
            <a:endParaRPr lang="ar-SA" dirty="0"/>
          </a:p>
        </p:txBody>
      </p:sp>
      <p:sp>
        <p:nvSpPr>
          <p:cNvPr id="23" name="Rectangle 22">
            <a:extLst>
              <a:ext uri="{FF2B5EF4-FFF2-40B4-BE49-F238E27FC236}">
                <a16:creationId xmlns:a16="http://schemas.microsoft.com/office/drawing/2014/main" id="{D6967C30-1B84-28F3-B114-3297004048E3}"/>
              </a:ext>
            </a:extLst>
          </p:cNvPr>
          <p:cNvSpPr/>
          <p:nvPr/>
        </p:nvSpPr>
        <p:spPr>
          <a:xfrm>
            <a:off x="1182006" y="1020604"/>
            <a:ext cx="9625034" cy="21590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rtl="1">
              <a:lnSpc>
                <a:spcPct val="150000"/>
              </a:lnSpc>
            </a:pPr>
            <a:r>
              <a:rPr lang="ar-SA" dirty="0">
                <a:solidFill>
                  <a:schemeClr val="tx1"/>
                </a:solidFill>
              </a:rPr>
              <a:t>يتم تصنيف المستفيد الى فئتين: </a:t>
            </a:r>
          </a:p>
          <a:p>
            <a:pPr algn="r" rtl="1">
              <a:lnSpc>
                <a:spcPct val="150000"/>
              </a:lnSpc>
            </a:pPr>
            <a:r>
              <a:rPr lang="ar-SA" dirty="0">
                <a:solidFill>
                  <a:schemeClr val="tx1"/>
                </a:solidFill>
              </a:rPr>
              <a:t>1- </a:t>
            </a:r>
            <a:r>
              <a:rPr lang="ar-SA" b="1" dirty="0">
                <a:solidFill>
                  <a:schemeClr val="tx1"/>
                </a:solidFill>
              </a:rPr>
              <a:t>المستفيد الداخلي </a:t>
            </a:r>
            <a:r>
              <a:rPr lang="ar-SA" dirty="0">
                <a:solidFill>
                  <a:schemeClr val="tx1"/>
                </a:solidFill>
              </a:rPr>
              <a:t>:وهم منسوبي </a:t>
            </a:r>
            <a:r>
              <a:rPr lang="ar-EG" dirty="0">
                <a:solidFill>
                  <a:schemeClr val="tx1"/>
                </a:solidFill>
              </a:rPr>
              <a:t>الهيئة</a:t>
            </a:r>
            <a:r>
              <a:rPr lang="ar-SA" dirty="0">
                <a:solidFill>
                  <a:schemeClr val="tx1"/>
                </a:solidFill>
              </a:rPr>
              <a:t> كالموظفون الحاليون والمتعاقدون والموظفون الجدد والموظفون المحتملون الذين يسعون للانضمام </a:t>
            </a:r>
            <a:r>
              <a:rPr lang="ar-EG" dirty="0">
                <a:solidFill>
                  <a:schemeClr val="tx1"/>
                </a:solidFill>
              </a:rPr>
              <a:t>للهيئة</a:t>
            </a:r>
            <a:r>
              <a:rPr lang="ar-SA" dirty="0">
                <a:solidFill>
                  <a:schemeClr val="tx1"/>
                </a:solidFill>
              </a:rPr>
              <a:t>.</a:t>
            </a:r>
          </a:p>
          <a:p>
            <a:pPr algn="r" rtl="1">
              <a:lnSpc>
                <a:spcPct val="150000"/>
              </a:lnSpc>
            </a:pPr>
            <a:r>
              <a:rPr lang="ar-SA" dirty="0">
                <a:solidFill>
                  <a:schemeClr val="tx1"/>
                </a:solidFill>
              </a:rPr>
              <a:t>2- </a:t>
            </a:r>
            <a:r>
              <a:rPr lang="ar-SA" b="1" dirty="0">
                <a:solidFill>
                  <a:schemeClr val="tx1"/>
                </a:solidFill>
              </a:rPr>
              <a:t>المستفيد الخارجي</a:t>
            </a:r>
            <a:r>
              <a:rPr lang="ar-SA" dirty="0">
                <a:solidFill>
                  <a:schemeClr val="tx1"/>
                </a:solidFill>
              </a:rPr>
              <a:t>: وهم </a:t>
            </a:r>
            <a:r>
              <a:rPr lang="ar-EG" dirty="0">
                <a:solidFill>
                  <a:schemeClr val="tx1"/>
                </a:solidFill>
              </a:rPr>
              <a:t>ثلاث</a:t>
            </a:r>
            <a:r>
              <a:rPr lang="ar-SA" dirty="0">
                <a:solidFill>
                  <a:schemeClr val="tx1"/>
                </a:solidFill>
              </a:rPr>
              <a:t> مستفيدون رئيسيون (الجهات الحكومية وقطاع الاعمال والأفراد)</a:t>
            </a:r>
            <a:r>
              <a:rPr lang="ar-EG" dirty="0">
                <a:solidFill>
                  <a:schemeClr val="tx1"/>
                </a:solidFill>
              </a:rPr>
              <a:t>، </a:t>
            </a:r>
            <a:r>
              <a:rPr lang="ar-SA" dirty="0">
                <a:solidFill>
                  <a:schemeClr val="tx1"/>
                </a:solidFill>
              </a:rPr>
              <a:t>وفي حالات خاصة يمكن ان يكون المستفيد الخارجي منظمات دولية والقطاع الغير ربحي </a:t>
            </a:r>
          </a:p>
        </p:txBody>
      </p:sp>
    </p:spTree>
    <p:extLst>
      <p:ext uri="{BB962C8B-B14F-4D97-AF65-F5344CB8AC3E}">
        <p14:creationId xmlns:p14="http://schemas.microsoft.com/office/powerpoint/2010/main" val="280425206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20D0-DCBD-A3C8-57D7-FD87FED2BBC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0E02B8-B9CF-579C-EC7D-C10B8F8F26B3}"/>
              </a:ext>
            </a:extLst>
          </p:cNvPr>
          <p:cNvSpPr>
            <a:spLocks noGrp="1"/>
          </p:cNvSpPr>
          <p:nvPr>
            <p:ph type="sldNum" sz="quarter" idx="12"/>
          </p:nvPr>
        </p:nvSpPr>
        <p:spPr/>
        <p:txBody>
          <a:bodyPr/>
          <a:lstStyle/>
          <a:p>
            <a:fld id="{0BE4EC83-A869-464E-AE9F-881796FB085E}" type="slidenum">
              <a:rPr lang="en-US" smtClean="0"/>
              <a:t>26</a:t>
            </a:fld>
            <a:endParaRPr lang="en-US" dirty="0"/>
          </a:p>
        </p:txBody>
      </p:sp>
      <p:sp>
        <p:nvSpPr>
          <p:cNvPr id="7" name="Title 1">
            <a:extLst>
              <a:ext uri="{FF2B5EF4-FFF2-40B4-BE49-F238E27FC236}">
                <a16:creationId xmlns:a16="http://schemas.microsoft.com/office/drawing/2014/main" id="{FD0BFDF2-CC5A-D0A5-E5DF-9B3471E85B80}"/>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وصف فئة المستفيد</a:t>
            </a:r>
            <a:endParaRPr lang="en-US" dirty="0"/>
          </a:p>
        </p:txBody>
      </p:sp>
      <p:graphicFrame>
        <p:nvGraphicFramePr>
          <p:cNvPr id="2" name="Table 3">
            <a:extLst>
              <a:ext uri="{FF2B5EF4-FFF2-40B4-BE49-F238E27FC236}">
                <a16:creationId xmlns:a16="http://schemas.microsoft.com/office/drawing/2014/main" id="{33926518-9E9A-B4A2-4C9B-848D02C6EEB4}"/>
              </a:ext>
            </a:extLst>
          </p:cNvPr>
          <p:cNvGraphicFramePr>
            <a:graphicFrameLocks noGrp="1"/>
          </p:cNvGraphicFramePr>
          <p:nvPr>
            <p:extLst>
              <p:ext uri="{D42A27DB-BD31-4B8C-83A1-F6EECF244321}">
                <p14:modId xmlns:p14="http://schemas.microsoft.com/office/powerpoint/2010/main" val="2839594085"/>
              </p:ext>
            </p:extLst>
          </p:nvPr>
        </p:nvGraphicFramePr>
        <p:xfrm>
          <a:off x="1133062" y="1388056"/>
          <a:ext cx="9925877" cy="2956560"/>
        </p:xfrm>
        <a:graphic>
          <a:graphicData uri="http://schemas.openxmlformats.org/drawingml/2006/table">
            <a:tbl>
              <a:tblPr rtl="1" firstRow="1" bandRow="1">
                <a:tableStyleId>{5C22544A-7EE6-4342-B048-85BDC9FD1C3A}</a:tableStyleId>
              </a:tblPr>
              <a:tblGrid>
                <a:gridCol w="348986">
                  <a:extLst>
                    <a:ext uri="{9D8B030D-6E8A-4147-A177-3AD203B41FA5}">
                      <a16:colId xmlns:a16="http://schemas.microsoft.com/office/drawing/2014/main" val="3880807648"/>
                    </a:ext>
                  </a:extLst>
                </a:gridCol>
                <a:gridCol w="2112605">
                  <a:extLst>
                    <a:ext uri="{9D8B030D-6E8A-4147-A177-3AD203B41FA5}">
                      <a16:colId xmlns:a16="http://schemas.microsoft.com/office/drawing/2014/main" val="843335953"/>
                    </a:ext>
                  </a:extLst>
                </a:gridCol>
                <a:gridCol w="7464286">
                  <a:extLst>
                    <a:ext uri="{9D8B030D-6E8A-4147-A177-3AD203B41FA5}">
                      <a16:colId xmlns:a16="http://schemas.microsoft.com/office/drawing/2014/main" val="590878406"/>
                    </a:ext>
                  </a:extLst>
                </a:gridCol>
              </a:tblGrid>
              <a:tr h="164442">
                <a:tc>
                  <a:txBody>
                    <a:bodyPr/>
                    <a:lstStyle/>
                    <a:p>
                      <a:pPr algn="r" rtl="1"/>
                      <a:r>
                        <a:rPr lang="ar-SA" dirty="0"/>
                        <a:t>#</a:t>
                      </a:r>
                    </a:p>
                  </a:txBody>
                  <a:tcPr/>
                </a:tc>
                <a:tc>
                  <a:txBody>
                    <a:bodyPr/>
                    <a:lstStyle/>
                    <a:p>
                      <a:pPr algn="r" rtl="1"/>
                      <a:r>
                        <a:rPr lang="ar-SA" dirty="0"/>
                        <a:t>فئة المستفيد </a:t>
                      </a:r>
                    </a:p>
                  </a:txBody>
                  <a:tcPr/>
                </a:tc>
                <a:tc>
                  <a:txBody>
                    <a:bodyPr/>
                    <a:lstStyle/>
                    <a:p>
                      <a:pPr algn="r" rtl="1"/>
                      <a:r>
                        <a:rPr lang="ar-SA" dirty="0"/>
                        <a:t>وصف المستفيد</a:t>
                      </a:r>
                    </a:p>
                  </a:txBody>
                  <a:tcPr/>
                </a:tc>
                <a:extLst>
                  <a:ext uri="{0D108BD9-81ED-4DB2-BD59-A6C34878D82A}">
                    <a16:rowId xmlns:a16="http://schemas.microsoft.com/office/drawing/2014/main" val="112021307"/>
                  </a:ext>
                </a:extLst>
              </a:tr>
              <a:tr h="0">
                <a:tc>
                  <a:txBody>
                    <a:bodyPr/>
                    <a:lstStyle/>
                    <a:p>
                      <a:pPr algn="r" rtl="1"/>
                      <a:r>
                        <a:rPr lang="ar-SA" sz="1600" b="1" dirty="0"/>
                        <a:t>1</a:t>
                      </a:r>
                    </a:p>
                  </a:txBody>
                  <a:tcPr marL="137160" marR="137160" marT="137160" marB="137160" anchor="ctr">
                    <a:solidFill>
                      <a:schemeClr val="accent2">
                        <a:lumMod val="40000"/>
                        <a:lumOff val="60000"/>
                      </a:schemeClr>
                    </a:solidFill>
                  </a:tcPr>
                </a:tc>
                <a:tc>
                  <a:txBody>
                    <a:bodyPr/>
                    <a:lstStyle/>
                    <a:p>
                      <a:pPr algn="r" rtl="1"/>
                      <a:r>
                        <a:rPr lang="ar-SA" sz="1600" b="1" dirty="0"/>
                        <a:t>افراد</a:t>
                      </a:r>
                    </a:p>
                  </a:txBody>
                  <a:tcPr marL="137160" marR="137160" marT="137160" marB="137160" anchor="ctr">
                    <a:solidFill>
                      <a:schemeClr val="accent2">
                        <a:lumMod val="40000"/>
                        <a:lumOff val="60000"/>
                      </a:schemeClr>
                    </a:solidFill>
                  </a:tcPr>
                </a:tc>
                <a:tc>
                  <a:txBody>
                    <a:bodyPr/>
                    <a:lstStyle/>
                    <a:p>
                      <a:pPr algn="r"/>
                      <a:r>
                        <a:rPr lang="ar-SA" sz="1600" dirty="0"/>
                        <a:t>وهي الفئة التي تشمل المواطنين، أو المقيمين، أو الزوار المستفيدين من خدمات </a:t>
                      </a:r>
                      <a:r>
                        <a:rPr lang="ar-EG" sz="1600" dirty="0"/>
                        <a:t>الهيئة</a:t>
                      </a:r>
                      <a:endParaRPr lang="ar-SA" sz="1600" dirty="0"/>
                    </a:p>
                  </a:txBody>
                  <a:tcPr marL="137160" marR="137160" marT="137160" marB="137160" anchor="ctr">
                    <a:solidFill>
                      <a:schemeClr val="accent2">
                        <a:lumMod val="40000"/>
                        <a:lumOff val="60000"/>
                      </a:schemeClr>
                    </a:solidFill>
                  </a:tcPr>
                </a:tc>
                <a:extLst>
                  <a:ext uri="{0D108BD9-81ED-4DB2-BD59-A6C34878D82A}">
                    <a16:rowId xmlns:a16="http://schemas.microsoft.com/office/drawing/2014/main" val="3539900488"/>
                  </a:ext>
                </a:extLst>
              </a:tr>
              <a:tr h="0">
                <a:tc>
                  <a:txBody>
                    <a:bodyPr/>
                    <a:lstStyle/>
                    <a:p>
                      <a:pPr algn="r" rtl="1"/>
                      <a:r>
                        <a:rPr lang="ar-SA" sz="1600" b="1" dirty="0"/>
                        <a:t>2</a:t>
                      </a:r>
                    </a:p>
                  </a:txBody>
                  <a:tcPr marL="137160" marR="137160" marT="137160" marB="137160" anchor="ctr">
                    <a:solidFill>
                      <a:schemeClr val="accent2">
                        <a:lumMod val="40000"/>
                        <a:lumOff val="60000"/>
                      </a:schemeClr>
                    </a:solidFill>
                  </a:tcPr>
                </a:tc>
                <a:tc>
                  <a:txBody>
                    <a:bodyPr/>
                    <a:lstStyle/>
                    <a:p>
                      <a:pPr algn="r" rtl="1"/>
                      <a:r>
                        <a:rPr lang="ar-SA" sz="1600" b="1" dirty="0"/>
                        <a:t>قطاع أعمال </a:t>
                      </a:r>
                    </a:p>
                  </a:txBody>
                  <a:tcPr marL="137160" marR="137160" marT="137160" marB="137160" anchor="ctr">
                    <a:solidFill>
                      <a:schemeClr val="accent2">
                        <a:lumMod val="40000"/>
                        <a:lumOff val="60000"/>
                      </a:schemeClr>
                    </a:solidFill>
                  </a:tcPr>
                </a:tc>
                <a:tc>
                  <a:txBody>
                    <a:bodyPr/>
                    <a:lstStyle/>
                    <a:p>
                      <a:pPr algn="r"/>
                      <a:r>
                        <a:rPr lang="ar-SA" sz="1600" dirty="0"/>
                        <a:t>وهي الفئة التي تشمل الشركات والمستثمرين المحليين والمستثمرين من خدمات </a:t>
                      </a:r>
                      <a:r>
                        <a:rPr lang="ar-EG" sz="1600" dirty="0"/>
                        <a:t>الهيئة</a:t>
                      </a:r>
                      <a:endParaRPr lang="ar-SA" sz="1600" dirty="0"/>
                    </a:p>
                  </a:txBody>
                  <a:tcPr marL="137160" marR="137160" marT="137160" marB="137160" anchor="ctr">
                    <a:solidFill>
                      <a:schemeClr val="accent2">
                        <a:lumMod val="40000"/>
                        <a:lumOff val="60000"/>
                      </a:schemeClr>
                    </a:solidFill>
                  </a:tcPr>
                </a:tc>
                <a:extLst>
                  <a:ext uri="{0D108BD9-81ED-4DB2-BD59-A6C34878D82A}">
                    <a16:rowId xmlns:a16="http://schemas.microsoft.com/office/drawing/2014/main" val="1814630150"/>
                  </a:ext>
                </a:extLst>
              </a:tr>
              <a:tr h="0">
                <a:tc>
                  <a:txBody>
                    <a:bodyPr/>
                    <a:lstStyle/>
                    <a:p>
                      <a:pPr algn="r" rtl="1"/>
                      <a:r>
                        <a:rPr lang="ar-SA" sz="1600" b="1" dirty="0"/>
                        <a:t>3</a:t>
                      </a:r>
                    </a:p>
                  </a:txBody>
                  <a:tcPr marL="137160" marR="137160" marT="137160" marB="137160" anchor="ctr">
                    <a:solidFill>
                      <a:schemeClr val="accent2">
                        <a:lumMod val="40000"/>
                        <a:lumOff val="60000"/>
                      </a:schemeClr>
                    </a:solidFill>
                  </a:tcPr>
                </a:tc>
                <a:tc>
                  <a:txBody>
                    <a:bodyPr/>
                    <a:lstStyle/>
                    <a:p>
                      <a:pPr algn="r" rtl="1"/>
                      <a:r>
                        <a:rPr lang="ar-SA" sz="1600" b="1" dirty="0"/>
                        <a:t>جهات حكومية</a:t>
                      </a:r>
                    </a:p>
                  </a:txBody>
                  <a:tcPr marL="137160" marR="137160" marT="137160" marB="137160" anchor="ctr">
                    <a:solidFill>
                      <a:schemeClr val="accent2">
                        <a:lumMod val="40000"/>
                        <a:lumOff val="60000"/>
                      </a:schemeClr>
                    </a:solidFill>
                  </a:tcPr>
                </a:tc>
                <a:tc>
                  <a:txBody>
                    <a:bodyPr/>
                    <a:lstStyle/>
                    <a:p>
                      <a:pPr algn="r"/>
                      <a:r>
                        <a:rPr lang="ar-SA" sz="1600" dirty="0"/>
                        <a:t>وهي الفئة التي تشمل جهات القطاع الحكومي المستفيدة من خدمات </a:t>
                      </a:r>
                      <a:r>
                        <a:rPr lang="ar-EG" sz="1600" dirty="0"/>
                        <a:t>الهيئة</a:t>
                      </a:r>
                      <a:endParaRPr lang="ar-SA" sz="1600" dirty="0"/>
                    </a:p>
                  </a:txBody>
                  <a:tcPr marL="137160" marR="137160" marT="137160" marB="137160" anchor="ctr">
                    <a:solidFill>
                      <a:schemeClr val="accent2">
                        <a:lumMod val="40000"/>
                        <a:lumOff val="60000"/>
                      </a:schemeClr>
                    </a:solidFill>
                  </a:tcPr>
                </a:tc>
                <a:extLst>
                  <a:ext uri="{0D108BD9-81ED-4DB2-BD59-A6C34878D82A}">
                    <a16:rowId xmlns:a16="http://schemas.microsoft.com/office/drawing/2014/main" val="269647371"/>
                  </a:ext>
                </a:extLst>
              </a:tr>
              <a:tr h="0">
                <a:tc>
                  <a:txBody>
                    <a:bodyPr/>
                    <a:lstStyle/>
                    <a:p>
                      <a:pPr algn="r" rtl="1"/>
                      <a:r>
                        <a:rPr lang="ar-SA" sz="1600" b="1" dirty="0"/>
                        <a:t>4</a:t>
                      </a:r>
                    </a:p>
                  </a:txBody>
                  <a:tcPr marL="137160" marR="137160" marT="137160" marB="137160" anchor="ctr">
                    <a:solidFill>
                      <a:schemeClr val="accent2">
                        <a:lumMod val="40000"/>
                        <a:lumOff val="60000"/>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dirty="0"/>
                        <a:t>القطاع غير الربحي</a:t>
                      </a:r>
                    </a:p>
                  </a:txBody>
                  <a:tcPr marL="137160" marR="137160" marT="137160" marB="137160" anchor="ctr">
                    <a:solidFill>
                      <a:schemeClr val="accent2">
                        <a:lumMod val="40000"/>
                        <a:lumOff val="60000"/>
                      </a:schemeClr>
                    </a:solidFill>
                  </a:tcPr>
                </a:tc>
                <a:tc>
                  <a:txBody>
                    <a:bodyPr/>
                    <a:lstStyle/>
                    <a:p>
                      <a:pPr algn="r"/>
                      <a:r>
                        <a:rPr lang="ar-SA" sz="1600" dirty="0"/>
                        <a:t>وهي الفئة التي تشمل جهات القطاع غير الربحي المستفيدة من خدمات </a:t>
                      </a:r>
                      <a:r>
                        <a:rPr lang="ar-EG" sz="1600" dirty="0"/>
                        <a:t>الهيئة</a:t>
                      </a:r>
                      <a:endParaRPr lang="ar-SA" sz="1600" dirty="0"/>
                    </a:p>
                  </a:txBody>
                  <a:tcPr marL="137160" marR="137160" marT="137160" marB="137160" anchor="ctr">
                    <a:solidFill>
                      <a:schemeClr val="accent2">
                        <a:lumMod val="40000"/>
                        <a:lumOff val="60000"/>
                      </a:schemeClr>
                    </a:solidFill>
                  </a:tcPr>
                </a:tc>
                <a:extLst>
                  <a:ext uri="{0D108BD9-81ED-4DB2-BD59-A6C34878D82A}">
                    <a16:rowId xmlns:a16="http://schemas.microsoft.com/office/drawing/2014/main" val="3113356772"/>
                  </a:ext>
                </a:extLst>
              </a:tr>
              <a:tr h="0">
                <a:tc>
                  <a:txBody>
                    <a:bodyPr/>
                    <a:lstStyle/>
                    <a:p>
                      <a:pPr algn="r" rtl="1"/>
                      <a:r>
                        <a:rPr lang="ar-SA" sz="1600" b="1" dirty="0"/>
                        <a:t>5</a:t>
                      </a:r>
                    </a:p>
                  </a:txBody>
                  <a:tcPr marL="137160" marR="137160" marT="137160" marB="137160" anchor="ctr">
                    <a:solidFill>
                      <a:schemeClr val="accent2">
                        <a:lumMod val="40000"/>
                        <a:lumOff val="60000"/>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dirty="0"/>
                        <a:t>المنظمات الدولية</a:t>
                      </a:r>
                    </a:p>
                  </a:txBody>
                  <a:tcPr marL="137160" marR="137160" marT="137160" marB="137160" anchor="ctr">
                    <a:solidFill>
                      <a:schemeClr val="accent2">
                        <a:lumMod val="40000"/>
                        <a:lumOff val="60000"/>
                      </a:schemeClr>
                    </a:solidFill>
                  </a:tcPr>
                </a:tc>
                <a:tc>
                  <a:txBody>
                    <a:bodyPr/>
                    <a:lstStyle/>
                    <a:p>
                      <a:pPr algn="r"/>
                      <a:r>
                        <a:rPr lang="ar-SA" sz="1600" dirty="0"/>
                        <a:t>وهي الفئة التي تشمل المنظمات الدولية المستفيدة من خدمات </a:t>
                      </a:r>
                      <a:r>
                        <a:rPr lang="ar-EG" sz="1600" dirty="0"/>
                        <a:t>الهيئة</a:t>
                      </a:r>
                      <a:endParaRPr lang="ar-SA" sz="1600" dirty="0"/>
                    </a:p>
                  </a:txBody>
                  <a:tcPr marL="137160" marR="137160" marT="137160" marB="137160" anchor="ctr">
                    <a:solidFill>
                      <a:schemeClr val="accent2">
                        <a:lumMod val="40000"/>
                        <a:lumOff val="60000"/>
                      </a:schemeClr>
                    </a:solidFill>
                  </a:tcPr>
                </a:tc>
                <a:extLst>
                  <a:ext uri="{0D108BD9-81ED-4DB2-BD59-A6C34878D82A}">
                    <a16:rowId xmlns:a16="http://schemas.microsoft.com/office/drawing/2014/main" val="3211109115"/>
                  </a:ext>
                </a:extLst>
              </a:tr>
            </a:tbl>
          </a:graphicData>
        </a:graphic>
      </p:graphicFrame>
      <p:sp>
        <p:nvSpPr>
          <p:cNvPr id="4" name="Title 1">
            <a:extLst>
              <a:ext uri="{FF2B5EF4-FFF2-40B4-BE49-F238E27FC236}">
                <a16:creationId xmlns:a16="http://schemas.microsoft.com/office/drawing/2014/main" id="{90E7C700-8BE5-FCBD-1881-EDE429E5F974}"/>
              </a:ext>
            </a:extLst>
          </p:cNvPr>
          <p:cNvSpPr txBox="1">
            <a:spLocks/>
          </p:cNvSpPr>
          <p:nvPr/>
        </p:nvSpPr>
        <p:spPr>
          <a:xfrm>
            <a:off x="5241524" y="1047592"/>
            <a:ext cx="6112276" cy="375380"/>
          </a:xfrm>
          <a:prstGeom prst="rect">
            <a:avLst/>
          </a:prstGeom>
        </p:spPr>
        <p:txBody>
          <a:bodyPr vert="horz" lIns="91440" tIns="0" rIns="0" bIns="45720" rtlCol="0" anchor="t" anchorCtr="0">
            <a:noAutofit/>
          </a:bodyPr>
          <a:lstStyle>
            <a:lvl1pPr algn="r" defTabSz="914400" rtl="1" eaLnBrk="1" latinLnBrk="0" hangingPunct="1">
              <a:lnSpc>
                <a:spcPct val="100000"/>
              </a:lnSpc>
              <a:spcBef>
                <a:spcPct val="0"/>
              </a:spcBef>
              <a:buNone/>
              <a:defRPr sz="3200" b="1" kern="1200">
                <a:solidFill>
                  <a:schemeClr val="accent1"/>
                </a:solidFill>
                <a:latin typeface="Sakkal Majalla" panose="02000000000000000000" pitchFamily="2" charset="-78"/>
                <a:ea typeface="+mj-ea"/>
                <a:cs typeface="Sakkal Majalla" panose="02000000000000000000" pitchFamily="2" charset="-78"/>
              </a:defRPr>
            </a:lvl1pPr>
          </a:lstStyle>
          <a:p>
            <a:r>
              <a:rPr lang="ar-SA" sz="1800" dirty="0"/>
              <a:t>وصف لفئة المستفيد الخارجي</a:t>
            </a:r>
          </a:p>
        </p:txBody>
      </p:sp>
      <p:sp>
        <p:nvSpPr>
          <p:cNvPr id="5" name="Title 1">
            <a:extLst>
              <a:ext uri="{FF2B5EF4-FFF2-40B4-BE49-F238E27FC236}">
                <a16:creationId xmlns:a16="http://schemas.microsoft.com/office/drawing/2014/main" id="{69EDE912-1E92-7D2D-43F4-8B4817AC51DF}"/>
              </a:ext>
            </a:extLst>
          </p:cNvPr>
          <p:cNvSpPr txBox="1">
            <a:spLocks/>
          </p:cNvSpPr>
          <p:nvPr/>
        </p:nvSpPr>
        <p:spPr>
          <a:xfrm>
            <a:off x="8257352" y="4574034"/>
            <a:ext cx="3146880" cy="340464"/>
          </a:xfrm>
          <a:prstGeom prst="rect">
            <a:avLst/>
          </a:prstGeom>
        </p:spPr>
        <p:txBody>
          <a:bodyPr vert="horz" lIns="91440" tIns="0" rIns="0" bIns="45720" rtlCol="0" anchor="t" anchorCtr="0">
            <a:noAutofit/>
          </a:bodyPr>
          <a:lstStyle>
            <a:lvl1pPr algn="r" defTabSz="914400" rtl="1" eaLnBrk="1" latinLnBrk="0" hangingPunct="1">
              <a:lnSpc>
                <a:spcPct val="100000"/>
              </a:lnSpc>
              <a:spcBef>
                <a:spcPct val="0"/>
              </a:spcBef>
              <a:buNone/>
              <a:defRPr sz="3200" b="1" kern="1200">
                <a:solidFill>
                  <a:schemeClr val="accent1"/>
                </a:solidFill>
                <a:latin typeface="Sakkal Majalla" panose="02000000000000000000" pitchFamily="2" charset="-78"/>
                <a:ea typeface="+mj-ea"/>
                <a:cs typeface="Sakkal Majalla" panose="02000000000000000000" pitchFamily="2" charset="-78"/>
              </a:defRPr>
            </a:lvl1pPr>
          </a:lstStyle>
          <a:p>
            <a:r>
              <a:rPr lang="ar-SA" sz="1800" dirty="0"/>
              <a:t>وصف لفئة المستفيد الداخلي</a:t>
            </a:r>
          </a:p>
        </p:txBody>
      </p:sp>
      <p:graphicFrame>
        <p:nvGraphicFramePr>
          <p:cNvPr id="6" name="Table 3">
            <a:extLst>
              <a:ext uri="{FF2B5EF4-FFF2-40B4-BE49-F238E27FC236}">
                <a16:creationId xmlns:a16="http://schemas.microsoft.com/office/drawing/2014/main" id="{F2E7BAEC-22B5-0543-35C9-D5B43731EB8E}"/>
              </a:ext>
            </a:extLst>
          </p:cNvPr>
          <p:cNvGraphicFramePr>
            <a:graphicFrameLocks noGrp="1"/>
          </p:cNvGraphicFramePr>
          <p:nvPr>
            <p:extLst>
              <p:ext uri="{D42A27DB-BD31-4B8C-83A1-F6EECF244321}">
                <p14:modId xmlns:p14="http://schemas.microsoft.com/office/powerpoint/2010/main" val="2215122063"/>
              </p:ext>
            </p:extLst>
          </p:nvPr>
        </p:nvGraphicFramePr>
        <p:xfrm>
          <a:off x="1133061" y="4875584"/>
          <a:ext cx="9925877" cy="944880"/>
        </p:xfrm>
        <a:graphic>
          <a:graphicData uri="http://schemas.openxmlformats.org/drawingml/2006/table">
            <a:tbl>
              <a:tblPr rtl="1" firstRow="1" bandRow="1">
                <a:tableStyleId>{5C22544A-7EE6-4342-B048-85BDC9FD1C3A}</a:tableStyleId>
              </a:tblPr>
              <a:tblGrid>
                <a:gridCol w="348986">
                  <a:extLst>
                    <a:ext uri="{9D8B030D-6E8A-4147-A177-3AD203B41FA5}">
                      <a16:colId xmlns:a16="http://schemas.microsoft.com/office/drawing/2014/main" val="3880807648"/>
                    </a:ext>
                  </a:extLst>
                </a:gridCol>
                <a:gridCol w="2122543">
                  <a:extLst>
                    <a:ext uri="{9D8B030D-6E8A-4147-A177-3AD203B41FA5}">
                      <a16:colId xmlns:a16="http://schemas.microsoft.com/office/drawing/2014/main" val="843335953"/>
                    </a:ext>
                  </a:extLst>
                </a:gridCol>
                <a:gridCol w="7454348">
                  <a:extLst>
                    <a:ext uri="{9D8B030D-6E8A-4147-A177-3AD203B41FA5}">
                      <a16:colId xmlns:a16="http://schemas.microsoft.com/office/drawing/2014/main" val="590878406"/>
                    </a:ext>
                  </a:extLst>
                </a:gridCol>
              </a:tblGrid>
              <a:tr h="325563">
                <a:tc>
                  <a:txBody>
                    <a:bodyPr/>
                    <a:lstStyle/>
                    <a:p>
                      <a:pPr algn="r" rtl="1"/>
                      <a:r>
                        <a:rPr lang="ar-SA" dirty="0"/>
                        <a:t>#</a:t>
                      </a:r>
                    </a:p>
                  </a:txBody>
                  <a:tcPr/>
                </a:tc>
                <a:tc>
                  <a:txBody>
                    <a:bodyPr/>
                    <a:lstStyle/>
                    <a:p>
                      <a:pPr algn="r" rtl="1"/>
                      <a:r>
                        <a:rPr lang="ar-SA" dirty="0"/>
                        <a:t>فئة المستفيد </a:t>
                      </a:r>
                    </a:p>
                  </a:txBody>
                  <a:tcPr/>
                </a:tc>
                <a:tc>
                  <a:txBody>
                    <a:bodyPr/>
                    <a:lstStyle/>
                    <a:p>
                      <a:pPr algn="r" rtl="1"/>
                      <a:r>
                        <a:rPr lang="ar-SA"/>
                        <a:t>وصف المستفيد</a:t>
                      </a:r>
                      <a:endParaRPr lang="ar-SA" dirty="0"/>
                    </a:p>
                  </a:txBody>
                  <a:tcPr/>
                </a:tc>
                <a:extLst>
                  <a:ext uri="{0D108BD9-81ED-4DB2-BD59-A6C34878D82A}">
                    <a16:rowId xmlns:a16="http://schemas.microsoft.com/office/drawing/2014/main" val="112021307"/>
                  </a:ext>
                </a:extLst>
              </a:tr>
              <a:tr h="497459">
                <a:tc>
                  <a:txBody>
                    <a:bodyPr/>
                    <a:lstStyle/>
                    <a:p>
                      <a:pPr algn="r" rtl="1"/>
                      <a:r>
                        <a:rPr lang="ar-SA" sz="1600" b="1" dirty="0"/>
                        <a:t>1</a:t>
                      </a:r>
                    </a:p>
                  </a:txBody>
                  <a:tcPr anchor="ctr">
                    <a:solidFill>
                      <a:schemeClr val="accent2">
                        <a:lumMod val="40000"/>
                        <a:lumOff val="60000"/>
                      </a:schemeClr>
                    </a:solidFill>
                  </a:tcPr>
                </a:tc>
                <a:tc>
                  <a:txBody>
                    <a:bodyPr/>
                    <a:lstStyle/>
                    <a:p>
                      <a:pPr algn="r" rtl="1"/>
                      <a:r>
                        <a:rPr lang="ar-SA" sz="1600" b="1" dirty="0"/>
                        <a:t>منسوبي المنظمة</a:t>
                      </a:r>
                    </a:p>
                  </a:txBody>
                  <a:tcPr anchor="ctr">
                    <a:solidFill>
                      <a:schemeClr val="accent2">
                        <a:lumMod val="40000"/>
                        <a:lumOff val="60000"/>
                      </a:schemeClr>
                    </a:solidFill>
                  </a:tcPr>
                </a:tc>
                <a:tc>
                  <a:txBody>
                    <a:bodyPr/>
                    <a:lstStyle/>
                    <a:p>
                      <a:pPr algn="r"/>
                      <a:r>
                        <a:rPr lang="ar-SA" sz="1600" dirty="0"/>
                        <a:t>وهي الفئة التي تشمل الوحدات التنظيمية التابعة للمنظمة أو الموظفين العاملين لدى </a:t>
                      </a:r>
                      <a:r>
                        <a:rPr lang="ar-EG" sz="1600" dirty="0"/>
                        <a:t>الهيئة</a:t>
                      </a:r>
                      <a:r>
                        <a:rPr lang="ar-SA" sz="1600" dirty="0"/>
                        <a:t>، وتستفيد تلك الفئة من خدمات </a:t>
                      </a:r>
                      <a:r>
                        <a:rPr lang="ar-EG" sz="1600" dirty="0"/>
                        <a:t>الهيئة.</a:t>
                      </a:r>
                    </a:p>
                    <a:p>
                      <a:pPr algn="r"/>
                      <a:r>
                        <a:rPr lang="ar-SA" sz="1600" dirty="0"/>
                        <a:t>على سبيل المثال لا الحصر:</a:t>
                      </a:r>
                      <a:r>
                        <a:rPr lang="ar-EG" sz="1600" dirty="0"/>
                        <a:t> </a:t>
                      </a:r>
                      <a:r>
                        <a:rPr lang="ar-SA" sz="1600" dirty="0"/>
                        <a:t>خدمات تقنية المعلومات- خدمات رأس المال البشري - خدمات المالية - خدمات المشتريات</a:t>
                      </a:r>
                      <a:r>
                        <a:rPr lang="ar-EG" sz="1600" dirty="0"/>
                        <a:t> </a:t>
                      </a:r>
                      <a:r>
                        <a:rPr lang="ar-SA" sz="1600" dirty="0"/>
                        <a:t>وغيرها</a:t>
                      </a:r>
                    </a:p>
                  </a:txBody>
                  <a:tcPr anchor="ctr">
                    <a:solidFill>
                      <a:schemeClr val="accent2">
                        <a:lumMod val="40000"/>
                        <a:lumOff val="60000"/>
                      </a:schemeClr>
                    </a:solidFill>
                  </a:tcPr>
                </a:tc>
                <a:extLst>
                  <a:ext uri="{0D108BD9-81ED-4DB2-BD59-A6C34878D82A}">
                    <a16:rowId xmlns:a16="http://schemas.microsoft.com/office/drawing/2014/main" val="3539900488"/>
                  </a:ext>
                </a:extLst>
              </a:tr>
            </a:tbl>
          </a:graphicData>
        </a:graphic>
      </p:graphicFrame>
    </p:spTree>
    <p:extLst>
      <p:ext uri="{BB962C8B-B14F-4D97-AF65-F5344CB8AC3E}">
        <p14:creationId xmlns:p14="http://schemas.microsoft.com/office/powerpoint/2010/main" val="42438883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9F9ED-A5B6-D045-173D-E2BE8B45754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CBAACA-72E8-679F-E07F-60E1518BAA09}"/>
              </a:ext>
            </a:extLst>
          </p:cNvPr>
          <p:cNvSpPr>
            <a:spLocks noGrp="1"/>
          </p:cNvSpPr>
          <p:nvPr>
            <p:ph type="sldNum" sz="quarter" idx="12"/>
          </p:nvPr>
        </p:nvSpPr>
        <p:spPr/>
        <p:txBody>
          <a:bodyPr/>
          <a:lstStyle/>
          <a:p>
            <a:fld id="{0BE4EC83-A869-464E-AE9F-881796FB085E}" type="slidenum">
              <a:rPr lang="en-US" smtClean="0"/>
              <a:t>27</a:t>
            </a:fld>
            <a:endParaRPr lang="en-US" dirty="0"/>
          </a:p>
        </p:txBody>
      </p:sp>
      <p:sp>
        <p:nvSpPr>
          <p:cNvPr id="7" name="Title 1">
            <a:extLst>
              <a:ext uri="{FF2B5EF4-FFF2-40B4-BE49-F238E27FC236}">
                <a16:creationId xmlns:a16="http://schemas.microsoft.com/office/drawing/2014/main" id="{9967CE22-6E61-BDFD-30D1-FF3F60529BF0}"/>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المراحل الرئيسية لرحلة المستفيد</a:t>
            </a:r>
            <a:endParaRPr lang="en-US" dirty="0"/>
          </a:p>
        </p:txBody>
      </p:sp>
      <p:sp>
        <p:nvSpPr>
          <p:cNvPr id="2" name="Freeform 8">
            <a:extLst>
              <a:ext uri="{FF2B5EF4-FFF2-40B4-BE49-F238E27FC236}">
                <a16:creationId xmlns:a16="http://schemas.microsoft.com/office/drawing/2014/main" id="{F5D8ABB8-E71C-7A8B-3EBA-FC68E9D18DB9}"/>
              </a:ext>
            </a:extLst>
          </p:cNvPr>
          <p:cNvSpPr>
            <a:spLocks/>
          </p:cNvSpPr>
          <p:nvPr/>
        </p:nvSpPr>
        <p:spPr bwMode="auto">
          <a:xfrm>
            <a:off x="1238250" y="1536829"/>
            <a:ext cx="2487613" cy="3935412"/>
          </a:xfrm>
          <a:custGeom>
            <a:avLst/>
            <a:gdLst>
              <a:gd name="T0" fmla="*/ 2147483646 w 554"/>
              <a:gd name="T1" fmla="*/ 2147483646 h 876"/>
              <a:gd name="T2" fmla="*/ 2147483646 w 554"/>
              <a:gd name="T3" fmla="*/ 2147483646 h 876"/>
              <a:gd name="T4" fmla="*/ 0 w 554"/>
              <a:gd name="T5" fmla="*/ 2147483646 h 876"/>
              <a:gd name="T6" fmla="*/ 0 w 554"/>
              <a:gd name="T7" fmla="*/ 2147483646 h 876"/>
              <a:gd name="T8" fmla="*/ 2147483646 w 554"/>
              <a:gd name="T9" fmla="*/ 0 h 876"/>
              <a:gd name="T10" fmla="*/ 2147483646 w 554"/>
              <a:gd name="T11" fmla="*/ 0 h 876"/>
              <a:gd name="T12" fmla="*/ 2147483646 w 554"/>
              <a:gd name="T13" fmla="*/ 2147483646 h 876"/>
              <a:gd name="T14" fmla="*/ 2147483646 w 554"/>
              <a:gd name="T15" fmla="*/ 2147483646 h 876"/>
              <a:gd name="T16" fmla="*/ 2147483646 w 554"/>
              <a:gd name="T17" fmla="*/ 2147483646 h 8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54" h="876">
                <a:moveTo>
                  <a:pt x="511" y="876"/>
                </a:moveTo>
                <a:cubicBezTo>
                  <a:pt x="43" y="876"/>
                  <a:pt x="43" y="876"/>
                  <a:pt x="43" y="876"/>
                </a:cubicBezTo>
                <a:cubicBezTo>
                  <a:pt x="19" y="876"/>
                  <a:pt x="0" y="857"/>
                  <a:pt x="0" y="833"/>
                </a:cubicBezTo>
                <a:cubicBezTo>
                  <a:pt x="0" y="43"/>
                  <a:pt x="0" y="43"/>
                  <a:pt x="0" y="43"/>
                </a:cubicBezTo>
                <a:cubicBezTo>
                  <a:pt x="0" y="19"/>
                  <a:pt x="19" y="0"/>
                  <a:pt x="43" y="0"/>
                </a:cubicBezTo>
                <a:cubicBezTo>
                  <a:pt x="511" y="0"/>
                  <a:pt x="511" y="0"/>
                  <a:pt x="511" y="0"/>
                </a:cubicBezTo>
                <a:cubicBezTo>
                  <a:pt x="535" y="0"/>
                  <a:pt x="554" y="19"/>
                  <a:pt x="554" y="43"/>
                </a:cubicBezTo>
                <a:cubicBezTo>
                  <a:pt x="554" y="833"/>
                  <a:pt x="554" y="833"/>
                  <a:pt x="554" y="833"/>
                </a:cubicBezTo>
                <a:cubicBezTo>
                  <a:pt x="554" y="857"/>
                  <a:pt x="535" y="876"/>
                  <a:pt x="511" y="876"/>
                </a:cubicBezTo>
                <a:close/>
              </a:path>
            </a:pathLst>
          </a:custGeom>
          <a:solidFill>
            <a:srgbClr val="FFAD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Sakkal Majalla" panose="02000000000000000000" pitchFamily="2" charset="-78"/>
              <a:cs typeface="Sakkal Majalla" panose="02000000000000000000" pitchFamily="2" charset="-78"/>
            </a:endParaRPr>
          </a:p>
        </p:txBody>
      </p:sp>
      <p:sp>
        <p:nvSpPr>
          <p:cNvPr id="4" name="Freeform 9">
            <a:extLst>
              <a:ext uri="{FF2B5EF4-FFF2-40B4-BE49-F238E27FC236}">
                <a16:creationId xmlns:a16="http://schemas.microsoft.com/office/drawing/2014/main" id="{19A6BD7A-78BE-1D5C-F4CF-057FB4DF1383}"/>
              </a:ext>
            </a:extLst>
          </p:cNvPr>
          <p:cNvSpPr>
            <a:spLocks/>
          </p:cNvSpPr>
          <p:nvPr/>
        </p:nvSpPr>
        <p:spPr bwMode="auto">
          <a:xfrm>
            <a:off x="4843463" y="1536829"/>
            <a:ext cx="2487612" cy="3935412"/>
          </a:xfrm>
          <a:custGeom>
            <a:avLst/>
            <a:gdLst>
              <a:gd name="T0" fmla="*/ 2147483646 w 554"/>
              <a:gd name="T1" fmla="*/ 2147483646 h 876"/>
              <a:gd name="T2" fmla="*/ 2147483646 w 554"/>
              <a:gd name="T3" fmla="*/ 2147483646 h 876"/>
              <a:gd name="T4" fmla="*/ 0 w 554"/>
              <a:gd name="T5" fmla="*/ 2147483646 h 876"/>
              <a:gd name="T6" fmla="*/ 0 w 554"/>
              <a:gd name="T7" fmla="*/ 2147483646 h 876"/>
              <a:gd name="T8" fmla="*/ 2147483646 w 554"/>
              <a:gd name="T9" fmla="*/ 0 h 876"/>
              <a:gd name="T10" fmla="*/ 2147483646 w 554"/>
              <a:gd name="T11" fmla="*/ 0 h 876"/>
              <a:gd name="T12" fmla="*/ 2147483646 w 554"/>
              <a:gd name="T13" fmla="*/ 2147483646 h 876"/>
              <a:gd name="T14" fmla="*/ 2147483646 w 554"/>
              <a:gd name="T15" fmla="*/ 2147483646 h 876"/>
              <a:gd name="T16" fmla="*/ 2147483646 w 554"/>
              <a:gd name="T17" fmla="*/ 2147483646 h 8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54" h="876">
                <a:moveTo>
                  <a:pt x="511" y="876"/>
                </a:moveTo>
                <a:cubicBezTo>
                  <a:pt x="43" y="876"/>
                  <a:pt x="43" y="876"/>
                  <a:pt x="43" y="876"/>
                </a:cubicBezTo>
                <a:cubicBezTo>
                  <a:pt x="19" y="876"/>
                  <a:pt x="0" y="857"/>
                  <a:pt x="0" y="833"/>
                </a:cubicBezTo>
                <a:cubicBezTo>
                  <a:pt x="0" y="43"/>
                  <a:pt x="0" y="43"/>
                  <a:pt x="0" y="43"/>
                </a:cubicBezTo>
                <a:cubicBezTo>
                  <a:pt x="0" y="19"/>
                  <a:pt x="19" y="0"/>
                  <a:pt x="43" y="0"/>
                </a:cubicBezTo>
                <a:cubicBezTo>
                  <a:pt x="511" y="0"/>
                  <a:pt x="511" y="0"/>
                  <a:pt x="511" y="0"/>
                </a:cubicBezTo>
                <a:cubicBezTo>
                  <a:pt x="535" y="0"/>
                  <a:pt x="554" y="19"/>
                  <a:pt x="554" y="43"/>
                </a:cubicBezTo>
                <a:cubicBezTo>
                  <a:pt x="554" y="833"/>
                  <a:pt x="554" y="833"/>
                  <a:pt x="554" y="833"/>
                </a:cubicBezTo>
                <a:cubicBezTo>
                  <a:pt x="554" y="857"/>
                  <a:pt x="535" y="876"/>
                  <a:pt x="511" y="876"/>
                </a:cubicBezTo>
                <a:close/>
              </a:path>
            </a:pathLst>
          </a:custGeom>
          <a:solidFill>
            <a:srgbClr val="94D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Sakkal Majalla" panose="02000000000000000000" pitchFamily="2" charset="-78"/>
              <a:cs typeface="Sakkal Majalla" panose="02000000000000000000" pitchFamily="2" charset="-78"/>
            </a:endParaRPr>
          </a:p>
        </p:txBody>
      </p:sp>
      <p:sp>
        <p:nvSpPr>
          <p:cNvPr id="5" name="Freeform 10">
            <a:extLst>
              <a:ext uri="{FF2B5EF4-FFF2-40B4-BE49-F238E27FC236}">
                <a16:creationId xmlns:a16="http://schemas.microsoft.com/office/drawing/2014/main" id="{BB541DE1-5285-9869-D451-F5A978CED616}"/>
              </a:ext>
            </a:extLst>
          </p:cNvPr>
          <p:cNvSpPr>
            <a:spLocks/>
          </p:cNvSpPr>
          <p:nvPr/>
        </p:nvSpPr>
        <p:spPr bwMode="auto">
          <a:xfrm>
            <a:off x="8451850" y="1536829"/>
            <a:ext cx="2487613" cy="3935412"/>
          </a:xfrm>
          <a:custGeom>
            <a:avLst/>
            <a:gdLst>
              <a:gd name="T0" fmla="*/ 2147483646 w 554"/>
              <a:gd name="T1" fmla="*/ 2147483646 h 876"/>
              <a:gd name="T2" fmla="*/ 2147483646 w 554"/>
              <a:gd name="T3" fmla="*/ 2147483646 h 876"/>
              <a:gd name="T4" fmla="*/ 0 w 554"/>
              <a:gd name="T5" fmla="*/ 2147483646 h 876"/>
              <a:gd name="T6" fmla="*/ 0 w 554"/>
              <a:gd name="T7" fmla="*/ 2147483646 h 876"/>
              <a:gd name="T8" fmla="*/ 2147483646 w 554"/>
              <a:gd name="T9" fmla="*/ 0 h 876"/>
              <a:gd name="T10" fmla="*/ 2147483646 w 554"/>
              <a:gd name="T11" fmla="*/ 0 h 876"/>
              <a:gd name="T12" fmla="*/ 2147483646 w 554"/>
              <a:gd name="T13" fmla="*/ 2147483646 h 876"/>
              <a:gd name="T14" fmla="*/ 2147483646 w 554"/>
              <a:gd name="T15" fmla="*/ 2147483646 h 876"/>
              <a:gd name="T16" fmla="*/ 2147483646 w 554"/>
              <a:gd name="T17" fmla="*/ 2147483646 h 8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54" h="876">
                <a:moveTo>
                  <a:pt x="511" y="876"/>
                </a:moveTo>
                <a:cubicBezTo>
                  <a:pt x="43" y="876"/>
                  <a:pt x="43" y="876"/>
                  <a:pt x="43" y="876"/>
                </a:cubicBezTo>
                <a:cubicBezTo>
                  <a:pt x="19" y="876"/>
                  <a:pt x="0" y="857"/>
                  <a:pt x="0" y="833"/>
                </a:cubicBezTo>
                <a:cubicBezTo>
                  <a:pt x="0" y="43"/>
                  <a:pt x="0" y="43"/>
                  <a:pt x="0" y="43"/>
                </a:cubicBezTo>
                <a:cubicBezTo>
                  <a:pt x="0" y="19"/>
                  <a:pt x="19" y="0"/>
                  <a:pt x="43" y="0"/>
                </a:cubicBezTo>
                <a:cubicBezTo>
                  <a:pt x="511" y="0"/>
                  <a:pt x="511" y="0"/>
                  <a:pt x="511" y="0"/>
                </a:cubicBezTo>
                <a:cubicBezTo>
                  <a:pt x="535" y="0"/>
                  <a:pt x="554" y="19"/>
                  <a:pt x="554" y="43"/>
                </a:cubicBezTo>
                <a:cubicBezTo>
                  <a:pt x="554" y="833"/>
                  <a:pt x="554" y="833"/>
                  <a:pt x="554" y="833"/>
                </a:cubicBezTo>
                <a:cubicBezTo>
                  <a:pt x="554" y="857"/>
                  <a:pt x="535" y="876"/>
                  <a:pt x="511" y="876"/>
                </a:cubicBezTo>
                <a:close/>
              </a:path>
            </a:pathLst>
          </a:custGeom>
          <a:solidFill>
            <a:srgbClr val="00B1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Sakkal Majalla" panose="02000000000000000000" pitchFamily="2" charset="-78"/>
              <a:cs typeface="Sakkal Majalla" panose="02000000000000000000" pitchFamily="2" charset="-78"/>
            </a:endParaRPr>
          </a:p>
        </p:txBody>
      </p:sp>
      <p:sp>
        <p:nvSpPr>
          <p:cNvPr id="6" name="Freeform 11">
            <a:extLst>
              <a:ext uri="{FF2B5EF4-FFF2-40B4-BE49-F238E27FC236}">
                <a16:creationId xmlns:a16="http://schemas.microsoft.com/office/drawing/2014/main" id="{51FB00F4-8CDD-6E1A-EBE4-BBC70F2552E2}"/>
              </a:ext>
            </a:extLst>
          </p:cNvPr>
          <p:cNvSpPr>
            <a:spLocks/>
          </p:cNvSpPr>
          <p:nvPr/>
        </p:nvSpPr>
        <p:spPr bwMode="auto">
          <a:xfrm>
            <a:off x="1238250" y="1536829"/>
            <a:ext cx="2487613" cy="1254125"/>
          </a:xfrm>
          <a:custGeom>
            <a:avLst/>
            <a:gdLst>
              <a:gd name="T0" fmla="*/ 2147483646 w 554"/>
              <a:gd name="T1" fmla="*/ 0 h 279"/>
              <a:gd name="T2" fmla="*/ 2147483646 w 554"/>
              <a:gd name="T3" fmla="*/ 0 h 279"/>
              <a:gd name="T4" fmla="*/ 0 w 554"/>
              <a:gd name="T5" fmla="*/ 2147483646 h 279"/>
              <a:gd name="T6" fmla="*/ 0 w 554"/>
              <a:gd name="T7" fmla="*/ 2147483646 h 279"/>
              <a:gd name="T8" fmla="*/ 2147483646 w 554"/>
              <a:gd name="T9" fmla="*/ 2147483646 h 279"/>
              <a:gd name="T10" fmla="*/ 2147483646 w 554"/>
              <a:gd name="T11" fmla="*/ 2147483646 h 279"/>
              <a:gd name="T12" fmla="*/ 2147483646 w 554"/>
              <a:gd name="T13" fmla="*/ 2147483646 h 279"/>
              <a:gd name="T14" fmla="*/ 2147483646 w 554"/>
              <a:gd name="T15" fmla="*/ 0 h 27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4" h="279">
                <a:moveTo>
                  <a:pt x="511" y="0"/>
                </a:moveTo>
                <a:cubicBezTo>
                  <a:pt x="43" y="0"/>
                  <a:pt x="43" y="0"/>
                  <a:pt x="43" y="0"/>
                </a:cubicBezTo>
                <a:cubicBezTo>
                  <a:pt x="19" y="0"/>
                  <a:pt x="0" y="19"/>
                  <a:pt x="0" y="43"/>
                </a:cubicBezTo>
                <a:cubicBezTo>
                  <a:pt x="0" y="179"/>
                  <a:pt x="0" y="179"/>
                  <a:pt x="0" y="179"/>
                </a:cubicBezTo>
                <a:cubicBezTo>
                  <a:pt x="113" y="245"/>
                  <a:pt x="257" y="279"/>
                  <a:pt x="418" y="207"/>
                </a:cubicBezTo>
                <a:cubicBezTo>
                  <a:pt x="466" y="186"/>
                  <a:pt x="511" y="168"/>
                  <a:pt x="554" y="153"/>
                </a:cubicBezTo>
                <a:cubicBezTo>
                  <a:pt x="554" y="43"/>
                  <a:pt x="554" y="43"/>
                  <a:pt x="554" y="43"/>
                </a:cubicBezTo>
                <a:cubicBezTo>
                  <a:pt x="554" y="19"/>
                  <a:pt x="535" y="0"/>
                  <a:pt x="511" y="0"/>
                </a:cubicBezTo>
                <a:close/>
              </a:path>
            </a:pathLst>
          </a:custGeom>
          <a:solidFill>
            <a:srgbClr val="FFC4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Sakkal Majalla" panose="02000000000000000000" pitchFamily="2" charset="-78"/>
              <a:cs typeface="Sakkal Majalla" panose="02000000000000000000" pitchFamily="2" charset="-78"/>
            </a:endParaRPr>
          </a:p>
        </p:txBody>
      </p:sp>
      <p:sp>
        <p:nvSpPr>
          <p:cNvPr id="8" name="Freeform 12">
            <a:extLst>
              <a:ext uri="{FF2B5EF4-FFF2-40B4-BE49-F238E27FC236}">
                <a16:creationId xmlns:a16="http://schemas.microsoft.com/office/drawing/2014/main" id="{28E60A90-6086-2CDB-B344-DB3DE64C0BAC}"/>
              </a:ext>
            </a:extLst>
          </p:cNvPr>
          <p:cNvSpPr>
            <a:spLocks/>
          </p:cNvSpPr>
          <p:nvPr/>
        </p:nvSpPr>
        <p:spPr bwMode="auto">
          <a:xfrm>
            <a:off x="4843463" y="1536829"/>
            <a:ext cx="2487612" cy="962025"/>
          </a:xfrm>
          <a:custGeom>
            <a:avLst/>
            <a:gdLst>
              <a:gd name="T0" fmla="*/ 2147483646 w 554"/>
              <a:gd name="T1" fmla="*/ 0 h 214"/>
              <a:gd name="T2" fmla="*/ 2147483646 w 554"/>
              <a:gd name="T3" fmla="*/ 0 h 214"/>
              <a:gd name="T4" fmla="*/ 0 w 554"/>
              <a:gd name="T5" fmla="*/ 2147483646 h 214"/>
              <a:gd name="T6" fmla="*/ 0 w 554"/>
              <a:gd name="T7" fmla="*/ 2147483646 h 214"/>
              <a:gd name="T8" fmla="*/ 2147483646 w 554"/>
              <a:gd name="T9" fmla="*/ 2147483646 h 214"/>
              <a:gd name="T10" fmla="*/ 2147483646 w 554"/>
              <a:gd name="T11" fmla="*/ 2147483646 h 214"/>
              <a:gd name="T12" fmla="*/ 2147483646 w 554"/>
              <a:gd name="T13" fmla="*/ 0 h 2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4" h="214">
                <a:moveTo>
                  <a:pt x="511" y="0"/>
                </a:moveTo>
                <a:cubicBezTo>
                  <a:pt x="43" y="0"/>
                  <a:pt x="43" y="0"/>
                  <a:pt x="43" y="0"/>
                </a:cubicBezTo>
                <a:cubicBezTo>
                  <a:pt x="19" y="0"/>
                  <a:pt x="0" y="19"/>
                  <a:pt x="0" y="43"/>
                </a:cubicBezTo>
                <a:cubicBezTo>
                  <a:pt x="0" y="93"/>
                  <a:pt x="0" y="93"/>
                  <a:pt x="0" y="93"/>
                </a:cubicBezTo>
                <a:cubicBezTo>
                  <a:pt x="260" y="64"/>
                  <a:pt x="404" y="165"/>
                  <a:pt x="554" y="214"/>
                </a:cubicBezTo>
                <a:cubicBezTo>
                  <a:pt x="554" y="43"/>
                  <a:pt x="554" y="43"/>
                  <a:pt x="554" y="43"/>
                </a:cubicBezTo>
                <a:cubicBezTo>
                  <a:pt x="554" y="19"/>
                  <a:pt x="535" y="0"/>
                  <a:pt x="511" y="0"/>
                </a:cubicBezTo>
                <a:close/>
              </a:path>
            </a:pathLst>
          </a:custGeom>
          <a:solidFill>
            <a:srgbClr val="A7E31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Sakkal Majalla" panose="02000000000000000000" pitchFamily="2" charset="-78"/>
              <a:cs typeface="Sakkal Majalla" panose="02000000000000000000" pitchFamily="2" charset="-78"/>
            </a:endParaRPr>
          </a:p>
        </p:txBody>
      </p:sp>
      <p:sp>
        <p:nvSpPr>
          <p:cNvPr id="9" name="Freeform 13">
            <a:extLst>
              <a:ext uri="{FF2B5EF4-FFF2-40B4-BE49-F238E27FC236}">
                <a16:creationId xmlns:a16="http://schemas.microsoft.com/office/drawing/2014/main" id="{8944EB95-1718-E07B-C865-FB0D898E1485}"/>
              </a:ext>
            </a:extLst>
          </p:cNvPr>
          <p:cNvSpPr>
            <a:spLocks/>
          </p:cNvSpPr>
          <p:nvPr/>
        </p:nvSpPr>
        <p:spPr bwMode="auto">
          <a:xfrm>
            <a:off x="8451850" y="1536829"/>
            <a:ext cx="2487613" cy="1011237"/>
          </a:xfrm>
          <a:custGeom>
            <a:avLst/>
            <a:gdLst>
              <a:gd name="T0" fmla="*/ 2147483646 w 554"/>
              <a:gd name="T1" fmla="*/ 0 h 225"/>
              <a:gd name="T2" fmla="*/ 2147483646 w 554"/>
              <a:gd name="T3" fmla="*/ 0 h 225"/>
              <a:gd name="T4" fmla="*/ 0 w 554"/>
              <a:gd name="T5" fmla="*/ 2147483646 h 225"/>
              <a:gd name="T6" fmla="*/ 0 w 554"/>
              <a:gd name="T7" fmla="*/ 2147483646 h 225"/>
              <a:gd name="T8" fmla="*/ 2147483646 w 554"/>
              <a:gd name="T9" fmla="*/ 2147483646 h 225"/>
              <a:gd name="T10" fmla="*/ 2147483646 w 554"/>
              <a:gd name="T11" fmla="*/ 2147483646 h 225"/>
              <a:gd name="T12" fmla="*/ 2147483646 w 554"/>
              <a:gd name="T13" fmla="*/ 2147483646 h 225"/>
              <a:gd name="T14" fmla="*/ 2147483646 w 554"/>
              <a:gd name="T15" fmla="*/ 0 h 2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4" h="225">
                <a:moveTo>
                  <a:pt x="511" y="0"/>
                </a:moveTo>
                <a:cubicBezTo>
                  <a:pt x="43" y="0"/>
                  <a:pt x="43" y="0"/>
                  <a:pt x="43" y="0"/>
                </a:cubicBezTo>
                <a:cubicBezTo>
                  <a:pt x="19" y="0"/>
                  <a:pt x="0" y="19"/>
                  <a:pt x="0" y="43"/>
                </a:cubicBezTo>
                <a:cubicBezTo>
                  <a:pt x="0" y="225"/>
                  <a:pt x="0" y="225"/>
                  <a:pt x="0" y="225"/>
                </a:cubicBezTo>
                <a:cubicBezTo>
                  <a:pt x="29" y="217"/>
                  <a:pt x="60" y="206"/>
                  <a:pt x="93" y="191"/>
                </a:cubicBezTo>
                <a:cubicBezTo>
                  <a:pt x="271" y="108"/>
                  <a:pt x="430" y="101"/>
                  <a:pt x="554" y="121"/>
                </a:cubicBezTo>
                <a:cubicBezTo>
                  <a:pt x="554" y="43"/>
                  <a:pt x="554" y="43"/>
                  <a:pt x="554" y="43"/>
                </a:cubicBezTo>
                <a:cubicBezTo>
                  <a:pt x="554" y="19"/>
                  <a:pt x="535" y="0"/>
                  <a:pt x="511" y="0"/>
                </a:cubicBezTo>
                <a:close/>
              </a:path>
            </a:pathLst>
          </a:custGeom>
          <a:solidFill>
            <a:srgbClr val="00C4F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Sakkal Majalla" panose="02000000000000000000" pitchFamily="2" charset="-78"/>
              <a:cs typeface="Sakkal Majalla" panose="02000000000000000000" pitchFamily="2" charset="-78"/>
            </a:endParaRPr>
          </a:p>
        </p:txBody>
      </p:sp>
      <p:sp>
        <p:nvSpPr>
          <p:cNvPr id="10" name="Rectangle 20">
            <a:extLst>
              <a:ext uri="{FF2B5EF4-FFF2-40B4-BE49-F238E27FC236}">
                <a16:creationId xmlns:a16="http://schemas.microsoft.com/office/drawing/2014/main" id="{5B5CDEA9-3839-C858-D580-7BBA85349FDC}"/>
              </a:ext>
            </a:extLst>
          </p:cNvPr>
          <p:cNvSpPr>
            <a:spLocks noChangeArrowheads="1"/>
          </p:cNvSpPr>
          <p:nvPr/>
        </p:nvSpPr>
        <p:spPr bwMode="auto">
          <a:xfrm>
            <a:off x="8491875" y="1623426"/>
            <a:ext cx="2407562"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r>
              <a:rPr lang="ar-SA" altLang="en-US" sz="3200" b="1" dirty="0">
                <a:solidFill>
                  <a:srgbClr val="FFFFFF"/>
                </a:solidFill>
                <a:latin typeface="Sakkal Majalla" panose="02000000000000000000" pitchFamily="2" charset="-78"/>
                <a:cs typeface="Sakkal Majalla" panose="02000000000000000000" pitchFamily="2" charset="-78"/>
              </a:rPr>
              <a:t>1</a:t>
            </a:r>
            <a:r>
              <a:rPr lang="ar-SA" altLang="en-US" sz="1600" b="1" dirty="0">
                <a:solidFill>
                  <a:srgbClr val="FFFFFF"/>
                </a:solidFill>
                <a:latin typeface="Sakkal Majalla" panose="02000000000000000000" pitchFamily="2" charset="-78"/>
                <a:cs typeface="Sakkal Majalla" panose="02000000000000000000" pitchFamily="2" charset="-78"/>
              </a:rPr>
              <a:t> </a:t>
            </a:r>
            <a:endParaRPr lang="ar-EG" altLang="en-US" sz="1600" b="1" dirty="0">
              <a:solidFill>
                <a:srgbClr val="FFFFFF"/>
              </a:solidFill>
              <a:latin typeface="Sakkal Majalla" panose="02000000000000000000" pitchFamily="2" charset="-78"/>
              <a:cs typeface="Sakkal Majalla" panose="02000000000000000000" pitchFamily="2" charset="-78"/>
            </a:endParaRPr>
          </a:p>
          <a:p>
            <a:pPr algn="ctr" eaLnBrk="1" hangingPunct="1"/>
            <a:br>
              <a:rPr lang="ar-SA" altLang="en-US" sz="2400" b="1" dirty="0">
                <a:solidFill>
                  <a:srgbClr val="FFFFFF"/>
                </a:solidFill>
                <a:latin typeface="Sakkal Majalla" panose="02000000000000000000" pitchFamily="2" charset="-78"/>
                <a:cs typeface="Sakkal Majalla" panose="02000000000000000000" pitchFamily="2" charset="-78"/>
              </a:rPr>
            </a:br>
            <a:r>
              <a:rPr lang="ar-SA" altLang="en-US" sz="2400" b="1" dirty="0">
                <a:solidFill>
                  <a:srgbClr val="FFFFFF"/>
                </a:solidFill>
                <a:latin typeface="Sakkal Majalla" panose="02000000000000000000" pitchFamily="2" charset="-78"/>
                <a:cs typeface="Sakkal Majalla" panose="02000000000000000000" pitchFamily="2" charset="-78"/>
              </a:rPr>
              <a:t>مرحله ما قبل الحصول </a:t>
            </a:r>
            <a:r>
              <a:rPr lang="ar-EG" altLang="en-US" sz="2400" b="1" dirty="0">
                <a:solidFill>
                  <a:srgbClr val="FFFFFF"/>
                </a:solidFill>
                <a:latin typeface="Sakkal Majalla" panose="02000000000000000000" pitchFamily="2" charset="-78"/>
                <a:cs typeface="Sakkal Majalla" panose="02000000000000000000" pitchFamily="2" charset="-78"/>
              </a:rPr>
              <a:t>على</a:t>
            </a:r>
            <a:r>
              <a:rPr lang="ar-SA" altLang="en-US" sz="2400" b="1" dirty="0">
                <a:solidFill>
                  <a:srgbClr val="FFFFFF"/>
                </a:solidFill>
                <a:latin typeface="Sakkal Majalla" panose="02000000000000000000" pitchFamily="2" charset="-78"/>
                <a:cs typeface="Sakkal Majalla" panose="02000000000000000000" pitchFamily="2" charset="-78"/>
              </a:rPr>
              <a:t> الخدمة / المنتج</a:t>
            </a:r>
            <a:endParaRPr lang="en-US" altLang="en-US" sz="2400" dirty="0">
              <a:solidFill>
                <a:schemeClr val="tx1"/>
              </a:solidFill>
              <a:latin typeface="Sakkal Majalla" panose="02000000000000000000" pitchFamily="2" charset="-78"/>
              <a:cs typeface="Sakkal Majalla" panose="02000000000000000000" pitchFamily="2" charset="-78"/>
            </a:endParaRPr>
          </a:p>
        </p:txBody>
      </p:sp>
      <p:sp>
        <p:nvSpPr>
          <p:cNvPr id="11" name="Rectangle 20">
            <a:extLst>
              <a:ext uri="{FF2B5EF4-FFF2-40B4-BE49-F238E27FC236}">
                <a16:creationId xmlns:a16="http://schemas.microsoft.com/office/drawing/2014/main" id="{2EDD0670-39E4-F0BA-3F29-5729224D3E12}"/>
              </a:ext>
            </a:extLst>
          </p:cNvPr>
          <p:cNvSpPr>
            <a:spLocks noChangeArrowheads="1"/>
          </p:cNvSpPr>
          <p:nvPr/>
        </p:nvSpPr>
        <p:spPr bwMode="auto">
          <a:xfrm>
            <a:off x="4855237" y="1666129"/>
            <a:ext cx="2436176"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r>
              <a:rPr lang="ar-SA" sz="3200" b="1" dirty="0">
                <a:solidFill>
                  <a:srgbClr val="FFFFFF"/>
                </a:solidFill>
                <a:latin typeface="Sakkal Majalla" panose="02000000000000000000" pitchFamily="2" charset="-78"/>
                <a:cs typeface="Sakkal Majalla" panose="02000000000000000000" pitchFamily="2" charset="-78"/>
              </a:rPr>
              <a:t>2</a:t>
            </a:r>
            <a:r>
              <a:rPr lang="ar-SA" sz="2800" b="1" dirty="0">
                <a:solidFill>
                  <a:srgbClr val="FFFFFF"/>
                </a:solidFill>
                <a:latin typeface="Sakkal Majalla" panose="02000000000000000000" pitchFamily="2" charset="-78"/>
                <a:cs typeface="Sakkal Majalla" panose="02000000000000000000" pitchFamily="2" charset="-78"/>
              </a:rPr>
              <a:t> </a:t>
            </a:r>
            <a:endParaRPr lang="ar-EG" sz="2800" b="1" dirty="0">
              <a:solidFill>
                <a:srgbClr val="FFFFFF"/>
              </a:solidFill>
              <a:latin typeface="Sakkal Majalla" panose="02000000000000000000" pitchFamily="2" charset="-78"/>
              <a:cs typeface="Sakkal Majalla" panose="02000000000000000000" pitchFamily="2" charset="-78"/>
            </a:endParaRPr>
          </a:p>
          <a:p>
            <a:pPr algn="ctr"/>
            <a:br>
              <a:rPr lang="ar-SA" sz="2400" b="1" dirty="0">
                <a:solidFill>
                  <a:srgbClr val="FFFFFF"/>
                </a:solidFill>
                <a:latin typeface="Sakkal Majalla" panose="02000000000000000000" pitchFamily="2" charset="-78"/>
                <a:cs typeface="Sakkal Majalla" panose="02000000000000000000" pitchFamily="2" charset="-78"/>
              </a:rPr>
            </a:br>
            <a:r>
              <a:rPr lang="ar-SA" sz="2400" b="1" dirty="0">
                <a:solidFill>
                  <a:srgbClr val="FFFFFF"/>
                </a:solidFill>
                <a:latin typeface="Sakkal Majalla" panose="02000000000000000000" pitchFamily="2" charset="-78"/>
                <a:cs typeface="Sakkal Majalla" panose="02000000000000000000" pitchFamily="2" charset="-78"/>
              </a:rPr>
              <a:t>مرحلة الحصول </a:t>
            </a:r>
            <a:r>
              <a:rPr lang="ar-EG" sz="2400" b="1" dirty="0">
                <a:solidFill>
                  <a:srgbClr val="FFFFFF"/>
                </a:solidFill>
                <a:latin typeface="Sakkal Majalla" panose="02000000000000000000" pitchFamily="2" charset="-78"/>
                <a:cs typeface="Sakkal Majalla" panose="02000000000000000000" pitchFamily="2" charset="-78"/>
              </a:rPr>
              <a:t>على</a:t>
            </a:r>
            <a:r>
              <a:rPr lang="ar-SA" sz="2400" b="1" dirty="0">
                <a:solidFill>
                  <a:srgbClr val="FFFFFF"/>
                </a:solidFill>
                <a:latin typeface="Sakkal Majalla" panose="02000000000000000000" pitchFamily="2" charset="-78"/>
                <a:cs typeface="Sakkal Majalla" panose="02000000000000000000" pitchFamily="2" charset="-78"/>
              </a:rPr>
              <a:t> الخدمة / المنتج</a:t>
            </a:r>
            <a:endParaRPr lang="en-US" altLang="en-US" sz="2400" b="1" dirty="0">
              <a:solidFill>
                <a:srgbClr val="FFFFFF"/>
              </a:solidFill>
              <a:latin typeface="Sakkal Majalla" panose="02000000000000000000" pitchFamily="2" charset="-78"/>
              <a:cs typeface="Sakkal Majalla" panose="02000000000000000000" pitchFamily="2" charset="-78"/>
            </a:endParaRPr>
          </a:p>
        </p:txBody>
      </p:sp>
      <p:sp>
        <p:nvSpPr>
          <p:cNvPr id="12" name="Rectangle 20">
            <a:extLst>
              <a:ext uri="{FF2B5EF4-FFF2-40B4-BE49-F238E27FC236}">
                <a16:creationId xmlns:a16="http://schemas.microsoft.com/office/drawing/2014/main" id="{47B5FC54-2781-A75E-6F7E-C5287EABCB6F}"/>
              </a:ext>
            </a:extLst>
          </p:cNvPr>
          <p:cNvSpPr>
            <a:spLocks noChangeArrowheads="1"/>
          </p:cNvSpPr>
          <p:nvPr/>
        </p:nvSpPr>
        <p:spPr bwMode="auto">
          <a:xfrm>
            <a:off x="1411458" y="1702226"/>
            <a:ext cx="2141195"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r>
              <a:rPr lang="ar-SA" altLang="en-US" sz="3200" b="1" dirty="0">
                <a:solidFill>
                  <a:srgbClr val="FFFFFF"/>
                </a:solidFill>
                <a:latin typeface="Sakkal Majalla" panose="02000000000000000000" pitchFamily="2" charset="-78"/>
                <a:cs typeface="Sakkal Majalla" panose="02000000000000000000" pitchFamily="2" charset="-78"/>
              </a:rPr>
              <a:t>3</a:t>
            </a:r>
            <a:r>
              <a:rPr lang="ar-SA" altLang="en-US" sz="1600" b="1" dirty="0">
                <a:solidFill>
                  <a:srgbClr val="FFFFFF"/>
                </a:solidFill>
                <a:latin typeface="Sakkal Majalla" panose="02000000000000000000" pitchFamily="2" charset="-78"/>
                <a:cs typeface="Sakkal Majalla" panose="02000000000000000000" pitchFamily="2" charset="-78"/>
              </a:rPr>
              <a:t> </a:t>
            </a:r>
            <a:endParaRPr lang="ar-EG" altLang="en-US" sz="1600" b="1" dirty="0">
              <a:solidFill>
                <a:srgbClr val="FFFFFF"/>
              </a:solidFill>
              <a:latin typeface="Sakkal Majalla" panose="02000000000000000000" pitchFamily="2" charset="-78"/>
              <a:cs typeface="Sakkal Majalla" panose="02000000000000000000" pitchFamily="2" charset="-78"/>
            </a:endParaRPr>
          </a:p>
          <a:p>
            <a:pPr algn="ctr" eaLnBrk="1" hangingPunct="1"/>
            <a:br>
              <a:rPr lang="ar-SA" altLang="en-US" sz="2400" b="1" dirty="0">
                <a:solidFill>
                  <a:srgbClr val="FFFFFF"/>
                </a:solidFill>
                <a:latin typeface="Sakkal Majalla" panose="02000000000000000000" pitchFamily="2" charset="-78"/>
                <a:cs typeface="Sakkal Majalla" panose="02000000000000000000" pitchFamily="2" charset="-78"/>
              </a:rPr>
            </a:br>
            <a:r>
              <a:rPr lang="ar-SA" altLang="en-US" sz="2400" b="1" dirty="0">
                <a:solidFill>
                  <a:srgbClr val="FFFFFF"/>
                </a:solidFill>
                <a:latin typeface="Sakkal Majalla" panose="02000000000000000000" pitchFamily="2" charset="-78"/>
                <a:cs typeface="Sakkal Majalla" panose="02000000000000000000" pitchFamily="2" charset="-78"/>
              </a:rPr>
              <a:t>مرحلة ما بعد الحصول </a:t>
            </a:r>
            <a:r>
              <a:rPr lang="ar-EG" altLang="en-US" sz="2400" b="1" dirty="0">
                <a:solidFill>
                  <a:srgbClr val="FFFFFF"/>
                </a:solidFill>
                <a:latin typeface="Sakkal Majalla" panose="02000000000000000000" pitchFamily="2" charset="-78"/>
                <a:cs typeface="Sakkal Majalla" panose="02000000000000000000" pitchFamily="2" charset="-78"/>
              </a:rPr>
              <a:t>على</a:t>
            </a:r>
            <a:r>
              <a:rPr lang="ar-SA" altLang="en-US" sz="2400" b="1" dirty="0">
                <a:solidFill>
                  <a:srgbClr val="FFFFFF"/>
                </a:solidFill>
                <a:latin typeface="Sakkal Majalla" panose="02000000000000000000" pitchFamily="2" charset="-78"/>
                <a:cs typeface="Sakkal Majalla" panose="02000000000000000000" pitchFamily="2" charset="-78"/>
              </a:rPr>
              <a:t> الخدمة / المنتج </a:t>
            </a:r>
          </a:p>
        </p:txBody>
      </p:sp>
      <p:sp>
        <p:nvSpPr>
          <p:cNvPr id="13" name="Arrow: Left 12">
            <a:extLst>
              <a:ext uri="{FF2B5EF4-FFF2-40B4-BE49-F238E27FC236}">
                <a16:creationId xmlns:a16="http://schemas.microsoft.com/office/drawing/2014/main" id="{ADF21F70-41F4-ADD5-623E-46EACA6C7D97}"/>
              </a:ext>
            </a:extLst>
          </p:cNvPr>
          <p:cNvSpPr/>
          <p:nvPr/>
        </p:nvSpPr>
        <p:spPr>
          <a:xfrm>
            <a:off x="7339163" y="2971467"/>
            <a:ext cx="1084049" cy="650789"/>
          </a:xfrm>
          <a:prstGeom prst="leftArrow">
            <a:avLst/>
          </a:prstGeom>
          <a:solidFill>
            <a:srgbClr val="00B1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chemeClr val="tx1"/>
              </a:solidFill>
              <a:latin typeface="Sakkal Majalla" panose="02000000000000000000" pitchFamily="2" charset="-78"/>
              <a:cs typeface="Sakkal Majalla" panose="02000000000000000000" pitchFamily="2" charset="-78"/>
            </a:endParaRPr>
          </a:p>
        </p:txBody>
      </p:sp>
      <p:sp>
        <p:nvSpPr>
          <p:cNvPr id="14" name="Arrow: Left 13">
            <a:extLst>
              <a:ext uri="{FF2B5EF4-FFF2-40B4-BE49-F238E27FC236}">
                <a16:creationId xmlns:a16="http://schemas.microsoft.com/office/drawing/2014/main" id="{355867E1-F915-EAD8-4488-F1A315AC110A}"/>
              </a:ext>
            </a:extLst>
          </p:cNvPr>
          <p:cNvSpPr/>
          <p:nvPr/>
        </p:nvSpPr>
        <p:spPr>
          <a:xfrm>
            <a:off x="3714450" y="2963230"/>
            <a:ext cx="1100762" cy="650789"/>
          </a:xfrm>
          <a:prstGeom prst="leftArrow">
            <a:avLst/>
          </a:prstGeom>
          <a:solidFill>
            <a:srgbClr val="94D4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chemeClr val="tx1"/>
              </a:solidFill>
              <a:latin typeface="Sakkal Majalla" panose="02000000000000000000" pitchFamily="2" charset="-78"/>
              <a:cs typeface="Sakkal Majalla" panose="02000000000000000000" pitchFamily="2" charset="-78"/>
            </a:endParaRPr>
          </a:p>
        </p:txBody>
      </p:sp>
      <p:sp>
        <p:nvSpPr>
          <p:cNvPr id="15" name="TextBox 14">
            <a:extLst>
              <a:ext uri="{FF2B5EF4-FFF2-40B4-BE49-F238E27FC236}">
                <a16:creationId xmlns:a16="http://schemas.microsoft.com/office/drawing/2014/main" id="{D1ADA3AA-96EB-1677-8F4F-DAC6D9382D5F}"/>
              </a:ext>
            </a:extLst>
          </p:cNvPr>
          <p:cNvSpPr txBox="1"/>
          <p:nvPr/>
        </p:nvSpPr>
        <p:spPr>
          <a:xfrm>
            <a:off x="8491875" y="3887057"/>
            <a:ext cx="2407562" cy="1200329"/>
          </a:xfrm>
          <a:prstGeom prst="rect">
            <a:avLst/>
          </a:prstGeom>
          <a:noFill/>
        </p:spPr>
        <p:txBody>
          <a:bodyPr wrap="square" rtlCol="0">
            <a:spAutoFit/>
          </a:bodyPr>
          <a:lstStyle/>
          <a:p>
            <a:pPr algn="ctr"/>
            <a:r>
              <a:rPr lang="ar-SA" b="1" dirty="0">
                <a:latin typeface="Sakkal Majalla" panose="02000000000000000000" pitchFamily="2" charset="-78"/>
                <a:cs typeface="Sakkal Majalla" panose="02000000000000000000" pitchFamily="2" charset="-78"/>
                <a:sym typeface="Arial" panose="020B0604020202020204" pitchFamily="34" charset="0"/>
              </a:rPr>
              <a:t>وتشمل كافة المراحل </a:t>
            </a:r>
            <a:r>
              <a:rPr lang="ar-EG" b="1" dirty="0">
                <a:latin typeface="Sakkal Majalla" panose="02000000000000000000" pitchFamily="2" charset="-78"/>
                <a:cs typeface="Sakkal Majalla" panose="02000000000000000000" pitchFamily="2" charset="-78"/>
                <a:sym typeface="Arial" panose="020B0604020202020204" pitchFamily="34" charset="0"/>
              </a:rPr>
              <a:t>الفرعية والخطوات</a:t>
            </a:r>
            <a:r>
              <a:rPr lang="ar-SA" b="1" dirty="0">
                <a:latin typeface="Sakkal Majalla" panose="02000000000000000000" pitchFamily="2" charset="-78"/>
                <a:cs typeface="Sakkal Majalla" panose="02000000000000000000" pitchFamily="2" charset="-78"/>
                <a:sym typeface="Arial" panose="020B0604020202020204" pitchFamily="34" charset="0"/>
              </a:rPr>
              <a:t> التي يمر بها المستفيد قبل التقديم للحصول </a:t>
            </a:r>
            <a:r>
              <a:rPr lang="ar-EG" b="1" dirty="0">
                <a:latin typeface="Sakkal Majalla" panose="02000000000000000000" pitchFamily="2" charset="-78"/>
                <a:cs typeface="Sakkal Majalla" panose="02000000000000000000" pitchFamily="2" charset="-78"/>
                <a:sym typeface="Arial" panose="020B0604020202020204" pitchFamily="34" charset="0"/>
              </a:rPr>
              <a:t>على</a:t>
            </a:r>
            <a:r>
              <a:rPr lang="ar-SA" b="1" dirty="0">
                <a:latin typeface="Sakkal Majalla" panose="02000000000000000000" pitchFamily="2" charset="-78"/>
                <a:cs typeface="Sakkal Majalla" panose="02000000000000000000" pitchFamily="2" charset="-78"/>
                <a:sym typeface="Arial" panose="020B0604020202020204" pitchFamily="34" charset="0"/>
              </a:rPr>
              <a:t> </a:t>
            </a:r>
            <a:r>
              <a:rPr lang="ar-EG" b="1" dirty="0">
                <a:latin typeface="Sakkal Majalla" panose="02000000000000000000" pitchFamily="2" charset="-78"/>
                <a:cs typeface="Sakkal Majalla" panose="02000000000000000000" pitchFamily="2" charset="-78"/>
                <a:sym typeface="Arial" panose="020B0604020202020204" pitchFamily="34" charset="0"/>
              </a:rPr>
              <a:t>خدمات الهيئة</a:t>
            </a:r>
            <a:endParaRPr lang="en-US" b="1" dirty="0">
              <a:latin typeface="Sakkal Majalla" panose="02000000000000000000" pitchFamily="2" charset="-78"/>
              <a:cs typeface="Sakkal Majalla" panose="02000000000000000000" pitchFamily="2" charset="-78"/>
              <a:sym typeface="Arial" panose="020B0604020202020204" pitchFamily="34" charset="0"/>
            </a:endParaRPr>
          </a:p>
        </p:txBody>
      </p:sp>
      <p:sp>
        <p:nvSpPr>
          <p:cNvPr id="16" name="TextBox 15">
            <a:extLst>
              <a:ext uri="{FF2B5EF4-FFF2-40B4-BE49-F238E27FC236}">
                <a16:creationId xmlns:a16="http://schemas.microsoft.com/office/drawing/2014/main" id="{BAF6CF0D-9FF9-EB6E-F9F9-E381647D7D36}"/>
              </a:ext>
            </a:extLst>
          </p:cNvPr>
          <p:cNvSpPr txBox="1"/>
          <p:nvPr/>
        </p:nvSpPr>
        <p:spPr>
          <a:xfrm>
            <a:off x="4883488" y="3591434"/>
            <a:ext cx="2407562" cy="1477328"/>
          </a:xfrm>
          <a:prstGeom prst="rect">
            <a:avLst/>
          </a:prstGeom>
          <a:noFill/>
        </p:spPr>
        <p:txBody>
          <a:bodyPr wrap="square" rtlCol="0">
            <a:spAutoFit/>
          </a:bodyPr>
          <a:lstStyle/>
          <a:p>
            <a:pPr algn="ctr"/>
            <a:r>
              <a:rPr lang="ar-SA" b="1" dirty="0">
                <a:latin typeface="Sakkal Majalla" panose="02000000000000000000" pitchFamily="2" charset="-78"/>
                <a:cs typeface="Sakkal Majalla" panose="02000000000000000000" pitchFamily="2" charset="-78"/>
                <a:sym typeface="Arial" panose="020B0604020202020204" pitchFamily="34" charset="0"/>
              </a:rPr>
              <a:t>وتشمل كافة المراحل الفرعية والخطوات التي يمر بها المستفيد من لحظة الوصول لطلب التقديم للحصول </a:t>
            </a:r>
            <a:r>
              <a:rPr lang="ar-EG" b="1" dirty="0">
                <a:latin typeface="Sakkal Majalla" panose="02000000000000000000" pitchFamily="2" charset="-78"/>
                <a:cs typeface="Sakkal Majalla" panose="02000000000000000000" pitchFamily="2" charset="-78"/>
                <a:sym typeface="Arial" panose="020B0604020202020204" pitchFamily="34" charset="0"/>
              </a:rPr>
              <a:t>على</a:t>
            </a:r>
            <a:r>
              <a:rPr lang="ar-SA" b="1" dirty="0">
                <a:latin typeface="Sakkal Majalla" panose="02000000000000000000" pitchFamily="2" charset="-78"/>
                <a:cs typeface="Sakkal Majalla" panose="02000000000000000000" pitchFamily="2" charset="-78"/>
                <a:sym typeface="Arial" panose="020B0604020202020204" pitchFamily="34" charset="0"/>
              </a:rPr>
              <a:t> </a:t>
            </a:r>
            <a:r>
              <a:rPr lang="ar-EG" b="1" dirty="0">
                <a:latin typeface="Sakkal Majalla" panose="02000000000000000000" pitchFamily="2" charset="-78"/>
                <a:cs typeface="Sakkal Majalla" panose="02000000000000000000" pitchFamily="2" charset="-78"/>
                <a:sym typeface="Arial" panose="020B0604020202020204" pitchFamily="34" charset="0"/>
              </a:rPr>
              <a:t>خدمات الهيئة</a:t>
            </a:r>
            <a:r>
              <a:rPr lang="ar-SA" b="1" dirty="0">
                <a:latin typeface="Sakkal Majalla" panose="02000000000000000000" pitchFamily="2" charset="-78"/>
                <a:cs typeface="Sakkal Majalla" panose="02000000000000000000" pitchFamily="2" charset="-78"/>
                <a:sym typeface="Arial" panose="020B0604020202020204" pitchFamily="34" charset="0"/>
              </a:rPr>
              <a:t> الي استلام المخرج أو المنتج النهائي</a:t>
            </a:r>
            <a:endParaRPr lang="en-US" b="1" dirty="0">
              <a:latin typeface="Sakkal Majalla" panose="02000000000000000000" pitchFamily="2" charset="-78"/>
              <a:cs typeface="Sakkal Majalla" panose="02000000000000000000" pitchFamily="2" charset="-78"/>
              <a:sym typeface="Arial" panose="020B0604020202020204" pitchFamily="34" charset="0"/>
            </a:endParaRPr>
          </a:p>
        </p:txBody>
      </p:sp>
      <p:sp>
        <p:nvSpPr>
          <p:cNvPr id="17" name="TextBox 16">
            <a:extLst>
              <a:ext uri="{FF2B5EF4-FFF2-40B4-BE49-F238E27FC236}">
                <a16:creationId xmlns:a16="http://schemas.microsoft.com/office/drawing/2014/main" id="{35434846-2608-E91B-E88B-8E4998C0EB46}"/>
              </a:ext>
            </a:extLst>
          </p:cNvPr>
          <p:cNvSpPr txBox="1"/>
          <p:nvPr/>
        </p:nvSpPr>
        <p:spPr>
          <a:xfrm>
            <a:off x="1292563" y="3791901"/>
            <a:ext cx="2407562" cy="923330"/>
          </a:xfrm>
          <a:prstGeom prst="rect">
            <a:avLst/>
          </a:prstGeom>
          <a:noFill/>
        </p:spPr>
        <p:txBody>
          <a:bodyPr wrap="square" rtlCol="0">
            <a:spAutoFit/>
          </a:bodyPr>
          <a:lstStyle/>
          <a:p>
            <a:pPr algn="ctr"/>
            <a:r>
              <a:rPr lang="ar-SA" b="1" dirty="0">
                <a:latin typeface="Sakkal Majalla" panose="02000000000000000000" pitchFamily="2" charset="-78"/>
                <a:cs typeface="Sakkal Majalla" panose="02000000000000000000" pitchFamily="2" charset="-78"/>
                <a:sym typeface="Arial" panose="020B0604020202020204" pitchFamily="34" charset="0"/>
              </a:rPr>
              <a:t>وتشمل كافة المراحل الفرعية والخطوات التي يمر بها المستفيد بعد استلام المخرج أو المنتج النهائي </a:t>
            </a:r>
            <a:endParaRPr lang="en-US" b="1" dirty="0">
              <a:latin typeface="Sakkal Majalla" panose="02000000000000000000" pitchFamily="2" charset="-78"/>
              <a:cs typeface="Sakkal Majalla" panose="02000000000000000000" pitchFamily="2" charset="-78"/>
              <a:sym typeface="Arial" panose="020B0604020202020204" pitchFamily="34" charset="0"/>
            </a:endParaRPr>
          </a:p>
        </p:txBody>
      </p:sp>
    </p:spTree>
    <p:extLst>
      <p:ext uri="{BB962C8B-B14F-4D97-AF65-F5344CB8AC3E}">
        <p14:creationId xmlns:p14="http://schemas.microsoft.com/office/powerpoint/2010/main" val="55931148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CFCB-AE80-75D3-45AA-BA245AD331E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7965D0-0FB2-3D6D-D70C-0259FC430903}"/>
              </a:ext>
            </a:extLst>
          </p:cNvPr>
          <p:cNvSpPr>
            <a:spLocks noGrp="1"/>
          </p:cNvSpPr>
          <p:nvPr>
            <p:ph type="sldNum" sz="quarter" idx="12"/>
          </p:nvPr>
        </p:nvSpPr>
        <p:spPr/>
        <p:txBody>
          <a:bodyPr/>
          <a:lstStyle/>
          <a:p>
            <a:fld id="{0BE4EC83-A869-464E-AE9F-881796FB085E}" type="slidenum">
              <a:rPr lang="en-US" smtClean="0"/>
              <a:t>28</a:t>
            </a:fld>
            <a:endParaRPr lang="en-US" dirty="0"/>
          </a:p>
        </p:txBody>
      </p:sp>
      <p:sp>
        <p:nvSpPr>
          <p:cNvPr id="7" name="Title 1">
            <a:extLst>
              <a:ext uri="{FF2B5EF4-FFF2-40B4-BE49-F238E27FC236}">
                <a16:creationId xmlns:a16="http://schemas.microsoft.com/office/drawing/2014/main" id="{B07DC42D-6AD0-E2B4-9144-1470B996BD97}"/>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أسئلة </a:t>
            </a:r>
            <a:r>
              <a:rPr lang="ar-SA" dirty="0"/>
              <a:t>استرشادية لتحديد المراحل الفرعية لرحلة المستفيد</a:t>
            </a:r>
            <a:endParaRPr lang="en-US" dirty="0"/>
          </a:p>
        </p:txBody>
      </p:sp>
      <p:sp>
        <p:nvSpPr>
          <p:cNvPr id="18" name="TextBox 17">
            <a:extLst>
              <a:ext uri="{FF2B5EF4-FFF2-40B4-BE49-F238E27FC236}">
                <a16:creationId xmlns:a16="http://schemas.microsoft.com/office/drawing/2014/main" id="{086A8807-5967-2E0D-041A-36747330526A}"/>
              </a:ext>
            </a:extLst>
          </p:cNvPr>
          <p:cNvSpPr txBox="1"/>
          <p:nvPr/>
        </p:nvSpPr>
        <p:spPr>
          <a:xfrm>
            <a:off x="533275" y="1027977"/>
            <a:ext cx="11121082" cy="888705"/>
          </a:xfrm>
          <a:prstGeom prst="rect">
            <a:avLst/>
          </a:prstGeom>
          <a:noFill/>
        </p:spPr>
        <p:txBody>
          <a:bodyPr wrap="square" rtlCol="0">
            <a:spAutoFit/>
          </a:bodyPr>
          <a:lstStyle/>
          <a:p>
            <a:pPr algn="r">
              <a:lnSpc>
                <a:spcPct val="150000"/>
              </a:lnSpc>
            </a:pPr>
            <a:r>
              <a:rPr lang="ar-SA" dirty="0">
                <a:latin typeface="Segoe UI" panose="020B0502040204020203" pitchFamily="34" charset="0"/>
                <a:ea typeface="Calibri" panose="020F0502020204030204" pitchFamily="34" charset="0"/>
              </a:rPr>
              <a:t>تعتبر رحلة المستفيد </a:t>
            </a:r>
            <a:r>
              <a:rPr lang="ar-SA" sz="1800" dirty="0">
                <a:effectLst/>
                <a:latin typeface="Segoe UI" panose="020B0502040204020203" pitchFamily="34" charset="0"/>
                <a:ea typeface="Calibri" panose="020F0502020204030204" pitchFamily="34" charset="0"/>
              </a:rPr>
              <a:t>أداة حيوية لفهم وتحليل تجربة المستخدم مع منتج أو خدمة معينة.</a:t>
            </a:r>
            <a:r>
              <a:rPr lang="ar-EG" sz="1800" dirty="0">
                <a:effectLst/>
                <a:latin typeface="Segoe UI" panose="020B0502040204020203" pitchFamily="34" charset="0"/>
                <a:ea typeface="Calibri" panose="020F0502020204030204" pitchFamily="34" charset="0"/>
              </a:rPr>
              <a:t> </a:t>
            </a:r>
            <a:r>
              <a:rPr lang="ar-SA" sz="1800" dirty="0">
                <a:effectLst/>
                <a:latin typeface="Segoe UI" panose="020B0502040204020203" pitchFamily="34" charset="0"/>
                <a:ea typeface="Calibri" panose="020F0502020204030204" pitchFamily="34" charset="0"/>
              </a:rPr>
              <a:t>تتضمن هذه الرحلة سلسلة من المراحل التي يمر بها المستفيد وهي الثلاث مراحل الرئيسية التي تم ذكرهم ويتم تقسيم </a:t>
            </a:r>
            <a:r>
              <a:rPr lang="ar-SA" dirty="0">
                <a:latin typeface="Segoe UI" panose="020B0502040204020203" pitchFamily="34" charset="0"/>
                <a:ea typeface="Calibri" panose="020F0502020204030204" pitchFamily="34" charset="0"/>
              </a:rPr>
              <a:t>هذه المراحل الي مراحل فرعية يمر بها المستفيد ولتحديد هذه المراحل الفرعية يمكن الاستعانة بهذه الأسئلة الاسترشادية:</a:t>
            </a:r>
            <a:endParaRPr lang="en-US" dirty="0"/>
          </a:p>
        </p:txBody>
      </p:sp>
      <p:sp>
        <p:nvSpPr>
          <p:cNvPr id="19" name="TextBox 18">
            <a:extLst>
              <a:ext uri="{FF2B5EF4-FFF2-40B4-BE49-F238E27FC236}">
                <a16:creationId xmlns:a16="http://schemas.microsoft.com/office/drawing/2014/main" id="{6DDFF86C-570E-6ADD-BC72-1547219DCF3D}"/>
              </a:ext>
            </a:extLst>
          </p:cNvPr>
          <p:cNvSpPr txBox="1"/>
          <p:nvPr/>
        </p:nvSpPr>
        <p:spPr>
          <a:xfrm>
            <a:off x="878292" y="3088267"/>
            <a:ext cx="3583512" cy="1719702"/>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ar-SA" b="1" dirty="0"/>
              <a:t>6</a:t>
            </a:r>
            <a:r>
              <a:rPr lang="ar-SA" dirty="0"/>
              <a:t>: هل يوجد تقييم للخدمة/المنتج بعد الحصول عليها من قبل </a:t>
            </a:r>
            <a:r>
              <a:rPr lang="ar-EG" dirty="0"/>
              <a:t>الهيئة</a:t>
            </a:r>
            <a:r>
              <a:rPr lang="ar-SA" dirty="0"/>
              <a:t>؟</a:t>
            </a:r>
          </a:p>
          <a:p>
            <a:pPr marL="0" marR="0" lvl="0" indent="0" algn="r" defTabSz="914400" rtl="0" eaLnBrk="1" fontAlgn="auto" latinLnBrk="0" hangingPunct="1">
              <a:lnSpc>
                <a:spcPct val="150000"/>
              </a:lnSpc>
              <a:spcBef>
                <a:spcPts val="0"/>
              </a:spcBef>
              <a:spcAft>
                <a:spcPts val="0"/>
              </a:spcAft>
              <a:buClrTx/>
              <a:buSzTx/>
              <a:buFontTx/>
              <a:buNone/>
              <a:tabLst/>
              <a:defRPr/>
            </a:pPr>
            <a:r>
              <a:rPr lang="ar-SA" b="1" dirty="0"/>
              <a:t>7</a:t>
            </a:r>
            <a:r>
              <a:rPr lang="ar-SA" dirty="0"/>
              <a:t>: هل يتم تلقي اقتراحات أو توصيات </a:t>
            </a:r>
            <a:r>
              <a:rPr lang="ar-EG" sz="1800" dirty="0"/>
              <a:t>على</a:t>
            </a:r>
            <a:r>
              <a:rPr lang="ar-SA" dirty="0"/>
              <a:t> الخدمة / المنتج من المستفيدين الحاليين ؟ </a:t>
            </a:r>
            <a:endParaRPr lang="ar-EG" sz="1800" dirty="0"/>
          </a:p>
        </p:txBody>
      </p:sp>
      <p:sp>
        <p:nvSpPr>
          <p:cNvPr id="20" name="Rectangle 19">
            <a:extLst>
              <a:ext uri="{FF2B5EF4-FFF2-40B4-BE49-F238E27FC236}">
                <a16:creationId xmlns:a16="http://schemas.microsoft.com/office/drawing/2014/main" id="{106AD39B-1FDB-71C2-6DF7-E8E948774EE8}"/>
              </a:ext>
            </a:extLst>
          </p:cNvPr>
          <p:cNvSpPr/>
          <p:nvPr/>
        </p:nvSpPr>
        <p:spPr>
          <a:xfrm>
            <a:off x="8378687" y="2305603"/>
            <a:ext cx="3084042" cy="4311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5211815-CF53-9D93-341F-DA147BFCCB4E}"/>
              </a:ext>
            </a:extLst>
          </p:cNvPr>
          <p:cNvSpPr txBox="1"/>
          <p:nvPr/>
        </p:nvSpPr>
        <p:spPr>
          <a:xfrm>
            <a:off x="8223099" y="2335798"/>
            <a:ext cx="3431258" cy="400110"/>
          </a:xfrm>
          <a:prstGeom prst="rect">
            <a:avLst/>
          </a:prstGeom>
          <a:noFill/>
        </p:spPr>
        <p:txBody>
          <a:bodyPr wrap="square" rtlCol="0">
            <a:spAutoFit/>
          </a:bodyPr>
          <a:lstStyle/>
          <a:p>
            <a:pPr algn="ctr"/>
            <a:r>
              <a:rPr lang="ar-SA" sz="2000" dirty="0">
                <a:solidFill>
                  <a:schemeClr val="bg1"/>
                </a:solidFill>
              </a:rPr>
              <a:t>مرحله ما قبل الحصول </a:t>
            </a:r>
            <a:r>
              <a:rPr lang="ar-EG" sz="2000" dirty="0">
                <a:solidFill>
                  <a:schemeClr val="bg1"/>
                </a:solidFill>
              </a:rPr>
              <a:t>على</a:t>
            </a:r>
            <a:r>
              <a:rPr lang="ar-SA" sz="2000" dirty="0">
                <a:solidFill>
                  <a:schemeClr val="bg1"/>
                </a:solidFill>
              </a:rPr>
              <a:t> الخدمة / المنتج </a:t>
            </a:r>
            <a:endParaRPr lang="en-US" sz="2000" dirty="0">
              <a:solidFill>
                <a:schemeClr val="bg1"/>
              </a:solidFill>
            </a:endParaRPr>
          </a:p>
        </p:txBody>
      </p:sp>
      <p:sp>
        <p:nvSpPr>
          <p:cNvPr id="24" name="TextBox 23">
            <a:extLst>
              <a:ext uri="{FF2B5EF4-FFF2-40B4-BE49-F238E27FC236}">
                <a16:creationId xmlns:a16="http://schemas.microsoft.com/office/drawing/2014/main" id="{455D8B5A-83BA-63A3-99BC-3F98067A38CD}"/>
              </a:ext>
            </a:extLst>
          </p:cNvPr>
          <p:cNvSpPr txBox="1"/>
          <p:nvPr/>
        </p:nvSpPr>
        <p:spPr>
          <a:xfrm>
            <a:off x="4591662" y="3088267"/>
            <a:ext cx="3444126" cy="2550698"/>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ar-SA" b="1" dirty="0"/>
              <a:t>3</a:t>
            </a:r>
            <a:r>
              <a:rPr lang="ar-SA" dirty="0"/>
              <a:t>: </a:t>
            </a:r>
            <a:r>
              <a:rPr lang="ar-SA" sz="1800" dirty="0"/>
              <a:t>ما الذي يقوم به المستفيد لطلب الحصول </a:t>
            </a:r>
            <a:r>
              <a:rPr lang="ar-EG" sz="1800" dirty="0"/>
              <a:t>على</a:t>
            </a:r>
            <a:r>
              <a:rPr lang="ar-SA" sz="1800" dirty="0"/>
              <a:t> الخدمة</a:t>
            </a:r>
            <a:r>
              <a:rPr lang="ar-SA" dirty="0"/>
              <a:t> /المنتج</a:t>
            </a:r>
            <a:r>
              <a:rPr lang="ar-SA" sz="1800" dirty="0"/>
              <a:t>؟</a:t>
            </a:r>
          </a:p>
          <a:p>
            <a:pPr marL="0" marR="0" lvl="0" indent="0" algn="r" defTabSz="914400" rtl="0" eaLnBrk="1" fontAlgn="auto" latinLnBrk="0" hangingPunct="1">
              <a:lnSpc>
                <a:spcPct val="150000"/>
              </a:lnSpc>
              <a:spcBef>
                <a:spcPts val="0"/>
              </a:spcBef>
              <a:spcAft>
                <a:spcPts val="0"/>
              </a:spcAft>
              <a:buClrTx/>
              <a:buSzTx/>
              <a:buFontTx/>
              <a:buNone/>
              <a:tabLst/>
              <a:defRPr/>
            </a:pPr>
            <a:r>
              <a:rPr lang="ar-SA" b="1" dirty="0"/>
              <a:t>4</a:t>
            </a:r>
            <a:r>
              <a:rPr lang="ar-SA" dirty="0"/>
              <a:t>: ما هي القنوات المتاحة للمستفيد لمتابعة طلب الحصول </a:t>
            </a:r>
            <a:r>
              <a:rPr lang="ar-EG" sz="1800" dirty="0"/>
              <a:t>على</a:t>
            </a:r>
            <a:r>
              <a:rPr lang="ar-SA" dirty="0"/>
              <a:t> الخدمة/المنتج؟</a:t>
            </a:r>
            <a:r>
              <a:rPr lang="ar-SA" sz="1800" dirty="0"/>
              <a:t> </a:t>
            </a:r>
          </a:p>
          <a:p>
            <a:pPr marL="0" marR="0" lvl="0" indent="0" algn="r" defTabSz="914400" rtl="0" eaLnBrk="1" fontAlgn="auto" latinLnBrk="0" hangingPunct="1">
              <a:lnSpc>
                <a:spcPct val="150000"/>
              </a:lnSpc>
              <a:spcBef>
                <a:spcPts val="0"/>
              </a:spcBef>
              <a:spcAft>
                <a:spcPts val="0"/>
              </a:spcAft>
              <a:buClrTx/>
              <a:buSzTx/>
              <a:buFontTx/>
              <a:buNone/>
              <a:tabLst/>
              <a:defRPr/>
            </a:pPr>
            <a:r>
              <a:rPr lang="ar-SA" b="1" dirty="0"/>
              <a:t>5</a:t>
            </a:r>
            <a:r>
              <a:rPr lang="ar-SA" dirty="0"/>
              <a:t>: هل يوجد تواصل من </a:t>
            </a:r>
            <a:r>
              <a:rPr lang="ar-EG" dirty="0"/>
              <a:t>المستفيد</a:t>
            </a:r>
            <a:r>
              <a:rPr lang="ar-SA" dirty="0"/>
              <a:t> بعد الحصول علي المخرج النهائي من الخدمة/المنتج؟</a:t>
            </a:r>
            <a:endParaRPr lang="ar-EG" sz="1800" dirty="0"/>
          </a:p>
        </p:txBody>
      </p:sp>
      <p:sp>
        <p:nvSpPr>
          <p:cNvPr id="25" name="Rectangle 24">
            <a:extLst>
              <a:ext uri="{FF2B5EF4-FFF2-40B4-BE49-F238E27FC236}">
                <a16:creationId xmlns:a16="http://schemas.microsoft.com/office/drawing/2014/main" id="{B4BB3FC8-6FCB-5EF2-6684-D3FF75707B2F}"/>
              </a:ext>
            </a:extLst>
          </p:cNvPr>
          <p:cNvSpPr/>
          <p:nvPr/>
        </p:nvSpPr>
        <p:spPr>
          <a:xfrm>
            <a:off x="1219104" y="2306981"/>
            <a:ext cx="3029662" cy="4215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A443E14-01DD-BA0D-E160-33163D6714D2}"/>
              </a:ext>
            </a:extLst>
          </p:cNvPr>
          <p:cNvSpPr txBox="1"/>
          <p:nvPr/>
        </p:nvSpPr>
        <p:spPr>
          <a:xfrm>
            <a:off x="1058828" y="2335798"/>
            <a:ext cx="3350214" cy="400110"/>
          </a:xfrm>
          <a:prstGeom prst="rect">
            <a:avLst/>
          </a:prstGeom>
          <a:noFill/>
        </p:spPr>
        <p:txBody>
          <a:bodyPr wrap="square" rtlCol="0">
            <a:spAutoFit/>
          </a:bodyPr>
          <a:lstStyle/>
          <a:p>
            <a:pPr algn="ctr"/>
            <a:r>
              <a:rPr lang="ar-SA" sz="2000" dirty="0">
                <a:solidFill>
                  <a:schemeClr val="bg1"/>
                </a:solidFill>
              </a:rPr>
              <a:t>مرحلة ما بعد الحصول </a:t>
            </a:r>
            <a:r>
              <a:rPr lang="ar-EG" sz="2000" dirty="0">
                <a:solidFill>
                  <a:schemeClr val="bg1"/>
                </a:solidFill>
              </a:rPr>
              <a:t>على</a:t>
            </a:r>
            <a:r>
              <a:rPr lang="ar-SA" sz="2000" dirty="0">
                <a:solidFill>
                  <a:schemeClr val="bg1"/>
                </a:solidFill>
              </a:rPr>
              <a:t> الخدمة / المنتج </a:t>
            </a:r>
          </a:p>
        </p:txBody>
      </p:sp>
      <p:sp>
        <p:nvSpPr>
          <p:cNvPr id="2" name="Rectangle 1">
            <a:extLst>
              <a:ext uri="{FF2B5EF4-FFF2-40B4-BE49-F238E27FC236}">
                <a16:creationId xmlns:a16="http://schemas.microsoft.com/office/drawing/2014/main" id="{C1A6EFD9-3A70-38D9-CC72-57A6CBF480D6}"/>
              </a:ext>
            </a:extLst>
          </p:cNvPr>
          <p:cNvSpPr/>
          <p:nvPr/>
        </p:nvSpPr>
        <p:spPr>
          <a:xfrm>
            <a:off x="4798895" y="2291719"/>
            <a:ext cx="3029662" cy="4215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52E44DA-8068-F897-1B09-82F397E0D2A6}"/>
              </a:ext>
            </a:extLst>
          </p:cNvPr>
          <p:cNvSpPr txBox="1"/>
          <p:nvPr/>
        </p:nvSpPr>
        <p:spPr>
          <a:xfrm>
            <a:off x="4798896" y="2320536"/>
            <a:ext cx="3029659" cy="400110"/>
          </a:xfrm>
          <a:prstGeom prst="rect">
            <a:avLst/>
          </a:prstGeom>
          <a:noFill/>
        </p:spPr>
        <p:txBody>
          <a:bodyPr wrap="square" rtlCol="0">
            <a:spAutoFit/>
          </a:bodyPr>
          <a:lstStyle/>
          <a:p>
            <a:pPr algn="ctr"/>
            <a:r>
              <a:rPr lang="ar-SA" sz="2000" dirty="0">
                <a:solidFill>
                  <a:schemeClr val="bg1"/>
                </a:solidFill>
              </a:rPr>
              <a:t>مرحلة الحصول </a:t>
            </a:r>
            <a:r>
              <a:rPr lang="ar-EG" sz="2000" dirty="0">
                <a:solidFill>
                  <a:schemeClr val="bg1"/>
                </a:solidFill>
              </a:rPr>
              <a:t>على</a:t>
            </a:r>
            <a:r>
              <a:rPr lang="ar-SA" sz="2000" dirty="0">
                <a:solidFill>
                  <a:schemeClr val="bg1"/>
                </a:solidFill>
              </a:rPr>
              <a:t> الخدمة / المنتج</a:t>
            </a:r>
            <a:endParaRPr lang="en-US" sz="2000" dirty="0">
              <a:solidFill>
                <a:schemeClr val="bg1"/>
              </a:solidFill>
            </a:endParaRPr>
          </a:p>
        </p:txBody>
      </p:sp>
      <p:sp>
        <p:nvSpPr>
          <p:cNvPr id="5" name="TextBox 4">
            <a:extLst>
              <a:ext uri="{FF2B5EF4-FFF2-40B4-BE49-F238E27FC236}">
                <a16:creationId xmlns:a16="http://schemas.microsoft.com/office/drawing/2014/main" id="{B4D613CA-58E3-3D7C-103A-D24FA2FA377B}"/>
              </a:ext>
            </a:extLst>
          </p:cNvPr>
          <p:cNvSpPr txBox="1"/>
          <p:nvPr/>
        </p:nvSpPr>
        <p:spPr>
          <a:xfrm>
            <a:off x="8187058" y="3088267"/>
            <a:ext cx="3467300" cy="1719702"/>
          </a:xfrm>
          <a:prstGeom prst="rect">
            <a:avLst/>
          </a:prstGeom>
          <a:noFill/>
        </p:spPr>
        <p:txBody>
          <a:bodyPr wrap="square">
            <a:spAutoFit/>
          </a:bodyPr>
          <a:lstStyle/>
          <a:p>
            <a:pPr algn="r">
              <a:lnSpc>
                <a:spcPct val="150000"/>
              </a:lnSpc>
            </a:pPr>
            <a:r>
              <a:rPr lang="ar-SA" b="1" dirty="0"/>
              <a:t>1</a:t>
            </a:r>
            <a:r>
              <a:rPr lang="ar-SA" dirty="0"/>
              <a:t>: ما الذي يقوم به المستفيد للبحث والاستكشاف عن مقدمي الخدمات / المنتج؟</a:t>
            </a:r>
          </a:p>
          <a:p>
            <a:pPr algn="r">
              <a:lnSpc>
                <a:spcPct val="150000"/>
              </a:lnSpc>
            </a:pPr>
            <a:r>
              <a:rPr lang="ar-SA" b="1" dirty="0"/>
              <a:t>2</a:t>
            </a:r>
            <a:r>
              <a:rPr lang="ar-SA" dirty="0"/>
              <a:t>: </a:t>
            </a:r>
            <a:r>
              <a:rPr lang="ar-EG" dirty="0"/>
              <a:t>ما </a:t>
            </a:r>
            <a:r>
              <a:rPr lang="ar-SA" dirty="0"/>
              <a:t>الذي يقوم به المستفيد للاستعلام عن تفاصيل وشروط الخدمة/ /المنتج؟ </a:t>
            </a:r>
          </a:p>
        </p:txBody>
      </p:sp>
    </p:spTree>
    <p:extLst>
      <p:ext uri="{BB962C8B-B14F-4D97-AF65-F5344CB8AC3E}">
        <p14:creationId xmlns:p14="http://schemas.microsoft.com/office/powerpoint/2010/main" val="18254751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D96A3-6AAB-7A42-9C0C-F1BF103EB3E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226EEC-A4D5-7A6B-27D1-AE1E4D95AB15}"/>
              </a:ext>
            </a:extLst>
          </p:cNvPr>
          <p:cNvSpPr>
            <a:spLocks noGrp="1"/>
          </p:cNvSpPr>
          <p:nvPr>
            <p:ph type="sldNum" sz="quarter" idx="12"/>
          </p:nvPr>
        </p:nvSpPr>
        <p:spPr/>
        <p:txBody>
          <a:bodyPr/>
          <a:lstStyle/>
          <a:p>
            <a:fld id="{0BE4EC83-A869-464E-AE9F-881796FB085E}" type="slidenum">
              <a:rPr lang="en-US" smtClean="0"/>
              <a:t>29</a:t>
            </a:fld>
            <a:endParaRPr lang="en-US" dirty="0"/>
          </a:p>
        </p:txBody>
      </p:sp>
      <p:sp>
        <p:nvSpPr>
          <p:cNvPr id="7" name="Title 1">
            <a:extLst>
              <a:ext uri="{FF2B5EF4-FFF2-40B4-BE49-F238E27FC236}">
                <a16:creationId xmlns:a16="http://schemas.microsoft.com/office/drawing/2014/main" id="{F718AC20-EB2D-1E83-22E9-695D42AAA1EE}"/>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مثال علي المراحل الرئيسية والفرعية لرحلة المستفيد</a:t>
            </a:r>
            <a:endParaRPr lang="en-US" dirty="0"/>
          </a:p>
        </p:txBody>
      </p:sp>
      <p:graphicFrame>
        <p:nvGraphicFramePr>
          <p:cNvPr id="2" name="Table 5">
            <a:extLst>
              <a:ext uri="{FF2B5EF4-FFF2-40B4-BE49-F238E27FC236}">
                <a16:creationId xmlns:a16="http://schemas.microsoft.com/office/drawing/2014/main" id="{25132B95-4D5D-6DBF-8588-C8BC150FD25A}"/>
              </a:ext>
            </a:extLst>
          </p:cNvPr>
          <p:cNvGraphicFramePr>
            <a:graphicFrameLocks noGrp="1"/>
          </p:cNvGraphicFramePr>
          <p:nvPr>
            <p:extLst>
              <p:ext uri="{D42A27DB-BD31-4B8C-83A1-F6EECF244321}">
                <p14:modId xmlns:p14="http://schemas.microsoft.com/office/powerpoint/2010/main" val="3386917441"/>
              </p:ext>
            </p:extLst>
          </p:nvPr>
        </p:nvGraphicFramePr>
        <p:xfrm>
          <a:off x="509581" y="1339674"/>
          <a:ext cx="11172837" cy="5364480"/>
        </p:xfrm>
        <a:graphic>
          <a:graphicData uri="http://schemas.openxmlformats.org/drawingml/2006/table">
            <a:tbl>
              <a:tblPr firstRow="1" bandRow="1">
                <a:tableStyleId>{5C22544A-7EE6-4342-B048-85BDC9FD1C3A}</a:tableStyleId>
              </a:tblPr>
              <a:tblGrid>
                <a:gridCol w="1354178">
                  <a:extLst>
                    <a:ext uri="{9D8B030D-6E8A-4147-A177-3AD203B41FA5}">
                      <a16:colId xmlns:a16="http://schemas.microsoft.com/office/drawing/2014/main" val="1209399961"/>
                    </a:ext>
                  </a:extLst>
                </a:gridCol>
                <a:gridCol w="1423001">
                  <a:extLst>
                    <a:ext uri="{9D8B030D-6E8A-4147-A177-3AD203B41FA5}">
                      <a16:colId xmlns:a16="http://schemas.microsoft.com/office/drawing/2014/main" val="3471846239"/>
                    </a:ext>
                  </a:extLst>
                </a:gridCol>
                <a:gridCol w="1285355">
                  <a:extLst>
                    <a:ext uri="{9D8B030D-6E8A-4147-A177-3AD203B41FA5}">
                      <a16:colId xmlns:a16="http://schemas.microsoft.com/office/drawing/2014/main" val="3008119749"/>
                    </a:ext>
                  </a:extLst>
                </a:gridCol>
                <a:gridCol w="1354178">
                  <a:extLst>
                    <a:ext uri="{9D8B030D-6E8A-4147-A177-3AD203B41FA5}">
                      <a16:colId xmlns:a16="http://schemas.microsoft.com/office/drawing/2014/main" val="4052141969"/>
                    </a:ext>
                  </a:extLst>
                </a:gridCol>
                <a:gridCol w="1354178">
                  <a:extLst>
                    <a:ext uri="{9D8B030D-6E8A-4147-A177-3AD203B41FA5}">
                      <a16:colId xmlns:a16="http://schemas.microsoft.com/office/drawing/2014/main" val="476798931"/>
                    </a:ext>
                  </a:extLst>
                </a:gridCol>
                <a:gridCol w="1822889">
                  <a:extLst>
                    <a:ext uri="{9D8B030D-6E8A-4147-A177-3AD203B41FA5}">
                      <a16:colId xmlns:a16="http://schemas.microsoft.com/office/drawing/2014/main" val="1586909636"/>
                    </a:ext>
                  </a:extLst>
                </a:gridCol>
                <a:gridCol w="1549400">
                  <a:extLst>
                    <a:ext uri="{9D8B030D-6E8A-4147-A177-3AD203B41FA5}">
                      <a16:colId xmlns:a16="http://schemas.microsoft.com/office/drawing/2014/main" val="3452848242"/>
                    </a:ext>
                  </a:extLst>
                </a:gridCol>
                <a:gridCol w="1029658">
                  <a:extLst>
                    <a:ext uri="{9D8B030D-6E8A-4147-A177-3AD203B41FA5}">
                      <a16:colId xmlns:a16="http://schemas.microsoft.com/office/drawing/2014/main" val="3893311109"/>
                    </a:ext>
                  </a:extLst>
                </a:gridCol>
              </a:tblGrid>
              <a:tr h="5541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1800" dirty="0"/>
                        <a:t>مرحلة ما بعد الحصول على الخدمة / المنتج </a:t>
                      </a:r>
                    </a:p>
                  </a:txBody>
                  <a:tcPr anchor="ctr"/>
                </a:tc>
                <a:tc hMerge="1">
                  <a:txBody>
                    <a:bodyPr/>
                    <a:lstStyle/>
                    <a:p>
                      <a:endParaRPr lang="en-US"/>
                    </a:p>
                  </a:txBody>
                  <a:tcPr/>
                </a:tc>
                <a:tc gridSpan="3">
                  <a:txBody>
                    <a:bodyPr/>
                    <a:lstStyle/>
                    <a:p>
                      <a:pPr algn="ctr"/>
                      <a:r>
                        <a:rPr lang="ar-SA" sz="1800" dirty="0"/>
                        <a:t>مرحلة الحصول </a:t>
                      </a:r>
                      <a:r>
                        <a:rPr lang="ar-EG" sz="1800" dirty="0"/>
                        <a:t>على</a:t>
                      </a:r>
                      <a:r>
                        <a:rPr lang="ar-SA" sz="1800" dirty="0"/>
                        <a:t> الخدمة / المنتج</a:t>
                      </a:r>
                      <a:endParaRPr lang="en-US" sz="1800" dirty="0"/>
                    </a:p>
                  </a:txBody>
                  <a:tcPr anchor="ctr"/>
                </a:tc>
                <a:tc hMerge="1">
                  <a:txBody>
                    <a:bodyPr/>
                    <a:lstStyle/>
                    <a:p>
                      <a:endParaRPr lang="en-US"/>
                    </a:p>
                  </a:txBody>
                  <a:tcPr/>
                </a:tc>
                <a:tc hMerge="1">
                  <a:txBody>
                    <a:bodyPr/>
                    <a:lstStyle/>
                    <a:p>
                      <a:endParaRPr lang="en-US"/>
                    </a:p>
                  </a:txBody>
                  <a:tcPr/>
                </a:tc>
                <a:tc gridSpan="2">
                  <a:txBody>
                    <a:bodyPr/>
                    <a:lstStyle/>
                    <a:p>
                      <a:pPr algn="ctr"/>
                      <a:r>
                        <a:rPr lang="ar-SA" sz="1800" dirty="0"/>
                        <a:t>مرحله ما قبل الحصول </a:t>
                      </a:r>
                      <a:r>
                        <a:rPr lang="ar-EG" sz="1800" dirty="0"/>
                        <a:t>على</a:t>
                      </a:r>
                      <a:r>
                        <a:rPr lang="ar-SA" sz="1800" dirty="0"/>
                        <a:t> الخدمة / المنتج </a:t>
                      </a:r>
                      <a:endParaRPr lang="en-US" sz="1800" dirty="0"/>
                    </a:p>
                  </a:txBody>
                  <a:tcPr anchor="ctr"/>
                </a:tc>
                <a:tc hMerge="1">
                  <a:txBody>
                    <a:bodyPr/>
                    <a:lstStyle/>
                    <a:p>
                      <a:endParaRPr lang="en-US"/>
                    </a:p>
                  </a:txBody>
                  <a:tcPr/>
                </a:tc>
                <a:tc>
                  <a:txBody>
                    <a:bodyPr/>
                    <a:lstStyle/>
                    <a:p>
                      <a:pPr algn="ctr"/>
                      <a:r>
                        <a:rPr lang="ar-SA" sz="1800" dirty="0"/>
                        <a:t>المراحل</a:t>
                      </a:r>
                      <a:r>
                        <a:rPr lang="en-US" sz="1800" dirty="0"/>
                        <a:t> </a:t>
                      </a:r>
                    </a:p>
                  </a:txBody>
                  <a:tcPr anchor="ctr"/>
                </a:tc>
                <a:extLst>
                  <a:ext uri="{0D108BD9-81ED-4DB2-BD59-A6C34878D82A}">
                    <a16:rowId xmlns:a16="http://schemas.microsoft.com/office/drawing/2014/main" val="3250136038"/>
                  </a:ext>
                </a:extLst>
              </a:tr>
              <a:tr h="465474">
                <a:tc>
                  <a:txBody>
                    <a:bodyPr/>
                    <a:lstStyle/>
                    <a:p>
                      <a:pPr algn="ctr"/>
                      <a:r>
                        <a:rPr lang="ar-SA" sz="1400" b="1" dirty="0"/>
                        <a:t>استقبال الاقتراحات والتوصيات حول الخدمات </a:t>
                      </a:r>
                      <a:r>
                        <a:rPr lang="ar-EG" sz="1400" b="1" dirty="0"/>
                        <a:t>المقدمة</a:t>
                      </a:r>
                      <a:endParaRPr lang="en-US" sz="1400" b="1" dirty="0"/>
                    </a:p>
                  </a:txBody>
                  <a:tcPr anchor="ctr"/>
                </a:tc>
                <a:tc>
                  <a:txBody>
                    <a:bodyPr/>
                    <a:lstStyle/>
                    <a:p>
                      <a:pPr algn="ctr"/>
                      <a:r>
                        <a:rPr lang="ar-SA" sz="1400" b="1" dirty="0"/>
                        <a:t>إرسال استبانة عن الدورة  </a:t>
                      </a:r>
                      <a:endParaRPr lang="en-US" sz="1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b="1" dirty="0"/>
                        <a:t>الحصول علي المخرج النهائي</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b="1" dirty="0"/>
                        <a:t>متابعة تفاصيل البدء في الدورة</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b="1" dirty="0"/>
                        <a:t>تقديم الطلب</a:t>
                      </a:r>
                    </a:p>
                  </a:txBody>
                  <a:tcPr anchor="ctr"/>
                </a:tc>
                <a:tc>
                  <a:txBody>
                    <a:bodyPr/>
                    <a:lstStyle/>
                    <a:p>
                      <a:pPr algn="ctr"/>
                      <a:r>
                        <a:rPr lang="ar-SA" sz="1400" b="1" kern="1200" dirty="0">
                          <a:solidFill>
                            <a:schemeClr val="dk1"/>
                          </a:solidFill>
                          <a:latin typeface="+mn-lt"/>
                          <a:ea typeface="+mn-ea"/>
                          <a:cs typeface="+mn-cs"/>
                        </a:rPr>
                        <a:t>الاستعلام عن الدورة وشروطها</a:t>
                      </a:r>
                      <a:endParaRPr lang="en-US" sz="1400" b="1" kern="1200" dirty="0">
                        <a:solidFill>
                          <a:schemeClr val="dk1"/>
                        </a:solidFill>
                        <a:latin typeface="+mn-lt"/>
                        <a:ea typeface="+mn-ea"/>
                        <a:cs typeface="+mn-cs"/>
                      </a:endParaRPr>
                    </a:p>
                  </a:txBody>
                  <a:tcPr anchor="ctr"/>
                </a:tc>
                <a:tc>
                  <a:txBody>
                    <a:bodyPr/>
                    <a:lstStyle/>
                    <a:p>
                      <a:pPr algn="ctr"/>
                      <a:r>
                        <a:rPr lang="ar-SA" sz="1400" b="1" kern="1200" dirty="0">
                          <a:solidFill>
                            <a:schemeClr val="dk1"/>
                          </a:solidFill>
                          <a:latin typeface="+mn-lt"/>
                          <a:ea typeface="+mn-ea"/>
                          <a:cs typeface="+mn-cs"/>
                        </a:rPr>
                        <a:t>البحث عن الجهات المقدمة للدورة</a:t>
                      </a:r>
                      <a:endParaRPr lang="en-US" sz="1400" b="1" kern="1200" dirty="0">
                        <a:solidFill>
                          <a:schemeClr val="dk1"/>
                        </a:solidFill>
                        <a:latin typeface="+mn-lt"/>
                        <a:ea typeface="+mn-ea"/>
                        <a:cs typeface="+mn-cs"/>
                      </a:endParaRPr>
                    </a:p>
                  </a:txBody>
                  <a:tcPr anchor="ctr"/>
                </a:tc>
                <a:tc>
                  <a:txBody>
                    <a:bodyPr/>
                    <a:lstStyle/>
                    <a:p>
                      <a:pPr algn="ctr"/>
                      <a:r>
                        <a:rPr lang="ar-SA" sz="1600" b="1" dirty="0"/>
                        <a:t>المراحل الفرعية</a:t>
                      </a:r>
                      <a:endParaRPr lang="en-US" sz="1600" b="1" dirty="0"/>
                    </a:p>
                  </a:txBody>
                  <a:tcPr anchor="ctr"/>
                </a:tc>
                <a:extLst>
                  <a:ext uri="{0D108BD9-81ED-4DB2-BD59-A6C34878D82A}">
                    <a16:rowId xmlns:a16="http://schemas.microsoft.com/office/drawing/2014/main" val="3321138646"/>
                  </a:ext>
                </a:extLst>
              </a:tr>
              <a:tr h="465474">
                <a:tc>
                  <a:txBody>
                    <a:bodyPr/>
                    <a:lstStyle/>
                    <a:p>
                      <a:pPr algn="ctr"/>
                      <a:r>
                        <a:rPr lang="ar-SA" sz="1400" dirty="0"/>
                        <a:t>استقبال الجهة اقتراحات أو توصيات من المستفيد تخص الدورة التدريبية التي حصل عليها</a:t>
                      </a:r>
                      <a:r>
                        <a:rPr lang="ar-EG" sz="1400" dirty="0"/>
                        <a:t> </a:t>
                      </a:r>
                      <a:r>
                        <a:rPr lang="ar-SA" sz="1400" dirty="0"/>
                        <a:t>ويتم النظر فيها وتقييمها</a:t>
                      </a:r>
                      <a:endParaRPr lang="en-US" sz="1400" dirty="0"/>
                    </a:p>
                  </a:txBody>
                  <a:tcPr anchor="ctr"/>
                </a:tc>
                <a:tc>
                  <a:txBody>
                    <a:bodyPr/>
                    <a:lstStyle/>
                    <a:p>
                      <a:pPr algn="ctr"/>
                      <a:r>
                        <a:rPr lang="ar-SA" sz="1400" dirty="0"/>
                        <a:t>ترسل الجهة استبانة حول الدورة</a:t>
                      </a:r>
                      <a:r>
                        <a:rPr lang="ar-EG" sz="1400" dirty="0"/>
                        <a:t> </a:t>
                      </a:r>
                      <a:r>
                        <a:rPr lang="ar-SA" sz="1400" dirty="0"/>
                        <a:t>التدريبية للمستفيد لاستيفائه</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يحصل المستفيد </a:t>
                      </a:r>
                      <a:r>
                        <a:rPr lang="ar-EG" sz="1400" dirty="0"/>
                        <a:t>على</a:t>
                      </a:r>
                      <a:r>
                        <a:rPr lang="ar-SA" sz="1400" dirty="0"/>
                        <a:t> الدورة التدريبية ويتم استلام التقييم الخاص به</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يتابع المستفيد ميعاد بدء الدورة التدريبية ومكان الحصول عليها</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يقرر المستفيد بتقديم طلب للجهة للتسجيل في الدورة التدريبية</a:t>
                      </a:r>
                    </a:p>
                  </a:txBody>
                  <a:tcPr anchor="ctr"/>
                </a:tc>
                <a:tc>
                  <a:txBody>
                    <a:bodyPr/>
                    <a:lstStyle/>
                    <a:p>
                      <a:pPr algn="ctr"/>
                      <a:r>
                        <a:rPr lang="ar-SA" sz="1400" kern="1200" dirty="0">
                          <a:solidFill>
                            <a:schemeClr val="dk1"/>
                          </a:solidFill>
                          <a:latin typeface="+mn-lt"/>
                          <a:ea typeface="+mn-ea"/>
                          <a:cs typeface="+mn-cs"/>
                        </a:rPr>
                        <a:t>يستعلم المستفيد عن الدورة وشروطها ومتطلباتها من الجهة المقدمة لها عن طريق الموقع الإلكتروني للجهة ا</a:t>
                      </a:r>
                      <a:r>
                        <a:rPr lang="ar-EG" sz="1400" kern="1200" dirty="0">
                          <a:solidFill>
                            <a:schemeClr val="dk1"/>
                          </a:solidFill>
                          <a:latin typeface="+mn-lt"/>
                          <a:ea typeface="+mn-ea"/>
                          <a:cs typeface="+mn-cs"/>
                        </a:rPr>
                        <a:t>و</a:t>
                      </a:r>
                      <a:r>
                        <a:rPr lang="ar-SA" sz="1400" kern="1200" dirty="0">
                          <a:solidFill>
                            <a:schemeClr val="dk1"/>
                          </a:solidFill>
                          <a:latin typeface="+mn-lt"/>
                          <a:ea typeface="+mn-ea"/>
                          <a:cs typeface="+mn-cs"/>
                        </a:rPr>
                        <a:t> الاتصال بخدمة العملاء</a:t>
                      </a:r>
                      <a:endParaRPr lang="en-US" sz="1400" kern="1200" dirty="0">
                        <a:solidFill>
                          <a:schemeClr val="dk1"/>
                        </a:solidFill>
                        <a:latin typeface="+mn-lt"/>
                        <a:ea typeface="+mn-ea"/>
                        <a:cs typeface="+mn-cs"/>
                      </a:endParaRPr>
                    </a:p>
                  </a:txBody>
                  <a:tcPr anchor="ctr"/>
                </a:tc>
                <a:tc>
                  <a:txBody>
                    <a:bodyPr/>
                    <a:lstStyle/>
                    <a:p>
                      <a:pPr algn="ctr"/>
                      <a:r>
                        <a:rPr lang="ar-SA" sz="1400" kern="1200" dirty="0">
                          <a:solidFill>
                            <a:schemeClr val="dk1"/>
                          </a:solidFill>
                          <a:latin typeface="+mn-lt"/>
                          <a:ea typeface="+mn-ea"/>
                          <a:cs typeface="+mn-cs"/>
                        </a:rPr>
                        <a:t>يبحث المستفيد عن طريق الإنترنت أو الإعلانات المرئية عن مقدمي الدورة </a:t>
                      </a:r>
                      <a:endParaRPr lang="en-US" sz="1400" kern="1200" dirty="0">
                        <a:solidFill>
                          <a:schemeClr val="dk1"/>
                        </a:solidFill>
                        <a:latin typeface="+mn-lt"/>
                        <a:ea typeface="+mn-ea"/>
                        <a:cs typeface="+mn-cs"/>
                      </a:endParaRPr>
                    </a:p>
                  </a:txBody>
                  <a:tcPr anchor="ctr"/>
                </a:tc>
                <a:tc>
                  <a:txBody>
                    <a:bodyPr/>
                    <a:lstStyle/>
                    <a:p>
                      <a:pPr algn="ctr"/>
                      <a:r>
                        <a:rPr lang="ar-SA" sz="1600" b="1" dirty="0"/>
                        <a:t>المثال (طلب الحصول </a:t>
                      </a:r>
                      <a:r>
                        <a:rPr lang="ar-EG" sz="1600" b="1" dirty="0"/>
                        <a:t>على</a:t>
                      </a:r>
                      <a:r>
                        <a:rPr lang="ar-SA" sz="1600" b="1" dirty="0"/>
                        <a:t> دورة تدريبية)</a:t>
                      </a:r>
                      <a:endParaRPr lang="en-US" sz="1600" b="1" dirty="0"/>
                    </a:p>
                  </a:txBody>
                  <a:tcPr anchor="ctr"/>
                </a:tc>
                <a:extLst>
                  <a:ext uri="{0D108BD9-81ED-4DB2-BD59-A6C34878D82A}">
                    <a16:rowId xmlns:a16="http://schemas.microsoft.com/office/drawing/2014/main" val="2988348890"/>
                  </a:ext>
                </a:extLst>
              </a:tr>
              <a:tr h="465474">
                <a:tc>
                  <a:txBody>
                    <a:bodyPr/>
                    <a:lstStyle/>
                    <a:p>
                      <a:pPr algn="ctr"/>
                      <a:r>
                        <a:rPr lang="ar-SA" sz="1400" dirty="0"/>
                        <a:t>الثقة بأن الجهة تقدر مشاركته وتوصياته</a:t>
                      </a:r>
                      <a:endParaRPr lang="en-US" sz="1400" dirty="0"/>
                    </a:p>
                  </a:txBody>
                  <a:tcPr anchor="ctr"/>
                </a:tc>
                <a:tc>
                  <a:txBody>
                    <a:bodyPr/>
                    <a:lstStyle/>
                    <a:p>
                      <a:pPr algn="ctr"/>
                      <a:r>
                        <a:rPr lang="ar-SA" sz="1400" dirty="0"/>
                        <a:t>الرغبة في تحسين الجودة من خلال تقديم التغذية الراجعة</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الرضا إذا كانت الدورة مفيدة أو الشعور بالحاجة لمزيد من الدعم</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الترقب لمعرفة موعد وتفاصيل الدورة</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الحماس بعد اتخاذ قرار التسجيل</a:t>
                      </a:r>
                    </a:p>
                  </a:txBody>
                  <a:tcPr anchor="ctr"/>
                </a:tc>
                <a:tc>
                  <a:txBody>
                    <a:bodyPr/>
                    <a:lstStyle/>
                    <a:p>
                      <a:pPr algn="ctr"/>
                      <a:r>
                        <a:rPr lang="ar-SA" sz="1400" kern="1200" dirty="0">
                          <a:solidFill>
                            <a:schemeClr val="dk1"/>
                          </a:solidFill>
                          <a:latin typeface="+mn-lt"/>
                          <a:ea typeface="+mn-ea"/>
                          <a:cs typeface="+mn-cs"/>
                        </a:rPr>
                        <a:t>الأمل في أن تكون الدورة مناسبة لاحتياجاته</a:t>
                      </a:r>
                      <a:endParaRPr lang="en-US" sz="1400" kern="1200" dirty="0">
                        <a:solidFill>
                          <a:schemeClr val="dk1"/>
                        </a:solidFill>
                        <a:latin typeface="+mn-lt"/>
                        <a:ea typeface="+mn-ea"/>
                        <a:cs typeface="+mn-cs"/>
                      </a:endParaRPr>
                    </a:p>
                  </a:txBody>
                  <a:tcPr anchor="ctr"/>
                </a:tc>
                <a:tc>
                  <a:txBody>
                    <a:bodyPr/>
                    <a:lstStyle/>
                    <a:p>
                      <a:pPr algn="ctr"/>
                      <a:r>
                        <a:rPr lang="ar-SA" sz="1400" kern="1200" dirty="0">
                          <a:solidFill>
                            <a:schemeClr val="dk1"/>
                          </a:solidFill>
                          <a:latin typeface="+mn-lt"/>
                          <a:ea typeface="+mn-ea"/>
                          <a:cs typeface="+mn-cs"/>
                        </a:rPr>
                        <a:t>الفضول حول جودة الدورة والرغبة في تحسين المهارات</a:t>
                      </a:r>
                      <a:endParaRPr lang="en-US" sz="1400" kern="1200" dirty="0">
                        <a:solidFill>
                          <a:schemeClr val="dk1"/>
                        </a:solidFill>
                        <a:latin typeface="+mn-lt"/>
                        <a:ea typeface="+mn-ea"/>
                        <a:cs typeface="+mn-cs"/>
                      </a:endParaRPr>
                    </a:p>
                  </a:txBody>
                  <a:tcPr anchor="ctr"/>
                </a:tc>
                <a:tc>
                  <a:txBody>
                    <a:bodyPr/>
                    <a:lstStyle/>
                    <a:p>
                      <a:pPr algn="ctr"/>
                      <a:r>
                        <a:rPr lang="ar-EG" sz="1600" b="1" dirty="0"/>
                        <a:t>المشاعر</a:t>
                      </a:r>
                      <a:endParaRPr lang="en-US" sz="1600" b="1" dirty="0"/>
                    </a:p>
                  </a:txBody>
                  <a:tcPr anchor="ctr"/>
                </a:tc>
                <a:extLst>
                  <a:ext uri="{0D108BD9-81ED-4DB2-BD59-A6C34878D82A}">
                    <a16:rowId xmlns:a16="http://schemas.microsoft.com/office/drawing/2014/main" val="2066570058"/>
                  </a:ext>
                </a:extLst>
              </a:tr>
              <a:tr h="465474">
                <a:tc>
                  <a:txBody>
                    <a:bodyPr/>
                    <a:lstStyle/>
                    <a:p>
                      <a:pPr algn="ctr"/>
                      <a:r>
                        <a:rPr lang="ar-SA" sz="1400" dirty="0"/>
                        <a:t>أن تؤدي اقتراحاته إلى تحسين الخدمة</a:t>
                      </a:r>
                      <a:endParaRPr lang="en-US" sz="1400" dirty="0"/>
                    </a:p>
                  </a:txBody>
                  <a:tcPr anchor="ctr"/>
                </a:tc>
                <a:tc>
                  <a:txBody>
                    <a:bodyPr/>
                    <a:lstStyle/>
                    <a:p>
                      <a:pPr algn="ctr"/>
                      <a:r>
                        <a:rPr lang="ar-SA" sz="1400" dirty="0"/>
                        <a:t>أن يتم أخذ آرائه على محمل الجد لتحسين الدورات المستقبلية</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استلام شهادة أو تقييم مكتوب</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الحصول على تفاصيل دقيقة عن الوقت والمكان</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إكمال عملية التسجيل بسلاسة</a:t>
                      </a:r>
                    </a:p>
                  </a:txBody>
                  <a:tcPr anchor="ctr"/>
                </a:tc>
                <a:tc>
                  <a:txBody>
                    <a:bodyPr/>
                    <a:lstStyle/>
                    <a:p>
                      <a:pPr algn="ctr"/>
                      <a:r>
                        <a:rPr lang="ar-SA" sz="1400" kern="1200" dirty="0">
                          <a:solidFill>
                            <a:schemeClr val="dk1"/>
                          </a:solidFill>
                          <a:latin typeface="+mn-lt"/>
                          <a:ea typeface="+mn-ea"/>
                          <a:cs typeface="+mn-cs"/>
                        </a:rPr>
                        <a:t>أن يتمكن من الحصول على تفاصيل الدورة بوضوح وسرعة</a:t>
                      </a:r>
                      <a:endParaRPr lang="en-US" sz="1400" kern="1200" dirty="0">
                        <a:solidFill>
                          <a:schemeClr val="dk1"/>
                        </a:solidFill>
                        <a:latin typeface="+mn-lt"/>
                        <a:ea typeface="+mn-ea"/>
                        <a:cs typeface="+mn-cs"/>
                      </a:endParaRPr>
                    </a:p>
                  </a:txBody>
                  <a:tcPr anchor="ctr"/>
                </a:tc>
                <a:tc>
                  <a:txBody>
                    <a:bodyPr/>
                    <a:lstStyle/>
                    <a:p>
                      <a:pPr algn="ctr"/>
                      <a:r>
                        <a:rPr lang="ar-SA" sz="1400" kern="1200" dirty="0">
                          <a:solidFill>
                            <a:schemeClr val="dk1"/>
                          </a:solidFill>
                          <a:latin typeface="+mn-lt"/>
                          <a:ea typeface="+mn-ea"/>
                          <a:cs typeface="+mn-cs"/>
                        </a:rPr>
                        <a:t>العثور على معلومات شاملة وموثوقة حول الجهة المقدمة للدورة بسهولة</a:t>
                      </a:r>
                      <a:endParaRPr lang="en-US" sz="1400" kern="1200" dirty="0">
                        <a:solidFill>
                          <a:schemeClr val="dk1"/>
                        </a:solidFill>
                        <a:latin typeface="+mn-lt"/>
                        <a:ea typeface="+mn-ea"/>
                        <a:cs typeface="+mn-cs"/>
                      </a:endParaRPr>
                    </a:p>
                  </a:txBody>
                  <a:tcPr anchor="ctr"/>
                </a:tc>
                <a:tc>
                  <a:txBody>
                    <a:bodyPr/>
                    <a:lstStyle/>
                    <a:p>
                      <a:pPr algn="ctr"/>
                      <a:r>
                        <a:rPr lang="ar-EG" sz="1600" b="1" dirty="0"/>
                        <a:t>التوقعات</a:t>
                      </a:r>
                      <a:endParaRPr lang="en-US" sz="1600" b="1" dirty="0"/>
                    </a:p>
                  </a:txBody>
                  <a:tcPr anchor="ctr"/>
                </a:tc>
                <a:extLst>
                  <a:ext uri="{0D108BD9-81ED-4DB2-BD59-A6C34878D82A}">
                    <a16:rowId xmlns:a16="http://schemas.microsoft.com/office/drawing/2014/main" val="603390898"/>
                  </a:ext>
                </a:extLst>
              </a:tr>
              <a:tr h="465474">
                <a:tc>
                  <a:txBody>
                    <a:bodyPr/>
                    <a:lstStyle/>
                    <a:p>
                      <a:pPr algn="ctr"/>
                      <a:r>
                        <a:rPr lang="ar-SA" sz="1400" dirty="0"/>
                        <a:t>تلقي شكر من الجهة على مشاركته في تحسين جودة الخدمة التعليمية</a:t>
                      </a:r>
                      <a:endParaRPr lang="en-US" sz="1400" dirty="0"/>
                    </a:p>
                  </a:txBody>
                  <a:tcPr anchor="ctr"/>
                </a:tc>
                <a:tc>
                  <a:txBody>
                    <a:bodyPr/>
                    <a:lstStyle/>
                    <a:p>
                      <a:pPr algn="ctr"/>
                      <a:r>
                        <a:rPr lang="ar-SA" sz="1400" dirty="0"/>
                        <a:t>ملء استبانة حول رأيه في المحتوى، المدرب، وجودة الدورة التدريبية.</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استلام المخرج النهائي من الجهة وتسلم شهادة الدورة</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استلام رسالة بريد إلكتروني تؤكد تفاصيل الحضور وموعد البدء</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400" dirty="0"/>
                        <a:t>تعبئة النماذج الإلكترونية وتأكيد التسجيل في الدورة التدريبية</a:t>
                      </a:r>
                    </a:p>
                  </a:txBody>
                  <a:tcPr anchor="ctr"/>
                </a:tc>
                <a:tc>
                  <a:txBody>
                    <a:bodyPr/>
                    <a:lstStyle/>
                    <a:p>
                      <a:pPr algn="ctr"/>
                      <a:r>
                        <a:rPr lang="ar-SA" sz="1400" kern="1200" dirty="0">
                          <a:solidFill>
                            <a:schemeClr val="dk1"/>
                          </a:solidFill>
                          <a:latin typeface="+mn-lt"/>
                          <a:ea typeface="+mn-ea"/>
                          <a:cs typeface="+mn-cs"/>
                        </a:rPr>
                        <a:t>التفاعل مع خدمة العملاء عبر الموقع الإلكتروني أو الهاتف للاستفسار</a:t>
                      </a:r>
                      <a:endParaRPr lang="en-US" sz="1400" kern="1200" dirty="0">
                        <a:solidFill>
                          <a:schemeClr val="dk1"/>
                        </a:solidFill>
                        <a:latin typeface="+mn-lt"/>
                        <a:ea typeface="+mn-ea"/>
                        <a:cs typeface="+mn-cs"/>
                      </a:endParaRPr>
                    </a:p>
                  </a:txBody>
                  <a:tcPr anchor="ctr"/>
                </a:tc>
                <a:tc>
                  <a:txBody>
                    <a:bodyPr/>
                    <a:lstStyle/>
                    <a:p>
                      <a:pPr algn="ctr"/>
                      <a:r>
                        <a:rPr lang="ar-SA" sz="1400" kern="1200" dirty="0">
                          <a:solidFill>
                            <a:schemeClr val="dk1"/>
                          </a:solidFill>
                          <a:latin typeface="+mn-lt"/>
                          <a:ea typeface="+mn-ea"/>
                          <a:cs typeface="+mn-cs"/>
                        </a:rPr>
                        <a:t>تصفح الإنترنت ومواقع التواصل الاجتماعي للحصول على تقييمات وآراء حول الجهة</a:t>
                      </a:r>
                      <a:endParaRPr lang="en-US" sz="1400" kern="1200" dirty="0">
                        <a:solidFill>
                          <a:schemeClr val="dk1"/>
                        </a:solidFill>
                        <a:latin typeface="+mn-lt"/>
                        <a:ea typeface="+mn-ea"/>
                        <a:cs typeface="+mn-cs"/>
                      </a:endParaRPr>
                    </a:p>
                  </a:txBody>
                  <a:tcPr anchor="ctr"/>
                </a:tc>
                <a:tc>
                  <a:txBody>
                    <a:bodyPr/>
                    <a:lstStyle/>
                    <a:p>
                      <a:pPr algn="ctr"/>
                      <a:r>
                        <a:rPr lang="ar-EG" sz="1600" b="1" dirty="0"/>
                        <a:t>التجارب</a:t>
                      </a:r>
                      <a:endParaRPr lang="en-US" sz="1600" b="1" dirty="0"/>
                    </a:p>
                  </a:txBody>
                  <a:tcPr anchor="ctr"/>
                </a:tc>
                <a:extLst>
                  <a:ext uri="{0D108BD9-81ED-4DB2-BD59-A6C34878D82A}">
                    <a16:rowId xmlns:a16="http://schemas.microsoft.com/office/drawing/2014/main" val="2937889881"/>
                  </a:ext>
                </a:extLst>
              </a:tr>
            </a:tbl>
          </a:graphicData>
        </a:graphic>
      </p:graphicFrame>
      <p:sp>
        <p:nvSpPr>
          <p:cNvPr id="4" name="TextBox 3">
            <a:extLst>
              <a:ext uri="{FF2B5EF4-FFF2-40B4-BE49-F238E27FC236}">
                <a16:creationId xmlns:a16="http://schemas.microsoft.com/office/drawing/2014/main" id="{D59DE885-4B6D-6C2C-ECE9-73012D102179}"/>
              </a:ext>
            </a:extLst>
          </p:cNvPr>
          <p:cNvSpPr txBox="1"/>
          <p:nvPr/>
        </p:nvSpPr>
        <p:spPr>
          <a:xfrm>
            <a:off x="535459" y="941027"/>
            <a:ext cx="11121082" cy="369332"/>
          </a:xfrm>
          <a:prstGeom prst="rect">
            <a:avLst/>
          </a:prstGeom>
          <a:noFill/>
        </p:spPr>
        <p:txBody>
          <a:bodyPr wrap="square" rtlCol="0">
            <a:spAutoFit/>
          </a:bodyPr>
          <a:lstStyle/>
          <a:p>
            <a:pPr algn="r"/>
            <a:r>
              <a:rPr lang="ar-SA" dirty="0">
                <a:latin typeface="Segoe UI" panose="020B0502040204020203" pitchFamily="34" charset="0"/>
                <a:ea typeface="Calibri" panose="020F0502020204030204" pitchFamily="34" charset="0"/>
              </a:rPr>
              <a:t>المثال الاتي يوضح مراحل رحلة المستفيد الرئيسية وسيتم إيضاح المراحل الفرعية مستعينين بالأسئلة الاسترشادية السابق ذكرها:</a:t>
            </a:r>
            <a:endParaRPr lang="en-US" dirty="0"/>
          </a:p>
        </p:txBody>
      </p:sp>
      <p:sp>
        <p:nvSpPr>
          <p:cNvPr id="5" name="Rectangle 4">
            <a:extLst>
              <a:ext uri="{FF2B5EF4-FFF2-40B4-BE49-F238E27FC236}">
                <a16:creationId xmlns:a16="http://schemas.microsoft.com/office/drawing/2014/main" id="{6E0B3C84-5376-A2CE-28C7-31AED1E6DD98}"/>
              </a:ext>
            </a:extLst>
          </p:cNvPr>
          <p:cNvSpPr/>
          <p:nvPr/>
        </p:nvSpPr>
        <p:spPr>
          <a:xfrm>
            <a:off x="3288915" y="505740"/>
            <a:ext cx="1217138" cy="363176"/>
          </a:xfrm>
          <a:prstGeom prst="rect">
            <a:avLst/>
          </a:prstGeom>
          <a:solidFill>
            <a:schemeClr val="accent2">
              <a:lumMod val="20000"/>
              <a:lumOff val="80000"/>
            </a:schemeClr>
          </a:solidFill>
          <a:ln>
            <a:solidFill>
              <a:srgbClr val="4C3C8D"/>
            </a:solidFill>
          </a:ln>
        </p:spPr>
        <p:txBody>
          <a:bodyPr wrap="square" anchor="ctr" anchorCtr="0">
            <a:noAutofit/>
          </a:bodyPr>
          <a:lstStyle/>
          <a:p>
            <a:pPr algn="ctr" rtl="1">
              <a:lnSpc>
                <a:spcPct val="80000"/>
              </a:lnSpc>
            </a:pPr>
            <a:r>
              <a:rPr lang="ar-SA" sz="1600" dirty="0">
                <a:latin typeface="DIN Next LT Arabic" panose="020B0503020203050203" pitchFamily="34" charset="-78"/>
                <a:cs typeface="DIN Next LT Arabic" panose="020B0503020203050203" pitchFamily="34" charset="-78"/>
              </a:rPr>
              <a:t>مثال</a:t>
            </a:r>
            <a:r>
              <a:rPr lang="ar-EG" sz="1600" dirty="0">
                <a:latin typeface="DIN Next LT Arabic" panose="020B0503020203050203" pitchFamily="34" charset="-78"/>
                <a:cs typeface="DIN Next LT Arabic" panose="020B0503020203050203" pitchFamily="34" charset="-78"/>
              </a:rPr>
              <a:t> توضيحي</a:t>
            </a:r>
            <a:endParaRPr lang="ar-SA" sz="1600" dirty="0">
              <a:latin typeface="DIN Next LT Arabic" panose="020B0503020203050203" pitchFamily="34" charset="-78"/>
              <a:cs typeface="DIN Next LT Arabic" panose="020B0503020203050203" pitchFamily="34" charset="-78"/>
            </a:endParaRPr>
          </a:p>
        </p:txBody>
      </p:sp>
    </p:spTree>
    <p:extLst>
      <p:ext uri="{BB962C8B-B14F-4D97-AF65-F5344CB8AC3E}">
        <p14:creationId xmlns:p14="http://schemas.microsoft.com/office/powerpoint/2010/main" val="35620295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5D6B0-44A8-608B-ED8D-C7B6D8BBE37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6BC56E7-4C1C-9DD1-F17B-E9A966F7D498}"/>
              </a:ext>
            </a:extLst>
          </p:cNvPr>
          <p:cNvSpPr>
            <a:spLocks noGrp="1"/>
          </p:cNvSpPr>
          <p:nvPr>
            <p:ph type="title"/>
          </p:nvPr>
        </p:nvSpPr>
        <p:spPr>
          <a:xfrm>
            <a:off x="5387122" y="3925452"/>
            <a:ext cx="6157178" cy="641639"/>
          </a:xfrm>
        </p:spPr>
        <p:txBody>
          <a:bodyPr/>
          <a:lstStyle/>
          <a:p>
            <a:r>
              <a:rPr lang="ar-EG" dirty="0"/>
              <a:t>النموذج المرجعي لبنية التطبيقات</a:t>
            </a:r>
            <a:endParaRPr lang="en-US" dirty="0"/>
          </a:p>
        </p:txBody>
      </p:sp>
      <p:sp>
        <p:nvSpPr>
          <p:cNvPr id="4" name="Text Placeholder 3">
            <a:extLst>
              <a:ext uri="{FF2B5EF4-FFF2-40B4-BE49-F238E27FC236}">
                <a16:creationId xmlns:a16="http://schemas.microsoft.com/office/drawing/2014/main" id="{3D2D2452-88A1-5FB8-DA55-5537128630D9}"/>
              </a:ext>
            </a:extLst>
          </p:cNvPr>
          <p:cNvSpPr>
            <a:spLocks noGrp="1"/>
          </p:cNvSpPr>
          <p:nvPr>
            <p:ph type="body" sz="quarter" idx="14"/>
          </p:nvPr>
        </p:nvSpPr>
        <p:spPr/>
        <p:txBody>
          <a:bodyPr/>
          <a:lstStyle/>
          <a:p>
            <a:r>
              <a:rPr lang="ar-EG" dirty="0"/>
              <a:t>04</a:t>
            </a:r>
            <a:endParaRPr lang="en-US" dirty="0"/>
          </a:p>
        </p:txBody>
      </p:sp>
    </p:spTree>
    <p:extLst>
      <p:ext uri="{BB962C8B-B14F-4D97-AF65-F5344CB8AC3E}">
        <p14:creationId xmlns:p14="http://schemas.microsoft.com/office/powerpoint/2010/main" val="1337245010"/>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AAF17-CE37-0575-0D77-95A4277E567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9A6377-C12E-8826-9678-5F7A13224AD7}"/>
              </a:ext>
            </a:extLst>
          </p:cNvPr>
          <p:cNvSpPr>
            <a:spLocks noGrp="1"/>
          </p:cNvSpPr>
          <p:nvPr>
            <p:ph type="sldNum" sz="quarter" idx="12"/>
          </p:nvPr>
        </p:nvSpPr>
        <p:spPr/>
        <p:txBody>
          <a:bodyPr/>
          <a:lstStyle/>
          <a:p>
            <a:fld id="{0BE4EC83-A869-464E-AE9F-881796FB085E}" type="slidenum">
              <a:rPr lang="en-US" smtClean="0"/>
              <a:t>31</a:t>
            </a:fld>
            <a:endParaRPr lang="en-US" dirty="0"/>
          </a:p>
        </p:txBody>
      </p:sp>
      <p:sp>
        <p:nvSpPr>
          <p:cNvPr id="7" name="Title 1">
            <a:extLst>
              <a:ext uri="{FF2B5EF4-FFF2-40B4-BE49-F238E27FC236}">
                <a16:creationId xmlns:a16="http://schemas.microsoft.com/office/drawing/2014/main" id="{E415BD87-4DF0-0300-3FC5-98D526721C9B}"/>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المشهد العام لبنية التطبيقات</a:t>
            </a:r>
            <a:endParaRPr lang="en-US" dirty="0"/>
          </a:p>
        </p:txBody>
      </p:sp>
      <p:sp>
        <p:nvSpPr>
          <p:cNvPr id="4" name="Rectangle: Rounded Corners 3">
            <a:extLst>
              <a:ext uri="{FF2B5EF4-FFF2-40B4-BE49-F238E27FC236}">
                <a16:creationId xmlns:a16="http://schemas.microsoft.com/office/drawing/2014/main" id="{7DBACB75-A718-30F8-CF7F-7CB26EBB51A4}"/>
              </a:ext>
            </a:extLst>
          </p:cNvPr>
          <p:cNvSpPr/>
          <p:nvPr/>
        </p:nvSpPr>
        <p:spPr>
          <a:xfrm>
            <a:off x="6204346" y="1047592"/>
            <a:ext cx="4096871"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ar-SA" sz="3600" dirty="0"/>
              <a:t>طبقة الوصول</a:t>
            </a:r>
            <a:endParaRPr lang="en-US" sz="3600" dirty="0"/>
          </a:p>
        </p:txBody>
      </p:sp>
      <p:sp>
        <p:nvSpPr>
          <p:cNvPr id="5" name="Rectangle: Rounded Corners 4">
            <a:extLst>
              <a:ext uri="{FF2B5EF4-FFF2-40B4-BE49-F238E27FC236}">
                <a16:creationId xmlns:a16="http://schemas.microsoft.com/office/drawing/2014/main" id="{AA45F719-1EB1-778E-74AE-E9B9AD358080}"/>
              </a:ext>
            </a:extLst>
          </p:cNvPr>
          <p:cNvSpPr/>
          <p:nvPr/>
        </p:nvSpPr>
        <p:spPr>
          <a:xfrm>
            <a:off x="1901290" y="1047593"/>
            <a:ext cx="4096871"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ar-SA" sz="3600" dirty="0"/>
              <a:t>طبقة ذكاء الأعمال</a:t>
            </a:r>
            <a:endParaRPr lang="en-US" sz="3600" dirty="0"/>
          </a:p>
        </p:txBody>
      </p:sp>
      <p:sp>
        <p:nvSpPr>
          <p:cNvPr id="6" name="Rectangle: Rounded Corners 5">
            <a:extLst>
              <a:ext uri="{FF2B5EF4-FFF2-40B4-BE49-F238E27FC236}">
                <a16:creationId xmlns:a16="http://schemas.microsoft.com/office/drawing/2014/main" id="{A56535CF-4137-F4F4-DAC2-D9D4DE3D410F}"/>
              </a:ext>
            </a:extLst>
          </p:cNvPr>
          <p:cNvSpPr/>
          <p:nvPr/>
        </p:nvSpPr>
        <p:spPr>
          <a:xfrm>
            <a:off x="1901290" y="2131434"/>
            <a:ext cx="8399927"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ar-SA" sz="3600" dirty="0"/>
              <a:t>طبقة تطبيقات الأعمال </a:t>
            </a:r>
            <a:r>
              <a:rPr lang="ar-EG" sz="3600" dirty="0"/>
              <a:t>الاستراتيجية</a:t>
            </a:r>
            <a:endParaRPr lang="ar-SA" sz="3600" dirty="0"/>
          </a:p>
        </p:txBody>
      </p:sp>
      <p:sp>
        <p:nvSpPr>
          <p:cNvPr id="8" name="Rectangle: Rounded Corners 7">
            <a:extLst>
              <a:ext uri="{FF2B5EF4-FFF2-40B4-BE49-F238E27FC236}">
                <a16:creationId xmlns:a16="http://schemas.microsoft.com/office/drawing/2014/main" id="{937E3E96-76C2-51E4-CB12-FA2D15A329B8}"/>
              </a:ext>
            </a:extLst>
          </p:cNvPr>
          <p:cNvSpPr/>
          <p:nvPr/>
        </p:nvSpPr>
        <p:spPr>
          <a:xfrm>
            <a:off x="1901289" y="3215274"/>
            <a:ext cx="8399927"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ar-SA" sz="3600" dirty="0"/>
              <a:t>طبقة تطبيقات الأعمال المحورية</a:t>
            </a:r>
          </a:p>
        </p:txBody>
      </p:sp>
      <p:sp>
        <p:nvSpPr>
          <p:cNvPr id="9" name="Rectangle: Rounded Corners 8">
            <a:extLst>
              <a:ext uri="{FF2B5EF4-FFF2-40B4-BE49-F238E27FC236}">
                <a16:creationId xmlns:a16="http://schemas.microsoft.com/office/drawing/2014/main" id="{5F1DCD9F-0F9D-262F-3633-94FB9EB07A68}"/>
              </a:ext>
            </a:extLst>
          </p:cNvPr>
          <p:cNvSpPr/>
          <p:nvPr/>
        </p:nvSpPr>
        <p:spPr>
          <a:xfrm>
            <a:off x="1901288" y="4284334"/>
            <a:ext cx="8399927"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ar-SA" sz="3600" dirty="0"/>
              <a:t>طبقة تطبيقات الأعمال الداعمة</a:t>
            </a:r>
          </a:p>
        </p:txBody>
      </p:sp>
      <p:sp>
        <p:nvSpPr>
          <p:cNvPr id="10" name="Rectangle: Rounded Corners 9">
            <a:extLst>
              <a:ext uri="{FF2B5EF4-FFF2-40B4-BE49-F238E27FC236}">
                <a16:creationId xmlns:a16="http://schemas.microsoft.com/office/drawing/2014/main" id="{48154DE2-195D-4CAC-CC6F-355DB9F833E2}"/>
              </a:ext>
            </a:extLst>
          </p:cNvPr>
          <p:cNvSpPr/>
          <p:nvPr/>
        </p:nvSpPr>
        <p:spPr>
          <a:xfrm>
            <a:off x="1901287" y="5353394"/>
            <a:ext cx="8399927"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ar-SA" sz="3600" dirty="0"/>
              <a:t>طبقة تطبيقات البيانات </a:t>
            </a:r>
          </a:p>
        </p:txBody>
      </p:sp>
      <p:sp>
        <p:nvSpPr>
          <p:cNvPr id="11" name="Rectangle: Rounded Corners 10">
            <a:extLst>
              <a:ext uri="{FF2B5EF4-FFF2-40B4-BE49-F238E27FC236}">
                <a16:creationId xmlns:a16="http://schemas.microsoft.com/office/drawing/2014/main" id="{0D130B3F-BDF8-3813-E9C8-686190A5B9BC}"/>
              </a:ext>
            </a:extLst>
          </p:cNvPr>
          <p:cNvSpPr/>
          <p:nvPr/>
        </p:nvSpPr>
        <p:spPr>
          <a:xfrm>
            <a:off x="10507399" y="1056557"/>
            <a:ext cx="1183348" cy="5193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lvl="0" algn="ctr"/>
            <a:r>
              <a:rPr lang="ar-SA" sz="3600" dirty="0"/>
              <a:t>طبقة تطبيقات البنية التحتية وأمن المعلومات</a:t>
            </a:r>
          </a:p>
        </p:txBody>
      </p:sp>
      <p:sp>
        <p:nvSpPr>
          <p:cNvPr id="12" name="Rectangle: Rounded Corners 11">
            <a:extLst>
              <a:ext uri="{FF2B5EF4-FFF2-40B4-BE49-F238E27FC236}">
                <a16:creationId xmlns:a16="http://schemas.microsoft.com/office/drawing/2014/main" id="{AED2079F-4771-F7DC-A470-527703D45E59}"/>
              </a:ext>
            </a:extLst>
          </p:cNvPr>
          <p:cNvSpPr/>
          <p:nvPr/>
        </p:nvSpPr>
        <p:spPr>
          <a:xfrm>
            <a:off x="511756" y="1056555"/>
            <a:ext cx="1183348" cy="5193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lvl="0" algn="ctr"/>
            <a:r>
              <a:rPr lang="ar-SA" sz="3600" dirty="0"/>
              <a:t>طبقة تطبيقات التكامل</a:t>
            </a:r>
          </a:p>
        </p:txBody>
      </p:sp>
    </p:spTree>
    <p:extLst>
      <p:ext uri="{BB962C8B-B14F-4D97-AF65-F5344CB8AC3E}">
        <p14:creationId xmlns:p14="http://schemas.microsoft.com/office/powerpoint/2010/main" val="427007016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082B-756B-9A85-D599-9CD9659D2264}"/>
            </a:ext>
          </a:extLst>
        </p:cNvPr>
        <p:cNvGrpSpPr/>
        <p:nvPr/>
      </p:nvGrpSpPr>
      <p:grpSpPr>
        <a:xfrm>
          <a:off x="0" y="0"/>
          <a:ext cx="0" cy="0"/>
          <a:chOff x="0" y="0"/>
          <a:chExt cx="0" cy="0"/>
        </a:xfrm>
      </p:grpSpPr>
      <p:sp>
        <p:nvSpPr>
          <p:cNvPr id="69" name="Rectangle: Rounded Corners 68">
            <a:extLst>
              <a:ext uri="{FF2B5EF4-FFF2-40B4-BE49-F238E27FC236}">
                <a16:creationId xmlns:a16="http://schemas.microsoft.com/office/drawing/2014/main" id="{52829252-4DB8-7CB2-958D-81BC48F61E13}"/>
              </a:ext>
            </a:extLst>
          </p:cNvPr>
          <p:cNvSpPr/>
          <p:nvPr/>
        </p:nvSpPr>
        <p:spPr>
          <a:xfrm>
            <a:off x="479967" y="1169089"/>
            <a:ext cx="1315424" cy="5193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lvl="0" algn="ctr"/>
            <a:endParaRPr lang="ar-SA" sz="3600" dirty="0"/>
          </a:p>
        </p:txBody>
      </p:sp>
      <p:sp>
        <p:nvSpPr>
          <p:cNvPr id="70" name="TextBox 69">
            <a:extLst>
              <a:ext uri="{FF2B5EF4-FFF2-40B4-BE49-F238E27FC236}">
                <a16:creationId xmlns:a16="http://schemas.microsoft.com/office/drawing/2014/main" id="{FEC250C3-9F73-EA83-BB5D-B43A03EFB396}"/>
              </a:ext>
            </a:extLst>
          </p:cNvPr>
          <p:cNvSpPr txBox="1"/>
          <p:nvPr/>
        </p:nvSpPr>
        <p:spPr>
          <a:xfrm>
            <a:off x="342005" y="1210714"/>
            <a:ext cx="1585408" cy="646331"/>
          </a:xfrm>
          <a:prstGeom prst="rect">
            <a:avLst/>
          </a:prstGeom>
          <a:noFill/>
        </p:spPr>
        <p:txBody>
          <a:bodyPr wrap="square" rtlCol="0">
            <a:spAutoFit/>
          </a:bodyPr>
          <a:lstStyle/>
          <a:p>
            <a:pPr algn="ctr"/>
            <a:r>
              <a:rPr lang="ar-SA" dirty="0">
                <a:solidFill>
                  <a:schemeClr val="bg1"/>
                </a:solidFill>
                <a:latin typeface="Segoe UI" panose="020B0502040204020203" pitchFamily="34" charset="0"/>
                <a:ea typeface="Calibri" panose="020F0502020204030204" pitchFamily="34" charset="0"/>
              </a:rPr>
              <a:t>طبقة تطبيقات التكامل</a:t>
            </a:r>
          </a:p>
        </p:txBody>
      </p:sp>
      <p:sp>
        <p:nvSpPr>
          <p:cNvPr id="3" name="Slide Number Placeholder 2">
            <a:extLst>
              <a:ext uri="{FF2B5EF4-FFF2-40B4-BE49-F238E27FC236}">
                <a16:creationId xmlns:a16="http://schemas.microsoft.com/office/drawing/2014/main" id="{E6B2A439-8316-6D84-2714-89C3E2FD4611}"/>
              </a:ext>
            </a:extLst>
          </p:cNvPr>
          <p:cNvSpPr>
            <a:spLocks noGrp="1"/>
          </p:cNvSpPr>
          <p:nvPr>
            <p:ph type="sldNum" sz="quarter" idx="12"/>
          </p:nvPr>
        </p:nvSpPr>
        <p:spPr/>
        <p:txBody>
          <a:bodyPr/>
          <a:lstStyle/>
          <a:p>
            <a:fld id="{0BE4EC83-A869-464E-AE9F-881796FB085E}" type="slidenum">
              <a:rPr lang="en-US" smtClean="0"/>
              <a:t>32</a:t>
            </a:fld>
            <a:endParaRPr lang="en-US" dirty="0"/>
          </a:p>
        </p:txBody>
      </p:sp>
      <p:sp>
        <p:nvSpPr>
          <p:cNvPr id="7" name="Title 1">
            <a:extLst>
              <a:ext uri="{FF2B5EF4-FFF2-40B4-BE49-F238E27FC236}">
                <a16:creationId xmlns:a16="http://schemas.microsoft.com/office/drawing/2014/main" id="{7D27408B-CAA2-C766-DB78-CF2C391A8793}"/>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مثال عن المشهد العام لبنية التطبيقات</a:t>
            </a:r>
            <a:endParaRPr lang="en-US" dirty="0"/>
          </a:p>
        </p:txBody>
      </p:sp>
      <p:sp>
        <p:nvSpPr>
          <p:cNvPr id="4" name="Rectangle: Rounded Corners 3">
            <a:extLst>
              <a:ext uri="{FF2B5EF4-FFF2-40B4-BE49-F238E27FC236}">
                <a16:creationId xmlns:a16="http://schemas.microsoft.com/office/drawing/2014/main" id="{8D1AE41E-D9BF-4C88-24FA-2B70197468E9}"/>
              </a:ext>
            </a:extLst>
          </p:cNvPr>
          <p:cNvSpPr/>
          <p:nvPr/>
        </p:nvSpPr>
        <p:spPr>
          <a:xfrm>
            <a:off x="6230472" y="1147482"/>
            <a:ext cx="4096871" cy="11308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endParaRPr lang="en-US" sz="1600" dirty="0"/>
          </a:p>
        </p:txBody>
      </p:sp>
      <p:sp>
        <p:nvSpPr>
          <p:cNvPr id="5" name="Rectangle: Rounded Corners 4">
            <a:extLst>
              <a:ext uri="{FF2B5EF4-FFF2-40B4-BE49-F238E27FC236}">
                <a16:creationId xmlns:a16="http://schemas.microsoft.com/office/drawing/2014/main" id="{F91DC265-85A8-7ADF-C885-9018D6CD7C52}"/>
              </a:ext>
            </a:extLst>
          </p:cNvPr>
          <p:cNvSpPr/>
          <p:nvPr/>
        </p:nvSpPr>
        <p:spPr>
          <a:xfrm>
            <a:off x="1927416" y="1147483"/>
            <a:ext cx="4096871" cy="11308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Rectangle: Rounded Corners 5">
            <a:extLst>
              <a:ext uri="{FF2B5EF4-FFF2-40B4-BE49-F238E27FC236}">
                <a16:creationId xmlns:a16="http://schemas.microsoft.com/office/drawing/2014/main" id="{A8BFA0D5-AD1D-CD66-5D29-6719A01F4F0E}"/>
              </a:ext>
            </a:extLst>
          </p:cNvPr>
          <p:cNvSpPr/>
          <p:nvPr/>
        </p:nvSpPr>
        <p:spPr>
          <a:xfrm>
            <a:off x="1927416" y="2388804"/>
            <a:ext cx="8399927"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SA" sz="1600" dirty="0"/>
          </a:p>
        </p:txBody>
      </p:sp>
      <p:sp>
        <p:nvSpPr>
          <p:cNvPr id="8" name="Rectangle: Rounded Corners 7">
            <a:extLst>
              <a:ext uri="{FF2B5EF4-FFF2-40B4-BE49-F238E27FC236}">
                <a16:creationId xmlns:a16="http://schemas.microsoft.com/office/drawing/2014/main" id="{801CF643-7999-C84D-A17A-00488A293589}"/>
              </a:ext>
            </a:extLst>
          </p:cNvPr>
          <p:cNvSpPr/>
          <p:nvPr/>
        </p:nvSpPr>
        <p:spPr>
          <a:xfrm>
            <a:off x="1927415" y="3406604"/>
            <a:ext cx="8399927"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SA" sz="1600" dirty="0"/>
          </a:p>
        </p:txBody>
      </p:sp>
      <p:sp>
        <p:nvSpPr>
          <p:cNvPr id="9" name="Rectangle: Rounded Corners 8">
            <a:extLst>
              <a:ext uri="{FF2B5EF4-FFF2-40B4-BE49-F238E27FC236}">
                <a16:creationId xmlns:a16="http://schemas.microsoft.com/office/drawing/2014/main" id="{2E79D9FD-E53D-9AD8-0C40-7B8BDBB4E4D0}"/>
              </a:ext>
            </a:extLst>
          </p:cNvPr>
          <p:cNvSpPr/>
          <p:nvPr/>
        </p:nvSpPr>
        <p:spPr>
          <a:xfrm>
            <a:off x="1927414" y="4429944"/>
            <a:ext cx="8399927"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SA" sz="1600" dirty="0"/>
          </a:p>
        </p:txBody>
      </p:sp>
      <p:sp>
        <p:nvSpPr>
          <p:cNvPr id="10" name="Rectangle: Rounded Corners 9">
            <a:extLst>
              <a:ext uri="{FF2B5EF4-FFF2-40B4-BE49-F238E27FC236}">
                <a16:creationId xmlns:a16="http://schemas.microsoft.com/office/drawing/2014/main" id="{BF4DC325-9634-5ABC-2493-7B27DE02D39E}"/>
              </a:ext>
            </a:extLst>
          </p:cNvPr>
          <p:cNvSpPr/>
          <p:nvPr/>
        </p:nvSpPr>
        <p:spPr>
          <a:xfrm>
            <a:off x="1927413" y="5453284"/>
            <a:ext cx="8399927" cy="8964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SA" sz="1600" dirty="0"/>
          </a:p>
        </p:txBody>
      </p:sp>
      <p:sp>
        <p:nvSpPr>
          <p:cNvPr id="11" name="Rectangle: Rounded Corners 10">
            <a:extLst>
              <a:ext uri="{FF2B5EF4-FFF2-40B4-BE49-F238E27FC236}">
                <a16:creationId xmlns:a16="http://schemas.microsoft.com/office/drawing/2014/main" id="{CD36A988-2A9D-56F1-49D0-6064E6D0F84D}"/>
              </a:ext>
            </a:extLst>
          </p:cNvPr>
          <p:cNvSpPr/>
          <p:nvPr/>
        </p:nvSpPr>
        <p:spPr>
          <a:xfrm>
            <a:off x="10401449" y="1156447"/>
            <a:ext cx="1315424" cy="5193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lvl="0" algn="ctr"/>
            <a:endParaRPr lang="ar-SA" sz="3600" dirty="0"/>
          </a:p>
        </p:txBody>
      </p:sp>
      <p:sp>
        <p:nvSpPr>
          <p:cNvPr id="13" name="Rectangle: Rounded Corners 12">
            <a:extLst>
              <a:ext uri="{FF2B5EF4-FFF2-40B4-BE49-F238E27FC236}">
                <a16:creationId xmlns:a16="http://schemas.microsoft.com/office/drawing/2014/main" id="{3ED3C8FC-9096-98F6-630B-CDDC1D63C811}"/>
              </a:ext>
            </a:extLst>
          </p:cNvPr>
          <p:cNvSpPr/>
          <p:nvPr/>
        </p:nvSpPr>
        <p:spPr>
          <a:xfrm>
            <a:off x="8408893" y="1443156"/>
            <a:ext cx="1783975"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الموقع الالكتروني</a:t>
            </a:r>
          </a:p>
        </p:txBody>
      </p:sp>
      <p:sp>
        <p:nvSpPr>
          <p:cNvPr id="14" name="Rectangle: Rounded Corners 13">
            <a:extLst>
              <a:ext uri="{FF2B5EF4-FFF2-40B4-BE49-F238E27FC236}">
                <a16:creationId xmlns:a16="http://schemas.microsoft.com/office/drawing/2014/main" id="{66C96136-5FF1-5515-3F2F-4801CF8C388D}"/>
              </a:ext>
            </a:extLst>
          </p:cNvPr>
          <p:cNvSpPr/>
          <p:nvPr/>
        </p:nvSpPr>
        <p:spPr>
          <a:xfrm>
            <a:off x="6495311" y="1443156"/>
            <a:ext cx="1783975"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تطبيق الأجهزة الذكية</a:t>
            </a:r>
            <a:endParaRPr lang="en-US" dirty="0"/>
          </a:p>
        </p:txBody>
      </p:sp>
      <p:sp>
        <p:nvSpPr>
          <p:cNvPr id="15" name="Rectangle: Rounded Corners 14">
            <a:extLst>
              <a:ext uri="{FF2B5EF4-FFF2-40B4-BE49-F238E27FC236}">
                <a16:creationId xmlns:a16="http://schemas.microsoft.com/office/drawing/2014/main" id="{A11BF919-44D7-78EB-A39E-76FFD2782F43}"/>
              </a:ext>
            </a:extLst>
          </p:cNvPr>
          <p:cNvSpPr/>
          <p:nvPr/>
        </p:nvSpPr>
        <p:spPr>
          <a:xfrm>
            <a:off x="8408892" y="1863164"/>
            <a:ext cx="1783977"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1600" dirty="0"/>
              <a:t>منصة الخدمات الرقمية</a:t>
            </a:r>
            <a:endParaRPr lang="en-US" sz="1600" dirty="0"/>
          </a:p>
        </p:txBody>
      </p:sp>
      <p:sp>
        <p:nvSpPr>
          <p:cNvPr id="16" name="Rectangle: Rounded Corners 15">
            <a:extLst>
              <a:ext uri="{FF2B5EF4-FFF2-40B4-BE49-F238E27FC236}">
                <a16:creationId xmlns:a16="http://schemas.microsoft.com/office/drawing/2014/main" id="{BBE91616-6AED-4761-5FBE-2CAF06CDFF30}"/>
              </a:ext>
            </a:extLst>
          </p:cNvPr>
          <p:cNvSpPr/>
          <p:nvPr/>
        </p:nvSpPr>
        <p:spPr>
          <a:xfrm>
            <a:off x="6495309" y="1872777"/>
            <a:ext cx="1783977"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خدمة المستفيدين</a:t>
            </a:r>
            <a:endParaRPr lang="en-US" dirty="0"/>
          </a:p>
        </p:txBody>
      </p:sp>
      <p:sp>
        <p:nvSpPr>
          <p:cNvPr id="17" name="Rectangle: Rounded Corners 16">
            <a:extLst>
              <a:ext uri="{FF2B5EF4-FFF2-40B4-BE49-F238E27FC236}">
                <a16:creationId xmlns:a16="http://schemas.microsoft.com/office/drawing/2014/main" id="{78F9AF4E-8B18-842D-0B66-5C8AB948B2E9}"/>
              </a:ext>
            </a:extLst>
          </p:cNvPr>
          <p:cNvSpPr/>
          <p:nvPr/>
        </p:nvSpPr>
        <p:spPr>
          <a:xfrm>
            <a:off x="8161673" y="2712809"/>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الاستراتيجية والأداء</a:t>
            </a:r>
            <a:endParaRPr lang="en-US" dirty="0"/>
          </a:p>
        </p:txBody>
      </p:sp>
      <p:sp>
        <p:nvSpPr>
          <p:cNvPr id="28" name="Rectangle: Rounded Corners 27">
            <a:extLst>
              <a:ext uri="{FF2B5EF4-FFF2-40B4-BE49-F238E27FC236}">
                <a16:creationId xmlns:a16="http://schemas.microsoft.com/office/drawing/2014/main" id="{AF846594-B85B-A20A-269D-2EF559B986C8}"/>
              </a:ext>
            </a:extLst>
          </p:cNvPr>
          <p:cNvSpPr/>
          <p:nvPr/>
        </p:nvSpPr>
        <p:spPr>
          <a:xfrm rot="16200000">
            <a:off x="9709288" y="2463513"/>
            <a:ext cx="2071369" cy="590135"/>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dirty="0"/>
              <a:t>أنظمة </a:t>
            </a:r>
            <a:r>
              <a:rPr lang="ar-SA" dirty="0"/>
              <a:t>إدارة</a:t>
            </a:r>
            <a:r>
              <a:rPr lang="ar-EG" dirty="0"/>
              <a:t> ومراقبة</a:t>
            </a:r>
            <a:r>
              <a:rPr lang="ar-SA" dirty="0"/>
              <a:t> الشبكات والخوادم</a:t>
            </a:r>
            <a:endParaRPr lang="en-US" dirty="0"/>
          </a:p>
        </p:txBody>
      </p:sp>
      <p:sp>
        <p:nvSpPr>
          <p:cNvPr id="29" name="Rectangle: Rounded Corners 28">
            <a:extLst>
              <a:ext uri="{FF2B5EF4-FFF2-40B4-BE49-F238E27FC236}">
                <a16:creationId xmlns:a16="http://schemas.microsoft.com/office/drawing/2014/main" id="{446A72DF-585B-57C1-A678-3091DFB54243}"/>
              </a:ext>
            </a:extLst>
          </p:cNvPr>
          <p:cNvSpPr/>
          <p:nvPr/>
        </p:nvSpPr>
        <p:spPr>
          <a:xfrm rot="16200000">
            <a:off x="9570392" y="4789515"/>
            <a:ext cx="2349156" cy="590134"/>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الهوية والوصول</a:t>
            </a:r>
            <a:endParaRPr lang="en-US" dirty="0"/>
          </a:p>
        </p:txBody>
      </p:sp>
      <p:sp>
        <p:nvSpPr>
          <p:cNvPr id="2" name="TextBox 1">
            <a:extLst>
              <a:ext uri="{FF2B5EF4-FFF2-40B4-BE49-F238E27FC236}">
                <a16:creationId xmlns:a16="http://schemas.microsoft.com/office/drawing/2014/main" id="{0FF02B2A-AE54-BF23-F443-293E727D554D}"/>
              </a:ext>
            </a:extLst>
          </p:cNvPr>
          <p:cNvSpPr txBox="1"/>
          <p:nvPr/>
        </p:nvSpPr>
        <p:spPr>
          <a:xfrm>
            <a:off x="4502392" y="5448411"/>
            <a:ext cx="3127985" cy="369332"/>
          </a:xfrm>
          <a:prstGeom prst="rect">
            <a:avLst/>
          </a:prstGeom>
          <a:noFill/>
        </p:spPr>
        <p:txBody>
          <a:bodyPr wrap="square" rtlCol="0">
            <a:spAutoFit/>
          </a:bodyPr>
          <a:lstStyle/>
          <a:p>
            <a:pPr algn="ctr"/>
            <a:r>
              <a:rPr lang="ar-SA" dirty="0">
                <a:solidFill>
                  <a:schemeClr val="bg1"/>
                </a:solidFill>
                <a:latin typeface="Segoe UI" panose="020B0502040204020203" pitchFamily="34" charset="0"/>
                <a:ea typeface="Calibri" panose="020F0502020204030204" pitchFamily="34" charset="0"/>
              </a:rPr>
              <a:t>طبقة تطبيقات البيانات </a:t>
            </a:r>
          </a:p>
        </p:txBody>
      </p:sp>
      <p:sp>
        <p:nvSpPr>
          <p:cNvPr id="35" name="Rectangle: Rounded Corners 34">
            <a:extLst>
              <a:ext uri="{FF2B5EF4-FFF2-40B4-BE49-F238E27FC236}">
                <a16:creationId xmlns:a16="http://schemas.microsoft.com/office/drawing/2014/main" id="{F9F202D6-AD36-392E-BBA3-46D7DEA0133E}"/>
              </a:ext>
            </a:extLst>
          </p:cNvPr>
          <p:cNvSpPr/>
          <p:nvPr/>
        </p:nvSpPr>
        <p:spPr>
          <a:xfrm>
            <a:off x="4062324" y="1450835"/>
            <a:ext cx="1783975"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1700" dirty="0"/>
              <a:t>نظام التحليلات والتقارير</a:t>
            </a:r>
          </a:p>
        </p:txBody>
      </p:sp>
      <p:sp>
        <p:nvSpPr>
          <p:cNvPr id="36" name="Rectangle: Rounded Corners 35">
            <a:extLst>
              <a:ext uri="{FF2B5EF4-FFF2-40B4-BE49-F238E27FC236}">
                <a16:creationId xmlns:a16="http://schemas.microsoft.com/office/drawing/2014/main" id="{BE73D61A-394E-63B1-094C-0DF449A0A2C1}"/>
              </a:ext>
            </a:extLst>
          </p:cNvPr>
          <p:cNvSpPr/>
          <p:nvPr/>
        </p:nvSpPr>
        <p:spPr>
          <a:xfrm>
            <a:off x="2148742" y="1450835"/>
            <a:ext cx="1783975"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1600" dirty="0"/>
              <a:t>لوحات المعلومات التفاعلية</a:t>
            </a:r>
            <a:endParaRPr lang="en-US" sz="1600" dirty="0"/>
          </a:p>
        </p:txBody>
      </p:sp>
      <p:sp>
        <p:nvSpPr>
          <p:cNvPr id="37" name="Rectangle: Rounded Corners 36">
            <a:extLst>
              <a:ext uri="{FF2B5EF4-FFF2-40B4-BE49-F238E27FC236}">
                <a16:creationId xmlns:a16="http://schemas.microsoft.com/office/drawing/2014/main" id="{07870D02-B146-C0C1-DAC9-88CCA3F6DA11}"/>
              </a:ext>
            </a:extLst>
          </p:cNvPr>
          <p:cNvSpPr/>
          <p:nvPr/>
        </p:nvSpPr>
        <p:spPr>
          <a:xfrm>
            <a:off x="4062323" y="1870843"/>
            <a:ext cx="1783977"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1600" dirty="0"/>
              <a:t>أدوات التنقيب عن البيانات</a:t>
            </a:r>
            <a:endParaRPr lang="en-US" sz="1600" dirty="0"/>
          </a:p>
        </p:txBody>
      </p:sp>
      <p:sp>
        <p:nvSpPr>
          <p:cNvPr id="38" name="Rectangle: Rounded Corners 37">
            <a:extLst>
              <a:ext uri="{FF2B5EF4-FFF2-40B4-BE49-F238E27FC236}">
                <a16:creationId xmlns:a16="http://schemas.microsoft.com/office/drawing/2014/main" id="{2D0A4726-B415-6401-E35A-FEB08665A8D5}"/>
              </a:ext>
            </a:extLst>
          </p:cNvPr>
          <p:cNvSpPr/>
          <p:nvPr/>
        </p:nvSpPr>
        <p:spPr>
          <a:xfrm>
            <a:off x="2148740" y="1880456"/>
            <a:ext cx="1783977"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دعم القرار</a:t>
            </a:r>
            <a:endParaRPr lang="en-US" dirty="0"/>
          </a:p>
        </p:txBody>
      </p:sp>
      <p:sp>
        <p:nvSpPr>
          <p:cNvPr id="39" name="Rectangle: Rounded Corners 38">
            <a:extLst>
              <a:ext uri="{FF2B5EF4-FFF2-40B4-BE49-F238E27FC236}">
                <a16:creationId xmlns:a16="http://schemas.microsoft.com/office/drawing/2014/main" id="{F0DC3D9F-6515-A5BF-E04C-979D0C6750E6}"/>
              </a:ext>
            </a:extLst>
          </p:cNvPr>
          <p:cNvSpPr/>
          <p:nvPr/>
        </p:nvSpPr>
        <p:spPr>
          <a:xfrm>
            <a:off x="6130696" y="2712809"/>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المشاريع</a:t>
            </a:r>
          </a:p>
        </p:txBody>
      </p:sp>
      <p:sp>
        <p:nvSpPr>
          <p:cNvPr id="40" name="Rectangle: Rounded Corners 39">
            <a:extLst>
              <a:ext uri="{FF2B5EF4-FFF2-40B4-BE49-F238E27FC236}">
                <a16:creationId xmlns:a16="http://schemas.microsoft.com/office/drawing/2014/main" id="{F2FDF831-D61B-9E79-1D06-BC87C9D2498B}"/>
              </a:ext>
            </a:extLst>
          </p:cNvPr>
          <p:cNvSpPr/>
          <p:nvPr/>
        </p:nvSpPr>
        <p:spPr>
          <a:xfrm>
            <a:off x="4088540" y="2712809"/>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المخاطر والامتثال</a:t>
            </a:r>
          </a:p>
        </p:txBody>
      </p:sp>
      <p:sp>
        <p:nvSpPr>
          <p:cNvPr id="41" name="Rectangle: Rounded Corners 40">
            <a:extLst>
              <a:ext uri="{FF2B5EF4-FFF2-40B4-BE49-F238E27FC236}">
                <a16:creationId xmlns:a16="http://schemas.microsoft.com/office/drawing/2014/main" id="{74FE9F66-E2AC-A14D-2AB9-28706EFF2068}"/>
              </a:ext>
            </a:extLst>
          </p:cNvPr>
          <p:cNvSpPr/>
          <p:nvPr/>
        </p:nvSpPr>
        <p:spPr>
          <a:xfrm>
            <a:off x="2049943" y="2712809"/>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الجودة والتميز المؤسسي</a:t>
            </a:r>
          </a:p>
        </p:txBody>
      </p:sp>
      <p:sp>
        <p:nvSpPr>
          <p:cNvPr id="42" name="Rectangle: Rounded Corners 41">
            <a:extLst>
              <a:ext uri="{FF2B5EF4-FFF2-40B4-BE49-F238E27FC236}">
                <a16:creationId xmlns:a16="http://schemas.microsoft.com/office/drawing/2014/main" id="{C0DA769C-32E7-44AF-2832-F4CA8E66CDE2}"/>
              </a:ext>
            </a:extLst>
          </p:cNvPr>
          <p:cNvSpPr/>
          <p:nvPr/>
        </p:nvSpPr>
        <p:spPr>
          <a:xfrm>
            <a:off x="8200118" y="372658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تقويم واعتماد المؤسسات التعليمية</a:t>
            </a:r>
            <a:endParaRPr lang="en-US" dirty="0"/>
          </a:p>
        </p:txBody>
      </p:sp>
      <p:sp>
        <p:nvSpPr>
          <p:cNvPr id="43" name="Rectangle: Rounded Corners 42">
            <a:extLst>
              <a:ext uri="{FF2B5EF4-FFF2-40B4-BE49-F238E27FC236}">
                <a16:creationId xmlns:a16="http://schemas.microsoft.com/office/drawing/2014/main" id="{F836D49D-2E31-6961-6544-3044C5025FBE}"/>
              </a:ext>
            </a:extLst>
          </p:cNvPr>
          <p:cNvSpPr/>
          <p:nvPr/>
        </p:nvSpPr>
        <p:spPr>
          <a:xfrm>
            <a:off x="6169141" y="372658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تقويم واعتماد البرامج التعليمية</a:t>
            </a:r>
          </a:p>
        </p:txBody>
      </p:sp>
      <p:sp>
        <p:nvSpPr>
          <p:cNvPr id="44" name="Rectangle: Rounded Corners 43">
            <a:extLst>
              <a:ext uri="{FF2B5EF4-FFF2-40B4-BE49-F238E27FC236}">
                <a16:creationId xmlns:a16="http://schemas.microsoft.com/office/drawing/2014/main" id="{096227B3-1ADB-8AAD-CB6A-1CAB3A268689}"/>
              </a:ext>
            </a:extLst>
          </p:cNvPr>
          <p:cNvSpPr/>
          <p:nvPr/>
        </p:nvSpPr>
        <p:spPr>
          <a:xfrm>
            <a:off x="4126985" y="372658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الاختبارات الوطنية</a:t>
            </a:r>
          </a:p>
        </p:txBody>
      </p:sp>
      <p:sp>
        <p:nvSpPr>
          <p:cNvPr id="45" name="Rectangle: Rounded Corners 44">
            <a:extLst>
              <a:ext uri="{FF2B5EF4-FFF2-40B4-BE49-F238E27FC236}">
                <a16:creationId xmlns:a16="http://schemas.microsoft.com/office/drawing/2014/main" id="{C4B654EA-1A2B-98A1-69D3-C03846C03141}"/>
              </a:ext>
            </a:extLst>
          </p:cNvPr>
          <p:cNvSpPr/>
          <p:nvPr/>
        </p:nvSpPr>
        <p:spPr>
          <a:xfrm>
            <a:off x="2088388" y="372658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ترخيص المقيّمين والمدققين</a:t>
            </a:r>
          </a:p>
        </p:txBody>
      </p:sp>
      <p:sp>
        <p:nvSpPr>
          <p:cNvPr id="46" name="Rectangle: Rounded Corners 45">
            <a:extLst>
              <a:ext uri="{FF2B5EF4-FFF2-40B4-BE49-F238E27FC236}">
                <a16:creationId xmlns:a16="http://schemas.microsoft.com/office/drawing/2014/main" id="{D9F8A82F-59D3-875C-68EC-9EFE49F5825B}"/>
              </a:ext>
            </a:extLst>
          </p:cNvPr>
          <p:cNvSpPr/>
          <p:nvPr/>
        </p:nvSpPr>
        <p:spPr>
          <a:xfrm>
            <a:off x="8194541" y="474992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الموارد المؤسسية</a:t>
            </a:r>
          </a:p>
        </p:txBody>
      </p:sp>
      <p:sp>
        <p:nvSpPr>
          <p:cNvPr id="47" name="Rectangle: Rounded Corners 46">
            <a:extLst>
              <a:ext uri="{FF2B5EF4-FFF2-40B4-BE49-F238E27FC236}">
                <a16:creationId xmlns:a16="http://schemas.microsoft.com/office/drawing/2014/main" id="{6850BC9C-736E-E96F-57A1-71C02819124E}"/>
              </a:ext>
            </a:extLst>
          </p:cNvPr>
          <p:cNvSpPr/>
          <p:nvPr/>
        </p:nvSpPr>
        <p:spPr>
          <a:xfrm>
            <a:off x="6163564" y="474992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المشتريات والعقود</a:t>
            </a:r>
          </a:p>
        </p:txBody>
      </p:sp>
      <p:sp>
        <p:nvSpPr>
          <p:cNvPr id="48" name="Rectangle: Rounded Corners 47">
            <a:extLst>
              <a:ext uri="{FF2B5EF4-FFF2-40B4-BE49-F238E27FC236}">
                <a16:creationId xmlns:a16="http://schemas.microsoft.com/office/drawing/2014/main" id="{FDD9C4A9-DCBB-46E9-2EB4-68115C1620D4}"/>
              </a:ext>
            </a:extLst>
          </p:cNvPr>
          <p:cNvSpPr/>
          <p:nvPr/>
        </p:nvSpPr>
        <p:spPr>
          <a:xfrm>
            <a:off x="4121408" y="474992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الوثائق والأرشفة الإلكترونية</a:t>
            </a:r>
          </a:p>
        </p:txBody>
      </p:sp>
      <p:sp>
        <p:nvSpPr>
          <p:cNvPr id="49" name="Rectangle: Rounded Corners 48">
            <a:extLst>
              <a:ext uri="{FF2B5EF4-FFF2-40B4-BE49-F238E27FC236}">
                <a16:creationId xmlns:a16="http://schemas.microsoft.com/office/drawing/2014/main" id="{D80F820C-DDE5-B200-8694-E2D50978075B}"/>
              </a:ext>
            </a:extLst>
          </p:cNvPr>
          <p:cNvSpPr/>
          <p:nvPr/>
        </p:nvSpPr>
        <p:spPr>
          <a:xfrm>
            <a:off x="2082811" y="474992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إدارة الدراسات</a:t>
            </a:r>
            <a:r>
              <a:rPr lang="ar-EG" dirty="0"/>
              <a:t> </a:t>
            </a:r>
            <a:r>
              <a:rPr lang="ar-SA" dirty="0"/>
              <a:t>والبحوث</a:t>
            </a:r>
          </a:p>
        </p:txBody>
      </p:sp>
      <p:sp>
        <p:nvSpPr>
          <p:cNvPr id="50" name="Rectangle: Rounded Corners 49">
            <a:extLst>
              <a:ext uri="{FF2B5EF4-FFF2-40B4-BE49-F238E27FC236}">
                <a16:creationId xmlns:a16="http://schemas.microsoft.com/office/drawing/2014/main" id="{016E7A8E-C2E1-D64B-9C4B-9125EF1A6D4F}"/>
              </a:ext>
            </a:extLst>
          </p:cNvPr>
          <p:cNvSpPr/>
          <p:nvPr/>
        </p:nvSpPr>
        <p:spPr>
          <a:xfrm>
            <a:off x="8161673" y="577608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dirty="0"/>
              <a:t>نظم</a:t>
            </a:r>
            <a:r>
              <a:rPr lang="ar-SA" dirty="0"/>
              <a:t> إدارة قواعد البيانات</a:t>
            </a:r>
          </a:p>
        </p:txBody>
      </p:sp>
      <p:sp>
        <p:nvSpPr>
          <p:cNvPr id="51" name="Rectangle: Rounded Corners 50">
            <a:extLst>
              <a:ext uri="{FF2B5EF4-FFF2-40B4-BE49-F238E27FC236}">
                <a16:creationId xmlns:a16="http://schemas.microsoft.com/office/drawing/2014/main" id="{754B8AAA-BADA-1FC9-E0AD-625B913C33F0}"/>
              </a:ext>
            </a:extLst>
          </p:cNvPr>
          <p:cNvSpPr/>
          <p:nvPr/>
        </p:nvSpPr>
        <p:spPr>
          <a:xfrm>
            <a:off x="6130696" y="577608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مستودع البيانات</a:t>
            </a:r>
          </a:p>
        </p:txBody>
      </p:sp>
      <p:sp>
        <p:nvSpPr>
          <p:cNvPr id="52" name="Rectangle: Rounded Corners 51">
            <a:extLst>
              <a:ext uri="{FF2B5EF4-FFF2-40B4-BE49-F238E27FC236}">
                <a16:creationId xmlns:a16="http://schemas.microsoft.com/office/drawing/2014/main" id="{72EC59ED-7529-57EB-5662-37B6796D7CB1}"/>
              </a:ext>
            </a:extLst>
          </p:cNvPr>
          <p:cNvSpPr/>
          <p:nvPr/>
        </p:nvSpPr>
        <p:spPr>
          <a:xfrm>
            <a:off x="4088540" y="577608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تطبيق تشفير البيانات</a:t>
            </a:r>
          </a:p>
        </p:txBody>
      </p:sp>
      <p:sp>
        <p:nvSpPr>
          <p:cNvPr id="53" name="Rectangle: Rounded Corners 52">
            <a:extLst>
              <a:ext uri="{FF2B5EF4-FFF2-40B4-BE49-F238E27FC236}">
                <a16:creationId xmlns:a16="http://schemas.microsoft.com/office/drawing/2014/main" id="{152B7CFA-A22C-45C4-EC4C-EFEB26C142D7}"/>
              </a:ext>
            </a:extLst>
          </p:cNvPr>
          <p:cNvSpPr/>
          <p:nvPr/>
        </p:nvSpPr>
        <p:spPr>
          <a:xfrm>
            <a:off x="2049943" y="5776087"/>
            <a:ext cx="1977403" cy="53375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نظام </a:t>
            </a:r>
            <a:r>
              <a:rPr lang="ar-EG" dirty="0"/>
              <a:t>إدارة وجودة</a:t>
            </a:r>
            <a:r>
              <a:rPr lang="ar-SA" dirty="0"/>
              <a:t> البيانات</a:t>
            </a:r>
          </a:p>
        </p:txBody>
      </p:sp>
      <p:sp>
        <p:nvSpPr>
          <p:cNvPr id="54" name="Rectangle: Rounded Corners 53">
            <a:extLst>
              <a:ext uri="{FF2B5EF4-FFF2-40B4-BE49-F238E27FC236}">
                <a16:creationId xmlns:a16="http://schemas.microsoft.com/office/drawing/2014/main" id="{C3EC698E-D3C2-F73F-536A-4BCBEB332D60}"/>
              </a:ext>
            </a:extLst>
          </p:cNvPr>
          <p:cNvSpPr/>
          <p:nvPr/>
        </p:nvSpPr>
        <p:spPr>
          <a:xfrm rot="16200000">
            <a:off x="10345484" y="2466163"/>
            <a:ext cx="2071369" cy="590134"/>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dirty="0"/>
              <a:t>أنظمة </a:t>
            </a:r>
            <a:r>
              <a:rPr lang="ar-SA" dirty="0"/>
              <a:t>كشف ومنع التسلل</a:t>
            </a:r>
            <a:endParaRPr lang="en-US" dirty="0"/>
          </a:p>
        </p:txBody>
      </p:sp>
      <p:sp>
        <p:nvSpPr>
          <p:cNvPr id="55" name="Rectangle: Rounded Corners 54">
            <a:extLst>
              <a:ext uri="{FF2B5EF4-FFF2-40B4-BE49-F238E27FC236}">
                <a16:creationId xmlns:a16="http://schemas.microsoft.com/office/drawing/2014/main" id="{5DD8F1C0-13BB-E7EA-F8EE-81AC6C0FFE23}"/>
              </a:ext>
            </a:extLst>
          </p:cNvPr>
          <p:cNvSpPr/>
          <p:nvPr/>
        </p:nvSpPr>
        <p:spPr>
          <a:xfrm rot="16200000">
            <a:off x="10206588" y="4792164"/>
            <a:ext cx="2349156" cy="590134"/>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dirty="0"/>
              <a:t>أنظمة </a:t>
            </a:r>
            <a:r>
              <a:rPr lang="ar-SA" dirty="0"/>
              <a:t>النسخ الاحتياطي واستعادة البيانات</a:t>
            </a:r>
            <a:endParaRPr lang="en-US" dirty="0"/>
          </a:p>
        </p:txBody>
      </p:sp>
      <p:sp>
        <p:nvSpPr>
          <p:cNvPr id="58" name="Rectangle: Rounded Corners 57">
            <a:extLst>
              <a:ext uri="{FF2B5EF4-FFF2-40B4-BE49-F238E27FC236}">
                <a16:creationId xmlns:a16="http://schemas.microsoft.com/office/drawing/2014/main" id="{006C8AA0-B802-F822-B35D-AA171255F3DC}"/>
              </a:ext>
            </a:extLst>
          </p:cNvPr>
          <p:cNvSpPr/>
          <p:nvPr/>
        </p:nvSpPr>
        <p:spPr>
          <a:xfrm rot="16200000">
            <a:off x="-209135" y="2511152"/>
            <a:ext cx="2071369" cy="565975"/>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rtl="1"/>
            <a:r>
              <a:rPr lang="ar-EG" dirty="0"/>
              <a:t>منصة التكامل المؤسسي</a:t>
            </a:r>
            <a:r>
              <a:rPr lang="en-US" dirty="0"/>
              <a:t> </a:t>
            </a:r>
            <a:r>
              <a:rPr lang="ar-EG" dirty="0"/>
              <a:t>الداخلي (</a:t>
            </a:r>
            <a:r>
              <a:rPr lang="en-US" dirty="0"/>
              <a:t>ESB</a:t>
            </a:r>
            <a:r>
              <a:rPr lang="ar-EG" dirty="0"/>
              <a:t>)</a:t>
            </a:r>
            <a:endParaRPr lang="en-US" dirty="0"/>
          </a:p>
        </p:txBody>
      </p:sp>
      <p:sp>
        <p:nvSpPr>
          <p:cNvPr id="59" name="Rectangle: Rounded Corners 58">
            <a:extLst>
              <a:ext uri="{FF2B5EF4-FFF2-40B4-BE49-F238E27FC236}">
                <a16:creationId xmlns:a16="http://schemas.microsoft.com/office/drawing/2014/main" id="{47744879-B3A7-BCF8-132D-ED4ABF99B892}"/>
              </a:ext>
            </a:extLst>
          </p:cNvPr>
          <p:cNvSpPr/>
          <p:nvPr/>
        </p:nvSpPr>
        <p:spPr>
          <a:xfrm rot="16200000">
            <a:off x="-348029" y="4837156"/>
            <a:ext cx="2349156" cy="565972"/>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rtl="1"/>
            <a:r>
              <a:rPr lang="ar-SA" dirty="0"/>
              <a:t>واجهات برمجة التطبيقات</a:t>
            </a:r>
            <a:r>
              <a:rPr lang="ar-EG" dirty="0"/>
              <a:t> (</a:t>
            </a:r>
            <a:r>
              <a:rPr lang="en-US" dirty="0"/>
              <a:t>APIs</a:t>
            </a:r>
            <a:r>
              <a:rPr lang="ar-EG" dirty="0"/>
              <a:t>)</a:t>
            </a:r>
            <a:endParaRPr lang="en-US" dirty="0"/>
          </a:p>
        </p:txBody>
      </p:sp>
      <p:sp>
        <p:nvSpPr>
          <p:cNvPr id="60" name="Rectangle: Rounded Corners 59">
            <a:extLst>
              <a:ext uri="{FF2B5EF4-FFF2-40B4-BE49-F238E27FC236}">
                <a16:creationId xmlns:a16="http://schemas.microsoft.com/office/drawing/2014/main" id="{3FDC4AE0-E30D-CE7D-3D83-94BFBE26E748}"/>
              </a:ext>
            </a:extLst>
          </p:cNvPr>
          <p:cNvSpPr/>
          <p:nvPr/>
        </p:nvSpPr>
        <p:spPr>
          <a:xfrm rot="16200000">
            <a:off x="406741" y="2513801"/>
            <a:ext cx="2071369" cy="565975"/>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dirty="0"/>
              <a:t>نظام إدارة خدمات الويب</a:t>
            </a:r>
            <a:endParaRPr lang="en-US" dirty="0"/>
          </a:p>
        </p:txBody>
      </p:sp>
      <p:sp>
        <p:nvSpPr>
          <p:cNvPr id="61" name="Rectangle: Rounded Corners 60">
            <a:extLst>
              <a:ext uri="{FF2B5EF4-FFF2-40B4-BE49-F238E27FC236}">
                <a16:creationId xmlns:a16="http://schemas.microsoft.com/office/drawing/2014/main" id="{F32A195C-40D6-5872-429F-835CA977DB2E}"/>
              </a:ext>
            </a:extLst>
          </p:cNvPr>
          <p:cNvSpPr/>
          <p:nvPr/>
        </p:nvSpPr>
        <p:spPr>
          <a:xfrm rot="16200000">
            <a:off x="267847" y="4839804"/>
            <a:ext cx="2349156" cy="565973"/>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rtl="1"/>
            <a:r>
              <a:rPr lang="ar-EG" dirty="0"/>
              <a:t>منصة التكامل مع الجهات الحكومية (</a:t>
            </a:r>
            <a:r>
              <a:rPr lang="en-US" dirty="0"/>
              <a:t>GSB</a:t>
            </a:r>
            <a:r>
              <a:rPr lang="ar-EG" dirty="0"/>
              <a:t>)</a:t>
            </a:r>
            <a:endParaRPr lang="en-US" dirty="0"/>
          </a:p>
        </p:txBody>
      </p:sp>
      <p:sp>
        <p:nvSpPr>
          <p:cNvPr id="62" name="Rectangle 61">
            <a:extLst>
              <a:ext uri="{FF2B5EF4-FFF2-40B4-BE49-F238E27FC236}">
                <a16:creationId xmlns:a16="http://schemas.microsoft.com/office/drawing/2014/main" id="{7B846BEF-5C23-D0C0-364F-23EFACFFC4A1}"/>
              </a:ext>
            </a:extLst>
          </p:cNvPr>
          <p:cNvSpPr/>
          <p:nvPr/>
        </p:nvSpPr>
        <p:spPr>
          <a:xfrm>
            <a:off x="3288915" y="505740"/>
            <a:ext cx="1217138" cy="363176"/>
          </a:xfrm>
          <a:prstGeom prst="rect">
            <a:avLst/>
          </a:prstGeom>
          <a:solidFill>
            <a:schemeClr val="accent2">
              <a:lumMod val="20000"/>
              <a:lumOff val="80000"/>
            </a:schemeClr>
          </a:solidFill>
          <a:ln>
            <a:solidFill>
              <a:srgbClr val="4C3C8D"/>
            </a:solidFill>
          </a:ln>
        </p:spPr>
        <p:txBody>
          <a:bodyPr wrap="square" anchor="ctr" anchorCtr="0">
            <a:noAutofit/>
          </a:bodyPr>
          <a:lstStyle/>
          <a:p>
            <a:pPr algn="ctr" rtl="1">
              <a:lnSpc>
                <a:spcPct val="80000"/>
              </a:lnSpc>
            </a:pPr>
            <a:r>
              <a:rPr lang="ar-SA" sz="1600" dirty="0">
                <a:latin typeface="DIN Next LT Arabic" panose="020B0503020203050203" pitchFamily="34" charset="-78"/>
                <a:cs typeface="DIN Next LT Arabic" panose="020B0503020203050203" pitchFamily="34" charset="-78"/>
              </a:rPr>
              <a:t>مثال</a:t>
            </a:r>
            <a:r>
              <a:rPr lang="ar-EG" sz="1600" dirty="0">
                <a:latin typeface="DIN Next LT Arabic" panose="020B0503020203050203" pitchFamily="34" charset="-78"/>
                <a:cs typeface="DIN Next LT Arabic" panose="020B0503020203050203" pitchFamily="34" charset="-78"/>
              </a:rPr>
              <a:t> توضيحي</a:t>
            </a:r>
            <a:endParaRPr lang="ar-SA" sz="1600" dirty="0">
              <a:latin typeface="DIN Next LT Arabic" panose="020B0503020203050203" pitchFamily="34" charset="-78"/>
              <a:cs typeface="DIN Next LT Arabic" panose="020B0503020203050203" pitchFamily="34" charset="-78"/>
            </a:endParaRPr>
          </a:p>
        </p:txBody>
      </p:sp>
      <p:sp>
        <p:nvSpPr>
          <p:cNvPr id="63" name="TextBox 62">
            <a:extLst>
              <a:ext uri="{FF2B5EF4-FFF2-40B4-BE49-F238E27FC236}">
                <a16:creationId xmlns:a16="http://schemas.microsoft.com/office/drawing/2014/main" id="{A09AE06A-2999-377A-CEAB-59F1EE5407CF}"/>
              </a:ext>
            </a:extLst>
          </p:cNvPr>
          <p:cNvSpPr txBox="1"/>
          <p:nvPr/>
        </p:nvSpPr>
        <p:spPr>
          <a:xfrm>
            <a:off x="4532872" y="4427331"/>
            <a:ext cx="3127985" cy="369332"/>
          </a:xfrm>
          <a:prstGeom prst="rect">
            <a:avLst/>
          </a:prstGeom>
          <a:noFill/>
        </p:spPr>
        <p:txBody>
          <a:bodyPr wrap="square" rtlCol="0">
            <a:spAutoFit/>
          </a:bodyPr>
          <a:lstStyle/>
          <a:p>
            <a:pPr algn="ctr"/>
            <a:r>
              <a:rPr lang="ar-SA" dirty="0">
                <a:solidFill>
                  <a:schemeClr val="bg1"/>
                </a:solidFill>
                <a:latin typeface="Segoe UI" panose="020B0502040204020203" pitchFamily="34" charset="0"/>
                <a:ea typeface="Calibri" panose="020F0502020204030204" pitchFamily="34" charset="0"/>
              </a:rPr>
              <a:t>طبقة تطبيقات الأعمال الداعمة</a:t>
            </a:r>
          </a:p>
        </p:txBody>
      </p:sp>
      <p:sp>
        <p:nvSpPr>
          <p:cNvPr id="64" name="TextBox 63">
            <a:extLst>
              <a:ext uri="{FF2B5EF4-FFF2-40B4-BE49-F238E27FC236}">
                <a16:creationId xmlns:a16="http://schemas.microsoft.com/office/drawing/2014/main" id="{0C51FEE3-FA1D-105C-222D-B89AC2AF7679}"/>
              </a:ext>
            </a:extLst>
          </p:cNvPr>
          <p:cNvSpPr txBox="1"/>
          <p:nvPr/>
        </p:nvSpPr>
        <p:spPr>
          <a:xfrm>
            <a:off x="4556654" y="3409765"/>
            <a:ext cx="3127985" cy="369332"/>
          </a:xfrm>
          <a:prstGeom prst="rect">
            <a:avLst/>
          </a:prstGeom>
          <a:noFill/>
        </p:spPr>
        <p:txBody>
          <a:bodyPr wrap="square" rtlCol="0">
            <a:spAutoFit/>
          </a:bodyPr>
          <a:lstStyle/>
          <a:p>
            <a:pPr algn="ctr"/>
            <a:r>
              <a:rPr lang="ar-SA" dirty="0">
                <a:solidFill>
                  <a:schemeClr val="bg1"/>
                </a:solidFill>
                <a:latin typeface="Segoe UI" panose="020B0502040204020203" pitchFamily="34" charset="0"/>
                <a:ea typeface="Calibri" panose="020F0502020204030204" pitchFamily="34" charset="0"/>
              </a:rPr>
              <a:t>طبقة تطبيقات الأعمال المحورية</a:t>
            </a:r>
          </a:p>
        </p:txBody>
      </p:sp>
      <p:sp>
        <p:nvSpPr>
          <p:cNvPr id="65" name="TextBox 64">
            <a:extLst>
              <a:ext uri="{FF2B5EF4-FFF2-40B4-BE49-F238E27FC236}">
                <a16:creationId xmlns:a16="http://schemas.microsoft.com/office/drawing/2014/main" id="{29EF6DF8-6D42-4766-BDF5-1C6E85B0837D}"/>
              </a:ext>
            </a:extLst>
          </p:cNvPr>
          <p:cNvSpPr txBox="1"/>
          <p:nvPr/>
        </p:nvSpPr>
        <p:spPr>
          <a:xfrm>
            <a:off x="4496212" y="2390944"/>
            <a:ext cx="3127985" cy="369332"/>
          </a:xfrm>
          <a:prstGeom prst="rect">
            <a:avLst/>
          </a:prstGeom>
          <a:noFill/>
        </p:spPr>
        <p:txBody>
          <a:bodyPr wrap="square" rtlCol="0">
            <a:spAutoFit/>
          </a:bodyPr>
          <a:lstStyle/>
          <a:p>
            <a:pPr algn="ctr"/>
            <a:r>
              <a:rPr lang="ar-SA" dirty="0">
                <a:solidFill>
                  <a:schemeClr val="bg1"/>
                </a:solidFill>
                <a:latin typeface="Segoe UI" panose="020B0502040204020203" pitchFamily="34" charset="0"/>
                <a:ea typeface="Calibri" panose="020F0502020204030204" pitchFamily="34" charset="0"/>
              </a:rPr>
              <a:t>طبقة تطبيقات الأعمال الاستراتيجية</a:t>
            </a:r>
          </a:p>
        </p:txBody>
      </p:sp>
      <p:sp>
        <p:nvSpPr>
          <p:cNvPr id="66" name="TextBox 65">
            <a:extLst>
              <a:ext uri="{FF2B5EF4-FFF2-40B4-BE49-F238E27FC236}">
                <a16:creationId xmlns:a16="http://schemas.microsoft.com/office/drawing/2014/main" id="{6BB52108-0D24-77B9-0769-0C325E7C10D0}"/>
              </a:ext>
            </a:extLst>
          </p:cNvPr>
          <p:cNvSpPr txBox="1"/>
          <p:nvPr/>
        </p:nvSpPr>
        <p:spPr>
          <a:xfrm>
            <a:off x="6751968" y="1151411"/>
            <a:ext cx="3127985" cy="369332"/>
          </a:xfrm>
          <a:prstGeom prst="rect">
            <a:avLst/>
          </a:prstGeom>
          <a:noFill/>
        </p:spPr>
        <p:txBody>
          <a:bodyPr wrap="square" rtlCol="0">
            <a:spAutoFit/>
          </a:bodyPr>
          <a:lstStyle/>
          <a:p>
            <a:pPr algn="ctr"/>
            <a:r>
              <a:rPr lang="ar-SA" dirty="0">
                <a:solidFill>
                  <a:schemeClr val="bg1"/>
                </a:solidFill>
                <a:latin typeface="Segoe UI" panose="020B0502040204020203" pitchFamily="34" charset="0"/>
                <a:ea typeface="Calibri" panose="020F0502020204030204" pitchFamily="34" charset="0"/>
              </a:rPr>
              <a:t>طبقة</a:t>
            </a:r>
            <a:r>
              <a:rPr lang="ar-SA" b="1" dirty="0">
                <a:solidFill>
                  <a:schemeClr val="bg1"/>
                </a:solidFill>
                <a:latin typeface="Segoe UI" panose="020B0502040204020203" pitchFamily="34" charset="0"/>
                <a:ea typeface="Calibri" panose="020F0502020204030204" pitchFamily="34" charset="0"/>
              </a:rPr>
              <a:t> </a:t>
            </a:r>
            <a:r>
              <a:rPr lang="ar-SA" dirty="0">
                <a:solidFill>
                  <a:schemeClr val="bg1"/>
                </a:solidFill>
                <a:latin typeface="Segoe UI" panose="020B0502040204020203" pitchFamily="34" charset="0"/>
                <a:ea typeface="Calibri" panose="020F0502020204030204" pitchFamily="34" charset="0"/>
              </a:rPr>
              <a:t>الوصول</a:t>
            </a:r>
          </a:p>
        </p:txBody>
      </p:sp>
      <p:sp>
        <p:nvSpPr>
          <p:cNvPr id="67" name="TextBox 66">
            <a:extLst>
              <a:ext uri="{FF2B5EF4-FFF2-40B4-BE49-F238E27FC236}">
                <a16:creationId xmlns:a16="http://schemas.microsoft.com/office/drawing/2014/main" id="{0DBDA635-296D-6458-5BB8-BF958D4F8164}"/>
              </a:ext>
            </a:extLst>
          </p:cNvPr>
          <p:cNvSpPr txBox="1"/>
          <p:nvPr/>
        </p:nvSpPr>
        <p:spPr>
          <a:xfrm>
            <a:off x="2419736" y="1143583"/>
            <a:ext cx="3127985" cy="369332"/>
          </a:xfrm>
          <a:prstGeom prst="rect">
            <a:avLst/>
          </a:prstGeom>
          <a:noFill/>
        </p:spPr>
        <p:txBody>
          <a:bodyPr wrap="square" rtlCol="0">
            <a:spAutoFit/>
          </a:bodyPr>
          <a:lstStyle/>
          <a:p>
            <a:pPr algn="ctr"/>
            <a:r>
              <a:rPr lang="ar-SA" dirty="0">
                <a:solidFill>
                  <a:schemeClr val="bg1"/>
                </a:solidFill>
                <a:latin typeface="Segoe UI" panose="020B0502040204020203" pitchFamily="34" charset="0"/>
                <a:ea typeface="Calibri" panose="020F0502020204030204" pitchFamily="34" charset="0"/>
              </a:rPr>
              <a:t>طبقة ذكاء الأعمال</a:t>
            </a:r>
          </a:p>
        </p:txBody>
      </p:sp>
      <p:sp>
        <p:nvSpPr>
          <p:cNvPr id="68" name="TextBox 67">
            <a:extLst>
              <a:ext uri="{FF2B5EF4-FFF2-40B4-BE49-F238E27FC236}">
                <a16:creationId xmlns:a16="http://schemas.microsoft.com/office/drawing/2014/main" id="{E88F7D75-AB7A-FD74-5E06-16CBA7412A01}"/>
              </a:ext>
            </a:extLst>
          </p:cNvPr>
          <p:cNvSpPr txBox="1"/>
          <p:nvPr/>
        </p:nvSpPr>
        <p:spPr>
          <a:xfrm>
            <a:off x="10182708" y="1198072"/>
            <a:ext cx="1746966" cy="584775"/>
          </a:xfrm>
          <a:prstGeom prst="rect">
            <a:avLst/>
          </a:prstGeom>
          <a:noFill/>
        </p:spPr>
        <p:txBody>
          <a:bodyPr wrap="square" rtlCol="0">
            <a:spAutoFit/>
          </a:bodyPr>
          <a:lstStyle/>
          <a:p>
            <a:pPr algn="ctr"/>
            <a:r>
              <a:rPr lang="ar-SA" sz="1600" dirty="0">
                <a:solidFill>
                  <a:schemeClr val="bg1"/>
                </a:solidFill>
                <a:latin typeface="Segoe UI" panose="020B0502040204020203" pitchFamily="34" charset="0"/>
                <a:ea typeface="Calibri" panose="020F0502020204030204" pitchFamily="34" charset="0"/>
              </a:rPr>
              <a:t>طبقة تطبيقات البنية التحتية وأمن المعلومات</a:t>
            </a:r>
          </a:p>
        </p:txBody>
      </p:sp>
    </p:spTree>
    <p:extLst>
      <p:ext uri="{BB962C8B-B14F-4D97-AF65-F5344CB8AC3E}">
        <p14:creationId xmlns:p14="http://schemas.microsoft.com/office/powerpoint/2010/main" val="286673718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D2516-8F9C-6731-558C-8F276D28D37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0CE262-0958-252F-18E5-34917E8F50F6}"/>
              </a:ext>
            </a:extLst>
          </p:cNvPr>
          <p:cNvSpPr>
            <a:spLocks noGrp="1"/>
          </p:cNvSpPr>
          <p:nvPr>
            <p:ph type="sldNum" sz="quarter" idx="12"/>
          </p:nvPr>
        </p:nvSpPr>
        <p:spPr/>
        <p:txBody>
          <a:bodyPr/>
          <a:lstStyle/>
          <a:p>
            <a:fld id="{0BE4EC83-A869-464E-AE9F-881796FB085E}" type="slidenum">
              <a:rPr lang="en-US" smtClean="0"/>
              <a:t>33</a:t>
            </a:fld>
            <a:endParaRPr lang="en-US" dirty="0"/>
          </a:p>
        </p:txBody>
      </p:sp>
      <p:sp>
        <p:nvSpPr>
          <p:cNvPr id="7" name="Title 1">
            <a:extLst>
              <a:ext uri="{FF2B5EF4-FFF2-40B4-BE49-F238E27FC236}">
                <a16:creationId xmlns:a16="http://schemas.microsoft.com/office/drawing/2014/main" id="{92872834-F25C-1064-61CA-0063353D5339}"/>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المشهد العام لبنية التطبيقات</a:t>
            </a:r>
            <a:endParaRPr lang="en-US" dirty="0"/>
          </a:p>
        </p:txBody>
      </p:sp>
      <p:grpSp>
        <p:nvGrpSpPr>
          <p:cNvPr id="2" name="Group 1">
            <a:extLst>
              <a:ext uri="{FF2B5EF4-FFF2-40B4-BE49-F238E27FC236}">
                <a16:creationId xmlns:a16="http://schemas.microsoft.com/office/drawing/2014/main" id="{847BDBC6-B273-7C74-0DC4-8B659B8EF4F7}"/>
              </a:ext>
            </a:extLst>
          </p:cNvPr>
          <p:cNvGrpSpPr/>
          <p:nvPr/>
        </p:nvGrpSpPr>
        <p:grpSpPr>
          <a:xfrm>
            <a:off x="8192823" y="892139"/>
            <a:ext cx="3211007" cy="628281"/>
            <a:chOff x="7440480" y="1769"/>
            <a:chExt cx="3211007" cy="628281"/>
          </a:xfrm>
        </p:grpSpPr>
        <p:sp>
          <p:nvSpPr>
            <p:cNvPr id="34" name="Rectangle: Rounded Corners 33">
              <a:extLst>
                <a:ext uri="{FF2B5EF4-FFF2-40B4-BE49-F238E27FC236}">
                  <a16:creationId xmlns:a16="http://schemas.microsoft.com/office/drawing/2014/main" id="{606D66F3-5E42-B77B-1F88-015C5678AA60}"/>
                </a:ext>
              </a:extLst>
            </p:cNvPr>
            <p:cNvSpPr/>
            <p:nvPr/>
          </p:nvSpPr>
          <p:spPr>
            <a:xfrm>
              <a:off x="7440480" y="1769"/>
              <a:ext cx="3211007" cy="6282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5" name="Rectangle: Rounded Corners 4">
              <a:extLst>
                <a:ext uri="{FF2B5EF4-FFF2-40B4-BE49-F238E27FC236}">
                  <a16:creationId xmlns:a16="http://schemas.microsoft.com/office/drawing/2014/main" id="{2C66BDFB-0152-C0D1-7FB7-B19008C28065}"/>
                </a:ext>
              </a:extLst>
            </p:cNvPr>
            <p:cNvSpPr txBox="1"/>
            <p:nvPr/>
          </p:nvSpPr>
          <p:spPr>
            <a:xfrm>
              <a:off x="7471150" y="32439"/>
              <a:ext cx="3149667" cy="5669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ar-SA" sz="2400" kern="1200" dirty="0"/>
                <a:t>طبقة الوصول</a:t>
              </a:r>
              <a:endParaRPr lang="en-US" sz="2400" kern="1200" dirty="0"/>
            </a:p>
          </p:txBody>
        </p:sp>
      </p:grpSp>
      <p:grpSp>
        <p:nvGrpSpPr>
          <p:cNvPr id="13" name="Group 12">
            <a:extLst>
              <a:ext uri="{FF2B5EF4-FFF2-40B4-BE49-F238E27FC236}">
                <a16:creationId xmlns:a16="http://schemas.microsoft.com/office/drawing/2014/main" id="{4EB95511-8618-A4A5-91BE-1DF1AA9B9A62}"/>
              </a:ext>
            </a:extLst>
          </p:cNvPr>
          <p:cNvGrpSpPr/>
          <p:nvPr/>
        </p:nvGrpSpPr>
        <p:grpSpPr>
          <a:xfrm>
            <a:off x="8192823" y="1583249"/>
            <a:ext cx="3211007" cy="628281"/>
            <a:chOff x="7440480" y="692879"/>
            <a:chExt cx="3211007" cy="628281"/>
          </a:xfrm>
        </p:grpSpPr>
        <p:sp>
          <p:nvSpPr>
            <p:cNvPr id="32" name="Rectangle: Rounded Corners 31">
              <a:extLst>
                <a:ext uri="{FF2B5EF4-FFF2-40B4-BE49-F238E27FC236}">
                  <a16:creationId xmlns:a16="http://schemas.microsoft.com/office/drawing/2014/main" id="{6FF92838-4578-0887-4886-1741154C48CF}"/>
                </a:ext>
              </a:extLst>
            </p:cNvPr>
            <p:cNvSpPr/>
            <p:nvPr/>
          </p:nvSpPr>
          <p:spPr>
            <a:xfrm>
              <a:off x="7440480" y="692879"/>
              <a:ext cx="3211007" cy="6282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3" name="Rectangle: Rounded Corners 6">
              <a:extLst>
                <a:ext uri="{FF2B5EF4-FFF2-40B4-BE49-F238E27FC236}">
                  <a16:creationId xmlns:a16="http://schemas.microsoft.com/office/drawing/2014/main" id="{6B71A91E-0A80-8423-9223-32F041B01454}"/>
                </a:ext>
              </a:extLst>
            </p:cNvPr>
            <p:cNvSpPr txBox="1"/>
            <p:nvPr/>
          </p:nvSpPr>
          <p:spPr>
            <a:xfrm>
              <a:off x="7471150" y="723549"/>
              <a:ext cx="3149667" cy="5669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ar-SA" sz="2400" kern="1200" dirty="0"/>
                <a:t>طبقة ذكاء الأعمال</a:t>
              </a:r>
              <a:endParaRPr lang="en-US" sz="2400" kern="1200" dirty="0"/>
            </a:p>
          </p:txBody>
        </p:sp>
      </p:grpSp>
      <p:grpSp>
        <p:nvGrpSpPr>
          <p:cNvPr id="14" name="Group 13">
            <a:extLst>
              <a:ext uri="{FF2B5EF4-FFF2-40B4-BE49-F238E27FC236}">
                <a16:creationId xmlns:a16="http://schemas.microsoft.com/office/drawing/2014/main" id="{70F4456B-8C90-85CE-6C84-69AEFB391690}"/>
              </a:ext>
            </a:extLst>
          </p:cNvPr>
          <p:cNvGrpSpPr/>
          <p:nvPr/>
        </p:nvGrpSpPr>
        <p:grpSpPr>
          <a:xfrm>
            <a:off x="8192823" y="2274358"/>
            <a:ext cx="3211007" cy="628281"/>
            <a:chOff x="7440480" y="1383988"/>
            <a:chExt cx="3211007" cy="628281"/>
          </a:xfrm>
        </p:grpSpPr>
        <p:sp>
          <p:nvSpPr>
            <p:cNvPr id="30" name="Rectangle: Rounded Corners 29">
              <a:extLst>
                <a:ext uri="{FF2B5EF4-FFF2-40B4-BE49-F238E27FC236}">
                  <a16:creationId xmlns:a16="http://schemas.microsoft.com/office/drawing/2014/main" id="{7C6163A9-B0D2-B909-1640-7BB1DF25127E}"/>
                </a:ext>
              </a:extLst>
            </p:cNvPr>
            <p:cNvSpPr/>
            <p:nvPr/>
          </p:nvSpPr>
          <p:spPr>
            <a:xfrm>
              <a:off x="7440480" y="1383988"/>
              <a:ext cx="3211007" cy="6282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1" name="Rectangle: Rounded Corners 8">
              <a:extLst>
                <a:ext uri="{FF2B5EF4-FFF2-40B4-BE49-F238E27FC236}">
                  <a16:creationId xmlns:a16="http://schemas.microsoft.com/office/drawing/2014/main" id="{E7F95F94-B60A-D01E-F61F-ADD908114E65}"/>
                </a:ext>
              </a:extLst>
            </p:cNvPr>
            <p:cNvSpPr txBox="1"/>
            <p:nvPr/>
          </p:nvSpPr>
          <p:spPr>
            <a:xfrm>
              <a:off x="7471150" y="1414658"/>
              <a:ext cx="3149667" cy="5669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ar-SA" sz="2200" kern="1200" dirty="0"/>
                <a:t>طبقة تطبيقات الأعمال </a:t>
              </a:r>
              <a:r>
                <a:rPr lang="ar-EG" sz="2200" kern="1200" dirty="0"/>
                <a:t>الاستراتيجية</a:t>
              </a:r>
              <a:endParaRPr lang="en-US" sz="2200" kern="1200" dirty="0"/>
            </a:p>
          </p:txBody>
        </p:sp>
      </p:grpSp>
      <p:grpSp>
        <p:nvGrpSpPr>
          <p:cNvPr id="15" name="Group 14">
            <a:extLst>
              <a:ext uri="{FF2B5EF4-FFF2-40B4-BE49-F238E27FC236}">
                <a16:creationId xmlns:a16="http://schemas.microsoft.com/office/drawing/2014/main" id="{AA82A1A2-921E-661A-651C-C030333855C3}"/>
              </a:ext>
            </a:extLst>
          </p:cNvPr>
          <p:cNvGrpSpPr/>
          <p:nvPr/>
        </p:nvGrpSpPr>
        <p:grpSpPr>
          <a:xfrm>
            <a:off x="8192823" y="2965468"/>
            <a:ext cx="3211007" cy="628281"/>
            <a:chOff x="7440480" y="2075098"/>
            <a:chExt cx="3211007" cy="628281"/>
          </a:xfrm>
        </p:grpSpPr>
        <p:sp>
          <p:nvSpPr>
            <p:cNvPr id="28" name="Rectangle: Rounded Corners 27">
              <a:extLst>
                <a:ext uri="{FF2B5EF4-FFF2-40B4-BE49-F238E27FC236}">
                  <a16:creationId xmlns:a16="http://schemas.microsoft.com/office/drawing/2014/main" id="{4998533E-0D92-535D-B37D-817EC522BFBC}"/>
                </a:ext>
              </a:extLst>
            </p:cNvPr>
            <p:cNvSpPr/>
            <p:nvPr/>
          </p:nvSpPr>
          <p:spPr>
            <a:xfrm>
              <a:off x="7440480" y="2075098"/>
              <a:ext cx="3211007" cy="6282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9" name="Rectangle: Rounded Corners 10">
              <a:extLst>
                <a:ext uri="{FF2B5EF4-FFF2-40B4-BE49-F238E27FC236}">
                  <a16:creationId xmlns:a16="http://schemas.microsoft.com/office/drawing/2014/main" id="{2066BFE7-C530-A83F-076D-F078B54B5E92}"/>
                </a:ext>
              </a:extLst>
            </p:cNvPr>
            <p:cNvSpPr txBox="1"/>
            <p:nvPr/>
          </p:nvSpPr>
          <p:spPr>
            <a:xfrm>
              <a:off x="7471150" y="2105768"/>
              <a:ext cx="3149667" cy="5669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ar-SA" sz="2400" kern="1200" dirty="0"/>
                <a:t>طبقة تطبيقات الأعمال المحورية</a:t>
              </a:r>
              <a:endParaRPr lang="en-US" sz="2400" kern="1200" dirty="0"/>
            </a:p>
          </p:txBody>
        </p:sp>
      </p:grpSp>
      <p:grpSp>
        <p:nvGrpSpPr>
          <p:cNvPr id="16" name="Group 15">
            <a:extLst>
              <a:ext uri="{FF2B5EF4-FFF2-40B4-BE49-F238E27FC236}">
                <a16:creationId xmlns:a16="http://schemas.microsoft.com/office/drawing/2014/main" id="{44A98417-6B79-E8BD-0766-EFD0D2A4B5E4}"/>
              </a:ext>
            </a:extLst>
          </p:cNvPr>
          <p:cNvGrpSpPr/>
          <p:nvPr/>
        </p:nvGrpSpPr>
        <p:grpSpPr>
          <a:xfrm>
            <a:off x="8192823" y="3656578"/>
            <a:ext cx="3211007" cy="628281"/>
            <a:chOff x="7440480" y="2766208"/>
            <a:chExt cx="3211007" cy="628281"/>
          </a:xfrm>
        </p:grpSpPr>
        <p:sp>
          <p:nvSpPr>
            <p:cNvPr id="26" name="Rectangle: Rounded Corners 25">
              <a:extLst>
                <a:ext uri="{FF2B5EF4-FFF2-40B4-BE49-F238E27FC236}">
                  <a16:creationId xmlns:a16="http://schemas.microsoft.com/office/drawing/2014/main" id="{22FD2B27-B831-3824-841D-19A002EC5CCA}"/>
                </a:ext>
              </a:extLst>
            </p:cNvPr>
            <p:cNvSpPr/>
            <p:nvPr/>
          </p:nvSpPr>
          <p:spPr>
            <a:xfrm>
              <a:off x="7440480" y="2766208"/>
              <a:ext cx="3211007" cy="6282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7" name="Rectangle: Rounded Corners 12">
              <a:extLst>
                <a:ext uri="{FF2B5EF4-FFF2-40B4-BE49-F238E27FC236}">
                  <a16:creationId xmlns:a16="http://schemas.microsoft.com/office/drawing/2014/main" id="{2C8DED8E-E5E4-1FBD-9F21-25F98FCDD52B}"/>
                </a:ext>
              </a:extLst>
            </p:cNvPr>
            <p:cNvSpPr txBox="1"/>
            <p:nvPr/>
          </p:nvSpPr>
          <p:spPr>
            <a:xfrm>
              <a:off x="7471150" y="2796878"/>
              <a:ext cx="3149667" cy="5669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ar-SA" sz="2400" kern="1200" dirty="0"/>
                <a:t>طبقة تطبيقات الأعمال الداعمة</a:t>
              </a:r>
              <a:endParaRPr lang="en-US" sz="2400" kern="1200" dirty="0"/>
            </a:p>
          </p:txBody>
        </p:sp>
      </p:grpSp>
      <p:grpSp>
        <p:nvGrpSpPr>
          <p:cNvPr id="17" name="Group 16">
            <a:extLst>
              <a:ext uri="{FF2B5EF4-FFF2-40B4-BE49-F238E27FC236}">
                <a16:creationId xmlns:a16="http://schemas.microsoft.com/office/drawing/2014/main" id="{A51813A8-8F02-8F67-2418-F877F35E9490}"/>
              </a:ext>
            </a:extLst>
          </p:cNvPr>
          <p:cNvGrpSpPr/>
          <p:nvPr/>
        </p:nvGrpSpPr>
        <p:grpSpPr>
          <a:xfrm>
            <a:off x="8192823" y="4347687"/>
            <a:ext cx="3211007" cy="628281"/>
            <a:chOff x="7440480" y="3457317"/>
            <a:chExt cx="3211007" cy="628281"/>
          </a:xfrm>
        </p:grpSpPr>
        <p:sp>
          <p:nvSpPr>
            <p:cNvPr id="24" name="Rectangle: Rounded Corners 23">
              <a:extLst>
                <a:ext uri="{FF2B5EF4-FFF2-40B4-BE49-F238E27FC236}">
                  <a16:creationId xmlns:a16="http://schemas.microsoft.com/office/drawing/2014/main" id="{73CB3439-026E-2FCB-C2FD-54BEC9D94A43}"/>
                </a:ext>
              </a:extLst>
            </p:cNvPr>
            <p:cNvSpPr/>
            <p:nvPr/>
          </p:nvSpPr>
          <p:spPr>
            <a:xfrm>
              <a:off x="7440480" y="3457317"/>
              <a:ext cx="3211007" cy="6282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5" name="Rectangle: Rounded Corners 14">
              <a:extLst>
                <a:ext uri="{FF2B5EF4-FFF2-40B4-BE49-F238E27FC236}">
                  <a16:creationId xmlns:a16="http://schemas.microsoft.com/office/drawing/2014/main" id="{3D9075F9-FF8B-FBFB-24F3-860DB01D40DB}"/>
                </a:ext>
              </a:extLst>
            </p:cNvPr>
            <p:cNvSpPr txBox="1"/>
            <p:nvPr/>
          </p:nvSpPr>
          <p:spPr>
            <a:xfrm>
              <a:off x="7471150" y="3487987"/>
              <a:ext cx="3149667" cy="5669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ar-SA" sz="2400" kern="1200" dirty="0"/>
                <a:t>طبقة تطبيقات البيانات</a:t>
              </a:r>
              <a:endParaRPr lang="en-US" sz="2400" kern="1200" dirty="0"/>
            </a:p>
          </p:txBody>
        </p:sp>
      </p:grpSp>
      <p:grpSp>
        <p:nvGrpSpPr>
          <p:cNvPr id="18" name="Group 17">
            <a:extLst>
              <a:ext uri="{FF2B5EF4-FFF2-40B4-BE49-F238E27FC236}">
                <a16:creationId xmlns:a16="http://schemas.microsoft.com/office/drawing/2014/main" id="{E10556C0-B23D-AD28-636C-B9CEB06442EA}"/>
              </a:ext>
            </a:extLst>
          </p:cNvPr>
          <p:cNvGrpSpPr/>
          <p:nvPr/>
        </p:nvGrpSpPr>
        <p:grpSpPr>
          <a:xfrm>
            <a:off x="8192823" y="5038797"/>
            <a:ext cx="3211007" cy="628281"/>
            <a:chOff x="7440480" y="4148427"/>
            <a:chExt cx="3211007" cy="628281"/>
          </a:xfrm>
        </p:grpSpPr>
        <p:sp>
          <p:nvSpPr>
            <p:cNvPr id="22" name="Rectangle: Rounded Corners 21">
              <a:extLst>
                <a:ext uri="{FF2B5EF4-FFF2-40B4-BE49-F238E27FC236}">
                  <a16:creationId xmlns:a16="http://schemas.microsoft.com/office/drawing/2014/main" id="{36D94F72-F539-BBE1-FD16-F23EC7E604DE}"/>
                </a:ext>
              </a:extLst>
            </p:cNvPr>
            <p:cNvSpPr/>
            <p:nvPr/>
          </p:nvSpPr>
          <p:spPr>
            <a:xfrm>
              <a:off x="7440480" y="4148427"/>
              <a:ext cx="3211007" cy="6282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3" name="Rectangle: Rounded Corners 16">
              <a:extLst>
                <a:ext uri="{FF2B5EF4-FFF2-40B4-BE49-F238E27FC236}">
                  <a16:creationId xmlns:a16="http://schemas.microsoft.com/office/drawing/2014/main" id="{4E822596-B152-7F11-8A68-B109A021E73B}"/>
                </a:ext>
              </a:extLst>
            </p:cNvPr>
            <p:cNvSpPr txBox="1"/>
            <p:nvPr/>
          </p:nvSpPr>
          <p:spPr>
            <a:xfrm>
              <a:off x="7471150" y="4179097"/>
              <a:ext cx="3149667" cy="5669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ar-SA" sz="2200" kern="1200" dirty="0"/>
                <a:t>طبقة تطبيقات البنية التحتية وأمن المعلومات</a:t>
              </a:r>
              <a:endParaRPr lang="en-US" sz="2200" kern="1200" dirty="0"/>
            </a:p>
          </p:txBody>
        </p:sp>
      </p:grpSp>
      <p:grpSp>
        <p:nvGrpSpPr>
          <p:cNvPr id="19" name="Group 18">
            <a:extLst>
              <a:ext uri="{FF2B5EF4-FFF2-40B4-BE49-F238E27FC236}">
                <a16:creationId xmlns:a16="http://schemas.microsoft.com/office/drawing/2014/main" id="{B0D01BFA-6C28-9C81-5BE5-7E0C6BD68B68}"/>
              </a:ext>
            </a:extLst>
          </p:cNvPr>
          <p:cNvGrpSpPr/>
          <p:nvPr/>
        </p:nvGrpSpPr>
        <p:grpSpPr>
          <a:xfrm>
            <a:off x="8192823" y="5729907"/>
            <a:ext cx="3211007" cy="628281"/>
            <a:chOff x="7440480" y="4839537"/>
            <a:chExt cx="3211007" cy="628281"/>
          </a:xfrm>
        </p:grpSpPr>
        <p:sp>
          <p:nvSpPr>
            <p:cNvPr id="20" name="Rectangle: Rounded Corners 19">
              <a:extLst>
                <a:ext uri="{FF2B5EF4-FFF2-40B4-BE49-F238E27FC236}">
                  <a16:creationId xmlns:a16="http://schemas.microsoft.com/office/drawing/2014/main" id="{5E1C5669-F76E-00B6-EB2E-26E9947A07B7}"/>
                </a:ext>
              </a:extLst>
            </p:cNvPr>
            <p:cNvSpPr/>
            <p:nvPr/>
          </p:nvSpPr>
          <p:spPr>
            <a:xfrm>
              <a:off x="7440480" y="4839537"/>
              <a:ext cx="3211007" cy="62828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1" name="Rectangle: Rounded Corners 18">
              <a:extLst>
                <a:ext uri="{FF2B5EF4-FFF2-40B4-BE49-F238E27FC236}">
                  <a16:creationId xmlns:a16="http://schemas.microsoft.com/office/drawing/2014/main" id="{1095B9BD-01EF-35FD-22A2-42ED40B6A51B}"/>
                </a:ext>
              </a:extLst>
            </p:cNvPr>
            <p:cNvSpPr txBox="1"/>
            <p:nvPr/>
          </p:nvSpPr>
          <p:spPr>
            <a:xfrm>
              <a:off x="7471150" y="4870207"/>
              <a:ext cx="3149667" cy="5669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ar-SA" sz="2400" kern="1200" dirty="0"/>
                <a:t>طبقة تطبيقات التكامل</a:t>
              </a:r>
              <a:endParaRPr lang="en-US" sz="2400" kern="1200" dirty="0"/>
            </a:p>
          </p:txBody>
        </p:sp>
      </p:grpSp>
      <p:sp>
        <p:nvSpPr>
          <p:cNvPr id="36" name="Rounded Rectangle 15">
            <a:extLst>
              <a:ext uri="{FF2B5EF4-FFF2-40B4-BE49-F238E27FC236}">
                <a16:creationId xmlns:a16="http://schemas.microsoft.com/office/drawing/2014/main" id="{06FF9AAD-4F29-DB52-4F8C-61A2FAC42BB6}"/>
              </a:ext>
            </a:extLst>
          </p:cNvPr>
          <p:cNvSpPr/>
          <p:nvPr/>
        </p:nvSpPr>
        <p:spPr>
          <a:xfrm>
            <a:off x="561561" y="922809"/>
            <a:ext cx="7631262" cy="566941"/>
          </a:xfrm>
          <a:prstGeom prst="roundRect">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تمثل التجميع المنطقي لكافة التطبيقات والبوابات الرقمية التي توفر الوصول إلى خدمات  وتطبيقات </a:t>
            </a:r>
            <a:r>
              <a:rPr lang="ar-EG"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الهيئة</a:t>
            </a: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من خلال مختلف القنوات التي تتيح التفاعل مع المستفيدين الداخليين والخارجيين</a:t>
            </a:r>
          </a:p>
        </p:txBody>
      </p:sp>
      <p:sp>
        <p:nvSpPr>
          <p:cNvPr id="37" name="Rounded Rectangle 15">
            <a:extLst>
              <a:ext uri="{FF2B5EF4-FFF2-40B4-BE49-F238E27FC236}">
                <a16:creationId xmlns:a16="http://schemas.microsoft.com/office/drawing/2014/main" id="{2A657AE2-E32F-78C3-2DAC-1B984E00CF98}"/>
              </a:ext>
            </a:extLst>
          </p:cNvPr>
          <p:cNvSpPr/>
          <p:nvPr/>
        </p:nvSpPr>
        <p:spPr>
          <a:xfrm>
            <a:off x="561561" y="1613918"/>
            <a:ext cx="7631262" cy="566941"/>
          </a:xfrm>
          <a:prstGeom prst="roundRect">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تمثل التجميع المنطقي لكافة الأدوات والتقنيات التي تستخدم لتحليل البيانات وتحويلها إلى معلومات قابلة للتنفيذ تساعد </a:t>
            </a:r>
            <a:r>
              <a:rPr lang="ar-EG"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الهيئة</a:t>
            </a: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على اتخاذ قرارات أفضل </a:t>
            </a:r>
          </a:p>
        </p:txBody>
      </p:sp>
      <p:sp>
        <p:nvSpPr>
          <p:cNvPr id="38" name="Rounded Rectangle 15">
            <a:extLst>
              <a:ext uri="{FF2B5EF4-FFF2-40B4-BE49-F238E27FC236}">
                <a16:creationId xmlns:a16="http://schemas.microsoft.com/office/drawing/2014/main" id="{20937F6A-D87B-A576-301A-4E363F72267E}"/>
              </a:ext>
            </a:extLst>
          </p:cNvPr>
          <p:cNvSpPr/>
          <p:nvPr/>
        </p:nvSpPr>
        <p:spPr>
          <a:xfrm>
            <a:off x="561561" y="2315040"/>
            <a:ext cx="7631262" cy="566941"/>
          </a:xfrm>
          <a:prstGeom prst="roundRect">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تمثل التجميع المنطقي للتطبيقات التي تقوم برقمنة خدمات وإجراءات أعمال </a:t>
            </a:r>
            <a:r>
              <a:rPr lang="ar-EG"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الهيئة</a:t>
            </a: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في مجالات التخطيط والتطوير والحوكمة ومتابعة </a:t>
            </a:r>
            <a:r>
              <a:rPr lang="ar-EG"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الإنجاز لأعمال </a:t>
            </a: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وخدمات ومستهدفات </a:t>
            </a:r>
            <a:r>
              <a:rPr lang="ar-EG"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الهيئة</a:t>
            </a:r>
            <a:endPar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39" name="Rounded Rectangle 15">
            <a:extLst>
              <a:ext uri="{FF2B5EF4-FFF2-40B4-BE49-F238E27FC236}">
                <a16:creationId xmlns:a16="http://schemas.microsoft.com/office/drawing/2014/main" id="{A4E1B211-D24F-987B-2908-061FFB8CFB33}"/>
              </a:ext>
            </a:extLst>
          </p:cNvPr>
          <p:cNvSpPr/>
          <p:nvPr/>
        </p:nvSpPr>
        <p:spPr>
          <a:xfrm>
            <a:off x="561561" y="3006149"/>
            <a:ext cx="7631262" cy="566941"/>
          </a:xfrm>
          <a:prstGeom prst="roundRect">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تمثل التجميع المنطقي للتطبيقات التي تقوم برقمنة خدمات وإجراءات الأعمال المحورية </a:t>
            </a:r>
            <a:r>
              <a:rPr lang="ar-EG"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للهيئة</a:t>
            </a: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بما يساهم في دعم </a:t>
            </a:r>
            <a:r>
              <a:rPr lang="ar-EG"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الهيئة</a:t>
            </a: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بالقيام بالمهام والمسؤوليات الرئيسية بحسب طبيعة عمله بكفاءة وفعالية</a:t>
            </a:r>
          </a:p>
        </p:txBody>
      </p:sp>
      <p:sp>
        <p:nvSpPr>
          <p:cNvPr id="40" name="Rounded Rectangle 15">
            <a:extLst>
              <a:ext uri="{FF2B5EF4-FFF2-40B4-BE49-F238E27FC236}">
                <a16:creationId xmlns:a16="http://schemas.microsoft.com/office/drawing/2014/main" id="{01D42DD0-099F-E130-40A4-68021D9E26A1}"/>
              </a:ext>
            </a:extLst>
          </p:cNvPr>
          <p:cNvSpPr/>
          <p:nvPr/>
        </p:nvSpPr>
        <p:spPr>
          <a:xfrm>
            <a:off x="561561" y="3683810"/>
            <a:ext cx="7631262" cy="566941"/>
          </a:xfrm>
          <a:prstGeom prst="roundRect">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تمثل التجميع المنطقي للتطبيقات التي يتم استخدامها لرقمنة إجراءات وخدمات الأعمال الداعمة في </a:t>
            </a:r>
            <a:r>
              <a:rPr lang="ar-EG"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الهيئة</a:t>
            </a: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وتشمل أعمال </a:t>
            </a:r>
            <a:r>
              <a:rPr lang="ar-EG" dirty="0">
                <a:solidFill>
                  <a:schemeClr val="tx1"/>
                </a:solidFill>
                <a:latin typeface="Sakkal Majalla" panose="02000000000000000000" pitchFamily="2" charset="-78"/>
                <a:ea typeface="Times New Roman" panose="02020603050405020304" pitchFamily="18" charset="0"/>
                <a:cs typeface="Sakkal Majalla" panose="02000000000000000000" pitchFamily="2" charset="-78"/>
              </a:rPr>
              <a:t>الهيئة</a:t>
            </a: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في مجالات مثل تأمين الموارد البشرية والتقنية  والإدارية</a:t>
            </a:r>
          </a:p>
        </p:txBody>
      </p:sp>
      <p:sp>
        <p:nvSpPr>
          <p:cNvPr id="41" name="Rounded Rectangle 15">
            <a:extLst>
              <a:ext uri="{FF2B5EF4-FFF2-40B4-BE49-F238E27FC236}">
                <a16:creationId xmlns:a16="http://schemas.microsoft.com/office/drawing/2014/main" id="{446A5C0C-4A83-6680-D760-CEC136BB72A5}"/>
              </a:ext>
            </a:extLst>
          </p:cNvPr>
          <p:cNvSpPr/>
          <p:nvPr/>
        </p:nvSpPr>
        <p:spPr>
          <a:xfrm>
            <a:off x="561561" y="4374919"/>
            <a:ext cx="7631262" cy="566941"/>
          </a:xfrm>
          <a:prstGeom prst="roundRect">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550"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تمثل التجميع المنطقي للتطبيقات المسؤولة عن إدارة البيانات ومعالجتها وتخزينها وتحليلها واسترجاعها لضمان سهولة الوصول إليها بشكل مستمر وفعال عبر قواعد البيانات وأنظمة التخزين  المختلفة، والقدرات التقنية </a:t>
            </a:r>
            <a:r>
              <a:rPr lang="ar-EG" sz="1550"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اللازمة</a:t>
            </a:r>
            <a:r>
              <a:rPr lang="ar-SA" sz="1550"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لبناء التقارير </a:t>
            </a:r>
            <a:r>
              <a:rPr lang="ar-EG" sz="1550"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والاستفادة</a:t>
            </a:r>
            <a:r>
              <a:rPr lang="ar-SA" sz="1550"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 من البيانات المجمعة وإجراء</a:t>
            </a:r>
          </a:p>
        </p:txBody>
      </p:sp>
      <p:sp>
        <p:nvSpPr>
          <p:cNvPr id="42" name="Rounded Rectangle 15">
            <a:extLst>
              <a:ext uri="{FF2B5EF4-FFF2-40B4-BE49-F238E27FC236}">
                <a16:creationId xmlns:a16="http://schemas.microsoft.com/office/drawing/2014/main" id="{86F4AC3D-C9AF-32B3-85A7-1E86ABE0A030}"/>
              </a:ext>
            </a:extLst>
          </p:cNvPr>
          <p:cNvSpPr/>
          <p:nvPr/>
        </p:nvSpPr>
        <p:spPr>
          <a:xfrm>
            <a:off x="561561" y="5076041"/>
            <a:ext cx="7631262" cy="566941"/>
          </a:xfrm>
          <a:prstGeom prst="roundRect">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sz="1700"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تمثل التجميع المنطقي للتطبيقات المسؤولة عن توفير الخدمات والمكونات الأساسية اللازمة لدعم وتشغيل تطبيقات البنية التحتية والتطبيقات المسؤولة عن حماية التطبيقات من الوصول غير المصرح به والحفاظ على البيانات من التهديدات </a:t>
            </a:r>
            <a:r>
              <a:rPr lang="ar-EG" sz="1700"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الأمنية</a:t>
            </a:r>
            <a:endParaRPr lang="ar-SA" sz="1700"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43" name="Rounded Rectangle 15">
            <a:extLst>
              <a:ext uri="{FF2B5EF4-FFF2-40B4-BE49-F238E27FC236}">
                <a16:creationId xmlns:a16="http://schemas.microsoft.com/office/drawing/2014/main" id="{691ACC79-E9C6-320D-4E13-0A95CCE95608}"/>
              </a:ext>
            </a:extLst>
          </p:cNvPr>
          <p:cNvSpPr/>
          <p:nvPr/>
        </p:nvSpPr>
        <p:spPr>
          <a:xfrm>
            <a:off x="561561" y="5767150"/>
            <a:ext cx="7631262" cy="566941"/>
          </a:xfrm>
          <a:prstGeom prst="roundRect">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algn="ctr" rtl="1">
              <a:spcBef>
                <a:spcPts val="0"/>
              </a:spcBef>
              <a:spcAft>
                <a:spcPts val="0"/>
              </a:spcAft>
            </a:pPr>
            <a:r>
              <a:rPr lang="ar-SA" kern="1200" dirty="0">
                <a:solidFill>
                  <a:schemeClr val="tx1"/>
                </a:solidFill>
                <a:effectLst/>
                <a:latin typeface="Sakkal Majalla" panose="02000000000000000000" pitchFamily="2" charset="-78"/>
                <a:ea typeface="Times New Roman" panose="02020603050405020304" pitchFamily="18" charset="0"/>
                <a:cs typeface="Sakkal Majalla" panose="02000000000000000000" pitchFamily="2" charset="-78"/>
              </a:rPr>
              <a:t>تمثل التجميع المنطقي للتطبيقات المستخدمة لتمكين عمليات التكامل التقني لتبادل البيانات الداخلي والخارجي وإدارة ومراقبة عمليات الربط التقني لكافة الأنظمة الداخلية والجهات الخارجية</a:t>
            </a:r>
          </a:p>
        </p:txBody>
      </p:sp>
    </p:spTree>
    <p:extLst>
      <p:ext uri="{BB962C8B-B14F-4D97-AF65-F5344CB8AC3E}">
        <p14:creationId xmlns:p14="http://schemas.microsoft.com/office/powerpoint/2010/main" val="343116655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75D60-DD02-5457-60F7-FBA0E6C1A0E4}"/>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0D174A95-06CE-8076-F4AE-9D627490CF5A}"/>
              </a:ext>
            </a:extLst>
          </p:cNvPr>
          <p:cNvSpPr/>
          <p:nvPr/>
        </p:nvSpPr>
        <p:spPr>
          <a:xfrm>
            <a:off x="1851518" y="1528040"/>
            <a:ext cx="8103561" cy="36277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endParaRPr lang="en-US" sz="1600" dirty="0"/>
          </a:p>
        </p:txBody>
      </p:sp>
      <p:sp>
        <p:nvSpPr>
          <p:cNvPr id="3" name="Slide Number Placeholder 2">
            <a:extLst>
              <a:ext uri="{FF2B5EF4-FFF2-40B4-BE49-F238E27FC236}">
                <a16:creationId xmlns:a16="http://schemas.microsoft.com/office/drawing/2014/main" id="{BFFFDC0F-1CEA-2823-9BC4-7F8B5A651F00}"/>
              </a:ext>
            </a:extLst>
          </p:cNvPr>
          <p:cNvSpPr>
            <a:spLocks noGrp="1"/>
          </p:cNvSpPr>
          <p:nvPr>
            <p:ph type="sldNum" sz="quarter" idx="12"/>
          </p:nvPr>
        </p:nvSpPr>
        <p:spPr/>
        <p:txBody>
          <a:bodyPr/>
          <a:lstStyle/>
          <a:p>
            <a:fld id="{0BE4EC83-A869-464E-AE9F-881796FB085E}" type="slidenum">
              <a:rPr lang="en-US" smtClean="0"/>
              <a:t>34</a:t>
            </a:fld>
            <a:endParaRPr lang="en-US" dirty="0"/>
          </a:p>
        </p:txBody>
      </p:sp>
      <p:sp>
        <p:nvSpPr>
          <p:cNvPr id="7" name="Title 1">
            <a:extLst>
              <a:ext uri="{FF2B5EF4-FFF2-40B4-BE49-F238E27FC236}">
                <a16:creationId xmlns:a16="http://schemas.microsoft.com/office/drawing/2014/main" id="{011CA8A8-5467-BB9B-330B-B3E34CB4F1BE}"/>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نموذج هيكل التطبيقات</a:t>
            </a:r>
            <a:endParaRPr lang="en-US" dirty="0"/>
          </a:p>
        </p:txBody>
      </p:sp>
      <p:sp>
        <p:nvSpPr>
          <p:cNvPr id="2" name="Rectangle: Rounded Corners 1">
            <a:extLst>
              <a:ext uri="{FF2B5EF4-FFF2-40B4-BE49-F238E27FC236}">
                <a16:creationId xmlns:a16="http://schemas.microsoft.com/office/drawing/2014/main" id="{67CC6FE7-2615-F954-396E-E27C5F5F8489}"/>
              </a:ext>
            </a:extLst>
          </p:cNvPr>
          <p:cNvSpPr/>
          <p:nvPr/>
        </p:nvSpPr>
        <p:spPr>
          <a:xfrm>
            <a:off x="7511354" y="2000015"/>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2400" b="1" dirty="0"/>
              <a:t>نظام إدارة المقيّمين</a:t>
            </a:r>
            <a:endParaRPr lang="en-US" sz="2400" b="1" dirty="0"/>
          </a:p>
        </p:txBody>
      </p:sp>
      <p:sp>
        <p:nvSpPr>
          <p:cNvPr id="4" name="Rectangle: Rounded Corners 3">
            <a:extLst>
              <a:ext uri="{FF2B5EF4-FFF2-40B4-BE49-F238E27FC236}">
                <a16:creationId xmlns:a16="http://schemas.microsoft.com/office/drawing/2014/main" id="{FF5E2E1C-07F9-ADAB-40AA-E9DC1BE407A4}"/>
              </a:ext>
            </a:extLst>
          </p:cNvPr>
          <p:cNvSpPr/>
          <p:nvPr/>
        </p:nvSpPr>
        <p:spPr>
          <a:xfrm>
            <a:off x="4904076" y="2000014"/>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2400" b="1" dirty="0"/>
              <a:t>نظام التقارير والتحليلات</a:t>
            </a:r>
            <a:endParaRPr lang="en-US" sz="2400" b="1" dirty="0"/>
          </a:p>
        </p:txBody>
      </p:sp>
      <p:sp>
        <p:nvSpPr>
          <p:cNvPr id="5" name="Rectangle: Rounded Corners 4">
            <a:extLst>
              <a:ext uri="{FF2B5EF4-FFF2-40B4-BE49-F238E27FC236}">
                <a16:creationId xmlns:a16="http://schemas.microsoft.com/office/drawing/2014/main" id="{20A9D1A5-E9C2-BB1E-42BD-85F73ADE8FAF}"/>
              </a:ext>
            </a:extLst>
          </p:cNvPr>
          <p:cNvSpPr/>
          <p:nvPr/>
        </p:nvSpPr>
        <p:spPr>
          <a:xfrm>
            <a:off x="2247253" y="2000015"/>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sz="2400" b="1" dirty="0"/>
              <a:t>نظام معلومات الطلاب</a:t>
            </a:r>
            <a:endParaRPr lang="en-US" sz="2400" b="1" dirty="0"/>
          </a:p>
        </p:txBody>
      </p:sp>
      <p:sp>
        <p:nvSpPr>
          <p:cNvPr id="6" name="Rectangle: Rounded Corners 5">
            <a:extLst>
              <a:ext uri="{FF2B5EF4-FFF2-40B4-BE49-F238E27FC236}">
                <a16:creationId xmlns:a16="http://schemas.microsoft.com/office/drawing/2014/main" id="{824C063E-4CBF-9613-DE3E-86D42E8274C2}"/>
              </a:ext>
            </a:extLst>
          </p:cNvPr>
          <p:cNvSpPr/>
          <p:nvPr/>
        </p:nvSpPr>
        <p:spPr>
          <a:xfrm>
            <a:off x="4904075" y="3639528"/>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2400" b="1" dirty="0"/>
              <a:t>بوابة الخدمات الرقمية</a:t>
            </a:r>
            <a:endParaRPr lang="en-US" sz="2400" b="1" dirty="0"/>
          </a:p>
        </p:txBody>
      </p:sp>
      <p:sp>
        <p:nvSpPr>
          <p:cNvPr id="10" name="Rectangle: Rounded Corners 9">
            <a:extLst>
              <a:ext uri="{FF2B5EF4-FFF2-40B4-BE49-F238E27FC236}">
                <a16:creationId xmlns:a16="http://schemas.microsoft.com/office/drawing/2014/main" id="{1D9A6136-0DD4-47A4-6320-CCC393E8FBF8}"/>
              </a:ext>
            </a:extLst>
          </p:cNvPr>
          <p:cNvSpPr/>
          <p:nvPr/>
        </p:nvSpPr>
        <p:spPr>
          <a:xfrm>
            <a:off x="2247253" y="3639529"/>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sz="2400" b="1" dirty="0"/>
              <a:t>نظام إدارة الاختبارات</a:t>
            </a:r>
            <a:endParaRPr lang="en-US" sz="2400" b="1" dirty="0"/>
          </a:p>
        </p:txBody>
      </p:sp>
      <p:sp>
        <p:nvSpPr>
          <p:cNvPr id="12" name="Rectangle: Rounded Corners 11">
            <a:extLst>
              <a:ext uri="{FF2B5EF4-FFF2-40B4-BE49-F238E27FC236}">
                <a16:creationId xmlns:a16="http://schemas.microsoft.com/office/drawing/2014/main" id="{3F04AC89-4175-C85E-6741-665D1B018AD0}"/>
              </a:ext>
            </a:extLst>
          </p:cNvPr>
          <p:cNvSpPr/>
          <p:nvPr/>
        </p:nvSpPr>
        <p:spPr>
          <a:xfrm>
            <a:off x="7511353" y="3639526"/>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2400" b="1" dirty="0"/>
              <a:t>نظام اعتماد المؤسسات والبرامج</a:t>
            </a:r>
            <a:endParaRPr lang="en-US" sz="2400" b="1" dirty="0"/>
          </a:p>
        </p:txBody>
      </p:sp>
      <p:cxnSp>
        <p:nvCxnSpPr>
          <p:cNvPr id="51" name="Elbow Connector 26">
            <a:extLst>
              <a:ext uri="{FF2B5EF4-FFF2-40B4-BE49-F238E27FC236}">
                <a16:creationId xmlns:a16="http://schemas.microsoft.com/office/drawing/2014/main" id="{FCE4B03B-3CC4-CC1B-333A-1C87928D67CB}"/>
              </a:ext>
            </a:extLst>
          </p:cNvPr>
          <p:cNvCxnSpPr>
            <a:cxnSpLocks/>
            <a:stCxn id="6" idx="0"/>
            <a:endCxn id="5" idx="2"/>
          </p:cNvCxnSpPr>
          <p:nvPr/>
        </p:nvCxnSpPr>
        <p:spPr>
          <a:xfrm rot="16200000" flipV="1">
            <a:off x="4168950" y="1911749"/>
            <a:ext cx="798736" cy="2656822"/>
          </a:xfrm>
          <a:prstGeom prst="bentConnector3">
            <a:avLst>
              <a:gd name="adj1" fmla="val 35499"/>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26">
            <a:extLst>
              <a:ext uri="{FF2B5EF4-FFF2-40B4-BE49-F238E27FC236}">
                <a16:creationId xmlns:a16="http://schemas.microsoft.com/office/drawing/2014/main" id="{9EE793E3-AEF2-52A7-849C-4FB08BFDCA0F}"/>
              </a:ext>
            </a:extLst>
          </p:cNvPr>
          <p:cNvCxnSpPr>
            <a:cxnSpLocks/>
            <a:stCxn id="6" idx="3"/>
            <a:endCxn id="12" idx="1"/>
          </p:cNvCxnSpPr>
          <p:nvPr/>
        </p:nvCxnSpPr>
        <p:spPr>
          <a:xfrm flipV="1">
            <a:off x="6889382" y="4059915"/>
            <a:ext cx="621971" cy="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26">
            <a:extLst>
              <a:ext uri="{FF2B5EF4-FFF2-40B4-BE49-F238E27FC236}">
                <a16:creationId xmlns:a16="http://schemas.microsoft.com/office/drawing/2014/main" id="{918C110D-0AE5-5A3B-E56F-FC064C079F08}"/>
              </a:ext>
            </a:extLst>
          </p:cNvPr>
          <p:cNvCxnSpPr>
            <a:cxnSpLocks/>
            <a:stCxn id="10" idx="0"/>
          </p:cNvCxnSpPr>
          <p:nvPr/>
        </p:nvCxnSpPr>
        <p:spPr>
          <a:xfrm rot="16200000" flipV="1">
            <a:off x="2840540" y="3240161"/>
            <a:ext cx="792388" cy="6347"/>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26">
            <a:extLst>
              <a:ext uri="{FF2B5EF4-FFF2-40B4-BE49-F238E27FC236}">
                <a16:creationId xmlns:a16="http://schemas.microsoft.com/office/drawing/2014/main" id="{0BEB3D27-26AC-45AE-F482-91E08199D622}"/>
              </a:ext>
            </a:extLst>
          </p:cNvPr>
          <p:cNvCxnSpPr>
            <a:cxnSpLocks/>
            <a:stCxn id="12" idx="0"/>
            <a:endCxn id="2" idx="2"/>
          </p:cNvCxnSpPr>
          <p:nvPr/>
        </p:nvCxnSpPr>
        <p:spPr>
          <a:xfrm rot="5400000" flipH="1" flipV="1">
            <a:off x="8104640" y="3240159"/>
            <a:ext cx="798734" cy="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26">
            <a:extLst>
              <a:ext uri="{FF2B5EF4-FFF2-40B4-BE49-F238E27FC236}">
                <a16:creationId xmlns:a16="http://schemas.microsoft.com/office/drawing/2014/main" id="{F370A5F3-134C-3046-FBC4-7D0BD3F3CD15}"/>
              </a:ext>
            </a:extLst>
          </p:cNvPr>
          <p:cNvCxnSpPr>
            <a:cxnSpLocks/>
            <a:stCxn id="5" idx="3"/>
            <a:endCxn id="4" idx="1"/>
          </p:cNvCxnSpPr>
          <p:nvPr/>
        </p:nvCxnSpPr>
        <p:spPr>
          <a:xfrm flipV="1">
            <a:off x="4232560" y="2420403"/>
            <a:ext cx="671516" cy="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26">
            <a:extLst>
              <a:ext uri="{FF2B5EF4-FFF2-40B4-BE49-F238E27FC236}">
                <a16:creationId xmlns:a16="http://schemas.microsoft.com/office/drawing/2014/main" id="{AB033B8D-D391-2E1C-CD00-08592B89CAE3}"/>
              </a:ext>
            </a:extLst>
          </p:cNvPr>
          <p:cNvCxnSpPr>
            <a:cxnSpLocks/>
            <a:stCxn id="2" idx="1"/>
            <a:endCxn id="4" idx="3"/>
          </p:cNvCxnSpPr>
          <p:nvPr/>
        </p:nvCxnSpPr>
        <p:spPr>
          <a:xfrm rot="10800000">
            <a:off x="6889384" y="2420404"/>
            <a:ext cx="621971" cy="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26">
            <a:extLst>
              <a:ext uri="{FF2B5EF4-FFF2-40B4-BE49-F238E27FC236}">
                <a16:creationId xmlns:a16="http://schemas.microsoft.com/office/drawing/2014/main" id="{C1FFD041-D586-4578-AA65-F2495C5262A8}"/>
              </a:ext>
            </a:extLst>
          </p:cNvPr>
          <p:cNvCxnSpPr>
            <a:cxnSpLocks/>
            <a:stCxn id="12" idx="0"/>
            <a:endCxn id="4" idx="2"/>
          </p:cNvCxnSpPr>
          <p:nvPr/>
        </p:nvCxnSpPr>
        <p:spPr>
          <a:xfrm rot="16200000" flipV="1">
            <a:off x="6801002" y="1936520"/>
            <a:ext cx="798735" cy="2607277"/>
          </a:xfrm>
          <a:prstGeom prst="bentConnector3">
            <a:avLst>
              <a:gd name="adj1" fmla="val 60208"/>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Elbow Connector 26">
            <a:extLst>
              <a:ext uri="{FF2B5EF4-FFF2-40B4-BE49-F238E27FC236}">
                <a16:creationId xmlns:a16="http://schemas.microsoft.com/office/drawing/2014/main" id="{C7B76908-2716-F28B-FAA4-DD6E23B9A8E6}"/>
              </a:ext>
            </a:extLst>
          </p:cNvPr>
          <p:cNvCxnSpPr>
            <a:cxnSpLocks/>
            <a:stCxn id="10" idx="0"/>
            <a:endCxn id="4" idx="2"/>
          </p:cNvCxnSpPr>
          <p:nvPr/>
        </p:nvCxnSpPr>
        <p:spPr>
          <a:xfrm rot="5400000" flipH="1" flipV="1">
            <a:off x="4168949" y="1911749"/>
            <a:ext cx="798738" cy="2656823"/>
          </a:xfrm>
          <a:prstGeom prst="bentConnector3">
            <a:avLst>
              <a:gd name="adj1" fmla="val 60017"/>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D5DBF48-9B27-85F5-3D07-7E7A7F4B7042}"/>
              </a:ext>
            </a:extLst>
          </p:cNvPr>
          <p:cNvSpPr/>
          <p:nvPr/>
        </p:nvSpPr>
        <p:spPr>
          <a:xfrm>
            <a:off x="3288915" y="505740"/>
            <a:ext cx="1217138" cy="363176"/>
          </a:xfrm>
          <a:prstGeom prst="rect">
            <a:avLst/>
          </a:prstGeom>
          <a:solidFill>
            <a:schemeClr val="accent2">
              <a:lumMod val="20000"/>
              <a:lumOff val="80000"/>
            </a:schemeClr>
          </a:solidFill>
          <a:ln>
            <a:solidFill>
              <a:srgbClr val="4C3C8D"/>
            </a:solidFill>
          </a:ln>
        </p:spPr>
        <p:txBody>
          <a:bodyPr wrap="square" anchor="ctr" anchorCtr="0">
            <a:noAutofit/>
          </a:bodyPr>
          <a:lstStyle/>
          <a:p>
            <a:pPr algn="ctr" rtl="1">
              <a:lnSpc>
                <a:spcPct val="80000"/>
              </a:lnSpc>
            </a:pPr>
            <a:r>
              <a:rPr lang="ar-SA" sz="1600" dirty="0">
                <a:latin typeface="DIN Next LT Arabic" panose="020B0503020203050203" pitchFamily="34" charset="-78"/>
                <a:cs typeface="DIN Next LT Arabic" panose="020B0503020203050203" pitchFamily="34" charset="-78"/>
              </a:rPr>
              <a:t>مثال</a:t>
            </a:r>
            <a:r>
              <a:rPr lang="ar-EG" sz="1600" dirty="0">
                <a:latin typeface="DIN Next LT Arabic" panose="020B0503020203050203" pitchFamily="34" charset="-78"/>
                <a:cs typeface="DIN Next LT Arabic" panose="020B0503020203050203" pitchFamily="34" charset="-78"/>
              </a:rPr>
              <a:t> توضيحي</a:t>
            </a:r>
            <a:endParaRPr lang="ar-SA" sz="1600" dirty="0">
              <a:latin typeface="DIN Next LT Arabic" panose="020B0503020203050203" pitchFamily="34" charset="-78"/>
              <a:cs typeface="DIN Next LT Arabic" panose="020B0503020203050203" pitchFamily="34" charset="-78"/>
            </a:endParaRPr>
          </a:p>
        </p:txBody>
      </p:sp>
    </p:spTree>
    <p:extLst>
      <p:ext uri="{BB962C8B-B14F-4D97-AF65-F5344CB8AC3E}">
        <p14:creationId xmlns:p14="http://schemas.microsoft.com/office/powerpoint/2010/main" val="7107395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1C953-D653-F26B-352D-3102FFD2967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7059324-0D5F-3591-C3BB-B8096D94AC96}"/>
              </a:ext>
            </a:extLst>
          </p:cNvPr>
          <p:cNvSpPr>
            <a:spLocks noGrp="1"/>
          </p:cNvSpPr>
          <p:nvPr>
            <p:ph type="sldNum" sz="quarter" idx="12"/>
          </p:nvPr>
        </p:nvSpPr>
        <p:spPr/>
        <p:txBody>
          <a:bodyPr/>
          <a:lstStyle/>
          <a:p>
            <a:fld id="{0BE4EC83-A869-464E-AE9F-881796FB085E}" type="slidenum">
              <a:rPr lang="en-US" smtClean="0"/>
              <a:t>35</a:t>
            </a:fld>
            <a:endParaRPr lang="en-US" dirty="0"/>
          </a:p>
        </p:txBody>
      </p:sp>
      <p:sp>
        <p:nvSpPr>
          <p:cNvPr id="7" name="Title 1">
            <a:extLst>
              <a:ext uri="{FF2B5EF4-FFF2-40B4-BE49-F238E27FC236}">
                <a16:creationId xmlns:a16="http://schemas.microsoft.com/office/drawing/2014/main" id="{F67B7C26-7D9B-64EA-5337-FBD985FF97A6}"/>
              </a:ext>
            </a:extLst>
          </p:cNvPr>
          <p:cNvSpPr txBox="1">
            <a:spLocks/>
          </p:cNvSpPr>
          <p:nvPr/>
        </p:nvSpPr>
        <p:spPr>
          <a:xfrm>
            <a:off x="2150533" y="408242"/>
            <a:ext cx="92032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من </a:t>
            </a:r>
            <a:r>
              <a:rPr lang="ar-SA" dirty="0"/>
              <a:t>أنماط الهندسة المعمارية للتطبيقات</a:t>
            </a:r>
            <a:r>
              <a:rPr lang="ar-EG" dirty="0"/>
              <a:t> (</a:t>
            </a:r>
            <a:r>
              <a:rPr lang="en-US" dirty="0"/>
              <a:t>Software Architecture Styles</a:t>
            </a:r>
            <a:r>
              <a:rPr lang="ar-EG" dirty="0"/>
              <a:t>)</a:t>
            </a:r>
            <a:r>
              <a:rPr lang="en-US" dirty="0"/>
              <a:t> </a:t>
            </a:r>
          </a:p>
        </p:txBody>
      </p:sp>
      <p:graphicFrame>
        <p:nvGraphicFramePr>
          <p:cNvPr id="2" name="Table 4">
            <a:extLst>
              <a:ext uri="{FF2B5EF4-FFF2-40B4-BE49-F238E27FC236}">
                <a16:creationId xmlns:a16="http://schemas.microsoft.com/office/drawing/2014/main" id="{6DFC1D47-888B-B8E1-7362-DA598FB714BC}"/>
              </a:ext>
            </a:extLst>
          </p:cNvPr>
          <p:cNvGraphicFramePr>
            <a:graphicFrameLocks noGrp="1"/>
          </p:cNvGraphicFramePr>
          <p:nvPr>
            <p:extLst>
              <p:ext uri="{D42A27DB-BD31-4B8C-83A1-F6EECF244321}">
                <p14:modId xmlns:p14="http://schemas.microsoft.com/office/powerpoint/2010/main" val="2132605877"/>
              </p:ext>
            </p:extLst>
          </p:nvPr>
        </p:nvGraphicFramePr>
        <p:xfrm>
          <a:off x="508003" y="925849"/>
          <a:ext cx="11201398" cy="5882640"/>
        </p:xfrm>
        <a:graphic>
          <a:graphicData uri="http://schemas.openxmlformats.org/drawingml/2006/table">
            <a:tbl>
              <a:tblPr rtl="1" firstRow="1" bandRow="1">
                <a:tableStyleId>{5C22544A-7EE6-4342-B048-85BDC9FD1C3A}</a:tableStyleId>
              </a:tblPr>
              <a:tblGrid>
                <a:gridCol w="956734">
                  <a:extLst>
                    <a:ext uri="{9D8B030D-6E8A-4147-A177-3AD203B41FA5}">
                      <a16:colId xmlns:a16="http://schemas.microsoft.com/office/drawing/2014/main" val="1723199360"/>
                    </a:ext>
                  </a:extLst>
                </a:gridCol>
                <a:gridCol w="5266267">
                  <a:extLst>
                    <a:ext uri="{9D8B030D-6E8A-4147-A177-3AD203B41FA5}">
                      <a16:colId xmlns:a16="http://schemas.microsoft.com/office/drawing/2014/main" val="3211590255"/>
                    </a:ext>
                  </a:extLst>
                </a:gridCol>
                <a:gridCol w="4978397">
                  <a:extLst>
                    <a:ext uri="{9D8B030D-6E8A-4147-A177-3AD203B41FA5}">
                      <a16:colId xmlns:a16="http://schemas.microsoft.com/office/drawing/2014/main" val="3324291776"/>
                    </a:ext>
                  </a:extLst>
                </a:gridCol>
              </a:tblGrid>
              <a:tr h="0">
                <a:tc>
                  <a:txBody>
                    <a:bodyPr/>
                    <a:lstStyle/>
                    <a:p>
                      <a:pPr algn="ctr"/>
                      <a:r>
                        <a:rPr lang="ar-EG" sz="2000" dirty="0">
                          <a:latin typeface="+mj-lt"/>
                        </a:rPr>
                        <a:t>العنصر</a:t>
                      </a:r>
                      <a:endParaRPr lang="en-US" sz="2000" dirty="0">
                        <a:latin typeface="+mj-lt"/>
                      </a:endParaRPr>
                    </a:p>
                  </a:txBody>
                  <a:tcPr marL="137160" marR="137160" marT="137160" marB="137160"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bg1"/>
                          </a:solidFill>
                          <a:latin typeface="+mj-lt"/>
                          <a:ea typeface="+mn-ea"/>
                          <a:cs typeface="+mn-cs"/>
                        </a:rPr>
                        <a:t>النمط المصغر</a:t>
                      </a:r>
                      <a:r>
                        <a:rPr lang="ar-EG" sz="2000" b="1" kern="1200" dirty="0">
                          <a:solidFill>
                            <a:schemeClr val="bg1"/>
                          </a:solidFill>
                          <a:latin typeface="+mj-lt"/>
                          <a:ea typeface="+mn-ea"/>
                          <a:cs typeface="+mn-cs"/>
                        </a:rPr>
                        <a:t> (</a:t>
                      </a:r>
                      <a:r>
                        <a:rPr lang="en-US" sz="2000" b="1" kern="1200" dirty="0">
                          <a:solidFill>
                            <a:schemeClr val="bg1"/>
                          </a:solidFill>
                          <a:latin typeface="+mj-lt"/>
                          <a:ea typeface="+mn-ea"/>
                          <a:cs typeface="+mn-cs"/>
                        </a:rPr>
                        <a:t>Microservices Architecture</a:t>
                      </a:r>
                      <a:r>
                        <a:rPr lang="ar-EG" sz="2000" b="1" kern="1200" dirty="0">
                          <a:solidFill>
                            <a:schemeClr val="bg1"/>
                          </a:solidFill>
                          <a:latin typeface="+mj-lt"/>
                          <a:ea typeface="+mn-ea"/>
                          <a:cs typeface="+mn-cs"/>
                        </a:rPr>
                        <a:t>)</a:t>
                      </a:r>
                      <a:endParaRPr lang="en-US" sz="2000" b="1" kern="1200" dirty="0">
                        <a:solidFill>
                          <a:schemeClr val="bg1"/>
                        </a:solidFill>
                        <a:latin typeface="+mj-lt"/>
                        <a:ea typeface="+mn-ea"/>
                        <a:cs typeface="+mn-cs"/>
                      </a:endParaRPr>
                    </a:p>
                  </a:txBody>
                  <a:tcPr marL="137160" marR="137160" marT="137160" marB="137160"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bg1"/>
                          </a:solidFill>
                          <a:latin typeface="+mn-lt"/>
                          <a:ea typeface="+mn-ea"/>
                          <a:cs typeface="+mn-cs"/>
                        </a:rPr>
                        <a:t>النمط الطبقي</a:t>
                      </a:r>
                      <a:r>
                        <a:rPr lang="ar-EG" sz="2000" b="1" kern="1200" dirty="0">
                          <a:solidFill>
                            <a:schemeClr val="bg1"/>
                          </a:solidFill>
                          <a:latin typeface="+mn-lt"/>
                          <a:ea typeface="+mn-ea"/>
                          <a:cs typeface="+mn-cs"/>
                        </a:rPr>
                        <a:t> (</a:t>
                      </a:r>
                      <a:r>
                        <a:rPr lang="en-US" sz="2000" b="1" kern="1200" dirty="0">
                          <a:solidFill>
                            <a:schemeClr val="bg1"/>
                          </a:solidFill>
                          <a:latin typeface="+mn-lt"/>
                          <a:ea typeface="+mn-ea"/>
                          <a:cs typeface="+mn-cs"/>
                        </a:rPr>
                        <a:t>Layered (n-tier) Architecture</a:t>
                      </a:r>
                      <a:r>
                        <a:rPr lang="ar-EG" sz="2000" b="1" kern="1200" dirty="0">
                          <a:solidFill>
                            <a:schemeClr val="bg1"/>
                          </a:solidFill>
                          <a:latin typeface="+mn-lt"/>
                          <a:ea typeface="+mn-ea"/>
                          <a:cs typeface="+mn-cs"/>
                        </a:rPr>
                        <a:t>)</a:t>
                      </a:r>
                      <a:endParaRPr lang="ar-SA" sz="2000" b="1" kern="1200" dirty="0">
                        <a:solidFill>
                          <a:schemeClr val="lt1"/>
                        </a:solidFill>
                        <a:latin typeface="+mn-lt"/>
                        <a:ea typeface="+mn-ea"/>
                        <a:cs typeface="+mn-cs"/>
                      </a:endParaRPr>
                    </a:p>
                  </a:txBody>
                  <a:tcPr marL="137160" marR="137160" marT="137160" marB="137160" anchor="ctr"/>
                </a:tc>
                <a:extLst>
                  <a:ext uri="{0D108BD9-81ED-4DB2-BD59-A6C34878D82A}">
                    <a16:rowId xmlns:a16="http://schemas.microsoft.com/office/drawing/2014/main" val="110441575"/>
                  </a:ext>
                </a:extLst>
              </a:tr>
              <a:tr h="319594">
                <a:tc>
                  <a:txBody>
                    <a:bodyPr/>
                    <a:lstStyle/>
                    <a:p>
                      <a:pPr algn="ctr" rtl="1">
                        <a:lnSpc>
                          <a:spcPct val="100000"/>
                        </a:lnSpc>
                      </a:pPr>
                      <a:r>
                        <a:rPr lang="ar-EG" sz="1800" b="1" kern="1200" dirty="0">
                          <a:solidFill>
                            <a:schemeClr val="dk1"/>
                          </a:solidFill>
                          <a:latin typeface="+mj-lt"/>
                          <a:ea typeface="+mn-ea"/>
                          <a:cs typeface="+mn-cs"/>
                        </a:rPr>
                        <a:t>الوصف</a:t>
                      </a:r>
                      <a:endParaRPr lang="en-US" sz="1800" b="1" kern="1200" dirty="0">
                        <a:solidFill>
                          <a:schemeClr val="dk1"/>
                        </a:solidFill>
                        <a:latin typeface="+mj-lt"/>
                        <a:ea typeface="+mn-ea"/>
                        <a:cs typeface="+mn-cs"/>
                      </a:endParaRPr>
                    </a:p>
                  </a:txBody>
                  <a:tcPr anchor="ct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600" kern="1200" dirty="0">
                          <a:solidFill>
                            <a:schemeClr val="dk1"/>
                          </a:solidFill>
                          <a:latin typeface="+mj-lt"/>
                          <a:ea typeface="+mn-ea"/>
                          <a:cs typeface="+mn-cs"/>
                        </a:rPr>
                        <a:t>يقسم النظام إلى خدمات صغيرة مستقلة، لكل منها مسؤوليات محددة</a:t>
                      </a:r>
                      <a:endParaRPr lang="en-US" sz="1600" kern="1200" dirty="0">
                        <a:solidFill>
                          <a:schemeClr val="dk1"/>
                        </a:solidFill>
                        <a:latin typeface="+mj-lt"/>
                        <a:ea typeface="+mn-ea"/>
                        <a:cs typeface="+mn-cs"/>
                      </a:endParaRPr>
                    </a:p>
                  </a:txBody>
                  <a:tcPr anchor="ctr"/>
                </a:tc>
                <a:tc>
                  <a:txBody>
                    <a:bodyPr/>
                    <a:lstStyle/>
                    <a:p>
                      <a:pPr algn="r" rtl="1">
                        <a:lnSpc>
                          <a:spcPct val="100000"/>
                        </a:lnSpc>
                      </a:pPr>
                      <a:r>
                        <a:rPr lang="ar-SA" sz="1600" b="0" kern="1200" dirty="0">
                          <a:solidFill>
                            <a:schemeClr val="dk1"/>
                          </a:solidFill>
                          <a:latin typeface="+mj-lt"/>
                          <a:ea typeface="+mn-ea"/>
                          <a:cs typeface="+mn-cs"/>
                        </a:rPr>
                        <a:t>يقسم التطبيق إلى طبقات بحيث تعتمد كل طبقة على الأخرى</a:t>
                      </a:r>
                      <a:endParaRPr lang="en-US" sz="1600" b="0" kern="1200" dirty="0">
                        <a:solidFill>
                          <a:schemeClr val="dk1"/>
                        </a:solidFill>
                        <a:latin typeface="+mj-lt"/>
                        <a:ea typeface="+mn-ea"/>
                        <a:cs typeface="+mn-cs"/>
                      </a:endParaRPr>
                    </a:p>
                  </a:txBody>
                  <a:tcPr anchor="ctr"/>
                </a:tc>
                <a:extLst>
                  <a:ext uri="{0D108BD9-81ED-4DB2-BD59-A6C34878D82A}">
                    <a16:rowId xmlns:a16="http://schemas.microsoft.com/office/drawing/2014/main" val="3906483655"/>
                  </a:ext>
                </a:extLst>
              </a:tr>
              <a:tr h="637941">
                <a:tc>
                  <a:txBody>
                    <a:bodyPr/>
                    <a:lstStyle/>
                    <a:p>
                      <a:pPr algn="ctr" rtl="1">
                        <a:lnSpc>
                          <a:spcPct val="100000"/>
                        </a:lnSpc>
                      </a:pPr>
                      <a:r>
                        <a:rPr lang="ar-SA" sz="1800" b="1" dirty="0">
                          <a:latin typeface="+mj-lt"/>
                        </a:rPr>
                        <a:t>سيناريو الاستخدام</a:t>
                      </a:r>
                      <a:endParaRPr lang="en-US" sz="1800" b="1" dirty="0">
                        <a:latin typeface="+mj-lt"/>
                      </a:endParaRPr>
                    </a:p>
                  </a:txBody>
                  <a:tcPr anchor="ctr"/>
                </a:tc>
                <a:tc>
                  <a:txBody>
                    <a:bodyPr/>
                    <a:lstStyle/>
                    <a:p>
                      <a:pPr marL="285750" indent="-285750" algn="r" rtl="1">
                        <a:lnSpc>
                          <a:spcPct val="150000"/>
                        </a:lnSpc>
                        <a:buFont typeface="Arial" panose="020B0604020202020204" pitchFamily="34" charset="0"/>
                        <a:buChar char="•"/>
                      </a:pPr>
                      <a:r>
                        <a:rPr lang="ar-SA" sz="1600" dirty="0">
                          <a:latin typeface="+mj-lt"/>
                        </a:rPr>
                        <a:t>مناسب للتطبيقات المعقدة التي تتطلب قابلية توسيع عالية وتحديثات مستمرة</a:t>
                      </a:r>
                    </a:p>
                    <a:p>
                      <a:pPr marL="285750" indent="-285750" algn="r" rtl="1">
                        <a:lnSpc>
                          <a:spcPct val="150000"/>
                        </a:lnSpc>
                        <a:buFont typeface="Arial" panose="020B0604020202020204" pitchFamily="34" charset="0"/>
                        <a:buChar char="•"/>
                      </a:pPr>
                      <a:r>
                        <a:rPr lang="ar-SA" sz="1600" dirty="0">
                          <a:latin typeface="+mj-lt"/>
                        </a:rPr>
                        <a:t>يُستخدم للتطبيقات التي تتطلب نشر تحديثات دورية وخدمات منفصلة قابلة للتطوير</a:t>
                      </a:r>
                    </a:p>
                    <a:p>
                      <a:pPr marL="285750" indent="-285750" algn="r" rtl="1">
                        <a:lnSpc>
                          <a:spcPct val="150000"/>
                        </a:lnSpc>
                        <a:buFont typeface="Arial" panose="020B0604020202020204" pitchFamily="34" charset="0"/>
                        <a:buChar char="•"/>
                      </a:pPr>
                      <a:r>
                        <a:rPr lang="ar-EG" sz="1600" dirty="0">
                          <a:latin typeface="+mj-lt"/>
                        </a:rPr>
                        <a:t>يساعد على </a:t>
                      </a:r>
                      <a:r>
                        <a:rPr lang="ar-SA" sz="1600" dirty="0">
                          <a:latin typeface="+mj-lt"/>
                        </a:rPr>
                        <a:t>تمكين توزيع المهام بين فرق العمل المختلفة وتحقيق مرونة التوسع والتحديث في الخدمات الرقمية المختلفة</a:t>
                      </a:r>
                    </a:p>
                  </a:txBody>
                  <a:tcPr anchor="ctr"/>
                </a:tc>
                <a:tc>
                  <a:txBody>
                    <a:bodyPr/>
                    <a:lstStyle/>
                    <a:p>
                      <a:pPr marL="285750" indent="-285750" algn="r" defTabSz="914400" rtl="1" eaLnBrk="1" latinLnBrk="0" hangingPunct="1">
                        <a:lnSpc>
                          <a:spcPct val="150000"/>
                        </a:lnSpc>
                        <a:buFont typeface="Arial" panose="020B0604020202020204" pitchFamily="34" charset="0"/>
                        <a:buChar char="•"/>
                      </a:pPr>
                      <a:r>
                        <a:rPr lang="ar-SA" sz="1600" kern="1200" dirty="0">
                          <a:solidFill>
                            <a:schemeClr val="dk1"/>
                          </a:solidFill>
                          <a:latin typeface="+mj-lt"/>
                          <a:ea typeface="+mn-ea"/>
                          <a:cs typeface="+mn-cs"/>
                        </a:rPr>
                        <a:t>مناسب للأنظمة التقليدية التي تحتاج إلى فصل واضح بين واجهة المستخدم، الأعمال، وطبقة البيانات، مما يسهل صيانة النظام وتحديثه</a:t>
                      </a:r>
                      <a:endParaRPr lang="ar-EG" sz="1600" kern="1200" dirty="0">
                        <a:solidFill>
                          <a:schemeClr val="dk1"/>
                        </a:solidFill>
                        <a:latin typeface="+mj-lt"/>
                        <a:ea typeface="+mn-ea"/>
                        <a:cs typeface="+mn-cs"/>
                      </a:endParaRPr>
                    </a:p>
                    <a:p>
                      <a:pPr marL="285750" indent="-285750" algn="r" defTabSz="914400" rtl="1" eaLnBrk="1" latinLnBrk="0" hangingPunct="1">
                        <a:lnSpc>
                          <a:spcPct val="150000"/>
                        </a:lnSpc>
                        <a:buFont typeface="Arial" panose="020B0604020202020204" pitchFamily="34" charset="0"/>
                        <a:buChar char="•"/>
                      </a:pPr>
                      <a:r>
                        <a:rPr lang="ar-SA" sz="1600" kern="1200" dirty="0">
                          <a:solidFill>
                            <a:schemeClr val="dk1"/>
                          </a:solidFill>
                          <a:latin typeface="+mj-lt"/>
                          <a:ea typeface="+mn-ea"/>
                          <a:cs typeface="+mn-cs"/>
                        </a:rPr>
                        <a:t>مناسب لتطبيقات الإدارة الداخلية وتدفقات العمل بين الوحدات</a:t>
                      </a:r>
                      <a:endParaRPr lang="en-US" sz="1600" kern="1200" dirty="0">
                        <a:solidFill>
                          <a:schemeClr val="dk1"/>
                        </a:solidFill>
                        <a:latin typeface="+mj-lt"/>
                        <a:ea typeface="+mn-ea"/>
                        <a:cs typeface="+mn-cs"/>
                      </a:endParaRPr>
                    </a:p>
                  </a:txBody>
                  <a:tcPr anchor="ctr"/>
                </a:tc>
                <a:extLst>
                  <a:ext uri="{0D108BD9-81ED-4DB2-BD59-A6C34878D82A}">
                    <a16:rowId xmlns:a16="http://schemas.microsoft.com/office/drawing/2014/main" val="2180443389"/>
                  </a:ext>
                </a:extLst>
              </a:tr>
              <a:tr h="0">
                <a:tc>
                  <a:txBody>
                    <a:bodyPr/>
                    <a:lstStyle/>
                    <a:p>
                      <a:pPr algn="ctr" rtl="1">
                        <a:lnSpc>
                          <a:spcPct val="100000"/>
                        </a:lnSpc>
                      </a:pPr>
                      <a:r>
                        <a:rPr lang="ar-SA" sz="1800" b="1" dirty="0">
                          <a:latin typeface="+mj-lt"/>
                        </a:rPr>
                        <a:t>تقنيات</a:t>
                      </a:r>
                      <a:endParaRPr lang="en-US" sz="1800" b="1" dirty="0">
                        <a:latin typeface="+mj-lt"/>
                      </a:endParaRPr>
                    </a:p>
                  </a:txBody>
                  <a:tcPr anchor="ctr"/>
                </a:tc>
                <a:tc>
                  <a:txBody>
                    <a:bodyPr/>
                    <a:lstStyle/>
                    <a:p>
                      <a:pPr marL="0" indent="0" algn="ctr" defTabSz="914400" rtl="0" eaLnBrk="1" latinLnBrk="0" hangingPunct="1">
                        <a:lnSpc>
                          <a:spcPct val="100000"/>
                        </a:lnSpc>
                        <a:buFont typeface="Arial" panose="020B0604020202020204" pitchFamily="34" charset="0"/>
                        <a:buNone/>
                      </a:pPr>
                      <a:r>
                        <a:rPr lang="en-US" sz="1600" b="1" kern="1200" dirty="0">
                          <a:solidFill>
                            <a:schemeClr val="dk1"/>
                          </a:solidFill>
                          <a:latin typeface="+mj-lt"/>
                          <a:ea typeface="+mn-ea"/>
                          <a:cs typeface="+mn-cs"/>
                        </a:rPr>
                        <a:t>Spring Boot, Node.js, Kubernete، Docker, gRPC، HTTP REST</a:t>
                      </a:r>
                    </a:p>
                  </a:txBody>
                  <a:tcPr anchor="ctr"/>
                </a:tc>
                <a:tc>
                  <a:txBody>
                    <a:bodyPr/>
                    <a:lstStyle/>
                    <a:p>
                      <a:pPr algn="ctr" rtl="0">
                        <a:lnSpc>
                          <a:spcPct val="100000"/>
                        </a:lnSpc>
                      </a:pPr>
                      <a:r>
                        <a:rPr lang="en-US" sz="1600" b="1" dirty="0">
                          <a:latin typeface="+mj-lt"/>
                        </a:rPr>
                        <a:t>Angular, React, .NET, Java Spring, MySQL, PostgreSQL</a:t>
                      </a:r>
                    </a:p>
                  </a:txBody>
                  <a:tcPr anchor="ctr"/>
                </a:tc>
                <a:extLst>
                  <a:ext uri="{0D108BD9-81ED-4DB2-BD59-A6C34878D82A}">
                    <a16:rowId xmlns:a16="http://schemas.microsoft.com/office/drawing/2014/main" val="582781035"/>
                  </a:ext>
                </a:extLst>
              </a:tr>
              <a:tr h="1886867">
                <a:tc>
                  <a:txBody>
                    <a:bodyPr/>
                    <a:lstStyle/>
                    <a:p>
                      <a:pPr algn="ctr" rtl="1">
                        <a:lnSpc>
                          <a:spcPct val="100000"/>
                        </a:lnSpc>
                      </a:pPr>
                      <a:r>
                        <a:rPr lang="ar-EG" sz="1800" b="1" dirty="0">
                          <a:latin typeface="+mj-lt"/>
                        </a:rPr>
                        <a:t>المخطط</a:t>
                      </a:r>
                      <a:endParaRPr lang="en-US" sz="1800" b="1" dirty="0">
                        <a:latin typeface="+mj-lt"/>
                      </a:endParaRPr>
                    </a:p>
                  </a:txBody>
                  <a:tcPr anchor="ctr"/>
                </a:tc>
                <a:tc>
                  <a:txBody>
                    <a:bodyPr/>
                    <a:lstStyle/>
                    <a:p>
                      <a:pPr marL="285750" indent="-285750" algn="r" rtl="1">
                        <a:lnSpc>
                          <a:spcPct val="150000"/>
                        </a:lnSpc>
                        <a:buFont typeface="Arial" panose="020B0604020202020204" pitchFamily="34" charset="0"/>
                        <a:buChar char="•"/>
                      </a:pPr>
                      <a:endParaRPr lang="ar-EG" sz="1600" dirty="0">
                        <a:latin typeface="+mj-lt"/>
                      </a:endParaRPr>
                    </a:p>
                    <a:p>
                      <a:pPr marL="285750" indent="-285750" algn="r" rtl="1">
                        <a:lnSpc>
                          <a:spcPct val="150000"/>
                        </a:lnSpc>
                        <a:buFont typeface="Arial" panose="020B0604020202020204" pitchFamily="34" charset="0"/>
                        <a:buChar char="•"/>
                      </a:pPr>
                      <a:endParaRPr lang="ar-EG" sz="1600" dirty="0">
                        <a:latin typeface="+mj-lt"/>
                      </a:endParaRPr>
                    </a:p>
                    <a:p>
                      <a:pPr marL="285750" indent="-285750" algn="r" rtl="1">
                        <a:lnSpc>
                          <a:spcPct val="150000"/>
                        </a:lnSpc>
                        <a:buFont typeface="Arial" panose="020B0604020202020204" pitchFamily="34" charset="0"/>
                        <a:buChar char="•"/>
                      </a:pPr>
                      <a:endParaRPr lang="ar-EG" sz="1600" dirty="0">
                        <a:latin typeface="+mj-lt"/>
                      </a:endParaRPr>
                    </a:p>
                    <a:p>
                      <a:pPr marL="285750" indent="-285750" algn="r" rtl="1">
                        <a:lnSpc>
                          <a:spcPct val="150000"/>
                        </a:lnSpc>
                        <a:buFont typeface="Arial" panose="020B0604020202020204" pitchFamily="34" charset="0"/>
                        <a:buChar char="•"/>
                      </a:pPr>
                      <a:endParaRPr lang="ar-EG" sz="1600" dirty="0">
                        <a:latin typeface="+mj-lt"/>
                      </a:endParaRPr>
                    </a:p>
                    <a:p>
                      <a:pPr marL="285750" indent="-285750" algn="r" rtl="1">
                        <a:lnSpc>
                          <a:spcPct val="150000"/>
                        </a:lnSpc>
                        <a:buFont typeface="Arial" panose="020B0604020202020204" pitchFamily="34" charset="0"/>
                        <a:buChar char="•"/>
                      </a:pPr>
                      <a:endParaRPr lang="ar-EG" sz="1600" dirty="0">
                        <a:latin typeface="+mj-lt"/>
                      </a:endParaRPr>
                    </a:p>
                    <a:p>
                      <a:pPr marL="285750" indent="-285750" algn="r" rtl="1">
                        <a:lnSpc>
                          <a:spcPct val="150000"/>
                        </a:lnSpc>
                        <a:buFont typeface="Arial" panose="020B0604020202020204" pitchFamily="34" charset="0"/>
                        <a:buChar char="•"/>
                      </a:pPr>
                      <a:endParaRPr lang="ar-EG" sz="1600" dirty="0">
                        <a:latin typeface="+mj-lt"/>
                      </a:endParaRPr>
                    </a:p>
                    <a:p>
                      <a:pPr marL="285750" indent="-285750" algn="r" rtl="1">
                        <a:lnSpc>
                          <a:spcPct val="150000"/>
                        </a:lnSpc>
                        <a:buFont typeface="Arial" panose="020B0604020202020204" pitchFamily="34" charset="0"/>
                        <a:buChar char="•"/>
                      </a:pPr>
                      <a:endParaRPr lang="ar-EG" sz="1600" dirty="0">
                        <a:latin typeface="+mj-lt"/>
                      </a:endParaRPr>
                    </a:p>
                    <a:p>
                      <a:pPr marL="285750" indent="-285750" algn="r" rtl="1">
                        <a:lnSpc>
                          <a:spcPct val="150000"/>
                        </a:lnSpc>
                        <a:buFont typeface="Arial" panose="020B0604020202020204" pitchFamily="34" charset="0"/>
                        <a:buChar char="•"/>
                      </a:pPr>
                      <a:endParaRPr lang="ar-SA" sz="1600" dirty="0">
                        <a:latin typeface="+mj-lt"/>
                      </a:endParaRPr>
                    </a:p>
                  </a:txBody>
                  <a:tcPr anchor="ctr"/>
                </a:tc>
                <a:tc>
                  <a:txBody>
                    <a:bodyPr/>
                    <a:lstStyle/>
                    <a:p>
                      <a:pPr algn="r" rtl="1">
                        <a:lnSpc>
                          <a:spcPct val="100000"/>
                        </a:lnSpc>
                      </a:pPr>
                      <a:endParaRPr lang="en-US" sz="1600" b="1" dirty="0">
                        <a:latin typeface="+mj-lt"/>
                      </a:endParaRPr>
                    </a:p>
                  </a:txBody>
                  <a:tcPr anchor="ctr"/>
                </a:tc>
                <a:extLst>
                  <a:ext uri="{0D108BD9-81ED-4DB2-BD59-A6C34878D82A}">
                    <a16:rowId xmlns:a16="http://schemas.microsoft.com/office/drawing/2014/main" val="3234288986"/>
                  </a:ext>
                </a:extLst>
              </a:tr>
            </a:tbl>
          </a:graphicData>
        </a:graphic>
      </p:graphicFrame>
      <p:pic>
        <p:nvPicPr>
          <p:cNvPr id="6" name="Picture 5">
            <a:extLst>
              <a:ext uri="{FF2B5EF4-FFF2-40B4-BE49-F238E27FC236}">
                <a16:creationId xmlns:a16="http://schemas.microsoft.com/office/drawing/2014/main" id="{CACF7385-75D9-FE77-FB49-8133B7E58393}"/>
              </a:ext>
            </a:extLst>
          </p:cNvPr>
          <p:cNvPicPr>
            <a:picLocks noChangeAspect="1"/>
          </p:cNvPicPr>
          <p:nvPr/>
        </p:nvPicPr>
        <p:blipFill>
          <a:blip r:embed="rId3"/>
          <a:stretch>
            <a:fillRect/>
          </a:stretch>
        </p:blipFill>
        <p:spPr>
          <a:xfrm>
            <a:off x="6908801" y="3875636"/>
            <a:ext cx="2692415" cy="2873594"/>
          </a:xfrm>
          <a:prstGeom prst="rect">
            <a:avLst/>
          </a:prstGeom>
        </p:spPr>
      </p:pic>
      <p:pic>
        <p:nvPicPr>
          <p:cNvPr id="9" name="Picture 8">
            <a:extLst>
              <a:ext uri="{FF2B5EF4-FFF2-40B4-BE49-F238E27FC236}">
                <a16:creationId xmlns:a16="http://schemas.microsoft.com/office/drawing/2014/main" id="{95C8A818-0969-DF0D-0707-430E1E314635}"/>
              </a:ext>
            </a:extLst>
          </p:cNvPr>
          <p:cNvPicPr>
            <a:picLocks noChangeAspect="1"/>
          </p:cNvPicPr>
          <p:nvPr/>
        </p:nvPicPr>
        <p:blipFill>
          <a:blip r:embed="rId4"/>
          <a:stretch>
            <a:fillRect/>
          </a:stretch>
        </p:blipFill>
        <p:spPr>
          <a:xfrm>
            <a:off x="2036728" y="3922435"/>
            <a:ext cx="1880446" cy="2763686"/>
          </a:xfrm>
          <a:prstGeom prst="rect">
            <a:avLst/>
          </a:prstGeom>
        </p:spPr>
      </p:pic>
    </p:spTree>
    <p:extLst>
      <p:ext uri="{BB962C8B-B14F-4D97-AF65-F5344CB8AC3E}">
        <p14:creationId xmlns:p14="http://schemas.microsoft.com/office/powerpoint/2010/main" val="145021695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CBF0D-BA13-2EBD-DA2A-6120AF09EAE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D1A5BD0-D270-88B4-310A-620E0931128A}"/>
              </a:ext>
            </a:extLst>
          </p:cNvPr>
          <p:cNvSpPr>
            <a:spLocks noGrp="1"/>
          </p:cNvSpPr>
          <p:nvPr>
            <p:ph type="title"/>
          </p:nvPr>
        </p:nvSpPr>
        <p:spPr/>
        <p:txBody>
          <a:bodyPr/>
          <a:lstStyle/>
          <a:p>
            <a:r>
              <a:rPr lang="ar-EG" dirty="0"/>
              <a:t>النموذج المرجعي لبنية البيانات</a:t>
            </a:r>
            <a:endParaRPr lang="en-US" dirty="0"/>
          </a:p>
        </p:txBody>
      </p:sp>
      <p:sp>
        <p:nvSpPr>
          <p:cNvPr id="4" name="Text Placeholder 3">
            <a:extLst>
              <a:ext uri="{FF2B5EF4-FFF2-40B4-BE49-F238E27FC236}">
                <a16:creationId xmlns:a16="http://schemas.microsoft.com/office/drawing/2014/main" id="{CD1DD9AA-D1A9-EAC4-8B97-B6B6FA830A31}"/>
              </a:ext>
            </a:extLst>
          </p:cNvPr>
          <p:cNvSpPr>
            <a:spLocks noGrp="1"/>
          </p:cNvSpPr>
          <p:nvPr>
            <p:ph type="body" sz="quarter" idx="14"/>
          </p:nvPr>
        </p:nvSpPr>
        <p:spPr/>
        <p:txBody>
          <a:bodyPr/>
          <a:lstStyle/>
          <a:p>
            <a:r>
              <a:rPr lang="ar-EG" dirty="0"/>
              <a:t>05</a:t>
            </a:r>
            <a:endParaRPr lang="en-US" dirty="0"/>
          </a:p>
        </p:txBody>
      </p:sp>
    </p:spTree>
    <p:extLst>
      <p:ext uri="{BB962C8B-B14F-4D97-AF65-F5344CB8AC3E}">
        <p14:creationId xmlns:p14="http://schemas.microsoft.com/office/powerpoint/2010/main" val="1259409196"/>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2BDF3-F0C2-7FB2-EDD0-68371E29A71D}"/>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DE79971D-8E12-2995-9699-BB922B7FEA24}"/>
              </a:ext>
            </a:extLst>
          </p:cNvPr>
          <p:cNvSpPr/>
          <p:nvPr/>
        </p:nvSpPr>
        <p:spPr>
          <a:xfrm>
            <a:off x="1846352" y="1047592"/>
            <a:ext cx="8103561" cy="48819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endParaRPr lang="en-US" sz="1600" dirty="0"/>
          </a:p>
        </p:txBody>
      </p:sp>
      <p:sp>
        <p:nvSpPr>
          <p:cNvPr id="3" name="Slide Number Placeholder 2">
            <a:extLst>
              <a:ext uri="{FF2B5EF4-FFF2-40B4-BE49-F238E27FC236}">
                <a16:creationId xmlns:a16="http://schemas.microsoft.com/office/drawing/2014/main" id="{C7A62BD6-6CE8-1CF3-53A2-381606B87DB8}"/>
              </a:ext>
            </a:extLst>
          </p:cNvPr>
          <p:cNvSpPr>
            <a:spLocks noGrp="1"/>
          </p:cNvSpPr>
          <p:nvPr>
            <p:ph type="sldNum" sz="quarter" idx="12"/>
          </p:nvPr>
        </p:nvSpPr>
        <p:spPr/>
        <p:txBody>
          <a:bodyPr/>
          <a:lstStyle/>
          <a:p>
            <a:fld id="{0BE4EC83-A869-464E-AE9F-881796FB085E}" type="slidenum">
              <a:rPr lang="en-US" smtClean="0"/>
              <a:t>37</a:t>
            </a:fld>
            <a:endParaRPr lang="en-US" dirty="0"/>
          </a:p>
        </p:txBody>
      </p:sp>
      <p:sp>
        <p:nvSpPr>
          <p:cNvPr id="7" name="Title 1">
            <a:extLst>
              <a:ext uri="{FF2B5EF4-FFF2-40B4-BE49-F238E27FC236}">
                <a16:creationId xmlns:a16="http://schemas.microsoft.com/office/drawing/2014/main" id="{EEF7CBF6-2D0F-62AC-40AF-A9211B17183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نموذج هيكل البيانات</a:t>
            </a:r>
            <a:endParaRPr lang="en-US" dirty="0"/>
          </a:p>
        </p:txBody>
      </p:sp>
      <p:sp>
        <p:nvSpPr>
          <p:cNvPr id="2" name="Rectangle: Rounded Corners 1">
            <a:extLst>
              <a:ext uri="{FF2B5EF4-FFF2-40B4-BE49-F238E27FC236}">
                <a16:creationId xmlns:a16="http://schemas.microsoft.com/office/drawing/2014/main" id="{39F94C6F-07C1-2395-3A0C-36D5A92BB11E}"/>
              </a:ext>
            </a:extLst>
          </p:cNvPr>
          <p:cNvSpPr/>
          <p:nvPr/>
        </p:nvSpPr>
        <p:spPr>
          <a:xfrm>
            <a:off x="7506188" y="1519567"/>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2400" b="1" dirty="0"/>
              <a:t>المؤسسة التعليمية</a:t>
            </a:r>
            <a:endParaRPr lang="en-US" sz="2400" b="1" dirty="0"/>
          </a:p>
        </p:txBody>
      </p:sp>
      <p:sp>
        <p:nvSpPr>
          <p:cNvPr id="4" name="Rectangle: Rounded Corners 3">
            <a:extLst>
              <a:ext uri="{FF2B5EF4-FFF2-40B4-BE49-F238E27FC236}">
                <a16:creationId xmlns:a16="http://schemas.microsoft.com/office/drawing/2014/main" id="{62B57E11-B563-640C-3C79-680A0BAC4D0C}"/>
              </a:ext>
            </a:extLst>
          </p:cNvPr>
          <p:cNvSpPr/>
          <p:nvPr/>
        </p:nvSpPr>
        <p:spPr>
          <a:xfrm>
            <a:off x="4898910" y="1519566"/>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2400" b="1" dirty="0"/>
              <a:t>البرنامج التعليمي</a:t>
            </a:r>
            <a:endParaRPr lang="en-US" sz="2400" b="1" dirty="0"/>
          </a:p>
        </p:txBody>
      </p:sp>
      <p:sp>
        <p:nvSpPr>
          <p:cNvPr id="5" name="Rectangle: Rounded Corners 4">
            <a:extLst>
              <a:ext uri="{FF2B5EF4-FFF2-40B4-BE49-F238E27FC236}">
                <a16:creationId xmlns:a16="http://schemas.microsoft.com/office/drawing/2014/main" id="{AAF695CD-8485-0128-CB46-11B0909A138C}"/>
              </a:ext>
            </a:extLst>
          </p:cNvPr>
          <p:cNvSpPr/>
          <p:nvPr/>
        </p:nvSpPr>
        <p:spPr>
          <a:xfrm>
            <a:off x="2242087" y="1519567"/>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sz="2400" b="1" dirty="0"/>
              <a:t>الممارس</a:t>
            </a:r>
            <a:endParaRPr lang="en-US" sz="2400" b="1" dirty="0"/>
          </a:p>
        </p:txBody>
      </p:sp>
      <p:sp>
        <p:nvSpPr>
          <p:cNvPr id="6" name="Rectangle: Rounded Corners 5">
            <a:extLst>
              <a:ext uri="{FF2B5EF4-FFF2-40B4-BE49-F238E27FC236}">
                <a16:creationId xmlns:a16="http://schemas.microsoft.com/office/drawing/2014/main" id="{24ECCDF6-A623-9231-2161-F881DAD2B8CC}"/>
              </a:ext>
            </a:extLst>
          </p:cNvPr>
          <p:cNvSpPr/>
          <p:nvPr/>
        </p:nvSpPr>
        <p:spPr>
          <a:xfrm>
            <a:off x="4898909" y="3159080"/>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2400" b="1" dirty="0"/>
              <a:t>الاختبار</a:t>
            </a:r>
            <a:endParaRPr lang="en-US" sz="2400" b="1" dirty="0"/>
          </a:p>
        </p:txBody>
      </p:sp>
      <p:sp>
        <p:nvSpPr>
          <p:cNvPr id="10" name="Rectangle: Rounded Corners 9">
            <a:extLst>
              <a:ext uri="{FF2B5EF4-FFF2-40B4-BE49-F238E27FC236}">
                <a16:creationId xmlns:a16="http://schemas.microsoft.com/office/drawing/2014/main" id="{398393CA-5977-88FC-E825-40EDF5E4D1F7}"/>
              </a:ext>
            </a:extLst>
          </p:cNvPr>
          <p:cNvSpPr/>
          <p:nvPr/>
        </p:nvSpPr>
        <p:spPr>
          <a:xfrm>
            <a:off x="2242087" y="3159081"/>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sz="2400" b="1" dirty="0"/>
              <a:t>مركز الاختبار</a:t>
            </a:r>
            <a:endParaRPr lang="en-US" sz="2400" b="1" dirty="0"/>
          </a:p>
        </p:txBody>
      </p:sp>
      <p:sp>
        <p:nvSpPr>
          <p:cNvPr id="11" name="Rectangle: Rounded Corners 10">
            <a:extLst>
              <a:ext uri="{FF2B5EF4-FFF2-40B4-BE49-F238E27FC236}">
                <a16:creationId xmlns:a16="http://schemas.microsoft.com/office/drawing/2014/main" id="{5467F432-5480-2B3B-5FF2-DF614E75D2C5}"/>
              </a:ext>
            </a:extLst>
          </p:cNvPr>
          <p:cNvSpPr/>
          <p:nvPr/>
        </p:nvSpPr>
        <p:spPr>
          <a:xfrm>
            <a:off x="4900814" y="4798594"/>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EG" sz="2400" b="1" dirty="0"/>
              <a:t>نتائج الاختبار</a:t>
            </a:r>
            <a:endParaRPr lang="en-US" sz="2400" b="1" dirty="0"/>
          </a:p>
        </p:txBody>
      </p:sp>
      <p:sp>
        <p:nvSpPr>
          <p:cNvPr id="12" name="Rectangle: Rounded Corners 11">
            <a:extLst>
              <a:ext uri="{FF2B5EF4-FFF2-40B4-BE49-F238E27FC236}">
                <a16:creationId xmlns:a16="http://schemas.microsoft.com/office/drawing/2014/main" id="{89D36C51-BB96-4281-B8D2-BE9BBE5AE254}"/>
              </a:ext>
            </a:extLst>
          </p:cNvPr>
          <p:cNvSpPr/>
          <p:nvPr/>
        </p:nvSpPr>
        <p:spPr>
          <a:xfrm>
            <a:off x="7506187" y="3159078"/>
            <a:ext cx="1985307" cy="840777"/>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sz="2400" b="1" dirty="0"/>
              <a:t>المقيّم</a:t>
            </a:r>
            <a:endParaRPr lang="en-US" sz="2400" b="1" dirty="0"/>
          </a:p>
        </p:txBody>
      </p:sp>
      <p:cxnSp>
        <p:nvCxnSpPr>
          <p:cNvPr id="14" name="Elbow Connector 26">
            <a:extLst>
              <a:ext uri="{FF2B5EF4-FFF2-40B4-BE49-F238E27FC236}">
                <a16:creationId xmlns:a16="http://schemas.microsoft.com/office/drawing/2014/main" id="{FBD0304A-986F-9B63-EE5F-699856B68A9E}"/>
              </a:ext>
            </a:extLst>
          </p:cNvPr>
          <p:cNvCxnSpPr>
            <a:cxnSpLocks/>
            <a:stCxn id="6" idx="1"/>
          </p:cNvCxnSpPr>
          <p:nvPr/>
        </p:nvCxnSpPr>
        <p:spPr>
          <a:xfrm rot="10800000">
            <a:off x="4227395" y="3579467"/>
            <a:ext cx="671514" cy="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26">
            <a:extLst>
              <a:ext uri="{FF2B5EF4-FFF2-40B4-BE49-F238E27FC236}">
                <a16:creationId xmlns:a16="http://schemas.microsoft.com/office/drawing/2014/main" id="{ADD8F10A-BAC8-72B9-A906-B4750EB7A255}"/>
              </a:ext>
            </a:extLst>
          </p:cNvPr>
          <p:cNvCxnSpPr>
            <a:cxnSpLocks/>
            <a:stCxn id="2" idx="1"/>
            <a:endCxn id="4" idx="3"/>
          </p:cNvCxnSpPr>
          <p:nvPr/>
        </p:nvCxnSpPr>
        <p:spPr>
          <a:xfrm rot="10800000">
            <a:off x="6884218" y="1939956"/>
            <a:ext cx="621971" cy="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26">
            <a:extLst>
              <a:ext uri="{FF2B5EF4-FFF2-40B4-BE49-F238E27FC236}">
                <a16:creationId xmlns:a16="http://schemas.microsoft.com/office/drawing/2014/main" id="{36711CB2-B61D-784C-CD57-0AF3BDE2E3AD}"/>
              </a:ext>
            </a:extLst>
          </p:cNvPr>
          <p:cNvCxnSpPr>
            <a:cxnSpLocks/>
            <a:stCxn id="5" idx="3"/>
            <a:endCxn id="4" idx="1"/>
          </p:cNvCxnSpPr>
          <p:nvPr/>
        </p:nvCxnSpPr>
        <p:spPr>
          <a:xfrm flipV="1">
            <a:off x="4227394" y="1939955"/>
            <a:ext cx="671516" cy="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6">
            <a:extLst>
              <a:ext uri="{FF2B5EF4-FFF2-40B4-BE49-F238E27FC236}">
                <a16:creationId xmlns:a16="http://schemas.microsoft.com/office/drawing/2014/main" id="{AA44544F-84A7-1D31-1E86-8D6F172281A2}"/>
              </a:ext>
            </a:extLst>
          </p:cNvPr>
          <p:cNvCxnSpPr>
            <a:cxnSpLocks/>
            <a:stCxn id="5" idx="2"/>
            <a:endCxn id="6" idx="0"/>
          </p:cNvCxnSpPr>
          <p:nvPr/>
        </p:nvCxnSpPr>
        <p:spPr>
          <a:xfrm rot="16200000" flipH="1">
            <a:off x="4163784" y="1431301"/>
            <a:ext cx="798736" cy="265682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26">
            <a:extLst>
              <a:ext uri="{FF2B5EF4-FFF2-40B4-BE49-F238E27FC236}">
                <a16:creationId xmlns:a16="http://schemas.microsoft.com/office/drawing/2014/main" id="{BD78A7CD-E5C0-5BAF-3258-15FD1AED281A}"/>
              </a:ext>
            </a:extLst>
          </p:cNvPr>
          <p:cNvCxnSpPr>
            <a:cxnSpLocks/>
            <a:stCxn id="12" idx="0"/>
            <a:endCxn id="2" idx="2"/>
          </p:cNvCxnSpPr>
          <p:nvPr/>
        </p:nvCxnSpPr>
        <p:spPr>
          <a:xfrm rot="5400000" flipH="1" flipV="1">
            <a:off x="8099474" y="2759711"/>
            <a:ext cx="798734" cy="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26">
            <a:extLst>
              <a:ext uri="{FF2B5EF4-FFF2-40B4-BE49-F238E27FC236}">
                <a16:creationId xmlns:a16="http://schemas.microsoft.com/office/drawing/2014/main" id="{A152156E-40EC-B494-FA87-D4228305D28A}"/>
              </a:ext>
            </a:extLst>
          </p:cNvPr>
          <p:cNvCxnSpPr>
            <a:cxnSpLocks/>
            <a:stCxn id="6" idx="3"/>
            <a:endCxn id="12" idx="1"/>
          </p:cNvCxnSpPr>
          <p:nvPr/>
        </p:nvCxnSpPr>
        <p:spPr>
          <a:xfrm flipV="1">
            <a:off x="6884216" y="3579467"/>
            <a:ext cx="621971" cy="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26">
            <a:extLst>
              <a:ext uri="{FF2B5EF4-FFF2-40B4-BE49-F238E27FC236}">
                <a16:creationId xmlns:a16="http://schemas.microsoft.com/office/drawing/2014/main" id="{59FFB9D4-71F1-0BE2-2AC2-2919E986B242}"/>
              </a:ext>
            </a:extLst>
          </p:cNvPr>
          <p:cNvCxnSpPr>
            <a:cxnSpLocks/>
            <a:stCxn id="6" idx="2"/>
            <a:endCxn id="11" idx="0"/>
          </p:cNvCxnSpPr>
          <p:nvPr/>
        </p:nvCxnSpPr>
        <p:spPr>
          <a:xfrm rot="16200000" flipH="1">
            <a:off x="5493147" y="4398272"/>
            <a:ext cx="798737" cy="1905"/>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26">
            <a:extLst>
              <a:ext uri="{FF2B5EF4-FFF2-40B4-BE49-F238E27FC236}">
                <a16:creationId xmlns:a16="http://schemas.microsoft.com/office/drawing/2014/main" id="{A8727A38-C88C-B40E-7B9C-838811A5E12E}"/>
              </a:ext>
            </a:extLst>
          </p:cNvPr>
          <p:cNvCxnSpPr>
            <a:cxnSpLocks/>
            <a:stCxn id="2" idx="2"/>
            <a:endCxn id="12" idx="0"/>
          </p:cNvCxnSpPr>
          <p:nvPr/>
        </p:nvCxnSpPr>
        <p:spPr>
          <a:xfrm rot="5400000">
            <a:off x="8099475" y="2759711"/>
            <a:ext cx="798734" cy="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26">
            <a:extLst>
              <a:ext uri="{FF2B5EF4-FFF2-40B4-BE49-F238E27FC236}">
                <a16:creationId xmlns:a16="http://schemas.microsoft.com/office/drawing/2014/main" id="{43D5EDB0-9FE5-3D49-F8BC-7CD6EEEFD2FF}"/>
              </a:ext>
            </a:extLst>
          </p:cNvPr>
          <p:cNvCxnSpPr>
            <a:cxnSpLocks/>
            <a:stCxn id="6" idx="0"/>
            <a:endCxn id="5" idx="2"/>
          </p:cNvCxnSpPr>
          <p:nvPr/>
        </p:nvCxnSpPr>
        <p:spPr>
          <a:xfrm rot="16200000" flipV="1">
            <a:off x="4163784" y="1431301"/>
            <a:ext cx="798736" cy="265682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27DE156-BA40-9F29-FBE5-F702411E8481}"/>
              </a:ext>
            </a:extLst>
          </p:cNvPr>
          <p:cNvSpPr/>
          <p:nvPr/>
        </p:nvSpPr>
        <p:spPr>
          <a:xfrm>
            <a:off x="3288915" y="505740"/>
            <a:ext cx="1217138" cy="363176"/>
          </a:xfrm>
          <a:prstGeom prst="rect">
            <a:avLst/>
          </a:prstGeom>
          <a:solidFill>
            <a:schemeClr val="accent2">
              <a:lumMod val="20000"/>
              <a:lumOff val="80000"/>
            </a:schemeClr>
          </a:solidFill>
          <a:ln>
            <a:solidFill>
              <a:srgbClr val="4C3C8D"/>
            </a:solidFill>
          </a:ln>
        </p:spPr>
        <p:txBody>
          <a:bodyPr wrap="square" anchor="ctr" anchorCtr="0">
            <a:noAutofit/>
          </a:bodyPr>
          <a:lstStyle/>
          <a:p>
            <a:pPr algn="ctr" rtl="1">
              <a:lnSpc>
                <a:spcPct val="80000"/>
              </a:lnSpc>
            </a:pPr>
            <a:r>
              <a:rPr lang="ar-SA" sz="1600" dirty="0">
                <a:latin typeface="DIN Next LT Arabic" panose="020B0503020203050203" pitchFamily="34" charset="-78"/>
                <a:cs typeface="DIN Next LT Arabic" panose="020B0503020203050203" pitchFamily="34" charset="-78"/>
              </a:rPr>
              <a:t>مثال</a:t>
            </a:r>
            <a:r>
              <a:rPr lang="ar-EG" sz="1600" dirty="0">
                <a:latin typeface="DIN Next LT Arabic" panose="020B0503020203050203" pitchFamily="34" charset="-78"/>
                <a:cs typeface="DIN Next LT Arabic" panose="020B0503020203050203" pitchFamily="34" charset="-78"/>
              </a:rPr>
              <a:t> توضيحي</a:t>
            </a:r>
            <a:endParaRPr lang="ar-SA" sz="1600" dirty="0">
              <a:latin typeface="DIN Next LT Arabic" panose="020B0503020203050203" pitchFamily="34" charset="-78"/>
              <a:cs typeface="DIN Next LT Arabic" panose="020B0503020203050203" pitchFamily="34" charset="-78"/>
            </a:endParaRPr>
          </a:p>
        </p:txBody>
      </p:sp>
    </p:spTree>
    <p:extLst>
      <p:ext uri="{BB962C8B-B14F-4D97-AF65-F5344CB8AC3E}">
        <p14:creationId xmlns:p14="http://schemas.microsoft.com/office/powerpoint/2010/main" val="309876604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40676-E6F0-3E28-0FAC-97C59558206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CB6B45F-6812-B0E7-ABBA-BE3D2A2C4019}"/>
              </a:ext>
            </a:extLst>
          </p:cNvPr>
          <p:cNvSpPr>
            <a:spLocks noGrp="1"/>
          </p:cNvSpPr>
          <p:nvPr>
            <p:ph type="sldNum" sz="quarter" idx="12"/>
          </p:nvPr>
        </p:nvSpPr>
        <p:spPr/>
        <p:txBody>
          <a:bodyPr/>
          <a:lstStyle/>
          <a:p>
            <a:fld id="{0BE4EC83-A869-464E-AE9F-881796FB085E}" type="slidenum">
              <a:rPr lang="en-US" smtClean="0"/>
              <a:t>38</a:t>
            </a:fld>
            <a:endParaRPr lang="en-US" dirty="0"/>
          </a:p>
        </p:txBody>
      </p:sp>
      <p:sp>
        <p:nvSpPr>
          <p:cNvPr id="7" name="Title 1">
            <a:extLst>
              <a:ext uri="{FF2B5EF4-FFF2-40B4-BE49-F238E27FC236}">
                <a16:creationId xmlns:a16="http://schemas.microsoft.com/office/drawing/2014/main" id="{86ABA3D8-6DFC-B075-8F8F-3F110775D8F5}"/>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كيانات البيانات المرتبطة بقدرات الأعمال</a:t>
            </a:r>
            <a:endParaRPr lang="en-US" dirty="0"/>
          </a:p>
        </p:txBody>
      </p:sp>
      <p:sp>
        <p:nvSpPr>
          <p:cNvPr id="2" name="Rectangle: Rounded Corners 1">
            <a:extLst>
              <a:ext uri="{FF2B5EF4-FFF2-40B4-BE49-F238E27FC236}">
                <a16:creationId xmlns:a16="http://schemas.microsoft.com/office/drawing/2014/main" id="{FAC4CBB3-2D60-020D-9C1B-29EC7EFA3F44}"/>
              </a:ext>
            </a:extLst>
          </p:cNvPr>
          <p:cNvSpPr/>
          <p:nvPr/>
        </p:nvSpPr>
        <p:spPr>
          <a:xfrm>
            <a:off x="6377792" y="1558962"/>
            <a:ext cx="4096871" cy="1555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endParaRPr lang="en-US" sz="1600" dirty="0"/>
          </a:p>
        </p:txBody>
      </p:sp>
      <p:sp>
        <p:nvSpPr>
          <p:cNvPr id="4" name="Rectangle: Rounded Corners 3">
            <a:extLst>
              <a:ext uri="{FF2B5EF4-FFF2-40B4-BE49-F238E27FC236}">
                <a16:creationId xmlns:a16="http://schemas.microsoft.com/office/drawing/2014/main" id="{5AAB76F1-923F-A41B-A95F-4A497CD289E1}"/>
              </a:ext>
            </a:extLst>
          </p:cNvPr>
          <p:cNvSpPr/>
          <p:nvPr/>
        </p:nvSpPr>
        <p:spPr>
          <a:xfrm>
            <a:off x="8556214" y="2200076"/>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المؤسسة التعليمية</a:t>
            </a:r>
            <a:endParaRPr lang="en-US" dirty="0"/>
          </a:p>
        </p:txBody>
      </p:sp>
      <p:sp>
        <p:nvSpPr>
          <p:cNvPr id="5" name="Rectangle: Rounded Corners 4">
            <a:extLst>
              <a:ext uri="{FF2B5EF4-FFF2-40B4-BE49-F238E27FC236}">
                <a16:creationId xmlns:a16="http://schemas.microsoft.com/office/drawing/2014/main" id="{328CD9AF-FAE1-7867-1AE1-09E96C4D759C}"/>
              </a:ext>
            </a:extLst>
          </p:cNvPr>
          <p:cNvSpPr/>
          <p:nvPr/>
        </p:nvSpPr>
        <p:spPr>
          <a:xfrm>
            <a:off x="6786066" y="2200076"/>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المقيّم</a:t>
            </a:r>
            <a:endParaRPr lang="en-US" dirty="0"/>
          </a:p>
        </p:txBody>
      </p:sp>
      <p:sp>
        <p:nvSpPr>
          <p:cNvPr id="6" name="Rectangle: Rounded Corners 5">
            <a:extLst>
              <a:ext uri="{FF2B5EF4-FFF2-40B4-BE49-F238E27FC236}">
                <a16:creationId xmlns:a16="http://schemas.microsoft.com/office/drawing/2014/main" id="{81DAD257-8B56-FD45-E27D-6197FA33C1CB}"/>
              </a:ext>
            </a:extLst>
          </p:cNvPr>
          <p:cNvSpPr/>
          <p:nvPr/>
        </p:nvSpPr>
        <p:spPr>
          <a:xfrm>
            <a:off x="8556213" y="2620084"/>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معايير الاعتماد</a:t>
            </a:r>
            <a:endParaRPr lang="en-US" dirty="0"/>
          </a:p>
        </p:txBody>
      </p:sp>
      <p:sp>
        <p:nvSpPr>
          <p:cNvPr id="8" name="Rectangle: Rounded Corners 7">
            <a:extLst>
              <a:ext uri="{FF2B5EF4-FFF2-40B4-BE49-F238E27FC236}">
                <a16:creationId xmlns:a16="http://schemas.microsoft.com/office/drawing/2014/main" id="{8877F28E-278B-D486-5C3E-60F4CD7521C5}"/>
              </a:ext>
            </a:extLst>
          </p:cNvPr>
          <p:cNvSpPr/>
          <p:nvPr/>
        </p:nvSpPr>
        <p:spPr>
          <a:xfrm>
            <a:off x="6786066" y="2629697"/>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شهادات الاعتماد</a:t>
            </a:r>
            <a:endParaRPr lang="en-US" dirty="0"/>
          </a:p>
        </p:txBody>
      </p:sp>
      <p:sp>
        <p:nvSpPr>
          <p:cNvPr id="9" name="TextBox 8">
            <a:extLst>
              <a:ext uri="{FF2B5EF4-FFF2-40B4-BE49-F238E27FC236}">
                <a16:creationId xmlns:a16="http://schemas.microsoft.com/office/drawing/2014/main" id="{C09FF473-5760-F658-CF18-E0B03779AFE7}"/>
              </a:ext>
            </a:extLst>
          </p:cNvPr>
          <p:cNvSpPr txBox="1"/>
          <p:nvPr/>
        </p:nvSpPr>
        <p:spPr>
          <a:xfrm>
            <a:off x="6847840" y="1630586"/>
            <a:ext cx="3308070" cy="461665"/>
          </a:xfrm>
          <a:prstGeom prst="rect">
            <a:avLst/>
          </a:prstGeom>
          <a:noFill/>
        </p:spPr>
        <p:txBody>
          <a:bodyPr wrap="square" rtlCol="0">
            <a:spAutoFit/>
          </a:bodyPr>
          <a:lstStyle/>
          <a:p>
            <a:pPr algn="ctr"/>
            <a:r>
              <a:rPr lang="ar-SA" sz="2400" b="1" dirty="0">
                <a:solidFill>
                  <a:schemeClr val="bg1"/>
                </a:solidFill>
                <a:latin typeface="Segoe UI" panose="020B0502040204020203" pitchFamily="34" charset="0"/>
                <a:ea typeface="Calibri" panose="020F0502020204030204" pitchFamily="34" charset="0"/>
              </a:rPr>
              <a:t>تقويم واعتماد المؤسسات التعليمية</a:t>
            </a:r>
            <a:endParaRPr lang="en-US" sz="2400" b="1" dirty="0">
              <a:solidFill>
                <a:schemeClr val="bg1"/>
              </a:solidFill>
            </a:endParaRPr>
          </a:p>
        </p:txBody>
      </p:sp>
      <p:sp>
        <p:nvSpPr>
          <p:cNvPr id="10" name="Rectangle: Rounded Corners 9">
            <a:extLst>
              <a:ext uri="{FF2B5EF4-FFF2-40B4-BE49-F238E27FC236}">
                <a16:creationId xmlns:a16="http://schemas.microsoft.com/office/drawing/2014/main" id="{A6F53AC7-485E-7CDD-8D58-77711A2436F3}"/>
              </a:ext>
            </a:extLst>
          </p:cNvPr>
          <p:cNvSpPr/>
          <p:nvPr/>
        </p:nvSpPr>
        <p:spPr>
          <a:xfrm>
            <a:off x="1890057" y="1558962"/>
            <a:ext cx="4096871" cy="1555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endParaRPr lang="en-US" sz="1600" dirty="0"/>
          </a:p>
        </p:txBody>
      </p:sp>
      <p:sp>
        <p:nvSpPr>
          <p:cNvPr id="11" name="Rectangle: Rounded Corners 10">
            <a:extLst>
              <a:ext uri="{FF2B5EF4-FFF2-40B4-BE49-F238E27FC236}">
                <a16:creationId xmlns:a16="http://schemas.microsoft.com/office/drawing/2014/main" id="{EC61E59D-1ADE-1EA3-4CC8-F4550D37968C}"/>
              </a:ext>
            </a:extLst>
          </p:cNvPr>
          <p:cNvSpPr/>
          <p:nvPr/>
        </p:nvSpPr>
        <p:spPr>
          <a:xfrm>
            <a:off x="4068479" y="2200076"/>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المقيّم</a:t>
            </a:r>
            <a:endParaRPr lang="en-US" dirty="0"/>
          </a:p>
        </p:txBody>
      </p:sp>
      <p:sp>
        <p:nvSpPr>
          <p:cNvPr id="12" name="Rectangle: Rounded Corners 11">
            <a:extLst>
              <a:ext uri="{FF2B5EF4-FFF2-40B4-BE49-F238E27FC236}">
                <a16:creationId xmlns:a16="http://schemas.microsoft.com/office/drawing/2014/main" id="{CEC32477-600D-89FC-4BEA-8395D9746308}"/>
              </a:ext>
            </a:extLst>
          </p:cNvPr>
          <p:cNvSpPr/>
          <p:nvPr/>
        </p:nvSpPr>
        <p:spPr>
          <a:xfrm>
            <a:off x="2298331" y="2200076"/>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شهادات الترخيص</a:t>
            </a:r>
            <a:endParaRPr lang="en-US" dirty="0"/>
          </a:p>
        </p:txBody>
      </p:sp>
      <p:sp>
        <p:nvSpPr>
          <p:cNvPr id="13" name="Rectangle: Rounded Corners 12">
            <a:extLst>
              <a:ext uri="{FF2B5EF4-FFF2-40B4-BE49-F238E27FC236}">
                <a16:creationId xmlns:a16="http://schemas.microsoft.com/office/drawing/2014/main" id="{D6302502-209F-88AF-293E-D6CACDDE9313}"/>
              </a:ext>
            </a:extLst>
          </p:cNvPr>
          <p:cNvSpPr/>
          <p:nvPr/>
        </p:nvSpPr>
        <p:spPr>
          <a:xfrm>
            <a:off x="4068478" y="2620084"/>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سجلات التدريب</a:t>
            </a:r>
            <a:endParaRPr lang="en-US" dirty="0"/>
          </a:p>
        </p:txBody>
      </p:sp>
      <p:sp>
        <p:nvSpPr>
          <p:cNvPr id="14" name="Rectangle: Rounded Corners 13">
            <a:extLst>
              <a:ext uri="{FF2B5EF4-FFF2-40B4-BE49-F238E27FC236}">
                <a16:creationId xmlns:a16="http://schemas.microsoft.com/office/drawing/2014/main" id="{94AB1F19-F739-EB47-2402-0511A5A1B36C}"/>
              </a:ext>
            </a:extLst>
          </p:cNvPr>
          <p:cNvSpPr/>
          <p:nvPr/>
        </p:nvSpPr>
        <p:spPr>
          <a:xfrm>
            <a:off x="2298331" y="2629697"/>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تقويم أداء المقيّمين</a:t>
            </a:r>
            <a:endParaRPr lang="en-US" dirty="0"/>
          </a:p>
        </p:txBody>
      </p:sp>
      <p:sp>
        <p:nvSpPr>
          <p:cNvPr id="15" name="TextBox 14">
            <a:extLst>
              <a:ext uri="{FF2B5EF4-FFF2-40B4-BE49-F238E27FC236}">
                <a16:creationId xmlns:a16="http://schemas.microsoft.com/office/drawing/2014/main" id="{605F7ED3-B9A9-A508-CF36-C0678D401158}"/>
              </a:ext>
            </a:extLst>
          </p:cNvPr>
          <p:cNvSpPr txBox="1"/>
          <p:nvPr/>
        </p:nvSpPr>
        <p:spPr>
          <a:xfrm>
            <a:off x="2298331" y="1630586"/>
            <a:ext cx="3369844" cy="461665"/>
          </a:xfrm>
          <a:prstGeom prst="rect">
            <a:avLst/>
          </a:prstGeom>
          <a:noFill/>
        </p:spPr>
        <p:txBody>
          <a:bodyPr wrap="square" rtlCol="0">
            <a:spAutoFit/>
          </a:bodyPr>
          <a:lstStyle/>
          <a:p>
            <a:pPr algn="ctr"/>
            <a:r>
              <a:rPr lang="ar-SA" sz="2400" b="1" dirty="0">
                <a:solidFill>
                  <a:schemeClr val="bg1"/>
                </a:solidFill>
                <a:latin typeface="Segoe UI" panose="020B0502040204020203" pitchFamily="34" charset="0"/>
                <a:ea typeface="Calibri" panose="020F0502020204030204" pitchFamily="34" charset="0"/>
              </a:rPr>
              <a:t>ترخيص المقيّمين والمدققين</a:t>
            </a:r>
            <a:endParaRPr lang="en-US" sz="2400" b="1" dirty="0">
              <a:solidFill>
                <a:schemeClr val="bg1"/>
              </a:solidFill>
            </a:endParaRPr>
          </a:p>
        </p:txBody>
      </p:sp>
      <p:sp>
        <p:nvSpPr>
          <p:cNvPr id="16" name="Rectangle: Rounded Corners 15">
            <a:extLst>
              <a:ext uri="{FF2B5EF4-FFF2-40B4-BE49-F238E27FC236}">
                <a16:creationId xmlns:a16="http://schemas.microsoft.com/office/drawing/2014/main" id="{3514F10F-6350-D898-783D-1CB79C2E1511}"/>
              </a:ext>
            </a:extLst>
          </p:cNvPr>
          <p:cNvSpPr/>
          <p:nvPr/>
        </p:nvSpPr>
        <p:spPr>
          <a:xfrm>
            <a:off x="6378170" y="3397922"/>
            <a:ext cx="4096871" cy="1555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endParaRPr lang="en-US" sz="1600" dirty="0"/>
          </a:p>
        </p:txBody>
      </p:sp>
      <p:sp>
        <p:nvSpPr>
          <p:cNvPr id="17" name="Rectangle: Rounded Corners 16">
            <a:extLst>
              <a:ext uri="{FF2B5EF4-FFF2-40B4-BE49-F238E27FC236}">
                <a16:creationId xmlns:a16="http://schemas.microsoft.com/office/drawing/2014/main" id="{5D78FC78-EACE-20E9-8820-F20E7561B100}"/>
              </a:ext>
            </a:extLst>
          </p:cNvPr>
          <p:cNvSpPr/>
          <p:nvPr/>
        </p:nvSpPr>
        <p:spPr>
          <a:xfrm>
            <a:off x="8556592" y="4039036"/>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البرنامج التعليمي</a:t>
            </a:r>
            <a:endParaRPr lang="en-US" dirty="0"/>
          </a:p>
        </p:txBody>
      </p:sp>
      <p:sp>
        <p:nvSpPr>
          <p:cNvPr id="18" name="Rectangle: Rounded Corners 17">
            <a:extLst>
              <a:ext uri="{FF2B5EF4-FFF2-40B4-BE49-F238E27FC236}">
                <a16:creationId xmlns:a16="http://schemas.microsoft.com/office/drawing/2014/main" id="{74C2BA4B-8E0E-6079-5AF5-2D625C7C01A1}"/>
              </a:ext>
            </a:extLst>
          </p:cNvPr>
          <p:cNvSpPr/>
          <p:nvPr/>
        </p:nvSpPr>
        <p:spPr>
          <a:xfrm>
            <a:off x="6786444" y="4039036"/>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المؤسسة التعليمية</a:t>
            </a:r>
            <a:endParaRPr lang="en-US" dirty="0"/>
          </a:p>
        </p:txBody>
      </p:sp>
      <p:sp>
        <p:nvSpPr>
          <p:cNvPr id="19" name="Rectangle: Rounded Corners 18">
            <a:extLst>
              <a:ext uri="{FF2B5EF4-FFF2-40B4-BE49-F238E27FC236}">
                <a16:creationId xmlns:a16="http://schemas.microsoft.com/office/drawing/2014/main" id="{25409BC7-0BDF-9D7E-4CCD-E0BBD7EAB837}"/>
              </a:ext>
            </a:extLst>
          </p:cNvPr>
          <p:cNvSpPr/>
          <p:nvPr/>
        </p:nvSpPr>
        <p:spPr>
          <a:xfrm>
            <a:off x="8556591" y="4459044"/>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معايير البرنامج</a:t>
            </a:r>
            <a:endParaRPr lang="en-US" dirty="0"/>
          </a:p>
        </p:txBody>
      </p:sp>
      <p:sp>
        <p:nvSpPr>
          <p:cNvPr id="20" name="Rectangle: Rounded Corners 19">
            <a:extLst>
              <a:ext uri="{FF2B5EF4-FFF2-40B4-BE49-F238E27FC236}">
                <a16:creationId xmlns:a16="http://schemas.microsoft.com/office/drawing/2014/main" id="{2C3F4226-7F37-7B5E-A436-DE0647FF86F1}"/>
              </a:ext>
            </a:extLst>
          </p:cNvPr>
          <p:cNvSpPr/>
          <p:nvPr/>
        </p:nvSpPr>
        <p:spPr>
          <a:xfrm>
            <a:off x="6786444" y="4468657"/>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نتائج التقويم</a:t>
            </a:r>
            <a:endParaRPr lang="en-US" dirty="0"/>
          </a:p>
        </p:txBody>
      </p:sp>
      <p:sp>
        <p:nvSpPr>
          <p:cNvPr id="21" name="TextBox 20">
            <a:extLst>
              <a:ext uri="{FF2B5EF4-FFF2-40B4-BE49-F238E27FC236}">
                <a16:creationId xmlns:a16="http://schemas.microsoft.com/office/drawing/2014/main" id="{5DEB8E24-4A5E-05E8-0013-85A07870FD44}"/>
              </a:ext>
            </a:extLst>
          </p:cNvPr>
          <p:cNvSpPr txBox="1"/>
          <p:nvPr/>
        </p:nvSpPr>
        <p:spPr>
          <a:xfrm>
            <a:off x="6786066" y="3469546"/>
            <a:ext cx="3370222" cy="461665"/>
          </a:xfrm>
          <a:prstGeom prst="rect">
            <a:avLst/>
          </a:prstGeom>
          <a:noFill/>
        </p:spPr>
        <p:txBody>
          <a:bodyPr wrap="square" rtlCol="0">
            <a:spAutoFit/>
          </a:bodyPr>
          <a:lstStyle/>
          <a:p>
            <a:pPr algn="ctr"/>
            <a:r>
              <a:rPr lang="ar-SA" sz="2400" b="1" dirty="0">
                <a:solidFill>
                  <a:schemeClr val="bg1"/>
                </a:solidFill>
                <a:latin typeface="Segoe UI" panose="020B0502040204020203" pitchFamily="34" charset="0"/>
                <a:ea typeface="Calibri" panose="020F0502020204030204" pitchFamily="34" charset="0"/>
              </a:rPr>
              <a:t>تقويم واعتماد البرامج التعليمية</a:t>
            </a:r>
            <a:endParaRPr lang="en-US" sz="2400" b="1" dirty="0">
              <a:solidFill>
                <a:schemeClr val="bg1"/>
              </a:solidFill>
            </a:endParaRPr>
          </a:p>
        </p:txBody>
      </p:sp>
      <p:sp>
        <p:nvSpPr>
          <p:cNvPr id="22" name="Rectangle: Rounded Corners 21">
            <a:extLst>
              <a:ext uri="{FF2B5EF4-FFF2-40B4-BE49-F238E27FC236}">
                <a16:creationId xmlns:a16="http://schemas.microsoft.com/office/drawing/2014/main" id="{DF922198-5E11-D4BA-05C1-346EAAA4F6A2}"/>
              </a:ext>
            </a:extLst>
          </p:cNvPr>
          <p:cNvSpPr/>
          <p:nvPr/>
        </p:nvSpPr>
        <p:spPr>
          <a:xfrm>
            <a:off x="1890435" y="3397922"/>
            <a:ext cx="4096871" cy="1555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endParaRPr lang="en-US" sz="1600" dirty="0"/>
          </a:p>
        </p:txBody>
      </p:sp>
      <p:sp>
        <p:nvSpPr>
          <p:cNvPr id="23" name="Rectangle: Rounded Corners 22">
            <a:extLst>
              <a:ext uri="{FF2B5EF4-FFF2-40B4-BE49-F238E27FC236}">
                <a16:creationId xmlns:a16="http://schemas.microsoft.com/office/drawing/2014/main" id="{7C3F733D-6F56-9BE4-8DB4-34E49CD65FB3}"/>
              </a:ext>
            </a:extLst>
          </p:cNvPr>
          <p:cNvSpPr/>
          <p:nvPr/>
        </p:nvSpPr>
        <p:spPr>
          <a:xfrm>
            <a:off x="4068857" y="4039036"/>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نتائج الاختبارات</a:t>
            </a:r>
            <a:endParaRPr lang="en-US" dirty="0"/>
          </a:p>
        </p:txBody>
      </p:sp>
      <p:sp>
        <p:nvSpPr>
          <p:cNvPr id="24" name="Rectangle: Rounded Corners 23">
            <a:extLst>
              <a:ext uri="{FF2B5EF4-FFF2-40B4-BE49-F238E27FC236}">
                <a16:creationId xmlns:a16="http://schemas.microsoft.com/office/drawing/2014/main" id="{71B7DF08-FD68-9540-C46B-783736EDDF93}"/>
              </a:ext>
            </a:extLst>
          </p:cNvPr>
          <p:cNvSpPr/>
          <p:nvPr/>
        </p:nvSpPr>
        <p:spPr>
          <a:xfrm>
            <a:off x="2298709" y="4039036"/>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تقارير الأداء</a:t>
            </a:r>
            <a:endParaRPr lang="en-US" dirty="0"/>
          </a:p>
        </p:txBody>
      </p:sp>
      <p:sp>
        <p:nvSpPr>
          <p:cNvPr id="25" name="Rectangle: Rounded Corners 24">
            <a:extLst>
              <a:ext uri="{FF2B5EF4-FFF2-40B4-BE49-F238E27FC236}">
                <a16:creationId xmlns:a16="http://schemas.microsoft.com/office/drawing/2014/main" id="{9531C50D-168B-BBB8-984A-9CE9C7051A83}"/>
              </a:ext>
            </a:extLst>
          </p:cNvPr>
          <p:cNvSpPr/>
          <p:nvPr/>
        </p:nvSpPr>
        <p:spPr>
          <a:xfrm>
            <a:off x="4068856" y="4459044"/>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المؤسسات التعليمية</a:t>
            </a:r>
            <a:endParaRPr lang="en-US" dirty="0"/>
          </a:p>
        </p:txBody>
      </p:sp>
      <p:sp>
        <p:nvSpPr>
          <p:cNvPr id="26" name="Rectangle: Rounded Corners 25">
            <a:extLst>
              <a:ext uri="{FF2B5EF4-FFF2-40B4-BE49-F238E27FC236}">
                <a16:creationId xmlns:a16="http://schemas.microsoft.com/office/drawing/2014/main" id="{9B1522E3-6513-4981-45F7-1CDCED13F4A6}"/>
              </a:ext>
            </a:extLst>
          </p:cNvPr>
          <p:cNvSpPr/>
          <p:nvPr/>
        </p:nvSpPr>
        <p:spPr>
          <a:xfrm>
            <a:off x="2298709" y="4468657"/>
            <a:ext cx="1640540" cy="376518"/>
          </a:xfrm>
          <a:prstGeom prst="roundRect">
            <a:avLst/>
          </a:prstGeom>
          <a:solidFill>
            <a:srgbClr val="3FA0D9"/>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ar-SA" dirty="0"/>
              <a:t>البرامج التعليمية</a:t>
            </a:r>
            <a:endParaRPr lang="en-US" dirty="0"/>
          </a:p>
        </p:txBody>
      </p:sp>
      <p:sp>
        <p:nvSpPr>
          <p:cNvPr id="27" name="TextBox 26">
            <a:extLst>
              <a:ext uri="{FF2B5EF4-FFF2-40B4-BE49-F238E27FC236}">
                <a16:creationId xmlns:a16="http://schemas.microsoft.com/office/drawing/2014/main" id="{2CDF147F-D076-AA36-58FF-808CDE3BECDF}"/>
              </a:ext>
            </a:extLst>
          </p:cNvPr>
          <p:cNvSpPr txBox="1"/>
          <p:nvPr/>
        </p:nvSpPr>
        <p:spPr>
          <a:xfrm>
            <a:off x="2298331" y="3469546"/>
            <a:ext cx="3370222" cy="461665"/>
          </a:xfrm>
          <a:prstGeom prst="rect">
            <a:avLst/>
          </a:prstGeom>
          <a:noFill/>
        </p:spPr>
        <p:txBody>
          <a:bodyPr wrap="square" rtlCol="0">
            <a:spAutoFit/>
          </a:bodyPr>
          <a:lstStyle/>
          <a:p>
            <a:pPr algn="ctr"/>
            <a:r>
              <a:rPr lang="ar-SA" sz="2400" b="1" dirty="0">
                <a:solidFill>
                  <a:schemeClr val="bg1"/>
                </a:solidFill>
                <a:latin typeface="Segoe UI" panose="020B0502040204020203" pitchFamily="34" charset="0"/>
                <a:ea typeface="Calibri" panose="020F0502020204030204" pitchFamily="34" charset="0"/>
              </a:rPr>
              <a:t>تحليل البيانات وإصدار التقارير</a:t>
            </a:r>
            <a:endParaRPr lang="en-US" sz="2400" b="1" dirty="0">
              <a:solidFill>
                <a:schemeClr val="bg1"/>
              </a:solidFill>
            </a:endParaRPr>
          </a:p>
        </p:txBody>
      </p:sp>
      <p:sp>
        <p:nvSpPr>
          <p:cNvPr id="28" name="Rectangle 27">
            <a:extLst>
              <a:ext uri="{FF2B5EF4-FFF2-40B4-BE49-F238E27FC236}">
                <a16:creationId xmlns:a16="http://schemas.microsoft.com/office/drawing/2014/main" id="{085C31B1-419A-332C-D9B6-1E432051BE9F}"/>
              </a:ext>
            </a:extLst>
          </p:cNvPr>
          <p:cNvSpPr/>
          <p:nvPr/>
        </p:nvSpPr>
        <p:spPr>
          <a:xfrm>
            <a:off x="3288915" y="505740"/>
            <a:ext cx="1217138" cy="363176"/>
          </a:xfrm>
          <a:prstGeom prst="rect">
            <a:avLst/>
          </a:prstGeom>
          <a:solidFill>
            <a:schemeClr val="accent2">
              <a:lumMod val="20000"/>
              <a:lumOff val="80000"/>
            </a:schemeClr>
          </a:solidFill>
          <a:ln>
            <a:solidFill>
              <a:srgbClr val="4C3C8D"/>
            </a:solidFill>
          </a:ln>
        </p:spPr>
        <p:txBody>
          <a:bodyPr wrap="square" anchor="ctr" anchorCtr="0">
            <a:noAutofit/>
          </a:bodyPr>
          <a:lstStyle/>
          <a:p>
            <a:pPr algn="ctr" rtl="1">
              <a:lnSpc>
                <a:spcPct val="80000"/>
              </a:lnSpc>
            </a:pPr>
            <a:r>
              <a:rPr lang="ar-SA" sz="1600" dirty="0">
                <a:latin typeface="DIN Next LT Arabic" panose="020B0503020203050203" pitchFamily="34" charset="-78"/>
                <a:cs typeface="DIN Next LT Arabic" panose="020B0503020203050203" pitchFamily="34" charset="-78"/>
              </a:rPr>
              <a:t>مثال</a:t>
            </a:r>
            <a:r>
              <a:rPr lang="ar-EG" sz="1600" dirty="0">
                <a:latin typeface="DIN Next LT Arabic" panose="020B0503020203050203" pitchFamily="34" charset="-78"/>
                <a:cs typeface="DIN Next LT Arabic" panose="020B0503020203050203" pitchFamily="34" charset="-78"/>
              </a:rPr>
              <a:t> توضيحي</a:t>
            </a:r>
            <a:endParaRPr lang="ar-SA" sz="1600" dirty="0">
              <a:latin typeface="DIN Next LT Arabic" panose="020B0503020203050203" pitchFamily="34" charset="-78"/>
              <a:cs typeface="DIN Next LT Arabic" panose="020B0503020203050203" pitchFamily="34" charset="-78"/>
            </a:endParaRPr>
          </a:p>
        </p:txBody>
      </p:sp>
    </p:spTree>
    <p:extLst>
      <p:ext uri="{BB962C8B-B14F-4D97-AF65-F5344CB8AC3E}">
        <p14:creationId xmlns:p14="http://schemas.microsoft.com/office/powerpoint/2010/main" val="415053461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18083-F67E-8F23-3472-B075CD85B7C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36DE42-0764-BBF1-7D41-DA6D98E3F45E}"/>
              </a:ext>
            </a:extLst>
          </p:cNvPr>
          <p:cNvSpPr>
            <a:spLocks noGrp="1"/>
          </p:cNvSpPr>
          <p:nvPr>
            <p:ph type="sldNum" sz="quarter" idx="12"/>
          </p:nvPr>
        </p:nvSpPr>
        <p:spPr/>
        <p:txBody>
          <a:bodyPr/>
          <a:lstStyle/>
          <a:p>
            <a:fld id="{0BE4EC83-A869-464E-AE9F-881796FB085E}" type="slidenum">
              <a:rPr lang="en-US" smtClean="0"/>
              <a:t>39</a:t>
            </a:fld>
            <a:endParaRPr lang="en-US" dirty="0"/>
          </a:p>
        </p:txBody>
      </p:sp>
      <p:sp>
        <p:nvSpPr>
          <p:cNvPr id="7" name="Title 1">
            <a:extLst>
              <a:ext uri="{FF2B5EF4-FFF2-40B4-BE49-F238E27FC236}">
                <a16:creationId xmlns:a16="http://schemas.microsoft.com/office/drawing/2014/main" id="{73E44F1A-958D-6483-EE78-DFEE4DAF9AD0}"/>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وصف لبعض أنماط تبادل البيانات التي قد تستخدمها الهيئة</a:t>
            </a:r>
            <a:endParaRPr lang="en-US" dirty="0"/>
          </a:p>
        </p:txBody>
      </p:sp>
      <p:graphicFrame>
        <p:nvGraphicFramePr>
          <p:cNvPr id="2" name="Table 8">
            <a:extLst>
              <a:ext uri="{FF2B5EF4-FFF2-40B4-BE49-F238E27FC236}">
                <a16:creationId xmlns:a16="http://schemas.microsoft.com/office/drawing/2014/main" id="{B5E7E21B-2F29-EA4B-FD1A-CF0AB947DB1E}"/>
              </a:ext>
            </a:extLst>
          </p:cNvPr>
          <p:cNvGraphicFramePr>
            <a:graphicFrameLocks noGrp="1"/>
          </p:cNvGraphicFramePr>
          <p:nvPr>
            <p:extLst>
              <p:ext uri="{D42A27DB-BD31-4B8C-83A1-F6EECF244321}">
                <p14:modId xmlns:p14="http://schemas.microsoft.com/office/powerpoint/2010/main" val="2618213450"/>
              </p:ext>
            </p:extLst>
          </p:nvPr>
        </p:nvGraphicFramePr>
        <p:xfrm>
          <a:off x="738965" y="967424"/>
          <a:ext cx="10724228" cy="5128542"/>
        </p:xfrm>
        <a:graphic>
          <a:graphicData uri="http://schemas.openxmlformats.org/drawingml/2006/table">
            <a:tbl>
              <a:tblPr rtl="1" firstRow="1" bandRow="1">
                <a:tableStyleId>{5C22544A-7EE6-4342-B048-85BDC9FD1C3A}</a:tableStyleId>
              </a:tblPr>
              <a:tblGrid>
                <a:gridCol w="647873">
                  <a:extLst>
                    <a:ext uri="{9D8B030D-6E8A-4147-A177-3AD203B41FA5}">
                      <a16:colId xmlns:a16="http://schemas.microsoft.com/office/drawing/2014/main" val="637829901"/>
                    </a:ext>
                  </a:extLst>
                </a:gridCol>
                <a:gridCol w="3358785">
                  <a:extLst>
                    <a:ext uri="{9D8B030D-6E8A-4147-A177-3AD203B41FA5}">
                      <a16:colId xmlns:a16="http://schemas.microsoft.com/office/drawing/2014/main" val="3508638489"/>
                    </a:ext>
                  </a:extLst>
                </a:gridCol>
                <a:gridCol w="3358785">
                  <a:extLst>
                    <a:ext uri="{9D8B030D-6E8A-4147-A177-3AD203B41FA5}">
                      <a16:colId xmlns:a16="http://schemas.microsoft.com/office/drawing/2014/main" val="4131926552"/>
                    </a:ext>
                  </a:extLst>
                </a:gridCol>
                <a:gridCol w="3358785">
                  <a:extLst>
                    <a:ext uri="{9D8B030D-6E8A-4147-A177-3AD203B41FA5}">
                      <a16:colId xmlns:a16="http://schemas.microsoft.com/office/drawing/2014/main" val="543068415"/>
                    </a:ext>
                  </a:extLst>
                </a:gridCol>
              </a:tblGrid>
              <a:tr h="444646">
                <a:tc>
                  <a:txBody>
                    <a:bodyPr/>
                    <a:lstStyle/>
                    <a:p>
                      <a:pPr algn="ctr" rtl="1" fontAlgn="b"/>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الرمز</a:t>
                      </a:r>
                    </a:p>
                  </a:txBody>
                  <a:tcPr anchor="ctr"/>
                </a:tc>
                <a:tc>
                  <a:txBody>
                    <a:bodyPr/>
                    <a:lstStyle/>
                    <a:p>
                      <a:pPr algn="ctr" rtl="1" fontAlgn="b"/>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النمط</a:t>
                      </a:r>
                    </a:p>
                  </a:txBody>
                  <a:tcPr anchor="ctr"/>
                </a:tc>
                <a:tc>
                  <a:txBody>
                    <a:bodyPr/>
                    <a:lstStyle/>
                    <a:p>
                      <a:pPr algn="ctr" rtl="1" fontAlgn="b"/>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وصف النمط</a:t>
                      </a:r>
                    </a:p>
                  </a:txBody>
                  <a:tcPr anchor="ctr"/>
                </a:tc>
                <a:tc>
                  <a:txBody>
                    <a:bodyPr/>
                    <a:lstStyle/>
                    <a:p>
                      <a:pPr algn="ctr" rtl="1" fontAlgn="b"/>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الاعتبارات الرئيسية للتطبيق</a:t>
                      </a:r>
                    </a:p>
                  </a:txBody>
                  <a:tcPr anchor="ctr"/>
                </a:tc>
                <a:extLst>
                  <a:ext uri="{0D108BD9-81ED-4DB2-BD59-A6C34878D82A}">
                    <a16:rowId xmlns:a16="http://schemas.microsoft.com/office/drawing/2014/main" val="3194809227"/>
                  </a:ext>
                </a:extLst>
              </a:tr>
              <a:tr h="90427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أ</a:t>
                      </a:r>
                    </a:p>
                  </a:txBody>
                  <a:tcPr anchor="ctr"/>
                </a:tc>
                <a:tc>
                  <a:txBody>
                    <a:bodyPr/>
                    <a:lstStyle/>
                    <a:p>
                      <a:pPr algn="r" rtl="1" fontAlgn="b"/>
                      <a:r>
                        <a:rPr lang="ar-SA" sz="1600" b="1" i="0" u="none" strike="noStrike" baseline="0" dirty="0">
                          <a:solidFill>
                            <a:srgbClr val="000000"/>
                          </a:solidFill>
                          <a:effectLst/>
                          <a:latin typeface="Sakkal Majalla" panose="02000000000000000000" pitchFamily="2" charset="-78"/>
                          <a:cs typeface="Sakkal Majalla" panose="02000000000000000000" pitchFamily="2" charset="-78"/>
                        </a:rPr>
                        <a:t>الربط باستخدام واجهة خدمات ويب من خلال منصة إدارة التكامل الداخلي</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يسمح هذا النمط من أنماط التكامل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بتوفير </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واستخدام واجهة خدمات ويب داخل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الهيئة</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 والمدارة من خلال منصة التكامل الداخلي</a:t>
                      </a:r>
                    </a:p>
                  </a:txBody>
                  <a:tcPr anchor="ctr"/>
                </a:tc>
                <a:tc>
                  <a:txBody>
                    <a:bodyPr/>
                    <a:lstStyle/>
                    <a:p>
                      <a:pPr algn="r" rtl="1" fontAlgn="b"/>
                      <a:r>
                        <a:rPr lang="ar-SA" sz="1600" b="0" i="0" u="none" strike="noStrike" baseline="0">
                          <a:solidFill>
                            <a:srgbClr val="000000"/>
                          </a:solidFill>
                          <a:effectLst/>
                          <a:latin typeface="Sakkal Majalla" panose="02000000000000000000" pitchFamily="2" charset="-78"/>
                          <a:cs typeface="Sakkal Majalla" panose="02000000000000000000" pitchFamily="2" charset="-78"/>
                        </a:rPr>
                        <a:t>يتم استخدام هذا النمط لتحقيق التكامل بين التطبيقات الداخلية فقط</a:t>
                      </a:r>
                    </a:p>
                  </a:txBody>
                  <a:tcPr anchor="ctr"/>
                </a:tc>
                <a:extLst>
                  <a:ext uri="{0D108BD9-81ED-4DB2-BD59-A6C34878D82A}">
                    <a16:rowId xmlns:a16="http://schemas.microsoft.com/office/drawing/2014/main" val="2306921876"/>
                  </a:ext>
                </a:extLst>
              </a:tr>
              <a:tr h="90427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ب</a:t>
                      </a:r>
                    </a:p>
                  </a:txBody>
                  <a:tcPr anchor="ctr"/>
                </a:tc>
                <a:tc>
                  <a:txBody>
                    <a:bodyPr/>
                    <a:lstStyle/>
                    <a:p>
                      <a:pPr algn="r" rtl="1" fontAlgn="b"/>
                      <a:r>
                        <a:rPr lang="ar-SA" sz="1600" b="1" i="0" u="none" strike="noStrike" baseline="0" dirty="0">
                          <a:solidFill>
                            <a:srgbClr val="000000"/>
                          </a:solidFill>
                          <a:effectLst/>
                          <a:latin typeface="Sakkal Majalla" panose="02000000000000000000" pitchFamily="2" charset="-78"/>
                          <a:cs typeface="Sakkal Majalla" panose="02000000000000000000" pitchFamily="2" charset="-78"/>
                        </a:rPr>
                        <a:t>الربط باستخدام تبادل البيانات من خلال</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600" b="1" i="0" u="none" strike="noStrike" baseline="0" dirty="0">
                          <a:solidFill>
                            <a:srgbClr val="000000"/>
                          </a:solidFill>
                          <a:effectLst/>
                          <a:latin typeface="Sakkal Majalla" panose="02000000000000000000" pitchFamily="2" charset="-78"/>
                          <a:cs typeface="Sakkal Majalla" panose="02000000000000000000" pitchFamily="2" charset="-78"/>
                        </a:rPr>
                        <a:t>ETL / ELT</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6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يسمح هذا النمط من أنماط التكامل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للهيئة</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 بتوفير التكامل من خلال الربط الآمن والمباشر لقواعد البيانات لتبادل حجم كبير للبيانات</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يتناسب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هذا النمط </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مع الحاجة لتبادل البيانات بأحجام كبيرة ومع متطلبات تبادل البيانات غير المهيكلة أو شبه المهيكلة داخل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الهيئة</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372816279"/>
                  </a:ext>
                </a:extLst>
              </a:tr>
              <a:tr h="90427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ج</a:t>
                      </a:r>
                    </a:p>
                  </a:txBody>
                  <a:tcPr anchor="ctr"/>
                </a:tc>
                <a:tc>
                  <a:txBody>
                    <a:bodyPr/>
                    <a:lstStyle/>
                    <a:p>
                      <a:pPr algn="r" rtl="1" fontAlgn="b"/>
                      <a:r>
                        <a:rPr lang="ar-SA" sz="1600" b="1" i="0" u="none" strike="noStrike" baseline="0" dirty="0">
                          <a:solidFill>
                            <a:srgbClr val="000000"/>
                          </a:solidFill>
                          <a:effectLst/>
                          <a:latin typeface="Sakkal Majalla" panose="02000000000000000000" pitchFamily="2" charset="-78"/>
                          <a:cs typeface="Sakkal Majalla" panose="02000000000000000000" pitchFamily="2" charset="-78"/>
                        </a:rPr>
                        <a:t>الربط المباشر باستخدام واجهة خدمات ويب مع التطبيقات الخارجية</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600" b="1" i="0" u="none" strike="noStrike" baseline="0" dirty="0">
                          <a:solidFill>
                            <a:srgbClr val="000000"/>
                          </a:solidFill>
                          <a:effectLst/>
                          <a:latin typeface="Sakkal Majalla" panose="02000000000000000000" pitchFamily="2" charset="-78"/>
                          <a:cs typeface="Sakkal Majalla" panose="02000000000000000000" pitchFamily="2" charset="-78"/>
                        </a:rPr>
                        <a:t>Secure VPN Tunnel</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16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يسمح هذا النمط من أنماط التكامل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للهيئة</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 بتوفير واستخدام واجهة خدمات ويب بين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الهيئة</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 والجهات الخارجية من خلال ربط مباشر عبر شبكة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امنة</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يستخدم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هذا النمط </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عند الحاجة لتبادل البيانات مع جهات غير حكومية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مع ضرورة تأمين الدارة الشبكية واستخدام بروتوكولات خاصة بتشفير وتأمين البيانات عند نقلها</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947784764"/>
                  </a:ext>
                </a:extLst>
              </a:tr>
              <a:tr h="904274">
                <a:tc>
                  <a:txBody>
                    <a:bodyPr/>
                    <a:lstStyle/>
                    <a:p>
                      <a:pPr algn="ctr" rtl="1" fontAlgn="b"/>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د</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algn="r" rtl="1" fontAlgn="b"/>
                      <a:r>
                        <a:rPr lang="ar-SA" sz="1600" b="1" i="0" u="none" strike="noStrike" baseline="0" dirty="0">
                          <a:solidFill>
                            <a:srgbClr val="000000"/>
                          </a:solidFill>
                          <a:effectLst/>
                          <a:latin typeface="Sakkal Majalla" panose="02000000000000000000" pitchFamily="2" charset="-78"/>
                          <a:cs typeface="Sakkal Majalla" panose="02000000000000000000" pitchFamily="2" charset="-78"/>
                        </a:rPr>
                        <a:t>الربط باستخدام واجهة خدمات ويب من خلال الشبكة الحكومية الآمنة مع التطبيقات</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600" b="1" i="0" u="none" strike="noStrike" baseline="0" dirty="0">
                          <a:solidFill>
                            <a:srgbClr val="000000"/>
                          </a:solidFill>
                          <a:effectLst/>
                          <a:latin typeface="Sakkal Majalla" panose="02000000000000000000" pitchFamily="2" charset="-78"/>
                          <a:cs typeface="Sakkal Majalla" panose="02000000000000000000" pitchFamily="2" charset="-78"/>
                        </a:rPr>
                        <a:t>الخارجية</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600" b="1" i="0" u="none" strike="noStrike" baseline="0" dirty="0">
                          <a:solidFill>
                            <a:srgbClr val="000000"/>
                          </a:solidFill>
                          <a:effectLst/>
                          <a:latin typeface="Sakkal Majalla" panose="02000000000000000000" pitchFamily="2" charset="-78"/>
                          <a:cs typeface="Sakkal Majalla" panose="02000000000000000000" pitchFamily="2" charset="-78"/>
                        </a:rPr>
                        <a:t>GSN</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16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يسمح هذا النمط من أنماط التكامل بتوفير استخدام واجهة خدمات ويب من خلال الشبكة الحكومية الآمنة</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يناسب هذا النمط تبادل البيانات الحكومية بين الجهات الحكومية</a:t>
                      </a:r>
                    </a:p>
                  </a:txBody>
                  <a:tcPr anchor="ctr"/>
                </a:tc>
                <a:extLst>
                  <a:ext uri="{0D108BD9-81ED-4DB2-BD59-A6C34878D82A}">
                    <a16:rowId xmlns:a16="http://schemas.microsoft.com/office/drawing/2014/main" val="3602485621"/>
                  </a:ext>
                </a:extLst>
              </a:tr>
              <a:tr h="90427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هـ</a:t>
                      </a:r>
                    </a:p>
                  </a:txBody>
                  <a:tcPr anchor="ctr"/>
                </a:tc>
                <a:tc>
                  <a:txBody>
                    <a:bodyPr/>
                    <a:lstStyle/>
                    <a:p>
                      <a:pPr algn="r" rtl="1" fontAlgn="b"/>
                      <a:r>
                        <a:rPr lang="ar-SA" sz="1600" b="1" i="0" u="none" strike="noStrike" baseline="0" dirty="0">
                          <a:solidFill>
                            <a:srgbClr val="000000"/>
                          </a:solidFill>
                          <a:effectLst/>
                          <a:latin typeface="Sakkal Majalla" panose="02000000000000000000" pitchFamily="2" charset="-78"/>
                          <a:cs typeface="Sakkal Majalla" panose="02000000000000000000" pitchFamily="2" charset="-78"/>
                        </a:rPr>
                        <a:t>الربط باستخدام واجهة خدمات ويب من خلال قناة التكامل الحكومي مع التطبيقات الخارجية</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600" b="1" i="0" u="none" strike="noStrike" baseline="0" dirty="0">
                          <a:solidFill>
                            <a:srgbClr val="000000"/>
                          </a:solidFill>
                          <a:effectLst/>
                          <a:latin typeface="Sakkal Majalla" panose="02000000000000000000" pitchFamily="2" charset="-78"/>
                          <a:cs typeface="Sakkal Majalla" panose="02000000000000000000" pitchFamily="2" charset="-78"/>
                        </a:rPr>
                        <a:t>GSB</a:t>
                      </a:r>
                      <a:r>
                        <a:rPr lang="ar-EG" sz="16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16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يسمح هذا النمط من أنماط التكامل بتوفير استخدام واجهة خدمات ويب من خلال قناة التكامل الحكومي</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يستلزم التسجيل في المنصة الوطنية والاشتراك بالخدمات المطلوبة</a:t>
                      </a:r>
                    </a:p>
                  </a:txBody>
                  <a:tcPr anchor="ctr"/>
                </a:tc>
                <a:extLst>
                  <a:ext uri="{0D108BD9-81ED-4DB2-BD59-A6C34878D82A}">
                    <a16:rowId xmlns:a16="http://schemas.microsoft.com/office/drawing/2014/main" val="1200409264"/>
                  </a:ext>
                </a:extLst>
              </a:tr>
            </a:tbl>
          </a:graphicData>
        </a:graphic>
      </p:graphicFrame>
    </p:spTree>
    <p:extLst>
      <p:ext uri="{BB962C8B-B14F-4D97-AF65-F5344CB8AC3E}">
        <p14:creationId xmlns:p14="http://schemas.microsoft.com/office/powerpoint/2010/main" val="199403945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7C911-EFE0-C0B0-2DDC-B733FBA977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F47CB8-7EF9-5F58-9BAC-D03BE9A4298C}"/>
              </a:ext>
            </a:extLst>
          </p:cNvPr>
          <p:cNvSpPr>
            <a:spLocks noGrp="1"/>
          </p:cNvSpPr>
          <p:nvPr>
            <p:ph type="title"/>
          </p:nvPr>
        </p:nvSpPr>
        <p:spPr>
          <a:xfrm>
            <a:off x="5387122" y="3925452"/>
            <a:ext cx="6157178" cy="641639"/>
          </a:xfrm>
        </p:spPr>
        <p:txBody>
          <a:bodyPr/>
          <a:lstStyle/>
          <a:p>
            <a:r>
              <a:rPr lang="ar-EG" dirty="0"/>
              <a:t>النموذج المرجعي لبنية التقنية</a:t>
            </a:r>
            <a:endParaRPr lang="en-US" dirty="0"/>
          </a:p>
        </p:txBody>
      </p:sp>
      <p:sp>
        <p:nvSpPr>
          <p:cNvPr id="4" name="Text Placeholder 3">
            <a:extLst>
              <a:ext uri="{FF2B5EF4-FFF2-40B4-BE49-F238E27FC236}">
                <a16:creationId xmlns:a16="http://schemas.microsoft.com/office/drawing/2014/main" id="{591649F6-2DB3-FC9A-36E4-68253136A2F3}"/>
              </a:ext>
            </a:extLst>
          </p:cNvPr>
          <p:cNvSpPr>
            <a:spLocks noGrp="1"/>
          </p:cNvSpPr>
          <p:nvPr>
            <p:ph type="body" sz="quarter" idx="14"/>
          </p:nvPr>
        </p:nvSpPr>
        <p:spPr/>
        <p:txBody>
          <a:bodyPr/>
          <a:lstStyle/>
          <a:p>
            <a:r>
              <a:rPr lang="ar-EG" dirty="0"/>
              <a:t>06</a:t>
            </a:r>
            <a:endParaRPr lang="en-US" dirty="0"/>
          </a:p>
        </p:txBody>
      </p:sp>
    </p:spTree>
    <p:extLst>
      <p:ext uri="{BB962C8B-B14F-4D97-AF65-F5344CB8AC3E}">
        <p14:creationId xmlns:p14="http://schemas.microsoft.com/office/powerpoint/2010/main" val="2790039675"/>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1FB47-5CCD-FDB1-C867-33192D57218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ED94C09-B736-56E9-DCF4-918241503510}"/>
              </a:ext>
            </a:extLst>
          </p:cNvPr>
          <p:cNvSpPr>
            <a:spLocks noGrp="1"/>
          </p:cNvSpPr>
          <p:nvPr>
            <p:ph type="sldNum" sz="quarter" idx="12"/>
          </p:nvPr>
        </p:nvSpPr>
        <p:spPr/>
        <p:txBody>
          <a:bodyPr/>
          <a:lstStyle/>
          <a:p>
            <a:fld id="{0BE4EC83-A869-464E-AE9F-881796FB085E}" type="slidenum">
              <a:rPr lang="en-US" smtClean="0"/>
              <a:t>41</a:t>
            </a:fld>
            <a:endParaRPr lang="en-US" dirty="0"/>
          </a:p>
        </p:txBody>
      </p:sp>
      <p:sp>
        <p:nvSpPr>
          <p:cNvPr id="7" name="Title 1">
            <a:extLst>
              <a:ext uri="{FF2B5EF4-FFF2-40B4-BE49-F238E27FC236}">
                <a16:creationId xmlns:a16="http://schemas.microsoft.com/office/drawing/2014/main" id="{DDF82242-6A63-AD25-AC0D-D97ED3452B1B}"/>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طبقات النموذج المرجعي لبنية التقنية</a:t>
            </a:r>
            <a:endParaRPr lang="en-US" dirty="0"/>
          </a:p>
        </p:txBody>
      </p:sp>
      <p:sp>
        <p:nvSpPr>
          <p:cNvPr id="2" name="Rectangle: Rounded Corners 1">
            <a:extLst>
              <a:ext uri="{FF2B5EF4-FFF2-40B4-BE49-F238E27FC236}">
                <a16:creationId xmlns:a16="http://schemas.microsoft.com/office/drawing/2014/main" id="{DE53C0F6-8E39-B4BB-499F-81D6AA31EA62}"/>
              </a:ext>
            </a:extLst>
          </p:cNvPr>
          <p:cNvSpPr/>
          <p:nvPr/>
        </p:nvSpPr>
        <p:spPr>
          <a:xfrm>
            <a:off x="2929810" y="1201807"/>
            <a:ext cx="6728343" cy="4704471"/>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latin typeface="Sakkal Majalla" panose="02000000000000000000" pitchFamily="2" charset="-78"/>
              <a:cs typeface="Sakkal Majalla" panose="02000000000000000000" pitchFamily="2" charset="-78"/>
            </a:endParaRPr>
          </a:p>
        </p:txBody>
      </p:sp>
      <p:sp>
        <p:nvSpPr>
          <p:cNvPr id="4" name="Rectangle: Rounded Corners 3">
            <a:extLst>
              <a:ext uri="{FF2B5EF4-FFF2-40B4-BE49-F238E27FC236}">
                <a16:creationId xmlns:a16="http://schemas.microsoft.com/office/drawing/2014/main" id="{860E64EE-C2A0-6B26-E83E-0598DA5A1D8B}"/>
              </a:ext>
            </a:extLst>
          </p:cNvPr>
          <p:cNvSpPr/>
          <p:nvPr/>
        </p:nvSpPr>
        <p:spPr>
          <a:xfrm>
            <a:off x="3198844" y="4751333"/>
            <a:ext cx="5012092" cy="5178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400" b="1" dirty="0">
                <a:solidFill>
                  <a:schemeClr val="accent1"/>
                </a:solidFill>
                <a:latin typeface="Sakkal Majalla" panose="02000000000000000000" pitchFamily="2" charset="-78"/>
                <a:cs typeface="Sakkal Majalla" panose="02000000000000000000" pitchFamily="2" charset="-78"/>
              </a:rPr>
              <a:t>مرافق مركز البيانات</a:t>
            </a:r>
            <a:endParaRPr lang="en-US" sz="2400" b="1" dirty="0">
              <a:solidFill>
                <a:schemeClr val="accent1"/>
              </a:solidFill>
              <a:latin typeface="Sakkal Majalla" panose="02000000000000000000" pitchFamily="2" charset="-78"/>
              <a:cs typeface="Sakkal Majalla" panose="02000000000000000000" pitchFamily="2" charset="-78"/>
            </a:endParaRPr>
          </a:p>
        </p:txBody>
      </p:sp>
      <p:sp>
        <p:nvSpPr>
          <p:cNvPr id="5" name="Rectangle: Rounded Corners 4">
            <a:extLst>
              <a:ext uri="{FF2B5EF4-FFF2-40B4-BE49-F238E27FC236}">
                <a16:creationId xmlns:a16="http://schemas.microsoft.com/office/drawing/2014/main" id="{8B4D0033-B898-8DE3-4CBC-25F075B47661}"/>
              </a:ext>
            </a:extLst>
          </p:cNvPr>
          <p:cNvSpPr/>
          <p:nvPr/>
        </p:nvSpPr>
        <p:spPr>
          <a:xfrm>
            <a:off x="3198844" y="3932573"/>
            <a:ext cx="5012092" cy="5178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400" b="1" dirty="0">
                <a:solidFill>
                  <a:schemeClr val="accent1"/>
                </a:solidFill>
                <a:latin typeface="Sakkal Majalla" panose="02000000000000000000" pitchFamily="2" charset="-78"/>
                <a:cs typeface="Sakkal Majalla" panose="02000000000000000000" pitchFamily="2" charset="-78"/>
              </a:rPr>
              <a:t>الشبكات</a:t>
            </a:r>
            <a:endParaRPr lang="en-US" sz="2400" b="1" dirty="0">
              <a:solidFill>
                <a:schemeClr val="accent1"/>
              </a:solidFill>
              <a:latin typeface="Sakkal Majalla" panose="02000000000000000000" pitchFamily="2" charset="-78"/>
              <a:cs typeface="Sakkal Majalla" panose="02000000000000000000" pitchFamily="2" charset="-78"/>
            </a:endParaRPr>
          </a:p>
        </p:txBody>
      </p:sp>
      <p:sp>
        <p:nvSpPr>
          <p:cNvPr id="6" name="Rectangle: Rounded Corners 5">
            <a:extLst>
              <a:ext uri="{FF2B5EF4-FFF2-40B4-BE49-F238E27FC236}">
                <a16:creationId xmlns:a16="http://schemas.microsoft.com/office/drawing/2014/main" id="{601A464F-6ED2-92D6-E1DB-7D7AB2779699}"/>
              </a:ext>
            </a:extLst>
          </p:cNvPr>
          <p:cNvSpPr/>
          <p:nvPr/>
        </p:nvSpPr>
        <p:spPr>
          <a:xfrm>
            <a:off x="3223726" y="2558926"/>
            <a:ext cx="1877008" cy="5178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400" b="1" dirty="0">
                <a:solidFill>
                  <a:schemeClr val="accent1"/>
                </a:solidFill>
                <a:latin typeface="Sakkal Majalla" panose="02000000000000000000" pitchFamily="2" charset="-78"/>
                <a:cs typeface="Sakkal Majalla" panose="02000000000000000000" pitchFamily="2" charset="-78"/>
              </a:rPr>
              <a:t>الحوسبة</a:t>
            </a:r>
            <a:endParaRPr lang="en-US" sz="2400" b="1" dirty="0">
              <a:solidFill>
                <a:schemeClr val="accent1"/>
              </a:solidFill>
              <a:latin typeface="Sakkal Majalla" panose="02000000000000000000" pitchFamily="2" charset="-78"/>
              <a:cs typeface="Sakkal Majalla" panose="02000000000000000000" pitchFamily="2" charset="-78"/>
            </a:endParaRPr>
          </a:p>
        </p:txBody>
      </p:sp>
      <p:sp>
        <p:nvSpPr>
          <p:cNvPr id="8" name="Rectangle: Rounded Corners 7">
            <a:extLst>
              <a:ext uri="{FF2B5EF4-FFF2-40B4-BE49-F238E27FC236}">
                <a16:creationId xmlns:a16="http://schemas.microsoft.com/office/drawing/2014/main" id="{33938ED6-B244-9129-58D9-A528A2541599}"/>
              </a:ext>
            </a:extLst>
          </p:cNvPr>
          <p:cNvSpPr/>
          <p:nvPr/>
        </p:nvSpPr>
        <p:spPr>
          <a:xfrm>
            <a:off x="5394648" y="2558926"/>
            <a:ext cx="1877008" cy="5178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400" b="1" dirty="0">
                <a:solidFill>
                  <a:schemeClr val="accent1"/>
                </a:solidFill>
                <a:latin typeface="Sakkal Majalla" panose="02000000000000000000" pitchFamily="2" charset="-78"/>
                <a:cs typeface="Sakkal Majalla" panose="02000000000000000000" pitchFamily="2" charset="-78"/>
              </a:rPr>
              <a:t>التخزين</a:t>
            </a:r>
            <a:endParaRPr lang="en-US" sz="2400" b="1" dirty="0">
              <a:solidFill>
                <a:schemeClr val="accent1"/>
              </a:solidFill>
              <a:latin typeface="Sakkal Majalla" panose="02000000000000000000" pitchFamily="2" charset="-78"/>
              <a:cs typeface="Sakkal Majalla" panose="02000000000000000000" pitchFamily="2" charset="-78"/>
            </a:endParaRPr>
          </a:p>
        </p:txBody>
      </p:sp>
      <p:sp>
        <p:nvSpPr>
          <p:cNvPr id="9" name="Rectangle: Rounded Corners 8">
            <a:extLst>
              <a:ext uri="{FF2B5EF4-FFF2-40B4-BE49-F238E27FC236}">
                <a16:creationId xmlns:a16="http://schemas.microsoft.com/office/drawing/2014/main" id="{6E847806-3C1C-6BDE-A3E5-2386274E12B5}"/>
              </a:ext>
            </a:extLst>
          </p:cNvPr>
          <p:cNvSpPr/>
          <p:nvPr/>
        </p:nvSpPr>
        <p:spPr>
          <a:xfrm>
            <a:off x="3198844" y="1740166"/>
            <a:ext cx="4072812" cy="5178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400" b="1" dirty="0">
                <a:solidFill>
                  <a:schemeClr val="accent1"/>
                </a:solidFill>
                <a:latin typeface="Sakkal Majalla" panose="02000000000000000000" pitchFamily="2" charset="-78"/>
                <a:cs typeface="Sakkal Majalla" panose="02000000000000000000" pitchFamily="2" charset="-78"/>
              </a:rPr>
              <a:t>خدمات البنية التحتية</a:t>
            </a:r>
            <a:endParaRPr lang="en-US" sz="2400" b="1" dirty="0">
              <a:solidFill>
                <a:schemeClr val="accent1"/>
              </a:solidFill>
              <a:latin typeface="Sakkal Majalla" panose="02000000000000000000" pitchFamily="2" charset="-78"/>
              <a:cs typeface="Sakkal Majalla" panose="02000000000000000000" pitchFamily="2" charset="-78"/>
            </a:endParaRPr>
          </a:p>
        </p:txBody>
      </p:sp>
      <p:sp>
        <p:nvSpPr>
          <p:cNvPr id="10" name="Rectangle: Rounded Corners 9">
            <a:extLst>
              <a:ext uri="{FF2B5EF4-FFF2-40B4-BE49-F238E27FC236}">
                <a16:creationId xmlns:a16="http://schemas.microsoft.com/office/drawing/2014/main" id="{54481871-8494-63E7-F801-6B0481A86F7E}"/>
              </a:ext>
            </a:extLst>
          </p:cNvPr>
          <p:cNvSpPr/>
          <p:nvPr/>
        </p:nvSpPr>
        <p:spPr>
          <a:xfrm rot="16200000">
            <a:off x="7232390" y="2098228"/>
            <a:ext cx="1336608" cy="620484"/>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400" b="1" dirty="0">
                <a:solidFill>
                  <a:schemeClr val="accent1"/>
                </a:solidFill>
                <a:latin typeface="Sakkal Majalla" panose="02000000000000000000" pitchFamily="2" charset="-78"/>
                <a:cs typeface="Sakkal Majalla" panose="02000000000000000000" pitchFamily="2" charset="-78"/>
              </a:rPr>
              <a:t>نقاط النهاية</a:t>
            </a:r>
            <a:endParaRPr lang="en-US" sz="2400" b="1" dirty="0">
              <a:solidFill>
                <a:schemeClr val="accent1"/>
              </a:solidFill>
              <a:latin typeface="Sakkal Majalla" panose="02000000000000000000" pitchFamily="2" charset="-78"/>
              <a:cs typeface="Sakkal Majalla" panose="02000000000000000000" pitchFamily="2" charset="-78"/>
            </a:endParaRPr>
          </a:p>
        </p:txBody>
      </p:sp>
      <p:sp>
        <p:nvSpPr>
          <p:cNvPr id="11" name="Rectangle: Rounded Corners 10">
            <a:extLst>
              <a:ext uri="{FF2B5EF4-FFF2-40B4-BE49-F238E27FC236}">
                <a16:creationId xmlns:a16="http://schemas.microsoft.com/office/drawing/2014/main" id="{C157A4BD-56AC-39C0-0DC7-FE90661CB721}"/>
              </a:ext>
            </a:extLst>
          </p:cNvPr>
          <p:cNvSpPr/>
          <p:nvPr/>
        </p:nvSpPr>
        <p:spPr>
          <a:xfrm rot="16200000">
            <a:off x="7490345" y="2924179"/>
            <a:ext cx="2955857" cy="587832"/>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400" b="1" dirty="0">
                <a:solidFill>
                  <a:schemeClr val="accent1"/>
                </a:solidFill>
                <a:latin typeface="Sakkal Majalla" panose="02000000000000000000" pitchFamily="2" charset="-78"/>
                <a:cs typeface="Sakkal Majalla" panose="02000000000000000000" pitchFamily="2" charset="-78"/>
              </a:rPr>
              <a:t>إدارة البنية التحتية ومراقبتها</a:t>
            </a:r>
            <a:endParaRPr lang="en-US" sz="2400" b="1" dirty="0">
              <a:solidFill>
                <a:schemeClr val="accent1"/>
              </a:solidFill>
              <a:latin typeface="Sakkal Majalla" panose="02000000000000000000" pitchFamily="2" charset="-78"/>
              <a:cs typeface="Sakkal Majalla" panose="02000000000000000000" pitchFamily="2" charset="-78"/>
            </a:endParaRPr>
          </a:p>
        </p:txBody>
      </p:sp>
      <p:sp>
        <p:nvSpPr>
          <p:cNvPr id="12" name="TextBox 11">
            <a:extLst>
              <a:ext uri="{FF2B5EF4-FFF2-40B4-BE49-F238E27FC236}">
                <a16:creationId xmlns:a16="http://schemas.microsoft.com/office/drawing/2014/main" id="{93E9094A-E2A5-C914-EAEE-9E1055664846}"/>
              </a:ext>
            </a:extLst>
          </p:cNvPr>
          <p:cNvSpPr txBox="1"/>
          <p:nvPr/>
        </p:nvSpPr>
        <p:spPr>
          <a:xfrm>
            <a:off x="4168742" y="1201807"/>
            <a:ext cx="4320849" cy="461665"/>
          </a:xfrm>
          <a:prstGeom prst="rect">
            <a:avLst/>
          </a:prstGeom>
          <a:noFill/>
        </p:spPr>
        <p:txBody>
          <a:bodyPr wrap="square">
            <a:spAutoFit/>
          </a:bodyPr>
          <a:lstStyle/>
          <a:p>
            <a:pPr algn="ctr"/>
            <a:r>
              <a:rPr lang="ar-SA" sz="2400" b="1" dirty="0">
                <a:solidFill>
                  <a:schemeClr val="bg1"/>
                </a:solidFill>
                <a:latin typeface="Sakkal Majalla" panose="02000000000000000000" pitchFamily="2" charset="-78"/>
                <a:cs typeface="Sakkal Majalla" panose="02000000000000000000" pitchFamily="2" charset="-78"/>
              </a:rPr>
              <a:t>طبقات النموذج المرجعي لبنية التقنية</a:t>
            </a:r>
            <a:endParaRPr lang="en-US" sz="2400" b="1" dirty="0">
              <a:solidFill>
                <a:schemeClr val="bg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6497586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8F5BE-11A9-9DB4-5FD6-B73FBD374A6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019A7CA-C138-5EA0-44DA-5ED302DFAE9D}"/>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القدرات التقنية ضمن النموذج المرجعي لبنية التقنية </a:t>
            </a:r>
            <a:endParaRPr lang="en-US" dirty="0"/>
          </a:p>
        </p:txBody>
      </p:sp>
      <p:sp>
        <p:nvSpPr>
          <p:cNvPr id="14" name="Rectangle 17">
            <a:extLst>
              <a:ext uri="{FF2B5EF4-FFF2-40B4-BE49-F238E27FC236}">
                <a16:creationId xmlns:a16="http://schemas.microsoft.com/office/drawing/2014/main" id="{56A86706-362D-EF64-BB48-6856D835C549}"/>
              </a:ext>
            </a:extLst>
          </p:cNvPr>
          <p:cNvSpPr>
            <a:spLocks noChangeArrowheads="1"/>
          </p:cNvSpPr>
          <p:nvPr/>
        </p:nvSpPr>
        <p:spPr bwMode="auto">
          <a:xfrm>
            <a:off x="8083481" y="1318439"/>
            <a:ext cx="3267080" cy="1093418"/>
          </a:xfrm>
          <a:prstGeom prst="rect">
            <a:avLst/>
          </a:pr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100" b="1" i="0" u="none" strike="noStrike" cap="none" normalizeH="0" baseline="0" dirty="0">
                <a:ln>
                  <a:noFill/>
                </a:ln>
                <a:solidFill>
                  <a:srgbClr val="FFFFFF"/>
                </a:solidFill>
                <a:effectLst/>
                <a:latin typeface="Calibri" panose="020F0502020204030204" pitchFamily="34" charset="0"/>
                <a:ea typeface="+mn-ea"/>
                <a:cs typeface="Calibri" panose="020F0502020204030204" pitchFamily="34" charset="0"/>
              </a:rPr>
              <a:t>نقاط النهاية</a:t>
            </a:r>
          </a:p>
        </p:txBody>
      </p:sp>
      <p:sp>
        <p:nvSpPr>
          <p:cNvPr id="15" name="Rectangle 39">
            <a:extLst>
              <a:ext uri="{FF2B5EF4-FFF2-40B4-BE49-F238E27FC236}">
                <a16:creationId xmlns:a16="http://schemas.microsoft.com/office/drawing/2014/main" id="{1C83E643-CC69-EB88-1ED4-1E47561AB9B7}"/>
              </a:ext>
            </a:extLst>
          </p:cNvPr>
          <p:cNvSpPr>
            <a:spLocks noChangeArrowheads="1"/>
          </p:cNvSpPr>
          <p:nvPr/>
        </p:nvSpPr>
        <p:spPr bwMode="auto">
          <a:xfrm>
            <a:off x="1287239" y="1308544"/>
            <a:ext cx="6734502" cy="1103312"/>
          </a:xfrm>
          <a:prstGeom prst="rect">
            <a:avLst/>
          </a:pr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100" b="1" dirty="0">
                <a:solidFill>
                  <a:srgbClr val="FFFFFF"/>
                </a:solidFill>
                <a:latin typeface="Calibri" panose="020F0502020204030204" pitchFamily="34" charset="0"/>
                <a:cs typeface="Calibri" panose="020F0502020204030204" pitchFamily="34" charset="0"/>
              </a:rPr>
              <a:t>خدمات البنية التحتية</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Rounded Corners 41">
            <a:extLst>
              <a:ext uri="{FF2B5EF4-FFF2-40B4-BE49-F238E27FC236}">
                <a16:creationId xmlns:a16="http://schemas.microsoft.com/office/drawing/2014/main" id="{6A681122-DD5A-D796-5EF2-E9A7287254B9}"/>
              </a:ext>
            </a:extLst>
          </p:cNvPr>
          <p:cNvSpPr>
            <a:spLocks noChangeArrowheads="1"/>
          </p:cNvSpPr>
          <p:nvPr/>
        </p:nvSpPr>
        <p:spPr bwMode="auto">
          <a:xfrm>
            <a:off x="1443605" y="1506808"/>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مشاركة الملفات</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File Sharing</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17" name="Rectangle: Rounded Corners 41">
            <a:extLst>
              <a:ext uri="{FF2B5EF4-FFF2-40B4-BE49-F238E27FC236}">
                <a16:creationId xmlns:a16="http://schemas.microsoft.com/office/drawing/2014/main" id="{136AEB31-18E7-62BE-59B6-BA157B7D3644}"/>
              </a:ext>
            </a:extLst>
          </p:cNvPr>
          <p:cNvSpPr>
            <a:spLocks noChangeArrowheads="1"/>
          </p:cNvSpPr>
          <p:nvPr/>
        </p:nvSpPr>
        <p:spPr bwMode="auto">
          <a:xfrm>
            <a:off x="3040932" y="1517994"/>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الاتصال الصوتي والمرئي</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Voice &amp; Video Calling</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18" name="Rectangle: Rounded Corners 41">
            <a:extLst>
              <a:ext uri="{FF2B5EF4-FFF2-40B4-BE49-F238E27FC236}">
                <a16:creationId xmlns:a16="http://schemas.microsoft.com/office/drawing/2014/main" id="{29E5A1F9-36ED-BCE5-0CBF-2A365A8C1BAF}"/>
              </a:ext>
            </a:extLst>
          </p:cNvPr>
          <p:cNvSpPr>
            <a:spLocks noChangeArrowheads="1"/>
          </p:cNvSpPr>
          <p:nvPr/>
        </p:nvSpPr>
        <p:spPr bwMode="auto">
          <a:xfrm>
            <a:off x="6274277" y="1533516"/>
            <a:ext cx="1560514"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ترجمة اسم النطاق</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Domain Name Resolution</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19" name="Rectangle: Rounded Corners 41">
            <a:extLst>
              <a:ext uri="{FF2B5EF4-FFF2-40B4-BE49-F238E27FC236}">
                <a16:creationId xmlns:a16="http://schemas.microsoft.com/office/drawing/2014/main" id="{C2D955C9-08D0-0AA1-54FD-EB04E48F3F51}"/>
              </a:ext>
            </a:extLst>
          </p:cNvPr>
          <p:cNvSpPr>
            <a:spLocks noChangeArrowheads="1"/>
          </p:cNvSpPr>
          <p:nvPr/>
        </p:nvSpPr>
        <p:spPr bwMode="auto">
          <a:xfrm>
            <a:off x="2439271" y="1982844"/>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000" dirty="0">
                <a:solidFill>
                  <a:srgbClr val="07080B"/>
                </a:solidFill>
                <a:latin typeface="Calibri" panose="020F0502020204030204" pitchFamily="34" charset="0"/>
                <a:cs typeface="Calibri" panose="020F0502020204030204" pitchFamily="34" charset="0"/>
              </a:rPr>
              <a:t>البريد الالكتروني</a:t>
            </a:r>
            <a:endPar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7080B"/>
                </a:solidFill>
                <a:effectLst/>
                <a:latin typeface="Calibri" panose="020F0502020204030204" pitchFamily="34" charset="0"/>
                <a:cs typeface="Calibri" panose="020F0502020204030204" pitchFamily="34" charset="0"/>
              </a:rPr>
              <a:t>Email Services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20" name="Rectangle: Rounded Corners 41">
            <a:extLst>
              <a:ext uri="{FF2B5EF4-FFF2-40B4-BE49-F238E27FC236}">
                <a16:creationId xmlns:a16="http://schemas.microsoft.com/office/drawing/2014/main" id="{2CFF1EEF-F719-0593-C782-9204D9218394}"/>
              </a:ext>
            </a:extLst>
          </p:cNvPr>
          <p:cNvSpPr>
            <a:spLocks noChangeArrowheads="1"/>
          </p:cNvSpPr>
          <p:nvPr/>
        </p:nvSpPr>
        <p:spPr bwMode="auto">
          <a:xfrm>
            <a:off x="4618907" y="1528520"/>
            <a:ext cx="1560514"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التحكم في النطاق</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Domain Controller</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21" name="Rectangle: Rounded Corners 41">
            <a:extLst>
              <a:ext uri="{FF2B5EF4-FFF2-40B4-BE49-F238E27FC236}">
                <a16:creationId xmlns:a16="http://schemas.microsoft.com/office/drawing/2014/main" id="{E91D6260-69D5-F9F8-330B-2B1CC0C46334}"/>
              </a:ext>
            </a:extLst>
          </p:cNvPr>
          <p:cNvSpPr>
            <a:spLocks noChangeArrowheads="1"/>
          </p:cNvSpPr>
          <p:nvPr/>
        </p:nvSpPr>
        <p:spPr bwMode="auto">
          <a:xfrm>
            <a:off x="5595227" y="1968523"/>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مزامنة وقت الشبكة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Network Time Sync.</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22" name="Rectangle: Rounded Corners 41">
            <a:extLst>
              <a:ext uri="{FF2B5EF4-FFF2-40B4-BE49-F238E27FC236}">
                <a16:creationId xmlns:a16="http://schemas.microsoft.com/office/drawing/2014/main" id="{7DEBAEE1-82ED-87D1-75C1-1CB6A11F2688}"/>
              </a:ext>
            </a:extLst>
          </p:cNvPr>
          <p:cNvSpPr>
            <a:spLocks noChangeArrowheads="1"/>
          </p:cNvSpPr>
          <p:nvPr/>
        </p:nvSpPr>
        <p:spPr bwMode="auto">
          <a:xfrm>
            <a:off x="4017249" y="1978961"/>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بوابة الرسائل النصية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SMS Gateway</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23" name="Rectangle: Rounded Corners 41">
            <a:extLst>
              <a:ext uri="{FF2B5EF4-FFF2-40B4-BE49-F238E27FC236}">
                <a16:creationId xmlns:a16="http://schemas.microsoft.com/office/drawing/2014/main" id="{9FB28225-B75B-9EE3-8E88-D2C7556E36FA}"/>
              </a:ext>
            </a:extLst>
          </p:cNvPr>
          <p:cNvSpPr>
            <a:spLocks noChangeArrowheads="1"/>
          </p:cNvSpPr>
          <p:nvPr/>
        </p:nvSpPr>
        <p:spPr bwMode="auto">
          <a:xfrm>
            <a:off x="9782150" y="1533516"/>
            <a:ext cx="1468924"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أجهزة محطة المستخدم</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800" dirty="0">
                <a:solidFill>
                  <a:srgbClr val="07080B"/>
                </a:solidFill>
                <a:latin typeface="Calibri" panose="020F0502020204030204" pitchFamily="34" charset="0"/>
                <a:cs typeface="Calibri" panose="020F0502020204030204" pitchFamily="34" charset="0"/>
              </a:rPr>
              <a:t>User Workstation Hardware</a:t>
            </a: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24" name="Rectangle: Rounded Corners 41">
            <a:extLst>
              <a:ext uri="{FF2B5EF4-FFF2-40B4-BE49-F238E27FC236}">
                <a16:creationId xmlns:a16="http://schemas.microsoft.com/office/drawing/2014/main" id="{49B21EA6-ABDE-A155-8615-00BD00C85779}"/>
              </a:ext>
            </a:extLst>
          </p:cNvPr>
          <p:cNvSpPr>
            <a:spLocks noChangeArrowheads="1"/>
          </p:cNvSpPr>
          <p:nvPr/>
        </p:nvSpPr>
        <p:spPr bwMode="auto">
          <a:xfrm>
            <a:off x="8224309" y="1523647"/>
            <a:ext cx="1462476"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طرفيات المستخدم</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800" dirty="0">
                <a:solidFill>
                  <a:srgbClr val="07080B"/>
                </a:solidFill>
                <a:latin typeface="Calibri" panose="020F0502020204030204" pitchFamily="34" charset="0"/>
                <a:cs typeface="Calibri" panose="020F0502020204030204" pitchFamily="34" charset="0"/>
              </a:rPr>
              <a:t>User Peripherals</a:t>
            </a: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25" name="Rectangle: Rounded Corners 41">
            <a:extLst>
              <a:ext uri="{FF2B5EF4-FFF2-40B4-BE49-F238E27FC236}">
                <a16:creationId xmlns:a16="http://schemas.microsoft.com/office/drawing/2014/main" id="{F6F056C0-F41F-C0BD-924C-1ABBB0D7C096}"/>
              </a:ext>
            </a:extLst>
          </p:cNvPr>
          <p:cNvSpPr>
            <a:spLocks noChangeArrowheads="1"/>
          </p:cNvSpPr>
          <p:nvPr/>
        </p:nvSpPr>
        <p:spPr bwMode="auto">
          <a:xfrm>
            <a:off x="8219013" y="1956268"/>
            <a:ext cx="1462476"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900" dirty="0">
                <a:solidFill>
                  <a:srgbClr val="07080B"/>
                </a:solidFill>
                <a:latin typeface="Calibri" panose="020F0502020204030204" pitchFamily="34" charset="0"/>
                <a:cs typeface="Calibri" panose="020F0502020204030204" pitchFamily="34" charset="0"/>
              </a:rPr>
              <a:t>أنظمة تشغيل محطة المستخدم</a:t>
            </a:r>
            <a:endParaRPr kumimoji="0" lang="ar-SA" altLang="en-US" sz="9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800" dirty="0">
                <a:solidFill>
                  <a:srgbClr val="07080B"/>
                </a:solidFill>
                <a:latin typeface="Calibri" panose="020F0502020204030204" pitchFamily="34" charset="0"/>
                <a:cs typeface="Calibri" panose="020F0502020204030204" pitchFamily="34" charset="0"/>
              </a:rPr>
              <a:t>User Workstation O.S.</a:t>
            </a: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26" name="Rectangle: Rounded Corners 41">
            <a:extLst>
              <a:ext uri="{FF2B5EF4-FFF2-40B4-BE49-F238E27FC236}">
                <a16:creationId xmlns:a16="http://schemas.microsoft.com/office/drawing/2014/main" id="{121BA59B-B658-6047-7A73-83711E8E0E6F}"/>
              </a:ext>
            </a:extLst>
          </p:cNvPr>
          <p:cNvSpPr>
            <a:spLocks noChangeArrowheads="1"/>
          </p:cNvSpPr>
          <p:nvPr/>
        </p:nvSpPr>
        <p:spPr bwMode="auto">
          <a:xfrm>
            <a:off x="9788598" y="1956808"/>
            <a:ext cx="1462476"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800" dirty="0">
                <a:solidFill>
                  <a:srgbClr val="07080B"/>
                </a:solidFill>
                <a:latin typeface="Calibri" panose="020F0502020204030204" pitchFamily="34" charset="0"/>
                <a:cs typeface="Calibri" panose="020F0502020204030204" pitchFamily="34" charset="0"/>
              </a:rPr>
              <a:t>أسطح مكاتب المستخدمين الافتراضية</a:t>
            </a:r>
            <a:endParaRPr kumimoji="0" lang="ar-SA" altLang="en-US" sz="8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800" dirty="0">
                <a:solidFill>
                  <a:srgbClr val="07080B"/>
                </a:solidFill>
                <a:latin typeface="Calibri" panose="020F0502020204030204" pitchFamily="34" charset="0"/>
                <a:cs typeface="Calibri" panose="020F0502020204030204" pitchFamily="34" charset="0"/>
              </a:rPr>
              <a:t>User Desktop Virtualization</a:t>
            </a: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27" name="Rectangle 39">
            <a:extLst>
              <a:ext uri="{FF2B5EF4-FFF2-40B4-BE49-F238E27FC236}">
                <a16:creationId xmlns:a16="http://schemas.microsoft.com/office/drawing/2014/main" id="{40616614-26BE-3E85-8B8A-CB7BB931A288}"/>
              </a:ext>
            </a:extLst>
          </p:cNvPr>
          <p:cNvSpPr>
            <a:spLocks noChangeArrowheads="1"/>
          </p:cNvSpPr>
          <p:nvPr/>
        </p:nvSpPr>
        <p:spPr bwMode="auto">
          <a:xfrm>
            <a:off x="1287239" y="2564173"/>
            <a:ext cx="6734502" cy="1585910"/>
          </a:xfrm>
          <a:prstGeom prst="rect">
            <a:avLst/>
          </a:pr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100" b="1" dirty="0">
                <a:solidFill>
                  <a:srgbClr val="FFFFFF"/>
                </a:solidFill>
                <a:latin typeface="Calibri" panose="020F0502020204030204" pitchFamily="34" charset="0"/>
                <a:cs typeface="Calibri" panose="020F0502020204030204" pitchFamily="34" charset="0"/>
              </a:rPr>
              <a:t>الحوسبة</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Rounded Corners 41">
            <a:extLst>
              <a:ext uri="{FF2B5EF4-FFF2-40B4-BE49-F238E27FC236}">
                <a16:creationId xmlns:a16="http://schemas.microsoft.com/office/drawing/2014/main" id="{C77274F9-234B-3199-FCAD-B90BB7AC1373}"/>
              </a:ext>
            </a:extLst>
          </p:cNvPr>
          <p:cNvSpPr>
            <a:spLocks noChangeArrowheads="1"/>
          </p:cNvSpPr>
          <p:nvPr/>
        </p:nvSpPr>
        <p:spPr bwMode="auto">
          <a:xfrm>
            <a:off x="3125529" y="2898988"/>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حاويات</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Containers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29" name="Rectangle: Rounded Corners 41">
            <a:extLst>
              <a:ext uri="{FF2B5EF4-FFF2-40B4-BE49-F238E27FC236}">
                <a16:creationId xmlns:a16="http://schemas.microsoft.com/office/drawing/2014/main" id="{1293F414-8558-F8DD-4A08-74E35CCD919E}"/>
              </a:ext>
            </a:extLst>
          </p:cNvPr>
          <p:cNvSpPr>
            <a:spLocks noChangeArrowheads="1"/>
          </p:cNvSpPr>
          <p:nvPr/>
        </p:nvSpPr>
        <p:spPr bwMode="auto">
          <a:xfrm>
            <a:off x="6249727" y="2909306"/>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خوادم الحوسبة الرئيسية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Mainframe Servers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30" name="Rectangle: Rounded Corners 41">
            <a:extLst>
              <a:ext uri="{FF2B5EF4-FFF2-40B4-BE49-F238E27FC236}">
                <a16:creationId xmlns:a16="http://schemas.microsoft.com/office/drawing/2014/main" id="{3DDA7693-B755-1F85-21CE-CA86241D2685}"/>
              </a:ext>
            </a:extLst>
          </p:cNvPr>
          <p:cNvSpPr>
            <a:spLocks noChangeArrowheads="1"/>
          </p:cNvSpPr>
          <p:nvPr/>
        </p:nvSpPr>
        <p:spPr bwMode="auto">
          <a:xfrm>
            <a:off x="1540521" y="2886978"/>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الخوادم فائقة الارتباط</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900" dirty="0">
                <a:solidFill>
                  <a:srgbClr val="07080B"/>
                </a:solidFill>
                <a:latin typeface="Calibri" panose="020F0502020204030204" pitchFamily="34" charset="0"/>
                <a:cs typeface="Calibri" panose="020F0502020204030204" pitchFamily="34" charset="0"/>
              </a:rPr>
              <a:t>Hyper Converged Servers</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31" name="Rectangle: Rounded Corners 41">
            <a:extLst>
              <a:ext uri="{FF2B5EF4-FFF2-40B4-BE49-F238E27FC236}">
                <a16:creationId xmlns:a16="http://schemas.microsoft.com/office/drawing/2014/main" id="{7E5020D0-3DB0-EDF9-E581-E8A1AC45A327}"/>
              </a:ext>
            </a:extLst>
          </p:cNvPr>
          <p:cNvSpPr>
            <a:spLocks noChangeArrowheads="1"/>
          </p:cNvSpPr>
          <p:nvPr/>
        </p:nvSpPr>
        <p:spPr bwMode="auto">
          <a:xfrm>
            <a:off x="4687625" y="2909306"/>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الخوادم الافتراضية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Virtual Machines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42" name="Rectangle 39">
            <a:extLst>
              <a:ext uri="{FF2B5EF4-FFF2-40B4-BE49-F238E27FC236}">
                <a16:creationId xmlns:a16="http://schemas.microsoft.com/office/drawing/2014/main" id="{A61D430C-3E1C-AAD3-4371-826EE35BB0D4}"/>
              </a:ext>
            </a:extLst>
          </p:cNvPr>
          <p:cNvSpPr>
            <a:spLocks noChangeArrowheads="1"/>
          </p:cNvSpPr>
          <p:nvPr/>
        </p:nvSpPr>
        <p:spPr bwMode="auto">
          <a:xfrm>
            <a:off x="8086720" y="4253322"/>
            <a:ext cx="3267080" cy="1478032"/>
          </a:xfrm>
          <a:prstGeom prst="rect">
            <a:avLst/>
          </a:pr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100" b="1" dirty="0">
                <a:solidFill>
                  <a:srgbClr val="FFFFFF"/>
                </a:solidFill>
                <a:latin typeface="Calibri" panose="020F0502020204030204" pitchFamily="34" charset="0"/>
                <a:cs typeface="Calibri" panose="020F0502020204030204" pitchFamily="34" charset="0"/>
              </a:rPr>
              <a:t>مرافق مراكز البيانات</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3" name="Rectangle 39">
            <a:extLst>
              <a:ext uri="{FF2B5EF4-FFF2-40B4-BE49-F238E27FC236}">
                <a16:creationId xmlns:a16="http://schemas.microsoft.com/office/drawing/2014/main" id="{2A6DD68C-76F7-901C-ED94-4220946BA18E}"/>
              </a:ext>
            </a:extLst>
          </p:cNvPr>
          <p:cNvSpPr>
            <a:spLocks noChangeArrowheads="1"/>
          </p:cNvSpPr>
          <p:nvPr/>
        </p:nvSpPr>
        <p:spPr bwMode="auto">
          <a:xfrm>
            <a:off x="1287240" y="4268651"/>
            <a:ext cx="6734501" cy="1462703"/>
          </a:xfrm>
          <a:prstGeom prst="rect">
            <a:avLst/>
          </a:pr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100" b="1" dirty="0">
                <a:solidFill>
                  <a:srgbClr val="FFFFFF"/>
                </a:solidFill>
                <a:latin typeface="Calibri" panose="020F0502020204030204" pitchFamily="34" charset="0"/>
                <a:cs typeface="Calibri" panose="020F0502020204030204" pitchFamily="34" charset="0"/>
              </a:rPr>
              <a:t>الشبكات</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ar-SA" altLang="en-US" sz="1100" b="1" i="0" u="none" strike="noStrike" cap="none" normalizeH="0" baseline="0" dirty="0">
              <a:ln>
                <a:noFill/>
              </a:ln>
              <a:solidFill>
                <a:srgbClr val="FFFFFF"/>
              </a:solidFill>
              <a:effectLst/>
              <a:latin typeface="Calibri" panose="020F0502020204030204" pitchFamily="34" charset="0"/>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4" name="Rectangle: Rounded Corners 41">
            <a:extLst>
              <a:ext uri="{FF2B5EF4-FFF2-40B4-BE49-F238E27FC236}">
                <a16:creationId xmlns:a16="http://schemas.microsoft.com/office/drawing/2014/main" id="{92AF8EDE-DF71-1640-5053-957EE2226882}"/>
              </a:ext>
            </a:extLst>
          </p:cNvPr>
          <p:cNvSpPr>
            <a:spLocks noChangeArrowheads="1"/>
          </p:cNvSpPr>
          <p:nvPr/>
        </p:nvSpPr>
        <p:spPr bwMode="auto">
          <a:xfrm>
            <a:off x="5342130" y="5111290"/>
            <a:ext cx="130492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الشبكات الخارجية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External Networks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45" name="Rectangle 39">
            <a:extLst>
              <a:ext uri="{FF2B5EF4-FFF2-40B4-BE49-F238E27FC236}">
                <a16:creationId xmlns:a16="http://schemas.microsoft.com/office/drawing/2014/main" id="{9A4378C4-159D-4891-17FC-50A7B89D5849}"/>
              </a:ext>
            </a:extLst>
          </p:cNvPr>
          <p:cNvSpPr>
            <a:spLocks noChangeArrowheads="1"/>
          </p:cNvSpPr>
          <p:nvPr/>
        </p:nvSpPr>
        <p:spPr bwMode="auto">
          <a:xfrm>
            <a:off x="8086720" y="2564173"/>
            <a:ext cx="3267080" cy="1585910"/>
          </a:xfrm>
          <a:prstGeom prst="rect">
            <a:avLst/>
          </a:pr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100" b="1" dirty="0">
                <a:solidFill>
                  <a:srgbClr val="FFFFFF"/>
                </a:solidFill>
                <a:latin typeface="Calibri" panose="020F0502020204030204" pitchFamily="34" charset="0"/>
                <a:cs typeface="Calibri" panose="020F0502020204030204" pitchFamily="34" charset="0"/>
              </a:rPr>
              <a:t>التخزين</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 name="Rectangle: Rounded Corners 41">
            <a:extLst>
              <a:ext uri="{FF2B5EF4-FFF2-40B4-BE49-F238E27FC236}">
                <a16:creationId xmlns:a16="http://schemas.microsoft.com/office/drawing/2014/main" id="{E8F86511-84EF-95FB-31FC-6030FDC561B5}"/>
              </a:ext>
            </a:extLst>
          </p:cNvPr>
          <p:cNvSpPr>
            <a:spLocks noChangeArrowheads="1"/>
          </p:cNvSpPr>
          <p:nvPr/>
        </p:nvSpPr>
        <p:spPr bwMode="auto">
          <a:xfrm>
            <a:off x="8195588" y="3278459"/>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9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النسخ الاحتياطي المتصل بالشبكة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900" dirty="0">
                <a:solidFill>
                  <a:srgbClr val="07080B"/>
                </a:solidFill>
                <a:latin typeface="Calibri" panose="020F0502020204030204" pitchFamily="34" charset="0"/>
                <a:cs typeface="Calibri" panose="020F0502020204030204" pitchFamily="34" charset="0"/>
              </a:rPr>
              <a:t>Online Backup &amp; Recovery</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47" name="Rectangle: Rounded Corners 41">
            <a:extLst>
              <a:ext uri="{FF2B5EF4-FFF2-40B4-BE49-F238E27FC236}">
                <a16:creationId xmlns:a16="http://schemas.microsoft.com/office/drawing/2014/main" id="{22FE8EE4-6594-4301-4D41-F440A018D19D}"/>
              </a:ext>
            </a:extLst>
          </p:cNvPr>
          <p:cNvSpPr>
            <a:spLocks noChangeArrowheads="1"/>
          </p:cNvSpPr>
          <p:nvPr/>
        </p:nvSpPr>
        <p:spPr bwMode="auto">
          <a:xfrm>
            <a:off x="9791030" y="2811020"/>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أنظمة التخزين المتصلة مباشرة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Direct Access Storage</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48" name="Rectangle: Rounded Corners 41">
            <a:extLst>
              <a:ext uri="{FF2B5EF4-FFF2-40B4-BE49-F238E27FC236}">
                <a16:creationId xmlns:a16="http://schemas.microsoft.com/office/drawing/2014/main" id="{8595AFD5-2873-5127-9DDD-A951F4A39637}"/>
              </a:ext>
            </a:extLst>
          </p:cNvPr>
          <p:cNvSpPr>
            <a:spLocks noChangeArrowheads="1"/>
          </p:cNvSpPr>
          <p:nvPr/>
        </p:nvSpPr>
        <p:spPr bwMode="auto">
          <a:xfrm>
            <a:off x="9791029" y="3718588"/>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8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النسخ الاحتياطي المنفصل عن الشبكة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900" dirty="0">
                <a:solidFill>
                  <a:srgbClr val="07080B"/>
                </a:solidFill>
                <a:latin typeface="Calibri" panose="020F0502020204030204" pitchFamily="34" charset="0"/>
                <a:cs typeface="Calibri" panose="020F0502020204030204" pitchFamily="34" charset="0"/>
              </a:rPr>
              <a:t>Offline Backup &amp; Recovery</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49" name="Rectangle: Rounded Corners 41">
            <a:extLst>
              <a:ext uri="{FF2B5EF4-FFF2-40B4-BE49-F238E27FC236}">
                <a16:creationId xmlns:a16="http://schemas.microsoft.com/office/drawing/2014/main" id="{BE9CD53F-57E2-38C6-B17C-E51280CE6BAE}"/>
              </a:ext>
            </a:extLst>
          </p:cNvPr>
          <p:cNvSpPr>
            <a:spLocks noChangeArrowheads="1"/>
          </p:cNvSpPr>
          <p:nvPr/>
        </p:nvSpPr>
        <p:spPr bwMode="auto">
          <a:xfrm>
            <a:off x="8197943" y="2824677"/>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9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أنظمة التخزين المتصلة بالشبكة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900" dirty="0">
                <a:solidFill>
                  <a:srgbClr val="07080B"/>
                </a:solidFill>
                <a:latin typeface="Calibri" panose="020F0502020204030204" pitchFamily="34" charset="0"/>
                <a:cs typeface="Calibri" panose="020F0502020204030204" pitchFamily="34" charset="0"/>
              </a:rPr>
              <a:t>Network Attached Storage</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50" name="Rectangle: Rounded Corners 41">
            <a:extLst>
              <a:ext uri="{FF2B5EF4-FFF2-40B4-BE49-F238E27FC236}">
                <a16:creationId xmlns:a16="http://schemas.microsoft.com/office/drawing/2014/main" id="{F9276097-0938-9A38-C84B-1129A99B0EB5}"/>
              </a:ext>
            </a:extLst>
          </p:cNvPr>
          <p:cNvSpPr>
            <a:spLocks noChangeArrowheads="1"/>
          </p:cNvSpPr>
          <p:nvPr/>
        </p:nvSpPr>
        <p:spPr bwMode="auto">
          <a:xfrm>
            <a:off x="6241880" y="3319668"/>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خوادم الشريحة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Blade Servers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1" name="Rectangle: Rounded Corners 41">
            <a:extLst>
              <a:ext uri="{FF2B5EF4-FFF2-40B4-BE49-F238E27FC236}">
                <a16:creationId xmlns:a16="http://schemas.microsoft.com/office/drawing/2014/main" id="{D3D2BF9D-7329-2F4F-AFD3-C6D9935FCB02}"/>
              </a:ext>
            </a:extLst>
          </p:cNvPr>
          <p:cNvSpPr>
            <a:spLocks noChangeArrowheads="1"/>
          </p:cNvSpPr>
          <p:nvPr/>
        </p:nvSpPr>
        <p:spPr bwMode="auto">
          <a:xfrm>
            <a:off x="4690895" y="3317563"/>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الخوادم المثبتة في الخزانة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Rack Mounted Servers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2" name="Rectangle: Rounded Corners 41">
            <a:extLst>
              <a:ext uri="{FF2B5EF4-FFF2-40B4-BE49-F238E27FC236}">
                <a16:creationId xmlns:a16="http://schemas.microsoft.com/office/drawing/2014/main" id="{5086A3D8-A7C6-4BBD-9EBF-30F3707B9EE3}"/>
              </a:ext>
            </a:extLst>
          </p:cNvPr>
          <p:cNvSpPr>
            <a:spLocks noChangeArrowheads="1"/>
          </p:cNvSpPr>
          <p:nvPr/>
        </p:nvSpPr>
        <p:spPr bwMode="auto">
          <a:xfrm>
            <a:off x="3125529" y="3323563"/>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الحوسبة الطرفية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Edge Compute</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3" name="Rectangle: Rounded Corners 41">
            <a:extLst>
              <a:ext uri="{FF2B5EF4-FFF2-40B4-BE49-F238E27FC236}">
                <a16:creationId xmlns:a16="http://schemas.microsoft.com/office/drawing/2014/main" id="{D7C2D6B3-8958-064C-A7A3-90F8998A6D6F}"/>
              </a:ext>
            </a:extLst>
          </p:cNvPr>
          <p:cNvSpPr>
            <a:spLocks noChangeArrowheads="1"/>
          </p:cNvSpPr>
          <p:nvPr/>
        </p:nvSpPr>
        <p:spPr bwMode="auto">
          <a:xfrm>
            <a:off x="9782150" y="3275796"/>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9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شبكة مساحة التخزين</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Storage Area Network</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4" name="Rectangle: Rounded Corners 41">
            <a:extLst>
              <a:ext uri="{FF2B5EF4-FFF2-40B4-BE49-F238E27FC236}">
                <a16:creationId xmlns:a16="http://schemas.microsoft.com/office/drawing/2014/main" id="{9C69A6D5-0962-03BC-A6DC-C92A8A3E493A}"/>
              </a:ext>
            </a:extLst>
          </p:cNvPr>
          <p:cNvSpPr>
            <a:spLocks noChangeArrowheads="1"/>
          </p:cNvSpPr>
          <p:nvPr/>
        </p:nvSpPr>
        <p:spPr bwMode="auto">
          <a:xfrm>
            <a:off x="8206695" y="3728450"/>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9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أرشفة البيانات</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Data Archiving</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5" name="Rectangle: Rounded Corners 41">
            <a:extLst>
              <a:ext uri="{FF2B5EF4-FFF2-40B4-BE49-F238E27FC236}">
                <a16:creationId xmlns:a16="http://schemas.microsoft.com/office/drawing/2014/main" id="{EE0BE4E2-94AB-D099-13D8-F928DEBE1712}"/>
              </a:ext>
            </a:extLst>
          </p:cNvPr>
          <p:cNvSpPr>
            <a:spLocks noChangeArrowheads="1"/>
          </p:cNvSpPr>
          <p:nvPr/>
        </p:nvSpPr>
        <p:spPr bwMode="auto">
          <a:xfrm>
            <a:off x="1560801" y="3301627"/>
            <a:ext cx="146366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000" dirty="0">
                <a:solidFill>
                  <a:srgbClr val="07080B"/>
                </a:solidFill>
                <a:latin typeface="Calibri" panose="020F0502020204030204" pitchFamily="34" charset="0"/>
                <a:cs typeface="Calibri" panose="020F0502020204030204" pitchFamily="34" charset="0"/>
              </a:rPr>
              <a:t>أنظمة تشغيل الخوادم</a:t>
            </a:r>
            <a:endPar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7080B"/>
                </a:solidFill>
                <a:effectLst/>
                <a:latin typeface="Calibri" panose="020F0502020204030204" pitchFamily="34" charset="0"/>
                <a:cs typeface="Calibri" panose="020F0502020204030204" pitchFamily="34" charset="0"/>
              </a:rPr>
              <a:t>Servers Operating Systems</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56" name="Rectangle: Rounded Corners 41">
            <a:extLst>
              <a:ext uri="{FF2B5EF4-FFF2-40B4-BE49-F238E27FC236}">
                <a16:creationId xmlns:a16="http://schemas.microsoft.com/office/drawing/2014/main" id="{F63B5C90-ABEB-DDFD-44A1-D555A3B1FEA9}"/>
              </a:ext>
            </a:extLst>
          </p:cNvPr>
          <p:cNvSpPr>
            <a:spLocks noChangeArrowheads="1"/>
          </p:cNvSpPr>
          <p:nvPr/>
        </p:nvSpPr>
        <p:spPr bwMode="auto">
          <a:xfrm>
            <a:off x="6689134" y="5121045"/>
            <a:ext cx="1295594"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الشبكات اللاسلكية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Wireless Networks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7" name="Rectangle: Rounded Corners 41">
            <a:extLst>
              <a:ext uri="{FF2B5EF4-FFF2-40B4-BE49-F238E27FC236}">
                <a16:creationId xmlns:a16="http://schemas.microsoft.com/office/drawing/2014/main" id="{EAAED43B-4CD7-6406-AFBD-3039243B10C0}"/>
              </a:ext>
            </a:extLst>
          </p:cNvPr>
          <p:cNvSpPr>
            <a:spLocks noChangeArrowheads="1"/>
          </p:cNvSpPr>
          <p:nvPr/>
        </p:nvSpPr>
        <p:spPr bwMode="auto">
          <a:xfrm>
            <a:off x="6679803" y="4692334"/>
            <a:ext cx="130492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شبكة المنطقة المحلية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Local Area Network</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8" name="Rectangle: Rounded Corners 41">
            <a:extLst>
              <a:ext uri="{FF2B5EF4-FFF2-40B4-BE49-F238E27FC236}">
                <a16:creationId xmlns:a16="http://schemas.microsoft.com/office/drawing/2014/main" id="{091C7302-2DF4-1EA2-F5A1-8F18851A8668}"/>
              </a:ext>
            </a:extLst>
          </p:cNvPr>
          <p:cNvSpPr>
            <a:spLocks noChangeArrowheads="1"/>
          </p:cNvSpPr>
          <p:nvPr/>
        </p:nvSpPr>
        <p:spPr bwMode="auto">
          <a:xfrm>
            <a:off x="5337865" y="4692334"/>
            <a:ext cx="130492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شبكة المنطقة الواسعة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Wide Area Network</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9" name="Rectangle: Rounded Corners 41">
            <a:extLst>
              <a:ext uri="{FF2B5EF4-FFF2-40B4-BE49-F238E27FC236}">
                <a16:creationId xmlns:a16="http://schemas.microsoft.com/office/drawing/2014/main" id="{FF3206CE-E017-1594-3D1E-2279A165AC8E}"/>
              </a:ext>
            </a:extLst>
          </p:cNvPr>
          <p:cNvSpPr>
            <a:spLocks noChangeArrowheads="1"/>
          </p:cNvSpPr>
          <p:nvPr/>
        </p:nvSpPr>
        <p:spPr bwMode="auto">
          <a:xfrm>
            <a:off x="3995430" y="4692334"/>
            <a:ext cx="130492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شبكة الانترنت</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Internet Network</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60" name="Rectangle: Rounded Corners 41">
            <a:extLst>
              <a:ext uri="{FF2B5EF4-FFF2-40B4-BE49-F238E27FC236}">
                <a16:creationId xmlns:a16="http://schemas.microsoft.com/office/drawing/2014/main" id="{E73749F5-EAFF-0611-F38E-4B0481F2AD72}"/>
              </a:ext>
            </a:extLst>
          </p:cNvPr>
          <p:cNvSpPr>
            <a:spLocks noChangeArrowheads="1"/>
          </p:cNvSpPr>
          <p:nvPr/>
        </p:nvSpPr>
        <p:spPr bwMode="auto">
          <a:xfrm>
            <a:off x="2661681" y="4697465"/>
            <a:ext cx="130492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الشبكة المحايدة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DMZ</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61" name="Rectangle: Rounded Corners 41">
            <a:extLst>
              <a:ext uri="{FF2B5EF4-FFF2-40B4-BE49-F238E27FC236}">
                <a16:creationId xmlns:a16="http://schemas.microsoft.com/office/drawing/2014/main" id="{612367D3-A59E-202A-4458-C0AE0E1916E5}"/>
              </a:ext>
            </a:extLst>
          </p:cNvPr>
          <p:cNvSpPr>
            <a:spLocks noChangeArrowheads="1"/>
          </p:cNvSpPr>
          <p:nvPr/>
        </p:nvSpPr>
        <p:spPr bwMode="auto">
          <a:xfrm>
            <a:off x="1325180" y="4691706"/>
            <a:ext cx="1295594"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000" dirty="0">
                <a:solidFill>
                  <a:srgbClr val="07080B"/>
                </a:solidFill>
                <a:latin typeface="Calibri" panose="020F0502020204030204" pitchFamily="34" charset="0"/>
                <a:cs typeface="Calibri" panose="020F0502020204030204" pitchFamily="34" charset="0"/>
              </a:rPr>
              <a:t>شبكة مركز البيانات</a:t>
            </a:r>
            <a:endPar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Data Center Network</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62" name="Rectangle: Rounded Corners 41">
            <a:extLst>
              <a:ext uri="{FF2B5EF4-FFF2-40B4-BE49-F238E27FC236}">
                <a16:creationId xmlns:a16="http://schemas.microsoft.com/office/drawing/2014/main" id="{385E705A-824D-A7B5-6B26-6993F2EFE71A}"/>
              </a:ext>
            </a:extLst>
          </p:cNvPr>
          <p:cNvSpPr>
            <a:spLocks noChangeArrowheads="1"/>
          </p:cNvSpPr>
          <p:nvPr/>
        </p:nvSpPr>
        <p:spPr bwMode="auto">
          <a:xfrm>
            <a:off x="1320515" y="5121046"/>
            <a:ext cx="130492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الشبكة الافتراضية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Virtualized Network</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63" name="Rectangle: Rounded Corners 41">
            <a:extLst>
              <a:ext uri="{FF2B5EF4-FFF2-40B4-BE49-F238E27FC236}">
                <a16:creationId xmlns:a16="http://schemas.microsoft.com/office/drawing/2014/main" id="{54A01047-57B2-570E-E026-3319BFD0F59D}"/>
              </a:ext>
            </a:extLst>
          </p:cNvPr>
          <p:cNvSpPr>
            <a:spLocks noChangeArrowheads="1"/>
          </p:cNvSpPr>
          <p:nvPr/>
        </p:nvSpPr>
        <p:spPr bwMode="auto">
          <a:xfrm>
            <a:off x="2661681" y="5121046"/>
            <a:ext cx="130492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جهاز شبكي</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7080B"/>
                </a:solidFill>
                <a:effectLst/>
                <a:latin typeface="Calibri" panose="020F0502020204030204" pitchFamily="34" charset="0"/>
                <a:cs typeface="Calibri" panose="020F0502020204030204" pitchFamily="34" charset="0"/>
              </a:rPr>
              <a:t>Network Dev</a:t>
            </a:r>
            <a:r>
              <a:rPr lang="en-US" altLang="en-US" sz="1000" dirty="0">
                <a:solidFill>
                  <a:srgbClr val="07080B"/>
                </a:solidFill>
                <a:latin typeface="Calibri" panose="020F0502020204030204" pitchFamily="34" charset="0"/>
                <a:cs typeface="Calibri" panose="020F0502020204030204" pitchFamily="34" charset="0"/>
              </a:rPr>
              <a:t>ice</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64" name="Rectangle: Rounded Corners 41">
            <a:extLst>
              <a:ext uri="{FF2B5EF4-FFF2-40B4-BE49-F238E27FC236}">
                <a16:creationId xmlns:a16="http://schemas.microsoft.com/office/drawing/2014/main" id="{E3E3D9DC-CC7D-3DD2-8C88-64F8EB73AE08}"/>
              </a:ext>
            </a:extLst>
          </p:cNvPr>
          <p:cNvSpPr>
            <a:spLocks noChangeArrowheads="1"/>
          </p:cNvSpPr>
          <p:nvPr/>
        </p:nvSpPr>
        <p:spPr bwMode="auto">
          <a:xfrm>
            <a:off x="4004444" y="5119467"/>
            <a:ext cx="1304925"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000" dirty="0">
                <a:solidFill>
                  <a:srgbClr val="07080B"/>
                </a:solidFill>
                <a:latin typeface="Calibri" panose="020F0502020204030204" pitchFamily="34" charset="0"/>
                <a:cs typeface="Calibri" panose="020F0502020204030204" pitchFamily="34" charset="0"/>
              </a:rPr>
              <a:t>شبكة ذات الفجوة الهوائية</a:t>
            </a:r>
            <a:endPar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Air Gapped Network</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65" name="Rectangle: Rounded Corners 41">
            <a:extLst>
              <a:ext uri="{FF2B5EF4-FFF2-40B4-BE49-F238E27FC236}">
                <a16:creationId xmlns:a16="http://schemas.microsoft.com/office/drawing/2014/main" id="{CCE14B3C-DF9B-D3D1-AC8D-0B42298D3EA8}"/>
              </a:ext>
            </a:extLst>
          </p:cNvPr>
          <p:cNvSpPr>
            <a:spLocks noChangeArrowheads="1"/>
          </p:cNvSpPr>
          <p:nvPr/>
        </p:nvSpPr>
        <p:spPr bwMode="auto">
          <a:xfrm>
            <a:off x="8195588" y="5348935"/>
            <a:ext cx="1531269" cy="347983"/>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الحماية من الحرائق</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Fire Protection</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66" name="Rectangle: Rounded Corners 41">
            <a:extLst>
              <a:ext uri="{FF2B5EF4-FFF2-40B4-BE49-F238E27FC236}">
                <a16:creationId xmlns:a16="http://schemas.microsoft.com/office/drawing/2014/main" id="{68BC0B91-FC4B-3129-24D4-3E7E35622D33}"/>
              </a:ext>
            </a:extLst>
          </p:cNvPr>
          <p:cNvSpPr>
            <a:spLocks noChangeArrowheads="1"/>
          </p:cNvSpPr>
          <p:nvPr/>
        </p:nvSpPr>
        <p:spPr bwMode="auto">
          <a:xfrm>
            <a:off x="9793342" y="5342174"/>
            <a:ext cx="1479416" cy="351740"/>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الضوابط البيئية</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900" dirty="0">
                <a:solidFill>
                  <a:srgbClr val="07080B"/>
                </a:solidFill>
                <a:latin typeface="Calibri" panose="020F0502020204030204" pitchFamily="34" charset="0"/>
                <a:cs typeface="Calibri" panose="020F0502020204030204" pitchFamily="34" charset="0"/>
              </a:rPr>
              <a:t>Environmental Controls</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67" name="Rectangle: Rounded Corners 41">
            <a:extLst>
              <a:ext uri="{FF2B5EF4-FFF2-40B4-BE49-F238E27FC236}">
                <a16:creationId xmlns:a16="http://schemas.microsoft.com/office/drawing/2014/main" id="{C336F709-AD1F-F977-350E-73324C24C08E}"/>
              </a:ext>
            </a:extLst>
          </p:cNvPr>
          <p:cNvSpPr>
            <a:spLocks noChangeArrowheads="1"/>
          </p:cNvSpPr>
          <p:nvPr/>
        </p:nvSpPr>
        <p:spPr bwMode="auto">
          <a:xfrm>
            <a:off x="8195588" y="4926515"/>
            <a:ext cx="1531269" cy="34530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المراقبة والتحكم بالدخول</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800" dirty="0">
                <a:solidFill>
                  <a:srgbClr val="07080B"/>
                </a:solidFill>
                <a:latin typeface="Calibri" panose="020F0502020204030204" pitchFamily="34" charset="0"/>
                <a:cs typeface="Calibri" panose="020F0502020204030204" pitchFamily="34" charset="0"/>
              </a:rPr>
              <a:t>Surveillance &amp; Access Control</a:t>
            </a: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68" name="Rectangle: Rounded Corners 41">
            <a:extLst>
              <a:ext uri="{FF2B5EF4-FFF2-40B4-BE49-F238E27FC236}">
                <a16:creationId xmlns:a16="http://schemas.microsoft.com/office/drawing/2014/main" id="{57001F4A-42A6-35BB-71BC-D616BE0AC33A}"/>
              </a:ext>
            </a:extLst>
          </p:cNvPr>
          <p:cNvSpPr>
            <a:spLocks noChangeArrowheads="1"/>
          </p:cNvSpPr>
          <p:nvPr/>
        </p:nvSpPr>
        <p:spPr bwMode="auto">
          <a:xfrm>
            <a:off x="9796587" y="4923841"/>
            <a:ext cx="1479416" cy="347983"/>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التزويد الكهربائي</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Power Supply</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69" name="Rectangle: Rounded Corners 41">
            <a:extLst>
              <a:ext uri="{FF2B5EF4-FFF2-40B4-BE49-F238E27FC236}">
                <a16:creationId xmlns:a16="http://schemas.microsoft.com/office/drawing/2014/main" id="{94C812DF-6001-2CD9-5200-E0B77B2CD65D}"/>
              </a:ext>
            </a:extLst>
          </p:cNvPr>
          <p:cNvSpPr>
            <a:spLocks noChangeArrowheads="1"/>
          </p:cNvSpPr>
          <p:nvPr/>
        </p:nvSpPr>
        <p:spPr bwMode="auto">
          <a:xfrm>
            <a:off x="8195588" y="4512515"/>
            <a:ext cx="1531269" cy="340976"/>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الخزائن والتوصيلات</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Cabinets &amp; Cabling</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70" name="Rectangle: Rounded Corners 41">
            <a:extLst>
              <a:ext uri="{FF2B5EF4-FFF2-40B4-BE49-F238E27FC236}">
                <a16:creationId xmlns:a16="http://schemas.microsoft.com/office/drawing/2014/main" id="{4A18CBD8-5E74-3C97-E17A-522898BF08FE}"/>
              </a:ext>
            </a:extLst>
          </p:cNvPr>
          <p:cNvSpPr>
            <a:spLocks noChangeArrowheads="1"/>
          </p:cNvSpPr>
          <p:nvPr/>
        </p:nvSpPr>
        <p:spPr bwMode="auto">
          <a:xfrm>
            <a:off x="9788598" y="4488419"/>
            <a:ext cx="1487406" cy="34530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ar-SA" altLang="en-US" sz="1000" dirty="0">
                <a:solidFill>
                  <a:srgbClr val="07080B"/>
                </a:solidFill>
                <a:latin typeface="Calibri" panose="020F0502020204030204" pitchFamily="34" charset="0"/>
                <a:cs typeface="Calibri" panose="020F0502020204030204" pitchFamily="34" charset="0"/>
              </a:rPr>
              <a:t>مخطط مركز البيانات</a:t>
            </a:r>
            <a:endPar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Data Center Layout</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88" name="Rectangle: Rounded Corners 41">
            <a:extLst>
              <a:ext uri="{FF2B5EF4-FFF2-40B4-BE49-F238E27FC236}">
                <a16:creationId xmlns:a16="http://schemas.microsoft.com/office/drawing/2014/main" id="{D46F6268-2F5B-1FFC-8D91-E95EA16FAFC4}"/>
              </a:ext>
            </a:extLst>
          </p:cNvPr>
          <p:cNvSpPr>
            <a:spLocks noChangeArrowheads="1"/>
          </p:cNvSpPr>
          <p:nvPr/>
        </p:nvSpPr>
        <p:spPr bwMode="auto">
          <a:xfrm>
            <a:off x="3868479" y="3751945"/>
            <a:ext cx="1485901" cy="338139"/>
          </a:xfrm>
          <a:prstGeom prst="roundRect">
            <a:avLst>
              <a:gd name="adj" fmla="val 6944"/>
            </a:avLst>
          </a:prstGeom>
          <a:solidFill>
            <a:srgbClr val="EDEDED"/>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ar-SA" altLang="en-US" sz="1000" b="0" i="0" u="none" strike="noStrike" cap="none" normalizeH="0" baseline="0" dirty="0">
                <a:ln>
                  <a:noFill/>
                </a:ln>
                <a:solidFill>
                  <a:srgbClr val="07080B"/>
                </a:solidFill>
                <a:effectLst/>
                <a:latin typeface="Calibri" panose="020F0502020204030204" pitchFamily="34" charset="0"/>
                <a:ea typeface="+mn-ea"/>
                <a:cs typeface="Calibri" panose="020F0502020204030204" pitchFamily="34" charset="0"/>
              </a:rPr>
              <a:t>مضيف مادي</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000" dirty="0">
                <a:solidFill>
                  <a:srgbClr val="07080B"/>
                </a:solidFill>
                <a:latin typeface="Calibri" panose="020F0502020204030204" pitchFamily="34" charset="0"/>
                <a:cs typeface="Calibri" panose="020F0502020204030204" pitchFamily="34" charset="0"/>
              </a:rPr>
              <a:t>Physical Host</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659015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B2D89-EF67-B07F-C8FC-54218A11E4D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802244-DEB6-251C-4580-6881828CE623}"/>
              </a:ext>
            </a:extLst>
          </p:cNvPr>
          <p:cNvSpPr>
            <a:spLocks noGrp="1"/>
          </p:cNvSpPr>
          <p:nvPr>
            <p:ph type="sldNum" sz="quarter" idx="12"/>
          </p:nvPr>
        </p:nvSpPr>
        <p:spPr/>
        <p:txBody>
          <a:bodyPr/>
          <a:lstStyle/>
          <a:p>
            <a:fld id="{0BE4EC83-A869-464E-AE9F-881796FB085E}" type="slidenum">
              <a:rPr lang="en-US" smtClean="0"/>
              <a:t>43</a:t>
            </a:fld>
            <a:endParaRPr lang="en-US" dirty="0"/>
          </a:p>
        </p:txBody>
      </p:sp>
      <p:sp>
        <p:nvSpPr>
          <p:cNvPr id="7" name="Title 1">
            <a:extLst>
              <a:ext uri="{FF2B5EF4-FFF2-40B4-BE49-F238E27FC236}">
                <a16:creationId xmlns:a16="http://schemas.microsoft.com/office/drawing/2014/main" id="{1F767BAB-03D1-DDFB-BC14-5793B5E6841A}"/>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3200" dirty="0">
                <a:latin typeface="Sakkal Majalla" panose="02000000000000000000" pitchFamily="2" charset="-78"/>
                <a:cs typeface="Sakkal Majalla" panose="02000000000000000000" pitchFamily="2" charset="-78"/>
              </a:rPr>
              <a:t>تفصيل طبقات النموذج المرجعي لبنية التقنية (1</a:t>
            </a:r>
            <a:r>
              <a:rPr lang="ar-EG" sz="3200" dirty="0">
                <a:latin typeface="Sakkal Majalla" panose="02000000000000000000" pitchFamily="2" charset="-78"/>
                <a:cs typeface="Sakkal Majalla" panose="02000000000000000000" pitchFamily="2" charset="-78"/>
              </a:rPr>
              <a:t>/8</a:t>
            </a:r>
            <a:r>
              <a:rPr lang="ar-SA" sz="3200" dirty="0">
                <a:latin typeface="Sakkal Majalla" panose="02000000000000000000" pitchFamily="2" charset="-78"/>
                <a:cs typeface="Sakkal Majalla" panose="02000000000000000000" pitchFamily="2" charset="-78"/>
              </a:rPr>
              <a:t>)</a:t>
            </a:r>
            <a:endParaRPr lang="en-US" dirty="0">
              <a:highlight>
                <a:srgbClr val="FFFF00"/>
              </a:highlight>
            </a:endParaRPr>
          </a:p>
        </p:txBody>
      </p:sp>
      <p:graphicFrame>
        <p:nvGraphicFramePr>
          <p:cNvPr id="2" name="Table 1">
            <a:extLst>
              <a:ext uri="{FF2B5EF4-FFF2-40B4-BE49-F238E27FC236}">
                <a16:creationId xmlns:a16="http://schemas.microsoft.com/office/drawing/2014/main" id="{FA26DAD2-5DBC-D7F2-12C7-FD4630A5F211}"/>
              </a:ext>
            </a:extLst>
          </p:cNvPr>
          <p:cNvGraphicFramePr>
            <a:graphicFrameLocks noGrp="1"/>
          </p:cNvGraphicFramePr>
          <p:nvPr>
            <p:extLst>
              <p:ext uri="{D42A27DB-BD31-4B8C-83A1-F6EECF244321}">
                <p14:modId xmlns:p14="http://schemas.microsoft.com/office/powerpoint/2010/main" val="2168145417"/>
              </p:ext>
            </p:extLst>
          </p:nvPr>
        </p:nvGraphicFramePr>
        <p:xfrm>
          <a:off x="340179" y="1170940"/>
          <a:ext cx="11511642" cy="4942840"/>
        </p:xfrm>
        <a:graphic>
          <a:graphicData uri="http://schemas.openxmlformats.org/drawingml/2006/table">
            <a:tbl>
              <a:tblPr firstRow="1" bandRow="1">
                <a:tableStyleId>{5C22544A-7EE6-4342-B048-85BDC9FD1C3A}</a:tableStyleId>
              </a:tblPr>
              <a:tblGrid>
                <a:gridCol w="6115050">
                  <a:extLst>
                    <a:ext uri="{9D8B030D-6E8A-4147-A177-3AD203B41FA5}">
                      <a16:colId xmlns:a16="http://schemas.microsoft.com/office/drawing/2014/main" val="3834542369"/>
                    </a:ext>
                  </a:extLst>
                </a:gridCol>
                <a:gridCol w="3209925">
                  <a:extLst>
                    <a:ext uri="{9D8B030D-6E8A-4147-A177-3AD203B41FA5}">
                      <a16:colId xmlns:a16="http://schemas.microsoft.com/office/drawing/2014/main" val="3074006688"/>
                    </a:ext>
                  </a:extLst>
                </a:gridCol>
                <a:gridCol w="2186667">
                  <a:extLst>
                    <a:ext uri="{9D8B030D-6E8A-4147-A177-3AD203B41FA5}">
                      <a16:colId xmlns:a16="http://schemas.microsoft.com/office/drawing/2014/main" val="3462297521"/>
                    </a:ext>
                  </a:extLst>
                </a:gridCol>
              </a:tblGrid>
              <a:tr h="370840">
                <a:tc gridSpan="2">
                  <a:txBody>
                    <a:bodyPr/>
                    <a:lstStyle/>
                    <a:p>
                      <a:pPr algn="ctr"/>
                      <a:r>
                        <a:rPr lang="ar-SA" dirty="0">
                          <a:latin typeface="Sakkal Majalla" panose="02000000000000000000" pitchFamily="2" charset="-78"/>
                          <a:cs typeface="Sakkal Majalla" panose="02000000000000000000" pitchFamily="2" charset="-78"/>
                        </a:rPr>
                        <a:t>وصف الطبقة</a:t>
                      </a:r>
                      <a:endParaRPr lang="en-US"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a:txBody>
                    <a:bodyPr/>
                    <a:lstStyle/>
                    <a:p>
                      <a:pPr algn="ctr"/>
                      <a:r>
                        <a:rPr lang="ar-SA" dirty="0">
                          <a:latin typeface="Sakkal Majalla" panose="02000000000000000000" pitchFamily="2" charset="-78"/>
                          <a:cs typeface="Sakkal Majalla" panose="02000000000000000000" pitchFamily="2" charset="-78"/>
                        </a:rPr>
                        <a:t>الطبقة</a:t>
                      </a:r>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9475502"/>
                  </a:ext>
                </a:extLst>
              </a:tr>
              <a:tr h="0">
                <a:tc gridSpan="2">
                  <a:txBody>
                    <a:bodyPr/>
                    <a:lstStyle/>
                    <a:p>
                      <a:pPr algn="r" rtl="1"/>
                      <a:r>
                        <a:rPr lang="ar-EG" sz="1600" dirty="0">
                          <a:latin typeface="Sakkal Majalla" panose="02000000000000000000" pitchFamily="2" charset="-78"/>
                          <a:cs typeface="Sakkal Majalla" panose="02000000000000000000" pitchFamily="2" charset="-78"/>
                        </a:rPr>
                        <a:t>تشمل جميع الخدمات الأساسية المتعلقة بالشبكة أو النطاق التي تحتاجها مكونات البنية</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التقنية المختلفة، كما تضم الخدمات التي يستخدمها أو يحتاجها</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المستخدمين النهائيين مثل البريد الإلكتروني وخدمات الاتصال وغيرها</a:t>
                      </a:r>
                      <a:endParaRPr lang="en-US" sz="1600"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rowSpan="9">
                  <a:txBody>
                    <a:bodyPr/>
                    <a:lstStyle/>
                    <a:p>
                      <a:pPr algn="ctr"/>
                      <a:r>
                        <a:rPr lang="ar-SA" sz="2000" b="1" dirty="0">
                          <a:latin typeface="Sakkal Majalla" panose="02000000000000000000" pitchFamily="2" charset="-78"/>
                          <a:cs typeface="Sakkal Majalla" panose="02000000000000000000" pitchFamily="2" charset="-78"/>
                        </a:rPr>
                        <a:t>خدمات البنية التحتية</a:t>
                      </a:r>
                    </a:p>
                    <a:p>
                      <a:pPr algn="ctr"/>
                      <a:r>
                        <a:rPr lang="en-US" b="1" dirty="0">
                          <a:latin typeface="Sakkal Majalla" panose="02000000000000000000" pitchFamily="2" charset="-78"/>
                          <a:cs typeface="Sakkal Majalla" panose="02000000000000000000" pitchFamily="2" charset="-78"/>
                        </a:rPr>
                        <a:t>Infrastructure Services</a:t>
                      </a:r>
                    </a:p>
                  </a:txBody>
                  <a:tcPr anchor="ctr"/>
                </a:tc>
                <a:extLst>
                  <a:ext uri="{0D108BD9-81ED-4DB2-BD59-A6C34878D82A}">
                    <a16:rowId xmlns:a16="http://schemas.microsoft.com/office/drawing/2014/main" val="3816038262"/>
                  </a:ext>
                </a:extLst>
              </a:tr>
              <a:tr h="211192">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وصف 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406762"/>
                  </a:ext>
                </a:extLst>
              </a:tr>
              <a:tr h="193412">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نظام اسم </a:t>
                      </a:r>
                      <a:r>
                        <a:rPr lang="ar-SA" sz="1400" kern="1200" dirty="0">
                          <a:solidFill>
                            <a:schemeClr val="dk1"/>
                          </a:solidFill>
                          <a:latin typeface="Sakkal Majalla" panose="02000000000000000000" pitchFamily="2" charset="-78"/>
                          <a:ea typeface="+mn-ea"/>
                          <a:cs typeface="Sakkal Majalla" panose="02000000000000000000" pitchFamily="2" charset="-78"/>
                        </a:rPr>
                        <a:t>النطاق</a:t>
                      </a:r>
                      <a:r>
                        <a:rPr lang="en-US" sz="1400" kern="1200" dirty="0">
                          <a:solidFill>
                            <a:schemeClr val="dk1"/>
                          </a:solidFill>
                          <a:latin typeface="Sakkal Majalla" panose="02000000000000000000" pitchFamily="2" charset="-78"/>
                          <a:ea typeface="+mn-ea"/>
                          <a:cs typeface="Sakkal Majalla" panose="02000000000000000000" pitchFamily="2" charset="-78"/>
                        </a:rPr>
                        <a:t>(DNS)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هو دليل الهاتف للإنترنت. يصل </a:t>
                      </a:r>
                      <a:r>
                        <a:rPr lang="ar-SA" sz="1400" kern="1200" dirty="0">
                          <a:solidFill>
                            <a:schemeClr val="dk1"/>
                          </a:solidFill>
                          <a:latin typeface="Sakkal Majalla" panose="02000000000000000000" pitchFamily="2" charset="-78"/>
                          <a:ea typeface="+mn-ea"/>
                          <a:cs typeface="Sakkal Majalla" panose="02000000000000000000" pitchFamily="2" charset="-78"/>
                        </a:rPr>
                        <a:t>المستخدم</a:t>
                      </a:r>
                      <a:r>
                        <a:rPr lang="ar-EG" sz="1400" kern="1200" dirty="0">
                          <a:solidFill>
                            <a:schemeClr val="dk1"/>
                          </a:solidFill>
                          <a:latin typeface="Sakkal Majalla" panose="02000000000000000000" pitchFamily="2" charset="-78"/>
                          <a:ea typeface="+mn-ea"/>
                          <a:cs typeface="Sakkal Majalla" panose="02000000000000000000" pitchFamily="2" charset="-78"/>
                        </a:rPr>
                        <a:t> إلى المعلومات عبر الإنترنت من خلال أسماء النطاقات، مثل </a:t>
                      </a:r>
                      <a:r>
                        <a:rPr lang="en-US" sz="1400" kern="1200" dirty="0">
                          <a:solidFill>
                            <a:schemeClr val="dk1"/>
                          </a:solidFill>
                          <a:latin typeface="Sakkal Majalla" panose="02000000000000000000" pitchFamily="2" charset="-78"/>
                          <a:ea typeface="+mn-ea"/>
                          <a:cs typeface="Sakkal Majalla" panose="02000000000000000000" pitchFamily="2" charset="-78"/>
                        </a:rPr>
                        <a:t>Google.com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تتفاعل متصفحات الويب من خلال عناوين بروتوكول الإنترنت </a:t>
                      </a:r>
                      <a:r>
                        <a:rPr lang="en-US" sz="1400" kern="1200" dirty="0">
                          <a:solidFill>
                            <a:schemeClr val="dk1"/>
                          </a:solidFill>
                          <a:latin typeface="Sakkal Majalla" panose="02000000000000000000" pitchFamily="2" charset="-78"/>
                          <a:ea typeface="+mn-ea"/>
                          <a:cs typeface="Sakkal Majalla" panose="02000000000000000000" pitchFamily="2" charset="-78"/>
                        </a:rPr>
                        <a:t>IP)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يقوم </a:t>
                      </a:r>
                      <a:r>
                        <a:rPr lang="ar-SA" sz="1400" kern="1200" dirty="0">
                          <a:solidFill>
                            <a:schemeClr val="dk1"/>
                          </a:solidFill>
                          <a:latin typeface="Sakkal Majalla" panose="02000000000000000000" pitchFamily="2" charset="-78"/>
                          <a:ea typeface="+mn-ea"/>
                          <a:cs typeface="Sakkal Majalla" panose="02000000000000000000" pitchFamily="2" charset="-78"/>
                        </a:rPr>
                        <a:t> نظام اسم النطاق </a:t>
                      </a:r>
                      <a:r>
                        <a:rPr lang="en-US"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بترجمة أسماء النطاقات</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en-US" sz="1400" kern="1200" dirty="0">
                          <a:solidFill>
                            <a:schemeClr val="dk1"/>
                          </a:solidFill>
                          <a:latin typeface="Sakkal Majalla" panose="02000000000000000000" pitchFamily="2" charset="-78"/>
                          <a:ea typeface="+mn-ea"/>
                          <a:cs typeface="Sakkal Majalla" panose="02000000000000000000" pitchFamily="2" charset="-78"/>
                        </a:rPr>
                        <a:t>DNS</a:t>
                      </a:r>
                      <a:r>
                        <a:rPr lang="ar-SA" sz="1400" kern="1200" dirty="0">
                          <a:solidFill>
                            <a:schemeClr val="dk1"/>
                          </a:solidFill>
                          <a:latin typeface="Sakkal Majalla" panose="02000000000000000000" pitchFamily="2" charset="-78"/>
                          <a:ea typeface="+mn-ea"/>
                          <a:cs typeface="Sakkal Majalla" panose="02000000000000000000" pitchFamily="2" charset="-78"/>
                        </a:rPr>
                        <a:t>)</a:t>
                      </a:r>
                      <a:r>
                        <a:rPr lang="ar-EG" sz="1400" kern="1200" dirty="0">
                          <a:solidFill>
                            <a:schemeClr val="dk1"/>
                          </a:solidFill>
                          <a:latin typeface="Sakkal Majalla" panose="02000000000000000000" pitchFamily="2" charset="-78"/>
                          <a:ea typeface="+mn-ea"/>
                          <a:cs typeface="Sakkal Majalla" panose="02000000000000000000" pitchFamily="2" charset="-78"/>
                        </a:rPr>
                        <a:t> إلى عناوين بروتوكول الإنترنت </a:t>
                      </a:r>
                      <a:r>
                        <a:rPr lang="en-US" sz="1400" kern="1200" dirty="0">
                          <a:solidFill>
                            <a:schemeClr val="dk1"/>
                          </a:solidFill>
                          <a:latin typeface="Sakkal Majalla" panose="02000000000000000000" pitchFamily="2" charset="-78"/>
                          <a:ea typeface="+mn-ea"/>
                          <a:cs typeface="Sakkal Majalla" panose="02000000000000000000" pitchFamily="2" charset="-78"/>
                        </a:rPr>
                        <a:t>IP) </a:t>
                      </a:r>
                      <a:r>
                        <a:rPr lang="ar-SA" sz="1400" kern="1200" dirty="0">
                          <a:solidFill>
                            <a:schemeClr val="dk1"/>
                          </a:solidFill>
                          <a:latin typeface="Sakkal Majalla" panose="02000000000000000000" pitchFamily="2" charset="-78"/>
                          <a:ea typeface="+mn-ea"/>
                          <a:cs typeface="Sakkal Majalla" panose="02000000000000000000" pitchFamily="2" charset="-78"/>
                        </a:rPr>
                        <a:t>)</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ترجمة اسم النطاق</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(Domain Name Resolution</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62487338"/>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وحدة تحكم المجال هو خادم يستجيب لطلبات مصادقة الأمان داخل مجال شبكة الحاسوب، وهو المسؤول عن السماح بوصول المضيف إلى موارد المجال، ومصادقة المستخدمين، وتخزين معلومات حساب المستخدم، ويفرض سياسة أمان المجال. يُنفذ في بيئة مايكروسوفت ويندوز، حيث يُعد عنصر مركزي في خدمة نافذة الدليل النشط</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التحكم في النطاق</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(Domain Controller)</a:t>
                      </a:r>
                    </a:p>
                  </a:txBody>
                  <a:tcPr anchor="ctr"/>
                </a:tc>
                <a:tc vMerge="1">
                  <a:txBody>
                    <a:bodyPr/>
                    <a:lstStyle/>
                    <a:p>
                      <a:endParaRPr lang="en-US"/>
                    </a:p>
                  </a:txBody>
                  <a:tcPr/>
                </a:tc>
                <a:extLst>
                  <a:ext uri="{0D108BD9-81ED-4DB2-BD59-A6C34878D82A}">
                    <a16:rowId xmlns:a16="http://schemas.microsoft.com/office/drawing/2014/main" val="1849126731"/>
                  </a:ext>
                </a:extLst>
              </a:tr>
              <a:tr h="0">
                <a:tc>
                  <a:txBody>
                    <a:bodyPr/>
                    <a:lstStyle/>
                    <a:p>
                      <a:pPr algn="r" rtl="1"/>
                      <a:r>
                        <a:rPr lang="ar-SA" sz="1400" kern="1200" dirty="0">
                          <a:solidFill>
                            <a:schemeClr val="dk1"/>
                          </a:solidFill>
                          <a:latin typeface="Sakkal Majalla" panose="02000000000000000000" pitchFamily="2" charset="-78"/>
                          <a:ea typeface="+mn-ea"/>
                          <a:cs typeface="Sakkal Majalla" panose="02000000000000000000" pitchFamily="2" charset="-78"/>
                        </a:rPr>
                        <a:t>إجراء المكالمات الصوتية والمرئية والاجتماعات الافتراضية من خلال الشبكة سواء عن طريق الشبكة الداخلية أو الخارجية "الانترنت"</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الاتصال الصوتي والمرئي</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(Voice &amp; Video Calling</a:t>
                      </a:r>
                    </a:p>
                  </a:txBody>
                  <a:tcPr anchor="ctr"/>
                </a:tc>
                <a:tc vMerge="1">
                  <a:txBody>
                    <a:bodyPr/>
                    <a:lstStyle/>
                    <a:p>
                      <a:endParaRPr lang="en-US"/>
                    </a:p>
                  </a:txBody>
                  <a:tcPr/>
                </a:tc>
                <a:extLst>
                  <a:ext uri="{0D108BD9-81ED-4DB2-BD59-A6C34878D82A}">
                    <a16:rowId xmlns:a16="http://schemas.microsoft.com/office/drawing/2014/main" val="3657595079"/>
                  </a:ext>
                </a:extLst>
              </a:tr>
              <a:tr h="216907">
                <a:tc>
                  <a:txBody>
                    <a:bodyPr/>
                    <a:lstStyle/>
                    <a:p>
                      <a:pPr algn="r" rtl="1"/>
                      <a:r>
                        <a:rPr lang="ar-SA" sz="1400" kern="1200" dirty="0">
                          <a:solidFill>
                            <a:schemeClr val="dk1"/>
                          </a:solidFill>
                          <a:latin typeface="Sakkal Majalla" panose="02000000000000000000" pitchFamily="2" charset="-78"/>
                          <a:ea typeface="+mn-ea"/>
                          <a:cs typeface="Sakkal Majalla" panose="02000000000000000000" pitchFamily="2" charset="-78"/>
                        </a:rPr>
                        <a:t>مشاركة الملفات من خلال الشبكة </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مشاركة الملفات</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(File Sharing)</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80069243"/>
                  </a:ext>
                </a:extLst>
              </a:tr>
              <a:tr h="178807">
                <a:tc>
                  <a:txBody>
                    <a:bodyPr/>
                    <a:lstStyle/>
                    <a:p>
                      <a:pPr algn="r" rtl="1"/>
                      <a:r>
                        <a:rPr lang="ar-SA" sz="1400" kern="1200" dirty="0">
                          <a:solidFill>
                            <a:schemeClr val="dk1"/>
                          </a:solidFill>
                          <a:latin typeface="Sakkal Majalla" panose="02000000000000000000" pitchFamily="2" charset="-78"/>
                          <a:ea typeface="+mn-ea"/>
                          <a:cs typeface="Sakkal Majalla" panose="02000000000000000000" pitchFamily="2" charset="-78"/>
                        </a:rPr>
                        <a:t>مزامنة الوقت داخل الشبكة بحيث يتم توحيد الوقت على جميع أجهزة الشبكة</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مزامنة وقت الشبكة</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(Network Time Sync.)</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1241646"/>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تتيح بوابة الرسائل القصيرة (</a:t>
                      </a:r>
                      <a:r>
                        <a:rPr lang="en-US" sz="1400" kern="1200" dirty="0">
                          <a:solidFill>
                            <a:schemeClr val="dk1"/>
                          </a:solidFill>
                          <a:latin typeface="Sakkal Majalla" panose="02000000000000000000" pitchFamily="2" charset="-78"/>
                          <a:ea typeface="+mn-ea"/>
                          <a:cs typeface="Sakkal Majalla" panose="02000000000000000000" pitchFamily="2" charset="-78"/>
                        </a:rPr>
                        <a:t>(SMS Gateway</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للحاسوب إمكانية إرسال واستقبال الرسائل النصية القصيرة من وإلى جهاز قادر على إرسال الرسائل النصية القصيرة </a:t>
                      </a:r>
                      <a:r>
                        <a:rPr lang="en-US" sz="1400" kern="1200" dirty="0">
                          <a:solidFill>
                            <a:schemeClr val="dk1"/>
                          </a:solidFill>
                          <a:latin typeface="Sakkal Majalla" panose="02000000000000000000" pitchFamily="2" charset="-78"/>
                          <a:ea typeface="+mn-ea"/>
                          <a:cs typeface="Sakkal Majalla" panose="02000000000000000000" pitchFamily="2" charset="-78"/>
                        </a:rPr>
                        <a:t>SMS)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عبر شبكة الاتصالات العالمية (عادةً إلى هاتف محمول). تقوم بوابة الرسائل القصيرة بترجمة الرسالة المرسلة، وجعلها متوافقة للتسليم عبر الشبكة لتتمكن من الوصول إلى المستلم</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altLang="en-US" sz="1400" b="1" kern="1200" dirty="0">
                          <a:solidFill>
                            <a:schemeClr val="dk1"/>
                          </a:solidFill>
                          <a:latin typeface="Sakkal Majalla" panose="02000000000000000000" pitchFamily="2" charset="-78"/>
                          <a:ea typeface="+mn-ea"/>
                          <a:cs typeface="Sakkal Majalla" panose="02000000000000000000" pitchFamily="2" charset="-78"/>
                        </a:rPr>
                        <a:t>بوابة الرسائل النصية </a:t>
                      </a:r>
                      <a:r>
                        <a:rPr lang="en-US" altLang="en-US" sz="1400" b="1" kern="1200" dirty="0">
                          <a:solidFill>
                            <a:schemeClr val="dk1"/>
                          </a:solidFill>
                          <a:latin typeface="Sakkal Majalla" panose="02000000000000000000" pitchFamily="2" charset="-78"/>
                          <a:ea typeface="+mn-ea"/>
                          <a:cs typeface="Sakkal Majalla" panose="02000000000000000000" pitchFamily="2" charset="-78"/>
                        </a:rPr>
                        <a:t>(SMS Gateway)</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61578475"/>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طريقة لإرسال رسائل من </a:t>
                      </a:r>
                      <a:r>
                        <a:rPr lang="ar-SA" sz="1400" kern="1200" dirty="0">
                          <a:solidFill>
                            <a:schemeClr val="dk1"/>
                          </a:solidFill>
                          <a:latin typeface="Sakkal Majalla" panose="02000000000000000000" pitchFamily="2" charset="-78"/>
                          <a:ea typeface="+mn-ea"/>
                          <a:cs typeface="Sakkal Majalla" panose="02000000000000000000" pitchFamily="2" charset="-78"/>
                        </a:rPr>
                        <a:t>جهاز حاسب آلي</a:t>
                      </a:r>
                      <a:r>
                        <a:rPr lang="ar-EG" sz="1400" kern="1200" dirty="0">
                          <a:solidFill>
                            <a:schemeClr val="dk1"/>
                          </a:solidFill>
                          <a:latin typeface="Sakkal Majalla" panose="02000000000000000000" pitchFamily="2" charset="-78"/>
                          <a:ea typeface="+mn-ea"/>
                          <a:cs typeface="Sakkal Majalla" panose="02000000000000000000" pitchFamily="2" charset="-78"/>
                        </a:rPr>
                        <a:t> إلى آخر عبر الإنترنت</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البريد الالكتروني</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(Email Services</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4137844761"/>
                  </a:ext>
                </a:extLst>
              </a:tr>
            </a:tbl>
          </a:graphicData>
        </a:graphic>
      </p:graphicFrame>
    </p:spTree>
    <p:extLst>
      <p:ext uri="{BB962C8B-B14F-4D97-AF65-F5344CB8AC3E}">
        <p14:creationId xmlns:p14="http://schemas.microsoft.com/office/powerpoint/2010/main" val="36309643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7A146-3278-42E0-577D-72F919ED737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D030A0-E5F7-9856-F46C-9078BA2DFED5}"/>
              </a:ext>
            </a:extLst>
          </p:cNvPr>
          <p:cNvSpPr>
            <a:spLocks noGrp="1"/>
          </p:cNvSpPr>
          <p:nvPr>
            <p:ph type="sldNum" sz="quarter" idx="12"/>
          </p:nvPr>
        </p:nvSpPr>
        <p:spPr/>
        <p:txBody>
          <a:bodyPr/>
          <a:lstStyle/>
          <a:p>
            <a:fld id="{0BE4EC83-A869-464E-AE9F-881796FB085E}" type="slidenum">
              <a:rPr lang="en-US" smtClean="0"/>
              <a:t>44</a:t>
            </a:fld>
            <a:endParaRPr lang="en-US" dirty="0"/>
          </a:p>
        </p:txBody>
      </p:sp>
      <p:sp>
        <p:nvSpPr>
          <p:cNvPr id="7" name="Title 1">
            <a:extLst>
              <a:ext uri="{FF2B5EF4-FFF2-40B4-BE49-F238E27FC236}">
                <a16:creationId xmlns:a16="http://schemas.microsoft.com/office/drawing/2014/main" id="{49CB7D46-A920-02CA-9B04-7327FB750416}"/>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3200" dirty="0">
                <a:latin typeface="Sakkal Majalla" panose="02000000000000000000" pitchFamily="2" charset="-78"/>
                <a:cs typeface="Sakkal Majalla" panose="02000000000000000000" pitchFamily="2" charset="-78"/>
              </a:rPr>
              <a:t>تفصيل طبقات النموذج المرجعي لبنية التقنية (</a:t>
            </a:r>
            <a:r>
              <a:rPr lang="ar-EG" sz="3200" dirty="0">
                <a:latin typeface="Sakkal Majalla" panose="02000000000000000000" pitchFamily="2" charset="-78"/>
                <a:cs typeface="Sakkal Majalla" panose="02000000000000000000" pitchFamily="2" charset="-78"/>
              </a:rPr>
              <a:t>2/8</a:t>
            </a:r>
            <a:r>
              <a:rPr lang="ar-SA" sz="3200" dirty="0">
                <a:latin typeface="Sakkal Majalla" panose="02000000000000000000" pitchFamily="2" charset="-78"/>
                <a:cs typeface="Sakkal Majalla" panose="02000000000000000000" pitchFamily="2" charset="-78"/>
              </a:rPr>
              <a:t>)</a:t>
            </a:r>
            <a:endParaRPr lang="en-US" dirty="0">
              <a:highlight>
                <a:srgbClr val="FFFF00"/>
              </a:highlight>
            </a:endParaRPr>
          </a:p>
        </p:txBody>
      </p:sp>
      <p:graphicFrame>
        <p:nvGraphicFramePr>
          <p:cNvPr id="2" name="Table 1">
            <a:extLst>
              <a:ext uri="{FF2B5EF4-FFF2-40B4-BE49-F238E27FC236}">
                <a16:creationId xmlns:a16="http://schemas.microsoft.com/office/drawing/2014/main" id="{28BC0A1B-5A75-D386-AE1B-551DAB42BBB0}"/>
              </a:ext>
            </a:extLst>
          </p:cNvPr>
          <p:cNvGraphicFramePr>
            <a:graphicFrameLocks noGrp="1"/>
          </p:cNvGraphicFramePr>
          <p:nvPr>
            <p:extLst>
              <p:ext uri="{D42A27DB-BD31-4B8C-83A1-F6EECF244321}">
                <p14:modId xmlns:p14="http://schemas.microsoft.com/office/powerpoint/2010/main" val="3365915992"/>
              </p:ext>
            </p:extLst>
          </p:nvPr>
        </p:nvGraphicFramePr>
        <p:xfrm>
          <a:off x="272726" y="975360"/>
          <a:ext cx="11646548" cy="5775960"/>
        </p:xfrm>
        <a:graphic>
          <a:graphicData uri="http://schemas.openxmlformats.org/drawingml/2006/table">
            <a:tbl>
              <a:tblPr firstRow="1" bandRow="1">
                <a:tableStyleId>{5C22544A-7EE6-4342-B048-85BDC9FD1C3A}</a:tableStyleId>
              </a:tblPr>
              <a:tblGrid>
                <a:gridCol w="9247194">
                  <a:extLst>
                    <a:ext uri="{9D8B030D-6E8A-4147-A177-3AD203B41FA5}">
                      <a16:colId xmlns:a16="http://schemas.microsoft.com/office/drawing/2014/main" val="3834542369"/>
                    </a:ext>
                  </a:extLst>
                </a:gridCol>
                <a:gridCol w="1828800">
                  <a:extLst>
                    <a:ext uri="{9D8B030D-6E8A-4147-A177-3AD203B41FA5}">
                      <a16:colId xmlns:a16="http://schemas.microsoft.com/office/drawing/2014/main" val="3074006688"/>
                    </a:ext>
                  </a:extLst>
                </a:gridCol>
                <a:gridCol w="570554">
                  <a:extLst>
                    <a:ext uri="{9D8B030D-6E8A-4147-A177-3AD203B41FA5}">
                      <a16:colId xmlns:a16="http://schemas.microsoft.com/office/drawing/2014/main" val="3462297521"/>
                    </a:ext>
                  </a:extLst>
                </a:gridCol>
              </a:tblGrid>
              <a:tr h="196528">
                <a:tc gridSpan="2">
                  <a:txBody>
                    <a:bodyPr/>
                    <a:lstStyle/>
                    <a:p>
                      <a:pPr algn="ctr"/>
                      <a:r>
                        <a:rPr lang="ar-SA" dirty="0">
                          <a:latin typeface="Sakkal Majalla" panose="02000000000000000000" pitchFamily="2" charset="-78"/>
                          <a:cs typeface="Sakkal Majalla" panose="02000000000000000000" pitchFamily="2" charset="-78"/>
                        </a:rPr>
                        <a:t>وصف الطبقة</a:t>
                      </a:r>
                      <a:endParaRPr lang="en-US"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a:txBody>
                    <a:bodyPr/>
                    <a:lstStyle/>
                    <a:p>
                      <a:pPr algn="ctr"/>
                      <a:r>
                        <a:rPr lang="ar-SA" sz="1400" dirty="0">
                          <a:latin typeface="Sakkal Majalla" panose="02000000000000000000" pitchFamily="2" charset="-78"/>
                          <a:cs typeface="Sakkal Majalla" panose="02000000000000000000" pitchFamily="2" charset="-78"/>
                        </a:rPr>
                        <a:t>الطبقة</a:t>
                      </a:r>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9475502"/>
                  </a:ext>
                </a:extLst>
              </a:tr>
              <a:tr h="278414">
                <a:tc gridSpan="2">
                  <a:txBody>
                    <a:bodyPr/>
                    <a:lstStyle/>
                    <a:p>
                      <a:pPr algn="r" rtl="1"/>
                      <a:r>
                        <a:rPr lang="ar-EG" sz="1400" dirty="0">
                          <a:latin typeface="Sakkal Majalla" panose="02000000000000000000" pitchFamily="2" charset="-78"/>
                          <a:cs typeface="Sakkal Majalla" panose="02000000000000000000" pitchFamily="2" charset="-78"/>
                        </a:rPr>
                        <a:t>تشمل الموارد الحاسوبية مثل الخوادم المادية والافتراضية والحاويات التي تقوم بمعالجة وتنفيذ</a:t>
                      </a:r>
                      <a:r>
                        <a:rPr lang="ar-SA" sz="1400" dirty="0">
                          <a:latin typeface="Sakkal Majalla" panose="02000000000000000000" pitchFamily="2" charset="-78"/>
                          <a:cs typeface="Sakkal Majalla" panose="02000000000000000000" pitchFamily="2" charset="-78"/>
                        </a:rPr>
                        <a:t> </a:t>
                      </a:r>
                      <a:r>
                        <a:rPr lang="ar-EG" sz="1400" dirty="0">
                          <a:latin typeface="Sakkal Majalla" panose="02000000000000000000" pitchFamily="2" charset="-78"/>
                          <a:cs typeface="Sakkal Majalla" panose="02000000000000000000" pitchFamily="2" charset="-78"/>
                        </a:rPr>
                        <a:t>التطبيقات والخدمات. يشمل ذلك الخوادم الفعلية الموجودة في مراكز البيانات والخوادم الافتراضية التي تعمل على</a:t>
                      </a:r>
                      <a:r>
                        <a:rPr lang="ar-SA" sz="1400" dirty="0">
                          <a:latin typeface="Sakkal Majalla" panose="02000000000000000000" pitchFamily="2" charset="-78"/>
                          <a:cs typeface="Sakkal Majalla" panose="02000000000000000000" pitchFamily="2" charset="-78"/>
                        </a:rPr>
                        <a:t> </a:t>
                      </a:r>
                      <a:r>
                        <a:rPr lang="ar-EG" sz="1400" dirty="0">
                          <a:latin typeface="Sakkal Majalla" panose="02000000000000000000" pitchFamily="2" charset="-78"/>
                          <a:cs typeface="Sakkal Majalla" panose="02000000000000000000" pitchFamily="2" charset="-78"/>
                        </a:rPr>
                        <a:t>منصات السحابة. وكذلك تقوم بتشغيل التطبيقات ومعالجة البيانات والأعباء وتقديم الموارد الحاسوبية للمستخدمين</a:t>
                      </a:r>
                      <a:r>
                        <a:rPr lang="ar-SA" sz="1400" dirty="0">
                          <a:latin typeface="Sakkal Majalla" panose="02000000000000000000" pitchFamily="2" charset="-78"/>
                          <a:cs typeface="Sakkal Majalla" panose="02000000000000000000" pitchFamily="2" charset="-78"/>
                        </a:rPr>
                        <a:t> </a:t>
                      </a:r>
                      <a:r>
                        <a:rPr lang="ar-EG" sz="1400" dirty="0">
                          <a:latin typeface="Sakkal Majalla" panose="02000000000000000000" pitchFamily="2" charset="-78"/>
                          <a:cs typeface="Sakkal Majalla" panose="02000000000000000000" pitchFamily="2" charset="-78"/>
                        </a:rPr>
                        <a:t>النهائيين</a:t>
                      </a:r>
                      <a:endParaRPr lang="en-US" sz="1400"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rowSpan="11">
                  <a:txBody>
                    <a:bodyPr/>
                    <a:lstStyle/>
                    <a:p>
                      <a:pPr algn="ctr" rtl="1"/>
                      <a:r>
                        <a:rPr lang="ar-SA" sz="2000" b="1" dirty="0">
                          <a:latin typeface="Sakkal Majalla" panose="02000000000000000000" pitchFamily="2" charset="-78"/>
                          <a:cs typeface="Sakkal Majalla" panose="02000000000000000000" pitchFamily="2" charset="-78"/>
                        </a:rPr>
                        <a:t>الحوسبة</a:t>
                      </a:r>
                      <a:r>
                        <a:rPr lang="ar-EG" b="1" dirty="0">
                          <a:latin typeface="Sakkal Majalla" panose="02000000000000000000" pitchFamily="2" charset="-78"/>
                          <a:cs typeface="Sakkal Majalla" panose="02000000000000000000" pitchFamily="2" charset="-78"/>
                        </a:rPr>
                        <a:t>  </a:t>
                      </a:r>
                      <a:r>
                        <a:rPr lang="en-US" b="1" dirty="0">
                          <a:latin typeface="Sakkal Majalla" panose="02000000000000000000" pitchFamily="2" charset="-78"/>
                          <a:cs typeface="Sakkal Majalla" panose="02000000000000000000" pitchFamily="2" charset="-78"/>
                        </a:rPr>
                        <a:t>Computing</a:t>
                      </a:r>
                    </a:p>
                  </a:txBody>
                  <a:tcPr vert="vert270" anchor="ctr"/>
                </a:tc>
                <a:extLst>
                  <a:ext uri="{0D108BD9-81ED-4DB2-BD59-A6C34878D82A}">
                    <a16:rowId xmlns:a16="http://schemas.microsoft.com/office/drawing/2014/main" val="3816038262"/>
                  </a:ext>
                </a:extLst>
              </a:tr>
              <a:tr h="196528">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وصف 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406762"/>
                  </a:ext>
                </a:extLst>
              </a:tr>
              <a:tr h="278414">
                <a:tc>
                  <a:txBody>
                    <a:bodyPr/>
                    <a:lstStyle/>
                    <a:p>
                      <a:pPr algn="r" rtl="1"/>
                      <a:r>
                        <a:rPr lang="ar-EG" sz="1350" kern="1200" dirty="0">
                          <a:solidFill>
                            <a:schemeClr val="dk1"/>
                          </a:solidFill>
                          <a:latin typeface="Sakkal Majalla" panose="02000000000000000000" pitchFamily="2" charset="-78"/>
                          <a:ea typeface="+mn-ea"/>
                          <a:cs typeface="Sakkal Majalla" panose="02000000000000000000" pitchFamily="2" charset="-78"/>
                        </a:rPr>
                        <a:t>تعد الحواسيب المركزية في جوهرها أجهزة حاسوب عالية الأداء تحتوي على كميات كبيرة من الذاكرة ومعالجات بيانات تعالج مليارات العمليات الحسابية والمعاملات البسيطة في الوقت الفعلي. يعد </a:t>
                      </a:r>
                      <a:r>
                        <a:rPr lang="ar-SA" sz="1350" kern="1200" dirty="0">
                          <a:solidFill>
                            <a:schemeClr val="dk1"/>
                          </a:solidFill>
                          <a:latin typeface="Sakkal Majalla" panose="02000000000000000000" pitchFamily="2" charset="-78"/>
                          <a:ea typeface="+mn-ea"/>
                          <a:cs typeface="Sakkal Majalla" panose="02000000000000000000" pitchFamily="2" charset="-78"/>
                        </a:rPr>
                        <a:t>الحاسوب</a:t>
                      </a:r>
                      <a:r>
                        <a:rPr lang="ar-EG" sz="1350" kern="1200" dirty="0">
                          <a:solidFill>
                            <a:schemeClr val="dk1"/>
                          </a:solidFill>
                          <a:latin typeface="Sakkal Majalla" panose="02000000000000000000" pitchFamily="2" charset="-78"/>
                          <a:ea typeface="+mn-ea"/>
                          <a:cs typeface="Sakkal Majalla" panose="02000000000000000000" pitchFamily="2" charset="-78"/>
                        </a:rPr>
                        <a:t> المركزي أمرًا بالغ الأهمية لقواعد البيانات التجارية وخوادم المعاملات والتطبيقات التي تتطلب مرونة وأمانًا وسرعة عالية.</a:t>
                      </a:r>
                      <a:endParaRPr lang="en-US" sz="135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50" b="1" dirty="0">
                          <a:latin typeface="Sakkal Majalla" panose="02000000000000000000" pitchFamily="2" charset="-78"/>
                          <a:cs typeface="Sakkal Majalla" panose="02000000000000000000" pitchFamily="2" charset="-78"/>
                        </a:rPr>
                        <a:t>خوادم الحوسبة الرئيسية</a:t>
                      </a:r>
                      <a:r>
                        <a:rPr lang="ar-SA" sz="1350" b="1" dirty="0">
                          <a:latin typeface="Sakkal Majalla" panose="02000000000000000000" pitchFamily="2" charset="-78"/>
                          <a:cs typeface="Sakkal Majalla" panose="02000000000000000000" pitchFamily="2" charset="-78"/>
                        </a:rPr>
                        <a:t> </a:t>
                      </a:r>
                      <a:r>
                        <a:rPr lang="ar-EG" sz="1350" b="1" dirty="0">
                          <a:latin typeface="Sakkal Majalla" panose="02000000000000000000" pitchFamily="2" charset="-78"/>
                          <a:cs typeface="Sakkal Majalla" panose="02000000000000000000" pitchFamily="2" charset="-78"/>
                        </a:rPr>
                        <a:t>( </a:t>
                      </a:r>
                      <a:r>
                        <a:rPr lang="en-US" sz="1350" b="1" dirty="0">
                          <a:latin typeface="Sakkal Majalla" panose="02000000000000000000" pitchFamily="2" charset="-78"/>
                          <a:cs typeface="Sakkal Majalla" panose="02000000000000000000" pitchFamily="2" charset="-78"/>
                        </a:rPr>
                        <a:t>(Mainframe Servers</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62487338"/>
                  </a:ext>
                </a:extLst>
              </a:tr>
              <a:tr h="278414">
                <a:tc>
                  <a:txBody>
                    <a:bodyPr/>
                    <a:lstStyle/>
                    <a:p>
                      <a:pPr algn="r" rtl="1"/>
                      <a:r>
                        <a:rPr lang="ar-EG" sz="1350" kern="1200" dirty="0">
                          <a:solidFill>
                            <a:schemeClr val="dk1"/>
                          </a:solidFill>
                          <a:latin typeface="Sakkal Majalla" panose="02000000000000000000" pitchFamily="2" charset="-78"/>
                          <a:ea typeface="+mn-ea"/>
                          <a:cs typeface="Sakkal Majalla" panose="02000000000000000000" pitchFamily="2" charset="-78"/>
                        </a:rPr>
                        <a:t>تستخدم الأجهزة الافتراضية برامج حاسوبية بدلاً من أجهزة </a:t>
                      </a:r>
                      <a:r>
                        <a:rPr lang="ar-SA" sz="1350" kern="1200" dirty="0">
                          <a:solidFill>
                            <a:schemeClr val="dk1"/>
                          </a:solidFill>
                          <a:latin typeface="Sakkal Majalla" panose="02000000000000000000" pitchFamily="2" charset="-78"/>
                          <a:ea typeface="+mn-ea"/>
                          <a:cs typeface="Sakkal Majalla" panose="02000000000000000000" pitchFamily="2" charset="-78"/>
                        </a:rPr>
                        <a:t>الحاسوب</a:t>
                      </a:r>
                      <a:r>
                        <a:rPr lang="ar-EG" sz="1350" kern="1200" dirty="0">
                          <a:solidFill>
                            <a:schemeClr val="dk1"/>
                          </a:solidFill>
                          <a:latin typeface="Sakkal Majalla" panose="02000000000000000000" pitchFamily="2" charset="-78"/>
                          <a:ea typeface="+mn-ea"/>
                          <a:cs typeface="Sakkal Majalla" panose="02000000000000000000" pitchFamily="2" charset="-78"/>
                        </a:rPr>
                        <a:t> الفعلية</a:t>
                      </a:r>
                      <a:r>
                        <a:rPr lang="ar-SA" sz="1350" kern="1200" dirty="0">
                          <a:solidFill>
                            <a:schemeClr val="dk1"/>
                          </a:solidFill>
                          <a:latin typeface="Sakkal Majalla" panose="02000000000000000000" pitchFamily="2" charset="-78"/>
                          <a:ea typeface="+mn-ea"/>
                          <a:cs typeface="Sakkal Majalla" panose="02000000000000000000" pitchFamily="2" charset="-78"/>
                        </a:rPr>
                        <a:t> "المحاكاة الافتراضية لنظام الحاسوب"</a:t>
                      </a:r>
                      <a:r>
                        <a:rPr lang="ar-EG" sz="1350" kern="1200" dirty="0">
                          <a:solidFill>
                            <a:schemeClr val="dk1"/>
                          </a:solidFill>
                          <a:latin typeface="Sakkal Majalla" panose="02000000000000000000" pitchFamily="2" charset="-78"/>
                          <a:ea typeface="+mn-ea"/>
                          <a:cs typeface="Sakkal Majalla" panose="02000000000000000000" pitchFamily="2" charset="-78"/>
                        </a:rPr>
                        <a:t>. تقوم الأجهزة الافتراضية بتشغيل البرامج وأنظمة التشغيل، وتخزين البيانات، والاتصال بالشبكات.</a:t>
                      </a:r>
                      <a:endParaRPr lang="en-US" sz="135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50" b="1" dirty="0">
                          <a:latin typeface="Sakkal Majalla" panose="02000000000000000000" pitchFamily="2" charset="-78"/>
                          <a:cs typeface="Sakkal Majalla" panose="02000000000000000000" pitchFamily="2" charset="-78"/>
                        </a:rPr>
                        <a:t>الخوادم الافتراضية</a:t>
                      </a:r>
                      <a:r>
                        <a:rPr lang="ar-SA" sz="1350" b="1" dirty="0">
                          <a:latin typeface="Sakkal Majalla" panose="02000000000000000000" pitchFamily="2" charset="-78"/>
                          <a:cs typeface="Sakkal Majalla" panose="02000000000000000000" pitchFamily="2" charset="-78"/>
                        </a:rPr>
                        <a:t> </a:t>
                      </a:r>
                      <a:r>
                        <a:rPr lang="ar-EG" sz="1350" b="1" dirty="0">
                          <a:latin typeface="Sakkal Majalla" panose="02000000000000000000" pitchFamily="2" charset="-78"/>
                          <a:cs typeface="Sakkal Majalla" panose="02000000000000000000" pitchFamily="2" charset="-78"/>
                        </a:rPr>
                        <a:t>( </a:t>
                      </a:r>
                      <a:r>
                        <a:rPr lang="en-US" sz="1350" b="1" dirty="0">
                          <a:latin typeface="Sakkal Majalla" panose="02000000000000000000" pitchFamily="2" charset="-78"/>
                          <a:cs typeface="Sakkal Majalla" panose="02000000000000000000" pitchFamily="2" charset="-78"/>
                        </a:rPr>
                        <a:t>(Virtual Machines</a:t>
                      </a:r>
                    </a:p>
                  </a:txBody>
                  <a:tcPr anchor="ctr"/>
                </a:tc>
                <a:tc vMerge="1">
                  <a:txBody>
                    <a:bodyPr/>
                    <a:lstStyle/>
                    <a:p>
                      <a:endParaRPr lang="en-US"/>
                    </a:p>
                  </a:txBody>
                  <a:tcPr/>
                </a:tc>
                <a:extLst>
                  <a:ext uri="{0D108BD9-81ED-4DB2-BD59-A6C34878D82A}">
                    <a16:rowId xmlns:a16="http://schemas.microsoft.com/office/drawing/2014/main" val="3657595079"/>
                  </a:ext>
                </a:extLst>
              </a:tr>
              <a:tr h="278414">
                <a:tc>
                  <a:txBody>
                    <a:bodyPr/>
                    <a:lstStyle/>
                    <a:p>
                      <a:pPr algn="r" rtl="1"/>
                      <a:r>
                        <a:rPr lang="ar-EG" sz="1350" kern="1200" dirty="0">
                          <a:solidFill>
                            <a:schemeClr val="dk1"/>
                          </a:solidFill>
                          <a:latin typeface="Sakkal Majalla" panose="02000000000000000000" pitchFamily="2" charset="-78"/>
                          <a:ea typeface="+mn-ea"/>
                          <a:cs typeface="Sakkal Majalla" panose="02000000000000000000" pitchFamily="2" charset="-78"/>
                        </a:rPr>
                        <a:t>تتضمن الحاويات جميع التبعيات التي قد يحتاجها التطبيق لتشغيله على أي نظام تشغيل مضيف، مثل المكتبات والثنائيات وملفات التكوين والأطر، في ملف واحد قابل للتنفيذ.</a:t>
                      </a:r>
                      <a:endParaRPr lang="en-US" sz="135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50" b="1" kern="1200" dirty="0">
                          <a:solidFill>
                            <a:schemeClr val="dk1"/>
                          </a:solidFill>
                          <a:latin typeface="Sakkal Majalla" panose="02000000000000000000" pitchFamily="2" charset="-78"/>
                          <a:ea typeface="+mn-ea"/>
                          <a:cs typeface="Sakkal Majalla" panose="02000000000000000000" pitchFamily="2" charset="-78"/>
                        </a:rPr>
                        <a:t>حاويات التطبيقات</a:t>
                      </a:r>
                      <a:r>
                        <a:rPr lang="ar-SA" sz="1350" b="1" kern="1200" dirty="0">
                          <a:solidFill>
                            <a:schemeClr val="dk1"/>
                          </a:solidFill>
                          <a:latin typeface="Sakkal Majalla" panose="02000000000000000000" pitchFamily="2" charset="-78"/>
                          <a:ea typeface="+mn-ea"/>
                          <a:cs typeface="Sakkal Majalla" panose="02000000000000000000" pitchFamily="2" charset="-78"/>
                        </a:rPr>
                        <a:t> </a:t>
                      </a:r>
                      <a:r>
                        <a:rPr lang="en-US" sz="1350" b="1" kern="1200" dirty="0">
                          <a:solidFill>
                            <a:schemeClr val="dk1"/>
                          </a:solidFill>
                          <a:latin typeface="Sakkal Majalla" panose="02000000000000000000" pitchFamily="2" charset="-78"/>
                          <a:ea typeface="+mn-ea"/>
                          <a:cs typeface="Sakkal Majalla" panose="02000000000000000000" pitchFamily="2" charset="-78"/>
                        </a:rPr>
                        <a:t> (Application Containers)</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80069243"/>
                  </a:ext>
                </a:extLst>
              </a:tr>
              <a:tr h="278414">
                <a:tc>
                  <a:txBody>
                    <a:bodyPr/>
                    <a:lstStyle/>
                    <a:p>
                      <a:pPr algn="r" rtl="1"/>
                      <a:r>
                        <a:rPr lang="ar-SA" sz="1350" kern="1200" dirty="0">
                          <a:solidFill>
                            <a:schemeClr val="dk1"/>
                          </a:solidFill>
                          <a:latin typeface="Sakkal Majalla" panose="02000000000000000000" pitchFamily="2" charset="-78"/>
                          <a:ea typeface="+mn-ea"/>
                          <a:cs typeface="Sakkal Majalla" panose="02000000000000000000" pitchFamily="2" charset="-78"/>
                        </a:rPr>
                        <a:t>البنية التحتية شديدة التقارب هي </a:t>
                      </a:r>
                      <a:r>
                        <a:rPr lang="ar-EG" sz="1350" kern="1200" dirty="0">
                          <a:solidFill>
                            <a:schemeClr val="dk1"/>
                          </a:solidFill>
                          <a:latin typeface="Sakkal Majalla" panose="02000000000000000000" pitchFamily="2" charset="-78"/>
                          <a:ea typeface="+mn-ea"/>
                          <a:cs typeface="Sakkal Majalla" panose="02000000000000000000" pitchFamily="2" charset="-78"/>
                        </a:rPr>
                        <a:t>منصة معرفة برمجيًا تجمع بين التخزين والح</a:t>
                      </a:r>
                      <a:r>
                        <a:rPr lang="ar-SA" sz="1350" kern="1200" dirty="0">
                          <a:solidFill>
                            <a:schemeClr val="dk1"/>
                          </a:solidFill>
                          <a:latin typeface="Sakkal Majalla" panose="02000000000000000000" pitchFamily="2" charset="-78"/>
                          <a:ea typeface="+mn-ea"/>
                          <a:cs typeface="Sakkal Majalla" panose="02000000000000000000" pitchFamily="2" charset="-78"/>
                        </a:rPr>
                        <a:t>وسبة</a:t>
                      </a:r>
                      <a:r>
                        <a:rPr lang="ar-EG" sz="1350" kern="1200" dirty="0">
                          <a:solidFill>
                            <a:schemeClr val="dk1"/>
                          </a:solidFill>
                          <a:latin typeface="Sakkal Majalla" panose="02000000000000000000" pitchFamily="2" charset="-78"/>
                          <a:ea typeface="+mn-ea"/>
                          <a:cs typeface="Sakkal Majalla" panose="02000000000000000000" pitchFamily="2" charset="-78"/>
                        </a:rPr>
                        <a:t> والشبكات والمحاكاة الافتراضية في نظام واحد</a:t>
                      </a:r>
                      <a:endParaRPr lang="en-US" sz="135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50" b="1" dirty="0">
                          <a:latin typeface="Sakkal Majalla" panose="02000000000000000000" pitchFamily="2" charset="-78"/>
                          <a:cs typeface="Sakkal Majalla" panose="02000000000000000000" pitchFamily="2" charset="-78"/>
                        </a:rPr>
                        <a:t>الخوادم فائقة الارتباط</a:t>
                      </a:r>
                      <a:r>
                        <a:rPr lang="ar-SA" sz="1350" b="1" dirty="0">
                          <a:latin typeface="Sakkal Majalla" panose="02000000000000000000" pitchFamily="2" charset="-78"/>
                          <a:cs typeface="Sakkal Majalla" panose="02000000000000000000" pitchFamily="2" charset="-78"/>
                        </a:rPr>
                        <a:t> </a:t>
                      </a:r>
                      <a:r>
                        <a:rPr lang="ar-EG" sz="1350" b="1" dirty="0">
                          <a:latin typeface="Sakkal Majalla" panose="02000000000000000000" pitchFamily="2" charset="-78"/>
                          <a:cs typeface="Sakkal Majalla" panose="02000000000000000000" pitchFamily="2" charset="-78"/>
                        </a:rPr>
                        <a:t>( </a:t>
                      </a:r>
                      <a:r>
                        <a:rPr lang="en-US" sz="1350" b="1" dirty="0">
                          <a:latin typeface="Sakkal Majalla" panose="02000000000000000000" pitchFamily="2" charset="-78"/>
                          <a:cs typeface="Sakkal Majalla" panose="02000000000000000000" pitchFamily="2" charset="-78"/>
                        </a:rPr>
                        <a:t>(Hyper Converged Servers</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1241646"/>
                  </a:ext>
                </a:extLst>
              </a:tr>
              <a:tr h="278414">
                <a:tc>
                  <a:txBody>
                    <a:bodyPr/>
                    <a:lstStyle/>
                    <a:p>
                      <a:pPr algn="r" rtl="1"/>
                      <a:r>
                        <a:rPr lang="ar-EG" sz="1350" kern="1200" dirty="0">
                          <a:solidFill>
                            <a:schemeClr val="dk1"/>
                          </a:solidFill>
                          <a:latin typeface="Sakkal Majalla" panose="02000000000000000000" pitchFamily="2" charset="-78"/>
                          <a:ea typeface="+mn-ea"/>
                          <a:cs typeface="Sakkal Majalla" panose="02000000000000000000" pitchFamily="2" charset="-78"/>
                        </a:rPr>
                        <a:t>عبارة عن </a:t>
                      </a:r>
                      <a:r>
                        <a:rPr lang="ar-SA" sz="1350" kern="1200" dirty="0">
                          <a:solidFill>
                            <a:schemeClr val="dk1"/>
                          </a:solidFill>
                          <a:latin typeface="Sakkal Majalla" panose="02000000000000000000" pitchFamily="2" charset="-78"/>
                          <a:ea typeface="+mn-ea"/>
                          <a:cs typeface="Sakkal Majalla" panose="02000000000000000000" pitchFamily="2" charset="-78"/>
                        </a:rPr>
                        <a:t>حاسوب</a:t>
                      </a:r>
                      <a:r>
                        <a:rPr lang="ar-EG" sz="1350" kern="1200" dirty="0">
                          <a:solidFill>
                            <a:schemeClr val="dk1"/>
                          </a:solidFill>
                          <a:latin typeface="Sakkal Majalla" panose="02000000000000000000" pitchFamily="2" charset="-78"/>
                          <a:ea typeface="+mn-ea"/>
                          <a:cs typeface="Sakkal Majalla" panose="02000000000000000000" pitchFamily="2" charset="-78"/>
                        </a:rPr>
                        <a:t> خادم مُنزع إلى أسفل ذي تصميم معياري مُحسَّن لتقليل استخدام المساحة المادية والطاقة. تحتوي خوادم ال</a:t>
                      </a:r>
                      <a:r>
                        <a:rPr lang="ar-SA" sz="1350" kern="1200" dirty="0">
                          <a:solidFill>
                            <a:schemeClr val="dk1"/>
                          </a:solidFill>
                          <a:latin typeface="Sakkal Majalla" panose="02000000000000000000" pitchFamily="2" charset="-78"/>
                          <a:ea typeface="+mn-ea"/>
                          <a:cs typeface="Sakkal Majalla" panose="02000000000000000000" pitchFamily="2" charset="-78"/>
                        </a:rPr>
                        <a:t>شريحة</a:t>
                      </a:r>
                      <a:r>
                        <a:rPr lang="ar-EG" sz="1350" kern="1200" dirty="0">
                          <a:solidFill>
                            <a:schemeClr val="dk1"/>
                          </a:solidFill>
                          <a:latin typeface="Sakkal Majalla" panose="02000000000000000000" pitchFamily="2" charset="-78"/>
                          <a:ea typeface="+mn-ea"/>
                          <a:cs typeface="Sakkal Majalla" panose="02000000000000000000" pitchFamily="2" charset="-78"/>
                        </a:rPr>
                        <a:t> على العديد من المكونات التي تمت إزالتها لتوفير المساحة وتقليل استهلاك الطاقة والاعتبارات الأخرى ، مع الاستمرار في احتواء جميع المكونات الوظيفية على جهاز حاسوب</a:t>
                      </a:r>
                      <a:endParaRPr lang="en-US" sz="135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50" b="1" dirty="0">
                          <a:latin typeface="Sakkal Majalla" panose="02000000000000000000" pitchFamily="2" charset="-78"/>
                          <a:cs typeface="Sakkal Majalla" panose="02000000000000000000" pitchFamily="2" charset="-78"/>
                        </a:rPr>
                        <a:t>خوادم الشريحة</a:t>
                      </a:r>
                      <a:r>
                        <a:rPr lang="ar-SA" sz="1350" b="1" dirty="0">
                          <a:latin typeface="Sakkal Majalla" panose="02000000000000000000" pitchFamily="2" charset="-78"/>
                          <a:cs typeface="Sakkal Majalla" panose="02000000000000000000" pitchFamily="2" charset="-78"/>
                        </a:rPr>
                        <a:t> </a:t>
                      </a:r>
                      <a:r>
                        <a:rPr lang="en-US" sz="1350" b="1" dirty="0">
                          <a:latin typeface="Sakkal Majalla" panose="02000000000000000000" pitchFamily="2" charset="-78"/>
                          <a:cs typeface="Sakkal Majalla" panose="02000000000000000000" pitchFamily="2" charset="-78"/>
                        </a:rPr>
                        <a:t>(Blade Servers)</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61578475"/>
                  </a:ext>
                </a:extLst>
              </a:tr>
              <a:tr h="278414">
                <a:tc>
                  <a:txBody>
                    <a:bodyPr/>
                    <a:lstStyle/>
                    <a:p>
                      <a:pPr algn="r" rtl="1"/>
                      <a:r>
                        <a:rPr lang="ar-EG" sz="1350" kern="1200" dirty="0">
                          <a:solidFill>
                            <a:schemeClr val="dk1"/>
                          </a:solidFill>
                          <a:latin typeface="Sakkal Majalla" panose="02000000000000000000" pitchFamily="2" charset="-78"/>
                          <a:ea typeface="+mn-ea"/>
                          <a:cs typeface="Sakkal Majalla" panose="02000000000000000000" pitchFamily="2" charset="-78"/>
                        </a:rPr>
                        <a:t>هو جهاز </a:t>
                      </a:r>
                      <a:r>
                        <a:rPr lang="ar-SA" sz="1350" kern="1200" dirty="0">
                          <a:solidFill>
                            <a:schemeClr val="dk1"/>
                          </a:solidFill>
                          <a:latin typeface="Sakkal Majalla" panose="02000000000000000000" pitchFamily="2" charset="-78"/>
                          <a:ea typeface="+mn-ea"/>
                          <a:cs typeface="Sakkal Majalla" panose="02000000000000000000" pitchFamily="2" charset="-78"/>
                        </a:rPr>
                        <a:t>حاسوب</a:t>
                      </a:r>
                      <a:r>
                        <a:rPr lang="ar-EG" sz="1350" kern="1200" dirty="0">
                          <a:solidFill>
                            <a:schemeClr val="dk1"/>
                          </a:solidFill>
                          <a:latin typeface="Sakkal Majalla" panose="02000000000000000000" pitchFamily="2" charset="-78"/>
                          <a:ea typeface="+mn-ea"/>
                          <a:cs typeface="Sakkal Majalla" panose="02000000000000000000" pitchFamily="2" charset="-78"/>
                        </a:rPr>
                        <a:t> مخصص للاستخدام كخادم ومصمم ليتم تثبيته في إطار عمل يسمى الرف. يحتوي الحامل على فتحات تثبيت متعددة تسمى الفتحات، كل منها مصممة لتثبيت وحدة الأجهزة المثبتة في مكانها باستخدام البراغي</a:t>
                      </a:r>
                      <a:endParaRPr lang="en-US" sz="135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50" b="1" dirty="0">
                          <a:latin typeface="Sakkal Majalla" panose="02000000000000000000" pitchFamily="2" charset="-78"/>
                          <a:cs typeface="Sakkal Majalla" panose="02000000000000000000" pitchFamily="2" charset="-78"/>
                        </a:rPr>
                        <a:t>الخوادم المثبتة في الخزانة</a:t>
                      </a:r>
                      <a:r>
                        <a:rPr lang="ar-SA" sz="1350" b="1" dirty="0">
                          <a:latin typeface="Sakkal Majalla" panose="02000000000000000000" pitchFamily="2" charset="-78"/>
                          <a:cs typeface="Sakkal Majalla" panose="02000000000000000000" pitchFamily="2" charset="-78"/>
                        </a:rPr>
                        <a:t> </a:t>
                      </a:r>
                      <a:r>
                        <a:rPr lang="en-US" sz="1350" b="1" dirty="0">
                          <a:latin typeface="Sakkal Majalla" panose="02000000000000000000" pitchFamily="2" charset="-78"/>
                          <a:cs typeface="Sakkal Majalla" panose="02000000000000000000" pitchFamily="2" charset="-78"/>
                        </a:rPr>
                        <a:t>(Rack Mounted Servers)</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4137844761"/>
                  </a:ext>
                </a:extLst>
              </a:tr>
              <a:tr h="278414">
                <a:tc>
                  <a:txBody>
                    <a:bodyPr/>
                    <a:lstStyle/>
                    <a:p>
                      <a:pPr algn="r" rtl="1"/>
                      <a:r>
                        <a:rPr lang="ar-EG" sz="1350" kern="1200" dirty="0">
                          <a:solidFill>
                            <a:schemeClr val="dk1"/>
                          </a:solidFill>
                          <a:latin typeface="Sakkal Majalla" panose="02000000000000000000" pitchFamily="2" charset="-78"/>
                          <a:ea typeface="+mn-ea"/>
                          <a:cs typeface="Sakkal Majalla" panose="02000000000000000000" pitchFamily="2" charset="-78"/>
                        </a:rPr>
                        <a:t>حوسبة الحافة، أو الحوسبة الحدية ،أو حوسبة الحواف ،أو الحوسبة الطرفية ‏ هي نموذج للحوسبة الموزعة، تكون فيه عناصر الحوسبة وتخزين البيانات في موقع جغرافي قريب من موقع المستخدم أو الوجهة النهائية التي تستفيد من الخدمة الحاسوبية. سُميت بهذا الاسم في إشارة إلى أن عملية المعالجة والتخزين تجري في حافة الشبكة</a:t>
                      </a:r>
                      <a:endParaRPr lang="en-US" sz="135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350" b="1" dirty="0">
                          <a:latin typeface="Sakkal Majalla" panose="02000000000000000000" pitchFamily="2" charset="-78"/>
                          <a:cs typeface="Sakkal Majalla" panose="02000000000000000000" pitchFamily="2" charset="-78"/>
                        </a:rPr>
                        <a:t>الحوسبة الطرفية</a:t>
                      </a:r>
                      <a:r>
                        <a:rPr lang="en-US" sz="1350" b="1" dirty="0">
                          <a:latin typeface="Sakkal Majalla" panose="02000000000000000000" pitchFamily="2" charset="-78"/>
                          <a:cs typeface="Sakkal Majalla" panose="02000000000000000000" pitchFamily="2" charset="-78"/>
                        </a:rPr>
                        <a:t> </a:t>
                      </a:r>
                      <a:r>
                        <a:rPr lang="ar-SA" sz="1350" b="1" dirty="0">
                          <a:latin typeface="Sakkal Majalla" panose="02000000000000000000" pitchFamily="2" charset="-78"/>
                          <a:cs typeface="Sakkal Majalla" panose="02000000000000000000" pitchFamily="2" charset="-78"/>
                        </a:rPr>
                        <a:t> </a:t>
                      </a:r>
                      <a:r>
                        <a:rPr lang="en-US" sz="1350" b="1" dirty="0">
                          <a:latin typeface="Sakkal Majalla" panose="02000000000000000000" pitchFamily="2" charset="-78"/>
                          <a:cs typeface="Sakkal Majalla" panose="02000000000000000000" pitchFamily="2" charset="-78"/>
                        </a:rPr>
                        <a:t>(</a:t>
                      </a:r>
                      <a:r>
                        <a:rPr lang="en-US" altLang="en-US" sz="1350" b="1" kern="1200" dirty="0">
                          <a:solidFill>
                            <a:schemeClr val="dk1"/>
                          </a:solidFill>
                          <a:latin typeface="Sakkal Majalla" panose="02000000000000000000" pitchFamily="2" charset="-78"/>
                          <a:ea typeface="+mn-ea"/>
                          <a:cs typeface="Sakkal Majalla" panose="02000000000000000000" pitchFamily="2" charset="-78"/>
                        </a:rPr>
                        <a:t>Edge Compute)</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072939448"/>
                  </a:ext>
                </a:extLst>
              </a:tr>
              <a:tr h="278414">
                <a:tc>
                  <a:txBody>
                    <a:bodyPr/>
                    <a:lstStyle/>
                    <a:p>
                      <a:pPr algn="r" rtl="1"/>
                      <a:r>
                        <a:rPr lang="ar-EG" sz="1350" kern="1200" dirty="0">
                          <a:solidFill>
                            <a:schemeClr val="dk1"/>
                          </a:solidFill>
                          <a:latin typeface="Sakkal Majalla" panose="02000000000000000000" pitchFamily="2" charset="-78"/>
                          <a:ea typeface="+mn-ea"/>
                          <a:cs typeface="Sakkal Majalla" panose="02000000000000000000" pitchFamily="2" charset="-78"/>
                        </a:rPr>
                        <a:t>ه</a:t>
                      </a:r>
                      <a:r>
                        <a:rPr lang="ar-SA" sz="1350" kern="1200" dirty="0">
                          <a:solidFill>
                            <a:schemeClr val="dk1"/>
                          </a:solidFill>
                          <a:latin typeface="Sakkal Majalla" panose="02000000000000000000" pitchFamily="2" charset="-78"/>
                          <a:ea typeface="+mn-ea"/>
                          <a:cs typeface="Sakkal Majalla" panose="02000000000000000000" pitchFamily="2" charset="-78"/>
                        </a:rPr>
                        <a:t>ي</a:t>
                      </a:r>
                      <a:r>
                        <a:rPr lang="ar-EG" sz="1350" kern="1200" dirty="0">
                          <a:solidFill>
                            <a:schemeClr val="dk1"/>
                          </a:solidFill>
                          <a:latin typeface="Sakkal Majalla" panose="02000000000000000000" pitchFamily="2" charset="-78"/>
                          <a:ea typeface="+mn-ea"/>
                          <a:cs typeface="Sakkal Majalla" panose="02000000000000000000" pitchFamily="2" charset="-78"/>
                        </a:rPr>
                        <a:t> نوع من أنظمة التشغيل تم تصميمه</a:t>
                      </a:r>
                      <a:r>
                        <a:rPr lang="ar-SA" sz="1350" kern="1200" dirty="0">
                          <a:solidFill>
                            <a:schemeClr val="dk1"/>
                          </a:solidFill>
                          <a:latin typeface="Sakkal Majalla" panose="02000000000000000000" pitchFamily="2" charset="-78"/>
                          <a:ea typeface="+mn-ea"/>
                          <a:cs typeface="Sakkal Majalla" panose="02000000000000000000" pitchFamily="2" charset="-78"/>
                        </a:rPr>
                        <a:t>ا</a:t>
                      </a:r>
                      <a:r>
                        <a:rPr lang="ar-EG" sz="1350" kern="1200" dirty="0">
                          <a:solidFill>
                            <a:schemeClr val="dk1"/>
                          </a:solidFill>
                          <a:latin typeface="Sakkal Majalla" panose="02000000000000000000" pitchFamily="2" charset="-78"/>
                          <a:ea typeface="+mn-ea"/>
                          <a:cs typeface="Sakkal Majalla" panose="02000000000000000000" pitchFamily="2" charset="-78"/>
                        </a:rPr>
                        <a:t> ليتم تثبيته</a:t>
                      </a:r>
                      <a:r>
                        <a:rPr lang="ar-SA" sz="1350" kern="1200" dirty="0">
                          <a:solidFill>
                            <a:schemeClr val="dk1"/>
                          </a:solidFill>
                          <a:latin typeface="Sakkal Majalla" panose="02000000000000000000" pitchFamily="2" charset="-78"/>
                          <a:ea typeface="+mn-ea"/>
                          <a:cs typeface="Sakkal Majalla" panose="02000000000000000000" pitchFamily="2" charset="-78"/>
                        </a:rPr>
                        <a:t>ا</a:t>
                      </a:r>
                      <a:r>
                        <a:rPr lang="ar-EG" sz="1350" kern="1200" dirty="0">
                          <a:solidFill>
                            <a:schemeClr val="dk1"/>
                          </a:solidFill>
                          <a:latin typeface="Sakkal Majalla" panose="02000000000000000000" pitchFamily="2" charset="-78"/>
                          <a:ea typeface="+mn-ea"/>
                          <a:cs typeface="Sakkal Majalla" panose="02000000000000000000" pitchFamily="2" charset="-78"/>
                        </a:rPr>
                        <a:t> واستخدامه</a:t>
                      </a:r>
                      <a:r>
                        <a:rPr lang="ar-SA" sz="1350" kern="1200" dirty="0">
                          <a:solidFill>
                            <a:schemeClr val="dk1"/>
                          </a:solidFill>
                          <a:latin typeface="Sakkal Majalla" panose="02000000000000000000" pitchFamily="2" charset="-78"/>
                          <a:ea typeface="+mn-ea"/>
                          <a:cs typeface="Sakkal Majalla" panose="02000000000000000000" pitchFamily="2" charset="-78"/>
                        </a:rPr>
                        <a:t>ا</a:t>
                      </a:r>
                      <a:r>
                        <a:rPr lang="ar-EG" sz="1350" kern="1200" dirty="0">
                          <a:solidFill>
                            <a:schemeClr val="dk1"/>
                          </a:solidFill>
                          <a:latin typeface="Sakkal Majalla" panose="02000000000000000000" pitchFamily="2" charset="-78"/>
                          <a:ea typeface="+mn-ea"/>
                          <a:cs typeface="Sakkal Majalla" panose="02000000000000000000" pitchFamily="2" charset="-78"/>
                        </a:rPr>
                        <a:t> على جهاز حاسوب خادم</a:t>
                      </a:r>
                      <a:endParaRPr lang="en-US" sz="135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50" b="1" dirty="0">
                          <a:latin typeface="Sakkal Majalla" panose="02000000000000000000" pitchFamily="2" charset="-78"/>
                          <a:cs typeface="Sakkal Majalla" panose="02000000000000000000" pitchFamily="2" charset="-78"/>
                        </a:rPr>
                        <a:t>أنظمة تشغيل الخوادم</a:t>
                      </a:r>
                      <a:r>
                        <a:rPr lang="ar-SA" sz="1350" b="1" dirty="0">
                          <a:latin typeface="Sakkal Majalla" panose="02000000000000000000" pitchFamily="2" charset="-78"/>
                          <a:cs typeface="Sakkal Majalla" panose="02000000000000000000" pitchFamily="2" charset="-78"/>
                        </a:rPr>
                        <a:t> </a:t>
                      </a:r>
                      <a:r>
                        <a:rPr lang="en-US" sz="1350" b="1" dirty="0">
                          <a:latin typeface="Sakkal Majalla" panose="02000000000000000000" pitchFamily="2" charset="-78"/>
                          <a:cs typeface="Sakkal Majalla" panose="02000000000000000000" pitchFamily="2" charset="-78"/>
                        </a:rPr>
                        <a:t>(Servers Operating Systems)</a:t>
                      </a:r>
                      <a:endParaRPr lang="ar-EG" sz="1350" b="1" dirty="0">
                        <a:latin typeface="Sakkal Majalla" panose="02000000000000000000" pitchFamily="2" charset="-78"/>
                        <a:cs typeface="Sakkal Majalla" panose="02000000000000000000" pitchFamily="2" charset="-78"/>
                      </a:endParaRP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614785098"/>
                  </a:ext>
                </a:extLst>
              </a:tr>
              <a:tr h="393056">
                <a:tc>
                  <a:txBody>
                    <a:bodyPr/>
                    <a:lstStyle/>
                    <a:p>
                      <a:pPr algn="r" rtl="1"/>
                      <a:r>
                        <a:rPr lang="ar-EG" sz="1350" kern="1200" dirty="0">
                          <a:solidFill>
                            <a:schemeClr val="dk1"/>
                          </a:solidFill>
                          <a:latin typeface="Sakkal Majalla" panose="02000000000000000000" pitchFamily="2" charset="-78"/>
                          <a:ea typeface="+mn-ea"/>
                          <a:cs typeface="Sakkal Majalla" panose="02000000000000000000" pitchFamily="2" charset="-78"/>
                        </a:rPr>
                        <a:t>يمثل جهاز المضيف المادي العتاد الحاسوبي الصلب الذي تملكه الهيئة والذي</a:t>
                      </a:r>
                      <a:r>
                        <a:rPr lang="ar-SA" sz="1350" kern="1200" dirty="0">
                          <a:solidFill>
                            <a:schemeClr val="dk1"/>
                          </a:solidFill>
                          <a:latin typeface="Sakkal Majalla" panose="02000000000000000000" pitchFamily="2" charset="-78"/>
                          <a:ea typeface="+mn-ea"/>
                          <a:cs typeface="Sakkal Majalla" panose="02000000000000000000" pitchFamily="2" charset="-78"/>
                        </a:rPr>
                        <a:t> </a:t>
                      </a:r>
                      <a:r>
                        <a:rPr lang="ar-EG" sz="1350" kern="1200" dirty="0">
                          <a:solidFill>
                            <a:schemeClr val="dk1"/>
                          </a:solidFill>
                          <a:latin typeface="Sakkal Majalla" panose="02000000000000000000" pitchFamily="2" charset="-78"/>
                          <a:ea typeface="+mn-ea"/>
                          <a:cs typeface="Sakkal Majalla" panose="02000000000000000000" pitchFamily="2" charset="-78"/>
                        </a:rPr>
                        <a:t>قد يكون على هيئة جهاز مستقل </a:t>
                      </a:r>
                      <a:r>
                        <a:rPr lang="en-US" sz="1350" kern="1200" dirty="0">
                          <a:solidFill>
                            <a:schemeClr val="dk1"/>
                          </a:solidFill>
                          <a:latin typeface="Sakkal Majalla" panose="02000000000000000000" pitchFamily="2" charset="-78"/>
                          <a:ea typeface="+mn-ea"/>
                          <a:cs typeface="Sakkal Majalla" panose="02000000000000000000" pitchFamily="2" charset="-78"/>
                        </a:rPr>
                        <a:t>Stand-alone or Racked Server , </a:t>
                      </a:r>
                      <a:r>
                        <a:rPr lang="ar-EG" sz="1350" kern="1200" dirty="0">
                          <a:solidFill>
                            <a:schemeClr val="dk1"/>
                          </a:solidFill>
                          <a:latin typeface="Sakkal Majalla" panose="02000000000000000000" pitchFamily="2" charset="-78"/>
                          <a:ea typeface="+mn-ea"/>
                          <a:cs typeface="Sakkal Majalla" panose="02000000000000000000" pitchFamily="2" charset="-78"/>
                        </a:rPr>
                        <a:t>أو قد يكون</a:t>
                      </a:r>
                      <a:r>
                        <a:rPr lang="ar-SA" sz="1350" kern="1200" dirty="0">
                          <a:solidFill>
                            <a:schemeClr val="dk1"/>
                          </a:solidFill>
                          <a:latin typeface="Sakkal Majalla" panose="02000000000000000000" pitchFamily="2" charset="-78"/>
                          <a:ea typeface="+mn-ea"/>
                          <a:cs typeface="Sakkal Majalla" panose="02000000000000000000" pitchFamily="2" charset="-78"/>
                        </a:rPr>
                        <a:t> </a:t>
                      </a:r>
                      <a:r>
                        <a:rPr lang="ar-EG" sz="1350" kern="1200" dirty="0">
                          <a:solidFill>
                            <a:schemeClr val="dk1"/>
                          </a:solidFill>
                          <a:latin typeface="Sakkal Majalla" panose="02000000000000000000" pitchFamily="2" charset="-78"/>
                          <a:ea typeface="+mn-ea"/>
                          <a:cs typeface="Sakkal Majalla" panose="02000000000000000000" pitchFamily="2" charset="-78"/>
                        </a:rPr>
                        <a:t>جزء من كتلة </a:t>
                      </a:r>
                      <a:r>
                        <a:rPr lang="en-US" sz="1350" kern="1200" dirty="0">
                          <a:solidFill>
                            <a:schemeClr val="dk1"/>
                          </a:solidFill>
                          <a:latin typeface="Sakkal Majalla" panose="02000000000000000000" pitchFamily="2" charset="-78"/>
                          <a:ea typeface="+mn-ea"/>
                          <a:cs typeface="Sakkal Majalla" panose="02000000000000000000" pitchFamily="2" charset="-78"/>
                        </a:rPr>
                        <a:t>Hyper Converged Infrastructure (HCI) , </a:t>
                      </a:r>
                      <a:r>
                        <a:rPr lang="ar-EG" sz="1350" kern="1200" dirty="0">
                          <a:solidFill>
                            <a:schemeClr val="dk1"/>
                          </a:solidFill>
                          <a:latin typeface="Sakkal Majalla" panose="02000000000000000000" pitchFamily="2" charset="-78"/>
                          <a:ea typeface="+mn-ea"/>
                          <a:cs typeface="Sakkal Majalla" panose="02000000000000000000" pitchFamily="2" charset="-78"/>
                        </a:rPr>
                        <a:t>أو قد يكون جزء من</a:t>
                      </a:r>
                      <a:r>
                        <a:rPr lang="ar-SA" sz="1350" kern="1200" dirty="0">
                          <a:solidFill>
                            <a:schemeClr val="dk1"/>
                          </a:solidFill>
                          <a:latin typeface="Sakkal Majalla" panose="02000000000000000000" pitchFamily="2" charset="-78"/>
                          <a:ea typeface="+mn-ea"/>
                          <a:cs typeface="Sakkal Majalla" panose="02000000000000000000" pitchFamily="2" charset="-78"/>
                        </a:rPr>
                        <a:t> </a:t>
                      </a:r>
                      <a:r>
                        <a:rPr lang="en-US" sz="1350" kern="1200" dirty="0">
                          <a:solidFill>
                            <a:schemeClr val="dk1"/>
                          </a:solidFill>
                          <a:latin typeface="Sakkal Majalla" panose="02000000000000000000" pitchFamily="2" charset="-78"/>
                          <a:ea typeface="+mn-ea"/>
                          <a:cs typeface="Sakkal Majalla" panose="02000000000000000000" pitchFamily="2" charset="-78"/>
                        </a:rPr>
                        <a:t>Blade Servers , </a:t>
                      </a:r>
                      <a:r>
                        <a:rPr lang="ar-EG" sz="1350" kern="1200" dirty="0">
                          <a:solidFill>
                            <a:schemeClr val="dk1"/>
                          </a:solidFill>
                          <a:latin typeface="Sakkal Majalla" panose="02000000000000000000" pitchFamily="2" charset="-78"/>
                          <a:ea typeface="+mn-ea"/>
                          <a:cs typeface="Sakkal Majalla" panose="02000000000000000000" pitchFamily="2" charset="-78"/>
                        </a:rPr>
                        <a:t>وقد تستخدمه الهيئة في استضافة الخوادم الافتراضية,</a:t>
                      </a:r>
                      <a:r>
                        <a:rPr lang="ar-SA" sz="1350" kern="1200" dirty="0">
                          <a:solidFill>
                            <a:schemeClr val="dk1"/>
                          </a:solidFill>
                          <a:latin typeface="Sakkal Majalla" panose="02000000000000000000" pitchFamily="2" charset="-78"/>
                          <a:ea typeface="+mn-ea"/>
                          <a:cs typeface="Sakkal Majalla" panose="02000000000000000000" pitchFamily="2" charset="-78"/>
                        </a:rPr>
                        <a:t> </a:t>
                      </a:r>
                      <a:r>
                        <a:rPr lang="ar-EG" sz="1350" kern="1200" dirty="0">
                          <a:solidFill>
                            <a:schemeClr val="dk1"/>
                          </a:solidFill>
                          <a:latin typeface="Sakkal Majalla" panose="02000000000000000000" pitchFamily="2" charset="-78"/>
                          <a:ea typeface="+mn-ea"/>
                          <a:cs typeface="Sakkal Majalla" panose="02000000000000000000" pitchFamily="2" charset="-78"/>
                        </a:rPr>
                        <a:t>ويشمل معلومات حول الشركة المصنعة له والموارد الحاسوبية التي يحتويها</a:t>
                      </a:r>
                    </a:p>
                  </a:txBody>
                  <a:tcPr anchor="ctr"/>
                </a:tc>
                <a:tc>
                  <a:txBody>
                    <a:bodyPr/>
                    <a:lstStyle/>
                    <a:p>
                      <a:pPr algn="r" rtl="1"/>
                      <a:r>
                        <a:rPr lang="ar-SA" sz="1350" b="1" dirty="0">
                          <a:latin typeface="Sakkal Majalla" panose="02000000000000000000" pitchFamily="2" charset="-78"/>
                          <a:cs typeface="Sakkal Majalla" panose="02000000000000000000" pitchFamily="2" charset="-78"/>
                        </a:rPr>
                        <a:t>مضيف مادي </a:t>
                      </a:r>
                      <a:r>
                        <a:rPr lang="en-US" sz="1350" b="1" dirty="0">
                          <a:latin typeface="Sakkal Majalla" panose="02000000000000000000" pitchFamily="2" charset="-78"/>
                          <a:cs typeface="Sakkal Majalla" panose="02000000000000000000" pitchFamily="2" charset="-78"/>
                        </a:rPr>
                        <a:t>Physical Host</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101033512"/>
                  </a:ext>
                </a:extLst>
              </a:tr>
            </a:tbl>
          </a:graphicData>
        </a:graphic>
      </p:graphicFrame>
    </p:spTree>
    <p:extLst>
      <p:ext uri="{BB962C8B-B14F-4D97-AF65-F5344CB8AC3E}">
        <p14:creationId xmlns:p14="http://schemas.microsoft.com/office/powerpoint/2010/main" val="254499458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F5214-A9B3-24C3-3E06-4BFC23A9AA2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50DC43-D2BE-0E72-85B5-1407C59743C3}"/>
              </a:ext>
            </a:extLst>
          </p:cNvPr>
          <p:cNvSpPr>
            <a:spLocks noGrp="1"/>
          </p:cNvSpPr>
          <p:nvPr>
            <p:ph type="sldNum" sz="quarter" idx="12"/>
          </p:nvPr>
        </p:nvSpPr>
        <p:spPr/>
        <p:txBody>
          <a:bodyPr/>
          <a:lstStyle/>
          <a:p>
            <a:fld id="{0BE4EC83-A869-464E-AE9F-881796FB085E}" type="slidenum">
              <a:rPr lang="en-US" smtClean="0"/>
              <a:t>45</a:t>
            </a:fld>
            <a:endParaRPr lang="en-US" dirty="0"/>
          </a:p>
        </p:txBody>
      </p:sp>
      <p:sp>
        <p:nvSpPr>
          <p:cNvPr id="7" name="Title 1">
            <a:extLst>
              <a:ext uri="{FF2B5EF4-FFF2-40B4-BE49-F238E27FC236}">
                <a16:creationId xmlns:a16="http://schemas.microsoft.com/office/drawing/2014/main" id="{1CCB02C1-E986-E739-55EA-3DD19ACCAEC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3200" dirty="0">
                <a:latin typeface="Sakkal Majalla" panose="02000000000000000000" pitchFamily="2" charset="-78"/>
                <a:cs typeface="Sakkal Majalla" panose="02000000000000000000" pitchFamily="2" charset="-78"/>
              </a:rPr>
              <a:t>تفصيل طبقات النموذج المرجعي لبنية التقنية (</a:t>
            </a:r>
            <a:r>
              <a:rPr lang="ar-EG" sz="3200" dirty="0">
                <a:latin typeface="Sakkal Majalla" panose="02000000000000000000" pitchFamily="2" charset="-78"/>
                <a:cs typeface="Sakkal Majalla" panose="02000000000000000000" pitchFamily="2" charset="-78"/>
              </a:rPr>
              <a:t>3/8</a:t>
            </a:r>
            <a:r>
              <a:rPr lang="ar-SA" sz="3200" dirty="0">
                <a:latin typeface="Sakkal Majalla" panose="02000000000000000000" pitchFamily="2" charset="-78"/>
                <a:cs typeface="Sakkal Majalla" panose="02000000000000000000" pitchFamily="2" charset="-78"/>
              </a:rPr>
              <a:t>)</a:t>
            </a:r>
            <a:endParaRPr lang="en-US" dirty="0">
              <a:highlight>
                <a:srgbClr val="FFFF00"/>
              </a:highlight>
            </a:endParaRPr>
          </a:p>
        </p:txBody>
      </p:sp>
      <p:graphicFrame>
        <p:nvGraphicFramePr>
          <p:cNvPr id="2" name="Table 1">
            <a:extLst>
              <a:ext uri="{FF2B5EF4-FFF2-40B4-BE49-F238E27FC236}">
                <a16:creationId xmlns:a16="http://schemas.microsoft.com/office/drawing/2014/main" id="{67746846-04B6-FB4E-0439-0C3262049B14}"/>
              </a:ext>
            </a:extLst>
          </p:cNvPr>
          <p:cNvGraphicFramePr>
            <a:graphicFrameLocks noGrp="1"/>
          </p:cNvGraphicFramePr>
          <p:nvPr>
            <p:extLst>
              <p:ext uri="{D42A27DB-BD31-4B8C-83A1-F6EECF244321}">
                <p14:modId xmlns:p14="http://schemas.microsoft.com/office/powerpoint/2010/main" val="1936745148"/>
              </p:ext>
            </p:extLst>
          </p:nvPr>
        </p:nvGraphicFramePr>
        <p:xfrm>
          <a:off x="273970" y="1016568"/>
          <a:ext cx="11674539" cy="5709920"/>
        </p:xfrm>
        <a:graphic>
          <a:graphicData uri="http://schemas.openxmlformats.org/drawingml/2006/table">
            <a:tbl>
              <a:tblPr firstRow="1" bandRow="1">
                <a:tableStyleId>{5C22544A-7EE6-4342-B048-85BDC9FD1C3A}</a:tableStyleId>
              </a:tblPr>
              <a:tblGrid>
                <a:gridCol w="7121784">
                  <a:extLst>
                    <a:ext uri="{9D8B030D-6E8A-4147-A177-3AD203B41FA5}">
                      <a16:colId xmlns:a16="http://schemas.microsoft.com/office/drawing/2014/main" val="3834542369"/>
                    </a:ext>
                  </a:extLst>
                </a:gridCol>
                <a:gridCol w="2833979">
                  <a:extLst>
                    <a:ext uri="{9D8B030D-6E8A-4147-A177-3AD203B41FA5}">
                      <a16:colId xmlns:a16="http://schemas.microsoft.com/office/drawing/2014/main" val="3074006688"/>
                    </a:ext>
                  </a:extLst>
                </a:gridCol>
                <a:gridCol w="1718776">
                  <a:extLst>
                    <a:ext uri="{9D8B030D-6E8A-4147-A177-3AD203B41FA5}">
                      <a16:colId xmlns:a16="http://schemas.microsoft.com/office/drawing/2014/main" val="3462297521"/>
                    </a:ext>
                  </a:extLst>
                </a:gridCol>
              </a:tblGrid>
              <a:tr h="370840">
                <a:tc gridSpan="2">
                  <a:txBody>
                    <a:bodyPr/>
                    <a:lstStyle/>
                    <a:p>
                      <a:pPr algn="ctr"/>
                      <a:r>
                        <a:rPr lang="ar-SA" dirty="0">
                          <a:latin typeface="Sakkal Majalla" panose="02000000000000000000" pitchFamily="2" charset="-78"/>
                          <a:cs typeface="Sakkal Majalla" panose="02000000000000000000" pitchFamily="2" charset="-78"/>
                        </a:rPr>
                        <a:t>وصف الطبقة</a:t>
                      </a:r>
                      <a:endParaRPr lang="en-US"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a:txBody>
                    <a:bodyPr/>
                    <a:lstStyle/>
                    <a:p>
                      <a:pPr algn="ctr"/>
                      <a:r>
                        <a:rPr lang="ar-SA" dirty="0">
                          <a:latin typeface="Sakkal Majalla" panose="02000000000000000000" pitchFamily="2" charset="-78"/>
                          <a:cs typeface="Sakkal Majalla" panose="02000000000000000000" pitchFamily="2" charset="-78"/>
                        </a:rPr>
                        <a:t>الطبقة</a:t>
                      </a:r>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9475502"/>
                  </a:ext>
                </a:extLst>
              </a:tr>
              <a:tr h="0">
                <a:tc gridSpan="2">
                  <a:txBody>
                    <a:bodyPr/>
                    <a:lstStyle/>
                    <a:p>
                      <a:pPr algn="r" rtl="1"/>
                      <a:r>
                        <a:rPr lang="ar-EG" sz="1600" dirty="0">
                          <a:latin typeface="Sakkal Majalla" panose="02000000000000000000" pitchFamily="2" charset="-78"/>
                          <a:cs typeface="Sakkal Majalla" panose="02000000000000000000" pitchFamily="2" charset="-78"/>
                        </a:rPr>
                        <a:t>تشمل البنية التحتية للشبكات التي تسهل الاتصال ونقل البيانات بين الأجهزة والأنظمة المختلفة داخل</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الهيئة وخارجها. وتضم كل أنواع الشبكات ومقاطع الشبكة المختلفة في الهيئة, بما في ذلك الأجهزة والدارات الشبكية</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ومكونات الشبكات الأخرى</a:t>
                      </a:r>
                      <a:endParaRPr lang="en-US" sz="1600"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rowSpan="12">
                  <a:txBody>
                    <a:bodyPr/>
                    <a:lstStyle/>
                    <a:p>
                      <a:pPr algn="ctr"/>
                      <a:r>
                        <a:rPr lang="ar-SA" sz="2000" b="1" dirty="0">
                          <a:latin typeface="Sakkal Majalla" panose="02000000000000000000" pitchFamily="2" charset="-78"/>
                          <a:cs typeface="Sakkal Majalla" panose="02000000000000000000" pitchFamily="2" charset="-78"/>
                        </a:rPr>
                        <a:t>الشبكات</a:t>
                      </a:r>
                      <a:endParaRPr lang="ar-SA" b="1" dirty="0">
                        <a:latin typeface="Sakkal Majalla" panose="02000000000000000000" pitchFamily="2" charset="-78"/>
                        <a:cs typeface="Sakkal Majalla" panose="02000000000000000000" pitchFamily="2" charset="-78"/>
                      </a:endParaRPr>
                    </a:p>
                    <a:p>
                      <a:pPr algn="ctr"/>
                      <a:r>
                        <a:rPr lang="en-US" b="1" dirty="0">
                          <a:latin typeface="Sakkal Majalla" panose="02000000000000000000" pitchFamily="2" charset="-78"/>
                          <a:cs typeface="Sakkal Majalla" panose="02000000000000000000" pitchFamily="2" charset="-78"/>
                        </a:rPr>
                        <a:t>Network</a:t>
                      </a:r>
                    </a:p>
                  </a:txBody>
                  <a:tcPr anchor="ctr"/>
                </a:tc>
                <a:extLst>
                  <a:ext uri="{0D108BD9-81ED-4DB2-BD59-A6C34878D82A}">
                    <a16:rowId xmlns:a16="http://schemas.microsoft.com/office/drawing/2014/main" val="3816038262"/>
                  </a:ext>
                </a:extLst>
              </a:tr>
              <a:tr h="211192">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وصف 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406762"/>
                  </a:ext>
                </a:extLst>
              </a:tr>
              <a:tr h="193412">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الشبكة المحلية</a:t>
                      </a:r>
                      <a:r>
                        <a:rPr lang="en-US" sz="1400" kern="1200" dirty="0">
                          <a:solidFill>
                            <a:schemeClr val="dk1"/>
                          </a:solidFill>
                          <a:latin typeface="Sakkal Majalla" panose="02000000000000000000" pitchFamily="2" charset="-78"/>
                          <a:ea typeface="+mn-ea"/>
                          <a:cs typeface="Sakkal Majalla" panose="02000000000000000000" pitchFamily="2" charset="-78"/>
                        </a:rPr>
                        <a:t>(LAN)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هي عبارة عن مجموعة من الأجهزة المتصلة معًا في موقع فعلي واحد، مثل مبنى أو مكتب أو منزل. يمكن أن تكون الشبكة المحلية </a:t>
                      </a:r>
                      <a:r>
                        <a:rPr lang="en-US" sz="1400" kern="1200" dirty="0">
                          <a:solidFill>
                            <a:schemeClr val="dk1"/>
                          </a:solidFill>
                          <a:latin typeface="Sakkal Majalla" panose="02000000000000000000" pitchFamily="2" charset="-78"/>
                          <a:ea typeface="+mn-ea"/>
                          <a:cs typeface="Sakkal Majalla" panose="02000000000000000000" pitchFamily="2" charset="-78"/>
                        </a:rPr>
                        <a:t>(LAN) </a:t>
                      </a:r>
                      <a:r>
                        <a:rPr lang="ar-SA" sz="1400" kern="1200" dirty="0">
                          <a:solidFill>
                            <a:schemeClr val="dk1"/>
                          </a:solidFill>
                          <a:latin typeface="Sakkal Majalla" panose="02000000000000000000" pitchFamily="2" charset="-78"/>
                          <a:ea typeface="+mn-ea"/>
                          <a:cs typeface="Sakkal Majalla" panose="02000000000000000000" pitchFamily="2" charset="-78"/>
                        </a:rPr>
                        <a:t> ص</a:t>
                      </a:r>
                      <a:r>
                        <a:rPr lang="ar-EG" sz="1400" kern="1200" dirty="0">
                          <a:solidFill>
                            <a:schemeClr val="dk1"/>
                          </a:solidFill>
                          <a:latin typeface="Sakkal Majalla" panose="02000000000000000000" pitchFamily="2" charset="-78"/>
                          <a:ea typeface="+mn-ea"/>
                          <a:cs typeface="Sakkal Majalla" panose="02000000000000000000" pitchFamily="2" charset="-78"/>
                        </a:rPr>
                        <a:t>غيرة أو كبيرة، بدءًا من شبكة منزلية بها مستخدم واحد إلى شبكة مؤسسة بها آلاف المستخدمين والأجهزة</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شبكة المنطقة المحلية</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(Local Area Network</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62487338"/>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الشبكة واسعة النطاق</a:t>
                      </a:r>
                      <a:r>
                        <a:rPr lang="en-US" sz="1400" kern="1200" dirty="0">
                          <a:solidFill>
                            <a:schemeClr val="dk1"/>
                          </a:solidFill>
                          <a:latin typeface="Sakkal Majalla" panose="02000000000000000000" pitchFamily="2" charset="-78"/>
                          <a:ea typeface="+mn-ea"/>
                          <a:cs typeface="Sakkal Majalla" panose="02000000000000000000" pitchFamily="2" charset="-78"/>
                        </a:rPr>
                        <a:t>(WAN)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هي أي شبكة تمتد عبر منطقة جغرافية كبيرة، وعادةً ما تربط شبكات محلية متعددة </a:t>
                      </a:r>
                      <a:r>
                        <a:rPr lang="en-US" sz="1400" kern="1200" dirty="0">
                          <a:solidFill>
                            <a:schemeClr val="dk1"/>
                          </a:solidFill>
                          <a:latin typeface="Sakkal Majalla" panose="02000000000000000000" pitchFamily="2" charset="-78"/>
                          <a:ea typeface="+mn-ea"/>
                          <a:cs typeface="Sakkal Majalla" panose="02000000000000000000" pitchFamily="2" charset="-78"/>
                        </a:rPr>
                        <a:t>(LAN)</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شبكة المنطقة الواسعة</a:t>
                      </a:r>
                      <a:r>
                        <a:rPr lang="ar-SA" sz="1400" b="1" dirty="0">
                          <a:latin typeface="Sakkal Majalla" panose="02000000000000000000" pitchFamily="2" charset="-78"/>
                          <a:cs typeface="Sakkal Majalla" panose="02000000000000000000" pitchFamily="2" charset="-78"/>
                        </a:rPr>
                        <a:t> </a:t>
                      </a:r>
                      <a:r>
                        <a:rPr lang="ar-EG" sz="1400" b="1" kern="1200" dirty="0">
                          <a:solidFill>
                            <a:schemeClr val="dk1"/>
                          </a:solidFill>
                          <a:latin typeface="Sakkal Majalla" panose="02000000000000000000" pitchFamily="2" charset="-78"/>
                          <a:ea typeface="+mn-ea"/>
                          <a:cs typeface="Sakkal Majalla" panose="02000000000000000000" pitchFamily="2" charset="-78"/>
                        </a:rPr>
                        <a:t>( </a:t>
                      </a:r>
                      <a:r>
                        <a:rPr lang="en-US" sz="1400" b="1" kern="1200" dirty="0">
                          <a:solidFill>
                            <a:schemeClr val="dk1"/>
                          </a:solidFill>
                          <a:latin typeface="Sakkal Majalla" panose="02000000000000000000" pitchFamily="2" charset="-78"/>
                          <a:ea typeface="+mn-ea"/>
                          <a:cs typeface="Sakkal Majalla" panose="02000000000000000000" pitchFamily="2" charset="-78"/>
                        </a:rPr>
                        <a:t>(Wide Area Network</a:t>
                      </a:r>
                    </a:p>
                  </a:txBody>
                  <a:tcPr anchor="ctr"/>
                </a:tc>
                <a:tc vMerge="1">
                  <a:txBody>
                    <a:bodyPr/>
                    <a:lstStyle/>
                    <a:p>
                      <a:endParaRPr lang="en-US"/>
                    </a:p>
                  </a:txBody>
                  <a:tcPr/>
                </a:tc>
                <a:extLst>
                  <a:ext uri="{0D108BD9-81ED-4DB2-BD59-A6C34878D82A}">
                    <a16:rowId xmlns:a16="http://schemas.microsoft.com/office/drawing/2014/main" val="3657595079"/>
                  </a:ext>
                </a:extLst>
              </a:tr>
              <a:tr h="216907">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يتم تعريف الإنترنت على أنها شبكة عالمية من أجهزة الحاسوب والخوادم والهواتف والأجهزة الذكية المرتبطة التي تتواصل مع بعضها البعض باستخدام معيار بروتوكول التحكم في الإرسال </a:t>
                      </a:r>
                      <a:r>
                        <a:rPr lang="en-US" sz="1400" kern="1200" dirty="0">
                          <a:solidFill>
                            <a:schemeClr val="dk1"/>
                          </a:solidFill>
                          <a:latin typeface="Sakkal Majalla" panose="02000000000000000000" pitchFamily="2" charset="-78"/>
                          <a:ea typeface="+mn-ea"/>
                          <a:cs typeface="Sakkal Majalla" panose="02000000000000000000" pitchFamily="2" charset="-78"/>
                        </a:rPr>
                        <a:t> (TCP) </a:t>
                      </a:r>
                      <a:r>
                        <a:rPr lang="ar-EG" sz="1400" kern="1200" dirty="0">
                          <a:solidFill>
                            <a:schemeClr val="dk1"/>
                          </a:solidFill>
                          <a:latin typeface="Sakkal Majalla" panose="02000000000000000000" pitchFamily="2" charset="-78"/>
                          <a:ea typeface="+mn-ea"/>
                          <a:cs typeface="Sakkal Majalla" panose="02000000000000000000" pitchFamily="2" charset="-78"/>
                        </a:rPr>
                        <a:t>لتمكين التبادل السريع للمعلومات والملفات، إلى جانب أنواع الخدمات الأخرى. </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شبكة الانترنت</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(Internet Network</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80069243"/>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تعمل شبكة المنطقة </a:t>
                      </a:r>
                      <a:r>
                        <a:rPr lang="ar-SA" sz="1400" kern="1200" dirty="0">
                          <a:solidFill>
                            <a:schemeClr val="dk1"/>
                          </a:solidFill>
                          <a:latin typeface="Sakkal Majalla" panose="02000000000000000000" pitchFamily="2" charset="-78"/>
                          <a:ea typeface="+mn-ea"/>
                          <a:cs typeface="Sakkal Majalla" panose="02000000000000000000" pitchFamily="2" charset="-78"/>
                        </a:rPr>
                        <a:t>المحايدة</a:t>
                      </a:r>
                      <a:r>
                        <a:rPr lang="ar-EG" sz="1400" kern="1200" dirty="0">
                          <a:solidFill>
                            <a:schemeClr val="dk1"/>
                          </a:solidFill>
                          <a:latin typeface="Sakkal Majalla" panose="02000000000000000000" pitchFamily="2" charset="-78"/>
                          <a:ea typeface="+mn-ea"/>
                          <a:cs typeface="Sakkal Majalla" panose="02000000000000000000" pitchFamily="2" charset="-78"/>
                        </a:rPr>
                        <a:t> "المنطقة منزوعة السلاح" كشبكة فرعية تحتوي على خدمات المؤسسة المكشوفة والمواجهة للخارج. إنه بمثابة نقطة مكشوفة لشبكة غير موثوقة، عادةً الإنترنت</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الشبكة المحايدة</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(DMZ</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1241646"/>
                  </a:ext>
                </a:extLst>
              </a:tr>
              <a:tr h="0">
                <a:tc>
                  <a:txBody>
                    <a:bodyPr/>
                    <a:lstStyle/>
                    <a:p>
                      <a:pPr algn="r" rtl="1"/>
                      <a:r>
                        <a:rPr lang="ar-SA" sz="1400" kern="1200" dirty="0">
                          <a:solidFill>
                            <a:schemeClr val="dk1"/>
                          </a:solidFill>
                          <a:latin typeface="Sakkal Majalla" panose="02000000000000000000" pitchFamily="2" charset="-78"/>
                          <a:ea typeface="+mn-ea"/>
                          <a:cs typeface="Sakkal Majalla" panose="02000000000000000000" pitchFamily="2" charset="-78"/>
                        </a:rPr>
                        <a:t>هي الشبكة التي </a:t>
                      </a:r>
                      <a:r>
                        <a:rPr lang="ar-EG" sz="1400" kern="1200" dirty="0">
                          <a:solidFill>
                            <a:schemeClr val="dk1"/>
                          </a:solidFill>
                          <a:latin typeface="Sakkal Majalla" panose="02000000000000000000" pitchFamily="2" charset="-78"/>
                          <a:ea typeface="+mn-ea"/>
                          <a:cs typeface="Sakkal Majalla" panose="02000000000000000000" pitchFamily="2" charset="-78"/>
                        </a:rPr>
                        <a:t>تربط جميع موارد مركز البيانات معًا</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altLang="en-US" sz="1400" b="1" kern="1200" dirty="0">
                          <a:solidFill>
                            <a:schemeClr val="dk1"/>
                          </a:solidFill>
                          <a:latin typeface="Sakkal Majalla" panose="02000000000000000000" pitchFamily="2" charset="-78"/>
                          <a:ea typeface="+mn-ea"/>
                          <a:cs typeface="Sakkal Majalla" panose="02000000000000000000" pitchFamily="2" charset="-78"/>
                        </a:rPr>
                        <a:t>شبكة مركز البيانات </a:t>
                      </a:r>
                      <a:r>
                        <a:rPr lang="en-US" altLang="en-US" sz="1400" b="1" kern="1200" dirty="0">
                          <a:solidFill>
                            <a:schemeClr val="dk1"/>
                          </a:solidFill>
                          <a:latin typeface="Sakkal Majalla" panose="02000000000000000000" pitchFamily="2" charset="-78"/>
                          <a:ea typeface="+mn-ea"/>
                          <a:cs typeface="Sakkal Majalla" panose="02000000000000000000" pitchFamily="2" charset="-78"/>
                        </a:rPr>
                        <a:t>(Data Center Network)</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61578475"/>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تشير الشبكة اللاسلكية إلى شبكة حاسوب تستخدم اتصالات التردد الراديوي </a:t>
                      </a:r>
                      <a:r>
                        <a:rPr lang="en-US" sz="1400" kern="1200" dirty="0">
                          <a:solidFill>
                            <a:schemeClr val="dk1"/>
                          </a:solidFill>
                          <a:latin typeface="Sakkal Majalla" panose="02000000000000000000" pitchFamily="2" charset="-78"/>
                          <a:ea typeface="+mn-ea"/>
                          <a:cs typeface="Sakkal Majalla" panose="02000000000000000000" pitchFamily="2" charset="-78"/>
                        </a:rPr>
                        <a:t>(RF)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بين العقد في الشبكة.</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الشبكات اللاسلكية</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(Wireless Networks)</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4137844761"/>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تشير الشبكة الخارجية إلى جزء البنية الأساسية للشبكة الذي يمكن للمستخدمين خارج المؤسسة الوصول إليه. ويشمل جميع موارد الشبكات، مثل الخوادم والأجهزة وخطوط الاتصال، التي تسهل التفاعلات بين الشبكة الداخلية والمستخدمين أو الأنظمة الخارجية.</a:t>
                      </a:r>
                    </a:p>
                  </a:txBody>
                  <a:tcPr anchor="ctr"/>
                </a:tc>
                <a:tc>
                  <a:txBody>
                    <a:bodyPr/>
                    <a:lstStyle/>
                    <a:p>
                      <a:pPr algn="r" rtl="1"/>
                      <a:r>
                        <a:rPr lang="ar-EG" sz="1400" b="1" kern="1200" dirty="0">
                          <a:solidFill>
                            <a:schemeClr val="dk1"/>
                          </a:solidFill>
                          <a:latin typeface="Sakkal Majalla" panose="02000000000000000000" pitchFamily="2" charset="-78"/>
                          <a:ea typeface="+mn-ea"/>
                          <a:cs typeface="Sakkal Majalla" panose="02000000000000000000" pitchFamily="2" charset="-78"/>
                        </a:rPr>
                        <a:t>الشبكات الخارجية</a:t>
                      </a:r>
                      <a:r>
                        <a:rPr lang="ar-SA" sz="1400" b="1" kern="1200" dirty="0">
                          <a:solidFill>
                            <a:schemeClr val="dk1"/>
                          </a:solidFill>
                          <a:latin typeface="Sakkal Majalla" panose="02000000000000000000" pitchFamily="2" charset="-78"/>
                          <a:ea typeface="+mn-ea"/>
                          <a:cs typeface="Sakkal Majalla" panose="02000000000000000000" pitchFamily="2" charset="-78"/>
                        </a:rPr>
                        <a:t> </a:t>
                      </a:r>
                      <a:r>
                        <a:rPr lang="en-US" sz="1400" b="1" kern="1200" dirty="0">
                          <a:solidFill>
                            <a:schemeClr val="dk1"/>
                          </a:solidFill>
                          <a:latin typeface="Sakkal Majalla" panose="02000000000000000000" pitchFamily="2" charset="-78"/>
                          <a:ea typeface="+mn-ea"/>
                          <a:cs typeface="Sakkal Majalla" panose="02000000000000000000" pitchFamily="2" charset="-78"/>
                        </a:rPr>
                        <a:t>(External Networks)</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072939448"/>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الشبكة الهوائية هي شبكة حاسوب داخلية معزولة تمامًا عن الإنترنت الخارجي دون أي حركة مرور واردة أو صادرة.</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شبكة ذات الفجوة الهوائية</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(Air Gapped Network)</a:t>
                      </a:r>
                      <a:endParaRPr lang="ar-EG" sz="1400" b="1" dirty="0">
                        <a:latin typeface="Sakkal Majalla" panose="02000000000000000000" pitchFamily="2" charset="-78"/>
                        <a:cs typeface="Sakkal Majalla" panose="02000000000000000000" pitchFamily="2" charset="-78"/>
                      </a:endParaRP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614785098"/>
                  </a:ext>
                </a:extLst>
              </a:tr>
              <a:tr h="370840">
                <a:tc>
                  <a:txBody>
                    <a:bodyPr/>
                    <a:lstStyle/>
                    <a:p>
                      <a:pPr algn="r" rtl="1"/>
                      <a:r>
                        <a:rPr lang="ar-SA" sz="1400" kern="1200" dirty="0">
                          <a:solidFill>
                            <a:schemeClr val="dk1"/>
                          </a:solidFill>
                          <a:latin typeface="Sakkal Majalla" panose="02000000000000000000" pitchFamily="2" charset="-78"/>
                          <a:ea typeface="+mn-ea"/>
                          <a:cs typeface="Sakkal Majalla" panose="02000000000000000000" pitchFamily="2" charset="-78"/>
                        </a:rPr>
                        <a:t>أجهزة الشبكة مثل المبدلات والموجهات وموازنة الحمل و...</a:t>
                      </a:r>
                      <a:r>
                        <a:rPr lang="ar-EG" sz="1400" kern="1200" dirty="0">
                          <a:solidFill>
                            <a:schemeClr val="dk1"/>
                          </a:solidFill>
                          <a:latin typeface="Sakkal Majalla" panose="02000000000000000000" pitchFamily="2" charset="-78"/>
                          <a:ea typeface="+mn-ea"/>
                          <a:cs typeface="Sakkal Majalla" panose="02000000000000000000" pitchFamily="2" charset="-78"/>
                        </a:rPr>
                        <a:t>.</a:t>
                      </a: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dirty="0">
                          <a:latin typeface="Sakkal Majalla" panose="02000000000000000000" pitchFamily="2" charset="-78"/>
                          <a:cs typeface="Sakkal Majalla" panose="02000000000000000000" pitchFamily="2" charset="-78"/>
                        </a:rPr>
                        <a:t>جهاز شبكي</a:t>
                      </a:r>
                      <a:r>
                        <a:rPr lang="en-US" sz="1400" b="1" dirty="0">
                          <a:latin typeface="Sakkal Majalla" panose="02000000000000000000" pitchFamily="2" charset="-78"/>
                          <a:cs typeface="Sakkal Majalla" panose="02000000000000000000" pitchFamily="2" charset="-78"/>
                        </a:rPr>
                        <a:t>(</a:t>
                      </a:r>
                      <a:r>
                        <a:rPr lang="en-US" altLang="en-US" sz="1400" b="1" kern="1200" dirty="0">
                          <a:solidFill>
                            <a:schemeClr val="dk1"/>
                          </a:solidFill>
                          <a:latin typeface="Sakkal Majalla" panose="02000000000000000000" pitchFamily="2" charset="-78"/>
                          <a:ea typeface="+mn-ea"/>
                          <a:cs typeface="Sakkal Majalla" panose="02000000000000000000" pitchFamily="2" charset="-78"/>
                        </a:rPr>
                        <a:t>Network Device)</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082332608"/>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تشير المحاكاة الافتراضية للشبكة إلى تجريد موارد الشبكة التي تم تسليمها تقليديًا في الأجهزة إلى البرامج. </a:t>
                      </a:r>
                      <a:r>
                        <a:rPr lang="ar-SA" sz="1400" kern="1200" dirty="0">
                          <a:solidFill>
                            <a:schemeClr val="dk1"/>
                          </a:solidFill>
                          <a:latin typeface="Sakkal Majalla" panose="02000000000000000000" pitchFamily="2" charset="-78"/>
                          <a:ea typeface="+mn-ea"/>
                          <a:cs typeface="Sakkal Majalla" panose="02000000000000000000" pitchFamily="2" charset="-78"/>
                        </a:rPr>
                        <a:t>تقوم الشبكة الافتراضية ب</a:t>
                      </a:r>
                      <a:r>
                        <a:rPr lang="ar-EG" sz="1400" kern="1200" dirty="0">
                          <a:solidFill>
                            <a:schemeClr val="dk1"/>
                          </a:solidFill>
                          <a:latin typeface="Sakkal Majalla" panose="02000000000000000000" pitchFamily="2" charset="-78"/>
                          <a:ea typeface="+mn-ea"/>
                          <a:cs typeface="Sakkal Majalla" panose="02000000000000000000" pitchFamily="2" charset="-78"/>
                        </a:rPr>
                        <a:t>دمج شبكات فعلية متعددة في شبكة افتراضية واحدة قائمة على البرامج، أو يمكنها تقسيم شبكة فعلية واحدة إلى شبكات افتراضية منفصلة ومستقلة.</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الشبكة الافتراضية</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(Virtualized Network)</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841959975"/>
                  </a:ext>
                </a:extLst>
              </a:tr>
            </a:tbl>
          </a:graphicData>
        </a:graphic>
      </p:graphicFrame>
    </p:spTree>
    <p:extLst>
      <p:ext uri="{BB962C8B-B14F-4D97-AF65-F5344CB8AC3E}">
        <p14:creationId xmlns:p14="http://schemas.microsoft.com/office/powerpoint/2010/main" val="5674527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F4501-2146-7955-C9AD-E7163F9C1D9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8384F4-0C93-0170-1AA5-2CD3B9D63408}"/>
              </a:ext>
            </a:extLst>
          </p:cNvPr>
          <p:cNvSpPr>
            <a:spLocks noGrp="1"/>
          </p:cNvSpPr>
          <p:nvPr>
            <p:ph type="sldNum" sz="quarter" idx="12"/>
          </p:nvPr>
        </p:nvSpPr>
        <p:spPr/>
        <p:txBody>
          <a:bodyPr/>
          <a:lstStyle/>
          <a:p>
            <a:fld id="{0BE4EC83-A869-464E-AE9F-881796FB085E}" type="slidenum">
              <a:rPr lang="en-US" smtClean="0"/>
              <a:t>46</a:t>
            </a:fld>
            <a:endParaRPr lang="en-US" dirty="0"/>
          </a:p>
        </p:txBody>
      </p:sp>
      <p:sp>
        <p:nvSpPr>
          <p:cNvPr id="7" name="Title 1">
            <a:extLst>
              <a:ext uri="{FF2B5EF4-FFF2-40B4-BE49-F238E27FC236}">
                <a16:creationId xmlns:a16="http://schemas.microsoft.com/office/drawing/2014/main" id="{A9ECE5A0-BF9C-F325-14A8-48043A06B39B}"/>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3200" dirty="0">
                <a:latin typeface="Sakkal Majalla" panose="02000000000000000000" pitchFamily="2" charset="-78"/>
                <a:cs typeface="Sakkal Majalla" panose="02000000000000000000" pitchFamily="2" charset="-78"/>
              </a:rPr>
              <a:t>تفصيل طبقات النموذج المرجعي لبنية التقنية (</a:t>
            </a:r>
            <a:r>
              <a:rPr lang="ar-EG" sz="3200" dirty="0">
                <a:latin typeface="Sakkal Majalla" panose="02000000000000000000" pitchFamily="2" charset="-78"/>
                <a:cs typeface="Sakkal Majalla" panose="02000000000000000000" pitchFamily="2" charset="-78"/>
              </a:rPr>
              <a:t>4/8</a:t>
            </a:r>
            <a:r>
              <a:rPr lang="ar-SA" sz="3200" dirty="0">
                <a:latin typeface="Sakkal Majalla" panose="02000000000000000000" pitchFamily="2" charset="-78"/>
                <a:cs typeface="Sakkal Majalla" panose="02000000000000000000" pitchFamily="2" charset="-78"/>
              </a:rPr>
              <a:t>)</a:t>
            </a:r>
            <a:endParaRPr lang="en-US" dirty="0">
              <a:highlight>
                <a:srgbClr val="FFFF00"/>
              </a:highlight>
            </a:endParaRPr>
          </a:p>
        </p:txBody>
      </p:sp>
      <p:graphicFrame>
        <p:nvGraphicFramePr>
          <p:cNvPr id="2" name="Table 1">
            <a:extLst>
              <a:ext uri="{FF2B5EF4-FFF2-40B4-BE49-F238E27FC236}">
                <a16:creationId xmlns:a16="http://schemas.microsoft.com/office/drawing/2014/main" id="{D67EB09C-6A8E-D889-195A-5ED014290773}"/>
              </a:ext>
            </a:extLst>
          </p:cNvPr>
          <p:cNvGraphicFramePr>
            <a:graphicFrameLocks noGrp="1"/>
          </p:cNvGraphicFramePr>
          <p:nvPr>
            <p:extLst>
              <p:ext uri="{D42A27DB-BD31-4B8C-83A1-F6EECF244321}">
                <p14:modId xmlns:p14="http://schemas.microsoft.com/office/powerpoint/2010/main" val="2316872435"/>
              </p:ext>
            </p:extLst>
          </p:nvPr>
        </p:nvGraphicFramePr>
        <p:xfrm>
          <a:off x="673009" y="1209303"/>
          <a:ext cx="10845982" cy="3845560"/>
        </p:xfrm>
        <a:graphic>
          <a:graphicData uri="http://schemas.openxmlformats.org/drawingml/2006/table">
            <a:tbl>
              <a:tblPr firstRow="1" bandRow="1">
                <a:tableStyleId>{5C22544A-7EE6-4342-B048-85BDC9FD1C3A}</a:tableStyleId>
              </a:tblPr>
              <a:tblGrid>
                <a:gridCol w="6035221">
                  <a:extLst>
                    <a:ext uri="{9D8B030D-6E8A-4147-A177-3AD203B41FA5}">
                      <a16:colId xmlns:a16="http://schemas.microsoft.com/office/drawing/2014/main" val="3834542369"/>
                    </a:ext>
                  </a:extLst>
                </a:gridCol>
                <a:gridCol w="2750538">
                  <a:extLst>
                    <a:ext uri="{9D8B030D-6E8A-4147-A177-3AD203B41FA5}">
                      <a16:colId xmlns:a16="http://schemas.microsoft.com/office/drawing/2014/main" val="3074006688"/>
                    </a:ext>
                  </a:extLst>
                </a:gridCol>
                <a:gridCol w="2060223">
                  <a:extLst>
                    <a:ext uri="{9D8B030D-6E8A-4147-A177-3AD203B41FA5}">
                      <a16:colId xmlns:a16="http://schemas.microsoft.com/office/drawing/2014/main" val="3462297521"/>
                    </a:ext>
                  </a:extLst>
                </a:gridCol>
              </a:tblGrid>
              <a:tr h="370840">
                <a:tc gridSpan="2">
                  <a:txBody>
                    <a:bodyPr/>
                    <a:lstStyle/>
                    <a:p>
                      <a:pPr algn="ctr"/>
                      <a:r>
                        <a:rPr lang="ar-SA" dirty="0">
                          <a:latin typeface="Sakkal Majalla" panose="02000000000000000000" pitchFamily="2" charset="-78"/>
                          <a:cs typeface="Sakkal Majalla" panose="02000000000000000000" pitchFamily="2" charset="-78"/>
                        </a:rPr>
                        <a:t>وصف الطبقة</a:t>
                      </a:r>
                      <a:endParaRPr lang="en-US"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a:txBody>
                    <a:bodyPr/>
                    <a:lstStyle/>
                    <a:p>
                      <a:pPr algn="ctr"/>
                      <a:r>
                        <a:rPr lang="ar-SA" dirty="0">
                          <a:latin typeface="Sakkal Majalla" panose="02000000000000000000" pitchFamily="2" charset="-78"/>
                          <a:cs typeface="Sakkal Majalla" panose="02000000000000000000" pitchFamily="2" charset="-78"/>
                        </a:rPr>
                        <a:t>الطبقة</a:t>
                      </a:r>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9475502"/>
                  </a:ext>
                </a:extLst>
              </a:tr>
              <a:tr h="0">
                <a:tc gridSpan="2">
                  <a:txBody>
                    <a:bodyPr/>
                    <a:lstStyle/>
                    <a:p>
                      <a:pPr algn="r" rtl="1"/>
                      <a:r>
                        <a:rPr lang="ar-EG" sz="1600" dirty="0">
                          <a:latin typeface="Sakkal Majalla" panose="02000000000000000000" pitchFamily="2" charset="-78"/>
                          <a:cs typeface="Sakkal Majalla" panose="02000000000000000000" pitchFamily="2" charset="-78"/>
                        </a:rPr>
                        <a:t>تشمل الأجهزة الطرفية أو المحيطية والأجهزة التي يستخدمها المستخدمون النهائيون للوصول إلى</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بنية التقنية والتفاعل معها. تشمل هذه الأجهزة الحواسيب المكتبية والأجهزة المحمولة </a:t>
                      </a:r>
                      <a:r>
                        <a:rPr lang="ar-SA" sz="1600" dirty="0">
                          <a:latin typeface="Sakkal Majalla" panose="02000000000000000000" pitchFamily="2" charset="-78"/>
                          <a:cs typeface="Sakkal Majalla" panose="02000000000000000000" pitchFamily="2" charset="-78"/>
                        </a:rPr>
                        <a:t>(</a:t>
                      </a:r>
                      <a:r>
                        <a:rPr lang="ar-EG" sz="1600" dirty="0">
                          <a:latin typeface="Sakkal Majalla" panose="02000000000000000000" pitchFamily="2" charset="-78"/>
                          <a:cs typeface="Sakkal Majalla" panose="02000000000000000000" pitchFamily="2" charset="-78"/>
                        </a:rPr>
                        <a:t>حاسب محمول, الهواتف</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الذكية والأجهزة اللوحية</a:t>
                      </a:r>
                      <a:r>
                        <a:rPr lang="ar-SA" sz="1600" dirty="0">
                          <a:latin typeface="Sakkal Majalla" panose="02000000000000000000" pitchFamily="2" charset="-78"/>
                          <a:cs typeface="Sakkal Majalla" panose="02000000000000000000" pitchFamily="2" charset="-78"/>
                        </a:rPr>
                        <a:t>)</a:t>
                      </a:r>
                      <a:r>
                        <a:rPr lang="ar-EG" sz="1600" dirty="0">
                          <a:latin typeface="Sakkal Majalla" panose="02000000000000000000" pitchFamily="2" charset="-78"/>
                          <a:cs typeface="Sakkal Majalla" panose="02000000000000000000" pitchFamily="2" charset="-78"/>
                        </a:rPr>
                        <a:t> والطابعات وغيرها من أجهزة المستخدمين النهائيين. وتعتبر ضرورية لتمكين المستخدمين</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من الاتصال بالشبكة والوصول إلى التطبيقات والبيانات وأداء مهامهم بكفاءة</a:t>
                      </a:r>
                      <a:endParaRPr lang="en-US" sz="1600"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rowSpan="6">
                  <a:txBody>
                    <a:bodyPr/>
                    <a:lstStyle/>
                    <a:p>
                      <a:pPr algn="ctr"/>
                      <a:r>
                        <a:rPr lang="ar-SA" sz="2000" b="1" dirty="0">
                          <a:latin typeface="Sakkal Majalla" panose="02000000000000000000" pitchFamily="2" charset="-78"/>
                          <a:cs typeface="Sakkal Majalla" panose="02000000000000000000" pitchFamily="2" charset="-78"/>
                        </a:rPr>
                        <a:t>نقاط النهاية</a:t>
                      </a:r>
                    </a:p>
                    <a:p>
                      <a:pPr algn="ctr"/>
                      <a:r>
                        <a:rPr lang="en-US" b="1" dirty="0">
                          <a:latin typeface="Sakkal Majalla" panose="02000000000000000000" pitchFamily="2" charset="-78"/>
                          <a:cs typeface="Sakkal Majalla" panose="02000000000000000000" pitchFamily="2" charset="-78"/>
                        </a:rPr>
                        <a:t>Endpoints</a:t>
                      </a:r>
                    </a:p>
                  </a:txBody>
                  <a:tcPr anchor="ctr"/>
                </a:tc>
                <a:extLst>
                  <a:ext uri="{0D108BD9-81ED-4DB2-BD59-A6C34878D82A}">
                    <a16:rowId xmlns:a16="http://schemas.microsoft.com/office/drawing/2014/main" val="3816038262"/>
                  </a:ext>
                </a:extLst>
              </a:tr>
              <a:tr h="211192">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وصف 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406762"/>
                  </a:ext>
                </a:extLst>
              </a:tr>
              <a:tr h="193412">
                <a:tc>
                  <a:txBody>
                    <a:bodyPr/>
                    <a:lstStyle/>
                    <a:p>
                      <a:pPr algn="r" rtl="1"/>
                      <a:r>
                        <a:rPr lang="ar-SA" sz="1400" kern="1200" dirty="0">
                          <a:solidFill>
                            <a:schemeClr val="dk1"/>
                          </a:solidFill>
                          <a:latin typeface="Sakkal Majalla" panose="02000000000000000000" pitchFamily="2" charset="-78"/>
                          <a:ea typeface="+mn-ea"/>
                          <a:cs typeface="Sakkal Majalla" panose="02000000000000000000" pitchFamily="2" charset="-78"/>
                        </a:rPr>
                        <a:t>أجهزة الحاسوب الخاصة بالمستخدمين، أجهزة محطة العمل عبارة عن نظام حاسوب عالي الأداء مصمم لمستخدم واحد يتمتع بقدرات رسومية متقدمة وسعة تخزين كبيرة. يحتوي على وحدة معالجة مركزية قوية، ولكنه أقل تقدمًا من الخادم</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kern="1200" dirty="0">
                          <a:solidFill>
                            <a:schemeClr val="dk1"/>
                          </a:solidFill>
                          <a:latin typeface="Sakkal Majalla" panose="02000000000000000000" pitchFamily="2" charset="-78"/>
                          <a:ea typeface="+mn-ea"/>
                          <a:cs typeface="Sakkal Majalla" panose="02000000000000000000" pitchFamily="2" charset="-78"/>
                        </a:rPr>
                        <a:t>أجهزة محطة المستخدم</a:t>
                      </a:r>
                      <a:r>
                        <a:rPr lang="ar-SA" sz="1400" b="1" kern="1200" dirty="0">
                          <a:solidFill>
                            <a:schemeClr val="dk1"/>
                          </a:solidFill>
                          <a:latin typeface="Sakkal Majalla" panose="02000000000000000000" pitchFamily="2" charset="-78"/>
                          <a:ea typeface="+mn-ea"/>
                          <a:cs typeface="Sakkal Majalla" panose="02000000000000000000" pitchFamily="2" charset="-78"/>
                        </a:rPr>
                        <a:t> </a:t>
                      </a:r>
                      <a:r>
                        <a:rPr lang="en-US" sz="1400" b="1" kern="1200" dirty="0">
                          <a:solidFill>
                            <a:schemeClr val="dk1"/>
                          </a:solidFill>
                          <a:latin typeface="Sakkal Majalla" panose="02000000000000000000" pitchFamily="2" charset="-78"/>
                          <a:ea typeface="+mn-ea"/>
                          <a:cs typeface="Sakkal Majalla" panose="02000000000000000000" pitchFamily="2" charset="-78"/>
                        </a:rPr>
                        <a:t>(User Workstation Hardware)</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62487338"/>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الجهاز الطرفي هو أي جهاز متصل بالجزء الخارجي من جهاز الحاسوب ويستخدم بشكل عام لتعزيز قدراته أو جعله أكثر سهولة في الاستخدام. يمكن أن يشمل ذلك أشياء مثل أجهزة الماوس ولوحات المفاتيح والطابعات والماسحات الضوئية وأجهزة الإدخال/الإخراج الأخرى.</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طرفيات المستخدم</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(User Peripherals)</a:t>
                      </a:r>
                    </a:p>
                  </a:txBody>
                  <a:tcPr anchor="ctr"/>
                </a:tc>
                <a:tc vMerge="1">
                  <a:txBody>
                    <a:bodyPr/>
                    <a:lstStyle/>
                    <a:p>
                      <a:endParaRPr lang="en-US"/>
                    </a:p>
                  </a:txBody>
                  <a:tcPr/>
                </a:tc>
                <a:extLst>
                  <a:ext uri="{0D108BD9-81ED-4DB2-BD59-A6C34878D82A}">
                    <a16:rowId xmlns:a16="http://schemas.microsoft.com/office/drawing/2014/main" val="3657595079"/>
                  </a:ext>
                </a:extLst>
              </a:tr>
              <a:tr h="216907">
                <a:tc>
                  <a:txBody>
                    <a:bodyPr/>
                    <a:lstStyle/>
                    <a:p>
                      <a:pPr algn="r" rtl="1"/>
                      <a:r>
                        <a:rPr lang="ar-SA" sz="1400" kern="1200" dirty="0">
                          <a:solidFill>
                            <a:schemeClr val="dk1"/>
                          </a:solidFill>
                          <a:latin typeface="Sakkal Majalla" panose="02000000000000000000" pitchFamily="2" charset="-78"/>
                          <a:ea typeface="+mn-ea"/>
                          <a:cs typeface="Sakkal Majalla" panose="02000000000000000000" pitchFamily="2" charset="-78"/>
                        </a:rPr>
                        <a:t>المحاكاة الافتراضية لسطح المكتب هي تقنية برمجية تفصل بيئة سطح المكتب وبرامج التطبيقات المرتبطة بها عن </a:t>
                      </a:r>
                      <a:r>
                        <a:rPr lang="ar-EG" sz="1400" kern="1200" dirty="0">
                          <a:solidFill>
                            <a:schemeClr val="dk1"/>
                          </a:solidFill>
                          <a:latin typeface="Sakkal Majalla" panose="02000000000000000000" pitchFamily="2" charset="-78"/>
                          <a:ea typeface="+mn-ea"/>
                          <a:cs typeface="Sakkal Majalla" panose="02000000000000000000" pitchFamily="2" charset="-78"/>
                        </a:rPr>
                        <a:t>ال</a:t>
                      </a:r>
                      <a:r>
                        <a:rPr lang="ar-SA" sz="1400" kern="1200" dirty="0">
                          <a:solidFill>
                            <a:schemeClr val="dk1"/>
                          </a:solidFill>
                          <a:latin typeface="Sakkal Majalla" panose="02000000000000000000" pitchFamily="2" charset="-78"/>
                          <a:ea typeface="+mn-ea"/>
                          <a:cs typeface="Sakkal Majalla" panose="02000000000000000000" pitchFamily="2" charset="-78"/>
                        </a:rPr>
                        <a:t>جهاز</a:t>
                      </a:r>
                      <a:r>
                        <a:rPr lang="ar-EG" sz="1400" kern="1200" dirty="0">
                          <a:solidFill>
                            <a:schemeClr val="dk1"/>
                          </a:solidFill>
                          <a:latin typeface="Sakkal Majalla" panose="02000000000000000000" pitchFamily="2" charset="-78"/>
                          <a:ea typeface="+mn-ea"/>
                          <a:cs typeface="Sakkal Majalla" panose="02000000000000000000" pitchFamily="2" charset="-78"/>
                        </a:rPr>
                        <a:t> </a:t>
                      </a:r>
                      <a:r>
                        <a:rPr lang="ar-SA" sz="1400" kern="1200" dirty="0">
                          <a:solidFill>
                            <a:schemeClr val="dk1"/>
                          </a:solidFill>
                          <a:latin typeface="Sakkal Majalla" panose="02000000000000000000" pitchFamily="2" charset="-78"/>
                          <a:ea typeface="+mn-ea"/>
                          <a:cs typeface="Sakkal Majalla" panose="02000000000000000000" pitchFamily="2" charset="-78"/>
                        </a:rPr>
                        <a:t>الفعلي المستخدم للوصول إليه</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00" b="1" dirty="0">
                          <a:latin typeface="Sakkal Majalla" panose="02000000000000000000" pitchFamily="2" charset="-78"/>
                          <a:cs typeface="Sakkal Majalla" panose="02000000000000000000" pitchFamily="2" charset="-78"/>
                        </a:rPr>
                        <a:t>أسطح مكاتب المستخدمين الافتراضية</a:t>
                      </a:r>
                      <a:r>
                        <a:rPr lang="ar-SA" sz="1300" b="1" dirty="0">
                          <a:latin typeface="Sakkal Majalla" panose="02000000000000000000" pitchFamily="2" charset="-78"/>
                          <a:cs typeface="Sakkal Majalla" panose="02000000000000000000" pitchFamily="2" charset="-78"/>
                        </a:rPr>
                        <a:t> </a:t>
                      </a:r>
                      <a:r>
                        <a:rPr lang="ar-EG" sz="1200" b="1" dirty="0">
                          <a:latin typeface="Sakkal Majalla" panose="02000000000000000000" pitchFamily="2" charset="-78"/>
                          <a:cs typeface="Sakkal Majalla" panose="02000000000000000000" pitchFamily="2" charset="-78"/>
                        </a:rPr>
                        <a:t>( </a:t>
                      </a:r>
                      <a:r>
                        <a:rPr lang="en-US" sz="1200" b="1" dirty="0">
                          <a:latin typeface="Sakkal Majalla" panose="02000000000000000000" pitchFamily="2" charset="-78"/>
                          <a:cs typeface="Sakkal Majalla" panose="02000000000000000000" pitchFamily="2" charset="-78"/>
                        </a:rPr>
                        <a:t>(User Desktop Virtualization</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80069243"/>
                  </a:ext>
                </a:extLst>
              </a:tr>
              <a:tr h="178807">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نظام التشغيل هو برنامج يعمل كواجهة بين المستخدم وأجهزة الكمبيوتر التي تقوم بوظائف متعددة مثل إدارة الذاكرة؛ إدارة الملفات وإدارة المعالج</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أنظمة تشغيل محطة المستخدم</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(User Workstation O.S.</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1241646"/>
                  </a:ext>
                </a:extLst>
              </a:tr>
            </a:tbl>
          </a:graphicData>
        </a:graphic>
      </p:graphicFrame>
    </p:spTree>
    <p:extLst>
      <p:ext uri="{BB962C8B-B14F-4D97-AF65-F5344CB8AC3E}">
        <p14:creationId xmlns:p14="http://schemas.microsoft.com/office/powerpoint/2010/main" val="312314632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782ED-1E3C-8121-CDA1-FD43E3D5757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9690CE-A560-76F6-81DD-2ED781154E48}"/>
              </a:ext>
            </a:extLst>
          </p:cNvPr>
          <p:cNvSpPr>
            <a:spLocks noGrp="1"/>
          </p:cNvSpPr>
          <p:nvPr>
            <p:ph type="sldNum" sz="quarter" idx="12"/>
          </p:nvPr>
        </p:nvSpPr>
        <p:spPr/>
        <p:txBody>
          <a:bodyPr/>
          <a:lstStyle/>
          <a:p>
            <a:fld id="{0BE4EC83-A869-464E-AE9F-881796FB085E}" type="slidenum">
              <a:rPr lang="en-US" smtClean="0"/>
              <a:t>47</a:t>
            </a:fld>
            <a:endParaRPr lang="en-US" dirty="0"/>
          </a:p>
        </p:txBody>
      </p:sp>
      <p:sp>
        <p:nvSpPr>
          <p:cNvPr id="7" name="Title 1">
            <a:extLst>
              <a:ext uri="{FF2B5EF4-FFF2-40B4-BE49-F238E27FC236}">
                <a16:creationId xmlns:a16="http://schemas.microsoft.com/office/drawing/2014/main" id="{3C94B120-17A4-6B4F-E2C9-BEFDF928C7AE}"/>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3200" dirty="0">
                <a:latin typeface="Sakkal Majalla" panose="02000000000000000000" pitchFamily="2" charset="-78"/>
                <a:cs typeface="Sakkal Majalla" panose="02000000000000000000" pitchFamily="2" charset="-78"/>
              </a:rPr>
              <a:t>تفصيل طبقات النموذج المرجعي لبنية التقنية (</a:t>
            </a:r>
            <a:r>
              <a:rPr lang="ar-EG" sz="3200" dirty="0">
                <a:latin typeface="Sakkal Majalla" panose="02000000000000000000" pitchFamily="2" charset="-78"/>
                <a:cs typeface="Sakkal Majalla" panose="02000000000000000000" pitchFamily="2" charset="-78"/>
              </a:rPr>
              <a:t>5/8</a:t>
            </a:r>
            <a:r>
              <a:rPr lang="ar-SA" sz="3200" dirty="0">
                <a:latin typeface="Sakkal Majalla" panose="02000000000000000000" pitchFamily="2" charset="-78"/>
                <a:cs typeface="Sakkal Majalla" panose="02000000000000000000" pitchFamily="2" charset="-78"/>
              </a:rPr>
              <a:t>)</a:t>
            </a:r>
            <a:endParaRPr lang="en-US" dirty="0">
              <a:highlight>
                <a:srgbClr val="FFFF00"/>
              </a:highlight>
            </a:endParaRPr>
          </a:p>
        </p:txBody>
      </p:sp>
      <p:graphicFrame>
        <p:nvGraphicFramePr>
          <p:cNvPr id="2" name="Table 1">
            <a:extLst>
              <a:ext uri="{FF2B5EF4-FFF2-40B4-BE49-F238E27FC236}">
                <a16:creationId xmlns:a16="http://schemas.microsoft.com/office/drawing/2014/main" id="{105F99E4-BBD9-9749-B559-1DEECDBD778A}"/>
              </a:ext>
            </a:extLst>
          </p:cNvPr>
          <p:cNvGraphicFramePr>
            <a:graphicFrameLocks noGrp="1"/>
          </p:cNvGraphicFramePr>
          <p:nvPr>
            <p:extLst>
              <p:ext uri="{D42A27DB-BD31-4B8C-83A1-F6EECF244321}">
                <p14:modId xmlns:p14="http://schemas.microsoft.com/office/powerpoint/2010/main" val="3108681193"/>
              </p:ext>
            </p:extLst>
          </p:nvPr>
        </p:nvGraphicFramePr>
        <p:xfrm>
          <a:off x="516151" y="1048704"/>
          <a:ext cx="11167849" cy="4881880"/>
        </p:xfrm>
        <a:graphic>
          <a:graphicData uri="http://schemas.openxmlformats.org/drawingml/2006/table">
            <a:tbl>
              <a:tblPr firstRow="1" bandRow="1">
                <a:tableStyleId>{5C22544A-7EE6-4342-B048-85BDC9FD1C3A}</a:tableStyleId>
              </a:tblPr>
              <a:tblGrid>
                <a:gridCol w="6529809">
                  <a:extLst>
                    <a:ext uri="{9D8B030D-6E8A-4147-A177-3AD203B41FA5}">
                      <a16:colId xmlns:a16="http://schemas.microsoft.com/office/drawing/2014/main" val="3834542369"/>
                    </a:ext>
                  </a:extLst>
                </a:gridCol>
                <a:gridCol w="3305208">
                  <a:extLst>
                    <a:ext uri="{9D8B030D-6E8A-4147-A177-3AD203B41FA5}">
                      <a16:colId xmlns:a16="http://schemas.microsoft.com/office/drawing/2014/main" val="3074006688"/>
                    </a:ext>
                  </a:extLst>
                </a:gridCol>
                <a:gridCol w="1332832">
                  <a:extLst>
                    <a:ext uri="{9D8B030D-6E8A-4147-A177-3AD203B41FA5}">
                      <a16:colId xmlns:a16="http://schemas.microsoft.com/office/drawing/2014/main" val="3462297521"/>
                    </a:ext>
                  </a:extLst>
                </a:gridCol>
              </a:tblGrid>
              <a:tr h="370840">
                <a:tc gridSpan="2">
                  <a:txBody>
                    <a:bodyPr/>
                    <a:lstStyle/>
                    <a:p>
                      <a:pPr algn="ctr"/>
                      <a:r>
                        <a:rPr lang="ar-SA" dirty="0">
                          <a:latin typeface="Sakkal Majalla" panose="02000000000000000000" pitchFamily="2" charset="-78"/>
                          <a:cs typeface="Sakkal Majalla" panose="02000000000000000000" pitchFamily="2" charset="-78"/>
                        </a:rPr>
                        <a:t>وصف الطبقة</a:t>
                      </a:r>
                      <a:endParaRPr lang="en-US"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a:txBody>
                    <a:bodyPr/>
                    <a:lstStyle/>
                    <a:p>
                      <a:pPr algn="ctr"/>
                      <a:r>
                        <a:rPr lang="ar-SA" dirty="0">
                          <a:latin typeface="Sakkal Majalla" panose="02000000000000000000" pitchFamily="2" charset="-78"/>
                          <a:cs typeface="Sakkal Majalla" panose="02000000000000000000" pitchFamily="2" charset="-78"/>
                        </a:rPr>
                        <a:t>الطبقة</a:t>
                      </a:r>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9475502"/>
                  </a:ext>
                </a:extLst>
              </a:tr>
              <a:tr h="0">
                <a:tc gridSpan="2">
                  <a:txBody>
                    <a:bodyPr/>
                    <a:lstStyle/>
                    <a:p>
                      <a:pPr algn="r" rtl="1"/>
                      <a:r>
                        <a:rPr lang="ar-EG" sz="1600" dirty="0">
                          <a:latin typeface="Sakkal Majalla" panose="02000000000000000000" pitchFamily="2" charset="-78"/>
                          <a:cs typeface="Sakkal Majalla" panose="02000000000000000000" pitchFamily="2" charset="-78"/>
                        </a:rPr>
                        <a:t>تشمل قدرات البنية التحتية المستخدمة لتخزين وإدارة البيانات من قبل الهيئة, وتشمل هذه القدرات</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أنظمة التخزين بكافة أشكالها ووحدات التخزين وحلول التخزين السحابية, وهي المسؤولة عن توفير قدرات التخزين</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الموثوقة وذات الأداء العالي لدعم متطلبات الهيئة في تخزين البيانات </a:t>
                      </a:r>
                      <a:r>
                        <a:rPr lang="ar-SA" sz="1600" dirty="0">
                          <a:latin typeface="Sakkal Majalla" panose="02000000000000000000" pitchFamily="2" charset="-78"/>
                          <a:cs typeface="Sakkal Majalla" panose="02000000000000000000" pitchFamily="2" charset="-78"/>
                        </a:rPr>
                        <a:t>و</a:t>
                      </a:r>
                      <a:r>
                        <a:rPr lang="ar-EG" sz="1600" dirty="0">
                          <a:latin typeface="Sakkal Majalla" panose="02000000000000000000" pitchFamily="2" charset="-78"/>
                          <a:cs typeface="Sakkal Majalla" panose="02000000000000000000" pitchFamily="2" charset="-78"/>
                        </a:rPr>
                        <a:t>أرشفتها والنسخ الاحتياطي. وتشمل جميع أنواع</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وسائط التخزين المغناطيسية أو الضوئية أو الميكانيكية, كما تشمل أيضاً خدمات التخزين السحابية المستخدمة من</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قبل الهيئة</a:t>
                      </a:r>
                      <a:endParaRPr lang="en-US" sz="1600"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rowSpan="8">
                  <a:txBody>
                    <a:bodyPr/>
                    <a:lstStyle/>
                    <a:p>
                      <a:pPr algn="ctr"/>
                      <a:r>
                        <a:rPr lang="ar-SA" sz="2000" b="1" dirty="0">
                          <a:latin typeface="Sakkal Majalla" panose="02000000000000000000" pitchFamily="2" charset="-78"/>
                          <a:cs typeface="Sakkal Majalla" panose="02000000000000000000" pitchFamily="2" charset="-78"/>
                        </a:rPr>
                        <a:t>التخزين</a:t>
                      </a:r>
                      <a:endParaRPr lang="ar-SA" b="1" dirty="0">
                        <a:latin typeface="Sakkal Majalla" panose="02000000000000000000" pitchFamily="2" charset="-78"/>
                        <a:cs typeface="Sakkal Majalla" panose="02000000000000000000" pitchFamily="2" charset="-78"/>
                      </a:endParaRPr>
                    </a:p>
                    <a:p>
                      <a:pPr algn="ctr"/>
                      <a:r>
                        <a:rPr lang="en-US" b="1" dirty="0">
                          <a:latin typeface="Sakkal Majalla" panose="02000000000000000000" pitchFamily="2" charset="-78"/>
                          <a:cs typeface="Sakkal Majalla" panose="02000000000000000000" pitchFamily="2" charset="-78"/>
                        </a:rPr>
                        <a:t>Storage</a:t>
                      </a:r>
                    </a:p>
                  </a:txBody>
                  <a:tcPr anchor="ctr"/>
                </a:tc>
                <a:extLst>
                  <a:ext uri="{0D108BD9-81ED-4DB2-BD59-A6C34878D82A}">
                    <a16:rowId xmlns:a16="http://schemas.microsoft.com/office/drawing/2014/main" val="3816038262"/>
                  </a:ext>
                </a:extLst>
              </a:tr>
              <a:tr h="211192">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وصف 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406762"/>
                  </a:ext>
                </a:extLst>
              </a:tr>
              <a:tr h="193412">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جهاز تخزين الوصول المباشر هو جهاز تخزين ثانوي حيث "لكل سجل مادي موقع منفصل وعنوان فريد". صاغ هذا المصطلح من قبل شركة </a:t>
                      </a:r>
                      <a:r>
                        <a:rPr lang="en-US" sz="1400" kern="1200" dirty="0">
                          <a:solidFill>
                            <a:schemeClr val="dk1"/>
                          </a:solidFill>
                          <a:latin typeface="Sakkal Majalla" panose="02000000000000000000" pitchFamily="2" charset="-78"/>
                          <a:ea typeface="+mn-ea"/>
                          <a:cs typeface="Sakkal Majalla" panose="02000000000000000000" pitchFamily="2" charset="-78"/>
                        </a:rPr>
                        <a:t>IBM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لوصف الأجهزة التي سمحت بالوصول العشوائي إلى البيانات ، </a:t>
                      </a:r>
                      <a:r>
                        <a:rPr lang="ar-SA" sz="1400" kern="1200" dirty="0">
                          <a:solidFill>
                            <a:schemeClr val="dk1"/>
                          </a:solidFill>
                          <a:latin typeface="Sakkal Majalla" panose="02000000000000000000" pitchFamily="2" charset="-78"/>
                          <a:ea typeface="+mn-ea"/>
                          <a:cs typeface="Sakkal Majalla" panose="02000000000000000000" pitchFamily="2" charset="-78"/>
                        </a:rPr>
                        <a:t>ومثال على ذلك </a:t>
                      </a:r>
                      <a:r>
                        <a:rPr lang="ar-EG" sz="1400" kern="1200" dirty="0">
                          <a:solidFill>
                            <a:schemeClr val="dk1"/>
                          </a:solidFill>
                          <a:latin typeface="Sakkal Majalla" panose="02000000000000000000" pitchFamily="2" charset="-78"/>
                          <a:ea typeface="+mn-ea"/>
                          <a:cs typeface="Sakkal Majalla" panose="02000000000000000000" pitchFamily="2" charset="-78"/>
                        </a:rPr>
                        <a:t>محركات الأقراص الصلبة</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أنظمة التخزين المتصلة مباشرة</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(Direct Access Storage)</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62487338"/>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التخزين الشبكي هو تخزين بيانات الحاسوب على الشبكة لتوفير الوصول إليها لأكبر عدد ممكن من المستخدمين أو العملاء. ويعمل التخزين المرتبط بالشبكة بشكل متخصص في تخزين البيانات الإلكترونية على وحدات التخزين الشبكية المجهزة</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أنظمة التخزين المتصلة بالشبكة</a:t>
                      </a:r>
                      <a:r>
                        <a:rPr lang="ar-SA" sz="1400" b="1" dirty="0">
                          <a:latin typeface="Sakkal Majalla" panose="02000000000000000000" pitchFamily="2" charset="-78"/>
                          <a:cs typeface="Sakkal Majalla" panose="02000000000000000000" pitchFamily="2" charset="-78"/>
                        </a:rPr>
                        <a:t> </a:t>
                      </a:r>
                      <a:r>
                        <a:rPr lang="ar-EG" sz="1300" b="1" dirty="0">
                          <a:latin typeface="Sakkal Majalla" panose="02000000000000000000" pitchFamily="2" charset="-78"/>
                          <a:cs typeface="Sakkal Majalla" panose="02000000000000000000" pitchFamily="2" charset="-78"/>
                        </a:rPr>
                        <a:t>( </a:t>
                      </a:r>
                      <a:r>
                        <a:rPr lang="en-US" sz="1300" b="1" dirty="0">
                          <a:latin typeface="Sakkal Majalla" panose="02000000000000000000" pitchFamily="2" charset="-78"/>
                          <a:cs typeface="Sakkal Majalla" panose="02000000000000000000" pitchFamily="2" charset="-78"/>
                        </a:rPr>
                        <a:t>(Network Attached Storage</a:t>
                      </a:r>
                    </a:p>
                  </a:txBody>
                  <a:tcPr anchor="ctr"/>
                </a:tc>
                <a:tc vMerge="1">
                  <a:txBody>
                    <a:bodyPr/>
                    <a:lstStyle/>
                    <a:p>
                      <a:endParaRPr lang="en-US"/>
                    </a:p>
                  </a:txBody>
                  <a:tcPr/>
                </a:tc>
                <a:extLst>
                  <a:ext uri="{0D108BD9-81ED-4DB2-BD59-A6C34878D82A}">
                    <a16:rowId xmlns:a16="http://schemas.microsoft.com/office/drawing/2014/main" val="3657595079"/>
                  </a:ext>
                </a:extLst>
              </a:tr>
              <a:tr h="216907">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شبكة منطقة التخزين هي شبكة من أجهزة التخزين التي يمكن الوصول إليها عن طريق خوادم أو أجهزة حاسوب متعددة، مما يوفر مجموعة مشتركة من مساحة التخزين.</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شبكة مساحة التخزين</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(Storage Area Network</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80069243"/>
                  </a:ext>
                </a:extLst>
              </a:tr>
              <a:tr h="178807">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يتم إجراء النسخ الاحتياطي عبر الإنترنت عندما يتم نسخ بياناتك إلى خدمة النسخ الاحتياطي السحابي "خارج الموقع". ستقوم الخدمات بتخزين نسخ من بياناتك بشكل متسق وآمن على السحابة، بحيث يمكن الوصول إلى بياناتك في أي وقت تتصل فيه بالإنترنت. إنها جزء لا يتجزأ من خطة التعافي من الكوارث الخاصة بالشركة</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kern="1200" dirty="0">
                          <a:solidFill>
                            <a:schemeClr val="dk1"/>
                          </a:solidFill>
                          <a:latin typeface="Sakkal Majalla" panose="02000000000000000000" pitchFamily="2" charset="-78"/>
                          <a:ea typeface="+mn-ea"/>
                          <a:cs typeface="Sakkal Majalla" panose="02000000000000000000" pitchFamily="2" charset="-78"/>
                        </a:rPr>
                        <a:t>النسخ الاحتياطي المتصل بالشبكة</a:t>
                      </a:r>
                      <a:r>
                        <a:rPr lang="ar-SA" sz="1400" b="1" kern="1200" dirty="0">
                          <a:solidFill>
                            <a:schemeClr val="dk1"/>
                          </a:solidFill>
                          <a:latin typeface="Sakkal Majalla" panose="02000000000000000000" pitchFamily="2" charset="-78"/>
                          <a:ea typeface="+mn-ea"/>
                          <a:cs typeface="Sakkal Majalla" panose="02000000000000000000" pitchFamily="2" charset="-78"/>
                        </a:rPr>
                        <a:t> </a:t>
                      </a:r>
                      <a:r>
                        <a:rPr lang="en-US" sz="1200" b="1" kern="1200" dirty="0">
                          <a:solidFill>
                            <a:schemeClr val="dk1"/>
                          </a:solidFill>
                          <a:latin typeface="Sakkal Majalla" panose="02000000000000000000" pitchFamily="2" charset="-78"/>
                          <a:ea typeface="+mn-ea"/>
                          <a:cs typeface="Sakkal Majalla" panose="02000000000000000000" pitchFamily="2" charset="-78"/>
                        </a:rPr>
                        <a:t>(Online Backup &amp; Recovery)</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1241646"/>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النسخ الاحتياطي دون اتصال هو نظام تخزين ثانوي في موقع خارجي آمن معزول تمامًا عن بيئة الإنتاج؛ إنه غير متصل بأي أجهزة حاسوب أو شبكات أو أجهزة أخرى تدعم الإنترنت، وبالتالي فهو "غير متصل"</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300" b="1" dirty="0">
                          <a:latin typeface="Sakkal Majalla" panose="02000000000000000000" pitchFamily="2" charset="-78"/>
                          <a:cs typeface="Sakkal Majalla" panose="02000000000000000000" pitchFamily="2" charset="-78"/>
                        </a:rPr>
                        <a:t>النسخ الاحتياطي المنفصل عن الشبكة</a:t>
                      </a:r>
                      <a:r>
                        <a:rPr lang="ar-SA" sz="1300" b="1" dirty="0">
                          <a:latin typeface="Sakkal Majalla" panose="02000000000000000000" pitchFamily="2" charset="-78"/>
                          <a:cs typeface="Sakkal Majalla" panose="02000000000000000000" pitchFamily="2" charset="-78"/>
                        </a:rPr>
                        <a:t> </a:t>
                      </a:r>
                      <a:r>
                        <a:rPr lang="ar-EG" sz="1200" b="1" dirty="0">
                          <a:latin typeface="Sakkal Majalla" panose="02000000000000000000" pitchFamily="2" charset="-78"/>
                          <a:cs typeface="Sakkal Majalla" panose="02000000000000000000" pitchFamily="2" charset="-78"/>
                        </a:rPr>
                        <a:t>(</a:t>
                      </a:r>
                      <a:r>
                        <a:rPr lang="ar-EG" sz="1400" b="1" dirty="0">
                          <a:latin typeface="Sakkal Majalla" panose="02000000000000000000" pitchFamily="2" charset="-78"/>
                          <a:cs typeface="Sakkal Majalla" panose="02000000000000000000" pitchFamily="2" charset="-78"/>
                        </a:rPr>
                        <a:t> </a:t>
                      </a:r>
                      <a:r>
                        <a:rPr lang="en-US" sz="1200" b="1" dirty="0">
                          <a:latin typeface="Sakkal Majalla" panose="02000000000000000000" pitchFamily="2" charset="-78"/>
                          <a:cs typeface="Sakkal Majalla" panose="02000000000000000000" pitchFamily="2" charset="-78"/>
                        </a:rPr>
                        <a:t>(Offline Backup &amp; Recovery</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61578475"/>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تقوم أرشفة البيانات بتخزين البيانات على طبقة تخزين طويلة الأجل منخفضة التكلفة لتقليل استهلاك التخزين الأساسي والتكاليف المرتبطة به.</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dirty="0">
                          <a:latin typeface="Sakkal Majalla" panose="02000000000000000000" pitchFamily="2" charset="-78"/>
                          <a:cs typeface="Sakkal Majalla" panose="02000000000000000000" pitchFamily="2" charset="-78"/>
                        </a:rPr>
                        <a:t>أرشفة البيانات</a:t>
                      </a:r>
                      <a:r>
                        <a:rPr lang="ar-SA" sz="1400" b="1" dirty="0">
                          <a:latin typeface="Sakkal Majalla" panose="02000000000000000000" pitchFamily="2" charset="-78"/>
                          <a:cs typeface="Sakkal Majalla" panose="02000000000000000000" pitchFamily="2" charset="-78"/>
                        </a:rPr>
                        <a:t> </a:t>
                      </a:r>
                      <a:r>
                        <a:rPr lang="en-US" sz="1400" b="1" kern="1200" dirty="0">
                          <a:solidFill>
                            <a:schemeClr val="dk1"/>
                          </a:solidFill>
                          <a:latin typeface="Sakkal Majalla" panose="02000000000000000000" pitchFamily="2" charset="-78"/>
                          <a:ea typeface="+mn-ea"/>
                          <a:cs typeface="Sakkal Majalla" panose="02000000000000000000" pitchFamily="2" charset="-78"/>
                        </a:rPr>
                        <a:t>(</a:t>
                      </a:r>
                      <a:r>
                        <a:rPr lang="en-US" altLang="en-US" sz="1400" b="1" kern="1200" dirty="0">
                          <a:solidFill>
                            <a:schemeClr val="dk1"/>
                          </a:solidFill>
                          <a:latin typeface="Sakkal Majalla" panose="02000000000000000000" pitchFamily="2" charset="-78"/>
                          <a:ea typeface="+mn-ea"/>
                          <a:cs typeface="Sakkal Majalla" panose="02000000000000000000" pitchFamily="2" charset="-78"/>
                        </a:rPr>
                        <a:t>Data Archiving)</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4137844761"/>
                  </a:ext>
                </a:extLst>
              </a:tr>
            </a:tbl>
          </a:graphicData>
        </a:graphic>
      </p:graphicFrame>
    </p:spTree>
    <p:extLst>
      <p:ext uri="{BB962C8B-B14F-4D97-AF65-F5344CB8AC3E}">
        <p14:creationId xmlns:p14="http://schemas.microsoft.com/office/powerpoint/2010/main" val="290050737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5602-1E45-4EAC-BECD-A417A094337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B71230-1B38-27E4-ACCE-951152F3882F}"/>
              </a:ext>
            </a:extLst>
          </p:cNvPr>
          <p:cNvSpPr>
            <a:spLocks noGrp="1"/>
          </p:cNvSpPr>
          <p:nvPr>
            <p:ph type="sldNum" sz="quarter" idx="12"/>
          </p:nvPr>
        </p:nvSpPr>
        <p:spPr/>
        <p:txBody>
          <a:bodyPr/>
          <a:lstStyle/>
          <a:p>
            <a:fld id="{0BE4EC83-A869-464E-AE9F-881796FB085E}" type="slidenum">
              <a:rPr lang="en-US" smtClean="0"/>
              <a:t>48</a:t>
            </a:fld>
            <a:endParaRPr lang="en-US" dirty="0"/>
          </a:p>
        </p:txBody>
      </p:sp>
      <p:sp>
        <p:nvSpPr>
          <p:cNvPr id="7" name="Title 1">
            <a:extLst>
              <a:ext uri="{FF2B5EF4-FFF2-40B4-BE49-F238E27FC236}">
                <a16:creationId xmlns:a16="http://schemas.microsoft.com/office/drawing/2014/main" id="{3C5CB7C4-2F83-C367-C709-44F665EE6926}"/>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3200" dirty="0">
                <a:latin typeface="Sakkal Majalla" panose="02000000000000000000" pitchFamily="2" charset="-78"/>
                <a:cs typeface="Sakkal Majalla" panose="02000000000000000000" pitchFamily="2" charset="-78"/>
              </a:rPr>
              <a:t>تفصيل طبقات النموذج المرجعي لبنية التقنية (</a:t>
            </a:r>
            <a:r>
              <a:rPr lang="ar-EG" sz="3200" dirty="0">
                <a:latin typeface="Sakkal Majalla" panose="02000000000000000000" pitchFamily="2" charset="-78"/>
                <a:cs typeface="Sakkal Majalla" panose="02000000000000000000" pitchFamily="2" charset="-78"/>
              </a:rPr>
              <a:t>6/8</a:t>
            </a:r>
            <a:r>
              <a:rPr lang="ar-SA" sz="3200" dirty="0">
                <a:latin typeface="Sakkal Majalla" panose="02000000000000000000" pitchFamily="2" charset="-78"/>
                <a:cs typeface="Sakkal Majalla" panose="02000000000000000000" pitchFamily="2" charset="-78"/>
              </a:rPr>
              <a:t>)</a:t>
            </a:r>
            <a:endParaRPr lang="en-US" dirty="0">
              <a:highlight>
                <a:srgbClr val="FFFF00"/>
              </a:highlight>
            </a:endParaRPr>
          </a:p>
        </p:txBody>
      </p:sp>
      <p:graphicFrame>
        <p:nvGraphicFramePr>
          <p:cNvPr id="2" name="Table 1">
            <a:extLst>
              <a:ext uri="{FF2B5EF4-FFF2-40B4-BE49-F238E27FC236}">
                <a16:creationId xmlns:a16="http://schemas.microsoft.com/office/drawing/2014/main" id="{B08563B5-5E9B-9AA8-F706-2ED271B873E1}"/>
              </a:ext>
            </a:extLst>
          </p:cNvPr>
          <p:cNvGraphicFramePr>
            <a:graphicFrameLocks noGrp="1"/>
          </p:cNvGraphicFramePr>
          <p:nvPr>
            <p:extLst>
              <p:ext uri="{D42A27DB-BD31-4B8C-83A1-F6EECF244321}">
                <p14:modId xmlns:p14="http://schemas.microsoft.com/office/powerpoint/2010/main" val="1931045066"/>
              </p:ext>
            </p:extLst>
          </p:nvPr>
        </p:nvGraphicFramePr>
        <p:xfrm>
          <a:off x="508907" y="1214383"/>
          <a:ext cx="11174185" cy="4429760"/>
        </p:xfrm>
        <a:graphic>
          <a:graphicData uri="http://schemas.openxmlformats.org/drawingml/2006/table">
            <a:tbl>
              <a:tblPr firstRow="1" bandRow="1">
                <a:tableStyleId>{5C22544A-7EE6-4342-B048-85BDC9FD1C3A}</a:tableStyleId>
              </a:tblPr>
              <a:tblGrid>
                <a:gridCol w="6200775">
                  <a:extLst>
                    <a:ext uri="{9D8B030D-6E8A-4147-A177-3AD203B41FA5}">
                      <a16:colId xmlns:a16="http://schemas.microsoft.com/office/drawing/2014/main" val="3834542369"/>
                    </a:ext>
                  </a:extLst>
                </a:gridCol>
                <a:gridCol w="2097638">
                  <a:extLst>
                    <a:ext uri="{9D8B030D-6E8A-4147-A177-3AD203B41FA5}">
                      <a16:colId xmlns:a16="http://schemas.microsoft.com/office/drawing/2014/main" val="3074006688"/>
                    </a:ext>
                  </a:extLst>
                </a:gridCol>
                <a:gridCol w="2875772">
                  <a:extLst>
                    <a:ext uri="{9D8B030D-6E8A-4147-A177-3AD203B41FA5}">
                      <a16:colId xmlns:a16="http://schemas.microsoft.com/office/drawing/2014/main" val="3462297521"/>
                    </a:ext>
                  </a:extLst>
                </a:gridCol>
              </a:tblGrid>
              <a:tr h="370840">
                <a:tc gridSpan="2">
                  <a:txBody>
                    <a:bodyPr/>
                    <a:lstStyle/>
                    <a:p>
                      <a:pPr algn="ctr"/>
                      <a:r>
                        <a:rPr lang="ar-SA" dirty="0">
                          <a:latin typeface="Sakkal Majalla" panose="02000000000000000000" pitchFamily="2" charset="-78"/>
                          <a:cs typeface="Sakkal Majalla" panose="02000000000000000000" pitchFamily="2" charset="-78"/>
                        </a:rPr>
                        <a:t>وصف الطبقة</a:t>
                      </a:r>
                      <a:endParaRPr lang="en-US"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a:txBody>
                    <a:bodyPr/>
                    <a:lstStyle/>
                    <a:p>
                      <a:pPr algn="ctr"/>
                      <a:r>
                        <a:rPr lang="ar-SA" dirty="0">
                          <a:latin typeface="Sakkal Majalla" panose="02000000000000000000" pitchFamily="2" charset="-78"/>
                          <a:cs typeface="Sakkal Majalla" panose="02000000000000000000" pitchFamily="2" charset="-78"/>
                        </a:rPr>
                        <a:t>الطبقة</a:t>
                      </a:r>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9475502"/>
                  </a:ext>
                </a:extLst>
              </a:tr>
              <a:tr h="370840">
                <a:tc gridSpan="2">
                  <a:txBody>
                    <a:bodyPr/>
                    <a:lstStyle/>
                    <a:p>
                      <a:pPr algn="r" rtl="1"/>
                      <a:r>
                        <a:rPr lang="ar-EG" sz="1600" dirty="0">
                          <a:latin typeface="Sakkal Majalla" panose="02000000000000000000" pitchFamily="2" charset="-78"/>
                          <a:cs typeface="Sakkal Majalla" panose="02000000000000000000" pitchFamily="2" charset="-78"/>
                        </a:rPr>
                        <a:t>تشمل غرف الخوادم وجميع المكونات الخاملة </a:t>
                      </a:r>
                      <a:r>
                        <a:rPr lang="en-US" sz="1600" dirty="0">
                          <a:latin typeface="Sakkal Majalla" panose="02000000000000000000" pitchFamily="2" charset="-78"/>
                          <a:cs typeface="Sakkal Majalla" panose="02000000000000000000" pitchFamily="2" charset="-78"/>
                        </a:rPr>
                        <a:t>(Passive Components) </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والتجهيزات الإلكتروميكانيكية مثل</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أنظمة تزويد الطاقة كوحدات إمداد الطاقة غير المنقطعة </a:t>
                      </a:r>
                      <a:r>
                        <a:rPr lang="en-US" sz="1600" dirty="0">
                          <a:latin typeface="Sakkal Majalla" panose="02000000000000000000" pitchFamily="2" charset="-78"/>
                          <a:cs typeface="Sakkal Majalla" panose="02000000000000000000" pitchFamily="2" charset="-78"/>
                        </a:rPr>
                        <a:t>(UPS)، </a:t>
                      </a:r>
                      <a:r>
                        <a:rPr lang="ar-EG" sz="1600" dirty="0">
                          <a:latin typeface="Sakkal Majalla" panose="02000000000000000000" pitchFamily="2" charset="-78"/>
                          <a:cs typeface="Sakkal Majalla" panose="02000000000000000000" pitchFamily="2" charset="-78"/>
                        </a:rPr>
                        <a:t>ومولدات الطاقة الاحتياطية، الخاصة بمرافق</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مراكز البيانات في الهيئة.</a:t>
                      </a:r>
                      <a:endParaRPr lang="en-US" sz="1600"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rowSpan="8">
                  <a:txBody>
                    <a:bodyPr/>
                    <a:lstStyle/>
                    <a:p>
                      <a:pPr algn="ctr"/>
                      <a:r>
                        <a:rPr lang="ar-SA" sz="2000" b="1" dirty="0">
                          <a:latin typeface="Sakkal Majalla" panose="02000000000000000000" pitchFamily="2" charset="-78"/>
                          <a:cs typeface="Sakkal Majalla" panose="02000000000000000000" pitchFamily="2" charset="-78"/>
                        </a:rPr>
                        <a:t>مرافق مركز البيانات</a:t>
                      </a:r>
                    </a:p>
                    <a:p>
                      <a:pPr algn="ctr"/>
                      <a:r>
                        <a:rPr lang="en-US" sz="1800" b="1" dirty="0">
                          <a:latin typeface="Sakkal Majalla" panose="02000000000000000000" pitchFamily="2" charset="-78"/>
                          <a:cs typeface="Sakkal Majalla" panose="02000000000000000000" pitchFamily="2" charset="-78"/>
                        </a:rPr>
                        <a:t>Data Center Facilities</a:t>
                      </a:r>
                    </a:p>
                  </a:txBody>
                  <a:tcPr anchor="ctr"/>
                </a:tc>
                <a:extLst>
                  <a:ext uri="{0D108BD9-81ED-4DB2-BD59-A6C34878D82A}">
                    <a16:rowId xmlns:a16="http://schemas.microsoft.com/office/drawing/2014/main" val="3816038262"/>
                  </a:ext>
                </a:extLst>
              </a:tr>
              <a:tr h="370840">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وصف 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406762"/>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وصف لمركز البيانات ومخططه الهندسي الذي يوضح</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التوزع المكاني لمكونات ومرافق مركز البيانات .</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kern="1200" dirty="0">
                          <a:solidFill>
                            <a:schemeClr val="dk1"/>
                          </a:solidFill>
                          <a:latin typeface="Sakkal Majalla" panose="02000000000000000000" pitchFamily="2" charset="-78"/>
                          <a:ea typeface="+mn-ea"/>
                          <a:cs typeface="Sakkal Majalla" panose="02000000000000000000" pitchFamily="2" charset="-78"/>
                        </a:rPr>
                        <a:t>مخطط مركز البيانات</a:t>
                      </a:r>
                    </a:p>
                    <a:p>
                      <a:pPr algn="r" rtl="1"/>
                      <a:r>
                        <a:rPr lang="en-US" sz="1400" b="1" kern="1200" dirty="0">
                          <a:solidFill>
                            <a:schemeClr val="dk1"/>
                          </a:solidFill>
                          <a:latin typeface="Sakkal Majalla" panose="02000000000000000000" pitchFamily="2" charset="-78"/>
                          <a:ea typeface="+mn-ea"/>
                          <a:cs typeface="Sakkal Majalla" panose="02000000000000000000" pitchFamily="2" charset="-78"/>
                        </a:rPr>
                        <a:t>( Data Center Layout )</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62487338"/>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خزائن حفظ الخوادم في مركز البيانات والتوصيلات</a:t>
                      </a:r>
                      <a:r>
                        <a:rPr lang="en-US"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الشبكية المتعلقة بها.</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الخزائن والتوصيلات</a:t>
                      </a:r>
                      <a:endParaRPr lang="en-US" sz="1400" b="1" dirty="0">
                        <a:latin typeface="Sakkal Majalla" panose="02000000000000000000" pitchFamily="2" charset="-78"/>
                        <a:cs typeface="Sakkal Majalla" panose="02000000000000000000" pitchFamily="2" charset="-78"/>
                      </a:endParaRPr>
                    </a:p>
                    <a:p>
                      <a:pPr algn="r" rtl="1"/>
                      <a:r>
                        <a:rPr lang="en-US" sz="1400" b="1" dirty="0">
                          <a:latin typeface="Sakkal Majalla" panose="02000000000000000000" pitchFamily="2" charset="-78"/>
                          <a:cs typeface="Sakkal Majalla" panose="02000000000000000000" pitchFamily="2" charset="-78"/>
                        </a:rPr>
                        <a:t>(Cabinets and Cabling)</a:t>
                      </a:r>
                    </a:p>
                  </a:txBody>
                  <a:tcPr anchor="ctr"/>
                </a:tc>
                <a:tc vMerge="1">
                  <a:txBody>
                    <a:bodyPr/>
                    <a:lstStyle/>
                    <a:p>
                      <a:endParaRPr lang="en-US"/>
                    </a:p>
                  </a:txBody>
                  <a:tcPr/>
                </a:tc>
                <a:extLst>
                  <a:ext uri="{0D108BD9-81ED-4DB2-BD59-A6C34878D82A}">
                    <a16:rowId xmlns:a16="http://schemas.microsoft.com/office/drawing/2014/main" val="3657595079"/>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تشمل أنظمة التوزيع والتحكم بالكهرباء والمولد</a:t>
                      </a:r>
                      <a:r>
                        <a:rPr lang="en-US"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الكهربائي الاحتياطي لمركز البيانات وأنظمة تزويد</a:t>
                      </a:r>
                      <a:r>
                        <a:rPr lang="en-US"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الطاقة غير</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المنقطع </a:t>
                      </a:r>
                      <a:r>
                        <a:rPr lang="en-US" sz="1400" kern="1200" dirty="0">
                          <a:solidFill>
                            <a:schemeClr val="dk1"/>
                          </a:solidFill>
                          <a:latin typeface="Sakkal Majalla" panose="02000000000000000000" pitchFamily="2" charset="-78"/>
                          <a:ea typeface="+mn-ea"/>
                          <a:cs typeface="Sakkal Majalla" panose="02000000000000000000" pitchFamily="2" charset="-78"/>
                        </a:rPr>
                        <a:t>UPS</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التزويد الكهربائي</a:t>
                      </a:r>
                    </a:p>
                    <a:p>
                      <a:pPr algn="r" rtl="1"/>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(Power Supply</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80069243"/>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نظم وكاميرات المراقبة وأجهزة التحكم في الدخول</a:t>
                      </a:r>
                      <a:r>
                        <a:rPr lang="en-US"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المادي الى مركز البيانات ومرافقها</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المراقبة والتحكم بالدخول</a:t>
                      </a:r>
                    </a:p>
                    <a:p>
                      <a:pPr algn="r" rtl="1"/>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(Surveillance &amp; Access control</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737399054"/>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أنظمة المراقبة والتحكم بالعوامل البيئية مثل أنظمة</a:t>
                      </a:r>
                      <a:r>
                        <a:rPr lang="en-US"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التكييف وأنظمة مراقبة الرطوبة والحرارة وتسرب</a:t>
                      </a:r>
                      <a:r>
                        <a:rPr lang="en-US"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الماء.</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الضوابط البيئية</a:t>
                      </a:r>
                    </a:p>
                    <a:p>
                      <a:pPr algn="r" rtl="1"/>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(Environmental Controls</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1241646"/>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أنظمة الحماية من الحرائق وتشمل الحساسات</a:t>
                      </a:r>
                      <a:r>
                        <a:rPr lang="en-US"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وأجهزة الإنذار وكذلك معدات إطفاء الحرائق.</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الحماية من الحرائق</a:t>
                      </a:r>
                    </a:p>
                    <a:p>
                      <a:pPr algn="r" rtl="1"/>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(Fire Protection</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61578475"/>
                  </a:ext>
                </a:extLst>
              </a:tr>
            </a:tbl>
          </a:graphicData>
        </a:graphic>
      </p:graphicFrame>
    </p:spTree>
    <p:extLst>
      <p:ext uri="{BB962C8B-B14F-4D97-AF65-F5344CB8AC3E}">
        <p14:creationId xmlns:p14="http://schemas.microsoft.com/office/powerpoint/2010/main" val="30607275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F185-8814-EAFF-208D-67112575C90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D25D0B-71F1-C8ED-C883-683050CA65F4}"/>
              </a:ext>
            </a:extLst>
          </p:cNvPr>
          <p:cNvSpPr>
            <a:spLocks noGrp="1"/>
          </p:cNvSpPr>
          <p:nvPr>
            <p:ph type="sldNum" sz="quarter" idx="12"/>
          </p:nvPr>
        </p:nvSpPr>
        <p:spPr/>
        <p:txBody>
          <a:bodyPr/>
          <a:lstStyle/>
          <a:p>
            <a:fld id="{0BE4EC83-A869-464E-AE9F-881796FB085E}" type="slidenum">
              <a:rPr lang="en-US" smtClean="0"/>
              <a:t>49</a:t>
            </a:fld>
            <a:endParaRPr lang="en-US" dirty="0"/>
          </a:p>
        </p:txBody>
      </p:sp>
      <p:sp>
        <p:nvSpPr>
          <p:cNvPr id="7" name="Title 1">
            <a:extLst>
              <a:ext uri="{FF2B5EF4-FFF2-40B4-BE49-F238E27FC236}">
                <a16:creationId xmlns:a16="http://schemas.microsoft.com/office/drawing/2014/main" id="{ED9A4E2A-CAD2-9CFC-D3E1-FF78999E3AF6}"/>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3200" dirty="0">
                <a:latin typeface="Sakkal Majalla" panose="02000000000000000000" pitchFamily="2" charset="-78"/>
                <a:cs typeface="Sakkal Majalla" panose="02000000000000000000" pitchFamily="2" charset="-78"/>
              </a:rPr>
              <a:t>تفصيل طبقات النموذج المرجعي لبنية التقنية (</a:t>
            </a:r>
            <a:r>
              <a:rPr lang="ar-EG" sz="3200" dirty="0">
                <a:latin typeface="Sakkal Majalla" panose="02000000000000000000" pitchFamily="2" charset="-78"/>
                <a:cs typeface="Sakkal Majalla" panose="02000000000000000000" pitchFamily="2" charset="-78"/>
              </a:rPr>
              <a:t>7/8</a:t>
            </a:r>
            <a:r>
              <a:rPr lang="ar-SA" sz="3200" dirty="0">
                <a:latin typeface="Sakkal Majalla" panose="02000000000000000000" pitchFamily="2" charset="-78"/>
                <a:cs typeface="Sakkal Majalla" panose="02000000000000000000" pitchFamily="2" charset="-78"/>
              </a:rPr>
              <a:t>)</a:t>
            </a:r>
            <a:endParaRPr lang="en-US" dirty="0">
              <a:highlight>
                <a:srgbClr val="FFFF00"/>
              </a:highlight>
            </a:endParaRPr>
          </a:p>
        </p:txBody>
      </p:sp>
      <p:graphicFrame>
        <p:nvGraphicFramePr>
          <p:cNvPr id="4" name="Table 3">
            <a:extLst>
              <a:ext uri="{FF2B5EF4-FFF2-40B4-BE49-F238E27FC236}">
                <a16:creationId xmlns:a16="http://schemas.microsoft.com/office/drawing/2014/main" id="{E9C2E82E-DD0A-54C4-0940-88C4AD274B9A}"/>
              </a:ext>
            </a:extLst>
          </p:cNvPr>
          <p:cNvGraphicFramePr>
            <a:graphicFrameLocks noGrp="1"/>
          </p:cNvGraphicFramePr>
          <p:nvPr>
            <p:extLst>
              <p:ext uri="{D42A27DB-BD31-4B8C-83A1-F6EECF244321}">
                <p14:modId xmlns:p14="http://schemas.microsoft.com/office/powerpoint/2010/main" val="3639367908"/>
              </p:ext>
            </p:extLst>
          </p:nvPr>
        </p:nvGraphicFramePr>
        <p:xfrm>
          <a:off x="268929" y="971566"/>
          <a:ext cx="11746657" cy="5826760"/>
        </p:xfrm>
        <a:graphic>
          <a:graphicData uri="http://schemas.openxmlformats.org/drawingml/2006/table">
            <a:tbl>
              <a:tblPr firstRow="1" bandRow="1">
                <a:tableStyleId>{5C22544A-7EE6-4342-B048-85BDC9FD1C3A}</a:tableStyleId>
              </a:tblPr>
              <a:tblGrid>
                <a:gridCol w="6209911">
                  <a:extLst>
                    <a:ext uri="{9D8B030D-6E8A-4147-A177-3AD203B41FA5}">
                      <a16:colId xmlns:a16="http://schemas.microsoft.com/office/drawing/2014/main" val="3834542369"/>
                    </a:ext>
                  </a:extLst>
                </a:gridCol>
                <a:gridCol w="3226055">
                  <a:extLst>
                    <a:ext uri="{9D8B030D-6E8A-4147-A177-3AD203B41FA5}">
                      <a16:colId xmlns:a16="http://schemas.microsoft.com/office/drawing/2014/main" val="3074006688"/>
                    </a:ext>
                  </a:extLst>
                </a:gridCol>
                <a:gridCol w="2310691">
                  <a:extLst>
                    <a:ext uri="{9D8B030D-6E8A-4147-A177-3AD203B41FA5}">
                      <a16:colId xmlns:a16="http://schemas.microsoft.com/office/drawing/2014/main" val="3462297521"/>
                    </a:ext>
                  </a:extLst>
                </a:gridCol>
              </a:tblGrid>
              <a:tr h="370840">
                <a:tc gridSpan="2">
                  <a:txBody>
                    <a:bodyPr/>
                    <a:lstStyle/>
                    <a:p>
                      <a:pPr algn="ctr"/>
                      <a:r>
                        <a:rPr lang="ar-SA" dirty="0">
                          <a:latin typeface="Sakkal Majalla" panose="02000000000000000000" pitchFamily="2" charset="-78"/>
                          <a:cs typeface="Sakkal Majalla" panose="02000000000000000000" pitchFamily="2" charset="-78"/>
                        </a:rPr>
                        <a:t>وصف الطبقة</a:t>
                      </a:r>
                      <a:endParaRPr lang="en-US"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a:txBody>
                    <a:bodyPr/>
                    <a:lstStyle/>
                    <a:p>
                      <a:pPr algn="ctr"/>
                      <a:r>
                        <a:rPr lang="ar-SA" dirty="0">
                          <a:latin typeface="Sakkal Majalla" panose="02000000000000000000" pitchFamily="2" charset="-78"/>
                          <a:cs typeface="Sakkal Majalla" panose="02000000000000000000" pitchFamily="2" charset="-78"/>
                        </a:rPr>
                        <a:t>الطبقة</a:t>
                      </a:r>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9475502"/>
                  </a:ext>
                </a:extLst>
              </a:tr>
              <a:tr h="0">
                <a:tc gridSpan="2">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تشمل الأدوات والبرمجيات المستخدمة لإدارة ومراقبة وصيانة بنية التقنية</a:t>
                      </a:r>
                      <a:r>
                        <a:rPr lang="ar-SA" sz="1600" dirty="0">
                          <a:latin typeface="Sakkal Majalla" panose="02000000000000000000" pitchFamily="2" charset="-78"/>
                          <a:cs typeface="Sakkal Majalla" panose="02000000000000000000" pitchFamily="2" charset="-78"/>
                        </a:rPr>
                        <a:t> والأمن</a:t>
                      </a:r>
                      <a:r>
                        <a:rPr lang="ar-EG" sz="1600" dirty="0">
                          <a:latin typeface="Sakkal Majalla" panose="02000000000000000000" pitchFamily="2" charset="-78"/>
                          <a:cs typeface="Sakkal Majalla" panose="02000000000000000000" pitchFamily="2" charset="-78"/>
                        </a:rPr>
                        <a:t>. تشمل</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ذلك أدوات إدارة الأنظمة وبرامج مراقبة الشبكات وأدوات مراقبة الأداء والتوافرية وأدوات إدارة التكوين وحلول إدارة</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السعات وغيرها من التطبيقات المتعلقة بالإدارة والمراقبة. تعتبر هذه ا لأدوات أساسية لضمان صحة وأمان وكفاءة</a:t>
                      </a:r>
                      <a:r>
                        <a:rPr lang="ar-SA" sz="1600" dirty="0">
                          <a:latin typeface="Sakkal Majalla" panose="02000000000000000000" pitchFamily="2" charset="-78"/>
                          <a:cs typeface="Sakkal Majalla" panose="02000000000000000000" pitchFamily="2" charset="-78"/>
                        </a:rPr>
                        <a:t> ال</a:t>
                      </a:r>
                      <a:r>
                        <a:rPr lang="ar-EG" sz="1600" dirty="0">
                          <a:latin typeface="Sakkal Majalla" panose="02000000000000000000" pitchFamily="2" charset="-78"/>
                          <a:cs typeface="Sakkal Majalla" panose="02000000000000000000" pitchFamily="2" charset="-78"/>
                        </a:rPr>
                        <a:t>بيئة</a:t>
                      </a:r>
                      <a:r>
                        <a:rPr lang="ar-SA" sz="1600" dirty="0">
                          <a:latin typeface="Sakkal Majalla" panose="02000000000000000000" pitchFamily="2" charset="-78"/>
                          <a:cs typeface="Sakkal Majalla" panose="02000000000000000000" pitchFamily="2" charset="-78"/>
                        </a:rPr>
                        <a:t> </a:t>
                      </a:r>
                      <a:r>
                        <a:rPr lang="ar-EG" sz="1600" dirty="0">
                          <a:latin typeface="Sakkal Majalla" panose="02000000000000000000" pitchFamily="2" charset="-78"/>
                          <a:cs typeface="Sakkal Majalla" panose="02000000000000000000" pitchFamily="2" charset="-78"/>
                        </a:rPr>
                        <a:t>التقنية</a:t>
                      </a:r>
                      <a:r>
                        <a:rPr lang="ar-SA" sz="1600" dirty="0">
                          <a:latin typeface="Sakkal Majalla" panose="02000000000000000000" pitchFamily="2" charset="-78"/>
                          <a:cs typeface="Sakkal Majalla" panose="02000000000000000000" pitchFamily="2" charset="-78"/>
                        </a:rPr>
                        <a:t> والأمنية</a:t>
                      </a:r>
                      <a:r>
                        <a:rPr lang="ar-EG" sz="1600" dirty="0">
                          <a:latin typeface="Sakkal Majalla" panose="02000000000000000000" pitchFamily="2" charset="-78"/>
                          <a:cs typeface="Sakkal Majalla" panose="02000000000000000000" pitchFamily="2" charset="-78"/>
                        </a:rPr>
                        <a:t> في الهيئة وللكشف عن المشكلات وحلها بشكل فعّال</a:t>
                      </a:r>
                      <a:endParaRPr lang="en-US" sz="1600"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rowSpan="9">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altLang="en-US" sz="2000" b="1" kern="1200" dirty="0">
                          <a:solidFill>
                            <a:schemeClr val="dk1"/>
                          </a:solidFill>
                          <a:latin typeface="Sakkal Majalla" panose="02000000000000000000" pitchFamily="2" charset="-78"/>
                          <a:ea typeface="+mn-ea"/>
                          <a:cs typeface="Sakkal Majalla" panose="02000000000000000000" pitchFamily="2" charset="-78"/>
                        </a:rPr>
                        <a:t>إدارة البنية التحتية ومراقبتها</a:t>
                      </a:r>
                    </a:p>
                    <a:p>
                      <a:pPr algn="ctr"/>
                      <a:endParaRPr lang="ar-SA" sz="2000" b="1" dirty="0">
                        <a:latin typeface="Sakkal Majalla" panose="02000000000000000000" pitchFamily="2" charset="-78"/>
                        <a:cs typeface="Sakkal Majalla" panose="02000000000000000000" pitchFamily="2" charset="-78"/>
                      </a:endParaRPr>
                    </a:p>
                    <a:p>
                      <a:pPr algn="ctr"/>
                      <a:r>
                        <a:rPr lang="en-US" sz="1800" b="1" dirty="0">
                          <a:latin typeface="Sakkal Majalla" panose="02000000000000000000" pitchFamily="2" charset="-78"/>
                          <a:cs typeface="Sakkal Majalla" panose="02000000000000000000" pitchFamily="2" charset="-78"/>
                        </a:rPr>
                        <a:t>Infrastructure Management &amp; Monitoring</a:t>
                      </a:r>
                    </a:p>
                  </a:txBody>
                  <a:tcPr anchor="ctr"/>
                </a:tc>
                <a:extLst>
                  <a:ext uri="{0D108BD9-81ED-4DB2-BD59-A6C34878D82A}">
                    <a16:rowId xmlns:a16="http://schemas.microsoft.com/office/drawing/2014/main" val="3816038262"/>
                  </a:ext>
                </a:extLst>
              </a:tr>
              <a:tr h="211192">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وصف 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406762"/>
                  </a:ext>
                </a:extLst>
              </a:tr>
              <a:tr h="193412">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من خلال مراقبة حركة مرور الشبكة والمقاييس الأخرى، يمكن لأدوات مراقبة البنية التحتية التعرف على الاختناقات التي تؤثر على أداء الشبكة. يمكن أن تساعد هذه المعلومات فرق الشبكة في تحديد السبب الجذري للمشكلات واتخاذ الإجراءات التصحيحية قبل أن تؤثر على المستخدمين النهائيين. </a:t>
                      </a:r>
                    </a:p>
                  </a:txBody>
                  <a:tcPr anchor="ctr"/>
                </a:tc>
                <a:tc>
                  <a:txBody>
                    <a:bodyPr/>
                    <a:lstStyle/>
                    <a:p>
                      <a:pPr algn="r" rtl="1"/>
                      <a:r>
                        <a:rPr lang="ar-EG" sz="1400" b="1" kern="1200" dirty="0">
                          <a:solidFill>
                            <a:schemeClr val="dk1"/>
                          </a:solidFill>
                          <a:latin typeface="Sakkal Majalla" panose="02000000000000000000" pitchFamily="2" charset="-78"/>
                          <a:ea typeface="+mn-ea"/>
                          <a:cs typeface="Sakkal Majalla" panose="02000000000000000000" pitchFamily="2" charset="-78"/>
                        </a:rPr>
                        <a:t>مراقبة أداء وتوافرية البنية التحتية</a:t>
                      </a:r>
                      <a:endParaRPr lang="ar-SA" sz="1400" b="1" kern="1200" dirty="0">
                        <a:solidFill>
                          <a:schemeClr val="dk1"/>
                        </a:solidFill>
                        <a:latin typeface="Sakkal Majalla" panose="02000000000000000000" pitchFamily="2" charset="-78"/>
                        <a:ea typeface="+mn-ea"/>
                        <a:cs typeface="Sakkal Majalla" panose="02000000000000000000" pitchFamily="2" charset="-78"/>
                      </a:endParaRPr>
                    </a:p>
                    <a:p>
                      <a:pPr algn="r" rtl="1"/>
                      <a:r>
                        <a:rPr lang="ar-SA" sz="1400" b="1" kern="1200" dirty="0">
                          <a:solidFill>
                            <a:schemeClr val="dk1"/>
                          </a:solidFill>
                          <a:latin typeface="Sakkal Majalla" panose="02000000000000000000" pitchFamily="2" charset="-78"/>
                          <a:ea typeface="+mn-ea"/>
                          <a:cs typeface="Sakkal Majalla" panose="02000000000000000000" pitchFamily="2" charset="-78"/>
                        </a:rPr>
                        <a:t> </a:t>
                      </a:r>
                      <a:r>
                        <a:rPr lang="en-US" sz="1400" b="1" kern="1200" dirty="0">
                          <a:solidFill>
                            <a:schemeClr val="dk1"/>
                          </a:solidFill>
                          <a:latin typeface="Sakkal Majalla" panose="02000000000000000000" pitchFamily="2" charset="-78"/>
                          <a:ea typeface="+mn-ea"/>
                          <a:cs typeface="Sakkal Majalla" panose="02000000000000000000" pitchFamily="2" charset="-78"/>
                        </a:rPr>
                        <a:t>(Infrastructure Performance &amp; Availability Monitoring)</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62487338"/>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مراقبة أداء التطبيقات </a:t>
                      </a:r>
                      <a:r>
                        <a:rPr lang="en-US" sz="1400" kern="1200" dirty="0">
                          <a:solidFill>
                            <a:schemeClr val="dk1"/>
                          </a:solidFill>
                          <a:latin typeface="Sakkal Majalla" panose="02000000000000000000" pitchFamily="2" charset="-78"/>
                          <a:ea typeface="+mn-ea"/>
                          <a:cs typeface="Sakkal Majalla" panose="02000000000000000000" pitchFamily="2" charset="-78"/>
                        </a:rPr>
                        <a:t>(APM)</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هي مجموعة من الأدوات والعمليات المصممة لمساعدة متخصصي </a:t>
                      </a:r>
                      <a:r>
                        <a:rPr lang="ar-SA" sz="1400" kern="1200" dirty="0">
                          <a:solidFill>
                            <a:schemeClr val="dk1"/>
                          </a:solidFill>
                          <a:latin typeface="Sakkal Majalla" panose="02000000000000000000" pitchFamily="2" charset="-78"/>
                          <a:ea typeface="+mn-ea"/>
                          <a:cs typeface="Sakkal Majalla" panose="02000000000000000000" pitchFamily="2" charset="-78"/>
                        </a:rPr>
                        <a:t>تقنية</a:t>
                      </a:r>
                      <a:r>
                        <a:rPr lang="ar-EG" sz="1400" kern="1200" dirty="0">
                          <a:solidFill>
                            <a:schemeClr val="dk1"/>
                          </a:solidFill>
                          <a:latin typeface="Sakkal Majalla" panose="02000000000000000000" pitchFamily="2" charset="-78"/>
                          <a:ea typeface="+mn-ea"/>
                          <a:cs typeface="Sakkal Majalla" panose="02000000000000000000" pitchFamily="2" charset="-78"/>
                        </a:rPr>
                        <a:t> المعلومات على ضمان أن تطبيقات </a:t>
                      </a:r>
                      <a:r>
                        <a:rPr lang="ar-EG" sz="1400" dirty="0">
                          <a:latin typeface="Sakkal Majalla" panose="02000000000000000000" pitchFamily="2" charset="-78"/>
                          <a:cs typeface="Sakkal Majalla" panose="02000000000000000000" pitchFamily="2" charset="-78"/>
                        </a:rPr>
                        <a:t>الهيئة</a:t>
                      </a:r>
                      <a:r>
                        <a:rPr lang="ar-EG" sz="1400" kern="1200" dirty="0">
                          <a:solidFill>
                            <a:schemeClr val="dk1"/>
                          </a:solidFill>
                          <a:latin typeface="Sakkal Majalla" panose="02000000000000000000" pitchFamily="2" charset="-78"/>
                          <a:ea typeface="+mn-ea"/>
                          <a:cs typeface="Sakkal Majalla" panose="02000000000000000000" pitchFamily="2" charset="-78"/>
                        </a:rPr>
                        <a:t> تلبي الأداء والموثوقية وتجربة المستخدم القيمة</a:t>
                      </a:r>
                      <a:r>
                        <a:rPr lang="en-US" sz="1400" kern="1200" dirty="0">
                          <a:solidFill>
                            <a:schemeClr val="dk1"/>
                          </a:solidFill>
                          <a:latin typeface="Sakkal Majalla" panose="02000000000000000000" pitchFamily="2" charset="-78"/>
                          <a:ea typeface="+mn-ea"/>
                          <a:cs typeface="Sakkal Majalla" panose="02000000000000000000" pitchFamily="2" charset="-78"/>
                        </a:rPr>
                        <a:t>(UX)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يتطلبها الموظفون والشركاء والعملاء.</a:t>
                      </a:r>
                      <a:endParaRPr lang="en-US"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مراقبة أداء التطبيقات</a:t>
                      </a:r>
                      <a:r>
                        <a:rPr lang="ar-SA" sz="1400" b="1" dirty="0">
                          <a:latin typeface="Sakkal Majalla" panose="02000000000000000000" pitchFamily="2" charset="-78"/>
                          <a:cs typeface="Sakkal Majalla" panose="02000000000000000000" pitchFamily="2" charset="-78"/>
                        </a:rPr>
                        <a:t> </a:t>
                      </a:r>
                      <a:r>
                        <a:rPr lang="en-US" sz="1300" b="1" dirty="0">
                          <a:latin typeface="Sakkal Majalla" panose="02000000000000000000" pitchFamily="2" charset="-78"/>
                          <a:cs typeface="Sakkal Majalla" panose="02000000000000000000" pitchFamily="2" charset="-78"/>
                        </a:rPr>
                        <a:t>(Application Performance  Monitoring)</a:t>
                      </a:r>
                    </a:p>
                  </a:txBody>
                  <a:tcPr anchor="ctr"/>
                </a:tc>
                <a:tc vMerge="1">
                  <a:txBody>
                    <a:bodyPr/>
                    <a:lstStyle/>
                    <a:p>
                      <a:endParaRPr lang="en-US"/>
                    </a:p>
                  </a:txBody>
                  <a:tcPr/>
                </a:tc>
                <a:extLst>
                  <a:ext uri="{0D108BD9-81ED-4DB2-BD59-A6C34878D82A}">
                    <a16:rowId xmlns:a16="http://schemas.microsoft.com/office/drawing/2014/main" val="3657595079"/>
                  </a:ext>
                </a:extLst>
              </a:tr>
              <a:tr h="216907">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يشير إلى عملية التعامل بشكل منهجي مع التغييرات في النظام بطريقة تحافظ على سلامته مع مرور الوقت</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إدارة تكوين الخوادم</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(Servers Configuration Management</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80069243"/>
                  </a:ext>
                </a:extLst>
              </a:tr>
              <a:tr h="178807">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إدارة </a:t>
                      </a:r>
                      <a:r>
                        <a:rPr lang="ar-SA" sz="1400" kern="1200" dirty="0">
                          <a:solidFill>
                            <a:schemeClr val="dk1"/>
                          </a:solidFill>
                          <a:latin typeface="Sakkal Majalla" panose="02000000000000000000" pitchFamily="2" charset="-78"/>
                          <a:ea typeface="+mn-ea"/>
                          <a:cs typeface="Sakkal Majalla" panose="02000000000000000000" pitchFamily="2" charset="-78"/>
                        </a:rPr>
                        <a:t>التحديثات</a:t>
                      </a:r>
                      <a:r>
                        <a:rPr lang="ar-EG" sz="1400" kern="1200" dirty="0">
                          <a:solidFill>
                            <a:schemeClr val="dk1"/>
                          </a:solidFill>
                          <a:latin typeface="Sakkal Majalla" panose="02000000000000000000" pitchFamily="2" charset="-78"/>
                          <a:ea typeface="+mn-ea"/>
                          <a:cs typeface="Sakkal Majalla" panose="02000000000000000000" pitchFamily="2" charset="-78"/>
                        </a:rPr>
                        <a:t> هي عملية تحديد ونشر تحديثات البرامج، أو "التصحيحات"، إلى مجموعة متنوعة من نقاط النهاية، بما في ذلك أجهزة الحاسوب والأجهزة المحمولة والخوادم. "التصحيح" هو تغيير محدد أو مجموعة من التحديثات التي يقدمها مطورو البرامج لإصلاح الثغرات الأمنية المعروفة أو المشكلات الفنية. </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إدارة تحديثات وتكوينات نقاط النهاية</a:t>
                      </a:r>
                      <a:endParaRPr lang="ar-SA" sz="1400" b="1" dirty="0">
                        <a:latin typeface="Sakkal Majalla" panose="02000000000000000000" pitchFamily="2" charset="-78"/>
                        <a:cs typeface="Sakkal Majalla" panose="02000000000000000000" pitchFamily="2" charset="-78"/>
                      </a:endParaRPr>
                    </a:p>
                    <a:p>
                      <a:pPr algn="r" rtl="1"/>
                      <a:r>
                        <a:rPr lang="ar-SA" sz="1400" b="1" dirty="0">
                          <a:latin typeface="Sakkal Majalla" panose="02000000000000000000" pitchFamily="2" charset="-78"/>
                          <a:cs typeface="Sakkal Majalla" panose="02000000000000000000" pitchFamily="2" charset="-78"/>
                        </a:rPr>
                        <a:t> </a:t>
                      </a:r>
                      <a:r>
                        <a:rPr lang="ar-EG" sz="1400" b="1" kern="1200" dirty="0">
                          <a:solidFill>
                            <a:schemeClr val="dk1"/>
                          </a:solidFill>
                          <a:latin typeface="Sakkal Majalla" panose="02000000000000000000" pitchFamily="2" charset="-78"/>
                          <a:ea typeface="+mn-ea"/>
                          <a:cs typeface="Sakkal Majalla" panose="02000000000000000000" pitchFamily="2" charset="-78"/>
                        </a:rPr>
                        <a:t>( </a:t>
                      </a:r>
                      <a:r>
                        <a:rPr lang="en-US" sz="1400" b="1" kern="1200" dirty="0">
                          <a:solidFill>
                            <a:schemeClr val="dk1"/>
                          </a:solidFill>
                          <a:latin typeface="Sakkal Majalla" panose="02000000000000000000" pitchFamily="2" charset="-78"/>
                          <a:ea typeface="+mn-ea"/>
                          <a:cs typeface="Sakkal Majalla" panose="02000000000000000000" pitchFamily="2" charset="-78"/>
                        </a:rPr>
                        <a:t>(Endpoints Patches &amp; Configuration Management</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1241646"/>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مركز عمليات الشبكة </a:t>
                      </a:r>
                      <a:r>
                        <a:rPr lang="en-US" sz="1400" kern="1200" dirty="0">
                          <a:solidFill>
                            <a:schemeClr val="dk1"/>
                          </a:solidFill>
                          <a:latin typeface="Sakkal Majalla" panose="02000000000000000000" pitchFamily="2" charset="-78"/>
                          <a:ea typeface="+mn-ea"/>
                          <a:cs typeface="Sakkal Majalla" panose="02000000000000000000" pitchFamily="2" charset="-78"/>
                        </a:rPr>
                        <a:t>(NOC) </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هو موقع مركزي حيث يمكن </a:t>
                      </a:r>
                      <a:r>
                        <a:rPr lang="ar-EG" sz="1400" kern="1200">
                          <a:solidFill>
                            <a:schemeClr val="dk1"/>
                          </a:solidFill>
                          <a:latin typeface="Sakkal Majalla" panose="02000000000000000000" pitchFamily="2" charset="-78"/>
                          <a:ea typeface="+mn-ea"/>
                          <a:cs typeface="Sakkal Majalla" panose="02000000000000000000" pitchFamily="2" charset="-78"/>
                        </a:rPr>
                        <a:t>لفرق تقنية </a:t>
                      </a:r>
                      <a:r>
                        <a:rPr lang="ar-EG" sz="1400" kern="1200" dirty="0">
                          <a:solidFill>
                            <a:schemeClr val="dk1"/>
                          </a:solidFill>
                          <a:latin typeface="Sakkal Majalla" panose="02000000000000000000" pitchFamily="2" charset="-78"/>
                          <a:ea typeface="+mn-ea"/>
                          <a:cs typeface="Sakkal Majalla" panose="02000000000000000000" pitchFamily="2" charset="-78"/>
                        </a:rPr>
                        <a:t>المعلومات مراقبة أداء الشبكة وسلامتها بشكل مستمر</a:t>
                      </a:r>
                      <a:r>
                        <a:rPr lang="ar-SA" sz="1400" kern="1200" dirty="0">
                          <a:solidFill>
                            <a:schemeClr val="dk1"/>
                          </a:solidFill>
                          <a:latin typeface="Sakkal Majalla" panose="02000000000000000000" pitchFamily="2" charset="-78"/>
                          <a:ea typeface="+mn-ea"/>
                          <a:cs typeface="Sakkal Majalla" panose="02000000000000000000" pitchFamily="2" charset="-78"/>
                        </a:rPr>
                        <a:t> ويعتبر </a:t>
                      </a:r>
                      <a:r>
                        <a:rPr lang="ar-EG" sz="1400" kern="1200" dirty="0">
                          <a:solidFill>
                            <a:schemeClr val="dk1"/>
                          </a:solidFill>
                          <a:latin typeface="Sakkal Majalla" panose="02000000000000000000" pitchFamily="2" charset="-78"/>
                          <a:ea typeface="+mn-ea"/>
                          <a:cs typeface="Sakkal Majalla" panose="02000000000000000000" pitchFamily="2" charset="-78"/>
                        </a:rPr>
                        <a:t>كخط دفاع أول ضد انقطاع الشبكة وفشلها. </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مركز عمليات الشبكة</a:t>
                      </a:r>
                      <a:r>
                        <a:rPr lang="ar-SA" sz="1400" b="1" dirty="0">
                          <a:latin typeface="Sakkal Majalla" panose="02000000000000000000" pitchFamily="2" charset="-78"/>
                          <a:cs typeface="Sakkal Majalla" panose="02000000000000000000" pitchFamily="2" charset="-78"/>
                        </a:rPr>
                        <a:t> </a:t>
                      </a:r>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(Network Operation Center</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761578475"/>
                  </a:ext>
                </a:extLst>
              </a:tr>
              <a:tr h="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عادةً ما تتم إدارة مراكز البيانات بواسطة فريق أو مدير مركز بيانات واحد، وتتمثل مسؤوليته في الحفاظ على تشغيل كل شيء بكامل طاقته وتحسينه للسماح للقوى العاملة بالوصول إلى أعباء العمل ذات المهام الحرجة وحلول الوصول إلى السحابة.</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إدارة مرافق مركز البيانات</a:t>
                      </a:r>
                      <a:r>
                        <a:rPr lang="ar-SA" sz="1400" b="1" dirty="0">
                          <a:latin typeface="Sakkal Majalla" panose="02000000000000000000" pitchFamily="2" charset="-78"/>
                          <a:cs typeface="Sakkal Majalla" panose="02000000000000000000" pitchFamily="2" charset="-78"/>
                        </a:rPr>
                        <a:t> </a:t>
                      </a:r>
                      <a:r>
                        <a:rPr lang="ar-EG" sz="1200" b="1" dirty="0">
                          <a:latin typeface="Sakkal Majalla" panose="02000000000000000000" pitchFamily="2" charset="-78"/>
                          <a:cs typeface="Sakkal Majalla" panose="02000000000000000000" pitchFamily="2" charset="-78"/>
                        </a:rPr>
                        <a:t>( </a:t>
                      </a:r>
                      <a:r>
                        <a:rPr lang="en-US" sz="1200" b="1" dirty="0">
                          <a:latin typeface="Sakkal Majalla" panose="02000000000000000000" pitchFamily="2" charset="-78"/>
                          <a:cs typeface="Sakkal Majalla" panose="02000000000000000000" pitchFamily="2" charset="-78"/>
                        </a:rPr>
                        <a:t>(Data Center Facilities Management</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4137844761"/>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يعتمد التعافي من الكوارث على تكرار البيانات ومعالجة الحاسوب في موقع خارج مقر العمل غير متأثر بالكارثة. عندما تتعطل الخوادم بسبب كارثة طبيعية أو عطل في المعدات أو هجوم إلكتروني، تحتاج </a:t>
                      </a:r>
                      <a:r>
                        <a:rPr lang="ar-EG" sz="1400" dirty="0">
                          <a:latin typeface="Sakkal Majalla" panose="02000000000000000000" pitchFamily="2" charset="-78"/>
                          <a:cs typeface="Sakkal Majalla" panose="02000000000000000000" pitchFamily="2" charset="-78"/>
                        </a:rPr>
                        <a:t>الهيئة</a:t>
                      </a:r>
                      <a:r>
                        <a:rPr lang="ar-EG" sz="1400" kern="1200" dirty="0">
                          <a:solidFill>
                            <a:schemeClr val="dk1"/>
                          </a:solidFill>
                          <a:latin typeface="Sakkal Majalla" panose="02000000000000000000" pitchFamily="2" charset="-78"/>
                          <a:ea typeface="+mn-ea"/>
                          <a:cs typeface="Sakkal Majalla" panose="02000000000000000000" pitchFamily="2" charset="-78"/>
                        </a:rPr>
                        <a:t> إلى استعادة البيانات المفقودة من موقع ثانٍ حيث يتم نسخ البيانات احتياطيًا.</a:t>
                      </a:r>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altLang="en-US" sz="1400" b="1" kern="1200" dirty="0">
                          <a:solidFill>
                            <a:schemeClr val="dk1"/>
                          </a:solidFill>
                          <a:latin typeface="Sakkal Majalla" panose="02000000000000000000" pitchFamily="2" charset="-78"/>
                          <a:ea typeface="+mn-ea"/>
                          <a:cs typeface="Sakkal Majalla" panose="02000000000000000000" pitchFamily="2" charset="-78"/>
                        </a:rPr>
                        <a:t>إدارة التعافي من الكوارث </a:t>
                      </a:r>
                      <a:r>
                        <a:rPr lang="en-US" altLang="en-US" sz="1400" b="1" kern="1200" dirty="0">
                          <a:solidFill>
                            <a:schemeClr val="dk1"/>
                          </a:solidFill>
                          <a:latin typeface="Sakkal Majalla" panose="02000000000000000000" pitchFamily="2" charset="-78"/>
                          <a:ea typeface="+mn-ea"/>
                          <a:cs typeface="Sakkal Majalla" panose="02000000000000000000" pitchFamily="2" charset="-78"/>
                        </a:rPr>
                        <a:t>(Disaster Recovery Management)</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072939448"/>
                  </a:ext>
                </a:extLst>
              </a:tr>
            </a:tbl>
          </a:graphicData>
        </a:graphic>
      </p:graphicFrame>
    </p:spTree>
    <p:extLst>
      <p:ext uri="{BB962C8B-B14F-4D97-AF65-F5344CB8AC3E}">
        <p14:creationId xmlns:p14="http://schemas.microsoft.com/office/powerpoint/2010/main" val="286379625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A3CA5-1DAE-2583-704E-25148DA39CF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90304B-1CD6-4D20-4C37-E4BE38473DEA}"/>
              </a:ext>
            </a:extLst>
          </p:cNvPr>
          <p:cNvSpPr>
            <a:spLocks noGrp="1"/>
          </p:cNvSpPr>
          <p:nvPr>
            <p:ph type="sldNum" sz="quarter" idx="12"/>
          </p:nvPr>
        </p:nvSpPr>
        <p:spPr/>
        <p:txBody>
          <a:bodyPr/>
          <a:lstStyle/>
          <a:p>
            <a:fld id="{0BE4EC83-A869-464E-AE9F-881796FB085E}" type="slidenum">
              <a:rPr lang="en-US" smtClean="0"/>
              <a:t>50</a:t>
            </a:fld>
            <a:endParaRPr lang="en-US" dirty="0"/>
          </a:p>
        </p:txBody>
      </p:sp>
      <p:sp>
        <p:nvSpPr>
          <p:cNvPr id="7" name="Title 1">
            <a:extLst>
              <a:ext uri="{FF2B5EF4-FFF2-40B4-BE49-F238E27FC236}">
                <a16:creationId xmlns:a16="http://schemas.microsoft.com/office/drawing/2014/main" id="{F04040DE-A64B-187B-3023-A8C5284A1A2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3200" dirty="0">
                <a:latin typeface="Sakkal Majalla" panose="02000000000000000000" pitchFamily="2" charset="-78"/>
                <a:cs typeface="Sakkal Majalla" panose="02000000000000000000" pitchFamily="2" charset="-78"/>
              </a:rPr>
              <a:t>تفصيل طبقات النموذج المرجعي لبنية التقنية (</a:t>
            </a:r>
            <a:r>
              <a:rPr lang="ar-EG" sz="3200" dirty="0">
                <a:latin typeface="Sakkal Majalla" panose="02000000000000000000" pitchFamily="2" charset="-78"/>
                <a:cs typeface="Sakkal Majalla" panose="02000000000000000000" pitchFamily="2" charset="-78"/>
              </a:rPr>
              <a:t>8/8</a:t>
            </a:r>
            <a:r>
              <a:rPr lang="ar-SA" sz="3200" dirty="0">
                <a:latin typeface="Sakkal Majalla" panose="02000000000000000000" pitchFamily="2" charset="-78"/>
                <a:cs typeface="Sakkal Majalla" panose="02000000000000000000" pitchFamily="2" charset="-78"/>
              </a:rPr>
              <a:t>)</a:t>
            </a:r>
            <a:endParaRPr lang="en-US" dirty="0">
              <a:highlight>
                <a:srgbClr val="FFFF00"/>
              </a:highlight>
            </a:endParaRPr>
          </a:p>
        </p:txBody>
      </p:sp>
      <p:graphicFrame>
        <p:nvGraphicFramePr>
          <p:cNvPr id="4" name="Table 3">
            <a:extLst>
              <a:ext uri="{FF2B5EF4-FFF2-40B4-BE49-F238E27FC236}">
                <a16:creationId xmlns:a16="http://schemas.microsoft.com/office/drawing/2014/main" id="{1DC0C72C-14D3-5747-7061-92E47E9824D3}"/>
              </a:ext>
            </a:extLst>
          </p:cNvPr>
          <p:cNvGraphicFramePr>
            <a:graphicFrameLocks noGrp="1"/>
          </p:cNvGraphicFramePr>
          <p:nvPr>
            <p:extLst>
              <p:ext uri="{D42A27DB-BD31-4B8C-83A1-F6EECF244321}">
                <p14:modId xmlns:p14="http://schemas.microsoft.com/office/powerpoint/2010/main" val="1123823798"/>
              </p:ext>
            </p:extLst>
          </p:nvPr>
        </p:nvGraphicFramePr>
        <p:xfrm>
          <a:off x="305383" y="982970"/>
          <a:ext cx="11581233" cy="4973320"/>
        </p:xfrm>
        <a:graphic>
          <a:graphicData uri="http://schemas.openxmlformats.org/drawingml/2006/table">
            <a:tbl>
              <a:tblPr firstRow="1" bandRow="1">
                <a:tableStyleId>{5C22544A-7EE6-4342-B048-85BDC9FD1C3A}</a:tableStyleId>
              </a:tblPr>
              <a:tblGrid>
                <a:gridCol w="6438123">
                  <a:extLst>
                    <a:ext uri="{9D8B030D-6E8A-4147-A177-3AD203B41FA5}">
                      <a16:colId xmlns:a16="http://schemas.microsoft.com/office/drawing/2014/main" val="3834542369"/>
                    </a:ext>
                  </a:extLst>
                </a:gridCol>
                <a:gridCol w="2815273">
                  <a:extLst>
                    <a:ext uri="{9D8B030D-6E8A-4147-A177-3AD203B41FA5}">
                      <a16:colId xmlns:a16="http://schemas.microsoft.com/office/drawing/2014/main" val="3074006688"/>
                    </a:ext>
                  </a:extLst>
                </a:gridCol>
                <a:gridCol w="2327837">
                  <a:extLst>
                    <a:ext uri="{9D8B030D-6E8A-4147-A177-3AD203B41FA5}">
                      <a16:colId xmlns:a16="http://schemas.microsoft.com/office/drawing/2014/main" val="3462297521"/>
                    </a:ext>
                  </a:extLst>
                </a:gridCol>
              </a:tblGrid>
              <a:tr h="370840">
                <a:tc gridSpan="2">
                  <a:txBody>
                    <a:bodyPr/>
                    <a:lstStyle/>
                    <a:p>
                      <a:pPr algn="ctr"/>
                      <a:r>
                        <a:rPr lang="ar-SA" dirty="0">
                          <a:latin typeface="Sakkal Majalla" panose="02000000000000000000" pitchFamily="2" charset="-78"/>
                          <a:cs typeface="Sakkal Majalla" panose="02000000000000000000" pitchFamily="2" charset="-78"/>
                        </a:rPr>
                        <a:t>وصف الطبقة</a:t>
                      </a:r>
                      <a:endParaRPr lang="en-US" dirty="0">
                        <a:latin typeface="Sakkal Majalla" panose="02000000000000000000" pitchFamily="2" charset="-78"/>
                        <a:cs typeface="Sakkal Majalla" panose="02000000000000000000" pitchFamily="2" charset="-78"/>
                      </a:endParaRPr>
                    </a:p>
                  </a:txBody>
                  <a:tcPr/>
                </a:tc>
                <a:tc hMerge="1">
                  <a:txBody>
                    <a:bodyPr/>
                    <a:lstStyle/>
                    <a:p>
                      <a:endParaRPr lang="en-US"/>
                    </a:p>
                  </a:txBody>
                  <a:tcPr/>
                </a:tc>
                <a:tc>
                  <a:txBody>
                    <a:bodyPr/>
                    <a:lstStyle/>
                    <a:p>
                      <a:pPr algn="ctr"/>
                      <a:r>
                        <a:rPr lang="ar-SA" dirty="0">
                          <a:latin typeface="Sakkal Majalla" panose="02000000000000000000" pitchFamily="2" charset="-78"/>
                          <a:cs typeface="Sakkal Majalla" panose="02000000000000000000" pitchFamily="2" charset="-78"/>
                        </a:rPr>
                        <a:t>الطبقة</a:t>
                      </a:r>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459475502"/>
                  </a:ext>
                </a:extLst>
              </a:tr>
              <a:tr h="0">
                <a:tc gridSpan="2">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dirty="0">
                          <a:latin typeface="Sakkal Majalla" panose="02000000000000000000" pitchFamily="2" charset="-78"/>
                          <a:cs typeface="Sakkal Majalla" panose="02000000000000000000" pitchFamily="2" charset="-78"/>
                        </a:rPr>
                        <a:t> تشمل الأدوات والبرمجيات المستخدمة لإدارة ومراقبة وصيانة بنية التقنية والأمن. تشمل ذلك أدوات إدارة الأنظمة وبرامج مراقبة الشبكات وأدوات مراقبة الأداء والتوافرية وأدوات إدارة التكوين وحلول إدارة السعات وغيرها من التطبيقات المتعلقة بالإدارة والمراقبة. تعتبر هذه ا لأدوات أساسية لضمان صحة وأمان وكفاءة البيئة التقنية والأمنية في </a:t>
                      </a:r>
                      <a:r>
                        <a:rPr lang="ar-EG" sz="1800" dirty="0">
                          <a:latin typeface="Sakkal Majalla" panose="02000000000000000000" pitchFamily="2" charset="-78"/>
                          <a:cs typeface="Sakkal Majalla" panose="02000000000000000000" pitchFamily="2" charset="-78"/>
                        </a:rPr>
                        <a:t>الهيئة</a:t>
                      </a:r>
                      <a:r>
                        <a:rPr lang="ar-EG" dirty="0">
                          <a:latin typeface="Sakkal Majalla" panose="02000000000000000000" pitchFamily="2" charset="-78"/>
                          <a:cs typeface="Sakkal Majalla" panose="02000000000000000000" pitchFamily="2" charset="-78"/>
                        </a:rPr>
                        <a:t> وللكشف عن المشكلات وحلها بشكل فعّال</a:t>
                      </a:r>
                    </a:p>
                  </a:txBody>
                  <a:tcPr/>
                </a:tc>
                <a:tc hMerge="1">
                  <a:txBody>
                    <a:bodyPr/>
                    <a:lstStyle/>
                    <a:p>
                      <a:endParaRPr lang="en-US"/>
                    </a:p>
                  </a:txBody>
                  <a:tcPr/>
                </a:tc>
                <a:tc rowSpan="8">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altLang="en-US" sz="2000" b="1" kern="1200" dirty="0">
                          <a:solidFill>
                            <a:schemeClr val="dk1"/>
                          </a:solidFill>
                          <a:latin typeface="Sakkal Majalla" panose="02000000000000000000" pitchFamily="2" charset="-78"/>
                          <a:ea typeface="+mn-ea"/>
                          <a:cs typeface="Sakkal Majalla" panose="02000000000000000000" pitchFamily="2" charset="-78"/>
                        </a:rPr>
                        <a:t>إدارة البنية التحتية ومراقبتها</a:t>
                      </a:r>
                    </a:p>
                    <a:p>
                      <a:pPr algn="ctr"/>
                      <a:endParaRPr lang="ar-SA" sz="2000" b="1" dirty="0">
                        <a:latin typeface="Sakkal Majalla" panose="02000000000000000000" pitchFamily="2" charset="-78"/>
                        <a:cs typeface="Sakkal Majalla" panose="02000000000000000000" pitchFamily="2" charset="-78"/>
                      </a:endParaRPr>
                    </a:p>
                    <a:p>
                      <a:pPr algn="ctr"/>
                      <a:r>
                        <a:rPr lang="en-US" sz="1800" b="1" dirty="0">
                          <a:latin typeface="Sakkal Majalla" panose="02000000000000000000" pitchFamily="2" charset="-78"/>
                          <a:cs typeface="Sakkal Majalla" panose="02000000000000000000" pitchFamily="2" charset="-78"/>
                        </a:rPr>
                        <a:t>Infrastructure Management &amp; Monitoring</a:t>
                      </a:r>
                    </a:p>
                  </a:txBody>
                  <a:tcPr anchor="ctr"/>
                </a:tc>
                <a:extLst>
                  <a:ext uri="{0D108BD9-81ED-4DB2-BD59-A6C34878D82A}">
                    <a16:rowId xmlns:a16="http://schemas.microsoft.com/office/drawing/2014/main" val="3816038262"/>
                  </a:ext>
                </a:extLst>
              </a:tr>
              <a:tr h="211192">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وصف 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a:txBody>
                    <a:bodyPr/>
                    <a:lstStyle/>
                    <a:p>
                      <a:pPr algn="ctr" rtl="1"/>
                      <a:r>
                        <a:rPr lang="ar-SA" dirty="0">
                          <a:solidFill>
                            <a:schemeClr val="bg1"/>
                          </a:solidFill>
                          <a:latin typeface="Sakkal Majalla" panose="02000000000000000000" pitchFamily="2" charset="-78"/>
                          <a:cs typeface="Sakkal Majalla" panose="02000000000000000000" pitchFamily="2" charset="-78"/>
                        </a:rPr>
                        <a:t>القدرة</a:t>
                      </a:r>
                      <a:endParaRPr lang="en-US" dirty="0">
                        <a:solidFill>
                          <a:schemeClr val="bg1"/>
                        </a:solidFill>
                        <a:latin typeface="Sakkal Majalla" panose="02000000000000000000" pitchFamily="2" charset="-78"/>
                        <a:cs typeface="Sakkal Majalla" panose="02000000000000000000" pitchFamily="2" charset="-78"/>
                      </a:endParaRPr>
                    </a:p>
                  </a:txBody>
                  <a:tcPr>
                    <a:solidFill>
                      <a:schemeClr val="accent1"/>
                    </a:solidFill>
                  </a:tcP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9406762"/>
                  </a:ext>
                </a:extLst>
              </a:tr>
              <a:tr h="193412">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هي عملية التأكد من حساب أصول </a:t>
                      </a:r>
                      <a:r>
                        <a:rPr lang="ar-SA" sz="1400" kern="1200" dirty="0">
                          <a:solidFill>
                            <a:schemeClr val="dk1"/>
                          </a:solidFill>
                          <a:latin typeface="Sakkal Majalla" panose="02000000000000000000" pitchFamily="2" charset="-78"/>
                          <a:ea typeface="+mn-ea"/>
                          <a:cs typeface="Sakkal Majalla" panose="02000000000000000000" pitchFamily="2" charset="-78"/>
                        </a:rPr>
                        <a:t>الهيئة</a:t>
                      </a:r>
                      <a:r>
                        <a:rPr lang="ar-EG" sz="1400" kern="1200" dirty="0">
                          <a:solidFill>
                            <a:schemeClr val="dk1"/>
                          </a:solidFill>
                          <a:latin typeface="Sakkal Majalla" panose="02000000000000000000" pitchFamily="2" charset="-78"/>
                          <a:ea typeface="+mn-ea"/>
                          <a:cs typeface="Sakkal Majalla" panose="02000000000000000000" pitchFamily="2" charset="-78"/>
                        </a:rPr>
                        <a:t> ونشرها وصيانتها وتحديثها والتخلص منها عندما يحين الوقت. ببساطة، هو التأكد من تعقب العناصر القيمة، الملموسة وغير الملموسة</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إدارة الأصول التقنية</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(IT Assets Management)</a:t>
                      </a:r>
                    </a:p>
                  </a:txBody>
                  <a:tcPr anchor="ctr"/>
                </a:tc>
                <a:tc vMerge="1">
                  <a:txBody>
                    <a:bodyPr/>
                    <a:lstStyle/>
                    <a:p>
                      <a:endParaRPr lang="en-US"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662487338"/>
                  </a:ext>
                </a:extLst>
              </a:tr>
              <a:tr h="370840">
                <a:tc>
                  <a:txBody>
                    <a:bodyPr/>
                    <a:lstStyle/>
                    <a:p>
                      <a:pPr algn="r" rtl="1"/>
                      <a:r>
                        <a:rPr lang="ar-EG" sz="1400" kern="1200" dirty="0">
                          <a:solidFill>
                            <a:schemeClr val="dk1"/>
                          </a:solidFill>
                          <a:latin typeface="Sakkal Majalla" panose="02000000000000000000" pitchFamily="2" charset="-78"/>
                          <a:ea typeface="+mn-ea"/>
                          <a:cs typeface="Sakkal Majalla" panose="02000000000000000000" pitchFamily="2" charset="-78"/>
                        </a:rPr>
                        <a:t>مساق يهدف إلى التأكد من استخدام أساليب وإجراءات موحدة لمعالجة جميع التغييرات في البنية التحتية بفعالية وسرعة للسيطرة عليها، من أجل تقليل عدد الحوادث وتأثيراتها على الخدمة</a:t>
                      </a:r>
                      <a:r>
                        <a:rPr lang="ar-SA" sz="1400" kern="1200" dirty="0">
                          <a:solidFill>
                            <a:schemeClr val="dk1"/>
                          </a:solidFill>
                          <a:latin typeface="Sakkal Majalla" panose="02000000000000000000" pitchFamily="2" charset="-78"/>
                          <a:ea typeface="+mn-ea"/>
                          <a:cs typeface="Sakkal Majalla" panose="02000000000000000000" pitchFamily="2" charset="-78"/>
                        </a:rPr>
                        <a:t> </a:t>
                      </a:r>
                      <a:r>
                        <a:rPr lang="ar-EG" sz="1400" kern="1200" dirty="0">
                          <a:solidFill>
                            <a:schemeClr val="dk1"/>
                          </a:solidFill>
                          <a:latin typeface="Sakkal Majalla" panose="02000000000000000000" pitchFamily="2" charset="-78"/>
                          <a:ea typeface="+mn-ea"/>
                          <a:cs typeface="Sakkal Majalla" panose="02000000000000000000" pitchFamily="2" charset="-78"/>
                        </a:rPr>
                        <a:t>. التغيير هو إضافة أو تعديل أو إزالة أي شيء يمكن أن يكون له تأثير مباشر أو غير مباشر على الخدمات</a:t>
                      </a:r>
                      <a:r>
                        <a:rPr lang="ar-SA" sz="1400" kern="1200" dirty="0">
                          <a:solidFill>
                            <a:schemeClr val="dk1"/>
                          </a:solidFill>
                          <a:latin typeface="Sakkal Majalla" panose="02000000000000000000" pitchFamily="2" charset="-78"/>
                          <a:ea typeface="+mn-ea"/>
                          <a:cs typeface="Sakkal Majalla" panose="02000000000000000000" pitchFamily="2" charset="-78"/>
                        </a:rPr>
                        <a:t>.</a:t>
                      </a:r>
                      <a:endParaRPr lang="ar-EG" sz="1400" kern="1200" dirty="0">
                        <a:solidFill>
                          <a:schemeClr val="dk1"/>
                        </a:solidFill>
                        <a:latin typeface="Sakkal Majalla" panose="02000000000000000000" pitchFamily="2" charset="-78"/>
                        <a:ea typeface="+mn-ea"/>
                        <a:cs typeface="Sakkal Majalla" panose="02000000000000000000" pitchFamily="2" charset="-78"/>
                      </a:endParaRP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إدارة التغييرات التقنية</a:t>
                      </a:r>
                      <a:r>
                        <a:rPr lang="ar-SA"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(IT Changes Management)</a:t>
                      </a:r>
                      <a:r>
                        <a:rPr lang="ar-SA" sz="1400" b="1" dirty="0">
                          <a:latin typeface="Sakkal Majalla" panose="02000000000000000000" pitchFamily="2" charset="-78"/>
                          <a:cs typeface="Sakkal Majalla" panose="02000000000000000000" pitchFamily="2" charset="-78"/>
                        </a:rPr>
                        <a:t> </a:t>
                      </a:r>
                      <a:endParaRPr lang="en-US" sz="1400" b="1" dirty="0">
                        <a:latin typeface="Sakkal Majalla" panose="02000000000000000000" pitchFamily="2" charset="-78"/>
                        <a:cs typeface="Sakkal Majalla" panose="02000000000000000000" pitchFamily="2" charset="-78"/>
                      </a:endParaRP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614785098"/>
                  </a:ext>
                </a:extLst>
              </a:tr>
              <a:tr h="370840">
                <a:tc>
                  <a:txBody>
                    <a:bodyPr/>
                    <a:lstStyle/>
                    <a:p>
                      <a:pPr algn="r" rtl="1"/>
                      <a:r>
                        <a:rPr lang="ar-EG" sz="1300" kern="1200" dirty="0">
                          <a:solidFill>
                            <a:schemeClr val="dk1"/>
                          </a:solidFill>
                          <a:latin typeface="Sakkal Majalla" panose="02000000000000000000" pitchFamily="2" charset="-78"/>
                          <a:ea typeface="+mn-ea"/>
                          <a:cs typeface="Sakkal Majalla" panose="02000000000000000000" pitchFamily="2" charset="-78"/>
                        </a:rPr>
                        <a:t>مركز العمليات الأمنية، أو </a:t>
                      </a:r>
                      <a:r>
                        <a:rPr lang="en-US" sz="1300" kern="1200" dirty="0">
                          <a:solidFill>
                            <a:schemeClr val="dk1"/>
                          </a:solidFill>
                          <a:latin typeface="Sakkal Majalla" panose="02000000000000000000" pitchFamily="2" charset="-78"/>
                          <a:ea typeface="+mn-ea"/>
                          <a:cs typeface="Sakkal Majalla" panose="02000000000000000000" pitchFamily="2" charset="-78"/>
                        </a:rPr>
                        <a:t>SOC، </a:t>
                      </a:r>
                      <a:r>
                        <a:rPr lang="ar-EG" sz="1300" kern="1200" dirty="0">
                          <a:solidFill>
                            <a:schemeClr val="dk1"/>
                          </a:solidFill>
                          <a:latin typeface="Sakkal Majalla" panose="02000000000000000000" pitchFamily="2" charset="-78"/>
                          <a:ea typeface="+mn-ea"/>
                          <a:cs typeface="Sakkal Majalla" panose="02000000000000000000" pitchFamily="2" charset="-78"/>
                        </a:rPr>
                        <a:t>هو فريق من المتخصصين في أمن ت</a:t>
                      </a:r>
                      <a:r>
                        <a:rPr lang="ar-SA" sz="1300" kern="1200" dirty="0">
                          <a:solidFill>
                            <a:schemeClr val="dk1"/>
                          </a:solidFill>
                          <a:latin typeface="Sakkal Majalla" panose="02000000000000000000" pitchFamily="2" charset="-78"/>
                          <a:ea typeface="+mn-ea"/>
                          <a:cs typeface="Sakkal Majalla" panose="02000000000000000000" pitchFamily="2" charset="-78"/>
                        </a:rPr>
                        <a:t>قنية</a:t>
                      </a:r>
                      <a:r>
                        <a:rPr lang="ar-EG" sz="1300" kern="1200" dirty="0">
                          <a:solidFill>
                            <a:schemeClr val="dk1"/>
                          </a:solidFill>
                          <a:latin typeface="Sakkal Majalla" panose="02000000000000000000" pitchFamily="2" charset="-78"/>
                          <a:ea typeface="+mn-ea"/>
                          <a:cs typeface="Sakkal Majalla" panose="02000000000000000000" pitchFamily="2" charset="-78"/>
                        </a:rPr>
                        <a:t> المعلومات الذين يقومون بحماية </a:t>
                      </a:r>
                      <a:r>
                        <a:rPr lang="ar-SA" sz="1300" kern="1200" dirty="0">
                          <a:solidFill>
                            <a:schemeClr val="dk1"/>
                          </a:solidFill>
                          <a:latin typeface="Sakkal Majalla" panose="02000000000000000000" pitchFamily="2" charset="-78"/>
                          <a:ea typeface="+mn-ea"/>
                          <a:cs typeface="Sakkal Majalla" panose="02000000000000000000" pitchFamily="2" charset="-78"/>
                        </a:rPr>
                        <a:t>الهيئة</a:t>
                      </a:r>
                      <a:r>
                        <a:rPr lang="ar-EG" sz="1300" kern="1200" dirty="0">
                          <a:solidFill>
                            <a:schemeClr val="dk1"/>
                          </a:solidFill>
                          <a:latin typeface="Sakkal Majalla" panose="02000000000000000000" pitchFamily="2" charset="-78"/>
                          <a:ea typeface="+mn-ea"/>
                          <a:cs typeface="Sakkal Majalla" panose="02000000000000000000" pitchFamily="2" charset="-78"/>
                        </a:rPr>
                        <a:t> من خلال مراقبة التهديدات السيبرانية واكتشافها وتحليلها والتحقيق فيها.</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مركز العمليات الأمنية</a:t>
                      </a:r>
                    </a:p>
                    <a:p>
                      <a:pPr algn="r" rtl="1"/>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(Security Operation Center</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082332608"/>
                  </a:ext>
                </a:extLst>
              </a:tr>
              <a:tr h="370840">
                <a:tc>
                  <a:txBody>
                    <a:bodyPr/>
                    <a:lstStyle/>
                    <a:p>
                      <a:pPr algn="r" rtl="1"/>
                      <a:r>
                        <a:rPr lang="ar-EG" sz="1300" kern="1200" dirty="0">
                          <a:solidFill>
                            <a:schemeClr val="dk1"/>
                          </a:solidFill>
                          <a:latin typeface="Sakkal Majalla" panose="02000000000000000000" pitchFamily="2" charset="-78"/>
                          <a:ea typeface="+mn-ea"/>
                          <a:cs typeface="Sakkal Majalla" panose="02000000000000000000" pitchFamily="2" charset="-78"/>
                        </a:rPr>
                        <a:t>إدارة الثغرات الأمنية هي "الممارسة الدورية لتحديد وتصنيف وترتيب الأولويات ومعالجة وتخفيف" ثغرات البرامج. تعد إدارة الثغرات الأمنية جزءًا لا يتجزأ من أمان الحاسوب وأمن الشبكة ، ويجب عدم الخلط بينها وبين تقييم الثغرات الأمنية</a:t>
                      </a:r>
                    </a:p>
                  </a:txBody>
                  <a:tcPr anchor="ctr"/>
                </a:tc>
                <a:tc>
                  <a:txBody>
                    <a:bodyPr/>
                    <a:lstStyle/>
                    <a:p>
                      <a:pPr algn="r" rtl="1"/>
                      <a:r>
                        <a:rPr lang="ar-SA" sz="1400" b="1" kern="1200" dirty="0">
                          <a:solidFill>
                            <a:schemeClr val="dk1"/>
                          </a:solidFill>
                          <a:latin typeface="Sakkal Majalla" panose="02000000000000000000" pitchFamily="2" charset="-78"/>
                          <a:ea typeface="+mn-ea"/>
                          <a:cs typeface="Sakkal Majalla" panose="02000000000000000000" pitchFamily="2" charset="-78"/>
                        </a:rPr>
                        <a:t>إدارة الثغرات الأمنية</a:t>
                      </a:r>
                    </a:p>
                    <a:p>
                      <a:pPr algn="r" rtl="1"/>
                      <a:r>
                        <a:rPr lang="en-US" sz="1400" b="1" kern="1200" dirty="0">
                          <a:solidFill>
                            <a:schemeClr val="dk1"/>
                          </a:solidFill>
                          <a:latin typeface="Sakkal Majalla" panose="02000000000000000000" pitchFamily="2" charset="-78"/>
                          <a:ea typeface="+mn-ea"/>
                          <a:cs typeface="Sakkal Majalla" panose="02000000000000000000" pitchFamily="2" charset="-78"/>
                        </a:rPr>
                        <a:t>(Vulnerabilities Management)</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950248929"/>
                  </a:ext>
                </a:extLst>
              </a:tr>
              <a:tr h="370840">
                <a:tc>
                  <a:txBody>
                    <a:bodyPr/>
                    <a:lstStyle/>
                    <a:p>
                      <a:pPr algn="r" rtl="1"/>
                      <a:r>
                        <a:rPr lang="ar-EG" sz="1300" kern="1200" dirty="0">
                          <a:solidFill>
                            <a:schemeClr val="dk1"/>
                          </a:solidFill>
                          <a:latin typeface="Sakkal Majalla" panose="02000000000000000000" pitchFamily="2" charset="-78"/>
                          <a:ea typeface="+mn-ea"/>
                          <a:cs typeface="Sakkal Majalla" panose="02000000000000000000" pitchFamily="2" charset="-78"/>
                        </a:rPr>
                        <a:t>إدارة التصحيح هي عملية تطبيق التحديثات على البرامج وبرامج التشغيل والبرامج الثابتة للحماية من الثغرات الأمنية. تساعد إدارة التصحيح الفعالة أيضًا على ضمان أفضل أداء تشغيلي للأنظمة، مما يعزز الإنتاجية.</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إدارة حزم التحديثات والإصلاحات الأمنية</a:t>
                      </a:r>
                    </a:p>
                    <a:p>
                      <a:pPr algn="r" rtl="1"/>
                      <a:r>
                        <a:rPr lang="ar-EG" sz="1400" b="1" dirty="0">
                          <a:latin typeface="Sakkal Majalla" panose="02000000000000000000" pitchFamily="2" charset="-78"/>
                          <a:cs typeface="Sakkal Majalla" panose="02000000000000000000" pitchFamily="2" charset="-78"/>
                        </a:rPr>
                        <a:t>( </a:t>
                      </a:r>
                      <a:r>
                        <a:rPr lang="en-US" sz="1400" b="1" dirty="0">
                          <a:latin typeface="Sakkal Majalla" panose="02000000000000000000" pitchFamily="2" charset="-78"/>
                          <a:cs typeface="Sakkal Majalla" panose="02000000000000000000" pitchFamily="2" charset="-78"/>
                        </a:rPr>
                        <a:t>(Patch Management</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387694044"/>
                  </a:ext>
                </a:extLst>
              </a:tr>
              <a:tr h="370840">
                <a:tc>
                  <a:txBody>
                    <a:bodyPr/>
                    <a:lstStyle/>
                    <a:p>
                      <a:pPr algn="r" rtl="1"/>
                      <a:r>
                        <a:rPr lang="ar-EG" sz="1300" kern="1200" dirty="0">
                          <a:solidFill>
                            <a:schemeClr val="dk1"/>
                          </a:solidFill>
                          <a:latin typeface="Sakkal Majalla" panose="02000000000000000000" pitchFamily="2" charset="-78"/>
                          <a:ea typeface="+mn-ea"/>
                          <a:cs typeface="Sakkal Majalla" panose="02000000000000000000" pitchFamily="2" charset="-78"/>
                        </a:rPr>
                        <a:t>اختبار الاختراق هو تمرين أمني يحاول فيه خبير الأمن السيبراني العثور على نقاط الضعف في نظام الحاسوب واستغلالها. الغرض من هذا الهجوم المحاكي هو تحديد أي نقاط ضعف في دفاعات النظام والتي يمكن للمهاجمين استغلالها.</a:t>
                      </a:r>
                    </a:p>
                  </a:txBody>
                  <a:tcPr anchor="ctr"/>
                </a:tc>
                <a:tc>
                  <a:txBody>
                    <a:bodyPr/>
                    <a:lstStyle/>
                    <a:p>
                      <a:pPr algn="r" rtl="1"/>
                      <a:r>
                        <a:rPr lang="ar-EG" sz="1400" b="1" dirty="0">
                          <a:latin typeface="Sakkal Majalla" panose="02000000000000000000" pitchFamily="2" charset="-78"/>
                          <a:cs typeface="Sakkal Majalla" panose="02000000000000000000" pitchFamily="2" charset="-78"/>
                        </a:rPr>
                        <a:t>اختبار الاختراق</a:t>
                      </a:r>
                    </a:p>
                    <a:p>
                      <a:pPr algn="r" rtl="1"/>
                      <a:r>
                        <a:rPr lang="en-US" sz="1400" b="1" dirty="0">
                          <a:latin typeface="Sakkal Majalla" panose="02000000000000000000" pitchFamily="2" charset="-78"/>
                          <a:cs typeface="Sakkal Majalla" panose="02000000000000000000" pitchFamily="2" charset="-78"/>
                        </a:rPr>
                        <a:t>(Penetration Testing)</a:t>
                      </a:r>
                    </a:p>
                  </a:txBody>
                  <a:tcPr anchor="ctr"/>
                </a:tc>
                <a:tc vMerge="1">
                  <a:txBody>
                    <a:bodyPr/>
                    <a:lstStyle/>
                    <a:p>
                      <a:pPr algn="ctr"/>
                      <a:endParaRPr lang="en-US"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825080753"/>
                  </a:ext>
                </a:extLst>
              </a:tr>
            </a:tbl>
          </a:graphicData>
        </a:graphic>
      </p:graphicFrame>
    </p:spTree>
    <p:extLst>
      <p:ext uri="{BB962C8B-B14F-4D97-AF65-F5344CB8AC3E}">
        <p14:creationId xmlns:p14="http://schemas.microsoft.com/office/powerpoint/2010/main" val="191817703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SA" dirty="0"/>
              <a:t>النموذج المرجعي لبنية الأمن السيبراني</a:t>
            </a:r>
          </a:p>
        </p:txBody>
      </p:sp>
      <p:sp>
        <p:nvSpPr>
          <p:cNvPr id="4" name="Text Placeholder 3"/>
          <p:cNvSpPr>
            <a:spLocks noGrp="1"/>
          </p:cNvSpPr>
          <p:nvPr>
            <p:ph type="body" sz="quarter" idx="14"/>
          </p:nvPr>
        </p:nvSpPr>
        <p:spPr/>
        <p:txBody>
          <a:bodyPr/>
          <a:lstStyle/>
          <a:p>
            <a:r>
              <a:rPr lang="ar-EG" dirty="0"/>
              <a:t>07</a:t>
            </a:r>
            <a:endParaRPr lang="en-US" dirty="0"/>
          </a:p>
        </p:txBody>
      </p:sp>
      <p:sp>
        <p:nvSpPr>
          <p:cNvPr id="2" name="Text Placeholder 1">
            <a:extLst>
              <a:ext uri="{FF2B5EF4-FFF2-40B4-BE49-F238E27FC236}">
                <a16:creationId xmlns:a16="http://schemas.microsoft.com/office/drawing/2014/main" id="{3996FB73-8360-4607-3E8D-1EF89CB925AC}"/>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93998450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Box 78">
            <a:extLst>
              <a:ext uri="{FF2B5EF4-FFF2-40B4-BE49-F238E27FC236}">
                <a16:creationId xmlns:a16="http://schemas.microsoft.com/office/drawing/2014/main" id="{008B516B-970B-4A7B-9A13-01931AAD098F}"/>
              </a:ext>
            </a:extLst>
          </p:cNvPr>
          <p:cNvSpPr txBox="1"/>
          <p:nvPr/>
        </p:nvSpPr>
        <p:spPr>
          <a:xfrm>
            <a:off x="833442" y="6395664"/>
            <a:ext cx="6097604" cy="307777"/>
          </a:xfrm>
          <a:prstGeom prst="rect">
            <a:avLst/>
          </a:prstGeom>
          <a:noFill/>
          <a:ln>
            <a:solidFill>
              <a:srgbClr val="4C3C8D"/>
            </a:solidFill>
          </a:ln>
        </p:spPr>
        <p:txBody>
          <a:bodyPr wrap="square">
            <a:spAutoFit/>
          </a:bodyPr>
          <a:lstStyle/>
          <a:p>
            <a:fld id="{008E1BDA-5E07-414A-8101-29DABEB15B19}" type="slidenum">
              <a:rPr lang="en-SA" sz="1400" b="1">
                <a:solidFill>
                  <a:schemeClr val="accent1"/>
                </a:solidFill>
              </a:rPr>
              <a:pPr/>
              <a:t>52</a:t>
            </a:fld>
            <a:endParaRPr lang="en-US" sz="1400" b="1" dirty="0">
              <a:solidFill>
                <a:schemeClr val="accent1"/>
              </a:solidFill>
            </a:endParaRPr>
          </a:p>
        </p:txBody>
      </p:sp>
      <p:sp>
        <p:nvSpPr>
          <p:cNvPr id="95" name="Rectangle: Rounded Corners 94">
            <a:extLst>
              <a:ext uri="{FF2B5EF4-FFF2-40B4-BE49-F238E27FC236}">
                <a16:creationId xmlns:a16="http://schemas.microsoft.com/office/drawing/2014/main" id="{1D1EE22C-6FC8-4D97-95B4-D92B56A11A2C}"/>
              </a:ext>
            </a:extLst>
          </p:cNvPr>
          <p:cNvSpPr>
            <a:spLocks/>
          </p:cNvSpPr>
          <p:nvPr/>
        </p:nvSpPr>
        <p:spPr>
          <a:xfrm>
            <a:off x="399596" y="1161663"/>
            <a:ext cx="11550267" cy="5651399"/>
          </a:xfrm>
          <a:prstGeom prst="roundRect">
            <a:avLst>
              <a:gd name="adj" fmla="val 1249"/>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96" name="Rectangle: Rounded Corners 95">
            <a:extLst>
              <a:ext uri="{FF2B5EF4-FFF2-40B4-BE49-F238E27FC236}">
                <a16:creationId xmlns:a16="http://schemas.microsoft.com/office/drawing/2014/main" id="{3366BE1F-651A-4107-AFD8-F718CFD732C3}"/>
              </a:ext>
            </a:extLst>
          </p:cNvPr>
          <p:cNvSpPr>
            <a:spLocks/>
          </p:cNvSpPr>
          <p:nvPr/>
        </p:nvSpPr>
        <p:spPr>
          <a:xfrm>
            <a:off x="437731" y="2615248"/>
            <a:ext cx="3704544" cy="1682507"/>
          </a:xfrm>
          <a:prstGeom prst="roundRect">
            <a:avLst>
              <a:gd name="adj" fmla="val 2067"/>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000" b="1" kern="100" dirty="0">
                <a:solidFill>
                  <a:schemeClr val="tx1"/>
                </a:solidFill>
                <a:effectLst/>
                <a:latin typeface="Neo Sans Arabic" panose="020B0504030504040204" pitchFamily="34" charset="-78"/>
                <a:ea typeface="Aptos" panose="020B0004020202020204" pitchFamily="34" charset="0"/>
              </a:rPr>
              <a:t>أمن التطبيقات</a:t>
            </a:r>
            <a:endParaRPr lang="en-AE" sz="2000" b="1" kern="100" dirty="0">
              <a:solidFill>
                <a:schemeClr val="tx1"/>
              </a:solidFill>
              <a:effectLst/>
              <a:latin typeface="Neo Sans Arabic" panose="020B0504030504040204" pitchFamily="34" charset="-78"/>
              <a:ea typeface="Aptos" panose="020B0004020202020204" pitchFamily="34" charset="0"/>
            </a:endParaRPr>
          </a:p>
        </p:txBody>
      </p:sp>
      <p:sp>
        <p:nvSpPr>
          <p:cNvPr id="97" name="Rectangle: Rounded Corners 96">
            <a:extLst>
              <a:ext uri="{FF2B5EF4-FFF2-40B4-BE49-F238E27FC236}">
                <a16:creationId xmlns:a16="http://schemas.microsoft.com/office/drawing/2014/main" id="{3F7CAC25-199B-4A25-B6A5-24D50A380ABE}"/>
              </a:ext>
            </a:extLst>
          </p:cNvPr>
          <p:cNvSpPr>
            <a:spLocks/>
          </p:cNvSpPr>
          <p:nvPr/>
        </p:nvSpPr>
        <p:spPr>
          <a:xfrm>
            <a:off x="429707" y="4339357"/>
            <a:ext cx="9078482" cy="1700600"/>
          </a:xfrm>
          <a:prstGeom prst="roundRect">
            <a:avLst>
              <a:gd name="adj" fmla="val 2067"/>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000" b="1" kern="100" dirty="0">
                <a:solidFill>
                  <a:schemeClr val="tx1"/>
                </a:solidFill>
                <a:effectLst/>
                <a:latin typeface="Neo Sans Arabic" panose="020B0504030504040204" pitchFamily="34" charset="-78"/>
                <a:ea typeface="Aptos" panose="020B0004020202020204" pitchFamily="34" charset="0"/>
              </a:rPr>
              <a:t>أمن البنية التحتية</a:t>
            </a:r>
            <a:endParaRPr lang="en-US" sz="2000" b="1" kern="100" dirty="0">
              <a:solidFill>
                <a:schemeClr val="tx1"/>
              </a:solidFill>
              <a:effectLst/>
              <a:latin typeface="Neo Sans Arabic" panose="020B0504030504040204" pitchFamily="34" charset="-78"/>
              <a:ea typeface="Aptos" panose="020B0004020202020204" pitchFamily="34" charset="0"/>
            </a:endParaRPr>
          </a:p>
        </p:txBody>
      </p:sp>
      <p:sp>
        <p:nvSpPr>
          <p:cNvPr id="98" name="Rectangle: Rounded Corners 97">
            <a:extLst>
              <a:ext uri="{FF2B5EF4-FFF2-40B4-BE49-F238E27FC236}">
                <a16:creationId xmlns:a16="http://schemas.microsoft.com/office/drawing/2014/main" id="{84C8099A-8515-4DDD-AA99-275F4492D43F}"/>
              </a:ext>
            </a:extLst>
          </p:cNvPr>
          <p:cNvSpPr>
            <a:spLocks/>
          </p:cNvSpPr>
          <p:nvPr/>
        </p:nvSpPr>
        <p:spPr>
          <a:xfrm>
            <a:off x="437730" y="6080118"/>
            <a:ext cx="11473998" cy="673938"/>
          </a:xfrm>
          <a:prstGeom prst="roundRect">
            <a:avLst>
              <a:gd name="adj" fmla="val 2067"/>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000" b="1" kern="100" dirty="0">
                <a:solidFill>
                  <a:schemeClr val="tx1"/>
                </a:solidFill>
                <a:effectLst/>
                <a:latin typeface="Neo Sans Arabic" panose="020B0504030504040204" pitchFamily="34" charset="-78"/>
                <a:ea typeface="Aptos" panose="020B0004020202020204" pitchFamily="34" charset="0"/>
              </a:rPr>
              <a:t>الحوكمة والمخاطر والامتثال</a:t>
            </a:r>
            <a:endParaRPr lang="en-US" sz="2000" b="1" kern="100" dirty="0">
              <a:solidFill>
                <a:schemeClr val="tx1"/>
              </a:solidFill>
              <a:effectLst/>
              <a:latin typeface="Neo Sans Arabic" panose="020B0504030504040204" pitchFamily="34" charset="-78"/>
              <a:ea typeface="Aptos" panose="020B0004020202020204" pitchFamily="34" charset="0"/>
            </a:endParaRPr>
          </a:p>
        </p:txBody>
      </p:sp>
      <p:sp>
        <p:nvSpPr>
          <p:cNvPr id="99" name="Rectangle: Rounded Corners 98">
            <a:extLst>
              <a:ext uri="{FF2B5EF4-FFF2-40B4-BE49-F238E27FC236}">
                <a16:creationId xmlns:a16="http://schemas.microsoft.com/office/drawing/2014/main" id="{D1090F7C-6254-47BD-930E-A6336E3A2A74}"/>
              </a:ext>
            </a:extLst>
          </p:cNvPr>
          <p:cNvSpPr>
            <a:spLocks/>
          </p:cNvSpPr>
          <p:nvPr/>
        </p:nvSpPr>
        <p:spPr>
          <a:xfrm>
            <a:off x="440658" y="1192076"/>
            <a:ext cx="9078482" cy="673938"/>
          </a:xfrm>
          <a:prstGeom prst="roundRect">
            <a:avLst>
              <a:gd name="adj" fmla="val 2067"/>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000" b="1" kern="100" dirty="0">
                <a:solidFill>
                  <a:schemeClr val="tx1"/>
                </a:solidFill>
                <a:effectLst/>
                <a:latin typeface="Neo Sans Arabic" panose="020B0504030504040204" pitchFamily="34" charset="-78"/>
                <a:ea typeface="Aptos" panose="020B0004020202020204" pitchFamily="34" charset="0"/>
              </a:rPr>
              <a:t>إدارة الهوية والوصول</a:t>
            </a:r>
            <a:endParaRPr lang="en-US" sz="2000" b="1" kern="100" dirty="0">
              <a:solidFill>
                <a:schemeClr val="tx1"/>
              </a:solidFill>
              <a:effectLst/>
              <a:latin typeface="Neo Sans Arabic" panose="020B0504030504040204" pitchFamily="34" charset="-78"/>
              <a:ea typeface="Aptos" panose="020B0004020202020204" pitchFamily="34" charset="0"/>
            </a:endParaRPr>
          </a:p>
        </p:txBody>
      </p:sp>
      <p:sp>
        <p:nvSpPr>
          <p:cNvPr id="100" name="Rectangle: Rounded Corners 99">
            <a:extLst>
              <a:ext uri="{FF2B5EF4-FFF2-40B4-BE49-F238E27FC236}">
                <a16:creationId xmlns:a16="http://schemas.microsoft.com/office/drawing/2014/main" id="{1CDE38FA-52F7-4FF4-A345-7D6A0B213E8D}"/>
              </a:ext>
            </a:extLst>
          </p:cNvPr>
          <p:cNvSpPr>
            <a:spLocks/>
          </p:cNvSpPr>
          <p:nvPr/>
        </p:nvSpPr>
        <p:spPr>
          <a:xfrm>
            <a:off x="440658" y="1899708"/>
            <a:ext cx="9078482" cy="673938"/>
          </a:xfrm>
          <a:prstGeom prst="roundRect">
            <a:avLst>
              <a:gd name="adj" fmla="val 2067"/>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000" b="1" kern="100" dirty="0">
                <a:solidFill>
                  <a:schemeClr val="tx1"/>
                </a:solidFill>
                <a:effectLst/>
                <a:latin typeface="Neo Sans Arabic" panose="020B0504030504040204" pitchFamily="34" charset="-78"/>
                <a:ea typeface="Aptos" panose="020B0004020202020204" pitchFamily="34" charset="0"/>
              </a:rPr>
              <a:t>أمن نقاط النهاية</a:t>
            </a:r>
            <a:endParaRPr lang="en-US" sz="2000" b="1" kern="100" dirty="0">
              <a:solidFill>
                <a:schemeClr val="tx1"/>
              </a:solidFill>
              <a:effectLst/>
              <a:latin typeface="Neo Sans Arabic" panose="020B0504030504040204" pitchFamily="34" charset="-78"/>
              <a:ea typeface="Aptos" panose="020B0004020202020204" pitchFamily="34" charset="0"/>
            </a:endParaRPr>
          </a:p>
        </p:txBody>
      </p:sp>
      <p:sp>
        <p:nvSpPr>
          <p:cNvPr id="101" name="Rectangle: Rounded Corners 100">
            <a:extLst>
              <a:ext uri="{FF2B5EF4-FFF2-40B4-BE49-F238E27FC236}">
                <a16:creationId xmlns:a16="http://schemas.microsoft.com/office/drawing/2014/main" id="{69706429-60C4-4188-B3C7-8AD13B8C11DE}"/>
              </a:ext>
            </a:extLst>
          </p:cNvPr>
          <p:cNvSpPr>
            <a:spLocks/>
          </p:cNvSpPr>
          <p:nvPr/>
        </p:nvSpPr>
        <p:spPr>
          <a:xfrm>
            <a:off x="4180410" y="2614594"/>
            <a:ext cx="5338730" cy="1683161"/>
          </a:xfrm>
          <a:prstGeom prst="roundRect">
            <a:avLst>
              <a:gd name="adj" fmla="val 2067"/>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000" b="1" kern="100" dirty="0">
                <a:solidFill>
                  <a:schemeClr val="tx1"/>
                </a:solidFill>
                <a:effectLst/>
                <a:latin typeface="Neo Sans Arabic" panose="020B0504030504040204" pitchFamily="34" charset="-78"/>
                <a:ea typeface="Aptos" panose="020B0004020202020204" pitchFamily="34" charset="0"/>
              </a:rPr>
              <a:t>أمن البيانات</a:t>
            </a:r>
            <a:endParaRPr lang="en-US" sz="2000" b="1" kern="100" dirty="0">
              <a:solidFill>
                <a:schemeClr val="tx1"/>
              </a:solidFill>
              <a:effectLst/>
              <a:latin typeface="Neo Sans Arabic" panose="020B0504030504040204" pitchFamily="34" charset="-78"/>
              <a:ea typeface="Aptos" panose="020B0004020202020204" pitchFamily="34" charset="0"/>
            </a:endParaRPr>
          </a:p>
        </p:txBody>
      </p:sp>
      <p:sp>
        <p:nvSpPr>
          <p:cNvPr id="102" name="Rectangle: Rounded Corners 101">
            <a:extLst>
              <a:ext uri="{FF2B5EF4-FFF2-40B4-BE49-F238E27FC236}">
                <a16:creationId xmlns:a16="http://schemas.microsoft.com/office/drawing/2014/main" id="{44035A59-5949-45E9-9F89-666B90951EB9}"/>
              </a:ext>
            </a:extLst>
          </p:cNvPr>
          <p:cNvSpPr>
            <a:spLocks/>
          </p:cNvSpPr>
          <p:nvPr/>
        </p:nvSpPr>
        <p:spPr>
          <a:xfrm>
            <a:off x="9557275" y="1192076"/>
            <a:ext cx="2359814" cy="2681736"/>
          </a:xfrm>
          <a:prstGeom prst="roundRect">
            <a:avLst>
              <a:gd name="adj" fmla="val 2067"/>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000" b="1" kern="100" dirty="0">
                <a:solidFill>
                  <a:schemeClr val="tx1"/>
                </a:solidFill>
                <a:effectLst/>
                <a:latin typeface="Neo Sans Arabic" panose="020B0504030504040204" pitchFamily="34" charset="-78"/>
                <a:ea typeface="Aptos" panose="020B0004020202020204" pitchFamily="34" charset="0"/>
              </a:rPr>
              <a:t>العمليات الأمنية والاستجابة للحوادث</a:t>
            </a:r>
            <a:endParaRPr lang="en-US" sz="2000" b="1" kern="100" dirty="0">
              <a:solidFill>
                <a:schemeClr val="tx1"/>
              </a:solidFill>
              <a:effectLst/>
              <a:latin typeface="Neo Sans Arabic" panose="020B0504030504040204" pitchFamily="34" charset="-78"/>
              <a:ea typeface="Aptos" panose="020B0004020202020204" pitchFamily="34" charset="0"/>
            </a:endParaRPr>
          </a:p>
        </p:txBody>
      </p:sp>
      <p:sp>
        <p:nvSpPr>
          <p:cNvPr id="103" name="Rectangle: Rounded Corners 102">
            <a:extLst>
              <a:ext uri="{FF2B5EF4-FFF2-40B4-BE49-F238E27FC236}">
                <a16:creationId xmlns:a16="http://schemas.microsoft.com/office/drawing/2014/main" id="{A34063FE-0DBE-4D72-B78E-3E8759F3646D}"/>
              </a:ext>
            </a:extLst>
          </p:cNvPr>
          <p:cNvSpPr>
            <a:spLocks/>
          </p:cNvSpPr>
          <p:nvPr/>
        </p:nvSpPr>
        <p:spPr>
          <a:xfrm>
            <a:off x="9554594" y="3908791"/>
            <a:ext cx="2359814" cy="2131165"/>
          </a:xfrm>
          <a:prstGeom prst="roundRect">
            <a:avLst>
              <a:gd name="adj" fmla="val 2067"/>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000" b="1" kern="100" dirty="0">
                <a:solidFill>
                  <a:schemeClr val="tx1"/>
                </a:solidFill>
              </a:rPr>
              <a:t>إدارة الثغرات والتهديدات الأمنية</a:t>
            </a:r>
            <a:endParaRPr lang="en-US" sz="2000" b="1" kern="100" dirty="0">
              <a:solidFill>
                <a:schemeClr val="tx1"/>
              </a:solidFill>
            </a:endParaRPr>
          </a:p>
          <a:p>
            <a:pPr algn="ctr"/>
            <a:endParaRPr lang="en-US" sz="2000" b="1" kern="100" dirty="0">
              <a:solidFill>
                <a:schemeClr val="tx1"/>
              </a:solidFill>
              <a:effectLst/>
              <a:latin typeface="Neo Sans Arabic" panose="020B0504030504040204" pitchFamily="34" charset="-78"/>
              <a:ea typeface="Aptos" panose="020B0004020202020204" pitchFamily="34" charset="0"/>
            </a:endParaRPr>
          </a:p>
        </p:txBody>
      </p:sp>
      <p:sp>
        <p:nvSpPr>
          <p:cNvPr id="4" name="Title 3">
            <a:extLst>
              <a:ext uri="{FF2B5EF4-FFF2-40B4-BE49-F238E27FC236}">
                <a16:creationId xmlns:a16="http://schemas.microsoft.com/office/drawing/2014/main" id="{359561E5-403E-4814-9636-0A33F15D61E4}"/>
              </a:ext>
            </a:extLst>
          </p:cNvPr>
          <p:cNvSpPr>
            <a:spLocks noGrp="1"/>
          </p:cNvSpPr>
          <p:nvPr>
            <p:ph type="title"/>
          </p:nvPr>
        </p:nvSpPr>
        <p:spPr/>
        <p:txBody>
          <a:bodyPr/>
          <a:lstStyle/>
          <a:p>
            <a:r>
              <a:rPr lang="ar-SA" sz="3200" dirty="0"/>
              <a:t>طبقات النموذج المرجعي الوطني لبنية الأمن</a:t>
            </a:r>
            <a:endParaRPr lang="en-US" sz="3200" dirty="0"/>
          </a:p>
        </p:txBody>
      </p:sp>
    </p:spTree>
    <p:extLst>
      <p:ext uri="{BB962C8B-B14F-4D97-AF65-F5344CB8AC3E}">
        <p14:creationId xmlns:p14="http://schemas.microsoft.com/office/powerpoint/2010/main" val="22047216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طبقات بنية الأمن (2/1)</a:t>
            </a:r>
            <a:endParaRPr lang="en-US" dirty="0"/>
          </a:p>
        </p:txBody>
      </p:sp>
      <p:sp>
        <p:nvSpPr>
          <p:cNvPr id="12" name="Rectangle: Rounded Corners 11">
            <a:extLst>
              <a:ext uri="{FF2B5EF4-FFF2-40B4-BE49-F238E27FC236}">
                <a16:creationId xmlns:a16="http://schemas.microsoft.com/office/drawing/2014/main" id="{4CF70AAA-E30C-4730-8D04-C2F5CD2F1C1C}"/>
              </a:ext>
            </a:extLst>
          </p:cNvPr>
          <p:cNvSpPr>
            <a:spLocks/>
          </p:cNvSpPr>
          <p:nvPr/>
        </p:nvSpPr>
        <p:spPr>
          <a:xfrm>
            <a:off x="294859" y="1250462"/>
            <a:ext cx="11602279" cy="4274038"/>
          </a:xfrm>
          <a:prstGeom prst="roundRect">
            <a:avLst>
              <a:gd name="adj" fmla="val 1249"/>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6A367932-5670-4A25-8A6D-97307B4AB5CF}"/>
              </a:ext>
            </a:extLst>
          </p:cNvPr>
          <p:cNvSpPr>
            <a:spLocks/>
          </p:cNvSpPr>
          <p:nvPr/>
        </p:nvSpPr>
        <p:spPr>
          <a:xfrm>
            <a:off x="8908757" y="1416661"/>
            <a:ext cx="2796794" cy="1076448"/>
          </a:xfrm>
          <a:prstGeom prst="roundRect">
            <a:avLst/>
          </a:prstGeom>
          <a:solidFill>
            <a:schemeClr val="bg1">
              <a:lumMod val="95000"/>
            </a:schemeClr>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200" b="1" kern="100" dirty="0">
                <a:solidFill>
                  <a:schemeClr val="tx1"/>
                </a:solidFill>
                <a:effectLst/>
                <a:latin typeface="Neo Sans Arabic" panose="020B0504030504040204" pitchFamily="34" charset="-78"/>
                <a:ea typeface="Aptos" panose="020B0004020202020204" pitchFamily="34" charset="0"/>
                <a:cs typeface="+mn-cs"/>
              </a:rPr>
              <a:t>إدارة الهوية والوصول</a:t>
            </a:r>
          </a:p>
        </p:txBody>
      </p:sp>
      <p:sp>
        <p:nvSpPr>
          <p:cNvPr id="14" name="Rectangle: Rounded Corners 13">
            <a:extLst>
              <a:ext uri="{FF2B5EF4-FFF2-40B4-BE49-F238E27FC236}">
                <a16:creationId xmlns:a16="http://schemas.microsoft.com/office/drawing/2014/main" id="{DD20201F-2292-4F60-B90E-12E7F273B573}"/>
              </a:ext>
            </a:extLst>
          </p:cNvPr>
          <p:cNvSpPr>
            <a:spLocks/>
          </p:cNvSpPr>
          <p:nvPr/>
        </p:nvSpPr>
        <p:spPr>
          <a:xfrm>
            <a:off x="8908757" y="2576790"/>
            <a:ext cx="2796794" cy="822900"/>
          </a:xfrm>
          <a:prstGeom prst="roundRect">
            <a:avLst/>
          </a:prstGeom>
          <a:solidFill>
            <a:schemeClr val="bg1">
              <a:lumMod val="95000"/>
            </a:schemeClr>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200" b="1" kern="100" dirty="0">
                <a:solidFill>
                  <a:schemeClr val="tx1"/>
                </a:solidFill>
                <a:effectLst/>
                <a:latin typeface="Neo Sans Arabic" panose="020B0504030504040204" pitchFamily="34" charset="-78"/>
                <a:ea typeface="Aptos" panose="020B0004020202020204" pitchFamily="34" charset="0"/>
                <a:cs typeface="+mn-cs"/>
              </a:rPr>
              <a:t>أمن نقاط النهاية</a:t>
            </a:r>
          </a:p>
        </p:txBody>
      </p:sp>
      <p:sp>
        <p:nvSpPr>
          <p:cNvPr id="15" name="Rectangle: Rounded Corners 14">
            <a:extLst>
              <a:ext uri="{FF2B5EF4-FFF2-40B4-BE49-F238E27FC236}">
                <a16:creationId xmlns:a16="http://schemas.microsoft.com/office/drawing/2014/main" id="{D233B5C2-0B0D-44C7-885C-F0D8CC0A898E}"/>
              </a:ext>
            </a:extLst>
          </p:cNvPr>
          <p:cNvSpPr>
            <a:spLocks/>
          </p:cNvSpPr>
          <p:nvPr/>
        </p:nvSpPr>
        <p:spPr>
          <a:xfrm>
            <a:off x="8908757" y="3489220"/>
            <a:ext cx="2796794" cy="626430"/>
          </a:xfrm>
          <a:prstGeom prst="roundRect">
            <a:avLst/>
          </a:prstGeom>
          <a:solidFill>
            <a:schemeClr val="bg1">
              <a:lumMod val="95000"/>
            </a:schemeClr>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200" b="1" kern="100" dirty="0">
                <a:solidFill>
                  <a:schemeClr val="tx1"/>
                </a:solidFill>
                <a:effectLst/>
                <a:latin typeface="Neo Sans Arabic" panose="020B0504030504040204" pitchFamily="34" charset="-78"/>
                <a:ea typeface="Aptos" panose="020B0004020202020204" pitchFamily="34" charset="0"/>
                <a:cs typeface="+mn-cs"/>
              </a:rPr>
              <a:t>أمن البيانات</a:t>
            </a:r>
          </a:p>
        </p:txBody>
      </p:sp>
      <p:sp>
        <p:nvSpPr>
          <p:cNvPr id="24" name="Rectangle: Rounded Corners 23">
            <a:extLst>
              <a:ext uri="{FF2B5EF4-FFF2-40B4-BE49-F238E27FC236}">
                <a16:creationId xmlns:a16="http://schemas.microsoft.com/office/drawing/2014/main" id="{770BD99F-E0BB-4D90-ABF1-9F9ED6F97402}"/>
              </a:ext>
            </a:extLst>
          </p:cNvPr>
          <p:cNvSpPr>
            <a:spLocks/>
          </p:cNvSpPr>
          <p:nvPr/>
        </p:nvSpPr>
        <p:spPr>
          <a:xfrm>
            <a:off x="8908757" y="4205180"/>
            <a:ext cx="2796794" cy="510290"/>
          </a:xfrm>
          <a:prstGeom prst="roundRect">
            <a:avLst/>
          </a:prstGeom>
          <a:solidFill>
            <a:schemeClr val="bg1">
              <a:lumMod val="95000"/>
            </a:schemeClr>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200" b="1" kern="100" dirty="0">
                <a:solidFill>
                  <a:schemeClr val="tx1"/>
                </a:solidFill>
                <a:effectLst/>
                <a:latin typeface="Neo Sans Arabic" panose="020B0504030504040204" pitchFamily="34" charset="-78"/>
                <a:ea typeface="Aptos" panose="020B0004020202020204" pitchFamily="34" charset="0"/>
                <a:cs typeface="+mn-cs"/>
              </a:rPr>
              <a:t>أمن التطبيقات</a:t>
            </a:r>
          </a:p>
        </p:txBody>
      </p:sp>
      <p:sp>
        <p:nvSpPr>
          <p:cNvPr id="26" name="Rectangle: Rounded Corners 25">
            <a:extLst>
              <a:ext uri="{FF2B5EF4-FFF2-40B4-BE49-F238E27FC236}">
                <a16:creationId xmlns:a16="http://schemas.microsoft.com/office/drawing/2014/main" id="{C0910A5C-727C-46DA-8DDC-C71FA971F02E}"/>
              </a:ext>
            </a:extLst>
          </p:cNvPr>
          <p:cNvSpPr>
            <a:spLocks/>
          </p:cNvSpPr>
          <p:nvPr/>
        </p:nvSpPr>
        <p:spPr>
          <a:xfrm>
            <a:off x="8908757" y="4804624"/>
            <a:ext cx="2796794" cy="510290"/>
          </a:xfrm>
          <a:prstGeom prst="roundRect">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200" b="1" kern="100" dirty="0">
                <a:solidFill>
                  <a:schemeClr val="tx1"/>
                </a:solidFill>
                <a:effectLst/>
                <a:latin typeface="Neo Sans Arabic" panose="020B0504030504040204" pitchFamily="34" charset="-78"/>
                <a:ea typeface="Aptos" panose="020B0004020202020204" pitchFamily="34" charset="0"/>
                <a:cs typeface="+mn-cs"/>
              </a:rPr>
              <a:t>أمن البنية التحتية</a:t>
            </a:r>
          </a:p>
        </p:txBody>
      </p:sp>
      <p:sp>
        <p:nvSpPr>
          <p:cNvPr id="30" name="Rectangle: Rounded Corners 29">
            <a:extLst>
              <a:ext uri="{FF2B5EF4-FFF2-40B4-BE49-F238E27FC236}">
                <a16:creationId xmlns:a16="http://schemas.microsoft.com/office/drawing/2014/main" id="{3B69168A-581B-43F8-9002-DB792622BEB1}"/>
              </a:ext>
            </a:extLst>
          </p:cNvPr>
          <p:cNvSpPr>
            <a:spLocks/>
          </p:cNvSpPr>
          <p:nvPr/>
        </p:nvSpPr>
        <p:spPr>
          <a:xfrm>
            <a:off x="414213" y="1416661"/>
            <a:ext cx="8399662" cy="1102829"/>
          </a:xfrm>
          <a:prstGeom prst="roundRect">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100" kern="100" dirty="0">
              <a:solidFill>
                <a:schemeClr val="tx1"/>
              </a:solidFill>
              <a:effectLst/>
              <a:latin typeface="Neo Sans Arabic" panose="020B0504030504040204" pitchFamily="34" charset="-78"/>
              <a:ea typeface="Aptos" panose="020B0004020202020204" pitchFamily="34" charset="0"/>
              <a:cs typeface="+mn-cs"/>
            </a:endParaRPr>
          </a:p>
        </p:txBody>
      </p:sp>
      <p:sp>
        <p:nvSpPr>
          <p:cNvPr id="31" name="Rectangle: Rounded Corners 30">
            <a:extLst>
              <a:ext uri="{FF2B5EF4-FFF2-40B4-BE49-F238E27FC236}">
                <a16:creationId xmlns:a16="http://schemas.microsoft.com/office/drawing/2014/main" id="{214BF304-9B51-4BCD-8141-00C794DD21BF}"/>
              </a:ext>
            </a:extLst>
          </p:cNvPr>
          <p:cNvSpPr>
            <a:spLocks/>
          </p:cNvSpPr>
          <p:nvPr/>
        </p:nvSpPr>
        <p:spPr>
          <a:xfrm>
            <a:off x="372383" y="2589588"/>
            <a:ext cx="8399662" cy="839412"/>
          </a:xfrm>
          <a:prstGeom prst="roundRect">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100" kern="100" dirty="0">
              <a:solidFill>
                <a:schemeClr val="tx1"/>
              </a:solidFill>
              <a:effectLst/>
              <a:latin typeface="Neo Sans Arabic" panose="020B0504030504040204" pitchFamily="34" charset="-78"/>
              <a:ea typeface="Aptos" panose="020B0004020202020204" pitchFamily="34" charset="0"/>
              <a:cs typeface="+mn-cs"/>
            </a:endParaRPr>
          </a:p>
        </p:txBody>
      </p:sp>
      <p:sp>
        <p:nvSpPr>
          <p:cNvPr id="32" name="Rectangle: Rounded Corners 31">
            <a:extLst>
              <a:ext uri="{FF2B5EF4-FFF2-40B4-BE49-F238E27FC236}">
                <a16:creationId xmlns:a16="http://schemas.microsoft.com/office/drawing/2014/main" id="{C3852167-9DC8-45EB-B980-BA657F637C17}"/>
              </a:ext>
            </a:extLst>
          </p:cNvPr>
          <p:cNvSpPr>
            <a:spLocks/>
          </p:cNvSpPr>
          <p:nvPr/>
        </p:nvSpPr>
        <p:spPr>
          <a:xfrm>
            <a:off x="377182" y="3504280"/>
            <a:ext cx="8399662" cy="626431"/>
          </a:xfrm>
          <a:prstGeom prst="roundRect">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100" kern="100" dirty="0">
              <a:solidFill>
                <a:schemeClr val="tx1"/>
              </a:solidFill>
              <a:effectLst/>
              <a:latin typeface="Neo Sans Arabic" panose="020B0504030504040204" pitchFamily="34" charset="-78"/>
              <a:ea typeface="Aptos" panose="020B0004020202020204" pitchFamily="34" charset="0"/>
              <a:cs typeface="+mn-cs"/>
            </a:endParaRPr>
          </a:p>
        </p:txBody>
      </p:sp>
      <p:sp>
        <p:nvSpPr>
          <p:cNvPr id="33" name="Rectangle: Rounded Corners 32">
            <a:extLst>
              <a:ext uri="{FF2B5EF4-FFF2-40B4-BE49-F238E27FC236}">
                <a16:creationId xmlns:a16="http://schemas.microsoft.com/office/drawing/2014/main" id="{EAA157F1-D5B3-4F4F-8B99-7F6578819329}"/>
              </a:ext>
            </a:extLst>
          </p:cNvPr>
          <p:cNvSpPr>
            <a:spLocks/>
          </p:cNvSpPr>
          <p:nvPr/>
        </p:nvSpPr>
        <p:spPr>
          <a:xfrm>
            <a:off x="372383" y="4223050"/>
            <a:ext cx="8399662" cy="510290"/>
          </a:xfrm>
          <a:prstGeom prst="roundRect">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100" kern="100" dirty="0">
              <a:solidFill>
                <a:schemeClr val="tx1"/>
              </a:solidFill>
              <a:effectLst/>
              <a:latin typeface="Neo Sans Arabic" panose="020B0504030504040204" pitchFamily="34" charset="-78"/>
              <a:ea typeface="Aptos" panose="020B0004020202020204" pitchFamily="34" charset="0"/>
              <a:cs typeface="+mn-cs"/>
            </a:endParaRPr>
          </a:p>
        </p:txBody>
      </p:sp>
      <p:sp>
        <p:nvSpPr>
          <p:cNvPr id="34" name="Rectangle: Rounded Corners 33">
            <a:extLst>
              <a:ext uri="{FF2B5EF4-FFF2-40B4-BE49-F238E27FC236}">
                <a16:creationId xmlns:a16="http://schemas.microsoft.com/office/drawing/2014/main" id="{1E794229-311F-47C8-8939-A471DC6ED142}"/>
              </a:ext>
            </a:extLst>
          </p:cNvPr>
          <p:cNvSpPr>
            <a:spLocks/>
          </p:cNvSpPr>
          <p:nvPr/>
        </p:nvSpPr>
        <p:spPr>
          <a:xfrm>
            <a:off x="372383" y="4804624"/>
            <a:ext cx="8399662" cy="510290"/>
          </a:xfrm>
          <a:prstGeom prst="roundRect">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100" kern="100" dirty="0">
              <a:solidFill>
                <a:schemeClr val="tx1"/>
              </a:solidFill>
              <a:effectLst/>
              <a:latin typeface="Neo Sans Arabic" panose="020B0504030504040204" pitchFamily="34" charset="-78"/>
              <a:ea typeface="Aptos" panose="020B0004020202020204" pitchFamily="34" charset="0"/>
              <a:cs typeface="+mn-cs"/>
            </a:endParaRPr>
          </a:p>
        </p:txBody>
      </p:sp>
      <p:sp>
        <p:nvSpPr>
          <p:cNvPr id="38" name="TextBox 37">
            <a:extLst>
              <a:ext uri="{FF2B5EF4-FFF2-40B4-BE49-F238E27FC236}">
                <a16:creationId xmlns:a16="http://schemas.microsoft.com/office/drawing/2014/main" id="{EC6F7D51-0994-4E14-AB4F-A088DE328FD6}"/>
              </a:ext>
            </a:extLst>
          </p:cNvPr>
          <p:cNvSpPr txBox="1"/>
          <p:nvPr/>
        </p:nvSpPr>
        <p:spPr>
          <a:xfrm>
            <a:off x="307097" y="1460243"/>
            <a:ext cx="8410073" cy="1015663"/>
          </a:xfrm>
          <a:prstGeom prst="rect">
            <a:avLst/>
          </a:prstGeom>
          <a:noFill/>
          <a:ln>
            <a:noFill/>
          </a:ln>
        </p:spPr>
        <p:txBody>
          <a:bodyPr wrap="square">
            <a:spAutoFit/>
          </a:bodyPr>
          <a:lstStyle/>
          <a:p>
            <a:pPr algn="r" rtl="1"/>
            <a:r>
              <a:rPr lang="ar-SA" sz="1200" dirty="0"/>
              <a:t>تشمل إدارة الهوية والوصول (</a:t>
            </a:r>
            <a:r>
              <a:rPr lang="en-US" sz="1200" dirty="0"/>
              <a:t>Identity and Access Management</a:t>
            </a:r>
            <a:r>
              <a:rPr lang="ar-SA" sz="1200" dirty="0"/>
              <a:t> )</a:t>
            </a:r>
            <a:r>
              <a:rPr lang="en-US" sz="1200" dirty="0"/>
              <a:t> </a:t>
            </a:r>
            <a:r>
              <a:rPr lang="ar-SA" sz="1200" dirty="0"/>
              <a:t>العمليات والتقنيات المستخدمة لإدارة هويات المستخدمين والمصادقة والتفويض وضبط الوصول عبر بيئة تقنية المعلومات. يتضمن ذلك تنفيذ الدخول الاحادي (</a:t>
            </a:r>
            <a:r>
              <a:rPr lang="en-US" sz="1200" dirty="0"/>
              <a:t> (Single Sign On SSO</a:t>
            </a:r>
            <a:r>
              <a:rPr lang="ar-SA" sz="1200" dirty="0"/>
              <a:t>والتحقق من الهوية متعدد العناصر (</a:t>
            </a:r>
            <a:r>
              <a:rPr lang="en-US" sz="1200" dirty="0"/>
              <a:t>MFA</a:t>
            </a:r>
            <a:r>
              <a:rPr lang="ar-SA" sz="1200" dirty="0"/>
              <a:t> </a:t>
            </a:r>
            <a:r>
              <a:rPr lang="en-US" sz="1200" dirty="0"/>
              <a:t>Multi Factor Authentication</a:t>
            </a:r>
            <a:r>
              <a:rPr lang="ar-SA" sz="1200" dirty="0"/>
              <a:t>)</a:t>
            </a:r>
            <a:r>
              <a:rPr lang="en-US" sz="1200" dirty="0"/>
              <a:t> </a:t>
            </a:r>
            <a:r>
              <a:rPr lang="ar-SA" sz="1200" dirty="0"/>
              <a:t>والتحكم في الوصول بناًء على الادوار (</a:t>
            </a:r>
            <a:r>
              <a:rPr lang="en-US" sz="1200" dirty="0"/>
              <a:t>Role Based Access Control RBAC</a:t>
            </a:r>
            <a:r>
              <a:rPr lang="ar-SA" sz="1200" dirty="0"/>
              <a:t>)</a:t>
            </a:r>
            <a:r>
              <a:rPr lang="en-US" sz="1200" dirty="0"/>
              <a:t> </a:t>
            </a:r>
            <a:r>
              <a:rPr lang="ar-SA" sz="1200" dirty="0"/>
              <a:t>وتوحيد الهوية، </a:t>
            </a:r>
          </a:p>
          <a:p>
            <a:pPr algn="r" rtl="1"/>
            <a:r>
              <a:rPr lang="ar-SA" sz="1200" dirty="0"/>
              <a:t>وإدارة الصلاحيات الهامة والحساسة (</a:t>
            </a:r>
            <a:r>
              <a:rPr lang="en-US" sz="1200" dirty="0"/>
              <a:t>Privileged Access Management PAM</a:t>
            </a:r>
            <a:r>
              <a:rPr lang="ar-SA" sz="1200" dirty="0"/>
              <a:t>)لضمان أن يكون لدى المستخدمين المصرح بهم فقط الوصول إلى الموارد والبيانات</a:t>
            </a:r>
          </a:p>
        </p:txBody>
      </p:sp>
      <p:sp>
        <p:nvSpPr>
          <p:cNvPr id="39" name="TextBox 38">
            <a:extLst>
              <a:ext uri="{FF2B5EF4-FFF2-40B4-BE49-F238E27FC236}">
                <a16:creationId xmlns:a16="http://schemas.microsoft.com/office/drawing/2014/main" id="{4CE330F3-7EEB-464E-A2F0-1F8DFABE51DF}"/>
              </a:ext>
            </a:extLst>
          </p:cNvPr>
          <p:cNvSpPr txBox="1"/>
          <p:nvPr/>
        </p:nvSpPr>
        <p:spPr>
          <a:xfrm>
            <a:off x="354535" y="2588141"/>
            <a:ext cx="8422309" cy="830997"/>
          </a:xfrm>
          <a:prstGeom prst="rect">
            <a:avLst/>
          </a:prstGeom>
          <a:noFill/>
          <a:ln>
            <a:noFill/>
          </a:ln>
        </p:spPr>
        <p:txBody>
          <a:bodyPr wrap="square">
            <a:spAutoFit/>
          </a:bodyPr>
          <a:lstStyle/>
          <a:p>
            <a:pPr algn="r" rtl="1"/>
            <a:r>
              <a:rPr lang="ar-SA" sz="1200" dirty="0"/>
              <a:t>يشمل أمن نقاط النهاية تأمين حماية الأجهزة الملحقة وأجهزة المستخدم النهائية، بما في ذلك أجهزة الحواسيب المكتبية والأجهزة المحمولة (حاسب محمول, الهواتف الذكية والأجهزة اللوحية) من مختلف التهديدات السيبرانية. يتضمن ذلك نشر برامج مكافحة الفيروسات/البرامج الضارة ، وحلول الكشف والاستجابة على نقاط النهاية (</a:t>
            </a:r>
            <a:r>
              <a:rPr lang="en-US" sz="1200" dirty="0"/>
              <a:t>Endpoint Detection and Response EDR</a:t>
            </a:r>
            <a:r>
              <a:rPr lang="ar-SA" sz="1200" dirty="0"/>
              <a:t>)</a:t>
            </a:r>
            <a:r>
              <a:rPr lang="en-US" sz="1200" dirty="0"/>
              <a:t>، </a:t>
            </a:r>
            <a:r>
              <a:rPr lang="ar-SA" sz="1200" dirty="0"/>
              <a:t>وإدارة الأجهزة وحماية نقاط النهاية من البرمجيات الضارة (</a:t>
            </a:r>
            <a:r>
              <a:rPr lang="en-US" sz="1200" dirty="0"/>
              <a:t>Malware</a:t>
            </a:r>
            <a:r>
              <a:rPr lang="ar-SA" sz="1200" dirty="0"/>
              <a:t>)</a:t>
            </a:r>
            <a:r>
              <a:rPr lang="en-US" sz="1200" dirty="0"/>
              <a:t> </a:t>
            </a:r>
            <a:r>
              <a:rPr lang="ar-SA" sz="1200" dirty="0"/>
              <a:t>وبرمجيات الفدية (</a:t>
            </a:r>
            <a:r>
              <a:rPr lang="en-US" sz="1200" dirty="0"/>
              <a:t>Ransomware</a:t>
            </a:r>
            <a:r>
              <a:rPr lang="ar-SA" sz="1200" dirty="0"/>
              <a:t>)</a:t>
            </a:r>
            <a:r>
              <a:rPr lang="en-US" sz="1200" dirty="0"/>
              <a:t> </a:t>
            </a:r>
            <a:r>
              <a:rPr lang="ar-SA" sz="1200" dirty="0"/>
              <a:t>والاحتيال الإلكتروني وأشكال أخرى من الهجمات السيبرانية</a:t>
            </a:r>
          </a:p>
        </p:txBody>
      </p:sp>
      <p:sp>
        <p:nvSpPr>
          <p:cNvPr id="40" name="TextBox 39">
            <a:extLst>
              <a:ext uri="{FF2B5EF4-FFF2-40B4-BE49-F238E27FC236}">
                <a16:creationId xmlns:a16="http://schemas.microsoft.com/office/drawing/2014/main" id="{72607580-826E-424C-832F-8485551E49DB}"/>
              </a:ext>
            </a:extLst>
          </p:cNvPr>
          <p:cNvSpPr txBox="1"/>
          <p:nvPr/>
        </p:nvSpPr>
        <p:spPr>
          <a:xfrm>
            <a:off x="401976" y="3488405"/>
            <a:ext cx="8327429" cy="646331"/>
          </a:xfrm>
          <a:prstGeom prst="rect">
            <a:avLst/>
          </a:prstGeom>
          <a:noFill/>
          <a:ln>
            <a:noFill/>
          </a:ln>
        </p:spPr>
        <p:txBody>
          <a:bodyPr wrap="square">
            <a:spAutoFit/>
          </a:bodyPr>
          <a:lstStyle/>
          <a:p>
            <a:pPr algn="r" rtl="1"/>
            <a:r>
              <a:rPr lang="ar-SA" sz="1200" dirty="0"/>
              <a:t>يشمل أمن البيانات حماية المعلومات الحساسة وضمان سرية وسلامة وتوفرها طوال دورة حياتها.يشمل ذلك تنفيذ التشفير وضوابط الوصول وتقنيات حجب البيانات ومنع تسريب البيانات </a:t>
            </a:r>
            <a:r>
              <a:rPr lang="en-US" sz="1200" dirty="0"/>
              <a:t>Data Leakage Prevention)</a:t>
            </a:r>
            <a:r>
              <a:rPr lang="ar-SA" sz="1200" dirty="0"/>
              <a:t> </a:t>
            </a:r>
            <a:r>
              <a:rPr lang="en-US" sz="1200" dirty="0"/>
              <a:t>(DLP </a:t>
            </a:r>
            <a:r>
              <a:rPr lang="ar-SA" sz="1200" dirty="0"/>
              <a:t>لحماية البيانات من الوصول غير المصرح به أو التسرب أو التلاعب</a:t>
            </a:r>
          </a:p>
        </p:txBody>
      </p:sp>
      <p:sp>
        <p:nvSpPr>
          <p:cNvPr id="41" name="TextBox 40">
            <a:extLst>
              <a:ext uri="{FF2B5EF4-FFF2-40B4-BE49-F238E27FC236}">
                <a16:creationId xmlns:a16="http://schemas.microsoft.com/office/drawing/2014/main" id="{F58D5C61-FC73-415E-A747-F289E199E4D6}"/>
              </a:ext>
            </a:extLst>
          </p:cNvPr>
          <p:cNvSpPr txBox="1"/>
          <p:nvPr/>
        </p:nvSpPr>
        <p:spPr>
          <a:xfrm>
            <a:off x="498684" y="4236171"/>
            <a:ext cx="8230721" cy="461665"/>
          </a:xfrm>
          <a:prstGeom prst="rect">
            <a:avLst/>
          </a:prstGeom>
          <a:noFill/>
          <a:ln>
            <a:noFill/>
          </a:ln>
        </p:spPr>
        <p:txBody>
          <a:bodyPr wrap="square">
            <a:spAutoFit/>
          </a:bodyPr>
          <a:lstStyle/>
          <a:p>
            <a:pPr algn="r" rtl="1"/>
            <a:r>
              <a:rPr lang="ar-SA" sz="1200" dirty="0"/>
              <a:t>يشمل أمن التطبيقات حماية تطبيقات البرمجيات والأنظمة من الثغرات الأمنية. يشمل ذلك إجراء الفحص الأمني للتطبيقات، حماية واجهة برمجيات التطبيقات وتنفيذ جدران الحماية لتطبيقات الويب للتخفيف من المخاطر المرتبطة بالهجمات على مستوى التطبيق</a:t>
            </a:r>
          </a:p>
        </p:txBody>
      </p:sp>
      <p:sp>
        <p:nvSpPr>
          <p:cNvPr id="42" name="TextBox 41">
            <a:extLst>
              <a:ext uri="{FF2B5EF4-FFF2-40B4-BE49-F238E27FC236}">
                <a16:creationId xmlns:a16="http://schemas.microsoft.com/office/drawing/2014/main" id="{F759C242-5A77-4B67-B871-2481EC749906}"/>
              </a:ext>
            </a:extLst>
          </p:cNvPr>
          <p:cNvSpPr txBox="1"/>
          <p:nvPr/>
        </p:nvSpPr>
        <p:spPr>
          <a:xfrm>
            <a:off x="389741" y="4804624"/>
            <a:ext cx="8327429" cy="461665"/>
          </a:xfrm>
          <a:prstGeom prst="rect">
            <a:avLst/>
          </a:prstGeom>
          <a:noFill/>
          <a:ln>
            <a:noFill/>
          </a:ln>
        </p:spPr>
        <p:txBody>
          <a:bodyPr wrap="square">
            <a:spAutoFit/>
          </a:bodyPr>
          <a:lstStyle/>
          <a:p>
            <a:pPr algn="r" rtl="1"/>
            <a:r>
              <a:rPr lang="ar-SA" sz="1200" dirty="0"/>
              <a:t>يشمل أمن البنية التحتية حماية المكونات الأساسية لبيئة تقنية المعلومات، بما في ذلك الخوادم والشبكات ومراكز البيانات من مختلف التهديدات الأمنية. يشمل ذلك تنفيذ تدابير مثل جدران الحماية وأنظمة الكشف/الوقاية من الاختراق (</a:t>
            </a:r>
            <a:r>
              <a:rPr lang="en-US" sz="1200" dirty="0"/>
              <a:t>IDS/IPS</a:t>
            </a:r>
            <a:r>
              <a:rPr lang="ar-SA" sz="1200" dirty="0"/>
              <a:t>)</a:t>
            </a:r>
            <a:r>
              <a:rPr lang="en-US" sz="1200" dirty="0"/>
              <a:t>، </a:t>
            </a:r>
            <a:r>
              <a:rPr lang="ar-SA" sz="1200" dirty="0"/>
              <a:t>وغيرها</a:t>
            </a:r>
          </a:p>
        </p:txBody>
      </p:sp>
    </p:spTree>
    <p:extLst>
      <p:ext uri="{BB962C8B-B14F-4D97-AF65-F5344CB8AC3E}">
        <p14:creationId xmlns:p14="http://schemas.microsoft.com/office/powerpoint/2010/main" val="3039027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294859" y="6374273"/>
            <a:ext cx="6097604" cy="307777"/>
          </a:xfrm>
          <a:prstGeom prst="rect">
            <a:avLst/>
          </a:prstGeom>
          <a:noFill/>
        </p:spPr>
        <p:txBody>
          <a:bodyPr wrap="square">
            <a:spAutoFit/>
          </a:bodyPr>
          <a:lstStyle/>
          <a:p>
            <a:fld id="{008E1BDA-5E07-414A-8101-29DABEB15B19}" type="slidenum">
              <a:rPr lang="en-SA" sz="1400" b="1">
                <a:solidFill>
                  <a:schemeClr val="accent1"/>
                </a:solidFill>
              </a:rPr>
              <a:pPr/>
              <a:t>54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طبقات بنية الأمن (2/2)</a:t>
            </a:r>
            <a:endParaRPr lang="en-US" dirty="0"/>
          </a:p>
        </p:txBody>
      </p:sp>
      <p:sp>
        <p:nvSpPr>
          <p:cNvPr id="12" name="Rectangle: Rounded Corners 11">
            <a:extLst>
              <a:ext uri="{FF2B5EF4-FFF2-40B4-BE49-F238E27FC236}">
                <a16:creationId xmlns:a16="http://schemas.microsoft.com/office/drawing/2014/main" id="{4CF70AAA-E30C-4730-8D04-C2F5CD2F1C1C}"/>
              </a:ext>
            </a:extLst>
          </p:cNvPr>
          <p:cNvSpPr>
            <a:spLocks/>
          </p:cNvSpPr>
          <p:nvPr/>
        </p:nvSpPr>
        <p:spPr>
          <a:xfrm>
            <a:off x="294859" y="1250462"/>
            <a:ext cx="11602279" cy="2711938"/>
          </a:xfrm>
          <a:prstGeom prst="roundRect">
            <a:avLst>
              <a:gd name="adj" fmla="val 1249"/>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9662F2CE-BD4B-4619-A062-03B2D479FBD2}"/>
              </a:ext>
            </a:extLst>
          </p:cNvPr>
          <p:cNvSpPr>
            <a:spLocks/>
          </p:cNvSpPr>
          <p:nvPr/>
        </p:nvSpPr>
        <p:spPr>
          <a:xfrm>
            <a:off x="8908757" y="1382183"/>
            <a:ext cx="2796794" cy="876344"/>
          </a:xfrm>
          <a:prstGeom prst="roundRect">
            <a:avLst/>
          </a:prstGeom>
          <a:solidFill>
            <a:srgbClr val="F2F2F2"/>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200" b="1" kern="100" dirty="0">
                <a:solidFill>
                  <a:schemeClr val="tx1"/>
                </a:solidFill>
                <a:effectLst/>
                <a:latin typeface="Neo Sans Arabic" panose="020B0504030504040204" pitchFamily="34" charset="-78"/>
                <a:ea typeface="Aptos" panose="020B0004020202020204" pitchFamily="34" charset="0"/>
                <a:cs typeface="+mn-cs"/>
              </a:rPr>
              <a:t>العمليات الأمنية والاستجابة للحوادث</a:t>
            </a:r>
          </a:p>
        </p:txBody>
      </p:sp>
      <p:sp>
        <p:nvSpPr>
          <p:cNvPr id="28" name="Rectangle: Rounded Corners 27">
            <a:extLst>
              <a:ext uri="{FF2B5EF4-FFF2-40B4-BE49-F238E27FC236}">
                <a16:creationId xmlns:a16="http://schemas.microsoft.com/office/drawing/2014/main" id="{6578D59C-3784-4E72-97C3-97C70A1A655D}"/>
              </a:ext>
            </a:extLst>
          </p:cNvPr>
          <p:cNvSpPr>
            <a:spLocks/>
          </p:cNvSpPr>
          <p:nvPr/>
        </p:nvSpPr>
        <p:spPr>
          <a:xfrm>
            <a:off x="8896521" y="2330385"/>
            <a:ext cx="2796794" cy="643629"/>
          </a:xfrm>
          <a:prstGeom prst="roundRect">
            <a:avLst/>
          </a:prstGeom>
          <a:solidFill>
            <a:schemeClr val="bg1">
              <a:lumMod val="95000"/>
            </a:schemeClr>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200" b="1" kern="100" dirty="0">
                <a:solidFill>
                  <a:schemeClr val="tx1"/>
                </a:solidFill>
                <a:effectLst/>
                <a:latin typeface="Neo Sans Arabic" panose="020B0504030504040204" pitchFamily="34" charset="-78"/>
                <a:ea typeface="Aptos" panose="020B0004020202020204" pitchFamily="34" charset="0"/>
                <a:cs typeface="+mn-cs"/>
              </a:rPr>
              <a:t>إدارة الثغرات والتهديدات الأمنية</a:t>
            </a:r>
          </a:p>
        </p:txBody>
      </p:sp>
      <p:sp>
        <p:nvSpPr>
          <p:cNvPr id="35" name="Rectangle: Rounded Corners 34">
            <a:extLst>
              <a:ext uri="{FF2B5EF4-FFF2-40B4-BE49-F238E27FC236}">
                <a16:creationId xmlns:a16="http://schemas.microsoft.com/office/drawing/2014/main" id="{EFF32D6A-D9F6-46BB-B748-64CC43AA1542}"/>
              </a:ext>
            </a:extLst>
          </p:cNvPr>
          <p:cNvSpPr>
            <a:spLocks/>
          </p:cNvSpPr>
          <p:nvPr/>
        </p:nvSpPr>
        <p:spPr>
          <a:xfrm>
            <a:off x="359235" y="1384509"/>
            <a:ext cx="8399662" cy="878284"/>
          </a:xfrm>
          <a:prstGeom prst="roundRect">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100" kern="100" dirty="0">
              <a:solidFill>
                <a:schemeClr val="tx1"/>
              </a:solidFill>
              <a:effectLst/>
              <a:latin typeface="Neo Sans Arabic" panose="020B0504030504040204" pitchFamily="34" charset="-78"/>
              <a:ea typeface="Aptos" panose="020B0004020202020204" pitchFamily="34" charset="0"/>
              <a:cs typeface="+mn-cs"/>
            </a:endParaRPr>
          </a:p>
        </p:txBody>
      </p:sp>
      <p:sp>
        <p:nvSpPr>
          <p:cNvPr id="36" name="Rectangle: Rounded Corners 35">
            <a:extLst>
              <a:ext uri="{FF2B5EF4-FFF2-40B4-BE49-F238E27FC236}">
                <a16:creationId xmlns:a16="http://schemas.microsoft.com/office/drawing/2014/main" id="{3B6293E0-4B49-4C82-A7A3-61AEEC21061C}"/>
              </a:ext>
            </a:extLst>
          </p:cNvPr>
          <p:cNvSpPr>
            <a:spLocks/>
          </p:cNvSpPr>
          <p:nvPr/>
        </p:nvSpPr>
        <p:spPr>
          <a:xfrm>
            <a:off x="340392" y="2327684"/>
            <a:ext cx="8399662" cy="646330"/>
          </a:xfrm>
          <a:prstGeom prst="roundRect">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100" kern="100" dirty="0">
              <a:solidFill>
                <a:schemeClr val="tx1"/>
              </a:solidFill>
              <a:effectLst/>
              <a:latin typeface="Neo Sans Arabic" panose="020B0504030504040204" pitchFamily="34" charset="-78"/>
              <a:ea typeface="Aptos" panose="020B0004020202020204" pitchFamily="34" charset="0"/>
              <a:cs typeface="+mn-cs"/>
            </a:endParaRPr>
          </a:p>
        </p:txBody>
      </p:sp>
      <p:sp>
        <p:nvSpPr>
          <p:cNvPr id="43" name="TextBox 42">
            <a:extLst>
              <a:ext uri="{FF2B5EF4-FFF2-40B4-BE49-F238E27FC236}">
                <a16:creationId xmlns:a16="http://schemas.microsoft.com/office/drawing/2014/main" id="{CD9D4614-996B-4D24-AB10-E151F7F32D2A}"/>
              </a:ext>
            </a:extLst>
          </p:cNvPr>
          <p:cNvSpPr txBox="1"/>
          <p:nvPr/>
        </p:nvSpPr>
        <p:spPr>
          <a:xfrm>
            <a:off x="498684" y="1399962"/>
            <a:ext cx="8230721" cy="830997"/>
          </a:xfrm>
          <a:prstGeom prst="rect">
            <a:avLst/>
          </a:prstGeom>
          <a:noFill/>
          <a:ln>
            <a:noFill/>
          </a:ln>
        </p:spPr>
        <p:txBody>
          <a:bodyPr wrap="square">
            <a:spAutoFit/>
          </a:bodyPr>
          <a:lstStyle/>
          <a:p>
            <a:pPr algn="r" rtl="1"/>
            <a:r>
              <a:rPr lang="ar-SA" sz="1200" dirty="0"/>
              <a:t>تشمل العمليات الأمنية والاستجابة للحوادث قدرات المراقبة المستمرة لبيئة تقنية المعلومات لاكتشاف الحوادث الأمنية والتهديدات والثغرات. يتضمن ذلك نشر أنظمة إدارة المعلومات والأحداث الأمنية (</a:t>
            </a:r>
            <a:r>
              <a:rPr lang="en-US" sz="1200" dirty="0"/>
              <a:t>Security Information and Events Management SIEM</a:t>
            </a:r>
            <a:r>
              <a:rPr lang="ar-SA" sz="1200" dirty="0"/>
              <a:t>)</a:t>
            </a:r>
            <a:r>
              <a:rPr lang="en-US" sz="1200" dirty="0"/>
              <a:t>, </a:t>
            </a:r>
            <a:r>
              <a:rPr lang="ar-SA" sz="1200" dirty="0"/>
              <a:t>وحلول إدارة السجلات والتحليلات الأمنية لاكتشاف والاستجابة للحوادث الأمنية في الوقت الفعلي بالإضافة إلى إدارة العمليات الأمنية واحتواء </a:t>
            </a:r>
          </a:p>
          <a:p>
            <a:pPr algn="r" rtl="1"/>
            <a:r>
              <a:rPr lang="ar-SA" sz="1200" dirty="0"/>
              <a:t>وتخفيف أثر الحوادث واستعادة العمليات الطبيعية بشكل سريع وفّعال</a:t>
            </a:r>
          </a:p>
        </p:txBody>
      </p:sp>
      <p:sp>
        <p:nvSpPr>
          <p:cNvPr id="44" name="TextBox 43">
            <a:extLst>
              <a:ext uri="{FF2B5EF4-FFF2-40B4-BE49-F238E27FC236}">
                <a16:creationId xmlns:a16="http://schemas.microsoft.com/office/drawing/2014/main" id="{7D4C02BF-03B8-4D24-915F-B9901194F8B2}"/>
              </a:ext>
            </a:extLst>
          </p:cNvPr>
          <p:cNvSpPr txBox="1"/>
          <p:nvPr/>
        </p:nvSpPr>
        <p:spPr>
          <a:xfrm>
            <a:off x="498684" y="2327683"/>
            <a:ext cx="8230721" cy="646331"/>
          </a:xfrm>
          <a:prstGeom prst="rect">
            <a:avLst/>
          </a:prstGeom>
          <a:noFill/>
          <a:ln>
            <a:noFill/>
          </a:ln>
        </p:spPr>
        <p:txBody>
          <a:bodyPr wrap="square">
            <a:spAutoFit/>
          </a:bodyPr>
          <a:lstStyle/>
          <a:p>
            <a:pPr algn="r" rtl="1"/>
            <a:r>
              <a:rPr lang="ar-SA" sz="1200" dirty="0"/>
              <a:t>تشمل إدارة التهديدات والثغرات قدرات تحديد وتصنيف وتخفيف الثغرات الأمنية والتهديدات عبر البنية التحتية لتقنية المعلومات. يتضمن ذلك إجراء تقييمات الثغرات واختبار الاختراق وتصحيح الثغرات وتحليل معلومات التهديدات الأمنية السيبرانية وتحديث القواعد الأمنية وفقاً لنتائج التحليل</a:t>
            </a:r>
          </a:p>
        </p:txBody>
      </p:sp>
      <p:sp>
        <p:nvSpPr>
          <p:cNvPr id="29" name="Rectangle: Rounded Corners 28">
            <a:extLst>
              <a:ext uri="{FF2B5EF4-FFF2-40B4-BE49-F238E27FC236}">
                <a16:creationId xmlns:a16="http://schemas.microsoft.com/office/drawing/2014/main" id="{2F36D84D-BF07-4320-BA7B-C6D435388CD4}"/>
              </a:ext>
            </a:extLst>
          </p:cNvPr>
          <p:cNvSpPr>
            <a:spLocks/>
          </p:cNvSpPr>
          <p:nvPr/>
        </p:nvSpPr>
        <p:spPr>
          <a:xfrm>
            <a:off x="8896521" y="3045872"/>
            <a:ext cx="2796794" cy="643629"/>
          </a:xfrm>
          <a:prstGeom prst="roundRect">
            <a:avLst/>
          </a:prstGeom>
          <a:solidFill>
            <a:schemeClr val="bg1">
              <a:lumMod val="95000"/>
            </a:schemeClr>
          </a:solid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1200" b="1" kern="100" dirty="0">
                <a:solidFill>
                  <a:schemeClr val="tx1"/>
                </a:solidFill>
                <a:effectLst/>
                <a:latin typeface="Neo Sans Arabic" panose="020B0504030504040204" pitchFamily="34" charset="-78"/>
                <a:ea typeface="Aptos" panose="020B0004020202020204" pitchFamily="34" charset="0"/>
                <a:cs typeface="+mn-cs"/>
              </a:rPr>
              <a:t>الحوكمة والمخاطر والامتثال</a:t>
            </a:r>
          </a:p>
        </p:txBody>
      </p:sp>
      <p:sp>
        <p:nvSpPr>
          <p:cNvPr id="37" name="Rectangle: Rounded Corners 36">
            <a:extLst>
              <a:ext uri="{FF2B5EF4-FFF2-40B4-BE49-F238E27FC236}">
                <a16:creationId xmlns:a16="http://schemas.microsoft.com/office/drawing/2014/main" id="{6712FF94-62D0-47DE-8BF2-F25E6B5CAA5E}"/>
              </a:ext>
            </a:extLst>
          </p:cNvPr>
          <p:cNvSpPr>
            <a:spLocks/>
          </p:cNvSpPr>
          <p:nvPr/>
        </p:nvSpPr>
        <p:spPr>
          <a:xfrm>
            <a:off x="340392" y="3043171"/>
            <a:ext cx="8399662" cy="646330"/>
          </a:xfrm>
          <a:prstGeom prst="roundRect">
            <a:avLst/>
          </a:prstGeom>
          <a:noFill/>
          <a:ln>
            <a:solidFill>
              <a:srgbClr val="4C3C8D"/>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US" sz="1100" kern="100" dirty="0">
              <a:solidFill>
                <a:schemeClr val="tx1"/>
              </a:solidFill>
              <a:effectLst/>
              <a:latin typeface="Neo Sans Arabic" panose="020B0504030504040204" pitchFamily="34" charset="-78"/>
              <a:ea typeface="Aptos" panose="020B0004020202020204" pitchFamily="34" charset="0"/>
              <a:cs typeface="+mn-cs"/>
            </a:endParaRPr>
          </a:p>
        </p:txBody>
      </p:sp>
      <p:sp>
        <p:nvSpPr>
          <p:cNvPr id="45" name="TextBox 44">
            <a:extLst>
              <a:ext uri="{FF2B5EF4-FFF2-40B4-BE49-F238E27FC236}">
                <a16:creationId xmlns:a16="http://schemas.microsoft.com/office/drawing/2014/main" id="{E8248938-1C59-4BA1-845E-5EE77CB0C914}"/>
              </a:ext>
            </a:extLst>
          </p:cNvPr>
          <p:cNvSpPr txBox="1"/>
          <p:nvPr/>
        </p:nvSpPr>
        <p:spPr>
          <a:xfrm>
            <a:off x="498684" y="3043170"/>
            <a:ext cx="8230721" cy="461665"/>
          </a:xfrm>
          <a:prstGeom prst="rect">
            <a:avLst/>
          </a:prstGeom>
          <a:noFill/>
          <a:ln>
            <a:noFill/>
          </a:ln>
        </p:spPr>
        <p:txBody>
          <a:bodyPr wrap="square">
            <a:spAutoFit/>
          </a:bodyPr>
          <a:lstStyle/>
          <a:p>
            <a:pPr algn="r" rtl="1"/>
            <a:r>
              <a:rPr lang="ar-SA" sz="1200" dirty="0"/>
              <a:t>تشمل السياسات والإجراءات والمعايير ووثائق الحوكمة الخاصة بالأمن السيبراني المعتمدة في الهيئة بهدف حوكمة وإدارة أعمال الأمن السيبراني بما يشمله من إدارة المخاطر وقياس الامتثال في الهيئة, وبالتوافق مع متطلبات هيئة الأمن السيبراني. ويتضمن ذلك سياسات أمن المعلومات وتشفير البيانات وإدارة كلمات المرور, وإجراءات إدارة المخاطر و إجراءات أمن الشبكة, وغيرها.</a:t>
            </a:r>
          </a:p>
        </p:txBody>
      </p:sp>
    </p:spTree>
    <p:extLst>
      <p:ext uri="{BB962C8B-B14F-4D97-AF65-F5344CB8AC3E}">
        <p14:creationId xmlns:p14="http://schemas.microsoft.com/office/powerpoint/2010/main" val="19052411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59561E5-403E-4814-9636-0A33F15D61E4}"/>
              </a:ext>
            </a:extLst>
          </p:cNvPr>
          <p:cNvSpPr>
            <a:spLocks noGrp="1"/>
          </p:cNvSpPr>
          <p:nvPr>
            <p:ph type="title"/>
          </p:nvPr>
        </p:nvSpPr>
        <p:spPr/>
        <p:txBody>
          <a:bodyPr/>
          <a:lstStyle/>
          <a:p>
            <a:r>
              <a:rPr lang="ar-SA" sz="3200" dirty="0"/>
              <a:t>طبقات النموذج المرجعي الوطني لبنية الأمن</a:t>
            </a:r>
            <a:endParaRPr lang="en-US" sz="3200" dirty="0"/>
          </a:p>
        </p:txBody>
      </p:sp>
      <p:sp>
        <p:nvSpPr>
          <p:cNvPr id="16" name="Rectangle: Rounded Corners 15">
            <a:extLst>
              <a:ext uri="{FF2B5EF4-FFF2-40B4-BE49-F238E27FC236}">
                <a16:creationId xmlns:a16="http://schemas.microsoft.com/office/drawing/2014/main" id="{F79E3FBA-8DF5-4E30-8232-79016089A686}"/>
              </a:ext>
            </a:extLst>
          </p:cNvPr>
          <p:cNvSpPr>
            <a:spLocks/>
          </p:cNvSpPr>
          <p:nvPr/>
        </p:nvSpPr>
        <p:spPr>
          <a:xfrm>
            <a:off x="477749" y="1129702"/>
            <a:ext cx="11550267" cy="5651399"/>
          </a:xfrm>
          <a:prstGeom prst="roundRect">
            <a:avLst>
              <a:gd name="adj" fmla="val 1249"/>
            </a:avLst>
          </a:prstGeom>
          <a:no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Rectangle: Rounded Corners 16">
            <a:extLst>
              <a:ext uri="{FF2B5EF4-FFF2-40B4-BE49-F238E27FC236}">
                <a16:creationId xmlns:a16="http://schemas.microsoft.com/office/drawing/2014/main" id="{093A6AC8-9910-49ED-A724-7EA3059ED755}"/>
              </a:ext>
            </a:extLst>
          </p:cNvPr>
          <p:cNvSpPr>
            <a:spLocks/>
          </p:cNvSpPr>
          <p:nvPr/>
        </p:nvSpPr>
        <p:spPr>
          <a:xfrm>
            <a:off x="515884" y="2583287"/>
            <a:ext cx="3704544" cy="1700600"/>
          </a:xfrm>
          <a:prstGeom prst="roundRect">
            <a:avLst>
              <a:gd name="adj" fmla="val 2067"/>
            </a:avLst>
          </a:prstGeom>
          <a:solidFill>
            <a:srgbClr val="F2F2F2"/>
          </a:solid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ar-SA" sz="1100" b="1" kern="100" dirty="0">
                <a:solidFill>
                  <a:schemeClr val="tx1"/>
                </a:solidFill>
                <a:effectLst/>
                <a:latin typeface="Neo Sans Arabic" panose="020B0504030504040204" pitchFamily="34" charset="-78"/>
                <a:ea typeface="Aptos" panose="020B0004020202020204" pitchFamily="34" charset="0"/>
                <a:cs typeface="+mn-cs"/>
              </a:rPr>
              <a:t>أمن التطبيقات</a:t>
            </a:r>
          </a:p>
        </p:txBody>
      </p:sp>
      <p:sp>
        <p:nvSpPr>
          <p:cNvPr id="18" name="Rectangle: Rounded Corners 17">
            <a:extLst>
              <a:ext uri="{FF2B5EF4-FFF2-40B4-BE49-F238E27FC236}">
                <a16:creationId xmlns:a16="http://schemas.microsoft.com/office/drawing/2014/main" id="{61FD518C-4C86-4F49-B762-BB660C39FB22}"/>
              </a:ext>
            </a:extLst>
          </p:cNvPr>
          <p:cNvSpPr>
            <a:spLocks/>
          </p:cNvSpPr>
          <p:nvPr/>
        </p:nvSpPr>
        <p:spPr>
          <a:xfrm>
            <a:off x="507860" y="4307396"/>
            <a:ext cx="9078482" cy="1700600"/>
          </a:xfrm>
          <a:prstGeom prst="roundRect">
            <a:avLst>
              <a:gd name="adj" fmla="val 2067"/>
            </a:avLst>
          </a:prstGeom>
          <a:solidFill>
            <a:srgbClr val="F2F2F2"/>
          </a:solid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ar-SA" sz="1100" b="1" kern="100" dirty="0">
                <a:solidFill>
                  <a:schemeClr val="tx1"/>
                </a:solidFill>
                <a:effectLst/>
                <a:latin typeface="Neo Sans Arabic" panose="020B0504030504040204" pitchFamily="34" charset="-78"/>
                <a:ea typeface="Aptos" panose="020B0004020202020204" pitchFamily="34" charset="0"/>
                <a:cs typeface="+mn-cs"/>
              </a:rPr>
              <a:t>أمن البنية التحتية</a:t>
            </a:r>
          </a:p>
        </p:txBody>
      </p:sp>
      <p:sp>
        <p:nvSpPr>
          <p:cNvPr id="19" name="Rectangle: Rounded Corners 18">
            <a:extLst>
              <a:ext uri="{FF2B5EF4-FFF2-40B4-BE49-F238E27FC236}">
                <a16:creationId xmlns:a16="http://schemas.microsoft.com/office/drawing/2014/main" id="{486443D2-33EF-4D48-874D-DA36EE9DD61C}"/>
              </a:ext>
            </a:extLst>
          </p:cNvPr>
          <p:cNvSpPr>
            <a:spLocks/>
          </p:cNvSpPr>
          <p:nvPr/>
        </p:nvSpPr>
        <p:spPr>
          <a:xfrm>
            <a:off x="515883" y="6048157"/>
            <a:ext cx="11473998" cy="673938"/>
          </a:xfrm>
          <a:prstGeom prst="roundRect">
            <a:avLst>
              <a:gd name="adj" fmla="val 2067"/>
            </a:avLst>
          </a:prstGeom>
          <a:solidFill>
            <a:srgbClr val="F2F2F2"/>
          </a:solid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ar-SA" sz="1100" b="1" kern="100" dirty="0">
                <a:solidFill>
                  <a:schemeClr val="tx1"/>
                </a:solidFill>
                <a:effectLst/>
                <a:latin typeface="Neo Sans Arabic" panose="020B0504030504040204" pitchFamily="34" charset="-78"/>
                <a:ea typeface="Aptos" panose="020B0004020202020204" pitchFamily="34" charset="0"/>
                <a:cs typeface="+mn-cs"/>
              </a:rPr>
              <a:t>الحوكمة والمخاطر والامتثال</a:t>
            </a:r>
          </a:p>
        </p:txBody>
      </p:sp>
      <p:grpSp>
        <p:nvGrpSpPr>
          <p:cNvPr id="20" name="Group 19">
            <a:extLst>
              <a:ext uri="{FF2B5EF4-FFF2-40B4-BE49-F238E27FC236}">
                <a16:creationId xmlns:a16="http://schemas.microsoft.com/office/drawing/2014/main" id="{26EDCB3E-EF50-4D09-9B9C-1100201569FA}"/>
              </a:ext>
            </a:extLst>
          </p:cNvPr>
          <p:cNvGrpSpPr/>
          <p:nvPr/>
        </p:nvGrpSpPr>
        <p:grpSpPr>
          <a:xfrm>
            <a:off x="518811" y="1160115"/>
            <a:ext cx="9078482" cy="673938"/>
            <a:chOff x="346873" y="754414"/>
            <a:chExt cx="9078482" cy="673938"/>
          </a:xfrm>
          <a:solidFill>
            <a:srgbClr val="F2F2F2"/>
          </a:solidFill>
        </p:grpSpPr>
        <p:sp>
          <p:nvSpPr>
            <p:cNvPr id="21" name="Rectangle: Rounded Corners 20">
              <a:extLst>
                <a:ext uri="{FF2B5EF4-FFF2-40B4-BE49-F238E27FC236}">
                  <a16:creationId xmlns:a16="http://schemas.microsoft.com/office/drawing/2014/main" id="{B9B99116-5171-44D4-ADF7-4A7B4CF76DA9}"/>
                </a:ext>
              </a:extLst>
            </p:cNvPr>
            <p:cNvSpPr>
              <a:spLocks/>
            </p:cNvSpPr>
            <p:nvPr/>
          </p:nvSpPr>
          <p:spPr>
            <a:xfrm>
              <a:off x="346873" y="754414"/>
              <a:ext cx="9078482" cy="673938"/>
            </a:xfrm>
            <a:prstGeom prst="roundRect">
              <a:avLst>
                <a:gd name="adj" fmla="val 2067"/>
              </a:avLst>
            </a:prstGeom>
            <a:grp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ar-SA" sz="1100" b="1" kern="100" dirty="0">
                  <a:solidFill>
                    <a:schemeClr val="tx1"/>
                  </a:solidFill>
                  <a:effectLst/>
                  <a:latin typeface="Neo Sans Arabic" panose="020B0504030504040204" pitchFamily="34" charset="-78"/>
                  <a:ea typeface="Aptos" panose="020B0004020202020204" pitchFamily="34" charset="0"/>
                  <a:cs typeface="+mn-cs"/>
                </a:rPr>
                <a:t>إدارة الهوية والوصول</a:t>
              </a:r>
            </a:p>
          </p:txBody>
        </p:sp>
        <p:sp>
          <p:nvSpPr>
            <p:cNvPr id="22" name="Rectangle: Rounded Corners 21">
              <a:extLst>
                <a:ext uri="{FF2B5EF4-FFF2-40B4-BE49-F238E27FC236}">
                  <a16:creationId xmlns:a16="http://schemas.microsoft.com/office/drawing/2014/main" id="{A71FED07-A2E7-4022-8CFD-9567EDDC82A7}"/>
                </a:ext>
              </a:extLst>
            </p:cNvPr>
            <p:cNvSpPr>
              <a:spLocks/>
            </p:cNvSpPr>
            <p:nvPr/>
          </p:nvSpPr>
          <p:spPr>
            <a:xfrm>
              <a:off x="514846" y="101671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إدارة الدخول إلي السحابة</a:t>
              </a:r>
              <a:r>
                <a:rPr lang="en-US" sz="700" b="1" dirty="0">
                  <a:solidFill>
                    <a:schemeClr val="bg1"/>
                  </a:solidFill>
                  <a:latin typeface="Neo Sans Arabic" panose="020B0504030504040204" pitchFamily="34" charset="-78"/>
                </a:rPr>
                <a:t>Cloud Access Management</a:t>
              </a:r>
            </a:p>
          </p:txBody>
        </p:sp>
        <p:sp>
          <p:nvSpPr>
            <p:cNvPr id="23" name="Rectangle: Rounded Corners 22">
              <a:extLst>
                <a:ext uri="{FF2B5EF4-FFF2-40B4-BE49-F238E27FC236}">
                  <a16:creationId xmlns:a16="http://schemas.microsoft.com/office/drawing/2014/main" id="{D907CC14-CDC9-489A-A8F8-86DAF9CD411E}"/>
                </a:ext>
              </a:extLst>
            </p:cNvPr>
            <p:cNvSpPr>
              <a:spLocks/>
            </p:cNvSpPr>
            <p:nvPr/>
          </p:nvSpPr>
          <p:spPr>
            <a:xfrm>
              <a:off x="2296371" y="101671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تسجيل الدخول الأحادي</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Single Sign-On (SSO)</a:t>
              </a:r>
            </a:p>
          </p:txBody>
        </p:sp>
        <p:sp>
          <p:nvSpPr>
            <p:cNvPr id="24" name="Rectangle: Rounded Corners 23">
              <a:extLst>
                <a:ext uri="{FF2B5EF4-FFF2-40B4-BE49-F238E27FC236}">
                  <a16:creationId xmlns:a16="http://schemas.microsoft.com/office/drawing/2014/main" id="{DD08C2A4-12BE-4174-BE51-F4A0750D55A5}"/>
                </a:ext>
              </a:extLst>
            </p:cNvPr>
            <p:cNvSpPr>
              <a:spLocks/>
            </p:cNvSpPr>
            <p:nvPr/>
          </p:nvSpPr>
          <p:spPr>
            <a:xfrm>
              <a:off x="4077896" y="101671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التحقق من الهوية متعدد العناصر</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Multi-Factor Authentication (MFA)</a:t>
              </a:r>
            </a:p>
          </p:txBody>
        </p:sp>
        <p:sp>
          <p:nvSpPr>
            <p:cNvPr id="25" name="Rectangle: Rounded Corners 24">
              <a:extLst>
                <a:ext uri="{FF2B5EF4-FFF2-40B4-BE49-F238E27FC236}">
                  <a16:creationId xmlns:a16="http://schemas.microsoft.com/office/drawing/2014/main" id="{00EF5C4F-7565-46C1-9356-9C99D9983D1F}"/>
                </a:ext>
              </a:extLst>
            </p:cNvPr>
            <p:cNvSpPr>
              <a:spLocks/>
            </p:cNvSpPr>
            <p:nvPr/>
          </p:nvSpPr>
          <p:spPr>
            <a:xfrm>
              <a:off x="5859421" y="101671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إدارة هويات الدخول والصلاحيات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Identity and Access Management (IAM)</a:t>
              </a:r>
            </a:p>
          </p:txBody>
        </p:sp>
        <p:sp>
          <p:nvSpPr>
            <p:cNvPr id="26" name="Rectangle: Rounded Corners 25">
              <a:extLst>
                <a:ext uri="{FF2B5EF4-FFF2-40B4-BE49-F238E27FC236}">
                  <a16:creationId xmlns:a16="http://schemas.microsoft.com/office/drawing/2014/main" id="{02DFD3AD-64FA-460D-A988-7615395B712C}"/>
                </a:ext>
              </a:extLst>
            </p:cNvPr>
            <p:cNvSpPr>
              <a:spLocks/>
            </p:cNvSpPr>
            <p:nvPr/>
          </p:nvSpPr>
          <p:spPr>
            <a:xfrm>
              <a:off x="7640948" y="101671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إدارة الصلاحيات الهامة والحساسة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Privileged Access Management (PAM)</a:t>
              </a:r>
            </a:p>
          </p:txBody>
        </p:sp>
      </p:grpSp>
      <p:grpSp>
        <p:nvGrpSpPr>
          <p:cNvPr id="27" name="Group 26">
            <a:extLst>
              <a:ext uri="{FF2B5EF4-FFF2-40B4-BE49-F238E27FC236}">
                <a16:creationId xmlns:a16="http://schemas.microsoft.com/office/drawing/2014/main" id="{057B8293-08D8-4DBB-A074-AD09A5ACBB28}"/>
              </a:ext>
            </a:extLst>
          </p:cNvPr>
          <p:cNvGrpSpPr/>
          <p:nvPr/>
        </p:nvGrpSpPr>
        <p:grpSpPr>
          <a:xfrm>
            <a:off x="518811" y="1868534"/>
            <a:ext cx="9078482" cy="673938"/>
            <a:chOff x="346873" y="754414"/>
            <a:chExt cx="9078482" cy="673938"/>
          </a:xfrm>
          <a:solidFill>
            <a:srgbClr val="F2F2F2"/>
          </a:solidFill>
        </p:grpSpPr>
        <p:sp>
          <p:nvSpPr>
            <p:cNvPr id="28" name="Rectangle: Rounded Corners 27">
              <a:extLst>
                <a:ext uri="{FF2B5EF4-FFF2-40B4-BE49-F238E27FC236}">
                  <a16:creationId xmlns:a16="http://schemas.microsoft.com/office/drawing/2014/main" id="{E40FF717-8641-4586-AC22-D21502829736}"/>
                </a:ext>
              </a:extLst>
            </p:cNvPr>
            <p:cNvSpPr>
              <a:spLocks/>
            </p:cNvSpPr>
            <p:nvPr/>
          </p:nvSpPr>
          <p:spPr>
            <a:xfrm>
              <a:off x="346873" y="754414"/>
              <a:ext cx="9078482" cy="673938"/>
            </a:xfrm>
            <a:prstGeom prst="roundRect">
              <a:avLst>
                <a:gd name="adj" fmla="val 2067"/>
              </a:avLst>
            </a:prstGeom>
            <a:grp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ar-SA" sz="1100" b="1" kern="100" dirty="0">
                  <a:solidFill>
                    <a:schemeClr val="tx1"/>
                  </a:solidFill>
                  <a:effectLst/>
                  <a:latin typeface="Neo Sans Arabic" panose="020B0504030504040204" pitchFamily="34" charset="-78"/>
                  <a:ea typeface="Aptos" panose="020B0004020202020204" pitchFamily="34" charset="0"/>
                  <a:cs typeface="+mn-cs"/>
                </a:rPr>
                <a:t>أمن نقاط النهاية</a:t>
              </a:r>
            </a:p>
          </p:txBody>
        </p:sp>
        <p:sp>
          <p:nvSpPr>
            <p:cNvPr id="29" name="Rectangle: Rounded Corners 28">
              <a:extLst>
                <a:ext uri="{FF2B5EF4-FFF2-40B4-BE49-F238E27FC236}">
                  <a16:creationId xmlns:a16="http://schemas.microsoft.com/office/drawing/2014/main" id="{426C9E29-19F7-46A1-B1BF-DD2DCC1FC116}"/>
                </a:ext>
              </a:extLst>
            </p:cNvPr>
            <p:cNvSpPr>
              <a:spLocks/>
            </p:cNvSpPr>
            <p:nvPr/>
          </p:nvSpPr>
          <p:spPr>
            <a:xfrm>
              <a:off x="514846" y="100108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تقييم الوضعية لنقاط النهاية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Endpoints Posture Assessment</a:t>
              </a:r>
            </a:p>
          </p:txBody>
        </p:sp>
        <p:sp>
          <p:nvSpPr>
            <p:cNvPr id="30" name="Rectangle: Rounded Corners 29">
              <a:extLst>
                <a:ext uri="{FF2B5EF4-FFF2-40B4-BE49-F238E27FC236}">
                  <a16:creationId xmlns:a16="http://schemas.microsoft.com/office/drawing/2014/main" id="{DBFA88A9-E5D4-452B-9BF7-2388F0C2146F}"/>
                </a:ext>
              </a:extLst>
            </p:cNvPr>
            <p:cNvSpPr>
              <a:spLocks/>
            </p:cNvSpPr>
            <p:nvPr/>
          </p:nvSpPr>
          <p:spPr>
            <a:xfrm>
              <a:off x="2296371" y="100108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القائمة البيضاء لأجهزة نقاط النهاية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Endpoints Whitelisting</a:t>
              </a:r>
            </a:p>
          </p:txBody>
        </p:sp>
        <p:sp>
          <p:nvSpPr>
            <p:cNvPr id="31" name="Rectangle: Rounded Corners 30">
              <a:extLst>
                <a:ext uri="{FF2B5EF4-FFF2-40B4-BE49-F238E27FC236}">
                  <a16:creationId xmlns:a16="http://schemas.microsoft.com/office/drawing/2014/main" id="{F644AA0E-97AB-45E9-B518-11F18825D776}"/>
                </a:ext>
              </a:extLst>
            </p:cNvPr>
            <p:cNvSpPr>
              <a:spLocks/>
            </p:cNvSpPr>
            <p:nvPr/>
          </p:nvSpPr>
          <p:spPr>
            <a:xfrm>
              <a:off x="4077896" y="100108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حماية نقاط النهاية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Endpoints Protection</a:t>
              </a:r>
            </a:p>
          </p:txBody>
        </p:sp>
        <p:sp>
          <p:nvSpPr>
            <p:cNvPr id="32" name="Rectangle: Rounded Corners 31">
              <a:extLst>
                <a:ext uri="{FF2B5EF4-FFF2-40B4-BE49-F238E27FC236}">
                  <a16:creationId xmlns:a16="http://schemas.microsoft.com/office/drawing/2014/main" id="{59E86F8B-031D-4824-BF51-0ADEDEA068B9}"/>
                </a:ext>
              </a:extLst>
            </p:cNvPr>
            <p:cNvSpPr>
              <a:spLocks/>
            </p:cNvSpPr>
            <p:nvPr/>
          </p:nvSpPr>
          <p:spPr>
            <a:xfrm>
              <a:off x="5859421" y="100108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الكشف والاستجابة لنقاط النهاية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Endpoints Detection and Response (EDR)</a:t>
              </a:r>
            </a:p>
          </p:txBody>
        </p:sp>
        <p:sp>
          <p:nvSpPr>
            <p:cNvPr id="33" name="Rectangle: Rounded Corners 32">
              <a:extLst>
                <a:ext uri="{FF2B5EF4-FFF2-40B4-BE49-F238E27FC236}">
                  <a16:creationId xmlns:a16="http://schemas.microsoft.com/office/drawing/2014/main" id="{8A8119DA-0B33-4D2D-AE30-10585FF47A5D}"/>
                </a:ext>
              </a:extLst>
            </p:cNvPr>
            <p:cNvSpPr>
              <a:spLocks/>
            </p:cNvSpPr>
            <p:nvPr/>
          </p:nvSpPr>
          <p:spPr>
            <a:xfrm>
              <a:off x="7640948" y="1001084"/>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أمن الأجهزة المحمولة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Mobile Devices Security</a:t>
              </a:r>
            </a:p>
          </p:txBody>
        </p:sp>
      </p:grpSp>
      <p:sp>
        <p:nvSpPr>
          <p:cNvPr id="34" name="Rectangle: Rounded Corners 33">
            <a:extLst>
              <a:ext uri="{FF2B5EF4-FFF2-40B4-BE49-F238E27FC236}">
                <a16:creationId xmlns:a16="http://schemas.microsoft.com/office/drawing/2014/main" id="{3CE5B0E2-A58D-45F1-A2FB-5979640BF3BE}"/>
              </a:ext>
            </a:extLst>
          </p:cNvPr>
          <p:cNvSpPr>
            <a:spLocks/>
          </p:cNvSpPr>
          <p:nvPr/>
        </p:nvSpPr>
        <p:spPr>
          <a:xfrm>
            <a:off x="539328" y="2812396"/>
            <a:ext cx="1581198"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حماية واجهات برمجيات التطبيقات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API Security</a:t>
            </a:r>
          </a:p>
        </p:txBody>
      </p:sp>
      <p:sp>
        <p:nvSpPr>
          <p:cNvPr id="35" name="Rectangle: Rounded Corners 34">
            <a:extLst>
              <a:ext uri="{FF2B5EF4-FFF2-40B4-BE49-F238E27FC236}">
                <a16:creationId xmlns:a16="http://schemas.microsoft.com/office/drawing/2014/main" id="{82FF9827-CC99-4A15-B462-C1C883805365}"/>
              </a:ext>
            </a:extLst>
          </p:cNvPr>
          <p:cNvSpPr>
            <a:spLocks/>
          </p:cNvSpPr>
          <p:nvPr/>
        </p:nvSpPr>
        <p:spPr>
          <a:xfrm>
            <a:off x="2141245" y="2810697"/>
            <a:ext cx="2053429"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حدار حماية تطبيقات الويب</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Web Applications Firewall (WAF)</a:t>
            </a:r>
          </a:p>
        </p:txBody>
      </p:sp>
      <p:sp>
        <p:nvSpPr>
          <p:cNvPr id="36" name="Rectangle: Rounded Corners 35">
            <a:extLst>
              <a:ext uri="{FF2B5EF4-FFF2-40B4-BE49-F238E27FC236}">
                <a16:creationId xmlns:a16="http://schemas.microsoft.com/office/drawing/2014/main" id="{06EF3407-DA0E-44BF-BD11-3B9AF894876D}"/>
              </a:ext>
            </a:extLst>
          </p:cNvPr>
          <p:cNvSpPr>
            <a:spLocks/>
          </p:cNvSpPr>
          <p:nvPr/>
        </p:nvSpPr>
        <p:spPr>
          <a:xfrm>
            <a:off x="539328" y="3179832"/>
            <a:ext cx="1581198"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القائمة البيضاء للتطبيقات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Applications Whitelisting</a:t>
            </a:r>
          </a:p>
        </p:txBody>
      </p:sp>
      <p:sp>
        <p:nvSpPr>
          <p:cNvPr id="37" name="Rectangle: Rounded Corners 36">
            <a:extLst>
              <a:ext uri="{FF2B5EF4-FFF2-40B4-BE49-F238E27FC236}">
                <a16:creationId xmlns:a16="http://schemas.microsoft.com/office/drawing/2014/main" id="{02430D28-4891-4A67-BE82-E4112B76ED10}"/>
              </a:ext>
            </a:extLst>
          </p:cNvPr>
          <p:cNvSpPr>
            <a:spLocks/>
          </p:cNvSpPr>
          <p:nvPr/>
        </p:nvSpPr>
        <p:spPr>
          <a:xfrm>
            <a:off x="2141245" y="3178699"/>
            <a:ext cx="2053429"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الفحص الامني الديناميكي للتطبيقات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Dynamic Applications Security Testing (DAST)</a:t>
            </a:r>
          </a:p>
        </p:txBody>
      </p:sp>
      <p:sp>
        <p:nvSpPr>
          <p:cNvPr id="38" name="Rectangle: Rounded Corners 37">
            <a:extLst>
              <a:ext uri="{FF2B5EF4-FFF2-40B4-BE49-F238E27FC236}">
                <a16:creationId xmlns:a16="http://schemas.microsoft.com/office/drawing/2014/main" id="{3619A861-2A63-4863-A579-92DEAEE1648B}"/>
              </a:ext>
            </a:extLst>
          </p:cNvPr>
          <p:cNvSpPr>
            <a:spLocks/>
          </p:cNvSpPr>
          <p:nvPr/>
        </p:nvSpPr>
        <p:spPr>
          <a:xfrm>
            <a:off x="539328" y="3547268"/>
            <a:ext cx="1581198"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الفحص الأمني الثابت للتطبيقات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Static Applications Security Testing</a:t>
            </a:r>
            <a:r>
              <a:rPr lang="ar-SA" sz="700" b="1" dirty="0">
                <a:solidFill>
                  <a:schemeClr val="bg1"/>
                </a:solidFill>
                <a:latin typeface="Neo Sans Arabic" panose="020B0504030504040204" pitchFamily="34" charset="-78"/>
              </a:rPr>
              <a:t> </a:t>
            </a:r>
            <a:endParaRPr lang="en-US" sz="700" b="1" dirty="0">
              <a:solidFill>
                <a:schemeClr val="bg1"/>
              </a:solidFill>
              <a:latin typeface="Neo Sans Arabic" panose="020B0504030504040204" pitchFamily="34" charset="-78"/>
            </a:endParaRPr>
          </a:p>
        </p:txBody>
      </p:sp>
      <p:sp>
        <p:nvSpPr>
          <p:cNvPr id="39" name="Rectangle: Rounded Corners 38">
            <a:extLst>
              <a:ext uri="{FF2B5EF4-FFF2-40B4-BE49-F238E27FC236}">
                <a16:creationId xmlns:a16="http://schemas.microsoft.com/office/drawing/2014/main" id="{7E464E9C-0537-4609-B2D6-A575729C10AE}"/>
              </a:ext>
            </a:extLst>
          </p:cNvPr>
          <p:cNvSpPr>
            <a:spLocks/>
          </p:cNvSpPr>
          <p:nvPr/>
        </p:nvSpPr>
        <p:spPr>
          <a:xfrm>
            <a:off x="2141245" y="3546701"/>
            <a:ext cx="2053429"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الحماية الذاتية للتطبيقات في بيئة التشغيل</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Runtime Applications Self Protection (RASP)</a:t>
            </a:r>
          </a:p>
          <a:p>
            <a:pPr algn="ctr" eaLnBrk="0" fontAlgn="base" hangingPunct="0">
              <a:spcBef>
                <a:spcPct val="0"/>
              </a:spcBef>
              <a:spcAft>
                <a:spcPct val="0"/>
              </a:spcAft>
            </a:pPr>
            <a:endParaRPr lang="en-US" sz="700" b="1" dirty="0">
              <a:solidFill>
                <a:schemeClr val="bg1"/>
              </a:solidFill>
              <a:latin typeface="Neo Sans Arabic" panose="020B0504030504040204" pitchFamily="34" charset="-78"/>
            </a:endParaRPr>
          </a:p>
        </p:txBody>
      </p:sp>
      <p:sp>
        <p:nvSpPr>
          <p:cNvPr id="40" name="Rectangle: Rounded Corners 39">
            <a:extLst>
              <a:ext uri="{FF2B5EF4-FFF2-40B4-BE49-F238E27FC236}">
                <a16:creationId xmlns:a16="http://schemas.microsoft.com/office/drawing/2014/main" id="{31F1A562-9CC9-464A-99CD-5E972F938F34}"/>
              </a:ext>
            </a:extLst>
          </p:cNvPr>
          <p:cNvSpPr>
            <a:spLocks/>
          </p:cNvSpPr>
          <p:nvPr/>
        </p:nvSpPr>
        <p:spPr>
          <a:xfrm>
            <a:off x="539328" y="3914703"/>
            <a:ext cx="3655345"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أمن التطبيقات السحابية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Cloud Applications Security</a:t>
            </a:r>
          </a:p>
        </p:txBody>
      </p:sp>
      <p:sp>
        <p:nvSpPr>
          <p:cNvPr id="41" name="Rectangle: Rounded Corners 40">
            <a:extLst>
              <a:ext uri="{FF2B5EF4-FFF2-40B4-BE49-F238E27FC236}">
                <a16:creationId xmlns:a16="http://schemas.microsoft.com/office/drawing/2014/main" id="{547A06AF-5AEE-4036-B762-A7648B6CE47A}"/>
              </a:ext>
            </a:extLst>
          </p:cNvPr>
          <p:cNvSpPr>
            <a:spLocks/>
          </p:cNvSpPr>
          <p:nvPr/>
        </p:nvSpPr>
        <p:spPr>
          <a:xfrm>
            <a:off x="4258563" y="2582633"/>
            <a:ext cx="5338730" cy="1700600"/>
          </a:xfrm>
          <a:prstGeom prst="roundRect">
            <a:avLst>
              <a:gd name="adj" fmla="val 2067"/>
            </a:avLst>
          </a:prstGeom>
          <a:solidFill>
            <a:srgbClr val="F2F2F2"/>
          </a:solid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ar-SA" sz="1100" b="1" kern="100" dirty="0">
                <a:solidFill>
                  <a:schemeClr val="tx1"/>
                </a:solidFill>
                <a:effectLst/>
                <a:latin typeface="Neo Sans Arabic" panose="020B0504030504040204" pitchFamily="34" charset="-78"/>
                <a:ea typeface="Aptos" panose="020B0004020202020204" pitchFamily="34" charset="0"/>
                <a:cs typeface="+mn-cs"/>
              </a:rPr>
              <a:t>أمن البيانات</a:t>
            </a:r>
          </a:p>
        </p:txBody>
      </p:sp>
      <p:sp>
        <p:nvSpPr>
          <p:cNvPr id="42" name="Rectangle: Rounded Corners 41">
            <a:extLst>
              <a:ext uri="{FF2B5EF4-FFF2-40B4-BE49-F238E27FC236}">
                <a16:creationId xmlns:a16="http://schemas.microsoft.com/office/drawing/2014/main" id="{2E963106-425F-49E2-AE4C-A1DB128CB890}"/>
              </a:ext>
            </a:extLst>
          </p:cNvPr>
          <p:cNvSpPr>
            <a:spLocks/>
          </p:cNvSpPr>
          <p:nvPr/>
        </p:nvSpPr>
        <p:spPr>
          <a:xfrm>
            <a:off x="9635428" y="1160115"/>
            <a:ext cx="2359814" cy="2681736"/>
          </a:xfrm>
          <a:prstGeom prst="roundRect">
            <a:avLst>
              <a:gd name="adj" fmla="val 2067"/>
            </a:avLst>
          </a:prstGeom>
          <a:solidFill>
            <a:srgbClr val="F2F2F2"/>
          </a:solid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ar-SA" sz="1100" b="1" kern="100" dirty="0">
                <a:solidFill>
                  <a:schemeClr val="tx1"/>
                </a:solidFill>
                <a:effectLst/>
                <a:latin typeface="Neo Sans Arabic" panose="020B0504030504040204" pitchFamily="34" charset="-78"/>
                <a:ea typeface="Aptos" panose="020B0004020202020204" pitchFamily="34" charset="0"/>
                <a:cs typeface="+mn-cs"/>
              </a:rPr>
              <a:t>العمليات الأمنية والاستجابة للحوادث</a:t>
            </a:r>
          </a:p>
        </p:txBody>
      </p:sp>
      <p:sp>
        <p:nvSpPr>
          <p:cNvPr id="43" name="Rectangle: Rounded Corners 42">
            <a:extLst>
              <a:ext uri="{FF2B5EF4-FFF2-40B4-BE49-F238E27FC236}">
                <a16:creationId xmlns:a16="http://schemas.microsoft.com/office/drawing/2014/main" id="{CA77197A-16A8-49BB-ADB5-E5856CA2365C}"/>
              </a:ext>
            </a:extLst>
          </p:cNvPr>
          <p:cNvSpPr>
            <a:spLocks/>
          </p:cNvSpPr>
          <p:nvPr/>
        </p:nvSpPr>
        <p:spPr>
          <a:xfrm>
            <a:off x="4356033" y="2812029"/>
            <a:ext cx="164592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إدارة صلاحيات المعلومات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Information rights management</a:t>
            </a:r>
          </a:p>
        </p:txBody>
      </p:sp>
      <p:sp>
        <p:nvSpPr>
          <p:cNvPr id="44" name="Rectangle: Rounded Corners 43">
            <a:extLst>
              <a:ext uri="{FF2B5EF4-FFF2-40B4-BE49-F238E27FC236}">
                <a16:creationId xmlns:a16="http://schemas.microsoft.com/office/drawing/2014/main" id="{5BE0FB34-579C-4111-B299-5C42725995BC}"/>
              </a:ext>
            </a:extLst>
          </p:cNvPr>
          <p:cNvSpPr>
            <a:spLocks/>
          </p:cNvSpPr>
          <p:nvPr/>
        </p:nvSpPr>
        <p:spPr>
          <a:xfrm>
            <a:off x="6065842" y="2810697"/>
            <a:ext cx="170043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جدار حماية قواعد البيانات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Databases Firewall</a:t>
            </a:r>
          </a:p>
        </p:txBody>
      </p:sp>
      <p:sp>
        <p:nvSpPr>
          <p:cNvPr id="45" name="Rectangle: Rounded Corners 44">
            <a:extLst>
              <a:ext uri="{FF2B5EF4-FFF2-40B4-BE49-F238E27FC236}">
                <a16:creationId xmlns:a16="http://schemas.microsoft.com/office/drawing/2014/main" id="{D28719FE-8090-484C-A37E-B7A1E4AFF88A}"/>
              </a:ext>
            </a:extLst>
          </p:cNvPr>
          <p:cNvSpPr>
            <a:spLocks/>
          </p:cNvSpPr>
          <p:nvPr/>
        </p:nvSpPr>
        <p:spPr>
          <a:xfrm>
            <a:off x="4356033" y="3179832"/>
            <a:ext cx="164592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تصنيف البيانات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Data Classification</a:t>
            </a:r>
          </a:p>
        </p:txBody>
      </p:sp>
      <p:sp>
        <p:nvSpPr>
          <p:cNvPr id="46" name="Rectangle: Rounded Corners 45">
            <a:extLst>
              <a:ext uri="{FF2B5EF4-FFF2-40B4-BE49-F238E27FC236}">
                <a16:creationId xmlns:a16="http://schemas.microsoft.com/office/drawing/2014/main" id="{317F8666-67BF-4DF6-9BF6-D86988766B05}"/>
              </a:ext>
            </a:extLst>
          </p:cNvPr>
          <p:cNvSpPr>
            <a:spLocks/>
          </p:cNvSpPr>
          <p:nvPr/>
        </p:nvSpPr>
        <p:spPr>
          <a:xfrm>
            <a:off x="6065842" y="3178699"/>
            <a:ext cx="170043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الحماية من تسريب البيانات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Data Leakage Prevention (DLP)</a:t>
            </a:r>
          </a:p>
        </p:txBody>
      </p:sp>
      <p:sp>
        <p:nvSpPr>
          <p:cNvPr id="47" name="Rectangle: Rounded Corners 46">
            <a:extLst>
              <a:ext uri="{FF2B5EF4-FFF2-40B4-BE49-F238E27FC236}">
                <a16:creationId xmlns:a16="http://schemas.microsoft.com/office/drawing/2014/main" id="{E9F59621-5979-401E-841F-0A827A975F61}"/>
              </a:ext>
            </a:extLst>
          </p:cNvPr>
          <p:cNvSpPr>
            <a:spLocks/>
          </p:cNvSpPr>
          <p:nvPr/>
        </p:nvSpPr>
        <p:spPr>
          <a:xfrm>
            <a:off x="4356033" y="3547268"/>
            <a:ext cx="164592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تشفير البيانات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Data Encryption</a:t>
            </a:r>
          </a:p>
        </p:txBody>
      </p:sp>
      <p:sp>
        <p:nvSpPr>
          <p:cNvPr id="48" name="Rectangle: Rounded Corners 47">
            <a:extLst>
              <a:ext uri="{FF2B5EF4-FFF2-40B4-BE49-F238E27FC236}">
                <a16:creationId xmlns:a16="http://schemas.microsoft.com/office/drawing/2014/main" id="{F864B7BF-A006-4B6B-9ACB-603F539876E1}"/>
              </a:ext>
            </a:extLst>
          </p:cNvPr>
          <p:cNvSpPr>
            <a:spLocks/>
          </p:cNvSpPr>
          <p:nvPr/>
        </p:nvSpPr>
        <p:spPr>
          <a:xfrm>
            <a:off x="6065842" y="3546701"/>
            <a:ext cx="170043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الحذف الاّمن للبيانات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Secure Data Erasure</a:t>
            </a:r>
          </a:p>
        </p:txBody>
      </p:sp>
      <p:sp>
        <p:nvSpPr>
          <p:cNvPr id="49" name="Rectangle: Rounded Corners 48">
            <a:extLst>
              <a:ext uri="{FF2B5EF4-FFF2-40B4-BE49-F238E27FC236}">
                <a16:creationId xmlns:a16="http://schemas.microsoft.com/office/drawing/2014/main" id="{9306B264-09A5-4C15-BACD-D2EF7AC7241B}"/>
              </a:ext>
            </a:extLst>
          </p:cNvPr>
          <p:cNvSpPr>
            <a:spLocks/>
          </p:cNvSpPr>
          <p:nvPr/>
        </p:nvSpPr>
        <p:spPr>
          <a:xfrm>
            <a:off x="4356032" y="3914703"/>
            <a:ext cx="2519052"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العلامة المائية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Watermarking</a:t>
            </a:r>
          </a:p>
        </p:txBody>
      </p:sp>
      <p:sp>
        <p:nvSpPr>
          <p:cNvPr id="50" name="Rectangle: Rounded Corners 49">
            <a:extLst>
              <a:ext uri="{FF2B5EF4-FFF2-40B4-BE49-F238E27FC236}">
                <a16:creationId xmlns:a16="http://schemas.microsoft.com/office/drawing/2014/main" id="{99876137-216E-4B4C-990B-A385A49244D0}"/>
              </a:ext>
            </a:extLst>
          </p:cNvPr>
          <p:cNvSpPr>
            <a:spLocks/>
          </p:cNvSpPr>
          <p:nvPr/>
        </p:nvSpPr>
        <p:spPr>
          <a:xfrm>
            <a:off x="7826439" y="2810697"/>
            <a:ext cx="170043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مراقبة النشاط في قواعد البيانات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Databases Activity Monitoring</a:t>
            </a:r>
          </a:p>
        </p:txBody>
      </p:sp>
      <p:sp>
        <p:nvSpPr>
          <p:cNvPr id="51" name="Rectangle: Rounded Corners 50">
            <a:extLst>
              <a:ext uri="{FF2B5EF4-FFF2-40B4-BE49-F238E27FC236}">
                <a16:creationId xmlns:a16="http://schemas.microsoft.com/office/drawing/2014/main" id="{1F5284A8-EC4A-4EEB-A346-8279F14F7D72}"/>
              </a:ext>
            </a:extLst>
          </p:cNvPr>
          <p:cNvSpPr>
            <a:spLocks/>
          </p:cNvSpPr>
          <p:nvPr/>
        </p:nvSpPr>
        <p:spPr>
          <a:xfrm>
            <a:off x="7826439" y="3178699"/>
            <a:ext cx="170043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مراقبة سلامة الملفات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Files Integrity Monitoring</a:t>
            </a:r>
          </a:p>
        </p:txBody>
      </p:sp>
      <p:sp>
        <p:nvSpPr>
          <p:cNvPr id="52" name="Rectangle: Rounded Corners 51">
            <a:extLst>
              <a:ext uri="{FF2B5EF4-FFF2-40B4-BE49-F238E27FC236}">
                <a16:creationId xmlns:a16="http://schemas.microsoft.com/office/drawing/2014/main" id="{DC23F904-AB6F-4C2C-93E5-3BEEC4E7CEBB}"/>
              </a:ext>
            </a:extLst>
          </p:cNvPr>
          <p:cNvSpPr>
            <a:spLocks/>
          </p:cNvSpPr>
          <p:nvPr/>
        </p:nvSpPr>
        <p:spPr>
          <a:xfrm>
            <a:off x="7826439" y="3546701"/>
            <a:ext cx="1700430"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الاتلاف الاّمن لوسائط التخزين</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Secure Storage Disposal</a:t>
            </a:r>
          </a:p>
        </p:txBody>
      </p:sp>
      <p:sp>
        <p:nvSpPr>
          <p:cNvPr id="53" name="Rectangle: Rounded Corners 52">
            <a:extLst>
              <a:ext uri="{FF2B5EF4-FFF2-40B4-BE49-F238E27FC236}">
                <a16:creationId xmlns:a16="http://schemas.microsoft.com/office/drawing/2014/main" id="{16C4331A-8E80-4292-826A-55AACB3A62FF}"/>
              </a:ext>
            </a:extLst>
          </p:cNvPr>
          <p:cNvSpPr>
            <a:spLocks/>
          </p:cNvSpPr>
          <p:nvPr/>
        </p:nvSpPr>
        <p:spPr>
          <a:xfrm>
            <a:off x="6945510" y="3914703"/>
            <a:ext cx="2581357"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تعتيم البيانات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Data Masking</a:t>
            </a:r>
          </a:p>
        </p:txBody>
      </p:sp>
      <p:sp>
        <p:nvSpPr>
          <p:cNvPr id="56" name="Rectangle: Rounded Corners 55">
            <a:extLst>
              <a:ext uri="{FF2B5EF4-FFF2-40B4-BE49-F238E27FC236}">
                <a16:creationId xmlns:a16="http://schemas.microsoft.com/office/drawing/2014/main" id="{02A300FE-C948-4E71-90DB-24EF2BBDFB2F}"/>
              </a:ext>
            </a:extLst>
          </p:cNvPr>
          <p:cNvSpPr>
            <a:spLocks/>
          </p:cNvSpPr>
          <p:nvPr/>
        </p:nvSpPr>
        <p:spPr>
          <a:xfrm>
            <a:off x="9672586" y="2263982"/>
            <a:ext cx="2284952"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مركز العمليات الأمنية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Security Operations Centre (SOC)</a:t>
            </a:r>
          </a:p>
        </p:txBody>
      </p:sp>
      <p:sp>
        <p:nvSpPr>
          <p:cNvPr id="57" name="Rectangle: Rounded Corners 56">
            <a:extLst>
              <a:ext uri="{FF2B5EF4-FFF2-40B4-BE49-F238E27FC236}">
                <a16:creationId xmlns:a16="http://schemas.microsoft.com/office/drawing/2014/main" id="{D4C71C9E-492E-46F9-85E2-E8DBA28CD8BE}"/>
              </a:ext>
            </a:extLst>
          </p:cNvPr>
          <p:cNvSpPr>
            <a:spLocks/>
          </p:cNvSpPr>
          <p:nvPr/>
        </p:nvSpPr>
        <p:spPr>
          <a:xfrm>
            <a:off x="9672586" y="2573278"/>
            <a:ext cx="2284952"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التنسيق الأمني والاستجابة الاّلية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Security Orchestration, Automation, and Response</a:t>
            </a:r>
          </a:p>
        </p:txBody>
      </p:sp>
      <p:sp>
        <p:nvSpPr>
          <p:cNvPr id="58" name="Rectangle: Rounded Corners 57">
            <a:extLst>
              <a:ext uri="{FF2B5EF4-FFF2-40B4-BE49-F238E27FC236}">
                <a16:creationId xmlns:a16="http://schemas.microsoft.com/office/drawing/2014/main" id="{F687E4CF-A62F-49D8-AE7E-62EB511B47CF}"/>
              </a:ext>
            </a:extLst>
          </p:cNvPr>
          <p:cNvSpPr>
            <a:spLocks/>
          </p:cNvSpPr>
          <p:nvPr/>
        </p:nvSpPr>
        <p:spPr>
          <a:xfrm>
            <a:off x="9672586" y="2875099"/>
            <a:ext cx="2284952"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التحقق الجنائي الرقمي</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Digital Forensics</a:t>
            </a:r>
          </a:p>
        </p:txBody>
      </p:sp>
      <p:sp>
        <p:nvSpPr>
          <p:cNvPr id="59" name="Rectangle: Rounded Corners 58">
            <a:extLst>
              <a:ext uri="{FF2B5EF4-FFF2-40B4-BE49-F238E27FC236}">
                <a16:creationId xmlns:a16="http://schemas.microsoft.com/office/drawing/2014/main" id="{5443D81C-A952-440C-8A83-EB681CAF0F95}"/>
              </a:ext>
            </a:extLst>
          </p:cNvPr>
          <p:cNvSpPr>
            <a:spLocks/>
          </p:cNvSpPr>
          <p:nvPr/>
        </p:nvSpPr>
        <p:spPr>
          <a:xfrm>
            <a:off x="9672586" y="3192302"/>
            <a:ext cx="2284952"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وسطاء أمن الوصول للسحابة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Cloud Access Security Brokers (CASB)</a:t>
            </a:r>
          </a:p>
        </p:txBody>
      </p:sp>
      <p:sp>
        <p:nvSpPr>
          <p:cNvPr id="60" name="Rectangle: Rounded Corners 59">
            <a:extLst>
              <a:ext uri="{FF2B5EF4-FFF2-40B4-BE49-F238E27FC236}">
                <a16:creationId xmlns:a16="http://schemas.microsoft.com/office/drawing/2014/main" id="{1939E2E8-10CA-48AE-92F1-004F2514BAB5}"/>
              </a:ext>
            </a:extLst>
          </p:cNvPr>
          <p:cNvSpPr>
            <a:spLocks/>
          </p:cNvSpPr>
          <p:nvPr/>
        </p:nvSpPr>
        <p:spPr>
          <a:xfrm>
            <a:off x="9672586" y="3497035"/>
            <a:ext cx="2284952"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إدارة الوضعية الأمنية للسحابة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Cloud Security Posture Management (CSPM)</a:t>
            </a:r>
          </a:p>
        </p:txBody>
      </p:sp>
      <p:grpSp>
        <p:nvGrpSpPr>
          <p:cNvPr id="61" name="Group 60">
            <a:extLst>
              <a:ext uri="{FF2B5EF4-FFF2-40B4-BE49-F238E27FC236}">
                <a16:creationId xmlns:a16="http://schemas.microsoft.com/office/drawing/2014/main" id="{301DE3F7-7C2C-4BCA-B974-F1FF113E0ABE}"/>
              </a:ext>
            </a:extLst>
          </p:cNvPr>
          <p:cNvGrpSpPr/>
          <p:nvPr/>
        </p:nvGrpSpPr>
        <p:grpSpPr>
          <a:xfrm>
            <a:off x="9632747" y="3876830"/>
            <a:ext cx="2359814" cy="2131165"/>
            <a:chOff x="9460809" y="3306065"/>
            <a:chExt cx="2359814" cy="2296230"/>
          </a:xfrm>
          <a:solidFill>
            <a:srgbClr val="F2F2F2"/>
          </a:solidFill>
        </p:grpSpPr>
        <p:sp>
          <p:nvSpPr>
            <p:cNvPr id="62" name="Rectangle: Rounded Corners 61">
              <a:extLst>
                <a:ext uri="{FF2B5EF4-FFF2-40B4-BE49-F238E27FC236}">
                  <a16:creationId xmlns:a16="http://schemas.microsoft.com/office/drawing/2014/main" id="{741F209A-7689-4173-A05D-91841B33B2A5}"/>
                </a:ext>
              </a:extLst>
            </p:cNvPr>
            <p:cNvSpPr>
              <a:spLocks/>
            </p:cNvSpPr>
            <p:nvPr/>
          </p:nvSpPr>
          <p:spPr>
            <a:xfrm>
              <a:off x="9460809" y="3306065"/>
              <a:ext cx="2359814" cy="2296230"/>
            </a:xfrm>
            <a:prstGeom prst="roundRect">
              <a:avLst>
                <a:gd name="adj" fmla="val 2067"/>
              </a:avLst>
            </a:prstGeom>
            <a:grp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ar-SA" sz="1100" b="1" kern="100" dirty="0">
                  <a:solidFill>
                    <a:schemeClr val="tx1"/>
                  </a:solidFill>
                  <a:effectLst/>
                  <a:latin typeface="Neo Sans Arabic" panose="020B0504030504040204" pitchFamily="34" charset="-78"/>
                  <a:ea typeface="Aptos" panose="020B0004020202020204" pitchFamily="34" charset="0"/>
                  <a:cs typeface="+mn-cs"/>
                </a:rPr>
                <a:t>إدارة الثغرات والتهديدات الأمنية</a:t>
              </a:r>
            </a:p>
          </p:txBody>
        </p:sp>
        <p:sp>
          <p:nvSpPr>
            <p:cNvPr id="63" name="Rectangle: Rounded Corners 62">
              <a:extLst>
                <a:ext uri="{FF2B5EF4-FFF2-40B4-BE49-F238E27FC236}">
                  <a16:creationId xmlns:a16="http://schemas.microsoft.com/office/drawing/2014/main" id="{75530BB2-D17C-478B-B9B8-D296D860A0DD}"/>
                </a:ext>
              </a:extLst>
            </p:cNvPr>
            <p:cNvSpPr>
              <a:spLocks/>
            </p:cNvSpPr>
            <p:nvPr/>
          </p:nvSpPr>
          <p:spPr>
            <a:xfrm>
              <a:off x="9602247" y="3732020"/>
              <a:ext cx="2103120"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إدارة الثغرات الأمنية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Vulnerability Management</a:t>
              </a:r>
            </a:p>
          </p:txBody>
        </p:sp>
        <p:sp>
          <p:nvSpPr>
            <p:cNvPr id="64" name="Rectangle: Rounded Corners 63">
              <a:extLst>
                <a:ext uri="{FF2B5EF4-FFF2-40B4-BE49-F238E27FC236}">
                  <a16:creationId xmlns:a16="http://schemas.microsoft.com/office/drawing/2014/main" id="{763EDD57-7AA4-4149-9FA9-8DE49A03384B}"/>
                </a:ext>
              </a:extLst>
            </p:cNvPr>
            <p:cNvSpPr>
              <a:spLocks/>
            </p:cNvSpPr>
            <p:nvPr/>
          </p:nvSpPr>
          <p:spPr>
            <a:xfrm>
              <a:off x="9602247" y="4039615"/>
              <a:ext cx="2103120"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اختبار الاختراق</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Penetration Testing</a:t>
              </a:r>
            </a:p>
          </p:txBody>
        </p:sp>
        <p:sp>
          <p:nvSpPr>
            <p:cNvPr id="65" name="Rectangle: Rounded Corners 64">
              <a:extLst>
                <a:ext uri="{FF2B5EF4-FFF2-40B4-BE49-F238E27FC236}">
                  <a16:creationId xmlns:a16="http://schemas.microsoft.com/office/drawing/2014/main" id="{2B5AA0A1-8336-468A-8E75-43BAC454BCFB}"/>
                </a:ext>
              </a:extLst>
            </p:cNvPr>
            <p:cNvSpPr>
              <a:spLocks/>
            </p:cNvSpPr>
            <p:nvPr/>
          </p:nvSpPr>
          <p:spPr>
            <a:xfrm>
              <a:off x="9602247" y="4351622"/>
              <a:ext cx="2103120"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إدارة حزم التحديثات الاصلاحات الأمنية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Patch Management</a:t>
              </a:r>
            </a:p>
          </p:txBody>
        </p:sp>
        <p:sp>
          <p:nvSpPr>
            <p:cNvPr id="66" name="Rectangle: Rounded Corners 65">
              <a:extLst>
                <a:ext uri="{FF2B5EF4-FFF2-40B4-BE49-F238E27FC236}">
                  <a16:creationId xmlns:a16="http://schemas.microsoft.com/office/drawing/2014/main" id="{36EC2F54-D7A9-43FA-926E-13FAB08F0F4B}"/>
                </a:ext>
              </a:extLst>
            </p:cNvPr>
            <p:cNvSpPr>
              <a:spLocks/>
            </p:cNvSpPr>
            <p:nvPr/>
          </p:nvSpPr>
          <p:spPr>
            <a:xfrm>
              <a:off x="9602247" y="4663629"/>
              <a:ext cx="2103120"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معلومات التهديدات الأمنية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Threats Intelligence</a:t>
              </a:r>
            </a:p>
          </p:txBody>
        </p:sp>
        <p:sp>
          <p:nvSpPr>
            <p:cNvPr id="67" name="Rectangle: Rounded Corners 66">
              <a:extLst>
                <a:ext uri="{FF2B5EF4-FFF2-40B4-BE49-F238E27FC236}">
                  <a16:creationId xmlns:a16="http://schemas.microsoft.com/office/drawing/2014/main" id="{C481C341-FA8C-4B05-8FD2-E7741F77D57F}"/>
                </a:ext>
              </a:extLst>
            </p:cNvPr>
            <p:cNvSpPr>
              <a:spLocks/>
            </p:cNvSpPr>
            <p:nvPr/>
          </p:nvSpPr>
          <p:spPr>
            <a:xfrm>
              <a:off x="9602247" y="4975636"/>
              <a:ext cx="2103120"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الهندسة الإجتماعية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Social Engineering</a:t>
              </a:r>
            </a:p>
          </p:txBody>
        </p:sp>
        <p:sp>
          <p:nvSpPr>
            <p:cNvPr id="68" name="Rectangle: Rounded Corners 67">
              <a:extLst>
                <a:ext uri="{FF2B5EF4-FFF2-40B4-BE49-F238E27FC236}">
                  <a16:creationId xmlns:a16="http://schemas.microsoft.com/office/drawing/2014/main" id="{2BCFA731-694A-4D69-85A8-B543B9BA44C0}"/>
                </a:ext>
              </a:extLst>
            </p:cNvPr>
            <p:cNvSpPr>
              <a:spLocks/>
            </p:cNvSpPr>
            <p:nvPr/>
          </p:nvSpPr>
          <p:spPr>
            <a:xfrm>
              <a:off x="9602247" y="5287641"/>
              <a:ext cx="2103120"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محاكاة الهجوم السيبراني</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Cybersecurity Attack and Defense Simulation</a:t>
              </a:r>
            </a:p>
          </p:txBody>
        </p:sp>
      </p:grpSp>
      <p:sp>
        <p:nvSpPr>
          <p:cNvPr id="69" name="Rectangle: Rounded Corners 68">
            <a:extLst>
              <a:ext uri="{FF2B5EF4-FFF2-40B4-BE49-F238E27FC236}">
                <a16:creationId xmlns:a16="http://schemas.microsoft.com/office/drawing/2014/main" id="{8132EF23-5A0E-4BB3-BB43-6640DE227133}"/>
              </a:ext>
            </a:extLst>
          </p:cNvPr>
          <p:cNvSpPr>
            <a:spLocks/>
          </p:cNvSpPr>
          <p:nvPr/>
        </p:nvSpPr>
        <p:spPr>
          <a:xfrm>
            <a:off x="796992" y="6322253"/>
            <a:ext cx="2519052"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وثائق حوكمة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Governance Documents</a:t>
            </a:r>
          </a:p>
        </p:txBody>
      </p:sp>
      <p:sp>
        <p:nvSpPr>
          <p:cNvPr id="70" name="Rectangle: Rounded Corners 69">
            <a:extLst>
              <a:ext uri="{FF2B5EF4-FFF2-40B4-BE49-F238E27FC236}">
                <a16:creationId xmlns:a16="http://schemas.microsoft.com/office/drawing/2014/main" id="{22B0925F-BBE2-40BF-BC48-E6E8DF32173B}"/>
              </a:ext>
            </a:extLst>
          </p:cNvPr>
          <p:cNvSpPr>
            <a:spLocks/>
          </p:cNvSpPr>
          <p:nvPr/>
        </p:nvSpPr>
        <p:spPr>
          <a:xfrm>
            <a:off x="3466345" y="6322253"/>
            <a:ext cx="2581357"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المعايير</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Standards</a:t>
            </a:r>
          </a:p>
        </p:txBody>
      </p:sp>
      <p:sp>
        <p:nvSpPr>
          <p:cNvPr id="71" name="Rectangle: Rounded Corners 70">
            <a:extLst>
              <a:ext uri="{FF2B5EF4-FFF2-40B4-BE49-F238E27FC236}">
                <a16:creationId xmlns:a16="http://schemas.microsoft.com/office/drawing/2014/main" id="{7416CA79-513D-4E17-97CA-84009C319514}"/>
              </a:ext>
            </a:extLst>
          </p:cNvPr>
          <p:cNvSpPr>
            <a:spLocks/>
          </p:cNvSpPr>
          <p:nvPr/>
        </p:nvSpPr>
        <p:spPr>
          <a:xfrm>
            <a:off x="6198003" y="6322253"/>
            <a:ext cx="2519052"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الإجراءات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Procedures</a:t>
            </a:r>
          </a:p>
        </p:txBody>
      </p:sp>
      <p:sp>
        <p:nvSpPr>
          <p:cNvPr id="72" name="Rectangle: Rounded Corners 71">
            <a:extLst>
              <a:ext uri="{FF2B5EF4-FFF2-40B4-BE49-F238E27FC236}">
                <a16:creationId xmlns:a16="http://schemas.microsoft.com/office/drawing/2014/main" id="{BF2DE662-200D-4628-AEFA-A73B6C27517A}"/>
              </a:ext>
            </a:extLst>
          </p:cNvPr>
          <p:cNvSpPr>
            <a:spLocks/>
          </p:cNvSpPr>
          <p:nvPr/>
        </p:nvSpPr>
        <p:spPr>
          <a:xfrm>
            <a:off x="8867355" y="6322253"/>
            <a:ext cx="2581357" cy="33013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السياسات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Policies</a:t>
            </a:r>
          </a:p>
        </p:txBody>
      </p:sp>
      <p:grpSp>
        <p:nvGrpSpPr>
          <p:cNvPr id="73" name="Group 72">
            <a:extLst>
              <a:ext uri="{FF2B5EF4-FFF2-40B4-BE49-F238E27FC236}">
                <a16:creationId xmlns:a16="http://schemas.microsoft.com/office/drawing/2014/main" id="{7A82C2CB-46EE-4C03-A9F1-642913CA4E66}"/>
              </a:ext>
            </a:extLst>
          </p:cNvPr>
          <p:cNvGrpSpPr/>
          <p:nvPr/>
        </p:nvGrpSpPr>
        <p:grpSpPr>
          <a:xfrm>
            <a:off x="539328" y="4579347"/>
            <a:ext cx="8919478" cy="1331762"/>
            <a:chOff x="367390" y="4175059"/>
            <a:chExt cx="8919478" cy="1650277"/>
          </a:xfrm>
        </p:grpSpPr>
        <p:sp>
          <p:nvSpPr>
            <p:cNvPr id="74" name="Rectangle: Rounded Corners 73">
              <a:extLst>
                <a:ext uri="{FF2B5EF4-FFF2-40B4-BE49-F238E27FC236}">
                  <a16:creationId xmlns:a16="http://schemas.microsoft.com/office/drawing/2014/main" id="{AE6F737F-C683-4243-BCB2-04541751E00D}"/>
                </a:ext>
              </a:extLst>
            </p:cNvPr>
            <p:cNvSpPr>
              <a:spLocks/>
            </p:cNvSpPr>
            <p:nvPr/>
          </p:nvSpPr>
          <p:spPr>
            <a:xfrm>
              <a:off x="367390" y="4175059"/>
              <a:ext cx="1882576"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أنظمة البيئة التجريبية </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Sandboxing</a:t>
              </a:r>
            </a:p>
          </p:txBody>
        </p:sp>
        <p:sp>
          <p:nvSpPr>
            <p:cNvPr id="75" name="Rectangle: Rounded Corners 74">
              <a:extLst>
                <a:ext uri="{FF2B5EF4-FFF2-40B4-BE49-F238E27FC236}">
                  <a16:creationId xmlns:a16="http://schemas.microsoft.com/office/drawing/2014/main" id="{E85C2B37-6597-47D7-B3B4-2E3DE114D2CF}"/>
                </a:ext>
              </a:extLst>
            </p:cNvPr>
            <p:cNvSpPr>
              <a:spLocks/>
            </p:cNvSpPr>
            <p:nvPr/>
          </p:nvSpPr>
          <p:spPr>
            <a:xfrm>
              <a:off x="2296371" y="4175059"/>
              <a:ext cx="1882576"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الحماية من الهجوم الموزع لحجب الخدمة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DDoS Protection</a:t>
              </a:r>
            </a:p>
          </p:txBody>
        </p:sp>
        <p:sp>
          <p:nvSpPr>
            <p:cNvPr id="76" name="Rectangle: Rounded Corners 75">
              <a:extLst>
                <a:ext uri="{FF2B5EF4-FFF2-40B4-BE49-F238E27FC236}">
                  <a16:creationId xmlns:a16="http://schemas.microsoft.com/office/drawing/2014/main" id="{1B7705AF-964B-4EDB-970E-8E0B6694C08D}"/>
                </a:ext>
              </a:extLst>
            </p:cNvPr>
            <p:cNvSpPr>
              <a:spLocks/>
            </p:cNvSpPr>
            <p:nvPr/>
          </p:nvSpPr>
          <p:spPr>
            <a:xfrm>
              <a:off x="4234196" y="4175059"/>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حماية الخوادم</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Servers Protection</a:t>
              </a:r>
            </a:p>
          </p:txBody>
        </p:sp>
        <p:sp>
          <p:nvSpPr>
            <p:cNvPr id="77" name="Rectangle: Rounded Corners 76">
              <a:extLst>
                <a:ext uri="{FF2B5EF4-FFF2-40B4-BE49-F238E27FC236}">
                  <a16:creationId xmlns:a16="http://schemas.microsoft.com/office/drawing/2014/main" id="{F52A84D2-012D-4810-8588-FD865B11D677}"/>
                </a:ext>
              </a:extLst>
            </p:cNvPr>
            <p:cNvSpPr>
              <a:spLocks/>
            </p:cNvSpPr>
            <p:nvPr/>
          </p:nvSpPr>
          <p:spPr>
            <a:xfrm>
              <a:off x="5929756" y="4175059"/>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تفتيش حركة البيانات المشفرة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SSL/TLS Inspection</a:t>
              </a:r>
            </a:p>
          </p:txBody>
        </p:sp>
        <p:sp>
          <p:nvSpPr>
            <p:cNvPr id="78" name="Rectangle: Rounded Corners 77">
              <a:extLst>
                <a:ext uri="{FF2B5EF4-FFF2-40B4-BE49-F238E27FC236}">
                  <a16:creationId xmlns:a16="http://schemas.microsoft.com/office/drawing/2014/main" id="{F0A4ADC3-E634-462D-9DBA-0B77A0F6158F}"/>
                </a:ext>
              </a:extLst>
            </p:cNvPr>
            <p:cNvSpPr>
              <a:spLocks/>
            </p:cNvSpPr>
            <p:nvPr/>
          </p:nvSpPr>
          <p:spPr>
            <a:xfrm>
              <a:off x="7640948" y="4175059"/>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جدار حماية الشبكة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Network Firewall</a:t>
              </a:r>
            </a:p>
          </p:txBody>
        </p:sp>
        <p:sp>
          <p:nvSpPr>
            <p:cNvPr id="80" name="Rectangle: Rounded Corners 79">
              <a:extLst>
                <a:ext uri="{FF2B5EF4-FFF2-40B4-BE49-F238E27FC236}">
                  <a16:creationId xmlns:a16="http://schemas.microsoft.com/office/drawing/2014/main" id="{BF6B2B41-5362-424E-A00D-C44955BE6A0E}"/>
                </a:ext>
              </a:extLst>
            </p:cNvPr>
            <p:cNvSpPr>
              <a:spLocks/>
            </p:cNvSpPr>
            <p:nvPr/>
          </p:nvSpPr>
          <p:spPr>
            <a:xfrm>
              <a:off x="367390" y="4599907"/>
              <a:ext cx="1882576"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الثقة الصفرية في الدخول للشبكة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Zero Trust Network Access</a:t>
              </a:r>
            </a:p>
          </p:txBody>
        </p:sp>
        <p:sp>
          <p:nvSpPr>
            <p:cNvPr id="81" name="Rectangle: Rounded Corners 80">
              <a:extLst>
                <a:ext uri="{FF2B5EF4-FFF2-40B4-BE49-F238E27FC236}">
                  <a16:creationId xmlns:a16="http://schemas.microsoft.com/office/drawing/2014/main" id="{3F6FB385-EBFA-4067-BF9B-2D10DDB84C03}"/>
                </a:ext>
              </a:extLst>
            </p:cNvPr>
            <p:cNvSpPr>
              <a:spLocks/>
            </p:cNvSpPr>
            <p:nvPr/>
          </p:nvSpPr>
          <p:spPr>
            <a:xfrm>
              <a:off x="2296371" y="4599907"/>
              <a:ext cx="1882576"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حماية نظام أسماء النطاقات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Domain Name System (DNS) Security</a:t>
              </a:r>
            </a:p>
          </p:txBody>
        </p:sp>
        <p:sp>
          <p:nvSpPr>
            <p:cNvPr id="82" name="Rectangle: Rounded Corners 81">
              <a:extLst>
                <a:ext uri="{FF2B5EF4-FFF2-40B4-BE49-F238E27FC236}">
                  <a16:creationId xmlns:a16="http://schemas.microsoft.com/office/drawing/2014/main" id="{ECBB546B-8D01-4AFC-8CC7-C3866F9E37CF}"/>
                </a:ext>
              </a:extLst>
            </p:cNvPr>
            <p:cNvSpPr>
              <a:spLocks/>
            </p:cNvSpPr>
            <p:nvPr/>
          </p:nvSpPr>
          <p:spPr>
            <a:xfrm>
              <a:off x="4234196" y="4599907"/>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الشبكة الخاصة الافتراضية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Virtual Private Network (VPN)</a:t>
              </a:r>
            </a:p>
          </p:txBody>
        </p:sp>
        <p:sp>
          <p:nvSpPr>
            <p:cNvPr id="83" name="Rectangle: Rounded Corners 82">
              <a:extLst>
                <a:ext uri="{FF2B5EF4-FFF2-40B4-BE49-F238E27FC236}">
                  <a16:creationId xmlns:a16="http://schemas.microsoft.com/office/drawing/2014/main" id="{D872A74D-AE21-4C80-8BD0-96A54B4EA802}"/>
                </a:ext>
              </a:extLst>
            </p:cNvPr>
            <p:cNvSpPr>
              <a:spLocks/>
            </p:cNvSpPr>
            <p:nvPr/>
          </p:nvSpPr>
          <p:spPr>
            <a:xfrm>
              <a:off x="5929756" y="4599907"/>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بنية المفتاح العام</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Public Key Infrastructure (PKI)</a:t>
              </a:r>
            </a:p>
          </p:txBody>
        </p:sp>
        <p:sp>
          <p:nvSpPr>
            <p:cNvPr id="84" name="Rectangle: Rounded Corners 83">
              <a:extLst>
                <a:ext uri="{FF2B5EF4-FFF2-40B4-BE49-F238E27FC236}">
                  <a16:creationId xmlns:a16="http://schemas.microsoft.com/office/drawing/2014/main" id="{4A48D579-8327-4DA2-893D-8377ECF047F3}"/>
                </a:ext>
              </a:extLst>
            </p:cNvPr>
            <p:cNvSpPr>
              <a:spLocks/>
            </p:cNvSpPr>
            <p:nvPr/>
          </p:nvSpPr>
          <p:spPr>
            <a:xfrm>
              <a:off x="7640948" y="4599906"/>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بوابة الويب الاّمن</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Secure Web Gateway</a:t>
              </a:r>
            </a:p>
          </p:txBody>
        </p:sp>
        <p:sp>
          <p:nvSpPr>
            <p:cNvPr id="85" name="Rectangle: Rounded Corners 84">
              <a:extLst>
                <a:ext uri="{FF2B5EF4-FFF2-40B4-BE49-F238E27FC236}">
                  <a16:creationId xmlns:a16="http://schemas.microsoft.com/office/drawing/2014/main" id="{A493AFE1-6D14-4BDC-9F01-35BACE865BB1}"/>
                </a:ext>
              </a:extLst>
            </p:cNvPr>
            <p:cNvSpPr>
              <a:spLocks/>
            </p:cNvSpPr>
            <p:nvPr/>
          </p:nvSpPr>
          <p:spPr>
            <a:xfrm>
              <a:off x="367390" y="5025589"/>
              <a:ext cx="1882576"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الكشف والاستجابة علي الشبكة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Network Detection and Response (NDR)</a:t>
              </a:r>
            </a:p>
          </p:txBody>
        </p:sp>
        <p:sp>
          <p:nvSpPr>
            <p:cNvPr id="86" name="Rectangle: Rounded Corners 85">
              <a:extLst>
                <a:ext uri="{FF2B5EF4-FFF2-40B4-BE49-F238E27FC236}">
                  <a16:creationId xmlns:a16="http://schemas.microsoft.com/office/drawing/2014/main" id="{23B7D532-5E8B-4889-9E9D-7005791C89DE}"/>
                </a:ext>
              </a:extLst>
            </p:cNvPr>
            <p:cNvSpPr>
              <a:spLocks/>
            </p:cNvSpPr>
            <p:nvPr/>
          </p:nvSpPr>
          <p:spPr>
            <a:xfrm>
              <a:off x="2296371" y="5025589"/>
              <a:ext cx="1882576"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حماية خدمة العناوين الشبكية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IP Address Service Security</a:t>
              </a:r>
            </a:p>
          </p:txBody>
        </p:sp>
        <p:sp>
          <p:nvSpPr>
            <p:cNvPr id="87" name="Rectangle: Rounded Corners 86">
              <a:extLst>
                <a:ext uri="{FF2B5EF4-FFF2-40B4-BE49-F238E27FC236}">
                  <a16:creationId xmlns:a16="http://schemas.microsoft.com/office/drawing/2014/main" id="{BD9ED039-A93F-465A-A45F-0A7709FD3DBF}"/>
                </a:ext>
              </a:extLst>
            </p:cNvPr>
            <p:cNvSpPr>
              <a:spLocks/>
            </p:cNvSpPr>
            <p:nvPr/>
          </p:nvSpPr>
          <p:spPr>
            <a:xfrm>
              <a:off x="4234196" y="5025589"/>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التحكم بالوصول الشبكي</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Network Access Control (NAC)</a:t>
              </a:r>
            </a:p>
          </p:txBody>
        </p:sp>
        <p:sp>
          <p:nvSpPr>
            <p:cNvPr id="88" name="Rectangle: Rounded Corners 87">
              <a:extLst>
                <a:ext uri="{FF2B5EF4-FFF2-40B4-BE49-F238E27FC236}">
                  <a16:creationId xmlns:a16="http://schemas.microsoft.com/office/drawing/2014/main" id="{B67A2BBD-8FFC-4C65-A239-AD8253D17D74}"/>
                </a:ext>
              </a:extLst>
            </p:cNvPr>
            <p:cNvSpPr>
              <a:spLocks/>
            </p:cNvSpPr>
            <p:nvPr/>
          </p:nvSpPr>
          <p:spPr>
            <a:xfrm>
              <a:off x="5929756" y="5025589"/>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نظام كشف التسلل</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Intrusion Detection System (IDS)</a:t>
              </a:r>
            </a:p>
          </p:txBody>
        </p:sp>
        <p:sp>
          <p:nvSpPr>
            <p:cNvPr id="89" name="Rectangle: Rounded Corners 88">
              <a:extLst>
                <a:ext uri="{FF2B5EF4-FFF2-40B4-BE49-F238E27FC236}">
                  <a16:creationId xmlns:a16="http://schemas.microsoft.com/office/drawing/2014/main" id="{B44839EA-8ADD-446E-91F2-24890CBC3DD2}"/>
                </a:ext>
              </a:extLst>
            </p:cNvPr>
            <p:cNvSpPr>
              <a:spLocks/>
            </p:cNvSpPr>
            <p:nvPr/>
          </p:nvSpPr>
          <p:spPr>
            <a:xfrm>
              <a:off x="7640948" y="5025589"/>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بوابة البريد الالكتروني الاّمن</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Secure Email Gateway</a:t>
              </a:r>
            </a:p>
          </p:txBody>
        </p:sp>
        <p:sp>
          <p:nvSpPr>
            <p:cNvPr id="90" name="Rectangle: Rounded Corners 89">
              <a:extLst>
                <a:ext uri="{FF2B5EF4-FFF2-40B4-BE49-F238E27FC236}">
                  <a16:creationId xmlns:a16="http://schemas.microsoft.com/office/drawing/2014/main" id="{3B040404-17A4-4366-B48E-E053578D7743}"/>
                </a:ext>
              </a:extLst>
            </p:cNvPr>
            <p:cNvSpPr>
              <a:spLocks/>
            </p:cNvSpPr>
            <p:nvPr/>
          </p:nvSpPr>
          <p:spPr>
            <a:xfrm>
              <a:off x="367390" y="5459576"/>
              <a:ext cx="1882576"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الكشف عن التهديدات المستمرة المتطورة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Advanced Persistent Threats (APT) Detection</a:t>
              </a:r>
            </a:p>
          </p:txBody>
        </p:sp>
        <p:sp>
          <p:nvSpPr>
            <p:cNvPr id="91" name="Rectangle: Rounded Corners 90">
              <a:extLst>
                <a:ext uri="{FF2B5EF4-FFF2-40B4-BE49-F238E27FC236}">
                  <a16:creationId xmlns:a16="http://schemas.microsoft.com/office/drawing/2014/main" id="{161EEEF5-9D08-4267-A2AA-2B0F2E0573B2}"/>
                </a:ext>
              </a:extLst>
            </p:cNvPr>
            <p:cNvSpPr>
              <a:spLocks/>
            </p:cNvSpPr>
            <p:nvPr/>
          </p:nvSpPr>
          <p:spPr>
            <a:xfrm>
              <a:off x="2296371" y="5459576"/>
              <a:ext cx="1882576"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تقسيم الشبكة والتقسيم الدقيق</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Network Segregation and Micro-Segmentation</a:t>
              </a:r>
            </a:p>
          </p:txBody>
        </p:sp>
        <p:sp>
          <p:nvSpPr>
            <p:cNvPr id="92" name="Rectangle: Rounded Corners 91">
              <a:extLst>
                <a:ext uri="{FF2B5EF4-FFF2-40B4-BE49-F238E27FC236}">
                  <a16:creationId xmlns:a16="http://schemas.microsoft.com/office/drawing/2014/main" id="{749B1C5F-C0FF-40D7-A0A4-4DE3AC34D828}"/>
                </a:ext>
              </a:extLst>
            </p:cNvPr>
            <p:cNvSpPr>
              <a:spLocks/>
            </p:cNvSpPr>
            <p:nvPr/>
          </p:nvSpPr>
          <p:spPr>
            <a:xfrm>
              <a:off x="4234196" y="5459576"/>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مصائد مخترقي الشبكات</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Network Honeypots</a:t>
              </a:r>
            </a:p>
          </p:txBody>
        </p:sp>
        <p:sp>
          <p:nvSpPr>
            <p:cNvPr id="93" name="Rectangle: Rounded Corners 92">
              <a:extLst>
                <a:ext uri="{FF2B5EF4-FFF2-40B4-BE49-F238E27FC236}">
                  <a16:creationId xmlns:a16="http://schemas.microsoft.com/office/drawing/2014/main" id="{05532545-4741-4209-99E9-168CCB671FB1}"/>
                </a:ext>
              </a:extLst>
            </p:cNvPr>
            <p:cNvSpPr>
              <a:spLocks/>
            </p:cNvSpPr>
            <p:nvPr/>
          </p:nvSpPr>
          <p:spPr>
            <a:xfrm>
              <a:off x="5929756" y="5459576"/>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نظام منع التسلل</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Intrusion Prevention System (IPS)</a:t>
              </a:r>
            </a:p>
          </p:txBody>
        </p:sp>
        <p:sp>
          <p:nvSpPr>
            <p:cNvPr id="94" name="Rectangle: Rounded Corners 93">
              <a:extLst>
                <a:ext uri="{FF2B5EF4-FFF2-40B4-BE49-F238E27FC236}">
                  <a16:creationId xmlns:a16="http://schemas.microsoft.com/office/drawing/2014/main" id="{32567A2D-7EF3-475A-AD5D-D5EE91C61294}"/>
                </a:ext>
              </a:extLst>
            </p:cNvPr>
            <p:cNvSpPr>
              <a:spLocks/>
            </p:cNvSpPr>
            <p:nvPr/>
          </p:nvSpPr>
          <p:spPr>
            <a:xfrm>
              <a:off x="7640948" y="5459576"/>
              <a:ext cx="1645920" cy="36576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الوكيل العكسي</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Reverse Proxy</a:t>
              </a:r>
            </a:p>
          </p:txBody>
        </p:sp>
      </p:grpSp>
      <p:sp>
        <p:nvSpPr>
          <p:cNvPr id="104" name="Rectangle: Rounded Corners 103">
            <a:extLst>
              <a:ext uri="{FF2B5EF4-FFF2-40B4-BE49-F238E27FC236}">
                <a16:creationId xmlns:a16="http://schemas.microsoft.com/office/drawing/2014/main" id="{20137453-A3DB-4BF6-A1BC-54D996A58E96}"/>
              </a:ext>
            </a:extLst>
          </p:cNvPr>
          <p:cNvSpPr>
            <a:spLocks/>
          </p:cNvSpPr>
          <p:nvPr/>
        </p:nvSpPr>
        <p:spPr>
          <a:xfrm>
            <a:off x="9672586" y="1636919"/>
            <a:ext cx="2284952"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إدارة المعلومات والأحداث الأمنية</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Security Information and Events Management</a:t>
            </a:r>
          </a:p>
        </p:txBody>
      </p:sp>
      <p:sp>
        <p:nvSpPr>
          <p:cNvPr id="105" name="Rectangle: Rounded Corners 104">
            <a:extLst>
              <a:ext uri="{FF2B5EF4-FFF2-40B4-BE49-F238E27FC236}">
                <a16:creationId xmlns:a16="http://schemas.microsoft.com/office/drawing/2014/main" id="{A6098FFA-60FC-4382-815C-10CE0EFC1FC9}"/>
              </a:ext>
            </a:extLst>
          </p:cNvPr>
          <p:cNvSpPr>
            <a:spLocks/>
          </p:cNvSpPr>
          <p:nvPr/>
        </p:nvSpPr>
        <p:spPr>
          <a:xfrm>
            <a:off x="9672586" y="1954354"/>
            <a:ext cx="2284952" cy="274320"/>
          </a:xfrm>
          <a:prstGeom prst="roundRect">
            <a:avLst>
              <a:gd name="adj" fmla="val 6976"/>
            </a:avLst>
          </a:prstGeom>
          <a:solidFill>
            <a:schemeClr val="accent1"/>
          </a:solidFill>
          <a:ln w="12700" cap="flat" cmpd="sng" algn="ctr">
            <a:solidFill>
              <a:srgbClr val="70AD47">
                <a:lumMod val="50000"/>
              </a:srgbClr>
            </a:solidFill>
            <a:prstDash val="solid"/>
            <a:miter lim="800000"/>
          </a:ln>
          <a:effectLst>
            <a:softEdge rad="0"/>
          </a:effectLst>
        </p:spPr>
        <p:txBody>
          <a:bodyPr rtlCol="0" anchor="ctr"/>
          <a:lstStyle/>
          <a:p>
            <a:pPr algn="ctr" eaLnBrk="0" fontAlgn="base" hangingPunct="0">
              <a:spcBef>
                <a:spcPct val="0"/>
              </a:spcBef>
              <a:spcAft>
                <a:spcPct val="0"/>
              </a:spcAft>
            </a:pPr>
            <a:r>
              <a:rPr lang="ar-SA" sz="700" b="1" dirty="0">
                <a:solidFill>
                  <a:schemeClr val="bg1"/>
                </a:solidFill>
                <a:latin typeface="Neo Sans Arabic" panose="020B0504030504040204" pitchFamily="34" charset="-78"/>
              </a:rPr>
              <a:t> تحليل سلوك المستخدم والكيان</a:t>
            </a:r>
          </a:p>
          <a:p>
            <a:pPr algn="ctr" eaLnBrk="0" fontAlgn="base" hangingPunct="0">
              <a:spcBef>
                <a:spcPct val="0"/>
              </a:spcBef>
              <a:spcAft>
                <a:spcPct val="0"/>
              </a:spcAft>
            </a:pPr>
            <a:r>
              <a:rPr lang="en-US" sz="700" b="1" dirty="0">
                <a:solidFill>
                  <a:schemeClr val="bg1"/>
                </a:solidFill>
                <a:latin typeface="Neo Sans Arabic" panose="020B0504030504040204" pitchFamily="34" charset="-78"/>
              </a:rPr>
              <a:t>User and Entity Behavior Analytics (UEBA)</a:t>
            </a:r>
          </a:p>
        </p:txBody>
      </p:sp>
    </p:spTree>
    <p:extLst>
      <p:ext uri="{BB962C8B-B14F-4D97-AF65-F5344CB8AC3E}">
        <p14:creationId xmlns:p14="http://schemas.microsoft.com/office/powerpoint/2010/main" val="33890328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(إدارة الهوية والوصول)</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297354"/>
            <a:ext cx="11430382" cy="5152404"/>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extLst>
              <p:ext uri="{D42A27DB-BD31-4B8C-83A1-F6EECF244321}">
                <p14:modId xmlns:p14="http://schemas.microsoft.com/office/powerpoint/2010/main" val="1960697427"/>
              </p:ext>
            </p:extLst>
          </p:nvPr>
        </p:nvGraphicFramePr>
        <p:xfrm>
          <a:off x="420268" y="1349922"/>
          <a:ext cx="11058769" cy="2479602"/>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0">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مجموعة من السياسات والتقنيات الأمنية التي تهدف إلى تأمين والتحكم في الوصول إلى الحسابات ذات الصلاحيات المرتفعة داخل بيئة </a:t>
                      </a:r>
                      <a:r>
                        <a:rPr lang="ar-SA" sz="1200" b="0" kern="1200" dirty="0">
                          <a:solidFill>
                            <a:schemeClr val="dk1"/>
                          </a:solidFill>
                          <a:latin typeface="Neo Sans Arabic" panose="020B0504030504040204" pitchFamily="34" charset="-78"/>
                          <a:ea typeface="+mn-ea"/>
                          <a:cs typeface="+mn-cs"/>
                        </a:rPr>
                        <a:t>الهيئة</a:t>
                      </a:r>
                      <a:r>
                        <a:rPr lang="ar-EG" sz="1200" b="0" kern="1200" dirty="0">
                          <a:solidFill>
                            <a:schemeClr val="dk1"/>
                          </a:solidFill>
                          <a:latin typeface="Neo Sans Arabic" panose="020B0504030504040204" pitchFamily="34" charset="-78"/>
                          <a:ea typeface="+mn-ea"/>
                          <a:cs typeface="+mn-cs"/>
                        </a:rPr>
                        <a:t>. تُستخدم </a:t>
                      </a:r>
                      <a:r>
                        <a:rPr lang="en-US" sz="1200" b="0" kern="1200" dirty="0">
                          <a:solidFill>
                            <a:schemeClr val="dk1"/>
                          </a:solidFill>
                          <a:latin typeface="Neo Sans Arabic" panose="020B0504030504040204" pitchFamily="34" charset="-78"/>
                          <a:ea typeface="+mn-ea"/>
                          <a:cs typeface="+mn-cs"/>
                        </a:rPr>
                        <a:t>PAM </a:t>
                      </a:r>
                      <a:r>
                        <a:rPr lang="ar-EG" sz="1200" b="0" kern="1200" dirty="0">
                          <a:solidFill>
                            <a:schemeClr val="dk1"/>
                          </a:solidFill>
                          <a:latin typeface="Neo Sans Arabic" panose="020B0504030504040204" pitchFamily="34" charset="-78"/>
                          <a:ea typeface="+mn-ea"/>
                          <a:cs typeface="+mn-cs"/>
                        </a:rPr>
                        <a:t>لحماية الحسابات التي تمتلك صلاحيات واسعة، مثل حسابات مديري النظام، من الاستغلال أو الوصول غير المصرح به</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إدارة الصلاحيات الهامة والحساسة</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Privileged Access Management (PAM)</a:t>
                      </a:r>
                    </a:p>
                  </a:txBody>
                  <a:tcPr marL="14570" marR="2534" marT="16470" marB="0">
                    <a:solidFill>
                      <a:srgbClr val="E6E6E6"/>
                    </a:solidFill>
                  </a:tcPr>
                </a:tc>
                <a:extLst>
                  <a:ext uri="{0D108BD9-81ED-4DB2-BD59-A6C34878D82A}">
                    <a16:rowId xmlns:a16="http://schemas.microsoft.com/office/drawing/2014/main" val="3391925991"/>
                  </a:ext>
                </a:extLst>
              </a:tr>
              <a:tr h="13245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نظام متكامل يهدف إلى إدارة هويات المستخدمين والتحكم في وصولهم إلى الموارد والأنظمة المختلفة داخل الهيئة، من خلال توثيق الهوية وتفويض الصلاحيات بما يتوافق مع السياسات الأمنية، لضمان حماية البيانات وتقليل المخاطر الناتجة عن الوصول غير المصرح به</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إدارة هويات الدخول والصلاحيات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Identity and Access Management (IAM)</a:t>
                      </a:r>
                    </a:p>
                  </a:txBody>
                  <a:tcPr marL="14570" marR="2534" marT="16470" marB="0">
                    <a:solidFill>
                      <a:srgbClr val="E6E6E6"/>
                    </a:solidFill>
                  </a:tcPr>
                </a:tc>
                <a:extLst>
                  <a:ext uri="{0D108BD9-81ED-4DB2-BD59-A6C34878D82A}">
                    <a16:rowId xmlns:a16="http://schemas.microsoft.com/office/drawing/2014/main" val="412246544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آلية أمان تتطلب من المستخدمين تقديم أكثر من عامل تحقق مستقل لإثبات هويتهم، مثل كلمة المرور، رمز يُرسل إلى الهاتف، أو بصمة الإصبع، مما يعزز من حماية الوصول ويقلل من مخاطر الاختراق الناتجة عن سرقة بيانات الاعتماد</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التحقق من الهوية متعدد العناصر</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Multi-Factor Authentication (MFA)</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خدمة تسمح للمستخدمين بالوصول إلى عدة أنظمة أو تطبيقات مختلفة باستخدام تسجيل دخول واحد فقط، مما يسهل تجربة المستخدم ويُحسن إدارة الهوية وتقليل الحاجة لإدارة كلمات مرور متعددة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تسجيل الدخول الأحادي</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Single Sign-On (SSO)</a:t>
                      </a:r>
                    </a:p>
                  </a:txBody>
                  <a:tcPr marL="14570" marR="2534" marT="16470" marB="0">
                    <a:solidFill>
                      <a:srgbClr val="E6E6E6"/>
                    </a:solidFill>
                  </a:tcPr>
                </a:tc>
                <a:extLst>
                  <a:ext uri="{0D108BD9-81ED-4DB2-BD59-A6C34878D82A}">
                    <a16:rowId xmlns:a16="http://schemas.microsoft.com/office/drawing/2014/main" val="169249072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مجموعة من السياسات والأدوات التي تُستخدم للتحكم في وصول المستخدمين والتطبيقات إلى خدمات وموارد الحوسبة السحابية، مع ضمان الامتثال للمعايير الأمنية والحوكمة، وذلك للحماية من الوصول غير المصرح به وتقليل المخاطر المرتبطة بالسحابة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إدارة الدخول إلي السحابة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Cloud Access Management</a:t>
                      </a:r>
                    </a:p>
                  </a:txBody>
                  <a:tcPr marL="14570" marR="2534" marT="16470" marB="0">
                    <a:solidFill>
                      <a:srgbClr val="E6E6E6"/>
                    </a:solidFill>
                  </a:tcPr>
                </a:tc>
                <a:extLst>
                  <a:ext uri="{0D108BD9-81ED-4DB2-BD59-A6C34878D82A}">
                    <a16:rowId xmlns:a16="http://schemas.microsoft.com/office/drawing/2014/main" val="373534508"/>
                  </a:ext>
                </a:extLst>
              </a:tr>
            </a:tbl>
          </a:graphicData>
        </a:graphic>
      </p:graphicFrame>
    </p:spTree>
    <p:extLst>
      <p:ext uri="{BB962C8B-B14F-4D97-AF65-F5344CB8AC3E}">
        <p14:creationId xmlns:p14="http://schemas.microsoft.com/office/powerpoint/2010/main" val="41513011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(أمن نقاط النهاية)</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297354"/>
            <a:ext cx="11430382" cy="5152404"/>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nvGraphicFramePr>
        <p:xfrm>
          <a:off x="420268" y="1349922"/>
          <a:ext cx="11058769" cy="2479602"/>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0">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مجموعة من الإجراءات والتقنيات التي تهدف إلى حماية الهواتف الذكية، الأجهزة اللوحية، وأي أجهزة محمولة أخرى من التهديدات السيبرانية مثل الفيروسات، الوصول غير المصرح به، وتسريب البيانات، وذلك من خلال التشفير، التحكم بالوصول، وإدارة التحديثات</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أمن الأجهزة المحمولة</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Mobile Devices Security</a:t>
                      </a:r>
                    </a:p>
                  </a:txBody>
                  <a:tcPr marL="14570" marR="2534" marT="16470" marB="0">
                    <a:solidFill>
                      <a:srgbClr val="E6E6E6"/>
                    </a:solidFill>
                  </a:tcPr>
                </a:tc>
                <a:extLst>
                  <a:ext uri="{0D108BD9-81ED-4DB2-BD59-A6C34878D82A}">
                    <a16:rowId xmlns:a16="http://schemas.microsoft.com/office/drawing/2014/main" val="3391925991"/>
                  </a:ext>
                </a:extLst>
              </a:tr>
              <a:tr h="13245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حل أمني يركز على مراقبة وتحليل نشاط أجهزة نقاط النهاية (مثل الحواسيب، الأجهزة المحمولة) لاكتشاف التهديدات السيبرانية بشكل مستمر، والاستجابة لها بسرعة عبر أدوات آلية أو يدوية للحد من الأضرار ومنع انتشار الهجمات</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الكشف والاستجابة لنقاط النهاية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Endpoints Detection and Response (EDR)</a:t>
                      </a:r>
                    </a:p>
                  </a:txBody>
                  <a:tcPr marL="14570" marR="2534" marT="16470" marB="0">
                    <a:solidFill>
                      <a:srgbClr val="E6E6E6"/>
                    </a:solidFill>
                  </a:tcPr>
                </a:tc>
                <a:extLst>
                  <a:ext uri="{0D108BD9-81ED-4DB2-BD59-A6C34878D82A}">
                    <a16:rowId xmlns:a16="http://schemas.microsoft.com/office/drawing/2014/main" val="412246544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مجموعة من الحلول الأمنية التي تُستخدم لحماية أجهزة نقاط النهاية مثل الحواسيب والأجهزة المحمولة من التهديدات السيبرانية، من خلال تقنيات مثل مكافحة الفيروسات، جدران الحماية، التشفير، وأنظمة منع التسلل، بهدف تأمين الجهاز والبيانات من الهجمات والاختراقات</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حماية نقاط النهاية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Endpoints Protection</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إجراء أمني يتيح فقط لتطبيقات أو برامج محددة مسبقًا (المصرح بها) العمل على أجهزة نقاط النهاية، مما يمنع تشغيل أي برامج غير معروفة أو ضارة، وبالتالي يقلل من مخاطر الإصابة بالبرمجيات الخبيثة والهجمات السيبرانية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القائمة البيضاء لأجهزة نقاط النهاية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Endpoints Whitelisting</a:t>
                      </a:r>
                    </a:p>
                  </a:txBody>
                  <a:tcPr marL="14570" marR="2534" marT="16470" marB="0">
                    <a:solidFill>
                      <a:srgbClr val="E6E6E6"/>
                    </a:solidFill>
                  </a:tcPr>
                </a:tc>
                <a:extLst>
                  <a:ext uri="{0D108BD9-81ED-4DB2-BD59-A6C34878D82A}">
                    <a16:rowId xmlns:a16="http://schemas.microsoft.com/office/drawing/2014/main" val="169249072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عملية تقييم مستمرة لحالة أمان أجهزة نقاط النهاية، تشمل التحقق من تحديثات الأنظمة، إعدادات الأمان، وجود برامج الحماية، والتوافق مع سياسات المؤسسة، بهدف ضمان جاهزية الأجهزة ومنع الثغرات الأمنية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تقييم الوضعية لنقاط النهاية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Endpoints Posture Assessment</a:t>
                      </a:r>
                    </a:p>
                  </a:txBody>
                  <a:tcPr marL="14570" marR="2534" marT="16470" marB="0">
                    <a:solidFill>
                      <a:srgbClr val="E6E6E6"/>
                    </a:solidFill>
                  </a:tcPr>
                </a:tc>
                <a:extLst>
                  <a:ext uri="{0D108BD9-81ED-4DB2-BD59-A6C34878D82A}">
                    <a16:rowId xmlns:a16="http://schemas.microsoft.com/office/drawing/2014/main" val="373534508"/>
                  </a:ext>
                </a:extLst>
              </a:tr>
            </a:tbl>
          </a:graphicData>
        </a:graphic>
      </p:graphicFrame>
    </p:spTree>
    <p:extLst>
      <p:ext uri="{BB962C8B-B14F-4D97-AF65-F5344CB8AC3E}">
        <p14:creationId xmlns:p14="http://schemas.microsoft.com/office/powerpoint/2010/main" val="24100380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(أمن البيانات)</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297354"/>
            <a:ext cx="11430382" cy="5152404"/>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nvGraphicFramePr>
        <p:xfrm>
          <a:off x="420268" y="1349922"/>
          <a:ext cx="11058769" cy="4975296"/>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0">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عملية مستمرة لرصد وتسجيل جميع الأنشطة التي تتم على قواعد البيانات، بما في ذلك عمليات الدخول، التعديلات، والاستعلامات، بهدف كشف ومنع الوصول غير المصرح به، والتعرف على السلوكيات المشبوهة لضمان حماية البيانات الحساسة</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مراقبة النشاط في قواعد البيانات</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Databases Activity Monitoring</a:t>
                      </a:r>
                    </a:p>
                  </a:txBody>
                  <a:tcPr marL="14570" marR="2534" marT="16470" marB="0">
                    <a:solidFill>
                      <a:srgbClr val="E6E6E6"/>
                    </a:solidFill>
                  </a:tcPr>
                </a:tc>
                <a:extLst>
                  <a:ext uri="{0D108BD9-81ED-4DB2-BD59-A6C34878D82A}">
                    <a16:rowId xmlns:a16="http://schemas.microsoft.com/office/drawing/2014/main" val="3391925991"/>
                  </a:ext>
                </a:extLst>
              </a:tr>
              <a:tr h="13245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هو نوع خاص من جدران الحماية يراقب ويُقيّد حركة البيانات الواردة والصادرة من قواعد البيانات، بهدف حماية قواعد البيانات من الهجمات، محاولات الاختراق، والوصول غير المصرح به عبر تطبيق سياسات أمان محددة مسبقًا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جدار حماية قواعد البيانات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Databases Firewall</a:t>
                      </a:r>
                    </a:p>
                  </a:txBody>
                  <a:tcPr marL="14570" marR="2534" marT="16470" marB="0">
                    <a:solidFill>
                      <a:srgbClr val="E6E6E6"/>
                    </a:solidFill>
                  </a:tcPr>
                </a:tc>
                <a:extLst>
                  <a:ext uri="{0D108BD9-81ED-4DB2-BD59-A6C34878D82A}">
                    <a16:rowId xmlns:a16="http://schemas.microsoft.com/office/drawing/2014/main" val="412246544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هي مجموعة من التقنيات التي تهدف إلى التحكم في الوصول إلى البيانات الحساسة، وضمان حماية هذه البيانات من الوصول غير المصرح به، والتأكد من استخدامها بشكل صحيح وفقًا للسياسات المحددة. تشمل هذه التقنيات استخدام التشفير، والتحكم في الوصول، وتنفيذ السياسات المتعلقة بالبيانات</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إدارة صلاحيات المعلومات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Information rights management</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عملية مستمرة للتحقق من حالة وسلامة الملفات الحساسة في الأنظمة من خلال مراقبة أي تغييرات غير مصرح بها، مثل التعديل أو الحذف، بهدف الكشف المبكر عن محاولات الاختراق أو العبث وضمان استقرار النظام</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مراقبة سلامة الملفات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Files Integrity Monitoring</a:t>
                      </a:r>
                    </a:p>
                  </a:txBody>
                  <a:tcPr marL="14570" marR="2534" marT="16470" marB="0">
                    <a:solidFill>
                      <a:srgbClr val="E6E6E6"/>
                    </a:solidFill>
                  </a:tcPr>
                </a:tc>
                <a:extLst>
                  <a:ext uri="{0D108BD9-81ED-4DB2-BD59-A6C34878D82A}">
                    <a16:rowId xmlns:a16="http://schemas.microsoft.com/office/drawing/2014/main" val="169249072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استراتيجية أمنية تجمع بين التقنيات، والعمليات، والسياسات لمنع تسرب البيانات الحساسة من المؤسسة غير المصرح به. </a:t>
                      </a:r>
                      <a:r>
                        <a:rPr lang="en-US" sz="1200" b="0" kern="1200" dirty="0">
                          <a:solidFill>
                            <a:schemeClr val="dk1"/>
                          </a:solidFill>
                          <a:latin typeface="Neo Sans Arabic" panose="020B0504030504040204" pitchFamily="34" charset="-78"/>
                          <a:ea typeface="+mn-ea"/>
                          <a:cs typeface="+mn-cs"/>
                        </a:rPr>
                        <a:t>DLP </a:t>
                      </a:r>
                      <a:r>
                        <a:rPr lang="ar-SA" sz="1200" b="0" kern="1200" dirty="0">
                          <a:solidFill>
                            <a:schemeClr val="dk1"/>
                          </a:solidFill>
                          <a:latin typeface="Neo Sans Arabic" panose="020B0504030504040204" pitchFamily="34" charset="-78"/>
                          <a:ea typeface="+mn-ea"/>
                          <a:cs typeface="+mn-cs"/>
                        </a:rPr>
                        <a:t>تهدف إلى حماية البيانات من خلال مراقبتها في كل أنحاء الشبكة وتطبيق السياسات الأمنية عليها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الحماية من تسريب البيانات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Data Leakage Prevention (DLP)</a:t>
                      </a:r>
                    </a:p>
                  </a:txBody>
                  <a:tcPr marL="14570" marR="2534" marT="16470" marB="0">
                    <a:solidFill>
                      <a:srgbClr val="E6E6E6"/>
                    </a:solidFill>
                  </a:tcPr>
                </a:tc>
                <a:extLst>
                  <a:ext uri="{0D108BD9-81ED-4DB2-BD59-A6C34878D82A}">
                    <a16:rowId xmlns:a16="http://schemas.microsoft.com/office/drawing/2014/main" val="373534508"/>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هو عملية تنظيم البيانات بناءً على طبيعتها وحساسيتها، بهدف تحديد مستوى الأمان اللازم لحمايتها. يساعد هذا في تحديد من لديه حق الوصول إلى البيانات، وكيفية استخدامها، ومدى الحماية التي تحتاج إليها.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تصنيف البيانات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Data Classification</a:t>
                      </a:r>
                    </a:p>
                  </a:txBody>
                  <a:tcPr marL="14570" marR="2534" marT="16470" marB="0">
                    <a:solidFill>
                      <a:srgbClr val="E6E6E6"/>
                    </a:solidFill>
                  </a:tcPr>
                </a:tc>
                <a:extLst>
                  <a:ext uri="{0D108BD9-81ED-4DB2-BD59-A6C34878D82A}">
                    <a16:rowId xmlns:a16="http://schemas.microsoft.com/office/drawing/2014/main" val="47426550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عملية منهجية لضمان حذف أو تدمير وسائط التخزين (مثل الأقراص الصلبة، الفلاش ميموري) بطريقة تمنع استعادة البيانات الحساسة، بما يحافظ على سرية المعلومات ويمنع تسربها بعد انتهاء استخدامها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الاتلاف الاّمن لوسائط التخزين</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Secure Storage Disposal</a:t>
                      </a:r>
                    </a:p>
                  </a:txBody>
                  <a:tcPr marL="14570" marR="2534" marT="16470" marB="0">
                    <a:solidFill>
                      <a:srgbClr val="E6E6E6"/>
                    </a:solidFill>
                  </a:tcPr>
                </a:tc>
                <a:extLst>
                  <a:ext uri="{0D108BD9-81ED-4DB2-BD59-A6C34878D82A}">
                    <a16:rowId xmlns:a16="http://schemas.microsoft.com/office/drawing/2014/main" val="1205260779"/>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عملية إزالة البيانات من وسائط التخزين بشكل كامل ونهائي باستخدام تقنيات معتمدة تمنع استرجاعها أو استغلالها، لضمان حماية المعلومات الحساسة ومنع التسرب بعد انتهاء الحاجة إليها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الحذف الاّمن للبيانات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Secure Data Erasure</a:t>
                      </a:r>
                    </a:p>
                  </a:txBody>
                  <a:tcPr marL="14570" marR="2534" marT="16470" marB="0">
                    <a:solidFill>
                      <a:srgbClr val="E6E6E6"/>
                    </a:solidFill>
                  </a:tcPr>
                </a:tc>
                <a:extLst>
                  <a:ext uri="{0D108BD9-81ED-4DB2-BD59-A6C34878D82A}">
                    <a16:rowId xmlns:a16="http://schemas.microsoft.com/office/drawing/2014/main" val="1660496697"/>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تقنية مُتبعة لحماية البيانات والحفاظ على سريتها، عن طريق تحويلها إلى رموز أو نص مشفر، بحيث لا يمكن فك تشفيرها أو الوصول إليها إلا من قِبل فرد يحمل كلمة المرور أو مفتاح التشفير الصحيح، والذي يُنتج قبل التشفير أو خلال تنفيذه</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تشفير البيانات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Data Encryption</a:t>
                      </a:r>
                    </a:p>
                  </a:txBody>
                  <a:tcPr marL="14570" marR="2534" marT="16470" marB="0">
                    <a:solidFill>
                      <a:srgbClr val="E6E6E6"/>
                    </a:solidFill>
                  </a:tcPr>
                </a:tc>
                <a:extLst>
                  <a:ext uri="{0D108BD9-81ED-4DB2-BD59-A6C34878D82A}">
                    <a16:rowId xmlns:a16="http://schemas.microsoft.com/office/drawing/2014/main" val="3799795794"/>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 عملية تغيير القيم الحساسة في البيانات الحقيقية بحيث تصبح غير قابلة للتعرف عليها ولكنها لا تزال قابلة للاستخدام. هذا يساعد في حماية البيانات الحساسة من الوصول غير المصرح به بينما يتيح استخدام البيانات في اختبار التطبيقات والتدريب والتحليل</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تعتيم البيانات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Data Masking</a:t>
                      </a:r>
                    </a:p>
                  </a:txBody>
                  <a:tcPr marL="14570" marR="2534" marT="16470" marB="0">
                    <a:solidFill>
                      <a:srgbClr val="E6E6E6"/>
                    </a:solidFill>
                  </a:tcPr>
                </a:tc>
                <a:extLst>
                  <a:ext uri="{0D108BD9-81ED-4DB2-BD59-A6C34878D82A}">
                    <a16:rowId xmlns:a16="http://schemas.microsoft.com/office/drawing/2014/main" val="4088015023"/>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تقنية تُستخدم لإضافة معلومات تعريفية أو حقوق ملكية رقمية مخفية ضمن محتوى البيانات أو الملفات، بهدف تتبع أصل البيانات، حماية الحقوق، ومنع الاستخدام غير المصرح به أو التلاعب بالمحتوى</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العلامة المائية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Watermarking</a:t>
                      </a:r>
                    </a:p>
                  </a:txBody>
                  <a:tcPr marL="14570" marR="2534" marT="16470" marB="0">
                    <a:solidFill>
                      <a:srgbClr val="E6E6E6"/>
                    </a:solidFill>
                  </a:tcPr>
                </a:tc>
                <a:extLst>
                  <a:ext uri="{0D108BD9-81ED-4DB2-BD59-A6C34878D82A}">
                    <a16:rowId xmlns:a16="http://schemas.microsoft.com/office/drawing/2014/main" val="3931725519"/>
                  </a:ext>
                </a:extLst>
              </a:tr>
            </a:tbl>
          </a:graphicData>
        </a:graphic>
      </p:graphicFrame>
    </p:spTree>
    <p:extLst>
      <p:ext uri="{BB962C8B-B14F-4D97-AF65-F5344CB8AC3E}">
        <p14:creationId xmlns:p14="http://schemas.microsoft.com/office/powerpoint/2010/main" val="23385103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(أمن التطبيقات)</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297354"/>
            <a:ext cx="11430382" cy="5152404"/>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nvGraphicFramePr>
        <p:xfrm>
          <a:off x="420268" y="1349922"/>
          <a:ext cx="11058769" cy="3499142"/>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0">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يُستخدم لحماية تطبيقات الويب من التهديدات الشائعة والهجمات التي تستهدف طبقة التطبيق، مثل هجمات الحقن (</a:t>
                      </a:r>
                      <a:r>
                        <a:rPr lang="en-US" sz="1200" b="0" kern="1200" dirty="0">
                          <a:solidFill>
                            <a:schemeClr val="dk1"/>
                          </a:solidFill>
                          <a:latin typeface="Neo Sans Arabic" panose="020B0504030504040204" pitchFamily="34" charset="-78"/>
                          <a:ea typeface="+mn-ea"/>
                          <a:cs typeface="+mn-cs"/>
                        </a:rPr>
                        <a:t>SQL Injection</a:t>
                      </a:r>
                      <a:r>
                        <a:rPr lang="ar-SA" sz="1200" b="0" kern="1200" dirty="0">
                          <a:solidFill>
                            <a:schemeClr val="dk1"/>
                          </a:solidFill>
                          <a:latin typeface="Neo Sans Arabic" panose="020B0504030504040204" pitchFamily="34" charset="-78"/>
                          <a:ea typeface="+mn-ea"/>
                          <a:cs typeface="+mn-cs"/>
                        </a:rPr>
                        <a:t>)</a:t>
                      </a:r>
                      <a:r>
                        <a:rPr lang="ar-EG" sz="1200" b="0" kern="1200" dirty="0">
                          <a:solidFill>
                            <a:schemeClr val="dk1"/>
                          </a:solidFill>
                          <a:latin typeface="Neo Sans Arabic" panose="020B0504030504040204" pitchFamily="34" charset="-78"/>
                          <a:ea typeface="+mn-ea"/>
                          <a:cs typeface="+mn-cs"/>
                        </a:rPr>
                        <a:t>والبرمجة عبر المواقع (</a:t>
                      </a:r>
                      <a:r>
                        <a:rPr lang="en-US" sz="1200" b="0" kern="1200" dirty="0">
                          <a:solidFill>
                            <a:schemeClr val="dk1"/>
                          </a:solidFill>
                          <a:latin typeface="Neo Sans Arabic" panose="020B0504030504040204" pitchFamily="34" charset="-78"/>
                          <a:ea typeface="+mn-ea"/>
                          <a:cs typeface="+mn-cs"/>
                        </a:rPr>
                        <a:t>Cross-Site Scripting – XSS</a:t>
                      </a:r>
                      <a:r>
                        <a:rPr lang="ar-SA" sz="1200" b="0" kern="1200" dirty="0">
                          <a:solidFill>
                            <a:schemeClr val="dk1"/>
                          </a:solidFill>
                          <a:latin typeface="Neo Sans Arabic" panose="020B0504030504040204" pitchFamily="34" charset="-78"/>
                          <a:ea typeface="+mn-ea"/>
                          <a:cs typeface="+mn-cs"/>
                        </a:rPr>
                        <a:t>)</a:t>
                      </a:r>
                      <a:r>
                        <a:rPr lang="en-US" sz="1200" b="0" kern="1200" dirty="0">
                          <a:solidFill>
                            <a:schemeClr val="dk1"/>
                          </a:solidFill>
                          <a:latin typeface="Neo Sans Arabic" panose="020B0504030504040204" pitchFamily="34" charset="-78"/>
                          <a:ea typeface="+mn-ea"/>
                          <a:cs typeface="+mn-cs"/>
                        </a:rPr>
                        <a:t> </a:t>
                      </a:r>
                      <a:r>
                        <a:rPr lang="ar-EG" sz="1200" b="0" kern="1200" dirty="0">
                          <a:solidFill>
                            <a:schemeClr val="dk1"/>
                          </a:solidFill>
                          <a:latin typeface="Neo Sans Arabic" panose="020B0504030504040204" pitchFamily="34" charset="-78"/>
                          <a:ea typeface="+mn-ea"/>
                          <a:cs typeface="+mn-cs"/>
                        </a:rPr>
                        <a:t>وغيرها من ثغرات </a:t>
                      </a:r>
                      <a:r>
                        <a:rPr lang="en-US" sz="1200" b="0" kern="1200" dirty="0">
                          <a:solidFill>
                            <a:schemeClr val="dk1"/>
                          </a:solidFill>
                          <a:latin typeface="Neo Sans Arabic" panose="020B0504030504040204" pitchFamily="34" charset="-78"/>
                          <a:ea typeface="+mn-ea"/>
                          <a:cs typeface="+mn-cs"/>
                        </a:rPr>
                        <a:t>OWASP Top 10.</a:t>
                      </a:r>
                      <a:r>
                        <a:rPr lang="ar-EG" sz="1200" b="0" kern="1200" dirty="0">
                          <a:solidFill>
                            <a:schemeClr val="dk1"/>
                          </a:solidFill>
                          <a:latin typeface="Neo Sans Arabic" panose="020B0504030504040204" pitchFamily="34" charset="-78"/>
                          <a:ea typeface="+mn-ea"/>
                          <a:cs typeface="+mn-cs"/>
                        </a:rPr>
                        <a:t>يقوم الـ</a:t>
                      </a:r>
                      <a:r>
                        <a:rPr lang="en-US" sz="1200" b="0" kern="1200" dirty="0">
                          <a:solidFill>
                            <a:schemeClr val="dk1"/>
                          </a:solidFill>
                          <a:latin typeface="Neo Sans Arabic" panose="020B0504030504040204" pitchFamily="34" charset="-78"/>
                          <a:ea typeface="+mn-ea"/>
                          <a:cs typeface="+mn-cs"/>
                        </a:rPr>
                        <a:t>WAF </a:t>
                      </a:r>
                      <a:r>
                        <a:rPr lang="ar-EG" sz="1200" b="0" kern="1200" dirty="0">
                          <a:solidFill>
                            <a:schemeClr val="dk1"/>
                          </a:solidFill>
                          <a:latin typeface="Neo Sans Arabic" panose="020B0504030504040204" pitchFamily="34" charset="-78"/>
                          <a:ea typeface="+mn-ea"/>
                          <a:cs typeface="+mn-cs"/>
                        </a:rPr>
                        <a:t>بتحليل ومراقبة حركة البيانات (</a:t>
                      </a:r>
                      <a:r>
                        <a:rPr lang="en-US" sz="1200" b="0" kern="1200" dirty="0">
                          <a:solidFill>
                            <a:schemeClr val="dk1"/>
                          </a:solidFill>
                          <a:latin typeface="Neo Sans Arabic" panose="020B0504030504040204" pitchFamily="34" charset="-78"/>
                          <a:ea typeface="+mn-ea"/>
                          <a:cs typeface="+mn-cs"/>
                        </a:rPr>
                        <a:t>HTTP/HTTPS</a:t>
                      </a:r>
                      <a:r>
                        <a:rPr lang="ar-SA" sz="1200" b="0" kern="1200" dirty="0">
                          <a:solidFill>
                            <a:schemeClr val="dk1"/>
                          </a:solidFill>
                          <a:latin typeface="Neo Sans Arabic" panose="020B0504030504040204" pitchFamily="34" charset="-78"/>
                          <a:ea typeface="+mn-ea"/>
                          <a:cs typeface="+mn-cs"/>
                        </a:rPr>
                        <a:t>) </a:t>
                      </a:r>
                      <a:r>
                        <a:rPr lang="ar-EG" sz="1200" b="0" kern="1200" dirty="0">
                          <a:solidFill>
                            <a:schemeClr val="dk1"/>
                          </a:solidFill>
                          <a:latin typeface="Neo Sans Arabic" panose="020B0504030504040204" pitchFamily="34" charset="-78"/>
                          <a:ea typeface="+mn-ea"/>
                          <a:cs typeface="+mn-cs"/>
                        </a:rPr>
                        <a:t>الموجهة إلى تطبيق الويب، ويُطبّق سياسات أمنية معدة مسبقًا أو مخصصة للكشف عن الأنشطة الضارة ومنعها قبل أن تصل إلى التطبيق</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جدار حماية تطبيقات الويب</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Web Applications Firewall (WAF)</a:t>
                      </a:r>
                    </a:p>
                  </a:txBody>
                  <a:tcPr marL="14570" marR="2534" marT="16470" marB="0">
                    <a:solidFill>
                      <a:srgbClr val="E6E6E6"/>
                    </a:solidFill>
                  </a:tcPr>
                </a:tc>
                <a:extLst>
                  <a:ext uri="{0D108BD9-81ED-4DB2-BD59-A6C34878D82A}">
                    <a16:rowId xmlns:a16="http://schemas.microsoft.com/office/drawing/2014/main" val="3391925991"/>
                  </a:ext>
                </a:extLst>
              </a:tr>
              <a:tr h="13245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مجموعة من الإجراءات والسياسات والتقنيات الأمنية المصممة لضمان حماية واجهات </a:t>
                      </a:r>
                      <a:r>
                        <a:rPr lang="en-US" sz="1200" b="0" kern="1200" dirty="0">
                          <a:solidFill>
                            <a:schemeClr val="dk1"/>
                          </a:solidFill>
                          <a:latin typeface="Neo Sans Arabic" panose="020B0504030504040204" pitchFamily="34" charset="-78"/>
                          <a:ea typeface="+mn-ea"/>
                          <a:cs typeface="+mn-cs"/>
                        </a:rPr>
                        <a:t>APIs </a:t>
                      </a:r>
                      <a:r>
                        <a:rPr lang="ar-SA" sz="1200" b="0" kern="1200" dirty="0">
                          <a:solidFill>
                            <a:schemeClr val="dk1"/>
                          </a:solidFill>
                          <a:latin typeface="Neo Sans Arabic" panose="020B0504030504040204" pitchFamily="34" charset="-78"/>
                          <a:ea typeface="+mn-ea"/>
                          <a:cs typeface="+mn-cs"/>
                        </a:rPr>
                        <a:t>من الوصول غير المصرح به، وإساءة الاستخدام، والهجمات السيبرانية التي تستهدف بيانات النظام أو منطق الأعمال</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حماية واجهات برمجيات التطبيقات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API Security</a:t>
                      </a:r>
                    </a:p>
                  </a:txBody>
                  <a:tcPr marL="14570" marR="2534" marT="16470" marB="0">
                    <a:solidFill>
                      <a:srgbClr val="E6E6E6"/>
                    </a:solidFill>
                  </a:tcPr>
                </a:tc>
                <a:extLst>
                  <a:ext uri="{0D108BD9-81ED-4DB2-BD59-A6C34878D82A}">
                    <a16:rowId xmlns:a16="http://schemas.microsoft.com/office/drawing/2014/main" val="412246544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أسلوب تحليل أمني يهدف إلى تحديد الثغرات الأمنية في التطبيقات أثناء تشغيلها من خلال محاكاة الهجمات الخارجية على واجهة التطبيق، دون الحاجة للوصول إلى الشيفرة المصدرية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الفحص الامني الديناميكي للتطبيقات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Dynamic Applications Security Testing (DAST)</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آلية أمنية تهدف إلى السماح فقط بتشغيل التطبيقات والبرمجيات المعتمدة مسبقًا داخل بيئة نظام التشغيل أو بيئة العمل، ومنع جميع البرامج الأخرى غير المصرح بها من التنفيذ، بغض النظر عن مصدرها.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القائمة البيضاء للتطبيقات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Applications Whitelisting</a:t>
                      </a:r>
                    </a:p>
                  </a:txBody>
                  <a:tcPr marL="14570" marR="2534" marT="16470" marB="0">
                    <a:solidFill>
                      <a:srgbClr val="E6E6E6"/>
                    </a:solidFill>
                  </a:tcPr>
                </a:tc>
                <a:extLst>
                  <a:ext uri="{0D108BD9-81ED-4DB2-BD59-A6C34878D82A}">
                    <a16:rowId xmlns:a16="http://schemas.microsoft.com/office/drawing/2014/main" val="169249072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هي تقنية أمنية مُدمجة داخل التطبيق أو تعمل بجواره، تقوم بمراقبة وتحليل سلوك التطبيق في وقت التشغيل (</a:t>
                      </a:r>
                      <a:r>
                        <a:rPr lang="en-US" sz="1200" b="0" kern="1200" dirty="0">
                          <a:solidFill>
                            <a:schemeClr val="dk1"/>
                          </a:solidFill>
                          <a:latin typeface="Neo Sans Arabic" panose="020B0504030504040204" pitchFamily="34" charset="-78"/>
                          <a:ea typeface="+mn-ea"/>
                          <a:cs typeface="+mn-cs"/>
                        </a:rPr>
                        <a:t>Runtime</a:t>
                      </a:r>
                      <a:r>
                        <a:rPr lang="ar-SA" sz="1200" b="0" kern="1200" dirty="0">
                          <a:solidFill>
                            <a:schemeClr val="dk1"/>
                          </a:solidFill>
                          <a:latin typeface="Neo Sans Arabic" panose="020B0504030504040204" pitchFamily="34" charset="-78"/>
                          <a:ea typeface="+mn-ea"/>
                          <a:cs typeface="+mn-cs"/>
                        </a:rPr>
                        <a:t>) </a:t>
                      </a:r>
                      <a:r>
                        <a:rPr lang="en-US" sz="1200" b="0" kern="1200" dirty="0">
                          <a:solidFill>
                            <a:schemeClr val="dk1"/>
                          </a:solidFill>
                          <a:latin typeface="Neo Sans Arabic" panose="020B0504030504040204" pitchFamily="34" charset="-78"/>
                          <a:ea typeface="+mn-ea"/>
                          <a:cs typeface="+mn-cs"/>
                        </a:rPr>
                        <a:t> </a:t>
                      </a:r>
                      <a:r>
                        <a:rPr lang="ar-SA" sz="1200" b="0" kern="1200" dirty="0">
                          <a:solidFill>
                            <a:schemeClr val="dk1"/>
                          </a:solidFill>
                          <a:latin typeface="Neo Sans Arabic" panose="020B0504030504040204" pitchFamily="34" charset="-78"/>
                          <a:ea typeface="+mn-ea"/>
                          <a:cs typeface="+mn-cs"/>
                        </a:rPr>
                        <a:t>بهدف الكشف عن الهجمات والتهديدات الأمنية والاستجابة لها تلقائيًا.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الحماية الذاتية للتطبيقات في بيئة التشغيل</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Runtime Applications Self Protection (RASP)</a:t>
                      </a:r>
                    </a:p>
                  </a:txBody>
                  <a:tcPr marL="14570" marR="2534" marT="16470" marB="0">
                    <a:solidFill>
                      <a:srgbClr val="E6E6E6"/>
                    </a:solidFill>
                  </a:tcPr>
                </a:tc>
                <a:extLst>
                  <a:ext uri="{0D108BD9-81ED-4DB2-BD59-A6C34878D82A}">
                    <a16:rowId xmlns:a16="http://schemas.microsoft.com/office/drawing/2014/main" val="373534508"/>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تحليل الشيفرة المصدرية أو كود التطبيق (</a:t>
                      </a:r>
                      <a:r>
                        <a:rPr lang="en-US" sz="1200" b="0" kern="1200" dirty="0">
                          <a:solidFill>
                            <a:schemeClr val="dk1"/>
                          </a:solidFill>
                          <a:latin typeface="Neo Sans Arabic" panose="020B0504030504040204" pitchFamily="34" charset="-78"/>
                          <a:ea typeface="+mn-ea"/>
                          <a:cs typeface="+mn-cs"/>
                        </a:rPr>
                        <a:t>Source Code, Bytecode, </a:t>
                      </a:r>
                      <a:r>
                        <a:rPr lang="ar-SA" sz="1200" b="0" kern="1200" dirty="0">
                          <a:solidFill>
                            <a:schemeClr val="dk1"/>
                          </a:solidFill>
                          <a:latin typeface="Neo Sans Arabic" panose="020B0504030504040204" pitchFamily="34" charset="-78"/>
                          <a:ea typeface="+mn-ea"/>
                          <a:cs typeface="+mn-cs"/>
                        </a:rPr>
                        <a:t>أو </a:t>
                      </a:r>
                      <a:r>
                        <a:rPr lang="en-US" sz="1200" b="0" kern="1200" dirty="0">
                          <a:solidFill>
                            <a:schemeClr val="dk1"/>
                          </a:solidFill>
                          <a:latin typeface="Neo Sans Arabic" panose="020B0504030504040204" pitchFamily="34" charset="-78"/>
                          <a:ea typeface="+mn-ea"/>
                          <a:cs typeface="+mn-cs"/>
                        </a:rPr>
                        <a:t>Binary Code</a:t>
                      </a:r>
                      <a:r>
                        <a:rPr lang="ar-SA" sz="1200" b="0" kern="1200" dirty="0">
                          <a:solidFill>
                            <a:schemeClr val="dk1"/>
                          </a:solidFill>
                          <a:latin typeface="Neo Sans Arabic" panose="020B0504030504040204" pitchFamily="34" charset="-78"/>
                          <a:ea typeface="+mn-ea"/>
                          <a:cs typeface="+mn-cs"/>
                        </a:rPr>
                        <a:t>) بهدف اكتشاف الثغرات الأمنية مبكرًا، قبل تنفيذ التطبيق أو نشره</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الفحص الأمني الثابت للتطبيقات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Static Applications Security Testing </a:t>
                      </a:r>
                    </a:p>
                  </a:txBody>
                  <a:tcPr marL="14570" marR="2534" marT="16470" marB="0">
                    <a:solidFill>
                      <a:srgbClr val="E6E6E6"/>
                    </a:solidFill>
                  </a:tcPr>
                </a:tc>
                <a:extLst>
                  <a:ext uri="{0D108BD9-81ED-4DB2-BD59-A6C34878D82A}">
                    <a16:rowId xmlns:a16="http://schemas.microsoft.com/office/drawing/2014/main" val="47426550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مجموعة من السياسات، الضوابط، الممارسات، والتقنيات المصممة لحماية التطبيقات التي تُنشر أو تُدار ضمن بيئات الحوسبة السحابية (سواء عامة، خاصة أو هجينة)، وذلك من التهديدات السيبرانية، الفجوات الأمنية، وسوء التهيئة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أمن التطبيقات السحابية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Cloud Applications Security</a:t>
                      </a:r>
                    </a:p>
                  </a:txBody>
                  <a:tcPr marL="14570" marR="2534" marT="16470" marB="0">
                    <a:solidFill>
                      <a:srgbClr val="E6E6E6"/>
                    </a:solidFill>
                  </a:tcPr>
                </a:tc>
                <a:extLst>
                  <a:ext uri="{0D108BD9-81ED-4DB2-BD59-A6C34878D82A}">
                    <a16:rowId xmlns:a16="http://schemas.microsoft.com/office/drawing/2014/main" val="1205260779"/>
                  </a:ext>
                </a:extLst>
              </a:tr>
            </a:tbl>
          </a:graphicData>
        </a:graphic>
      </p:graphicFrame>
    </p:spTree>
    <p:extLst>
      <p:ext uri="{BB962C8B-B14F-4D97-AF65-F5344CB8AC3E}">
        <p14:creationId xmlns:p14="http://schemas.microsoft.com/office/powerpoint/2010/main" val="9273114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60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(أمن البنية التحتية 2/1)</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312985"/>
            <a:ext cx="11430382" cy="5152404"/>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nvGraphicFramePr>
        <p:xfrm>
          <a:off x="420268" y="1349922"/>
          <a:ext cx="11058769" cy="4551282"/>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0">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a:t>
                      </a:r>
                      <a:r>
                        <a:rPr lang="ar-EG" sz="1200" b="0" kern="1200" dirty="0">
                          <a:solidFill>
                            <a:schemeClr val="dk1"/>
                          </a:solidFill>
                          <a:latin typeface="Neo Sans Arabic" panose="020B0504030504040204" pitchFamily="34" charset="-78"/>
                          <a:ea typeface="+mn-ea"/>
                          <a:cs typeface="+mn-cs"/>
                        </a:rPr>
                        <a:t>نظمة المسؤولة عن مراقبة حركة مرور البيانات بين مناطق الشبكات المختلفة في الجهة ومنع أية برامج خبيثة من ا</a:t>
                      </a:r>
                      <a:r>
                        <a:rPr lang="ar-SA" sz="1200" b="0" kern="1200" dirty="0">
                          <a:solidFill>
                            <a:schemeClr val="dk1"/>
                          </a:solidFill>
                          <a:latin typeface="Neo Sans Arabic" panose="020B0504030504040204" pitchFamily="34" charset="-78"/>
                          <a:ea typeface="+mn-ea"/>
                          <a:cs typeface="+mn-cs"/>
                        </a:rPr>
                        <a:t>لا</a:t>
                      </a:r>
                      <a:r>
                        <a:rPr lang="ar-EG" sz="1200" b="0" kern="1200" dirty="0">
                          <a:solidFill>
                            <a:schemeClr val="dk1"/>
                          </a:solidFill>
                          <a:latin typeface="Neo Sans Arabic" panose="020B0504030504040204" pitchFamily="34" charset="-78"/>
                          <a:ea typeface="+mn-ea"/>
                          <a:cs typeface="+mn-cs"/>
                        </a:rPr>
                        <a:t>نتشار بينها</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جدار حماية الشبكة</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Network Firewall</a:t>
                      </a:r>
                    </a:p>
                  </a:txBody>
                  <a:tcPr marL="14570" marR="2534" marT="16470" marB="0">
                    <a:solidFill>
                      <a:srgbClr val="E6E6E6"/>
                    </a:solidFill>
                  </a:tcPr>
                </a:tc>
                <a:extLst>
                  <a:ext uri="{0D108BD9-81ED-4DB2-BD59-A6C34878D82A}">
                    <a16:rowId xmlns:a16="http://schemas.microsoft.com/office/drawing/2014/main" val="3391925991"/>
                  </a:ext>
                </a:extLst>
              </a:tr>
              <a:tr h="13245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المسؤولة عن التحقق من محتويات حركة البيانات المشفرة المنتقلة عبر الشبكة حيث تقوم بفك تشفير حركة مرور البيانات في الشبكة و تحليلها باستخدام أدوات تفتيش وتحقق متخصصة للتأكد من سلامة المحتوى المنتقل عبر الشبكة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تفتيش حركة البيانات المشفرة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SSL/TLS Inspection</a:t>
                      </a:r>
                    </a:p>
                  </a:txBody>
                  <a:tcPr marL="14570" marR="2534" marT="16470" marB="0">
                    <a:solidFill>
                      <a:srgbClr val="E6E6E6"/>
                    </a:solidFill>
                  </a:tcPr>
                </a:tc>
                <a:extLst>
                  <a:ext uri="{0D108BD9-81ED-4DB2-BD59-A6C34878D82A}">
                    <a16:rowId xmlns:a16="http://schemas.microsoft.com/office/drawing/2014/main" val="412246544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تقوم بمنع واكتشاف وإزالة البرامج الضارة من الخوادم من خلال استخدام برامج مكافحة الفيروسات وبرامج الحماية الشاملة التي تفحص النظام بانتظام بالإضافة إلى استخدام جدران الحماية وأدوات إدارة الأمان لتعزيز الحماية ورصد الأنشطة الغير مشروعة على الخادم</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حماية الخوادم</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Servers Protection</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أو الخدمات الأمنية المسؤولة عن التصدي للهجمات التي تحاول إغراق الشبكة أو الخوادم بحركة مرور مصطنعة لإخراجها من الخدمة, أو الهجمات التي تهدف إلى إشغال موارد الخوادم بصورة كبيرة أو استهداف التطبيقات بهدف إضعاف أدائها ومنعها من العمل بصورة طبيعية والاستجابة لطلبات المستخدمين</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الحماية من الهجوم الموزع لحجب الخدمة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DDoS Protection</a:t>
                      </a:r>
                    </a:p>
                  </a:txBody>
                  <a:tcPr marL="14570" marR="2534" marT="16470" marB="0">
                    <a:solidFill>
                      <a:srgbClr val="E6E6E6"/>
                    </a:solidFill>
                  </a:tcPr>
                </a:tc>
                <a:extLst>
                  <a:ext uri="{0D108BD9-81ED-4DB2-BD59-A6C34878D82A}">
                    <a16:rowId xmlns:a16="http://schemas.microsoft.com/office/drawing/2014/main" val="169249072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المسؤولة عن تشغيل البرامج في بيئة تجريبية معزولة وجمع المعلومات عنها وتحليلها لاكتشاف أية برمجيات خبيثة فيها.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أنظمة البيئة التجريبية </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Sandboxing</a:t>
                      </a:r>
                    </a:p>
                  </a:txBody>
                  <a:tcPr marL="14570" marR="2534" marT="16470" marB="0">
                    <a:solidFill>
                      <a:srgbClr val="E6E6E6"/>
                    </a:solidFill>
                  </a:tcPr>
                </a:tc>
                <a:extLst>
                  <a:ext uri="{0D108BD9-81ED-4DB2-BD59-A6C34878D82A}">
                    <a16:rowId xmlns:a16="http://schemas.microsoft.com/office/drawing/2014/main" val="373534508"/>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التي تعمل كوسيط بين المستخدمين ومواقع الويب وذلك لتطبيق السياسات الأمنية المتعلقة بالوصول إلى المواقع، وحماية المستخدم من أية برمجيات ضارة أو ثغرات أمنية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بوابة الويب الاّمن</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Secure Web Gateway</a:t>
                      </a:r>
                    </a:p>
                  </a:txBody>
                  <a:tcPr marL="14570" marR="2534" marT="16470" marB="0">
                    <a:solidFill>
                      <a:srgbClr val="E6E6E6"/>
                    </a:solidFill>
                  </a:tcPr>
                </a:tc>
                <a:extLst>
                  <a:ext uri="{0D108BD9-81ED-4DB2-BD59-A6C34878D82A}">
                    <a16:rowId xmlns:a16="http://schemas.microsoft.com/office/drawing/2014/main" val="47426550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المسؤولة عن إنشاء الشهادات الرقمية وإدارتها وتوزيعها واستخدامها وتخزينها وإبطالها وإدارة تشفير المفتاح العام للتواصل الشبكي الآمن, والذي ُيستخدم أيضاًفي بروتوكوالت </a:t>
                      </a:r>
                      <a:r>
                        <a:rPr lang="en-US" sz="1200" b="0" kern="1200" dirty="0">
                          <a:solidFill>
                            <a:schemeClr val="dk1"/>
                          </a:solidFill>
                          <a:latin typeface="Neo Sans Arabic" panose="020B0504030504040204" pitchFamily="34" charset="-78"/>
                          <a:ea typeface="+mn-ea"/>
                          <a:cs typeface="+mn-cs"/>
                        </a:rPr>
                        <a:t>SSL/TLS </a:t>
                      </a:r>
                      <a:r>
                        <a:rPr lang="ar-SA" sz="1200" b="0" kern="1200" dirty="0">
                          <a:solidFill>
                            <a:schemeClr val="dk1"/>
                          </a:solidFill>
                          <a:latin typeface="Neo Sans Arabic" panose="020B0504030504040204" pitchFamily="34" charset="-78"/>
                          <a:ea typeface="+mn-ea"/>
                          <a:cs typeface="+mn-cs"/>
                        </a:rPr>
                        <a:t> من أجل تشفير البيانات أثناء انتقالها (</a:t>
                      </a:r>
                      <a:r>
                        <a:rPr lang="en-US" sz="1200" b="0" kern="1200" dirty="0">
                          <a:solidFill>
                            <a:schemeClr val="dk1"/>
                          </a:solidFill>
                          <a:latin typeface="Neo Sans Arabic" panose="020B0504030504040204" pitchFamily="34" charset="-78"/>
                          <a:ea typeface="+mn-ea"/>
                          <a:cs typeface="+mn-cs"/>
                        </a:rPr>
                        <a:t>Encryption</a:t>
                      </a:r>
                      <a:r>
                        <a:rPr lang="ar-SA" sz="1200" b="0" kern="1200" dirty="0">
                          <a:solidFill>
                            <a:schemeClr val="dk1"/>
                          </a:solidFill>
                          <a:latin typeface="Neo Sans Arabic" panose="020B0504030504040204" pitchFamily="34" charset="-78"/>
                          <a:ea typeface="+mn-ea"/>
                          <a:cs typeface="+mn-cs"/>
                        </a:rPr>
                        <a:t> </a:t>
                      </a:r>
                      <a:r>
                        <a:rPr lang="en-US" sz="1200" b="0" kern="1200" dirty="0">
                          <a:solidFill>
                            <a:schemeClr val="dk1"/>
                          </a:solidFill>
                          <a:latin typeface="Neo Sans Arabic" panose="020B0504030504040204" pitchFamily="34" charset="-78"/>
                          <a:ea typeface="+mn-ea"/>
                          <a:cs typeface="+mn-cs"/>
                        </a:rPr>
                        <a:t>Data In-Transit</a:t>
                      </a:r>
                      <a:r>
                        <a:rPr lang="ar-SA" sz="1200" b="0" kern="1200" dirty="0">
                          <a:solidFill>
                            <a:schemeClr val="dk1"/>
                          </a:solidFill>
                          <a:latin typeface="Neo Sans Arabic" panose="020B0504030504040204" pitchFamily="34" charset="-78"/>
                          <a:ea typeface="+mn-ea"/>
                          <a:cs typeface="+mn-cs"/>
                        </a:rPr>
                        <a:t>)</a:t>
                      </a:r>
                      <a:r>
                        <a:rPr lang="en-US" sz="1200" b="0" kern="1200" dirty="0">
                          <a:solidFill>
                            <a:schemeClr val="dk1"/>
                          </a:solidFill>
                          <a:latin typeface="Neo Sans Arabic" panose="020B0504030504040204" pitchFamily="34" charset="-78"/>
                          <a:ea typeface="+mn-ea"/>
                          <a:cs typeface="+mn-cs"/>
                        </a:rPr>
                        <a:t> </a:t>
                      </a:r>
                      <a:r>
                        <a:rPr lang="ar-SA" sz="1200" b="0" kern="1200" dirty="0">
                          <a:solidFill>
                            <a:schemeClr val="dk1"/>
                          </a:solidFill>
                          <a:latin typeface="Neo Sans Arabic" panose="020B0504030504040204" pitchFamily="34" charset="-78"/>
                          <a:ea typeface="+mn-ea"/>
                          <a:cs typeface="+mn-cs"/>
                        </a:rPr>
                        <a:t>وتحقيق التواصل الآمن عبر الإنترنت من خلال تمكين التشفير والمصادقة والتحقق من سلامة البيانات</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mn-lt"/>
                          <a:ea typeface="+mn-ea"/>
                          <a:cs typeface="+mn-cs"/>
                        </a:rPr>
                        <a:t>بنية المفتاح العام</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Public Key Infrastructure (PKI)</a:t>
                      </a:r>
                    </a:p>
                  </a:txBody>
                  <a:tcPr marL="14570" marR="2534" marT="16470" marB="0">
                    <a:solidFill>
                      <a:srgbClr val="E6E6E6"/>
                    </a:solidFill>
                  </a:tcPr>
                </a:tc>
                <a:extLst>
                  <a:ext uri="{0D108BD9-81ED-4DB2-BD59-A6C34878D82A}">
                    <a16:rowId xmlns:a16="http://schemas.microsoft.com/office/drawing/2014/main" val="1205260779"/>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المستخدمة لإنشاء قناة مشفرة تصل المستخدم بالشبكة الداخلية للجهة عن بعد</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الشبكة الخاصة الافتراضية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Virtual Private Network (VPN)</a:t>
                      </a:r>
                    </a:p>
                  </a:txBody>
                  <a:tcPr marL="14570" marR="2534" marT="16470" marB="0">
                    <a:solidFill>
                      <a:srgbClr val="E6E6E6"/>
                    </a:solidFill>
                  </a:tcPr>
                </a:tc>
                <a:extLst>
                  <a:ext uri="{0D108BD9-81ED-4DB2-BD59-A6C34878D82A}">
                    <a16:rowId xmlns:a16="http://schemas.microsoft.com/office/drawing/2014/main" val="144857513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ا</a:t>
                      </a:r>
                      <a:r>
                        <a:rPr lang="ar-SA" sz="1200" b="0" kern="1200" dirty="0">
                          <a:solidFill>
                            <a:schemeClr val="dk1"/>
                          </a:solidFill>
                          <a:latin typeface="Neo Sans Arabic" panose="020B0504030504040204" pitchFamily="34" charset="-78"/>
                          <a:ea typeface="+mn-ea"/>
                          <a:cs typeface="+mn-cs"/>
                        </a:rPr>
                        <a:t>لأ</a:t>
                      </a:r>
                      <a:r>
                        <a:rPr lang="ar-EG" sz="1200" b="0" kern="1200" dirty="0">
                          <a:solidFill>
                            <a:schemeClr val="dk1"/>
                          </a:solidFill>
                          <a:latin typeface="Neo Sans Arabic" panose="020B0504030504040204" pitchFamily="34" charset="-78"/>
                          <a:ea typeface="+mn-ea"/>
                          <a:cs typeface="+mn-cs"/>
                        </a:rPr>
                        <a:t>نظمة المسؤولة عن مصادقة وتشفير طلبات</a:t>
                      </a:r>
                      <a:r>
                        <a:rPr lang="ar-SA" sz="1200" b="0" kern="1200" dirty="0">
                          <a:solidFill>
                            <a:schemeClr val="dk1"/>
                          </a:solidFill>
                          <a:latin typeface="Neo Sans Arabic" panose="020B0504030504040204" pitchFamily="34" charset="-78"/>
                          <a:ea typeface="+mn-ea"/>
                          <a:cs typeface="+mn-cs"/>
                        </a:rPr>
                        <a:t> </a:t>
                      </a:r>
                      <a:r>
                        <a:rPr lang="ar-EG" sz="1200" b="0" kern="1200" dirty="0">
                          <a:solidFill>
                            <a:schemeClr val="dk1"/>
                          </a:solidFill>
                          <a:latin typeface="Neo Sans Arabic" panose="020B0504030504040204" pitchFamily="34" charset="-78"/>
                          <a:ea typeface="+mn-ea"/>
                          <a:cs typeface="+mn-cs"/>
                        </a:rPr>
                        <a:t>ترجمة أسماء النطاقات (</a:t>
                      </a:r>
                      <a:r>
                        <a:rPr lang="en-US" sz="1200" b="0" kern="1200" dirty="0">
                          <a:solidFill>
                            <a:schemeClr val="dk1"/>
                          </a:solidFill>
                          <a:latin typeface="Neo Sans Arabic" panose="020B0504030504040204" pitchFamily="34" charset="-78"/>
                          <a:ea typeface="+mn-ea"/>
                          <a:cs typeface="+mn-cs"/>
                        </a:rPr>
                        <a:t>DNS Requests</a:t>
                      </a:r>
                      <a:r>
                        <a:rPr lang="ar-SA" sz="1200" b="0" kern="1200" dirty="0">
                          <a:solidFill>
                            <a:schemeClr val="dk1"/>
                          </a:solidFill>
                          <a:latin typeface="Neo Sans Arabic" panose="020B0504030504040204" pitchFamily="34" charset="-78"/>
                          <a:ea typeface="+mn-ea"/>
                          <a:cs typeface="+mn-cs"/>
                        </a:rPr>
                        <a:t>) </a:t>
                      </a:r>
                      <a:r>
                        <a:rPr lang="ar-EG" sz="1200" b="0" kern="1200" dirty="0">
                          <a:solidFill>
                            <a:schemeClr val="dk1"/>
                          </a:solidFill>
                          <a:latin typeface="Neo Sans Arabic" panose="020B0504030504040204" pitchFamily="34" charset="-78"/>
                          <a:ea typeface="+mn-ea"/>
                          <a:cs typeface="+mn-cs"/>
                        </a:rPr>
                        <a:t>والتحقق من صحتها.</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حماية نظام أسماء النطاقات</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Domain Name System (DNS) Security</a:t>
                      </a:r>
                    </a:p>
                  </a:txBody>
                  <a:tcPr marL="14570" marR="2534" marT="16470" marB="0">
                    <a:solidFill>
                      <a:srgbClr val="E6E6E6"/>
                    </a:solidFill>
                  </a:tcPr>
                </a:tc>
                <a:extLst>
                  <a:ext uri="{0D108BD9-81ED-4DB2-BD59-A6C34878D82A}">
                    <a16:rowId xmlns:a16="http://schemas.microsoft.com/office/drawing/2014/main" val="2237606772"/>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المستخدمة لإنشاء قناة مشفرة تصل المستخدم بالشبكة الداخلية عن بعد، ولكن بقدرات أمنية أعلى من حيث إعطاء المستخدم صلاحية </a:t>
                      </a:r>
                    </a:p>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الدخول على أنظمة محددة فقط وتحت شروط محددة.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الثقة الصفرية في الدخول للشبكة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Zero Trust Network Access</a:t>
                      </a:r>
                    </a:p>
                  </a:txBody>
                  <a:tcPr marL="14570" marR="2534" marT="16470" marB="0">
                    <a:solidFill>
                      <a:srgbClr val="E6E6E6"/>
                    </a:solidFill>
                  </a:tcPr>
                </a:tc>
                <a:extLst>
                  <a:ext uri="{0D108BD9-81ED-4DB2-BD59-A6C34878D82A}">
                    <a16:rowId xmlns:a16="http://schemas.microsoft.com/office/drawing/2014/main" val="736326020"/>
                  </a:ext>
                </a:extLst>
              </a:tr>
            </a:tbl>
          </a:graphicData>
        </a:graphic>
      </p:graphicFrame>
    </p:spTree>
    <p:extLst>
      <p:ext uri="{BB962C8B-B14F-4D97-AF65-F5344CB8AC3E}">
        <p14:creationId xmlns:p14="http://schemas.microsoft.com/office/powerpoint/2010/main" val="20518644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61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(أمن البنية التحتية 2/2)</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312985"/>
            <a:ext cx="11430382" cy="5390456"/>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nvGraphicFramePr>
        <p:xfrm>
          <a:off x="420268" y="1349922"/>
          <a:ext cx="11058769" cy="4771500"/>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المسؤولة عن استخدام تقنيات الذكاء الاصطناعي وتعلم الالة لاكتشاف وإيقاف البريد الضار قبل أن يصل إلى المستخدمين داخل الجهة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بوابة البريد الالكتروني الاّمن</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Secure Email Gateway</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يراقب حركة المرور عبر الشبكة بحثاً عن أنشطة</a:t>
                      </a:r>
                      <a:r>
                        <a:rPr lang="en-US" sz="1200" b="0" kern="1200" dirty="0">
                          <a:solidFill>
                            <a:schemeClr val="dk1"/>
                          </a:solidFill>
                          <a:latin typeface="Neo Sans Arabic" panose="020B0504030504040204" pitchFamily="34" charset="-78"/>
                          <a:ea typeface="+mn-ea"/>
                          <a:cs typeface="+mn-cs"/>
                        </a:rPr>
                        <a:t> </a:t>
                      </a:r>
                      <a:r>
                        <a:rPr lang="ar-SA" sz="1200" b="0" kern="1200" dirty="0">
                          <a:solidFill>
                            <a:schemeClr val="dk1"/>
                          </a:solidFill>
                          <a:latin typeface="Neo Sans Arabic" panose="020B0504030504040204" pitchFamily="34" charset="-78"/>
                          <a:ea typeface="+mn-ea"/>
                          <a:cs typeface="+mn-cs"/>
                        </a:rPr>
                        <a:t>مشبوهة أو أنماط قد تشير إلى تسلل أو اختراق</a:t>
                      </a:r>
                      <a:r>
                        <a:rPr lang="en-US" sz="1200" b="0" kern="1200" dirty="0">
                          <a:solidFill>
                            <a:schemeClr val="dk1"/>
                          </a:solidFill>
                          <a:latin typeface="Neo Sans Arabic" panose="020B0504030504040204" pitchFamily="34" charset="-78"/>
                          <a:ea typeface="+mn-ea"/>
                          <a:cs typeface="+mn-cs"/>
                        </a:rPr>
                        <a:t> </a:t>
                      </a:r>
                      <a:r>
                        <a:rPr lang="ar-SA" sz="1200" b="0" kern="1200" dirty="0">
                          <a:solidFill>
                            <a:schemeClr val="dk1"/>
                          </a:solidFill>
                          <a:latin typeface="Neo Sans Arabic" panose="020B0504030504040204" pitchFamily="34" charset="-78"/>
                          <a:ea typeface="+mn-ea"/>
                          <a:cs typeface="+mn-cs"/>
                        </a:rPr>
                        <a:t>محتمل أو انتهاك للأمن. يقوم هذا النظام بتحليل حزم الشبكة وإصدار تنبيهات أو اتخاذ إجراء عندما يتم اكتشاف وصول غير مصرح به أو سلوك خبيث</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نظام كشف التسلل</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Intrusion Detection System (IDS)</a:t>
                      </a:r>
                    </a:p>
                  </a:txBody>
                  <a:tcPr marL="14570" marR="2534" marT="16470" marB="0">
                    <a:solidFill>
                      <a:srgbClr val="E6E6E6"/>
                    </a:solidFill>
                  </a:tcPr>
                </a:tc>
                <a:extLst>
                  <a:ext uri="{0D108BD9-81ED-4DB2-BD59-A6C34878D82A}">
                    <a16:rowId xmlns:a16="http://schemas.microsoft.com/office/drawing/2014/main" val="169249072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المسؤولة عن التحقق من هوية الأجهزة والمستخدمين قبل السماح لهم بالوصول إلى الشبكة السلكية أو الالسلكية الداخلية للجهة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التحكم بالوصول الشبكي</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Network Access Control (NAC)</a:t>
                      </a:r>
                    </a:p>
                  </a:txBody>
                  <a:tcPr marL="14570" marR="2534" marT="16470" marB="0">
                    <a:solidFill>
                      <a:srgbClr val="E6E6E6"/>
                    </a:solidFill>
                  </a:tcPr>
                </a:tc>
                <a:extLst>
                  <a:ext uri="{0D108BD9-81ED-4DB2-BD59-A6C34878D82A}">
                    <a16:rowId xmlns:a16="http://schemas.microsoft.com/office/drawing/2014/main" val="373534508"/>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تهدف إلى حماية بنية الشبكة وأجهزة الكمبيوتر من هجمات واختراقات محتملة عبر بروتوكول </a:t>
                      </a:r>
                      <a:r>
                        <a:rPr lang="en-US" sz="1200" b="0" kern="1200" dirty="0">
                          <a:solidFill>
                            <a:schemeClr val="dk1"/>
                          </a:solidFill>
                          <a:latin typeface="Neo Sans Arabic" panose="020B0504030504040204" pitchFamily="34" charset="-78"/>
                          <a:ea typeface="+mn-ea"/>
                          <a:cs typeface="+mn-cs"/>
                        </a:rPr>
                        <a:t>DHCP</a:t>
                      </a:r>
                      <a:r>
                        <a:rPr lang="ar-SA" sz="1200" b="0" kern="1200" dirty="0">
                          <a:solidFill>
                            <a:schemeClr val="dk1"/>
                          </a:solidFill>
                          <a:latin typeface="Neo Sans Arabic" panose="020B0504030504040204" pitchFamily="34" charset="-78"/>
                          <a:ea typeface="+mn-ea"/>
                          <a:cs typeface="+mn-cs"/>
                        </a:rPr>
                        <a:t> تتضمن تكوينات الأمان في خوادم </a:t>
                      </a:r>
                      <a:r>
                        <a:rPr lang="en-US" sz="1200" b="0" kern="1200" dirty="0">
                          <a:solidFill>
                            <a:schemeClr val="dk1"/>
                          </a:solidFill>
                          <a:latin typeface="Neo Sans Arabic" panose="020B0504030504040204" pitchFamily="34" charset="-78"/>
                          <a:ea typeface="+mn-ea"/>
                          <a:cs typeface="+mn-cs"/>
                        </a:rPr>
                        <a:t>DHCP </a:t>
                      </a:r>
                      <a:r>
                        <a:rPr lang="ar-SA" sz="1200" b="0" kern="1200" dirty="0">
                          <a:solidFill>
                            <a:schemeClr val="dk1"/>
                          </a:solidFill>
                          <a:latin typeface="Neo Sans Arabic" panose="020B0504030504040204" pitchFamily="34" charset="-78"/>
                          <a:ea typeface="+mn-ea"/>
                          <a:cs typeface="+mn-cs"/>
                        </a:rPr>
                        <a:t>ومراقبة النطاق الزمني للعناوين المخصصة والتحقق من الهوية للعملاء وتطبيق تحديثات البرامج لسد الثغرات الأمنية المعروفة. وكذلك حماية خدمات إدارة العناوين (</a:t>
                      </a:r>
                      <a:r>
                        <a:rPr lang="en-US" sz="1200" b="0" kern="1200" dirty="0">
                          <a:solidFill>
                            <a:schemeClr val="dk1"/>
                          </a:solidFill>
                          <a:latin typeface="Neo Sans Arabic" panose="020B0504030504040204" pitchFamily="34" charset="-78"/>
                          <a:ea typeface="+mn-ea"/>
                          <a:cs typeface="+mn-cs"/>
                        </a:rPr>
                        <a:t>IPAM </a:t>
                      </a:r>
                      <a:r>
                        <a:rPr lang="en-US" sz="1400" b="1" kern="1200" dirty="0">
                          <a:solidFill>
                            <a:schemeClr val="dk1"/>
                          </a:solidFill>
                          <a:latin typeface="Neo Sans Arabic" panose="020B0504030504040204" pitchFamily="34" charset="-78"/>
                          <a:ea typeface="+mn-ea"/>
                          <a:cs typeface="+mn-cs"/>
                        </a:rPr>
                        <a:t>(</a:t>
                      </a:r>
                      <a:r>
                        <a:rPr lang="en-US" sz="1200" b="0" kern="1200" dirty="0">
                          <a:solidFill>
                            <a:schemeClr val="dk1"/>
                          </a:solidFill>
                          <a:latin typeface="Neo Sans Arabic" panose="020B0504030504040204" pitchFamily="34" charset="-78"/>
                          <a:ea typeface="+mn-ea"/>
                          <a:cs typeface="+mn-cs"/>
                        </a:rPr>
                        <a:t>IP Address Management </a:t>
                      </a:r>
                      <a:r>
                        <a:rPr lang="ar-SA" sz="1200" b="0" kern="1200" dirty="0">
                          <a:solidFill>
                            <a:schemeClr val="dk1"/>
                          </a:solidFill>
                          <a:latin typeface="Neo Sans Arabic" panose="020B0504030504040204" pitchFamily="34" charset="-78"/>
                          <a:ea typeface="+mn-ea"/>
                          <a:cs typeface="+mn-cs"/>
                        </a:rPr>
                        <a:t>.</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حماية خدمة العناوين الشبكية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IP Address Service Security</a:t>
                      </a:r>
                    </a:p>
                  </a:txBody>
                  <a:tcPr marL="14570" marR="2534" marT="16470" marB="0">
                    <a:solidFill>
                      <a:srgbClr val="E6E6E6"/>
                    </a:solidFill>
                  </a:tcPr>
                </a:tc>
                <a:extLst>
                  <a:ext uri="{0D108BD9-81ED-4DB2-BD59-A6C34878D82A}">
                    <a16:rowId xmlns:a16="http://schemas.microsoft.com/office/drawing/2014/main" val="47426550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الأنظمة المسؤولة عن مراقبة تدفق البيانات في الشبكة لاكتشاف أية أنماط غير معتادة أو أية محاوالت اختراق</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الكشف والاستجابة علي الشبكة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Network Detection and Response (NDR</a:t>
                      </a:r>
                    </a:p>
                  </a:txBody>
                  <a:tcPr marL="14570" marR="2534" marT="16470" marB="0">
                    <a:solidFill>
                      <a:srgbClr val="E6E6E6"/>
                    </a:solidFill>
                  </a:tcPr>
                </a:tc>
                <a:extLst>
                  <a:ext uri="{0D108BD9-81ED-4DB2-BD59-A6C34878D82A}">
                    <a16:rowId xmlns:a16="http://schemas.microsoft.com/office/drawing/2014/main" val="1205260779"/>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ا</a:t>
                      </a:r>
                      <a:r>
                        <a:rPr lang="ar-SA" sz="1200" b="0" kern="1200" dirty="0">
                          <a:solidFill>
                            <a:schemeClr val="dk1"/>
                          </a:solidFill>
                          <a:latin typeface="Neo Sans Arabic" panose="020B0504030504040204" pitchFamily="34" charset="-78"/>
                          <a:ea typeface="+mn-ea"/>
                          <a:cs typeface="+mn-cs"/>
                        </a:rPr>
                        <a:t>لأ</a:t>
                      </a:r>
                      <a:r>
                        <a:rPr lang="ar-EG" sz="1200" b="0" kern="1200" dirty="0">
                          <a:solidFill>
                            <a:schemeClr val="dk1"/>
                          </a:solidFill>
                          <a:latin typeface="Neo Sans Arabic" panose="020B0504030504040204" pitchFamily="34" charset="-78"/>
                          <a:ea typeface="+mn-ea"/>
                          <a:cs typeface="+mn-cs"/>
                        </a:rPr>
                        <a:t>نظمة المسؤولة عن تلقي طلبات الوصول إلى</a:t>
                      </a:r>
                      <a:r>
                        <a:rPr lang="ar-SA" sz="1200" b="0" kern="1200" dirty="0">
                          <a:solidFill>
                            <a:schemeClr val="dk1"/>
                          </a:solidFill>
                          <a:latin typeface="Neo Sans Arabic" panose="020B0504030504040204" pitchFamily="34" charset="-78"/>
                          <a:ea typeface="+mn-ea"/>
                          <a:cs typeface="+mn-cs"/>
                        </a:rPr>
                        <a:t> الأ</a:t>
                      </a:r>
                      <a:r>
                        <a:rPr lang="ar-EG" sz="1200" b="0" kern="1200" dirty="0">
                          <a:solidFill>
                            <a:schemeClr val="dk1"/>
                          </a:solidFill>
                          <a:latin typeface="Neo Sans Arabic" panose="020B0504030504040204" pitchFamily="34" charset="-78"/>
                          <a:ea typeface="+mn-ea"/>
                          <a:cs typeface="+mn-cs"/>
                        </a:rPr>
                        <a:t>نظمة الداخلية في الجهة من خارج الشبكة</a:t>
                      </a:r>
                      <a:r>
                        <a:rPr lang="ar-SA" sz="1200" b="0" kern="1200" dirty="0">
                          <a:solidFill>
                            <a:schemeClr val="dk1"/>
                          </a:solidFill>
                          <a:latin typeface="Neo Sans Arabic" panose="020B0504030504040204" pitchFamily="34" charset="-78"/>
                          <a:ea typeface="+mn-ea"/>
                          <a:cs typeface="+mn-cs"/>
                        </a:rPr>
                        <a:t> </a:t>
                      </a:r>
                      <a:r>
                        <a:rPr lang="ar-EG" sz="1200" b="0" kern="1200" dirty="0">
                          <a:solidFill>
                            <a:schemeClr val="dk1"/>
                          </a:solidFill>
                          <a:latin typeface="Neo Sans Arabic" panose="020B0504030504040204" pitchFamily="34" charset="-78"/>
                          <a:ea typeface="+mn-ea"/>
                          <a:cs typeface="+mn-cs"/>
                        </a:rPr>
                        <a:t>وتوصيلها ل</a:t>
                      </a:r>
                      <a:r>
                        <a:rPr lang="ar-SA" sz="1200" b="0" kern="1200" dirty="0">
                          <a:solidFill>
                            <a:schemeClr val="dk1"/>
                          </a:solidFill>
                          <a:latin typeface="Neo Sans Arabic" panose="020B0504030504040204" pitchFamily="34" charset="-78"/>
                          <a:ea typeface="+mn-ea"/>
                          <a:cs typeface="+mn-cs"/>
                        </a:rPr>
                        <a:t>لأ</a:t>
                      </a:r>
                      <a:r>
                        <a:rPr lang="ar-EG" sz="1200" b="0" kern="1200" dirty="0">
                          <a:solidFill>
                            <a:schemeClr val="dk1"/>
                          </a:solidFill>
                          <a:latin typeface="Neo Sans Arabic" panose="020B0504030504040204" pitchFamily="34" charset="-78"/>
                          <a:ea typeface="+mn-ea"/>
                          <a:cs typeface="+mn-cs"/>
                        </a:rPr>
                        <a:t>نظمة الداخلية وبالعكس</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 الوكيل العكسي</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Reverse Proxy</a:t>
                      </a:r>
                    </a:p>
                  </a:txBody>
                  <a:tcPr marL="14570" marR="2534" marT="16470" marB="0">
                    <a:solidFill>
                      <a:srgbClr val="E6E6E6"/>
                    </a:solidFill>
                  </a:tcPr>
                </a:tc>
                <a:extLst>
                  <a:ext uri="{0D108BD9-81ED-4DB2-BD59-A6C34878D82A}">
                    <a16:rowId xmlns:a16="http://schemas.microsoft.com/office/drawing/2014/main" val="311480369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نظام ذو قدرات متقدمة يساعد في حظر أو منع الاختراقات أو التهديدات الأمنية المكتشفة في الوقت الفعلي. يمكنه الاستجابة تلقائياً للأنشطة المشبوهة عن طريق حظر حركة الشبكة أو إسقاط الحزم الضارة أو إعادة تكوين قواعد جدار الحماية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نظام منع التسلل</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Intrusion Prevention System (IPS)</a:t>
                      </a:r>
                    </a:p>
                  </a:txBody>
                  <a:tcPr marL="14570" marR="2534" marT="16470" marB="0">
                    <a:solidFill>
                      <a:srgbClr val="E6E6E6"/>
                    </a:solidFill>
                  </a:tcPr>
                </a:tc>
                <a:extLst>
                  <a:ext uri="{0D108BD9-81ED-4DB2-BD59-A6C34878D82A}">
                    <a16:rowId xmlns:a16="http://schemas.microsoft.com/office/drawing/2014/main" val="101698941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أداة أمنية تخدع المهاجمين المحتملين للشبكة بزرع تطبيقات أو ملفات بهدف رصد تفاعل المهاجمين مع أنظمة أو شبكات وهمية لتحليل حركاتهم وللتصدي لها في المستقبل. وتساعد </a:t>
                      </a:r>
                      <a:r>
                        <a:rPr lang="en-US" sz="1200" b="0" kern="1200" dirty="0">
                          <a:solidFill>
                            <a:schemeClr val="dk1"/>
                          </a:solidFill>
                          <a:latin typeface="Neo Sans Arabic" panose="020B0504030504040204" pitchFamily="34" charset="-78"/>
                          <a:ea typeface="+mn-ea"/>
                          <a:cs typeface="+mn-cs"/>
                        </a:rPr>
                        <a:t>Network Honeypots </a:t>
                      </a:r>
                      <a:r>
                        <a:rPr lang="ar-SA" sz="1200" b="0" kern="1200" dirty="0">
                          <a:solidFill>
                            <a:schemeClr val="dk1"/>
                          </a:solidFill>
                          <a:latin typeface="Neo Sans Arabic" panose="020B0504030504040204" pitchFamily="34" charset="-78"/>
                          <a:ea typeface="+mn-ea"/>
                          <a:cs typeface="+mn-cs"/>
                        </a:rPr>
                        <a:t> في جمع معلومات حول أساليب المهاجمين دون تعريض الشبكة والأنظمة الحقيقية للخطر</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مصائد مخترقي الشبكات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Network Honeypots</a:t>
                      </a:r>
                    </a:p>
                  </a:txBody>
                  <a:tcPr marL="14570" marR="2534" marT="16470" marB="0">
                    <a:solidFill>
                      <a:srgbClr val="E6E6E6"/>
                    </a:solidFill>
                  </a:tcPr>
                </a:tc>
                <a:extLst>
                  <a:ext uri="{0D108BD9-81ED-4DB2-BD59-A6C34878D82A}">
                    <a16:rowId xmlns:a16="http://schemas.microsoft.com/office/drawing/2014/main" val="1967737317"/>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تقسيم الشبكة لمقاطع لتقليل مساحة الهجوم واحتواء الاختراقات الأمنية في الجهة إن حدثت، واستخدام أنظمة تفرض ضوابط وصول صارمة </a:t>
                      </a:r>
                    </a:p>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وسياسات تقسيم لتقييد الحركة الجانبية للتهديدات والتخفيف من تأثير حوادث الأمن. مثل عزل خوادم التطبيقات عن بعضها البعض والسماح فقط بحركة البيانات المسموحة بينها</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تقسيم الشبكة والتقسيم الدقيق</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Network Segregation and Micro-Segmentation</a:t>
                      </a:r>
                    </a:p>
                  </a:txBody>
                  <a:tcPr marL="14570" marR="2534" marT="16470" marB="0">
                    <a:solidFill>
                      <a:srgbClr val="E6E6E6"/>
                    </a:solidFill>
                  </a:tcPr>
                </a:tc>
                <a:extLst>
                  <a:ext uri="{0D108BD9-81ED-4DB2-BD59-A6C34878D82A}">
                    <a16:rowId xmlns:a16="http://schemas.microsoft.com/office/drawing/2014/main" val="3454841294"/>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أجهزة أو أنظمة لحماية البنية التحتية في الجهة من التهديدات الأمنية المتطورة التي تستهدف الشبكات والانظمة لفترات طويلة دون اكتشاف ، والتي تستهدف أيضا اختراق النظام بشكل غير مئي والبقاء مستمراً لفترة طويلة لسرقة البيانات أو تعطيل البنية التحتية ، كهجمات البرمجيات الخبيثة التي تستخدم تقنيات التشفير والاندماج في النظام بشكل متقدم لتجنب الكشف والحصول علي الوصول غير المصرح به</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الكشف عن التهديدات المستمرة المتطورة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Advanced Persistent Threats (APT) Detection</a:t>
                      </a:r>
                    </a:p>
                  </a:txBody>
                  <a:tcPr marL="14570" marR="2534" marT="16470" marB="0">
                    <a:solidFill>
                      <a:srgbClr val="E6E6E6"/>
                    </a:solidFill>
                  </a:tcPr>
                </a:tc>
                <a:extLst>
                  <a:ext uri="{0D108BD9-81ED-4DB2-BD59-A6C34878D82A}">
                    <a16:rowId xmlns:a16="http://schemas.microsoft.com/office/drawing/2014/main" val="333423383"/>
                  </a:ext>
                </a:extLst>
              </a:tr>
            </a:tbl>
          </a:graphicData>
        </a:graphic>
      </p:graphicFrame>
    </p:spTree>
    <p:extLst>
      <p:ext uri="{BB962C8B-B14F-4D97-AF65-F5344CB8AC3E}">
        <p14:creationId xmlns:p14="http://schemas.microsoft.com/office/powerpoint/2010/main" val="17542562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62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(الحوكمة والمخاطر والامتثال)</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312985"/>
            <a:ext cx="11430382" cy="5152404"/>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nvGraphicFramePr>
        <p:xfrm>
          <a:off x="420268" y="1349922"/>
          <a:ext cx="11058769" cy="2251295"/>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0">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هي وثائق رسمية معتمدة تصدرها </a:t>
                      </a:r>
                      <a:r>
                        <a:rPr lang="ar-SA" sz="1200" b="0" kern="1200" dirty="0">
                          <a:solidFill>
                            <a:schemeClr val="dk1"/>
                          </a:solidFill>
                          <a:latin typeface="Neo Sans Arabic" panose="020B0504030504040204" pitchFamily="34" charset="-78"/>
                          <a:ea typeface="+mn-ea"/>
                          <a:cs typeface="+mn-cs"/>
                        </a:rPr>
                        <a:t>الهيئة</a:t>
                      </a:r>
                      <a:r>
                        <a:rPr lang="ar-EG" sz="1200" b="0" kern="1200" dirty="0">
                          <a:solidFill>
                            <a:schemeClr val="dk1"/>
                          </a:solidFill>
                          <a:latin typeface="Neo Sans Arabic" panose="020B0504030504040204" pitchFamily="34" charset="-78"/>
                          <a:ea typeface="+mn-ea"/>
                          <a:cs typeface="+mn-cs"/>
                        </a:rPr>
                        <a:t> لتحديد الضوابط العليا والإرشادات الاستراتيجية التي تحكم كيفية إدارة وحماية أصول المعلومات، وتحدد الإطار التنظيمي لاتخاذ القرارات الأمنية.</a:t>
                      </a:r>
                      <a:endParaRPr lang="ar-SA" sz="1200" b="0" kern="1200" dirty="0">
                        <a:solidFill>
                          <a:schemeClr val="dk1"/>
                        </a:solidFill>
                        <a:latin typeface="Neo Sans Arabic" panose="020B0504030504040204" pitchFamily="34" charset="-78"/>
                        <a:ea typeface="+mn-ea"/>
                        <a:cs typeface="+mn-cs"/>
                      </a:endParaRPr>
                    </a:p>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تشكل السياسات المستوى الأعلى من الوثائق التنظيمية، وتُشتق منها الإجراءات، المعايير، والإرشادات. ويجب أن تكون السياسات واضحة، قابلة للتنفيذ، ومحدثة بانتظام لتعكس المتطلبات النظامية والتطورات التقنية والتهديدات المستجدة.</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 السياسات</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Policies</a:t>
                      </a:r>
                    </a:p>
                  </a:txBody>
                  <a:tcPr marL="14570" marR="2534" marT="16470" marB="0">
                    <a:solidFill>
                      <a:srgbClr val="E6E6E6"/>
                    </a:solidFill>
                  </a:tcPr>
                </a:tc>
                <a:extLst>
                  <a:ext uri="{0D108BD9-81ED-4DB2-BD59-A6C34878D82A}">
                    <a16:rowId xmlns:a16="http://schemas.microsoft.com/office/drawing/2014/main" val="3391925991"/>
                  </a:ext>
                </a:extLst>
              </a:tr>
              <a:tr h="13245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 توضح الخطوات التنفيذية الدقيقة التي يجب اتباعها لتنفيذ المهام أو الأنشطة المرتبطة بتطبيق سياسة معينة أو تحقيق هدف أمني محدد، وهي تمثل الطبقة العملية التي تترجم السياسات العليا إلى أفعال واضحة ومنهجية، وتضمن تنفيذها بطريقة متسقة، قابلة للتكرار، وقابلة للقياس</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الإجراءات</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Procedures</a:t>
                      </a:r>
                    </a:p>
                  </a:txBody>
                  <a:tcPr marL="14570" marR="2534" marT="16470" marB="0">
                    <a:solidFill>
                      <a:srgbClr val="E6E6E6"/>
                    </a:solidFill>
                  </a:tcPr>
                </a:tc>
                <a:extLst>
                  <a:ext uri="{0D108BD9-81ED-4DB2-BD59-A6C34878D82A}">
                    <a16:rowId xmlns:a16="http://schemas.microsoft.com/office/drawing/2014/main" val="412246544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 تُحدد المعايير المواصفات التقنية والضوابط التي يجب الالتزام بها لتحقيق مستويات متفق عليها من الحماية والامتثال</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المعايير</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Standards</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مجموعة من الوثائق الرسمية التي تحدد الإطار التنظيمي والسياسات، الأدوار، المسؤوليات، والضوابط التي تحكم كيفية إدارة وحوكمة الأمن السيبراني داخل المؤسسة. تشمل هذه الوثائق السياسات، المعايير، الإجراءات، وأي مستندات داعمة تهدف إلى ضمان الالتزام بأفضل ممارسات الحوكمة، وتحقيق أهداف الأمن، والامتثال التنظيمي</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وثائق حوكمة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Governance Documents</a:t>
                      </a:r>
                    </a:p>
                  </a:txBody>
                  <a:tcPr marL="14570" marR="2534" marT="16470" marB="0">
                    <a:solidFill>
                      <a:srgbClr val="E6E6E6"/>
                    </a:solidFill>
                  </a:tcPr>
                </a:tc>
                <a:extLst>
                  <a:ext uri="{0D108BD9-81ED-4DB2-BD59-A6C34878D82A}">
                    <a16:rowId xmlns:a16="http://schemas.microsoft.com/office/drawing/2014/main" val="1692490720"/>
                  </a:ext>
                </a:extLst>
              </a:tr>
            </a:tbl>
          </a:graphicData>
        </a:graphic>
      </p:graphicFrame>
    </p:spTree>
    <p:extLst>
      <p:ext uri="{BB962C8B-B14F-4D97-AF65-F5344CB8AC3E}">
        <p14:creationId xmlns:p14="http://schemas.microsoft.com/office/powerpoint/2010/main" val="18217277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63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(العمليات الأمنية والاستجابة للحوادث)</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312985"/>
            <a:ext cx="11430382" cy="5152404"/>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nvGraphicFramePr>
        <p:xfrm>
          <a:off x="420268" y="1349922"/>
          <a:ext cx="11058769" cy="4062068"/>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0">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تقنية أمنية تجمع بين إدارة سجلات (</a:t>
                      </a:r>
                      <a:r>
                        <a:rPr lang="en-US" sz="1200" b="0" kern="1200" dirty="0">
                          <a:solidFill>
                            <a:schemeClr val="dk1"/>
                          </a:solidFill>
                          <a:latin typeface="Neo Sans Arabic" panose="020B0504030504040204" pitchFamily="34" charset="-78"/>
                          <a:ea typeface="+mn-ea"/>
                          <a:cs typeface="+mn-cs"/>
                        </a:rPr>
                        <a:t>Logs</a:t>
                      </a:r>
                      <a:r>
                        <a:rPr lang="ar-SA" sz="1200" b="0" kern="1200" dirty="0">
                          <a:solidFill>
                            <a:schemeClr val="dk1"/>
                          </a:solidFill>
                          <a:latin typeface="Neo Sans Arabic" panose="020B0504030504040204" pitchFamily="34" charset="-78"/>
                          <a:ea typeface="+mn-ea"/>
                          <a:cs typeface="+mn-cs"/>
                        </a:rPr>
                        <a:t>)</a:t>
                      </a:r>
                      <a:r>
                        <a:rPr lang="en-US" sz="1200" b="0" kern="1200" dirty="0">
                          <a:solidFill>
                            <a:schemeClr val="dk1"/>
                          </a:solidFill>
                          <a:latin typeface="Neo Sans Arabic" panose="020B0504030504040204" pitchFamily="34" charset="-78"/>
                          <a:ea typeface="+mn-ea"/>
                          <a:cs typeface="+mn-cs"/>
                        </a:rPr>
                        <a:t> </a:t>
                      </a:r>
                      <a:r>
                        <a:rPr lang="ar-EG" sz="1200" b="0" kern="1200" dirty="0">
                          <a:solidFill>
                            <a:schemeClr val="dk1"/>
                          </a:solidFill>
                          <a:latin typeface="Neo Sans Arabic" panose="020B0504030504040204" pitchFamily="34" charset="-78"/>
                          <a:ea typeface="+mn-ea"/>
                          <a:cs typeface="+mn-cs"/>
                        </a:rPr>
                        <a:t>وتحليل الأحداث الأمنية في الزمن الحقيقي أو شبه الحقيقي، بهدف اكتشاف التهديدات، التنبيه عليها، وتحليل الحوادث الأمنية داخل بيئة تكنولوجيا المعلومات. تعمل أنظمة </a:t>
                      </a:r>
                      <a:r>
                        <a:rPr lang="en-US" sz="1200" b="0" kern="1200" dirty="0">
                          <a:solidFill>
                            <a:schemeClr val="dk1"/>
                          </a:solidFill>
                          <a:latin typeface="Neo Sans Arabic" panose="020B0504030504040204" pitchFamily="34" charset="-78"/>
                          <a:ea typeface="+mn-ea"/>
                          <a:cs typeface="+mn-cs"/>
                        </a:rPr>
                        <a:t>SIEM </a:t>
                      </a:r>
                      <a:r>
                        <a:rPr lang="ar-SA" sz="1200" b="0" kern="1200" dirty="0">
                          <a:solidFill>
                            <a:schemeClr val="dk1"/>
                          </a:solidFill>
                          <a:latin typeface="Neo Sans Arabic" panose="020B0504030504040204" pitchFamily="34" charset="-78"/>
                          <a:ea typeface="+mn-ea"/>
                          <a:cs typeface="+mn-cs"/>
                        </a:rPr>
                        <a:t> </a:t>
                      </a:r>
                      <a:r>
                        <a:rPr lang="ar-EG" sz="1200" b="0" kern="1200" dirty="0">
                          <a:solidFill>
                            <a:schemeClr val="dk1"/>
                          </a:solidFill>
                          <a:latin typeface="Neo Sans Arabic" panose="020B0504030504040204" pitchFamily="34" charset="-78"/>
                          <a:ea typeface="+mn-ea"/>
                          <a:cs typeface="+mn-cs"/>
                        </a:rPr>
                        <a:t>على تجميع البيانات من مصادر متعددة (مثل أجهزة الشبكة، الخوادم، التطبيقات، وأدوات الأمن)، وتحليلها باستخدام قواعد واستدلالات للكشف عن الأنشطة المشبوهة أو غير الطبيعية، مما يعزز قدرة المؤسسة على الاستجابة السريعة للحوادث</a:t>
                      </a: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إدارة المعلومات والأحداث الأمنية</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Security Information and Events Management</a:t>
                      </a:r>
                    </a:p>
                  </a:txBody>
                  <a:tcPr marL="14570" marR="2534" marT="16470" marB="0">
                    <a:solidFill>
                      <a:srgbClr val="E6E6E6"/>
                    </a:solidFill>
                  </a:tcPr>
                </a:tc>
                <a:extLst>
                  <a:ext uri="{0D108BD9-81ED-4DB2-BD59-A6C34878D82A}">
                    <a16:rowId xmlns:a16="http://schemas.microsoft.com/office/drawing/2014/main" val="3391925991"/>
                  </a:ext>
                </a:extLst>
              </a:tr>
              <a:tr h="13245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تقنية أمنية تعتمد على استخدام تقنيات التحليل المتقدمة، بما في ذلك الذكاء الاصطناعي وتعلم الآلة، لمراقبة وتحليل سلوك المستخدمين والكيانات (مثل الأجهزة، التطبيقات، الحسابات) داخل بيئة الهيئة، بهدف كشف الأنشطة غير الاعتيادية أو المشبوهة التي قد تشير إلى تهديدات داخلية أو هجمات سيبرانية.تمكن</a:t>
                      </a:r>
                      <a:r>
                        <a:rPr lang="en-US" sz="1200" b="0" kern="1200" dirty="0">
                          <a:solidFill>
                            <a:schemeClr val="dk1"/>
                          </a:solidFill>
                          <a:latin typeface="Neo Sans Arabic" panose="020B0504030504040204" pitchFamily="34" charset="-78"/>
                          <a:ea typeface="+mn-ea"/>
                          <a:cs typeface="+mn-cs"/>
                        </a:rPr>
                        <a:t>UEBA </a:t>
                      </a:r>
                      <a:r>
                        <a:rPr lang="ar-SA" sz="1200" b="0" kern="1200" dirty="0">
                          <a:solidFill>
                            <a:schemeClr val="dk1"/>
                          </a:solidFill>
                          <a:latin typeface="Neo Sans Arabic" panose="020B0504030504040204" pitchFamily="34" charset="-78"/>
                          <a:ea typeface="+mn-ea"/>
                          <a:cs typeface="+mn-cs"/>
                        </a:rPr>
                        <a:t> المؤسسات من اكتشاف الهجمات التي تتجنب الكشف التقليدي، مثل الهجمات المتقدمة المستمرة (</a:t>
                      </a:r>
                      <a:r>
                        <a:rPr lang="en-US" sz="1200" b="0" kern="1200" dirty="0">
                          <a:solidFill>
                            <a:schemeClr val="dk1"/>
                          </a:solidFill>
                          <a:latin typeface="Neo Sans Arabic" panose="020B0504030504040204" pitchFamily="34" charset="-78"/>
                          <a:ea typeface="+mn-ea"/>
                          <a:cs typeface="+mn-cs"/>
                        </a:rPr>
                        <a:t>APT</a:t>
                      </a:r>
                      <a:r>
                        <a:rPr lang="ar-SA" sz="1200" b="0" kern="1200" dirty="0">
                          <a:solidFill>
                            <a:schemeClr val="dk1"/>
                          </a:solidFill>
                          <a:latin typeface="Neo Sans Arabic" panose="020B0504030504040204" pitchFamily="34" charset="-78"/>
                          <a:ea typeface="+mn-ea"/>
                          <a:cs typeface="+mn-cs"/>
                        </a:rPr>
                        <a:t>)</a:t>
                      </a:r>
                      <a:r>
                        <a:rPr lang="en-US" sz="1200" b="0" kern="1200" dirty="0">
                          <a:solidFill>
                            <a:schemeClr val="dk1"/>
                          </a:solidFill>
                          <a:latin typeface="Neo Sans Arabic" panose="020B0504030504040204" pitchFamily="34" charset="-78"/>
                          <a:ea typeface="+mn-ea"/>
                          <a:cs typeface="+mn-cs"/>
                        </a:rPr>
                        <a:t> </a:t>
                      </a:r>
                      <a:r>
                        <a:rPr lang="ar-SA" sz="1200" b="0" kern="1200" dirty="0">
                          <a:solidFill>
                            <a:schemeClr val="dk1"/>
                          </a:solidFill>
                          <a:latin typeface="Neo Sans Arabic" panose="020B0504030504040204" pitchFamily="34" charset="-78"/>
                          <a:ea typeface="+mn-ea"/>
                          <a:cs typeface="+mn-cs"/>
                        </a:rPr>
                        <a:t>أو الهجمات الداخلية، من خلال فهم النمط الطبيعي للسلوك وتحليل الانحرافات عنه</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تحليل سلوك المستخدم والكيان</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User and Entity Behavior Analytics (UEBA)</a:t>
                      </a:r>
                    </a:p>
                  </a:txBody>
                  <a:tcPr marL="14570" marR="2534" marT="16470" marB="0">
                    <a:solidFill>
                      <a:srgbClr val="E6E6E6"/>
                    </a:solidFill>
                  </a:tcPr>
                </a:tc>
                <a:extLst>
                  <a:ext uri="{0D108BD9-81ED-4DB2-BD59-A6C34878D82A}">
                    <a16:rowId xmlns:a16="http://schemas.microsoft.com/office/drawing/2014/main" val="412246544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هو وحدة مركزية متخصصة مسؤولة عن مراقبة وتحليل الوضع الأمني للمؤسسة بشكل مستمر، بهدف الكشف المبكر عن التهديدات، التنبيه عليها، الاستجابة للحوادث الأمنية، والحفاظ على أمن المعلومات والبنية التحتية الرقمية.يعمل </a:t>
                      </a:r>
                      <a:r>
                        <a:rPr lang="en-US" sz="1200" b="0" kern="1200" dirty="0">
                          <a:solidFill>
                            <a:schemeClr val="dk1"/>
                          </a:solidFill>
                          <a:latin typeface="Neo Sans Arabic" panose="020B0504030504040204" pitchFamily="34" charset="-78"/>
                          <a:ea typeface="+mn-ea"/>
                          <a:cs typeface="+mn-cs"/>
                        </a:rPr>
                        <a:t>SOC </a:t>
                      </a:r>
                      <a:r>
                        <a:rPr lang="ar-SA" sz="1200" b="0" kern="1200" dirty="0">
                          <a:solidFill>
                            <a:schemeClr val="dk1"/>
                          </a:solidFill>
                          <a:latin typeface="Neo Sans Arabic" panose="020B0504030504040204" pitchFamily="34" charset="-78"/>
                          <a:ea typeface="+mn-ea"/>
                          <a:cs typeface="+mn-cs"/>
                        </a:rPr>
                        <a:t> كخط الدفاع الأول في بيئة الأمن السيبراني من خلال استخدام أدوات متقدمة مثل أنظمة </a:t>
                      </a:r>
                      <a:r>
                        <a:rPr lang="en-US" sz="1200" b="0" kern="1200" dirty="0">
                          <a:solidFill>
                            <a:schemeClr val="dk1"/>
                          </a:solidFill>
                          <a:latin typeface="Neo Sans Arabic" panose="020B0504030504040204" pitchFamily="34" charset="-78"/>
                          <a:ea typeface="+mn-ea"/>
                          <a:cs typeface="+mn-cs"/>
                        </a:rPr>
                        <a:t>SIEM، </a:t>
                      </a:r>
                      <a:r>
                        <a:rPr lang="ar-SA" sz="1200" b="0" kern="1200" dirty="0">
                          <a:solidFill>
                            <a:schemeClr val="dk1"/>
                          </a:solidFill>
                          <a:latin typeface="Neo Sans Arabic" panose="020B0504030504040204" pitchFamily="34" charset="-78"/>
                          <a:ea typeface="+mn-ea"/>
                          <a:cs typeface="+mn-cs"/>
                        </a:rPr>
                        <a:t>تقنيات </a:t>
                      </a:r>
                      <a:r>
                        <a:rPr lang="en-US" sz="1200" b="0" kern="1200" dirty="0">
                          <a:solidFill>
                            <a:schemeClr val="dk1"/>
                          </a:solidFill>
                          <a:latin typeface="Neo Sans Arabic" panose="020B0504030504040204" pitchFamily="34" charset="-78"/>
                          <a:ea typeface="+mn-ea"/>
                          <a:cs typeface="+mn-cs"/>
                        </a:rPr>
                        <a:t>UEBA، </a:t>
                      </a:r>
                      <a:r>
                        <a:rPr lang="ar-SA" sz="1200" b="0" kern="1200" dirty="0">
                          <a:solidFill>
                            <a:schemeClr val="dk1"/>
                          </a:solidFill>
                          <a:latin typeface="Neo Sans Arabic" panose="020B0504030504040204" pitchFamily="34" charset="-78"/>
                          <a:ea typeface="+mn-ea"/>
                          <a:cs typeface="+mn-cs"/>
                        </a:rPr>
                        <a:t>وأدوات الاستجابة للحوادث (</a:t>
                      </a:r>
                      <a:r>
                        <a:rPr lang="en-US" sz="1200" b="0" kern="1200" dirty="0">
                          <a:solidFill>
                            <a:schemeClr val="dk1"/>
                          </a:solidFill>
                          <a:latin typeface="Neo Sans Arabic" panose="020B0504030504040204" pitchFamily="34" charset="-78"/>
                          <a:ea typeface="+mn-ea"/>
                          <a:cs typeface="+mn-cs"/>
                        </a:rPr>
                        <a:t>SOAR</a:t>
                      </a:r>
                      <a:r>
                        <a:rPr lang="ar-SA" sz="1200" b="0" kern="1200" dirty="0">
                          <a:solidFill>
                            <a:schemeClr val="dk1"/>
                          </a:solidFill>
                          <a:latin typeface="Neo Sans Arabic" panose="020B0504030504040204" pitchFamily="34" charset="-78"/>
                          <a:ea typeface="+mn-ea"/>
                          <a:cs typeface="+mn-cs"/>
                        </a:rPr>
                        <a:t>)</a:t>
                      </a:r>
                      <a:r>
                        <a:rPr lang="en-US" sz="1200" b="0" kern="1200" dirty="0">
                          <a:solidFill>
                            <a:schemeClr val="dk1"/>
                          </a:solidFill>
                          <a:latin typeface="Neo Sans Arabic" panose="020B0504030504040204" pitchFamily="34" charset="-78"/>
                          <a:ea typeface="+mn-ea"/>
                          <a:cs typeface="+mn-cs"/>
                        </a:rPr>
                        <a:t>، </a:t>
                      </a:r>
                      <a:r>
                        <a:rPr lang="ar-SA" sz="1200" b="0" kern="1200" dirty="0">
                          <a:solidFill>
                            <a:schemeClr val="dk1"/>
                          </a:solidFill>
                          <a:latin typeface="Neo Sans Arabic" panose="020B0504030504040204" pitchFamily="34" charset="-78"/>
                          <a:ea typeface="+mn-ea"/>
                          <a:cs typeface="+mn-cs"/>
                        </a:rPr>
                        <a:t>إضافة إلى فرق بشرية متخصصة تقوم بتحليل البيانات الأمنية والتصرف الفوري عند وقوع أي حادث.</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مركز العمليات الأمنية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Security Operations Centre (SOC)</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مجموعة من الحلول والتقنيات التي تهدف إلى أتمتة وتنسيق عمليات الأمن السيبراني، بما في ذلك جمع وتحليل البيانات الأمنية، وتنسيق الأدوات الأمنية المتعددة، وتنفيذ إجراءات الاستجابة للحوادث بشكل تلقائي أو شبه تلقائي. تُمكّن </a:t>
                      </a:r>
                      <a:r>
                        <a:rPr lang="en-US" sz="1200" b="0" kern="1200" dirty="0">
                          <a:solidFill>
                            <a:schemeClr val="dk1"/>
                          </a:solidFill>
                          <a:latin typeface="Neo Sans Arabic" panose="020B0504030504040204" pitchFamily="34" charset="-78"/>
                          <a:ea typeface="+mn-ea"/>
                          <a:cs typeface="+mn-cs"/>
                        </a:rPr>
                        <a:t>SOAR </a:t>
                      </a:r>
                      <a:r>
                        <a:rPr lang="ar-SA" sz="1200" b="0" kern="1200" dirty="0">
                          <a:solidFill>
                            <a:schemeClr val="dk1"/>
                          </a:solidFill>
                          <a:latin typeface="Neo Sans Arabic" panose="020B0504030504040204" pitchFamily="34" charset="-78"/>
                          <a:ea typeface="+mn-ea"/>
                          <a:cs typeface="+mn-cs"/>
                        </a:rPr>
                        <a:t> فرق الأمن من زيادة سرعة وفعالية الاستجابة للحوادث، تقليل الجهد اليدوي، وتحسين التعاون بين الفرق والتقنيات المختلفة، مما يعزز القدرة على التعامل مع التهديدات بشكل أكثر دقة وكفاءة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التنسيق الأمني والاستجابة الاّلية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Security Orchestration, Automation, and Response</a:t>
                      </a:r>
                    </a:p>
                  </a:txBody>
                  <a:tcPr marL="14570" marR="2534" marT="16470" marB="0">
                    <a:solidFill>
                      <a:srgbClr val="E6E6E6"/>
                    </a:solidFill>
                  </a:tcPr>
                </a:tc>
                <a:extLst>
                  <a:ext uri="{0D108BD9-81ED-4DB2-BD59-A6C34878D82A}">
                    <a16:rowId xmlns:a16="http://schemas.microsoft.com/office/drawing/2014/main" val="169249072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هو عملية جمع، وتحليل، وتقييم الأدلة الرقمية بشكل منهجي وقانوني بهدف الكشف عن الأنشطة غير المشروعة أو الحوادث الأمنية، ودعم التحقيقات القانونية أو الأمنية. تركز هذه العملية على استعادة البيانات وتحليلها من الأجهزة الرقمية (مثل الحواسيب، الهواتف، الشبكات، الخوادم) مع الحفاظ على سلامة الأدلة لضمان قبولها في الإجراءات القضائية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التحقق الجنائي الرقمي</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Digital Forensics</a:t>
                      </a:r>
                    </a:p>
                  </a:txBody>
                  <a:tcPr marL="14570" marR="2534" marT="16470" marB="0">
                    <a:solidFill>
                      <a:srgbClr val="E6E6E6"/>
                    </a:solidFill>
                  </a:tcPr>
                </a:tc>
                <a:extLst>
                  <a:ext uri="{0D108BD9-81ED-4DB2-BD59-A6C34878D82A}">
                    <a16:rowId xmlns:a16="http://schemas.microsoft.com/office/drawing/2014/main" val="2530755393"/>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وسطاء أمن الوصول للسحابة (</a:t>
                      </a:r>
                      <a:r>
                        <a:rPr lang="en-US" sz="1200" b="0" kern="1200" dirty="0">
                          <a:solidFill>
                            <a:schemeClr val="dk1"/>
                          </a:solidFill>
                          <a:latin typeface="Neo Sans Arabic" panose="020B0504030504040204" pitchFamily="34" charset="-78"/>
                          <a:ea typeface="+mn-ea"/>
                          <a:cs typeface="+mn-cs"/>
                        </a:rPr>
                        <a:t>CASB</a:t>
                      </a:r>
                      <a:r>
                        <a:rPr lang="ar-SA" sz="1200" b="0" kern="1200" dirty="0">
                          <a:solidFill>
                            <a:schemeClr val="dk1"/>
                          </a:solidFill>
                          <a:latin typeface="Neo Sans Arabic" panose="020B0504030504040204" pitchFamily="34" charset="-78"/>
                          <a:ea typeface="+mn-ea"/>
                          <a:cs typeface="+mn-cs"/>
                        </a:rPr>
                        <a:t>)</a:t>
                      </a:r>
                      <a:r>
                        <a:rPr lang="en-US" sz="1200" b="0" kern="1200" dirty="0">
                          <a:solidFill>
                            <a:schemeClr val="dk1"/>
                          </a:solidFill>
                          <a:latin typeface="Neo Sans Arabic" panose="020B0504030504040204" pitchFamily="34" charset="-78"/>
                          <a:ea typeface="+mn-ea"/>
                          <a:cs typeface="+mn-cs"/>
                        </a:rPr>
                        <a:t> </a:t>
                      </a:r>
                      <a:r>
                        <a:rPr lang="ar-SA" sz="1200" b="0" kern="1200" dirty="0">
                          <a:solidFill>
                            <a:schemeClr val="dk1"/>
                          </a:solidFill>
                          <a:latin typeface="Neo Sans Arabic" panose="020B0504030504040204" pitchFamily="34" charset="-78"/>
                          <a:ea typeface="+mn-ea"/>
                          <a:cs typeface="+mn-cs"/>
                        </a:rPr>
                        <a:t>هم حلول أمنية تعمل كوسيط بين مستخدمي المؤسسة وخدمات السحابة العامة أو الخاصة، بهدف تطبيق سياسات الأمان، مراقبة النشاط، وحماية البيانات عند الوصول إلى موارد السحابة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وسطاء أمن الوصول للسحابة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Cloud Access Security Brokers (CASB)</a:t>
                      </a:r>
                    </a:p>
                  </a:txBody>
                  <a:tcPr marL="14570" marR="2534" marT="16470" marB="0">
                    <a:solidFill>
                      <a:srgbClr val="E6E6E6"/>
                    </a:solidFill>
                  </a:tcPr>
                </a:tc>
                <a:extLst>
                  <a:ext uri="{0D108BD9-81ED-4DB2-BD59-A6C34878D82A}">
                    <a16:rowId xmlns:a16="http://schemas.microsoft.com/office/drawing/2014/main" val="4210116429"/>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مجموعة من الأدوات والتقنيات التي تهدف إلى رصد، تقييم، وتحسين الوضع الأمني للبنية التحتية والخدمات السحابية، من خلال الكشف التلقائي عن نقاط الضعف، التهيئات الخاطئة، وانتهاكات السياسات الأمنية، مع تقديم توصيات للإصلاح والامتثال</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 إدارة الوضعية الأمنية للسحابة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Cloud Security Posture Management (CSPM)</a:t>
                      </a:r>
                    </a:p>
                  </a:txBody>
                  <a:tcPr marL="14570" marR="2534" marT="16470" marB="0">
                    <a:solidFill>
                      <a:srgbClr val="E6E6E6"/>
                    </a:solidFill>
                  </a:tcPr>
                </a:tc>
                <a:extLst>
                  <a:ext uri="{0D108BD9-81ED-4DB2-BD59-A6C34878D82A}">
                    <a16:rowId xmlns:a16="http://schemas.microsoft.com/office/drawing/2014/main" val="3726511646"/>
                  </a:ext>
                </a:extLst>
              </a:tr>
            </a:tbl>
          </a:graphicData>
        </a:graphic>
      </p:graphicFrame>
    </p:spTree>
    <p:extLst>
      <p:ext uri="{BB962C8B-B14F-4D97-AF65-F5344CB8AC3E}">
        <p14:creationId xmlns:p14="http://schemas.microsoft.com/office/powerpoint/2010/main" val="27587716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64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تفصيل طبقات النموذج المرجعي لبنية الأمن</a:t>
            </a:r>
          </a:p>
          <a:p>
            <a:r>
              <a:rPr lang="ar-SA" sz="2800" dirty="0"/>
              <a:t> (إدارة الثغرات والتهديدات الأمنية)</a:t>
            </a:r>
            <a:endParaRPr lang="en-US" sz="2800" dirty="0"/>
          </a:p>
        </p:txBody>
      </p:sp>
      <p:sp>
        <p:nvSpPr>
          <p:cNvPr id="29" name="Rounded Rectangle 5">
            <a:extLst>
              <a:ext uri="{FF2B5EF4-FFF2-40B4-BE49-F238E27FC236}">
                <a16:creationId xmlns:a16="http://schemas.microsoft.com/office/drawing/2014/main" id="{C0AE9A0C-5DFE-4999-86D6-AEF216CA5C25}"/>
              </a:ext>
            </a:extLst>
          </p:cNvPr>
          <p:cNvSpPr/>
          <p:nvPr/>
        </p:nvSpPr>
        <p:spPr>
          <a:xfrm>
            <a:off x="234462" y="1312985"/>
            <a:ext cx="11430382" cy="5152404"/>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eo Sans Arabic" panose="020B0504030504040204" pitchFamily="34" charset="-78"/>
              <a:cs typeface="Neo Sans Arabic" panose="020B0504030504040204" pitchFamily="34" charset="-78"/>
            </a:endParaRPr>
          </a:p>
        </p:txBody>
      </p:sp>
      <p:graphicFrame>
        <p:nvGraphicFramePr>
          <p:cNvPr id="37" name="Table 36">
            <a:extLst>
              <a:ext uri="{FF2B5EF4-FFF2-40B4-BE49-F238E27FC236}">
                <a16:creationId xmlns:a16="http://schemas.microsoft.com/office/drawing/2014/main" id="{05E06CAE-D534-450B-93C8-B4DBE0EF53AB}"/>
              </a:ext>
            </a:extLst>
          </p:cNvPr>
          <p:cNvGraphicFramePr>
            <a:graphicFrameLocks noGrp="1"/>
          </p:cNvGraphicFramePr>
          <p:nvPr/>
        </p:nvGraphicFramePr>
        <p:xfrm>
          <a:off x="420268" y="1349922"/>
          <a:ext cx="11058769" cy="3270835"/>
        </p:xfrm>
        <a:graphic>
          <a:graphicData uri="http://schemas.openxmlformats.org/drawingml/2006/table">
            <a:tbl>
              <a:tblPr firstRow="1" firstCol="1" bandRow="1">
                <a:tableStyleId>{5C22544A-7EE6-4342-B048-85BDC9FD1C3A}</a:tableStyleId>
              </a:tblPr>
              <a:tblGrid>
                <a:gridCol w="8346563">
                  <a:extLst>
                    <a:ext uri="{9D8B030D-6E8A-4147-A177-3AD203B41FA5}">
                      <a16:colId xmlns:a16="http://schemas.microsoft.com/office/drawing/2014/main" val="662436127"/>
                    </a:ext>
                  </a:extLst>
                </a:gridCol>
                <a:gridCol w="2712206">
                  <a:extLst>
                    <a:ext uri="{9D8B030D-6E8A-4147-A177-3AD203B41FA5}">
                      <a16:colId xmlns:a16="http://schemas.microsoft.com/office/drawing/2014/main" val="3551621786"/>
                    </a:ext>
                  </a:extLst>
                </a:gridCol>
              </a:tblGrid>
              <a:tr h="399857">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وصف القدرة</a:t>
                      </a:r>
                    </a:p>
                  </a:txBody>
                  <a:tcPr marL="14570" marR="2534" marT="16470" marB="0" anchor="ctr"/>
                </a:tc>
                <a:tc>
                  <a:txBody>
                    <a:bodyPr/>
                    <a:lstStyle/>
                    <a:p>
                      <a:pPr marL="0" marR="0" algn="ctr" defTabSz="914400" rtl="1" eaLnBrk="1" latinLnBrk="0" hangingPunct="1">
                        <a:lnSpc>
                          <a:spcPct val="115000"/>
                        </a:lnSpc>
                        <a:spcBef>
                          <a:spcPts val="0"/>
                        </a:spcBef>
                        <a:spcAft>
                          <a:spcPts val="0"/>
                        </a:spcAft>
                      </a:pPr>
                      <a:r>
                        <a:rPr lang="ar-SA" sz="1600" b="1" kern="1200" dirty="0">
                          <a:solidFill>
                            <a:schemeClr val="bg1"/>
                          </a:solidFill>
                          <a:effectLst/>
                          <a:latin typeface="Neo Sans Arabic" panose="020B0504030504040204" pitchFamily="34" charset="-78"/>
                          <a:ea typeface="+mn-ea"/>
                          <a:cs typeface="Neo Sans Arabic" panose="020B0504030504040204" pitchFamily="34" charset="-78"/>
                        </a:rPr>
                        <a:t>القدرة</a:t>
                      </a:r>
                    </a:p>
                  </a:txBody>
                  <a:tcPr marL="14570" marR="2534" marT="16470" marB="0" anchor="ctr"/>
                </a:tc>
                <a:extLst>
                  <a:ext uri="{0D108BD9-81ED-4DB2-BD59-A6C34878D82A}">
                    <a16:rowId xmlns:a16="http://schemas.microsoft.com/office/drawing/2014/main" val="1560316016"/>
                  </a:ext>
                </a:extLst>
              </a:tr>
              <a:tr h="0">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EG" sz="1200" b="0" kern="1200" dirty="0">
                          <a:solidFill>
                            <a:schemeClr val="dk1"/>
                          </a:solidFill>
                          <a:latin typeface="Neo Sans Arabic" panose="020B0504030504040204" pitchFamily="34" charset="-78"/>
                          <a:ea typeface="+mn-ea"/>
                          <a:cs typeface="+mn-cs"/>
                        </a:rPr>
                        <a:t>إدارة الثغرات الأمنية هي عملية منهجية تهدف إلى تحديد، تقييم، معالجة، ومراقبة الثغرات الأمنية في أنظمة تكنولوجيا المعلومات والبنية التحتية بهدف تقليل المخاطر المرتبطة بالهجمات السيبرانية واستغلال الثغرات.تشمل هذه العملية استخدام أدوات وتقنيات لفحص الأنظمة والتطبيقات بحثًا عن نقاط الضعف، تقييم مدى خطورتها، ترتيب أولويات المعالجة، وتنفيذ الإجراءات التصحيحية لضمان حماية بيئة </a:t>
                      </a:r>
                      <a:r>
                        <a:rPr lang="ar-SA" sz="1200" b="0" kern="1200" dirty="0">
                          <a:solidFill>
                            <a:schemeClr val="dk1"/>
                          </a:solidFill>
                          <a:latin typeface="Neo Sans Arabic" panose="020B0504030504040204" pitchFamily="34" charset="-78"/>
                          <a:ea typeface="+mn-ea"/>
                          <a:cs typeface="+mn-cs"/>
                        </a:rPr>
                        <a:t>الجهة</a:t>
                      </a:r>
                      <a:endParaRPr lang="ar-EG" sz="1200" b="0" kern="1200" dirty="0">
                        <a:solidFill>
                          <a:schemeClr val="dk1"/>
                        </a:solidFill>
                        <a:latin typeface="Neo Sans Arabic" panose="020B0504030504040204" pitchFamily="34" charset="-78"/>
                        <a:ea typeface="+mn-ea"/>
                        <a:cs typeface="+mn-cs"/>
                      </a:endParaRPr>
                    </a:p>
                  </a:txBody>
                  <a:tcPr marL="14570" marR="2534" marT="16470" marB="0">
                    <a:solidFill>
                      <a:srgbClr val="E6E6E6"/>
                    </a:solidFill>
                  </a:tcPr>
                </a:tc>
                <a:tc>
                  <a:txBody>
                    <a:bodyPr/>
                    <a:lstStyle/>
                    <a:p>
                      <a:pPr marL="6350" marR="0" algn="ctr" defTabSz="914400" rtl="1" eaLnBrk="1" latinLnBrk="0" hangingPunct="1">
                        <a:lnSpc>
                          <a:spcPct val="107000"/>
                        </a:lnSpc>
                        <a:spcBef>
                          <a:spcPts val="0"/>
                        </a:spcBef>
                        <a:spcAft>
                          <a:spcPts val="0"/>
                        </a:spcAft>
                      </a:pPr>
                      <a:r>
                        <a:rPr lang="ar-SA" sz="1400" b="0" kern="1200" dirty="0">
                          <a:solidFill>
                            <a:schemeClr val="dk1"/>
                          </a:solidFill>
                          <a:effectLst/>
                          <a:latin typeface="+mn-lt"/>
                          <a:ea typeface="+mn-ea"/>
                          <a:cs typeface="+mn-cs"/>
                        </a:rPr>
                        <a:t>إدارة الثغرات الأمنية</a:t>
                      </a:r>
                    </a:p>
                    <a:p>
                      <a:pPr marL="6350" marR="0" algn="ctr" defTabSz="914400" rtl="1" eaLnBrk="1" latinLnBrk="0" hangingPunct="1">
                        <a:lnSpc>
                          <a:spcPct val="107000"/>
                        </a:lnSpc>
                        <a:spcBef>
                          <a:spcPts val="0"/>
                        </a:spcBef>
                        <a:spcAft>
                          <a:spcPts val="0"/>
                        </a:spcAft>
                      </a:pPr>
                      <a:r>
                        <a:rPr lang="en-US" sz="1050" b="0" kern="1200" dirty="0">
                          <a:solidFill>
                            <a:schemeClr val="dk1"/>
                          </a:solidFill>
                          <a:effectLst/>
                          <a:latin typeface="+mn-lt"/>
                          <a:ea typeface="+mn-ea"/>
                          <a:cs typeface="+mn-cs"/>
                        </a:rPr>
                        <a:t>Vulnerability Management</a:t>
                      </a:r>
                    </a:p>
                  </a:txBody>
                  <a:tcPr marL="14570" marR="2534" marT="16470" marB="0">
                    <a:solidFill>
                      <a:srgbClr val="E6E6E6"/>
                    </a:solidFill>
                  </a:tcPr>
                </a:tc>
                <a:extLst>
                  <a:ext uri="{0D108BD9-81ED-4DB2-BD59-A6C34878D82A}">
                    <a16:rowId xmlns:a16="http://schemas.microsoft.com/office/drawing/2014/main" val="3391925991"/>
                  </a:ext>
                </a:extLst>
              </a:tr>
              <a:tr h="13245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عملية محاكاة هجوم سيبراني منظم تهدف إلى تقييم أمن الأنظمة، التطبيقات، أو الشبكات من خلال محاولة استغلال الثغرات والضعف الموجود فيها بطريقة ممنهجة، بهدف تحديد نقاط الضعف قبل أن يستغلها المهاجمون الحقيقيون.يتم تنفيذ اختبار الاختراق بواسطة خبراء أمنيين (مختبرين اختراق) يستخدمون أدوات وتقنيات مشابهة لتلك التي يستخدمها المهاجمون، مع الالتزام بقواعد أخلاقية صارمة لضمان حماية الأصول وتقديم توصيات فعالة لتعزيز الأمن</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اختبار الاختراق</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Penetration Testing</a:t>
                      </a:r>
                    </a:p>
                  </a:txBody>
                  <a:tcPr marL="14570" marR="2534" marT="16470" marB="0">
                    <a:solidFill>
                      <a:srgbClr val="E6E6E6"/>
                    </a:solidFill>
                  </a:tcPr>
                </a:tc>
                <a:extLst>
                  <a:ext uri="{0D108BD9-81ED-4DB2-BD59-A6C34878D82A}">
                    <a16:rowId xmlns:a16="http://schemas.microsoft.com/office/drawing/2014/main" val="412246544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عملية منهجية تهدف إلى تحديد، اختبار، توزيع، وتثبيت التحديثات والإصلاحات البرمجية (</a:t>
                      </a:r>
                      <a:r>
                        <a:rPr lang="en-US" sz="1200" b="0" kern="1200" dirty="0">
                          <a:solidFill>
                            <a:schemeClr val="dk1"/>
                          </a:solidFill>
                          <a:latin typeface="Neo Sans Arabic" panose="020B0504030504040204" pitchFamily="34" charset="-78"/>
                          <a:ea typeface="+mn-ea"/>
                          <a:cs typeface="+mn-cs"/>
                        </a:rPr>
                        <a:t>Patches</a:t>
                      </a:r>
                      <a:r>
                        <a:rPr lang="ar-SA" sz="1200" b="0" kern="1200" dirty="0">
                          <a:solidFill>
                            <a:schemeClr val="dk1"/>
                          </a:solidFill>
                          <a:latin typeface="Neo Sans Arabic" panose="020B0504030504040204" pitchFamily="34" charset="-78"/>
                          <a:ea typeface="+mn-ea"/>
                          <a:cs typeface="+mn-cs"/>
                        </a:rPr>
                        <a:t>)</a:t>
                      </a:r>
                      <a:r>
                        <a:rPr lang="en-US" sz="1200" b="0" kern="1200" dirty="0">
                          <a:solidFill>
                            <a:schemeClr val="dk1"/>
                          </a:solidFill>
                          <a:latin typeface="Neo Sans Arabic" panose="020B0504030504040204" pitchFamily="34" charset="-78"/>
                          <a:ea typeface="+mn-ea"/>
                          <a:cs typeface="+mn-cs"/>
                        </a:rPr>
                        <a:t> </a:t>
                      </a:r>
                      <a:r>
                        <a:rPr lang="ar-SA" sz="1200" b="0" kern="1200" dirty="0">
                          <a:solidFill>
                            <a:schemeClr val="dk1"/>
                          </a:solidFill>
                          <a:latin typeface="Neo Sans Arabic" panose="020B0504030504040204" pitchFamily="34" charset="-78"/>
                          <a:ea typeface="+mn-ea"/>
                          <a:cs typeface="+mn-cs"/>
                        </a:rPr>
                        <a:t>على أنظمة التشغيل، التطبيقات، والبنية التحتية التقنية للمؤسسة بهدف معالجة الثغرات الأمنية وتحسين الأداء وضمان استقرار الأنظمة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إدارة حزم التحديثات الاصلاحات الأمنية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Patch Management</a:t>
                      </a:r>
                    </a:p>
                  </a:txBody>
                  <a:tcPr marL="14570" marR="2534" marT="16470" marB="0">
                    <a:solidFill>
                      <a:srgbClr val="E6E6E6"/>
                    </a:solidFill>
                  </a:tcPr>
                </a:tc>
                <a:extLst>
                  <a:ext uri="{0D108BD9-81ED-4DB2-BD59-A6C34878D82A}">
                    <a16:rowId xmlns:a16="http://schemas.microsoft.com/office/drawing/2014/main" val="3214060595"/>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هي البيانات المنظمة والمحللة حول التهديدات السيبرانية المحتملة والحالية التي تستهدف المؤسسات، والتي تشمل معرفة أنواع الهجمات، أدوات المهاجمين، تكتيكاتهم، وأهدافهم. تهدف هذه المعلومات إلى تمكين المؤسسات من التنبؤ بالتهديدات، اتخاذ إجراءات وقائية مستندة إلى أدلة، وتعزيز قدرة الدفاع السيبراني بشكل استباقي</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معلومات التهديدات الأمنية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Threats Intelligence</a:t>
                      </a:r>
                    </a:p>
                  </a:txBody>
                  <a:tcPr marL="14570" marR="2534" marT="16470" marB="0">
                    <a:solidFill>
                      <a:srgbClr val="E6E6E6"/>
                    </a:solidFill>
                  </a:tcPr>
                </a:tc>
                <a:extLst>
                  <a:ext uri="{0D108BD9-81ED-4DB2-BD59-A6C34878D82A}">
                    <a16:rowId xmlns:a16="http://schemas.microsoft.com/office/drawing/2014/main" val="1692490720"/>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هي تقنية استغلال التفاعل البشري والخداع النفسي للحصول على معلومات سرية أو الوصول غير المصرح به إلى أنظمة أو بيانات. تعتمد الهندسة الاجتماعية على التلاعب بالأشخاص بدلاً من اختراق الأنظمة التقنية مباشرة، مما يجعلها واحدة من أكثر الأساليب فعالية للهجمات السيبرانية</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الهندسة الإجتماعية</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Social Engineering</a:t>
                      </a:r>
                    </a:p>
                  </a:txBody>
                  <a:tcPr marL="14570" marR="2534" marT="16470" marB="0">
                    <a:solidFill>
                      <a:srgbClr val="E6E6E6"/>
                    </a:solidFill>
                  </a:tcPr>
                </a:tc>
                <a:extLst>
                  <a:ext uri="{0D108BD9-81ED-4DB2-BD59-A6C34878D82A}">
                    <a16:rowId xmlns:a16="http://schemas.microsoft.com/office/drawing/2014/main" val="2530755393"/>
                  </a:ext>
                </a:extLst>
              </a:tr>
              <a:tr h="244996">
                <a:tc>
                  <a:txBody>
                    <a:bodyPr/>
                    <a:lstStyle/>
                    <a:p>
                      <a:pPr marL="6350" marR="0" lvl="0" indent="0" algn="r" defTabSz="914400" rtl="1" eaLnBrk="1" fontAlgn="auto" latinLnBrk="0" hangingPunct="1">
                        <a:lnSpc>
                          <a:spcPct val="107000"/>
                        </a:lnSpc>
                        <a:spcBef>
                          <a:spcPts val="0"/>
                        </a:spcBef>
                        <a:spcAft>
                          <a:spcPts val="0"/>
                        </a:spcAft>
                        <a:buClrTx/>
                        <a:buSzTx/>
                        <a:buFontTx/>
                        <a:buNone/>
                        <a:tabLst/>
                        <a:defRPr/>
                      </a:pPr>
                      <a:r>
                        <a:rPr lang="ar-SA" sz="1200" b="0" kern="1200" dirty="0">
                          <a:solidFill>
                            <a:schemeClr val="dk1"/>
                          </a:solidFill>
                          <a:latin typeface="Neo Sans Arabic" panose="020B0504030504040204" pitchFamily="34" charset="-78"/>
                          <a:ea typeface="+mn-ea"/>
                          <a:cs typeface="+mn-cs"/>
                        </a:rPr>
                        <a:t>هي عملية تنفيذ سيناريوهات هجوم إلكترونية محاكاة على بيئة تكنولوجيا المعلومات بهدف اختبار فعالية إجراءات الدفاع السيبراني، وتدريب الفرق الأمنية، وتحليل نقاط الضعف الحقيقية في الأنظمة. تتيح هذه المحاكاة للمؤسسات فهم كيفية استجابة بنيتها التحتية الأمنية للهجمات الواقعية، مما يساعد في تحسين الاستعداد، اكتشاف الثغرات الأمنية، وتطوير خطط الاستجابة للحوادث بشكل فعّال</a:t>
                      </a:r>
                    </a:p>
                  </a:txBody>
                  <a:tcPr marL="14570" marR="2534" marT="16470" marB="0">
                    <a:solidFill>
                      <a:srgbClr val="E6E6E6"/>
                    </a:solidFill>
                  </a:tcPr>
                </a:tc>
                <a:tc>
                  <a:txBody>
                    <a:bodyPr/>
                    <a:lstStyle/>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ar-SA" sz="1400" b="0" i="0" u="none" strike="noStrike" kern="1200" cap="none" spc="0" normalizeH="0" baseline="0" noProof="0" dirty="0">
                          <a:ln>
                            <a:noFill/>
                          </a:ln>
                          <a:solidFill>
                            <a:prstClr val="black"/>
                          </a:solidFill>
                          <a:effectLst/>
                          <a:uLnTx/>
                          <a:uFillTx/>
                          <a:latin typeface="+mn-lt"/>
                          <a:ea typeface="+mn-ea"/>
                          <a:cs typeface="+mn-cs"/>
                        </a:rPr>
                        <a:t>محاكاة الهجوم السيبراني</a:t>
                      </a:r>
                    </a:p>
                    <a:p>
                      <a:pPr marL="6350" marR="0" lvl="0" indent="0" algn="ctr" defTabSz="914400" rtl="1" eaLnBrk="1" fontAlgn="auto" latinLnBrk="0" hangingPunct="1">
                        <a:lnSpc>
                          <a:spcPct val="107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Cybersecurity Attack and Defense Simulation</a:t>
                      </a:r>
                    </a:p>
                  </a:txBody>
                  <a:tcPr marL="14570" marR="2534" marT="16470" marB="0">
                    <a:solidFill>
                      <a:srgbClr val="E6E6E6"/>
                    </a:solidFill>
                  </a:tcPr>
                </a:tc>
                <a:extLst>
                  <a:ext uri="{0D108BD9-81ED-4DB2-BD59-A6C34878D82A}">
                    <a16:rowId xmlns:a16="http://schemas.microsoft.com/office/drawing/2014/main" val="4210116429"/>
                  </a:ext>
                </a:extLst>
              </a:tr>
            </a:tbl>
          </a:graphicData>
        </a:graphic>
      </p:graphicFrame>
    </p:spTree>
    <p:extLst>
      <p:ext uri="{BB962C8B-B14F-4D97-AF65-F5344CB8AC3E}">
        <p14:creationId xmlns:p14="http://schemas.microsoft.com/office/powerpoint/2010/main" val="15903193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2539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19477</TotalTime>
  <Words>11512</Words>
  <Application>Microsoft Office PowerPoint</Application>
  <PresentationFormat>Widescreen</PresentationFormat>
  <Paragraphs>1359</Paragraphs>
  <Slides>65</Slides>
  <Notes>56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65</vt:i4>
      </vt:variant>
    </vt:vector>
  </HeadingPairs>
  <TitlesOfParts>
    <vt:vector size="76" baseType="lpstr">
      <vt:lpstr>Tajawal</vt:lpstr>
      <vt:lpstr>DIN Next LT Arabic</vt:lpstr>
      <vt:lpstr>Times New Roman</vt:lpstr>
      <vt:lpstr>Neo Sans Arabic</vt:lpstr>
      <vt:lpstr>Wingdings</vt:lpstr>
      <vt:lpstr>Calibri</vt:lpstr>
      <vt:lpstr>Segoe UI</vt:lpstr>
      <vt:lpstr>Open Sans SemiBold</vt:lpstr>
      <vt:lpstr>Sakkal Majalla</vt:lpstr>
      <vt:lpstr>Arial</vt:lpstr>
      <vt:lpstr>Office Theme</vt:lpstr>
      <vt:lpstr>وثيقة النماذج المرجعية للبنية المؤسسية</vt:lpstr>
      <vt:lpstr>PowerPoint Presentation</vt:lpstr>
      <vt:lpstr>PowerPoint Presentation</vt:lpstr>
      <vt:lpstr>PowerPoint Presentation</vt:lpstr>
      <vt:lpstr>جدول المحتويات</vt:lpstr>
      <vt:lpstr>مقدمة عن النماذج المرجعية</vt:lpstr>
      <vt:lpstr>PowerPoint Presentation</vt:lpstr>
      <vt:lpstr>PowerPoint Presentation</vt:lpstr>
      <vt:lpstr>PowerPoint Presentation</vt:lpstr>
      <vt:lpstr>PowerPoint Presentation</vt:lpstr>
      <vt:lpstr>النموذج المرجعي لبنية الأعمال</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النموذج المرجعي لبنية تجربة المستفيد</vt:lpstr>
      <vt:lpstr>PowerPoint Presentation</vt:lpstr>
      <vt:lpstr>PowerPoint Presentation</vt:lpstr>
      <vt:lpstr>PowerPoint Presentation</vt:lpstr>
      <vt:lpstr>PowerPoint Presentation</vt:lpstr>
      <vt:lpstr>PowerPoint Presentation</vt:lpstr>
      <vt:lpstr>النموذج المرجعي لبنية التطبيقات</vt:lpstr>
      <vt:lpstr>PowerPoint Presentation</vt:lpstr>
      <vt:lpstr>PowerPoint Presentation</vt:lpstr>
      <vt:lpstr>PowerPoint Presentation</vt:lpstr>
      <vt:lpstr>PowerPoint Presentation</vt:lpstr>
      <vt:lpstr>PowerPoint Presentation</vt:lpstr>
      <vt:lpstr>النموذج المرجعي لبنية البيانات</vt:lpstr>
      <vt:lpstr>PowerPoint Presentation</vt:lpstr>
      <vt:lpstr>PowerPoint Presentation</vt:lpstr>
      <vt:lpstr>PowerPoint Presentation</vt:lpstr>
      <vt:lpstr>النموذج المرجعي لبنية التقنية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النموذج المرجعي لبنية الأمن السيبراني</vt:lpstr>
      <vt:lpstr>طبقات النموذج المرجعي الوطني لبنية الأمن</vt:lpstr>
      <vt:lpstr>PowerPoint Presentation</vt:lpstr>
      <vt:lpstr>PowerPoint Presentation</vt:lpstr>
      <vt:lpstr>طبقات النموذج المرجعي الوطني لبنية الأمن</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Hani Adel Ibraheem Rehan</cp:lastModifiedBy>
  <cp:revision>1724</cp:revision>
  <dcterms:created xsi:type="dcterms:W3CDTF">2024-05-29T18:26:52Z</dcterms:created>
  <dcterms:modified xsi:type="dcterms:W3CDTF">2026-04-13T07:54:09Z</dcterms:modified>
</cp:coreProperties>
</file>