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embedTrueTypeFonts="1" saveSubsetFonts="1">
  <p:sldMasterIdLst>
    <p:sldMasterId id="2147483702" r:id="rId1"/>
  </p:sldMasterIdLst>
  <p:notesMasterIdLst>
    <p:notesMasterId r:id="rId49"/>
  </p:notesMasterIdLst>
  <p:handoutMasterIdLst>
    <p:handoutMasterId r:id="rId50"/>
  </p:handoutMasterIdLst>
  <p:sldIdLst>
    <p:sldId id="542" r:id="rId2"/>
    <p:sldId id="576" r:id="rId3"/>
    <p:sldId id="577" r:id="rId4"/>
    <p:sldId id="578" r:id="rId5"/>
    <p:sldId id="2147476614" r:id="rId6"/>
    <p:sldId id="2147476613" r:id="rId7"/>
    <p:sldId id="2147476611" r:id="rId8"/>
    <p:sldId id="2147476380" r:id="rId9"/>
    <p:sldId id="2147476615" r:id="rId10"/>
    <p:sldId id="637" r:id="rId11"/>
    <p:sldId id="2147476386" r:id="rId12"/>
    <p:sldId id="2147476387" r:id="rId13"/>
    <p:sldId id="628" r:id="rId14"/>
    <p:sldId id="2147476379" r:id="rId15"/>
    <p:sldId id="2147476385" r:id="rId16"/>
    <p:sldId id="2147476388" r:id="rId17"/>
    <p:sldId id="2147476389" r:id="rId18"/>
    <p:sldId id="2147476390" r:id="rId19"/>
    <p:sldId id="2147476391" r:id="rId20"/>
    <p:sldId id="2147476394" r:id="rId21"/>
    <p:sldId id="2147476403" r:id="rId22"/>
    <p:sldId id="2147476396" r:id="rId23"/>
    <p:sldId id="2147476397" r:id="rId24"/>
    <p:sldId id="2147476404" r:id="rId25"/>
    <p:sldId id="2147476405" r:id="rId26"/>
    <p:sldId id="2147476398" r:id="rId27"/>
    <p:sldId id="2147476399" r:id="rId28"/>
    <p:sldId id="2147476406" r:id="rId29"/>
    <p:sldId id="2147476407" r:id="rId30"/>
    <p:sldId id="2147476352" r:id="rId31"/>
    <p:sldId id="2147476400" r:id="rId32"/>
    <p:sldId id="2147476401" r:id="rId33"/>
    <p:sldId id="2147476610" r:id="rId34"/>
    <p:sldId id="2147476382" r:id="rId35"/>
    <p:sldId id="2147476600" r:id="rId36"/>
    <p:sldId id="2147476601" r:id="rId37"/>
    <p:sldId id="2147476602" r:id="rId38"/>
    <p:sldId id="2147476603" r:id="rId39"/>
    <p:sldId id="2147476604" r:id="rId40"/>
    <p:sldId id="2147476605" r:id="rId41"/>
    <p:sldId id="2147476606" r:id="rId42"/>
    <p:sldId id="2147476607" r:id="rId43"/>
    <p:sldId id="2147476608" r:id="rId44"/>
    <p:sldId id="2147476609" r:id="rId45"/>
    <p:sldId id="2147476612" r:id="rId46"/>
    <p:sldId id="2147476569" r:id="rId47"/>
    <p:sldId id="5254" r:id="rId48"/>
  </p:sldIdLst>
  <p:sldSz cx="12192000" cy="6858000"/>
  <p:notesSz cx="6858000" cy="9144000"/>
  <p:embeddedFontLst>
    <p:embeddedFont>
      <p:font typeface="Aptos" panose="020B0004020202020204" pitchFamily="34" charset="0"/>
      <p:regular r:id="rId51"/>
      <p:bold r:id="rId52"/>
      <p:italic r:id="rId53"/>
    </p:embeddedFont>
    <p:embeddedFont>
      <p:font typeface="Calibri" panose="020F0502020204030204" pitchFamily="34" charset="0"/>
      <p:regular r:id="rId54"/>
      <p:bold r:id="rId55"/>
      <p:italic r:id="rId56"/>
      <p:boldItalic r:id="rId57"/>
    </p:embeddedFont>
    <p:embeddedFont>
      <p:font typeface="Sakkal Majalla" panose="02000000000000000000" pitchFamily="2" charset="-78"/>
      <p:regular r:id="rId58"/>
      <p:bold r:id="rId59"/>
    </p:embeddedFont>
    <p:embeddedFont>
      <p:font typeface="Tajawal" panose="020B0604020202020204" charset="-78"/>
      <p:regular r:id="rId60"/>
      <p:bold r:id="rId6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خطة التدريب للبنية المؤسسية" id="{25F21764-0714-46C5-BF30-1F77E71FBBCD}">
          <p14:sldIdLst>
            <p14:sldId id="542"/>
            <p14:sldId id="576"/>
            <p14:sldId id="577"/>
            <p14:sldId id="578"/>
            <p14:sldId id="2147476614"/>
          </p14:sldIdLst>
        </p14:section>
        <p14:section name="مقدمة عن خطة التدريب للبنية المؤسسية" id="{6A6A67FF-B5C0-453B-8748-9109D622F811}">
          <p14:sldIdLst>
            <p14:sldId id="2147476613"/>
            <p14:sldId id="2147476611"/>
            <p14:sldId id="2147476380"/>
            <p14:sldId id="2147476615"/>
            <p14:sldId id="637"/>
          </p14:sldIdLst>
        </p14:section>
        <p14:section name="تحليل فجوات المهارات المرتبطة بممارسة البنية المؤسسية" id="{7A84BC28-AC92-480F-90C0-FB5B8D87C167}">
          <p14:sldIdLst>
            <p14:sldId id="2147476386"/>
            <p14:sldId id="2147476387"/>
            <p14:sldId id="628"/>
            <p14:sldId id="2147476379"/>
            <p14:sldId id="2147476385"/>
            <p14:sldId id="2147476388"/>
            <p14:sldId id="2147476389"/>
            <p14:sldId id="2147476390"/>
            <p14:sldId id="2147476391"/>
            <p14:sldId id="2147476394"/>
            <p14:sldId id="2147476403"/>
            <p14:sldId id="2147476396"/>
            <p14:sldId id="2147476397"/>
            <p14:sldId id="2147476404"/>
            <p14:sldId id="2147476405"/>
            <p14:sldId id="2147476398"/>
            <p14:sldId id="2147476399"/>
            <p14:sldId id="2147476406"/>
            <p14:sldId id="2147476407"/>
          </p14:sldIdLst>
        </p14:section>
        <p14:section name="الدورات التدريبية والشهادات المطلوبة لسد الفجوات في المهارات" id="{2C2C259C-032B-4F28-A8D3-B53CF666EE4E}">
          <p14:sldIdLst>
            <p14:sldId id="2147476352"/>
            <p14:sldId id="2147476400"/>
            <p14:sldId id="2147476401"/>
            <p14:sldId id="2147476610"/>
          </p14:sldIdLst>
        </p14:section>
        <p14:section name="بطاقات التدريب والشهادات المرتبطة بها" id="{18CF7304-CA7B-47E1-B8BB-4D20619C9CE3}">
          <p14:sldIdLst>
            <p14:sldId id="2147476382"/>
            <p14:sldId id="2147476600"/>
            <p14:sldId id="2147476601"/>
            <p14:sldId id="2147476602"/>
            <p14:sldId id="2147476603"/>
            <p14:sldId id="2147476604"/>
            <p14:sldId id="2147476605"/>
            <p14:sldId id="2147476606"/>
            <p14:sldId id="2147476607"/>
            <p14:sldId id="2147476608"/>
            <p14:sldId id="2147476609"/>
          </p14:sldIdLst>
        </p14:section>
        <p14:section name="الجدول الزمني للخطة التدريبة للدورات لكل أعضاء الفريق" id="{566E603C-A509-4EF5-BE80-6D165D866107}">
          <p14:sldIdLst>
            <p14:sldId id="2147476612"/>
            <p14:sldId id="2147476569"/>
            <p14:sldId id="525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a  Alghadhban" initials="DA" lastIdx="10" clrIdx="0">
    <p:extLst>
      <p:ext uri="{19B8F6BF-5375-455C-9EA6-DF929625EA0E}">
        <p15:presenceInfo xmlns:p15="http://schemas.microsoft.com/office/powerpoint/2012/main" userId="S-1-5-21-2411063874-488449627-3027057399-11734" providerId="AD"/>
      </p:ext>
    </p:extLst>
  </p:cmAuthor>
  <p:cmAuthor id="2" name="Ahmed Shawky" initials="A" lastIdx="2" clrIdx="1">
    <p:extLst>
      <p:ext uri="{19B8F6BF-5375-455C-9EA6-DF929625EA0E}">
        <p15:presenceInfo xmlns:p15="http://schemas.microsoft.com/office/powerpoint/2012/main" userId="Ahmed Shawky" providerId="None"/>
      </p:ext>
    </p:extLst>
  </p:cmAuthor>
  <p:cmAuthor id="3" name="Ahmed Shawky" initials="AS" lastIdx="18" clrIdx="2">
    <p:extLst>
      <p:ext uri="{19B8F6BF-5375-455C-9EA6-DF929625EA0E}">
        <p15:presenceInfo xmlns:p15="http://schemas.microsoft.com/office/powerpoint/2012/main" userId="S::a.shawky@rmg-sa.com::e8ca3da9-d268-4851-a55d-39b83f2b78e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8EE"/>
    <a:srgbClr val="D0CEDB"/>
    <a:srgbClr val="44AC52"/>
    <a:srgbClr val="4C3C8D"/>
    <a:srgbClr val="3FA0D9"/>
    <a:srgbClr val="FFB400"/>
    <a:srgbClr val="6AC477"/>
    <a:srgbClr val="6FB7E3"/>
    <a:srgbClr val="7D6DC1"/>
    <a:srgbClr val="00A8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88025" autoAdjust="0"/>
    <p:restoredTop sz="84375" autoAdjust="0"/>
  </p:normalViewPr>
  <p:slideViewPr>
    <p:cSldViewPr snapToGrid="0">
      <p:cViewPr varScale="1">
        <p:scale>
          <a:sx n="46" d="100"/>
          <a:sy n="46" d="100"/>
        </p:scale>
        <p:origin x="60" y="945"/>
      </p:cViewPr>
      <p:guideLst/>
    </p:cSldViewPr>
  </p:slideViewPr>
  <p:outlineViewPr>
    <p:cViewPr>
      <p:scale>
        <a:sx n="33" d="100"/>
        <a:sy n="33" d="100"/>
      </p:scale>
      <p:origin x="0" y="-2107"/>
    </p:cViewPr>
  </p:outlineViewPr>
  <p:notesTextViewPr>
    <p:cViewPr>
      <p:scale>
        <a:sx n="1" d="1"/>
        <a:sy n="1" d="1"/>
      </p:scale>
      <p:origin x="0" y="0"/>
    </p:cViewPr>
  </p:notesTextViewPr>
  <p:notesViewPr>
    <p:cSldViewPr snapToGrid="0" showGuides="1">
      <p:cViewPr varScale="1">
        <p:scale>
          <a:sx n="82" d="100"/>
          <a:sy n="82" d="100"/>
        </p:scale>
        <p:origin x="3156" y="9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openxmlformats.org/officeDocument/2006/relationships/font" Target="fonts/font5.fntdata"/><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3.fntdata"/><Relationship Id="rId58" Type="http://schemas.openxmlformats.org/officeDocument/2006/relationships/font" Target="fonts/font8.fntdata"/><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11.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6.fntdata"/><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9.fntdata"/><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4.fntdata"/><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font" Target="fonts/font7.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 Id="rId60" Type="http://schemas.openxmlformats.org/officeDocument/2006/relationships/font" Target="fonts/font10.fntdata"/><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a  Alghadhban" userId="3d4182d2-9ffd-465f-9c22-e5c7ddf2e688" providerId="ADAL" clId="{2E441E55-9BD4-439F-9917-98342792BE4D}"/>
    <pc:docChg chg="modSld">
      <pc:chgData name="Dana  Alghadhban" userId="3d4182d2-9ffd-465f-9c22-e5c7ddf2e688" providerId="ADAL" clId="{2E441E55-9BD4-439F-9917-98342792BE4D}" dt="2025-04-15T09:30:04.399" v="51" actId="20577"/>
      <pc:docMkLst>
        <pc:docMk/>
      </pc:docMkLst>
      <pc:sldChg chg="modSp mod">
        <pc:chgData name="Dana  Alghadhban" userId="3d4182d2-9ffd-465f-9c22-e5c7ddf2e688" providerId="ADAL" clId="{2E441E55-9BD4-439F-9917-98342792BE4D}" dt="2025-04-15T09:30:04.399" v="51" actId="20577"/>
        <pc:sldMkLst>
          <pc:docMk/>
          <pc:sldMk cId="2428133689" sldId="542"/>
        </pc:sldMkLst>
        <pc:spChg chg="mod">
          <ac:chgData name="Dana  Alghadhban" userId="3d4182d2-9ffd-465f-9c22-e5c7ddf2e688" providerId="ADAL" clId="{2E441E55-9BD4-439F-9917-98342792BE4D}" dt="2025-04-15T09:30:04.399" v="51" actId="20577"/>
          <ac:spMkLst>
            <pc:docMk/>
            <pc:sldMk cId="2428133689" sldId="542"/>
            <ac:spMk id="2" creationId="{00000000-0000-0000-0000-000000000000}"/>
          </ac:spMkLst>
        </pc:spChg>
      </pc:sldChg>
      <pc:sldChg chg="modSp mod">
        <pc:chgData name="Dana  Alghadhban" userId="3d4182d2-9ffd-465f-9c22-e5c7ddf2e688" providerId="ADAL" clId="{2E441E55-9BD4-439F-9917-98342792BE4D}" dt="2025-04-15T09:29:23.564" v="50" actId="20577"/>
        <pc:sldMkLst>
          <pc:docMk/>
          <pc:sldMk cId="3400582023" sldId="578"/>
        </pc:sldMkLst>
        <pc:graphicFrameChg chg="modGraphic">
          <ac:chgData name="Dana  Alghadhban" userId="3d4182d2-9ffd-465f-9c22-e5c7ddf2e688" providerId="ADAL" clId="{2E441E55-9BD4-439F-9917-98342792BE4D}" dt="2025-04-15T09:29:23.564" v="50" actId="20577"/>
          <ac:graphicFrameMkLst>
            <pc:docMk/>
            <pc:sldMk cId="3400582023" sldId="578"/>
            <ac:graphicFrameMk id="4" creationId="{6FA04D80-D8DF-52E7-5CB9-2E1E837D6047}"/>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F3CCF8-5C26-4AF6-B7BA-B28572CBB7B8}" type="datetimeFigureOut">
              <a:rPr lang="en-US" smtClean="0"/>
              <a:t>3/4/2026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12BC3B-B80E-4787-98A9-8276652C0984}" type="slidenum">
              <a:rPr lang="en-US" smtClean="0"/>
              <a:t>‹#›</a:t>
            </a:fld>
            <a:endParaRPr lang="en-US"/>
          </a:p>
        </p:txBody>
      </p:sp>
    </p:spTree>
    <p:extLst>
      <p:ext uri="{BB962C8B-B14F-4D97-AF65-F5344CB8AC3E}">
        <p14:creationId xmlns:p14="http://schemas.microsoft.com/office/powerpoint/2010/main" val="29127117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A18F3E-C117-429A-B1A6-546895907122}"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7FDBCA-D751-4A03-819B-45597328ED86}" type="slidenum">
              <a:rPr lang="en-US" smtClean="0"/>
              <a:t>‹#›</a:t>
            </a:fld>
            <a:endParaRPr lang="en-US"/>
          </a:p>
        </p:txBody>
      </p:sp>
    </p:spTree>
    <p:extLst>
      <p:ext uri="{BB962C8B-B14F-4D97-AF65-F5344CB8AC3E}">
        <p14:creationId xmlns:p14="http://schemas.microsoft.com/office/powerpoint/2010/main" val="3872243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r" rtl="1">
              <a:buFont typeface="Arial" panose="020B0604020202020204" pitchFamily="34" charset="0"/>
              <a:buChar char="•"/>
            </a:pPr>
            <a:endParaRPr lang="ar-EG" dirty="0"/>
          </a:p>
        </p:txBody>
      </p:sp>
      <p:sp>
        <p:nvSpPr>
          <p:cNvPr id="4" name="Slide Number Placeholder 3"/>
          <p:cNvSpPr>
            <a:spLocks noGrp="1"/>
          </p:cNvSpPr>
          <p:nvPr>
            <p:ph type="sldNum" sz="quarter" idx="5"/>
          </p:nvPr>
        </p:nvSpPr>
        <p:spPr/>
        <p:txBody>
          <a:bodyPr/>
          <a:lstStyle/>
          <a:p>
            <a:fld id="{B97FDBCA-D751-4A03-819B-45597328ED86}" type="slidenum">
              <a:rPr lang="en-US" smtClean="0"/>
              <a:t>1</a:t>
            </a:fld>
            <a:endParaRPr lang="en-US"/>
          </a:p>
        </p:txBody>
      </p:sp>
    </p:spTree>
    <p:extLst>
      <p:ext uri="{BB962C8B-B14F-4D97-AF65-F5344CB8AC3E}">
        <p14:creationId xmlns:p14="http://schemas.microsoft.com/office/powerpoint/2010/main" val="3800326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a:t>
            </a:fld>
            <a:endParaRPr lang="en-US"/>
          </a:p>
        </p:txBody>
      </p:sp>
    </p:spTree>
    <p:extLst>
      <p:ext uri="{BB962C8B-B14F-4D97-AF65-F5344CB8AC3E}">
        <p14:creationId xmlns:p14="http://schemas.microsoft.com/office/powerpoint/2010/main" val="962646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a:t>
            </a:fld>
            <a:endParaRPr lang="en-US"/>
          </a:p>
        </p:txBody>
      </p:sp>
    </p:spTree>
    <p:extLst>
      <p:ext uri="{BB962C8B-B14F-4D97-AF65-F5344CB8AC3E}">
        <p14:creationId xmlns:p14="http://schemas.microsoft.com/office/powerpoint/2010/main" val="3506166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a:t>
            </a:fld>
            <a:endParaRPr lang="en-US"/>
          </a:p>
        </p:txBody>
      </p:sp>
    </p:spTree>
    <p:extLst>
      <p:ext uri="{BB962C8B-B14F-4D97-AF65-F5344CB8AC3E}">
        <p14:creationId xmlns:p14="http://schemas.microsoft.com/office/powerpoint/2010/main" val="2022903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7</a:t>
            </a:fld>
            <a:endParaRPr lang="en-US"/>
          </a:p>
        </p:txBody>
      </p:sp>
    </p:spTree>
    <p:extLst>
      <p:ext uri="{BB962C8B-B14F-4D97-AF65-F5344CB8AC3E}">
        <p14:creationId xmlns:p14="http://schemas.microsoft.com/office/powerpoint/2010/main" val="3508241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8</a:t>
            </a:fld>
            <a:endParaRPr lang="en-US"/>
          </a:p>
        </p:txBody>
      </p:sp>
    </p:spTree>
    <p:extLst>
      <p:ext uri="{BB962C8B-B14F-4D97-AF65-F5344CB8AC3E}">
        <p14:creationId xmlns:p14="http://schemas.microsoft.com/office/powerpoint/2010/main" val="39495634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10</a:t>
            </a:fld>
            <a:endParaRPr lang="en-US"/>
          </a:p>
        </p:txBody>
      </p:sp>
    </p:spTree>
    <p:extLst>
      <p:ext uri="{BB962C8B-B14F-4D97-AF65-F5344CB8AC3E}">
        <p14:creationId xmlns:p14="http://schemas.microsoft.com/office/powerpoint/2010/main" val="32559035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12</a:t>
            </a:fld>
            <a:endParaRPr lang="en-US"/>
          </a:p>
        </p:txBody>
      </p:sp>
    </p:spTree>
    <p:extLst>
      <p:ext uri="{BB962C8B-B14F-4D97-AF65-F5344CB8AC3E}">
        <p14:creationId xmlns:p14="http://schemas.microsoft.com/office/powerpoint/2010/main" val="31150516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13</a:t>
            </a:fld>
            <a:endParaRPr lang="en-US"/>
          </a:p>
        </p:txBody>
      </p:sp>
    </p:spTree>
    <p:extLst>
      <p:ext uri="{BB962C8B-B14F-4D97-AF65-F5344CB8AC3E}">
        <p14:creationId xmlns:p14="http://schemas.microsoft.com/office/powerpoint/2010/main" val="19109530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ar-SA" dirty="0"/>
              <a:t>تحديد ما ستغطيه الوثيقة من عمليات وإجراءات</a:t>
            </a: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14</a:t>
            </a:fld>
            <a:endParaRPr lang="en-US"/>
          </a:p>
        </p:txBody>
      </p:sp>
    </p:spTree>
    <p:extLst>
      <p:ext uri="{BB962C8B-B14F-4D97-AF65-F5344CB8AC3E}">
        <p14:creationId xmlns:p14="http://schemas.microsoft.com/office/powerpoint/2010/main" val="35726512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ar-SA" dirty="0"/>
              <a:t>تحديد ما ستغطيه الوثيقة من عمليات وإجراءات</a:t>
            </a: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15</a:t>
            </a:fld>
            <a:endParaRPr lang="en-US"/>
          </a:p>
        </p:txBody>
      </p:sp>
    </p:spTree>
    <p:extLst>
      <p:ext uri="{BB962C8B-B14F-4D97-AF65-F5344CB8AC3E}">
        <p14:creationId xmlns:p14="http://schemas.microsoft.com/office/powerpoint/2010/main" val="1164305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ar-SA" dirty="0"/>
              <a:t>تحديد ما ستغطيه الوثيقة من عمليات وإجراءات</a:t>
            </a: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16</a:t>
            </a:fld>
            <a:endParaRPr lang="en-US"/>
          </a:p>
        </p:txBody>
      </p:sp>
    </p:spTree>
    <p:extLst>
      <p:ext uri="{BB962C8B-B14F-4D97-AF65-F5344CB8AC3E}">
        <p14:creationId xmlns:p14="http://schemas.microsoft.com/office/powerpoint/2010/main" val="32161200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ar-SA" dirty="0"/>
              <a:t>تحديد ما ستغطيه الوثيقة من عمليات وإجراءات</a:t>
            </a: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17</a:t>
            </a:fld>
            <a:endParaRPr lang="en-US"/>
          </a:p>
        </p:txBody>
      </p:sp>
    </p:spTree>
    <p:extLst>
      <p:ext uri="{BB962C8B-B14F-4D97-AF65-F5344CB8AC3E}">
        <p14:creationId xmlns:p14="http://schemas.microsoft.com/office/powerpoint/2010/main" val="42882375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ar-SA" dirty="0"/>
              <a:t>تحديد ما ستغطيه الوثيقة من عمليات وإجراءات</a:t>
            </a: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18</a:t>
            </a:fld>
            <a:endParaRPr lang="en-US"/>
          </a:p>
        </p:txBody>
      </p:sp>
    </p:spTree>
    <p:extLst>
      <p:ext uri="{BB962C8B-B14F-4D97-AF65-F5344CB8AC3E}">
        <p14:creationId xmlns:p14="http://schemas.microsoft.com/office/powerpoint/2010/main" val="13424138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ar-SA" dirty="0"/>
              <a:t>تحديد ما ستغطيه الوثيقة من عمليات وإجراءات</a:t>
            </a: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19</a:t>
            </a:fld>
            <a:endParaRPr lang="en-US"/>
          </a:p>
        </p:txBody>
      </p:sp>
    </p:spTree>
    <p:extLst>
      <p:ext uri="{BB962C8B-B14F-4D97-AF65-F5344CB8AC3E}">
        <p14:creationId xmlns:p14="http://schemas.microsoft.com/office/powerpoint/2010/main" val="37952077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ar-SA" dirty="0"/>
              <a:t>تحديد ما ستغطيه الوثيقة من عمليات وإجراءات</a:t>
            </a: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20</a:t>
            </a:fld>
            <a:endParaRPr lang="en-US"/>
          </a:p>
        </p:txBody>
      </p:sp>
    </p:spTree>
    <p:extLst>
      <p:ext uri="{BB962C8B-B14F-4D97-AF65-F5344CB8AC3E}">
        <p14:creationId xmlns:p14="http://schemas.microsoft.com/office/powerpoint/2010/main" val="21085569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ar-SA" dirty="0"/>
              <a:t>تحديد ما ستغطيه الوثيقة من عمليات وإجراءات</a:t>
            </a: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21</a:t>
            </a:fld>
            <a:endParaRPr lang="en-US"/>
          </a:p>
        </p:txBody>
      </p:sp>
    </p:spTree>
    <p:extLst>
      <p:ext uri="{BB962C8B-B14F-4D97-AF65-F5344CB8AC3E}">
        <p14:creationId xmlns:p14="http://schemas.microsoft.com/office/powerpoint/2010/main" val="2510737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ar-SA" dirty="0"/>
              <a:t>تحديد ما ستغطيه الوثيقة من عمليات وإجراءات</a:t>
            </a: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22</a:t>
            </a:fld>
            <a:endParaRPr lang="en-US"/>
          </a:p>
        </p:txBody>
      </p:sp>
    </p:spTree>
    <p:extLst>
      <p:ext uri="{BB962C8B-B14F-4D97-AF65-F5344CB8AC3E}">
        <p14:creationId xmlns:p14="http://schemas.microsoft.com/office/powerpoint/2010/main" val="7135900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ar-SA" dirty="0"/>
              <a:t>تحديد ما ستغطيه الوثيقة من عمليات وإجراءات</a:t>
            </a: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23</a:t>
            </a:fld>
            <a:endParaRPr lang="en-US"/>
          </a:p>
        </p:txBody>
      </p:sp>
    </p:spTree>
    <p:extLst>
      <p:ext uri="{BB962C8B-B14F-4D97-AF65-F5344CB8AC3E}">
        <p14:creationId xmlns:p14="http://schemas.microsoft.com/office/powerpoint/2010/main" val="39711106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ar-SA" dirty="0"/>
              <a:t>تحديد ما ستغطيه الوثيقة من عمليات وإجراءات</a:t>
            </a: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24</a:t>
            </a:fld>
            <a:endParaRPr lang="en-US"/>
          </a:p>
        </p:txBody>
      </p:sp>
    </p:spTree>
    <p:extLst>
      <p:ext uri="{BB962C8B-B14F-4D97-AF65-F5344CB8AC3E}">
        <p14:creationId xmlns:p14="http://schemas.microsoft.com/office/powerpoint/2010/main" val="23678953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ar-SA" dirty="0"/>
              <a:t>تحديد ما ستغطيه الوثيقة من عمليات وإجراءات</a:t>
            </a: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25</a:t>
            </a:fld>
            <a:endParaRPr lang="en-US"/>
          </a:p>
        </p:txBody>
      </p:sp>
    </p:spTree>
    <p:extLst>
      <p:ext uri="{BB962C8B-B14F-4D97-AF65-F5344CB8AC3E}">
        <p14:creationId xmlns:p14="http://schemas.microsoft.com/office/powerpoint/2010/main" val="34508147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ar-SA" dirty="0"/>
              <a:t>تحديد ما ستغطيه الوثيقة من عمليات وإجراءات</a:t>
            </a: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26</a:t>
            </a:fld>
            <a:endParaRPr lang="en-US"/>
          </a:p>
        </p:txBody>
      </p:sp>
    </p:spTree>
    <p:extLst>
      <p:ext uri="{BB962C8B-B14F-4D97-AF65-F5344CB8AC3E}">
        <p14:creationId xmlns:p14="http://schemas.microsoft.com/office/powerpoint/2010/main" val="15370303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ar-SA" dirty="0"/>
              <a:t>تحديد ما ستغطيه الوثيقة من عمليات وإجراءات</a:t>
            </a: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27</a:t>
            </a:fld>
            <a:endParaRPr lang="en-US"/>
          </a:p>
        </p:txBody>
      </p:sp>
    </p:spTree>
    <p:extLst>
      <p:ext uri="{BB962C8B-B14F-4D97-AF65-F5344CB8AC3E}">
        <p14:creationId xmlns:p14="http://schemas.microsoft.com/office/powerpoint/2010/main" val="5906531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ar-SA" dirty="0"/>
              <a:t>تحديد ما ستغطيه الوثيقة من عمليات وإجراءات</a:t>
            </a: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28</a:t>
            </a:fld>
            <a:endParaRPr lang="en-US"/>
          </a:p>
        </p:txBody>
      </p:sp>
    </p:spTree>
    <p:extLst>
      <p:ext uri="{BB962C8B-B14F-4D97-AF65-F5344CB8AC3E}">
        <p14:creationId xmlns:p14="http://schemas.microsoft.com/office/powerpoint/2010/main" val="6962658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ar-SA" dirty="0"/>
              <a:t>تحديد ما ستغطيه الوثيقة من عمليات وإجراءات</a:t>
            </a: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29</a:t>
            </a:fld>
            <a:endParaRPr lang="en-US"/>
          </a:p>
        </p:txBody>
      </p:sp>
    </p:spTree>
    <p:extLst>
      <p:ext uri="{BB962C8B-B14F-4D97-AF65-F5344CB8AC3E}">
        <p14:creationId xmlns:p14="http://schemas.microsoft.com/office/powerpoint/2010/main" val="24851083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31</a:t>
            </a:fld>
            <a:endParaRPr lang="en-US"/>
          </a:p>
        </p:txBody>
      </p:sp>
    </p:spTree>
    <p:extLst>
      <p:ext uri="{BB962C8B-B14F-4D97-AF65-F5344CB8AC3E}">
        <p14:creationId xmlns:p14="http://schemas.microsoft.com/office/powerpoint/2010/main" val="37668741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795C6-3631-3D49-66CB-0290CCF17B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545AD8-F0F0-DF86-74CE-8658B68530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C747B9-1DBB-A488-0875-5D9BD3166BDE}"/>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98B2B3C5-150A-2C9B-67ED-9A0672AC8711}"/>
              </a:ext>
            </a:extLst>
          </p:cNvPr>
          <p:cNvSpPr>
            <a:spLocks noGrp="1"/>
          </p:cNvSpPr>
          <p:nvPr>
            <p:ph type="sldNum" sz="quarter" idx="5"/>
          </p:nvPr>
        </p:nvSpPr>
        <p:spPr/>
        <p:txBody>
          <a:bodyPr/>
          <a:lstStyle/>
          <a:p>
            <a:fld id="{B97FDBCA-D751-4A03-819B-45597328ED86}" type="slidenum">
              <a:rPr lang="en-US" smtClean="0"/>
              <a:t>32</a:t>
            </a:fld>
            <a:endParaRPr lang="en-US"/>
          </a:p>
        </p:txBody>
      </p:sp>
    </p:spTree>
    <p:extLst>
      <p:ext uri="{BB962C8B-B14F-4D97-AF65-F5344CB8AC3E}">
        <p14:creationId xmlns:p14="http://schemas.microsoft.com/office/powerpoint/2010/main" val="15772820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795C6-3631-3D49-66CB-0290CCF17B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545AD8-F0F0-DF86-74CE-8658B68530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C747B9-1DBB-A488-0875-5D9BD3166BDE}"/>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98B2B3C5-150A-2C9B-67ED-9A0672AC8711}"/>
              </a:ext>
            </a:extLst>
          </p:cNvPr>
          <p:cNvSpPr>
            <a:spLocks noGrp="1"/>
          </p:cNvSpPr>
          <p:nvPr>
            <p:ph type="sldNum" sz="quarter" idx="5"/>
          </p:nvPr>
        </p:nvSpPr>
        <p:spPr/>
        <p:txBody>
          <a:bodyPr/>
          <a:lstStyle/>
          <a:p>
            <a:fld id="{B97FDBCA-D751-4A03-819B-45597328ED86}" type="slidenum">
              <a:rPr lang="en-US" smtClean="0"/>
              <a:t>33</a:t>
            </a:fld>
            <a:endParaRPr lang="en-US"/>
          </a:p>
        </p:txBody>
      </p:sp>
    </p:spTree>
    <p:extLst>
      <p:ext uri="{BB962C8B-B14F-4D97-AF65-F5344CB8AC3E}">
        <p14:creationId xmlns:p14="http://schemas.microsoft.com/office/powerpoint/2010/main" val="21994588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E03AC-8A8B-32A8-AEF6-2C027DF10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91EBD-C37C-C4D0-B820-AB86FF8F62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F5F26-7C27-1227-4F43-DD1BDF30CD07}"/>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A9B6DC8F-515D-F612-8A54-319F1B6B5201}"/>
              </a:ext>
            </a:extLst>
          </p:cNvPr>
          <p:cNvSpPr>
            <a:spLocks noGrp="1"/>
          </p:cNvSpPr>
          <p:nvPr>
            <p:ph type="sldNum" sz="quarter" idx="5"/>
          </p:nvPr>
        </p:nvSpPr>
        <p:spPr/>
        <p:txBody>
          <a:bodyPr/>
          <a:lstStyle/>
          <a:p>
            <a:fld id="{B97FDBCA-D751-4A03-819B-45597328ED86}" type="slidenum">
              <a:rPr lang="en-US" smtClean="0"/>
              <a:t>35</a:t>
            </a:fld>
            <a:endParaRPr lang="en-US"/>
          </a:p>
        </p:txBody>
      </p:sp>
    </p:spTree>
    <p:extLst>
      <p:ext uri="{BB962C8B-B14F-4D97-AF65-F5344CB8AC3E}">
        <p14:creationId xmlns:p14="http://schemas.microsoft.com/office/powerpoint/2010/main" val="34814548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E03AC-8A8B-32A8-AEF6-2C027DF10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91EBD-C37C-C4D0-B820-AB86FF8F62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F5F26-7C27-1227-4F43-DD1BDF30CD07}"/>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A9B6DC8F-515D-F612-8A54-319F1B6B5201}"/>
              </a:ext>
            </a:extLst>
          </p:cNvPr>
          <p:cNvSpPr>
            <a:spLocks noGrp="1"/>
          </p:cNvSpPr>
          <p:nvPr>
            <p:ph type="sldNum" sz="quarter" idx="5"/>
          </p:nvPr>
        </p:nvSpPr>
        <p:spPr/>
        <p:txBody>
          <a:bodyPr/>
          <a:lstStyle/>
          <a:p>
            <a:fld id="{B97FDBCA-D751-4A03-819B-45597328ED86}" type="slidenum">
              <a:rPr lang="en-US" smtClean="0"/>
              <a:t>36</a:t>
            </a:fld>
            <a:endParaRPr lang="en-US"/>
          </a:p>
        </p:txBody>
      </p:sp>
    </p:spTree>
    <p:extLst>
      <p:ext uri="{BB962C8B-B14F-4D97-AF65-F5344CB8AC3E}">
        <p14:creationId xmlns:p14="http://schemas.microsoft.com/office/powerpoint/2010/main" val="12252154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E03AC-8A8B-32A8-AEF6-2C027DF10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91EBD-C37C-C4D0-B820-AB86FF8F62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F5F26-7C27-1227-4F43-DD1BDF30CD07}"/>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A9B6DC8F-515D-F612-8A54-319F1B6B5201}"/>
              </a:ext>
            </a:extLst>
          </p:cNvPr>
          <p:cNvSpPr>
            <a:spLocks noGrp="1"/>
          </p:cNvSpPr>
          <p:nvPr>
            <p:ph type="sldNum" sz="quarter" idx="5"/>
          </p:nvPr>
        </p:nvSpPr>
        <p:spPr/>
        <p:txBody>
          <a:bodyPr/>
          <a:lstStyle/>
          <a:p>
            <a:fld id="{B97FDBCA-D751-4A03-819B-45597328ED86}" type="slidenum">
              <a:rPr lang="en-US" smtClean="0"/>
              <a:t>37</a:t>
            </a:fld>
            <a:endParaRPr lang="en-US"/>
          </a:p>
        </p:txBody>
      </p:sp>
    </p:spTree>
    <p:extLst>
      <p:ext uri="{BB962C8B-B14F-4D97-AF65-F5344CB8AC3E}">
        <p14:creationId xmlns:p14="http://schemas.microsoft.com/office/powerpoint/2010/main" val="35857848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E03AC-8A8B-32A8-AEF6-2C027DF10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91EBD-C37C-C4D0-B820-AB86FF8F62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F5F26-7C27-1227-4F43-DD1BDF30CD07}"/>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A9B6DC8F-515D-F612-8A54-319F1B6B5201}"/>
              </a:ext>
            </a:extLst>
          </p:cNvPr>
          <p:cNvSpPr>
            <a:spLocks noGrp="1"/>
          </p:cNvSpPr>
          <p:nvPr>
            <p:ph type="sldNum" sz="quarter" idx="5"/>
          </p:nvPr>
        </p:nvSpPr>
        <p:spPr/>
        <p:txBody>
          <a:bodyPr/>
          <a:lstStyle/>
          <a:p>
            <a:fld id="{B97FDBCA-D751-4A03-819B-45597328ED86}" type="slidenum">
              <a:rPr lang="en-US" smtClean="0"/>
              <a:t>38</a:t>
            </a:fld>
            <a:endParaRPr lang="en-US"/>
          </a:p>
        </p:txBody>
      </p:sp>
    </p:spTree>
    <p:extLst>
      <p:ext uri="{BB962C8B-B14F-4D97-AF65-F5344CB8AC3E}">
        <p14:creationId xmlns:p14="http://schemas.microsoft.com/office/powerpoint/2010/main" val="28112874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E03AC-8A8B-32A8-AEF6-2C027DF10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91EBD-C37C-C4D0-B820-AB86FF8F62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F5F26-7C27-1227-4F43-DD1BDF30CD07}"/>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A9B6DC8F-515D-F612-8A54-319F1B6B5201}"/>
              </a:ext>
            </a:extLst>
          </p:cNvPr>
          <p:cNvSpPr>
            <a:spLocks noGrp="1"/>
          </p:cNvSpPr>
          <p:nvPr>
            <p:ph type="sldNum" sz="quarter" idx="5"/>
          </p:nvPr>
        </p:nvSpPr>
        <p:spPr/>
        <p:txBody>
          <a:bodyPr/>
          <a:lstStyle/>
          <a:p>
            <a:fld id="{B97FDBCA-D751-4A03-819B-45597328ED86}" type="slidenum">
              <a:rPr lang="en-US" smtClean="0"/>
              <a:t>39</a:t>
            </a:fld>
            <a:endParaRPr lang="en-US"/>
          </a:p>
        </p:txBody>
      </p:sp>
    </p:spTree>
    <p:extLst>
      <p:ext uri="{BB962C8B-B14F-4D97-AF65-F5344CB8AC3E}">
        <p14:creationId xmlns:p14="http://schemas.microsoft.com/office/powerpoint/2010/main" val="8970161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E03AC-8A8B-32A8-AEF6-2C027DF10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91EBD-C37C-C4D0-B820-AB86FF8F62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F5F26-7C27-1227-4F43-DD1BDF30CD07}"/>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A9B6DC8F-515D-F612-8A54-319F1B6B5201}"/>
              </a:ext>
            </a:extLst>
          </p:cNvPr>
          <p:cNvSpPr>
            <a:spLocks noGrp="1"/>
          </p:cNvSpPr>
          <p:nvPr>
            <p:ph type="sldNum" sz="quarter" idx="5"/>
          </p:nvPr>
        </p:nvSpPr>
        <p:spPr/>
        <p:txBody>
          <a:bodyPr/>
          <a:lstStyle/>
          <a:p>
            <a:fld id="{B97FDBCA-D751-4A03-819B-45597328ED86}" type="slidenum">
              <a:rPr lang="en-US" smtClean="0"/>
              <a:t>40</a:t>
            </a:fld>
            <a:endParaRPr lang="en-US"/>
          </a:p>
        </p:txBody>
      </p:sp>
    </p:spTree>
    <p:extLst>
      <p:ext uri="{BB962C8B-B14F-4D97-AF65-F5344CB8AC3E}">
        <p14:creationId xmlns:p14="http://schemas.microsoft.com/office/powerpoint/2010/main" val="22565317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E03AC-8A8B-32A8-AEF6-2C027DF10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91EBD-C37C-C4D0-B820-AB86FF8F62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F5F26-7C27-1227-4F43-DD1BDF30CD07}"/>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A9B6DC8F-515D-F612-8A54-319F1B6B5201}"/>
              </a:ext>
            </a:extLst>
          </p:cNvPr>
          <p:cNvSpPr>
            <a:spLocks noGrp="1"/>
          </p:cNvSpPr>
          <p:nvPr>
            <p:ph type="sldNum" sz="quarter" idx="5"/>
          </p:nvPr>
        </p:nvSpPr>
        <p:spPr/>
        <p:txBody>
          <a:bodyPr/>
          <a:lstStyle/>
          <a:p>
            <a:fld id="{B97FDBCA-D751-4A03-819B-45597328ED86}" type="slidenum">
              <a:rPr lang="en-US" smtClean="0"/>
              <a:t>41</a:t>
            </a:fld>
            <a:endParaRPr lang="en-US"/>
          </a:p>
        </p:txBody>
      </p:sp>
    </p:spTree>
    <p:extLst>
      <p:ext uri="{BB962C8B-B14F-4D97-AF65-F5344CB8AC3E}">
        <p14:creationId xmlns:p14="http://schemas.microsoft.com/office/powerpoint/2010/main" val="21792188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E03AC-8A8B-32A8-AEF6-2C027DF10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91EBD-C37C-C4D0-B820-AB86FF8F62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F5F26-7C27-1227-4F43-DD1BDF30CD07}"/>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A9B6DC8F-515D-F612-8A54-319F1B6B5201}"/>
              </a:ext>
            </a:extLst>
          </p:cNvPr>
          <p:cNvSpPr>
            <a:spLocks noGrp="1"/>
          </p:cNvSpPr>
          <p:nvPr>
            <p:ph type="sldNum" sz="quarter" idx="5"/>
          </p:nvPr>
        </p:nvSpPr>
        <p:spPr/>
        <p:txBody>
          <a:bodyPr/>
          <a:lstStyle/>
          <a:p>
            <a:fld id="{B97FDBCA-D751-4A03-819B-45597328ED86}" type="slidenum">
              <a:rPr lang="en-US" smtClean="0"/>
              <a:t>42</a:t>
            </a:fld>
            <a:endParaRPr lang="en-US"/>
          </a:p>
        </p:txBody>
      </p:sp>
    </p:spTree>
    <p:extLst>
      <p:ext uri="{BB962C8B-B14F-4D97-AF65-F5344CB8AC3E}">
        <p14:creationId xmlns:p14="http://schemas.microsoft.com/office/powerpoint/2010/main" val="30584898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E03AC-8A8B-32A8-AEF6-2C027DF10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91EBD-C37C-C4D0-B820-AB86FF8F62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F5F26-7C27-1227-4F43-DD1BDF30CD07}"/>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A9B6DC8F-515D-F612-8A54-319F1B6B5201}"/>
              </a:ext>
            </a:extLst>
          </p:cNvPr>
          <p:cNvSpPr>
            <a:spLocks noGrp="1"/>
          </p:cNvSpPr>
          <p:nvPr>
            <p:ph type="sldNum" sz="quarter" idx="5"/>
          </p:nvPr>
        </p:nvSpPr>
        <p:spPr/>
        <p:txBody>
          <a:bodyPr/>
          <a:lstStyle/>
          <a:p>
            <a:fld id="{B97FDBCA-D751-4A03-819B-45597328ED86}" type="slidenum">
              <a:rPr lang="en-US" smtClean="0"/>
              <a:t>43</a:t>
            </a:fld>
            <a:endParaRPr lang="en-US"/>
          </a:p>
        </p:txBody>
      </p:sp>
    </p:spTree>
    <p:extLst>
      <p:ext uri="{BB962C8B-B14F-4D97-AF65-F5344CB8AC3E}">
        <p14:creationId xmlns:p14="http://schemas.microsoft.com/office/powerpoint/2010/main" val="35602562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E03AC-8A8B-32A8-AEF6-2C027DF10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91EBD-C37C-C4D0-B820-AB86FF8F62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F5F26-7C27-1227-4F43-DD1BDF30CD07}"/>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A9B6DC8F-515D-F612-8A54-319F1B6B5201}"/>
              </a:ext>
            </a:extLst>
          </p:cNvPr>
          <p:cNvSpPr>
            <a:spLocks noGrp="1"/>
          </p:cNvSpPr>
          <p:nvPr>
            <p:ph type="sldNum" sz="quarter" idx="5"/>
          </p:nvPr>
        </p:nvSpPr>
        <p:spPr/>
        <p:txBody>
          <a:bodyPr/>
          <a:lstStyle/>
          <a:p>
            <a:fld id="{B97FDBCA-D751-4A03-819B-45597328ED86}" type="slidenum">
              <a:rPr lang="en-US" smtClean="0"/>
              <a:t>44</a:t>
            </a:fld>
            <a:endParaRPr lang="en-US"/>
          </a:p>
        </p:txBody>
      </p:sp>
    </p:spTree>
    <p:extLst>
      <p:ext uri="{BB962C8B-B14F-4D97-AF65-F5344CB8AC3E}">
        <p14:creationId xmlns:p14="http://schemas.microsoft.com/office/powerpoint/2010/main" val="10076100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B8BAE-95C0-1605-BB98-476357526A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AAF3AC-7C1E-3FA3-C304-485832509B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F33525-C610-1A68-EE01-3F91FC07CE8F}"/>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575B7933-A133-2EEE-0F66-CB21A6CF63FA}"/>
              </a:ext>
            </a:extLst>
          </p:cNvPr>
          <p:cNvSpPr>
            <a:spLocks noGrp="1"/>
          </p:cNvSpPr>
          <p:nvPr>
            <p:ph type="sldNum" sz="quarter" idx="5"/>
          </p:nvPr>
        </p:nvSpPr>
        <p:spPr/>
        <p:txBody>
          <a:bodyPr/>
          <a:lstStyle/>
          <a:p>
            <a:fld id="{B97FDBCA-D751-4A03-819B-45597328ED86}" type="slidenum">
              <a:rPr lang="en-US" smtClean="0"/>
              <a:t>46</a:t>
            </a:fld>
            <a:endParaRPr lang="en-US"/>
          </a:p>
        </p:txBody>
      </p:sp>
    </p:spTree>
    <p:extLst>
      <p:ext uri="{BB962C8B-B14F-4D97-AF65-F5344CB8AC3E}">
        <p14:creationId xmlns:p14="http://schemas.microsoft.com/office/powerpoint/2010/main" val="13463202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preserve="1" userDrawn="1">
  <p:cSld name="Title Slide">
    <p:spTree>
      <p:nvGrpSpPr>
        <p:cNvPr id="1" name=""/>
        <p:cNvGrpSpPr/>
        <p:nvPr/>
      </p:nvGrpSpPr>
      <p:grpSpPr>
        <a:xfrm>
          <a:off x="0" y="0"/>
          <a:ext cx="0" cy="0"/>
          <a:chOff x="0" y="0"/>
          <a:chExt cx="0" cy="0"/>
        </a:xfrm>
      </p:grpSpPr>
      <p:pic>
        <p:nvPicPr>
          <p:cNvPr id="56" name="Picture 55" descr="A purple and white background&#10;&#10;Description automatically generated">
            <a:extLst>
              <a:ext uri="{FF2B5EF4-FFF2-40B4-BE49-F238E27FC236}">
                <a16:creationId xmlns:a16="http://schemas.microsoft.com/office/drawing/2014/main" id="{1008D6FD-44B1-6442-D7E1-6FD1426D8DD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1" name="Title 4">
            <a:extLst>
              <a:ext uri="{FF2B5EF4-FFF2-40B4-BE49-F238E27FC236}">
                <a16:creationId xmlns:a16="http://schemas.microsoft.com/office/drawing/2014/main" id="{C1AB8D8F-867E-9D96-D014-2635FC5416F7}"/>
              </a:ext>
            </a:extLst>
          </p:cNvPr>
          <p:cNvSpPr>
            <a:spLocks noGrp="1"/>
          </p:cNvSpPr>
          <p:nvPr>
            <p:ph type="title" hasCustomPrompt="1"/>
          </p:nvPr>
        </p:nvSpPr>
        <p:spPr>
          <a:xfrm>
            <a:off x="7726527" y="3749232"/>
            <a:ext cx="3855873" cy="1204833"/>
          </a:xfrm>
        </p:spPr>
        <p:txBody>
          <a:bodyPr anchor="b" anchorCtr="0"/>
          <a:lstStyle>
            <a:lvl1pPr>
              <a:lnSpc>
                <a:spcPct val="80000"/>
              </a:lnSpc>
              <a:defRPr sz="2800" baseline="0">
                <a:solidFill>
                  <a:schemeClr val="accent3"/>
                </a:solidFill>
                <a:latin typeface="Sakkal Majalla" panose="02000000000000000000" pitchFamily="2" charset="-78"/>
                <a:ea typeface="Sakkal Majalla" panose="02000000000000000000" pitchFamily="2" charset="-78"/>
                <a:cs typeface="Sakkal Majalla" panose="02000000000000000000" pitchFamily="2" charset="-78"/>
              </a:defRPr>
            </a:lvl1pPr>
          </a:lstStyle>
          <a:p>
            <a:r>
              <a:rPr lang="ar-EG" dirty="0"/>
              <a:t>استبدل هذا العنوان بعنوان المستند المراد</a:t>
            </a:r>
          </a:p>
        </p:txBody>
      </p:sp>
      <p:sp>
        <p:nvSpPr>
          <p:cNvPr id="52" name="Subtitle 2">
            <a:extLst>
              <a:ext uri="{FF2B5EF4-FFF2-40B4-BE49-F238E27FC236}">
                <a16:creationId xmlns:a16="http://schemas.microsoft.com/office/drawing/2014/main" id="{83890CF7-C10F-BB3C-914C-AF80ABF44952}"/>
              </a:ext>
            </a:extLst>
          </p:cNvPr>
          <p:cNvSpPr>
            <a:spLocks noGrp="1"/>
          </p:cNvSpPr>
          <p:nvPr>
            <p:ph type="subTitle" idx="1" hasCustomPrompt="1"/>
          </p:nvPr>
        </p:nvSpPr>
        <p:spPr>
          <a:xfrm>
            <a:off x="7726527" y="5000247"/>
            <a:ext cx="3855873" cy="369332"/>
          </a:xfrm>
        </p:spPr>
        <p:txBody>
          <a:bodyPr wrap="square">
            <a:spAutoFit/>
          </a:bodyPr>
          <a:lstStyle>
            <a:lvl1pPr algn="r">
              <a:defRPr lang="en-US" sz="1800" baseline="0">
                <a:solidFill>
                  <a:schemeClr val="bg1"/>
                </a:solidFill>
                <a:latin typeface="Sakkal Majalla" panose="02000000000000000000" pitchFamily="2" charset="-78"/>
                <a:ea typeface="Sakkal Majalla" panose="02000000000000000000" pitchFamily="2" charset="-78"/>
                <a:cs typeface="Sakkal Majalla" panose="02000000000000000000" pitchFamily="2" charset="-78"/>
              </a:defRPr>
            </a:lvl1pPr>
          </a:lstStyle>
          <a:p>
            <a:pPr lvl="0"/>
            <a:r>
              <a:rPr lang="ar-EG" dirty="0"/>
              <a:t>عنوان فرعي</a:t>
            </a:r>
          </a:p>
        </p:txBody>
      </p:sp>
    </p:spTree>
    <p:extLst>
      <p:ext uri="{BB962C8B-B14F-4D97-AF65-F5344CB8AC3E}">
        <p14:creationId xmlns:p14="http://schemas.microsoft.com/office/powerpoint/2010/main" val="826968348"/>
      </p:ext>
    </p:extLst>
  </p:cSld>
  <p:clrMapOvr>
    <a:masterClrMapping/>
  </p:clrMapOvr>
  <mc:AlternateContent xmlns:mc="http://schemas.openxmlformats.org/markup-compatibility/2006" xmlns:p14="http://schemas.microsoft.com/office/powerpoint/2010/main">
    <mc:Choice Requires="p14">
      <p:transition spd="slow" p14:dur="1750">
        <p14:reveal thruBlk="1" dir="r"/>
      </p:transition>
    </mc:Choice>
    <mc:Fallback xmlns="">
      <p:transition spd="slow">
        <p:fade/>
      </p:transition>
    </mc:Fallback>
  </mc:AlternateContent>
  <p:extLst>
    <p:ext uri="{DCECCB84-F9BA-43D5-87BE-67443E8EF086}">
      <p15:sldGuideLst xmlns:p15="http://schemas.microsoft.com/office/powerpoint/2012/main">
        <p15:guide id="1" orient="horz" pos="3288" userDrawn="1">
          <p15:clr>
            <a:srgbClr val="FBAE40"/>
          </p15:clr>
        </p15:guide>
        <p15:guide id="2" pos="3336" userDrawn="1">
          <p15:clr>
            <a:srgbClr val="FBAE40"/>
          </p15:clr>
        </p15:guide>
        <p15:guide id="3" pos="70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preserve="1" userDrawn="1">
  <p:cSld name="Agenda (big)">
    <p:spTree>
      <p:nvGrpSpPr>
        <p:cNvPr id="1" name=""/>
        <p:cNvGrpSpPr/>
        <p:nvPr/>
      </p:nvGrpSpPr>
      <p:grpSpPr>
        <a:xfrm>
          <a:off x="0" y="0"/>
          <a:ext cx="0" cy="0"/>
          <a:chOff x="0" y="0"/>
          <a:chExt cx="0" cy="0"/>
        </a:xfrm>
      </p:grpSpPr>
      <p:sp>
        <p:nvSpPr>
          <p:cNvPr id="53" name="Rectangle 52"/>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9422421" y="923909"/>
            <a:ext cx="2350478" cy="5010182"/>
          </a:xfrm>
        </p:spPr>
        <p:txBody>
          <a:bodyPr vert="horz" lIns="91440" tIns="45720" rIns="91440" bIns="45720" rtlCol="0" anchor="ctr" anchorCtr="0">
            <a:normAutofit/>
          </a:bodyPr>
          <a:lstStyle>
            <a:lvl1pPr>
              <a:defRPr lang="en-US" dirty="0">
                <a:ln>
                  <a:noFill/>
                </a:ln>
                <a:solidFill>
                  <a:schemeClr val="bg1"/>
                </a:solidFill>
              </a:defRPr>
            </a:lvl1pPr>
          </a:lstStyle>
          <a:p>
            <a:pPr marL="0" lvl="0"/>
            <a:r>
              <a:rPr lang="ar-EG" dirty="0"/>
              <a:t>جدول المحتويات</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3/4/2026</a:t>
            </a:fld>
            <a:endParaRPr lang="en-US"/>
          </a:p>
        </p:txBody>
      </p:sp>
      <p:sp>
        <p:nvSpPr>
          <p:cNvPr id="4"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6" name="Text Placeholder 11"/>
          <p:cNvSpPr>
            <a:spLocks noGrp="1"/>
          </p:cNvSpPr>
          <p:nvPr>
            <p:ph type="body" sz="quarter" idx="23" hasCustomPrompt="1"/>
          </p:nvPr>
        </p:nvSpPr>
        <p:spPr>
          <a:xfrm>
            <a:off x="4664387" y="275787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17" name="Text Placeholder 11"/>
          <p:cNvSpPr>
            <a:spLocks noGrp="1"/>
          </p:cNvSpPr>
          <p:nvPr>
            <p:ph type="body" sz="quarter" idx="24" hasCustomPrompt="1"/>
          </p:nvPr>
        </p:nvSpPr>
        <p:spPr>
          <a:xfrm>
            <a:off x="4661165" y="301250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50" name="Text Placeholder 6"/>
          <p:cNvSpPr>
            <a:spLocks noGrp="1"/>
          </p:cNvSpPr>
          <p:nvPr>
            <p:ph type="body" sz="quarter" idx="57" hasCustomPrompt="1"/>
          </p:nvPr>
        </p:nvSpPr>
        <p:spPr>
          <a:xfrm>
            <a:off x="7715771" y="267276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39" name="Text Placeholder 11"/>
          <p:cNvSpPr>
            <a:spLocks noGrp="1"/>
          </p:cNvSpPr>
          <p:nvPr>
            <p:ph type="body" sz="quarter" idx="58" hasCustomPrompt="1"/>
          </p:nvPr>
        </p:nvSpPr>
        <p:spPr>
          <a:xfrm>
            <a:off x="4664387" y="3531718"/>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40" name="Text Placeholder 11"/>
          <p:cNvSpPr>
            <a:spLocks noGrp="1"/>
          </p:cNvSpPr>
          <p:nvPr>
            <p:ph type="body" sz="quarter" idx="59" hasCustomPrompt="1"/>
          </p:nvPr>
        </p:nvSpPr>
        <p:spPr>
          <a:xfrm>
            <a:off x="4661165" y="3786352"/>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1" name="Text Placeholder 6"/>
          <p:cNvSpPr>
            <a:spLocks noGrp="1"/>
          </p:cNvSpPr>
          <p:nvPr>
            <p:ph type="body" sz="quarter" idx="60" hasCustomPrompt="1"/>
          </p:nvPr>
        </p:nvSpPr>
        <p:spPr>
          <a:xfrm>
            <a:off x="7715771" y="3446611"/>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42" name="Text Placeholder 11"/>
          <p:cNvSpPr>
            <a:spLocks noGrp="1"/>
          </p:cNvSpPr>
          <p:nvPr>
            <p:ph type="body" sz="quarter" idx="61" hasCustomPrompt="1"/>
          </p:nvPr>
        </p:nvSpPr>
        <p:spPr>
          <a:xfrm>
            <a:off x="4664387" y="430556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43" name="Text Placeholder 11"/>
          <p:cNvSpPr>
            <a:spLocks noGrp="1"/>
          </p:cNvSpPr>
          <p:nvPr>
            <p:ph type="body" sz="quarter" idx="62" hasCustomPrompt="1"/>
          </p:nvPr>
        </p:nvSpPr>
        <p:spPr>
          <a:xfrm>
            <a:off x="4661165" y="456019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5" name="Text Placeholder 6"/>
          <p:cNvSpPr>
            <a:spLocks noGrp="1"/>
          </p:cNvSpPr>
          <p:nvPr>
            <p:ph type="body" sz="quarter" idx="63" hasCustomPrompt="1"/>
          </p:nvPr>
        </p:nvSpPr>
        <p:spPr>
          <a:xfrm>
            <a:off x="7715771" y="422045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46" name="Text Placeholder 11"/>
          <p:cNvSpPr>
            <a:spLocks noGrp="1"/>
          </p:cNvSpPr>
          <p:nvPr>
            <p:ph type="body" sz="quarter" idx="64" hasCustomPrompt="1"/>
          </p:nvPr>
        </p:nvSpPr>
        <p:spPr>
          <a:xfrm>
            <a:off x="4664387" y="5079408"/>
            <a:ext cx="2754247" cy="228600"/>
          </a:xfrm>
        </p:spPr>
        <p:txBody>
          <a:bodyPr lIns="0" tIns="0" rIns="0" bIns="0">
            <a:noAutofit/>
          </a:bodyPr>
          <a:lstStyle>
            <a:lvl1pPr marL="0" indent="0" algn="r" rtl="0">
              <a:buNone/>
              <a:defRPr sz="1800" b="1">
                <a:solidFill>
                  <a:schemeClr val="accent1"/>
                </a:solidFill>
              </a:defRPr>
            </a:lvl1pPr>
          </a:lstStyle>
          <a:p>
            <a:pPr lvl="0"/>
            <a:r>
              <a:rPr lang="ar-EG" dirty="0"/>
              <a:t>العنوان</a:t>
            </a:r>
            <a:endParaRPr lang="en-US" dirty="0"/>
          </a:p>
        </p:txBody>
      </p:sp>
      <p:sp>
        <p:nvSpPr>
          <p:cNvPr id="48" name="Text Placeholder 11"/>
          <p:cNvSpPr>
            <a:spLocks noGrp="1"/>
          </p:cNvSpPr>
          <p:nvPr>
            <p:ph type="body" sz="quarter" idx="65" hasCustomPrompt="1"/>
          </p:nvPr>
        </p:nvSpPr>
        <p:spPr>
          <a:xfrm>
            <a:off x="4661165" y="5334042"/>
            <a:ext cx="2766892" cy="270175"/>
          </a:xfrm>
        </p:spPr>
        <p:txBody>
          <a:bodyPr lIns="0" tIns="0" rIns="0" bIns="0">
            <a:no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9" name="Text Placeholder 6"/>
          <p:cNvSpPr>
            <a:spLocks noGrp="1"/>
          </p:cNvSpPr>
          <p:nvPr>
            <p:ph type="body" sz="quarter" idx="66" hasCustomPrompt="1"/>
          </p:nvPr>
        </p:nvSpPr>
        <p:spPr>
          <a:xfrm>
            <a:off x="7715771" y="4994301"/>
            <a:ext cx="365760" cy="365760"/>
          </a:xfrm>
          <a:prstGeom prst="rect">
            <a:avLst/>
          </a:prstGeom>
          <a:solidFill>
            <a:schemeClr val="accent1"/>
          </a:solidFill>
          <a:ln w="15875">
            <a:noFill/>
          </a:ln>
        </p:spPr>
        <p:txBody>
          <a:bodyPr wrap="square" lIns="0" tIns="64008" rIns="0" bIns="0" anchor="ctr" anchorCtr="0">
            <a:noAutofit/>
          </a:bodyPr>
          <a:lstStyle>
            <a:lvl1pPr marL="0" indent="0" algn="ctr" rtl="0">
              <a:lnSpc>
                <a:spcPct val="100000"/>
              </a:lnSpc>
              <a:spcBef>
                <a:spcPts val="0"/>
              </a:spcBef>
              <a:buNone/>
              <a:defRPr sz="2000" b="1" kern="0" baseline="0">
                <a:solidFill>
                  <a:schemeClr val="bg1"/>
                </a:solidFill>
              </a:defRPr>
            </a:lvl1pPr>
          </a:lstStyle>
          <a:p>
            <a:pPr lvl="0"/>
            <a:r>
              <a:rPr lang="en-US" dirty="0"/>
              <a:t>#</a:t>
            </a:r>
          </a:p>
        </p:txBody>
      </p:sp>
      <p:sp>
        <p:nvSpPr>
          <p:cNvPr id="51" name="Text Placeholder 11"/>
          <p:cNvSpPr>
            <a:spLocks noGrp="1"/>
          </p:cNvSpPr>
          <p:nvPr>
            <p:ph type="body" sz="quarter" idx="67" hasCustomPrompt="1"/>
          </p:nvPr>
        </p:nvSpPr>
        <p:spPr>
          <a:xfrm>
            <a:off x="830980" y="275787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52" name="Text Placeholder 11"/>
          <p:cNvSpPr>
            <a:spLocks noGrp="1"/>
          </p:cNvSpPr>
          <p:nvPr>
            <p:ph type="body" sz="quarter" idx="68" hasCustomPrompt="1"/>
          </p:nvPr>
        </p:nvSpPr>
        <p:spPr>
          <a:xfrm>
            <a:off x="827758" y="301250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5" name="Text Placeholder 6"/>
          <p:cNvSpPr>
            <a:spLocks noGrp="1"/>
          </p:cNvSpPr>
          <p:nvPr>
            <p:ph type="body" sz="quarter" idx="69" hasCustomPrompt="1"/>
          </p:nvPr>
        </p:nvSpPr>
        <p:spPr>
          <a:xfrm>
            <a:off x="3882364" y="267276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6" name="Text Placeholder 11"/>
          <p:cNvSpPr>
            <a:spLocks noGrp="1"/>
          </p:cNvSpPr>
          <p:nvPr>
            <p:ph type="body" sz="quarter" idx="70" hasCustomPrompt="1"/>
          </p:nvPr>
        </p:nvSpPr>
        <p:spPr>
          <a:xfrm>
            <a:off x="830980" y="3531718"/>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67" name="Text Placeholder 11"/>
          <p:cNvSpPr>
            <a:spLocks noGrp="1"/>
          </p:cNvSpPr>
          <p:nvPr>
            <p:ph type="body" sz="quarter" idx="71" hasCustomPrompt="1"/>
          </p:nvPr>
        </p:nvSpPr>
        <p:spPr>
          <a:xfrm>
            <a:off x="827758" y="3786352"/>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8" name="Text Placeholder 6"/>
          <p:cNvSpPr>
            <a:spLocks noGrp="1"/>
          </p:cNvSpPr>
          <p:nvPr>
            <p:ph type="body" sz="quarter" idx="72" hasCustomPrompt="1"/>
          </p:nvPr>
        </p:nvSpPr>
        <p:spPr>
          <a:xfrm>
            <a:off x="3882364" y="3446611"/>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9" name="Text Placeholder 11"/>
          <p:cNvSpPr>
            <a:spLocks noGrp="1"/>
          </p:cNvSpPr>
          <p:nvPr>
            <p:ph type="body" sz="quarter" idx="73" hasCustomPrompt="1"/>
          </p:nvPr>
        </p:nvSpPr>
        <p:spPr>
          <a:xfrm>
            <a:off x="830980" y="430556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0" name="Text Placeholder 11"/>
          <p:cNvSpPr>
            <a:spLocks noGrp="1"/>
          </p:cNvSpPr>
          <p:nvPr>
            <p:ph type="body" sz="quarter" idx="74" hasCustomPrompt="1"/>
          </p:nvPr>
        </p:nvSpPr>
        <p:spPr>
          <a:xfrm>
            <a:off x="827758" y="456019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1" name="Text Placeholder 6"/>
          <p:cNvSpPr>
            <a:spLocks noGrp="1"/>
          </p:cNvSpPr>
          <p:nvPr>
            <p:ph type="body" sz="quarter" idx="75" hasCustomPrompt="1"/>
          </p:nvPr>
        </p:nvSpPr>
        <p:spPr>
          <a:xfrm>
            <a:off x="3882364" y="422045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2" name="Text Placeholder 11"/>
          <p:cNvSpPr>
            <a:spLocks noGrp="1"/>
          </p:cNvSpPr>
          <p:nvPr>
            <p:ph type="body" sz="quarter" idx="76" hasCustomPrompt="1"/>
          </p:nvPr>
        </p:nvSpPr>
        <p:spPr>
          <a:xfrm>
            <a:off x="830980" y="5079408"/>
            <a:ext cx="2754247" cy="228600"/>
          </a:xfrm>
        </p:spPr>
        <p:txBody>
          <a:bodyPr lIns="0" tIns="0" rIns="0" bIns="0">
            <a:noAutofit/>
          </a:bodyPr>
          <a:lstStyle>
            <a:lvl1pPr marL="0" indent="0" algn="r" rtl="0">
              <a:buNone/>
              <a:defRPr sz="1800" b="1">
                <a:solidFill>
                  <a:schemeClr val="accent1"/>
                </a:solidFill>
              </a:defRPr>
            </a:lvl1pPr>
          </a:lstStyle>
          <a:p>
            <a:pPr lvl="0"/>
            <a:r>
              <a:rPr lang="ar-EG" dirty="0"/>
              <a:t>العنوان</a:t>
            </a:r>
            <a:endParaRPr lang="en-US" dirty="0"/>
          </a:p>
        </p:txBody>
      </p:sp>
      <p:sp>
        <p:nvSpPr>
          <p:cNvPr id="74" name="Text Placeholder 6"/>
          <p:cNvSpPr>
            <a:spLocks noGrp="1"/>
          </p:cNvSpPr>
          <p:nvPr>
            <p:ph type="body" sz="quarter" idx="78" hasCustomPrompt="1"/>
          </p:nvPr>
        </p:nvSpPr>
        <p:spPr>
          <a:xfrm>
            <a:off x="3882364" y="4994301"/>
            <a:ext cx="365760" cy="365760"/>
          </a:xfrm>
          <a:prstGeom prst="rect">
            <a:avLst/>
          </a:prstGeom>
          <a:solidFill>
            <a:schemeClr val="accent1"/>
          </a:solidFill>
          <a:ln w="15875">
            <a:noFill/>
          </a:ln>
        </p:spPr>
        <p:txBody>
          <a:bodyPr wrap="square" lIns="0" tIns="64008" rIns="0" bIns="0" anchor="ctr" anchorCtr="0">
            <a:noAutofit/>
          </a:bodyPr>
          <a:lstStyle>
            <a:lvl1pPr marL="0" indent="0" algn="ctr" rtl="0">
              <a:lnSpc>
                <a:spcPct val="100000"/>
              </a:lnSpc>
              <a:spcBef>
                <a:spcPts val="0"/>
              </a:spcBef>
              <a:buNone/>
              <a:defRPr sz="2000" b="1" kern="0" baseline="0">
                <a:solidFill>
                  <a:schemeClr val="bg1"/>
                </a:solidFill>
              </a:defRPr>
            </a:lvl1pPr>
          </a:lstStyle>
          <a:p>
            <a:pPr lvl="0"/>
            <a:r>
              <a:rPr lang="en-US" dirty="0"/>
              <a:t>#</a:t>
            </a:r>
          </a:p>
        </p:txBody>
      </p:sp>
      <p:sp>
        <p:nvSpPr>
          <p:cNvPr id="44" name="Text Placeholder 11"/>
          <p:cNvSpPr>
            <a:spLocks noGrp="1"/>
          </p:cNvSpPr>
          <p:nvPr>
            <p:ph type="body" sz="quarter" idx="79" hasCustomPrompt="1"/>
          </p:nvPr>
        </p:nvSpPr>
        <p:spPr>
          <a:xfrm>
            <a:off x="824657" y="5334042"/>
            <a:ext cx="2766892" cy="270175"/>
          </a:xfrm>
        </p:spPr>
        <p:txBody>
          <a:bodyPr lIns="0" tIns="0" rIns="0" bIns="0">
            <a:no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1" name="Text Placeholder 11"/>
          <p:cNvSpPr>
            <a:spLocks noGrp="1"/>
          </p:cNvSpPr>
          <p:nvPr>
            <p:ph type="body" sz="quarter" idx="86" hasCustomPrompt="1"/>
          </p:nvPr>
        </p:nvSpPr>
        <p:spPr>
          <a:xfrm>
            <a:off x="4664387" y="1982676"/>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62" name="Text Placeholder 11"/>
          <p:cNvSpPr>
            <a:spLocks noGrp="1"/>
          </p:cNvSpPr>
          <p:nvPr>
            <p:ph type="body" sz="quarter" idx="87" hasCustomPrompt="1"/>
          </p:nvPr>
        </p:nvSpPr>
        <p:spPr>
          <a:xfrm>
            <a:off x="4661165" y="2237310"/>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3" name="Text Placeholder 6"/>
          <p:cNvSpPr>
            <a:spLocks noGrp="1"/>
          </p:cNvSpPr>
          <p:nvPr>
            <p:ph type="body" sz="quarter" idx="88" hasCustomPrompt="1"/>
          </p:nvPr>
        </p:nvSpPr>
        <p:spPr>
          <a:xfrm>
            <a:off x="7715771" y="1897569"/>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4" name="Text Placeholder 11"/>
          <p:cNvSpPr>
            <a:spLocks noGrp="1"/>
          </p:cNvSpPr>
          <p:nvPr>
            <p:ph type="body" sz="quarter" idx="89" hasCustomPrompt="1"/>
          </p:nvPr>
        </p:nvSpPr>
        <p:spPr>
          <a:xfrm>
            <a:off x="4664387" y="1208831"/>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3" name="Text Placeholder 11"/>
          <p:cNvSpPr>
            <a:spLocks noGrp="1"/>
          </p:cNvSpPr>
          <p:nvPr>
            <p:ph type="body" sz="quarter" idx="90" hasCustomPrompt="1"/>
          </p:nvPr>
        </p:nvSpPr>
        <p:spPr>
          <a:xfrm>
            <a:off x="4661165" y="1463465"/>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5" name="Text Placeholder 6"/>
          <p:cNvSpPr>
            <a:spLocks noGrp="1"/>
          </p:cNvSpPr>
          <p:nvPr>
            <p:ph type="body" sz="quarter" idx="91" hasCustomPrompt="1"/>
          </p:nvPr>
        </p:nvSpPr>
        <p:spPr>
          <a:xfrm>
            <a:off x="7715771" y="1123724"/>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6" name="Text Placeholder 11"/>
          <p:cNvSpPr>
            <a:spLocks noGrp="1"/>
          </p:cNvSpPr>
          <p:nvPr>
            <p:ph type="body" sz="quarter" idx="92" hasCustomPrompt="1"/>
          </p:nvPr>
        </p:nvSpPr>
        <p:spPr>
          <a:xfrm>
            <a:off x="4664387" y="585325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7" name="Text Placeholder 11"/>
          <p:cNvSpPr>
            <a:spLocks noGrp="1"/>
          </p:cNvSpPr>
          <p:nvPr>
            <p:ph type="body" sz="quarter" idx="93" hasCustomPrompt="1"/>
          </p:nvPr>
        </p:nvSpPr>
        <p:spPr>
          <a:xfrm>
            <a:off x="4661165" y="610788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8" name="Text Placeholder 6"/>
          <p:cNvSpPr>
            <a:spLocks noGrp="1"/>
          </p:cNvSpPr>
          <p:nvPr>
            <p:ph type="body" sz="quarter" idx="94" hasCustomPrompt="1"/>
          </p:nvPr>
        </p:nvSpPr>
        <p:spPr>
          <a:xfrm>
            <a:off x="7715771" y="576814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9" name="Text Placeholder 11"/>
          <p:cNvSpPr>
            <a:spLocks noGrp="1"/>
          </p:cNvSpPr>
          <p:nvPr>
            <p:ph type="body" sz="quarter" idx="95" hasCustomPrompt="1"/>
          </p:nvPr>
        </p:nvSpPr>
        <p:spPr>
          <a:xfrm>
            <a:off x="830980" y="1982676"/>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80" name="Text Placeholder 11"/>
          <p:cNvSpPr>
            <a:spLocks noGrp="1"/>
          </p:cNvSpPr>
          <p:nvPr>
            <p:ph type="body" sz="quarter" idx="96" hasCustomPrompt="1"/>
          </p:nvPr>
        </p:nvSpPr>
        <p:spPr>
          <a:xfrm>
            <a:off x="827758" y="2237310"/>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81" name="Text Placeholder 6"/>
          <p:cNvSpPr>
            <a:spLocks noGrp="1"/>
          </p:cNvSpPr>
          <p:nvPr>
            <p:ph type="body" sz="quarter" idx="97" hasCustomPrompt="1"/>
          </p:nvPr>
        </p:nvSpPr>
        <p:spPr>
          <a:xfrm>
            <a:off x="3882364" y="1897569"/>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82" name="Text Placeholder 11"/>
          <p:cNvSpPr>
            <a:spLocks noGrp="1"/>
          </p:cNvSpPr>
          <p:nvPr>
            <p:ph type="body" sz="quarter" idx="98" hasCustomPrompt="1"/>
          </p:nvPr>
        </p:nvSpPr>
        <p:spPr>
          <a:xfrm>
            <a:off x="830980" y="1208831"/>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83" name="Text Placeholder 11"/>
          <p:cNvSpPr>
            <a:spLocks noGrp="1"/>
          </p:cNvSpPr>
          <p:nvPr>
            <p:ph type="body" sz="quarter" idx="99" hasCustomPrompt="1"/>
          </p:nvPr>
        </p:nvSpPr>
        <p:spPr>
          <a:xfrm>
            <a:off x="827758" y="1463465"/>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84" name="Text Placeholder 6"/>
          <p:cNvSpPr>
            <a:spLocks noGrp="1"/>
          </p:cNvSpPr>
          <p:nvPr>
            <p:ph type="body" sz="quarter" idx="100" hasCustomPrompt="1"/>
          </p:nvPr>
        </p:nvSpPr>
        <p:spPr>
          <a:xfrm>
            <a:off x="3882364" y="1123724"/>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85" name="Text Placeholder 11"/>
          <p:cNvSpPr>
            <a:spLocks noGrp="1"/>
          </p:cNvSpPr>
          <p:nvPr>
            <p:ph type="body" sz="quarter" idx="101" hasCustomPrompt="1"/>
          </p:nvPr>
        </p:nvSpPr>
        <p:spPr>
          <a:xfrm>
            <a:off x="830980" y="585325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86" name="Text Placeholder 11"/>
          <p:cNvSpPr>
            <a:spLocks noGrp="1"/>
          </p:cNvSpPr>
          <p:nvPr>
            <p:ph type="body" sz="quarter" idx="102" hasCustomPrompt="1"/>
          </p:nvPr>
        </p:nvSpPr>
        <p:spPr>
          <a:xfrm>
            <a:off x="827758" y="610788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p:txBody>
      </p:sp>
      <p:sp>
        <p:nvSpPr>
          <p:cNvPr id="87" name="Text Placeholder 6"/>
          <p:cNvSpPr>
            <a:spLocks noGrp="1"/>
          </p:cNvSpPr>
          <p:nvPr>
            <p:ph type="body" sz="quarter" idx="103" hasCustomPrompt="1"/>
          </p:nvPr>
        </p:nvSpPr>
        <p:spPr>
          <a:xfrm>
            <a:off x="3882364" y="576814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129"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5" name="Picture 4">
            <a:extLst>
              <a:ext uri="{FF2B5EF4-FFF2-40B4-BE49-F238E27FC236}">
                <a16:creationId xmlns:a16="http://schemas.microsoft.com/office/drawing/2014/main" id="{4075B88D-BA01-1F9E-6243-DA286D73D28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9418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preserve="1" userDrawn="1">
  <p:cSld name="1_Agenda (bi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F56EA63-0ACA-2641-5B9B-A593E15C93E8}"/>
              </a:ext>
            </a:extLst>
          </p:cNvPr>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79"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3/4/2026</a:t>
            </a:fld>
            <a:endParaRPr lang="en-US"/>
          </a:p>
        </p:txBody>
      </p:sp>
      <p:sp>
        <p:nvSpPr>
          <p:cNvPr id="180"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81" name="Slide Number Placeholder 4"/>
          <p:cNvSpPr>
            <a:spLocks noGrp="1"/>
          </p:cNvSpPr>
          <p:nvPr>
            <p:ph type="sldNum" sz="quarter" idx="12"/>
          </p:nvPr>
        </p:nvSpPr>
        <p:spPr>
          <a:xfrm>
            <a:off x="621452" y="6335328"/>
            <a:ext cx="439703" cy="320040"/>
          </a:xfrm>
        </p:spPr>
        <p:txBody>
          <a:bodyPr/>
          <a:lstStyle>
            <a:lvl1pPr algn="l" rtl="1">
              <a:defRPr sz="1200">
                <a:solidFill>
                  <a:schemeClr val="accent1"/>
                </a:solidFill>
              </a:defRPr>
            </a:lvl1pPr>
          </a:lstStyle>
          <a:p>
            <a:fld id="{46ED658E-7B78-4C3F-B2D4-66856F143B40}" type="slidenum">
              <a:rPr lang="en-US" smtClean="0"/>
              <a:pPr/>
              <a:t>‹#›</a:t>
            </a:fld>
            <a:endParaRPr lang="en-US" dirty="0"/>
          </a:p>
        </p:txBody>
      </p:sp>
      <p:sp>
        <p:nvSpPr>
          <p:cNvPr id="182" name="Title 1"/>
          <p:cNvSpPr>
            <a:spLocks noGrp="1"/>
          </p:cNvSpPr>
          <p:nvPr>
            <p:ph type="title" hasCustomPrompt="1"/>
          </p:nvPr>
        </p:nvSpPr>
        <p:spPr>
          <a:xfrm>
            <a:off x="9207769" y="3185566"/>
            <a:ext cx="2779783" cy="486869"/>
          </a:xfrm>
        </p:spPr>
        <p:txBody>
          <a:bodyPr>
            <a:noAutofit/>
          </a:bodyPr>
          <a:lstStyle>
            <a:lvl1pPr algn="ctr">
              <a:defRPr sz="3600" spc="200" baseline="0">
                <a:solidFill>
                  <a:schemeClr val="bg1"/>
                </a:solidFill>
              </a:defRPr>
            </a:lvl1pPr>
          </a:lstStyle>
          <a:p>
            <a:r>
              <a:rPr lang="ar-EG" dirty="0"/>
              <a:t>جدول المحتويات</a:t>
            </a:r>
            <a:endParaRPr lang="en-US" dirty="0"/>
          </a:p>
        </p:txBody>
      </p:sp>
      <p:sp>
        <p:nvSpPr>
          <p:cNvPr id="183" name="Text Placeholder 11"/>
          <p:cNvSpPr>
            <a:spLocks noGrp="1"/>
          </p:cNvSpPr>
          <p:nvPr>
            <p:ph type="body" sz="quarter" idx="20" hasCustomPrompt="1"/>
          </p:nvPr>
        </p:nvSpPr>
        <p:spPr>
          <a:xfrm>
            <a:off x="1307048" y="1477694"/>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4" name="Text Placeholder 11"/>
          <p:cNvSpPr>
            <a:spLocks noGrp="1"/>
          </p:cNvSpPr>
          <p:nvPr>
            <p:ph type="body" sz="quarter" idx="23" hasCustomPrompt="1"/>
          </p:nvPr>
        </p:nvSpPr>
        <p:spPr>
          <a:xfrm>
            <a:off x="4980125" y="1477694"/>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5" name="Text Placeholder 11"/>
          <p:cNvSpPr>
            <a:spLocks noGrp="1"/>
          </p:cNvSpPr>
          <p:nvPr>
            <p:ph type="body" sz="quarter" idx="32" hasCustomPrompt="1"/>
          </p:nvPr>
        </p:nvSpPr>
        <p:spPr>
          <a:xfrm>
            <a:off x="1307048" y="230476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86" name="Text Placeholder 11"/>
          <p:cNvSpPr>
            <a:spLocks noGrp="1"/>
          </p:cNvSpPr>
          <p:nvPr>
            <p:ph type="body" sz="quarter" idx="35" hasCustomPrompt="1"/>
          </p:nvPr>
        </p:nvSpPr>
        <p:spPr>
          <a:xfrm>
            <a:off x="4980125" y="230476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87" name="Text Placeholder 11"/>
          <p:cNvSpPr>
            <a:spLocks noGrp="1"/>
          </p:cNvSpPr>
          <p:nvPr>
            <p:ph type="body" sz="quarter" idx="44" hasCustomPrompt="1"/>
          </p:nvPr>
        </p:nvSpPr>
        <p:spPr>
          <a:xfrm>
            <a:off x="1307048" y="313183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8" name="Text Placeholder 11"/>
          <p:cNvSpPr>
            <a:spLocks noGrp="1"/>
          </p:cNvSpPr>
          <p:nvPr>
            <p:ph type="body" sz="quarter" idx="47" hasCustomPrompt="1"/>
          </p:nvPr>
        </p:nvSpPr>
        <p:spPr>
          <a:xfrm>
            <a:off x="4980125" y="313183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9" name="Text Placeholder 6"/>
          <p:cNvSpPr>
            <a:spLocks noGrp="1"/>
          </p:cNvSpPr>
          <p:nvPr>
            <p:ph type="body" sz="quarter" idx="54" hasCustomPrompt="1"/>
          </p:nvPr>
        </p:nvSpPr>
        <p:spPr>
          <a:xfrm>
            <a:off x="4038533" y="1386812"/>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0" name="Text Placeholder 6"/>
          <p:cNvSpPr>
            <a:spLocks noGrp="1"/>
          </p:cNvSpPr>
          <p:nvPr>
            <p:ph type="body" sz="quarter" idx="55" hasCustomPrompt="1"/>
          </p:nvPr>
        </p:nvSpPr>
        <p:spPr>
          <a:xfrm>
            <a:off x="4038533" y="2216904"/>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1" name="Text Placeholder 6"/>
          <p:cNvSpPr>
            <a:spLocks noGrp="1"/>
          </p:cNvSpPr>
          <p:nvPr>
            <p:ph type="body" sz="quarter" idx="56" hasCustomPrompt="1"/>
          </p:nvPr>
        </p:nvSpPr>
        <p:spPr>
          <a:xfrm>
            <a:off x="4038533" y="3046996"/>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2" name="Text Placeholder 6"/>
          <p:cNvSpPr>
            <a:spLocks noGrp="1"/>
          </p:cNvSpPr>
          <p:nvPr>
            <p:ph type="body" sz="quarter" idx="57" hasCustomPrompt="1"/>
          </p:nvPr>
        </p:nvSpPr>
        <p:spPr>
          <a:xfrm>
            <a:off x="7715771" y="1386812"/>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3" name="Text Placeholder 6"/>
          <p:cNvSpPr>
            <a:spLocks noGrp="1"/>
          </p:cNvSpPr>
          <p:nvPr>
            <p:ph type="body" sz="quarter" idx="58" hasCustomPrompt="1"/>
          </p:nvPr>
        </p:nvSpPr>
        <p:spPr>
          <a:xfrm>
            <a:off x="7715771" y="2216904"/>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4" name="Text Placeholder 6"/>
          <p:cNvSpPr>
            <a:spLocks noGrp="1"/>
          </p:cNvSpPr>
          <p:nvPr>
            <p:ph type="body" sz="quarter" idx="59" hasCustomPrompt="1"/>
          </p:nvPr>
        </p:nvSpPr>
        <p:spPr>
          <a:xfrm>
            <a:off x="7715771" y="3046996"/>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5" name="Text Placeholder 11"/>
          <p:cNvSpPr>
            <a:spLocks noGrp="1"/>
          </p:cNvSpPr>
          <p:nvPr>
            <p:ph type="body" sz="quarter" idx="60" hasCustomPrompt="1"/>
          </p:nvPr>
        </p:nvSpPr>
        <p:spPr>
          <a:xfrm>
            <a:off x="1307048" y="396895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96" name="Text Placeholder 11"/>
          <p:cNvSpPr>
            <a:spLocks noGrp="1"/>
          </p:cNvSpPr>
          <p:nvPr>
            <p:ph type="body" sz="quarter" idx="61" hasCustomPrompt="1"/>
          </p:nvPr>
        </p:nvSpPr>
        <p:spPr>
          <a:xfrm>
            <a:off x="4980125" y="396895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97" name="Text Placeholder 11"/>
          <p:cNvSpPr>
            <a:spLocks noGrp="1"/>
          </p:cNvSpPr>
          <p:nvPr>
            <p:ph type="body" sz="quarter" idx="62" hasCustomPrompt="1"/>
          </p:nvPr>
        </p:nvSpPr>
        <p:spPr>
          <a:xfrm>
            <a:off x="1307048" y="479602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98" name="Text Placeholder 11"/>
          <p:cNvSpPr>
            <a:spLocks noGrp="1"/>
          </p:cNvSpPr>
          <p:nvPr>
            <p:ph type="body" sz="quarter" idx="63" hasCustomPrompt="1"/>
          </p:nvPr>
        </p:nvSpPr>
        <p:spPr>
          <a:xfrm>
            <a:off x="4980125" y="479602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99" name="Text Placeholder 11"/>
          <p:cNvSpPr>
            <a:spLocks noGrp="1"/>
          </p:cNvSpPr>
          <p:nvPr>
            <p:ph type="body" sz="quarter" idx="64" hasCustomPrompt="1"/>
          </p:nvPr>
        </p:nvSpPr>
        <p:spPr>
          <a:xfrm>
            <a:off x="1307048" y="5623091"/>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200" name="Text Placeholder 11"/>
          <p:cNvSpPr>
            <a:spLocks noGrp="1"/>
          </p:cNvSpPr>
          <p:nvPr>
            <p:ph type="body" sz="quarter" idx="65" hasCustomPrompt="1"/>
          </p:nvPr>
        </p:nvSpPr>
        <p:spPr>
          <a:xfrm>
            <a:off x="4980125" y="5623091"/>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201" name="Text Placeholder 6"/>
          <p:cNvSpPr>
            <a:spLocks noGrp="1"/>
          </p:cNvSpPr>
          <p:nvPr>
            <p:ph type="body" sz="quarter" idx="66" hasCustomPrompt="1"/>
          </p:nvPr>
        </p:nvSpPr>
        <p:spPr>
          <a:xfrm>
            <a:off x="4038533" y="3878071"/>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2" name="Text Placeholder 6"/>
          <p:cNvSpPr>
            <a:spLocks noGrp="1"/>
          </p:cNvSpPr>
          <p:nvPr>
            <p:ph type="body" sz="quarter" idx="67" hasCustomPrompt="1"/>
          </p:nvPr>
        </p:nvSpPr>
        <p:spPr>
          <a:xfrm>
            <a:off x="4038533" y="4708163"/>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3" name="Text Placeholder 6"/>
          <p:cNvSpPr>
            <a:spLocks noGrp="1"/>
          </p:cNvSpPr>
          <p:nvPr>
            <p:ph type="body" sz="quarter" idx="68" hasCustomPrompt="1"/>
          </p:nvPr>
        </p:nvSpPr>
        <p:spPr>
          <a:xfrm>
            <a:off x="4038533" y="5538255"/>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4" name="Text Placeholder 6"/>
          <p:cNvSpPr>
            <a:spLocks noGrp="1"/>
          </p:cNvSpPr>
          <p:nvPr>
            <p:ph type="body" sz="quarter" idx="69" hasCustomPrompt="1"/>
          </p:nvPr>
        </p:nvSpPr>
        <p:spPr>
          <a:xfrm>
            <a:off x="7715771" y="3878071"/>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5" name="Text Placeholder 6"/>
          <p:cNvSpPr>
            <a:spLocks noGrp="1"/>
          </p:cNvSpPr>
          <p:nvPr>
            <p:ph type="body" sz="quarter" idx="70" hasCustomPrompt="1"/>
          </p:nvPr>
        </p:nvSpPr>
        <p:spPr>
          <a:xfrm>
            <a:off x="7715771" y="4708163"/>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6" name="Text Placeholder 6"/>
          <p:cNvSpPr>
            <a:spLocks noGrp="1"/>
          </p:cNvSpPr>
          <p:nvPr>
            <p:ph type="body" sz="quarter" idx="71" hasCustomPrompt="1"/>
          </p:nvPr>
        </p:nvSpPr>
        <p:spPr>
          <a:xfrm>
            <a:off x="7715771" y="5538255"/>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pic>
        <p:nvPicPr>
          <p:cNvPr id="3" name="Picture 2">
            <a:extLst>
              <a:ext uri="{FF2B5EF4-FFF2-40B4-BE49-F238E27FC236}">
                <a16:creationId xmlns:a16="http://schemas.microsoft.com/office/drawing/2014/main" id="{BDE1AC8B-C2AF-7EC8-8BD1-AD35C320C96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67037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preserve="1" userDrawn="1">
  <p:cSld name="1_Agenda">
    <p:spTree>
      <p:nvGrpSpPr>
        <p:cNvPr id="1" name=""/>
        <p:cNvGrpSpPr/>
        <p:nvPr/>
      </p:nvGrpSpPr>
      <p:grpSpPr>
        <a:xfrm>
          <a:off x="0" y="0"/>
          <a:ext cx="0" cy="0"/>
          <a:chOff x="0" y="0"/>
          <a:chExt cx="0" cy="0"/>
        </a:xfrm>
      </p:grpSpPr>
      <p:sp>
        <p:nvSpPr>
          <p:cNvPr id="6" name="Rectangle 5"/>
          <p:cNvSpPr/>
          <p:nvPr userDrawn="1"/>
        </p:nvSpPr>
        <p:spPr>
          <a:xfrm>
            <a:off x="8153400" y="1352939"/>
            <a:ext cx="4038600" cy="5505061"/>
          </a:xfrm>
          <a:prstGeom prst="rect">
            <a:avLst/>
          </a:prstGeom>
          <a:gradFill>
            <a:gsLst>
              <a:gs pos="100000">
                <a:schemeClr val="accent1"/>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7" name="Rectangle 6"/>
          <p:cNvSpPr/>
          <p:nvPr userDrawn="1"/>
        </p:nvSpPr>
        <p:spPr>
          <a:xfrm>
            <a:off x="8153400" y="-373"/>
            <a:ext cx="4038600" cy="6217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8153400" y="621419"/>
            <a:ext cx="403860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p:cNvSpPr>
            <a:spLocks noGrp="1"/>
          </p:cNvSpPr>
          <p:nvPr>
            <p:ph type="title" hasCustomPrompt="1"/>
          </p:nvPr>
        </p:nvSpPr>
        <p:spPr>
          <a:xfrm>
            <a:off x="8308759" y="621420"/>
            <a:ext cx="3727882" cy="731519"/>
          </a:xfrm>
        </p:spPr>
        <p:txBody>
          <a:bodyPr anchor="ctr" anchorCtr="0"/>
          <a:lstStyle>
            <a:lvl1pPr algn="ctr">
              <a:defRPr sz="4000">
                <a:solidFill>
                  <a:schemeClr val="accent1"/>
                </a:solidFill>
              </a:defRPr>
            </a:lvl1pPr>
          </a:lstStyle>
          <a:p>
            <a:r>
              <a:rPr lang="ar-EG" dirty="0"/>
              <a:t>جدول المحتويات</a:t>
            </a:r>
            <a:endParaRPr lang="en-US" dirty="0"/>
          </a:p>
        </p:txBody>
      </p:sp>
      <p:sp>
        <p:nvSpPr>
          <p:cNvPr id="28" name="Text Placeholder 27"/>
          <p:cNvSpPr>
            <a:spLocks noGrp="1"/>
          </p:cNvSpPr>
          <p:nvPr>
            <p:ph type="body" sz="quarter" idx="13"/>
          </p:nvPr>
        </p:nvSpPr>
        <p:spPr>
          <a:xfrm>
            <a:off x="3196257" y="1604963"/>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3" name="Text Placeholder 27"/>
          <p:cNvSpPr>
            <a:spLocks noGrp="1"/>
          </p:cNvSpPr>
          <p:nvPr>
            <p:ph type="body" sz="quarter" idx="14"/>
          </p:nvPr>
        </p:nvSpPr>
        <p:spPr>
          <a:xfrm>
            <a:off x="3196257" y="2010050"/>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6" name="Text Placeholder 27"/>
          <p:cNvSpPr>
            <a:spLocks noGrp="1"/>
          </p:cNvSpPr>
          <p:nvPr>
            <p:ph type="body" sz="quarter" idx="15"/>
          </p:nvPr>
        </p:nvSpPr>
        <p:spPr>
          <a:xfrm>
            <a:off x="3196257" y="2415137"/>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9" name="Text Placeholder 27"/>
          <p:cNvSpPr>
            <a:spLocks noGrp="1"/>
          </p:cNvSpPr>
          <p:nvPr>
            <p:ph type="body" sz="quarter" idx="16"/>
          </p:nvPr>
        </p:nvSpPr>
        <p:spPr>
          <a:xfrm>
            <a:off x="3196257" y="2820224"/>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2" name="Text Placeholder 27"/>
          <p:cNvSpPr>
            <a:spLocks noGrp="1"/>
          </p:cNvSpPr>
          <p:nvPr>
            <p:ph type="body" sz="quarter" idx="17"/>
          </p:nvPr>
        </p:nvSpPr>
        <p:spPr>
          <a:xfrm>
            <a:off x="3196257" y="3225311"/>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5" name="Text Placeholder 27"/>
          <p:cNvSpPr>
            <a:spLocks noGrp="1"/>
          </p:cNvSpPr>
          <p:nvPr>
            <p:ph type="body" sz="quarter" idx="18"/>
          </p:nvPr>
        </p:nvSpPr>
        <p:spPr>
          <a:xfrm>
            <a:off x="3196257" y="3630398"/>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8" name="Text Placeholder 27"/>
          <p:cNvSpPr>
            <a:spLocks noGrp="1"/>
          </p:cNvSpPr>
          <p:nvPr>
            <p:ph type="body" sz="quarter" idx="19"/>
          </p:nvPr>
        </p:nvSpPr>
        <p:spPr>
          <a:xfrm>
            <a:off x="3196257" y="4035485"/>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1" name="Text Placeholder 27"/>
          <p:cNvSpPr>
            <a:spLocks noGrp="1"/>
          </p:cNvSpPr>
          <p:nvPr>
            <p:ph type="body" sz="quarter" idx="20"/>
          </p:nvPr>
        </p:nvSpPr>
        <p:spPr>
          <a:xfrm>
            <a:off x="3196257" y="4440572"/>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4" name="Text Placeholder 27"/>
          <p:cNvSpPr>
            <a:spLocks noGrp="1"/>
          </p:cNvSpPr>
          <p:nvPr>
            <p:ph type="body" sz="quarter" idx="21"/>
          </p:nvPr>
        </p:nvSpPr>
        <p:spPr>
          <a:xfrm>
            <a:off x="3196257" y="4845659"/>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7" name="Text Placeholder 27"/>
          <p:cNvSpPr>
            <a:spLocks noGrp="1"/>
          </p:cNvSpPr>
          <p:nvPr>
            <p:ph type="body" sz="quarter" idx="22"/>
          </p:nvPr>
        </p:nvSpPr>
        <p:spPr>
          <a:xfrm>
            <a:off x="3196257" y="5250746"/>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90" name="Text Placeholder 27"/>
          <p:cNvSpPr>
            <a:spLocks noGrp="1"/>
          </p:cNvSpPr>
          <p:nvPr>
            <p:ph type="body" sz="quarter" idx="23"/>
          </p:nvPr>
        </p:nvSpPr>
        <p:spPr>
          <a:xfrm>
            <a:off x="3196257" y="5655833"/>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93" name="Text Placeholder 27"/>
          <p:cNvSpPr>
            <a:spLocks noGrp="1"/>
          </p:cNvSpPr>
          <p:nvPr>
            <p:ph type="body" sz="quarter" idx="24"/>
          </p:nvPr>
        </p:nvSpPr>
        <p:spPr>
          <a:xfrm>
            <a:off x="3196257" y="6060918"/>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2" name="TextBox 81"/>
          <p:cNvSpPr txBox="1"/>
          <p:nvPr userDrawn="1"/>
        </p:nvSpPr>
        <p:spPr>
          <a:xfrm>
            <a:off x="2214857" y="2716272"/>
            <a:ext cx="1344317" cy="338554"/>
          </a:xfrm>
          <a:prstGeom prst="rect">
            <a:avLst/>
          </a:prstGeom>
          <a:noFill/>
        </p:spPr>
        <p:txBody>
          <a:bodyPr wrap="square" rtlCol="0" anchor="ctr">
            <a:spAutoFit/>
          </a:bodyPr>
          <a:lstStyle/>
          <a:p>
            <a:pPr algn="r" fontAlgn="base"/>
            <a:r>
              <a:rPr lang="en-US" sz="1600" b="1" dirty="0">
                <a:solidFill>
                  <a:schemeClr val="bg1"/>
                </a:solidFill>
                <a:latin typeface="+mj-lt"/>
                <a:ea typeface="Open Sans" panose="020B0606030504020204" pitchFamily="34" charset="0"/>
                <a:cs typeface="Open Sans" panose="020B0606030504020204" pitchFamily="34" charset="0"/>
              </a:rPr>
              <a:t>01</a:t>
            </a:r>
          </a:p>
        </p:txBody>
      </p:sp>
      <p:sp>
        <p:nvSpPr>
          <p:cNvPr id="23"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3" name="Picture 2">
            <a:extLst>
              <a:ext uri="{FF2B5EF4-FFF2-40B4-BE49-F238E27FC236}">
                <a16:creationId xmlns:a16="http://schemas.microsoft.com/office/drawing/2014/main" id="{B100176E-CEC2-70DC-C086-2D881B34126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254342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fade">
                                      <p:cBhvr>
                                        <p:cTn id="7" dur="500"/>
                                        <p:tgtEl>
                                          <p:spTgt spid="2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3">
                                            <p:txEl>
                                              <p:pRg st="0" end="0"/>
                                            </p:txEl>
                                          </p:spTgt>
                                        </p:tgtEl>
                                        <p:attrNameLst>
                                          <p:attrName>style.visibility</p:attrName>
                                        </p:attrNameLst>
                                      </p:cBhvr>
                                      <p:to>
                                        <p:strVal val="visible"/>
                                      </p:to>
                                    </p:set>
                                    <p:animEffect transition="in" filter="fade">
                                      <p:cBhvr>
                                        <p:cTn id="10" dur="500"/>
                                        <p:tgtEl>
                                          <p:spTgt spid="63">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6">
                                            <p:txEl>
                                              <p:pRg st="0" end="0"/>
                                            </p:txEl>
                                          </p:spTgt>
                                        </p:tgtEl>
                                        <p:attrNameLst>
                                          <p:attrName>style.visibility</p:attrName>
                                        </p:attrNameLst>
                                      </p:cBhvr>
                                      <p:to>
                                        <p:strVal val="visible"/>
                                      </p:to>
                                    </p:set>
                                    <p:animEffect transition="in" filter="fade">
                                      <p:cBhvr>
                                        <p:cTn id="13" dur="500"/>
                                        <p:tgtEl>
                                          <p:spTgt spid="66">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9">
                                            <p:txEl>
                                              <p:pRg st="0" end="0"/>
                                            </p:txEl>
                                          </p:spTgt>
                                        </p:tgtEl>
                                        <p:attrNameLst>
                                          <p:attrName>style.visibility</p:attrName>
                                        </p:attrNameLst>
                                      </p:cBhvr>
                                      <p:to>
                                        <p:strVal val="visible"/>
                                      </p:to>
                                    </p:set>
                                    <p:animEffect transition="in" filter="fade">
                                      <p:cBhvr>
                                        <p:cTn id="16" dur="500"/>
                                        <p:tgtEl>
                                          <p:spTgt spid="69">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2">
                                            <p:txEl>
                                              <p:pRg st="0" end="0"/>
                                            </p:txEl>
                                          </p:spTgt>
                                        </p:tgtEl>
                                        <p:attrNameLst>
                                          <p:attrName>style.visibility</p:attrName>
                                        </p:attrNameLst>
                                      </p:cBhvr>
                                      <p:to>
                                        <p:strVal val="visible"/>
                                      </p:to>
                                    </p:set>
                                    <p:animEffect transition="in" filter="fade">
                                      <p:cBhvr>
                                        <p:cTn id="19" dur="500"/>
                                        <p:tgtEl>
                                          <p:spTgt spid="72">
                                            <p:txEl>
                                              <p:pRg st="0" end="0"/>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5">
                                            <p:txEl>
                                              <p:pRg st="0" end="0"/>
                                            </p:txEl>
                                          </p:spTgt>
                                        </p:tgtEl>
                                        <p:attrNameLst>
                                          <p:attrName>style.visibility</p:attrName>
                                        </p:attrNameLst>
                                      </p:cBhvr>
                                      <p:to>
                                        <p:strVal val="visible"/>
                                      </p:to>
                                    </p:set>
                                    <p:animEffect transition="in" filter="fade">
                                      <p:cBhvr>
                                        <p:cTn id="22" dur="500"/>
                                        <p:tgtEl>
                                          <p:spTgt spid="75">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8">
                                            <p:txEl>
                                              <p:pRg st="0" end="0"/>
                                            </p:txEl>
                                          </p:spTgt>
                                        </p:tgtEl>
                                        <p:attrNameLst>
                                          <p:attrName>style.visibility</p:attrName>
                                        </p:attrNameLst>
                                      </p:cBhvr>
                                      <p:to>
                                        <p:strVal val="visible"/>
                                      </p:to>
                                    </p:set>
                                    <p:animEffect transition="in" filter="fade">
                                      <p:cBhvr>
                                        <p:cTn id="25" dur="500"/>
                                        <p:tgtEl>
                                          <p:spTgt spid="78">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1">
                                            <p:txEl>
                                              <p:pRg st="0" end="0"/>
                                            </p:txEl>
                                          </p:spTgt>
                                        </p:tgtEl>
                                        <p:attrNameLst>
                                          <p:attrName>style.visibility</p:attrName>
                                        </p:attrNameLst>
                                      </p:cBhvr>
                                      <p:to>
                                        <p:strVal val="visible"/>
                                      </p:to>
                                    </p:set>
                                    <p:animEffect transition="in" filter="fade">
                                      <p:cBhvr>
                                        <p:cTn id="28" dur="500"/>
                                        <p:tgtEl>
                                          <p:spTgt spid="81">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4">
                                            <p:txEl>
                                              <p:pRg st="0" end="0"/>
                                            </p:txEl>
                                          </p:spTgt>
                                        </p:tgtEl>
                                        <p:attrNameLst>
                                          <p:attrName>style.visibility</p:attrName>
                                        </p:attrNameLst>
                                      </p:cBhvr>
                                      <p:to>
                                        <p:strVal val="visible"/>
                                      </p:to>
                                    </p:set>
                                    <p:animEffect transition="in" filter="fade">
                                      <p:cBhvr>
                                        <p:cTn id="31" dur="500"/>
                                        <p:tgtEl>
                                          <p:spTgt spid="84">
                                            <p:txEl>
                                              <p:pRg st="0" end="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7">
                                            <p:txEl>
                                              <p:pRg st="0" end="0"/>
                                            </p:txEl>
                                          </p:spTgt>
                                        </p:tgtEl>
                                        <p:attrNameLst>
                                          <p:attrName>style.visibility</p:attrName>
                                        </p:attrNameLst>
                                      </p:cBhvr>
                                      <p:to>
                                        <p:strVal val="visible"/>
                                      </p:to>
                                    </p:set>
                                    <p:animEffect transition="in" filter="fade">
                                      <p:cBhvr>
                                        <p:cTn id="34" dur="500"/>
                                        <p:tgtEl>
                                          <p:spTgt spid="87">
                                            <p:txEl>
                                              <p:pRg st="0" end="0"/>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90">
                                            <p:txEl>
                                              <p:pRg st="0" end="0"/>
                                            </p:txEl>
                                          </p:spTgt>
                                        </p:tgtEl>
                                        <p:attrNameLst>
                                          <p:attrName>style.visibility</p:attrName>
                                        </p:attrNameLst>
                                      </p:cBhvr>
                                      <p:to>
                                        <p:strVal val="visible"/>
                                      </p:to>
                                    </p:set>
                                    <p:animEffect transition="in" filter="fade">
                                      <p:cBhvr>
                                        <p:cTn id="37" dur="500"/>
                                        <p:tgtEl>
                                          <p:spTgt spid="90">
                                            <p:txEl>
                                              <p:pRg st="0" end="0"/>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3">
                                            <p:txEl>
                                              <p:pRg st="0" end="0"/>
                                            </p:txEl>
                                          </p:spTgt>
                                        </p:tgtEl>
                                        <p:attrNameLst>
                                          <p:attrName>style.visibility</p:attrName>
                                        </p:attrNameLst>
                                      </p:cBhvr>
                                      <p:to>
                                        <p:strVal val="visible"/>
                                      </p:to>
                                    </p:set>
                                    <p:animEffect transition="in" filter="fade">
                                      <p:cBhvr>
                                        <p:cTn id="40" dur="500"/>
                                        <p:tgtEl>
                                          <p:spTgt spid="9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uild="allAtOnce">
        <p:tmplLst>
          <p:tmpl lvl="1">
            <p:tnLst>
              <p:par>
                <p:cTn presetID="10" presetClass="entr" presetSubtype="0"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63" grpId="0" build="allAtOnce">
        <p:tmplLst>
          <p:tmpl lvl="1">
            <p:tnLst>
              <p:par>
                <p:cTn presetID="10" presetClass="entr" presetSubtype="0" fill="hold" nodeType="withEffect">
                  <p:stCondLst>
                    <p:cond delay="0"/>
                  </p:stCondLst>
                  <p:childTnLst>
                    <p:set>
                      <p:cBhvr>
                        <p:cTn dur="1" fill="hold">
                          <p:stCondLst>
                            <p:cond delay="0"/>
                          </p:stCondLst>
                        </p:cTn>
                        <p:tgtEl>
                          <p:spTgt spid="63"/>
                        </p:tgtEl>
                        <p:attrNameLst>
                          <p:attrName>style.visibility</p:attrName>
                        </p:attrNameLst>
                      </p:cBhvr>
                      <p:to>
                        <p:strVal val="visible"/>
                      </p:to>
                    </p:set>
                    <p:animEffect transition="in" filter="fade">
                      <p:cBhvr>
                        <p:cTn dur="500"/>
                        <p:tgtEl>
                          <p:spTgt spid="63"/>
                        </p:tgtEl>
                      </p:cBhvr>
                    </p:animEffect>
                  </p:childTnLst>
                </p:cTn>
              </p:par>
            </p:tnLst>
          </p:tmpl>
        </p:tmplLst>
      </p:bldP>
      <p:bldP spid="66" grpId="0" build="allAtOnce">
        <p:tmplLst>
          <p:tmpl lvl="1">
            <p:tnLst>
              <p:par>
                <p:cTn presetID="10" presetClass="entr" presetSubtype="0" fill="hold" nodeType="withEffect">
                  <p:stCondLst>
                    <p:cond delay="0"/>
                  </p:stCondLst>
                  <p:childTnLst>
                    <p:set>
                      <p:cBhvr>
                        <p:cTn dur="1" fill="hold">
                          <p:stCondLst>
                            <p:cond delay="0"/>
                          </p:stCondLst>
                        </p:cTn>
                        <p:tgtEl>
                          <p:spTgt spid="66"/>
                        </p:tgtEl>
                        <p:attrNameLst>
                          <p:attrName>style.visibility</p:attrName>
                        </p:attrNameLst>
                      </p:cBhvr>
                      <p:to>
                        <p:strVal val="visible"/>
                      </p:to>
                    </p:set>
                    <p:animEffect transition="in" filter="fade">
                      <p:cBhvr>
                        <p:cTn dur="500"/>
                        <p:tgtEl>
                          <p:spTgt spid="66"/>
                        </p:tgtEl>
                      </p:cBhvr>
                    </p:animEffect>
                  </p:childTnLst>
                </p:cTn>
              </p:par>
            </p:tnLst>
          </p:tmpl>
        </p:tmplLst>
      </p:bldP>
      <p:bldP spid="69" grpId="0" build="allAtOnce">
        <p:tmplLst>
          <p:tmpl lvl="1">
            <p:tnLst>
              <p:par>
                <p:cTn presetID="10" presetClass="entr" presetSubtype="0" fill="hold" nodeType="withEffect">
                  <p:stCondLst>
                    <p:cond delay="0"/>
                  </p:stCondLst>
                  <p:childTnLst>
                    <p:set>
                      <p:cBhvr>
                        <p:cTn dur="1" fill="hold">
                          <p:stCondLst>
                            <p:cond delay="0"/>
                          </p:stCondLst>
                        </p:cTn>
                        <p:tgtEl>
                          <p:spTgt spid="69"/>
                        </p:tgtEl>
                        <p:attrNameLst>
                          <p:attrName>style.visibility</p:attrName>
                        </p:attrNameLst>
                      </p:cBhvr>
                      <p:to>
                        <p:strVal val="visible"/>
                      </p:to>
                    </p:set>
                    <p:animEffect transition="in" filter="fade">
                      <p:cBhvr>
                        <p:cTn dur="500"/>
                        <p:tgtEl>
                          <p:spTgt spid="69"/>
                        </p:tgtEl>
                      </p:cBhvr>
                    </p:animEffect>
                  </p:childTnLst>
                </p:cTn>
              </p:par>
            </p:tnLst>
          </p:tmpl>
        </p:tmplLst>
      </p:bldP>
      <p:bldP spid="72" grpId="0" build="allAtOnce">
        <p:tmplLst>
          <p:tmpl lvl="1">
            <p:tnLst>
              <p:par>
                <p:cTn presetID="10" presetClass="entr" presetSubtype="0" fill="hold" nodeType="withEffect">
                  <p:stCondLst>
                    <p:cond delay="0"/>
                  </p:stCondLst>
                  <p:childTnLst>
                    <p:set>
                      <p:cBhvr>
                        <p:cTn dur="1" fill="hold">
                          <p:stCondLst>
                            <p:cond delay="0"/>
                          </p:stCondLst>
                        </p:cTn>
                        <p:tgtEl>
                          <p:spTgt spid="72"/>
                        </p:tgtEl>
                        <p:attrNameLst>
                          <p:attrName>style.visibility</p:attrName>
                        </p:attrNameLst>
                      </p:cBhvr>
                      <p:to>
                        <p:strVal val="visible"/>
                      </p:to>
                    </p:set>
                    <p:animEffect transition="in" filter="fade">
                      <p:cBhvr>
                        <p:cTn dur="500"/>
                        <p:tgtEl>
                          <p:spTgt spid="72"/>
                        </p:tgtEl>
                      </p:cBhvr>
                    </p:animEffect>
                  </p:childTnLst>
                </p:cTn>
              </p:par>
            </p:tnLst>
          </p:tmpl>
        </p:tmplLst>
      </p:bldP>
      <p:bldP spid="75" grpId="0" build="allAtOnce">
        <p:tmplLst>
          <p:tmpl lvl="1">
            <p:tnLst>
              <p:par>
                <p:cTn presetID="10" presetClass="entr" presetSubtype="0" fill="hold" nodeType="withEffect">
                  <p:stCondLst>
                    <p:cond delay="0"/>
                  </p:stCondLst>
                  <p:childTnLst>
                    <p:set>
                      <p:cBhvr>
                        <p:cTn dur="1" fill="hold">
                          <p:stCondLst>
                            <p:cond delay="0"/>
                          </p:stCondLst>
                        </p:cTn>
                        <p:tgtEl>
                          <p:spTgt spid="75"/>
                        </p:tgtEl>
                        <p:attrNameLst>
                          <p:attrName>style.visibility</p:attrName>
                        </p:attrNameLst>
                      </p:cBhvr>
                      <p:to>
                        <p:strVal val="visible"/>
                      </p:to>
                    </p:set>
                    <p:animEffect transition="in" filter="fade">
                      <p:cBhvr>
                        <p:cTn dur="500"/>
                        <p:tgtEl>
                          <p:spTgt spid="75"/>
                        </p:tgtEl>
                      </p:cBhvr>
                    </p:animEffect>
                  </p:childTnLst>
                </p:cTn>
              </p:par>
            </p:tnLst>
          </p:tmpl>
        </p:tmplLst>
      </p:bldP>
      <p:bldP spid="78" grpId="0" build="allAtOnce">
        <p:tmplLst>
          <p:tmpl lvl="1">
            <p:tnLst>
              <p:par>
                <p:cTn presetID="10" presetClass="entr" presetSubtype="0" fill="hold" nodeType="withEffect">
                  <p:stCondLst>
                    <p:cond delay="0"/>
                  </p:stCondLst>
                  <p:childTnLst>
                    <p:set>
                      <p:cBhvr>
                        <p:cTn dur="1" fill="hold">
                          <p:stCondLst>
                            <p:cond delay="0"/>
                          </p:stCondLst>
                        </p:cTn>
                        <p:tgtEl>
                          <p:spTgt spid="78"/>
                        </p:tgtEl>
                        <p:attrNameLst>
                          <p:attrName>style.visibility</p:attrName>
                        </p:attrNameLst>
                      </p:cBhvr>
                      <p:to>
                        <p:strVal val="visible"/>
                      </p:to>
                    </p:set>
                    <p:animEffect transition="in" filter="fade">
                      <p:cBhvr>
                        <p:cTn dur="500"/>
                        <p:tgtEl>
                          <p:spTgt spid="78"/>
                        </p:tgtEl>
                      </p:cBhvr>
                    </p:animEffect>
                  </p:childTnLst>
                </p:cTn>
              </p:par>
            </p:tnLst>
          </p:tmpl>
        </p:tmplLst>
      </p:bldP>
      <p:bldP spid="81" grpId="0" build="allAtOnce">
        <p:tmplLst>
          <p:tmpl lvl="1">
            <p:tnLst>
              <p:par>
                <p:cTn presetID="10" presetClass="entr" presetSubtype="0" fill="hold" nodeType="withEffect">
                  <p:stCondLst>
                    <p:cond delay="0"/>
                  </p:stCondLst>
                  <p:childTnLst>
                    <p:set>
                      <p:cBhvr>
                        <p:cTn dur="1" fill="hold">
                          <p:stCondLst>
                            <p:cond delay="0"/>
                          </p:stCondLst>
                        </p:cTn>
                        <p:tgtEl>
                          <p:spTgt spid="81"/>
                        </p:tgtEl>
                        <p:attrNameLst>
                          <p:attrName>style.visibility</p:attrName>
                        </p:attrNameLst>
                      </p:cBhvr>
                      <p:to>
                        <p:strVal val="visible"/>
                      </p:to>
                    </p:set>
                    <p:animEffect transition="in" filter="fade">
                      <p:cBhvr>
                        <p:cTn dur="500"/>
                        <p:tgtEl>
                          <p:spTgt spid="81"/>
                        </p:tgtEl>
                      </p:cBhvr>
                    </p:animEffect>
                  </p:childTnLst>
                </p:cTn>
              </p:par>
            </p:tnLst>
          </p:tmpl>
        </p:tmplLst>
      </p:bldP>
      <p:bldP spid="84" grpId="0" build="allAtOnce">
        <p:tmplLst>
          <p:tmpl lvl="1">
            <p:tnLst>
              <p:par>
                <p:cTn presetID="10" presetClass="entr" presetSubtype="0" fill="hold" nodeType="withEffect">
                  <p:stCondLst>
                    <p:cond delay="0"/>
                  </p:stCondLst>
                  <p:childTnLst>
                    <p:set>
                      <p:cBhvr>
                        <p:cTn dur="1" fill="hold">
                          <p:stCondLst>
                            <p:cond delay="0"/>
                          </p:stCondLst>
                        </p:cTn>
                        <p:tgtEl>
                          <p:spTgt spid="84"/>
                        </p:tgtEl>
                        <p:attrNameLst>
                          <p:attrName>style.visibility</p:attrName>
                        </p:attrNameLst>
                      </p:cBhvr>
                      <p:to>
                        <p:strVal val="visible"/>
                      </p:to>
                    </p:set>
                    <p:animEffect transition="in" filter="fade">
                      <p:cBhvr>
                        <p:cTn dur="500"/>
                        <p:tgtEl>
                          <p:spTgt spid="84"/>
                        </p:tgtEl>
                      </p:cBhvr>
                    </p:animEffect>
                  </p:childTnLst>
                </p:cTn>
              </p:par>
            </p:tnLst>
          </p:tmpl>
        </p:tmplLst>
      </p:bldP>
      <p:bldP spid="87" grpId="0" build="allAtOnce">
        <p:tmplLst>
          <p:tmpl lvl="1">
            <p:tnLst>
              <p:par>
                <p:cTn presetID="10" presetClass="entr" presetSubtype="0" fill="hold" nodeType="withEffect">
                  <p:stCondLst>
                    <p:cond delay="0"/>
                  </p:stCondLst>
                  <p:childTnLst>
                    <p:set>
                      <p:cBhvr>
                        <p:cTn dur="1" fill="hold">
                          <p:stCondLst>
                            <p:cond delay="0"/>
                          </p:stCondLst>
                        </p:cTn>
                        <p:tgtEl>
                          <p:spTgt spid="87"/>
                        </p:tgtEl>
                        <p:attrNameLst>
                          <p:attrName>style.visibility</p:attrName>
                        </p:attrNameLst>
                      </p:cBhvr>
                      <p:to>
                        <p:strVal val="visible"/>
                      </p:to>
                    </p:set>
                    <p:animEffect transition="in" filter="fade">
                      <p:cBhvr>
                        <p:cTn dur="500"/>
                        <p:tgtEl>
                          <p:spTgt spid="87"/>
                        </p:tgtEl>
                      </p:cBhvr>
                    </p:animEffect>
                  </p:childTnLst>
                </p:cTn>
              </p:par>
            </p:tnLst>
          </p:tmpl>
        </p:tmplLst>
      </p:bldP>
      <p:bldP spid="90" grpId="0" build="allAtOnce">
        <p:tmplLst>
          <p:tmpl lvl="1">
            <p:tnLst>
              <p:par>
                <p:cTn presetID="10" presetClass="entr" presetSubtype="0" fill="hold" nodeType="withEffect">
                  <p:stCondLst>
                    <p:cond delay="0"/>
                  </p:stCondLst>
                  <p:childTnLst>
                    <p:set>
                      <p:cBhvr>
                        <p:cTn dur="1" fill="hold">
                          <p:stCondLst>
                            <p:cond delay="0"/>
                          </p:stCondLst>
                        </p:cTn>
                        <p:tgtEl>
                          <p:spTgt spid="90"/>
                        </p:tgtEl>
                        <p:attrNameLst>
                          <p:attrName>style.visibility</p:attrName>
                        </p:attrNameLst>
                      </p:cBhvr>
                      <p:to>
                        <p:strVal val="visible"/>
                      </p:to>
                    </p:set>
                    <p:animEffect transition="in" filter="fade">
                      <p:cBhvr>
                        <p:cTn dur="500"/>
                        <p:tgtEl>
                          <p:spTgt spid="90"/>
                        </p:tgtEl>
                      </p:cBhvr>
                    </p:animEffect>
                  </p:childTnLst>
                </p:cTn>
              </p:par>
            </p:tnLst>
          </p:tmpl>
        </p:tmplLst>
      </p:bldP>
      <p:bldP spid="93" grpId="0" build="allAtOnce">
        <p:tmplLst>
          <p:tmpl lvl="1">
            <p:tnLst>
              <p:par>
                <p:cTn presetID="10" presetClass="entr" presetSubtype="0" fill="hold" nodeType="withEffect">
                  <p:stCondLst>
                    <p:cond delay="0"/>
                  </p:stCondLst>
                  <p:childTnLst>
                    <p:set>
                      <p:cBhvr>
                        <p:cTn dur="1" fill="hold">
                          <p:stCondLst>
                            <p:cond delay="0"/>
                          </p:stCondLst>
                        </p:cTn>
                        <p:tgtEl>
                          <p:spTgt spid="93"/>
                        </p:tgtEl>
                        <p:attrNameLst>
                          <p:attrName>style.visibility</p:attrName>
                        </p:attrNameLst>
                      </p:cBhvr>
                      <p:to>
                        <p:strVal val="visible"/>
                      </p:to>
                    </p:set>
                    <p:animEffect transition="in" filter="fade">
                      <p:cBhvr>
                        <p:cTn dur="500"/>
                        <p:tgtEl>
                          <p:spTgt spid="93"/>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3/4/2026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29243560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sp>
        <p:nvSpPr>
          <p:cNvPr id="10" name="Picture Placeholder 9"/>
          <p:cNvSpPr>
            <a:spLocks noGrp="1"/>
          </p:cNvSpPr>
          <p:nvPr>
            <p:ph type="pic" sz="quarter" idx="13"/>
          </p:nvPr>
        </p:nvSpPr>
        <p:spPr>
          <a:xfrm>
            <a:off x="7489825" y="0"/>
            <a:ext cx="4702175" cy="6858000"/>
          </a:xfrm>
        </p:spPr>
        <p:txBody>
          <a:bodyPr/>
          <a:lstStyle/>
          <a:p>
            <a:r>
              <a:rPr lang="en-US"/>
              <a:t>Click icon to add picture</a:t>
            </a:r>
          </a:p>
        </p:txBody>
      </p:sp>
      <p:sp>
        <p:nvSpPr>
          <p:cNvPr id="2" name="Title 1"/>
          <p:cNvSpPr>
            <a:spLocks noGrp="1"/>
          </p:cNvSpPr>
          <p:nvPr>
            <p:ph type="title" hasCustomPrompt="1"/>
          </p:nvPr>
        </p:nvSpPr>
        <p:spPr>
          <a:xfrm>
            <a:off x="838200" y="475918"/>
            <a:ext cx="6115756" cy="666261"/>
          </a:xfrm>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3/4/2026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379341413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Date Placeholder 3"/>
          <p:cNvSpPr>
            <a:spLocks noGrp="1"/>
          </p:cNvSpPr>
          <p:nvPr>
            <p:ph type="dt" sz="half" idx="10"/>
          </p:nvPr>
        </p:nvSpPr>
        <p:spPr>
          <a:xfrm>
            <a:off x="1126155" y="6372408"/>
            <a:ext cx="1875631" cy="365125"/>
          </a:xfrm>
          <a:prstGeom prst="rect">
            <a:avLst/>
          </a:prstGeom>
        </p:spPr>
        <p:txBody>
          <a:bodyPr/>
          <a:lstStyle/>
          <a:p>
            <a:fld id="{F2A58179-A128-427D-87DD-C6A55F04E0A8}" type="datetime1">
              <a:rPr lang="en-US" smtClean="0"/>
              <a:t>3/4/2026</a:t>
            </a:fld>
            <a:endParaRPr lang="en-US"/>
          </a:p>
        </p:txBody>
      </p:sp>
      <p:sp>
        <p:nvSpPr>
          <p:cNvPr id="5" name="Footer Placeholder 4"/>
          <p:cNvSpPr>
            <a:spLocks noGrp="1"/>
          </p:cNvSpPr>
          <p:nvPr>
            <p:ph type="ftr" sz="quarter" idx="11"/>
          </p:nvPr>
        </p:nvSpPr>
        <p:spPr>
          <a:xfrm>
            <a:off x="4250035" y="6367630"/>
            <a:ext cx="3691931"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0BE4EC83-A869-464E-AE9F-881796FB085E}" type="slidenum">
              <a:rPr lang="en-US" smtClean="0"/>
              <a:t>‹#›</a:t>
            </a:fld>
            <a:endParaRPr lang="en-US"/>
          </a:p>
        </p:txBody>
      </p:sp>
      <p:sp>
        <p:nvSpPr>
          <p:cNvPr id="7" name="Title 6"/>
          <p:cNvSpPr>
            <a:spLocks noGrp="1"/>
          </p:cNvSpPr>
          <p:nvPr>
            <p:ph type="title" hasCustomPrompt="1"/>
          </p:nvPr>
        </p:nvSpPr>
        <p:spPr/>
        <p:txBody>
          <a:bodyPr/>
          <a:lstStyle/>
          <a:p>
            <a:r>
              <a:rPr lang="ar-EG" dirty="0"/>
              <a:t>اضغط لتغيير العنوان</a:t>
            </a:r>
            <a:endParaRPr lang="en-US" dirty="0"/>
          </a:p>
        </p:txBody>
      </p:sp>
    </p:spTree>
    <p:extLst>
      <p:ext uri="{BB962C8B-B14F-4D97-AF65-F5344CB8AC3E}">
        <p14:creationId xmlns:p14="http://schemas.microsoft.com/office/powerpoint/2010/main" val="132083401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pic>
        <p:nvPicPr>
          <p:cNvPr id="6" name="Picture 5" descr="A purple and white rectangle&#10;&#10;Description automatically generated">
            <a:extLst>
              <a:ext uri="{FF2B5EF4-FFF2-40B4-BE49-F238E27FC236}">
                <a16:creationId xmlns:a16="http://schemas.microsoft.com/office/drawing/2014/main" id="{5D8E7D26-4E4F-35D7-4CE8-4428C2B6C8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hasCustomPrompt="1"/>
          </p:nvPr>
        </p:nvSpPr>
        <p:spPr>
          <a:xfrm>
            <a:off x="5928634" y="3925452"/>
            <a:ext cx="5615666" cy="641639"/>
          </a:xfrm>
          <a:noFill/>
        </p:spPr>
        <p:txBody>
          <a:bodyPr lIns="0" rIns="0" anchor="t" anchorCtr="0">
            <a:noAutofit/>
          </a:bodyPr>
          <a:lstStyle>
            <a:lvl1pPr algn="r">
              <a:defRPr sz="3600">
                <a:solidFill>
                  <a:schemeClr val="bg1"/>
                </a:solidFill>
                <a:latin typeface="Sakkal Majalla" panose="02000000000000000000" pitchFamily="2" charset="-78"/>
                <a:cs typeface="Sakkal Majalla" panose="02000000000000000000" pitchFamily="2" charset="-78"/>
              </a:defRPr>
            </a:lvl1pPr>
          </a:lstStyle>
          <a:p>
            <a:r>
              <a:rPr lang="ar-EG" dirty="0"/>
              <a:t>اضغط لتغيير العنوان</a:t>
            </a:r>
            <a:endParaRPr lang="en-US" dirty="0"/>
          </a:p>
        </p:txBody>
      </p:sp>
      <p:sp>
        <p:nvSpPr>
          <p:cNvPr id="9" name="Text Placeholder 3"/>
          <p:cNvSpPr>
            <a:spLocks noGrp="1"/>
          </p:cNvSpPr>
          <p:nvPr>
            <p:ph type="body" sz="quarter" idx="12"/>
          </p:nvPr>
        </p:nvSpPr>
        <p:spPr>
          <a:xfrm>
            <a:off x="7292975" y="7016661"/>
            <a:ext cx="4251325" cy="865187"/>
          </a:xfrm>
        </p:spPr>
        <p:txBody>
          <a:bodyPr>
            <a:normAutofit/>
          </a:bodyPr>
          <a:lstStyle>
            <a:lvl1pPr marL="0" indent="0" algn="ctr">
              <a:buNone/>
              <a:defRPr sz="1600">
                <a:solidFill>
                  <a:srgbClr val="E6E6E6"/>
                </a:solidFill>
              </a:defRPr>
            </a:lvl1pPr>
          </a:lstStyle>
          <a:p>
            <a:pPr lvl="0"/>
            <a:r>
              <a:rPr lang="en-US"/>
              <a:t>Click to edit Master text styles</a:t>
            </a:r>
          </a:p>
        </p:txBody>
      </p:sp>
      <p:sp>
        <p:nvSpPr>
          <p:cNvPr id="18" name="Text Placeholder 4"/>
          <p:cNvSpPr>
            <a:spLocks noGrp="1"/>
          </p:cNvSpPr>
          <p:nvPr>
            <p:ph type="body" sz="quarter" idx="14" hasCustomPrompt="1"/>
          </p:nvPr>
        </p:nvSpPr>
        <p:spPr>
          <a:xfrm>
            <a:off x="9601626" y="2343256"/>
            <a:ext cx="1942674" cy="1181919"/>
          </a:xfrm>
          <a:noFill/>
        </p:spPr>
        <p:txBody>
          <a:bodyPr lIns="0" tIns="0" bIns="0" anchor="ctr" anchorCtr="0">
            <a:noAutofit/>
          </a:bodyPr>
          <a:lstStyle>
            <a:lvl1pPr marL="0" indent="0" algn="ctr">
              <a:buNone/>
              <a:defRPr sz="8800" b="1">
                <a:ln w="19050">
                  <a:solidFill>
                    <a:schemeClr val="accent1"/>
                  </a:solidFill>
                </a:ln>
                <a:solidFill>
                  <a:schemeClr val="accent1"/>
                </a:solidFill>
                <a:latin typeface="Arial" panose="020B0604020202020204" pitchFamily="34" charset="0"/>
                <a:cs typeface="Arial" panose="020B0604020202020204" pitchFamily="34" charset="0"/>
              </a:defRPr>
            </a:lvl1pPr>
          </a:lstStyle>
          <a:p>
            <a:pPr lvl="0"/>
            <a:r>
              <a:rPr lang="ar-EG" dirty="0"/>
              <a:t>#</a:t>
            </a:r>
            <a:endParaRPr lang="en-US" dirty="0"/>
          </a:p>
        </p:txBody>
      </p:sp>
    </p:spTree>
    <p:extLst>
      <p:ext uri="{BB962C8B-B14F-4D97-AF65-F5344CB8AC3E}">
        <p14:creationId xmlns:p14="http://schemas.microsoft.com/office/powerpoint/2010/main" val="3162891222"/>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hf sldNum="0" hdr="0" ftr="0" dt="0"/>
  <p:extLst>
    <p:ext uri="{DCECCB84-F9BA-43D5-87BE-67443E8EF086}">
      <p15:sldGuideLst xmlns:p15="http://schemas.microsoft.com/office/powerpoint/2012/main">
        <p15:guide id="1" pos="7272" userDrawn="1">
          <p15:clr>
            <a:srgbClr val="FBAE40"/>
          </p15:clr>
        </p15:guide>
        <p15:guide id="2" pos="6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Pictures with caption">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3/4/2026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7" name="Picture Placeholder 6"/>
          <p:cNvSpPr>
            <a:spLocks noGrp="1"/>
          </p:cNvSpPr>
          <p:nvPr>
            <p:ph type="pic" sz="quarter" idx="13" hasCustomPrompt="1"/>
          </p:nvPr>
        </p:nvSpPr>
        <p:spPr>
          <a:xfrm>
            <a:off x="6197600" y="1447799"/>
            <a:ext cx="5156200" cy="3037381"/>
          </a:xfrm>
        </p:spPr>
        <p:txBody>
          <a:bodyPr/>
          <a:lstStyle/>
          <a:p>
            <a:r>
              <a:rPr lang="ar-EG" dirty="0"/>
              <a:t>اضغط على الأيقونة لإضافة صورة</a:t>
            </a:r>
            <a:endParaRPr lang="en-US" dirty="0"/>
          </a:p>
        </p:txBody>
      </p:sp>
      <p:sp>
        <p:nvSpPr>
          <p:cNvPr id="16" name="Text Placeholder 15"/>
          <p:cNvSpPr>
            <a:spLocks noGrp="1"/>
          </p:cNvSpPr>
          <p:nvPr>
            <p:ph type="body" sz="quarter" idx="14" hasCustomPrompt="1"/>
          </p:nvPr>
        </p:nvSpPr>
        <p:spPr>
          <a:xfrm>
            <a:off x="61976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7" name="Text Placeholder 15"/>
          <p:cNvSpPr>
            <a:spLocks noGrp="1"/>
          </p:cNvSpPr>
          <p:nvPr>
            <p:ph type="body" sz="quarter" idx="15" hasCustomPrompt="1"/>
          </p:nvPr>
        </p:nvSpPr>
        <p:spPr>
          <a:xfrm>
            <a:off x="8382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p>
        </p:txBody>
      </p:sp>
      <p:sp>
        <p:nvSpPr>
          <p:cNvPr id="18" name="Text Placeholder 15"/>
          <p:cNvSpPr>
            <a:spLocks noGrp="1"/>
          </p:cNvSpPr>
          <p:nvPr>
            <p:ph type="body" sz="quarter" idx="16" hasCustomPrompt="1"/>
          </p:nvPr>
        </p:nvSpPr>
        <p:spPr>
          <a:xfrm>
            <a:off x="61976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10" name="Text Placeholder 15"/>
          <p:cNvSpPr>
            <a:spLocks noGrp="1"/>
          </p:cNvSpPr>
          <p:nvPr>
            <p:ph type="body" sz="quarter" idx="17" hasCustomPrompt="1"/>
          </p:nvPr>
        </p:nvSpPr>
        <p:spPr>
          <a:xfrm>
            <a:off x="8382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1" name="Picture Placeholder 6"/>
          <p:cNvSpPr>
            <a:spLocks noGrp="1"/>
          </p:cNvSpPr>
          <p:nvPr>
            <p:ph type="pic" sz="quarter" idx="18" hasCustomPrompt="1"/>
          </p:nvPr>
        </p:nvSpPr>
        <p:spPr>
          <a:xfrm>
            <a:off x="838200" y="1447799"/>
            <a:ext cx="5156200" cy="3037381"/>
          </a:xfrm>
        </p:spPr>
        <p:txBody>
          <a:bodyPr/>
          <a:lstStyle/>
          <a:p>
            <a:r>
              <a:rPr lang="ar-EG" dirty="0"/>
              <a:t>اضغط على الأيقونة لإضافة صورة</a:t>
            </a:r>
            <a:endParaRPr lang="en-US" dirty="0"/>
          </a:p>
        </p:txBody>
      </p:sp>
      <p:cxnSp>
        <p:nvCxnSpPr>
          <p:cNvPr id="8" name="Straight Connector 7"/>
          <p:cNvCxnSpPr/>
          <p:nvPr userDrawn="1"/>
        </p:nvCxnSpPr>
        <p:spPr>
          <a:xfrm>
            <a:off x="8382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1976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8382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1976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523756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ntents with caption">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3/4/2026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61976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7" name="Text Placeholder 15"/>
          <p:cNvSpPr>
            <a:spLocks noGrp="1"/>
          </p:cNvSpPr>
          <p:nvPr>
            <p:ph type="body" sz="quarter" idx="15" hasCustomPrompt="1"/>
          </p:nvPr>
        </p:nvSpPr>
        <p:spPr>
          <a:xfrm>
            <a:off x="8382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p>
        </p:txBody>
      </p:sp>
      <p:sp>
        <p:nvSpPr>
          <p:cNvPr id="18" name="Text Placeholder 15"/>
          <p:cNvSpPr>
            <a:spLocks noGrp="1"/>
          </p:cNvSpPr>
          <p:nvPr>
            <p:ph type="body" sz="quarter" idx="16" hasCustomPrompt="1"/>
          </p:nvPr>
        </p:nvSpPr>
        <p:spPr>
          <a:xfrm>
            <a:off x="61976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10" name="Text Placeholder 15"/>
          <p:cNvSpPr>
            <a:spLocks noGrp="1"/>
          </p:cNvSpPr>
          <p:nvPr>
            <p:ph type="body" sz="quarter" idx="17" hasCustomPrompt="1"/>
          </p:nvPr>
        </p:nvSpPr>
        <p:spPr>
          <a:xfrm>
            <a:off x="8382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cxnSp>
        <p:nvCxnSpPr>
          <p:cNvPr id="8" name="Straight Connector 7"/>
          <p:cNvCxnSpPr/>
          <p:nvPr userDrawn="1"/>
        </p:nvCxnSpPr>
        <p:spPr>
          <a:xfrm>
            <a:off x="8382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1976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8382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1976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 name="Content Placeholder 8"/>
          <p:cNvSpPr>
            <a:spLocks noGrp="1"/>
          </p:cNvSpPr>
          <p:nvPr>
            <p:ph sz="quarter" idx="19" hasCustomPrompt="1"/>
          </p:nvPr>
        </p:nvSpPr>
        <p:spPr>
          <a:xfrm>
            <a:off x="6197600" y="1470188"/>
            <a:ext cx="5156200" cy="3063044"/>
          </a:xfrm>
        </p:spPr>
        <p:txBody>
          <a:bodyPr/>
          <a:lstStyle>
            <a:lvl1pPr>
              <a:defRPr baseline="0"/>
            </a:lvl1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
        <p:nvSpPr>
          <p:cNvPr id="21" name="Content Placeholder 8"/>
          <p:cNvSpPr>
            <a:spLocks noGrp="1"/>
          </p:cNvSpPr>
          <p:nvPr>
            <p:ph sz="quarter" idx="20" hasCustomPrompt="1"/>
          </p:nvPr>
        </p:nvSpPr>
        <p:spPr>
          <a:xfrm>
            <a:off x="838200" y="1470188"/>
            <a:ext cx="5156200" cy="3063044"/>
          </a:xfrm>
        </p:spPr>
        <p:txBody>
          <a:bodyPr/>
          <a:lstStyle>
            <a:lvl1pPr>
              <a:defRPr baseline="0"/>
            </a:lvl1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Tree>
    <p:extLst>
      <p:ext uri="{BB962C8B-B14F-4D97-AF65-F5344CB8AC3E}">
        <p14:creationId xmlns:p14="http://schemas.microsoft.com/office/powerpoint/2010/main" val="787946525"/>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Text with Titles">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3/4/2026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6096000" y="1454189"/>
            <a:ext cx="5257800" cy="469900"/>
          </a:xfrm>
          <a:solidFill>
            <a:schemeClr val="accent1"/>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7" name="Text Placeholder 6"/>
          <p:cNvSpPr>
            <a:spLocks noGrp="1"/>
          </p:cNvSpPr>
          <p:nvPr>
            <p:ph type="body" sz="quarter" idx="26" hasCustomPrompt="1"/>
          </p:nvPr>
        </p:nvSpPr>
        <p:spPr>
          <a:xfrm>
            <a:off x="6096000" y="1924089"/>
            <a:ext cx="5257800" cy="4160520"/>
          </a:xfrm>
          <a:solidFill>
            <a:schemeClr val="bg1">
              <a:lumMod val="95000"/>
            </a:schemeClr>
          </a:solidFill>
          <a:ln>
            <a:solidFill>
              <a:schemeClr val="bg1"/>
            </a:solidFill>
          </a:ln>
        </p:spPr>
        <p:txBody>
          <a:bodyPr lIns="182880" tIns="182880" rIns="182880">
            <a:normAutofit/>
          </a:bodyPr>
          <a:lstStyle>
            <a:lvl1pPr>
              <a:defRPr sz="1600">
                <a:solidFill>
                  <a:schemeClr val="tx1">
                    <a:lumMod val="75000"/>
                    <a:lumOff val="25000"/>
                  </a:schemeClr>
                </a:solidFill>
              </a:defRPr>
            </a:lvl1pPr>
            <a:lvl2pPr>
              <a:defRPr sz="1400">
                <a:solidFill>
                  <a:schemeClr val="tx1">
                    <a:lumMod val="75000"/>
                    <a:lumOff val="25000"/>
                  </a:schemeClr>
                </a:solidFill>
              </a:defRPr>
            </a:lvl2pPr>
            <a:lvl3pPr>
              <a:defRPr sz="1200">
                <a:solidFill>
                  <a:schemeClr val="tx1">
                    <a:lumMod val="75000"/>
                    <a:lumOff val="25000"/>
                  </a:schemeClr>
                </a:solidFill>
              </a:defRPr>
            </a:lvl3pPr>
            <a:lvl4pPr>
              <a:defRPr sz="1100">
                <a:solidFill>
                  <a:schemeClr val="tx1">
                    <a:lumMod val="75000"/>
                    <a:lumOff val="25000"/>
                  </a:schemeClr>
                </a:solidFill>
              </a:defRPr>
            </a:lvl4pPr>
            <a:lvl5pPr>
              <a:defRPr sz="1100">
                <a:solidFill>
                  <a:schemeClr val="tx1">
                    <a:lumMod val="75000"/>
                    <a:lumOff val="25000"/>
                  </a:schemeClr>
                </a:solidFill>
              </a:defRPr>
            </a:lvl5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
        <p:nvSpPr>
          <p:cNvPr id="22" name="Text Placeholder 15"/>
          <p:cNvSpPr>
            <a:spLocks noGrp="1"/>
          </p:cNvSpPr>
          <p:nvPr>
            <p:ph type="body" sz="quarter" idx="27" hasCustomPrompt="1"/>
          </p:nvPr>
        </p:nvSpPr>
        <p:spPr>
          <a:xfrm>
            <a:off x="838169" y="1454189"/>
            <a:ext cx="5257800" cy="469900"/>
          </a:xfrm>
          <a:solidFill>
            <a:schemeClr val="accent2"/>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3" name="Text Placeholder 6"/>
          <p:cNvSpPr>
            <a:spLocks noGrp="1"/>
          </p:cNvSpPr>
          <p:nvPr>
            <p:ph type="body" sz="quarter" idx="28" hasCustomPrompt="1"/>
          </p:nvPr>
        </p:nvSpPr>
        <p:spPr>
          <a:xfrm>
            <a:off x="838169" y="1924089"/>
            <a:ext cx="5257800" cy="4160520"/>
          </a:xfrm>
          <a:solidFill>
            <a:schemeClr val="bg1">
              <a:lumMod val="95000"/>
            </a:schemeClr>
          </a:solidFill>
          <a:ln>
            <a:solidFill>
              <a:schemeClr val="bg1"/>
            </a:solidFill>
          </a:ln>
        </p:spPr>
        <p:txBody>
          <a:bodyPr lIns="182880" tIns="182880" rIns="182880">
            <a:normAutofit/>
          </a:bodyPr>
          <a:lstStyle>
            <a:lvl1pPr>
              <a:defRPr sz="1600">
                <a:solidFill>
                  <a:schemeClr val="tx1">
                    <a:lumMod val="75000"/>
                    <a:lumOff val="25000"/>
                  </a:schemeClr>
                </a:solidFill>
              </a:defRPr>
            </a:lvl1pPr>
            <a:lvl2pPr>
              <a:defRPr sz="1400">
                <a:solidFill>
                  <a:schemeClr val="tx1">
                    <a:lumMod val="75000"/>
                    <a:lumOff val="25000"/>
                  </a:schemeClr>
                </a:solidFill>
              </a:defRPr>
            </a:lvl2pPr>
            <a:lvl3pPr>
              <a:defRPr sz="1200">
                <a:solidFill>
                  <a:schemeClr val="tx1">
                    <a:lumMod val="75000"/>
                    <a:lumOff val="25000"/>
                  </a:schemeClr>
                </a:solidFill>
              </a:defRPr>
            </a:lvl3pPr>
            <a:lvl4pPr>
              <a:defRPr sz="1100">
                <a:solidFill>
                  <a:schemeClr val="tx1">
                    <a:lumMod val="75000"/>
                    <a:lumOff val="25000"/>
                  </a:schemeClr>
                </a:solidFill>
              </a:defRPr>
            </a:lvl4pPr>
            <a:lvl5pPr>
              <a:defRPr sz="1100">
                <a:solidFill>
                  <a:schemeClr val="tx1">
                    <a:lumMod val="75000"/>
                    <a:lumOff val="25000"/>
                  </a:schemeClr>
                </a:solidFill>
              </a:defRPr>
            </a:lvl5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cxnSp>
        <p:nvCxnSpPr>
          <p:cNvPr id="10" name="Straight Connector 9"/>
          <p:cNvCxnSpPr/>
          <p:nvPr userDrawn="1"/>
        </p:nvCxnSpPr>
        <p:spPr>
          <a:xfrm>
            <a:off x="6095971" y="6096000"/>
            <a:ext cx="52578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flipV="1">
            <a:off x="838171" y="6095999"/>
            <a:ext cx="5257800" cy="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114524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Text with Titles">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3/4/2026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8719767" y="1465912"/>
            <a:ext cx="2624328" cy="469900"/>
          </a:xfrm>
          <a:solidFill>
            <a:schemeClr val="accent1"/>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7" name="Text Placeholder 6"/>
          <p:cNvSpPr>
            <a:spLocks noGrp="1"/>
          </p:cNvSpPr>
          <p:nvPr>
            <p:ph type="body" sz="quarter" idx="26" hasCustomPrompt="1"/>
          </p:nvPr>
        </p:nvSpPr>
        <p:spPr>
          <a:xfrm>
            <a:off x="8719767" y="1935163"/>
            <a:ext cx="2624328" cy="4160837"/>
          </a:xfrm>
          <a:solidFill>
            <a:schemeClr val="bg1">
              <a:lumMod val="95000"/>
            </a:schemeClr>
          </a:solidFill>
          <a:ln>
            <a:solidFill>
              <a:schemeClr val="bg1"/>
            </a:solidFill>
          </a:ln>
        </p:spPr>
        <p:txBody>
          <a:bodyPr tIns="91440" rIns="91440">
            <a:normAutofit/>
          </a:bodyPr>
          <a:lstStyle>
            <a:lvl1pPr marL="285750" indent="-285750">
              <a:lnSpc>
                <a:spcPct val="150000"/>
              </a:lnSpc>
              <a:buClr>
                <a:schemeClr val="accent1"/>
              </a:buClr>
              <a:buFont typeface="Arial" panose="020B0604020202020204" pitchFamily="34" charset="0"/>
              <a:buChar char="•"/>
              <a:defRPr sz="1600">
                <a:solidFill>
                  <a:schemeClr val="tx1">
                    <a:lumMod val="75000"/>
                    <a:lumOff val="25000"/>
                  </a:schemeClr>
                </a:solidFill>
              </a:defRPr>
            </a:lvl1pPr>
            <a:lvl2pPr marL="288925" indent="0">
              <a:buNone/>
              <a:defRPr sz="1200"/>
            </a:lvl2pPr>
            <a:lvl3pPr marL="571500" indent="0">
              <a:buNone/>
              <a:defRPr sz="1100"/>
            </a:lvl3pPr>
            <a:lvl4pPr marL="857250" indent="0">
              <a:buNone/>
              <a:defRPr sz="1050"/>
            </a:lvl4pPr>
            <a:lvl5pPr marL="1085850" indent="0">
              <a:buNone/>
              <a:defRPr sz="1050"/>
            </a:lvl5pPr>
          </a:lstStyle>
          <a:p>
            <a:pPr lvl="0"/>
            <a:r>
              <a:rPr lang="ar-EG" dirty="0"/>
              <a:t>تعديل النص</a:t>
            </a:r>
            <a:endParaRPr lang="en-US" dirty="0"/>
          </a:p>
        </p:txBody>
      </p:sp>
      <p:sp>
        <p:nvSpPr>
          <p:cNvPr id="22" name="Text Placeholder 15"/>
          <p:cNvSpPr>
            <a:spLocks noGrp="1"/>
          </p:cNvSpPr>
          <p:nvPr>
            <p:ph type="body" sz="quarter" idx="27" hasCustomPrompt="1"/>
          </p:nvPr>
        </p:nvSpPr>
        <p:spPr>
          <a:xfrm>
            <a:off x="6098798" y="1465912"/>
            <a:ext cx="2624328" cy="469900"/>
          </a:xfrm>
          <a:solidFill>
            <a:schemeClr val="accent2"/>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3" name="Text Placeholder 6"/>
          <p:cNvSpPr>
            <a:spLocks noGrp="1"/>
          </p:cNvSpPr>
          <p:nvPr>
            <p:ph type="body" sz="quarter" idx="28" hasCustomPrompt="1"/>
          </p:nvPr>
        </p:nvSpPr>
        <p:spPr>
          <a:xfrm>
            <a:off x="6098798" y="1935163"/>
            <a:ext cx="2624328" cy="4160837"/>
          </a:xfrm>
          <a:solidFill>
            <a:schemeClr val="bg1">
              <a:lumMod val="95000"/>
            </a:schemeClr>
          </a:solidFill>
          <a:ln>
            <a:solidFill>
              <a:schemeClr val="bg1"/>
            </a:solidFill>
          </a:ln>
        </p:spPr>
        <p:txBody>
          <a:bodyPr tIns="91440" rIns="91440">
            <a:normAutofit/>
          </a:bodyPr>
          <a:lstStyle>
            <a:lvl1pPr marL="285750" indent="-285750">
              <a:lnSpc>
                <a:spcPct val="150000"/>
              </a:lnSpc>
              <a:buClr>
                <a:schemeClr val="accent2"/>
              </a:buClr>
              <a:buFont typeface="Arial" panose="020B0604020202020204" pitchFamily="34" charset="0"/>
              <a:buChar char="•"/>
              <a:defRPr sz="1600">
                <a:solidFill>
                  <a:schemeClr val="tx1">
                    <a:lumMod val="75000"/>
                    <a:lumOff val="25000"/>
                  </a:schemeClr>
                </a:solidFill>
              </a:defRPr>
            </a:lvl1pPr>
            <a:lvl2pPr marL="288925" indent="0">
              <a:buNone/>
              <a:defRPr sz="1200"/>
            </a:lvl2pPr>
            <a:lvl3pPr marL="571500" indent="0">
              <a:buNone/>
              <a:defRPr sz="1100"/>
            </a:lvl3pPr>
            <a:lvl4pPr marL="857250" indent="0">
              <a:buNone/>
              <a:defRPr sz="1050"/>
            </a:lvl4pPr>
            <a:lvl5pPr marL="1085850" indent="0">
              <a:buNone/>
              <a:defRPr sz="1050"/>
            </a:lvl5pPr>
          </a:lstStyle>
          <a:p>
            <a:pPr lvl="0"/>
            <a:r>
              <a:rPr lang="ar-EG" dirty="0"/>
              <a:t>تعديل النص</a:t>
            </a:r>
            <a:endParaRPr lang="en-US" dirty="0"/>
          </a:p>
        </p:txBody>
      </p:sp>
      <p:sp>
        <p:nvSpPr>
          <p:cNvPr id="24" name="Text Placeholder 15"/>
          <p:cNvSpPr>
            <a:spLocks noGrp="1"/>
          </p:cNvSpPr>
          <p:nvPr>
            <p:ph type="body" sz="quarter" idx="29" hasCustomPrompt="1"/>
          </p:nvPr>
        </p:nvSpPr>
        <p:spPr>
          <a:xfrm>
            <a:off x="3477830" y="1465912"/>
            <a:ext cx="2624328" cy="469900"/>
          </a:xfrm>
          <a:solidFill>
            <a:schemeClr val="accent1"/>
          </a:solidFill>
          <a:ln>
            <a:solidFill>
              <a:schemeClr val="bg1"/>
            </a:solidFill>
          </a:ln>
        </p:spPr>
        <p:txBody>
          <a:bodyPr anchor="b" anchorCtr="0">
            <a:normAutofit/>
          </a:bodyPr>
          <a:lstStyle>
            <a:lvl1pPr marL="0" indent="0" algn="ctr" rtl="1">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5" name="Text Placeholder 6"/>
          <p:cNvSpPr>
            <a:spLocks noGrp="1"/>
          </p:cNvSpPr>
          <p:nvPr>
            <p:ph type="body" sz="quarter" idx="30" hasCustomPrompt="1"/>
          </p:nvPr>
        </p:nvSpPr>
        <p:spPr>
          <a:xfrm>
            <a:off x="3477830" y="1935163"/>
            <a:ext cx="2624328" cy="4160837"/>
          </a:xfrm>
          <a:solidFill>
            <a:schemeClr val="bg1">
              <a:lumMod val="95000"/>
            </a:schemeClr>
          </a:solidFill>
          <a:ln>
            <a:solidFill>
              <a:schemeClr val="bg1"/>
            </a:solidFill>
          </a:ln>
        </p:spPr>
        <p:txBody>
          <a:bodyPr tIns="91440" rIns="91440">
            <a:normAutofit/>
          </a:bodyPr>
          <a:lstStyle>
            <a:lvl1pPr marL="285750" indent="-285750" algn="r" rtl="1">
              <a:lnSpc>
                <a:spcPct val="150000"/>
              </a:lnSpc>
              <a:buClr>
                <a:schemeClr val="accent1"/>
              </a:buClr>
              <a:buFont typeface="Arial" panose="020B0604020202020204" pitchFamily="34" charset="0"/>
              <a:buChar char="•"/>
              <a:defRPr sz="1600">
                <a:solidFill>
                  <a:schemeClr val="tx1">
                    <a:lumMod val="75000"/>
                    <a:lumOff val="25000"/>
                  </a:schemeClr>
                </a:solidFill>
              </a:defRPr>
            </a:lvl1pPr>
            <a:lvl2pPr marL="288925" indent="0" algn="r" rtl="1">
              <a:buNone/>
              <a:defRPr sz="1200"/>
            </a:lvl2pPr>
            <a:lvl3pPr marL="571500" indent="0" algn="r" rtl="1">
              <a:buNone/>
              <a:defRPr sz="1100"/>
            </a:lvl3pPr>
            <a:lvl4pPr marL="857250" indent="0" algn="r" rtl="1">
              <a:buNone/>
              <a:defRPr sz="1050"/>
            </a:lvl4pPr>
            <a:lvl5pPr marL="1085850" indent="0" algn="r" rtl="1">
              <a:buNone/>
              <a:defRPr sz="1050"/>
            </a:lvl5pPr>
          </a:lstStyle>
          <a:p>
            <a:pPr lvl="0"/>
            <a:r>
              <a:rPr lang="ar-EG" dirty="0"/>
              <a:t>تعديل النص</a:t>
            </a:r>
            <a:endParaRPr lang="en-US" dirty="0"/>
          </a:p>
        </p:txBody>
      </p:sp>
      <p:sp>
        <p:nvSpPr>
          <p:cNvPr id="26" name="Text Placeholder 15"/>
          <p:cNvSpPr>
            <a:spLocks noGrp="1"/>
          </p:cNvSpPr>
          <p:nvPr>
            <p:ph type="body" sz="quarter" idx="31" hasCustomPrompt="1"/>
          </p:nvPr>
        </p:nvSpPr>
        <p:spPr>
          <a:xfrm>
            <a:off x="856862" y="1465912"/>
            <a:ext cx="2624328" cy="469900"/>
          </a:xfrm>
          <a:solidFill>
            <a:schemeClr val="accent2"/>
          </a:solidFill>
          <a:ln>
            <a:solidFill>
              <a:schemeClr val="bg1"/>
            </a:solidFill>
          </a:ln>
        </p:spPr>
        <p:txBody>
          <a:bodyPr anchor="b" anchorCtr="0">
            <a:normAutofit/>
          </a:bodyPr>
          <a:lstStyle>
            <a:lvl1pPr marL="0" indent="0" algn="ctr" rtl="1">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7" name="Text Placeholder 6"/>
          <p:cNvSpPr>
            <a:spLocks noGrp="1"/>
          </p:cNvSpPr>
          <p:nvPr>
            <p:ph type="body" sz="quarter" idx="32" hasCustomPrompt="1"/>
          </p:nvPr>
        </p:nvSpPr>
        <p:spPr>
          <a:xfrm>
            <a:off x="856862" y="1935163"/>
            <a:ext cx="2624328" cy="4160837"/>
          </a:xfrm>
          <a:solidFill>
            <a:schemeClr val="bg1">
              <a:lumMod val="95000"/>
            </a:schemeClr>
          </a:solidFill>
          <a:ln>
            <a:solidFill>
              <a:schemeClr val="bg1"/>
            </a:solidFill>
          </a:ln>
        </p:spPr>
        <p:txBody>
          <a:bodyPr tIns="91440" rIns="91440">
            <a:normAutofit/>
          </a:bodyPr>
          <a:lstStyle>
            <a:lvl1pPr marL="285750" indent="-285750" algn="r" rtl="1">
              <a:lnSpc>
                <a:spcPct val="150000"/>
              </a:lnSpc>
              <a:buClr>
                <a:schemeClr val="accent2"/>
              </a:buClr>
              <a:buFont typeface="Arial" panose="020B0604020202020204" pitchFamily="34" charset="0"/>
              <a:buChar char="•"/>
              <a:defRPr sz="1600">
                <a:solidFill>
                  <a:schemeClr val="tx1">
                    <a:lumMod val="75000"/>
                    <a:lumOff val="25000"/>
                  </a:schemeClr>
                </a:solidFill>
              </a:defRPr>
            </a:lvl1pPr>
            <a:lvl2pPr marL="288925" indent="0" algn="r" rtl="1">
              <a:buNone/>
              <a:defRPr sz="1200"/>
            </a:lvl2pPr>
            <a:lvl3pPr marL="571500" indent="0" algn="r" rtl="1">
              <a:buNone/>
              <a:defRPr sz="1100"/>
            </a:lvl3pPr>
            <a:lvl4pPr marL="857250" indent="0" algn="r" rtl="1">
              <a:buNone/>
              <a:defRPr sz="1050"/>
            </a:lvl4pPr>
            <a:lvl5pPr marL="1085850" indent="0" algn="r" rtl="1">
              <a:buNone/>
              <a:defRPr sz="1050"/>
            </a:lvl5pPr>
          </a:lstStyle>
          <a:p>
            <a:pPr lvl="0"/>
            <a:r>
              <a:rPr lang="ar-EG" dirty="0"/>
              <a:t>تعديل النص</a:t>
            </a:r>
            <a:endParaRPr lang="en-US" dirty="0"/>
          </a:p>
        </p:txBody>
      </p:sp>
      <p:cxnSp>
        <p:nvCxnSpPr>
          <p:cNvPr id="10" name="Straight Connector 9"/>
          <p:cNvCxnSpPr/>
          <p:nvPr userDrawn="1"/>
        </p:nvCxnSpPr>
        <p:spPr>
          <a:xfrm>
            <a:off x="10060884" y="6096000"/>
            <a:ext cx="2743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7323667" y="6096000"/>
            <a:ext cx="27432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a:off x="4586451" y="6096000"/>
            <a:ext cx="2743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a:xfrm>
            <a:off x="1849235" y="6096000"/>
            <a:ext cx="27432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504501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text with titles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3/4/2026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6" name="Text Placeholder 8"/>
          <p:cNvSpPr>
            <a:spLocks noGrp="1"/>
          </p:cNvSpPr>
          <p:nvPr>
            <p:ph type="body" sz="quarter" idx="13" hasCustomPrompt="1"/>
          </p:nvPr>
        </p:nvSpPr>
        <p:spPr>
          <a:xfrm>
            <a:off x="845580" y="1652041"/>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7" name="Text Placeholder 8"/>
          <p:cNvSpPr>
            <a:spLocks noGrp="1"/>
          </p:cNvSpPr>
          <p:nvPr>
            <p:ph type="body" sz="quarter" idx="14" hasCustomPrompt="1"/>
          </p:nvPr>
        </p:nvSpPr>
        <p:spPr>
          <a:xfrm>
            <a:off x="845580" y="2203539"/>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8" name="Straight Connector 7"/>
          <p:cNvCxnSpPr/>
          <p:nvPr userDrawn="1"/>
        </p:nvCxnSpPr>
        <p:spPr>
          <a:xfrm>
            <a:off x="5396768" y="2053486"/>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ext Placeholder 8"/>
          <p:cNvSpPr>
            <a:spLocks noGrp="1"/>
          </p:cNvSpPr>
          <p:nvPr>
            <p:ph type="body" sz="quarter" idx="15" hasCustomPrompt="1"/>
          </p:nvPr>
        </p:nvSpPr>
        <p:spPr>
          <a:xfrm>
            <a:off x="6253972" y="1652041"/>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endParaRPr lang="en-US" dirty="0"/>
          </a:p>
        </p:txBody>
      </p:sp>
      <p:sp>
        <p:nvSpPr>
          <p:cNvPr id="10" name="Text Placeholder 8"/>
          <p:cNvSpPr>
            <a:spLocks noGrp="1"/>
          </p:cNvSpPr>
          <p:nvPr>
            <p:ph type="body" sz="quarter" idx="16" hasCustomPrompt="1"/>
          </p:nvPr>
        </p:nvSpPr>
        <p:spPr>
          <a:xfrm>
            <a:off x="6253972" y="2203539"/>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1" name="Straight Connector 10"/>
          <p:cNvCxnSpPr/>
          <p:nvPr userDrawn="1"/>
        </p:nvCxnSpPr>
        <p:spPr>
          <a:xfrm>
            <a:off x="10805160" y="2053486"/>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Text Placeholder 8"/>
          <p:cNvSpPr>
            <a:spLocks noGrp="1"/>
          </p:cNvSpPr>
          <p:nvPr>
            <p:ph type="body" sz="quarter" idx="17" hasCustomPrompt="1"/>
          </p:nvPr>
        </p:nvSpPr>
        <p:spPr>
          <a:xfrm>
            <a:off x="845580" y="3841385"/>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13" name="Text Placeholder 8"/>
          <p:cNvSpPr>
            <a:spLocks noGrp="1"/>
          </p:cNvSpPr>
          <p:nvPr>
            <p:ph type="body" sz="quarter" idx="18" hasCustomPrompt="1"/>
          </p:nvPr>
        </p:nvSpPr>
        <p:spPr>
          <a:xfrm>
            <a:off x="845580" y="4392883"/>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4" name="Straight Connector 13"/>
          <p:cNvCxnSpPr/>
          <p:nvPr userDrawn="1"/>
        </p:nvCxnSpPr>
        <p:spPr>
          <a:xfrm>
            <a:off x="5396768" y="4242830"/>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5" name="Text Placeholder 8"/>
          <p:cNvSpPr>
            <a:spLocks noGrp="1"/>
          </p:cNvSpPr>
          <p:nvPr>
            <p:ph type="body" sz="quarter" idx="19" hasCustomPrompt="1"/>
          </p:nvPr>
        </p:nvSpPr>
        <p:spPr>
          <a:xfrm>
            <a:off x="6253972" y="3841385"/>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16" name="Text Placeholder 8"/>
          <p:cNvSpPr>
            <a:spLocks noGrp="1"/>
          </p:cNvSpPr>
          <p:nvPr>
            <p:ph type="body" sz="quarter" idx="20" hasCustomPrompt="1"/>
          </p:nvPr>
        </p:nvSpPr>
        <p:spPr>
          <a:xfrm>
            <a:off x="6253972" y="4392883"/>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7" name="Straight Connector 16"/>
          <p:cNvCxnSpPr/>
          <p:nvPr userDrawn="1"/>
        </p:nvCxnSpPr>
        <p:spPr>
          <a:xfrm>
            <a:off x="10805160" y="4242830"/>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842545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3/4/2026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8" name="Text Placeholder 6"/>
          <p:cNvSpPr>
            <a:spLocks noGrp="1"/>
          </p:cNvSpPr>
          <p:nvPr>
            <p:ph type="body" sz="quarter" idx="14" hasCustomPrompt="1"/>
          </p:nvPr>
        </p:nvSpPr>
        <p:spPr>
          <a:xfrm>
            <a:off x="850190" y="1447800"/>
            <a:ext cx="3092223" cy="4638675"/>
          </a:xfrm>
        </p:spPr>
        <p:txBody>
          <a:bodyPr>
            <a:normAutofit/>
          </a:bodyPr>
          <a:lstStyle>
            <a:lvl1pPr marL="0" indent="0">
              <a:buNone/>
              <a:defRPr sz="2000" baseline="0"/>
            </a:lvl1pPr>
          </a:lstStyle>
          <a:p>
            <a:pPr lvl="0"/>
            <a:r>
              <a:rPr lang="ar-EG" dirty="0"/>
              <a:t>تعديل النص</a:t>
            </a:r>
            <a:endParaRPr lang="en-US" dirty="0"/>
          </a:p>
        </p:txBody>
      </p:sp>
      <p:sp>
        <p:nvSpPr>
          <p:cNvPr id="11" name="Text Placeholder 6"/>
          <p:cNvSpPr>
            <a:spLocks noGrp="1"/>
          </p:cNvSpPr>
          <p:nvPr>
            <p:ph type="body" sz="quarter" idx="15" hasCustomPrompt="1"/>
          </p:nvPr>
        </p:nvSpPr>
        <p:spPr>
          <a:xfrm>
            <a:off x="8261577" y="1447800"/>
            <a:ext cx="3092223" cy="4638675"/>
          </a:xfrm>
        </p:spPr>
        <p:txBody>
          <a:bodyPr>
            <a:normAutofit/>
          </a:bodyPr>
          <a:lstStyle>
            <a:lvl1pPr marL="0" indent="0">
              <a:buNone/>
              <a:defRPr sz="2000" baseline="0"/>
            </a:lvl1pPr>
          </a:lstStyle>
          <a:p>
            <a:pPr lvl="0"/>
            <a:r>
              <a:rPr lang="ar-EG" dirty="0"/>
              <a:t>تعديل النص</a:t>
            </a:r>
            <a:endParaRPr lang="en-US" dirty="0"/>
          </a:p>
        </p:txBody>
      </p:sp>
      <p:sp>
        <p:nvSpPr>
          <p:cNvPr id="12" name="Text Placeholder 6"/>
          <p:cNvSpPr>
            <a:spLocks noGrp="1"/>
          </p:cNvSpPr>
          <p:nvPr>
            <p:ph type="body" sz="quarter" idx="16" hasCustomPrompt="1"/>
          </p:nvPr>
        </p:nvSpPr>
        <p:spPr>
          <a:xfrm>
            <a:off x="4572870" y="1447800"/>
            <a:ext cx="3092223" cy="4638675"/>
          </a:xfrm>
        </p:spPr>
        <p:txBody>
          <a:bodyPr>
            <a:normAutofit/>
          </a:bodyPr>
          <a:lstStyle>
            <a:lvl1pPr marL="0" indent="0">
              <a:buNone/>
              <a:defRPr sz="2000" baseline="0"/>
            </a:lvl1pPr>
          </a:lstStyle>
          <a:p>
            <a:pPr lvl="0"/>
            <a:r>
              <a:rPr lang="ar-EG" dirty="0"/>
              <a:t>تعديل النص</a:t>
            </a:r>
            <a:endParaRPr lang="en-US" dirty="0"/>
          </a:p>
        </p:txBody>
      </p:sp>
    </p:spTree>
    <p:extLst>
      <p:ext uri="{BB962C8B-B14F-4D97-AF65-F5344CB8AC3E}">
        <p14:creationId xmlns:p14="http://schemas.microsoft.com/office/powerpoint/2010/main" val="299310269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3/4/2026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8" name="Text Placeholder 6"/>
          <p:cNvSpPr>
            <a:spLocks noGrp="1"/>
          </p:cNvSpPr>
          <p:nvPr>
            <p:ph type="body" sz="quarter" idx="14" hasCustomPrompt="1"/>
          </p:nvPr>
        </p:nvSpPr>
        <p:spPr>
          <a:xfrm>
            <a:off x="850190" y="1447800"/>
            <a:ext cx="4831419" cy="4638675"/>
          </a:xfrm>
        </p:spPr>
        <p:txBody>
          <a:bodyPr>
            <a:normAutofit/>
          </a:bodyPr>
          <a:lstStyle>
            <a:lvl1pPr marL="0" indent="0">
              <a:buNone/>
              <a:defRPr sz="2000" baseline="0"/>
            </a:lvl1pPr>
          </a:lstStyle>
          <a:p>
            <a:pPr lvl="0"/>
            <a:r>
              <a:rPr lang="ar-EG" dirty="0"/>
              <a:t>تعديل النص</a:t>
            </a:r>
            <a:endParaRPr lang="en-US" dirty="0"/>
          </a:p>
        </p:txBody>
      </p:sp>
      <p:sp>
        <p:nvSpPr>
          <p:cNvPr id="9" name="Text Placeholder 6"/>
          <p:cNvSpPr>
            <a:spLocks noGrp="1"/>
          </p:cNvSpPr>
          <p:nvPr>
            <p:ph type="body" sz="quarter" idx="15" hasCustomPrompt="1"/>
          </p:nvPr>
        </p:nvSpPr>
        <p:spPr>
          <a:xfrm>
            <a:off x="6522381" y="1447800"/>
            <a:ext cx="4831419" cy="4638675"/>
          </a:xfrm>
        </p:spPr>
        <p:txBody>
          <a:bodyPr>
            <a:normAutofit/>
          </a:bodyPr>
          <a:lstStyle>
            <a:lvl1pPr marL="0" indent="0">
              <a:buNone/>
              <a:defRPr sz="2000" baseline="0"/>
            </a:lvl1pPr>
          </a:lstStyle>
          <a:p>
            <a:pPr lvl="0"/>
            <a:r>
              <a:rPr lang="ar-EG" dirty="0"/>
              <a:t>تعديل النص</a:t>
            </a:r>
            <a:endParaRPr lang="en-US" dirty="0"/>
          </a:p>
        </p:txBody>
      </p:sp>
    </p:spTree>
    <p:extLst>
      <p:ext uri="{BB962C8B-B14F-4D97-AF65-F5344CB8AC3E}">
        <p14:creationId xmlns:p14="http://schemas.microsoft.com/office/powerpoint/2010/main" val="237914594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ortfolio/4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D07F32C4-027C-41E7-9CB9-C0506AA6389A}" type="datetime1">
              <a:rPr lang="en-US" smtClean="0"/>
              <a:t>3/4/2026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dirty="0"/>
          </a:p>
        </p:txBody>
      </p:sp>
      <p:sp>
        <p:nvSpPr>
          <p:cNvPr id="5" name="Slide Number Placeholder 4"/>
          <p:cNvSpPr>
            <a:spLocks noGrp="1"/>
          </p:cNvSpPr>
          <p:nvPr>
            <p:ph type="sldNum" sz="quarter" idx="12"/>
          </p:nvPr>
        </p:nvSpPr>
        <p:spPr/>
        <p:txBody>
          <a:bodyPr/>
          <a:lstStyle/>
          <a:p>
            <a:fld id="{46ED658E-7B78-4C3F-B2D4-66856F143B40}" type="slidenum">
              <a:rPr lang="en-US" smtClean="0"/>
              <a:pPr/>
              <a:t>‹#›</a:t>
            </a:fld>
            <a:endParaRPr lang="en-US"/>
          </a:p>
        </p:txBody>
      </p:sp>
      <p:sp>
        <p:nvSpPr>
          <p:cNvPr id="7" name="Picture Placeholder 10">
            <a:extLst>
              <a:ext uri="{FF2B5EF4-FFF2-40B4-BE49-F238E27FC236}">
                <a16:creationId xmlns:a16="http://schemas.microsoft.com/office/drawing/2014/main" id="{1ED86105-1558-4D32-B1A9-5F4D28811B51}"/>
              </a:ext>
            </a:extLst>
          </p:cNvPr>
          <p:cNvSpPr>
            <a:spLocks noGrp="1"/>
          </p:cNvSpPr>
          <p:nvPr>
            <p:ph type="pic" sz="quarter" idx="13" hasCustomPrompt="1"/>
          </p:nvPr>
        </p:nvSpPr>
        <p:spPr>
          <a:xfrm>
            <a:off x="853836"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8" name="Picture Placeholder 12">
            <a:extLst>
              <a:ext uri="{FF2B5EF4-FFF2-40B4-BE49-F238E27FC236}">
                <a16:creationId xmlns:a16="http://schemas.microsoft.com/office/drawing/2014/main" id="{AD11BF4A-2489-4211-84F8-479B8880D427}"/>
              </a:ext>
            </a:extLst>
          </p:cNvPr>
          <p:cNvSpPr>
            <a:spLocks noGrp="1"/>
          </p:cNvSpPr>
          <p:nvPr>
            <p:ph type="pic" sz="quarter" idx="15" hasCustomPrompt="1"/>
          </p:nvPr>
        </p:nvSpPr>
        <p:spPr>
          <a:xfrm>
            <a:off x="9179225" y="1547024"/>
            <a:ext cx="2175731"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9" name="Text Placeholder 21"/>
          <p:cNvSpPr>
            <a:spLocks noGrp="1"/>
          </p:cNvSpPr>
          <p:nvPr>
            <p:ph type="body" sz="quarter" idx="16" hasCustomPrompt="1"/>
          </p:nvPr>
        </p:nvSpPr>
        <p:spPr>
          <a:xfrm>
            <a:off x="846596" y="4793469"/>
            <a:ext cx="2207123" cy="368300"/>
          </a:xfrm>
        </p:spPr>
        <p:txBody>
          <a:bodyPr>
            <a:normAutofit/>
          </a:bodyPr>
          <a:lstStyle>
            <a:lvl1pPr marL="0" indent="0" algn="ctr">
              <a:buNone/>
              <a:defRPr sz="2000" b="1" baseline="0">
                <a:solidFill>
                  <a:schemeClr val="accent1"/>
                </a:solidFill>
              </a:defRPr>
            </a:lvl1pPr>
          </a:lstStyle>
          <a:p>
            <a:pPr lvl="0"/>
            <a:r>
              <a:rPr lang="ar-EG" dirty="0"/>
              <a:t>عنوان 4</a:t>
            </a:r>
            <a:endParaRPr lang="en-US" dirty="0"/>
          </a:p>
        </p:txBody>
      </p:sp>
      <p:sp>
        <p:nvSpPr>
          <p:cNvPr id="11" name="Text Placeholder 21"/>
          <p:cNvSpPr>
            <a:spLocks noGrp="1"/>
          </p:cNvSpPr>
          <p:nvPr>
            <p:ph type="body" sz="quarter" idx="18" hasCustomPrompt="1"/>
          </p:nvPr>
        </p:nvSpPr>
        <p:spPr>
          <a:xfrm>
            <a:off x="3644019" y="4793469"/>
            <a:ext cx="2192642" cy="368300"/>
          </a:xfrm>
        </p:spPr>
        <p:txBody>
          <a:bodyPr>
            <a:normAutofit/>
          </a:bodyPr>
          <a:lstStyle>
            <a:lvl1pPr marL="0" indent="0" algn="ctr">
              <a:buNone/>
              <a:defRPr sz="2000" b="1">
                <a:solidFill>
                  <a:schemeClr val="accent1"/>
                </a:solidFill>
              </a:defRPr>
            </a:lvl1pPr>
          </a:lstStyle>
          <a:p>
            <a:pPr lvl="0"/>
            <a:r>
              <a:rPr lang="ar-EG" dirty="0"/>
              <a:t>عنوان 3</a:t>
            </a:r>
            <a:endParaRPr lang="en-US" dirty="0"/>
          </a:p>
        </p:txBody>
      </p:sp>
      <p:sp>
        <p:nvSpPr>
          <p:cNvPr id="13" name="Text Placeholder 21"/>
          <p:cNvSpPr>
            <a:spLocks noGrp="1"/>
          </p:cNvSpPr>
          <p:nvPr>
            <p:ph type="body" sz="quarter" idx="20" hasCustomPrompt="1"/>
          </p:nvPr>
        </p:nvSpPr>
        <p:spPr>
          <a:xfrm>
            <a:off x="9179225" y="4793469"/>
            <a:ext cx="2175731" cy="368300"/>
          </a:xfrm>
        </p:spPr>
        <p:txBody>
          <a:bodyPr>
            <a:normAutofit/>
          </a:bodyPr>
          <a:lstStyle>
            <a:lvl1pPr marL="0" indent="0" algn="ctr">
              <a:buNone/>
              <a:defRPr sz="2000" b="1">
                <a:solidFill>
                  <a:schemeClr val="accent1"/>
                </a:solidFill>
              </a:defRPr>
            </a:lvl1pPr>
          </a:lstStyle>
          <a:p>
            <a:pPr lvl="0"/>
            <a:r>
              <a:rPr lang="ar-EG" dirty="0"/>
              <a:t>عنوان 1</a:t>
            </a:r>
            <a:endParaRPr lang="en-US" dirty="0"/>
          </a:p>
        </p:txBody>
      </p:sp>
      <p:sp>
        <p:nvSpPr>
          <p:cNvPr id="15" name="Picture Placeholder 10">
            <a:extLst>
              <a:ext uri="{FF2B5EF4-FFF2-40B4-BE49-F238E27FC236}">
                <a16:creationId xmlns:a16="http://schemas.microsoft.com/office/drawing/2014/main" id="{1ED86105-1558-4D32-B1A9-5F4D28811B51}"/>
              </a:ext>
            </a:extLst>
          </p:cNvPr>
          <p:cNvSpPr>
            <a:spLocks noGrp="1"/>
          </p:cNvSpPr>
          <p:nvPr>
            <p:ph type="pic" sz="quarter" idx="23" hasCustomPrompt="1"/>
          </p:nvPr>
        </p:nvSpPr>
        <p:spPr>
          <a:xfrm>
            <a:off x="3644019"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16" name="Picture Placeholder 10">
            <a:extLst>
              <a:ext uri="{FF2B5EF4-FFF2-40B4-BE49-F238E27FC236}">
                <a16:creationId xmlns:a16="http://schemas.microsoft.com/office/drawing/2014/main" id="{1ED86105-1558-4D32-B1A9-5F4D28811B51}"/>
              </a:ext>
            </a:extLst>
          </p:cNvPr>
          <p:cNvSpPr>
            <a:spLocks noGrp="1"/>
          </p:cNvSpPr>
          <p:nvPr>
            <p:ph type="pic" sz="quarter" idx="24" hasCustomPrompt="1"/>
          </p:nvPr>
        </p:nvSpPr>
        <p:spPr>
          <a:xfrm>
            <a:off x="6419301"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17" name="Text Placeholder 21"/>
          <p:cNvSpPr>
            <a:spLocks noGrp="1"/>
          </p:cNvSpPr>
          <p:nvPr>
            <p:ph type="body" sz="quarter" idx="25" hasCustomPrompt="1"/>
          </p:nvPr>
        </p:nvSpPr>
        <p:spPr>
          <a:xfrm>
            <a:off x="6418380" y="4793469"/>
            <a:ext cx="2194484" cy="368300"/>
          </a:xfrm>
        </p:spPr>
        <p:txBody>
          <a:bodyP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b="1">
                <a:solidFill>
                  <a:schemeClr val="accent1"/>
                </a:solidFill>
              </a:defRPr>
            </a:lvl1pPr>
          </a:lstStyle>
          <a:p>
            <a:pPr lvl="0"/>
            <a:r>
              <a:rPr lang="ar-EG" dirty="0"/>
              <a:t>عنوان 2</a:t>
            </a:r>
            <a:endParaRPr lang="en-US" dirty="0"/>
          </a:p>
        </p:txBody>
      </p:sp>
      <p:sp>
        <p:nvSpPr>
          <p:cNvPr id="20" name="Text Placeholder 19"/>
          <p:cNvSpPr>
            <a:spLocks noGrp="1"/>
          </p:cNvSpPr>
          <p:nvPr>
            <p:ph type="body" sz="quarter" idx="26" hasCustomPrompt="1"/>
          </p:nvPr>
        </p:nvSpPr>
        <p:spPr>
          <a:xfrm>
            <a:off x="846845" y="5161763"/>
            <a:ext cx="2206625" cy="728662"/>
          </a:xfrm>
        </p:spPr>
        <p:txBody>
          <a:bodyPr>
            <a:normAutofit/>
          </a:bodyPr>
          <a:lstStyle>
            <a:lvl1pPr marL="0" indent="0" algn="ctr">
              <a:buNone/>
              <a:defRPr sz="1600"/>
            </a:lvl1pPr>
          </a:lstStyle>
          <a:p>
            <a:pPr lvl="0"/>
            <a:r>
              <a:rPr lang="ar-EG" dirty="0"/>
              <a:t>تعديل النص</a:t>
            </a:r>
            <a:endParaRPr lang="en-US" dirty="0"/>
          </a:p>
        </p:txBody>
      </p:sp>
      <p:sp>
        <p:nvSpPr>
          <p:cNvPr id="21" name="Text Placeholder 19"/>
          <p:cNvSpPr>
            <a:spLocks noGrp="1"/>
          </p:cNvSpPr>
          <p:nvPr>
            <p:ph type="body" sz="quarter" idx="27" hasCustomPrompt="1"/>
          </p:nvPr>
        </p:nvSpPr>
        <p:spPr>
          <a:xfrm>
            <a:off x="3637028" y="5161763"/>
            <a:ext cx="2206625" cy="728662"/>
          </a:xfrm>
        </p:spPr>
        <p:txBody>
          <a:bodyPr>
            <a:normAutofit/>
          </a:bodyPr>
          <a:lstStyle>
            <a:lvl1pPr marL="0" indent="0" algn="ctr">
              <a:buNone/>
              <a:defRPr sz="1600"/>
            </a:lvl1pPr>
          </a:lstStyle>
          <a:p>
            <a:pPr lvl="0"/>
            <a:r>
              <a:rPr lang="ar-EG" dirty="0"/>
              <a:t>تعديل النص</a:t>
            </a:r>
            <a:endParaRPr lang="en-US" dirty="0"/>
          </a:p>
        </p:txBody>
      </p:sp>
      <p:sp>
        <p:nvSpPr>
          <p:cNvPr id="22" name="Text Placeholder 19"/>
          <p:cNvSpPr>
            <a:spLocks noGrp="1"/>
          </p:cNvSpPr>
          <p:nvPr>
            <p:ph type="body" sz="quarter" idx="28" hasCustomPrompt="1"/>
          </p:nvPr>
        </p:nvSpPr>
        <p:spPr>
          <a:xfrm>
            <a:off x="6421014" y="5161763"/>
            <a:ext cx="2189217" cy="728662"/>
          </a:xfrm>
        </p:spPr>
        <p:txBody>
          <a:bodyPr>
            <a:normAutofit/>
          </a:bodyPr>
          <a:lstStyle>
            <a:lvl1pPr marL="0" indent="0" algn="ctr">
              <a:buNone/>
              <a:defRPr sz="1600"/>
            </a:lvl1pPr>
          </a:lstStyle>
          <a:p>
            <a:pPr lvl="0"/>
            <a:r>
              <a:rPr lang="ar-EG" dirty="0"/>
              <a:t>تعديل النص</a:t>
            </a:r>
            <a:endParaRPr lang="en-US" dirty="0"/>
          </a:p>
        </p:txBody>
      </p:sp>
      <p:sp>
        <p:nvSpPr>
          <p:cNvPr id="23" name="Text Placeholder 19"/>
          <p:cNvSpPr>
            <a:spLocks noGrp="1"/>
          </p:cNvSpPr>
          <p:nvPr>
            <p:ph type="body" sz="quarter" idx="29" hasCustomPrompt="1"/>
          </p:nvPr>
        </p:nvSpPr>
        <p:spPr>
          <a:xfrm>
            <a:off x="9183408" y="5161763"/>
            <a:ext cx="2167364" cy="728662"/>
          </a:xfrm>
        </p:spPr>
        <p:txBody>
          <a:bodyPr>
            <a:normAutofit/>
          </a:bodyPr>
          <a:lstStyle>
            <a:lvl1pPr marL="0" indent="0" algn="ctr">
              <a:buNone/>
              <a:defRPr sz="1600"/>
            </a:lvl1pPr>
          </a:lstStyle>
          <a:p>
            <a:pPr lvl="0"/>
            <a:r>
              <a:rPr lang="ar-EG" dirty="0"/>
              <a:t>تعديل النص</a:t>
            </a:r>
            <a:endParaRPr lang="en-US" dirty="0"/>
          </a:p>
        </p:txBody>
      </p:sp>
      <p:sp>
        <p:nvSpPr>
          <p:cNvPr id="27" name="Rectangle 26"/>
          <p:cNvSpPr/>
          <p:nvPr userDrawn="1"/>
        </p:nvSpPr>
        <p:spPr>
          <a:xfrm>
            <a:off x="9809890"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8" name="Rectangle 27"/>
          <p:cNvSpPr/>
          <p:nvPr userDrawn="1"/>
        </p:nvSpPr>
        <p:spPr>
          <a:xfrm>
            <a:off x="7058422"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9" name="Rectangle 28"/>
          <p:cNvSpPr/>
          <p:nvPr userDrawn="1"/>
        </p:nvSpPr>
        <p:spPr>
          <a:xfrm>
            <a:off x="4283140"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0" name="Rectangle 29"/>
          <p:cNvSpPr/>
          <p:nvPr userDrawn="1"/>
        </p:nvSpPr>
        <p:spPr>
          <a:xfrm>
            <a:off x="1492957"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151455269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Content Placeholder 2"/>
          <p:cNvSpPr>
            <a:spLocks noGrp="1"/>
          </p:cNvSpPr>
          <p:nvPr>
            <p:ph sz="half" idx="1" hasCustomPrompt="1"/>
          </p:nvPr>
        </p:nvSpPr>
        <p:spPr>
          <a:xfrm>
            <a:off x="838200" y="1447801"/>
            <a:ext cx="5181600" cy="4648200"/>
          </a:xfrm>
        </p:spPr>
        <p:txBody>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Content Placeholder 3"/>
          <p:cNvSpPr>
            <a:spLocks noGrp="1"/>
          </p:cNvSpPr>
          <p:nvPr>
            <p:ph sz="half" idx="2" hasCustomPrompt="1"/>
          </p:nvPr>
        </p:nvSpPr>
        <p:spPr>
          <a:xfrm>
            <a:off x="6172200" y="1447801"/>
            <a:ext cx="5181600" cy="4648200"/>
          </a:xfrm>
        </p:spPr>
        <p:txBody>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35BB4A2A-1A89-4F2B-96A8-6DC5A8475B0F}" type="datetime1">
              <a:rPr lang="en-US" smtClean="0"/>
              <a:t>3/4/2026</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55377634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400233" y="6367630"/>
            <a:ext cx="3691931" cy="365125"/>
          </a:xfrm>
          <a:prstGeom prst="rect">
            <a:avLst/>
          </a:prstGeom>
        </p:spPr>
        <p:txBody>
          <a:bodyPr/>
          <a:lstStyle/>
          <a:p>
            <a:endParaRPr lang="en-US"/>
          </a:p>
        </p:txBody>
      </p:sp>
      <p:sp>
        <p:nvSpPr>
          <p:cNvPr id="4" name="Slide Number Placeholder 6"/>
          <p:cNvSpPr>
            <a:spLocks noGrp="1"/>
          </p:cNvSpPr>
          <p:nvPr>
            <p:ph type="sldNum" sz="quarter" idx="12"/>
          </p:nvPr>
        </p:nvSpPr>
        <p:spPr>
          <a:xfrm>
            <a:off x="621453" y="6390919"/>
            <a:ext cx="320040" cy="320040"/>
          </a:xfrm>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162529283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lank Absolute">
    <p:spTree>
      <p:nvGrpSpPr>
        <p:cNvPr id="1" name=""/>
        <p:cNvGrpSpPr/>
        <p:nvPr/>
      </p:nvGrpSpPr>
      <p:grpSpPr>
        <a:xfrm>
          <a:off x="0" y="0"/>
          <a:ext cx="0" cy="0"/>
          <a:chOff x="0" y="0"/>
          <a:chExt cx="0" cy="0"/>
        </a:xfrm>
      </p:grpSpPr>
    </p:spTree>
    <p:extLst>
      <p:ext uri="{BB962C8B-B14F-4D97-AF65-F5344CB8AC3E}">
        <p14:creationId xmlns:p14="http://schemas.microsoft.com/office/powerpoint/2010/main" val="83595862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28796" y="979084"/>
            <a:ext cx="3932237" cy="1078316"/>
          </a:xfrm>
        </p:spPr>
        <p:txBody>
          <a:bodyPr anchor="b"/>
          <a:lstStyle>
            <a:lvl1pPr algn="r">
              <a:defRPr sz="3200"/>
            </a:lvl1pPr>
          </a:lstStyle>
          <a:p>
            <a:r>
              <a:rPr lang="ar-EG" dirty="0"/>
              <a:t>اضغط لتغيير العنوان</a:t>
            </a:r>
            <a:endParaRPr lang="en-US" dirty="0"/>
          </a:p>
        </p:txBody>
      </p:sp>
      <p:sp>
        <p:nvSpPr>
          <p:cNvPr id="3" name="Content Placeholder 2"/>
          <p:cNvSpPr>
            <a:spLocks noGrp="1"/>
          </p:cNvSpPr>
          <p:nvPr>
            <p:ph idx="1" hasCustomPrompt="1"/>
          </p:nvPr>
        </p:nvSpPr>
        <p:spPr>
          <a:xfrm>
            <a:off x="838200"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Text Placeholder 3"/>
          <p:cNvSpPr>
            <a:spLocks noGrp="1"/>
          </p:cNvSpPr>
          <p:nvPr>
            <p:ph type="body" sz="half" idx="2" hasCustomPrompt="1"/>
          </p:nvPr>
        </p:nvSpPr>
        <p:spPr>
          <a:xfrm>
            <a:off x="7428796"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EG" dirty="0"/>
              <a:t>تعديل النص</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DD6CC213-28D1-4DA6-A99B-8EB8EB359378}" type="datetime1">
              <a:rPr lang="en-US" smtClean="0"/>
              <a:t>3/4/2026</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396704081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28852" y="1002415"/>
            <a:ext cx="3932237" cy="1010014"/>
          </a:xfrm>
        </p:spPr>
        <p:txBody>
          <a:bodyPr anchor="b" anchorCtr="0"/>
          <a:lstStyle>
            <a:lvl1pPr algn="r">
              <a:defRPr sz="3200"/>
            </a:lvl1pPr>
          </a:lstStyle>
          <a:p>
            <a:r>
              <a:rPr lang="ar-EG" dirty="0"/>
              <a:t>اضغط لتغيير العنوان</a:t>
            </a:r>
            <a:endParaRPr lang="en-US" dirty="0"/>
          </a:p>
        </p:txBody>
      </p:sp>
      <p:sp>
        <p:nvSpPr>
          <p:cNvPr id="3" name="Picture Placeholder 2"/>
          <p:cNvSpPr>
            <a:spLocks noGrp="1"/>
          </p:cNvSpPr>
          <p:nvPr>
            <p:ph type="pic" idx="1" hasCustomPrompt="1"/>
          </p:nvPr>
        </p:nvSpPr>
        <p:spPr>
          <a:xfrm>
            <a:off x="851806"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ar-EG" dirty="0"/>
              <a:t>اضغط على الأيقونة لإضافة صورة</a:t>
            </a:r>
            <a:endParaRPr lang="en-US" dirty="0"/>
          </a:p>
        </p:txBody>
      </p:sp>
      <p:sp>
        <p:nvSpPr>
          <p:cNvPr id="4" name="Text Placeholder 3"/>
          <p:cNvSpPr>
            <a:spLocks noGrp="1"/>
          </p:cNvSpPr>
          <p:nvPr>
            <p:ph type="body" sz="half" idx="2" hasCustomPrompt="1"/>
          </p:nvPr>
        </p:nvSpPr>
        <p:spPr>
          <a:xfrm>
            <a:off x="7428852" y="2057400"/>
            <a:ext cx="391724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EG" dirty="0"/>
              <a:t>تعديل النص</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DF371FAE-8BEF-45E3-BB4F-0DA630E7BA88}" type="datetime1">
              <a:rPr lang="en-US" smtClean="0"/>
              <a:t>3/4/2026</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286081628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bg1"/>
        </a:solidFill>
        <a:effectLst/>
      </p:bgPr>
    </p:bg>
    <p:spTree>
      <p:nvGrpSpPr>
        <p:cNvPr id="1" name=""/>
        <p:cNvGrpSpPr/>
        <p:nvPr/>
      </p:nvGrpSpPr>
      <p:grpSpPr>
        <a:xfrm>
          <a:off x="0" y="0"/>
          <a:ext cx="0" cy="0"/>
          <a:chOff x="0" y="0"/>
          <a:chExt cx="0" cy="0"/>
        </a:xfrm>
      </p:grpSpPr>
      <p:pic>
        <p:nvPicPr>
          <p:cNvPr id="17" name="Picture 16" descr="A blue square with white and blue text&#10;&#10;Description automatically generated">
            <a:extLst>
              <a:ext uri="{FF2B5EF4-FFF2-40B4-BE49-F238E27FC236}">
                <a16:creationId xmlns:a16="http://schemas.microsoft.com/office/drawing/2014/main" id="{06F6661A-8164-8ED8-2B47-BE906735650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5356160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extLst>
    <p:ext uri="{DCECCB84-F9BA-43D5-87BE-67443E8EF086}">
      <p15:sldGuideLst xmlns:p15="http://schemas.microsoft.com/office/powerpoint/2012/main">
        <p15:guide id="1" pos="5568">
          <p15:clr>
            <a:srgbClr val="FBAE40"/>
          </p15:clr>
        </p15:guide>
        <p15:guide id="2" pos="2112">
          <p15:clr>
            <a:srgbClr val="FBAE40"/>
          </p15:clr>
        </p15:guide>
        <p15:guide id="3" orient="horz" pos="1992" userDrawn="1">
          <p15:clr>
            <a:srgbClr val="FBAE40"/>
          </p15:clr>
        </p15:guide>
        <p15:guide id="4" orient="horz" pos="22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showMasterPhAnim="0" userDrawn="1">
  <p:cSld name="2_Agenda (big)">
    <p:spTree>
      <p:nvGrpSpPr>
        <p:cNvPr id="1" name=""/>
        <p:cNvGrpSpPr/>
        <p:nvPr/>
      </p:nvGrpSpPr>
      <p:grpSpPr>
        <a:xfrm>
          <a:off x="0" y="0"/>
          <a:ext cx="0" cy="0"/>
          <a:chOff x="0" y="0"/>
          <a:chExt cx="0" cy="0"/>
        </a:xfrm>
      </p:grpSpPr>
      <p:sp>
        <p:nvSpPr>
          <p:cNvPr id="53" name="Rectangle 52"/>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9422421" y="923909"/>
            <a:ext cx="2350478" cy="5010182"/>
          </a:xfrm>
        </p:spPr>
        <p:txBody>
          <a:bodyPr vert="horz" lIns="91440" tIns="45720" rIns="91440" bIns="45720" rtlCol="0" anchor="ctr" anchorCtr="0">
            <a:normAutofit/>
          </a:bodyPr>
          <a:lstStyle>
            <a:lvl1pPr>
              <a:defRPr lang="en-US" dirty="0">
                <a:ln>
                  <a:noFill/>
                </a:ln>
                <a:solidFill>
                  <a:schemeClr val="bg1"/>
                </a:solidFill>
              </a:defRPr>
            </a:lvl1pPr>
          </a:lstStyle>
          <a:p>
            <a:pPr marL="0" lvl="0"/>
            <a:r>
              <a:rPr lang="ar-EG" dirty="0"/>
              <a:t>جدول المحتويات</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3/4/2026</a:t>
            </a:fld>
            <a:endParaRPr lang="en-US"/>
          </a:p>
        </p:txBody>
      </p:sp>
      <p:sp>
        <p:nvSpPr>
          <p:cNvPr id="4"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29"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5" name="Picture 4">
            <a:extLst>
              <a:ext uri="{FF2B5EF4-FFF2-40B4-BE49-F238E27FC236}">
                <a16:creationId xmlns:a16="http://schemas.microsoft.com/office/drawing/2014/main" id="{4075B88D-BA01-1F9E-6243-DA286D73D28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86588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942982A0-0E12-0CD0-BD26-CCB3496D9500}"/>
              </a:ext>
            </a:extLst>
          </p:cNvPr>
          <p:cNvSpPr/>
          <p:nvPr userDrawn="1"/>
        </p:nvSpPr>
        <p:spPr>
          <a:xfrm>
            <a:off x="426720" y="377261"/>
            <a:ext cx="11338560" cy="576900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Freeform: Shape 32">
            <a:extLst>
              <a:ext uri="{FF2B5EF4-FFF2-40B4-BE49-F238E27FC236}">
                <a16:creationId xmlns:a16="http://schemas.microsoft.com/office/drawing/2014/main" id="{54EA71BE-3CCC-4CFA-DB3E-DFC159419FAF}"/>
              </a:ext>
            </a:extLst>
          </p:cNvPr>
          <p:cNvSpPr/>
          <p:nvPr userDrawn="1"/>
        </p:nvSpPr>
        <p:spPr>
          <a:xfrm rot="10800000" flipV="1">
            <a:off x="619123" y="216443"/>
            <a:ext cx="439704" cy="531176"/>
          </a:xfrm>
          <a:custGeom>
            <a:avLst/>
            <a:gdLst>
              <a:gd name="connsiteX0" fmla="*/ 0 w 439704"/>
              <a:gd name="connsiteY0" fmla="*/ 531176 h 531176"/>
              <a:gd name="connsiteX1" fmla="*/ 439704 w 439704"/>
              <a:gd name="connsiteY1" fmla="*/ 388308 h 531176"/>
              <a:gd name="connsiteX2" fmla="*/ 439704 w 439704"/>
              <a:gd name="connsiteY2" fmla="*/ 0 h 531176"/>
              <a:gd name="connsiteX3" fmla="*/ 0 w 439704"/>
              <a:gd name="connsiteY3" fmla="*/ 0 h 531176"/>
            </a:gdLst>
            <a:ahLst/>
            <a:cxnLst>
              <a:cxn ang="0">
                <a:pos x="connsiteX0" y="connsiteY0"/>
              </a:cxn>
              <a:cxn ang="0">
                <a:pos x="connsiteX1" y="connsiteY1"/>
              </a:cxn>
              <a:cxn ang="0">
                <a:pos x="connsiteX2" y="connsiteY2"/>
              </a:cxn>
              <a:cxn ang="0">
                <a:pos x="connsiteX3" y="connsiteY3"/>
              </a:cxn>
            </a:cxnLst>
            <a:rect l="l" t="t" r="r" b="b"/>
            <a:pathLst>
              <a:path w="439704" h="531176">
                <a:moveTo>
                  <a:pt x="0" y="531176"/>
                </a:moveTo>
                <a:lnTo>
                  <a:pt x="439704" y="388308"/>
                </a:lnTo>
                <a:lnTo>
                  <a:pt x="439704" y="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 name="Title Placeholder 1"/>
          <p:cNvSpPr>
            <a:spLocks noGrp="1"/>
          </p:cNvSpPr>
          <p:nvPr userDrawn="1">
            <p:ph type="title"/>
          </p:nvPr>
        </p:nvSpPr>
        <p:spPr>
          <a:xfrm>
            <a:off x="609601" y="561078"/>
            <a:ext cx="10972800" cy="666261"/>
          </a:xfrm>
          <a:prstGeom prst="rect">
            <a:avLst/>
          </a:prstGeom>
        </p:spPr>
        <p:txBody>
          <a:bodyPr vert="horz" lIns="91440" tIns="45720" rIns="0" bIns="45720" rtlCol="0" anchor="ctr" anchorCtr="0">
            <a:noAutofit/>
          </a:bodyPr>
          <a:lstStyle/>
          <a:p>
            <a:r>
              <a:rPr lang="ar-EG" dirty="0"/>
              <a:t>اضغط لتغيير العنوان</a:t>
            </a:r>
            <a:endParaRPr lang="en-US" dirty="0"/>
          </a:p>
        </p:txBody>
      </p:sp>
      <p:sp>
        <p:nvSpPr>
          <p:cNvPr id="3" name="Text Placeholder 2"/>
          <p:cNvSpPr>
            <a:spLocks noGrp="1"/>
          </p:cNvSpPr>
          <p:nvPr userDrawn="1">
            <p:ph type="body" idx="1"/>
          </p:nvPr>
        </p:nvSpPr>
        <p:spPr>
          <a:xfrm>
            <a:off x="609600" y="1333501"/>
            <a:ext cx="10972800" cy="4812768"/>
          </a:xfrm>
          <a:prstGeom prst="rect">
            <a:avLst/>
          </a:prstGeom>
        </p:spPr>
        <p:txBody>
          <a:bodyPr vert="horz" lIns="91440" tIns="45720" rIns="0" bIns="45720" rtlCol="0">
            <a:normAutofit/>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pic>
        <p:nvPicPr>
          <p:cNvPr id="5" name="Picture 4">
            <a:extLst>
              <a:ext uri="{FF2B5EF4-FFF2-40B4-BE49-F238E27FC236}">
                <a16:creationId xmlns:a16="http://schemas.microsoft.com/office/drawing/2014/main" id="{A0BE4E69-AE0B-085D-5A16-9A00D7D75383}"/>
              </a:ext>
            </a:extLst>
          </p:cNvPr>
          <p:cNvPicPr>
            <a:picLocks noChangeAspect="1" noChangeArrowheads="1"/>
          </p:cNvPicPr>
          <p:nvPr userDrawn="1"/>
        </p:nvPicPr>
        <p:blipFill>
          <a:blip r:embed="rId25" cstate="print">
            <a:extLst>
              <a:ext uri="{28A0092B-C50C-407E-A947-70E740481C1C}">
                <a14:useLocalDpi xmlns:a14="http://schemas.microsoft.com/office/drawing/2010/main" val="0"/>
              </a:ext>
            </a:extLst>
          </a:blip>
          <a:srcRect/>
          <a:stretch>
            <a:fillRect/>
          </a:stretch>
        </p:blipFill>
        <p:spPr bwMode="auto">
          <a:xfrm>
            <a:off x="9105642" y="6335328"/>
            <a:ext cx="2464906" cy="365760"/>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userDrawn="1">
            <p:ph type="sldNum" sz="quarter" idx="4"/>
          </p:nvPr>
        </p:nvSpPr>
        <p:spPr>
          <a:xfrm>
            <a:off x="621452" y="6358188"/>
            <a:ext cx="437375" cy="320040"/>
          </a:xfrm>
          <a:prstGeom prst="rect">
            <a:avLst/>
          </a:prstGeom>
          <a:noFill/>
          <a:ln>
            <a:noFill/>
          </a:ln>
        </p:spPr>
        <p:txBody>
          <a:bodyPr vert="horz" lIns="0" tIns="0" rIns="0" bIns="0" rtlCol="0" anchor="ctr"/>
          <a:lstStyle>
            <a:lvl1pPr algn="ctr">
              <a:defRPr lang="en-US" sz="1400" b="1" smtClean="0">
                <a:solidFill>
                  <a:schemeClr val="accent1"/>
                </a:solidFill>
              </a:defRPr>
            </a:lvl1pPr>
          </a:lstStyle>
          <a:p>
            <a:pPr rtl="1"/>
            <a:r>
              <a:rPr lang="en-GB"/>
              <a:t>#</a:t>
            </a:r>
            <a:endParaRPr lang="en-GB" dirty="0"/>
          </a:p>
        </p:txBody>
      </p:sp>
    </p:spTree>
    <p:extLst>
      <p:ext uri="{BB962C8B-B14F-4D97-AF65-F5344CB8AC3E}">
        <p14:creationId xmlns:p14="http://schemas.microsoft.com/office/powerpoint/2010/main" val="1743026089"/>
      </p:ext>
    </p:extLst>
  </p:cSld>
  <p:clrMap bg1="lt1" tx1="dk1" bg2="lt2" tx2="dk2" accent1="accent1" accent2="accent2" accent3="accent3" accent4="accent4" accent5="accent5" accent6="accent6" hlink="hlink" folHlink="folHlink"/>
  <p:sldLayoutIdLst>
    <p:sldLayoutId id="2147483742" r:id="rId1"/>
    <p:sldLayoutId id="2147483705" r:id="rId2"/>
    <p:sldLayoutId id="2147483749" r:id="rId3"/>
    <p:sldLayoutId id="2147483744" r:id="rId4"/>
    <p:sldLayoutId id="2147483730" r:id="rId5"/>
    <p:sldLayoutId id="2147483741" r:id="rId6"/>
    <p:sldLayoutId id="2147483707" r:id="rId7"/>
    <p:sldLayoutId id="2147483710" r:id="rId8"/>
    <p:sldLayoutId id="2147483711" r:id="rId9"/>
    <p:sldLayoutId id="2147483712" r:id="rId10"/>
    <p:sldLayoutId id="2147483713" r:id="rId11"/>
    <p:sldLayoutId id="2147483715" r:id="rId12"/>
    <p:sldLayoutId id="2147483740" r:id="rId13"/>
    <p:sldLayoutId id="2147483718" r:id="rId14"/>
    <p:sldLayoutId id="2147483719" r:id="rId15"/>
    <p:sldLayoutId id="2147483725" r:id="rId16"/>
    <p:sldLayoutId id="2147483728" r:id="rId17"/>
    <p:sldLayoutId id="2147483735" r:id="rId18"/>
    <p:sldLayoutId id="2147483736" r:id="rId19"/>
    <p:sldLayoutId id="2147483737" r:id="rId20"/>
    <p:sldLayoutId id="2147483738" r:id="rId21"/>
    <p:sldLayoutId id="2147483739" r:id="rId22"/>
    <p:sldLayoutId id="2147483750" r:id="rId2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hf hdr="0" ftr="0" dt="0"/>
  <p:txStyles>
    <p:title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p:titleStyle>
    <p:body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2000" kern="1200">
          <a:solidFill>
            <a:schemeClr val="tx1">
              <a:lumMod val="85000"/>
              <a:lumOff val="1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6" pos="7296" userDrawn="1">
          <p15:clr>
            <a:srgbClr val="F26B43"/>
          </p15:clr>
        </p15:guide>
        <p15:guide id="7" orient="horz" pos="840" userDrawn="1">
          <p15:clr>
            <a:srgbClr val="F26B43"/>
          </p15:clr>
        </p15:guide>
        <p15:guide id="10" pos="384" userDrawn="1">
          <p15:clr>
            <a:srgbClr val="F26B43"/>
          </p15:clr>
        </p15:guide>
        <p15:guide id="11"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6.xml"/><Relationship Id="rId1" Type="http://schemas.openxmlformats.org/officeDocument/2006/relationships/slideLayout" Target="../slideLayouts/slideLayout23.xml"/><Relationship Id="rId6" Type="http://schemas.openxmlformats.org/officeDocument/2006/relationships/slide" Target="slide45.xml"/><Relationship Id="rId5" Type="http://schemas.openxmlformats.org/officeDocument/2006/relationships/slide" Target="slide34.xml"/><Relationship Id="rId4" Type="http://schemas.openxmlformats.org/officeDocument/2006/relationships/slide" Target="slide3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9827" y="3749232"/>
            <a:ext cx="5022574" cy="1204833"/>
          </a:xfrm>
        </p:spPr>
        <p:txBody>
          <a:bodyPr/>
          <a:lstStyle/>
          <a:p>
            <a:pPr>
              <a:lnSpc>
                <a:spcPct val="125000"/>
              </a:lnSpc>
            </a:pPr>
            <a:r>
              <a:rPr lang="ar-SA"/>
              <a:t>خطة </a:t>
            </a:r>
            <a:r>
              <a:rPr lang="ar-SA" dirty="0"/>
              <a:t>التدريب للبنية المؤسسية</a:t>
            </a:r>
            <a:endParaRPr lang="en-US" dirty="0"/>
          </a:p>
        </p:txBody>
      </p:sp>
      <p:sp>
        <p:nvSpPr>
          <p:cNvPr id="3" name="Subtitle 2"/>
          <p:cNvSpPr>
            <a:spLocks noGrp="1"/>
          </p:cNvSpPr>
          <p:nvPr>
            <p:ph type="subTitle" idx="1"/>
          </p:nvPr>
        </p:nvSpPr>
        <p:spPr/>
        <p:txBody>
          <a:bodyPr>
            <a:normAutofit/>
          </a:bodyPr>
          <a:lstStyle/>
          <a:p>
            <a:r>
              <a:rPr lang="ar-EG" dirty="0"/>
              <a:t>النسخة </a:t>
            </a:r>
            <a:r>
              <a:rPr lang="en-US"/>
              <a:t>1.0</a:t>
            </a:r>
            <a:endParaRPr lang="ar-EG" dirty="0"/>
          </a:p>
        </p:txBody>
      </p:sp>
    </p:spTree>
    <p:extLst>
      <p:ext uri="{BB962C8B-B14F-4D97-AF65-F5344CB8AC3E}">
        <p14:creationId xmlns:p14="http://schemas.microsoft.com/office/powerpoint/2010/main" val="2428133689"/>
      </p:ext>
    </p:extLst>
  </p:cSld>
  <p:clrMapOvr>
    <a:masterClrMapping/>
  </p:clrMapOvr>
  <mc:AlternateContent xmlns:mc="http://schemas.openxmlformats.org/markup-compatibility/2006" xmlns:p14="http://schemas.microsoft.com/office/powerpoint/2010/main">
    <mc:Choice Requires="p14">
      <p:transition spd="slow" p14:dur="1750">
        <p14:reveal thruBlk="1"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شروط استخدام الوثيقة</a:t>
            </a:r>
            <a:endParaRPr lang="en-US" dirty="0"/>
          </a:p>
        </p:txBody>
      </p:sp>
      <p:sp>
        <p:nvSpPr>
          <p:cNvPr id="15" name="Rectangle 14">
            <a:extLst>
              <a:ext uri="{FF2B5EF4-FFF2-40B4-BE49-F238E27FC236}">
                <a16:creationId xmlns:a16="http://schemas.microsoft.com/office/drawing/2014/main" id="{7B21A5CB-82AC-F540-2F06-31E6BF4F283A}"/>
              </a:ext>
            </a:extLst>
          </p:cNvPr>
          <p:cNvSpPr/>
          <p:nvPr/>
        </p:nvSpPr>
        <p:spPr>
          <a:xfrm>
            <a:off x="2011680" y="2396756"/>
            <a:ext cx="7202276" cy="1730999"/>
          </a:xfrm>
          <a:prstGeom prst="rect">
            <a:avLst/>
          </a:prstGeom>
        </p:spPr>
        <p:txBody>
          <a:bodyPr anchor="ctr" anchorCtr="0">
            <a:normAutofit/>
          </a:bodyPr>
          <a:lstStyle/>
          <a:p>
            <a:pPr algn="r" rtl="1">
              <a:lnSpc>
                <a:spcPct val="150000"/>
              </a:lnSpc>
              <a:spcAft>
                <a:spcPts val="1200"/>
              </a:spcAft>
            </a:pPr>
            <a:r>
              <a:rPr lang="ar-EG" sz="2400" dirty="0"/>
              <a:t>إن هذه الوثيقة ومحتوياتها هي ملك لهيئة تقويم التعليم والتدريب ولا يجوز نسخها أو الكشف عنها أو تداولها دون الحصول على موافقة كتابية محددة من الهيئة، ويحظر تماما أي استخدام آخر غير الغرض الذي تم إعدادها من أجله.</a:t>
            </a:r>
          </a:p>
        </p:txBody>
      </p:sp>
      <p:grpSp>
        <p:nvGrpSpPr>
          <p:cNvPr id="28" name="Group 27">
            <a:extLst>
              <a:ext uri="{FF2B5EF4-FFF2-40B4-BE49-F238E27FC236}">
                <a16:creationId xmlns:a16="http://schemas.microsoft.com/office/drawing/2014/main" id="{D7350C88-B1EB-C1D4-7BA4-A1A2D371B40C}"/>
              </a:ext>
            </a:extLst>
          </p:cNvPr>
          <p:cNvGrpSpPr>
            <a:grpSpLocks noChangeAspect="1"/>
          </p:cNvGrpSpPr>
          <p:nvPr/>
        </p:nvGrpSpPr>
        <p:grpSpPr>
          <a:xfrm>
            <a:off x="9864957" y="2512209"/>
            <a:ext cx="1256429" cy="1483283"/>
            <a:chOff x="3290888" y="152400"/>
            <a:chExt cx="1600201" cy="1889125"/>
          </a:xfrm>
          <a:solidFill>
            <a:schemeClr val="accent1"/>
          </a:solidFill>
        </p:grpSpPr>
        <p:sp>
          <p:nvSpPr>
            <p:cNvPr id="29" name="Freeform 191">
              <a:extLst>
                <a:ext uri="{FF2B5EF4-FFF2-40B4-BE49-F238E27FC236}">
                  <a16:creationId xmlns:a16="http://schemas.microsoft.com/office/drawing/2014/main" id="{13DD340A-D508-6019-028E-387DF741F95E}"/>
                </a:ext>
              </a:extLst>
            </p:cNvPr>
            <p:cNvSpPr>
              <a:spLocks noEditPoints="1"/>
            </p:cNvSpPr>
            <p:nvPr/>
          </p:nvSpPr>
          <p:spPr bwMode="auto">
            <a:xfrm>
              <a:off x="3290888" y="152400"/>
              <a:ext cx="1427163" cy="1889125"/>
            </a:xfrm>
            <a:custGeom>
              <a:avLst/>
              <a:gdLst>
                <a:gd name="T0" fmla="*/ 320 w 6064"/>
                <a:gd name="T1" fmla="*/ 57 h 8032"/>
                <a:gd name="T2" fmla="*/ 157 w 6064"/>
                <a:gd name="T3" fmla="*/ 172 h 8032"/>
                <a:gd name="T4" fmla="*/ 44 w 6064"/>
                <a:gd name="T5" fmla="*/ 335 h 8032"/>
                <a:gd name="T6" fmla="*/ 17 w 6064"/>
                <a:gd name="T7" fmla="*/ 432 h 8032"/>
                <a:gd name="T8" fmla="*/ 0 w 6064"/>
                <a:gd name="T9" fmla="*/ 4016 h 8032"/>
                <a:gd name="T10" fmla="*/ 10 w 6064"/>
                <a:gd name="T11" fmla="*/ 7503 h 8032"/>
                <a:gd name="T12" fmla="*/ 33 w 6064"/>
                <a:gd name="T13" fmla="*/ 7672 h 8032"/>
                <a:gd name="T14" fmla="*/ 96 w 6064"/>
                <a:gd name="T15" fmla="*/ 7785 h 8032"/>
                <a:gd name="T16" fmla="*/ 210 w 6064"/>
                <a:gd name="T17" fmla="*/ 7905 h 8032"/>
                <a:gd name="T18" fmla="*/ 325 w 6064"/>
                <a:gd name="T19" fmla="*/ 7977 h 8032"/>
                <a:gd name="T20" fmla="*/ 4658 w 6064"/>
                <a:gd name="T21" fmla="*/ 8032 h 8032"/>
                <a:gd name="T22" fmla="*/ 4443 w 6064"/>
                <a:gd name="T23" fmla="*/ 7886 h 8032"/>
                <a:gd name="T24" fmla="*/ 4284 w 6064"/>
                <a:gd name="T25" fmla="*/ 7864 h 8032"/>
                <a:gd name="T26" fmla="*/ 458 w 6064"/>
                <a:gd name="T27" fmla="*/ 7841 h 8032"/>
                <a:gd name="T28" fmla="*/ 305 w 6064"/>
                <a:gd name="T29" fmla="*/ 7743 h 8032"/>
                <a:gd name="T30" fmla="*/ 205 w 6064"/>
                <a:gd name="T31" fmla="*/ 7604 h 8032"/>
                <a:gd name="T32" fmla="*/ 189 w 6064"/>
                <a:gd name="T33" fmla="*/ 6936 h 8032"/>
                <a:gd name="T34" fmla="*/ 189 w 6064"/>
                <a:gd name="T35" fmla="*/ 1096 h 8032"/>
                <a:gd name="T36" fmla="*/ 205 w 6064"/>
                <a:gd name="T37" fmla="*/ 427 h 8032"/>
                <a:gd name="T38" fmla="*/ 305 w 6064"/>
                <a:gd name="T39" fmla="*/ 288 h 8032"/>
                <a:gd name="T40" fmla="*/ 458 w 6064"/>
                <a:gd name="T41" fmla="*/ 191 h 8032"/>
                <a:gd name="T42" fmla="*/ 3626 w 6064"/>
                <a:gd name="T43" fmla="*/ 241 h 8032"/>
                <a:gd name="T44" fmla="*/ 3716 w 6064"/>
                <a:gd name="T45" fmla="*/ 317 h 8032"/>
                <a:gd name="T46" fmla="*/ 3808 w 6064"/>
                <a:gd name="T47" fmla="*/ 454 h 8032"/>
                <a:gd name="T48" fmla="*/ 3880 w 6064"/>
                <a:gd name="T49" fmla="*/ 1736 h 8032"/>
                <a:gd name="T50" fmla="*/ 4027 w 6064"/>
                <a:gd name="T51" fmla="*/ 1928 h 8032"/>
                <a:gd name="T52" fmla="*/ 4175 w 6064"/>
                <a:gd name="T53" fmla="*/ 2017 h 8032"/>
                <a:gd name="T54" fmla="*/ 4908 w 6064"/>
                <a:gd name="T55" fmla="*/ 2049 h 8032"/>
                <a:gd name="T56" fmla="*/ 5569 w 6064"/>
                <a:gd name="T57" fmla="*/ 2066 h 8032"/>
                <a:gd name="T58" fmla="*/ 5687 w 6064"/>
                <a:gd name="T59" fmla="*/ 2110 h 8032"/>
                <a:gd name="T60" fmla="*/ 5814 w 6064"/>
                <a:gd name="T61" fmla="*/ 2244 h 8032"/>
                <a:gd name="T62" fmla="*/ 5848 w 6064"/>
                <a:gd name="T63" fmla="*/ 2319 h 8032"/>
                <a:gd name="T64" fmla="*/ 5866 w 6064"/>
                <a:gd name="T65" fmla="*/ 2870 h 8032"/>
                <a:gd name="T66" fmla="*/ 5955 w 6064"/>
                <a:gd name="T67" fmla="*/ 5146 h 8032"/>
                <a:gd name="T68" fmla="*/ 6057 w 6064"/>
                <a:gd name="T69" fmla="*/ 5162 h 8032"/>
                <a:gd name="T70" fmla="*/ 6063 w 6064"/>
                <a:gd name="T71" fmla="*/ 3744 h 8032"/>
                <a:gd name="T72" fmla="*/ 5995 w 6064"/>
                <a:gd name="T73" fmla="*/ 2178 h 8032"/>
                <a:gd name="T74" fmla="*/ 5887 w 6064"/>
                <a:gd name="T75" fmla="*/ 2042 h 8032"/>
                <a:gd name="T76" fmla="*/ 5221 w 6064"/>
                <a:gd name="T77" fmla="*/ 1422 h 8032"/>
                <a:gd name="T78" fmla="*/ 3752 w 6064"/>
                <a:gd name="T79" fmla="*/ 93 h 8032"/>
                <a:gd name="T80" fmla="*/ 3659 w 6064"/>
                <a:gd name="T81" fmla="*/ 42 h 8032"/>
                <a:gd name="T82" fmla="*/ 3224 w 6064"/>
                <a:gd name="T83" fmla="*/ 3 h 8032"/>
                <a:gd name="T84" fmla="*/ 1235 w 6064"/>
                <a:gd name="T85" fmla="*/ 1 h 8032"/>
                <a:gd name="T86" fmla="*/ 415 w 6064"/>
                <a:gd name="T87" fmla="*/ 22 h 8032"/>
                <a:gd name="T88" fmla="*/ 4873 w 6064"/>
                <a:gd name="T89" fmla="*/ 1862 h 8032"/>
                <a:gd name="T90" fmla="*/ 4286 w 6064"/>
                <a:gd name="T91" fmla="*/ 1854 h 8032"/>
                <a:gd name="T92" fmla="*/ 4173 w 6064"/>
                <a:gd name="T93" fmla="*/ 1803 h 8032"/>
                <a:gd name="T94" fmla="*/ 4045 w 6064"/>
                <a:gd name="T95" fmla="*/ 1661 h 8032"/>
                <a:gd name="T96" fmla="*/ 4009 w 6064"/>
                <a:gd name="T97" fmla="*/ 1467 h 8032"/>
                <a:gd name="T98" fmla="*/ 4001 w 6064"/>
                <a:gd name="T99" fmla="*/ 869 h 8032"/>
                <a:gd name="T100" fmla="*/ 4013 w 6064"/>
                <a:gd name="T101" fmla="*/ 584 h 8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064" h="8032">
                  <a:moveTo>
                    <a:pt x="415" y="22"/>
                  </a:moveTo>
                  <a:lnTo>
                    <a:pt x="382" y="32"/>
                  </a:lnTo>
                  <a:lnTo>
                    <a:pt x="320" y="57"/>
                  </a:lnTo>
                  <a:lnTo>
                    <a:pt x="262" y="89"/>
                  </a:lnTo>
                  <a:lnTo>
                    <a:pt x="207" y="127"/>
                  </a:lnTo>
                  <a:lnTo>
                    <a:pt x="157" y="172"/>
                  </a:lnTo>
                  <a:lnTo>
                    <a:pt x="113" y="221"/>
                  </a:lnTo>
                  <a:lnTo>
                    <a:pt x="75" y="276"/>
                  </a:lnTo>
                  <a:lnTo>
                    <a:pt x="44" y="335"/>
                  </a:lnTo>
                  <a:lnTo>
                    <a:pt x="31" y="366"/>
                  </a:lnTo>
                  <a:lnTo>
                    <a:pt x="26" y="381"/>
                  </a:lnTo>
                  <a:lnTo>
                    <a:pt x="17" y="432"/>
                  </a:lnTo>
                  <a:lnTo>
                    <a:pt x="7" y="619"/>
                  </a:lnTo>
                  <a:lnTo>
                    <a:pt x="0" y="1830"/>
                  </a:lnTo>
                  <a:lnTo>
                    <a:pt x="0" y="4016"/>
                  </a:lnTo>
                  <a:lnTo>
                    <a:pt x="0" y="6238"/>
                  </a:lnTo>
                  <a:lnTo>
                    <a:pt x="6" y="7301"/>
                  </a:lnTo>
                  <a:lnTo>
                    <a:pt x="10" y="7503"/>
                  </a:lnTo>
                  <a:lnTo>
                    <a:pt x="17" y="7608"/>
                  </a:lnTo>
                  <a:lnTo>
                    <a:pt x="27" y="7656"/>
                  </a:lnTo>
                  <a:lnTo>
                    <a:pt x="33" y="7672"/>
                  </a:lnTo>
                  <a:lnTo>
                    <a:pt x="42" y="7695"/>
                  </a:lnTo>
                  <a:lnTo>
                    <a:pt x="66" y="7741"/>
                  </a:lnTo>
                  <a:lnTo>
                    <a:pt x="96" y="7785"/>
                  </a:lnTo>
                  <a:lnTo>
                    <a:pt x="130" y="7828"/>
                  </a:lnTo>
                  <a:lnTo>
                    <a:pt x="168" y="7868"/>
                  </a:lnTo>
                  <a:lnTo>
                    <a:pt x="210" y="7905"/>
                  </a:lnTo>
                  <a:lnTo>
                    <a:pt x="255" y="7938"/>
                  </a:lnTo>
                  <a:lnTo>
                    <a:pt x="301" y="7966"/>
                  </a:lnTo>
                  <a:lnTo>
                    <a:pt x="325" y="7977"/>
                  </a:lnTo>
                  <a:lnTo>
                    <a:pt x="425" y="8024"/>
                  </a:lnTo>
                  <a:lnTo>
                    <a:pt x="2541" y="8029"/>
                  </a:lnTo>
                  <a:lnTo>
                    <a:pt x="4658" y="8032"/>
                  </a:lnTo>
                  <a:lnTo>
                    <a:pt x="4566" y="7972"/>
                  </a:lnTo>
                  <a:lnTo>
                    <a:pt x="4489" y="7920"/>
                  </a:lnTo>
                  <a:lnTo>
                    <a:pt x="4443" y="7886"/>
                  </a:lnTo>
                  <a:lnTo>
                    <a:pt x="4437" y="7881"/>
                  </a:lnTo>
                  <a:lnTo>
                    <a:pt x="4404" y="7873"/>
                  </a:lnTo>
                  <a:lnTo>
                    <a:pt x="4284" y="7864"/>
                  </a:lnTo>
                  <a:lnTo>
                    <a:pt x="3588" y="7854"/>
                  </a:lnTo>
                  <a:lnTo>
                    <a:pt x="2435" y="7849"/>
                  </a:lnTo>
                  <a:lnTo>
                    <a:pt x="458" y="7841"/>
                  </a:lnTo>
                  <a:lnTo>
                    <a:pt x="390" y="7804"/>
                  </a:lnTo>
                  <a:lnTo>
                    <a:pt x="360" y="7787"/>
                  </a:lnTo>
                  <a:lnTo>
                    <a:pt x="305" y="7743"/>
                  </a:lnTo>
                  <a:lnTo>
                    <a:pt x="257" y="7691"/>
                  </a:lnTo>
                  <a:lnTo>
                    <a:pt x="218" y="7633"/>
                  </a:lnTo>
                  <a:lnTo>
                    <a:pt x="205" y="7604"/>
                  </a:lnTo>
                  <a:lnTo>
                    <a:pt x="202" y="7583"/>
                  </a:lnTo>
                  <a:lnTo>
                    <a:pt x="196" y="7416"/>
                  </a:lnTo>
                  <a:lnTo>
                    <a:pt x="189" y="6936"/>
                  </a:lnTo>
                  <a:lnTo>
                    <a:pt x="181" y="5346"/>
                  </a:lnTo>
                  <a:lnTo>
                    <a:pt x="181" y="2685"/>
                  </a:lnTo>
                  <a:lnTo>
                    <a:pt x="189" y="1096"/>
                  </a:lnTo>
                  <a:lnTo>
                    <a:pt x="196" y="616"/>
                  </a:lnTo>
                  <a:lnTo>
                    <a:pt x="202" y="448"/>
                  </a:lnTo>
                  <a:lnTo>
                    <a:pt x="205" y="427"/>
                  </a:lnTo>
                  <a:lnTo>
                    <a:pt x="218" y="398"/>
                  </a:lnTo>
                  <a:lnTo>
                    <a:pt x="257" y="340"/>
                  </a:lnTo>
                  <a:lnTo>
                    <a:pt x="305" y="288"/>
                  </a:lnTo>
                  <a:lnTo>
                    <a:pt x="360" y="244"/>
                  </a:lnTo>
                  <a:lnTo>
                    <a:pt x="390" y="227"/>
                  </a:lnTo>
                  <a:lnTo>
                    <a:pt x="458" y="191"/>
                  </a:lnTo>
                  <a:lnTo>
                    <a:pt x="2001" y="191"/>
                  </a:lnTo>
                  <a:lnTo>
                    <a:pt x="3545" y="191"/>
                  </a:lnTo>
                  <a:lnTo>
                    <a:pt x="3626" y="241"/>
                  </a:lnTo>
                  <a:lnTo>
                    <a:pt x="3645" y="253"/>
                  </a:lnTo>
                  <a:lnTo>
                    <a:pt x="3682" y="283"/>
                  </a:lnTo>
                  <a:lnTo>
                    <a:pt x="3716" y="317"/>
                  </a:lnTo>
                  <a:lnTo>
                    <a:pt x="3746" y="354"/>
                  </a:lnTo>
                  <a:lnTo>
                    <a:pt x="3758" y="372"/>
                  </a:lnTo>
                  <a:lnTo>
                    <a:pt x="3808" y="454"/>
                  </a:lnTo>
                  <a:lnTo>
                    <a:pt x="3816" y="1039"/>
                  </a:lnTo>
                  <a:lnTo>
                    <a:pt x="3825" y="1624"/>
                  </a:lnTo>
                  <a:lnTo>
                    <a:pt x="3880" y="1736"/>
                  </a:lnTo>
                  <a:lnTo>
                    <a:pt x="3903" y="1781"/>
                  </a:lnTo>
                  <a:lnTo>
                    <a:pt x="3959" y="1861"/>
                  </a:lnTo>
                  <a:lnTo>
                    <a:pt x="4027" y="1928"/>
                  </a:lnTo>
                  <a:lnTo>
                    <a:pt x="4106" y="1983"/>
                  </a:lnTo>
                  <a:lnTo>
                    <a:pt x="4150" y="2006"/>
                  </a:lnTo>
                  <a:lnTo>
                    <a:pt x="4175" y="2017"/>
                  </a:lnTo>
                  <a:lnTo>
                    <a:pt x="4246" y="2032"/>
                  </a:lnTo>
                  <a:lnTo>
                    <a:pt x="4495" y="2044"/>
                  </a:lnTo>
                  <a:lnTo>
                    <a:pt x="4908" y="2049"/>
                  </a:lnTo>
                  <a:lnTo>
                    <a:pt x="5136" y="2052"/>
                  </a:lnTo>
                  <a:lnTo>
                    <a:pt x="5424" y="2058"/>
                  </a:lnTo>
                  <a:lnTo>
                    <a:pt x="5569" y="2066"/>
                  </a:lnTo>
                  <a:lnTo>
                    <a:pt x="5635" y="2082"/>
                  </a:lnTo>
                  <a:lnTo>
                    <a:pt x="5658" y="2094"/>
                  </a:lnTo>
                  <a:lnTo>
                    <a:pt x="5687" y="2110"/>
                  </a:lnTo>
                  <a:lnTo>
                    <a:pt x="5737" y="2147"/>
                  </a:lnTo>
                  <a:lnTo>
                    <a:pt x="5778" y="2190"/>
                  </a:lnTo>
                  <a:lnTo>
                    <a:pt x="5814" y="2244"/>
                  </a:lnTo>
                  <a:lnTo>
                    <a:pt x="5831" y="2277"/>
                  </a:lnTo>
                  <a:lnTo>
                    <a:pt x="5838" y="2290"/>
                  </a:lnTo>
                  <a:lnTo>
                    <a:pt x="5848" y="2319"/>
                  </a:lnTo>
                  <a:lnTo>
                    <a:pt x="5855" y="2367"/>
                  </a:lnTo>
                  <a:lnTo>
                    <a:pt x="5860" y="2451"/>
                  </a:lnTo>
                  <a:lnTo>
                    <a:pt x="5866" y="2870"/>
                  </a:lnTo>
                  <a:lnTo>
                    <a:pt x="5866" y="3729"/>
                  </a:lnTo>
                  <a:lnTo>
                    <a:pt x="5866" y="5109"/>
                  </a:lnTo>
                  <a:lnTo>
                    <a:pt x="5955" y="5146"/>
                  </a:lnTo>
                  <a:lnTo>
                    <a:pt x="6025" y="5174"/>
                  </a:lnTo>
                  <a:lnTo>
                    <a:pt x="6055" y="5182"/>
                  </a:lnTo>
                  <a:lnTo>
                    <a:pt x="6057" y="5162"/>
                  </a:lnTo>
                  <a:lnTo>
                    <a:pt x="6061" y="4943"/>
                  </a:lnTo>
                  <a:lnTo>
                    <a:pt x="6064" y="4320"/>
                  </a:lnTo>
                  <a:lnTo>
                    <a:pt x="6063" y="3744"/>
                  </a:lnTo>
                  <a:lnTo>
                    <a:pt x="6058" y="2307"/>
                  </a:lnTo>
                  <a:lnTo>
                    <a:pt x="6005" y="2197"/>
                  </a:lnTo>
                  <a:lnTo>
                    <a:pt x="5995" y="2178"/>
                  </a:lnTo>
                  <a:lnTo>
                    <a:pt x="5972" y="2141"/>
                  </a:lnTo>
                  <a:lnTo>
                    <a:pt x="5939" y="2098"/>
                  </a:lnTo>
                  <a:lnTo>
                    <a:pt x="5887" y="2042"/>
                  </a:lnTo>
                  <a:lnTo>
                    <a:pt x="5763" y="1920"/>
                  </a:lnTo>
                  <a:lnTo>
                    <a:pt x="5458" y="1639"/>
                  </a:lnTo>
                  <a:lnTo>
                    <a:pt x="5221" y="1422"/>
                  </a:lnTo>
                  <a:lnTo>
                    <a:pt x="4390" y="664"/>
                  </a:lnTo>
                  <a:lnTo>
                    <a:pt x="3873" y="197"/>
                  </a:lnTo>
                  <a:lnTo>
                    <a:pt x="3752" y="93"/>
                  </a:lnTo>
                  <a:lnTo>
                    <a:pt x="3730" y="79"/>
                  </a:lnTo>
                  <a:lnTo>
                    <a:pt x="3707" y="65"/>
                  </a:lnTo>
                  <a:lnTo>
                    <a:pt x="3659" y="42"/>
                  </a:lnTo>
                  <a:lnTo>
                    <a:pt x="3593" y="25"/>
                  </a:lnTo>
                  <a:lnTo>
                    <a:pt x="3487" y="13"/>
                  </a:lnTo>
                  <a:lnTo>
                    <a:pt x="3224" y="3"/>
                  </a:lnTo>
                  <a:lnTo>
                    <a:pt x="2541" y="0"/>
                  </a:lnTo>
                  <a:lnTo>
                    <a:pt x="1991" y="1"/>
                  </a:lnTo>
                  <a:lnTo>
                    <a:pt x="1235" y="1"/>
                  </a:lnTo>
                  <a:lnTo>
                    <a:pt x="633" y="8"/>
                  </a:lnTo>
                  <a:lnTo>
                    <a:pt x="447" y="16"/>
                  </a:lnTo>
                  <a:lnTo>
                    <a:pt x="415" y="22"/>
                  </a:lnTo>
                  <a:close/>
                  <a:moveTo>
                    <a:pt x="4725" y="1224"/>
                  </a:moveTo>
                  <a:lnTo>
                    <a:pt x="5421" y="1857"/>
                  </a:lnTo>
                  <a:lnTo>
                    <a:pt x="4873" y="1862"/>
                  </a:lnTo>
                  <a:lnTo>
                    <a:pt x="4633" y="1864"/>
                  </a:lnTo>
                  <a:lnTo>
                    <a:pt x="4383" y="1860"/>
                  </a:lnTo>
                  <a:lnTo>
                    <a:pt x="4286" y="1854"/>
                  </a:lnTo>
                  <a:lnTo>
                    <a:pt x="4266" y="1851"/>
                  </a:lnTo>
                  <a:lnTo>
                    <a:pt x="4236" y="1840"/>
                  </a:lnTo>
                  <a:lnTo>
                    <a:pt x="4173" y="1803"/>
                  </a:lnTo>
                  <a:lnTo>
                    <a:pt x="4113" y="1752"/>
                  </a:lnTo>
                  <a:lnTo>
                    <a:pt x="4063" y="1692"/>
                  </a:lnTo>
                  <a:lnTo>
                    <a:pt x="4045" y="1661"/>
                  </a:lnTo>
                  <a:lnTo>
                    <a:pt x="4033" y="1637"/>
                  </a:lnTo>
                  <a:lnTo>
                    <a:pt x="4017" y="1580"/>
                  </a:lnTo>
                  <a:lnTo>
                    <a:pt x="4009" y="1467"/>
                  </a:lnTo>
                  <a:lnTo>
                    <a:pt x="4005" y="1252"/>
                  </a:lnTo>
                  <a:lnTo>
                    <a:pt x="4003" y="1084"/>
                  </a:lnTo>
                  <a:lnTo>
                    <a:pt x="4001" y="869"/>
                  </a:lnTo>
                  <a:lnTo>
                    <a:pt x="4004" y="658"/>
                  </a:lnTo>
                  <a:lnTo>
                    <a:pt x="4009" y="589"/>
                  </a:lnTo>
                  <a:lnTo>
                    <a:pt x="4013" y="584"/>
                  </a:lnTo>
                  <a:lnTo>
                    <a:pt x="4181" y="731"/>
                  </a:lnTo>
                  <a:lnTo>
                    <a:pt x="4725" y="1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0" name="Freeform 192">
              <a:extLst>
                <a:ext uri="{FF2B5EF4-FFF2-40B4-BE49-F238E27FC236}">
                  <a16:creationId xmlns:a16="http://schemas.microsoft.com/office/drawing/2014/main" id="{A3C20801-CFA8-4B96-9DFA-637FBC91BF6E}"/>
                </a:ext>
              </a:extLst>
            </p:cNvPr>
            <p:cNvSpPr>
              <a:spLocks/>
            </p:cNvSpPr>
            <p:nvPr/>
          </p:nvSpPr>
          <p:spPr bwMode="auto">
            <a:xfrm>
              <a:off x="3543301" y="571500"/>
              <a:ext cx="371475" cy="44450"/>
            </a:xfrm>
            <a:custGeom>
              <a:avLst/>
              <a:gdLst>
                <a:gd name="T0" fmla="*/ 16 w 1582"/>
                <a:gd name="T1" fmla="*/ 32 h 184"/>
                <a:gd name="T2" fmla="*/ 7 w 1582"/>
                <a:gd name="T3" fmla="*/ 51 h 184"/>
                <a:gd name="T4" fmla="*/ 0 w 1582"/>
                <a:gd name="T5" fmla="*/ 87 h 184"/>
                <a:gd name="T6" fmla="*/ 5 w 1582"/>
                <a:gd name="T7" fmla="*/ 120 h 184"/>
                <a:gd name="T8" fmla="*/ 22 w 1582"/>
                <a:gd name="T9" fmla="*/ 146 h 184"/>
                <a:gd name="T10" fmla="*/ 36 w 1582"/>
                <a:gd name="T11" fmla="*/ 157 h 184"/>
                <a:gd name="T12" fmla="*/ 43 w 1582"/>
                <a:gd name="T13" fmla="*/ 161 h 184"/>
                <a:gd name="T14" fmla="*/ 64 w 1582"/>
                <a:gd name="T15" fmla="*/ 168 h 184"/>
                <a:gd name="T16" fmla="*/ 122 w 1582"/>
                <a:gd name="T17" fmla="*/ 176 h 184"/>
                <a:gd name="T18" fmla="*/ 394 w 1582"/>
                <a:gd name="T19" fmla="*/ 183 h 184"/>
                <a:gd name="T20" fmla="*/ 801 w 1582"/>
                <a:gd name="T21" fmla="*/ 184 h 184"/>
                <a:gd name="T22" fmla="*/ 1234 w 1582"/>
                <a:gd name="T23" fmla="*/ 183 h 184"/>
                <a:gd name="T24" fmla="*/ 1489 w 1582"/>
                <a:gd name="T25" fmla="*/ 176 h 184"/>
                <a:gd name="T26" fmla="*/ 1535 w 1582"/>
                <a:gd name="T27" fmla="*/ 167 h 184"/>
                <a:gd name="T28" fmla="*/ 1549 w 1582"/>
                <a:gd name="T29" fmla="*/ 159 h 184"/>
                <a:gd name="T30" fmla="*/ 1554 w 1582"/>
                <a:gd name="T31" fmla="*/ 154 h 184"/>
                <a:gd name="T32" fmla="*/ 1566 w 1582"/>
                <a:gd name="T33" fmla="*/ 139 h 184"/>
                <a:gd name="T34" fmla="*/ 1580 w 1582"/>
                <a:gd name="T35" fmla="*/ 103 h 184"/>
                <a:gd name="T36" fmla="*/ 1582 w 1582"/>
                <a:gd name="T37" fmla="*/ 65 h 184"/>
                <a:gd name="T38" fmla="*/ 1572 w 1582"/>
                <a:gd name="T39" fmla="*/ 32 h 184"/>
                <a:gd name="T40" fmla="*/ 1563 w 1582"/>
                <a:gd name="T41" fmla="*/ 20 h 184"/>
                <a:gd name="T42" fmla="*/ 1551 w 1582"/>
                <a:gd name="T43" fmla="*/ 15 h 184"/>
                <a:gd name="T44" fmla="*/ 1464 w 1582"/>
                <a:gd name="T45" fmla="*/ 7 h 184"/>
                <a:gd name="T46" fmla="*/ 1165 w 1582"/>
                <a:gd name="T47" fmla="*/ 1 h 184"/>
                <a:gd name="T48" fmla="*/ 788 w 1582"/>
                <a:gd name="T49" fmla="*/ 0 h 184"/>
                <a:gd name="T50" fmla="*/ 329 w 1582"/>
                <a:gd name="T51" fmla="*/ 1 h 184"/>
                <a:gd name="T52" fmla="*/ 71 w 1582"/>
                <a:gd name="T53" fmla="*/ 9 h 184"/>
                <a:gd name="T54" fmla="*/ 30 w 1582"/>
                <a:gd name="T55" fmla="*/ 18 h 184"/>
                <a:gd name="T56" fmla="*/ 19 w 1582"/>
                <a:gd name="T57" fmla="*/ 27 h 184"/>
                <a:gd name="T58" fmla="*/ 16 w 1582"/>
                <a:gd name="T59" fmla="*/ 3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82" h="184">
                  <a:moveTo>
                    <a:pt x="16" y="32"/>
                  </a:moveTo>
                  <a:lnTo>
                    <a:pt x="7" y="51"/>
                  </a:lnTo>
                  <a:lnTo>
                    <a:pt x="0" y="87"/>
                  </a:lnTo>
                  <a:lnTo>
                    <a:pt x="5" y="120"/>
                  </a:lnTo>
                  <a:lnTo>
                    <a:pt x="22" y="146"/>
                  </a:lnTo>
                  <a:lnTo>
                    <a:pt x="36" y="157"/>
                  </a:lnTo>
                  <a:lnTo>
                    <a:pt x="43" y="161"/>
                  </a:lnTo>
                  <a:lnTo>
                    <a:pt x="64" y="168"/>
                  </a:lnTo>
                  <a:lnTo>
                    <a:pt x="122" y="176"/>
                  </a:lnTo>
                  <a:lnTo>
                    <a:pt x="394" y="183"/>
                  </a:lnTo>
                  <a:lnTo>
                    <a:pt x="801" y="184"/>
                  </a:lnTo>
                  <a:lnTo>
                    <a:pt x="1234" y="183"/>
                  </a:lnTo>
                  <a:lnTo>
                    <a:pt x="1489" y="176"/>
                  </a:lnTo>
                  <a:lnTo>
                    <a:pt x="1535" y="167"/>
                  </a:lnTo>
                  <a:lnTo>
                    <a:pt x="1549" y="159"/>
                  </a:lnTo>
                  <a:lnTo>
                    <a:pt x="1554" y="154"/>
                  </a:lnTo>
                  <a:lnTo>
                    <a:pt x="1566" y="139"/>
                  </a:lnTo>
                  <a:lnTo>
                    <a:pt x="1580" y="103"/>
                  </a:lnTo>
                  <a:lnTo>
                    <a:pt x="1582" y="65"/>
                  </a:lnTo>
                  <a:lnTo>
                    <a:pt x="1572" y="32"/>
                  </a:lnTo>
                  <a:lnTo>
                    <a:pt x="1563" y="20"/>
                  </a:lnTo>
                  <a:lnTo>
                    <a:pt x="1551" y="15"/>
                  </a:lnTo>
                  <a:lnTo>
                    <a:pt x="1464" y="7"/>
                  </a:lnTo>
                  <a:lnTo>
                    <a:pt x="1165" y="1"/>
                  </a:lnTo>
                  <a:lnTo>
                    <a:pt x="788" y="0"/>
                  </a:lnTo>
                  <a:lnTo>
                    <a:pt x="329" y="1"/>
                  </a:lnTo>
                  <a:lnTo>
                    <a:pt x="71" y="9"/>
                  </a:lnTo>
                  <a:lnTo>
                    <a:pt x="30" y="18"/>
                  </a:lnTo>
                  <a:lnTo>
                    <a:pt x="19" y="27"/>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1" name="Freeform 193">
              <a:extLst>
                <a:ext uri="{FF2B5EF4-FFF2-40B4-BE49-F238E27FC236}">
                  <a16:creationId xmlns:a16="http://schemas.microsoft.com/office/drawing/2014/main" id="{341BA33C-F8DE-9EE7-6E8E-26BF7767CEBE}"/>
                </a:ext>
              </a:extLst>
            </p:cNvPr>
            <p:cNvSpPr>
              <a:spLocks/>
            </p:cNvSpPr>
            <p:nvPr/>
          </p:nvSpPr>
          <p:spPr bwMode="auto">
            <a:xfrm>
              <a:off x="3543301" y="835025"/>
              <a:ext cx="657225" cy="42863"/>
            </a:xfrm>
            <a:custGeom>
              <a:avLst/>
              <a:gdLst>
                <a:gd name="T0" fmla="*/ 25 w 2796"/>
                <a:gd name="T1" fmla="*/ 27 h 183"/>
                <a:gd name="T2" fmla="*/ 13 w 2796"/>
                <a:gd name="T3" fmla="*/ 41 h 183"/>
                <a:gd name="T4" fmla="*/ 0 w 2796"/>
                <a:gd name="T5" fmla="*/ 74 h 183"/>
                <a:gd name="T6" fmla="*/ 1 w 2796"/>
                <a:gd name="T7" fmla="*/ 109 h 183"/>
                <a:gd name="T8" fmla="*/ 16 w 2796"/>
                <a:gd name="T9" fmla="*/ 142 h 183"/>
                <a:gd name="T10" fmla="*/ 28 w 2796"/>
                <a:gd name="T11" fmla="*/ 155 h 183"/>
                <a:gd name="T12" fmla="*/ 34 w 2796"/>
                <a:gd name="T13" fmla="*/ 160 h 183"/>
                <a:gd name="T14" fmla="*/ 60 w 2796"/>
                <a:gd name="T15" fmla="*/ 168 h 183"/>
                <a:gd name="T16" fmla="*/ 145 w 2796"/>
                <a:gd name="T17" fmla="*/ 176 h 183"/>
                <a:gd name="T18" fmla="*/ 621 w 2796"/>
                <a:gd name="T19" fmla="*/ 183 h 183"/>
                <a:gd name="T20" fmla="*/ 1402 w 2796"/>
                <a:gd name="T21" fmla="*/ 183 h 183"/>
                <a:gd name="T22" fmla="*/ 2209 w 2796"/>
                <a:gd name="T23" fmla="*/ 183 h 183"/>
                <a:gd name="T24" fmla="*/ 2671 w 2796"/>
                <a:gd name="T25" fmla="*/ 176 h 183"/>
                <a:gd name="T26" fmla="*/ 2745 w 2796"/>
                <a:gd name="T27" fmla="*/ 167 h 183"/>
                <a:gd name="T28" fmla="*/ 2765 w 2796"/>
                <a:gd name="T29" fmla="*/ 158 h 183"/>
                <a:gd name="T30" fmla="*/ 2770 w 2796"/>
                <a:gd name="T31" fmla="*/ 153 h 183"/>
                <a:gd name="T32" fmla="*/ 2782 w 2796"/>
                <a:gd name="T33" fmla="*/ 138 h 183"/>
                <a:gd name="T34" fmla="*/ 2796 w 2796"/>
                <a:gd name="T35" fmla="*/ 105 h 183"/>
                <a:gd name="T36" fmla="*/ 2796 w 2796"/>
                <a:gd name="T37" fmla="*/ 71 h 183"/>
                <a:gd name="T38" fmla="*/ 2784 w 2796"/>
                <a:gd name="T39" fmla="*/ 40 h 183"/>
                <a:gd name="T40" fmla="*/ 2772 w 2796"/>
                <a:gd name="T41" fmla="*/ 27 h 183"/>
                <a:gd name="T42" fmla="*/ 2766 w 2796"/>
                <a:gd name="T43" fmla="*/ 22 h 183"/>
                <a:gd name="T44" fmla="*/ 2741 w 2796"/>
                <a:gd name="T45" fmla="*/ 15 h 183"/>
                <a:gd name="T46" fmla="*/ 2652 w 2796"/>
                <a:gd name="T47" fmla="*/ 8 h 183"/>
                <a:gd name="T48" fmla="*/ 2169 w 2796"/>
                <a:gd name="T49" fmla="*/ 0 h 183"/>
                <a:gd name="T50" fmla="*/ 1398 w 2796"/>
                <a:gd name="T51" fmla="*/ 0 h 183"/>
                <a:gd name="T52" fmla="*/ 628 w 2796"/>
                <a:gd name="T53" fmla="*/ 0 h 183"/>
                <a:gd name="T54" fmla="*/ 145 w 2796"/>
                <a:gd name="T55" fmla="*/ 8 h 183"/>
                <a:gd name="T56" fmla="*/ 56 w 2796"/>
                <a:gd name="T57" fmla="*/ 15 h 183"/>
                <a:gd name="T58" fmla="*/ 30 w 2796"/>
                <a:gd name="T59" fmla="*/ 22 h 183"/>
                <a:gd name="T60" fmla="*/ 25 w 2796"/>
                <a:gd name="T61" fmla="*/ 2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96" h="183">
                  <a:moveTo>
                    <a:pt x="25" y="27"/>
                  </a:moveTo>
                  <a:lnTo>
                    <a:pt x="13" y="41"/>
                  </a:lnTo>
                  <a:lnTo>
                    <a:pt x="0" y="74"/>
                  </a:lnTo>
                  <a:lnTo>
                    <a:pt x="1" y="109"/>
                  </a:lnTo>
                  <a:lnTo>
                    <a:pt x="16" y="142"/>
                  </a:lnTo>
                  <a:lnTo>
                    <a:pt x="28" y="155"/>
                  </a:lnTo>
                  <a:lnTo>
                    <a:pt x="34" y="160"/>
                  </a:lnTo>
                  <a:lnTo>
                    <a:pt x="60" y="168"/>
                  </a:lnTo>
                  <a:lnTo>
                    <a:pt x="145" y="176"/>
                  </a:lnTo>
                  <a:lnTo>
                    <a:pt x="621" y="183"/>
                  </a:lnTo>
                  <a:lnTo>
                    <a:pt x="1402" y="183"/>
                  </a:lnTo>
                  <a:lnTo>
                    <a:pt x="2209" y="183"/>
                  </a:lnTo>
                  <a:lnTo>
                    <a:pt x="2671" y="176"/>
                  </a:lnTo>
                  <a:lnTo>
                    <a:pt x="2745" y="167"/>
                  </a:lnTo>
                  <a:lnTo>
                    <a:pt x="2765" y="158"/>
                  </a:lnTo>
                  <a:lnTo>
                    <a:pt x="2770" y="153"/>
                  </a:lnTo>
                  <a:lnTo>
                    <a:pt x="2782" y="138"/>
                  </a:lnTo>
                  <a:lnTo>
                    <a:pt x="2796" y="105"/>
                  </a:lnTo>
                  <a:lnTo>
                    <a:pt x="2796" y="71"/>
                  </a:lnTo>
                  <a:lnTo>
                    <a:pt x="2784" y="40"/>
                  </a:lnTo>
                  <a:lnTo>
                    <a:pt x="2772" y="27"/>
                  </a:lnTo>
                  <a:lnTo>
                    <a:pt x="2766" y="22"/>
                  </a:lnTo>
                  <a:lnTo>
                    <a:pt x="2741" y="15"/>
                  </a:lnTo>
                  <a:lnTo>
                    <a:pt x="2652" y="8"/>
                  </a:lnTo>
                  <a:lnTo>
                    <a:pt x="2169" y="0"/>
                  </a:lnTo>
                  <a:lnTo>
                    <a:pt x="1398" y="0"/>
                  </a:lnTo>
                  <a:lnTo>
                    <a:pt x="628" y="0"/>
                  </a:lnTo>
                  <a:lnTo>
                    <a:pt x="145" y="8"/>
                  </a:lnTo>
                  <a:lnTo>
                    <a:pt x="56" y="15"/>
                  </a:lnTo>
                  <a:lnTo>
                    <a:pt x="30" y="22"/>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2" name="Freeform 194">
              <a:extLst>
                <a:ext uri="{FF2B5EF4-FFF2-40B4-BE49-F238E27FC236}">
                  <a16:creationId xmlns:a16="http://schemas.microsoft.com/office/drawing/2014/main" id="{E2C848AD-75EF-EC83-2814-E94B50743544}"/>
                </a:ext>
              </a:extLst>
            </p:cNvPr>
            <p:cNvSpPr>
              <a:spLocks/>
            </p:cNvSpPr>
            <p:nvPr/>
          </p:nvSpPr>
          <p:spPr bwMode="auto">
            <a:xfrm>
              <a:off x="3543301" y="944563"/>
              <a:ext cx="877888" cy="42863"/>
            </a:xfrm>
            <a:custGeom>
              <a:avLst/>
              <a:gdLst>
                <a:gd name="T0" fmla="*/ 25 w 3730"/>
                <a:gd name="T1" fmla="*/ 26 h 183"/>
                <a:gd name="T2" fmla="*/ 13 w 3730"/>
                <a:gd name="T3" fmla="*/ 40 h 183"/>
                <a:gd name="T4" fmla="*/ 0 w 3730"/>
                <a:gd name="T5" fmla="*/ 73 h 183"/>
                <a:gd name="T6" fmla="*/ 1 w 3730"/>
                <a:gd name="T7" fmla="*/ 109 h 183"/>
                <a:gd name="T8" fmla="*/ 16 w 3730"/>
                <a:gd name="T9" fmla="*/ 141 h 183"/>
                <a:gd name="T10" fmla="*/ 28 w 3730"/>
                <a:gd name="T11" fmla="*/ 155 h 183"/>
                <a:gd name="T12" fmla="*/ 35 w 3730"/>
                <a:gd name="T13" fmla="*/ 159 h 183"/>
                <a:gd name="T14" fmla="*/ 65 w 3730"/>
                <a:gd name="T15" fmla="*/ 167 h 183"/>
                <a:gd name="T16" fmla="*/ 175 w 3730"/>
                <a:gd name="T17" fmla="*/ 176 h 183"/>
                <a:gd name="T18" fmla="*/ 812 w 3730"/>
                <a:gd name="T19" fmla="*/ 183 h 183"/>
                <a:gd name="T20" fmla="*/ 1868 w 3730"/>
                <a:gd name="T21" fmla="*/ 183 h 183"/>
                <a:gd name="T22" fmla="*/ 2960 w 3730"/>
                <a:gd name="T23" fmla="*/ 183 h 183"/>
                <a:gd name="T24" fmla="*/ 3578 w 3730"/>
                <a:gd name="T25" fmla="*/ 175 h 183"/>
                <a:gd name="T26" fmla="*/ 3674 w 3730"/>
                <a:gd name="T27" fmla="*/ 166 h 183"/>
                <a:gd name="T28" fmla="*/ 3698 w 3730"/>
                <a:gd name="T29" fmla="*/ 158 h 183"/>
                <a:gd name="T30" fmla="*/ 3703 w 3730"/>
                <a:gd name="T31" fmla="*/ 153 h 183"/>
                <a:gd name="T32" fmla="*/ 3715 w 3730"/>
                <a:gd name="T33" fmla="*/ 138 h 183"/>
                <a:gd name="T34" fmla="*/ 3729 w 3730"/>
                <a:gd name="T35" fmla="*/ 105 h 183"/>
                <a:gd name="T36" fmla="*/ 3730 w 3730"/>
                <a:gd name="T37" fmla="*/ 71 h 183"/>
                <a:gd name="T38" fmla="*/ 3717 w 3730"/>
                <a:gd name="T39" fmla="*/ 40 h 183"/>
                <a:gd name="T40" fmla="*/ 3705 w 3730"/>
                <a:gd name="T41" fmla="*/ 26 h 183"/>
                <a:gd name="T42" fmla="*/ 3699 w 3730"/>
                <a:gd name="T43" fmla="*/ 22 h 183"/>
                <a:gd name="T44" fmla="*/ 3668 w 3730"/>
                <a:gd name="T45" fmla="*/ 15 h 183"/>
                <a:gd name="T46" fmla="*/ 3552 w 3730"/>
                <a:gd name="T47" fmla="*/ 7 h 183"/>
                <a:gd name="T48" fmla="*/ 2905 w 3730"/>
                <a:gd name="T49" fmla="*/ 0 h 183"/>
                <a:gd name="T50" fmla="*/ 1865 w 3730"/>
                <a:gd name="T51" fmla="*/ 0 h 183"/>
                <a:gd name="T52" fmla="*/ 825 w 3730"/>
                <a:gd name="T53" fmla="*/ 0 h 183"/>
                <a:gd name="T54" fmla="*/ 178 w 3730"/>
                <a:gd name="T55" fmla="*/ 7 h 183"/>
                <a:gd name="T56" fmla="*/ 62 w 3730"/>
                <a:gd name="T57" fmla="*/ 15 h 183"/>
                <a:gd name="T58" fmla="*/ 31 w 3730"/>
                <a:gd name="T59" fmla="*/ 22 h 183"/>
                <a:gd name="T60" fmla="*/ 25 w 3730"/>
                <a:gd name="T61" fmla="*/ 26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30" h="183">
                  <a:moveTo>
                    <a:pt x="25" y="26"/>
                  </a:moveTo>
                  <a:lnTo>
                    <a:pt x="13" y="40"/>
                  </a:lnTo>
                  <a:lnTo>
                    <a:pt x="0" y="73"/>
                  </a:lnTo>
                  <a:lnTo>
                    <a:pt x="1" y="109"/>
                  </a:lnTo>
                  <a:lnTo>
                    <a:pt x="16" y="141"/>
                  </a:lnTo>
                  <a:lnTo>
                    <a:pt x="28" y="155"/>
                  </a:lnTo>
                  <a:lnTo>
                    <a:pt x="35" y="159"/>
                  </a:lnTo>
                  <a:lnTo>
                    <a:pt x="65" y="167"/>
                  </a:lnTo>
                  <a:lnTo>
                    <a:pt x="175" y="176"/>
                  </a:lnTo>
                  <a:lnTo>
                    <a:pt x="812" y="183"/>
                  </a:lnTo>
                  <a:lnTo>
                    <a:pt x="1868" y="183"/>
                  </a:lnTo>
                  <a:lnTo>
                    <a:pt x="2960" y="183"/>
                  </a:lnTo>
                  <a:lnTo>
                    <a:pt x="3578" y="175"/>
                  </a:lnTo>
                  <a:lnTo>
                    <a:pt x="3674" y="166"/>
                  </a:lnTo>
                  <a:lnTo>
                    <a:pt x="3698" y="158"/>
                  </a:lnTo>
                  <a:lnTo>
                    <a:pt x="3703" y="153"/>
                  </a:lnTo>
                  <a:lnTo>
                    <a:pt x="3715" y="138"/>
                  </a:lnTo>
                  <a:lnTo>
                    <a:pt x="3729" y="105"/>
                  </a:lnTo>
                  <a:lnTo>
                    <a:pt x="3730" y="71"/>
                  </a:lnTo>
                  <a:lnTo>
                    <a:pt x="3717" y="40"/>
                  </a:lnTo>
                  <a:lnTo>
                    <a:pt x="3705" y="26"/>
                  </a:lnTo>
                  <a:lnTo>
                    <a:pt x="3699" y="22"/>
                  </a:lnTo>
                  <a:lnTo>
                    <a:pt x="3668" y="15"/>
                  </a:lnTo>
                  <a:lnTo>
                    <a:pt x="3552" y="7"/>
                  </a:lnTo>
                  <a:lnTo>
                    <a:pt x="2905" y="0"/>
                  </a:lnTo>
                  <a:lnTo>
                    <a:pt x="1865" y="0"/>
                  </a:lnTo>
                  <a:lnTo>
                    <a:pt x="825" y="0"/>
                  </a:lnTo>
                  <a:lnTo>
                    <a:pt x="178" y="7"/>
                  </a:lnTo>
                  <a:lnTo>
                    <a:pt x="62" y="15"/>
                  </a:lnTo>
                  <a:lnTo>
                    <a:pt x="31" y="22"/>
                  </a:lnTo>
                  <a:lnTo>
                    <a:pt x="25"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3" name="Freeform 195">
              <a:extLst>
                <a:ext uri="{FF2B5EF4-FFF2-40B4-BE49-F238E27FC236}">
                  <a16:creationId xmlns:a16="http://schemas.microsoft.com/office/drawing/2014/main" id="{E2D1D724-B567-C2AC-80AC-9BF4DDAB0347}"/>
                </a:ext>
              </a:extLst>
            </p:cNvPr>
            <p:cNvSpPr>
              <a:spLocks/>
            </p:cNvSpPr>
            <p:nvPr/>
          </p:nvSpPr>
          <p:spPr bwMode="auto">
            <a:xfrm>
              <a:off x="3543301" y="1054100"/>
              <a:ext cx="811213" cy="42863"/>
            </a:xfrm>
            <a:custGeom>
              <a:avLst/>
              <a:gdLst>
                <a:gd name="T0" fmla="*/ 25 w 3449"/>
                <a:gd name="T1" fmla="*/ 27 h 184"/>
                <a:gd name="T2" fmla="*/ 13 w 3449"/>
                <a:gd name="T3" fmla="*/ 41 h 184"/>
                <a:gd name="T4" fmla="*/ 0 w 3449"/>
                <a:gd name="T5" fmla="*/ 74 h 184"/>
                <a:gd name="T6" fmla="*/ 1 w 3449"/>
                <a:gd name="T7" fmla="*/ 109 h 184"/>
                <a:gd name="T8" fmla="*/ 16 w 3449"/>
                <a:gd name="T9" fmla="*/ 142 h 184"/>
                <a:gd name="T10" fmla="*/ 28 w 3449"/>
                <a:gd name="T11" fmla="*/ 155 h 184"/>
                <a:gd name="T12" fmla="*/ 35 w 3449"/>
                <a:gd name="T13" fmla="*/ 160 h 184"/>
                <a:gd name="T14" fmla="*/ 63 w 3449"/>
                <a:gd name="T15" fmla="*/ 168 h 184"/>
                <a:gd name="T16" fmla="*/ 166 w 3449"/>
                <a:gd name="T17" fmla="*/ 176 h 184"/>
                <a:gd name="T18" fmla="*/ 754 w 3449"/>
                <a:gd name="T19" fmla="*/ 183 h 184"/>
                <a:gd name="T20" fmla="*/ 1728 w 3449"/>
                <a:gd name="T21" fmla="*/ 184 h 184"/>
                <a:gd name="T22" fmla="*/ 2351 w 3449"/>
                <a:gd name="T23" fmla="*/ 184 h 184"/>
                <a:gd name="T24" fmla="*/ 2939 w 3449"/>
                <a:gd name="T25" fmla="*/ 182 h 184"/>
                <a:gd name="T26" fmla="*/ 3188 w 3449"/>
                <a:gd name="T27" fmla="*/ 178 h 184"/>
                <a:gd name="T28" fmla="*/ 3340 w 3449"/>
                <a:gd name="T29" fmla="*/ 170 h 184"/>
                <a:gd name="T30" fmla="*/ 3402 w 3449"/>
                <a:gd name="T31" fmla="*/ 160 h 184"/>
                <a:gd name="T32" fmla="*/ 3428 w 3449"/>
                <a:gd name="T33" fmla="*/ 152 h 184"/>
                <a:gd name="T34" fmla="*/ 3442 w 3449"/>
                <a:gd name="T35" fmla="*/ 142 h 184"/>
                <a:gd name="T36" fmla="*/ 3448 w 3449"/>
                <a:gd name="T37" fmla="*/ 130 h 184"/>
                <a:gd name="T38" fmla="*/ 3449 w 3449"/>
                <a:gd name="T39" fmla="*/ 109 h 184"/>
                <a:gd name="T40" fmla="*/ 3448 w 3449"/>
                <a:gd name="T41" fmla="*/ 92 h 184"/>
                <a:gd name="T42" fmla="*/ 3449 w 3449"/>
                <a:gd name="T43" fmla="*/ 75 h 184"/>
                <a:gd name="T44" fmla="*/ 3448 w 3449"/>
                <a:gd name="T45" fmla="*/ 54 h 184"/>
                <a:gd name="T46" fmla="*/ 3442 w 3449"/>
                <a:gd name="T47" fmla="*/ 42 h 184"/>
                <a:gd name="T48" fmla="*/ 3427 w 3449"/>
                <a:gd name="T49" fmla="*/ 32 h 184"/>
                <a:gd name="T50" fmla="*/ 3402 w 3449"/>
                <a:gd name="T51" fmla="*/ 24 h 184"/>
                <a:gd name="T52" fmla="*/ 3339 w 3449"/>
                <a:gd name="T53" fmla="*/ 14 h 184"/>
                <a:gd name="T54" fmla="*/ 3187 w 3449"/>
                <a:gd name="T55" fmla="*/ 6 h 184"/>
                <a:gd name="T56" fmla="*/ 2937 w 3449"/>
                <a:gd name="T57" fmla="*/ 2 h 184"/>
                <a:gd name="T58" fmla="*/ 2348 w 3449"/>
                <a:gd name="T59" fmla="*/ 0 h 184"/>
                <a:gd name="T60" fmla="*/ 1723 w 3449"/>
                <a:gd name="T61" fmla="*/ 0 h 184"/>
                <a:gd name="T62" fmla="*/ 765 w 3449"/>
                <a:gd name="T63" fmla="*/ 1 h 184"/>
                <a:gd name="T64" fmla="*/ 168 w 3449"/>
                <a:gd name="T65" fmla="*/ 8 h 184"/>
                <a:gd name="T66" fmla="*/ 61 w 3449"/>
                <a:gd name="T67" fmla="*/ 16 h 184"/>
                <a:gd name="T68" fmla="*/ 31 w 3449"/>
                <a:gd name="T69" fmla="*/ 23 h 184"/>
                <a:gd name="T70" fmla="*/ 25 w 3449"/>
                <a:gd name="T71" fmla="*/ 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49" h="184">
                  <a:moveTo>
                    <a:pt x="25" y="27"/>
                  </a:moveTo>
                  <a:lnTo>
                    <a:pt x="13" y="41"/>
                  </a:lnTo>
                  <a:lnTo>
                    <a:pt x="0" y="74"/>
                  </a:lnTo>
                  <a:lnTo>
                    <a:pt x="1" y="109"/>
                  </a:lnTo>
                  <a:lnTo>
                    <a:pt x="16" y="142"/>
                  </a:lnTo>
                  <a:lnTo>
                    <a:pt x="28" y="155"/>
                  </a:lnTo>
                  <a:lnTo>
                    <a:pt x="35" y="160"/>
                  </a:lnTo>
                  <a:lnTo>
                    <a:pt x="63" y="168"/>
                  </a:lnTo>
                  <a:lnTo>
                    <a:pt x="166" y="176"/>
                  </a:lnTo>
                  <a:lnTo>
                    <a:pt x="754" y="183"/>
                  </a:lnTo>
                  <a:lnTo>
                    <a:pt x="1728" y="184"/>
                  </a:lnTo>
                  <a:lnTo>
                    <a:pt x="2351" y="184"/>
                  </a:lnTo>
                  <a:lnTo>
                    <a:pt x="2939" y="182"/>
                  </a:lnTo>
                  <a:lnTo>
                    <a:pt x="3188" y="178"/>
                  </a:lnTo>
                  <a:lnTo>
                    <a:pt x="3340" y="170"/>
                  </a:lnTo>
                  <a:lnTo>
                    <a:pt x="3402" y="160"/>
                  </a:lnTo>
                  <a:lnTo>
                    <a:pt x="3428" y="152"/>
                  </a:lnTo>
                  <a:lnTo>
                    <a:pt x="3442" y="142"/>
                  </a:lnTo>
                  <a:lnTo>
                    <a:pt x="3448" y="130"/>
                  </a:lnTo>
                  <a:lnTo>
                    <a:pt x="3449" y="109"/>
                  </a:lnTo>
                  <a:lnTo>
                    <a:pt x="3448" y="92"/>
                  </a:lnTo>
                  <a:lnTo>
                    <a:pt x="3449" y="75"/>
                  </a:lnTo>
                  <a:lnTo>
                    <a:pt x="3448" y="54"/>
                  </a:lnTo>
                  <a:lnTo>
                    <a:pt x="3442" y="42"/>
                  </a:lnTo>
                  <a:lnTo>
                    <a:pt x="3427" y="32"/>
                  </a:lnTo>
                  <a:lnTo>
                    <a:pt x="3402" y="24"/>
                  </a:lnTo>
                  <a:lnTo>
                    <a:pt x="3339" y="14"/>
                  </a:lnTo>
                  <a:lnTo>
                    <a:pt x="3187" y="6"/>
                  </a:lnTo>
                  <a:lnTo>
                    <a:pt x="2937" y="2"/>
                  </a:lnTo>
                  <a:lnTo>
                    <a:pt x="2348" y="0"/>
                  </a:lnTo>
                  <a:lnTo>
                    <a:pt x="1723" y="0"/>
                  </a:lnTo>
                  <a:lnTo>
                    <a:pt x="765" y="1"/>
                  </a:lnTo>
                  <a:lnTo>
                    <a:pt x="168" y="8"/>
                  </a:lnTo>
                  <a:lnTo>
                    <a:pt x="61" y="16"/>
                  </a:lnTo>
                  <a:lnTo>
                    <a:pt x="31" y="23"/>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4" name="Freeform 196">
              <a:extLst>
                <a:ext uri="{FF2B5EF4-FFF2-40B4-BE49-F238E27FC236}">
                  <a16:creationId xmlns:a16="http://schemas.microsoft.com/office/drawing/2014/main" id="{EB7F2890-0AE5-0535-2DDF-78C45E160022}"/>
                </a:ext>
              </a:extLst>
            </p:cNvPr>
            <p:cNvSpPr>
              <a:spLocks/>
            </p:cNvSpPr>
            <p:nvPr/>
          </p:nvSpPr>
          <p:spPr bwMode="auto">
            <a:xfrm>
              <a:off x="3543301" y="1163638"/>
              <a:ext cx="304800" cy="42863"/>
            </a:xfrm>
            <a:custGeom>
              <a:avLst/>
              <a:gdLst>
                <a:gd name="T0" fmla="*/ 25 w 1300"/>
                <a:gd name="T1" fmla="*/ 27 h 183"/>
                <a:gd name="T2" fmla="*/ 13 w 1300"/>
                <a:gd name="T3" fmla="*/ 41 h 183"/>
                <a:gd name="T4" fmla="*/ 0 w 1300"/>
                <a:gd name="T5" fmla="*/ 74 h 183"/>
                <a:gd name="T6" fmla="*/ 1 w 1300"/>
                <a:gd name="T7" fmla="*/ 109 h 183"/>
                <a:gd name="T8" fmla="*/ 16 w 1300"/>
                <a:gd name="T9" fmla="*/ 142 h 183"/>
                <a:gd name="T10" fmla="*/ 28 w 1300"/>
                <a:gd name="T11" fmla="*/ 155 h 183"/>
                <a:gd name="T12" fmla="*/ 34 w 1300"/>
                <a:gd name="T13" fmla="*/ 160 h 183"/>
                <a:gd name="T14" fmla="*/ 51 w 1300"/>
                <a:gd name="T15" fmla="*/ 167 h 183"/>
                <a:gd name="T16" fmla="*/ 95 w 1300"/>
                <a:gd name="T17" fmla="*/ 175 h 183"/>
                <a:gd name="T18" fmla="*/ 311 w 1300"/>
                <a:gd name="T19" fmla="*/ 183 h 183"/>
                <a:gd name="T20" fmla="*/ 647 w 1300"/>
                <a:gd name="T21" fmla="*/ 183 h 183"/>
                <a:gd name="T22" fmla="*/ 908 w 1300"/>
                <a:gd name="T23" fmla="*/ 182 h 183"/>
                <a:gd name="T24" fmla="*/ 1162 w 1300"/>
                <a:gd name="T25" fmla="*/ 176 h 183"/>
                <a:gd name="T26" fmla="*/ 1252 w 1300"/>
                <a:gd name="T27" fmla="*/ 170 h 183"/>
                <a:gd name="T28" fmla="*/ 1267 w 1300"/>
                <a:gd name="T29" fmla="*/ 167 h 183"/>
                <a:gd name="T30" fmla="*/ 1273 w 1300"/>
                <a:gd name="T31" fmla="*/ 162 h 183"/>
                <a:gd name="T32" fmla="*/ 1284 w 1300"/>
                <a:gd name="T33" fmla="*/ 149 h 183"/>
                <a:gd name="T34" fmla="*/ 1296 w 1300"/>
                <a:gd name="T35" fmla="*/ 121 h 183"/>
                <a:gd name="T36" fmla="*/ 1300 w 1300"/>
                <a:gd name="T37" fmla="*/ 76 h 183"/>
                <a:gd name="T38" fmla="*/ 1293 w 1300"/>
                <a:gd name="T39" fmla="*/ 44 h 183"/>
                <a:gd name="T40" fmla="*/ 1284 w 1300"/>
                <a:gd name="T41" fmla="*/ 27 h 183"/>
                <a:gd name="T42" fmla="*/ 1278 w 1300"/>
                <a:gd name="T43" fmla="*/ 20 h 183"/>
                <a:gd name="T44" fmla="*/ 1268 w 1300"/>
                <a:gd name="T45" fmla="*/ 15 h 183"/>
                <a:gd name="T46" fmla="*/ 1195 w 1300"/>
                <a:gd name="T47" fmla="*/ 7 h 183"/>
                <a:gd name="T48" fmla="*/ 954 w 1300"/>
                <a:gd name="T49" fmla="*/ 1 h 183"/>
                <a:gd name="T50" fmla="*/ 655 w 1300"/>
                <a:gd name="T51" fmla="*/ 0 h 183"/>
                <a:gd name="T52" fmla="*/ 316 w 1300"/>
                <a:gd name="T53" fmla="*/ 0 h 183"/>
                <a:gd name="T54" fmla="*/ 92 w 1300"/>
                <a:gd name="T55" fmla="*/ 8 h 183"/>
                <a:gd name="T56" fmla="*/ 46 w 1300"/>
                <a:gd name="T57" fmla="*/ 15 h 183"/>
                <a:gd name="T58" fmla="*/ 30 w 1300"/>
                <a:gd name="T59" fmla="*/ 22 h 183"/>
                <a:gd name="T60" fmla="*/ 25 w 1300"/>
                <a:gd name="T61" fmla="*/ 2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00" h="183">
                  <a:moveTo>
                    <a:pt x="25" y="27"/>
                  </a:moveTo>
                  <a:lnTo>
                    <a:pt x="13" y="41"/>
                  </a:lnTo>
                  <a:lnTo>
                    <a:pt x="0" y="74"/>
                  </a:lnTo>
                  <a:lnTo>
                    <a:pt x="1" y="109"/>
                  </a:lnTo>
                  <a:lnTo>
                    <a:pt x="16" y="142"/>
                  </a:lnTo>
                  <a:lnTo>
                    <a:pt x="28" y="155"/>
                  </a:lnTo>
                  <a:lnTo>
                    <a:pt x="34" y="160"/>
                  </a:lnTo>
                  <a:lnTo>
                    <a:pt x="51" y="167"/>
                  </a:lnTo>
                  <a:lnTo>
                    <a:pt x="95" y="175"/>
                  </a:lnTo>
                  <a:lnTo>
                    <a:pt x="311" y="183"/>
                  </a:lnTo>
                  <a:lnTo>
                    <a:pt x="647" y="183"/>
                  </a:lnTo>
                  <a:lnTo>
                    <a:pt x="908" y="182"/>
                  </a:lnTo>
                  <a:lnTo>
                    <a:pt x="1162" y="176"/>
                  </a:lnTo>
                  <a:lnTo>
                    <a:pt x="1252" y="170"/>
                  </a:lnTo>
                  <a:lnTo>
                    <a:pt x="1267" y="167"/>
                  </a:lnTo>
                  <a:lnTo>
                    <a:pt x="1273" y="162"/>
                  </a:lnTo>
                  <a:lnTo>
                    <a:pt x="1284" y="149"/>
                  </a:lnTo>
                  <a:lnTo>
                    <a:pt x="1296" y="121"/>
                  </a:lnTo>
                  <a:lnTo>
                    <a:pt x="1300" y="76"/>
                  </a:lnTo>
                  <a:lnTo>
                    <a:pt x="1293" y="44"/>
                  </a:lnTo>
                  <a:lnTo>
                    <a:pt x="1284" y="27"/>
                  </a:lnTo>
                  <a:lnTo>
                    <a:pt x="1278" y="20"/>
                  </a:lnTo>
                  <a:lnTo>
                    <a:pt x="1268" y="15"/>
                  </a:lnTo>
                  <a:lnTo>
                    <a:pt x="1195" y="7"/>
                  </a:lnTo>
                  <a:lnTo>
                    <a:pt x="954" y="1"/>
                  </a:lnTo>
                  <a:lnTo>
                    <a:pt x="655" y="0"/>
                  </a:lnTo>
                  <a:lnTo>
                    <a:pt x="316" y="0"/>
                  </a:lnTo>
                  <a:lnTo>
                    <a:pt x="92" y="8"/>
                  </a:lnTo>
                  <a:lnTo>
                    <a:pt x="46" y="15"/>
                  </a:lnTo>
                  <a:lnTo>
                    <a:pt x="30" y="22"/>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5" name="Freeform 197">
              <a:extLst>
                <a:ext uri="{FF2B5EF4-FFF2-40B4-BE49-F238E27FC236}">
                  <a16:creationId xmlns:a16="http://schemas.microsoft.com/office/drawing/2014/main" id="{3566A8D2-52D7-C292-2516-AABAA50B81D0}"/>
                </a:ext>
              </a:extLst>
            </p:cNvPr>
            <p:cNvSpPr>
              <a:spLocks noEditPoints="1"/>
            </p:cNvSpPr>
            <p:nvPr/>
          </p:nvSpPr>
          <p:spPr bwMode="auto">
            <a:xfrm>
              <a:off x="4235451" y="1384300"/>
              <a:ext cx="655638" cy="654050"/>
            </a:xfrm>
            <a:custGeom>
              <a:avLst/>
              <a:gdLst>
                <a:gd name="T0" fmla="*/ 1014 w 2790"/>
                <a:gd name="T1" fmla="*/ 47 h 2786"/>
                <a:gd name="T2" fmla="*/ 733 w 2790"/>
                <a:gd name="T3" fmla="*/ 165 h 2786"/>
                <a:gd name="T4" fmla="*/ 483 w 2790"/>
                <a:gd name="T5" fmla="*/ 335 h 2786"/>
                <a:gd name="T6" fmla="*/ 353 w 2790"/>
                <a:gd name="T7" fmla="*/ 464 h 2786"/>
                <a:gd name="T8" fmla="*/ 198 w 2790"/>
                <a:gd name="T9" fmla="*/ 675 h 2786"/>
                <a:gd name="T10" fmla="*/ 88 w 2790"/>
                <a:gd name="T11" fmla="*/ 904 h 2786"/>
                <a:gd name="T12" fmla="*/ 22 w 2790"/>
                <a:gd name="T13" fmla="*/ 1143 h 2786"/>
                <a:gd name="T14" fmla="*/ 0 w 2790"/>
                <a:gd name="T15" fmla="*/ 1387 h 2786"/>
                <a:gd name="T16" fmla="*/ 35 w 2790"/>
                <a:gd name="T17" fmla="*/ 1710 h 2786"/>
                <a:gd name="T18" fmla="*/ 110 w 2790"/>
                <a:gd name="T19" fmla="*/ 1942 h 2786"/>
                <a:gd name="T20" fmla="*/ 226 w 2790"/>
                <a:gd name="T21" fmla="*/ 2160 h 2786"/>
                <a:gd name="T22" fmla="*/ 381 w 2790"/>
                <a:gd name="T23" fmla="*/ 2356 h 2786"/>
                <a:gd name="T24" fmla="*/ 575 w 2790"/>
                <a:gd name="T25" fmla="*/ 2524 h 2786"/>
                <a:gd name="T26" fmla="*/ 766 w 2790"/>
                <a:gd name="T27" fmla="*/ 2639 h 2786"/>
                <a:gd name="T28" fmla="*/ 1026 w 2790"/>
                <a:gd name="T29" fmla="*/ 2743 h 2786"/>
                <a:gd name="T30" fmla="*/ 1293 w 2790"/>
                <a:gd name="T31" fmla="*/ 2784 h 2786"/>
                <a:gd name="T32" fmla="*/ 1631 w 2790"/>
                <a:gd name="T33" fmla="*/ 2774 h 2786"/>
                <a:gd name="T34" fmla="*/ 1821 w 2790"/>
                <a:gd name="T35" fmla="*/ 2728 h 2786"/>
                <a:gd name="T36" fmla="*/ 2079 w 2790"/>
                <a:gd name="T37" fmla="*/ 2615 h 2786"/>
                <a:gd name="T38" fmla="*/ 2307 w 2790"/>
                <a:gd name="T39" fmla="*/ 2455 h 2786"/>
                <a:gd name="T40" fmla="*/ 2498 w 2790"/>
                <a:gd name="T41" fmla="*/ 2254 h 2786"/>
                <a:gd name="T42" fmla="*/ 2649 w 2790"/>
                <a:gd name="T43" fmla="*/ 2014 h 2786"/>
                <a:gd name="T44" fmla="*/ 2741 w 2790"/>
                <a:gd name="T45" fmla="*/ 1789 h 2786"/>
                <a:gd name="T46" fmla="*/ 2783 w 2790"/>
                <a:gd name="T47" fmla="*/ 1554 h 2786"/>
                <a:gd name="T48" fmla="*/ 2774 w 2790"/>
                <a:gd name="T49" fmla="*/ 1150 h 2786"/>
                <a:gd name="T50" fmla="*/ 2729 w 2790"/>
                <a:gd name="T51" fmla="*/ 964 h 2786"/>
                <a:gd name="T52" fmla="*/ 2606 w 2790"/>
                <a:gd name="T53" fmla="*/ 689 h 2786"/>
                <a:gd name="T54" fmla="*/ 2420 w 2790"/>
                <a:gd name="T55" fmla="*/ 442 h 2786"/>
                <a:gd name="T56" fmla="*/ 2265 w 2790"/>
                <a:gd name="T57" fmla="*/ 298 h 2786"/>
                <a:gd name="T58" fmla="*/ 2005 w 2790"/>
                <a:gd name="T59" fmla="*/ 133 h 2786"/>
                <a:gd name="T60" fmla="*/ 1713 w 2790"/>
                <a:gd name="T61" fmla="*/ 31 h 2786"/>
                <a:gd name="T62" fmla="*/ 1477 w 2790"/>
                <a:gd name="T63" fmla="*/ 1 h 2786"/>
                <a:gd name="T64" fmla="*/ 1154 w 2790"/>
                <a:gd name="T65" fmla="*/ 14 h 2786"/>
                <a:gd name="T66" fmla="*/ 1794 w 2790"/>
                <a:gd name="T67" fmla="*/ 552 h 2786"/>
                <a:gd name="T68" fmla="*/ 2049 w 2790"/>
                <a:gd name="T69" fmla="*/ 737 h 2786"/>
                <a:gd name="T70" fmla="*/ 2206 w 2790"/>
                <a:gd name="T71" fmla="*/ 932 h 2786"/>
                <a:gd name="T72" fmla="*/ 2305 w 2790"/>
                <a:gd name="T73" fmla="*/ 1189 h 2786"/>
                <a:gd name="T74" fmla="*/ 2319 w 2790"/>
                <a:gd name="T75" fmla="*/ 1439 h 2786"/>
                <a:gd name="T76" fmla="*/ 2286 w 2790"/>
                <a:gd name="T77" fmla="*/ 1667 h 2786"/>
                <a:gd name="T78" fmla="*/ 2201 w 2790"/>
                <a:gd name="T79" fmla="*/ 1861 h 2786"/>
                <a:gd name="T80" fmla="*/ 2079 w 2790"/>
                <a:gd name="T81" fmla="*/ 2024 h 2786"/>
                <a:gd name="T82" fmla="*/ 1874 w 2790"/>
                <a:gd name="T83" fmla="*/ 2191 h 2786"/>
                <a:gd name="T84" fmla="*/ 1626 w 2790"/>
                <a:gd name="T85" fmla="*/ 2295 h 2786"/>
                <a:gd name="T86" fmla="*/ 1440 w 2790"/>
                <a:gd name="T87" fmla="*/ 2327 h 2786"/>
                <a:gd name="T88" fmla="*/ 1216 w 2790"/>
                <a:gd name="T89" fmla="*/ 2306 h 2786"/>
                <a:gd name="T90" fmla="*/ 917 w 2790"/>
                <a:gd name="T91" fmla="*/ 2188 h 2786"/>
                <a:gd name="T92" fmla="*/ 639 w 2790"/>
                <a:gd name="T93" fmla="*/ 1929 h 2786"/>
                <a:gd name="T94" fmla="*/ 499 w 2790"/>
                <a:gd name="T95" fmla="*/ 1641 h 2786"/>
                <a:gd name="T96" fmla="*/ 471 w 2790"/>
                <a:gd name="T97" fmla="*/ 1464 h 2786"/>
                <a:gd name="T98" fmla="*/ 492 w 2790"/>
                <a:gd name="T99" fmla="*/ 1180 h 2786"/>
                <a:gd name="T100" fmla="*/ 569 w 2790"/>
                <a:gd name="T101" fmla="*/ 978 h 2786"/>
                <a:gd name="T102" fmla="*/ 801 w 2790"/>
                <a:gd name="T103" fmla="*/ 684 h 2786"/>
                <a:gd name="T104" fmla="*/ 1120 w 2790"/>
                <a:gd name="T105" fmla="*/ 503 h 2786"/>
                <a:gd name="T106" fmla="*/ 1339 w 2790"/>
                <a:gd name="T107" fmla="*/ 467 h 2786"/>
                <a:gd name="T108" fmla="*/ 1616 w 2790"/>
                <a:gd name="T109" fmla="*/ 489 h 2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790" h="2786">
                  <a:moveTo>
                    <a:pt x="1154" y="14"/>
                  </a:moveTo>
                  <a:lnTo>
                    <a:pt x="1108" y="23"/>
                  </a:lnTo>
                  <a:lnTo>
                    <a:pt x="1014" y="47"/>
                  </a:lnTo>
                  <a:lnTo>
                    <a:pt x="920" y="79"/>
                  </a:lnTo>
                  <a:lnTo>
                    <a:pt x="825" y="119"/>
                  </a:lnTo>
                  <a:lnTo>
                    <a:pt x="733" y="165"/>
                  </a:lnTo>
                  <a:lnTo>
                    <a:pt x="644" y="217"/>
                  </a:lnTo>
                  <a:lnTo>
                    <a:pt x="560" y="274"/>
                  </a:lnTo>
                  <a:lnTo>
                    <a:pt x="483" y="335"/>
                  </a:lnTo>
                  <a:lnTo>
                    <a:pt x="447" y="367"/>
                  </a:lnTo>
                  <a:lnTo>
                    <a:pt x="414" y="399"/>
                  </a:lnTo>
                  <a:lnTo>
                    <a:pt x="353" y="464"/>
                  </a:lnTo>
                  <a:lnTo>
                    <a:pt x="296" y="532"/>
                  </a:lnTo>
                  <a:lnTo>
                    <a:pt x="244" y="603"/>
                  </a:lnTo>
                  <a:lnTo>
                    <a:pt x="198" y="675"/>
                  </a:lnTo>
                  <a:lnTo>
                    <a:pt x="156" y="750"/>
                  </a:lnTo>
                  <a:lnTo>
                    <a:pt x="120" y="826"/>
                  </a:lnTo>
                  <a:lnTo>
                    <a:pt x="88" y="904"/>
                  </a:lnTo>
                  <a:lnTo>
                    <a:pt x="61" y="982"/>
                  </a:lnTo>
                  <a:lnTo>
                    <a:pt x="39" y="1062"/>
                  </a:lnTo>
                  <a:lnTo>
                    <a:pt x="22" y="1143"/>
                  </a:lnTo>
                  <a:lnTo>
                    <a:pt x="10" y="1224"/>
                  </a:lnTo>
                  <a:lnTo>
                    <a:pt x="2" y="1305"/>
                  </a:lnTo>
                  <a:lnTo>
                    <a:pt x="0" y="1387"/>
                  </a:lnTo>
                  <a:lnTo>
                    <a:pt x="4" y="1509"/>
                  </a:lnTo>
                  <a:lnTo>
                    <a:pt x="19" y="1630"/>
                  </a:lnTo>
                  <a:lnTo>
                    <a:pt x="35" y="1710"/>
                  </a:lnTo>
                  <a:lnTo>
                    <a:pt x="56" y="1789"/>
                  </a:lnTo>
                  <a:lnTo>
                    <a:pt x="81" y="1866"/>
                  </a:lnTo>
                  <a:lnTo>
                    <a:pt x="110" y="1942"/>
                  </a:lnTo>
                  <a:lnTo>
                    <a:pt x="144" y="2017"/>
                  </a:lnTo>
                  <a:lnTo>
                    <a:pt x="183" y="2089"/>
                  </a:lnTo>
                  <a:lnTo>
                    <a:pt x="226" y="2160"/>
                  </a:lnTo>
                  <a:lnTo>
                    <a:pt x="273" y="2228"/>
                  </a:lnTo>
                  <a:lnTo>
                    <a:pt x="325" y="2293"/>
                  </a:lnTo>
                  <a:lnTo>
                    <a:pt x="381" y="2356"/>
                  </a:lnTo>
                  <a:lnTo>
                    <a:pt x="441" y="2415"/>
                  </a:lnTo>
                  <a:lnTo>
                    <a:pt x="506" y="2471"/>
                  </a:lnTo>
                  <a:lnTo>
                    <a:pt x="575" y="2524"/>
                  </a:lnTo>
                  <a:lnTo>
                    <a:pt x="648" y="2573"/>
                  </a:lnTo>
                  <a:lnTo>
                    <a:pt x="725" y="2618"/>
                  </a:lnTo>
                  <a:lnTo>
                    <a:pt x="766" y="2639"/>
                  </a:lnTo>
                  <a:lnTo>
                    <a:pt x="844" y="2677"/>
                  </a:lnTo>
                  <a:lnTo>
                    <a:pt x="954" y="2720"/>
                  </a:lnTo>
                  <a:lnTo>
                    <a:pt x="1026" y="2743"/>
                  </a:lnTo>
                  <a:lnTo>
                    <a:pt x="1099" y="2760"/>
                  </a:lnTo>
                  <a:lnTo>
                    <a:pt x="1174" y="2773"/>
                  </a:lnTo>
                  <a:lnTo>
                    <a:pt x="1293" y="2784"/>
                  </a:lnTo>
                  <a:lnTo>
                    <a:pt x="1382" y="2786"/>
                  </a:lnTo>
                  <a:lnTo>
                    <a:pt x="1468" y="2785"/>
                  </a:lnTo>
                  <a:lnTo>
                    <a:pt x="1631" y="2774"/>
                  </a:lnTo>
                  <a:lnTo>
                    <a:pt x="1682" y="2766"/>
                  </a:lnTo>
                  <a:lnTo>
                    <a:pt x="1729" y="2755"/>
                  </a:lnTo>
                  <a:lnTo>
                    <a:pt x="1821" y="2728"/>
                  </a:lnTo>
                  <a:lnTo>
                    <a:pt x="1911" y="2696"/>
                  </a:lnTo>
                  <a:lnTo>
                    <a:pt x="1997" y="2658"/>
                  </a:lnTo>
                  <a:lnTo>
                    <a:pt x="2079" y="2615"/>
                  </a:lnTo>
                  <a:lnTo>
                    <a:pt x="2159" y="2566"/>
                  </a:lnTo>
                  <a:lnTo>
                    <a:pt x="2235" y="2513"/>
                  </a:lnTo>
                  <a:lnTo>
                    <a:pt x="2307" y="2455"/>
                  </a:lnTo>
                  <a:lnTo>
                    <a:pt x="2375" y="2392"/>
                  </a:lnTo>
                  <a:lnTo>
                    <a:pt x="2438" y="2325"/>
                  </a:lnTo>
                  <a:lnTo>
                    <a:pt x="2498" y="2254"/>
                  </a:lnTo>
                  <a:lnTo>
                    <a:pt x="2553" y="2178"/>
                  </a:lnTo>
                  <a:lnTo>
                    <a:pt x="2604" y="2098"/>
                  </a:lnTo>
                  <a:lnTo>
                    <a:pt x="2649" y="2014"/>
                  </a:lnTo>
                  <a:lnTo>
                    <a:pt x="2690" y="1927"/>
                  </a:lnTo>
                  <a:lnTo>
                    <a:pt x="2725" y="1836"/>
                  </a:lnTo>
                  <a:lnTo>
                    <a:pt x="2741" y="1789"/>
                  </a:lnTo>
                  <a:lnTo>
                    <a:pt x="2750" y="1757"/>
                  </a:lnTo>
                  <a:lnTo>
                    <a:pt x="2766" y="1682"/>
                  </a:lnTo>
                  <a:lnTo>
                    <a:pt x="2783" y="1554"/>
                  </a:lnTo>
                  <a:lnTo>
                    <a:pt x="2790" y="1368"/>
                  </a:lnTo>
                  <a:lnTo>
                    <a:pt x="2784" y="1232"/>
                  </a:lnTo>
                  <a:lnTo>
                    <a:pt x="2774" y="1150"/>
                  </a:lnTo>
                  <a:lnTo>
                    <a:pt x="2767" y="1112"/>
                  </a:lnTo>
                  <a:lnTo>
                    <a:pt x="2756" y="1062"/>
                  </a:lnTo>
                  <a:lnTo>
                    <a:pt x="2729" y="964"/>
                  </a:lnTo>
                  <a:lnTo>
                    <a:pt x="2695" y="869"/>
                  </a:lnTo>
                  <a:lnTo>
                    <a:pt x="2654" y="778"/>
                  </a:lnTo>
                  <a:lnTo>
                    <a:pt x="2606" y="689"/>
                  </a:lnTo>
                  <a:lnTo>
                    <a:pt x="2551" y="604"/>
                  </a:lnTo>
                  <a:lnTo>
                    <a:pt x="2489" y="522"/>
                  </a:lnTo>
                  <a:lnTo>
                    <a:pt x="2420" y="442"/>
                  </a:lnTo>
                  <a:lnTo>
                    <a:pt x="2382" y="404"/>
                  </a:lnTo>
                  <a:lnTo>
                    <a:pt x="2344" y="367"/>
                  </a:lnTo>
                  <a:lnTo>
                    <a:pt x="2265" y="298"/>
                  </a:lnTo>
                  <a:lnTo>
                    <a:pt x="2182" y="236"/>
                  </a:lnTo>
                  <a:lnTo>
                    <a:pt x="2095" y="181"/>
                  </a:lnTo>
                  <a:lnTo>
                    <a:pt x="2005" y="133"/>
                  </a:lnTo>
                  <a:lnTo>
                    <a:pt x="1911" y="92"/>
                  </a:lnTo>
                  <a:lnTo>
                    <a:pt x="1813" y="58"/>
                  </a:lnTo>
                  <a:lnTo>
                    <a:pt x="1713" y="31"/>
                  </a:lnTo>
                  <a:lnTo>
                    <a:pt x="1661" y="21"/>
                  </a:lnTo>
                  <a:lnTo>
                    <a:pt x="1608" y="12"/>
                  </a:lnTo>
                  <a:lnTo>
                    <a:pt x="1477" y="1"/>
                  </a:lnTo>
                  <a:lnTo>
                    <a:pt x="1336" y="0"/>
                  </a:lnTo>
                  <a:lnTo>
                    <a:pt x="1206" y="7"/>
                  </a:lnTo>
                  <a:lnTo>
                    <a:pt x="1154" y="14"/>
                  </a:lnTo>
                  <a:close/>
                  <a:moveTo>
                    <a:pt x="1616" y="489"/>
                  </a:moveTo>
                  <a:lnTo>
                    <a:pt x="1679" y="506"/>
                  </a:lnTo>
                  <a:lnTo>
                    <a:pt x="1794" y="552"/>
                  </a:lnTo>
                  <a:lnTo>
                    <a:pt x="1900" y="613"/>
                  </a:lnTo>
                  <a:lnTo>
                    <a:pt x="2000" y="691"/>
                  </a:lnTo>
                  <a:lnTo>
                    <a:pt x="2049" y="737"/>
                  </a:lnTo>
                  <a:lnTo>
                    <a:pt x="2086" y="776"/>
                  </a:lnTo>
                  <a:lnTo>
                    <a:pt x="2152" y="853"/>
                  </a:lnTo>
                  <a:lnTo>
                    <a:pt x="2206" y="932"/>
                  </a:lnTo>
                  <a:lnTo>
                    <a:pt x="2249" y="1014"/>
                  </a:lnTo>
                  <a:lnTo>
                    <a:pt x="2282" y="1099"/>
                  </a:lnTo>
                  <a:lnTo>
                    <a:pt x="2305" y="1189"/>
                  </a:lnTo>
                  <a:lnTo>
                    <a:pt x="2318" y="1284"/>
                  </a:lnTo>
                  <a:lnTo>
                    <a:pt x="2321" y="1385"/>
                  </a:lnTo>
                  <a:lnTo>
                    <a:pt x="2319" y="1439"/>
                  </a:lnTo>
                  <a:lnTo>
                    <a:pt x="2314" y="1512"/>
                  </a:lnTo>
                  <a:lnTo>
                    <a:pt x="2300" y="1608"/>
                  </a:lnTo>
                  <a:lnTo>
                    <a:pt x="2286" y="1667"/>
                  </a:lnTo>
                  <a:lnTo>
                    <a:pt x="2268" y="1724"/>
                  </a:lnTo>
                  <a:lnTo>
                    <a:pt x="2245" y="1779"/>
                  </a:lnTo>
                  <a:lnTo>
                    <a:pt x="2201" y="1861"/>
                  </a:lnTo>
                  <a:lnTo>
                    <a:pt x="2162" y="1919"/>
                  </a:lnTo>
                  <a:lnTo>
                    <a:pt x="2136" y="1956"/>
                  </a:lnTo>
                  <a:lnTo>
                    <a:pt x="2079" y="2024"/>
                  </a:lnTo>
                  <a:lnTo>
                    <a:pt x="2017" y="2086"/>
                  </a:lnTo>
                  <a:lnTo>
                    <a:pt x="1948" y="2142"/>
                  </a:lnTo>
                  <a:lnTo>
                    <a:pt x="1874" y="2191"/>
                  </a:lnTo>
                  <a:lnTo>
                    <a:pt x="1796" y="2233"/>
                  </a:lnTo>
                  <a:lnTo>
                    <a:pt x="1713" y="2268"/>
                  </a:lnTo>
                  <a:lnTo>
                    <a:pt x="1626" y="2295"/>
                  </a:lnTo>
                  <a:lnTo>
                    <a:pt x="1581" y="2306"/>
                  </a:lnTo>
                  <a:lnTo>
                    <a:pt x="1529" y="2316"/>
                  </a:lnTo>
                  <a:lnTo>
                    <a:pt x="1440" y="2327"/>
                  </a:lnTo>
                  <a:lnTo>
                    <a:pt x="1358" y="2327"/>
                  </a:lnTo>
                  <a:lnTo>
                    <a:pt x="1268" y="2316"/>
                  </a:lnTo>
                  <a:lnTo>
                    <a:pt x="1216" y="2306"/>
                  </a:lnTo>
                  <a:lnTo>
                    <a:pt x="1152" y="2291"/>
                  </a:lnTo>
                  <a:lnTo>
                    <a:pt x="1031" y="2247"/>
                  </a:lnTo>
                  <a:lnTo>
                    <a:pt x="917" y="2188"/>
                  </a:lnTo>
                  <a:lnTo>
                    <a:pt x="813" y="2114"/>
                  </a:lnTo>
                  <a:lnTo>
                    <a:pt x="720" y="2028"/>
                  </a:lnTo>
                  <a:lnTo>
                    <a:pt x="639" y="1929"/>
                  </a:lnTo>
                  <a:lnTo>
                    <a:pt x="571" y="1821"/>
                  </a:lnTo>
                  <a:lnTo>
                    <a:pt x="519" y="1703"/>
                  </a:lnTo>
                  <a:lnTo>
                    <a:pt x="499" y="1641"/>
                  </a:lnTo>
                  <a:lnTo>
                    <a:pt x="492" y="1616"/>
                  </a:lnTo>
                  <a:lnTo>
                    <a:pt x="481" y="1559"/>
                  </a:lnTo>
                  <a:lnTo>
                    <a:pt x="471" y="1464"/>
                  </a:lnTo>
                  <a:lnTo>
                    <a:pt x="471" y="1331"/>
                  </a:lnTo>
                  <a:lnTo>
                    <a:pt x="481" y="1237"/>
                  </a:lnTo>
                  <a:lnTo>
                    <a:pt x="492" y="1180"/>
                  </a:lnTo>
                  <a:lnTo>
                    <a:pt x="499" y="1156"/>
                  </a:lnTo>
                  <a:lnTo>
                    <a:pt x="518" y="1095"/>
                  </a:lnTo>
                  <a:lnTo>
                    <a:pt x="569" y="978"/>
                  </a:lnTo>
                  <a:lnTo>
                    <a:pt x="635" y="870"/>
                  </a:lnTo>
                  <a:lnTo>
                    <a:pt x="712" y="772"/>
                  </a:lnTo>
                  <a:lnTo>
                    <a:pt x="801" y="684"/>
                  </a:lnTo>
                  <a:lnTo>
                    <a:pt x="900" y="610"/>
                  </a:lnTo>
                  <a:lnTo>
                    <a:pt x="1007" y="549"/>
                  </a:lnTo>
                  <a:lnTo>
                    <a:pt x="1120" y="503"/>
                  </a:lnTo>
                  <a:lnTo>
                    <a:pt x="1179" y="487"/>
                  </a:lnTo>
                  <a:lnTo>
                    <a:pt x="1226" y="478"/>
                  </a:lnTo>
                  <a:lnTo>
                    <a:pt x="1339" y="467"/>
                  </a:lnTo>
                  <a:lnTo>
                    <a:pt x="1458" y="467"/>
                  </a:lnTo>
                  <a:lnTo>
                    <a:pt x="1569" y="479"/>
                  </a:lnTo>
                  <a:lnTo>
                    <a:pt x="1616" y="48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6" name="Freeform 198">
              <a:extLst>
                <a:ext uri="{FF2B5EF4-FFF2-40B4-BE49-F238E27FC236}">
                  <a16:creationId xmlns:a16="http://schemas.microsoft.com/office/drawing/2014/main" id="{DBE178A9-B74D-21AF-7608-7CC13D418303}"/>
                </a:ext>
              </a:extLst>
            </p:cNvPr>
            <p:cNvSpPr>
              <a:spLocks/>
            </p:cNvSpPr>
            <p:nvPr/>
          </p:nvSpPr>
          <p:spPr bwMode="auto">
            <a:xfrm>
              <a:off x="4389438" y="1536700"/>
              <a:ext cx="292100" cy="288925"/>
            </a:xfrm>
            <a:custGeom>
              <a:avLst/>
              <a:gdLst>
                <a:gd name="T0" fmla="*/ 553 w 1240"/>
                <a:gd name="T1" fmla="*/ 21 h 1230"/>
                <a:gd name="T2" fmla="*/ 513 w 1240"/>
                <a:gd name="T3" fmla="*/ 33 h 1230"/>
                <a:gd name="T4" fmla="*/ 437 w 1240"/>
                <a:gd name="T5" fmla="*/ 64 h 1230"/>
                <a:gd name="T6" fmla="*/ 365 w 1240"/>
                <a:gd name="T7" fmla="*/ 101 h 1230"/>
                <a:gd name="T8" fmla="*/ 299 w 1240"/>
                <a:gd name="T9" fmla="*/ 146 h 1230"/>
                <a:gd name="T10" fmla="*/ 238 w 1240"/>
                <a:gd name="T11" fmla="*/ 198 h 1230"/>
                <a:gd name="T12" fmla="*/ 182 w 1240"/>
                <a:gd name="T13" fmla="*/ 256 h 1230"/>
                <a:gd name="T14" fmla="*/ 133 w 1240"/>
                <a:gd name="T15" fmla="*/ 320 h 1230"/>
                <a:gd name="T16" fmla="*/ 90 w 1240"/>
                <a:gd name="T17" fmla="*/ 391 h 1230"/>
                <a:gd name="T18" fmla="*/ 71 w 1240"/>
                <a:gd name="T19" fmla="*/ 428 h 1230"/>
                <a:gd name="T20" fmla="*/ 57 w 1240"/>
                <a:gd name="T21" fmla="*/ 459 h 1230"/>
                <a:gd name="T22" fmla="*/ 34 w 1240"/>
                <a:gd name="T23" fmla="*/ 523 h 1230"/>
                <a:gd name="T24" fmla="*/ 16 w 1240"/>
                <a:gd name="T25" fmla="*/ 588 h 1230"/>
                <a:gd name="T26" fmla="*/ 5 w 1240"/>
                <a:gd name="T27" fmla="*/ 655 h 1230"/>
                <a:gd name="T28" fmla="*/ 0 w 1240"/>
                <a:gd name="T29" fmla="*/ 722 h 1230"/>
                <a:gd name="T30" fmla="*/ 1 w 1240"/>
                <a:gd name="T31" fmla="*/ 790 h 1230"/>
                <a:gd name="T32" fmla="*/ 8 w 1240"/>
                <a:gd name="T33" fmla="*/ 858 h 1230"/>
                <a:gd name="T34" fmla="*/ 22 w 1240"/>
                <a:gd name="T35" fmla="*/ 925 h 1230"/>
                <a:gd name="T36" fmla="*/ 31 w 1240"/>
                <a:gd name="T37" fmla="*/ 958 h 1230"/>
                <a:gd name="T38" fmla="*/ 46 w 1240"/>
                <a:gd name="T39" fmla="*/ 1001 h 1230"/>
                <a:gd name="T40" fmla="*/ 86 w 1240"/>
                <a:gd name="T41" fmla="*/ 1093 h 1230"/>
                <a:gd name="T42" fmla="*/ 131 w 1240"/>
                <a:gd name="T43" fmla="*/ 1174 h 1230"/>
                <a:gd name="T44" fmla="*/ 159 w 1240"/>
                <a:gd name="T45" fmla="*/ 1214 h 1230"/>
                <a:gd name="T46" fmla="*/ 174 w 1240"/>
                <a:gd name="T47" fmla="*/ 1228 h 1230"/>
                <a:gd name="T48" fmla="*/ 180 w 1240"/>
                <a:gd name="T49" fmla="*/ 1230 h 1230"/>
                <a:gd name="T50" fmla="*/ 215 w 1240"/>
                <a:gd name="T51" fmla="*/ 1200 h 1230"/>
                <a:gd name="T52" fmla="*/ 506 w 1240"/>
                <a:gd name="T53" fmla="*/ 916 h 1230"/>
                <a:gd name="T54" fmla="*/ 716 w 1240"/>
                <a:gd name="T55" fmla="*/ 706 h 1230"/>
                <a:gd name="T56" fmla="*/ 1240 w 1240"/>
                <a:gd name="T57" fmla="*/ 183 h 1230"/>
                <a:gd name="T58" fmla="*/ 1168 w 1240"/>
                <a:gd name="T59" fmla="*/ 131 h 1230"/>
                <a:gd name="T60" fmla="*/ 1137 w 1240"/>
                <a:gd name="T61" fmla="*/ 110 h 1230"/>
                <a:gd name="T62" fmla="*/ 1068 w 1240"/>
                <a:gd name="T63" fmla="*/ 74 h 1230"/>
                <a:gd name="T64" fmla="*/ 993 w 1240"/>
                <a:gd name="T65" fmla="*/ 44 h 1230"/>
                <a:gd name="T66" fmla="*/ 913 w 1240"/>
                <a:gd name="T67" fmla="*/ 21 h 1230"/>
                <a:gd name="T68" fmla="*/ 830 w 1240"/>
                <a:gd name="T69" fmla="*/ 6 h 1230"/>
                <a:gd name="T70" fmla="*/ 748 w 1240"/>
                <a:gd name="T71" fmla="*/ 0 h 1230"/>
                <a:gd name="T72" fmla="*/ 666 w 1240"/>
                <a:gd name="T73" fmla="*/ 1 h 1230"/>
                <a:gd name="T74" fmla="*/ 589 w 1240"/>
                <a:gd name="T75" fmla="*/ 12 h 1230"/>
                <a:gd name="T76" fmla="*/ 553 w 1240"/>
                <a:gd name="T77" fmla="*/ 21 h 1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40" h="1230">
                  <a:moveTo>
                    <a:pt x="553" y="21"/>
                  </a:moveTo>
                  <a:lnTo>
                    <a:pt x="513" y="33"/>
                  </a:lnTo>
                  <a:lnTo>
                    <a:pt x="437" y="64"/>
                  </a:lnTo>
                  <a:lnTo>
                    <a:pt x="365" y="101"/>
                  </a:lnTo>
                  <a:lnTo>
                    <a:pt x="299" y="146"/>
                  </a:lnTo>
                  <a:lnTo>
                    <a:pt x="238" y="198"/>
                  </a:lnTo>
                  <a:lnTo>
                    <a:pt x="182" y="256"/>
                  </a:lnTo>
                  <a:lnTo>
                    <a:pt x="133" y="320"/>
                  </a:lnTo>
                  <a:lnTo>
                    <a:pt x="90" y="391"/>
                  </a:lnTo>
                  <a:lnTo>
                    <a:pt x="71" y="428"/>
                  </a:lnTo>
                  <a:lnTo>
                    <a:pt x="57" y="459"/>
                  </a:lnTo>
                  <a:lnTo>
                    <a:pt x="34" y="523"/>
                  </a:lnTo>
                  <a:lnTo>
                    <a:pt x="16" y="588"/>
                  </a:lnTo>
                  <a:lnTo>
                    <a:pt x="5" y="655"/>
                  </a:lnTo>
                  <a:lnTo>
                    <a:pt x="0" y="722"/>
                  </a:lnTo>
                  <a:lnTo>
                    <a:pt x="1" y="790"/>
                  </a:lnTo>
                  <a:lnTo>
                    <a:pt x="8" y="858"/>
                  </a:lnTo>
                  <a:lnTo>
                    <a:pt x="22" y="925"/>
                  </a:lnTo>
                  <a:lnTo>
                    <a:pt x="31" y="958"/>
                  </a:lnTo>
                  <a:lnTo>
                    <a:pt x="46" y="1001"/>
                  </a:lnTo>
                  <a:lnTo>
                    <a:pt x="86" y="1093"/>
                  </a:lnTo>
                  <a:lnTo>
                    <a:pt x="131" y="1174"/>
                  </a:lnTo>
                  <a:lnTo>
                    <a:pt x="159" y="1214"/>
                  </a:lnTo>
                  <a:lnTo>
                    <a:pt x="174" y="1228"/>
                  </a:lnTo>
                  <a:lnTo>
                    <a:pt x="180" y="1230"/>
                  </a:lnTo>
                  <a:lnTo>
                    <a:pt x="215" y="1200"/>
                  </a:lnTo>
                  <a:lnTo>
                    <a:pt x="506" y="916"/>
                  </a:lnTo>
                  <a:lnTo>
                    <a:pt x="716" y="706"/>
                  </a:lnTo>
                  <a:lnTo>
                    <a:pt x="1240" y="183"/>
                  </a:lnTo>
                  <a:lnTo>
                    <a:pt x="1168" y="131"/>
                  </a:lnTo>
                  <a:lnTo>
                    <a:pt x="1137" y="110"/>
                  </a:lnTo>
                  <a:lnTo>
                    <a:pt x="1068" y="74"/>
                  </a:lnTo>
                  <a:lnTo>
                    <a:pt x="993" y="44"/>
                  </a:lnTo>
                  <a:lnTo>
                    <a:pt x="913" y="21"/>
                  </a:lnTo>
                  <a:lnTo>
                    <a:pt x="830" y="6"/>
                  </a:lnTo>
                  <a:lnTo>
                    <a:pt x="748" y="0"/>
                  </a:lnTo>
                  <a:lnTo>
                    <a:pt x="666" y="1"/>
                  </a:lnTo>
                  <a:lnTo>
                    <a:pt x="589" y="12"/>
                  </a:lnTo>
                  <a:lnTo>
                    <a:pt x="553"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7" name="Freeform 199">
              <a:extLst>
                <a:ext uri="{FF2B5EF4-FFF2-40B4-BE49-F238E27FC236}">
                  <a16:creationId xmlns:a16="http://schemas.microsoft.com/office/drawing/2014/main" id="{FB7C3BD4-4663-09DD-5B0F-A7E9D654D139}"/>
                </a:ext>
              </a:extLst>
            </p:cNvPr>
            <p:cNvSpPr>
              <a:spLocks/>
            </p:cNvSpPr>
            <p:nvPr/>
          </p:nvSpPr>
          <p:spPr bwMode="auto">
            <a:xfrm>
              <a:off x="4448176" y="1598613"/>
              <a:ext cx="290513" cy="287338"/>
            </a:xfrm>
            <a:custGeom>
              <a:avLst/>
              <a:gdLst>
                <a:gd name="T0" fmla="*/ 522 w 1234"/>
                <a:gd name="T1" fmla="*/ 523 h 1221"/>
                <a:gd name="T2" fmla="*/ 0 w 1234"/>
                <a:gd name="T3" fmla="*/ 1045 h 1221"/>
                <a:gd name="T4" fmla="*/ 50 w 1234"/>
                <a:gd name="T5" fmla="*/ 1082 h 1221"/>
                <a:gd name="T6" fmla="*/ 84 w 1234"/>
                <a:gd name="T7" fmla="*/ 1105 h 1221"/>
                <a:gd name="T8" fmla="*/ 155 w 1234"/>
                <a:gd name="T9" fmla="*/ 1145 h 1221"/>
                <a:gd name="T10" fmla="*/ 228 w 1234"/>
                <a:gd name="T11" fmla="*/ 1176 h 1221"/>
                <a:gd name="T12" fmla="*/ 303 w 1234"/>
                <a:gd name="T13" fmla="*/ 1199 h 1221"/>
                <a:gd name="T14" fmla="*/ 379 w 1234"/>
                <a:gd name="T15" fmla="*/ 1214 h 1221"/>
                <a:gd name="T16" fmla="*/ 456 w 1234"/>
                <a:gd name="T17" fmla="*/ 1221 h 1221"/>
                <a:gd name="T18" fmla="*/ 533 w 1234"/>
                <a:gd name="T19" fmla="*/ 1220 h 1221"/>
                <a:gd name="T20" fmla="*/ 609 w 1234"/>
                <a:gd name="T21" fmla="*/ 1212 h 1221"/>
                <a:gd name="T22" fmla="*/ 684 w 1234"/>
                <a:gd name="T23" fmla="*/ 1196 h 1221"/>
                <a:gd name="T24" fmla="*/ 758 w 1234"/>
                <a:gd name="T25" fmla="*/ 1173 h 1221"/>
                <a:gd name="T26" fmla="*/ 828 w 1234"/>
                <a:gd name="T27" fmla="*/ 1142 h 1221"/>
                <a:gd name="T28" fmla="*/ 895 w 1234"/>
                <a:gd name="T29" fmla="*/ 1104 h 1221"/>
                <a:gd name="T30" fmla="*/ 959 w 1234"/>
                <a:gd name="T31" fmla="*/ 1060 h 1221"/>
                <a:gd name="T32" fmla="*/ 1018 w 1234"/>
                <a:gd name="T33" fmla="*/ 1008 h 1221"/>
                <a:gd name="T34" fmla="*/ 1072 w 1234"/>
                <a:gd name="T35" fmla="*/ 950 h 1221"/>
                <a:gd name="T36" fmla="*/ 1120 w 1234"/>
                <a:gd name="T37" fmla="*/ 885 h 1221"/>
                <a:gd name="T38" fmla="*/ 1142 w 1234"/>
                <a:gd name="T39" fmla="*/ 850 h 1221"/>
                <a:gd name="T40" fmla="*/ 1159 w 1234"/>
                <a:gd name="T41" fmla="*/ 819 h 1221"/>
                <a:gd name="T42" fmla="*/ 1188 w 1234"/>
                <a:gd name="T43" fmla="*/ 752 h 1221"/>
                <a:gd name="T44" fmla="*/ 1210 w 1234"/>
                <a:gd name="T45" fmla="*/ 680 h 1221"/>
                <a:gd name="T46" fmla="*/ 1225 w 1234"/>
                <a:gd name="T47" fmla="*/ 605 h 1221"/>
                <a:gd name="T48" fmla="*/ 1233 w 1234"/>
                <a:gd name="T49" fmla="*/ 528 h 1221"/>
                <a:gd name="T50" fmla="*/ 1234 w 1234"/>
                <a:gd name="T51" fmla="*/ 450 h 1221"/>
                <a:gd name="T52" fmla="*/ 1228 w 1234"/>
                <a:gd name="T53" fmla="*/ 374 h 1221"/>
                <a:gd name="T54" fmla="*/ 1214 w 1234"/>
                <a:gd name="T55" fmla="*/ 300 h 1221"/>
                <a:gd name="T56" fmla="*/ 1203 w 1234"/>
                <a:gd name="T57" fmla="*/ 265 h 1221"/>
                <a:gd name="T58" fmla="*/ 1190 w 1234"/>
                <a:gd name="T59" fmla="*/ 224 h 1221"/>
                <a:gd name="T60" fmla="*/ 1150 w 1234"/>
                <a:gd name="T61" fmla="*/ 135 h 1221"/>
                <a:gd name="T62" fmla="*/ 1107 w 1234"/>
                <a:gd name="T63" fmla="*/ 55 h 1221"/>
                <a:gd name="T64" fmla="*/ 1078 w 1234"/>
                <a:gd name="T65" fmla="*/ 15 h 1221"/>
                <a:gd name="T66" fmla="*/ 1064 w 1234"/>
                <a:gd name="T67" fmla="*/ 1 h 1221"/>
                <a:gd name="T68" fmla="*/ 1058 w 1234"/>
                <a:gd name="T69" fmla="*/ 0 h 1221"/>
                <a:gd name="T70" fmla="*/ 1023 w 1234"/>
                <a:gd name="T71" fmla="*/ 29 h 1221"/>
                <a:gd name="T72" fmla="*/ 732 w 1234"/>
                <a:gd name="T73" fmla="*/ 314 h 1221"/>
                <a:gd name="T74" fmla="*/ 522 w 1234"/>
                <a:gd name="T75" fmla="*/ 523 h 1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4" h="1221">
                  <a:moveTo>
                    <a:pt x="522" y="523"/>
                  </a:moveTo>
                  <a:lnTo>
                    <a:pt x="0" y="1045"/>
                  </a:lnTo>
                  <a:lnTo>
                    <a:pt x="50" y="1082"/>
                  </a:lnTo>
                  <a:lnTo>
                    <a:pt x="84" y="1105"/>
                  </a:lnTo>
                  <a:lnTo>
                    <a:pt x="155" y="1145"/>
                  </a:lnTo>
                  <a:lnTo>
                    <a:pt x="228" y="1176"/>
                  </a:lnTo>
                  <a:lnTo>
                    <a:pt x="303" y="1199"/>
                  </a:lnTo>
                  <a:lnTo>
                    <a:pt x="379" y="1214"/>
                  </a:lnTo>
                  <a:lnTo>
                    <a:pt x="456" y="1221"/>
                  </a:lnTo>
                  <a:lnTo>
                    <a:pt x="533" y="1220"/>
                  </a:lnTo>
                  <a:lnTo>
                    <a:pt x="609" y="1212"/>
                  </a:lnTo>
                  <a:lnTo>
                    <a:pt x="684" y="1196"/>
                  </a:lnTo>
                  <a:lnTo>
                    <a:pt x="758" y="1173"/>
                  </a:lnTo>
                  <a:lnTo>
                    <a:pt x="828" y="1142"/>
                  </a:lnTo>
                  <a:lnTo>
                    <a:pt x="895" y="1104"/>
                  </a:lnTo>
                  <a:lnTo>
                    <a:pt x="959" y="1060"/>
                  </a:lnTo>
                  <a:lnTo>
                    <a:pt x="1018" y="1008"/>
                  </a:lnTo>
                  <a:lnTo>
                    <a:pt x="1072" y="950"/>
                  </a:lnTo>
                  <a:lnTo>
                    <a:pt x="1120" y="885"/>
                  </a:lnTo>
                  <a:lnTo>
                    <a:pt x="1142" y="850"/>
                  </a:lnTo>
                  <a:lnTo>
                    <a:pt x="1159" y="819"/>
                  </a:lnTo>
                  <a:lnTo>
                    <a:pt x="1188" y="752"/>
                  </a:lnTo>
                  <a:lnTo>
                    <a:pt x="1210" y="680"/>
                  </a:lnTo>
                  <a:lnTo>
                    <a:pt x="1225" y="605"/>
                  </a:lnTo>
                  <a:lnTo>
                    <a:pt x="1233" y="528"/>
                  </a:lnTo>
                  <a:lnTo>
                    <a:pt x="1234" y="450"/>
                  </a:lnTo>
                  <a:lnTo>
                    <a:pt x="1228" y="374"/>
                  </a:lnTo>
                  <a:lnTo>
                    <a:pt x="1214" y="300"/>
                  </a:lnTo>
                  <a:lnTo>
                    <a:pt x="1203" y="265"/>
                  </a:lnTo>
                  <a:lnTo>
                    <a:pt x="1190" y="224"/>
                  </a:lnTo>
                  <a:lnTo>
                    <a:pt x="1150" y="135"/>
                  </a:lnTo>
                  <a:lnTo>
                    <a:pt x="1107" y="55"/>
                  </a:lnTo>
                  <a:lnTo>
                    <a:pt x="1078" y="15"/>
                  </a:lnTo>
                  <a:lnTo>
                    <a:pt x="1064" y="1"/>
                  </a:lnTo>
                  <a:lnTo>
                    <a:pt x="1058" y="0"/>
                  </a:lnTo>
                  <a:lnTo>
                    <a:pt x="1023" y="29"/>
                  </a:lnTo>
                  <a:lnTo>
                    <a:pt x="732" y="314"/>
                  </a:lnTo>
                  <a:lnTo>
                    <a:pt x="522" y="5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8" name="Freeform 200">
              <a:extLst>
                <a:ext uri="{FF2B5EF4-FFF2-40B4-BE49-F238E27FC236}">
                  <a16:creationId xmlns:a16="http://schemas.microsoft.com/office/drawing/2014/main" id="{BFD9A124-8A67-3AB6-FE0C-96FA596BBA02}"/>
                </a:ext>
              </a:extLst>
            </p:cNvPr>
            <p:cNvSpPr>
              <a:spLocks/>
            </p:cNvSpPr>
            <p:nvPr/>
          </p:nvSpPr>
          <p:spPr bwMode="auto">
            <a:xfrm>
              <a:off x="3543301" y="1558925"/>
              <a:ext cx="219075" cy="44450"/>
            </a:xfrm>
            <a:custGeom>
              <a:avLst/>
              <a:gdLst>
                <a:gd name="T0" fmla="*/ 16 w 932"/>
                <a:gd name="T1" fmla="*/ 32 h 184"/>
                <a:gd name="T2" fmla="*/ 7 w 932"/>
                <a:gd name="T3" fmla="*/ 51 h 184"/>
                <a:gd name="T4" fmla="*/ 0 w 932"/>
                <a:gd name="T5" fmla="*/ 87 h 184"/>
                <a:gd name="T6" fmla="*/ 5 w 932"/>
                <a:gd name="T7" fmla="*/ 120 h 184"/>
                <a:gd name="T8" fmla="*/ 22 w 932"/>
                <a:gd name="T9" fmla="*/ 146 h 184"/>
                <a:gd name="T10" fmla="*/ 36 w 932"/>
                <a:gd name="T11" fmla="*/ 157 h 184"/>
                <a:gd name="T12" fmla="*/ 49 w 932"/>
                <a:gd name="T13" fmla="*/ 165 h 184"/>
                <a:gd name="T14" fmla="*/ 98 w 932"/>
                <a:gd name="T15" fmla="*/ 175 h 184"/>
                <a:gd name="T16" fmla="*/ 252 w 932"/>
                <a:gd name="T17" fmla="*/ 183 h 184"/>
                <a:gd name="T18" fmla="*/ 466 w 932"/>
                <a:gd name="T19" fmla="*/ 184 h 184"/>
                <a:gd name="T20" fmla="*/ 680 w 932"/>
                <a:gd name="T21" fmla="*/ 183 h 184"/>
                <a:gd name="T22" fmla="*/ 834 w 932"/>
                <a:gd name="T23" fmla="*/ 175 h 184"/>
                <a:gd name="T24" fmla="*/ 883 w 932"/>
                <a:gd name="T25" fmla="*/ 165 h 184"/>
                <a:gd name="T26" fmla="*/ 896 w 932"/>
                <a:gd name="T27" fmla="*/ 157 h 184"/>
                <a:gd name="T28" fmla="*/ 910 w 932"/>
                <a:gd name="T29" fmla="*/ 146 h 184"/>
                <a:gd name="T30" fmla="*/ 927 w 932"/>
                <a:gd name="T31" fmla="*/ 120 h 184"/>
                <a:gd name="T32" fmla="*/ 932 w 932"/>
                <a:gd name="T33" fmla="*/ 87 h 184"/>
                <a:gd name="T34" fmla="*/ 925 w 932"/>
                <a:gd name="T35" fmla="*/ 51 h 184"/>
                <a:gd name="T36" fmla="*/ 916 w 932"/>
                <a:gd name="T37" fmla="*/ 32 h 184"/>
                <a:gd name="T38" fmla="*/ 913 w 932"/>
                <a:gd name="T39" fmla="*/ 27 h 184"/>
                <a:gd name="T40" fmla="*/ 904 w 932"/>
                <a:gd name="T41" fmla="*/ 18 h 184"/>
                <a:gd name="T42" fmla="*/ 877 w 932"/>
                <a:gd name="T43" fmla="*/ 9 h 184"/>
                <a:gd name="T44" fmla="*/ 725 w 932"/>
                <a:gd name="T45" fmla="*/ 1 h 184"/>
                <a:gd name="T46" fmla="*/ 466 w 932"/>
                <a:gd name="T47" fmla="*/ 0 h 184"/>
                <a:gd name="T48" fmla="*/ 207 w 932"/>
                <a:gd name="T49" fmla="*/ 1 h 184"/>
                <a:gd name="T50" fmla="*/ 55 w 932"/>
                <a:gd name="T51" fmla="*/ 9 h 184"/>
                <a:gd name="T52" fmla="*/ 28 w 932"/>
                <a:gd name="T53" fmla="*/ 18 h 184"/>
                <a:gd name="T54" fmla="*/ 19 w 932"/>
                <a:gd name="T55" fmla="*/ 27 h 184"/>
                <a:gd name="T56" fmla="*/ 16 w 932"/>
                <a:gd name="T57" fmla="*/ 3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32" h="184">
                  <a:moveTo>
                    <a:pt x="16" y="32"/>
                  </a:moveTo>
                  <a:lnTo>
                    <a:pt x="7" y="51"/>
                  </a:lnTo>
                  <a:lnTo>
                    <a:pt x="0" y="87"/>
                  </a:lnTo>
                  <a:lnTo>
                    <a:pt x="5" y="120"/>
                  </a:lnTo>
                  <a:lnTo>
                    <a:pt x="22" y="146"/>
                  </a:lnTo>
                  <a:lnTo>
                    <a:pt x="36" y="157"/>
                  </a:lnTo>
                  <a:lnTo>
                    <a:pt x="49" y="165"/>
                  </a:lnTo>
                  <a:lnTo>
                    <a:pt x="98" y="175"/>
                  </a:lnTo>
                  <a:lnTo>
                    <a:pt x="252" y="183"/>
                  </a:lnTo>
                  <a:lnTo>
                    <a:pt x="466" y="184"/>
                  </a:lnTo>
                  <a:lnTo>
                    <a:pt x="680" y="183"/>
                  </a:lnTo>
                  <a:lnTo>
                    <a:pt x="834" y="175"/>
                  </a:lnTo>
                  <a:lnTo>
                    <a:pt x="883" y="165"/>
                  </a:lnTo>
                  <a:lnTo>
                    <a:pt x="896" y="157"/>
                  </a:lnTo>
                  <a:lnTo>
                    <a:pt x="910" y="146"/>
                  </a:lnTo>
                  <a:lnTo>
                    <a:pt x="927" y="120"/>
                  </a:lnTo>
                  <a:lnTo>
                    <a:pt x="932" y="87"/>
                  </a:lnTo>
                  <a:lnTo>
                    <a:pt x="925" y="51"/>
                  </a:lnTo>
                  <a:lnTo>
                    <a:pt x="916" y="32"/>
                  </a:lnTo>
                  <a:lnTo>
                    <a:pt x="913" y="27"/>
                  </a:lnTo>
                  <a:lnTo>
                    <a:pt x="904" y="18"/>
                  </a:lnTo>
                  <a:lnTo>
                    <a:pt x="877" y="9"/>
                  </a:lnTo>
                  <a:lnTo>
                    <a:pt x="725" y="1"/>
                  </a:lnTo>
                  <a:lnTo>
                    <a:pt x="466" y="0"/>
                  </a:lnTo>
                  <a:lnTo>
                    <a:pt x="207" y="1"/>
                  </a:lnTo>
                  <a:lnTo>
                    <a:pt x="55" y="9"/>
                  </a:lnTo>
                  <a:lnTo>
                    <a:pt x="28" y="18"/>
                  </a:lnTo>
                  <a:lnTo>
                    <a:pt x="19" y="27"/>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9" name="Freeform 201">
              <a:extLst>
                <a:ext uri="{FF2B5EF4-FFF2-40B4-BE49-F238E27FC236}">
                  <a16:creationId xmlns:a16="http://schemas.microsoft.com/office/drawing/2014/main" id="{F90A36E9-B907-EA08-3D49-36FCEAB8D37A}"/>
                </a:ext>
              </a:extLst>
            </p:cNvPr>
            <p:cNvSpPr>
              <a:spLocks/>
            </p:cNvSpPr>
            <p:nvPr/>
          </p:nvSpPr>
          <p:spPr bwMode="auto">
            <a:xfrm>
              <a:off x="3543301" y="1668463"/>
              <a:ext cx="371475" cy="44450"/>
            </a:xfrm>
            <a:custGeom>
              <a:avLst/>
              <a:gdLst>
                <a:gd name="T0" fmla="*/ 16 w 1582"/>
                <a:gd name="T1" fmla="*/ 32 h 183"/>
                <a:gd name="T2" fmla="*/ 7 w 1582"/>
                <a:gd name="T3" fmla="*/ 51 h 183"/>
                <a:gd name="T4" fmla="*/ 0 w 1582"/>
                <a:gd name="T5" fmla="*/ 87 h 183"/>
                <a:gd name="T6" fmla="*/ 5 w 1582"/>
                <a:gd name="T7" fmla="*/ 119 h 183"/>
                <a:gd name="T8" fmla="*/ 22 w 1582"/>
                <a:gd name="T9" fmla="*/ 146 h 183"/>
                <a:gd name="T10" fmla="*/ 36 w 1582"/>
                <a:gd name="T11" fmla="*/ 157 h 183"/>
                <a:gd name="T12" fmla="*/ 43 w 1582"/>
                <a:gd name="T13" fmla="*/ 161 h 183"/>
                <a:gd name="T14" fmla="*/ 64 w 1582"/>
                <a:gd name="T15" fmla="*/ 168 h 183"/>
                <a:gd name="T16" fmla="*/ 122 w 1582"/>
                <a:gd name="T17" fmla="*/ 176 h 183"/>
                <a:gd name="T18" fmla="*/ 394 w 1582"/>
                <a:gd name="T19" fmla="*/ 183 h 183"/>
                <a:gd name="T20" fmla="*/ 801 w 1582"/>
                <a:gd name="T21" fmla="*/ 183 h 183"/>
                <a:gd name="T22" fmla="*/ 1234 w 1582"/>
                <a:gd name="T23" fmla="*/ 183 h 183"/>
                <a:gd name="T24" fmla="*/ 1489 w 1582"/>
                <a:gd name="T25" fmla="*/ 176 h 183"/>
                <a:gd name="T26" fmla="*/ 1535 w 1582"/>
                <a:gd name="T27" fmla="*/ 167 h 183"/>
                <a:gd name="T28" fmla="*/ 1549 w 1582"/>
                <a:gd name="T29" fmla="*/ 158 h 183"/>
                <a:gd name="T30" fmla="*/ 1554 w 1582"/>
                <a:gd name="T31" fmla="*/ 153 h 183"/>
                <a:gd name="T32" fmla="*/ 1566 w 1582"/>
                <a:gd name="T33" fmla="*/ 139 h 183"/>
                <a:gd name="T34" fmla="*/ 1580 w 1582"/>
                <a:gd name="T35" fmla="*/ 103 h 183"/>
                <a:gd name="T36" fmla="*/ 1582 w 1582"/>
                <a:gd name="T37" fmla="*/ 65 h 183"/>
                <a:gd name="T38" fmla="*/ 1572 w 1582"/>
                <a:gd name="T39" fmla="*/ 32 h 183"/>
                <a:gd name="T40" fmla="*/ 1563 w 1582"/>
                <a:gd name="T41" fmla="*/ 20 h 183"/>
                <a:gd name="T42" fmla="*/ 1551 w 1582"/>
                <a:gd name="T43" fmla="*/ 15 h 183"/>
                <a:gd name="T44" fmla="*/ 1464 w 1582"/>
                <a:gd name="T45" fmla="*/ 7 h 183"/>
                <a:gd name="T46" fmla="*/ 1165 w 1582"/>
                <a:gd name="T47" fmla="*/ 1 h 183"/>
                <a:gd name="T48" fmla="*/ 788 w 1582"/>
                <a:gd name="T49" fmla="*/ 0 h 183"/>
                <a:gd name="T50" fmla="*/ 329 w 1582"/>
                <a:gd name="T51" fmla="*/ 0 h 183"/>
                <a:gd name="T52" fmla="*/ 71 w 1582"/>
                <a:gd name="T53" fmla="*/ 8 h 183"/>
                <a:gd name="T54" fmla="*/ 30 w 1582"/>
                <a:gd name="T55" fmla="*/ 18 h 183"/>
                <a:gd name="T56" fmla="*/ 19 w 1582"/>
                <a:gd name="T57" fmla="*/ 26 h 183"/>
                <a:gd name="T58" fmla="*/ 16 w 1582"/>
                <a:gd name="T59" fmla="*/ 32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82" h="183">
                  <a:moveTo>
                    <a:pt x="16" y="32"/>
                  </a:moveTo>
                  <a:lnTo>
                    <a:pt x="7" y="51"/>
                  </a:lnTo>
                  <a:lnTo>
                    <a:pt x="0" y="87"/>
                  </a:lnTo>
                  <a:lnTo>
                    <a:pt x="5" y="119"/>
                  </a:lnTo>
                  <a:lnTo>
                    <a:pt x="22" y="146"/>
                  </a:lnTo>
                  <a:lnTo>
                    <a:pt x="36" y="157"/>
                  </a:lnTo>
                  <a:lnTo>
                    <a:pt x="43" y="161"/>
                  </a:lnTo>
                  <a:lnTo>
                    <a:pt x="64" y="168"/>
                  </a:lnTo>
                  <a:lnTo>
                    <a:pt x="122" y="176"/>
                  </a:lnTo>
                  <a:lnTo>
                    <a:pt x="394" y="183"/>
                  </a:lnTo>
                  <a:lnTo>
                    <a:pt x="801" y="183"/>
                  </a:lnTo>
                  <a:lnTo>
                    <a:pt x="1234" y="183"/>
                  </a:lnTo>
                  <a:lnTo>
                    <a:pt x="1489" y="176"/>
                  </a:lnTo>
                  <a:lnTo>
                    <a:pt x="1535" y="167"/>
                  </a:lnTo>
                  <a:lnTo>
                    <a:pt x="1549" y="158"/>
                  </a:lnTo>
                  <a:lnTo>
                    <a:pt x="1554" y="153"/>
                  </a:lnTo>
                  <a:lnTo>
                    <a:pt x="1566" y="139"/>
                  </a:lnTo>
                  <a:lnTo>
                    <a:pt x="1580" y="103"/>
                  </a:lnTo>
                  <a:lnTo>
                    <a:pt x="1582" y="65"/>
                  </a:lnTo>
                  <a:lnTo>
                    <a:pt x="1572" y="32"/>
                  </a:lnTo>
                  <a:lnTo>
                    <a:pt x="1563" y="20"/>
                  </a:lnTo>
                  <a:lnTo>
                    <a:pt x="1551" y="15"/>
                  </a:lnTo>
                  <a:lnTo>
                    <a:pt x="1464" y="7"/>
                  </a:lnTo>
                  <a:lnTo>
                    <a:pt x="1165" y="1"/>
                  </a:lnTo>
                  <a:lnTo>
                    <a:pt x="788" y="0"/>
                  </a:lnTo>
                  <a:lnTo>
                    <a:pt x="329" y="0"/>
                  </a:lnTo>
                  <a:lnTo>
                    <a:pt x="71" y="8"/>
                  </a:lnTo>
                  <a:lnTo>
                    <a:pt x="30" y="18"/>
                  </a:lnTo>
                  <a:lnTo>
                    <a:pt x="19" y="26"/>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grpSp>
    </p:spTree>
    <p:extLst>
      <p:ext uri="{BB962C8B-B14F-4D97-AF65-F5344CB8AC3E}">
        <p14:creationId xmlns:p14="http://schemas.microsoft.com/office/powerpoint/2010/main" val="2795669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جدول الإصدارات والمراجعات</a:t>
            </a:r>
            <a:endParaRPr lang="en-US" dirty="0"/>
          </a:p>
        </p:txBody>
      </p:sp>
      <p:sp>
        <p:nvSpPr>
          <p:cNvPr id="3" name="Rounded Rectangle 5">
            <a:extLst>
              <a:ext uri="{FF2B5EF4-FFF2-40B4-BE49-F238E27FC236}">
                <a16:creationId xmlns:a16="http://schemas.microsoft.com/office/drawing/2014/main" id="{BFB3E79F-B49A-BCAF-E7F0-102BCE093C22}"/>
              </a:ext>
            </a:extLst>
          </p:cNvPr>
          <p:cNvSpPr/>
          <p:nvPr/>
        </p:nvSpPr>
        <p:spPr>
          <a:xfrm>
            <a:off x="609600" y="1047592"/>
            <a:ext cx="10972800" cy="4887557"/>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graphicFrame>
        <p:nvGraphicFramePr>
          <p:cNvPr id="4" name="Table 3">
            <a:extLst>
              <a:ext uri="{FF2B5EF4-FFF2-40B4-BE49-F238E27FC236}">
                <a16:creationId xmlns:a16="http://schemas.microsoft.com/office/drawing/2014/main" id="{6FA04D80-D8DF-52E7-5CB9-2E1E837D6047}"/>
              </a:ext>
            </a:extLst>
          </p:cNvPr>
          <p:cNvGraphicFramePr>
            <a:graphicFrameLocks noGrp="1"/>
          </p:cNvGraphicFramePr>
          <p:nvPr>
            <p:extLst>
              <p:ext uri="{D42A27DB-BD31-4B8C-83A1-F6EECF244321}">
                <p14:modId xmlns:p14="http://schemas.microsoft.com/office/powerpoint/2010/main" val="374189385"/>
              </p:ext>
            </p:extLst>
          </p:nvPr>
        </p:nvGraphicFramePr>
        <p:xfrm>
          <a:off x="609601" y="1237422"/>
          <a:ext cx="10972798" cy="4572986"/>
        </p:xfrm>
        <a:graphic>
          <a:graphicData uri="http://schemas.openxmlformats.org/drawingml/2006/table">
            <a:tbl>
              <a:tblPr rtl="1" firstRow="1" bandRow="1">
                <a:tableStyleId>{2D5ABB26-0587-4C30-8999-92F81FD0307C}</a:tableStyleId>
              </a:tblPr>
              <a:tblGrid>
                <a:gridCol w="1288225">
                  <a:extLst>
                    <a:ext uri="{9D8B030D-6E8A-4147-A177-3AD203B41FA5}">
                      <a16:colId xmlns:a16="http://schemas.microsoft.com/office/drawing/2014/main" val="3246697180"/>
                    </a:ext>
                  </a:extLst>
                </a:gridCol>
                <a:gridCol w="1233878">
                  <a:extLst>
                    <a:ext uri="{9D8B030D-6E8A-4147-A177-3AD203B41FA5}">
                      <a16:colId xmlns:a16="http://schemas.microsoft.com/office/drawing/2014/main" val="1695347223"/>
                    </a:ext>
                  </a:extLst>
                </a:gridCol>
                <a:gridCol w="2586925">
                  <a:extLst>
                    <a:ext uri="{9D8B030D-6E8A-4147-A177-3AD203B41FA5}">
                      <a16:colId xmlns:a16="http://schemas.microsoft.com/office/drawing/2014/main" val="2017486071"/>
                    </a:ext>
                  </a:extLst>
                </a:gridCol>
                <a:gridCol w="2937305">
                  <a:extLst>
                    <a:ext uri="{9D8B030D-6E8A-4147-A177-3AD203B41FA5}">
                      <a16:colId xmlns:a16="http://schemas.microsoft.com/office/drawing/2014/main" val="2702421411"/>
                    </a:ext>
                  </a:extLst>
                </a:gridCol>
                <a:gridCol w="2926465">
                  <a:extLst>
                    <a:ext uri="{9D8B030D-6E8A-4147-A177-3AD203B41FA5}">
                      <a16:colId xmlns:a16="http://schemas.microsoft.com/office/drawing/2014/main" val="3621974949"/>
                    </a:ext>
                  </a:extLst>
                </a:gridCol>
              </a:tblGrid>
              <a:tr h="506402">
                <a:tc>
                  <a:txBody>
                    <a:bodyPr/>
                    <a:lstStyle/>
                    <a:p>
                      <a:pPr algn="ctr" rtl="1">
                        <a:lnSpc>
                          <a:spcPct val="115000"/>
                        </a:lnSpc>
                        <a:spcAft>
                          <a:spcPts val="0"/>
                        </a:spcAft>
                      </a:pPr>
                      <a:r>
                        <a:rPr lang="ar-SA" sz="1800" dirty="0">
                          <a:solidFill>
                            <a:schemeClr val="bg1"/>
                          </a:solidFill>
                          <a:effectLst/>
                          <a:latin typeface="Sakkal Majalla" panose="02000000000000000000" pitchFamily="2" charset="-78"/>
                          <a:cs typeface="Sakkal Majalla" panose="02000000000000000000" pitchFamily="2" charset="-78"/>
                        </a:rPr>
                        <a:t>إصدار الوثيقة</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A" sz="1800" dirty="0">
                          <a:solidFill>
                            <a:schemeClr val="bg1"/>
                          </a:solidFill>
                          <a:effectLst/>
                          <a:latin typeface="Sakkal Majalla" panose="02000000000000000000" pitchFamily="2" charset="-78"/>
                          <a:cs typeface="Sakkal Majalla" panose="02000000000000000000" pitchFamily="2" charset="-78"/>
                        </a:rPr>
                        <a:t>التاريخ</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Y"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إعداد</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Y"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المسمى الوظيفي</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cs typeface="Sakkal Majalla" panose="02000000000000000000" pitchFamily="2" charset="-78"/>
                        </a:rPr>
                        <a:t>الوصف</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extLst>
                  <a:ext uri="{0D108BD9-81ED-4DB2-BD59-A6C34878D82A}">
                    <a16:rowId xmlns:a16="http://schemas.microsoft.com/office/drawing/2014/main" val="3404469103"/>
                  </a:ext>
                </a:extLst>
              </a:tr>
              <a:tr h="677764">
                <a:tc>
                  <a:txBody>
                    <a:bodyPr/>
                    <a:lstStyle/>
                    <a:p>
                      <a:pPr algn="ctr" rtl="1">
                        <a:lnSpc>
                          <a:spcPct val="115000"/>
                        </a:lnSpc>
                        <a:spcAft>
                          <a:spcPts val="0"/>
                        </a:spcAft>
                      </a:pPr>
                      <a:r>
                        <a:rPr lang="en-US" sz="1800" dirty="0">
                          <a:solidFill>
                            <a:schemeClr val="tx1"/>
                          </a:solidFill>
                          <a:effectLst/>
                          <a:latin typeface="Sakkal Majalla" panose="02000000000000000000" pitchFamily="2" charset="-78"/>
                          <a:cs typeface="Sakkal Majalla" panose="02000000000000000000" pitchFamily="2" charset="-78"/>
                        </a:rPr>
                        <a:t>0.1</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10-Nov-2025</a:t>
                      </a: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49661009"/>
                  </a:ext>
                </a:extLst>
              </a:tr>
              <a:tr h="677764">
                <a:tc>
                  <a:txBody>
                    <a:bodyPr/>
                    <a:lstStyle/>
                    <a:p>
                      <a:pPr algn="ctr" rtl="1">
                        <a:lnSpc>
                          <a:spcPct val="115000"/>
                        </a:lnSpc>
                        <a:spcAft>
                          <a:spcPts val="0"/>
                        </a:spcAft>
                      </a:pPr>
                      <a:r>
                        <a:rPr lang="en-US" sz="1800" dirty="0">
                          <a:solidFill>
                            <a:schemeClr val="tx1"/>
                          </a:solidFill>
                          <a:effectLst/>
                          <a:latin typeface="Sakkal Majalla" panose="02000000000000000000" pitchFamily="2" charset="-78"/>
                          <a:cs typeface="Sakkal Majalla" panose="02000000000000000000" pitchFamily="2" charset="-78"/>
                        </a:rPr>
                        <a:t>0.2</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02-Dec-2025</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730147388"/>
                  </a:ext>
                </a:extLst>
              </a:tr>
              <a:tr h="677764">
                <a:tc>
                  <a:txBody>
                    <a:bodyPr/>
                    <a:lstStyle/>
                    <a:p>
                      <a:pPr algn="ctr" rtl="1">
                        <a:lnSpc>
                          <a:spcPct val="115000"/>
                        </a:lnSpc>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48829475"/>
                  </a:ext>
                </a:extLst>
              </a:tr>
              <a:tr h="677764">
                <a:tc>
                  <a:txBody>
                    <a:bodyPr/>
                    <a:lstStyle/>
                    <a:p>
                      <a:pPr algn="ctr" rtl="1">
                        <a:lnSpc>
                          <a:spcPct val="115000"/>
                        </a:lnSpc>
                        <a:spcAft>
                          <a:spcPts val="0"/>
                        </a:spcAft>
                      </a:pPr>
                      <a:endParaRPr lang="en-US" sz="20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endParaRPr lang="en-US" sz="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77945649"/>
                  </a:ext>
                </a:extLst>
              </a:tr>
              <a:tr h="677764">
                <a:tc>
                  <a:txBody>
                    <a:bodyPr/>
                    <a:lstStyle/>
                    <a:p>
                      <a:pPr algn="ctr" rtl="1">
                        <a:lnSpc>
                          <a:spcPct val="115000"/>
                        </a:lnSpc>
                        <a:spcAft>
                          <a:spcPts val="0"/>
                        </a:spcAft>
                      </a:pPr>
                      <a:endParaRPr lang="en-US" sz="20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endParaRPr lang="en-US" sz="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88316617"/>
                  </a:ext>
                </a:extLst>
              </a:tr>
              <a:tr h="677764">
                <a:tc>
                  <a:txBody>
                    <a:bodyPr/>
                    <a:lstStyle/>
                    <a:p>
                      <a:pPr algn="ctr" rtl="1">
                        <a:lnSpc>
                          <a:spcPct val="115000"/>
                        </a:lnSpc>
                        <a:spcAft>
                          <a:spcPts val="0"/>
                        </a:spcAft>
                      </a:pPr>
                      <a:endParaRPr lang="en-US" sz="20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endParaRPr lang="en-US" sz="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32939493"/>
                  </a:ext>
                </a:extLst>
              </a:tr>
            </a:tbl>
          </a:graphicData>
        </a:graphic>
      </p:graphicFrame>
    </p:spTree>
    <p:extLst>
      <p:ext uri="{BB962C8B-B14F-4D97-AF65-F5344CB8AC3E}">
        <p14:creationId xmlns:p14="http://schemas.microsoft.com/office/powerpoint/2010/main" val="2854880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4</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جدول الاعتمادات</a:t>
            </a:r>
          </a:p>
        </p:txBody>
      </p:sp>
      <p:sp>
        <p:nvSpPr>
          <p:cNvPr id="3" name="Rounded Rectangle 5">
            <a:extLst>
              <a:ext uri="{FF2B5EF4-FFF2-40B4-BE49-F238E27FC236}">
                <a16:creationId xmlns:a16="http://schemas.microsoft.com/office/drawing/2014/main" id="{BFB3E79F-B49A-BCAF-E7F0-102BCE093C22}"/>
              </a:ext>
            </a:extLst>
          </p:cNvPr>
          <p:cNvSpPr/>
          <p:nvPr/>
        </p:nvSpPr>
        <p:spPr>
          <a:xfrm>
            <a:off x="609600" y="1047592"/>
            <a:ext cx="10972800" cy="4887557"/>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graphicFrame>
        <p:nvGraphicFramePr>
          <p:cNvPr id="4" name="Table 3">
            <a:extLst>
              <a:ext uri="{FF2B5EF4-FFF2-40B4-BE49-F238E27FC236}">
                <a16:creationId xmlns:a16="http://schemas.microsoft.com/office/drawing/2014/main" id="{6FA04D80-D8DF-52E7-5CB9-2E1E837D6047}"/>
              </a:ext>
            </a:extLst>
          </p:cNvPr>
          <p:cNvGraphicFramePr>
            <a:graphicFrameLocks noGrp="1"/>
          </p:cNvGraphicFramePr>
          <p:nvPr>
            <p:extLst>
              <p:ext uri="{D42A27DB-BD31-4B8C-83A1-F6EECF244321}">
                <p14:modId xmlns:p14="http://schemas.microsoft.com/office/powerpoint/2010/main" val="1984917433"/>
              </p:ext>
            </p:extLst>
          </p:nvPr>
        </p:nvGraphicFramePr>
        <p:xfrm>
          <a:off x="609600" y="1237422"/>
          <a:ext cx="10972800" cy="4572985"/>
        </p:xfrm>
        <a:graphic>
          <a:graphicData uri="http://schemas.openxmlformats.org/drawingml/2006/table">
            <a:tbl>
              <a:tblPr rtl="1" firstRow="1" bandRow="1">
                <a:tableStyleId>{2D5ABB26-0587-4C30-8999-92F81FD0307C}</a:tableStyleId>
              </a:tblPr>
              <a:tblGrid>
                <a:gridCol w="1316817">
                  <a:extLst>
                    <a:ext uri="{9D8B030D-6E8A-4147-A177-3AD203B41FA5}">
                      <a16:colId xmlns:a16="http://schemas.microsoft.com/office/drawing/2014/main" val="3246697180"/>
                    </a:ext>
                  </a:extLst>
                </a:gridCol>
                <a:gridCol w="2540543">
                  <a:extLst>
                    <a:ext uri="{9D8B030D-6E8A-4147-A177-3AD203B41FA5}">
                      <a16:colId xmlns:a16="http://schemas.microsoft.com/office/drawing/2014/main" val="1695347223"/>
                    </a:ext>
                  </a:extLst>
                </a:gridCol>
                <a:gridCol w="2685931">
                  <a:extLst>
                    <a:ext uri="{9D8B030D-6E8A-4147-A177-3AD203B41FA5}">
                      <a16:colId xmlns:a16="http://schemas.microsoft.com/office/drawing/2014/main" val="2017486071"/>
                    </a:ext>
                  </a:extLst>
                </a:gridCol>
                <a:gridCol w="2853484">
                  <a:extLst>
                    <a:ext uri="{9D8B030D-6E8A-4147-A177-3AD203B41FA5}">
                      <a16:colId xmlns:a16="http://schemas.microsoft.com/office/drawing/2014/main" val="2702421411"/>
                    </a:ext>
                  </a:extLst>
                </a:gridCol>
                <a:gridCol w="1576025">
                  <a:extLst>
                    <a:ext uri="{9D8B030D-6E8A-4147-A177-3AD203B41FA5}">
                      <a16:colId xmlns:a16="http://schemas.microsoft.com/office/drawing/2014/main" val="3621974949"/>
                    </a:ext>
                  </a:extLst>
                </a:gridCol>
              </a:tblGrid>
              <a:tr h="911830">
                <a:tc>
                  <a:txBody>
                    <a:bodyPr/>
                    <a:lstStyle/>
                    <a:p>
                      <a:pPr algn="ctr" rtl="1">
                        <a:lnSpc>
                          <a:spcPct val="115000"/>
                        </a:lnSpc>
                        <a:spcAft>
                          <a:spcPts val="0"/>
                        </a:spcAft>
                      </a:pP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cs typeface="Sakkal Majalla" panose="02000000000000000000" pitchFamily="2" charset="-78"/>
                        </a:rPr>
                        <a:t>الاسم</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Y"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المسمى الوظيفي</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التوقيع</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cs typeface="Sakkal Majalla" panose="02000000000000000000" pitchFamily="2" charset="-78"/>
                        </a:rPr>
                        <a:t>التاريخ</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extLst>
                  <a:ext uri="{0D108BD9-81ED-4DB2-BD59-A6C34878D82A}">
                    <a16:rowId xmlns:a16="http://schemas.microsoft.com/office/drawing/2014/main" val="3404469103"/>
                  </a:ext>
                </a:extLst>
              </a:tr>
              <a:tr h="1220385">
                <a:tc>
                  <a:txBody>
                    <a:bodyPr/>
                    <a:lstStyle/>
                    <a:p>
                      <a:pPr algn="ctr" rtl="1">
                        <a:lnSpc>
                          <a:spcPct val="115000"/>
                        </a:lnSpc>
                        <a:spcAft>
                          <a:spcPts val="0"/>
                        </a:spcAft>
                      </a:pPr>
                      <a:r>
                        <a:rPr lang="ar-SA" sz="1800" dirty="0">
                          <a:solidFill>
                            <a:schemeClr val="tx1"/>
                          </a:solidFill>
                          <a:effectLst/>
                          <a:latin typeface="Sakkal Majalla" panose="02000000000000000000" pitchFamily="2" charset="-78"/>
                          <a:cs typeface="Sakkal Majalla" panose="02000000000000000000" pitchFamily="2" charset="-78"/>
                        </a:rPr>
                        <a:t>اعتمدت بواسطة</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A"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دانا الغضبان</a:t>
                      </a: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a:solidFill>
                            <a:schemeClr val="tx1"/>
                          </a:solidFill>
                          <a:effectLst/>
                          <a:latin typeface="Sakkal Majalla" panose="02000000000000000000" pitchFamily="2" charset="-78"/>
                          <a:ea typeface="+mn-ea"/>
                          <a:cs typeface="Sakkal Majalla" panose="02000000000000000000" pitchFamily="2" charset="-78"/>
                        </a:rPr>
                        <a:t>مدير قسم البنية المؤسسية</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r>
                        <a:rPr lang="ar-SA"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3/12/202</a:t>
                      </a:r>
                      <a:r>
                        <a:rPr lang="ar-EG"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5</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49661009"/>
                  </a:ext>
                </a:extLst>
              </a:tr>
              <a:tr h="1220385">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A" sz="1800" dirty="0">
                          <a:solidFill>
                            <a:schemeClr val="tx1"/>
                          </a:solidFill>
                          <a:effectLst/>
                          <a:latin typeface="Sakkal Majalla" panose="02000000000000000000" pitchFamily="2" charset="-78"/>
                          <a:cs typeface="Sakkal Majalla" panose="02000000000000000000" pitchFamily="2" charset="-78"/>
                        </a:rPr>
                        <a:t>اعتمدت بواسطة</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730147388"/>
                  </a:ext>
                </a:extLst>
              </a:tr>
              <a:tr h="1220385">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endParaRPr lang="en-US" sz="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48829475"/>
                  </a:ext>
                </a:extLst>
              </a:tr>
            </a:tbl>
          </a:graphicData>
        </a:graphic>
      </p:graphicFrame>
    </p:spTree>
    <p:extLst>
      <p:ext uri="{BB962C8B-B14F-4D97-AF65-F5344CB8AC3E}">
        <p14:creationId xmlns:p14="http://schemas.microsoft.com/office/powerpoint/2010/main" val="3400582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itle 127">
            <a:extLst>
              <a:ext uri="{FF2B5EF4-FFF2-40B4-BE49-F238E27FC236}">
                <a16:creationId xmlns:a16="http://schemas.microsoft.com/office/drawing/2014/main" id="{1C6423EB-C4FD-85A8-22C2-F9D9A47AD52D}"/>
              </a:ext>
            </a:extLst>
          </p:cNvPr>
          <p:cNvSpPr>
            <a:spLocks noGrp="1"/>
          </p:cNvSpPr>
          <p:nvPr>
            <p:ph type="title"/>
          </p:nvPr>
        </p:nvSpPr>
        <p:spPr/>
        <p:txBody>
          <a:bodyPr/>
          <a:lstStyle/>
          <a:p>
            <a:pPr algn="ctr"/>
            <a:r>
              <a:rPr lang="ar-EG" dirty="0"/>
              <a:t>جدول المحتويات</a:t>
            </a:r>
            <a:endParaRPr lang="en-GB" dirty="0"/>
          </a:p>
        </p:txBody>
      </p:sp>
      <p:sp>
        <p:nvSpPr>
          <p:cNvPr id="111" name="Text Placeholder 11">
            <a:extLst>
              <a:ext uri="{FF2B5EF4-FFF2-40B4-BE49-F238E27FC236}">
                <a16:creationId xmlns:a16="http://schemas.microsoft.com/office/drawing/2014/main" id="{AC9FBA39-545A-2B44-3B82-F6A05AD587ED}"/>
              </a:ext>
            </a:extLst>
          </p:cNvPr>
          <p:cNvSpPr txBox="1">
            <a:spLocks/>
          </p:cNvSpPr>
          <p:nvPr/>
        </p:nvSpPr>
        <p:spPr>
          <a:xfrm>
            <a:off x="4443008" y="1182749"/>
            <a:ext cx="3141880"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dirty="0">
                <a:solidFill>
                  <a:schemeClr val="accent1"/>
                </a:solidFill>
                <a:hlinkClick r:id="rId2" action="ppaction://hlinksldjump"/>
              </a:rPr>
              <a:t>مقدمة عن خطة التدريب للبنية المؤسسية</a:t>
            </a:r>
            <a:endParaRPr lang="ar-EG" dirty="0">
              <a:solidFill>
                <a:schemeClr val="accent1"/>
              </a:solidFill>
            </a:endParaRPr>
          </a:p>
        </p:txBody>
      </p:sp>
      <p:sp>
        <p:nvSpPr>
          <p:cNvPr id="113" name="Text Placeholder 6">
            <a:extLst>
              <a:ext uri="{FF2B5EF4-FFF2-40B4-BE49-F238E27FC236}">
                <a16:creationId xmlns:a16="http://schemas.microsoft.com/office/drawing/2014/main" id="{6B10A3DA-6096-5CBC-3C34-1BDB4D3ED90C}"/>
              </a:ext>
            </a:extLst>
          </p:cNvPr>
          <p:cNvSpPr txBox="1">
            <a:spLocks/>
          </p:cNvSpPr>
          <p:nvPr/>
        </p:nvSpPr>
        <p:spPr>
          <a:xfrm>
            <a:off x="7715771" y="1155040"/>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800" dirty="0"/>
              <a:t>1</a:t>
            </a:r>
            <a:endParaRPr lang="en-US" sz="1800" dirty="0"/>
          </a:p>
        </p:txBody>
      </p:sp>
      <p:sp>
        <p:nvSpPr>
          <p:cNvPr id="120" name="Text Placeholder 11">
            <a:extLst>
              <a:ext uri="{FF2B5EF4-FFF2-40B4-BE49-F238E27FC236}">
                <a16:creationId xmlns:a16="http://schemas.microsoft.com/office/drawing/2014/main" id="{7486E810-41A9-8353-E944-7E95541923EF}"/>
              </a:ext>
            </a:extLst>
          </p:cNvPr>
          <p:cNvSpPr txBox="1">
            <a:spLocks/>
          </p:cNvSpPr>
          <p:nvPr/>
        </p:nvSpPr>
        <p:spPr>
          <a:xfrm>
            <a:off x="609601" y="1182749"/>
            <a:ext cx="3141880"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ar-EG" dirty="0">
                <a:solidFill>
                  <a:schemeClr val="accent1"/>
                </a:solidFill>
                <a:hlinkClick r:id="rId3" action="ppaction://hlinksldjump"/>
              </a:rPr>
              <a:t>تحليل فجوات المهارات المرتبطة بممارسة البنية المؤسسية</a:t>
            </a:r>
            <a:endParaRPr lang="ar-EG" dirty="0">
              <a:solidFill>
                <a:schemeClr val="accent1"/>
              </a:solidFill>
            </a:endParaRPr>
          </a:p>
        </p:txBody>
      </p:sp>
      <p:sp>
        <p:nvSpPr>
          <p:cNvPr id="122" name="Text Placeholder 6">
            <a:extLst>
              <a:ext uri="{FF2B5EF4-FFF2-40B4-BE49-F238E27FC236}">
                <a16:creationId xmlns:a16="http://schemas.microsoft.com/office/drawing/2014/main" id="{98A2FD5D-5EBB-BA9D-4871-8F2CBDB452E1}"/>
              </a:ext>
            </a:extLst>
          </p:cNvPr>
          <p:cNvSpPr txBox="1">
            <a:spLocks/>
          </p:cNvSpPr>
          <p:nvPr/>
        </p:nvSpPr>
        <p:spPr>
          <a:xfrm>
            <a:off x="3882364" y="1155040"/>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800" dirty="0"/>
              <a:t>2</a:t>
            </a:r>
            <a:endParaRPr lang="en-US" sz="1800" dirty="0"/>
          </a:p>
        </p:txBody>
      </p:sp>
      <p:sp>
        <p:nvSpPr>
          <p:cNvPr id="2" name="Text Placeholder 11">
            <a:extLst>
              <a:ext uri="{FF2B5EF4-FFF2-40B4-BE49-F238E27FC236}">
                <a16:creationId xmlns:a16="http://schemas.microsoft.com/office/drawing/2014/main" id="{2363D0A5-2598-3E82-14A7-A68F4EA529DE}"/>
              </a:ext>
            </a:extLst>
          </p:cNvPr>
          <p:cNvSpPr txBox="1">
            <a:spLocks/>
          </p:cNvSpPr>
          <p:nvPr/>
        </p:nvSpPr>
        <p:spPr>
          <a:xfrm>
            <a:off x="4443008" y="2108714"/>
            <a:ext cx="3141880"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dirty="0">
                <a:solidFill>
                  <a:schemeClr val="accent1"/>
                </a:solidFill>
                <a:hlinkClick r:id="rId4" action="ppaction://hlinksldjump"/>
              </a:rPr>
              <a:t>الدورات التدريبية والشهادات المطلوبة لسد الفجوات في المهارات</a:t>
            </a:r>
            <a:endParaRPr lang="ar-EG" dirty="0">
              <a:solidFill>
                <a:schemeClr val="accent1"/>
              </a:solidFill>
            </a:endParaRPr>
          </a:p>
        </p:txBody>
      </p:sp>
      <p:sp>
        <p:nvSpPr>
          <p:cNvPr id="3" name="Text Placeholder 6">
            <a:extLst>
              <a:ext uri="{FF2B5EF4-FFF2-40B4-BE49-F238E27FC236}">
                <a16:creationId xmlns:a16="http://schemas.microsoft.com/office/drawing/2014/main" id="{4E135D50-7032-BCCB-4162-D48ACE1227AC}"/>
              </a:ext>
            </a:extLst>
          </p:cNvPr>
          <p:cNvSpPr txBox="1">
            <a:spLocks/>
          </p:cNvSpPr>
          <p:nvPr/>
        </p:nvSpPr>
        <p:spPr>
          <a:xfrm>
            <a:off x="7715771" y="2081005"/>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3</a:t>
            </a:r>
          </a:p>
        </p:txBody>
      </p:sp>
      <p:sp>
        <p:nvSpPr>
          <p:cNvPr id="4" name="Text Placeholder 11">
            <a:extLst>
              <a:ext uri="{FF2B5EF4-FFF2-40B4-BE49-F238E27FC236}">
                <a16:creationId xmlns:a16="http://schemas.microsoft.com/office/drawing/2014/main" id="{E09C355A-9FD2-2606-17C8-4459E09E34B1}"/>
              </a:ext>
            </a:extLst>
          </p:cNvPr>
          <p:cNvSpPr txBox="1">
            <a:spLocks/>
          </p:cNvSpPr>
          <p:nvPr/>
        </p:nvSpPr>
        <p:spPr>
          <a:xfrm>
            <a:off x="609601" y="2108714"/>
            <a:ext cx="3141880"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dirty="0">
                <a:solidFill>
                  <a:schemeClr val="accent1"/>
                </a:solidFill>
                <a:hlinkClick r:id="rId5" action="ppaction://hlinksldjump"/>
              </a:rPr>
              <a:t>بطاقات التدريب والشهادات المرتبطة بها</a:t>
            </a:r>
            <a:endParaRPr lang="ar-EG" dirty="0">
              <a:solidFill>
                <a:schemeClr val="accent1"/>
              </a:solidFill>
            </a:endParaRPr>
          </a:p>
        </p:txBody>
      </p:sp>
      <p:sp>
        <p:nvSpPr>
          <p:cNvPr id="5" name="Text Placeholder 6">
            <a:extLst>
              <a:ext uri="{FF2B5EF4-FFF2-40B4-BE49-F238E27FC236}">
                <a16:creationId xmlns:a16="http://schemas.microsoft.com/office/drawing/2014/main" id="{AC15DC1D-D994-9E95-FDE9-4DFDB0A21789}"/>
              </a:ext>
            </a:extLst>
          </p:cNvPr>
          <p:cNvSpPr txBox="1">
            <a:spLocks/>
          </p:cNvSpPr>
          <p:nvPr/>
        </p:nvSpPr>
        <p:spPr>
          <a:xfrm>
            <a:off x="3882364" y="2081005"/>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4</a:t>
            </a:r>
          </a:p>
        </p:txBody>
      </p:sp>
      <p:sp>
        <p:nvSpPr>
          <p:cNvPr id="12" name="Text Placeholder 11">
            <a:extLst>
              <a:ext uri="{FF2B5EF4-FFF2-40B4-BE49-F238E27FC236}">
                <a16:creationId xmlns:a16="http://schemas.microsoft.com/office/drawing/2014/main" id="{3B4C6009-E4E4-14CA-1D92-589201A2C3A7}"/>
              </a:ext>
            </a:extLst>
          </p:cNvPr>
          <p:cNvSpPr txBox="1">
            <a:spLocks/>
          </p:cNvSpPr>
          <p:nvPr/>
        </p:nvSpPr>
        <p:spPr>
          <a:xfrm>
            <a:off x="4443008" y="2936295"/>
            <a:ext cx="3141880"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dirty="0">
                <a:solidFill>
                  <a:schemeClr val="accent1"/>
                </a:solidFill>
                <a:hlinkClick r:id="rId6" action="ppaction://hlinksldjump"/>
              </a:rPr>
              <a:t>الجدول الزمني للخطة التدريبة للدورات</a:t>
            </a:r>
            <a:endParaRPr lang="ar-EG" dirty="0">
              <a:solidFill>
                <a:schemeClr val="accent1"/>
              </a:solidFill>
            </a:endParaRPr>
          </a:p>
        </p:txBody>
      </p:sp>
      <p:sp>
        <p:nvSpPr>
          <p:cNvPr id="15" name="Text Placeholder 6">
            <a:extLst>
              <a:ext uri="{FF2B5EF4-FFF2-40B4-BE49-F238E27FC236}">
                <a16:creationId xmlns:a16="http://schemas.microsoft.com/office/drawing/2014/main" id="{85379A3C-2573-0D76-812A-572A5DA8CD19}"/>
              </a:ext>
            </a:extLst>
          </p:cNvPr>
          <p:cNvSpPr txBox="1">
            <a:spLocks/>
          </p:cNvSpPr>
          <p:nvPr/>
        </p:nvSpPr>
        <p:spPr>
          <a:xfrm>
            <a:off x="7715771" y="2908586"/>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5</a:t>
            </a:r>
          </a:p>
        </p:txBody>
      </p:sp>
    </p:spTree>
    <p:extLst>
      <p:ext uri="{BB962C8B-B14F-4D97-AF65-F5344CB8AC3E}">
        <p14:creationId xmlns:p14="http://schemas.microsoft.com/office/powerpoint/2010/main" val="6771418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038165" y="3925452"/>
            <a:ext cx="6506136" cy="641639"/>
          </a:xfrm>
        </p:spPr>
        <p:txBody>
          <a:bodyPr/>
          <a:lstStyle/>
          <a:p>
            <a:r>
              <a:rPr lang="ar-EG" dirty="0"/>
              <a:t>مقدمة عن خطة التدريب للبنية المؤسسية</a:t>
            </a:r>
          </a:p>
        </p:txBody>
      </p:sp>
      <p:sp>
        <p:nvSpPr>
          <p:cNvPr id="4" name="Text Placeholder 3"/>
          <p:cNvSpPr>
            <a:spLocks noGrp="1"/>
          </p:cNvSpPr>
          <p:nvPr>
            <p:ph type="body" sz="quarter" idx="14"/>
          </p:nvPr>
        </p:nvSpPr>
        <p:spPr/>
        <p:txBody>
          <a:bodyPr/>
          <a:lstStyle/>
          <a:p>
            <a:r>
              <a:rPr lang="ar-SA" dirty="0"/>
              <a:t>01</a:t>
            </a:r>
            <a:endParaRPr lang="en-US" dirty="0"/>
          </a:p>
        </p:txBody>
      </p:sp>
    </p:spTree>
    <p:extLst>
      <p:ext uri="{BB962C8B-B14F-4D97-AF65-F5344CB8AC3E}">
        <p14:creationId xmlns:p14="http://schemas.microsoft.com/office/powerpoint/2010/main" val="1631435678"/>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7</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مقدمة عن خطة التدريب للبنية المؤسسية</a:t>
            </a:r>
          </a:p>
        </p:txBody>
      </p:sp>
      <p:grpSp>
        <p:nvGrpSpPr>
          <p:cNvPr id="4" name="Group 3">
            <a:extLst>
              <a:ext uri="{FF2B5EF4-FFF2-40B4-BE49-F238E27FC236}">
                <a16:creationId xmlns:a16="http://schemas.microsoft.com/office/drawing/2014/main" id="{C0ED42F9-75ED-7429-60CF-A63A369B97F1}"/>
              </a:ext>
            </a:extLst>
          </p:cNvPr>
          <p:cNvGrpSpPr/>
          <p:nvPr/>
        </p:nvGrpSpPr>
        <p:grpSpPr>
          <a:xfrm flipH="1">
            <a:off x="9736652" y="2512210"/>
            <a:ext cx="1588573" cy="1483303"/>
            <a:chOff x="1037897" y="2843466"/>
            <a:chExt cx="1588573" cy="1483303"/>
          </a:xfrm>
          <a:solidFill>
            <a:srgbClr val="4C3C8D"/>
          </a:solidFill>
        </p:grpSpPr>
        <p:grpSp>
          <p:nvGrpSpPr>
            <p:cNvPr id="5" name="Group 4">
              <a:extLst>
                <a:ext uri="{FF2B5EF4-FFF2-40B4-BE49-F238E27FC236}">
                  <a16:creationId xmlns:a16="http://schemas.microsoft.com/office/drawing/2014/main" id="{262E59DC-DD94-F8E6-222D-CFB33E8AA08E}"/>
                </a:ext>
              </a:extLst>
            </p:cNvPr>
            <p:cNvGrpSpPr/>
            <p:nvPr/>
          </p:nvGrpSpPr>
          <p:grpSpPr>
            <a:xfrm flipH="1">
              <a:off x="1037897" y="2843466"/>
              <a:ext cx="1588573" cy="1483303"/>
              <a:chOff x="9736652" y="2841229"/>
              <a:chExt cx="1588573" cy="1483303"/>
            </a:xfrm>
            <a:grpFill/>
          </p:grpSpPr>
          <p:sp>
            <p:nvSpPr>
              <p:cNvPr id="7" name="Freeform 6">
                <a:extLst>
                  <a:ext uri="{FF2B5EF4-FFF2-40B4-BE49-F238E27FC236}">
                    <a16:creationId xmlns:a16="http://schemas.microsoft.com/office/drawing/2014/main" id="{691F9956-3AC2-54CC-6179-688BC7747CD0}"/>
                  </a:ext>
                </a:extLst>
              </p:cNvPr>
              <p:cNvSpPr>
                <a:spLocks/>
              </p:cNvSpPr>
              <p:nvPr/>
            </p:nvSpPr>
            <p:spPr bwMode="auto">
              <a:xfrm>
                <a:off x="9736652" y="2841229"/>
                <a:ext cx="1256429" cy="1483303"/>
              </a:xfrm>
              <a:custGeom>
                <a:avLst/>
                <a:gdLst>
                  <a:gd name="T0" fmla="*/ 632 w 7475"/>
                  <a:gd name="T1" fmla="*/ 103 h 8831"/>
                  <a:gd name="T2" fmla="*/ 298 w 7475"/>
                  <a:gd name="T3" fmla="*/ 352 h 8831"/>
                  <a:gd name="T4" fmla="*/ 72 w 7475"/>
                  <a:gd name="T5" fmla="*/ 707 h 8831"/>
                  <a:gd name="T6" fmla="*/ 0 w 7475"/>
                  <a:gd name="T7" fmla="*/ 4422 h 8831"/>
                  <a:gd name="T8" fmla="*/ 73 w 7475"/>
                  <a:gd name="T9" fmla="*/ 8125 h 8831"/>
                  <a:gd name="T10" fmla="*/ 305 w 7475"/>
                  <a:gd name="T11" fmla="*/ 8483 h 8831"/>
                  <a:gd name="T12" fmla="*/ 639 w 7475"/>
                  <a:gd name="T13" fmla="*/ 8727 h 8831"/>
                  <a:gd name="T14" fmla="*/ 858 w 7475"/>
                  <a:gd name="T15" fmla="*/ 8803 h 8831"/>
                  <a:gd name="T16" fmla="*/ 2039 w 7475"/>
                  <a:gd name="T17" fmla="*/ 8831 h 8831"/>
                  <a:gd name="T18" fmla="*/ 5788 w 7475"/>
                  <a:gd name="T19" fmla="*/ 8829 h 8831"/>
                  <a:gd name="T20" fmla="*/ 6608 w 7475"/>
                  <a:gd name="T21" fmla="*/ 8801 h 8831"/>
                  <a:gd name="T22" fmla="*/ 6807 w 7475"/>
                  <a:gd name="T23" fmla="*/ 8736 h 8831"/>
                  <a:gd name="T24" fmla="*/ 7010 w 7475"/>
                  <a:gd name="T25" fmla="*/ 8620 h 8831"/>
                  <a:gd name="T26" fmla="*/ 7265 w 7475"/>
                  <a:gd name="T27" fmla="*/ 8369 h 8831"/>
                  <a:gd name="T28" fmla="*/ 7426 w 7475"/>
                  <a:gd name="T29" fmla="*/ 8047 h 8831"/>
                  <a:gd name="T30" fmla="*/ 7466 w 7475"/>
                  <a:gd name="T31" fmla="*/ 7857 h 8831"/>
                  <a:gd name="T32" fmla="*/ 7475 w 7475"/>
                  <a:gd name="T33" fmla="*/ 6849 h 8831"/>
                  <a:gd name="T34" fmla="*/ 7153 w 7475"/>
                  <a:gd name="T35" fmla="*/ 6842 h 8831"/>
                  <a:gd name="T36" fmla="*/ 7131 w 7475"/>
                  <a:gd name="T37" fmla="*/ 6930 h 8831"/>
                  <a:gd name="T38" fmla="*/ 7125 w 7475"/>
                  <a:gd name="T39" fmla="*/ 7509 h 8831"/>
                  <a:gd name="T40" fmla="*/ 7101 w 7475"/>
                  <a:gd name="T41" fmla="*/ 7917 h 8831"/>
                  <a:gd name="T42" fmla="*/ 7033 w 7475"/>
                  <a:gd name="T43" fmla="*/ 8084 h 8831"/>
                  <a:gd name="T44" fmla="*/ 6859 w 7475"/>
                  <a:gd name="T45" fmla="*/ 8301 h 8831"/>
                  <a:gd name="T46" fmla="*/ 6621 w 7475"/>
                  <a:gd name="T47" fmla="*/ 8440 h 8831"/>
                  <a:gd name="T48" fmla="*/ 6496 w 7475"/>
                  <a:gd name="T49" fmla="*/ 8466 h 8831"/>
                  <a:gd name="T50" fmla="*/ 3699 w 7475"/>
                  <a:gd name="T51" fmla="*/ 8477 h 8831"/>
                  <a:gd name="T52" fmla="*/ 744 w 7475"/>
                  <a:gd name="T53" fmla="*/ 8388 h 8831"/>
                  <a:gd name="T54" fmla="*/ 536 w 7475"/>
                  <a:gd name="T55" fmla="*/ 8219 h 8831"/>
                  <a:gd name="T56" fmla="*/ 399 w 7475"/>
                  <a:gd name="T57" fmla="*/ 7995 h 8831"/>
                  <a:gd name="T58" fmla="*/ 356 w 7475"/>
                  <a:gd name="T59" fmla="*/ 7814 h 8831"/>
                  <a:gd name="T60" fmla="*/ 342 w 7475"/>
                  <a:gd name="T61" fmla="*/ 4409 h 8831"/>
                  <a:gd name="T62" fmla="*/ 357 w 7475"/>
                  <a:gd name="T63" fmla="*/ 1032 h 8831"/>
                  <a:gd name="T64" fmla="*/ 374 w 7475"/>
                  <a:gd name="T65" fmla="*/ 903 h 8831"/>
                  <a:gd name="T66" fmla="*/ 488 w 7475"/>
                  <a:gd name="T67" fmla="*/ 663 h 8831"/>
                  <a:gd name="T68" fmla="*/ 750 w 7475"/>
                  <a:gd name="T69" fmla="*/ 436 h 8831"/>
                  <a:gd name="T70" fmla="*/ 1042 w 7475"/>
                  <a:gd name="T71" fmla="*/ 347 h 8831"/>
                  <a:gd name="T72" fmla="*/ 2627 w 7475"/>
                  <a:gd name="T73" fmla="*/ 333 h 8831"/>
                  <a:gd name="T74" fmla="*/ 6587 w 7475"/>
                  <a:gd name="T75" fmla="*/ 374 h 8831"/>
                  <a:gd name="T76" fmla="*/ 6804 w 7475"/>
                  <a:gd name="T77" fmla="*/ 484 h 8831"/>
                  <a:gd name="T78" fmla="*/ 7000 w 7475"/>
                  <a:gd name="T79" fmla="*/ 684 h 8831"/>
                  <a:gd name="T80" fmla="*/ 7099 w 7475"/>
                  <a:gd name="T81" fmla="*/ 896 h 8831"/>
                  <a:gd name="T82" fmla="*/ 7125 w 7475"/>
                  <a:gd name="T83" fmla="*/ 1191 h 8831"/>
                  <a:gd name="T84" fmla="*/ 7129 w 7475"/>
                  <a:gd name="T85" fmla="*/ 1839 h 8831"/>
                  <a:gd name="T86" fmla="*/ 7240 w 7475"/>
                  <a:gd name="T87" fmla="*/ 1869 h 8831"/>
                  <a:gd name="T88" fmla="*/ 7475 w 7475"/>
                  <a:gd name="T89" fmla="*/ 1416 h 8831"/>
                  <a:gd name="T90" fmla="*/ 7461 w 7475"/>
                  <a:gd name="T91" fmla="*/ 949 h 8831"/>
                  <a:gd name="T92" fmla="*/ 7409 w 7475"/>
                  <a:gd name="T93" fmla="*/ 723 h 8831"/>
                  <a:gd name="T94" fmla="*/ 7336 w 7475"/>
                  <a:gd name="T95" fmla="*/ 569 h 8831"/>
                  <a:gd name="T96" fmla="*/ 7142 w 7475"/>
                  <a:gd name="T97" fmla="*/ 313 h 8831"/>
                  <a:gd name="T98" fmla="*/ 6880 w 7475"/>
                  <a:gd name="T99" fmla="*/ 124 h 8831"/>
                  <a:gd name="T100" fmla="*/ 6600 w 7475"/>
                  <a:gd name="T101" fmla="*/ 6 h 8831"/>
                  <a:gd name="T102" fmla="*/ 1076 w 7475"/>
                  <a:gd name="T103" fmla="*/ 7 h 8831"/>
                  <a:gd name="T104" fmla="*/ 829 w 7475"/>
                  <a:gd name="T105" fmla="*/ 31 h 8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475" h="8831">
                    <a:moveTo>
                      <a:pt x="829" y="31"/>
                    </a:moveTo>
                    <a:lnTo>
                      <a:pt x="761" y="50"/>
                    </a:lnTo>
                    <a:lnTo>
                      <a:pt x="632" y="103"/>
                    </a:lnTo>
                    <a:lnTo>
                      <a:pt x="511" y="172"/>
                    </a:lnTo>
                    <a:lnTo>
                      <a:pt x="399" y="255"/>
                    </a:lnTo>
                    <a:lnTo>
                      <a:pt x="298" y="352"/>
                    </a:lnTo>
                    <a:lnTo>
                      <a:pt x="209" y="460"/>
                    </a:lnTo>
                    <a:lnTo>
                      <a:pt x="133" y="579"/>
                    </a:lnTo>
                    <a:lnTo>
                      <a:pt x="72" y="707"/>
                    </a:lnTo>
                    <a:lnTo>
                      <a:pt x="49" y="774"/>
                    </a:lnTo>
                    <a:lnTo>
                      <a:pt x="0" y="922"/>
                    </a:lnTo>
                    <a:lnTo>
                      <a:pt x="0" y="4422"/>
                    </a:lnTo>
                    <a:lnTo>
                      <a:pt x="0" y="7922"/>
                    </a:lnTo>
                    <a:lnTo>
                      <a:pt x="47" y="8056"/>
                    </a:lnTo>
                    <a:lnTo>
                      <a:pt x="73" y="8125"/>
                    </a:lnTo>
                    <a:lnTo>
                      <a:pt x="137" y="8255"/>
                    </a:lnTo>
                    <a:lnTo>
                      <a:pt x="215" y="8374"/>
                    </a:lnTo>
                    <a:lnTo>
                      <a:pt x="305" y="8483"/>
                    </a:lnTo>
                    <a:lnTo>
                      <a:pt x="407" y="8578"/>
                    </a:lnTo>
                    <a:lnTo>
                      <a:pt x="518" y="8660"/>
                    </a:lnTo>
                    <a:lnTo>
                      <a:pt x="639" y="8727"/>
                    </a:lnTo>
                    <a:lnTo>
                      <a:pt x="768" y="8779"/>
                    </a:lnTo>
                    <a:lnTo>
                      <a:pt x="835" y="8797"/>
                    </a:lnTo>
                    <a:lnTo>
                      <a:pt x="858" y="8803"/>
                    </a:lnTo>
                    <a:lnTo>
                      <a:pt x="916" y="8813"/>
                    </a:lnTo>
                    <a:lnTo>
                      <a:pt x="1080" y="8823"/>
                    </a:lnTo>
                    <a:lnTo>
                      <a:pt x="2039" y="8831"/>
                    </a:lnTo>
                    <a:lnTo>
                      <a:pt x="3740" y="8831"/>
                    </a:lnTo>
                    <a:lnTo>
                      <a:pt x="4795" y="8831"/>
                    </a:lnTo>
                    <a:lnTo>
                      <a:pt x="5788" y="8829"/>
                    </a:lnTo>
                    <a:lnTo>
                      <a:pt x="6213" y="8824"/>
                    </a:lnTo>
                    <a:lnTo>
                      <a:pt x="6483" y="8814"/>
                    </a:lnTo>
                    <a:lnTo>
                      <a:pt x="6608" y="8801"/>
                    </a:lnTo>
                    <a:lnTo>
                      <a:pt x="6668" y="8791"/>
                    </a:lnTo>
                    <a:lnTo>
                      <a:pt x="6735" y="8772"/>
                    </a:lnTo>
                    <a:lnTo>
                      <a:pt x="6807" y="8736"/>
                    </a:lnTo>
                    <a:lnTo>
                      <a:pt x="6850" y="8714"/>
                    </a:lnTo>
                    <a:lnTo>
                      <a:pt x="6906" y="8686"/>
                    </a:lnTo>
                    <a:lnTo>
                      <a:pt x="7010" y="8620"/>
                    </a:lnTo>
                    <a:lnTo>
                      <a:pt x="7104" y="8546"/>
                    </a:lnTo>
                    <a:lnTo>
                      <a:pt x="7190" y="8462"/>
                    </a:lnTo>
                    <a:lnTo>
                      <a:pt x="7265" y="8369"/>
                    </a:lnTo>
                    <a:lnTo>
                      <a:pt x="7329" y="8269"/>
                    </a:lnTo>
                    <a:lnTo>
                      <a:pt x="7383" y="8162"/>
                    </a:lnTo>
                    <a:lnTo>
                      <a:pt x="7426" y="8047"/>
                    </a:lnTo>
                    <a:lnTo>
                      <a:pt x="7442" y="7987"/>
                    </a:lnTo>
                    <a:lnTo>
                      <a:pt x="7452" y="7946"/>
                    </a:lnTo>
                    <a:lnTo>
                      <a:pt x="7466" y="7857"/>
                    </a:lnTo>
                    <a:lnTo>
                      <a:pt x="7475" y="7643"/>
                    </a:lnTo>
                    <a:lnTo>
                      <a:pt x="7475" y="7354"/>
                    </a:lnTo>
                    <a:lnTo>
                      <a:pt x="7475" y="6849"/>
                    </a:lnTo>
                    <a:lnTo>
                      <a:pt x="7314" y="6844"/>
                    </a:lnTo>
                    <a:lnTo>
                      <a:pt x="7248" y="6842"/>
                    </a:lnTo>
                    <a:lnTo>
                      <a:pt x="7153" y="6842"/>
                    </a:lnTo>
                    <a:lnTo>
                      <a:pt x="7139" y="6844"/>
                    </a:lnTo>
                    <a:lnTo>
                      <a:pt x="7136" y="6852"/>
                    </a:lnTo>
                    <a:lnTo>
                      <a:pt x="7131" y="6930"/>
                    </a:lnTo>
                    <a:lnTo>
                      <a:pt x="7126" y="7149"/>
                    </a:lnTo>
                    <a:lnTo>
                      <a:pt x="7125" y="7349"/>
                    </a:lnTo>
                    <a:lnTo>
                      <a:pt x="7125" y="7509"/>
                    </a:lnTo>
                    <a:lnTo>
                      <a:pt x="7123" y="7720"/>
                    </a:lnTo>
                    <a:lnTo>
                      <a:pt x="7116" y="7842"/>
                    </a:lnTo>
                    <a:lnTo>
                      <a:pt x="7101" y="7917"/>
                    </a:lnTo>
                    <a:lnTo>
                      <a:pt x="7090" y="7951"/>
                    </a:lnTo>
                    <a:lnTo>
                      <a:pt x="7074" y="7997"/>
                    </a:lnTo>
                    <a:lnTo>
                      <a:pt x="7033" y="8084"/>
                    </a:lnTo>
                    <a:lnTo>
                      <a:pt x="6983" y="8164"/>
                    </a:lnTo>
                    <a:lnTo>
                      <a:pt x="6925" y="8237"/>
                    </a:lnTo>
                    <a:lnTo>
                      <a:pt x="6859" y="8301"/>
                    </a:lnTo>
                    <a:lnTo>
                      <a:pt x="6786" y="8357"/>
                    </a:lnTo>
                    <a:lnTo>
                      <a:pt x="6706" y="8403"/>
                    </a:lnTo>
                    <a:lnTo>
                      <a:pt x="6621" y="8440"/>
                    </a:lnTo>
                    <a:lnTo>
                      <a:pt x="6575" y="8454"/>
                    </a:lnTo>
                    <a:lnTo>
                      <a:pt x="6558" y="8459"/>
                    </a:lnTo>
                    <a:lnTo>
                      <a:pt x="6496" y="8466"/>
                    </a:lnTo>
                    <a:lnTo>
                      <a:pt x="6304" y="8474"/>
                    </a:lnTo>
                    <a:lnTo>
                      <a:pt x="5299" y="8479"/>
                    </a:lnTo>
                    <a:lnTo>
                      <a:pt x="3699" y="8477"/>
                    </a:lnTo>
                    <a:lnTo>
                      <a:pt x="915" y="8472"/>
                    </a:lnTo>
                    <a:lnTo>
                      <a:pt x="785" y="8409"/>
                    </a:lnTo>
                    <a:lnTo>
                      <a:pt x="744" y="8388"/>
                    </a:lnTo>
                    <a:lnTo>
                      <a:pt x="668" y="8339"/>
                    </a:lnTo>
                    <a:lnTo>
                      <a:pt x="598" y="8282"/>
                    </a:lnTo>
                    <a:lnTo>
                      <a:pt x="536" y="8219"/>
                    </a:lnTo>
                    <a:lnTo>
                      <a:pt x="482" y="8150"/>
                    </a:lnTo>
                    <a:lnTo>
                      <a:pt x="436" y="8075"/>
                    </a:lnTo>
                    <a:lnTo>
                      <a:pt x="399" y="7995"/>
                    </a:lnTo>
                    <a:lnTo>
                      <a:pt x="371" y="7911"/>
                    </a:lnTo>
                    <a:lnTo>
                      <a:pt x="360" y="7867"/>
                    </a:lnTo>
                    <a:lnTo>
                      <a:pt x="356" y="7814"/>
                    </a:lnTo>
                    <a:lnTo>
                      <a:pt x="349" y="7395"/>
                    </a:lnTo>
                    <a:lnTo>
                      <a:pt x="343" y="6032"/>
                    </a:lnTo>
                    <a:lnTo>
                      <a:pt x="342" y="4409"/>
                    </a:lnTo>
                    <a:lnTo>
                      <a:pt x="342" y="2512"/>
                    </a:lnTo>
                    <a:lnTo>
                      <a:pt x="349" y="1278"/>
                    </a:lnTo>
                    <a:lnTo>
                      <a:pt x="357" y="1032"/>
                    </a:lnTo>
                    <a:lnTo>
                      <a:pt x="363" y="953"/>
                    </a:lnTo>
                    <a:lnTo>
                      <a:pt x="367" y="932"/>
                    </a:lnTo>
                    <a:lnTo>
                      <a:pt x="374" y="903"/>
                    </a:lnTo>
                    <a:lnTo>
                      <a:pt x="393" y="845"/>
                    </a:lnTo>
                    <a:lnTo>
                      <a:pt x="428" y="763"/>
                    </a:lnTo>
                    <a:lnTo>
                      <a:pt x="488" y="663"/>
                    </a:lnTo>
                    <a:lnTo>
                      <a:pt x="563" y="575"/>
                    </a:lnTo>
                    <a:lnTo>
                      <a:pt x="651" y="498"/>
                    </a:lnTo>
                    <a:lnTo>
                      <a:pt x="750" y="436"/>
                    </a:lnTo>
                    <a:lnTo>
                      <a:pt x="860" y="388"/>
                    </a:lnTo>
                    <a:lnTo>
                      <a:pt x="979" y="356"/>
                    </a:lnTo>
                    <a:lnTo>
                      <a:pt x="1042" y="347"/>
                    </a:lnTo>
                    <a:lnTo>
                      <a:pt x="1104" y="343"/>
                    </a:lnTo>
                    <a:lnTo>
                      <a:pt x="1495" y="337"/>
                    </a:lnTo>
                    <a:lnTo>
                      <a:pt x="2627" y="333"/>
                    </a:lnTo>
                    <a:lnTo>
                      <a:pt x="3834" y="334"/>
                    </a:lnTo>
                    <a:lnTo>
                      <a:pt x="6484" y="339"/>
                    </a:lnTo>
                    <a:lnTo>
                      <a:pt x="6587" y="374"/>
                    </a:lnTo>
                    <a:lnTo>
                      <a:pt x="6634" y="391"/>
                    </a:lnTo>
                    <a:lnTo>
                      <a:pt x="6722" y="433"/>
                    </a:lnTo>
                    <a:lnTo>
                      <a:pt x="6804" y="484"/>
                    </a:lnTo>
                    <a:lnTo>
                      <a:pt x="6878" y="543"/>
                    </a:lnTo>
                    <a:lnTo>
                      <a:pt x="6943" y="610"/>
                    </a:lnTo>
                    <a:lnTo>
                      <a:pt x="7000" y="684"/>
                    </a:lnTo>
                    <a:lnTo>
                      <a:pt x="7047" y="764"/>
                    </a:lnTo>
                    <a:lnTo>
                      <a:pt x="7084" y="850"/>
                    </a:lnTo>
                    <a:lnTo>
                      <a:pt x="7099" y="896"/>
                    </a:lnTo>
                    <a:lnTo>
                      <a:pt x="7106" y="924"/>
                    </a:lnTo>
                    <a:lnTo>
                      <a:pt x="7117" y="1001"/>
                    </a:lnTo>
                    <a:lnTo>
                      <a:pt x="7125" y="1191"/>
                    </a:lnTo>
                    <a:lnTo>
                      <a:pt x="7125" y="1422"/>
                    </a:lnTo>
                    <a:lnTo>
                      <a:pt x="7126" y="1597"/>
                    </a:lnTo>
                    <a:lnTo>
                      <a:pt x="7129" y="1839"/>
                    </a:lnTo>
                    <a:lnTo>
                      <a:pt x="7132" y="1866"/>
                    </a:lnTo>
                    <a:lnTo>
                      <a:pt x="7144" y="1868"/>
                    </a:lnTo>
                    <a:lnTo>
                      <a:pt x="7240" y="1869"/>
                    </a:lnTo>
                    <a:lnTo>
                      <a:pt x="7307" y="1867"/>
                    </a:lnTo>
                    <a:lnTo>
                      <a:pt x="7475" y="1862"/>
                    </a:lnTo>
                    <a:lnTo>
                      <a:pt x="7475" y="1416"/>
                    </a:lnTo>
                    <a:lnTo>
                      <a:pt x="7475" y="1242"/>
                    </a:lnTo>
                    <a:lnTo>
                      <a:pt x="7469" y="1050"/>
                    </a:lnTo>
                    <a:lnTo>
                      <a:pt x="7461" y="949"/>
                    </a:lnTo>
                    <a:lnTo>
                      <a:pt x="7449" y="864"/>
                    </a:lnTo>
                    <a:lnTo>
                      <a:pt x="7432" y="791"/>
                    </a:lnTo>
                    <a:lnTo>
                      <a:pt x="7409" y="723"/>
                    </a:lnTo>
                    <a:lnTo>
                      <a:pt x="7380" y="655"/>
                    </a:lnTo>
                    <a:lnTo>
                      <a:pt x="7362" y="619"/>
                    </a:lnTo>
                    <a:lnTo>
                      <a:pt x="7336" y="569"/>
                    </a:lnTo>
                    <a:lnTo>
                      <a:pt x="7278" y="476"/>
                    </a:lnTo>
                    <a:lnTo>
                      <a:pt x="7213" y="391"/>
                    </a:lnTo>
                    <a:lnTo>
                      <a:pt x="7142" y="313"/>
                    </a:lnTo>
                    <a:lnTo>
                      <a:pt x="7062" y="243"/>
                    </a:lnTo>
                    <a:lnTo>
                      <a:pt x="6975" y="180"/>
                    </a:lnTo>
                    <a:lnTo>
                      <a:pt x="6880" y="124"/>
                    </a:lnTo>
                    <a:lnTo>
                      <a:pt x="6777" y="74"/>
                    </a:lnTo>
                    <a:lnTo>
                      <a:pt x="6722" y="52"/>
                    </a:lnTo>
                    <a:lnTo>
                      <a:pt x="6600" y="6"/>
                    </a:lnTo>
                    <a:lnTo>
                      <a:pt x="3775" y="2"/>
                    </a:lnTo>
                    <a:lnTo>
                      <a:pt x="2053" y="0"/>
                    </a:lnTo>
                    <a:lnTo>
                      <a:pt x="1076" y="7"/>
                    </a:lnTo>
                    <a:lnTo>
                      <a:pt x="908" y="17"/>
                    </a:lnTo>
                    <a:lnTo>
                      <a:pt x="851" y="25"/>
                    </a:lnTo>
                    <a:lnTo>
                      <a:pt x="829"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8" name="Freeform 7">
                <a:extLst>
                  <a:ext uri="{FF2B5EF4-FFF2-40B4-BE49-F238E27FC236}">
                    <a16:creationId xmlns:a16="http://schemas.microsoft.com/office/drawing/2014/main" id="{DD017104-2D65-8DD6-4208-EAE32E49A27E}"/>
                  </a:ext>
                </a:extLst>
              </p:cNvPr>
              <p:cNvSpPr>
                <a:spLocks/>
              </p:cNvSpPr>
              <p:nvPr/>
            </p:nvSpPr>
            <p:spPr bwMode="auto">
              <a:xfrm>
                <a:off x="10015708" y="3174280"/>
                <a:ext cx="697412" cy="24956"/>
              </a:xfrm>
              <a:custGeom>
                <a:avLst/>
                <a:gdLst>
                  <a:gd name="T0" fmla="*/ 5 w 4150"/>
                  <a:gd name="T1" fmla="*/ 22 h 149"/>
                  <a:gd name="T2" fmla="*/ 2 w 4150"/>
                  <a:gd name="T3" fmla="*/ 34 h 149"/>
                  <a:gd name="T4" fmla="*/ 0 w 4150"/>
                  <a:gd name="T5" fmla="*/ 73 h 149"/>
                  <a:gd name="T6" fmla="*/ 2 w 4150"/>
                  <a:gd name="T7" fmla="*/ 94 h 149"/>
                  <a:gd name="T8" fmla="*/ 7 w 4150"/>
                  <a:gd name="T9" fmla="*/ 140 h 149"/>
                  <a:gd name="T10" fmla="*/ 2079 w 4150"/>
                  <a:gd name="T11" fmla="*/ 145 h 149"/>
                  <a:gd name="T12" fmla="*/ 4150 w 4150"/>
                  <a:gd name="T13" fmla="*/ 149 h 149"/>
                  <a:gd name="T14" fmla="*/ 4145 w 4150"/>
                  <a:gd name="T15" fmla="*/ 79 h 149"/>
                  <a:gd name="T16" fmla="*/ 4140 w 4150"/>
                  <a:gd name="T17" fmla="*/ 7 h 149"/>
                  <a:gd name="T18" fmla="*/ 2077 w 4150"/>
                  <a:gd name="T19" fmla="*/ 2 h 149"/>
                  <a:gd name="T20" fmla="*/ 935 w 4150"/>
                  <a:gd name="T21" fmla="*/ 0 h 149"/>
                  <a:gd name="T22" fmla="*/ 187 w 4150"/>
                  <a:gd name="T23" fmla="*/ 6 h 149"/>
                  <a:gd name="T24" fmla="*/ 46 w 4150"/>
                  <a:gd name="T25" fmla="*/ 12 h 149"/>
                  <a:gd name="T26" fmla="*/ 9 w 4150"/>
                  <a:gd name="T27" fmla="*/ 18 h 149"/>
                  <a:gd name="T28" fmla="*/ 5 w 4150"/>
                  <a:gd name="T29" fmla="*/ 2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50" h="149">
                    <a:moveTo>
                      <a:pt x="5" y="22"/>
                    </a:moveTo>
                    <a:lnTo>
                      <a:pt x="2" y="34"/>
                    </a:lnTo>
                    <a:lnTo>
                      <a:pt x="0" y="73"/>
                    </a:lnTo>
                    <a:lnTo>
                      <a:pt x="2" y="94"/>
                    </a:lnTo>
                    <a:lnTo>
                      <a:pt x="7" y="140"/>
                    </a:lnTo>
                    <a:lnTo>
                      <a:pt x="2079" y="145"/>
                    </a:lnTo>
                    <a:lnTo>
                      <a:pt x="4150" y="149"/>
                    </a:lnTo>
                    <a:lnTo>
                      <a:pt x="4145" y="79"/>
                    </a:lnTo>
                    <a:lnTo>
                      <a:pt x="4140" y="7"/>
                    </a:lnTo>
                    <a:lnTo>
                      <a:pt x="2077" y="2"/>
                    </a:lnTo>
                    <a:lnTo>
                      <a:pt x="935" y="0"/>
                    </a:lnTo>
                    <a:lnTo>
                      <a:pt x="187" y="6"/>
                    </a:lnTo>
                    <a:lnTo>
                      <a:pt x="46"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9" name="Freeform 8">
                <a:extLst>
                  <a:ext uri="{FF2B5EF4-FFF2-40B4-BE49-F238E27FC236}">
                    <a16:creationId xmlns:a16="http://schemas.microsoft.com/office/drawing/2014/main" id="{3E34F752-C062-DC8E-675C-61293B34FED9}"/>
                  </a:ext>
                </a:extLst>
              </p:cNvPr>
              <p:cNvSpPr>
                <a:spLocks noEditPoints="1"/>
              </p:cNvSpPr>
              <p:nvPr/>
            </p:nvSpPr>
            <p:spPr bwMode="auto">
              <a:xfrm>
                <a:off x="10614202" y="3216932"/>
                <a:ext cx="711023" cy="711023"/>
              </a:xfrm>
              <a:custGeom>
                <a:avLst/>
                <a:gdLst>
                  <a:gd name="T0" fmla="*/ 1447 w 4229"/>
                  <a:gd name="T1" fmla="*/ 106 h 4232"/>
                  <a:gd name="T2" fmla="*/ 819 w 4229"/>
                  <a:gd name="T3" fmla="*/ 442 h 4232"/>
                  <a:gd name="T4" fmla="*/ 456 w 4229"/>
                  <a:gd name="T5" fmla="*/ 801 h 4232"/>
                  <a:gd name="T6" fmla="*/ 145 w 4229"/>
                  <a:gd name="T7" fmla="*/ 1332 h 4232"/>
                  <a:gd name="T8" fmla="*/ 21 w 4229"/>
                  <a:gd name="T9" fmla="*/ 1755 h 4232"/>
                  <a:gd name="T10" fmla="*/ 10 w 4229"/>
                  <a:gd name="T11" fmla="*/ 2393 h 4232"/>
                  <a:gd name="T12" fmla="*/ 92 w 4229"/>
                  <a:gd name="T13" fmla="*/ 2759 h 4232"/>
                  <a:gd name="T14" fmla="*/ 361 w 4229"/>
                  <a:gd name="T15" fmla="*/ 3308 h 4232"/>
                  <a:gd name="T16" fmla="*/ 679 w 4229"/>
                  <a:gd name="T17" fmla="*/ 3670 h 4232"/>
                  <a:gd name="T18" fmla="*/ 1185 w 4229"/>
                  <a:gd name="T19" fmla="*/ 4024 h 4232"/>
                  <a:gd name="T20" fmla="*/ 1714 w 4229"/>
                  <a:gd name="T21" fmla="*/ 4204 h 4232"/>
                  <a:gd name="T22" fmla="*/ 2229 w 4229"/>
                  <a:gd name="T23" fmla="*/ 4232 h 4232"/>
                  <a:gd name="T24" fmla="*/ 2597 w 4229"/>
                  <a:gd name="T25" fmla="*/ 4185 h 4232"/>
                  <a:gd name="T26" fmla="*/ 3176 w 4229"/>
                  <a:gd name="T27" fmla="*/ 3953 h 4232"/>
                  <a:gd name="T28" fmla="*/ 3607 w 4229"/>
                  <a:gd name="T29" fmla="*/ 3612 h 4232"/>
                  <a:gd name="T30" fmla="*/ 3951 w 4229"/>
                  <a:gd name="T31" fmla="*/ 3177 h 4232"/>
                  <a:gd name="T32" fmla="*/ 4182 w 4229"/>
                  <a:gd name="T33" fmla="*/ 2594 h 4232"/>
                  <a:gd name="T34" fmla="*/ 4229 w 4229"/>
                  <a:gd name="T35" fmla="*/ 2228 h 4232"/>
                  <a:gd name="T36" fmla="*/ 4199 w 4229"/>
                  <a:gd name="T37" fmla="*/ 1719 h 4232"/>
                  <a:gd name="T38" fmla="*/ 4017 w 4229"/>
                  <a:gd name="T39" fmla="*/ 1187 h 4232"/>
                  <a:gd name="T40" fmla="*/ 3662 w 4229"/>
                  <a:gd name="T41" fmla="*/ 672 h 4232"/>
                  <a:gd name="T42" fmla="*/ 3179 w 4229"/>
                  <a:gd name="T43" fmla="*/ 284 h 4232"/>
                  <a:gd name="T44" fmla="*/ 2597 w 4229"/>
                  <a:gd name="T45" fmla="*/ 51 h 4232"/>
                  <a:gd name="T46" fmla="*/ 2110 w 4229"/>
                  <a:gd name="T47" fmla="*/ 0 h 4232"/>
                  <a:gd name="T48" fmla="*/ 2421 w 4229"/>
                  <a:gd name="T49" fmla="*/ 373 h 4232"/>
                  <a:gd name="T50" fmla="*/ 2962 w 4229"/>
                  <a:gd name="T51" fmla="*/ 563 h 4232"/>
                  <a:gd name="T52" fmla="*/ 3365 w 4229"/>
                  <a:gd name="T53" fmla="*/ 867 h 4232"/>
                  <a:gd name="T54" fmla="*/ 3716 w 4229"/>
                  <a:gd name="T55" fmla="*/ 1361 h 4232"/>
                  <a:gd name="T56" fmla="*/ 3883 w 4229"/>
                  <a:gd name="T57" fmla="*/ 2003 h 4232"/>
                  <a:gd name="T58" fmla="*/ 3799 w 4229"/>
                  <a:gd name="T59" fmla="*/ 2661 h 4232"/>
                  <a:gd name="T60" fmla="*/ 3464 w 4229"/>
                  <a:gd name="T61" fmla="*/ 3266 h 4232"/>
                  <a:gd name="T62" fmla="*/ 3179 w 4229"/>
                  <a:gd name="T63" fmla="*/ 3532 h 4232"/>
                  <a:gd name="T64" fmla="*/ 2726 w 4229"/>
                  <a:gd name="T65" fmla="*/ 3780 h 4232"/>
                  <a:gd name="T66" fmla="*/ 2408 w 4229"/>
                  <a:gd name="T67" fmla="*/ 3870 h 4232"/>
                  <a:gd name="T68" fmla="*/ 2031 w 4229"/>
                  <a:gd name="T69" fmla="*/ 3882 h 4232"/>
                  <a:gd name="T70" fmla="*/ 1684 w 4229"/>
                  <a:gd name="T71" fmla="*/ 3839 h 4232"/>
                  <a:gd name="T72" fmla="*/ 1289 w 4229"/>
                  <a:gd name="T73" fmla="*/ 3684 h 4232"/>
                  <a:gd name="T74" fmla="*/ 904 w 4229"/>
                  <a:gd name="T75" fmla="*/ 3411 h 4232"/>
                  <a:gd name="T76" fmla="*/ 607 w 4229"/>
                  <a:gd name="T77" fmla="*/ 3048 h 4232"/>
                  <a:gd name="T78" fmla="*/ 410 w 4229"/>
                  <a:gd name="T79" fmla="*/ 2611 h 4232"/>
                  <a:gd name="T80" fmla="*/ 354 w 4229"/>
                  <a:gd name="T81" fmla="*/ 2322 h 4232"/>
                  <a:gd name="T82" fmla="*/ 354 w 4229"/>
                  <a:gd name="T83" fmla="*/ 1916 h 4232"/>
                  <a:gd name="T84" fmla="*/ 410 w 4229"/>
                  <a:gd name="T85" fmla="*/ 1627 h 4232"/>
                  <a:gd name="T86" fmla="*/ 605 w 4229"/>
                  <a:gd name="T87" fmla="*/ 1192 h 4232"/>
                  <a:gd name="T88" fmla="*/ 862 w 4229"/>
                  <a:gd name="T89" fmla="*/ 867 h 4232"/>
                  <a:gd name="T90" fmla="*/ 1142 w 4229"/>
                  <a:gd name="T91" fmla="*/ 639 h 4232"/>
                  <a:gd name="T92" fmla="*/ 1503 w 4229"/>
                  <a:gd name="T93" fmla="*/ 456 h 4232"/>
                  <a:gd name="T94" fmla="*/ 1893 w 4229"/>
                  <a:gd name="T95" fmla="*/ 359 h 4232"/>
                  <a:gd name="T96" fmla="*/ 2298 w 4229"/>
                  <a:gd name="T97" fmla="*/ 355 h 4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229" h="4232">
                    <a:moveTo>
                      <a:pt x="1905" y="4"/>
                    </a:moveTo>
                    <a:lnTo>
                      <a:pt x="1809" y="17"/>
                    </a:lnTo>
                    <a:lnTo>
                      <a:pt x="1624" y="55"/>
                    </a:lnTo>
                    <a:lnTo>
                      <a:pt x="1447" y="106"/>
                    </a:lnTo>
                    <a:lnTo>
                      <a:pt x="1278" y="170"/>
                    </a:lnTo>
                    <a:lnTo>
                      <a:pt x="1117" y="247"/>
                    </a:lnTo>
                    <a:lnTo>
                      <a:pt x="964" y="338"/>
                    </a:lnTo>
                    <a:lnTo>
                      <a:pt x="819" y="442"/>
                    </a:lnTo>
                    <a:lnTo>
                      <a:pt x="681" y="559"/>
                    </a:lnTo>
                    <a:lnTo>
                      <a:pt x="615" y="624"/>
                    </a:lnTo>
                    <a:lnTo>
                      <a:pt x="559" y="682"/>
                    </a:lnTo>
                    <a:lnTo>
                      <a:pt x="456" y="801"/>
                    </a:lnTo>
                    <a:lnTo>
                      <a:pt x="364" y="925"/>
                    </a:lnTo>
                    <a:lnTo>
                      <a:pt x="281" y="1055"/>
                    </a:lnTo>
                    <a:lnTo>
                      <a:pt x="208" y="1190"/>
                    </a:lnTo>
                    <a:lnTo>
                      <a:pt x="145" y="1332"/>
                    </a:lnTo>
                    <a:lnTo>
                      <a:pt x="92" y="1481"/>
                    </a:lnTo>
                    <a:lnTo>
                      <a:pt x="47" y="1637"/>
                    </a:lnTo>
                    <a:lnTo>
                      <a:pt x="29" y="1719"/>
                    </a:lnTo>
                    <a:lnTo>
                      <a:pt x="21" y="1755"/>
                    </a:lnTo>
                    <a:lnTo>
                      <a:pt x="10" y="1845"/>
                    </a:lnTo>
                    <a:lnTo>
                      <a:pt x="0" y="2003"/>
                    </a:lnTo>
                    <a:lnTo>
                      <a:pt x="0" y="2234"/>
                    </a:lnTo>
                    <a:lnTo>
                      <a:pt x="10" y="2393"/>
                    </a:lnTo>
                    <a:lnTo>
                      <a:pt x="21" y="2482"/>
                    </a:lnTo>
                    <a:lnTo>
                      <a:pt x="29" y="2519"/>
                    </a:lnTo>
                    <a:lnTo>
                      <a:pt x="47" y="2602"/>
                    </a:lnTo>
                    <a:lnTo>
                      <a:pt x="92" y="2759"/>
                    </a:lnTo>
                    <a:lnTo>
                      <a:pt x="144" y="2907"/>
                    </a:lnTo>
                    <a:lnTo>
                      <a:pt x="206" y="3047"/>
                    </a:lnTo>
                    <a:lnTo>
                      <a:pt x="278" y="3180"/>
                    </a:lnTo>
                    <a:lnTo>
                      <a:pt x="361" y="3308"/>
                    </a:lnTo>
                    <a:lnTo>
                      <a:pt x="455" y="3431"/>
                    </a:lnTo>
                    <a:lnTo>
                      <a:pt x="562" y="3552"/>
                    </a:lnTo>
                    <a:lnTo>
                      <a:pt x="620" y="3612"/>
                    </a:lnTo>
                    <a:lnTo>
                      <a:pt x="679" y="3670"/>
                    </a:lnTo>
                    <a:lnTo>
                      <a:pt x="799" y="3775"/>
                    </a:lnTo>
                    <a:lnTo>
                      <a:pt x="922" y="3869"/>
                    </a:lnTo>
                    <a:lnTo>
                      <a:pt x="1050" y="3952"/>
                    </a:lnTo>
                    <a:lnTo>
                      <a:pt x="1185" y="4024"/>
                    </a:lnTo>
                    <a:lnTo>
                      <a:pt x="1325" y="4087"/>
                    </a:lnTo>
                    <a:lnTo>
                      <a:pt x="1474" y="4140"/>
                    </a:lnTo>
                    <a:lnTo>
                      <a:pt x="1631" y="4185"/>
                    </a:lnTo>
                    <a:lnTo>
                      <a:pt x="1714" y="4204"/>
                    </a:lnTo>
                    <a:lnTo>
                      <a:pt x="1750" y="4211"/>
                    </a:lnTo>
                    <a:lnTo>
                      <a:pt x="1840" y="4222"/>
                    </a:lnTo>
                    <a:lnTo>
                      <a:pt x="1998" y="4232"/>
                    </a:lnTo>
                    <a:lnTo>
                      <a:pt x="2229" y="4232"/>
                    </a:lnTo>
                    <a:lnTo>
                      <a:pt x="2388" y="4222"/>
                    </a:lnTo>
                    <a:lnTo>
                      <a:pt x="2477" y="4211"/>
                    </a:lnTo>
                    <a:lnTo>
                      <a:pt x="2514" y="4204"/>
                    </a:lnTo>
                    <a:lnTo>
                      <a:pt x="2597" y="4185"/>
                    </a:lnTo>
                    <a:lnTo>
                      <a:pt x="2754" y="4141"/>
                    </a:lnTo>
                    <a:lnTo>
                      <a:pt x="2902" y="4088"/>
                    </a:lnTo>
                    <a:lnTo>
                      <a:pt x="3043" y="4026"/>
                    </a:lnTo>
                    <a:lnTo>
                      <a:pt x="3176" y="3953"/>
                    </a:lnTo>
                    <a:lnTo>
                      <a:pt x="3304" y="3871"/>
                    </a:lnTo>
                    <a:lnTo>
                      <a:pt x="3427" y="3776"/>
                    </a:lnTo>
                    <a:lnTo>
                      <a:pt x="3548" y="3670"/>
                    </a:lnTo>
                    <a:lnTo>
                      <a:pt x="3607" y="3612"/>
                    </a:lnTo>
                    <a:lnTo>
                      <a:pt x="3666" y="3552"/>
                    </a:lnTo>
                    <a:lnTo>
                      <a:pt x="3773" y="3430"/>
                    </a:lnTo>
                    <a:lnTo>
                      <a:pt x="3868" y="3306"/>
                    </a:lnTo>
                    <a:lnTo>
                      <a:pt x="3951" y="3177"/>
                    </a:lnTo>
                    <a:lnTo>
                      <a:pt x="4023" y="3042"/>
                    </a:lnTo>
                    <a:lnTo>
                      <a:pt x="4085" y="2901"/>
                    </a:lnTo>
                    <a:lnTo>
                      <a:pt x="4138" y="2752"/>
                    </a:lnTo>
                    <a:lnTo>
                      <a:pt x="4182" y="2594"/>
                    </a:lnTo>
                    <a:lnTo>
                      <a:pt x="4200" y="2510"/>
                    </a:lnTo>
                    <a:lnTo>
                      <a:pt x="4208" y="2472"/>
                    </a:lnTo>
                    <a:lnTo>
                      <a:pt x="4219" y="2382"/>
                    </a:lnTo>
                    <a:lnTo>
                      <a:pt x="4229" y="2228"/>
                    </a:lnTo>
                    <a:lnTo>
                      <a:pt x="4229" y="2007"/>
                    </a:lnTo>
                    <a:lnTo>
                      <a:pt x="4218" y="1851"/>
                    </a:lnTo>
                    <a:lnTo>
                      <a:pt x="4206" y="1759"/>
                    </a:lnTo>
                    <a:lnTo>
                      <a:pt x="4199" y="1719"/>
                    </a:lnTo>
                    <a:lnTo>
                      <a:pt x="4181" y="1639"/>
                    </a:lnTo>
                    <a:lnTo>
                      <a:pt x="4137" y="1483"/>
                    </a:lnTo>
                    <a:lnTo>
                      <a:pt x="4082" y="1332"/>
                    </a:lnTo>
                    <a:lnTo>
                      <a:pt x="4017" y="1187"/>
                    </a:lnTo>
                    <a:lnTo>
                      <a:pt x="3941" y="1048"/>
                    </a:lnTo>
                    <a:lnTo>
                      <a:pt x="3857" y="916"/>
                    </a:lnTo>
                    <a:lnTo>
                      <a:pt x="3764" y="790"/>
                    </a:lnTo>
                    <a:lnTo>
                      <a:pt x="3662" y="672"/>
                    </a:lnTo>
                    <a:lnTo>
                      <a:pt x="3552" y="562"/>
                    </a:lnTo>
                    <a:lnTo>
                      <a:pt x="3434" y="460"/>
                    </a:lnTo>
                    <a:lnTo>
                      <a:pt x="3310" y="367"/>
                    </a:lnTo>
                    <a:lnTo>
                      <a:pt x="3179" y="284"/>
                    </a:lnTo>
                    <a:lnTo>
                      <a:pt x="3042" y="210"/>
                    </a:lnTo>
                    <a:lnTo>
                      <a:pt x="2899" y="146"/>
                    </a:lnTo>
                    <a:lnTo>
                      <a:pt x="2750" y="93"/>
                    </a:lnTo>
                    <a:lnTo>
                      <a:pt x="2597" y="51"/>
                    </a:lnTo>
                    <a:lnTo>
                      <a:pt x="2519" y="35"/>
                    </a:lnTo>
                    <a:lnTo>
                      <a:pt x="2460" y="26"/>
                    </a:lnTo>
                    <a:lnTo>
                      <a:pt x="2294" y="10"/>
                    </a:lnTo>
                    <a:lnTo>
                      <a:pt x="2110" y="0"/>
                    </a:lnTo>
                    <a:lnTo>
                      <a:pt x="1955" y="0"/>
                    </a:lnTo>
                    <a:lnTo>
                      <a:pt x="1905" y="4"/>
                    </a:lnTo>
                    <a:close/>
                    <a:moveTo>
                      <a:pt x="2349" y="362"/>
                    </a:moveTo>
                    <a:lnTo>
                      <a:pt x="2421" y="373"/>
                    </a:lnTo>
                    <a:lnTo>
                      <a:pt x="2564" y="404"/>
                    </a:lnTo>
                    <a:lnTo>
                      <a:pt x="2701" y="446"/>
                    </a:lnTo>
                    <a:lnTo>
                      <a:pt x="2834" y="499"/>
                    </a:lnTo>
                    <a:lnTo>
                      <a:pt x="2962" y="563"/>
                    </a:lnTo>
                    <a:lnTo>
                      <a:pt x="3084" y="637"/>
                    </a:lnTo>
                    <a:lnTo>
                      <a:pt x="3201" y="721"/>
                    </a:lnTo>
                    <a:lnTo>
                      <a:pt x="3312" y="816"/>
                    </a:lnTo>
                    <a:lnTo>
                      <a:pt x="3365" y="867"/>
                    </a:lnTo>
                    <a:lnTo>
                      <a:pt x="3428" y="932"/>
                    </a:lnTo>
                    <a:lnTo>
                      <a:pt x="3539" y="1068"/>
                    </a:lnTo>
                    <a:lnTo>
                      <a:pt x="3635" y="1211"/>
                    </a:lnTo>
                    <a:lnTo>
                      <a:pt x="3716" y="1361"/>
                    </a:lnTo>
                    <a:lnTo>
                      <a:pt x="3781" y="1516"/>
                    </a:lnTo>
                    <a:lnTo>
                      <a:pt x="3830" y="1676"/>
                    </a:lnTo>
                    <a:lnTo>
                      <a:pt x="3864" y="1838"/>
                    </a:lnTo>
                    <a:lnTo>
                      <a:pt x="3883" y="2003"/>
                    </a:lnTo>
                    <a:lnTo>
                      <a:pt x="3885" y="2169"/>
                    </a:lnTo>
                    <a:lnTo>
                      <a:pt x="3872" y="2334"/>
                    </a:lnTo>
                    <a:lnTo>
                      <a:pt x="3843" y="2499"/>
                    </a:lnTo>
                    <a:lnTo>
                      <a:pt x="3799" y="2661"/>
                    </a:lnTo>
                    <a:lnTo>
                      <a:pt x="3739" y="2820"/>
                    </a:lnTo>
                    <a:lnTo>
                      <a:pt x="3663" y="2974"/>
                    </a:lnTo>
                    <a:lnTo>
                      <a:pt x="3571" y="3123"/>
                    </a:lnTo>
                    <a:lnTo>
                      <a:pt x="3464" y="3266"/>
                    </a:lnTo>
                    <a:lnTo>
                      <a:pt x="3404" y="3334"/>
                    </a:lnTo>
                    <a:lnTo>
                      <a:pt x="3365" y="3375"/>
                    </a:lnTo>
                    <a:lnTo>
                      <a:pt x="3277" y="3455"/>
                    </a:lnTo>
                    <a:lnTo>
                      <a:pt x="3179" y="3532"/>
                    </a:lnTo>
                    <a:lnTo>
                      <a:pt x="3073" y="3604"/>
                    </a:lnTo>
                    <a:lnTo>
                      <a:pt x="2961" y="3670"/>
                    </a:lnTo>
                    <a:lnTo>
                      <a:pt x="2845" y="3729"/>
                    </a:lnTo>
                    <a:lnTo>
                      <a:pt x="2726" y="3780"/>
                    </a:lnTo>
                    <a:lnTo>
                      <a:pt x="2606" y="3822"/>
                    </a:lnTo>
                    <a:lnTo>
                      <a:pt x="2547" y="3839"/>
                    </a:lnTo>
                    <a:lnTo>
                      <a:pt x="2495" y="3852"/>
                    </a:lnTo>
                    <a:lnTo>
                      <a:pt x="2408" y="3870"/>
                    </a:lnTo>
                    <a:lnTo>
                      <a:pt x="2317" y="3879"/>
                    </a:lnTo>
                    <a:lnTo>
                      <a:pt x="2196" y="3882"/>
                    </a:lnTo>
                    <a:lnTo>
                      <a:pt x="2114" y="3882"/>
                    </a:lnTo>
                    <a:lnTo>
                      <a:pt x="2031" y="3882"/>
                    </a:lnTo>
                    <a:lnTo>
                      <a:pt x="1911" y="3879"/>
                    </a:lnTo>
                    <a:lnTo>
                      <a:pt x="1821" y="3870"/>
                    </a:lnTo>
                    <a:lnTo>
                      <a:pt x="1735" y="3852"/>
                    </a:lnTo>
                    <a:lnTo>
                      <a:pt x="1684" y="3839"/>
                    </a:lnTo>
                    <a:lnTo>
                      <a:pt x="1624" y="3822"/>
                    </a:lnTo>
                    <a:lnTo>
                      <a:pt x="1508" y="3783"/>
                    </a:lnTo>
                    <a:lnTo>
                      <a:pt x="1396" y="3737"/>
                    </a:lnTo>
                    <a:lnTo>
                      <a:pt x="1289" y="3684"/>
                    </a:lnTo>
                    <a:lnTo>
                      <a:pt x="1185" y="3625"/>
                    </a:lnTo>
                    <a:lnTo>
                      <a:pt x="1087" y="3560"/>
                    </a:lnTo>
                    <a:lnTo>
                      <a:pt x="993" y="3488"/>
                    </a:lnTo>
                    <a:lnTo>
                      <a:pt x="904" y="3411"/>
                    </a:lnTo>
                    <a:lnTo>
                      <a:pt x="821" y="3328"/>
                    </a:lnTo>
                    <a:lnTo>
                      <a:pt x="744" y="3240"/>
                    </a:lnTo>
                    <a:lnTo>
                      <a:pt x="672" y="3146"/>
                    </a:lnTo>
                    <a:lnTo>
                      <a:pt x="607" y="3048"/>
                    </a:lnTo>
                    <a:lnTo>
                      <a:pt x="547" y="2945"/>
                    </a:lnTo>
                    <a:lnTo>
                      <a:pt x="495" y="2838"/>
                    </a:lnTo>
                    <a:lnTo>
                      <a:pt x="449" y="2727"/>
                    </a:lnTo>
                    <a:lnTo>
                      <a:pt x="410" y="2611"/>
                    </a:lnTo>
                    <a:lnTo>
                      <a:pt x="394" y="2552"/>
                    </a:lnTo>
                    <a:lnTo>
                      <a:pt x="380" y="2500"/>
                    </a:lnTo>
                    <a:lnTo>
                      <a:pt x="363" y="2413"/>
                    </a:lnTo>
                    <a:lnTo>
                      <a:pt x="354" y="2322"/>
                    </a:lnTo>
                    <a:lnTo>
                      <a:pt x="350" y="2201"/>
                    </a:lnTo>
                    <a:lnTo>
                      <a:pt x="350" y="2119"/>
                    </a:lnTo>
                    <a:lnTo>
                      <a:pt x="350" y="2036"/>
                    </a:lnTo>
                    <a:lnTo>
                      <a:pt x="354" y="1916"/>
                    </a:lnTo>
                    <a:lnTo>
                      <a:pt x="363" y="1825"/>
                    </a:lnTo>
                    <a:lnTo>
                      <a:pt x="380" y="1737"/>
                    </a:lnTo>
                    <a:lnTo>
                      <a:pt x="394" y="1685"/>
                    </a:lnTo>
                    <a:lnTo>
                      <a:pt x="410" y="1627"/>
                    </a:lnTo>
                    <a:lnTo>
                      <a:pt x="448" y="1512"/>
                    </a:lnTo>
                    <a:lnTo>
                      <a:pt x="494" y="1401"/>
                    </a:lnTo>
                    <a:lnTo>
                      <a:pt x="546" y="1295"/>
                    </a:lnTo>
                    <a:lnTo>
                      <a:pt x="605" y="1192"/>
                    </a:lnTo>
                    <a:lnTo>
                      <a:pt x="670" y="1094"/>
                    </a:lnTo>
                    <a:lnTo>
                      <a:pt x="742" y="1000"/>
                    </a:lnTo>
                    <a:lnTo>
                      <a:pt x="820" y="910"/>
                    </a:lnTo>
                    <a:lnTo>
                      <a:pt x="862" y="867"/>
                    </a:lnTo>
                    <a:lnTo>
                      <a:pt x="899" y="831"/>
                    </a:lnTo>
                    <a:lnTo>
                      <a:pt x="977" y="762"/>
                    </a:lnTo>
                    <a:lnTo>
                      <a:pt x="1058" y="698"/>
                    </a:lnTo>
                    <a:lnTo>
                      <a:pt x="1142" y="639"/>
                    </a:lnTo>
                    <a:lnTo>
                      <a:pt x="1228" y="585"/>
                    </a:lnTo>
                    <a:lnTo>
                      <a:pt x="1318" y="537"/>
                    </a:lnTo>
                    <a:lnTo>
                      <a:pt x="1409" y="493"/>
                    </a:lnTo>
                    <a:lnTo>
                      <a:pt x="1503" y="456"/>
                    </a:lnTo>
                    <a:lnTo>
                      <a:pt x="1598" y="423"/>
                    </a:lnTo>
                    <a:lnTo>
                      <a:pt x="1695" y="396"/>
                    </a:lnTo>
                    <a:lnTo>
                      <a:pt x="1794" y="375"/>
                    </a:lnTo>
                    <a:lnTo>
                      <a:pt x="1893" y="359"/>
                    </a:lnTo>
                    <a:lnTo>
                      <a:pt x="1994" y="350"/>
                    </a:lnTo>
                    <a:lnTo>
                      <a:pt x="2095" y="346"/>
                    </a:lnTo>
                    <a:lnTo>
                      <a:pt x="2196" y="348"/>
                    </a:lnTo>
                    <a:lnTo>
                      <a:pt x="2298" y="355"/>
                    </a:lnTo>
                    <a:lnTo>
                      <a:pt x="2349" y="3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0" name="Freeform 9">
                <a:extLst>
                  <a:ext uri="{FF2B5EF4-FFF2-40B4-BE49-F238E27FC236}">
                    <a16:creationId xmlns:a16="http://schemas.microsoft.com/office/drawing/2014/main" id="{FEA45808-29AB-970B-A07C-4072250243C0}"/>
                  </a:ext>
                </a:extLst>
              </p:cNvPr>
              <p:cNvSpPr>
                <a:spLocks/>
              </p:cNvSpPr>
              <p:nvPr/>
            </p:nvSpPr>
            <p:spPr bwMode="auto">
              <a:xfrm>
                <a:off x="10763484"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grpFill/>
              <a:ln>
                <a:noFill/>
              </a:ln>
            </p:spPr>
            <p:txBody>
              <a:bodyPr vert="horz" wrap="square" lIns="91440" tIns="45720" rIns="91440" bIns="45720" numCol="1" anchor="t" anchorCtr="0" compatLnSpc="1">
                <a:prstTxWarp prst="textNoShape">
                  <a:avLst/>
                </a:prstTxWarp>
              </a:bodyPr>
              <a:lstStyle/>
              <a:p>
                <a:pPr algn="r" rtl="1"/>
                <a:endParaRPr lang="en-US"/>
              </a:p>
            </p:txBody>
          </p:sp>
          <p:sp>
            <p:nvSpPr>
              <p:cNvPr id="11" name="Freeform 10">
                <a:extLst>
                  <a:ext uri="{FF2B5EF4-FFF2-40B4-BE49-F238E27FC236}">
                    <a16:creationId xmlns:a16="http://schemas.microsoft.com/office/drawing/2014/main" id="{61BDD891-6DA7-FDDC-75A2-CE04F0B20F86}"/>
                  </a:ext>
                </a:extLst>
              </p:cNvPr>
              <p:cNvSpPr>
                <a:spLocks/>
              </p:cNvSpPr>
              <p:nvPr/>
            </p:nvSpPr>
            <p:spPr bwMode="auto">
              <a:xfrm>
                <a:off x="10015708" y="3364401"/>
                <a:ext cx="588058" cy="24956"/>
              </a:xfrm>
              <a:custGeom>
                <a:avLst/>
                <a:gdLst>
                  <a:gd name="T0" fmla="*/ 5 w 3499"/>
                  <a:gd name="T1" fmla="*/ 23 h 150"/>
                  <a:gd name="T2" fmla="*/ 2 w 3499"/>
                  <a:gd name="T3" fmla="*/ 36 h 150"/>
                  <a:gd name="T4" fmla="*/ 0 w 3499"/>
                  <a:gd name="T5" fmla="*/ 74 h 150"/>
                  <a:gd name="T6" fmla="*/ 2 w 3499"/>
                  <a:gd name="T7" fmla="*/ 95 h 150"/>
                  <a:gd name="T8" fmla="*/ 7 w 3499"/>
                  <a:gd name="T9" fmla="*/ 142 h 150"/>
                  <a:gd name="T10" fmla="*/ 1720 w 3499"/>
                  <a:gd name="T11" fmla="*/ 147 h 150"/>
                  <a:gd name="T12" fmla="*/ 3432 w 3499"/>
                  <a:gd name="T13" fmla="*/ 150 h 150"/>
                  <a:gd name="T14" fmla="*/ 3465 w 3499"/>
                  <a:gd name="T15" fmla="*/ 97 h 150"/>
                  <a:gd name="T16" fmla="*/ 3479 w 3499"/>
                  <a:gd name="T17" fmla="*/ 74 h 150"/>
                  <a:gd name="T18" fmla="*/ 3497 w 3499"/>
                  <a:gd name="T19" fmla="*/ 32 h 150"/>
                  <a:gd name="T20" fmla="*/ 3499 w 3499"/>
                  <a:gd name="T21" fmla="*/ 20 h 150"/>
                  <a:gd name="T22" fmla="*/ 3496 w 3499"/>
                  <a:gd name="T23" fmla="*/ 17 h 150"/>
                  <a:gd name="T24" fmla="*/ 3458 w 3499"/>
                  <a:gd name="T25" fmla="*/ 13 h 150"/>
                  <a:gd name="T26" fmla="*/ 3321 w 3499"/>
                  <a:gd name="T27" fmla="*/ 7 h 150"/>
                  <a:gd name="T28" fmla="*/ 2666 w 3499"/>
                  <a:gd name="T29" fmla="*/ 1 h 150"/>
                  <a:gd name="T30" fmla="*/ 1757 w 3499"/>
                  <a:gd name="T31" fmla="*/ 0 h 150"/>
                  <a:gd name="T32" fmla="*/ 795 w 3499"/>
                  <a:gd name="T33" fmla="*/ 0 h 150"/>
                  <a:gd name="T34" fmla="*/ 161 w 3499"/>
                  <a:gd name="T35" fmla="*/ 7 h 150"/>
                  <a:gd name="T36" fmla="*/ 41 w 3499"/>
                  <a:gd name="T37" fmla="*/ 14 h 150"/>
                  <a:gd name="T38" fmla="*/ 9 w 3499"/>
                  <a:gd name="T39" fmla="*/ 20 h 150"/>
                  <a:gd name="T40" fmla="*/ 5 w 3499"/>
                  <a:gd name="T41"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99" h="150">
                    <a:moveTo>
                      <a:pt x="5" y="23"/>
                    </a:moveTo>
                    <a:lnTo>
                      <a:pt x="2" y="36"/>
                    </a:lnTo>
                    <a:lnTo>
                      <a:pt x="0" y="74"/>
                    </a:lnTo>
                    <a:lnTo>
                      <a:pt x="2" y="95"/>
                    </a:lnTo>
                    <a:lnTo>
                      <a:pt x="7" y="142"/>
                    </a:lnTo>
                    <a:lnTo>
                      <a:pt x="1720" y="147"/>
                    </a:lnTo>
                    <a:lnTo>
                      <a:pt x="3432" y="150"/>
                    </a:lnTo>
                    <a:lnTo>
                      <a:pt x="3465" y="97"/>
                    </a:lnTo>
                    <a:lnTo>
                      <a:pt x="3479" y="74"/>
                    </a:lnTo>
                    <a:lnTo>
                      <a:pt x="3497" y="32"/>
                    </a:lnTo>
                    <a:lnTo>
                      <a:pt x="3499" y="20"/>
                    </a:lnTo>
                    <a:lnTo>
                      <a:pt x="3496" y="17"/>
                    </a:lnTo>
                    <a:lnTo>
                      <a:pt x="3458" y="13"/>
                    </a:lnTo>
                    <a:lnTo>
                      <a:pt x="3321" y="7"/>
                    </a:lnTo>
                    <a:lnTo>
                      <a:pt x="2666" y="1"/>
                    </a:lnTo>
                    <a:lnTo>
                      <a:pt x="1757" y="0"/>
                    </a:lnTo>
                    <a:lnTo>
                      <a:pt x="795" y="0"/>
                    </a:lnTo>
                    <a:lnTo>
                      <a:pt x="161" y="7"/>
                    </a:lnTo>
                    <a:lnTo>
                      <a:pt x="41"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2" name="Freeform 11">
                <a:extLst>
                  <a:ext uri="{FF2B5EF4-FFF2-40B4-BE49-F238E27FC236}">
                    <a16:creationId xmlns:a16="http://schemas.microsoft.com/office/drawing/2014/main" id="{CE6C5757-6155-7B6C-FFF5-56C8E3B68BF1}"/>
                  </a:ext>
                </a:extLst>
              </p:cNvPr>
              <p:cNvSpPr>
                <a:spLocks/>
              </p:cNvSpPr>
              <p:nvPr/>
            </p:nvSpPr>
            <p:spPr bwMode="auto">
              <a:xfrm>
                <a:off x="10015708" y="3565865"/>
                <a:ext cx="534969" cy="25410"/>
              </a:xfrm>
              <a:custGeom>
                <a:avLst/>
                <a:gdLst>
                  <a:gd name="T0" fmla="*/ 5 w 3182"/>
                  <a:gd name="T1" fmla="*/ 23 h 150"/>
                  <a:gd name="T2" fmla="*/ 2 w 3182"/>
                  <a:gd name="T3" fmla="*/ 36 h 150"/>
                  <a:gd name="T4" fmla="*/ 0 w 3182"/>
                  <a:gd name="T5" fmla="*/ 74 h 150"/>
                  <a:gd name="T6" fmla="*/ 2 w 3182"/>
                  <a:gd name="T7" fmla="*/ 95 h 150"/>
                  <a:gd name="T8" fmla="*/ 7 w 3182"/>
                  <a:gd name="T9" fmla="*/ 142 h 150"/>
                  <a:gd name="T10" fmla="*/ 1595 w 3182"/>
                  <a:gd name="T11" fmla="*/ 147 h 150"/>
                  <a:gd name="T12" fmla="*/ 3182 w 3182"/>
                  <a:gd name="T13" fmla="*/ 150 h 150"/>
                  <a:gd name="T14" fmla="*/ 3182 w 3182"/>
                  <a:gd name="T15" fmla="*/ 75 h 150"/>
                  <a:gd name="T16" fmla="*/ 3182 w 3182"/>
                  <a:gd name="T17" fmla="*/ 0 h 150"/>
                  <a:gd name="T18" fmla="*/ 1599 w 3182"/>
                  <a:gd name="T19" fmla="*/ 0 h 150"/>
                  <a:gd name="T20" fmla="*/ 725 w 3182"/>
                  <a:gd name="T21" fmla="*/ 0 h 150"/>
                  <a:gd name="T22" fmla="*/ 148 w 3182"/>
                  <a:gd name="T23" fmla="*/ 7 h 150"/>
                  <a:gd name="T24" fmla="*/ 38 w 3182"/>
                  <a:gd name="T25" fmla="*/ 14 h 150"/>
                  <a:gd name="T26" fmla="*/ 9 w 3182"/>
                  <a:gd name="T27" fmla="*/ 20 h 150"/>
                  <a:gd name="T28" fmla="*/ 5 w 3182"/>
                  <a:gd name="T29"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82" h="150">
                    <a:moveTo>
                      <a:pt x="5" y="23"/>
                    </a:moveTo>
                    <a:lnTo>
                      <a:pt x="2" y="36"/>
                    </a:lnTo>
                    <a:lnTo>
                      <a:pt x="0" y="74"/>
                    </a:lnTo>
                    <a:lnTo>
                      <a:pt x="2" y="95"/>
                    </a:lnTo>
                    <a:lnTo>
                      <a:pt x="7" y="142"/>
                    </a:lnTo>
                    <a:lnTo>
                      <a:pt x="1595" y="147"/>
                    </a:lnTo>
                    <a:lnTo>
                      <a:pt x="3182" y="150"/>
                    </a:lnTo>
                    <a:lnTo>
                      <a:pt x="3182" y="75"/>
                    </a:lnTo>
                    <a:lnTo>
                      <a:pt x="3182" y="0"/>
                    </a:lnTo>
                    <a:lnTo>
                      <a:pt x="1599" y="0"/>
                    </a:lnTo>
                    <a:lnTo>
                      <a:pt x="725" y="0"/>
                    </a:lnTo>
                    <a:lnTo>
                      <a:pt x="148" y="7"/>
                    </a:lnTo>
                    <a:lnTo>
                      <a:pt x="38"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3" name="Freeform 12">
                <a:extLst>
                  <a:ext uri="{FF2B5EF4-FFF2-40B4-BE49-F238E27FC236}">
                    <a16:creationId xmlns:a16="http://schemas.microsoft.com/office/drawing/2014/main" id="{65137DC2-385F-3F92-3294-66335AA90964}"/>
                  </a:ext>
                </a:extLst>
              </p:cNvPr>
              <p:cNvSpPr>
                <a:spLocks/>
              </p:cNvSpPr>
              <p:nvPr/>
            </p:nvSpPr>
            <p:spPr bwMode="auto">
              <a:xfrm>
                <a:off x="10015708" y="3756440"/>
                <a:ext cx="591688" cy="24956"/>
              </a:xfrm>
              <a:custGeom>
                <a:avLst/>
                <a:gdLst>
                  <a:gd name="T0" fmla="*/ 5 w 3519"/>
                  <a:gd name="T1" fmla="*/ 22 h 148"/>
                  <a:gd name="T2" fmla="*/ 2 w 3519"/>
                  <a:gd name="T3" fmla="*/ 34 h 148"/>
                  <a:gd name="T4" fmla="*/ 0 w 3519"/>
                  <a:gd name="T5" fmla="*/ 73 h 148"/>
                  <a:gd name="T6" fmla="*/ 2 w 3519"/>
                  <a:gd name="T7" fmla="*/ 93 h 148"/>
                  <a:gd name="T8" fmla="*/ 7 w 3519"/>
                  <a:gd name="T9" fmla="*/ 140 h 148"/>
                  <a:gd name="T10" fmla="*/ 1762 w 3519"/>
                  <a:gd name="T11" fmla="*/ 145 h 148"/>
                  <a:gd name="T12" fmla="*/ 3519 w 3519"/>
                  <a:gd name="T13" fmla="*/ 148 h 148"/>
                  <a:gd name="T14" fmla="*/ 3479 w 3519"/>
                  <a:gd name="T15" fmla="*/ 78 h 148"/>
                  <a:gd name="T16" fmla="*/ 3440 w 3519"/>
                  <a:gd name="T17" fmla="*/ 7 h 148"/>
                  <a:gd name="T18" fmla="*/ 1727 w 3519"/>
                  <a:gd name="T19" fmla="*/ 2 h 148"/>
                  <a:gd name="T20" fmla="*/ 779 w 3519"/>
                  <a:gd name="T21" fmla="*/ 0 h 148"/>
                  <a:gd name="T22" fmla="*/ 158 w 3519"/>
                  <a:gd name="T23" fmla="*/ 5 h 148"/>
                  <a:gd name="T24" fmla="*/ 40 w 3519"/>
                  <a:gd name="T25" fmla="*/ 12 h 148"/>
                  <a:gd name="T26" fmla="*/ 9 w 3519"/>
                  <a:gd name="T27" fmla="*/ 18 h 148"/>
                  <a:gd name="T28" fmla="*/ 5 w 3519"/>
                  <a:gd name="T29" fmla="*/ 2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19" h="148">
                    <a:moveTo>
                      <a:pt x="5" y="22"/>
                    </a:moveTo>
                    <a:lnTo>
                      <a:pt x="2" y="34"/>
                    </a:lnTo>
                    <a:lnTo>
                      <a:pt x="0" y="73"/>
                    </a:lnTo>
                    <a:lnTo>
                      <a:pt x="2" y="93"/>
                    </a:lnTo>
                    <a:lnTo>
                      <a:pt x="7" y="140"/>
                    </a:lnTo>
                    <a:lnTo>
                      <a:pt x="1762" y="145"/>
                    </a:lnTo>
                    <a:lnTo>
                      <a:pt x="3519" y="148"/>
                    </a:lnTo>
                    <a:lnTo>
                      <a:pt x="3479" y="78"/>
                    </a:lnTo>
                    <a:lnTo>
                      <a:pt x="3440" y="7"/>
                    </a:lnTo>
                    <a:lnTo>
                      <a:pt x="1727" y="2"/>
                    </a:lnTo>
                    <a:lnTo>
                      <a:pt x="779" y="0"/>
                    </a:lnTo>
                    <a:lnTo>
                      <a:pt x="158" y="5"/>
                    </a:lnTo>
                    <a:lnTo>
                      <a:pt x="40"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4" name="Freeform 13">
                <a:extLst>
                  <a:ext uri="{FF2B5EF4-FFF2-40B4-BE49-F238E27FC236}">
                    <a16:creationId xmlns:a16="http://schemas.microsoft.com/office/drawing/2014/main" id="{C297F1D4-8F52-49B3-036D-665ACF2276A9}"/>
                  </a:ext>
                </a:extLst>
              </p:cNvPr>
              <p:cNvSpPr>
                <a:spLocks/>
              </p:cNvSpPr>
              <p:nvPr/>
            </p:nvSpPr>
            <p:spPr bwMode="auto">
              <a:xfrm>
                <a:off x="10015253" y="3949283"/>
                <a:ext cx="697865" cy="22688"/>
              </a:xfrm>
              <a:custGeom>
                <a:avLst/>
                <a:gdLst>
                  <a:gd name="T0" fmla="*/ 0 w 4150"/>
                  <a:gd name="T1" fmla="*/ 67 h 134"/>
                  <a:gd name="T2" fmla="*/ 0 w 4150"/>
                  <a:gd name="T3" fmla="*/ 134 h 134"/>
                  <a:gd name="T4" fmla="*/ 2075 w 4150"/>
                  <a:gd name="T5" fmla="*/ 134 h 134"/>
                  <a:gd name="T6" fmla="*/ 4150 w 4150"/>
                  <a:gd name="T7" fmla="*/ 134 h 134"/>
                  <a:gd name="T8" fmla="*/ 4150 w 4150"/>
                  <a:gd name="T9" fmla="*/ 67 h 134"/>
                  <a:gd name="T10" fmla="*/ 4150 w 4150"/>
                  <a:gd name="T11" fmla="*/ 0 h 134"/>
                  <a:gd name="T12" fmla="*/ 2075 w 4150"/>
                  <a:gd name="T13" fmla="*/ 0 h 134"/>
                  <a:gd name="T14" fmla="*/ 0 w 4150"/>
                  <a:gd name="T15" fmla="*/ 0 h 134"/>
                  <a:gd name="T16" fmla="*/ 0 w 4150"/>
                  <a:gd name="T17" fmla="*/ 6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50" h="134">
                    <a:moveTo>
                      <a:pt x="0" y="67"/>
                    </a:moveTo>
                    <a:lnTo>
                      <a:pt x="0" y="134"/>
                    </a:lnTo>
                    <a:lnTo>
                      <a:pt x="2075" y="134"/>
                    </a:lnTo>
                    <a:lnTo>
                      <a:pt x="4150" y="134"/>
                    </a:lnTo>
                    <a:lnTo>
                      <a:pt x="4150" y="67"/>
                    </a:lnTo>
                    <a:lnTo>
                      <a:pt x="4150" y="0"/>
                    </a:lnTo>
                    <a:lnTo>
                      <a:pt x="2075" y="0"/>
                    </a:lnTo>
                    <a:lnTo>
                      <a:pt x="0"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grpSp>
        <p:sp>
          <p:nvSpPr>
            <p:cNvPr id="6" name="Freeform 9">
              <a:extLst>
                <a:ext uri="{FF2B5EF4-FFF2-40B4-BE49-F238E27FC236}">
                  <a16:creationId xmlns:a16="http://schemas.microsoft.com/office/drawing/2014/main" id="{FBEC3EEF-C957-1B7D-96C0-A4D36C9628BD}"/>
                </a:ext>
              </a:extLst>
            </p:cNvPr>
            <p:cNvSpPr>
              <a:spLocks/>
            </p:cNvSpPr>
            <p:nvPr/>
          </p:nvSpPr>
          <p:spPr bwMode="auto">
            <a:xfrm flipH="1">
              <a:off x="1210776"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dirty="0"/>
            </a:p>
          </p:txBody>
        </p:sp>
      </p:grpSp>
      <p:sp>
        <p:nvSpPr>
          <p:cNvPr id="15" name="Rectangle 14">
            <a:extLst>
              <a:ext uri="{FF2B5EF4-FFF2-40B4-BE49-F238E27FC236}">
                <a16:creationId xmlns:a16="http://schemas.microsoft.com/office/drawing/2014/main" id="{36FD00A2-422F-C607-0B65-8E501539F9CC}"/>
              </a:ext>
            </a:extLst>
          </p:cNvPr>
          <p:cNvSpPr/>
          <p:nvPr/>
        </p:nvSpPr>
        <p:spPr>
          <a:xfrm>
            <a:off x="902613" y="1400688"/>
            <a:ext cx="8554076" cy="3958241"/>
          </a:xfrm>
          <a:prstGeom prst="rect">
            <a:avLst/>
          </a:prstGeom>
        </p:spPr>
        <p:txBody>
          <a:bodyPr anchor="ctr" anchorCtr="0">
            <a:noAutofit/>
          </a:bodyPr>
          <a:lstStyle/>
          <a:p>
            <a:pPr marL="342900" indent="-342900" algn="just" rtl="1">
              <a:lnSpc>
                <a:spcPct val="150000"/>
              </a:lnSpc>
              <a:spcAft>
                <a:spcPts val="1200"/>
              </a:spcAft>
              <a:buFont typeface="Arial" panose="020B0604020202020204" pitchFamily="34" charset="0"/>
              <a:buChar char="•"/>
            </a:pPr>
            <a:r>
              <a:rPr lang="ar-SA" sz="2200" dirty="0"/>
              <a:t>تهدف خطة التدريب إلى تطوير وتعزيز مهارات فريق البنية المؤسسية في الهيئة، وذلك من خلال تقديم مجموعة من الدورات التدريبية والشهادات المعتمدة محليا وعالميا.</a:t>
            </a:r>
          </a:p>
          <a:p>
            <a:pPr marL="342900" indent="-342900" algn="just" rtl="1">
              <a:lnSpc>
                <a:spcPct val="150000"/>
              </a:lnSpc>
              <a:spcAft>
                <a:spcPts val="1200"/>
              </a:spcAft>
              <a:buFont typeface="Arial" panose="020B0604020202020204" pitchFamily="34" charset="0"/>
              <a:buChar char="•"/>
            </a:pPr>
            <a:r>
              <a:rPr lang="ar-SA" sz="2200" dirty="0"/>
              <a:t>حيث تركز الخطة على تمكين الفريق من مواكبة أحدث الممارسات والتقنيات في مجال البنية المؤسسية لدعم تحقيق الأهداف الاستراتيجية للهيئة والمساهمة في التحول الرقمي بكفاءة وفعالية.</a:t>
            </a:r>
          </a:p>
          <a:p>
            <a:pPr marL="342900" indent="-342900" algn="just" rtl="1">
              <a:lnSpc>
                <a:spcPct val="150000"/>
              </a:lnSpc>
              <a:spcAft>
                <a:spcPts val="1200"/>
              </a:spcAft>
              <a:buFont typeface="Arial" panose="020B0604020202020204" pitchFamily="34" charset="0"/>
              <a:buChar char="•"/>
            </a:pPr>
            <a:r>
              <a:rPr lang="ar-SA" sz="2200" dirty="0"/>
              <a:t>وتأتي هذه الخطة استجابة للحاجة إلى سد الفجوات في المهارات وتعزيز قدرات الفريق في مواجهة التحديات المتزايدة في مجال تقنية المعلومات والبنية المؤسسية.</a:t>
            </a:r>
            <a:endParaRPr lang="ar-SA" sz="220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977150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8</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أهداف خطة التدريب للبنية المؤسسية</a:t>
            </a:r>
            <a:endParaRPr lang="en-US" dirty="0"/>
          </a:p>
        </p:txBody>
      </p:sp>
      <p:sp>
        <p:nvSpPr>
          <p:cNvPr id="4" name="Freeform 144">
            <a:extLst>
              <a:ext uri="{FF2B5EF4-FFF2-40B4-BE49-F238E27FC236}">
                <a16:creationId xmlns:a16="http://schemas.microsoft.com/office/drawing/2014/main" id="{7FC16FD8-C733-49AB-A3D3-0FC69A98DD23}"/>
              </a:ext>
            </a:extLst>
          </p:cNvPr>
          <p:cNvSpPr/>
          <p:nvPr/>
        </p:nvSpPr>
        <p:spPr>
          <a:xfrm>
            <a:off x="3426114" y="988323"/>
            <a:ext cx="5565486" cy="769829"/>
          </a:xfrm>
          <a:custGeom>
            <a:avLst/>
            <a:gdLst>
              <a:gd name="connsiteX0" fmla="*/ 2354876 w 5313823"/>
              <a:gd name="connsiteY0" fmla="*/ 0 h 895113"/>
              <a:gd name="connsiteX1" fmla="*/ 2976413 w 5313823"/>
              <a:gd name="connsiteY1" fmla="*/ 0 h 895113"/>
              <a:gd name="connsiteX2" fmla="*/ 2976413 w 5313823"/>
              <a:gd name="connsiteY2" fmla="*/ 2 h 895113"/>
              <a:gd name="connsiteX3" fmla="*/ 5313823 w 5313823"/>
              <a:gd name="connsiteY3" fmla="*/ 2 h 895113"/>
              <a:gd name="connsiteX4" fmla="*/ 5313823 w 5313823"/>
              <a:gd name="connsiteY4" fmla="*/ 613858 h 895113"/>
              <a:gd name="connsiteX5" fmla="*/ 5313823 w 5313823"/>
              <a:gd name="connsiteY5" fmla="*/ 797327 h 895113"/>
              <a:gd name="connsiteX6" fmla="*/ 5313823 w 5313823"/>
              <a:gd name="connsiteY6" fmla="*/ 895113 h 895113"/>
              <a:gd name="connsiteX7" fmla="*/ 0 w 5313823"/>
              <a:gd name="connsiteY7" fmla="*/ 895113 h 895113"/>
              <a:gd name="connsiteX8" fmla="*/ 0 w 5313823"/>
              <a:gd name="connsiteY8" fmla="*/ 613858 h 895113"/>
              <a:gd name="connsiteX9" fmla="*/ 1 w 5313823"/>
              <a:gd name="connsiteY9" fmla="*/ 613849 h 895113"/>
              <a:gd name="connsiteX10" fmla="*/ 1 w 5313823"/>
              <a:gd name="connsiteY10" fmla="*/ 2 h 895113"/>
              <a:gd name="connsiteX11" fmla="*/ 2354876 w 5313823"/>
              <a:gd name="connsiteY11" fmla="*/ 2 h 895113"/>
              <a:gd name="connsiteX12" fmla="*/ 2354876 w 5313823"/>
              <a:gd name="connsiteY12" fmla="*/ 0 h 895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13823" h="895113">
                <a:moveTo>
                  <a:pt x="2354876" y="0"/>
                </a:moveTo>
                <a:lnTo>
                  <a:pt x="2976413" y="0"/>
                </a:lnTo>
                <a:lnTo>
                  <a:pt x="2976413" y="2"/>
                </a:lnTo>
                <a:lnTo>
                  <a:pt x="5313823" y="2"/>
                </a:lnTo>
                <a:lnTo>
                  <a:pt x="5313823" y="613858"/>
                </a:lnTo>
                <a:lnTo>
                  <a:pt x="5313823" y="797327"/>
                </a:lnTo>
                <a:lnTo>
                  <a:pt x="5313823" y="895113"/>
                </a:lnTo>
                <a:lnTo>
                  <a:pt x="0" y="895113"/>
                </a:lnTo>
                <a:lnTo>
                  <a:pt x="0" y="613858"/>
                </a:lnTo>
                <a:lnTo>
                  <a:pt x="1" y="613849"/>
                </a:lnTo>
                <a:lnTo>
                  <a:pt x="1" y="2"/>
                </a:lnTo>
                <a:lnTo>
                  <a:pt x="2354876" y="2"/>
                </a:lnTo>
                <a:lnTo>
                  <a:pt x="2354876" y="0"/>
                </a:lnTo>
                <a:close/>
              </a:path>
            </a:pathLst>
          </a:custGeom>
          <a:solidFill>
            <a:schemeClr val="accent1">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latin typeface="Sakkal Majalla" panose="02000000000000000000" pitchFamily="2" charset="-78"/>
              <a:cs typeface="Sakkal Majalla" panose="02000000000000000000" pitchFamily="2" charset="-78"/>
            </a:endParaRPr>
          </a:p>
        </p:txBody>
      </p:sp>
      <p:sp>
        <p:nvSpPr>
          <p:cNvPr id="5" name="Rounded Rectangle 67">
            <a:extLst>
              <a:ext uri="{FF2B5EF4-FFF2-40B4-BE49-F238E27FC236}">
                <a16:creationId xmlns:a16="http://schemas.microsoft.com/office/drawing/2014/main" id="{9273AD02-0204-45E0-9B8F-065EE5CFF3D6}"/>
              </a:ext>
            </a:extLst>
          </p:cNvPr>
          <p:cNvSpPr/>
          <p:nvPr/>
        </p:nvSpPr>
        <p:spPr>
          <a:xfrm>
            <a:off x="3426114" y="1133628"/>
            <a:ext cx="5565486" cy="510778"/>
          </a:xfrm>
          <a:prstGeom prst="roundRect">
            <a:avLst/>
          </a:prstGeom>
          <a:noFill/>
          <a:ln w="9525" cap="flat" cmpd="sng" algn="ctr">
            <a:noFill/>
            <a:prstDash val="solid"/>
          </a:ln>
          <a:effectLst/>
        </p:spPr>
        <p:txBody>
          <a:bodyPr wrap="square" rtlCol="0" anchor="ctr">
            <a:spAutoFit/>
          </a:bodyPr>
          <a:lstStyle/>
          <a:p>
            <a:pPr algn="ctr" defTabSz="683717" rtl="1"/>
            <a:r>
              <a:rPr lang="ar-EG" sz="2400" b="1" dirty="0">
                <a:latin typeface="Sakkal Majalla" panose="02000000000000000000" pitchFamily="2" charset="-78"/>
                <a:cs typeface="Sakkal Majalla" panose="02000000000000000000" pitchFamily="2" charset="-78"/>
              </a:rPr>
              <a:t>تعزيز القدرات الفنية للفريق</a:t>
            </a:r>
          </a:p>
        </p:txBody>
      </p:sp>
      <p:sp>
        <p:nvSpPr>
          <p:cNvPr id="6" name="Freeform 144">
            <a:extLst>
              <a:ext uri="{FF2B5EF4-FFF2-40B4-BE49-F238E27FC236}">
                <a16:creationId xmlns:a16="http://schemas.microsoft.com/office/drawing/2014/main" id="{D8CDAD57-9BF2-4286-A7E6-B76434D81E9C}"/>
              </a:ext>
            </a:extLst>
          </p:cNvPr>
          <p:cNvSpPr/>
          <p:nvPr/>
        </p:nvSpPr>
        <p:spPr>
          <a:xfrm>
            <a:off x="3426114" y="1826479"/>
            <a:ext cx="5565486" cy="769829"/>
          </a:xfrm>
          <a:custGeom>
            <a:avLst/>
            <a:gdLst>
              <a:gd name="connsiteX0" fmla="*/ 2354876 w 5313823"/>
              <a:gd name="connsiteY0" fmla="*/ 0 h 895113"/>
              <a:gd name="connsiteX1" fmla="*/ 2976413 w 5313823"/>
              <a:gd name="connsiteY1" fmla="*/ 0 h 895113"/>
              <a:gd name="connsiteX2" fmla="*/ 2976413 w 5313823"/>
              <a:gd name="connsiteY2" fmla="*/ 2 h 895113"/>
              <a:gd name="connsiteX3" fmla="*/ 5313823 w 5313823"/>
              <a:gd name="connsiteY3" fmla="*/ 2 h 895113"/>
              <a:gd name="connsiteX4" fmla="*/ 5313823 w 5313823"/>
              <a:gd name="connsiteY4" fmla="*/ 613858 h 895113"/>
              <a:gd name="connsiteX5" fmla="*/ 5313823 w 5313823"/>
              <a:gd name="connsiteY5" fmla="*/ 797327 h 895113"/>
              <a:gd name="connsiteX6" fmla="*/ 5313823 w 5313823"/>
              <a:gd name="connsiteY6" fmla="*/ 895113 h 895113"/>
              <a:gd name="connsiteX7" fmla="*/ 0 w 5313823"/>
              <a:gd name="connsiteY7" fmla="*/ 895113 h 895113"/>
              <a:gd name="connsiteX8" fmla="*/ 0 w 5313823"/>
              <a:gd name="connsiteY8" fmla="*/ 613858 h 895113"/>
              <a:gd name="connsiteX9" fmla="*/ 1 w 5313823"/>
              <a:gd name="connsiteY9" fmla="*/ 613849 h 895113"/>
              <a:gd name="connsiteX10" fmla="*/ 1 w 5313823"/>
              <a:gd name="connsiteY10" fmla="*/ 2 h 895113"/>
              <a:gd name="connsiteX11" fmla="*/ 2354876 w 5313823"/>
              <a:gd name="connsiteY11" fmla="*/ 2 h 895113"/>
              <a:gd name="connsiteX12" fmla="*/ 2354876 w 5313823"/>
              <a:gd name="connsiteY12" fmla="*/ 0 h 895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13823" h="895113">
                <a:moveTo>
                  <a:pt x="2354876" y="0"/>
                </a:moveTo>
                <a:lnTo>
                  <a:pt x="2976413" y="0"/>
                </a:lnTo>
                <a:lnTo>
                  <a:pt x="2976413" y="2"/>
                </a:lnTo>
                <a:lnTo>
                  <a:pt x="5313823" y="2"/>
                </a:lnTo>
                <a:lnTo>
                  <a:pt x="5313823" y="613858"/>
                </a:lnTo>
                <a:lnTo>
                  <a:pt x="5313823" y="797327"/>
                </a:lnTo>
                <a:lnTo>
                  <a:pt x="5313823" y="895113"/>
                </a:lnTo>
                <a:lnTo>
                  <a:pt x="0" y="895113"/>
                </a:lnTo>
                <a:lnTo>
                  <a:pt x="0" y="613858"/>
                </a:lnTo>
                <a:lnTo>
                  <a:pt x="1" y="613849"/>
                </a:lnTo>
                <a:lnTo>
                  <a:pt x="1" y="2"/>
                </a:lnTo>
                <a:lnTo>
                  <a:pt x="2354876" y="2"/>
                </a:lnTo>
                <a:lnTo>
                  <a:pt x="2354876" y="0"/>
                </a:lnTo>
                <a:close/>
              </a:path>
            </a:pathLst>
          </a:custGeom>
          <a:solidFill>
            <a:schemeClr val="accent1">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latin typeface="Sakkal Majalla" panose="02000000000000000000" pitchFamily="2" charset="-78"/>
              <a:cs typeface="Sakkal Majalla" panose="02000000000000000000" pitchFamily="2" charset="-78"/>
            </a:endParaRPr>
          </a:p>
        </p:txBody>
      </p:sp>
      <p:sp>
        <p:nvSpPr>
          <p:cNvPr id="7" name="Rounded Rectangle 67">
            <a:extLst>
              <a:ext uri="{FF2B5EF4-FFF2-40B4-BE49-F238E27FC236}">
                <a16:creationId xmlns:a16="http://schemas.microsoft.com/office/drawing/2014/main" id="{7453BFC2-DF99-47C3-8232-AC0A217E5D6A}"/>
              </a:ext>
            </a:extLst>
          </p:cNvPr>
          <p:cNvSpPr/>
          <p:nvPr/>
        </p:nvSpPr>
        <p:spPr>
          <a:xfrm>
            <a:off x="3426114" y="1971784"/>
            <a:ext cx="5565486" cy="510778"/>
          </a:xfrm>
          <a:prstGeom prst="roundRect">
            <a:avLst/>
          </a:prstGeom>
          <a:noFill/>
          <a:ln w="9525" cap="flat" cmpd="sng" algn="ctr">
            <a:noFill/>
            <a:prstDash val="solid"/>
          </a:ln>
          <a:effectLst/>
        </p:spPr>
        <p:txBody>
          <a:bodyPr wrap="square" rtlCol="0" anchor="ctr">
            <a:spAutoFit/>
          </a:bodyPr>
          <a:lstStyle/>
          <a:p>
            <a:pPr algn="ctr" defTabSz="683717" rtl="1"/>
            <a:r>
              <a:rPr lang="ar-EG" sz="2400" b="1" dirty="0">
                <a:latin typeface="Sakkal Majalla" panose="02000000000000000000" pitchFamily="2" charset="-78"/>
                <a:cs typeface="Sakkal Majalla" panose="02000000000000000000" pitchFamily="2" charset="-78"/>
              </a:rPr>
              <a:t>تطوير المهارات الشخصية والقيادية</a:t>
            </a:r>
          </a:p>
        </p:txBody>
      </p:sp>
      <p:sp>
        <p:nvSpPr>
          <p:cNvPr id="8" name="Freeform 144">
            <a:extLst>
              <a:ext uri="{FF2B5EF4-FFF2-40B4-BE49-F238E27FC236}">
                <a16:creationId xmlns:a16="http://schemas.microsoft.com/office/drawing/2014/main" id="{E6DDA3E0-1184-48F0-AC3C-BAF86BDA80D5}"/>
              </a:ext>
            </a:extLst>
          </p:cNvPr>
          <p:cNvSpPr/>
          <p:nvPr/>
        </p:nvSpPr>
        <p:spPr>
          <a:xfrm>
            <a:off x="3426114" y="2674017"/>
            <a:ext cx="5565486" cy="769829"/>
          </a:xfrm>
          <a:custGeom>
            <a:avLst/>
            <a:gdLst>
              <a:gd name="connsiteX0" fmla="*/ 2354876 w 5313823"/>
              <a:gd name="connsiteY0" fmla="*/ 0 h 895113"/>
              <a:gd name="connsiteX1" fmla="*/ 2976413 w 5313823"/>
              <a:gd name="connsiteY1" fmla="*/ 0 h 895113"/>
              <a:gd name="connsiteX2" fmla="*/ 2976413 w 5313823"/>
              <a:gd name="connsiteY2" fmla="*/ 2 h 895113"/>
              <a:gd name="connsiteX3" fmla="*/ 5313823 w 5313823"/>
              <a:gd name="connsiteY3" fmla="*/ 2 h 895113"/>
              <a:gd name="connsiteX4" fmla="*/ 5313823 w 5313823"/>
              <a:gd name="connsiteY4" fmla="*/ 613858 h 895113"/>
              <a:gd name="connsiteX5" fmla="*/ 5313823 w 5313823"/>
              <a:gd name="connsiteY5" fmla="*/ 797327 h 895113"/>
              <a:gd name="connsiteX6" fmla="*/ 5313823 w 5313823"/>
              <a:gd name="connsiteY6" fmla="*/ 895113 h 895113"/>
              <a:gd name="connsiteX7" fmla="*/ 0 w 5313823"/>
              <a:gd name="connsiteY7" fmla="*/ 895113 h 895113"/>
              <a:gd name="connsiteX8" fmla="*/ 0 w 5313823"/>
              <a:gd name="connsiteY8" fmla="*/ 613858 h 895113"/>
              <a:gd name="connsiteX9" fmla="*/ 1 w 5313823"/>
              <a:gd name="connsiteY9" fmla="*/ 613849 h 895113"/>
              <a:gd name="connsiteX10" fmla="*/ 1 w 5313823"/>
              <a:gd name="connsiteY10" fmla="*/ 2 h 895113"/>
              <a:gd name="connsiteX11" fmla="*/ 2354876 w 5313823"/>
              <a:gd name="connsiteY11" fmla="*/ 2 h 895113"/>
              <a:gd name="connsiteX12" fmla="*/ 2354876 w 5313823"/>
              <a:gd name="connsiteY12" fmla="*/ 0 h 895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13823" h="895113">
                <a:moveTo>
                  <a:pt x="2354876" y="0"/>
                </a:moveTo>
                <a:lnTo>
                  <a:pt x="2976413" y="0"/>
                </a:lnTo>
                <a:lnTo>
                  <a:pt x="2976413" y="2"/>
                </a:lnTo>
                <a:lnTo>
                  <a:pt x="5313823" y="2"/>
                </a:lnTo>
                <a:lnTo>
                  <a:pt x="5313823" y="613858"/>
                </a:lnTo>
                <a:lnTo>
                  <a:pt x="5313823" y="797327"/>
                </a:lnTo>
                <a:lnTo>
                  <a:pt x="5313823" y="895113"/>
                </a:lnTo>
                <a:lnTo>
                  <a:pt x="0" y="895113"/>
                </a:lnTo>
                <a:lnTo>
                  <a:pt x="0" y="613858"/>
                </a:lnTo>
                <a:lnTo>
                  <a:pt x="1" y="613849"/>
                </a:lnTo>
                <a:lnTo>
                  <a:pt x="1" y="2"/>
                </a:lnTo>
                <a:lnTo>
                  <a:pt x="2354876" y="2"/>
                </a:lnTo>
                <a:lnTo>
                  <a:pt x="2354876" y="0"/>
                </a:lnTo>
                <a:close/>
              </a:path>
            </a:pathLst>
          </a:custGeom>
          <a:solidFill>
            <a:schemeClr val="accent1">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latin typeface="Sakkal Majalla" panose="02000000000000000000" pitchFamily="2" charset="-78"/>
              <a:cs typeface="Sakkal Majalla" panose="02000000000000000000" pitchFamily="2" charset="-78"/>
            </a:endParaRPr>
          </a:p>
        </p:txBody>
      </p:sp>
      <p:sp>
        <p:nvSpPr>
          <p:cNvPr id="9" name="Rounded Rectangle 67">
            <a:extLst>
              <a:ext uri="{FF2B5EF4-FFF2-40B4-BE49-F238E27FC236}">
                <a16:creationId xmlns:a16="http://schemas.microsoft.com/office/drawing/2014/main" id="{3A63EB41-4B34-42D9-8308-281AD3963E49}"/>
              </a:ext>
            </a:extLst>
          </p:cNvPr>
          <p:cNvSpPr/>
          <p:nvPr/>
        </p:nvSpPr>
        <p:spPr>
          <a:xfrm>
            <a:off x="3426114" y="2819322"/>
            <a:ext cx="5565486" cy="510778"/>
          </a:xfrm>
          <a:prstGeom prst="roundRect">
            <a:avLst/>
          </a:prstGeom>
          <a:noFill/>
          <a:ln w="9525" cap="flat" cmpd="sng" algn="ctr">
            <a:noFill/>
            <a:prstDash val="solid"/>
          </a:ln>
          <a:effectLst/>
        </p:spPr>
        <p:txBody>
          <a:bodyPr wrap="square" rtlCol="0" anchor="ctr">
            <a:spAutoFit/>
          </a:bodyPr>
          <a:lstStyle/>
          <a:p>
            <a:pPr algn="ctr" defTabSz="683717" rtl="1"/>
            <a:r>
              <a:rPr lang="ar-EG" sz="2400" b="1" dirty="0">
                <a:latin typeface="Sakkal Majalla" panose="02000000000000000000" pitchFamily="2" charset="-78"/>
                <a:cs typeface="Sakkal Majalla" panose="02000000000000000000" pitchFamily="2" charset="-78"/>
              </a:rPr>
              <a:t>دعم التحول الرقمي وتحقيق الأهداف الاستراتيجية</a:t>
            </a:r>
          </a:p>
        </p:txBody>
      </p:sp>
      <p:sp>
        <p:nvSpPr>
          <p:cNvPr id="10" name="Freeform 144">
            <a:extLst>
              <a:ext uri="{FF2B5EF4-FFF2-40B4-BE49-F238E27FC236}">
                <a16:creationId xmlns:a16="http://schemas.microsoft.com/office/drawing/2014/main" id="{D76A1551-8EE8-4ED8-A5DD-8A3912833C83}"/>
              </a:ext>
            </a:extLst>
          </p:cNvPr>
          <p:cNvSpPr/>
          <p:nvPr/>
        </p:nvSpPr>
        <p:spPr>
          <a:xfrm>
            <a:off x="3426114" y="3522333"/>
            <a:ext cx="5565486" cy="769829"/>
          </a:xfrm>
          <a:custGeom>
            <a:avLst/>
            <a:gdLst>
              <a:gd name="connsiteX0" fmla="*/ 2354876 w 5313823"/>
              <a:gd name="connsiteY0" fmla="*/ 0 h 895113"/>
              <a:gd name="connsiteX1" fmla="*/ 2976413 w 5313823"/>
              <a:gd name="connsiteY1" fmla="*/ 0 h 895113"/>
              <a:gd name="connsiteX2" fmla="*/ 2976413 w 5313823"/>
              <a:gd name="connsiteY2" fmla="*/ 2 h 895113"/>
              <a:gd name="connsiteX3" fmla="*/ 5313823 w 5313823"/>
              <a:gd name="connsiteY3" fmla="*/ 2 h 895113"/>
              <a:gd name="connsiteX4" fmla="*/ 5313823 w 5313823"/>
              <a:gd name="connsiteY4" fmla="*/ 613858 h 895113"/>
              <a:gd name="connsiteX5" fmla="*/ 5313823 w 5313823"/>
              <a:gd name="connsiteY5" fmla="*/ 797327 h 895113"/>
              <a:gd name="connsiteX6" fmla="*/ 5313823 w 5313823"/>
              <a:gd name="connsiteY6" fmla="*/ 895113 h 895113"/>
              <a:gd name="connsiteX7" fmla="*/ 0 w 5313823"/>
              <a:gd name="connsiteY7" fmla="*/ 895113 h 895113"/>
              <a:gd name="connsiteX8" fmla="*/ 0 w 5313823"/>
              <a:gd name="connsiteY8" fmla="*/ 613858 h 895113"/>
              <a:gd name="connsiteX9" fmla="*/ 1 w 5313823"/>
              <a:gd name="connsiteY9" fmla="*/ 613849 h 895113"/>
              <a:gd name="connsiteX10" fmla="*/ 1 w 5313823"/>
              <a:gd name="connsiteY10" fmla="*/ 2 h 895113"/>
              <a:gd name="connsiteX11" fmla="*/ 2354876 w 5313823"/>
              <a:gd name="connsiteY11" fmla="*/ 2 h 895113"/>
              <a:gd name="connsiteX12" fmla="*/ 2354876 w 5313823"/>
              <a:gd name="connsiteY12" fmla="*/ 0 h 895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13823" h="895113">
                <a:moveTo>
                  <a:pt x="2354876" y="0"/>
                </a:moveTo>
                <a:lnTo>
                  <a:pt x="2976413" y="0"/>
                </a:lnTo>
                <a:lnTo>
                  <a:pt x="2976413" y="2"/>
                </a:lnTo>
                <a:lnTo>
                  <a:pt x="5313823" y="2"/>
                </a:lnTo>
                <a:lnTo>
                  <a:pt x="5313823" y="613858"/>
                </a:lnTo>
                <a:lnTo>
                  <a:pt x="5313823" y="797327"/>
                </a:lnTo>
                <a:lnTo>
                  <a:pt x="5313823" y="895113"/>
                </a:lnTo>
                <a:lnTo>
                  <a:pt x="0" y="895113"/>
                </a:lnTo>
                <a:lnTo>
                  <a:pt x="0" y="613858"/>
                </a:lnTo>
                <a:lnTo>
                  <a:pt x="1" y="613849"/>
                </a:lnTo>
                <a:lnTo>
                  <a:pt x="1" y="2"/>
                </a:lnTo>
                <a:lnTo>
                  <a:pt x="2354876" y="2"/>
                </a:lnTo>
                <a:lnTo>
                  <a:pt x="2354876" y="0"/>
                </a:lnTo>
                <a:close/>
              </a:path>
            </a:pathLst>
          </a:custGeom>
          <a:solidFill>
            <a:schemeClr val="accent1">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latin typeface="Sakkal Majalla" panose="02000000000000000000" pitchFamily="2" charset="-78"/>
              <a:cs typeface="Sakkal Majalla" panose="02000000000000000000" pitchFamily="2" charset="-78"/>
            </a:endParaRPr>
          </a:p>
        </p:txBody>
      </p:sp>
      <p:sp>
        <p:nvSpPr>
          <p:cNvPr id="11" name="Rounded Rectangle 67">
            <a:extLst>
              <a:ext uri="{FF2B5EF4-FFF2-40B4-BE49-F238E27FC236}">
                <a16:creationId xmlns:a16="http://schemas.microsoft.com/office/drawing/2014/main" id="{9050E114-CAFA-49F0-BDF4-0364C18E7624}"/>
              </a:ext>
            </a:extLst>
          </p:cNvPr>
          <p:cNvSpPr/>
          <p:nvPr/>
        </p:nvSpPr>
        <p:spPr>
          <a:xfrm>
            <a:off x="3426114" y="3667638"/>
            <a:ext cx="5565486" cy="510778"/>
          </a:xfrm>
          <a:prstGeom prst="roundRect">
            <a:avLst/>
          </a:prstGeom>
          <a:noFill/>
          <a:ln w="9525" cap="flat" cmpd="sng" algn="ctr">
            <a:noFill/>
            <a:prstDash val="solid"/>
          </a:ln>
          <a:effectLst/>
        </p:spPr>
        <p:txBody>
          <a:bodyPr wrap="square" rtlCol="0" anchor="ctr">
            <a:spAutoFit/>
          </a:bodyPr>
          <a:lstStyle/>
          <a:p>
            <a:pPr algn="ctr" defTabSz="683717" rtl="1"/>
            <a:r>
              <a:rPr lang="ar-EG" sz="2400" b="1" dirty="0">
                <a:latin typeface="Sakkal Majalla" panose="02000000000000000000" pitchFamily="2" charset="-78"/>
                <a:cs typeface="Sakkal Majalla" panose="02000000000000000000" pitchFamily="2" charset="-78"/>
              </a:rPr>
              <a:t>الامتثال للمعايير و</a:t>
            </a:r>
            <a:r>
              <a:rPr lang="ar-SA" sz="2400" b="1" dirty="0">
                <a:latin typeface="Sakkal Majalla" panose="02000000000000000000" pitchFamily="2" charset="-78"/>
                <a:cs typeface="Sakkal Majalla" panose="02000000000000000000" pitchFamily="2" charset="-78"/>
              </a:rPr>
              <a:t>أفضل </a:t>
            </a:r>
            <a:r>
              <a:rPr lang="ar-EG" sz="2400" b="1" dirty="0">
                <a:latin typeface="Sakkal Majalla" panose="02000000000000000000" pitchFamily="2" charset="-78"/>
                <a:cs typeface="Sakkal Majalla" panose="02000000000000000000" pitchFamily="2" charset="-78"/>
              </a:rPr>
              <a:t>الممارسات</a:t>
            </a:r>
          </a:p>
        </p:txBody>
      </p:sp>
      <p:sp>
        <p:nvSpPr>
          <p:cNvPr id="12" name="Freeform 144">
            <a:extLst>
              <a:ext uri="{FF2B5EF4-FFF2-40B4-BE49-F238E27FC236}">
                <a16:creationId xmlns:a16="http://schemas.microsoft.com/office/drawing/2014/main" id="{4F117FAF-89A4-46F0-BDF7-FE73C3FD0445}"/>
              </a:ext>
            </a:extLst>
          </p:cNvPr>
          <p:cNvSpPr/>
          <p:nvPr/>
        </p:nvSpPr>
        <p:spPr>
          <a:xfrm>
            <a:off x="3426114" y="4365412"/>
            <a:ext cx="5565486" cy="769829"/>
          </a:xfrm>
          <a:custGeom>
            <a:avLst/>
            <a:gdLst>
              <a:gd name="connsiteX0" fmla="*/ 2354876 w 5313823"/>
              <a:gd name="connsiteY0" fmla="*/ 0 h 895113"/>
              <a:gd name="connsiteX1" fmla="*/ 2976413 w 5313823"/>
              <a:gd name="connsiteY1" fmla="*/ 0 h 895113"/>
              <a:gd name="connsiteX2" fmla="*/ 2976413 w 5313823"/>
              <a:gd name="connsiteY2" fmla="*/ 2 h 895113"/>
              <a:gd name="connsiteX3" fmla="*/ 5313823 w 5313823"/>
              <a:gd name="connsiteY3" fmla="*/ 2 h 895113"/>
              <a:gd name="connsiteX4" fmla="*/ 5313823 w 5313823"/>
              <a:gd name="connsiteY4" fmla="*/ 613858 h 895113"/>
              <a:gd name="connsiteX5" fmla="*/ 5313823 w 5313823"/>
              <a:gd name="connsiteY5" fmla="*/ 797327 h 895113"/>
              <a:gd name="connsiteX6" fmla="*/ 5313823 w 5313823"/>
              <a:gd name="connsiteY6" fmla="*/ 895113 h 895113"/>
              <a:gd name="connsiteX7" fmla="*/ 0 w 5313823"/>
              <a:gd name="connsiteY7" fmla="*/ 895113 h 895113"/>
              <a:gd name="connsiteX8" fmla="*/ 0 w 5313823"/>
              <a:gd name="connsiteY8" fmla="*/ 613858 h 895113"/>
              <a:gd name="connsiteX9" fmla="*/ 1 w 5313823"/>
              <a:gd name="connsiteY9" fmla="*/ 613849 h 895113"/>
              <a:gd name="connsiteX10" fmla="*/ 1 w 5313823"/>
              <a:gd name="connsiteY10" fmla="*/ 2 h 895113"/>
              <a:gd name="connsiteX11" fmla="*/ 2354876 w 5313823"/>
              <a:gd name="connsiteY11" fmla="*/ 2 h 895113"/>
              <a:gd name="connsiteX12" fmla="*/ 2354876 w 5313823"/>
              <a:gd name="connsiteY12" fmla="*/ 0 h 895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13823" h="895113">
                <a:moveTo>
                  <a:pt x="2354876" y="0"/>
                </a:moveTo>
                <a:lnTo>
                  <a:pt x="2976413" y="0"/>
                </a:lnTo>
                <a:lnTo>
                  <a:pt x="2976413" y="2"/>
                </a:lnTo>
                <a:lnTo>
                  <a:pt x="5313823" y="2"/>
                </a:lnTo>
                <a:lnTo>
                  <a:pt x="5313823" y="613858"/>
                </a:lnTo>
                <a:lnTo>
                  <a:pt x="5313823" y="797327"/>
                </a:lnTo>
                <a:lnTo>
                  <a:pt x="5313823" y="895113"/>
                </a:lnTo>
                <a:lnTo>
                  <a:pt x="0" y="895113"/>
                </a:lnTo>
                <a:lnTo>
                  <a:pt x="0" y="613858"/>
                </a:lnTo>
                <a:lnTo>
                  <a:pt x="1" y="613849"/>
                </a:lnTo>
                <a:lnTo>
                  <a:pt x="1" y="2"/>
                </a:lnTo>
                <a:lnTo>
                  <a:pt x="2354876" y="2"/>
                </a:lnTo>
                <a:lnTo>
                  <a:pt x="2354876" y="0"/>
                </a:lnTo>
                <a:close/>
              </a:path>
            </a:pathLst>
          </a:custGeom>
          <a:solidFill>
            <a:schemeClr val="accent1">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latin typeface="Sakkal Majalla" panose="02000000000000000000" pitchFamily="2" charset="-78"/>
              <a:cs typeface="Sakkal Majalla" panose="02000000000000000000" pitchFamily="2" charset="-78"/>
            </a:endParaRPr>
          </a:p>
        </p:txBody>
      </p:sp>
      <p:sp>
        <p:nvSpPr>
          <p:cNvPr id="13" name="Rounded Rectangle 67">
            <a:extLst>
              <a:ext uri="{FF2B5EF4-FFF2-40B4-BE49-F238E27FC236}">
                <a16:creationId xmlns:a16="http://schemas.microsoft.com/office/drawing/2014/main" id="{E79951EC-892B-41CF-B9BD-B0A89EFF4B73}"/>
              </a:ext>
            </a:extLst>
          </p:cNvPr>
          <p:cNvSpPr/>
          <p:nvPr/>
        </p:nvSpPr>
        <p:spPr>
          <a:xfrm>
            <a:off x="3426114" y="4510717"/>
            <a:ext cx="5565486" cy="510778"/>
          </a:xfrm>
          <a:prstGeom prst="roundRect">
            <a:avLst/>
          </a:prstGeom>
          <a:noFill/>
          <a:ln w="9525" cap="flat" cmpd="sng" algn="ctr">
            <a:noFill/>
            <a:prstDash val="solid"/>
          </a:ln>
          <a:effectLst/>
        </p:spPr>
        <p:txBody>
          <a:bodyPr wrap="square" rtlCol="0" anchor="ctr">
            <a:spAutoFit/>
          </a:bodyPr>
          <a:lstStyle/>
          <a:p>
            <a:pPr algn="ctr" defTabSz="683717" rtl="1"/>
            <a:r>
              <a:rPr lang="ar-EG" sz="2400" b="1" dirty="0">
                <a:latin typeface="Sakkal Majalla" panose="02000000000000000000" pitchFamily="2" charset="-78"/>
                <a:cs typeface="Sakkal Majalla" panose="02000000000000000000" pitchFamily="2" charset="-78"/>
              </a:rPr>
              <a:t>تحفيز التعلم المستمر والتطوير المهني</a:t>
            </a:r>
          </a:p>
        </p:txBody>
      </p:sp>
      <p:sp>
        <p:nvSpPr>
          <p:cNvPr id="15" name="Freeform 144">
            <a:extLst>
              <a:ext uri="{FF2B5EF4-FFF2-40B4-BE49-F238E27FC236}">
                <a16:creationId xmlns:a16="http://schemas.microsoft.com/office/drawing/2014/main" id="{80C54FB6-16FC-40F2-9EB4-D731CD21322F}"/>
              </a:ext>
            </a:extLst>
          </p:cNvPr>
          <p:cNvSpPr/>
          <p:nvPr/>
        </p:nvSpPr>
        <p:spPr>
          <a:xfrm>
            <a:off x="3426114" y="5284410"/>
            <a:ext cx="5565486" cy="769829"/>
          </a:xfrm>
          <a:custGeom>
            <a:avLst/>
            <a:gdLst>
              <a:gd name="connsiteX0" fmla="*/ 2354876 w 5313823"/>
              <a:gd name="connsiteY0" fmla="*/ 0 h 895113"/>
              <a:gd name="connsiteX1" fmla="*/ 2976413 w 5313823"/>
              <a:gd name="connsiteY1" fmla="*/ 0 h 895113"/>
              <a:gd name="connsiteX2" fmla="*/ 2976413 w 5313823"/>
              <a:gd name="connsiteY2" fmla="*/ 2 h 895113"/>
              <a:gd name="connsiteX3" fmla="*/ 5313823 w 5313823"/>
              <a:gd name="connsiteY3" fmla="*/ 2 h 895113"/>
              <a:gd name="connsiteX4" fmla="*/ 5313823 w 5313823"/>
              <a:gd name="connsiteY4" fmla="*/ 613858 h 895113"/>
              <a:gd name="connsiteX5" fmla="*/ 5313823 w 5313823"/>
              <a:gd name="connsiteY5" fmla="*/ 797327 h 895113"/>
              <a:gd name="connsiteX6" fmla="*/ 5313823 w 5313823"/>
              <a:gd name="connsiteY6" fmla="*/ 895113 h 895113"/>
              <a:gd name="connsiteX7" fmla="*/ 0 w 5313823"/>
              <a:gd name="connsiteY7" fmla="*/ 895113 h 895113"/>
              <a:gd name="connsiteX8" fmla="*/ 0 w 5313823"/>
              <a:gd name="connsiteY8" fmla="*/ 613858 h 895113"/>
              <a:gd name="connsiteX9" fmla="*/ 1 w 5313823"/>
              <a:gd name="connsiteY9" fmla="*/ 613849 h 895113"/>
              <a:gd name="connsiteX10" fmla="*/ 1 w 5313823"/>
              <a:gd name="connsiteY10" fmla="*/ 2 h 895113"/>
              <a:gd name="connsiteX11" fmla="*/ 2354876 w 5313823"/>
              <a:gd name="connsiteY11" fmla="*/ 2 h 895113"/>
              <a:gd name="connsiteX12" fmla="*/ 2354876 w 5313823"/>
              <a:gd name="connsiteY12" fmla="*/ 0 h 895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13823" h="895113">
                <a:moveTo>
                  <a:pt x="2354876" y="0"/>
                </a:moveTo>
                <a:lnTo>
                  <a:pt x="2976413" y="0"/>
                </a:lnTo>
                <a:lnTo>
                  <a:pt x="2976413" y="2"/>
                </a:lnTo>
                <a:lnTo>
                  <a:pt x="5313823" y="2"/>
                </a:lnTo>
                <a:lnTo>
                  <a:pt x="5313823" y="613858"/>
                </a:lnTo>
                <a:lnTo>
                  <a:pt x="5313823" y="797327"/>
                </a:lnTo>
                <a:lnTo>
                  <a:pt x="5313823" y="895113"/>
                </a:lnTo>
                <a:lnTo>
                  <a:pt x="0" y="895113"/>
                </a:lnTo>
                <a:lnTo>
                  <a:pt x="0" y="613858"/>
                </a:lnTo>
                <a:lnTo>
                  <a:pt x="1" y="613849"/>
                </a:lnTo>
                <a:lnTo>
                  <a:pt x="1" y="2"/>
                </a:lnTo>
                <a:lnTo>
                  <a:pt x="2354876" y="2"/>
                </a:lnTo>
                <a:lnTo>
                  <a:pt x="2354876" y="0"/>
                </a:lnTo>
                <a:close/>
              </a:path>
            </a:pathLst>
          </a:custGeom>
          <a:solidFill>
            <a:schemeClr val="accent1">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latin typeface="Sakkal Majalla" panose="02000000000000000000" pitchFamily="2" charset="-78"/>
              <a:cs typeface="Sakkal Majalla" panose="02000000000000000000" pitchFamily="2" charset="-78"/>
            </a:endParaRPr>
          </a:p>
        </p:txBody>
      </p:sp>
      <p:sp>
        <p:nvSpPr>
          <p:cNvPr id="16" name="Rounded Rectangle 67">
            <a:extLst>
              <a:ext uri="{FF2B5EF4-FFF2-40B4-BE49-F238E27FC236}">
                <a16:creationId xmlns:a16="http://schemas.microsoft.com/office/drawing/2014/main" id="{C8C34AFB-92EE-4B7D-B92F-7AE09B4DEC37}"/>
              </a:ext>
            </a:extLst>
          </p:cNvPr>
          <p:cNvSpPr/>
          <p:nvPr/>
        </p:nvSpPr>
        <p:spPr>
          <a:xfrm>
            <a:off x="3426114" y="5429715"/>
            <a:ext cx="5565486" cy="510778"/>
          </a:xfrm>
          <a:prstGeom prst="roundRect">
            <a:avLst/>
          </a:prstGeom>
          <a:noFill/>
          <a:ln w="9525" cap="flat" cmpd="sng" algn="ctr">
            <a:noFill/>
            <a:prstDash val="solid"/>
          </a:ln>
          <a:effectLst/>
        </p:spPr>
        <p:txBody>
          <a:bodyPr wrap="square" rtlCol="0" anchor="ctr">
            <a:spAutoFit/>
          </a:bodyPr>
          <a:lstStyle/>
          <a:p>
            <a:pPr algn="ctr" defTabSz="683717" rtl="1"/>
            <a:r>
              <a:rPr lang="ar-EG" sz="2400" b="1" dirty="0">
                <a:latin typeface="Sakkal Majalla" panose="02000000000000000000" pitchFamily="2" charset="-78"/>
                <a:cs typeface="Sakkal Majalla" panose="02000000000000000000" pitchFamily="2" charset="-78"/>
              </a:rPr>
              <a:t>تعزيز الكفاءة والإنتاجية</a:t>
            </a:r>
          </a:p>
        </p:txBody>
      </p:sp>
    </p:spTree>
    <p:extLst>
      <p:ext uri="{BB962C8B-B14F-4D97-AF65-F5344CB8AC3E}">
        <p14:creationId xmlns:p14="http://schemas.microsoft.com/office/powerpoint/2010/main" val="2536131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B15EC-8C50-C8AD-4F49-C954EAD1EF44}"/>
              </a:ext>
            </a:extLst>
          </p:cNvPr>
          <p:cNvSpPr>
            <a:spLocks noGrp="1"/>
          </p:cNvSpPr>
          <p:nvPr>
            <p:ph type="title"/>
          </p:nvPr>
        </p:nvSpPr>
        <p:spPr/>
        <p:txBody>
          <a:bodyPr/>
          <a:lstStyle/>
          <a:p>
            <a:r>
              <a:rPr lang="ar-EG" dirty="0"/>
              <a:t>موائمة اهداف البنية المؤسسية مع أهداف خطة التدريب </a:t>
            </a:r>
            <a:endParaRPr lang="en-US" dirty="0"/>
          </a:p>
        </p:txBody>
      </p:sp>
      <p:sp>
        <p:nvSpPr>
          <p:cNvPr id="3" name="Slide Number Placeholder 2">
            <a:extLst>
              <a:ext uri="{FF2B5EF4-FFF2-40B4-BE49-F238E27FC236}">
                <a16:creationId xmlns:a16="http://schemas.microsoft.com/office/drawing/2014/main" id="{8DBE0705-4096-5C4E-2ADA-FA92A3ADAECD}"/>
              </a:ext>
            </a:extLst>
          </p:cNvPr>
          <p:cNvSpPr>
            <a:spLocks noGrp="1"/>
          </p:cNvSpPr>
          <p:nvPr>
            <p:ph type="sldNum" sz="quarter" idx="12"/>
          </p:nvPr>
        </p:nvSpPr>
        <p:spPr/>
        <p:txBody>
          <a:bodyPr/>
          <a:lstStyle/>
          <a:p>
            <a:fld id="{0BE4EC83-A869-464E-AE9F-881796FB085E}" type="slidenum">
              <a:rPr lang="en-US" smtClean="0"/>
              <a:t>9</a:t>
            </a:fld>
            <a:endParaRPr lang="en-US"/>
          </a:p>
        </p:txBody>
      </p:sp>
      <p:graphicFrame>
        <p:nvGraphicFramePr>
          <p:cNvPr id="4" name="Table 3">
            <a:extLst>
              <a:ext uri="{FF2B5EF4-FFF2-40B4-BE49-F238E27FC236}">
                <a16:creationId xmlns:a16="http://schemas.microsoft.com/office/drawing/2014/main" id="{03F05FDD-4E4A-4F4F-F8C9-CB1A9257F681}"/>
              </a:ext>
            </a:extLst>
          </p:cNvPr>
          <p:cNvGraphicFramePr>
            <a:graphicFrameLocks noGrp="1"/>
          </p:cNvGraphicFramePr>
          <p:nvPr>
            <p:extLst>
              <p:ext uri="{D42A27DB-BD31-4B8C-83A1-F6EECF244321}">
                <p14:modId xmlns:p14="http://schemas.microsoft.com/office/powerpoint/2010/main" val="726637048"/>
              </p:ext>
            </p:extLst>
          </p:nvPr>
        </p:nvGraphicFramePr>
        <p:xfrm>
          <a:off x="609599" y="1371600"/>
          <a:ext cx="10972801" cy="4758610"/>
        </p:xfrm>
        <a:graphic>
          <a:graphicData uri="http://schemas.openxmlformats.org/drawingml/2006/table">
            <a:tbl>
              <a:tblPr rtl="1" firstRow="1" firstCol="1" bandRow="1">
                <a:tableStyleId>{5C22544A-7EE6-4342-B048-85BDC9FD1C3A}</a:tableStyleId>
              </a:tblPr>
              <a:tblGrid>
                <a:gridCol w="1567543">
                  <a:extLst>
                    <a:ext uri="{9D8B030D-6E8A-4147-A177-3AD203B41FA5}">
                      <a16:colId xmlns:a16="http://schemas.microsoft.com/office/drawing/2014/main" val="892055886"/>
                    </a:ext>
                  </a:extLst>
                </a:gridCol>
                <a:gridCol w="1567543">
                  <a:extLst>
                    <a:ext uri="{9D8B030D-6E8A-4147-A177-3AD203B41FA5}">
                      <a16:colId xmlns:a16="http://schemas.microsoft.com/office/drawing/2014/main" val="1363630162"/>
                    </a:ext>
                  </a:extLst>
                </a:gridCol>
                <a:gridCol w="1567543">
                  <a:extLst>
                    <a:ext uri="{9D8B030D-6E8A-4147-A177-3AD203B41FA5}">
                      <a16:colId xmlns:a16="http://schemas.microsoft.com/office/drawing/2014/main" val="2204894107"/>
                    </a:ext>
                  </a:extLst>
                </a:gridCol>
                <a:gridCol w="1567543">
                  <a:extLst>
                    <a:ext uri="{9D8B030D-6E8A-4147-A177-3AD203B41FA5}">
                      <a16:colId xmlns:a16="http://schemas.microsoft.com/office/drawing/2014/main" val="884312606"/>
                    </a:ext>
                  </a:extLst>
                </a:gridCol>
                <a:gridCol w="1567543">
                  <a:extLst>
                    <a:ext uri="{9D8B030D-6E8A-4147-A177-3AD203B41FA5}">
                      <a16:colId xmlns:a16="http://schemas.microsoft.com/office/drawing/2014/main" val="367408589"/>
                    </a:ext>
                  </a:extLst>
                </a:gridCol>
                <a:gridCol w="1567543">
                  <a:extLst>
                    <a:ext uri="{9D8B030D-6E8A-4147-A177-3AD203B41FA5}">
                      <a16:colId xmlns:a16="http://schemas.microsoft.com/office/drawing/2014/main" val="2499586237"/>
                    </a:ext>
                  </a:extLst>
                </a:gridCol>
                <a:gridCol w="1567543">
                  <a:extLst>
                    <a:ext uri="{9D8B030D-6E8A-4147-A177-3AD203B41FA5}">
                      <a16:colId xmlns:a16="http://schemas.microsoft.com/office/drawing/2014/main" val="3936335277"/>
                    </a:ext>
                  </a:extLst>
                </a:gridCol>
              </a:tblGrid>
              <a:tr h="794632">
                <a:tc>
                  <a:txBody>
                    <a:bodyPr/>
                    <a:lstStyle/>
                    <a:p>
                      <a:pPr marL="0" marR="0" algn="ctr" rtl="1">
                        <a:lnSpc>
                          <a:spcPct val="115000"/>
                        </a:lnSpc>
                        <a:spcAft>
                          <a:spcPts val="800"/>
                        </a:spcAft>
                        <a:buNone/>
                      </a:pPr>
                      <a:r>
                        <a:rPr lang="ar-SA" sz="1200" kern="100" dirty="0">
                          <a:effectLst/>
                        </a:rPr>
                        <a:t>أهداف خطة التدريب للبنية المؤسسية \ أهداف البنية</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ar-SA" sz="1200" kern="100">
                          <a:effectLst/>
                        </a:rPr>
                        <a:t>دعم اتخاذ القرارات</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ar-SA" sz="1200" kern="100">
                          <a:effectLst/>
                        </a:rPr>
                        <a:t>تعزيز الكفاءة التشغيلية وكفاءة الانفاق</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ar-SA" sz="1200" kern="100">
                          <a:effectLst/>
                        </a:rPr>
                        <a:t>تمكين التحول الرقمي</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ar-SA" sz="1200" kern="100">
                          <a:effectLst/>
                        </a:rPr>
                        <a:t>دعم تحسين تجربة المستفيد</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ar-SA" sz="1200" kern="100">
                          <a:effectLst/>
                        </a:rPr>
                        <a:t>تعزيز الحوكمة المؤسسية</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ar-SA" sz="1200" kern="100">
                          <a:effectLst/>
                        </a:rPr>
                        <a:t>المواءمة الاستراتيجية</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798727134"/>
                  </a:ext>
                </a:extLst>
              </a:tr>
              <a:tr h="414531">
                <a:tc>
                  <a:txBody>
                    <a:bodyPr/>
                    <a:lstStyle/>
                    <a:p>
                      <a:pPr marL="0" marR="0" algn="ctr" rtl="1">
                        <a:lnSpc>
                          <a:spcPct val="115000"/>
                        </a:lnSpc>
                        <a:spcAft>
                          <a:spcPts val="800"/>
                        </a:spcAft>
                        <a:buNone/>
                      </a:pPr>
                      <a:r>
                        <a:rPr lang="ar-SA" sz="1200" kern="100" dirty="0">
                          <a:effectLst/>
                        </a:rPr>
                        <a:t>تعزيز القدرات الفنية للفريق</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ctr" rtl="1">
                        <a:lnSpc>
                          <a:spcPct val="115000"/>
                        </a:lnSpc>
                        <a:buNone/>
                      </a:pPr>
                      <a:endParaRPr lang="en-US" sz="1200" kern="100">
                        <a:effectLst/>
                        <a:latin typeface="Aptos" panose="020B0004020202020204" pitchFamily="34" charset="0"/>
                      </a:endParaRPr>
                    </a:p>
                  </a:txBody>
                  <a:tcPr marL="9525" marR="9525" marT="9525" marB="9525" anchor="ctr"/>
                </a:tc>
                <a:tc>
                  <a:txBody>
                    <a:bodyPr/>
                    <a:lstStyle/>
                    <a:p>
                      <a:pPr marL="0" marR="0" algn="ctr" rtl="1">
                        <a:lnSpc>
                          <a:spcPct val="115000"/>
                        </a:lnSpc>
                        <a:spcAft>
                          <a:spcPts val="800"/>
                        </a:spcAft>
                        <a:buNone/>
                      </a:pP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842525334"/>
                  </a:ext>
                </a:extLst>
              </a:tr>
              <a:tr h="772826">
                <a:tc>
                  <a:txBody>
                    <a:bodyPr/>
                    <a:lstStyle/>
                    <a:p>
                      <a:pPr marL="0" marR="0" algn="ctr" rtl="1">
                        <a:lnSpc>
                          <a:spcPct val="115000"/>
                        </a:lnSpc>
                        <a:spcAft>
                          <a:spcPts val="800"/>
                        </a:spcAft>
                        <a:buNone/>
                      </a:pPr>
                      <a:r>
                        <a:rPr lang="ar-SA" sz="1200" kern="100">
                          <a:effectLst/>
                        </a:rPr>
                        <a:t>تطوير المهارات الشخصية والقيادية</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en-US" sz="1200" kern="100" dirty="0">
                          <a:effectLst/>
                        </a:rPr>
                        <a:t>✔</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714265568"/>
                  </a:ext>
                </a:extLst>
              </a:tr>
              <a:tr h="794632">
                <a:tc>
                  <a:txBody>
                    <a:bodyPr/>
                    <a:lstStyle/>
                    <a:p>
                      <a:pPr marL="0" marR="0" algn="ctr" rtl="1">
                        <a:lnSpc>
                          <a:spcPct val="115000"/>
                        </a:lnSpc>
                        <a:spcAft>
                          <a:spcPts val="800"/>
                        </a:spcAft>
                        <a:buNone/>
                      </a:pPr>
                      <a:r>
                        <a:rPr lang="ar-SA" sz="1200" kern="100">
                          <a:effectLst/>
                        </a:rPr>
                        <a:t>دعم التحول الرقمي وتحقيق الأهداف الاستراتيجية</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ctr" rtl="1">
                        <a:lnSpc>
                          <a:spcPct val="115000"/>
                        </a:lnSpc>
                        <a:buNone/>
                      </a:pPr>
                      <a:endParaRPr lang="en-US" sz="1200" kern="100" dirty="0">
                        <a:effectLst/>
                        <a:latin typeface="Aptos" panose="020B0004020202020204" pitchFamily="34" charset="0"/>
                      </a:endParaRPr>
                    </a:p>
                  </a:txBody>
                  <a:tcPr marL="9525" marR="9525" marT="9525" marB="9525" anchor="ctr"/>
                </a:tc>
                <a:tc>
                  <a:txBody>
                    <a:bodyPr/>
                    <a:lstStyle/>
                    <a:p>
                      <a:pPr marL="0" marR="0" algn="ctr" rtl="1">
                        <a:lnSpc>
                          <a:spcPct val="115000"/>
                        </a:lnSpc>
                        <a:spcAft>
                          <a:spcPts val="800"/>
                        </a:spcAft>
                        <a:buNone/>
                      </a:pP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654174376"/>
                  </a:ext>
                </a:extLst>
              </a:tr>
              <a:tr h="794632">
                <a:tc>
                  <a:txBody>
                    <a:bodyPr/>
                    <a:lstStyle/>
                    <a:p>
                      <a:pPr marL="0" marR="0" algn="ctr" rtl="1">
                        <a:lnSpc>
                          <a:spcPct val="115000"/>
                        </a:lnSpc>
                        <a:spcAft>
                          <a:spcPts val="800"/>
                        </a:spcAft>
                        <a:buNone/>
                      </a:pPr>
                      <a:r>
                        <a:rPr lang="ar-SA" sz="1200" kern="100">
                          <a:effectLst/>
                        </a:rPr>
                        <a:t>الامتثال للمعايير وأفضل الممارسات</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ctr" rtl="1">
                        <a:lnSpc>
                          <a:spcPct val="115000"/>
                        </a:lnSpc>
                        <a:buNone/>
                      </a:pPr>
                      <a:endParaRPr lang="en-US" sz="1200" kern="100">
                        <a:effectLst/>
                        <a:latin typeface="Aptos" panose="020B0004020202020204" pitchFamily="34" charset="0"/>
                      </a:endParaRPr>
                    </a:p>
                  </a:txBody>
                  <a:tcPr marL="9525" marR="9525" marT="9525" marB="9525" anchor="ctr"/>
                </a:tc>
                <a:tc>
                  <a:txBody>
                    <a:bodyPr/>
                    <a:lstStyle/>
                    <a:p>
                      <a:pPr algn="ctr" rtl="1">
                        <a:lnSpc>
                          <a:spcPct val="115000"/>
                        </a:lnSpc>
                        <a:buNone/>
                      </a:pPr>
                      <a:endParaRPr lang="en-US" sz="1200" kern="100">
                        <a:effectLst/>
                        <a:latin typeface="Aptos" panose="020B0004020202020204" pitchFamily="34" charset="0"/>
                      </a:endParaRPr>
                    </a:p>
                  </a:txBody>
                  <a:tcPr marL="9525" marR="9525" marT="9525" marB="9525" anchor="ctr"/>
                </a:tc>
                <a:tc>
                  <a:txBody>
                    <a:bodyPr/>
                    <a:lstStyle/>
                    <a:p>
                      <a:pPr algn="ctr" rtl="1">
                        <a:lnSpc>
                          <a:spcPct val="115000"/>
                        </a:lnSpc>
                        <a:buNone/>
                      </a:pPr>
                      <a:endParaRPr lang="en-US" sz="1200" kern="100" dirty="0">
                        <a:effectLst/>
                        <a:latin typeface="Aptos" panose="020B0004020202020204" pitchFamily="34" charset="0"/>
                      </a:endParaRPr>
                    </a:p>
                  </a:txBody>
                  <a:tcPr marL="9525" marR="9525" marT="9525" marB="9525" anchor="ctr"/>
                </a:tc>
                <a:tc>
                  <a:txBody>
                    <a:bodyPr/>
                    <a:lstStyle/>
                    <a:p>
                      <a:pPr marL="0" marR="0" algn="ctr" rtl="1">
                        <a:lnSpc>
                          <a:spcPct val="115000"/>
                        </a:lnSpc>
                        <a:spcAft>
                          <a:spcPts val="800"/>
                        </a:spcAft>
                        <a:buNone/>
                      </a:pPr>
                      <a:r>
                        <a:rPr lang="en-US" sz="1200" kern="100" dirty="0">
                          <a:effectLst/>
                        </a:rPr>
                        <a:t>✔</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51931432"/>
                  </a:ext>
                </a:extLst>
              </a:tr>
              <a:tr h="772826">
                <a:tc>
                  <a:txBody>
                    <a:bodyPr/>
                    <a:lstStyle/>
                    <a:p>
                      <a:pPr marL="0" marR="0" algn="ctr" rtl="1">
                        <a:lnSpc>
                          <a:spcPct val="115000"/>
                        </a:lnSpc>
                        <a:spcAft>
                          <a:spcPts val="800"/>
                        </a:spcAft>
                        <a:buNone/>
                      </a:pPr>
                      <a:r>
                        <a:rPr lang="ar-SA" sz="1200" kern="100">
                          <a:effectLst/>
                        </a:rPr>
                        <a:t>تحفيز التعلم المستمر والتطوير المهني</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ctr" rtl="1">
                        <a:lnSpc>
                          <a:spcPct val="115000"/>
                        </a:lnSpc>
                        <a:buNone/>
                      </a:pPr>
                      <a:endParaRPr lang="en-US" sz="1200" kern="100">
                        <a:effectLst/>
                        <a:latin typeface="Aptos" panose="020B0004020202020204" pitchFamily="34" charset="0"/>
                      </a:endParaRPr>
                    </a:p>
                  </a:txBody>
                  <a:tcPr marL="9525" marR="9525" marT="9525" marB="9525" anchor="ctr"/>
                </a:tc>
                <a:tc>
                  <a:txBody>
                    <a:bodyPr/>
                    <a:lstStyle/>
                    <a:p>
                      <a:pPr marL="0" marR="0" algn="ctr" rtl="1">
                        <a:lnSpc>
                          <a:spcPct val="115000"/>
                        </a:lnSpc>
                        <a:spcAft>
                          <a:spcPts val="800"/>
                        </a:spcAft>
                        <a:buNone/>
                      </a:pPr>
                      <a:r>
                        <a:rPr lang="en-US" sz="1200" kern="100" dirty="0">
                          <a:effectLst/>
                        </a:rPr>
                        <a:t>✔</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en-US" sz="1200" kern="100" dirty="0">
                          <a:effectLst/>
                        </a:rPr>
                        <a:t>✔</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027702946"/>
                  </a:ext>
                </a:extLst>
              </a:tr>
              <a:tr h="414531">
                <a:tc>
                  <a:txBody>
                    <a:bodyPr/>
                    <a:lstStyle/>
                    <a:p>
                      <a:pPr marL="0" marR="0" algn="ctr" rtl="1">
                        <a:lnSpc>
                          <a:spcPct val="115000"/>
                        </a:lnSpc>
                        <a:spcAft>
                          <a:spcPts val="800"/>
                        </a:spcAft>
                        <a:buNone/>
                      </a:pPr>
                      <a:r>
                        <a:rPr lang="ar-SA" sz="1200" kern="100">
                          <a:effectLst/>
                        </a:rPr>
                        <a:t>تعزيز الكفاءة والإنتاجية</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ctr" rtl="1">
                        <a:lnSpc>
                          <a:spcPct val="115000"/>
                        </a:lnSpc>
                        <a:buNone/>
                      </a:pPr>
                      <a:endParaRPr lang="en-US" sz="1200" kern="100">
                        <a:effectLst/>
                        <a:latin typeface="Aptos" panose="020B0004020202020204" pitchFamily="34" charset="0"/>
                      </a:endParaRPr>
                    </a:p>
                  </a:txBody>
                  <a:tcPr marL="9525" marR="9525" marT="9525" marB="9525" anchor="ctr"/>
                </a:tc>
                <a:tc>
                  <a:txBody>
                    <a:bodyPr/>
                    <a:lstStyle/>
                    <a:p>
                      <a:pPr marL="0" marR="0" algn="ctr" rtl="1">
                        <a:lnSpc>
                          <a:spcPct val="115000"/>
                        </a:lnSpc>
                        <a:spcAft>
                          <a:spcPts val="800"/>
                        </a:spcAft>
                        <a:buNone/>
                      </a:pP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gn="ctr" rtl="1">
                        <a:lnSpc>
                          <a:spcPct val="115000"/>
                        </a:lnSpc>
                        <a:spcAft>
                          <a:spcPts val="800"/>
                        </a:spcAft>
                        <a:buNone/>
                      </a:pP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ctr" rtl="1">
                        <a:lnSpc>
                          <a:spcPct val="115000"/>
                        </a:lnSpc>
                        <a:buNone/>
                      </a:pPr>
                      <a:endParaRPr lang="en-US" sz="1200" kern="100">
                        <a:effectLst/>
                        <a:latin typeface="Aptos" panose="020B0004020202020204" pitchFamily="34" charset="0"/>
                      </a:endParaRPr>
                    </a:p>
                  </a:txBody>
                  <a:tcPr marL="9525" marR="9525" marT="9525" marB="9525" anchor="ctr"/>
                </a:tc>
                <a:tc>
                  <a:txBody>
                    <a:bodyPr/>
                    <a:lstStyle/>
                    <a:p>
                      <a:pPr marL="0" marR="0" algn="ctr" rtl="1">
                        <a:lnSpc>
                          <a:spcPct val="115000"/>
                        </a:lnSpc>
                        <a:spcAft>
                          <a:spcPts val="800"/>
                        </a:spcAft>
                        <a:buNone/>
                      </a:pPr>
                      <a:r>
                        <a:rPr lang="en-US" sz="1200" kern="100">
                          <a:effectLst/>
                        </a:rPr>
                        <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ctr" rtl="1">
                        <a:lnSpc>
                          <a:spcPct val="115000"/>
                        </a:lnSpc>
                        <a:buNone/>
                      </a:pPr>
                      <a:endParaRPr lang="en-US" sz="1200" kern="100" dirty="0">
                        <a:effectLst/>
                        <a:latin typeface="Aptos" panose="020B0004020202020204" pitchFamily="34" charset="0"/>
                      </a:endParaRPr>
                    </a:p>
                  </a:txBody>
                  <a:tcPr marL="9525" marR="9525" marT="9525" marB="9525" anchor="ctr"/>
                </a:tc>
                <a:extLst>
                  <a:ext uri="{0D108BD9-81ED-4DB2-BD59-A6C34878D82A}">
                    <a16:rowId xmlns:a16="http://schemas.microsoft.com/office/drawing/2014/main" val="3520965098"/>
                  </a:ext>
                </a:extLst>
              </a:tr>
            </a:tbl>
          </a:graphicData>
        </a:graphic>
      </p:graphicFrame>
    </p:spTree>
    <p:extLst>
      <p:ext uri="{BB962C8B-B14F-4D97-AF65-F5344CB8AC3E}">
        <p14:creationId xmlns:p14="http://schemas.microsoft.com/office/powerpoint/2010/main" val="1900504246"/>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10</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المدخلات / مصادر البيانات المؤسسية</a:t>
            </a:r>
          </a:p>
        </p:txBody>
      </p:sp>
      <p:grpSp>
        <p:nvGrpSpPr>
          <p:cNvPr id="3" name="Group 2">
            <a:extLst>
              <a:ext uri="{FF2B5EF4-FFF2-40B4-BE49-F238E27FC236}">
                <a16:creationId xmlns:a16="http://schemas.microsoft.com/office/drawing/2014/main" id="{3D6E3B84-0741-3289-D592-E33CED3B2FA0}"/>
              </a:ext>
            </a:extLst>
          </p:cNvPr>
          <p:cNvGrpSpPr/>
          <p:nvPr/>
        </p:nvGrpSpPr>
        <p:grpSpPr>
          <a:xfrm rot="5400000">
            <a:off x="2768260" y="3286936"/>
            <a:ext cx="980217" cy="1039371"/>
            <a:chOff x="10965815" y="2955606"/>
            <a:chExt cx="257812" cy="273370"/>
          </a:xfrm>
          <a:solidFill>
            <a:schemeClr val="bg1">
              <a:lumMod val="95000"/>
            </a:schemeClr>
          </a:solidFill>
        </p:grpSpPr>
        <p:sp>
          <p:nvSpPr>
            <p:cNvPr id="4" name="Chevron 6">
              <a:extLst>
                <a:ext uri="{FF2B5EF4-FFF2-40B4-BE49-F238E27FC236}">
                  <a16:creationId xmlns:a16="http://schemas.microsoft.com/office/drawing/2014/main" id="{17F3A805-AE5A-E81B-0FA0-CB93225AD490}"/>
                </a:ext>
              </a:extLst>
            </p:cNvPr>
            <p:cNvSpPr/>
            <p:nvPr/>
          </p:nvSpPr>
          <p:spPr>
            <a:xfrm rot="5400000">
              <a:off x="11026140" y="2932746"/>
              <a:ext cx="137160" cy="18288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Sakkal Majalla" panose="02000000000000000000" pitchFamily="2" charset="-78"/>
                <a:cs typeface="Sakkal Majalla" panose="02000000000000000000" pitchFamily="2" charset="-78"/>
              </a:endParaRPr>
            </a:p>
          </p:txBody>
        </p:sp>
        <p:sp>
          <p:nvSpPr>
            <p:cNvPr id="5" name="Chevron 7">
              <a:extLst>
                <a:ext uri="{FF2B5EF4-FFF2-40B4-BE49-F238E27FC236}">
                  <a16:creationId xmlns:a16="http://schemas.microsoft.com/office/drawing/2014/main" id="{8F5FA66C-DAC3-E000-2453-4DDA54289A51}"/>
                </a:ext>
              </a:extLst>
            </p:cNvPr>
            <p:cNvSpPr/>
            <p:nvPr/>
          </p:nvSpPr>
          <p:spPr>
            <a:xfrm rot="5400000">
              <a:off x="10998041" y="3003391"/>
              <a:ext cx="193359" cy="257812"/>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Sakkal Majalla" panose="02000000000000000000" pitchFamily="2" charset="-78"/>
                <a:cs typeface="Sakkal Majalla" panose="02000000000000000000" pitchFamily="2" charset="-78"/>
              </a:endParaRPr>
            </a:p>
          </p:txBody>
        </p:sp>
      </p:grpSp>
      <p:sp>
        <p:nvSpPr>
          <p:cNvPr id="6" name="Freeform 8">
            <a:extLst>
              <a:ext uri="{FF2B5EF4-FFF2-40B4-BE49-F238E27FC236}">
                <a16:creationId xmlns:a16="http://schemas.microsoft.com/office/drawing/2014/main" id="{AE09EC45-3CA0-6B9D-EA3B-50FEB61F51B0}"/>
              </a:ext>
            </a:extLst>
          </p:cNvPr>
          <p:cNvSpPr/>
          <p:nvPr/>
        </p:nvSpPr>
        <p:spPr>
          <a:xfrm rot="5400000">
            <a:off x="732415" y="2763636"/>
            <a:ext cx="2085963" cy="2085967"/>
          </a:xfrm>
          <a:custGeom>
            <a:avLst/>
            <a:gdLst>
              <a:gd name="connsiteX0" fmla="*/ 382414 w 548640"/>
              <a:gd name="connsiteY0" fmla="*/ 22272 h 548640"/>
              <a:gd name="connsiteX1" fmla="*/ 427695 w 548640"/>
              <a:gd name="connsiteY1" fmla="*/ 46850 h 548640"/>
              <a:gd name="connsiteX2" fmla="*/ 548640 w 548640"/>
              <a:gd name="connsiteY2" fmla="*/ 274320 h 548640"/>
              <a:gd name="connsiteX3" fmla="*/ 274320 w 548640"/>
              <a:gd name="connsiteY3" fmla="*/ 548640 h 548640"/>
              <a:gd name="connsiteX4" fmla="*/ 0 w 548640"/>
              <a:gd name="connsiteY4" fmla="*/ 274320 h 548640"/>
              <a:gd name="connsiteX5" fmla="*/ 120945 w 548640"/>
              <a:gd name="connsiteY5" fmla="*/ 46850 h 548640"/>
              <a:gd name="connsiteX6" fmla="*/ 166226 w 548640"/>
              <a:gd name="connsiteY6" fmla="*/ 22272 h 548640"/>
              <a:gd name="connsiteX7" fmla="*/ 274320 w 548640"/>
              <a:gd name="connsiteY7" fmla="*/ 103342 h 548640"/>
              <a:gd name="connsiteX8" fmla="*/ 274320 w 548640"/>
              <a:gd name="connsiteY8" fmla="*/ 0 h 548640"/>
              <a:gd name="connsiteX9" fmla="*/ 282151 w 548640"/>
              <a:gd name="connsiteY9" fmla="*/ 790 h 548640"/>
              <a:gd name="connsiteX10" fmla="*/ 274320 w 548640"/>
              <a:gd name="connsiteY10" fmla="*/ 6663 h 548640"/>
              <a:gd name="connsiteX11" fmla="*/ 266489 w 548640"/>
              <a:gd name="connsiteY11" fmla="*/ 790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8640" h="548640">
                <a:moveTo>
                  <a:pt x="382414" y="22272"/>
                </a:moveTo>
                <a:lnTo>
                  <a:pt x="427695" y="46850"/>
                </a:lnTo>
                <a:cubicBezTo>
                  <a:pt x="500665" y="96147"/>
                  <a:pt x="548640" y="179631"/>
                  <a:pt x="548640" y="274320"/>
                </a:cubicBezTo>
                <a:cubicBezTo>
                  <a:pt x="548640" y="425823"/>
                  <a:pt x="425823" y="548640"/>
                  <a:pt x="274320" y="548640"/>
                </a:cubicBezTo>
                <a:cubicBezTo>
                  <a:pt x="122817" y="548640"/>
                  <a:pt x="0" y="425823"/>
                  <a:pt x="0" y="274320"/>
                </a:cubicBezTo>
                <a:cubicBezTo>
                  <a:pt x="0" y="179631"/>
                  <a:pt x="47975" y="96147"/>
                  <a:pt x="120945" y="46850"/>
                </a:cubicBezTo>
                <a:lnTo>
                  <a:pt x="166226" y="22272"/>
                </a:lnTo>
                <a:lnTo>
                  <a:pt x="274320" y="103342"/>
                </a:lnTo>
                <a:close/>
                <a:moveTo>
                  <a:pt x="274320" y="0"/>
                </a:moveTo>
                <a:lnTo>
                  <a:pt x="282151" y="790"/>
                </a:lnTo>
                <a:lnTo>
                  <a:pt x="274320" y="6663"/>
                </a:lnTo>
                <a:lnTo>
                  <a:pt x="266489" y="790"/>
                </a:lnTo>
                <a:close/>
              </a:path>
            </a:pathLst>
          </a:custGeom>
          <a:solidFill>
            <a:schemeClr val="bg1"/>
          </a:solidFill>
          <a:ln>
            <a:noFill/>
          </a:ln>
          <a:effectLst>
            <a:outerShdw blurRad="635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7" name="Freeform 29">
            <a:extLst>
              <a:ext uri="{FF2B5EF4-FFF2-40B4-BE49-F238E27FC236}">
                <a16:creationId xmlns:a16="http://schemas.microsoft.com/office/drawing/2014/main" id="{10720A91-5459-ECA1-4BAF-F016678DFE48}"/>
              </a:ext>
            </a:extLst>
          </p:cNvPr>
          <p:cNvSpPr/>
          <p:nvPr/>
        </p:nvSpPr>
        <p:spPr>
          <a:xfrm rot="5400000">
            <a:off x="6203137" y="-96748"/>
            <a:ext cx="2956566" cy="7806733"/>
          </a:xfrm>
          <a:custGeom>
            <a:avLst/>
            <a:gdLst>
              <a:gd name="connsiteX0" fmla="*/ 0 w 4610105"/>
              <a:gd name="connsiteY0" fmla="*/ 2876551 h 7564293"/>
              <a:gd name="connsiteX1" fmla="*/ 1 w 4610105"/>
              <a:gd name="connsiteY1" fmla="*/ 0 h 7564293"/>
              <a:gd name="connsiteX2" fmla="*/ 4610105 w 4610105"/>
              <a:gd name="connsiteY2" fmla="*/ 0 h 7564293"/>
              <a:gd name="connsiteX3" fmla="*/ 4610105 w 4610105"/>
              <a:gd name="connsiteY3" fmla="*/ 2876551 h 7564293"/>
              <a:gd name="connsiteX4" fmla="*/ 4610104 w 4610105"/>
              <a:gd name="connsiteY4" fmla="*/ 2876551 h 7564293"/>
              <a:gd name="connsiteX5" fmla="*/ 4610103 w 4610105"/>
              <a:gd name="connsiteY5" fmla="*/ 7284716 h 7564293"/>
              <a:gd name="connsiteX6" fmla="*/ 2748254 w 4610105"/>
              <a:gd name="connsiteY6" fmla="*/ 7284716 h 7564293"/>
              <a:gd name="connsiteX7" fmla="*/ 2711030 w 4610105"/>
              <a:gd name="connsiteY7" fmla="*/ 7303772 h 7564293"/>
              <a:gd name="connsiteX8" fmla="*/ 2305054 w 4610105"/>
              <a:gd name="connsiteY8" fmla="*/ 7564293 h 7564293"/>
              <a:gd name="connsiteX9" fmla="*/ 1899077 w 4610105"/>
              <a:gd name="connsiteY9" fmla="*/ 7303772 h 7564293"/>
              <a:gd name="connsiteX10" fmla="*/ 1861854 w 4610105"/>
              <a:gd name="connsiteY10" fmla="*/ 7284716 h 7564293"/>
              <a:gd name="connsiteX11" fmla="*/ 4 w 4610105"/>
              <a:gd name="connsiteY11" fmla="*/ 7284716 h 7564293"/>
              <a:gd name="connsiteX12" fmla="*/ 4 w 4610105"/>
              <a:gd name="connsiteY12" fmla="*/ 2876551 h 75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10105" h="7564293">
                <a:moveTo>
                  <a:pt x="0" y="2876551"/>
                </a:moveTo>
                <a:lnTo>
                  <a:pt x="1" y="0"/>
                </a:lnTo>
                <a:lnTo>
                  <a:pt x="4610105" y="0"/>
                </a:lnTo>
                <a:lnTo>
                  <a:pt x="4610105" y="2876551"/>
                </a:lnTo>
                <a:lnTo>
                  <a:pt x="4610104" y="2876551"/>
                </a:lnTo>
                <a:lnTo>
                  <a:pt x="4610103" y="7284716"/>
                </a:lnTo>
                <a:lnTo>
                  <a:pt x="2748254" y="7284716"/>
                </a:lnTo>
                <a:lnTo>
                  <a:pt x="2711030" y="7303772"/>
                </a:lnTo>
                <a:lnTo>
                  <a:pt x="2305054" y="7564293"/>
                </a:lnTo>
                <a:lnTo>
                  <a:pt x="1899077" y="7303772"/>
                </a:lnTo>
                <a:lnTo>
                  <a:pt x="1861854" y="7284716"/>
                </a:lnTo>
                <a:lnTo>
                  <a:pt x="4" y="7284716"/>
                </a:lnTo>
                <a:lnTo>
                  <a:pt x="4" y="2876551"/>
                </a:lnTo>
                <a:close/>
              </a:path>
            </a:pathLst>
          </a:cu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Sakkal Majalla" panose="02000000000000000000" pitchFamily="2" charset="-78"/>
              <a:cs typeface="Sakkal Majalla" panose="02000000000000000000" pitchFamily="2" charset="-78"/>
            </a:endParaRPr>
          </a:p>
        </p:txBody>
      </p:sp>
      <p:sp>
        <p:nvSpPr>
          <p:cNvPr id="8" name="Oval 7">
            <a:extLst>
              <a:ext uri="{FF2B5EF4-FFF2-40B4-BE49-F238E27FC236}">
                <a16:creationId xmlns:a16="http://schemas.microsoft.com/office/drawing/2014/main" id="{6F6231B1-9805-441F-F026-4ACE48B82B80}"/>
              </a:ext>
            </a:extLst>
          </p:cNvPr>
          <p:cNvSpPr/>
          <p:nvPr/>
        </p:nvSpPr>
        <p:spPr>
          <a:xfrm>
            <a:off x="1005363" y="3108883"/>
            <a:ext cx="1371600" cy="1371600"/>
          </a:xfrm>
          <a:prstGeom prst="ellipse">
            <a:avLst/>
          </a:prstGeom>
          <a:gradFill>
            <a:gsLst>
              <a:gs pos="21000">
                <a:schemeClr val="accent1"/>
              </a:gs>
              <a:gs pos="99000">
                <a:schemeClr val="accent3">
                  <a:lumMod val="25000"/>
                  <a:alpha val="93000"/>
                </a:schemeClr>
              </a:gs>
            </a:gsLst>
            <a:lin ang="6600000" scaled="0"/>
          </a:gradFill>
          <a:ln>
            <a:noFill/>
          </a:ln>
          <a:effectLst>
            <a:outerShdw blurRad="762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ar-SA" sz="2200" b="1" dirty="0">
                <a:solidFill>
                  <a:schemeClr val="bg1"/>
                </a:solidFill>
                <a:latin typeface="Sakkal Majalla" panose="02000000000000000000" pitchFamily="2" charset="-78"/>
                <a:cs typeface="Sakkal Majalla" panose="02000000000000000000" pitchFamily="2" charset="-78"/>
              </a:rPr>
              <a:t>خطة </a:t>
            </a:r>
            <a:r>
              <a:rPr lang="ar-EG" sz="2200" b="1" dirty="0">
                <a:solidFill>
                  <a:schemeClr val="bg1"/>
                </a:solidFill>
                <a:latin typeface="Sakkal Majalla" panose="02000000000000000000" pitchFamily="2" charset="-78"/>
                <a:cs typeface="Sakkal Majalla" panose="02000000000000000000" pitchFamily="2" charset="-78"/>
              </a:rPr>
              <a:t>ال</a:t>
            </a:r>
            <a:r>
              <a:rPr lang="ar-SA" sz="2200" b="1" dirty="0">
                <a:solidFill>
                  <a:schemeClr val="bg1"/>
                </a:solidFill>
                <a:latin typeface="Sakkal Majalla" panose="02000000000000000000" pitchFamily="2" charset="-78"/>
                <a:cs typeface="Sakkal Majalla" panose="02000000000000000000" pitchFamily="2" charset="-78"/>
              </a:rPr>
              <a:t>تدريب </a:t>
            </a:r>
            <a:r>
              <a:rPr lang="ar-EG" sz="2200" b="1" dirty="0">
                <a:solidFill>
                  <a:schemeClr val="bg1"/>
                </a:solidFill>
                <a:latin typeface="Sakkal Majalla" panose="02000000000000000000" pitchFamily="2" charset="-78"/>
                <a:cs typeface="Sakkal Majalla" panose="02000000000000000000" pitchFamily="2" charset="-78"/>
              </a:rPr>
              <a:t>للبنية</a:t>
            </a:r>
            <a:r>
              <a:rPr lang="ar-SA" sz="2200" b="1" dirty="0">
                <a:solidFill>
                  <a:schemeClr val="bg1"/>
                </a:solidFill>
                <a:latin typeface="Sakkal Majalla" panose="02000000000000000000" pitchFamily="2" charset="-78"/>
                <a:cs typeface="Sakkal Majalla" panose="02000000000000000000" pitchFamily="2" charset="-78"/>
              </a:rPr>
              <a:t> المؤسسية</a:t>
            </a:r>
            <a:endParaRPr lang="ar-EG" sz="2200" b="1" dirty="0">
              <a:solidFill>
                <a:schemeClr val="bg1"/>
              </a:solidFill>
              <a:latin typeface="Sakkal Majalla" panose="02000000000000000000" pitchFamily="2" charset="-78"/>
              <a:cs typeface="Sakkal Majalla" panose="02000000000000000000" pitchFamily="2" charset="-78"/>
            </a:endParaRPr>
          </a:p>
        </p:txBody>
      </p:sp>
      <p:grpSp>
        <p:nvGrpSpPr>
          <p:cNvPr id="9" name="Group 8">
            <a:extLst>
              <a:ext uri="{FF2B5EF4-FFF2-40B4-BE49-F238E27FC236}">
                <a16:creationId xmlns:a16="http://schemas.microsoft.com/office/drawing/2014/main" id="{343764A5-3059-EE89-FE5D-B1C7F3FEE589}"/>
              </a:ext>
            </a:extLst>
          </p:cNvPr>
          <p:cNvGrpSpPr/>
          <p:nvPr/>
        </p:nvGrpSpPr>
        <p:grpSpPr>
          <a:xfrm>
            <a:off x="7499387" y="3429000"/>
            <a:ext cx="685800" cy="685800"/>
            <a:chOff x="7451504" y="3371849"/>
            <a:chExt cx="685800" cy="685800"/>
          </a:xfrm>
        </p:grpSpPr>
        <p:sp>
          <p:nvSpPr>
            <p:cNvPr id="10" name="Rectangle 9">
              <a:extLst>
                <a:ext uri="{FF2B5EF4-FFF2-40B4-BE49-F238E27FC236}">
                  <a16:creationId xmlns:a16="http://schemas.microsoft.com/office/drawing/2014/main" id="{6D5B2A54-B59E-06BA-56B3-21955A2B5554}"/>
                </a:ext>
              </a:extLst>
            </p:cNvPr>
            <p:cNvSpPr/>
            <p:nvPr/>
          </p:nvSpPr>
          <p:spPr>
            <a:xfrm>
              <a:off x="7689248" y="3371849"/>
              <a:ext cx="210312" cy="685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11" name="Rectangle 10">
              <a:extLst>
                <a:ext uri="{FF2B5EF4-FFF2-40B4-BE49-F238E27FC236}">
                  <a16:creationId xmlns:a16="http://schemas.microsoft.com/office/drawing/2014/main" id="{BB201D89-662B-F01B-DCE2-7541173E7847}"/>
                </a:ext>
              </a:extLst>
            </p:cNvPr>
            <p:cNvSpPr/>
            <p:nvPr/>
          </p:nvSpPr>
          <p:spPr>
            <a:xfrm rot="16200000">
              <a:off x="7689628" y="3371849"/>
              <a:ext cx="209552" cy="685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grpSp>
      <p:sp>
        <p:nvSpPr>
          <p:cNvPr id="13" name="Oval 17">
            <a:extLst>
              <a:ext uri="{FF2B5EF4-FFF2-40B4-BE49-F238E27FC236}">
                <a16:creationId xmlns:a16="http://schemas.microsoft.com/office/drawing/2014/main" id="{0DDF7EDB-A363-D044-02F2-6894DDC829F9}"/>
              </a:ext>
            </a:extLst>
          </p:cNvPr>
          <p:cNvSpPr/>
          <p:nvPr/>
        </p:nvSpPr>
        <p:spPr>
          <a:xfrm>
            <a:off x="8328528" y="3171630"/>
            <a:ext cx="3099175" cy="1269976"/>
          </a:xfrm>
          <a:prstGeom prst="rect">
            <a:avLst/>
          </a:prstGeom>
          <a:gradFill>
            <a:gsLst>
              <a:gs pos="21000">
                <a:schemeClr val="accent1"/>
              </a:gs>
              <a:gs pos="99000">
                <a:schemeClr val="accent3">
                  <a:lumMod val="25000"/>
                  <a:alpha val="93000"/>
                </a:schemeClr>
              </a:gs>
            </a:gsLst>
            <a:lin ang="6600000" scaled="0"/>
          </a:gradFill>
          <a:ln>
            <a:noFill/>
          </a:ln>
          <a:effectLst>
            <a:outerShdw blurRad="762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rIns="91440" rtlCol="0" anchor="t"/>
          <a:lstStyle/>
          <a:p>
            <a:pPr algn="ctr">
              <a:lnSpc>
                <a:spcPct val="150000"/>
              </a:lnSpc>
            </a:pPr>
            <a:r>
              <a:rPr lang="ar-SA" sz="2400" b="1" dirty="0">
                <a:solidFill>
                  <a:schemeClr val="bg1"/>
                </a:solidFill>
                <a:latin typeface="Sakkal Majalla" panose="02000000000000000000" pitchFamily="2" charset="-78"/>
                <a:cs typeface="Sakkal Majalla" panose="02000000000000000000" pitchFamily="2" charset="-78"/>
              </a:rPr>
              <a:t>استراتيجية البنية المؤسسية</a:t>
            </a:r>
            <a:endParaRPr lang="ar-EG" sz="2400" b="1" dirty="0">
              <a:solidFill>
                <a:schemeClr val="bg1"/>
              </a:solidFill>
              <a:latin typeface="Sakkal Majalla" panose="02000000000000000000" pitchFamily="2" charset="-78"/>
              <a:cs typeface="Sakkal Majalla" panose="02000000000000000000" pitchFamily="2" charset="-78"/>
            </a:endParaRPr>
          </a:p>
          <a:p>
            <a:pPr algn="ctr">
              <a:lnSpc>
                <a:spcPct val="150000"/>
              </a:lnSpc>
            </a:pPr>
            <a:r>
              <a:rPr lang="ar-EG" sz="1600" dirty="0">
                <a:solidFill>
                  <a:schemeClr val="bg1"/>
                </a:solidFill>
                <a:latin typeface="Sakkal Majalla" panose="02000000000000000000" pitchFamily="2" charset="-78"/>
                <a:cs typeface="Sakkal Majalla" panose="02000000000000000000" pitchFamily="2" charset="-78"/>
              </a:rPr>
              <a:t>(</a:t>
            </a:r>
            <a:r>
              <a:rPr lang="ar-SA" sz="1600" dirty="0">
                <a:solidFill>
                  <a:schemeClr val="bg1"/>
                </a:solidFill>
                <a:latin typeface="Sakkal Majalla" panose="02000000000000000000" pitchFamily="2" charset="-78"/>
                <a:cs typeface="Sakkal Majalla" panose="02000000000000000000" pitchFamily="2" charset="-78"/>
              </a:rPr>
              <a:t>لتحديد التوجهات الاستراتيجية</a:t>
            </a:r>
            <a:r>
              <a:rPr lang="ar-EG" sz="1600" dirty="0">
                <a:solidFill>
                  <a:schemeClr val="bg1"/>
                </a:solidFill>
                <a:latin typeface="Sakkal Majalla" panose="02000000000000000000" pitchFamily="2" charset="-78"/>
                <a:cs typeface="Sakkal Majalla" panose="02000000000000000000" pitchFamily="2" charset="-78"/>
              </a:rPr>
              <a:t>)</a:t>
            </a:r>
          </a:p>
        </p:txBody>
      </p:sp>
      <p:sp>
        <p:nvSpPr>
          <p:cNvPr id="17" name="Content Placeholder 7">
            <a:extLst>
              <a:ext uri="{FF2B5EF4-FFF2-40B4-BE49-F238E27FC236}">
                <a16:creationId xmlns:a16="http://schemas.microsoft.com/office/drawing/2014/main" id="{0A12B160-96FF-BF99-8FF2-B4199D758945}"/>
              </a:ext>
            </a:extLst>
          </p:cNvPr>
          <p:cNvSpPr txBox="1">
            <a:spLocks/>
          </p:cNvSpPr>
          <p:nvPr/>
        </p:nvSpPr>
        <p:spPr>
          <a:xfrm>
            <a:off x="1045229" y="1133841"/>
            <a:ext cx="10539556" cy="397369"/>
          </a:xfrm>
          <a:prstGeom prst="rect">
            <a:avLst/>
          </a:prstGeom>
        </p:spPr>
        <p:txBody>
          <a:bodyPr vert="horz" lIns="91440" tIns="45720" rIns="91440" bIns="45720" rtlCol="0" anchor="ctr" anchorCtr="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lang="en-US" sz="2000" kern="1200" dirty="0">
                <a:solidFill>
                  <a:schemeClr val="accent3"/>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lang="en-US" sz="1800" kern="1200" dirty="0">
                <a:solidFill>
                  <a:schemeClr val="accent3"/>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lang="en-US" sz="1600" kern="1200" dirty="0">
                <a:solidFill>
                  <a:schemeClr val="accent3"/>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lang="en-US" sz="1400" kern="1200" dirty="0">
                <a:solidFill>
                  <a:schemeClr val="accent3"/>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lang="en-US" sz="1400" kern="1200" dirty="0">
                <a:solidFill>
                  <a:schemeClr val="accent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0"/>
              </a:spcAft>
            </a:pPr>
            <a:r>
              <a:rPr lang="ar-SA" dirty="0">
                <a:solidFill>
                  <a:schemeClr val="tx1">
                    <a:lumMod val="85000"/>
                    <a:lumOff val="15000"/>
                  </a:schemeClr>
                </a:solidFill>
                <a:latin typeface="Sakkal Majalla" panose="02000000000000000000" pitchFamily="2" charset="-78"/>
                <a:cs typeface="Sakkal Majalla" panose="02000000000000000000" pitchFamily="2" charset="-78"/>
              </a:rPr>
              <a:t>تم أخذ المدخلات الرئيسية التالية في الاعتبار عند بناء خطة التدريب للبنية المؤسسية: </a:t>
            </a:r>
          </a:p>
        </p:txBody>
      </p:sp>
      <p:grpSp>
        <p:nvGrpSpPr>
          <p:cNvPr id="18" name="Group 17">
            <a:extLst>
              <a:ext uri="{FF2B5EF4-FFF2-40B4-BE49-F238E27FC236}">
                <a16:creationId xmlns:a16="http://schemas.microsoft.com/office/drawing/2014/main" id="{3095BC85-7ABC-8471-59CC-1DF3B83EB33D}"/>
              </a:ext>
            </a:extLst>
          </p:cNvPr>
          <p:cNvGrpSpPr/>
          <p:nvPr/>
        </p:nvGrpSpPr>
        <p:grpSpPr>
          <a:xfrm>
            <a:off x="3374313" y="3674977"/>
            <a:ext cx="108266" cy="263419"/>
            <a:chOff x="3480100" y="3704298"/>
            <a:chExt cx="108266" cy="263419"/>
          </a:xfrm>
        </p:grpSpPr>
        <p:cxnSp>
          <p:nvCxnSpPr>
            <p:cNvPr id="19" name="Straight Connector 18">
              <a:extLst>
                <a:ext uri="{FF2B5EF4-FFF2-40B4-BE49-F238E27FC236}">
                  <a16:creationId xmlns:a16="http://schemas.microsoft.com/office/drawing/2014/main" id="{D6D89E5C-5915-464E-38C0-18A62DF84095}"/>
                </a:ext>
              </a:extLst>
            </p:cNvPr>
            <p:cNvCxnSpPr/>
            <p:nvPr/>
          </p:nvCxnSpPr>
          <p:spPr>
            <a:xfrm flipH="1">
              <a:off x="3480100" y="3704298"/>
              <a:ext cx="108266" cy="148432"/>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9F4A299-BA81-22DB-1FDB-99F826A4298F}"/>
                </a:ext>
              </a:extLst>
            </p:cNvPr>
            <p:cNvCxnSpPr/>
            <p:nvPr/>
          </p:nvCxnSpPr>
          <p:spPr>
            <a:xfrm>
              <a:off x="3486116" y="3852730"/>
              <a:ext cx="91071" cy="114987"/>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4E3CFBC1-9A90-490A-0646-2ADECF07B879}"/>
              </a:ext>
            </a:extLst>
          </p:cNvPr>
          <p:cNvGrpSpPr/>
          <p:nvPr/>
        </p:nvGrpSpPr>
        <p:grpSpPr>
          <a:xfrm>
            <a:off x="2923933" y="3674977"/>
            <a:ext cx="108266" cy="263419"/>
            <a:chOff x="3480100" y="3704298"/>
            <a:chExt cx="108266" cy="263419"/>
          </a:xfrm>
        </p:grpSpPr>
        <p:cxnSp>
          <p:nvCxnSpPr>
            <p:cNvPr id="22" name="Straight Connector 21">
              <a:extLst>
                <a:ext uri="{FF2B5EF4-FFF2-40B4-BE49-F238E27FC236}">
                  <a16:creationId xmlns:a16="http://schemas.microsoft.com/office/drawing/2014/main" id="{E640B25A-5A5E-FA48-C25C-D84446EB7D81}"/>
                </a:ext>
              </a:extLst>
            </p:cNvPr>
            <p:cNvCxnSpPr/>
            <p:nvPr/>
          </p:nvCxnSpPr>
          <p:spPr>
            <a:xfrm flipH="1">
              <a:off x="3480100" y="3704298"/>
              <a:ext cx="108266" cy="148432"/>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F6D6243-94DA-482C-875D-CCCCBD5FE4F3}"/>
                </a:ext>
              </a:extLst>
            </p:cNvPr>
            <p:cNvCxnSpPr/>
            <p:nvPr/>
          </p:nvCxnSpPr>
          <p:spPr>
            <a:xfrm>
              <a:off x="3486116" y="3852730"/>
              <a:ext cx="91071" cy="114987"/>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sp>
        <p:nvSpPr>
          <p:cNvPr id="24" name="Oval 17">
            <a:extLst>
              <a:ext uri="{FF2B5EF4-FFF2-40B4-BE49-F238E27FC236}">
                <a16:creationId xmlns:a16="http://schemas.microsoft.com/office/drawing/2014/main" id="{D665307E-A8DC-43D1-BF5E-AD912AB18F7C}"/>
              </a:ext>
            </a:extLst>
          </p:cNvPr>
          <p:cNvSpPr/>
          <p:nvPr/>
        </p:nvSpPr>
        <p:spPr>
          <a:xfrm>
            <a:off x="4239344" y="3188421"/>
            <a:ext cx="3099175" cy="1269976"/>
          </a:xfrm>
          <a:prstGeom prst="rect">
            <a:avLst/>
          </a:prstGeom>
          <a:gradFill>
            <a:gsLst>
              <a:gs pos="21000">
                <a:schemeClr val="accent1"/>
              </a:gs>
              <a:gs pos="99000">
                <a:schemeClr val="accent3">
                  <a:lumMod val="25000"/>
                  <a:alpha val="93000"/>
                </a:schemeClr>
              </a:gs>
            </a:gsLst>
            <a:lin ang="6600000" scaled="0"/>
          </a:gradFill>
          <a:ln>
            <a:noFill/>
          </a:ln>
          <a:effectLst>
            <a:outerShdw blurRad="762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rIns="91440" rtlCol="0" anchor="t"/>
          <a:lstStyle/>
          <a:p>
            <a:pPr algn="ctr">
              <a:lnSpc>
                <a:spcPct val="150000"/>
              </a:lnSpc>
            </a:pPr>
            <a:r>
              <a:rPr lang="ar-SA" sz="2400" b="1" dirty="0">
                <a:solidFill>
                  <a:schemeClr val="bg1"/>
                </a:solidFill>
                <a:latin typeface="Sakkal Majalla" panose="02000000000000000000" pitchFamily="2" charset="-78"/>
                <a:cs typeface="Sakkal Majalla" panose="02000000000000000000" pitchFamily="2" charset="-78"/>
              </a:rPr>
              <a:t>النموذج التشغيلي للممارسة</a:t>
            </a:r>
            <a:endParaRPr lang="ar-EG" sz="2400" b="1" dirty="0">
              <a:solidFill>
                <a:schemeClr val="bg1"/>
              </a:solidFill>
              <a:latin typeface="Sakkal Majalla" panose="02000000000000000000" pitchFamily="2" charset="-78"/>
              <a:cs typeface="Sakkal Majalla" panose="02000000000000000000" pitchFamily="2" charset="-78"/>
            </a:endParaRPr>
          </a:p>
          <a:p>
            <a:pPr algn="ctr">
              <a:lnSpc>
                <a:spcPct val="150000"/>
              </a:lnSpc>
            </a:pPr>
            <a:r>
              <a:rPr lang="ar-EG" sz="1600" dirty="0">
                <a:solidFill>
                  <a:schemeClr val="bg1"/>
                </a:solidFill>
                <a:latin typeface="Sakkal Majalla" panose="02000000000000000000" pitchFamily="2" charset="-78"/>
                <a:cs typeface="Sakkal Majalla" panose="02000000000000000000" pitchFamily="2" charset="-78"/>
              </a:rPr>
              <a:t>(</a:t>
            </a:r>
            <a:r>
              <a:rPr lang="ar-SA" sz="1600" dirty="0">
                <a:solidFill>
                  <a:schemeClr val="bg1"/>
                </a:solidFill>
                <a:latin typeface="Sakkal Majalla" panose="02000000000000000000" pitchFamily="2" charset="-78"/>
                <a:cs typeface="Sakkal Majalla" panose="02000000000000000000" pitchFamily="2" charset="-78"/>
              </a:rPr>
              <a:t>الهيكل التنظيمي + مهام البنية المؤسسية</a:t>
            </a:r>
            <a:r>
              <a:rPr lang="ar-EG" sz="1600" dirty="0">
                <a:solidFill>
                  <a:schemeClr val="bg1"/>
                </a:solidFill>
                <a:latin typeface="Sakkal Majalla" panose="02000000000000000000" pitchFamily="2" charset="-78"/>
                <a:cs typeface="Sakkal Majalla" panose="02000000000000000000" pitchFamily="2" charset="-78"/>
              </a:rPr>
              <a:t>)</a:t>
            </a:r>
          </a:p>
        </p:txBody>
      </p:sp>
    </p:spTree>
    <p:extLst>
      <p:ext uri="{BB962C8B-B14F-4D97-AF65-F5344CB8AC3E}">
        <p14:creationId xmlns:p14="http://schemas.microsoft.com/office/powerpoint/2010/main" val="263015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038165" y="3925452"/>
            <a:ext cx="6506136" cy="641639"/>
          </a:xfrm>
        </p:spPr>
        <p:txBody>
          <a:bodyPr/>
          <a:lstStyle/>
          <a:p>
            <a:r>
              <a:rPr lang="ar-EG" dirty="0"/>
              <a:t>تحليل فجوات المهارات المرتبطة بممارسة البنية المؤسسية</a:t>
            </a:r>
          </a:p>
        </p:txBody>
      </p:sp>
      <p:sp>
        <p:nvSpPr>
          <p:cNvPr id="4" name="Text Placeholder 3"/>
          <p:cNvSpPr>
            <a:spLocks noGrp="1"/>
          </p:cNvSpPr>
          <p:nvPr>
            <p:ph type="body" sz="quarter" idx="14"/>
          </p:nvPr>
        </p:nvSpPr>
        <p:spPr/>
        <p:txBody>
          <a:bodyPr/>
          <a:lstStyle/>
          <a:p>
            <a:r>
              <a:rPr lang="ar-SA" dirty="0"/>
              <a:t>02</a:t>
            </a:r>
            <a:endParaRPr lang="en-US" dirty="0"/>
          </a:p>
        </p:txBody>
      </p:sp>
    </p:spTree>
    <p:extLst>
      <p:ext uri="{BB962C8B-B14F-4D97-AF65-F5344CB8AC3E}">
        <p14:creationId xmlns:p14="http://schemas.microsoft.com/office/powerpoint/2010/main" val="2682722876"/>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12</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مقدمة عن تحليل فجوات المهارات المرتبطة بممارسة البنية المؤسسية</a:t>
            </a:r>
            <a:endParaRPr lang="en-US" dirty="0"/>
          </a:p>
        </p:txBody>
      </p:sp>
      <p:grpSp>
        <p:nvGrpSpPr>
          <p:cNvPr id="4" name="Group 3">
            <a:extLst>
              <a:ext uri="{FF2B5EF4-FFF2-40B4-BE49-F238E27FC236}">
                <a16:creationId xmlns:a16="http://schemas.microsoft.com/office/drawing/2014/main" id="{C0ED42F9-75ED-7429-60CF-A63A369B97F1}"/>
              </a:ext>
            </a:extLst>
          </p:cNvPr>
          <p:cNvGrpSpPr/>
          <p:nvPr/>
        </p:nvGrpSpPr>
        <p:grpSpPr>
          <a:xfrm flipH="1">
            <a:off x="9736652" y="2512210"/>
            <a:ext cx="1588573" cy="1483303"/>
            <a:chOff x="1037897" y="2843466"/>
            <a:chExt cx="1588573" cy="1483303"/>
          </a:xfrm>
          <a:solidFill>
            <a:srgbClr val="4C3C8D"/>
          </a:solidFill>
        </p:grpSpPr>
        <p:grpSp>
          <p:nvGrpSpPr>
            <p:cNvPr id="5" name="Group 4">
              <a:extLst>
                <a:ext uri="{FF2B5EF4-FFF2-40B4-BE49-F238E27FC236}">
                  <a16:creationId xmlns:a16="http://schemas.microsoft.com/office/drawing/2014/main" id="{262E59DC-DD94-F8E6-222D-CFB33E8AA08E}"/>
                </a:ext>
              </a:extLst>
            </p:cNvPr>
            <p:cNvGrpSpPr/>
            <p:nvPr/>
          </p:nvGrpSpPr>
          <p:grpSpPr>
            <a:xfrm flipH="1">
              <a:off x="1037897" y="2843466"/>
              <a:ext cx="1588573" cy="1483303"/>
              <a:chOff x="9736652" y="2841229"/>
              <a:chExt cx="1588573" cy="1483303"/>
            </a:xfrm>
            <a:grpFill/>
          </p:grpSpPr>
          <p:sp>
            <p:nvSpPr>
              <p:cNvPr id="7" name="Freeform 6">
                <a:extLst>
                  <a:ext uri="{FF2B5EF4-FFF2-40B4-BE49-F238E27FC236}">
                    <a16:creationId xmlns:a16="http://schemas.microsoft.com/office/drawing/2014/main" id="{691F9956-3AC2-54CC-6179-688BC7747CD0}"/>
                  </a:ext>
                </a:extLst>
              </p:cNvPr>
              <p:cNvSpPr>
                <a:spLocks/>
              </p:cNvSpPr>
              <p:nvPr/>
            </p:nvSpPr>
            <p:spPr bwMode="auto">
              <a:xfrm>
                <a:off x="9736652" y="2841229"/>
                <a:ext cx="1256429" cy="1483303"/>
              </a:xfrm>
              <a:custGeom>
                <a:avLst/>
                <a:gdLst>
                  <a:gd name="T0" fmla="*/ 632 w 7475"/>
                  <a:gd name="T1" fmla="*/ 103 h 8831"/>
                  <a:gd name="T2" fmla="*/ 298 w 7475"/>
                  <a:gd name="T3" fmla="*/ 352 h 8831"/>
                  <a:gd name="T4" fmla="*/ 72 w 7475"/>
                  <a:gd name="T5" fmla="*/ 707 h 8831"/>
                  <a:gd name="T6" fmla="*/ 0 w 7475"/>
                  <a:gd name="T7" fmla="*/ 4422 h 8831"/>
                  <a:gd name="T8" fmla="*/ 73 w 7475"/>
                  <a:gd name="T9" fmla="*/ 8125 h 8831"/>
                  <a:gd name="T10" fmla="*/ 305 w 7475"/>
                  <a:gd name="T11" fmla="*/ 8483 h 8831"/>
                  <a:gd name="T12" fmla="*/ 639 w 7475"/>
                  <a:gd name="T13" fmla="*/ 8727 h 8831"/>
                  <a:gd name="T14" fmla="*/ 858 w 7475"/>
                  <a:gd name="T15" fmla="*/ 8803 h 8831"/>
                  <a:gd name="T16" fmla="*/ 2039 w 7475"/>
                  <a:gd name="T17" fmla="*/ 8831 h 8831"/>
                  <a:gd name="T18" fmla="*/ 5788 w 7475"/>
                  <a:gd name="T19" fmla="*/ 8829 h 8831"/>
                  <a:gd name="T20" fmla="*/ 6608 w 7475"/>
                  <a:gd name="T21" fmla="*/ 8801 h 8831"/>
                  <a:gd name="T22" fmla="*/ 6807 w 7475"/>
                  <a:gd name="T23" fmla="*/ 8736 h 8831"/>
                  <a:gd name="T24" fmla="*/ 7010 w 7475"/>
                  <a:gd name="T25" fmla="*/ 8620 h 8831"/>
                  <a:gd name="T26" fmla="*/ 7265 w 7475"/>
                  <a:gd name="T27" fmla="*/ 8369 h 8831"/>
                  <a:gd name="T28" fmla="*/ 7426 w 7475"/>
                  <a:gd name="T29" fmla="*/ 8047 h 8831"/>
                  <a:gd name="T30" fmla="*/ 7466 w 7475"/>
                  <a:gd name="T31" fmla="*/ 7857 h 8831"/>
                  <a:gd name="T32" fmla="*/ 7475 w 7475"/>
                  <a:gd name="T33" fmla="*/ 6849 h 8831"/>
                  <a:gd name="T34" fmla="*/ 7153 w 7475"/>
                  <a:gd name="T35" fmla="*/ 6842 h 8831"/>
                  <a:gd name="T36" fmla="*/ 7131 w 7475"/>
                  <a:gd name="T37" fmla="*/ 6930 h 8831"/>
                  <a:gd name="T38" fmla="*/ 7125 w 7475"/>
                  <a:gd name="T39" fmla="*/ 7509 h 8831"/>
                  <a:gd name="T40" fmla="*/ 7101 w 7475"/>
                  <a:gd name="T41" fmla="*/ 7917 h 8831"/>
                  <a:gd name="T42" fmla="*/ 7033 w 7475"/>
                  <a:gd name="T43" fmla="*/ 8084 h 8831"/>
                  <a:gd name="T44" fmla="*/ 6859 w 7475"/>
                  <a:gd name="T45" fmla="*/ 8301 h 8831"/>
                  <a:gd name="T46" fmla="*/ 6621 w 7475"/>
                  <a:gd name="T47" fmla="*/ 8440 h 8831"/>
                  <a:gd name="T48" fmla="*/ 6496 w 7475"/>
                  <a:gd name="T49" fmla="*/ 8466 h 8831"/>
                  <a:gd name="T50" fmla="*/ 3699 w 7475"/>
                  <a:gd name="T51" fmla="*/ 8477 h 8831"/>
                  <a:gd name="T52" fmla="*/ 744 w 7475"/>
                  <a:gd name="T53" fmla="*/ 8388 h 8831"/>
                  <a:gd name="T54" fmla="*/ 536 w 7475"/>
                  <a:gd name="T55" fmla="*/ 8219 h 8831"/>
                  <a:gd name="T56" fmla="*/ 399 w 7475"/>
                  <a:gd name="T57" fmla="*/ 7995 h 8831"/>
                  <a:gd name="T58" fmla="*/ 356 w 7475"/>
                  <a:gd name="T59" fmla="*/ 7814 h 8831"/>
                  <a:gd name="T60" fmla="*/ 342 w 7475"/>
                  <a:gd name="T61" fmla="*/ 4409 h 8831"/>
                  <a:gd name="T62" fmla="*/ 357 w 7475"/>
                  <a:gd name="T63" fmla="*/ 1032 h 8831"/>
                  <a:gd name="T64" fmla="*/ 374 w 7475"/>
                  <a:gd name="T65" fmla="*/ 903 h 8831"/>
                  <a:gd name="T66" fmla="*/ 488 w 7475"/>
                  <a:gd name="T67" fmla="*/ 663 h 8831"/>
                  <a:gd name="T68" fmla="*/ 750 w 7475"/>
                  <a:gd name="T69" fmla="*/ 436 h 8831"/>
                  <a:gd name="T70" fmla="*/ 1042 w 7475"/>
                  <a:gd name="T71" fmla="*/ 347 h 8831"/>
                  <a:gd name="T72" fmla="*/ 2627 w 7475"/>
                  <a:gd name="T73" fmla="*/ 333 h 8831"/>
                  <a:gd name="T74" fmla="*/ 6587 w 7475"/>
                  <a:gd name="T75" fmla="*/ 374 h 8831"/>
                  <a:gd name="T76" fmla="*/ 6804 w 7475"/>
                  <a:gd name="T77" fmla="*/ 484 h 8831"/>
                  <a:gd name="T78" fmla="*/ 7000 w 7475"/>
                  <a:gd name="T79" fmla="*/ 684 h 8831"/>
                  <a:gd name="T80" fmla="*/ 7099 w 7475"/>
                  <a:gd name="T81" fmla="*/ 896 h 8831"/>
                  <a:gd name="T82" fmla="*/ 7125 w 7475"/>
                  <a:gd name="T83" fmla="*/ 1191 h 8831"/>
                  <a:gd name="T84" fmla="*/ 7129 w 7475"/>
                  <a:gd name="T85" fmla="*/ 1839 h 8831"/>
                  <a:gd name="T86" fmla="*/ 7240 w 7475"/>
                  <a:gd name="T87" fmla="*/ 1869 h 8831"/>
                  <a:gd name="T88" fmla="*/ 7475 w 7475"/>
                  <a:gd name="T89" fmla="*/ 1416 h 8831"/>
                  <a:gd name="T90" fmla="*/ 7461 w 7475"/>
                  <a:gd name="T91" fmla="*/ 949 h 8831"/>
                  <a:gd name="T92" fmla="*/ 7409 w 7475"/>
                  <a:gd name="T93" fmla="*/ 723 h 8831"/>
                  <a:gd name="T94" fmla="*/ 7336 w 7475"/>
                  <a:gd name="T95" fmla="*/ 569 h 8831"/>
                  <a:gd name="T96" fmla="*/ 7142 w 7475"/>
                  <a:gd name="T97" fmla="*/ 313 h 8831"/>
                  <a:gd name="T98" fmla="*/ 6880 w 7475"/>
                  <a:gd name="T99" fmla="*/ 124 h 8831"/>
                  <a:gd name="T100" fmla="*/ 6600 w 7475"/>
                  <a:gd name="T101" fmla="*/ 6 h 8831"/>
                  <a:gd name="T102" fmla="*/ 1076 w 7475"/>
                  <a:gd name="T103" fmla="*/ 7 h 8831"/>
                  <a:gd name="T104" fmla="*/ 829 w 7475"/>
                  <a:gd name="T105" fmla="*/ 31 h 8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475" h="8831">
                    <a:moveTo>
                      <a:pt x="829" y="31"/>
                    </a:moveTo>
                    <a:lnTo>
                      <a:pt x="761" y="50"/>
                    </a:lnTo>
                    <a:lnTo>
                      <a:pt x="632" y="103"/>
                    </a:lnTo>
                    <a:lnTo>
                      <a:pt x="511" y="172"/>
                    </a:lnTo>
                    <a:lnTo>
                      <a:pt x="399" y="255"/>
                    </a:lnTo>
                    <a:lnTo>
                      <a:pt x="298" y="352"/>
                    </a:lnTo>
                    <a:lnTo>
                      <a:pt x="209" y="460"/>
                    </a:lnTo>
                    <a:lnTo>
                      <a:pt x="133" y="579"/>
                    </a:lnTo>
                    <a:lnTo>
                      <a:pt x="72" y="707"/>
                    </a:lnTo>
                    <a:lnTo>
                      <a:pt x="49" y="774"/>
                    </a:lnTo>
                    <a:lnTo>
                      <a:pt x="0" y="922"/>
                    </a:lnTo>
                    <a:lnTo>
                      <a:pt x="0" y="4422"/>
                    </a:lnTo>
                    <a:lnTo>
                      <a:pt x="0" y="7922"/>
                    </a:lnTo>
                    <a:lnTo>
                      <a:pt x="47" y="8056"/>
                    </a:lnTo>
                    <a:lnTo>
                      <a:pt x="73" y="8125"/>
                    </a:lnTo>
                    <a:lnTo>
                      <a:pt x="137" y="8255"/>
                    </a:lnTo>
                    <a:lnTo>
                      <a:pt x="215" y="8374"/>
                    </a:lnTo>
                    <a:lnTo>
                      <a:pt x="305" y="8483"/>
                    </a:lnTo>
                    <a:lnTo>
                      <a:pt x="407" y="8578"/>
                    </a:lnTo>
                    <a:lnTo>
                      <a:pt x="518" y="8660"/>
                    </a:lnTo>
                    <a:lnTo>
                      <a:pt x="639" y="8727"/>
                    </a:lnTo>
                    <a:lnTo>
                      <a:pt x="768" y="8779"/>
                    </a:lnTo>
                    <a:lnTo>
                      <a:pt x="835" y="8797"/>
                    </a:lnTo>
                    <a:lnTo>
                      <a:pt x="858" y="8803"/>
                    </a:lnTo>
                    <a:lnTo>
                      <a:pt x="916" y="8813"/>
                    </a:lnTo>
                    <a:lnTo>
                      <a:pt x="1080" y="8823"/>
                    </a:lnTo>
                    <a:lnTo>
                      <a:pt x="2039" y="8831"/>
                    </a:lnTo>
                    <a:lnTo>
                      <a:pt x="3740" y="8831"/>
                    </a:lnTo>
                    <a:lnTo>
                      <a:pt x="4795" y="8831"/>
                    </a:lnTo>
                    <a:lnTo>
                      <a:pt x="5788" y="8829"/>
                    </a:lnTo>
                    <a:lnTo>
                      <a:pt x="6213" y="8824"/>
                    </a:lnTo>
                    <a:lnTo>
                      <a:pt x="6483" y="8814"/>
                    </a:lnTo>
                    <a:lnTo>
                      <a:pt x="6608" y="8801"/>
                    </a:lnTo>
                    <a:lnTo>
                      <a:pt x="6668" y="8791"/>
                    </a:lnTo>
                    <a:lnTo>
                      <a:pt x="6735" y="8772"/>
                    </a:lnTo>
                    <a:lnTo>
                      <a:pt x="6807" y="8736"/>
                    </a:lnTo>
                    <a:lnTo>
                      <a:pt x="6850" y="8714"/>
                    </a:lnTo>
                    <a:lnTo>
                      <a:pt x="6906" y="8686"/>
                    </a:lnTo>
                    <a:lnTo>
                      <a:pt x="7010" y="8620"/>
                    </a:lnTo>
                    <a:lnTo>
                      <a:pt x="7104" y="8546"/>
                    </a:lnTo>
                    <a:lnTo>
                      <a:pt x="7190" y="8462"/>
                    </a:lnTo>
                    <a:lnTo>
                      <a:pt x="7265" y="8369"/>
                    </a:lnTo>
                    <a:lnTo>
                      <a:pt x="7329" y="8269"/>
                    </a:lnTo>
                    <a:lnTo>
                      <a:pt x="7383" y="8162"/>
                    </a:lnTo>
                    <a:lnTo>
                      <a:pt x="7426" y="8047"/>
                    </a:lnTo>
                    <a:lnTo>
                      <a:pt x="7442" y="7987"/>
                    </a:lnTo>
                    <a:lnTo>
                      <a:pt x="7452" y="7946"/>
                    </a:lnTo>
                    <a:lnTo>
                      <a:pt x="7466" y="7857"/>
                    </a:lnTo>
                    <a:lnTo>
                      <a:pt x="7475" y="7643"/>
                    </a:lnTo>
                    <a:lnTo>
                      <a:pt x="7475" y="7354"/>
                    </a:lnTo>
                    <a:lnTo>
                      <a:pt x="7475" y="6849"/>
                    </a:lnTo>
                    <a:lnTo>
                      <a:pt x="7314" y="6844"/>
                    </a:lnTo>
                    <a:lnTo>
                      <a:pt x="7248" y="6842"/>
                    </a:lnTo>
                    <a:lnTo>
                      <a:pt x="7153" y="6842"/>
                    </a:lnTo>
                    <a:lnTo>
                      <a:pt x="7139" y="6844"/>
                    </a:lnTo>
                    <a:lnTo>
                      <a:pt x="7136" y="6852"/>
                    </a:lnTo>
                    <a:lnTo>
                      <a:pt x="7131" y="6930"/>
                    </a:lnTo>
                    <a:lnTo>
                      <a:pt x="7126" y="7149"/>
                    </a:lnTo>
                    <a:lnTo>
                      <a:pt x="7125" y="7349"/>
                    </a:lnTo>
                    <a:lnTo>
                      <a:pt x="7125" y="7509"/>
                    </a:lnTo>
                    <a:lnTo>
                      <a:pt x="7123" y="7720"/>
                    </a:lnTo>
                    <a:lnTo>
                      <a:pt x="7116" y="7842"/>
                    </a:lnTo>
                    <a:lnTo>
                      <a:pt x="7101" y="7917"/>
                    </a:lnTo>
                    <a:lnTo>
                      <a:pt x="7090" y="7951"/>
                    </a:lnTo>
                    <a:lnTo>
                      <a:pt x="7074" y="7997"/>
                    </a:lnTo>
                    <a:lnTo>
                      <a:pt x="7033" y="8084"/>
                    </a:lnTo>
                    <a:lnTo>
                      <a:pt x="6983" y="8164"/>
                    </a:lnTo>
                    <a:lnTo>
                      <a:pt x="6925" y="8237"/>
                    </a:lnTo>
                    <a:lnTo>
                      <a:pt x="6859" y="8301"/>
                    </a:lnTo>
                    <a:lnTo>
                      <a:pt x="6786" y="8357"/>
                    </a:lnTo>
                    <a:lnTo>
                      <a:pt x="6706" y="8403"/>
                    </a:lnTo>
                    <a:lnTo>
                      <a:pt x="6621" y="8440"/>
                    </a:lnTo>
                    <a:lnTo>
                      <a:pt x="6575" y="8454"/>
                    </a:lnTo>
                    <a:lnTo>
                      <a:pt x="6558" y="8459"/>
                    </a:lnTo>
                    <a:lnTo>
                      <a:pt x="6496" y="8466"/>
                    </a:lnTo>
                    <a:lnTo>
                      <a:pt x="6304" y="8474"/>
                    </a:lnTo>
                    <a:lnTo>
                      <a:pt x="5299" y="8479"/>
                    </a:lnTo>
                    <a:lnTo>
                      <a:pt x="3699" y="8477"/>
                    </a:lnTo>
                    <a:lnTo>
                      <a:pt x="915" y="8472"/>
                    </a:lnTo>
                    <a:lnTo>
                      <a:pt x="785" y="8409"/>
                    </a:lnTo>
                    <a:lnTo>
                      <a:pt x="744" y="8388"/>
                    </a:lnTo>
                    <a:lnTo>
                      <a:pt x="668" y="8339"/>
                    </a:lnTo>
                    <a:lnTo>
                      <a:pt x="598" y="8282"/>
                    </a:lnTo>
                    <a:lnTo>
                      <a:pt x="536" y="8219"/>
                    </a:lnTo>
                    <a:lnTo>
                      <a:pt x="482" y="8150"/>
                    </a:lnTo>
                    <a:lnTo>
                      <a:pt x="436" y="8075"/>
                    </a:lnTo>
                    <a:lnTo>
                      <a:pt x="399" y="7995"/>
                    </a:lnTo>
                    <a:lnTo>
                      <a:pt x="371" y="7911"/>
                    </a:lnTo>
                    <a:lnTo>
                      <a:pt x="360" y="7867"/>
                    </a:lnTo>
                    <a:lnTo>
                      <a:pt x="356" y="7814"/>
                    </a:lnTo>
                    <a:lnTo>
                      <a:pt x="349" y="7395"/>
                    </a:lnTo>
                    <a:lnTo>
                      <a:pt x="343" y="6032"/>
                    </a:lnTo>
                    <a:lnTo>
                      <a:pt x="342" y="4409"/>
                    </a:lnTo>
                    <a:lnTo>
                      <a:pt x="342" y="2512"/>
                    </a:lnTo>
                    <a:lnTo>
                      <a:pt x="349" y="1278"/>
                    </a:lnTo>
                    <a:lnTo>
                      <a:pt x="357" y="1032"/>
                    </a:lnTo>
                    <a:lnTo>
                      <a:pt x="363" y="953"/>
                    </a:lnTo>
                    <a:lnTo>
                      <a:pt x="367" y="932"/>
                    </a:lnTo>
                    <a:lnTo>
                      <a:pt x="374" y="903"/>
                    </a:lnTo>
                    <a:lnTo>
                      <a:pt x="393" y="845"/>
                    </a:lnTo>
                    <a:lnTo>
                      <a:pt x="428" y="763"/>
                    </a:lnTo>
                    <a:lnTo>
                      <a:pt x="488" y="663"/>
                    </a:lnTo>
                    <a:lnTo>
                      <a:pt x="563" y="575"/>
                    </a:lnTo>
                    <a:lnTo>
                      <a:pt x="651" y="498"/>
                    </a:lnTo>
                    <a:lnTo>
                      <a:pt x="750" y="436"/>
                    </a:lnTo>
                    <a:lnTo>
                      <a:pt x="860" y="388"/>
                    </a:lnTo>
                    <a:lnTo>
                      <a:pt x="979" y="356"/>
                    </a:lnTo>
                    <a:lnTo>
                      <a:pt x="1042" y="347"/>
                    </a:lnTo>
                    <a:lnTo>
                      <a:pt x="1104" y="343"/>
                    </a:lnTo>
                    <a:lnTo>
                      <a:pt x="1495" y="337"/>
                    </a:lnTo>
                    <a:lnTo>
                      <a:pt x="2627" y="333"/>
                    </a:lnTo>
                    <a:lnTo>
                      <a:pt x="3834" y="334"/>
                    </a:lnTo>
                    <a:lnTo>
                      <a:pt x="6484" y="339"/>
                    </a:lnTo>
                    <a:lnTo>
                      <a:pt x="6587" y="374"/>
                    </a:lnTo>
                    <a:lnTo>
                      <a:pt x="6634" y="391"/>
                    </a:lnTo>
                    <a:lnTo>
                      <a:pt x="6722" y="433"/>
                    </a:lnTo>
                    <a:lnTo>
                      <a:pt x="6804" y="484"/>
                    </a:lnTo>
                    <a:lnTo>
                      <a:pt x="6878" y="543"/>
                    </a:lnTo>
                    <a:lnTo>
                      <a:pt x="6943" y="610"/>
                    </a:lnTo>
                    <a:lnTo>
                      <a:pt x="7000" y="684"/>
                    </a:lnTo>
                    <a:lnTo>
                      <a:pt x="7047" y="764"/>
                    </a:lnTo>
                    <a:lnTo>
                      <a:pt x="7084" y="850"/>
                    </a:lnTo>
                    <a:lnTo>
                      <a:pt x="7099" y="896"/>
                    </a:lnTo>
                    <a:lnTo>
                      <a:pt x="7106" y="924"/>
                    </a:lnTo>
                    <a:lnTo>
                      <a:pt x="7117" y="1001"/>
                    </a:lnTo>
                    <a:lnTo>
                      <a:pt x="7125" y="1191"/>
                    </a:lnTo>
                    <a:lnTo>
                      <a:pt x="7125" y="1422"/>
                    </a:lnTo>
                    <a:lnTo>
                      <a:pt x="7126" y="1597"/>
                    </a:lnTo>
                    <a:lnTo>
                      <a:pt x="7129" y="1839"/>
                    </a:lnTo>
                    <a:lnTo>
                      <a:pt x="7132" y="1866"/>
                    </a:lnTo>
                    <a:lnTo>
                      <a:pt x="7144" y="1868"/>
                    </a:lnTo>
                    <a:lnTo>
                      <a:pt x="7240" y="1869"/>
                    </a:lnTo>
                    <a:lnTo>
                      <a:pt x="7307" y="1867"/>
                    </a:lnTo>
                    <a:lnTo>
                      <a:pt x="7475" y="1862"/>
                    </a:lnTo>
                    <a:lnTo>
                      <a:pt x="7475" y="1416"/>
                    </a:lnTo>
                    <a:lnTo>
                      <a:pt x="7475" y="1242"/>
                    </a:lnTo>
                    <a:lnTo>
                      <a:pt x="7469" y="1050"/>
                    </a:lnTo>
                    <a:lnTo>
                      <a:pt x="7461" y="949"/>
                    </a:lnTo>
                    <a:lnTo>
                      <a:pt x="7449" y="864"/>
                    </a:lnTo>
                    <a:lnTo>
                      <a:pt x="7432" y="791"/>
                    </a:lnTo>
                    <a:lnTo>
                      <a:pt x="7409" y="723"/>
                    </a:lnTo>
                    <a:lnTo>
                      <a:pt x="7380" y="655"/>
                    </a:lnTo>
                    <a:lnTo>
                      <a:pt x="7362" y="619"/>
                    </a:lnTo>
                    <a:lnTo>
                      <a:pt x="7336" y="569"/>
                    </a:lnTo>
                    <a:lnTo>
                      <a:pt x="7278" y="476"/>
                    </a:lnTo>
                    <a:lnTo>
                      <a:pt x="7213" y="391"/>
                    </a:lnTo>
                    <a:lnTo>
                      <a:pt x="7142" y="313"/>
                    </a:lnTo>
                    <a:lnTo>
                      <a:pt x="7062" y="243"/>
                    </a:lnTo>
                    <a:lnTo>
                      <a:pt x="6975" y="180"/>
                    </a:lnTo>
                    <a:lnTo>
                      <a:pt x="6880" y="124"/>
                    </a:lnTo>
                    <a:lnTo>
                      <a:pt x="6777" y="74"/>
                    </a:lnTo>
                    <a:lnTo>
                      <a:pt x="6722" y="52"/>
                    </a:lnTo>
                    <a:lnTo>
                      <a:pt x="6600" y="6"/>
                    </a:lnTo>
                    <a:lnTo>
                      <a:pt x="3775" y="2"/>
                    </a:lnTo>
                    <a:lnTo>
                      <a:pt x="2053" y="0"/>
                    </a:lnTo>
                    <a:lnTo>
                      <a:pt x="1076" y="7"/>
                    </a:lnTo>
                    <a:lnTo>
                      <a:pt x="908" y="17"/>
                    </a:lnTo>
                    <a:lnTo>
                      <a:pt x="851" y="25"/>
                    </a:lnTo>
                    <a:lnTo>
                      <a:pt x="829"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8" name="Freeform 7">
                <a:extLst>
                  <a:ext uri="{FF2B5EF4-FFF2-40B4-BE49-F238E27FC236}">
                    <a16:creationId xmlns:a16="http://schemas.microsoft.com/office/drawing/2014/main" id="{DD017104-2D65-8DD6-4208-EAE32E49A27E}"/>
                  </a:ext>
                </a:extLst>
              </p:cNvPr>
              <p:cNvSpPr>
                <a:spLocks/>
              </p:cNvSpPr>
              <p:nvPr/>
            </p:nvSpPr>
            <p:spPr bwMode="auto">
              <a:xfrm>
                <a:off x="10015708" y="3174280"/>
                <a:ext cx="697412" cy="24956"/>
              </a:xfrm>
              <a:custGeom>
                <a:avLst/>
                <a:gdLst>
                  <a:gd name="T0" fmla="*/ 5 w 4150"/>
                  <a:gd name="T1" fmla="*/ 22 h 149"/>
                  <a:gd name="T2" fmla="*/ 2 w 4150"/>
                  <a:gd name="T3" fmla="*/ 34 h 149"/>
                  <a:gd name="T4" fmla="*/ 0 w 4150"/>
                  <a:gd name="T5" fmla="*/ 73 h 149"/>
                  <a:gd name="T6" fmla="*/ 2 w 4150"/>
                  <a:gd name="T7" fmla="*/ 94 h 149"/>
                  <a:gd name="T8" fmla="*/ 7 w 4150"/>
                  <a:gd name="T9" fmla="*/ 140 h 149"/>
                  <a:gd name="T10" fmla="*/ 2079 w 4150"/>
                  <a:gd name="T11" fmla="*/ 145 h 149"/>
                  <a:gd name="T12" fmla="*/ 4150 w 4150"/>
                  <a:gd name="T13" fmla="*/ 149 h 149"/>
                  <a:gd name="T14" fmla="*/ 4145 w 4150"/>
                  <a:gd name="T15" fmla="*/ 79 h 149"/>
                  <a:gd name="T16" fmla="*/ 4140 w 4150"/>
                  <a:gd name="T17" fmla="*/ 7 h 149"/>
                  <a:gd name="T18" fmla="*/ 2077 w 4150"/>
                  <a:gd name="T19" fmla="*/ 2 h 149"/>
                  <a:gd name="T20" fmla="*/ 935 w 4150"/>
                  <a:gd name="T21" fmla="*/ 0 h 149"/>
                  <a:gd name="T22" fmla="*/ 187 w 4150"/>
                  <a:gd name="T23" fmla="*/ 6 h 149"/>
                  <a:gd name="T24" fmla="*/ 46 w 4150"/>
                  <a:gd name="T25" fmla="*/ 12 h 149"/>
                  <a:gd name="T26" fmla="*/ 9 w 4150"/>
                  <a:gd name="T27" fmla="*/ 18 h 149"/>
                  <a:gd name="T28" fmla="*/ 5 w 4150"/>
                  <a:gd name="T29" fmla="*/ 2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50" h="149">
                    <a:moveTo>
                      <a:pt x="5" y="22"/>
                    </a:moveTo>
                    <a:lnTo>
                      <a:pt x="2" y="34"/>
                    </a:lnTo>
                    <a:lnTo>
                      <a:pt x="0" y="73"/>
                    </a:lnTo>
                    <a:lnTo>
                      <a:pt x="2" y="94"/>
                    </a:lnTo>
                    <a:lnTo>
                      <a:pt x="7" y="140"/>
                    </a:lnTo>
                    <a:lnTo>
                      <a:pt x="2079" y="145"/>
                    </a:lnTo>
                    <a:lnTo>
                      <a:pt x="4150" y="149"/>
                    </a:lnTo>
                    <a:lnTo>
                      <a:pt x="4145" y="79"/>
                    </a:lnTo>
                    <a:lnTo>
                      <a:pt x="4140" y="7"/>
                    </a:lnTo>
                    <a:lnTo>
                      <a:pt x="2077" y="2"/>
                    </a:lnTo>
                    <a:lnTo>
                      <a:pt x="935" y="0"/>
                    </a:lnTo>
                    <a:lnTo>
                      <a:pt x="187" y="6"/>
                    </a:lnTo>
                    <a:lnTo>
                      <a:pt x="46"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9" name="Freeform 8">
                <a:extLst>
                  <a:ext uri="{FF2B5EF4-FFF2-40B4-BE49-F238E27FC236}">
                    <a16:creationId xmlns:a16="http://schemas.microsoft.com/office/drawing/2014/main" id="{3E34F752-C062-DC8E-675C-61293B34FED9}"/>
                  </a:ext>
                </a:extLst>
              </p:cNvPr>
              <p:cNvSpPr>
                <a:spLocks noEditPoints="1"/>
              </p:cNvSpPr>
              <p:nvPr/>
            </p:nvSpPr>
            <p:spPr bwMode="auto">
              <a:xfrm>
                <a:off x="10614202" y="3216932"/>
                <a:ext cx="711023" cy="711023"/>
              </a:xfrm>
              <a:custGeom>
                <a:avLst/>
                <a:gdLst>
                  <a:gd name="T0" fmla="*/ 1447 w 4229"/>
                  <a:gd name="T1" fmla="*/ 106 h 4232"/>
                  <a:gd name="T2" fmla="*/ 819 w 4229"/>
                  <a:gd name="T3" fmla="*/ 442 h 4232"/>
                  <a:gd name="T4" fmla="*/ 456 w 4229"/>
                  <a:gd name="T5" fmla="*/ 801 h 4232"/>
                  <a:gd name="T6" fmla="*/ 145 w 4229"/>
                  <a:gd name="T7" fmla="*/ 1332 h 4232"/>
                  <a:gd name="T8" fmla="*/ 21 w 4229"/>
                  <a:gd name="T9" fmla="*/ 1755 h 4232"/>
                  <a:gd name="T10" fmla="*/ 10 w 4229"/>
                  <a:gd name="T11" fmla="*/ 2393 h 4232"/>
                  <a:gd name="T12" fmla="*/ 92 w 4229"/>
                  <a:gd name="T13" fmla="*/ 2759 h 4232"/>
                  <a:gd name="T14" fmla="*/ 361 w 4229"/>
                  <a:gd name="T15" fmla="*/ 3308 h 4232"/>
                  <a:gd name="T16" fmla="*/ 679 w 4229"/>
                  <a:gd name="T17" fmla="*/ 3670 h 4232"/>
                  <a:gd name="T18" fmla="*/ 1185 w 4229"/>
                  <a:gd name="T19" fmla="*/ 4024 h 4232"/>
                  <a:gd name="T20" fmla="*/ 1714 w 4229"/>
                  <a:gd name="T21" fmla="*/ 4204 h 4232"/>
                  <a:gd name="T22" fmla="*/ 2229 w 4229"/>
                  <a:gd name="T23" fmla="*/ 4232 h 4232"/>
                  <a:gd name="T24" fmla="*/ 2597 w 4229"/>
                  <a:gd name="T25" fmla="*/ 4185 h 4232"/>
                  <a:gd name="T26" fmla="*/ 3176 w 4229"/>
                  <a:gd name="T27" fmla="*/ 3953 h 4232"/>
                  <a:gd name="T28" fmla="*/ 3607 w 4229"/>
                  <a:gd name="T29" fmla="*/ 3612 h 4232"/>
                  <a:gd name="T30" fmla="*/ 3951 w 4229"/>
                  <a:gd name="T31" fmla="*/ 3177 h 4232"/>
                  <a:gd name="T32" fmla="*/ 4182 w 4229"/>
                  <a:gd name="T33" fmla="*/ 2594 h 4232"/>
                  <a:gd name="T34" fmla="*/ 4229 w 4229"/>
                  <a:gd name="T35" fmla="*/ 2228 h 4232"/>
                  <a:gd name="T36" fmla="*/ 4199 w 4229"/>
                  <a:gd name="T37" fmla="*/ 1719 h 4232"/>
                  <a:gd name="T38" fmla="*/ 4017 w 4229"/>
                  <a:gd name="T39" fmla="*/ 1187 h 4232"/>
                  <a:gd name="T40" fmla="*/ 3662 w 4229"/>
                  <a:gd name="T41" fmla="*/ 672 h 4232"/>
                  <a:gd name="T42" fmla="*/ 3179 w 4229"/>
                  <a:gd name="T43" fmla="*/ 284 h 4232"/>
                  <a:gd name="T44" fmla="*/ 2597 w 4229"/>
                  <a:gd name="T45" fmla="*/ 51 h 4232"/>
                  <a:gd name="T46" fmla="*/ 2110 w 4229"/>
                  <a:gd name="T47" fmla="*/ 0 h 4232"/>
                  <a:gd name="T48" fmla="*/ 2421 w 4229"/>
                  <a:gd name="T49" fmla="*/ 373 h 4232"/>
                  <a:gd name="T50" fmla="*/ 2962 w 4229"/>
                  <a:gd name="T51" fmla="*/ 563 h 4232"/>
                  <a:gd name="T52" fmla="*/ 3365 w 4229"/>
                  <a:gd name="T53" fmla="*/ 867 h 4232"/>
                  <a:gd name="T54" fmla="*/ 3716 w 4229"/>
                  <a:gd name="T55" fmla="*/ 1361 h 4232"/>
                  <a:gd name="T56" fmla="*/ 3883 w 4229"/>
                  <a:gd name="T57" fmla="*/ 2003 h 4232"/>
                  <a:gd name="T58" fmla="*/ 3799 w 4229"/>
                  <a:gd name="T59" fmla="*/ 2661 h 4232"/>
                  <a:gd name="T60" fmla="*/ 3464 w 4229"/>
                  <a:gd name="T61" fmla="*/ 3266 h 4232"/>
                  <a:gd name="T62" fmla="*/ 3179 w 4229"/>
                  <a:gd name="T63" fmla="*/ 3532 h 4232"/>
                  <a:gd name="T64" fmla="*/ 2726 w 4229"/>
                  <a:gd name="T65" fmla="*/ 3780 h 4232"/>
                  <a:gd name="T66" fmla="*/ 2408 w 4229"/>
                  <a:gd name="T67" fmla="*/ 3870 h 4232"/>
                  <a:gd name="T68" fmla="*/ 2031 w 4229"/>
                  <a:gd name="T69" fmla="*/ 3882 h 4232"/>
                  <a:gd name="T70" fmla="*/ 1684 w 4229"/>
                  <a:gd name="T71" fmla="*/ 3839 h 4232"/>
                  <a:gd name="T72" fmla="*/ 1289 w 4229"/>
                  <a:gd name="T73" fmla="*/ 3684 h 4232"/>
                  <a:gd name="T74" fmla="*/ 904 w 4229"/>
                  <a:gd name="T75" fmla="*/ 3411 h 4232"/>
                  <a:gd name="T76" fmla="*/ 607 w 4229"/>
                  <a:gd name="T77" fmla="*/ 3048 h 4232"/>
                  <a:gd name="T78" fmla="*/ 410 w 4229"/>
                  <a:gd name="T79" fmla="*/ 2611 h 4232"/>
                  <a:gd name="T80" fmla="*/ 354 w 4229"/>
                  <a:gd name="T81" fmla="*/ 2322 h 4232"/>
                  <a:gd name="T82" fmla="*/ 354 w 4229"/>
                  <a:gd name="T83" fmla="*/ 1916 h 4232"/>
                  <a:gd name="T84" fmla="*/ 410 w 4229"/>
                  <a:gd name="T85" fmla="*/ 1627 h 4232"/>
                  <a:gd name="T86" fmla="*/ 605 w 4229"/>
                  <a:gd name="T87" fmla="*/ 1192 h 4232"/>
                  <a:gd name="T88" fmla="*/ 862 w 4229"/>
                  <a:gd name="T89" fmla="*/ 867 h 4232"/>
                  <a:gd name="T90" fmla="*/ 1142 w 4229"/>
                  <a:gd name="T91" fmla="*/ 639 h 4232"/>
                  <a:gd name="T92" fmla="*/ 1503 w 4229"/>
                  <a:gd name="T93" fmla="*/ 456 h 4232"/>
                  <a:gd name="T94" fmla="*/ 1893 w 4229"/>
                  <a:gd name="T95" fmla="*/ 359 h 4232"/>
                  <a:gd name="T96" fmla="*/ 2298 w 4229"/>
                  <a:gd name="T97" fmla="*/ 355 h 4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229" h="4232">
                    <a:moveTo>
                      <a:pt x="1905" y="4"/>
                    </a:moveTo>
                    <a:lnTo>
                      <a:pt x="1809" y="17"/>
                    </a:lnTo>
                    <a:lnTo>
                      <a:pt x="1624" y="55"/>
                    </a:lnTo>
                    <a:lnTo>
                      <a:pt x="1447" y="106"/>
                    </a:lnTo>
                    <a:lnTo>
                      <a:pt x="1278" y="170"/>
                    </a:lnTo>
                    <a:lnTo>
                      <a:pt x="1117" y="247"/>
                    </a:lnTo>
                    <a:lnTo>
                      <a:pt x="964" y="338"/>
                    </a:lnTo>
                    <a:lnTo>
                      <a:pt x="819" y="442"/>
                    </a:lnTo>
                    <a:lnTo>
                      <a:pt x="681" y="559"/>
                    </a:lnTo>
                    <a:lnTo>
                      <a:pt x="615" y="624"/>
                    </a:lnTo>
                    <a:lnTo>
                      <a:pt x="559" y="682"/>
                    </a:lnTo>
                    <a:lnTo>
                      <a:pt x="456" y="801"/>
                    </a:lnTo>
                    <a:lnTo>
                      <a:pt x="364" y="925"/>
                    </a:lnTo>
                    <a:lnTo>
                      <a:pt x="281" y="1055"/>
                    </a:lnTo>
                    <a:lnTo>
                      <a:pt x="208" y="1190"/>
                    </a:lnTo>
                    <a:lnTo>
                      <a:pt x="145" y="1332"/>
                    </a:lnTo>
                    <a:lnTo>
                      <a:pt x="92" y="1481"/>
                    </a:lnTo>
                    <a:lnTo>
                      <a:pt x="47" y="1637"/>
                    </a:lnTo>
                    <a:lnTo>
                      <a:pt x="29" y="1719"/>
                    </a:lnTo>
                    <a:lnTo>
                      <a:pt x="21" y="1755"/>
                    </a:lnTo>
                    <a:lnTo>
                      <a:pt x="10" y="1845"/>
                    </a:lnTo>
                    <a:lnTo>
                      <a:pt x="0" y="2003"/>
                    </a:lnTo>
                    <a:lnTo>
                      <a:pt x="0" y="2234"/>
                    </a:lnTo>
                    <a:lnTo>
                      <a:pt x="10" y="2393"/>
                    </a:lnTo>
                    <a:lnTo>
                      <a:pt x="21" y="2482"/>
                    </a:lnTo>
                    <a:lnTo>
                      <a:pt x="29" y="2519"/>
                    </a:lnTo>
                    <a:lnTo>
                      <a:pt x="47" y="2602"/>
                    </a:lnTo>
                    <a:lnTo>
                      <a:pt x="92" y="2759"/>
                    </a:lnTo>
                    <a:lnTo>
                      <a:pt x="144" y="2907"/>
                    </a:lnTo>
                    <a:lnTo>
                      <a:pt x="206" y="3047"/>
                    </a:lnTo>
                    <a:lnTo>
                      <a:pt x="278" y="3180"/>
                    </a:lnTo>
                    <a:lnTo>
                      <a:pt x="361" y="3308"/>
                    </a:lnTo>
                    <a:lnTo>
                      <a:pt x="455" y="3431"/>
                    </a:lnTo>
                    <a:lnTo>
                      <a:pt x="562" y="3552"/>
                    </a:lnTo>
                    <a:lnTo>
                      <a:pt x="620" y="3612"/>
                    </a:lnTo>
                    <a:lnTo>
                      <a:pt x="679" y="3670"/>
                    </a:lnTo>
                    <a:lnTo>
                      <a:pt x="799" y="3775"/>
                    </a:lnTo>
                    <a:lnTo>
                      <a:pt x="922" y="3869"/>
                    </a:lnTo>
                    <a:lnTo>
                      <a:pt x="1050" y="3952"/>
                    </a:lnTo>
                    <a:lnTo>
                      <a:pt x="1185" y="4024"/>
                    </a:lnTo>
                    <a:lnTo>
                      <a:pt x="1325" y="4087"/>
                    </a:lnTo>
                    <a:lnTo>
                      <a:pt x="1474" y="4140"/>
                    </a:lnTo>
                    <a:lnTo>
                      <a:pt x="1631" y="4185"/>
                    </a:lnTo>
                    <a:lnTo>
                      <a:pt x="1714" y="4204"/>
                    </a:lnTo>
                    <a:lnTo>
                      <a:pt x="1750" y="4211"/>
                    </a:lnTo>
                    <a:lnTo>
                      <a:pt x="1840" y="4222"/>
                    </a:lnTo>
                    <a:lnTo>
                      <a:pt x="1998" y="4232"/>
                    </a:lnTo>
                    <a:lnTo>
                      <a:pt x="2229" y="4232"/>
                    </a:lnTo>
                    <a:lnTo>
                      <a:pt x="2388" y="4222"/>
                    </a:lnTo>
                    <a:lnTo>
                      <a:pt x="2477" y="4211"/>
                    </a:lnTo>
                    <a:lnTo>
                      <a:pt x="2514" y="4204"/>
                    </a:lnTo>
                    <a:lnTo>
                      <a:pt x="2597" y="4185"/>
                    </a:lnTo>
                    <a:lnTo>
                      <a:pt x="2754" y="4141"/>
                    </a:lnTo>
                    <a:lnTo>
                      <a:pt x="2902" y="4088"/>
                    </a:lnTo>
                    <a:lnTo>
                      <a:pt x="3043" y="4026"/>
                    </a:lnTo>
                    <a:lnTo>
                      <a:pt x="3176" y="3953"/>
                    </a:lnTo>
                    <a:lnTo>
                      <a:pt x="3304" y="3871"/>
                    </a:lnTo>
                    <a:lnTo>
                      <a:pt x="3427" y="3776"/>
                    </a:lnTo>
                    <a:lnTo>
                      <a:pt x="3548" y="3670"/>
                    </a:lnTo>
                    <a:lnTo>
                      <a:pt x="3607" y="3612"/>
                    </a:lnTo>
                    <a:lnTo>
                      <a:pt x="3666" y="3552"/>
                    </a:lnTo>
                    <a:lnTo>
                      <a:pt x="3773" y="3430"/>
                    </a:lnTo>
                    <a:lnTo>
                      <a:pt x="3868" y="3306"/>
                    </a:lnTo>
                    <a:lnTo>
                      <a:pt x="3951" y="3177"/>
                    </a:lnTo>
                    <a:lnTo>
                      <a:pt x="4023" y="3042"/>
                    </a:lnTo>
                    <a:lnTo>
                      <a:pt x="4085" y="2901"/>
                    </a:lnTo>
                    <a:lnTo>
                      <a:pt x="4138" y="2752"/>
                    </a:lnTo>
                    <a:lnTo>
                      <a:pt x="4182" y="2594"/>
                    </a:lnTo>
                    <a:lnTo>
                      <a:pt x="4200" y="2510"/>
                    </a:lnTo>
                    <a:lnTo>
                      <a:pt x="4208" y="2472"/>
                    </a:lnTo>
                    <a:lnTo>
                      <a:pt x="4219" y="2382"/>
                    </a:lnTo>
                    <a:lnTo>
                      <a:pt x="4229" y="2228"/>
                    </a:lnTo>
                    <a:lnTo>
                      <a:pt x="4229" y="2007"/>
                    </a:lnTo>
                    <a:lnTo>
                      <a:pt x="4218" y="1851"/>
                    </a:lnTo>
                    <a:lnTo>
                      <a:pt x="4206" y="1759"/>
                    </a:lnTo>
                    <a:lnTo>
                      <a:pt x="4199" y="1719"/>
                    </a:lnTo>
                    <a:lnTo>
                      <a:pt x="4181" y="1639"/>
                    </a:lnTo>
                    <a:lnTo>
                      <a:pt x="4137" y="1483"/>
                    </a:lnTo>
                    <a:lnTo>
                      <a:pt x="4082" y="1332"/>
                    </a:lnTo>
                    <a:lnTo>
                      <a:pt x="4017" y="1187"/>
                    </a:lnTo>
                    <a:lnTo>
                      <a:pt x="3941" y="1048"/>
                    </a:lnTo>
                    <a:lnTo>
                      <a:pt x="3857" y="916"/>
                    </a:lnTo>
                    <a:lnTo>
                      <a:pt x="3764" y="790"/>
                    </a:lnTo>
                    <a:lnTo>
                      <a:pt x="3662" y="672"/>
                    </a:lnTo>
                    <a:lnTo>
                      <a:pt x="3552" y="562"/>
                    </a:lnTo>
                    <a:lnTo>
                      <a:pt x="3434" y="460"/>
                    </a:lnTo>
                    <a:lnTo>
                      <a:pt x="3310" y="367"/>
                    </a:lnTo>
                    <a:lnTo>
                      <a:pt x="3179" y="284"/>
                    </a:lnTo>
                    <a:lnTo>
                      <a:pt x="3042" y="210"/>
                    </a:lnTo>
                    <a:lnTo>
                      <a:pt x="2899" y="146"/>
                    </a:lnTo>
                    <a:lnTo>
                      <a:pt x="2750" y="93"/>
                    </a:lnTo>
                    <a:lnTo>
                      <a:pt x="2597" y="51"/>
                    </a:lnTo>
                    <a:lnTo>
                      <a:pt x="2519" y="35"/>
                    </a:lnTo>
                    <a:lnTo>
                      <a:pt x="2460" y="26"/>
                    </a:lnTo>
                    <a:lnTo>
                      <a:pt x="2294" y="10"/>
                    </a:lnTo>
                    <a:lnTo>
                      <a:pt x="2110" y="0"/>
                    </a:lnTo>
                    <a:lnTo>
                      <a:pt x="1955" y="0"/>
                    </a:lnTo>
                    <a:lnTo>
                      <a:pt x="1905" y="4"/>
                    </a:lnTo>
                    <a:close/>
                    <a:moveTo>
                      <a:pt x="2349" y="362"/>
                    </a:moveTo>
                    <a:lnTo>
                      <a:pt x="2421" y="373"/>
                    </a:lnTo>
                    <a:lnTo>
                      <a:pt x="2564" y="404"/>
                    </a:lnTo>
                    <a:lnTo>
                      <a:pt x="2701" y="446"/>
                    </a:lnTo>
                    <a:lnTo>
                      <a:pt x="2834" y="499"/>
                    </a:lnTo>
                    <a:lnTo>
                      <a:pt x="2962" y="563"/>
                    </a:lnTo>
                    <a:lnTo>
                      <a:pt x="3084" y="637"/>
                    </a:lnTo>
                    <a:lnTo>
                      <a:pt x="3201" y="721"/>
                    </a:lnTo>
                    <a:lnTo>
                      <a:pt x="3312" y="816"/>
                    </a:lnTo>
                    <a:lnTo>
                      <a:pt x="3365" y="867"/>
                    </a:lnTo>
                    <a:lnTo>
                      <a:pt x="3428" y="932"/>
                    </a:lnTo>
                    <a:lnTo>
                      <a:pt x="3539" y="1068"/>
                    </a:lnTo>
                    <a:lnTo>
                      <a:pt x="3635" y="1211"/>
                    </a:lnTo>
                    <a:lnTo>
                      <a:pt x="3716" y="1361"/>
                    </a:lnTo>
                    <a:lnTo>
                      <a:pt x="3781" y="1516"/>
                    </a:lnTo>
                    <a:lnTo>
                      <a:pt x="3830" y="1676"/>
                    </a:lnTo>
                    <a:lnTo>
                      <a:pt x="3864" y="1838"/>
                    </a:lnTo>
                    <a:lnTo>
                      <a:pt x="3883" y="2003"/>
                    </a:lnTo>
                    <a:lnTo>
                      <a:pt x="3885" y="2169"/>
                    </a:lnTo>
                    <a:lnTo>
                      <a:pt x="3872" y="2334"/>
                    </a:lnTo>
                    <a:lnTo>
                      <a:pt x="3843" y="2499"/>
                    </a:lnTo>
                    <a:lnTo>
                      <a:pt x="3799" y="2661"/>
                    </a:lnTo>
                    <a:lnTo>
                      <a:pt x="3739" y="2820"/>
                    </a:lnTo>
                    <a:lnTo>
                      <a:pt x="3663" y="2974"/>
                    </a:lnTo>
                    <a:lnTo>
                      <a:pt x="3571" y="3123"/>
                    </a:lnTo>
                    <a:lnTo>
                      <a:pt x="3464" y="3266"/>
                    </a:lnTo>
                    <a:lnTo>
                      <a:pt x="3404" y="3334"/>
                    </a:lnTo>
                    <a:lnTo>
                      <a:pt x="3365" y="3375"/>
                    </a:lnTo>
                    <a:lnTo>
                      <a:pt x="3277" y="3455"/>
                    </a:lnTo>
                    <a:lnTo>
                      <a:pt x="3179" y="3532"/>
                    </a:lnTo>
                    <a:lnTo>
                      <a:pt x="3073" y="3604"/>
                    </a:lnTo>
                    <a:lnTo>
                      <a:pt x="2961" y="3670"/>
                    </a:lnTo>
                    <a:lnTo>
                      <a:pt x="2845" y="3729"/>
                    </a:lnTo>
                    <a:lnTo>
                      <a:pt x="2726" y="3780"/>
                    </a:lnTo>
                    <a:lnTo>
                      <a:pt x="2606" y="3822"/>
                    </a:lnTo>
                    <a:lnTo>
                      <a:pt x="2547" y="3839"/>
                    </a:lnTo>
                    <a:lnTo>
                      <a:pt x="2495" y="3852"/>
                    </a:lnTo>
                    <a:lnTo>
                      <a:pt x="2408" y="3870"/>
                    </a:lnTo>
                    <a:lnTo>
                      <a:pt x="2317" y="3879"/>
                    </a:lnTo>
                    <a:lnTo>
                      <a:pt x="2196" y="3882"/>
                    </a:lnTo>
                    <a:lnTo>
                      <a:pt x="2114" y="3882"/>
                    </a:lnTo>
                    <a:lnTo>
                      <a:pt x="2031" y="3882"/>
                    </a:lnTo>
                    <a:lnTo>
                      <a:pt x="1911" y="3879"/>
                    </a:lnTo>
                    <a:lnTo>
                      <a:pt x="1821" y="3870"/>
                    </a:lnTo>
                    <a:lnTo>
                      <a:pt x="1735" y="3852"/>
                    </a:lnTo>
                    <a:lnTo>
                      <a:pt x="1684" y="3839"/>
                    </a:lnTo>
                    <a:lnTo>
                      <a:pt x="1624" y="3822"/>
                    </a:lnTo>
                    <a:lnTo>
                      <a:pt x="1508" y="3783"/>
                    </a:lnTo>
                    <a:lnTo>
                      <a:pt x="1396" y="3737"/>
                    </a:lnTo>
                    <a:lnTo>
                      <a:pt x="1289" y="3684"/>
                    </a:lnTo>
                    <a:lnTo>
                      <a:pt x="1185" y="3625"/>
                    </a:lnTo>
                    <a:lnTo>
                      <a:pt x="1087" y="3560"/>
                    </a:lnTo>
                    <a:lnTo>
                      <a:pt x="993" y="3488"/>
                    </a:lnTo>
                    <a:lnTo>
                      <a:pt x="904" y="3411"/>
                    </a:lnTo>
                    <a:lnTo>
                      <a:pt x="821" y="3328"/>
                    </a:lnTo>
                    <a:lnTo>
                      <a:pt x="744" y="3240"/>
                    </a:lnTo>
                    <a:lnTo>
                      <a:pt x="672" y="3146"/>
                    </a:lnTo>
                    <a:lnTo>
                      <a:pt x="607" y="3048"/>
                    </a:lnTo>
                    <a:lnTo>
                      <a:pt x="547" y="2945"/>
                    </a:lnTo>
                    <a:lnTo>
                      <a:pt x="495" y="2838"/>
                    </a:lnTo>
                    <a:lnTo>
                      <a:pt x="449" y="2727"/>
                    </a:lnTo>
                    <a:lnTo>
                      <a:pt x="410" y="2611"/>
                    </a:lnTo>
                    <a:lnTo>
                      <a:pt x="394" y="2552"/>
                    </a:lnTo>
                    <a:lnTo>
                      <a:pt x="380" y="2500"/>
                    </a:lnTo>
                    <a:lnTo>
                      <a:pt x="363" y="2413"/>
                    </a:lnTo>
                    <a:lnTo>
                      <a:pt x="354" y="2322"/>
                    </a:lnTo>
                    <a:lnTo>
                      <a:pt x="350" y="2201"/>
                    </a:lnTo>
                    <a:lnTo>
                      <a:pt x="350" y="2119"/>
                    </a:lnTo>
                    <a:lnTo>
                      <a:pt x="350" y="2036"/>
                    </a:lnTo>
                    <a:lnTo>
                      <a:pt x="354" y="1916"/>
                    </a:lnTo>
                    <a:lnTo>
                      <a:pt x="363" y="1825"/>
                    </a:lnTo>
                    <a:lnTo>
                      <a:pt x="380" y="1737"/>
                    </a:lnTo>
                    <a:lnTo>
                      <a:pt x="394" y="1685"/>
                    </a:lnTo>
                    <a:lnTo>
                      <a:pt x="410" y="1627"/>
                    </a:lnTo>
                    <a:lnTo>
                      <a:pt x="448" y="1512"/>
                    </a:lnTo>
                    <a:lnTo>
                      <a:pt x="494" y="1401"/>
                    </a:lnTo>
                    <a:lnTo>
                      <a:pt x="546" y="1295"/>
                    </a:lnTo>
                    <a:lnTo>
                      <a:pt x="605" y="1192"/>
                    </a:lnTo>
                    <a:lnTo>
                      <a:pt x="670" y="1094"/>
                    </a:lnTo>
                    <a:lnTo>
                      <a:pt x="742" y="1000"/>
                    </a:lnTo>
                    <a:lnTo>
                      <a:pt x="820" y="910"/>
                    </a:lnTo>
                    <a:lnTo>
                      <a:pt x="862" y="867"/>
                    </a:lnTo>
                    <a:lnTo>
                      <a:pt x="899" y="831"/>
                    </a:lnTo>
                    <a:lnTo>
                      <a:pt x="977" y="762"/>
                    </a:lnTo>
                    <a:lnTo>
                      <a:pt x="1058" y="698"/>
                    </a:lnTo>
                    <a:lnTo>
                      <a:pt x="1142" y="639"/>
                    </a:lnTo>
                    <a:lnTo>
                      <a:pt x="1228" y="585"/>
                    </a:lnTo>
                    <a:lnTo>
                      <a:pt x="1318" y="537"/>
                    </a:lnTo>
                    <a:lnTo>
                      <a:pt x="1409" y="493"/>
                    </a:lnTo>
                    <a:lnTo>
                      <a:pt x="1503" y="456"/>
                    </a:lnTo>
                    <a:lnTo>
                      <a:pt x="1598" y="423"/>
                    </a:lnTo>
                    <a:lnTo>
                      <a:pt x="1695" y="396"/>
                    </a:lnTo>
                    <a:lnTo>
                      <a:pt x="1794" y="375"/>
                    </a:lnTo>
                    <a:lnTo>
                      <a:pt x="1893" y="359"/>
                    </a:lnTo>
                    <a:lnTo>
                      <a:pt x="1994" y="350"/>
                    </a:lnTo>
                    <a:lnTo>
                      <a:pt x="2095" y="346"/>
                    </a:lnTo>
                    <a:lnTo>
                      <a:pt x="2196" y="348"/>
                    </a:lnTo>
                    <a:lnTo>
                      <a:pt x="2298" y="355"/>
                    </a:lnTo>
                    <a:lnTo>
                      <a:pt x="2349" y="3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0" name="Freeform 9">
                <a:extLst>
                  <a:ext uri="{FF2B5EF4-FFF2-40B4-BE49-F238E27FC236}">
                    <a16:creationId xmlns:a16="http://schemas.microsoft.com/office/drawing/2014/main" id="{FEA45808-29AB-970B-A07C-4072250243C0}"/>
                  </a:ext>
                </a:extLst>
              </p:cNvPr>
              <p:cNvSpPr>
                <a:spLocks/>
              </p:cNvSpPr>
              <p:nvPr/>
            </p:nvSpPr>
            <p:spPr bwMode="auto">
              <a:xfrm>
                <a:off x="10763484"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grpFill/>
              <a:ln>
                <a:noFill/>
              </a:ln>
            </p:spPr>
            <p:txBody>
              <a:bodyPr vert="horz" wrap="square" lIns="91440" tIns="45720" rIns="91440" bIns="45720" numCol="1" anchor="t" anchorCtr="0" compatLnSpc="1">
                <a:prstTxWarp prst="textNoShape">
                  <a:avLst/>
                </a:prstTxWarp>
              </a:bodyPr>
              <a:lstStyle/>
              <a:p>
                <a:pPr algn="r" rtl="1"/>
                <a:endParaRPr lang="en-US"/>
              </a:p>
            </p:txBody>
          </p:sp>
          <p:sp>
            <p:nvSpPr>
              <p:cNvPr id="11" name="Freeform 10">
                <a:extLst>
                  <a:ext uri="{FF2B5EF4-FFF2-40B4-BE49-F238E27FC236}">
                    <a16:creationId xmlns:a16="http://schemas.microsoft.com/office/drawing/2014/main" id="{61BDD891-6DA7-FDDC-75A2-CE04F0B20F86}"/>
                  </a:ext>
                </a:extLst>
              </p:cNvPr>
              <p:cNvSpPr>
                <a:spLocks/>
              </p:cNvSpPr>
              <p:nvPr/>
            </p:nvSpPr>
            <p:spPr bwMode="auto">
              <a:xfrm>
                <a:off x="10015708" y="3364401"/>
                <a:ext cx="588058" cy="24956"/>
              </a:xfrm>
              <a:custGeom>
                <a:avLst/>
                <a:gdLst>
                  <a:gd name="T0" fmla="*/ 5 w 3499"/>
                  <a:gd name="T1" fmla="*/ 23 h 150"/>
                  <a:gd name="T2" fmla="*/ 2 w 3499"/>
                  <a:gd name="T3" fmla="*/ 36 h 150"/>
                  <a:gd name="T4" fmla="*/ 0 w 3499"/>
                  <a:gd name="T5" fmla="*/ 74 h 150"/>
                  <a:gd name="T6" fmla="*/ 2 w 3499"/>
                  <a:gd name="T7" fmla="*/ 95 h 150"/>
                  <a:gd name="T8" fmla="*/ 7 w 3499"/>
                  <a:gd name="T9" fmla="*/ 142 h 150"/>
                  <a:gd name="T10" fmla="*/ 1720 w 3499"/>
                  <a:gd name="T11" fmla="*/ 147 h 150"/>
                  <a:gd name="T12" fmla="*/ 3432 w 3499"/>
                  <a:gd name="T13" fmla="*/ 150 h 150"/>
                  <a:gd name="T14" fmla="*/ 3465 w 3499"/>
                  <a:gd name="T15" fmla="*/ 97 h 150"/>
                  <a:gd name="T16" fmla="*/ 3479 w 3499"/>
                  <a:gd name="T17" fmla="*/ 74 h 150"/>
                  <a:gd name="T18" fmla="*/ 3497 w 3499"/>
                  <a:gd name="T19" fmla="*/ 32 h 150"/>
                  <a:gd name="T20" fmla="*/ 3499 w 3499"/>
                  <a:gd name="T21" fmla="*/ 20 h 150"/>
                  <a:gd name="T22" fmla="*/ 3496 w 3499"/>
                  <a:gd name="T23" fmla="*/ 17 h 150"/>
                  <a:gd name="T24" fmla="*/ 3458 w 3499"/>
                  <a:gd name="T25" fmla="*/ 13 h 150"/>
                  <a:gd name="T26" fmla="*/ 3321 w 3499"/>
                  <a:gd name="T27" fmla="*/ 7 h 150"/>
                  <a:gd name="T28" fmla="*/ 2666 w 3499"/>
                  <a:gd name="T29" fmla="*/ 1 h 150"/>
                  <a:gd name="T30" fmla="*/ 1757 w 3499"/>
                  <a:gd name="T31" fmla="*/ 0 h 150"/>
                  <a:gd name="T32" fmla="*/ 795 w 3499"/>
                  <a:gd name="T33" fmla="*/ 0 h 150"/>
                  <a:gd name="T34" fmla="*/ 161 w 3499"/>
                  <a:gd name="T35" fmla="*/ 7 h 150"/>
                  <a:gd name="T36" fmla="*/ 41 w 3499"/>
                  <a:gd name="T37" fmla="*/ 14 h 150"/>
                  <a:gd name="T38" fmla="*/ 9 w 3499"/>
                  <a:gd name="T39" fmla="*/ 20 h 150"/>
                  <a:gd name="T40" fmla="*/ 5 w 3499"/>
                  <a:gd name="T41"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99" h="150">
                    <a:moveTo>
                      <a:pt x="5" y="23"/>
                    </a:moveTo>
                    <a:lnTo>
                      <a:pt x="2" y="36"/>
                    </a:lnTo>
                    <a:lnTo>
                      <a:pt x="0" y="74"/>
                    </a:lnTo>
                    <a:lnTo>
                      <a:pt x="2" y="95"/>
                    </a:lnTo>
                    <a:lnTo>
                      <a:pt x="7" y="142"/>
                    </a:lnTo>
                    <a:lnTo>
                      <a:pt x="1720" y="147"/>
                    </a:lnTo>
                    <a:lnTo>
                      <a:pt x="3432" y="150"/>
                    </a:lnTo>
                    <a:lnTo>
                      <a:pt x="3465" y="97"/>
                    </a:lnTo>
                    <a:lnTo>
                      <a:pt x="3479" y="74"/>
                    </a:lnTo>
                    <a:lnTo>
                      <a:pt x="3497" y="32"/>
                    </a:lnTo>
                    <a:lnTo>
                      <a:pt x="3499" y="20"/>
                    </a:lnTo>
                    <a:lnTo>
                      <a:pt x="3496" y="17"/>
                    </a:lnTo>
                    <a:lnTo>
                      <a:pt x="3458" y="13"/>
                    </a:lnTo>
                    <a:lnTo>
                      <a:pt x="3321" y="7"/>
                    </a:lnTo>
                    <a:lnTo>
                      <a:pt x="2666" y="1"/>
                    </a:lnTo>
                    <a:lnTo>
                      <a:pt x="1757" y="0"/>
                    </a:lnTo>
                    <a:lnTo>
                      <a:pt x="795" y="0"/>
                    </a:lnTo>
                    <a:lnTo>
                      <a:pt x="161" y="7"/>
                    </a:lnTo>
                    <a:lnTo>
                      <a:pt x="41"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2" name="Freeform 11">
                <a:extLst>
                  <a:ext uri="{FF2B5EF4-FFF2-40B4-BE49-F238E27FC236}">
                    <a16:creationId xmlns:a16="http://schemas.microsoft.com/office/drawing/2014/main" id="{CE6C5757-6155-7B6C-FFF5-56C8E3B68BF1}"/>
                  </a:ext>
                </a:extLst>
              </p:cNvPr>
              <p:cNvSpPr>
                <a:spLocks/>
              </p:cNvSpPr>
              <p:nvPr/>
            </p:nvSpPr>
            <p:spPr bwMode="auto">
              <a:xfrm>
                <a:off x="10015708" y="3565865"/>
                <a:ext cx="534969" cy="25410"/>
              </a:xfrm>
              <a:custGeom>
                <a:avLst/>
                <a:gdLst>
                  <a:gd name="T0" fmla="*/ 5 w 3182"/>
                  <a:gd name="T1" fmla="*/ 23 h 150"/>
                  <a:gd name="T2" fmla="*/ 2 w 3182"/>
                  <a:gd name="T3" fmla="*/ 36 h 150"/>
                  <a:gd name="T4" fmla="*/ 0 w 3182"/>
                  <a:gd name="T5" fmla="*/ 74 h 150"/>
                  <a:gd name="T6" fmla="*/ 2 w 3182"/>
                  <a:gd name="T7" fmla="*/ 95 h 150"/>
                  <a:gd name="T8" fmla="*/ 7 w 3182"/>
                  <a:gd name="T9" fmla="*/ 142 h 150"/>
                  <a:gd name="T10" fmla="*/ 1595 w 3182"/>
                  <a:gd name="T11" fmla="*/ 147 h 150"/>
                  <a:gd name="T12" fmla="*/ 3182 w 3182"/>
                  <a:gd name="T13" fmla="*/ 150 h 150"/>
                  <a:gd name="T14" fmla="*/ 3182 w 3182"/>
                  <a:gd name="T15" fmla="*/ 75 h 150"/>
                  <a:gd name="T16" fmla="*/ 3182 w 3182"/>
                  <a:gd name="T17" fmla="*/ 0 h 150"/>
                  <a:gd name="T18" fmla="*/ 1599 w 3182"/>
                  <a:gd name="T19" fmla="*/ 0 h 150"/>
                  <a:gd name="T20" fmla="*/ 725 w 3182"/>
                  <a:gd name="T21" fmla="*/ 0 h 150"/>
                  <a:gd name="T22" fmla="*/ 148 w 3182"/>
                  <a:gd name="T23" fmla="*/ 7 h 150"/>
                  <a:gd name="T24" fmla="*/ 38 w 3182"/>
                  <a:gd name="T25" fmla="*/ 14 h 150"/>
                  <a:gd name="T26" fmla="*/ 9 w 3182"/>
                  <a:gd name="T27" fmla="*/ 20 h 150"/>
                  <a:gd name="T28" fmla="*/ 5 w 3182"/>
                  <a:gd name="T29"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82" h="150">
                    <a:moveTo>
                      <a:pt x="5" y="23"/>
                    </a:moveTo>
                    <a:lnTo>
                      <a:pt x="2" y="36"/>
                    </a:lnTo>
                    <a:lnTo>
                      <a:pt x="0" y="74"/>
                    </a:lnTo>
                    <a:lnTo>
                      <a:pt x="2" y="95"/>
                    </a:lnTo>
                    <a:lnTo>
                      <a:pt x="7" y="142"/>
                    </a:lnTo>
                    <a:lnTo>
                      <a:pt x="1595" y="147"/>
                    </a:lnTo>
                    <a:lnTo>
                      <a:pt x="3182" y="150"/>
                    </a:lnTo>
                    <a:lnTo>
                      <a:pt x="3182" y="75"/>
                    </a:lnTo>
                    <a:lnTo>
                      <a:pt x="3182" y="0"/>
                    </a:lnTo>
                    <a:lnTo>
                      <a:pt x="1599" y="0"/>
                    </a:lnTo>
                    <a:lnTo>
                      <a:pt x="725" y="0"/>
                    </a:lnTo>
                    <a:lnTo>
                      <a:pt x="148" y="7"/>
                    </a:lnTo>
                    <a:lnTo>
                      <a:pt x="38"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3" name="Freeform 12">
                <a:extLst>
                  <a:ext uri="{FF2B5EF4-FFF2-40B4-BE49-F238E27FC236}">
                    <a16:creationId xmlns:a16="http://schemas.microsoft.com/office/drawing/2014/main" id="{65137DC2-385F-3F92-3294-66335AA90964}"/>
                  </a:ext>
                </a:extLst>
              </p:cNvPr>
              <p:cNvSpPr>
                <a:spLocks/>
              </p:cNvSpPr>
              <p:nvPr/>
            </p:nvSpPr>
            <p:spPr bwMode="auto">
              <a:xfrm>
                <a:off x="10015708" y="3756440"/>
                <a:ext cx="591688" cy="24956"/>
              </a:xfrm>
              <a:custGeom>
                <a:avLst/>
                <a:gdLst>
                  <a:gd name="T0" fmla="*/ 5 w 3519"/>
                  <a:gd name="T1" fmla="*/ 22 h 148"/>
                  <a:gd name="T2" fmla="*/ 2 w 3519"/>
                  <a:gd name="T3" fmla="*/ 34 h 148"/>
                  <a:gd name="T4" fmla="*/ 0 w 3519"/>
                  <a:gd name="T5" fmla="*/ 73 h 148"/>
                  <a:gd name="T6" fmla="*/ 2 w 3519"/>
                  <a:gd name="T7" fmla="*/ 93 h 148"/>
                  <a:gd name="T8" fmla="*/ 7 w 3519"/>
                  <a:gd name="T9" fmla="*/ 140 h 148"/>
                  <a:gd name="T10" fmla="*/ 1762 w 3519"/>
                  <a:gd name="T11" fmla="*/ 145 h 148"/>
                  <a:gd name="T12" fmla="*/ 3519 w 3519"/>
                  <a:gd name="T13" fmla="*/ 148 h 148"/>
                  <a:gd name="T14" fmla="*/ 3479 w 3519"/>
                  <a:gd name="T15" fmla="*/ 78 h 148"/>
                  <a:gd name="T16" fmla="*/ 3440 w 3519"/>
                  <a:gd name="T17" fmla="*/ 7 h 148"/>
                  <a:gd name="T18" fmla="*/ 1727 w 3519"/>
                  <a:gd name="T19" fmla="*/ 2 h 148"/>
                  <a:gd name="T20" fmla="*/ 779 w 3519"/>
                  <a:gd name="T21" fmla="*/ 0 h 148"/>
                  <a:gd name="T22" fmla="*/ 158 w 3519"/>
                  <a:gd name="T23" fmla="*/ 5 h 148"/>
                  <a:gd name="T24" fmla="*/ 40 w 3519"/>
                  <a:gd name="T25" fmla="*/ 12 h 148"/>
                  <a:gd name="T26" fmla="*/ 9 w 3519"/>
                  <a:gd name="T27" fmla="*/ 18 h 148"/>
                  <a:gd name="T28" fmla="*/ 5 w 3519"/>
                  <a:gd name="T29" fmla="*/ 2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19" h="148">
                    <a:moveTo>
                      <a:pt x="5" y="22"/>
                    </a:moveTo>
                    <a:lnTo>
                      <a:pt x="2" y="34"/>
                    </a:lnTo>
                    <a:lnTo>
                      <a:pt x="0" y="73"/>
                    </a:lnTo>
                    <a:lnTo>
                      <a:pt x="2" y="93"/>
                    </a:lnTo>
                    <a:lnTo>
                      <a:pt x="7" y="140"/>
                    </a:lnTo>
                    <a:lnTo>
                      <a:pt x="1762" y="145"/>
                    </a:lnTo>
                    <a:lnTo>
                      <a:pt x="3519" y="148"/>
                    </a:lnTo>
                    <a:lnTo>
                      <a:pt x="3479" y="78"/>
                    </a:lnTo>
                    <a:lnTo>
                      <a:pt x="3440" y="7"/>
                    </a:lnTo>
                    <a:lnTo>
                      <a:pt x="1727" y="2"/>
                    </a:lnTo>
                    <a:lnTo>
                      <a:pt x="779" y="0"/>
                    </a:lnTo>
                    <a:lnTo>
                      <a:pt x="158" y="5"/>
                    </a:lnTo>
                    <a:lnTo>
                      <a:pt x="40"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4" name="Freeform 13">
                <a:extLst>
                  <a:ext uri="{FF2B5EF4-FFF2-40B4-BE49-F238E27FC236}">
                    <a16:creationId xmlns:a16="http://schemas.microsoft.com/office/drawing/2014/main" id="{C297F1D4-8F52-49B3-036D-665ACF2276A9}"/>
                  </a:ext>
                </a:extLst>
              </p:cNvPr>
              <p:cNvSpPr>
                <a:spLocks/>
              </p:cNvSpPr>
              <p:nvPr/>
            </p:nvSpPr>
            <p:spPr bwMode="auto">
              <a:xfrm>
                <a:off x="10015253" y="3949283"/>
                <a:ext cx="697865" cy="22688"/>
              </a:xfrm>
              <a:custGeom>
                <a:avLst/>
                <a:gdLst>
                  <a:gd name="T0" fmla="*/ 0 w 4150"/>
                  <a:gd name="T1" fmla="*/ 67 h 134"/>
                  <a:gd name="T2" fmla="*/ 0 w 4150"/>
                  <a:gd name="T3" fmla="*/ 134 h 134"/>
                  <a:gd name="T4" fmla="*/ 2075 w 4150"/>
                  <a:gd name="T5" fmla="*/ 134 h 134"/>
                  <a:gd name="T6" fmla="*/ 4150 w 4150"/>
                  <a:gd name="T7" fmla="*/ 134 h 134"/>
                  <a:gd name="T8" fmla="*/ 4150 w 4150"/>
                  <a:gd name="T9" fmla="*/ 67 h 134"/>
                  <a:gd name="T10" fmla="*/ 4150 w 4150"/>
                  <a:gd name="T11" fmla="*/ 0 h 134"/>
                  <a:gd name="T12" fmla="*/ 2075 w 4150"/>
                  <a:gd name="T13" fmla="*/ 0 h 134"/>
                  <a:gd name="T14" fmla="*/ 0 w 4150"/>
                  <a:gd name="T15" fmla="*/ 0 h 134"/>
                  <a:gd name="T16" fmla="*/ 0 w 4150"/>
                  <a:gd name="T17" fmla="*/ 6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50" h="134">
                    <a:moveTo>
                      <a:pt x="0" y="67"/>
                    </a:moveTo>
                    <a:lnTo>
                      <a:pt x="0" y="134"/>
                    </a:lnTo>
                    <a:lnTo>
                      <a:pt x="2075" y="134"/>
                    </a:lnTo>
                    <a:lnTo>
                      <a:pt x="4150" y="134"/>
                    </a:lnTo>
                    <a:lnTo>
                      <a:pt x="4150" y="67"/>
                    </a:lnTo>
                    <a:lnTo>
                      <a:pt x="4150" y="0"/>
                    </a:lnTo>
                    <a:lnTo>
                      <a:pt x="2075" y="0"/>
                    </a:lnTo>
                    <a:lnTo>
                      <a:pt x="0"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grpSp>
        <p:sp>
          <p:nvSpPr>
            <p:cNvPr id="6" name="Freeform 9">
              <a:extLst>
                <a:ext uri="{FF2B5EF4-FFF2-40B4-BE49-F238E27FC236}">
                  <a16:creationId xmlns:a16="http://schemas.microsoft.com/office/drawing/2014/main" id="{FBEC3EEF-C957-1B7D-96C0-A4D36C9628BD}"/>
                </a:ext>
              </a:extLst>
            </p:cNvPr>
            <p:cNvSpPr>
              <a:spLocks/>
            </p:cNvSpPr>
            <p:nvPr/>
          </p:nvSpPr>
          <p:spPr bwMode="auto">
            <a:xfrm flipH="1">
              <a:off x="1210776"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dirty="0"/>
            </a:p>
          </p:txBody>
        </p:sp>
      </p:grpSp>
      <p:sp>
        <p:nvSpPr>
          <p:cNvPr id="15" name="Rectangle 14">
            <a:extLst>
              <a:ext uri="{FF2B5EF4-FFF2-40B4-BE49-F238E27FC236}">
                <a16:creationId xmlns:a16="http://schemas.microsoft.com/office/drawing/2014/main" id="{36FD00A2-422F-C607-0B65-8E501539F9CC}"/>
              </a:ext>
            </a:extLst>
          </p:cNvPr>
          <p:cNvSpPr/>
          <p:nvPr/>
        </p:nvSpPr>
        <p:spPr>
          <a:xfrm>
            <a:off x="743801" y="1619815"/>
            <a:ext cx="8554076" cy="3958241"/>
          </a:xfrm>
          <a:prstGeom prst="rect">
            <a:avLst/>
          </a:prstGeom>
        </p:spPr>
        <p:txBody>
          <a:bodyPr anchor="ctr" anchorCtr="0">
            <a:noAutofit/>
          </a:bodyPr>
          <a:lstStyle/>
          <a:p>
            <a:pPr algn="just" rtl="1">
              <a:lnSpc>
                <a:spcPct val="150000"/>
              </a:lnSpc>
              <a:spcAft>
                <a:spcPts val="1200"/>
              </a:spcAft>
            </a:pPr>
            <a:r>
              <a:rPr lang="ar-SA" sz="2200" b="1" dirty="0"/>
              <a:t>يساعدنا تحليل</a:t>
            </a:r>
            <a:r>
              <a:rPr lang="ar-EG" sz="2200" b="1" dirty="0"/>
              <a:t> </a:t>
            </a:r>
            <a:r>
              <a:rPr lang="ar-SA" sz="2200" b="1" dirty="0"/>
              <a:t>فجوات المهارات </a:t>
            </a:r>
            <a:r>
              <a:rPr lang="ar-EG" sz="2200" b="1" dirty="0"/>
              <a:t>في تصميم خطة تدريبية مخصصة لتطوير المهارات المطلوبة وتحسين أداء فريق البنية المؤسسية</a:t>
            </a:r>
            <a:r>
              <a:rPr lang="ar-SA" sz="2200" b="1" dirty="0"/>
              <a:t>، كما تم تجميع المهام والمسؤوليات المرتبطة بكل مهارة في التحليل، وذلك لضمان تحديد المهارات المطلوبة بشكل دقيق ومتناسق مع متطلبات الدور الوظيفي والأهداف الاستراتيجية للهيئة.</a:t>
            </a:r>
          </a:p>
          <a:p>
            <a:pPr algn="r" rtl="1" fontAlgn="base">
              <a:lnSpc>
                <a:spcPct val="150000"/>
              </a:lnSpc>
              <a:spcBef>
                <a:spcPts val="0"/>
              </a:spcBef>
              <a:spcAft>
                <a:spcPts val="0"/>
              </a:spcAft>
            </a:pPr>
            <a:endParaRPr lang="ar-SA" sz="2000" b="0" i="0" u="none" strike="noStrike" dirty="0">
              <a:solidFill>
                <a:srgbClr val="000000"/>
              </a:solidFill>
              <a:effectLst/>
              <a:latin typeface="Arial" panose="020B0604020202020204" pitchFamily="34" charset="0"/>
            </a:endParaRPr>
          </a:p>
          <a:p>
            <a:pPr algn="r" rtl="1" fontAlgn="base">
              <a:lnSpc>
                <a:spcPct val="150000"/>
              </a:lnSpc>
              <a:spcBef>
                <a:spcPts val="0"/>
              </a:spcBef>
              <a:spcAft>
                <a:spcPts val="0"/>
              </a:spcAft>
            </a:pPr>
            <a:r>
              <a:rPr lang="ar-SA" sz="2000" b="0" i="0" u="none" strike="noStrike" dirty="0">
                <a:solidFill>
                  <a:srgbClr val="000000"/>
                </a:solidFill>
                <a:effectLst/>
                <a:latin typeface="Arial" panose="020B0604020202020204" pitchFamily="34" charset="0"/>
              </a:rPr>
              <a:t>تم تصنيف المهارات إلى </a:t>
            </a:r>
            <a:r>
              <a:rPr lang="ar-SA" sz="2000" b="1" i="0" strike="noStrike" dirty="0">
                <a:solidFill>
                  <a:srgbClr val="000000"/>
                </a:solidFill>
                <a:effectLst/>
                <a:latin typeface="Arial" panose="020B0604020202020204" pitchFamily="34" charset="0"/>
              </a:rPr>
              <a:t>شخصية</a:t>
            </a:r>
            <a:r>
              <a:rPr lang="ar-SA" sz="2000" i="0" strike="noStrike" dirty="0">
                <a:solidFill>
                  <a:srgbClr val="000000"/>
                </a:solidFill>
                <a:effectLst/>
                <a:latin typeface="Arial" panose="020B0604020202020204" pitchFamily="34" charset="0"/>
              </a:rPr>
              <a:t> و</a:t>
            </a:r>
            <a:r>
              <a:rPr lang="ar-SA" sz="2000" b="1" i="0" strike="noStrike" dirty="0">
                <a:solidFill>
                  <a:srgbClr val="000000"/>
                </a:solidFill>
                <a:effectLst/>
                <a:latin typeface="Arial" panose="020B0604020202020204" pitchFamily="34" charset="0"/>
              </a:rPr>
              <a:t>فنية</a:t>
            </a:r>
            <a:r>
              <a:rPr lang="ar-SA" sz="2000" i="0" strike="noStrike" dirty="0">
                <a:solidFill>
                  <a:srgbClr val="000000"/>
                </a:solidFill>
                <a:effectLst/>
                <a:latin typeface="Arial" panose="020B0604020202020204" pitchFamily="34" charset="0"/>
              </a:rPr>
              <a:t> </a:t>
            </a:r>
            <a:r>
              <a:rPr lang="ar-SA" sz="2000" b="0" i="0" u="none" strike="noStrike" dirty="0">
                <a:solidFill>
                  <a:srgbClr val="000000"/>
                </a:solidFill>
                <a:effectLst/>
                <a:latin typeface="Arial" panose="020B0604020202020204" pitchFamily="34" charset="0"/>
              </a:rPr>
              <a:t>بناء على طبيعتها:</a:t>
            </a:r>
          </a:p>
          <a:p>
            <a:pPr marL="742950" lvl="1" indent="-285750" algn="r" rtl="1" fontAlgn="base">
              <a:lnSpc>
                <a:spcPct val="150000"/>
              </a:lnSpc>
              <a:spcBef>
                <a:spcPts val="0"/>
              </a:spcBef>
              <a:spcAft>
                <a:spcPts val="0"/>
              </a:spcAft>
              <a:buFont typeface="Arial" panose="020B0604020202020204" pitchFamily="34" charset="0"/>
              <a:buChar char="•"/>
            </a:pPr>
            <a:r>
              <a:rPr lang="ar-SA" sz="2000" i="0" u="sng" strike="noStrike" dirty="0">
                <a:solidFill>
                  <a:srgbClr val="000000"/>
                </a:solidFill>
                <a:effectLst/>
                <a:latin typeface="Arial" panose="020B0604020202020204" pitchFamily="34" charset="0"/>
              </a:rPr>
              <a:t>المهارات الشخصية</a:t>
            </a:r>
            <a:r>
              <a:rPr lang="ar-SA" sz="2000" b="1" i="0" u="none" strike="noStrike" dirty="0">
                <a:solidFill>
                  <a:srgbClr val="000000"/>
                </a:solidFill>
                <a:effectLst/>
                <a:latin typeface="Arial" panose="020B0604020202020204" pitchFamily="34" charset="0"/>
              </a:rPr>
              <a:t>:</a:t>
            </a:r>
            <a:r>
              <a:rPr lang="ar-SA" sz="2000" b="0" i="0" u="none" strike="noStrike" dirty="0">
                <a:solidFill>
                  <a:srgbClr val="000000"/>
                </a:solidFill>
                <a:effectLst/>
                <a:latin typeface="Arial" panose="020B0604020202020204" pitchFamily="34" charset="0"/>
              </a:rPr>
              <a:t> تتعلق بالقدرات القيادية، التواصل، والتفاعل مع الآخرين</a:t>
            </a:r>
          </a:p>
          <a:p>
            <a:pPr marL="742950" lvl="1" indent="-285750" algn="r" rtl="1" fontAlgn="base">
              <a:lnSpc>
                <a:spcPct val="150000"/>
              </a:lnSpc>
              <a:spcBef>
                <a:spcPts val="0"/>
              </a:spcBef>
              <a:spcAft>
                <a:spcPts val="1200"/>
              </a:spcAft>
              <a:buFont typeface="Arial" panose="020B0604020202020204" pitchFamily="34" charset="0"/>
              <a:buChar char="•"/>
            </a:pPr>
            <a:r>
              <a:rPr lang="ar-SA" sz="2000" i="0" u="sng" strike="noStrike" dirty="0">
                <a:solidFill>
                  <a:srgbClr val="000000"/>
                </a:solidFill>
                <a:effectLst/>
                <a:latin typeface="Arial" panose="020B0604020202020204" pitchFamily="34" charset="0"/>
              </a:rPr>
              <a:t>المهارات الفنية</a:t>
            </a:r>
            <a:r>
              <a:rPr lang="ar-SA" sz="2000" b="1" i="0" u="none" strike="noStrike" dirty="0">
                <a:solidFill>
                  <a:srgbClr val="000000"/>
                </a:solidFill>
                <a:effectLst/>
                <a:latin typeface="Arial" panose="020B0604020202020204" pitchFamily="34" charset="0"/>
              </a:rPr>
              <a:t>:</a:t>
            </a:r>
            <a:r>
              <a:rPr lang="ar-SA" sz="2000" b="0" i="0" u="none" strike="noStrike" dirty="0">
                <a:solidFill>
                  <a:srgbClr val="000000"/>
                </a:solidFill>
                <a:effectLst/>
                <a:latin typeface="Arial" panose="020B0604020202020204" pitchFamily="34" charset="0"/>
              </a:rPr>
              <a:t> تتعلق بالمعرفة التقنية والقدرات المتخصصة في مجال البنية المؤسسية</a:t>
            </a:r>
            <a:endParaRPr lang="ar-SA" sz="2200"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9252038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0BE4EC83-A869-464E-AE9F-881796FB085E}" type="slidenum">
              <a:rPr lang="en-US" smtClean="0"/>
              <a:pPr/>
              <a:t>13</a:t>
            </a:fld>
            <a:endParaRPr lang="en-US"/>
          </a:p>
        </p:txBody>
      </p:sp>
      <p:sp>
        <p:nvSpPr>
          <p:cNvPr id="10" name="Title 1">
            <a:extLst>
              <a:ext uri="{FF2B5EF4-FFF2-40B4-BE49-F238E27FC236}">
                <a16:creationId xmlns:a16="http://schemas.microsoft.com/office/drawing/2014/main" id="{51F2F6C5-4BEB-1765-B9C5-3DE329A35AD5}"/>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تعريفات مستويات المهارات في تحليل فجوات المهارات</a:t>
            </a:r>
          </a:p>
        </p:txBody>
      </p:sp>
      <p:graphicFrame>
        <p:nvGraphicFramePr>
          <p:cNvPr id="28" name="Content Placeholder 5">
            <a:extLst>
              <a:ext uri="{FF2B5EF4-FFF2-40B4-BE49-F238E27FC236}">
                <a16:creationId xmlns:a16="http://schemas.microsoft.com/office/drawing/2014/main" id="{1A0CF85B-D625-9A87-FC20-BA6C835002D6}"/>
              </a:ext>
            </a:extLst>
          </p:cNvPr>
          <p:cNvGraphicFramePr>
            <a:graphicFrameLocks/>
          </p:cNvGraphicFramePr>
          <p:nvPr>
            <p:extLst>
              <p:ext uri="{D42A27DB-BD31-4B8C-83A1-F6EECF244321}">
                <p14:modId xmlns:p14="http://schemas.microsoft.com/office/powerpoint/2010/main" val="3856738834"/>
              </p:ext>
            </p:extLst>
          </p:nvPr>
        </p:nvGraphicFramePr>
        <p:xfrm>
          <a:off x="744718" y="1417320"/>
          <a:ext cx="10776493" cy="3458091"/>
        </p:xfrm>
        <a:graphic>
          <a:graphicData uri="http://schemas.openxmlformats.org/drawingml/2006/table">
            <a:tbl>
              <a:tblPr rtl="1" firstRow="1" bandRow="1">
                <a:tableStyleId>{5C22544A-7EE6-4342-B048-85BDC9FD1C3A}</a:tableStyleId>
              </a:tblPr>
              <a:tblGrid>
                <a:gridCol w="2424345">
                  <a:extLst>
                    <a:ext uri="{9D8B030D-6E8A-4147-A177-3AD203B41FA5}">
                      <a16:colId xmlns:a16="http://schemas.microsoft.com/office/drawing/2014/main" val="72010324"/>
                    </a:ext>
                  </a:extLst>
                </a:gridCol>
                <a:gridCol w="8352148">
                  <a:extLst>
                    <a:ext uri="{9D8B030D-6E8A-4147-A177-3AD203B41FA5}">
                      <a16:colId xmlns:a16="http://schemas.microsoft.com/office/drawing/2014/main" val="2225789071"/>
                    </a:ext>
                  </a:extLst>
                </a:gridCol>
              </a:tblGrid>
              <a:tr h="724082">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800" b="1"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ممتاز</a:t>
                      </a:r>
                      <a:endParaRPr kumimoji="0" lang="en-US" sz="2800" b="1"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endParaRPr>
                    </a:p>
                  </a:txBody>
                  <a:tcPr marL="137160" marR="137160" marT="137160" marB="137160" anchor="ctr">
                    <a:lnB w="12700" cap="flat" cmpd="sng" algn="ctr">
                      <a:solidFill>
                        <a:schemeClr val="accent2"/>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400" b="0"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يشير إلى ضرورة التمكن الكامل من المهارة والقدرة على تطبيقها بشكل فعال في جميع الظروف</a:t>
                      </a:r>
                    </a:p>
                  </a:txBody>
                  <a:tcPr marL="137160" marR="137160" marT="137160" marB="137160" anchor="ctr">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769981722"/>
                  </a:ext>
                </a:extLst>
              </a:tr>
              <a:tr h="724082">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800" b="1"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جيد جدا</a:t>
                      </a:r>
                      <a:endParaRPr kumimoji="0" lang="en-US" sz="2800" b="1"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endParaRPr>
                    </a:p>
                  </a:txBody>
                  <a:tcPr marL="137160" marR="137160" marT="137160" marB="13716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400" b="0"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يشير إلى امتلاك مستوى عال من المهارة، مع القدرة على تطبيقها بفعالية في أغلب الظروف</a:t>
                      </a:r>
                    </a:p>
                  </a:txBody>
                  <a:tcPr marL="137160" marR="137160" marT="137160" marB="13716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968815825"/>
                  </a:ext>
                </a:extLst>
              </a:tr>
              <a:tr h="1004087">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8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جيد</a:t>
                      </a:r>
                      <a:endParaRPr kumimoji="0" lang="en-US" sz="28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endParaRPr>
                    </a:p>
                  </a:txBody>
                  <a:tcPr marL="137160" marR="137160" marT="137160" marB="13716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400" b="0"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يشير إلى وجود معرفة وخبرة جيدة في المهارة، مع القدرة على تطبيقها بشكل ناجح في معظم الحالات</a:t>
                      </a:r>
                    </a:p>
                  </a:txBody>
                  <a:tcPr marL="137160" marR="137160" marT="137160" marB="13716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592398942"/>
                  </a:ext>
                </a:extLst>
              </a:tr>
              <a:tr h="1004087">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28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متوسط</a:t>
                      </a:r>
                      <a:endParaRPr kumimoji="0" lang="en-US" sz="28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endParaRPr>
                    </a:p>
                  </a:txBody>
                  <a:tcPr marL="137160" marR="137160" marT="137160" marB="13716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400" b="0"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يشير إلى الفهم الأساسي للمهارة مع القدرة على تطبيقها في الحالات البسيطة أو الروتينية، مع الحاجة إلى دعم مستمر أو إشراف في الحالات الأكثر تقدما</a:t>
                      </a:r>
                    </a:p>
                  </a:txBody>
                  <a:tcPr marL="137160" marR="137160" marT="137160" marB="13716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3425585210"/>
                  </a:ext>
                </a:extLst>
              </a:tr>
            </a:tbl>
          </a:graphicData>
        </a:graphic>
      </p:graphicFrame>
    </p:spTree>
    <p:extLst>
      <p:ext uri="{BB962C8B-B14F-4D97-AF65-F5344CB8AC3E}">
        <p14:creationId xmlns:p14="http://schemas.microsoft.com/office/powerpoint/2010/main" val="1631390725"/>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14</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تحليل فجوات المهارات </a:t>
            </a:r>
            <a:r>
              <a:rPr lang="ar-SA" dirty="0"/>
              <a:t>لـ "</a:t>
            </a:r>
            <a:r>
              <a:rPr lang="ar-EG" dirty="0"/>
              <a:t>م. دانا الغضبان</a:t>
            </a:r>
            <a:r>
              <a:rPr lang="ar-SA" dirty="0"/>
              <a:t>" (</a:t>
            </a:r>
            <a:r>
              <a:rPr lang="en-US" dirty="0"/>
              <a:t>1 / 2</a:t>
            </a:r>
            <a:r>
              <a:rPr lang="ar-SA" dirty="0"/>
              <a:t>)</a:t>
            </a:r>
            <a:endParaRPr lang="en-US" dirty="0"/>
          </a:p>
        </p:txBody>
      </p:sp>
      <p:graphicFrame>
        <p:nvGraphicFramePr>
          <p:cNvPr id="5" name="Table 4">
            <a:extLst>
              <a:ext uri="{FF2B5EF4-FFF2-40B4-BE49-F238E27FC236}">
                <a16:creationId xmlns:a16="http://schemas.microsoft.com/office/drawing/2014/main" id="{3919E36B-CC27-4E77-828F-D6A84689731C}"/>
              </a:ext>
            </a:extLst>
          </p:cNvPr>
          <p:cNvGraphicFramePr>
            <a:graphicFrameLocks noGrp="1"/>
          </p:cNvGraphicFramePr>
          <p:nvPr>
            <p:extLst>
              <p:ext uri="{D42A27DB-BD31-4B8C-83A1-F6EECF244321}">
                <p14:modId xmlns:p14="http://schemas.microsoft.com/office/powerpoint/2010/main" val="826383682"/>
              </p:ext>
            </p:extLst>
          </p:nvPr>
        </p:nvGraphicFramePr>
        <p:xfrm>
          <a:off x="502919" y="929930"/>
          <a:ext cx="11175447" cy="5118531"/>
        </p:xfrm>
        <a:graphic>
          <a:graphicData uri="http://schemas.openxmlformats.org/drawingml/2006/table">
            <a:tbl>
              <a:tblPr rtl="1" firstRow="1" bandRow="1">
                <a:tableStyleId>{5C22544A-7EE6-4342-B048-85BDC9FD1C3A}</a:tableStyleId>
              </a:tblPr>
              <a:tblGrid>
                <a:gridCol w="1890381">
                  <a:extLst>
                    <a:ext uri="{9D8B030D-6E8A-4147-A177-3AD203B41FA5}">
                      <a16:colId xmlns:a16="http://schemas.microsoft.com/office/drawing/2014/main" val="1858967670"/>
                    </a:ext>
                  </a:extLst>
                </a:gridCol>
                <a:gridCol w="6432137">
                  <a:extLst>
                    <a:ext uri="{9D8B030D-6E8A-4147-A177-3AD203B41FA5}">
                      <a16:colId xmlns:a16="http://schemas.microsoft.com/office/drawing/2014/main" val="4015586876"/>
                    </a:ext>
                  </a:extLst>
                </a:gridCol>
                <a:gridCol w="914400">
                  <a:extLst>
                    <a:ext uri="{9D8B030D-6E8A-4147-A177-3AD203B41FA5}">
                      <a16:colId xmlns:a16="http://schemas.microsoft.com/office/drawing/2014/main" val="1989554894"/>
                    </a:ext>
                  </a:extLst>
                </a:gridCol>
                <a:gridCol w="1033272">
                  <a:extLst>
                    <a:ext uri="{9D8B030D-6E8A-4147-A177-3AD203B41FA5}">
                      <a16:colId xmlns:a16="http://schemas.microsoft.com/office/drawing/2014/main" val="3895440905"/>
                    </a:ext>
                  </a:extLst>
                </a:gridCol>
                <a:gridCol w="905257">
                  <a:extLst>
                    <a:ext uri="{9D8B030D-6E8A-4147-A177-3AD203B41FA5}">
                      <a16:colId xmlns:a16="http://schemas.microsoft.com/office/drawing/2014/main" val="2911951988"/>
                    </a:ext>
                  </a:extLst>
                </a:gridCol>
              </a:tblGrid>
              <a:tr h="459239">
                <a:tc gridSpan="2">
                  <a:txBody>
                    <a:bodyPr/>
                    <a:lstStyle/>
                    <a:p>
                      <a:pPr algn="ctr" rtl="1"/>
                      <a:r>
                        <a:rPr lang="ar-SA" sz="2000" kern="1200" dirty="0">
                          <a:solidFill>
                            <a:schemeClr val="bg2"/>
                          </a:solidFill>
                          <a:latin typeface="+mn-lt"/>
                          <a:ea typeface="+mn-ea"/>
                          <a:cs typeface="+mn-cs"/>
                        </a:rPr>
                        <a:t>المسمى الوظيفي</a:t>
                      </a:r>
                      <a:endParaRPr lang="en-US" sz="2000" kern="1200" dirty="0">
                        <a:solidFill>
                          <a:schemeClr val="bg2"/>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000" kern="1200" dirty="0">
                          <a:solidFill>
                            <a:schemeClr val="bg2"/>
                          </a:solidFill>
                          <a:latin typeface="+mn-lt"/>
                          <a:ea typeface="+mn-ea"/>
                          <a:cs typeface="+mn-cs"/>
                        </a:rPr>
                        <a:t>اسم الموظف </a:t>
                      </a:r>
                      <a:endParaRPr lang="en-US" sz="2000" kern="1200" dirty="0">
                        <a:solidFill>
                          <a:schemeClr val="bg2"/>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5582564"/>
                  </a:ext>
                </a:extLst>
              </a:tr>
              <a:tr h="474255">
                <a:tc gridSpan="2">
                  <a:txBody>
                    <a:bodyPr/>
                    <a:lstStyle/>
                    <a:p>
                      <a:pPr algn="ctr" rtl="1"/>
                      <a:r>
                        <a:rPr lang="ar-SA" sz="2400" b="1" kern="1200" dirty="0">
                          <a:solidFill>
                            <a:schemeClr val="tx1">
                              <a:lumMod val="75000"/>
                              <a:lumOff val="25000"/>
                            </a:schemeClr>
                          </a:solidFill>
                          <a:latin typeface="+mn-lt"/>
                          <a:ea typeface="+mn-ea"/>
                          <a:cs typeface="+mn-cs"/>
                        </a:rPr>
                        <a:t>مدير قسم البنية المؤسسية</a:t>
                      </a:r>
                      <a:endParaRPr lang="en-US" sz="2400" b="1" kern="1200" dirty="0">
                        <a:solidFill>
                          <a:schemeClr val="tx1">
                            <a:lumMod val="75000"/>
                            <a:lumOff val="25000"/>
                          </a:schemeClr>
                        </a:solidFill>
                        <a:latin typeface="+mn-lt"/>
                        <a:ea typeface="+mn-ea"/>
                        <a:cs typeface="+mn-cs"/>
                      </a:endParaRP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400" b="1" kern="1200" dirty="0">
                          <a:solidFill>
                            <a:schemeClr val="tx1">
                              <a:lumMod val="75000"/>
                              <a:lumOff val="25000"/>
                            </a:schemeClr>
                          </a:solidFill>
                          <a:latin typeface="+mn-lt"/>
                          <a:ea typeface="+mn-ea"/>
                          <a:cs typeface="+mn-cs"/>
                        </a:rPr>
                        <a:t>م. دانا الغضبان</a:t>
                      </a: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3059069381"/>
                  </a:ext>
                </a:extLst>
              </a:tr>
              <a:tr h="663957">
                <a:tc>
                  <a:txBody>
                    <a:bodyPr/>
                    <a:lstStyle/>
                    <a:p>
                      <a:pPr algn="ctr" rtl="1"/>
                      <a:r>
                        <a:rPr lang="ar-SA" sz="2000" b="1" kern="1200" dirty="0">
                          <a:solidFill>
                            <a:schemeClr val="bg2"/>
                          </a:solidFill>
                          <a:latin typeface="+mn-lt"/>
                          <a:ea typeface="+mn-ea"/>
                          <a:cs typeface="+mn-cs"/>
                        </a:rPr>
                        <a:t>اسم المهارة </a:t>
                      </a:r>
                      <a:endParaRPr lang="en-US" sz="2000" b="1" kern="1200" dirty="0">
                        <a:solidFill>
                          <a:schemeClr val="bg2"/>
                        </a:solidFill>
                        <a:latin typeface="+mn-lt"/>
                        <a:ea typeface="+mn-ea"/>
                        <a:cs typeface="+mn-cs"/>
                      </a:endParaRPr>
                    </a:p>
                  </a:txBody>
                  <a:tcPr anchor="ctr">
                    <a:solidFill>
                      <a:schemeClr val="accent1"/>
                    </a:solidFill>
                  </a:tcPr>
                </a:tc>
                <a:tc>
                  <a:txBody>
                    <a:bodyPr/>
                    <a:lstStyle/>
                    <a:p>
                      <a:pPr algn="ctr" rtl="1"/>
                      <a:r>
                        <a:rPr lang="ar-SA" sz="2000" b="1" kern="1200" dirty="0">
                          <a:solidFill>
                            <a:schemeClr val="bg2"/>
                          </a:solidFill>
                          <a:latin typeface="+mn-lt"/>
                          <a:ea typeface="+mn-ea"/>
                          <a:cs typeface="+mn-cs"/>
                        </a:rPr>
                        <a:t>المهام والمسؤوليات المرتبطة</a:t>
                      </a:r>
                      <a:endParaRPr lang="en-US" sz="2000" b="1" kern="1200" dirty="0">
                        <a:solidFill>
                          <a:schemeClr val="bg2"/>
                        </a:solidFill>
                        <a:latin typeface="+mn-lt"/>
                        <a:ea typeface="+mn-ea"/>
                        <a:cs typeface="+mn-cs"/>
                      </a:endParaRPr>
                    </a:p>
                  </a:txBody>
                  <a:tcPr anchor="ctr">
                    <a:solidFill>
                      <a:schemeClr val="accent1"/>
                    </a:solidFill>
                  </a:tcPr>
                </a:tc>
                <a:tc>
                  <a:txBody>
                    <a:bodyPr/>
                    <a:lstStyle/>
                    <a:p>
                      <a:pPr algn="ctr" rtl="1"/>
                      <a:r>
                        <a:rPr lang="ar-SA" sz="1800" b="1" kern="1200" dirty="0">
                          <a:solidFill>
                            <a:schemeClr val="bg2"/>
                          </a:solidFill>
                          <a:latin typeface="+mn-lt"/>
                          <a:ea typeface="+mn-ea"/>
                          <a:cs typeface="+mn-cs"/>
                        </a:rPr>
                        <a:t>نوع المهارة </a:t>
                      </a:r>
                      <a:endParaRPr lang="en-US" sz="1800" b="1" kern="1200" dirty="0">
                        <a:solidFill>
                          <a:schemeClr val="bg2"/>
                        </a:solidFill>
                        <a:latin typeface="+mn-lt"/>
                        <a:ea typeface="+mn-ea"/>
                        <a:cs typeface="+mn-cs"/>
                      </a:endParaRPr>
                    </a:p>
                  </a:txBody>
                  <a:tcPr anchor="ctr">
                    <a:solidFill>
                      <a:schemeClr val="accent1"/>
                    </a:solidFill>
                  </a:tcPr>
                </a:tc>
                <a:tc>
                  <a:txBody>
                    <a:bodyPr/>
                    <a:lstStyle/>
                    <a:p>
                      <a:pPr algn="ctr" rtl="1"/>
                      <a:r>
                        <a:rPr lang="ar-SA" sz="1800" b="1" kern="1200" dirty="0">
                          <a:solidFill>
                            <a:schemeClr val="bg2"/>
                          </a:solidFill>
                          <a:latin typeface="+mn-lt"/>
                          <a:ea typeface="+mn-ea"/>
                          <a:cs typeface="+mn-cs"/>
                        </a:rPr>
                        <a:t>المستوى المطلوب</a:t>
                      </a:r>
                      <a:endParaRPr lang="en-US" sz="1800" b="1" kern="1200" dirty="0">
                        <a:solidFill>
                          <a:schemeClr val="bg2"/>
                        </a:solidFill>
                        <a:latin typeface="+mn-lt"/>
                        <a:ea typeface="+mn-ea"/>
                        <a:cs typeface="+mn-cs"/>
                      </a:endParaRPr>
                    </a:p>
                  </a:txBody>
                  <a:tcPr anchor="ctr">
                    <a:solidFill>
                      <a:schemeClr val="accent1"/>
                    </a:solidFill>
                  </a:tcPr>
                </a:tc>
                <a:tc>
                  <a:txBody>
                    <a:bodyPr/>
                    <a:lstStyle/>
                    <a:p>
                      <a:pPr algn="ctr" rtl="1"/>
                      <a:r>
                        <a:rPr lang="ar-SA" sz="1800" b="1" kern="1200">
                          <a:solidFill>
                            <a:schemeClr val="bg2"/>
                          </a:solidFill>
                          <a:latin typeface="+mn-lt"/>
                          <a:ea typeface="+mn-ea"/>
                          <a:cs typeface="+mn-cs"/>
                        </a:rPr>
                        <a:t>المستوى الحالي</a:t>
                      </a:r>
                      <a:endParaRPr lang="en-US" sz="1800" b="1" kern="1200" dirty="0">
                        <a:solidFill>
                          <a:schemeClr val="bg2"/>
                        </a:solidFill>
                        <a:latin typeface="+mn-lt"/>
                        <a:ea typeface="+mn-ea"/>
                        <a:cs typeface="+mn-cs"/>
                      </a:endParaRPr>
                    </a:p>
                  </a:txBody>
                  <a:tcPr anchor="ctr">
                    <a:solidFill>
                      <a:schemeClr val="accent1"/>
                    </a:solidFill>
                  </a:tcPr>
                </a:tc>
                <a:extLst>
                  <a:ext uri="{0D108BD9-81ED-4DB2-BD59-A6C34878D82A}">
                    <a16:rowId xmlns:a16="http://schemas.microsoft.com/office/drawing/2014/main" val="2198393076"/>
                  </a:ext>
                </a:extLst>
              </a:tr>
              <a:tr h="704216">
                <a:tc>
                  <a:txBody>
                    <a:bodyPr/>
                    <a:lstStyle/>
                    <a:p>
                      <a:pPr algn="ctr" rtl="1" fontAlgn="b"/>
                      <a:r>
                        <a:rPr lang="ar-SA" sz="1800" b="1" i="0" u="none" strike="noStrike" dirty="0">
                          <a:solidFill>
                            <a:schemeClr val="bg1"/>
                          </a:solidFill>
                          <a:effectLst/>
                          <a:latin typeface="Calibri" panose="020F0502020204030204" pitchFamily="34" charset="0"/>
                        </a:rPr>
                        <a:t>التخطيط الاستراتيجي</a:t>
                      </a:r>
                    </a:p>
                  </a:txBody>
                  <a:tcPr anchor="ctr">
                    <a:solidFill>
                      <a:schemeClr val="accent1"/>
                    </a:solidFill>
                  </a:tcPr>
                </a:tc>
                <a:tc>
                  <a:txBody>
                    <a:bodyPr/>
                    <a:lstStyle/>
                    <a:p>
                      <a:pPr marL="285750" indent="-285750" algn="r" rtl="1" fontAlgn="b">
                        <a:buFont typeface="Arial" panose="020B0604020202020204" pitchFamily="34" charset="0"/>
                        <a:buChar char="•"/>
                      </a:pPr>
                      <a:r>
                        <a:rPr lang="ar-SA" sz="1600" b="0" i="0" u="none" strike="noStrike" dirty="0">
                          <a:solidFill>
                            <a:srgbClr val="000000"/>
                          </a:solidFill>
                          <a:effectLst/>
                          <a:latin typeface="Calibri" panose="020F0502020204030204" pitchFamily="34" charset="0"/>
                        </a:rPr>
                        <a:t>تطوير وتنفيذ استراتيجية البنية المؤسسية بما يتماشى مع أهداف الهيئة ورؤيتها</a:t>
                      </a:r>
                    </a:p>
                    <a:p>
                      <a:pPr marL="285750" indent="-285750" algn="r" rtl="1" fontAlgn="b">
                        <a:buFont typeface="Arial" panose="020B0604020202020204" pitchFamily="34" charset="0"/>
                        <a:buChar char="•"/>
                      </a:pPr>
                      <a:r>
                        <a:rPr lang="ar-SA" sz="1600" b="0" i="0" u="none" strike="noStrike" dirty="0">
                          <a:solidFill>
                            <a:srgbClr val="000000"/>
                          </a:solidFill>
                          <a:effectLst/>
                          <a:latin typeface="Calibri" panose="020F0502020204030204" pitchFamily="34" charset="0"/>
                        </a:rPr>
                        <a:t>تطوير وإدارة خارطة طريق البنية المؤسسية ومتابعة تنفيذها لتحقيق الأهداف المرجوة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شخصية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ممتاز</a:t>
                      </a:r>
                    </a:p>
                  </a:txBody>
                  <a:tcPr anchor="ctr"/>
                </a:tc>
                <a:tc>
                  <a:txBody>
                    <a:bodyPr/>
                    <a:lstStyle/>
                    <a:p>
                      <a:pPr algn="ctr" rtl="1" fontAlgn="b"/>
                      <a:r>
                        <a:rPr lang="ar-SA" sz="1400" b="0" i="0" u="none" strike="noStrike" dirty="0">
                          <a:solidFill>
                            <a:srgbClr val="000000"/>
                          </a:solidFill>
                          <a:effectLst/>
                          <a:latin typeface="Calibri" panose="020F0502020204030204" pitchFamily="34" charset="0"/>
                        </a:rPr>
                        <a:t>وفق نموذج التقييم القبلي</a:t>
                      </a:r>
                    </a:p>
                  </a:txBody>
                  <a:tcPr anchor="ctr"/>
                </a:tc>
                <a:extLst>
                  <a:ext uri="{0D108BD9-81ED-4DB2-BD59-A6C34878D82A}">
                    <a16:rowId xmlns:a16="http://schemas.microsoft.com/office/drawing/2014/main" val="1820247470"/>
                  </a:ext>
                </a:extLst>
              </a:tr>
              <a:tr h="704216">
                <a:tc>
                  <a:txBody>
                    <a:bodyPr/>
                    <a:lstStyle/>
                    <a:p>
                      <a:pPr algn="ctr" rtl="1" fontAlgn="b"/>
                      <a:r>
                        <a:rPr lang="ar-SA" sz="1800" b="1" i="0" u="none" strike="noStrike">
                          <a:solidFill>
                            <a:schemeClr val="bg1"/>
                          </a:solidFill>
                          <a:effectLst/>
                          <a:latin typeface="Calibri" panose="020F0502020204030204" pitchFamily="34" charset="0"/>
                        </a:rPr>
                        <a:t>القيادة </a:t>
                      </a:r>
                      <a:r>
                        <a:rPr lang="ar-SA" sz="1800" b="1" i="0" u="none" strike="noStrike" dirty="0">
                          <a:solidFill>
                            <a:schemeClr val="bg1"/>
                          </a:solidFill>
                          <a:effectLst/>
                          <a:latin typeface="Calibri" panose="020F0502020204030204" pitchFamily="34" charset="0"/>
                        </a:rPr>
                        <a:t>وإدارة الفريق</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قيادة وتوجيه فريق البنية المؤسسية في مجالات الأعمال، التطبيقات، البيانات، والتقنية</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تطوير مهارات فريق البنية المؤسسية من خلال التدريب والتوجيه المستمر</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شخصية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ممتاز</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3192081354"/>
                  </a:ext>
                </a:extLst>
              </a:tr>
              <a:tr h="704216">
                <a:tc>
                  <a:txBody>
                    <a:bodyPr/>
                    <a:lstStyle/>
                    <a:p>
                      <a:pPr algn="ctr" rtl="1" fontAlgn="b"/>
                      <a:r>
                        <a:rPr lang="ar-SA" sz="1800" b="1" i="0" u="none" strike="noStrike" dirty="0">
                          <a:solidFill>
                            <a:schemeClr val="bg1"/>
                          </a:solidFill>
                          <a:effectLst/>
                          <a:latin typeface="Calibri" panose="020F0502020204030204" pitchFamily="34" charset="0"/>
                        </a:rPr>
                        <a:t>المعرفة بالبنية المؤسسية وأطر العمل</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تطوير وتحديث إطار عمل البنية المؤسسية والنماذج المرجعية وفقا لأفضل الممارسات</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متابعة أحدث الممارسات والتوجهات في مجال البنية المؤسسية وتطبيقها في الهيئة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ممتاز</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3833028501"/>
                  </a:ext>
                </a:extLst>
              </a:tr>
              <a:tr h="704216">
                <a:tc>
                  <a:txBody>
                    <a:bodyPr/>
                    <a:lstStyle/>
                    <a:p>
                      <a:pPr algn="ctr" rtl="1" fontAlgn="b"/>
                      <a:r>
                        <a:rPr lang="ar-SA" sz="1800" b="1" i="0" u="none" strike="noStrike" dirty="0">
                          <a:solidFill>
                            <a:schemeClr val="bg1"/>
                          </a:solidFill>
                          <a:effectLst/>
                          <a:latin typeface="Calibri" panose="020F0502020204030204" pitchFamily="34" charset="0"/>
                        </a:rPr>
                        <a:t>إدارة الحوكمة والامتثال</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ضمان تطبيق المبادئ والمعايير المعتمدة في جميع أنشطة البنية المؤسسية</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مراجعة وتقييم متطلبات الأعمال والطلبات التقنية لضمان توافقها مع الأهداف الاستراتيجية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 جداً</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198695267"/>
                  </a:ext>
                </a:extLst>
              </a:tr>
              <a:tr h="704216">
                <a:tc>
                  <a:txBody>
                    <a:bodyPr/>
                    <a:lstStyle/>
                    <a:p>
                      <a:pPr algn="ctr" rtl="1" fontAlgn="b"/>
                      <a:r>
                        <a:rPr lang="ar-SA" sz="1800" b="1" i="0" u="none" strike="noStrike" dirty="0">
                          <a:solidFill>
                            <a:schemeClr val="bg1"/>
                          </a:solidFill>
                          <a:effectLst/>
                          <a:latin typeface="Calibri" panose="020F0502020204030204" pitchFamily="34" charset="0"/>
                        </a:rPr>
                        <a:t>تحليل الأعمال والتقييم التقني</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مراجعة وتقييم متطلبات الأعمال والطلبات التقنية لضمان توافقها مع الأهداف الاستراتيجية</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تقديم التوصيات والمشورة للإدارة العليا بشأن المبادرات والمشاريع الرقمية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 جداً</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656591291"/>
                  </a:ext>
                </a:extLst>
              </a:tr>
            </a:tbl>
          </a:graphicData>
        </a:graphic>
      </p:graphicFrame>
    </p:spTree>
    <p:extLst>
      <p:ext uri="{BB962C8B-B14F-4D97-AF65-F5344CB8AC3E}">
        <p14:creationId xmlns:p14="http://schemas.microsoft.com/office/powerpoint/2010/main" val="10587877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15</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تحليل فجوات المهارات </a:t>
            </a:r>
            <a:r>
              <a:rPr lang="ar-SA" dirty="0"/>
              <a:t>لـ "</a:t>
            </a:r>
            <a:r>
              <a:rPr lang="ar-EG" dirty="0"/>
              <a:t>م. دانا الغضبان</a:t>
            </a:r>
            <a:r>
              <a:rPr lang="ar-SA" dirty="0"/>
              <a:t>" (</a:t>
            </a:r>
            <a:r>
              <a:rPr lang="en-US" dirty="0"/>
              <a:t>2 / 2</a:t>
            </a:r>
            <a:r>
              <a:rPr lang="ar-SA" dirty="0"/>
              <a:t>)</a:t>
            </a:r>
            <a:endParaRPr lang="en-US" dirty="0"/>
          </a:p>
        </p:txBody>
      </p:sp>
      <p:graphicFrame>
        <p:nvGraphicFramePr>
          <p:cNvPr id="5" name="Table 4">
            <a:extLst>
              <a:ext uri="{FF2B5EF4-FFF2-40B4-BE49-F238E27FC236}">
                <a16:creationId xmlns:a16="http://schemas.microsoft.com/office/drawing/2014/main" id="{3919E36B-CC27-4E77-828F-D6A84689731C}"/>
              </a:ext>
            </a:extLst>
          </p:cNvPr>
          <p:cNvGraphicFramePr>
            <a:graphicFrameLocks noGrp="1"/>
          </p:cNvGraphicFramePr>
          <p:nvPr>
            <p:extLst>
              <p:ext uri="{D42A27DB-BD31-4B8C-83A1-F6EECF244321}">
                <p14:modId xmlns:p14="http://schemas.microsoft.com/office/powerpoint/2010/main" val="1503814841"/>
              </p:ext>
            </p:extLst>
          </p:nvPr>
        </p:nvGraphicFramePr>
        <p:xfrm>
          <a:off x="502919" y="929930"/>
          <a:ext cx="11175447" cy="5184060"/>
        </p:xfrm>
        <a:graphic>
          <a:graphicData uri="http://schemas.openxmlformats.org/drawingml/2006/table">
            <a:tbl>
              <a:tblPr rtl="1" firstRow="1" bandRow="1">
                <a:tableStyleId>{5C22544A-7EE6-4342-B048-85BDC9FD1C3A}</a:tableStyleId>
              </a:tblPr>
              <a:tblGrid>
                <a:gridCol w="1890381">
                  <a:extLst>
                    <a:ext uri="{9D8B030D-6E8A-4147-A177-3AD203B41FA5}">
                      <a16:colId xmlns:a16="http://schemas.microsoft.com/office/drawing/2014/main" val="1858967670"/>
                    </a:ext>
                  </a:extLst>
                </a:gridCol>
                <a:gridCol w="6432137">
                  <a:extLst>
                    <a:ext uri="{9D8B030D-6E8A-4147-A177-3AD203B41FA5}">
                      <a16:colId xmlns:a16="http://schemas.microsoft.com/office/drawing/2014/main" val="4015586876"/>
                    </a:ext>
                  </a:extLst>
                </a:gridCol>
                <a:gridCol w="914400">
                  <a:extLst>
                    <a:ext uri="{9D8B030D-6E8A-4147-A177-3AD203B41FA5}">
                      <a16:colId xmlns:a16="http://schemas.microsoft.com/office/drawing/2014/main" val="1989554894"/>
                    </a:ext>
                  </a:extLst>
                </a:gridCol>
                <a:gridCol w="1033272">
                  <a:extLst>
                    <a:ext uri="{9D8B030D-6E8A-4147-A177-3AD203B41FA5}">
                      <a16:colId xmlns:a16="http://schemas.microsoft.com/office/drawing/2014/main" val="3895440905"/>
                    </a:ext>
                  </a:extLst>
                </a:gridCol>
                <a:gridCol w="905257">
                  <a:extLst>
                    <a:ext uri="{9D8B030D-6E8A-4147-A177-3AD203B41FA5}">
                      <a16:colId xmlns:a16="http://schemas.microsoft.com/office/drawing/2014/main" val="2911951988"/>
                    </a:ext>
                  </a:extLst>
                </a:gridCol>
              </a:tblGrid>
              <a:tr h="469433">
                <a:tc gridSpan="2">
                  <a:txBody>
                    <a:bodyPr/>
                    <a:lstStyle/>
                    <a:p>
                      <a:pPr algn="ctr" rtl="1"/>
                      <a:r>
                        <a:rPr lang="ar-SA" sz="2000" kern="1200" dirty="0">
                          <a:solidFill>
                            <a:schemeClr val="bg2"/>
                          </a:solidFill>
                          <a:latin typeface="+mn-lt"/>
                          <a:ea typeface="+mn-ea"/>
                          <a:cs typeface="+mn-cs"/>
                        </a:rPr>
                        <a:t>المسمى الوظيفي</a:t>
                      </a:r>
                      <a:endParaRPr lang="en-US" sz="2000" kern="1200" dirty="0">
                        <a:solidFill>
                          <a:schemeClr val="bg2"/>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000" kern="1200" dirty="0">
                          <a:solidFill>
                            <a:schemeClr val="bg2"/>
                          </a:solidFill>
                          <a:latin typeface="+mn-lt"/>
                          <a:ea typeface="+mn-ea"/>
                          <a:cs typeface="+mn-cs"/>
                        </a:rPr>
                        <a:t>اسم الموظف </a:t>
                      </a:r>
                      <a:endParaRPr lang="en-US" sz="2000" kern="1200" dirty="0">
                        <a:solidFill>
                          <a:schemeClr val="bg2"/>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5582564"/>
                  </a:ext>
                </a:extLst>
              </a:tr>
              <a:tr h="475307">
                <a:tc gridSpan="2">
                  <a:txBody>
                    <a:bodyPr/>
                    <a:lstStyle/>
                    <a:p>
                      <a:pPr algn="ctr" rtl="1"/>
                      <a:r>
                        <a:rPr lang="ar-SA" sz="2400" b="1" kern="1200" dirty="0">
                          <a:solidFill>
                            <a:schemeClr val="tx1">
                              <a:lumMod val="75000"/>
                              <a:lumOff val="25000"/>
                            </a:schemeClr>
                          </a:solidFill>
                          <a:latin typeface="+mn-lt"/>
                          <a:ea typeface="+mn-ea"/>
                          <a:cs typeface="+mn-cs"/>
                        </a:rPr>
                        <a:t>مدير قسم البنية المؤسسية</a:t>
                      </a:r>
                      <a:endParaRPr lang="en-US" sz="2400" b="1" kern="1200" dirty="0">
                        <a:solidFill>
                          <a:schemeClr val="tx1">
                            <a:lumMod val="75000"/>
                            <a:lumOff val="25000"/>
                          </a:schemeClr>
                        </a:solidFill>
                        <a:latin typeface="+mn-lt"/>
                        <a:ea typeface="+mn-ea"/>
                        <a:cs typeface="+mn-cs"/>
                      </a:endParaRP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400" b="1" kern="1200" dirty="0">
                          <a:solidFill>
                            <a:schemeClr val="tx1">
                              <a:lumMod val="75000"/>
                              <a:lumOff val="25000"/>
                            </a:schemeClr>
                          </a:solidFill>
                          <a:latin typeface="+mn-lt"/>
                          <a:ea typeface="+mn-ea"/>
                          <a:cs typeface="+mn-cs"/>
                        </a:rPr>
                        <a:t>م. دانا الغضبان</a:t>
                      </a: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3059069381"/>
                  </a:ext>
                </a:extLst>
              </a:tr>
              <a:tr h="616498">
                <a:tc>
                  <a:txBody>
                    <a:bodyPr/>
                    <a:lstStyle/>
                    <a:p>
                      <a:pPr algn="ctr" rtl="1"/>
                      <a:r>
                        <a:rPr lang="ar-SA" sz="2000" b="1" kern="1200" dirty="0">
                          <a:solidFill>
                            <a:schemeClr val="bg2"/>
                          </a:solidFill>
                          <a:latin typeface="+mn-lt"/>
                          <a:ea typeface="+mn-ea"/>
                          <a:cs typeface="+mn-cs"/>
                        </a:rPr>
                        <a:t>اسم المهارة </a:t>
                      </a:r>
                      <a:endParaRPr lang="en-US" sz="2000" b="1" kern="1200" dirty="0">
                        <a:solidFill>
                          <a:schemeClr val="bg2"/>
                        </a:solidFill>
                        <a:latin typeface="+mn-lt"/>
                        <a:ea typeface="+mn-ea"/>
                        <a:cs typeface="+mn-cs"/>
                      </a:endParaRPr>
                    </a:p>
                  </a:txBody>
                  <a:tcPr anchor="ctr">
                    <a:solidFill>
                      <a:schemeClr val="accent1"/>
                    </a:solidFill>
                  </a:tcPr>
                </a:tc>
                <a:tc>
                  <a:txBody>
                    <a:bodyPr/>
                    <a:lstStyle/>
                    <a:p>
                      <a:pPr algn="ctr" rtl="1"/>
                      <a:r>
                        <a:rPr lang="ar-SA" sz="2000" b="1" kern="1200" dirty="0">
                          <a:solidFill>
                            <a:schemeClr val="bg2"/>
                          </a:solidFill>
                          <a:latin typeface="+mn-lt"/>
                          <a:ea typeface="+mn-ea"/>
                          <a:cs typeface="+mn-cs"/>
                        </a:rPr>
                        <a:t>المهام والمسؤوليات المرتبطة</a:t>
                      </a:r>
                      <a:endParaRPr lang="en-US" sz="2000" b="1" kern="1200" dirty="0">
                        <a:solidFill>
                          <a:schemeClr val="bg2"/>
                        </a:solidFill>
                        <a:latin typeface="+mn-lt"/>
                        <a:ea typeface="+mn-ea"/>
                        <a:cs typeface="+mn-cs"/>
                      </a:endParaRPr>
                    </a:p>
                  </a:txBody>
                  <a:tcPr anchor="ctr">
                    <a:solidFill>
                      <a:schemeClr val="accent1"/>
                    </a:solidFill>
                  </a:tcPr>
                </a:tc>
                <a:tc>
                  <a:txBody>
                    <a:bodyPr/>
                    <a:lstStyle/>
                    <a:p>
                      <a:pPr algn="ctr" rtl="1"/>
                      <a:r>
                        <a:rPr lang="ar-SA" sz="1800" b="1" kern="1200" dirty="0">
                          <a:solidFill>
                            <a:schemeClr val="bg2"/>
                          </a:solidFill>
                          <a:latin typeface="+mn-lt"/>
                          <a:ea typeface="+mn-ea"/>
                          <a:cs typeface="+mn-cs"/>
                        </a:rPr>
                        <a:t>نوع المهارة </a:t>
                      </a:r>
                      <a:endParaRPr lang="en-US" sz="1800" b="1" kern="1200" dirty="0">
                        <a:solidFill>
                          <a:schemeClr val="bg2"/>
                        </a:solidFill>
                        <a:latin typeface="+mn-lt"/>
                        <a:ea typeface="+mn-ea"/>
                        <a:cs typeface="+mn-cs"/>
                      </a:endParaRPr>
                    </a:p>
                  </a:txBody>
                  <a:tcPr anchor="ctr">
                    <a:solidFill>
                      <a:schemeClr val="accent1"/>
                    </a:solidFill>
                  </a:tcPr>
                </a:tc>
                <a:tc>
                  <a:txBody>
                    <a:bodyPr/>
                    <a:lstStyle/>
                    <a:p>
                      <a:pPr algn="ctr" rtl="1"/>
                      <a:r>
                        <a:rPr lang="ar-SA" sz="1800" b="1" kern="1200" dirty="0">
                          <a:solidFill>
                            <a:schemeClr val="bg2"/>
                          </a:solidFill>
                          <a:latin typeface="+mn-lt"/>
                          <a:ea typeface="+mn-ea"/>
                          <a:cs typeface="+mn-cs"/>
                        </a:rPr>
                        <a:t>المستوى المطلوب</a:t>
                      </a:r>
                      <a:endParaRPr lang="en-US" sz="1800" b="1" kern="1200" dirty="0">
                        <a:solidFill>
                          <a:schemeClr val="bg2"/>
                        </a:solidFill>
                        <a:latin typeface="+mn-lt"/>
                        <a:ea typeface="+mn-ea"/>
                        <a:cs typeface="+mn-cs"/>
                      </a:endParaRPr>
                    </a:p>
                  </a:txBody>
                  <a:tcPr anchor="ctr">
                    <a:solidFill>
                      <a:schemeClr val="accent1"/>
                    </a:solidFill>
                  </a:tcPr>
                </a:tc>
                <a:tc>
                  <a:txBody>
                    <a:bodyPr/>
                    <a:lstStyle/>
                    <a:p>
                      <a:pPr algn="ctr" rtl="1"/>
                      <a:r>
                        <a:rPr lang="ar-SA" sz="1800" b="1" kern="1200" dirty="0">
                          <a:solidFill>
                            <a:schemeClr val="bg2"/>
                          </a:solidFill>
                          <a:latin typeface="+mn-lt"/>
                          <a:ea typeface="+mn-ea"/>
                          <a:cs typeface="+mn-cs"/>
                        </a:rPr>
                        <a:t>المستوى الحالي</a:t>
                      </a:r>
                      <a:endParaRPr lang="en-US" sz="1800" b="1" kern="1200" dirty="0">
                        <a:solidFill>
                          <a:schemeClr val="bg2"/>
                        </a:solidFill>
                        <a:latin typeface="+mn-lt"/>
                        <a:ea typeface="+mn-ea"/>
                        <a:cs typeface="+mn-cs"/>
                      </a:endParaRPr>
                    </a:p>
                  </a:txBody>
                  <a:tcPr anchor="ctr">
                    <a:solidFill>
                      <a:schemeClr val="accent1"/>
                    </a:solidFill>
                  </a:tcPr>
                </a:tc>
                <a:extLst>
                  <a:ext uri="{0D108BD9-81ED-4DB2-BD59-A6C34878D82A}">
                    <a16:rowId xmlns:a16="http://schemas.microsoft.com/office/drawing/2014/main" val="2198393076"/>
                  </a:ext>
                </a:extLst>
              </a:tr>
              <a:tr h="719848">
                <a:tc>
                  <a:txBody>
                    <a:bodyPr/>
                    <a:lstStyle/>
                    <a:p>
                      <a:pPr algn="ctr" rtl="1" fontAlgn="b"/>
                      <a:r>
                        <a:rPr lang="ar-SA" sz="1800" b="1" i="0" u="none" strike="noStrike" dirty="0">
                          <a:solidFill>
                            <a:schemeClr val="bg1"/>
                          </a:solidFill>
                          <a:effectLst/>
                          <a:latin typeface="Calibri" panose="020F0502020204030204" pitchFamily="34" charset="0"/>
                        </a:rPr>
                        <a:t>التواصل الفعال</a:t>
                      </a:r>
                    </a:p>
                  </a:txBody>
                  <a:tcPr anchor="ctr">
                    <a:solidFill>
                      <a:schemeClr val="accent1"/>
                    </a:solidFill>
                  </a:tcPr>
                </a:tc>
                <a:tc>
                  <a:txBody>
                    <a:bodyPr/>
                    <a:lstStyle/>
                    <a:p>
                      <a:pPr marL="285750" indent="-285750" algn="r" rtl="1" fontAlgn="b">
                        <a:buFont typeface="Arial" panose="020B0604020202020204" pitchFamily="34" charset="0"/>
                        <a:buChar char="•"/>
                      </a:pPr>
                      <a:r>
                        <a:rPr lang="ar-SA" sz="1600" b="0" i="0" u="none" strike="noStrike" dirty="0">
                          <a:solidFill>
                            <a:srgbClr val="000000"/>
                          </a:solidFill>
                          <a:effectLst/>
                          <a:latin typeface="Calibri" panose="020F0502020204030204" pitchFamily="34" charset="0"/>
                        </a:rPr>
                        <a:t>تقديم التوصيات والمشورة للإدارة العليا</a:t>
                      </a:r>
                    </a:p>
                    <a:p>
                      <a:pPr marL="285750" indent="-285750" algn="r" rtl="1" fontAlgn="b">
                        <a:buFont typeface="Arial" panose="020B0604020202020204" pitchFamily="34" charset="0"/>
                        <a:buChar char="•"/>
                      </a:pPr>
                      <a:r>
                        <a:rPr lang="ar-SA" sz="1600" b="0" i="0" u="none" strike="noStrike" dirty="0">
                          <a:solidFill>
                            <a:srgbClr val="000000"/>
                          </a:solidFill>
                          <a:effectLst/>
                          <a:latin typeface="Calibri" panose="020F0502020204030204" pitchFamily="34" charset="0"/>
                        </a:rPr>
                        <a:t>بناء علاقات فعالة مع الإدارات والأقسام المختلفة والتواصل مع أصحاب المصلحة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شخصية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ممتاز</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1820247470"/>
                  </a:ext>
                </a:extLst>
              </a:tr>
              <a:tr h="719848">
                <a:tc>
                  <a:txBody>
                    <a:bodyPr/>
                    <a:lstStyle/>
                    <a:p>
                      <a:pPr algn="ctr" rtl="1" fontAlgn="b"/>
                      <a:r>
                        <a:rPr lang="ar-SA" sz="1800" b="1" i="0" u="none" strike="noStrike" dirty="0">
                          <a:solidFill>
                            <a:schemeClr val="bg1"/>
                          </a:solidFill>
                          <a:effectLst/>
                          <a:latin typeface="Calibri" panose="020F0502020204030204" pitchFamily="34" charset="0"/>
                        </a:rPr>
                        <a:t>إدارة المشاريع</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تطوير وإدارة خارطة طريق البنية المؤسسية ومتابعة تنفيذها لتحقيق الأهداف المرجوة</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متابعة تنفيذ المشاريع لتحقيق الأهداف المرجوة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 جداً</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3192081354"/>
                  </a:ext>
                </a:extLst>
              </a:tr>
              <a:tr h="719848">
                <a:tc>
                  <a:txBody>
                    <a:bodyPr/>
                    <a:lstStyle/>
                    <a:p>
                      <a:pPr algn="ctr" rtl="1" fontAlgn="b"/>
                      <a:r>
                        <a:rPr lang="ar-SA" sz="1800" b="1" i="0" u="none" strike="noStrike" dirty="0">
                          <a:solidFill>
                            <a:schemeClr val="bg1"/>
                          </a:solidFill>
                          <a:effectLst/>
                          <a:latin typeface="Calibri" panose="020F0502020204030204" pitchFamily="34" charset="0"/>
                        </a:rPr>
                        <a:t>إدارة المخاطر وضمان الجودة</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تحديد وإدارة المخاطر المرتبطة بممارسة البنية المؤسسية وضمان جودة المخرجات</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 جداً</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3833028501"/>
                  </a:ext>
                </a:extLst>
              </a:tr>
              <a:tr h="719848">
                <a:tc>
                  <a:txBody>
                    <a:bodyPr/>
                    <a:lstStyle/>
                    <a:p>
                      <a:pPr algn="ctr" rtl="1" fontAlgn="b"/>
                      <a:r>
                        <a:rPr lang="ar-SA" sz="1800" b="1" i="0" u="none" strike="noStrike" dirty="0">
                          <a:solidFill>
                            <a:schemeClr val="bg1"/>
                          </a:solidFill>
                          <a:effectLst/>
                          <a:latin typeface="Calibri" panose="020F0502020204030204" pitchFamily="34" charset="0"/>
                        </a:rPr>
                        <a:t>التدريب والتطوير</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تطوير مهارات فريق البنية المؤسسية من خلال التدريب والتوجيه المستمر</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شخصية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 جداً</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198695267"/>
                  </a:ext>
                </a:extLst>
              </a:tr>
              <a:tr h="719848">
                <a:tc>
                  <a:txBody>
                    <a:bodyPr/>
                    <a:lstStyle/>
                    <a:p>
                      <a:pPr algn="ctr" rtl="1" fontAlgn="b"/>
                      <a:r>
                        <a:rPr lang="ar-SA" sz="1800" b="1" i="0" u="none" strike="noStrike" dirty="0">
                          <a:solidFill>
                            <a:schemeClr val="bg1"/>
                          </a:solidFill>
                          <a:effectLst/>
                          <a:latin typeface="Calibri" panose="020F0502020204030204" pitchFamily="34" charset="0"/>
                        </a:rPr>
                        <a:t>التعلم المستمر ومتابعة التطورات</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متابعة أحدث الممارسات والتوجهات في مجال البنية المؤسسية وتطبيقها في الهيئة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شخصية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 جداً</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656591291"/>
                  </a:ext>
                </a:extLst>
              </a:tr>
            </a:tbl>
          </a:graphicData>
        </a:graphic>
      </p:graphicFrame>
    </p:spTree>
    <p:extLst>
      <p:ext uri="{BB962C8B-B14F-4D97-AF65-F5344CB8AC3E}">
        <p14:creationId xmlns:p14="http://schemas.microsoft.com/office/powerpoint/2010/main" val="7625442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16</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تحليل فجوات المهارات </a:t>
            </a:r>
            <a:r>
              <a:rPr lang="ar-SA" dirty="0"/>
              <a:t>لـ "</a:t>
            </a:r>
            <a:r>
              <a:rPr lang="ar-EG" dirty="0"/>
              <a:t>م. أحمد فارس</a:t>
            </a:r>
            <a:r>
              <a:rPr lang="ar-SA" dirty="0"/>
              <a:t>"</a:t>
            </a:r>
            <a:endParaRPr lang="en-US" dirty="0"/>
          </a:p>
        </p:txBody>
      </p:sp>
      <p:graphicFrame>
        <p:nvGraphicFramePr>
          <p:cNvPr id="5" name="Table 4">
            <a:extLst>
              <a:ext uri="{FF2B5EF4-FFF2-40B4-BE49-F238E27FC236}">
                <a16:creationId xmlns:a16="http://schemas.microsoft.com/office/drawing/2014/main" id="{3919E36B-CC27-4E77-828F-D6A84689731C}"/>
              </a:ext>
            </a:extLst>
          </p:cNvPr>
          <p:cNvGraphicFramePr>
            <a:graphicFrameLocks noGrp="1"/>
          </p:cNvGraphicFramePr>
          <p:nvPr>
            <p:extLst>
              <p:ext uri="{D42A27DB-BD31-4B8C-83A1-F6EECF244321}">
                <p14:modId xmlns:p14="http://schemas.microsoft.com/office/powerpoint/2010/main" val="1371662799"/>
              </p:ext>
            </p:extLst>
          </p:nvPr>
        </p:nvGraphicFramePr>
        <p:xfrm>
          <a:off x="502919" y="913153"/>
          <a:ext cx="11175447" cy="5221002"/>
        </p:xfrm>
        <a:graphic>
          <a:graphicData uri="http://schemas.openxmlformats.org/drawingml/2006/table">
            <a:tbl>
              <a:tblPr rtl="1" firstRow="1" bandRow="1">
                <a:tableStyleId>{5C22544A-7EE6-4342-B048-85BDC9FD1C3A}</a:tableStyleId>
              </a:tblPr>
              <a:tblGrid>
                <a:gridCol w="1890381">
                  <a:extLst>
                    <a:ext uri="{9D8B030D-6E8A-4147-A177-3AD203B41FA5}">
                      <a16:colId xmlns:a16="http://schemas.microsoft.com/office/drawing/2014/main" val="1858967670"/>
                    </a:ext>
                  </a:extLst>
                </a:gridCol>
                <a:gridCol w="6432137">
                  <a:extLst>
                    <a:ext uri="{9D8B030D-6E8A-4147-A177-3AD203B41FA5}">
                      <a16:colId xmlns:a16="http://schemas.microsoft.com/office/drawing/2014/main" val="4015586876"/>
                    </a:ext>
                  </a:extLst>
                </a:gridCol>
                <a:gridCol w="914400">
                  <a:extLst>
                    <a:ext uri="{9D8B030D-6E8A-4147-A177-3AD203B41FA5}">
                      <a16:colId xmlns:a16="http://schemas.microsoft.com/office/drawing/2014/main" val="1989554894"/>
                    </a:ext>
                  </a:extLst>
                </a:gridCol>
                <a:gridCol w="1033272">
                  <a:extLst>
                    <a:ext uri="{9D8B030D-6E8A-4147-A177-3AD203B41FA5}">
                      <a16:colId xmlns:a16="http://schemas.microsoft.com/office/drawing/2014/main" val="3895440905"/>
                    </a:ext>
                  </a:extLst>
                </a:gridCol>
                <a:gridCol w="905257">
                  <a:extLst>
                    <a:ext uri="{9D8B030D-6E8A-4147-A177-3AD203B41FA5}">
                      <a16:colId xmlns:a16="http://schemas.microsoft.com/office/drawing/2014/main" val="2911951988"/>
                    </a:ext>
                  </a:extLst>
                </a:gridCol>
              </a:tblGrid>
              <a:tr h="442440">
                <a:tc gridSpan="2">
                  <a:txBody>
                    <a:bodyPr/>
                    <a:lstStyle/>
                    <a:p>
                      <a:pPr algn="ctr" rtl="1"/>
                      <a:r>
                        <a:rPr lang="ar-SA" sz="2000" kern="1200" dirty="0">
                          <a:solidFill>
                            <a:schemeClr val="bg2"/>
                          </a:solidFill>
                          <a:latin typeface="+mn-lt"/>
                          <a:ea typeface="+mn-ea"/>
                          <a:cs typeface="+mn-cs"/>
                        </a:rPr>
                        <a:t>المسمى الوظيفي</a:t>
                      </a:r>
                      <a:endParaRPr lang="en-US" sz="2000" kern="1200" dirty="0">
                        <a:solidFill>
                          <a:schemeClr val="bg2"/>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000" kern="1200" dirty="0">
                          <a:solidFill>
                            <a:schemeClr val="bg2"/>
                          </a:solidFill>
                          <a:latin typeface="+mn-lt"/>
                          <a:ea typeface="+mn-ea"/>
                          <a:cs typeface="+mn-cs"/>
                        </a:rPr>
                        <a:t>اسم الموظف </a:t>
                      </a:r>
                      <a:endParaRPr lang="en-US" sz="2000" kern="1200" dirty="0">
                        <a:solidFill>
                          <a:schemeClr val="bg2"/>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5582564"/>
                  </a:ext>
                </a:extLst>
              </a:tr>
              <a:tr h="454103">
                <a:tc gridSpan="2">
                  <a:txBody>
                    <a:bodyPr/>
                    <a:lstStyle/>
                    <a:p>
                      <a:pPr algn="ctr" rtl="1"/>
                      <a:r>
                        <a:rPr lang="ar-SA" sz="2400" b="1" kern="1200" dirty="0">
                          <a:solidFill>
                            <a:schemeClr val="tx1">
                              <a:lumMod val="75000"/>
                              <a:lumOff val="25000"/>
                            </a:schemeClr>
                          </a:solidFill>
                          <a:latin typeface="+mn-lt"/>
                          <a:ea typeface="+mn-ea"/>
                          <a:cs typeface="+mn-cs"/>
                        </a:rPr>
                        <a:t>خبير البنية المؤسسية</a:t>
                      </a:r>
                      <a:endParaRPr lang="en-US" sz="2400" b="1" kern="1200" dirty="0">
                        <a:solidFill>
                          <a:schemeClr val="tx1">
                            <a:lumMod val="75000"/>
                            <a:lumOff val="25000"/>
                          </a:schemeClr>
                        </a:solidFill>
                        <a:latin typeface="+mn-lt"/>
                        <a:ea typeface="+mn-ea"/>
                        <a:cs typeface="+mn-cs"/>
                      </a:endParaRP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400" b="1" kern="1200" dirty="0">
                          <a:solidFill>
                            <a:schemeClr val="tx1">
                              <a:lumMod val="75000"/>
                              <a:lumOff val="25000"/>
                            </a:schemeClr>
                          </a:solidFill>
                          <a:latin typeface="+mn-lt"/>
                          <a:ea typeface="+mn-ea"/>
                          <a:cs typeface="+mn-cs"/>
                        </a:rPr>
                        <a:t>م. أحمد فارس</a:t>
                      </a: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3059069381"/>
                  </a:ext>
                </a:extLst>
              </a:tr>
              <a:tr h="635745">
                <a:tc>
                  <a:txBody>
                    <a:bodyPr/>
                    <a:lstStyle/>
                    <a:p>
                      <a:pPr algn="ctr" rtl="1"/>
                      <a:r>
                        <a:rPr lang="ar-SA" sz="2000" b="1" kern="1200" dirty="0">
                          <a:solidFill>
                            <a:schemeClr val="bg2"/>
                          </a:solidFill>
                          <a:latin typeface="+mn-lt"/>
                          <a:ea typeface="+mn-ea"/>
                          <a:cs typeface="+mn-cs"/>
                        </a:rPr>
                        <a:t>اسم المهارة </a:t>
                      </a:r>
                      <a:endParaRPr lang="en-US" sz="2000" b="1" kern="1200" dirty="0">
                        <a:solidFill>
                          <a:schemeClr val="bg2"/>
                        </a:solidFill>
                        <a:latin typeface="+mn-lt"/>
                        <a:ea typeface="+mn-ea"/>
                        <a:cs typeface="+mn-cs"/>
                      </a:endParaRPr>
                    </a:p>
                  </a:txBody>
                  <a:tcPr anchor="ctr">
                    <a:solidFill>
                      <a:schemeClr val="accent1"/>
                    </a:solidFill>
                  </a:tcPr>
                </a:tc>
                <a:tc>
                  <a:txBody>
                    <a:bodyPr/>
                    <a:lstStyle/>
                    <a:p>
                      <a:pPr algn="ctr" rtl="1"/>
                      <a:r>
                        <a:rPr lang="ar-SA" sz="2000" b="1" kern="1200" dirty="0">
                          <a:solidFill>
                            <a:schemeClr val="bg2"/>
                          </a:solidFill>
                          <a:latin typeface="+mn-lt"/>
                          <a:ea typeface="+mn-ea"/>
                          <a:cs typeface="+mn-cs"/>
                        </a:rPr>
                        <a:t>المهام والمسؤوليات المرتبطة</a:t>
                      </a:r>
                      <a:endParaRPr lang="en-US" sz="2000" b="1" kern="1200" dirty="0">
                        <a:solidFill>
                          <a:schemeClr val="bg2"/>
                        </a:solidFill>
                        <a:latin typeface="+mn-lt"/>
                        <a:ea typeface="+mn-ea"/>
                        <a:cs typeface="+mn-cs"/>
                      </a:endParaRPr>
                    </a:p>
                  </a:txBody>
                  <a:tcPr anchor="ctr">
                    <a:solidFill>
                      <a:schemeClr val="accent1"/>
                    </a:solidFill>
                  </a:tcPr>
                </a:tc>
                <a:tc>
                  <a:txBody>
                    <a:bodyPr/>
                    <a:lstStyle/>
                    <a:p>
                      <a:pPr algn="ctr" rtl="1"/>
                      <a:r>
                        <a:rPr lang="ar-SA" sz="1800" b="1" kern="1200" dirty="0">
                          <a:solidFill>
                            <a:schemeClr val="bg2"/>
                          </a:solidFill>
                          <a:latin typeface="+mn-lt"/>
                          <a:ea typeface="+mn-ea"/>
                          <a:cs typeface="+mn-cs"/>
                        </a:rPr>
                        <a:t>نوع المهارة </a:t>
                      </a:r>
                      <a:endParaRPr lang="en-US" sz="1800" b="1" kern="1200" dirty="0">
                        <a:solidFill>
                          <a:schemeClr val="bg2"/>
                        </a:solidFill>
                        <a:latin typeface="+mn-lt"/>
                        <a:ea typeface="+mn-ea"/>
                        <a:cs typeface="+mn-cs"/>
                      </a:endParaRPr>
                    </a:p>
                  </a:txBody>
                  <a:tcPr anchor="ctr">
                    <a:solidFill>
                      <a:schemeClr val="accent1"/>
                    </a:solidFill>
                  </a:tcPr>
                </a:tc>
                <a:tc>
                  <a:txBody>
                    <a:bodyPr/>
                    <a:lstStyle/>
                    <a:p>
                      <a:pPr algn="ctr" rtl="1"/>
                      <a:r>
                        <a:rPr lang="ar-SA" sz="1800" b="1" kern="1200" dirty="0">
                          <a:solidFill>
                            <a:schemeClr val="bg2"/>
                          </a:solidFill>
                          <a:latin typeface="+mn-lt"/>
                          <a:ea typeface="+mn-ea"/>
                          <a:cs typeface="+mn-cs"/>
                        </a:rPr>
                        <a:t>المستوى المطلوب</a:t>
                      </a:r>
                      <a:endParaRPr lang="en-US" sz="1800" b="1" kern="1200" dirty="0">
                        <a:solidFill>
                          <a:schemeClr val="bg2"/>
                        </a:solidFill>
                        <a:latin typeface="+mn-lt"/>
                        <a:ea typeface="+mn-ea"/>
                        <a:cs typeface="+mn-cs"/>
                      </a:endParaRPr>
                    </a:p>
                  </a:txBody>
                  <a:tcPr anchor="ctr">
                    <a:solidFill>
                      <a:schemeClr val="accent1"/>
                    </a:solidFill>
                  </a:tcPr>
                </a:tc>
                <a:tc>
                  <a:txBody>
                    <a:bodyPr/>
                    <a:lstStyle/>
                    <a:p>
                      <a:pPr algn="ctr" rtl="1"/>
                      <a:r>
                        <a:rPr lang="ar-SA" sz="1800" b="1" kern="1200">
                          <a:solidFill>
                            <a:schemeClr val="bg2"/>
                          </a:solidFill>
                          <a:latin typeface="+mn-lt"/>
                          <a:ea typeface="+mn-ea"/>
                          <a:cs typeface="+mn-cs"/>
                        </a:rPr>
                        <a:t>المستوى الحالي</a:t>
                      </a:r>
                      <a:endParaRPr lang="en-US" sz="1800" b="1" kern="1200" dirty="0">
                        <a:solidFill>
                          <a:schemeClr val="bg2"/>
                        </a:solidFill>
                        <a:latin typeface="+mn-lt"/>
                        <a:ea typeface="+mn-ea"/>
                        <a:cs typeface="+mn-cs"/>
                      </a:endParaRPr>
                    </a:p>
                  </a:txBody>
                  <a:tcPr anchor="ctr">
                    <a:solidFill>
                      <a:schemeClr val="accent1"/>
                    </a:solidFill>
                  </a:tcPr>
                </a:tc>
                <a:extLst>
                  <a:ext uri="{0D108BD9-81ED-4DB2-BD59-A6C34878D82A}">
                    <a16:rowId xmlns:a16="http://schemas.microsoft.com/office/drawing/2014/main" val="2198393076"/>
                  </a:ext>
                </a:extLst>
              </a:tr>
              <a:tr h="817386">
                <a:tc>
                  <a:txBody>
                    <a:bodyPr/>
                    <a:lstStyle/>
                    <a:p>
                      <a:pPr algn="ctr" rtl="1" fontAlgn="b"/>
                      <a:r>
                        <a:rPr lang="ar-SA" sz="1800" b="1" i="0" u="none" strike="noStrike" dirty="0">
                          <a:solidFill>
                            <a:schemeClr val="bg1"/>
                          </a:solidFill>
                          <a:effectLst/>
                          <a:latin typeface="Calibri" panose="020F0502020204030204" pitchFamily="34" charset="0"/>
                        </a:rPr>
                        <a:t>المعرفة بالبنية المؤسسية وأطر العمل</a:t>
                      </a:r>
                    </a:p>
                  </a:txBody>
                  <a:tcPr anchor="ctr">
                    <a:solidFill>
                      <a:schemeClr val="accent1"/>
                    </a:solidFill>
                  </a:tcPr>
                </a:tc>
                <a:tc>
                  <a:txBody>
                    <a:bodyPr/>
                    <a:lstStyle/>
                    <a:p>
                      <a:pPr marL="285750" indent="-285750" algn="r" rtl="1" fontAlgn="b">
                        <a:buFont typeface="Arial" panose="020B0604020202020204" pitchFamily="34" charset="0"/>
                        <a:buChar char="•"/>
                      </a:pPr>
                      <a:r>
                        <a:rPr lang="ar-SA" sz="1600" b="0" i="0" u="none" strike="noStrike" dirty="0">
                          <a:solidFill>
                            <a:srgbClr val="000000"/>
                          </a:solidFill>
                          <a:effectLst/>
                          <a:latin typeface="Calibri" panose="020F0502020204030204" pitchFamily="34" charset="0"/>
                        </a:rPr>
                        <a:t>تقديم الخبرة والمشورة الفنية في جميع مجالات البنية المؤسسية لدعم الفريق في تنفيذ المهام والمشاريع</a:t>
                      </a:r>
                    </a:p>
                    <a:p>
                      <a:pPr marL="285750" indent="-285750" algn="r" rtl="1" fontAlgn="b">
                        <a:buFont typeface="Arial" panose="020B0604020202020204" pitchFamily="34" charset="0"/>
                        <a:buChar char="•"/>
                      </a:pPr>
                      <a:r>
                        <a:rPr lang="ar-SA" sz="1600" b="0" i="0" u="none" strike="noStrike" dirty="0">
                          <a:solidFill>
                            <a:srgbClr val="000000"/>
                          </a:solidFill>
                          <a:effectLst/>
                          <a:latin typeface="Calibri" panose="020F0502020204030204" pitchFamily="34" charset="0"/>
                        </a:rPr>
                        <a:t>المساهمة في تطوير وتحديث إطار عمل البنية المؤسسية والنماذج المرجعية وفقا لأفضل الممارسات</a:t>
                      </a:r>
                    </a:p>
                    <a:p>
                      <a:pPr marL="285750" indent="-285750" algn="r" rtl="1" fontAlgn="b">
                        <a:buFont typeface="Arial" panose="020B0604020202020204" pitchFamily="34" charset="0"/>
                        <a:buChar char="•"/>
                      </a:pPr>
                      <a:r>
                        <a:rPr lang="ar-SA" sz="1600" b="0" i="0" u="none" strike="noStrike" dirty="0">
                          <a:solidFill>
                            <a:srgbClr val="000000"/>
                          </a:solidFill>
                          <a:effectLst/>
                          <a:latin typeface="Calibri" panose="020F0502020204030204" pitchFamily="34" charset="0"/>
                        </a:rPr>
                        <a:t>متابعة أحدث التطورات والتوجهات في مجال البنية المؤسسية وتطبيقها في الهيئة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ممتاز</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1820247470"/>
                  </a:ext>
                </a:extLst>
              </a:tr>
              <a:tr h="678454">
                <a:tc>
                  <a:txBody>
                    <a:bodyPr/>
                    <a:lstStyle/>
                    <a:p>
                      <a:pPr algn="ctr" rtl="1" fontAlgn="b"/>
                      <a:r>
                        <a:rPr lang="ar-SA" sz="1800" b="1" i="0" u="none" strike="noStrike" dirty="0">
                          <a:solidFill>
                            <a:schemeClr val="bg1"/>
                          </a:solidFill>
                          <a:effectLst/>
                          <a:latin typeface="Calibri" panose="020F0502020204030204" pitchFamily="34" charset="0"/>
                        </a:rPr>
                        <a:t>المراجعة والتقييم والتحليل</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مراجعة وتقييم التصاميم والنماذج المقترحة لضمان الامتثال للمعايير والمبادئ المعتمدة</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دعم عمليات تحديد الفجوات ووضع التوصيات لتحسين البنية المؤسسية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ممتاز</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3192081354"/>
                  </a:ext>
                </a:extLst>
              </a:tr>
              <a:tr h="678454">
                <a:tc>
                  <a:txBody>
                    <a:bodyPr/>
                    <a:lstStyle/>
                    <a:p>
                      <a:pPr algn="ctr" rtl="1" fontAlgn="b"/>
                      <a:r>
                        <a:rPr lang="ar-SA" sz="1800" b="1" i="0" u="none" strike="noStrike" dirty="0">
                          <a:solidFill>
                            <a:schemeClr val="bg1"/>
                          </a:solidFill>
                          <a:effectLst/>
                          <a:latin typeface="Calibri" panose="020F0502020204030204" pitchFamily="34" charset="0"/>
                        </a:rPr>
                        <a:t>تطوير خارطة الطريق وإدارة المشاريع</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المشاركة في إعداد خارطة الطريق للبنية المؤسسية ومتابعة تنفيذها</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 جداً</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3833028501"/>
                  </a:ext>
                </a:extLst>
              </a:tr>
              <a:tr h="817386">
                <a:tc>
                  <a:txBody>
                    <a:bodyPr/>
                    <a:lstStyle/>
                    <a:p>
                      <a:pPr algn="ctr" rtl="1" fontAlgn="b"/>
                      <a:r>
                        <a:rPr lang="ar-SA" sz="1800" b="1" i="0" u="none" strike="noStrike" dirty="0">
                          <a:solidFill>
                            <a:schemeClr val="bg1"/>
                          </a:solidFill>
                          <a:effectLst/>
                          <a:latin typeface="Calibri" panose="020F0502020204030204" pitchFamily="34" charset="0"/>
                        </a:rPr>
                        <a:t>التواصل الفعال</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التعاون مع أصحاب المصلحة لضمان مواءمة متطلبات الأعمال مع الحلول التقنية</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المساهمة في إعداد التقارير والعروض التقديمية للإدارة العليا وأصحاب المصلحة</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دعم أنشطة التوعية والتدريب لتعزيز فهم البنية المؤسسية داخل الهيئة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شخصية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ممتاز</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198695267"/>
                  </a:ext>
                </a:extLst>
              </a:tr>
              <a:tr h="678454">
                <a:tc>
                  <a:txBody>
                    <a:bodyPr/>
                    <a:lstStyle/>
                    <a:p>
                      <a:pPr algn="ctr" rtl="1" fontAlgn="b"/>
                      <a:r>
                        <a:rPr lang="ar-SA" sz="1800" b="1" i="0" u="none" strike="noStrike" dirty="0">
                          <a:solidFill>
                            <a:schemeClr val="bg1"/>
                          </a:solidFill>
                          <a:effectLst/>
                          <a:latin typeface="Calibri" panose="020F0502020204030204" pitchFamily="34" charset="0"/>
                        </a:rPr>
                        <a:t>الإرشاد والتوجيه والتطوير المهني المستمر</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تقديم التوجيه والإرشاد لأعضاء الفريق وتطوير قدراتهم المهنية</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متابعة أحدث التطورات والتوجهات في مجال البنية المؤسسية وتطبيقها في الهيئة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شخصية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656591291"/>
                  </a:ext>
                </a:extLst>
              </a:tr>
            </a:tbl>
          </a:graphicData>
        </a:graphic>
      </p:graphicFrame>
    </p:spTree>
    <p:extLst>
      <p:ext uri="{BB962C8B-B14F-4D97-AF65-F5344CB8AC3E}">
        <p14:creationId xmlns:p14="http://schemas.microsoft.com/office/powerpoint/2010/main" val="28759357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17</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تحليل فجوات المهارات </a:t>
            </a:r>
            <a:r>
              <a:rPr lang="ar-SA" dirty="0"/>
              <a:t>لـ "</a:t>
            </a:r>
            <a:r>
              <a:rPr lang="ar-EG" dirty="0"/>
              <a:t>م. الآء الوطبان</a:t>
            </a:r>
            <a:r>
              <a:rPr lang="ar-SA" dirty="0"/>
              <a:t>"</a:t>
            </a:r>
            <a:endParaRPr lang="en-US" dirty="0"/>
          </a:p>
        </p:txBody>
      </p:sp>
      <p:graphicFrame>
        <p:nvGraphicFramePr>
          <p:cNvPr id="5" name="Table 4">
            <a:extLst>
              <a:ext uri="{FF2B5EF4-FFF2-40B4-BE49-F238E27FC236}">
                <a16:creationId xmlns:a16="http://schemas.microsoft.com/office/drawing/2014/main" id="{3919E36B-CC27-4E77-828F-D6A84689731C}"/>
              </a:ext>
            </a:extLst>
          </p:cNvPr>
          <p:cNvGraphicFramePr>
            <a:graphicFrameLocks noGrp="1"/>
          </p:cNvGraphicFramePr>
          <p:nvPr>
            <p:extLst>
              <p:ext uri="{D42A27DB-BD31-4B8C-83A1-F6EECF244321}">
                <p14:modId xmlns:p14="http://schemas.microsoft.com/office/powerpoint/2010/main" val="601747002"/>
              </p:ext>
            </p:extLst>
          </p:nvPr>
        </p:nvGraphicFramePr>
        <p:xfrm>
          <a:off x="502919" y="913153"/>
          <a:ext cx="11175447" cy="5242560"/>
        </p:xfrm>
        <a:graphic>
          <a:graphicData uri="http://schemas.openxmlformats.org/drawingml/2006/table">
            <a:tbl>
              <a:tblPr rtl="1" firstRow="1" bandRow="1">
                <a:tableStyleId>{5C22544A-7EE6-4342-B048-85BDC9FD1C3A}</a:tableStyleId>
              </a:tblPr>
              <a:tblGrid>
                <a:gridCol w="1890381">
                  <a:extLst>
                    <a:ext uri="{9D8B030D-6E8A-4147-A177-3AD203B41FA5}">
                      <a16:colId xmlns:a16="http://schemas.microsoft.com/office/drawing/2014/main" val="1858967670"/>
                    </a:ext>
                  </a:extLst>
                </a:gridCol>
                <a:gridCol w="6432137">
                  <a:extLst>
                    <a:ext uri="{9D8B030D-6E8A-4147-A177-3AD203B41FA5}">
                      <a16:colId xmlns:a16="http://schemas.microsoft.com/office/drawing/2014/main" val="4015586876"/>
                    </a:ext>
                  </a:extLst>
                </a:gridCol>
                <a:gridCol w="914400">
                  <a:extLst>
                    <a:ext uri="{9D8B030D-6E8A-4147-A177-3AD203B41FA5}">
                      <a16:colId xmlns:a16="http://schemas.microsoft.com/office/drawing/2014/main" val="1989554894"/>
                    </a:ext>
                  </a:extLst>
                </a:gridCol>
                <a:gridCol w="1033272">
                  <a:extLst>
                    <a:ext uri="{9D8B030D-6E8A-4147-A177-3AD203B41FA5}">
                      <a16:colId xmlns:a16="http://schemas.microsoft.com/office/drawing/2014/main" val="3895440905"/>
                    </a:ext>
                  </a:extLst>
                </a:gridCol>
                <a:gridCol w="905257">
                  <a:extLst>
                    <a:ext uri="{9D8B030D-6E8A-4147-A177-3AD203B41FA5}">
                      <a16:colId xmlns:a16="http://schemas.microsoft.com/office/drawing/2014/main" val="2911951988"/>
                    </a:ext>
                  </a:extLst>
                </a:gridCol>
              </a:tblGrid>
              <a:tr h="381793">
                <a:tc gridSpan="2">
                  <a:txBody>
                    <a:bodyPr/>
                    <a:lstStyle/>
                    <a:p>
                      <a:pPr algn="ctr" rtl="1"/>
                      <a:r>
                        <a:rPr lang="ar-SA" sz="2000" kern="1200" dirty="0">
                          <a:solidFill>
                            <a:schemeClr val="bg2"/>
                          </a:solidFill>
                          <a:latin typeface="+mn-lt"/>
                          <a:ea typeface="+mn-ea"/>
                          <a:cs typeface="+mn-cs"/>
                        </a:rPr>
                        <a:t>المسمى الوظيفي</a:t>
                      </a:r>
                      <a:endParaRPr lang="en-US" sz="2000" kern="1200" dirty="0">
                        <a:solidFill>
                          <a:schemeClr val="bg2"/>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000" kern="1200" dirty="0">
                          <a:solidFill>
                            <a:schemeClr val="bg2"/>
                          </a:solidFill>
                          <a:latin typeface="+mn-lt"/>
                          <a:ea typeface="+mn-ea"/>
                          <a:cs typeface="+mn-cs"/>
                        </a:rPr>
                        <a:t>اسم الموظف </a:t>
                      </a:r>
                      <a:endParaRPr lang="en-US" sz="2000" kern="1200" dirty="0">
                        <a:solidFill>
                          <a:schemeClr val="bg2"/>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5582564"/>
                  </a:ext>
                </a:extLst>
              </a:tr>
              <a:tr h="440531">
                <a:tc gridSpan="2">
                  <a:txBody>
                    <a:bodyPr/>
                    <a:lstStyle/>
                    <a:p>
                      <a:pPr algn="ctr" rtl="1"/>
                      <a:r>
                        <a:rPr lang="ar-SA" sz="2400" b="1" kern="1200" dirty="0">
                          <a:solidFill>
                            <a:schemeClr val="tx1">
                              <a:lumMod val="75000"/>
                              <a:lumOff val="25000"/>
                            </a:schemeClr>
                          </a:solidFill>
                          <a:latin typeface="+mn-lt"/>
                          <a:ea typeface="+mn-ea"/>
                          <a:cs typeface="+mn-cs"/>
                        </a:rPr>
                        <a:t>مهندس أداة البنية المؤسسية</a:t>
                      </a:r>
                      <a:endParaRPr lang="en-US" sz="2400" b="1" kern="1200" dirty="0">
                        <a:solidFill>
                          <a:schemeClr val="tx1">
                            <a:lumMod val="75000"/>
                            <a:lumOff val="25000"/>
                          </a:schemeClr>
                        </a:solidFill>
                        <a:latin typeface="+mn-lt"/>
                        <a:ea typeface="+mn-ea"/>
                        <a:cs typeface="+mn-cs"/>
                      </a:endParaRP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400" b="1" kern="1200" dirty="0">
                          <a:solidFill>
                            <a:schemeClr val="tx1">
                              <a:lumMod val="75000"/>
                              <a:lumOff val="25000"/>
                            </a:schemeClr>
                          </a:solidFill>
                          <a:latin typeface="+mn-lt"/>
                          <a:ea typeface="+mn-ea"/>
                          <a:cs typeface="+mn-cs"/>
                        </a:rPr>
                        <a:t>م. الآء الوطبان</a:t>
                      </a: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3059069381"/>
                  </a:ext>
                </a:extLst>
              </a:tr>
              <a:tr h="616743">
                <a:tc>
                  <a:txBody>
                    <a:bodyPr/>
                    <a:lstStyle/>
                    <a:p>
                      <a:pPr algn="ctr" rtl="1"/>
                      <a:r>
                        <a:rPr lang="ar-SA" sz="2000" b="1" kern="1200" dirty="0">
                          <a:solidFill>
                            <a:schemeClr val="bg2"/>
                          </a:solidFill>
                          <a:latin typeface="+mn-lt"/>
                          <a:ea typeface="+mn-ea"/>
                          <a:cs typeface="+mn-cs"/>
                        </a:rPr>
                        <a:t>اسم المهارة </a:t>
                      </a:r>
                      <a:endParaRPr lang="en-US" sz="2000" b="1" kern="1200" dirty="0">
                        <a:solidFill>
                          <a:schemeClr val="bg2"/>
                        </a:solidFill>
                        <a:latin typeface="+mn-lt"/>
                        <a:ea typeface="+mn-ea"/>
                        <a:cs typeface="+mn-cs"/>
                      </a:endParaRPr>
                    </a:p>
                  </a:txBody>
                  <a:tcPr anchor="ctr">
                    <a:solidFill>
                      <a:schemeClr val="accent1"/>
                    </a:solidFill>
                  </a:tcPr>
                </a:tc>
                <a:tc>
                  <a:txBody>
                    <a:bodyPr/>
                    <a:lstStyle/>
                    <a:p>
                      <a:pPr algn="ctr" rtl="1"/>
                      <a:r>
                        <a:rPr lang="ar-SA" sz="2000" b="1" kern="1200" dirty="0">
                          <a:solidFill>
                            <a:schemeClr val="bg2"/>
                          </a:solidFill>
                          <a:latin typeface="+mn-lt"/>
                          <a:ea typeface="+mn-ea"/>
                          <a:cs typeface="+mn-cs"/>
                        </a:rPr>
                        <a:t>المهام والمسؤوليات المرتبطة</a:t>
                      </a:r>
                      <a:endParaRPr lang="en-US" sz="2000" b="1" kern="1200" dirty="0">
                        <a:solidFill>
                          <a:schemeClr val="bg2"/>
                        </a:solidFill>
                        <a:latin typeface="+mn-lt"/>
                        <a:ea typeface="+mn-ea"/>
                        <a:cs typeface="+mn-cs"/>
                      </a:endParaRPr>
                    </a:p>
                  </a:txBody>
                  <a:tcPr anchor="ctr">
                    <a:solidFill>
                      <a:schemeClr val="accent1"/>
                    </a:solidFill>
                  </a:tcPr>
                </a:tc>
                <a:tc>
                  <a:txBody>
                    <a:bodyPr/>
                    <a:lstStyle/>
                    <a:p>
                      <a:pPr algn="ctr" rtl="1"/>
                      <a:r>
                        <a:rPr lang="ar-SA" sz="1800" b="1" kern="1200" dirty="0">
                          <a:solidFill>
                            <a:schemeClr val="bg2"/>
                          </a:solidFill>
                          <a:latin typeface="+mn-lt"/>
                          <a:ea typeface="+mn-ea"/>
                          <a:cs typeface="+mn-cs"/>
                        </a:rPr>
                        <a:t>نوع المهارة </a:t>
                      </a:r>
                      <a:endParaRPr lang="en-US" sz="1800" b="1" kern="1200" dirty="0">
                        <a:solidFill>
                          <a:schemeClr val="bg2"/>
                        </a:solidFill>
                        <a:latin typeface="+mn-lt"/>
                        <a:ea typeface="+mn-ea"/>
                        <a:cs typeface="+mn-cs"/>
                      </a:endParaRPr>
                    </a:p>
                  </a:txBody>
                  <a:tcPr anchor="ctr">
                    <a:solidFill>
                      <a:schemeClr val="accent1"/>
                    </a:solidFill>
                  </a:tcPr>
                </a:tc>
                <a:tc>
                  <a:txBody>
                    <a:bodyPr/>
                    <a:lstStyle/>
                    <a:p>
                      <a:pPr algn="ctr" rtl="1"/>
                      <a:r>
                        <a:rPr lang="ar-SA" sz="1800" b="1" kern="1200" dirty="0">
                          <a:solidFill>
                            <a:schemeClr val="bg2"/>
                          </a:solidFill>
                          <a:latin typeface="+mn-lt"/>
                          <a:ea typeface="+mn-ea"/>
                          <a:cs typeface="+mn-cs"/>
                        </a:rPr>
                        <a:t>المستوى المطلوب</a:t>
                      </a:r>
                      <a:endParaRPr lang="en-US" sz="1800" b="1" kern="1200" dirty="0">
                        <a:solidFill>
                          <a:schemeClr val="bg2"/>
                        </a:solidFill>
                        <a:latin typeface="+mn-lt"/>
                        <a:ea typeface="+mn-ea"/>
                        <a:cs typeface="+mn-cs"/>
                      </a:endParaRPr>
                    </a:p>
                  </a:txBody>
                  <a:tcPr anchor="ctr">
                    <a:solidFill>
                      <a:schemeClr val="accent1"/>
                    </a:solidFill>
                  </a:tcPr>
                </a:tc>
                <a:tc>
                  <a:txBody>
                    <a:bodyPr/>
                    <a:lstStyle/>
                    <a:p>
                      <a:pPr algn="ctr" rtl="1"/>
                      <a:r>
                        <a:rPr lang="ar-SA" sz="1800" b="1" kern="1200">
                          <a:solidFill>
                            <a:schemeClr val="bg2"/>
                          </a:solidFill>
                          <a:latin typeface="+mn-lt"/>
                          <a:ea typeface="+mn-ea"/>
                          <a:cs typeface="+mn-cs"/>
                        </a:rPr>
                        <a:t>المستوى الحالي</a:t>
                      </a:r>
                      <a:endParaRPr lang="en-US" sz="1800" b="1" kern="1200" dirty="0">
                        <a:solidFill>
                          <a:schemeClr val="bg2"/>
                        </a:solidFill>
                        <a:latin typeface="+mn-lt"/>
                        <a:ea typeface="+mn-ea"/>
                        <a:cs typeface="+mn-cs"/>
                      </a:endParaRPr>
                    </a:p>
                  </a:txBody>
                  <a:tcPr anchor="ctr">
                    <a:solidFill>
                      <a:schemeClr val="accent1"/>
                    </a:solidFill>
                  </a:tcPr>
                </a:tc>
                <a:extLst>
                  <a:ext uri="{0D108BD9-81ED-4DB2-BD59-A6C34878D82A}">
                    <a16:rowId xmlns:a16="http://schemas.microsoft.com/office/drawing/2014/main" val="2198393076"/>
                  </a:ext>
                </a:extLst>
              </a:tr>
              <a:tr h="1027905">
                <a:tc>
                  <a:txBody>
                    <a:bodyPr/>
                    <a:lstStyle/>
                    <a:p>
                      <a:pPr algn="ctr" rtl="1" fontAlgn="b"/>
                      <a:r>
                        <a:rPr lang="ar-SA" sz="1800" b="1" i="0" u="none" strike="noStrike" dirty="0">
                          <a:solidFill>
                            <a:schemeClr val="bg1"/>
                          </a:solidFill>
                          <a:effectLst/>
                          <a:latin typeface="Calibri" panose="020F0502020204030204" pitchFamily="34" charset="0"/>
                        </a:rPr>
                        <a:t>إدارة الأداة والمستودع</a:t>
                      </a:r>
                    </a:p>
                  </a:txBody>
                  <a:tcPr anchor="ctr">
                    <a:solidFill>
                      <a:schemeClr val="accent1"/>
                    </a:solidFill>
                  </a:tcPr>
                </a:tc>
                <a:tc>
                  <a:txBody>
                    <a:bodyPr/>
                    <a:lstStyle/>
                    <a:p>
                      <a:pPr marL="285750" indent="-285750" algn="r" rtl="1" fontAlgn="b">
                        <a:buFont typeface="Arial" panose="020B0604020202020204" pitchFamily="34" charset="0"/>
                        <a:buChar char="•"/>
                      </a:pPr>
                      <a:r>
                        <a:rPr lang="ar-SA" sz="1600" b="0" i="0" u="none" strike="noStrike" dirty="0">
                          <a:solidFill>
                            <a:srgbClr val="000000"/>
                          </a:solidFill>
                          <a:effectLst/>
                          <a:latin typeface="Calibri" panose="020F0502020204030204" pitchFamily="34" charset="0"/>
                        </a:rPr>
                        <a:t>إدارة وتحديث مستخدمي أداة البنية المؤسسية وإدارة صلاحيات الوصول</a:t>
                      </a:r>
                    </a:p>
                    <a:p>
                      <a:pPr marL="285750" indent="-285750" algn="r" rtl="1" fontAlgn="b">
                        <a:buFont typeface="Arial" panose="020B0604020202020204" pitchFamily="34" charset="0"/>
                        <a:buChar char="•"/>
                      </a:pPr>
                      <a:r>
                        <a:rPr lang="ar-SA" sz="1600" b="0" i="0" u="none" strike="noStrike" dirty="0">
                          <a:solidFill>
                            <a:srgbClr val="000000"/>
                          </a:solidFill>
                          <a:effectLst/>
                          <a:latin typeface="Calibri" panose="020F0502020204030204" pitchFamily="34" charset="0"/>
                        </a:rPr>
                        <a:t>تنسيق وإدارة ومراقبة جميع مكونات مستودع البنية المؤسسية المثبتة</a:t>
                      </a:r>
                    </a:p>
                    <a:p>
                      <a:pPr marL="285750" indent="-285750" algn="r" rtl="1" fontAlgn="b">
                        <a:buFont typeface="Arial" panose="020B0604020202020204" pitchFamily="34" charset="0"/>
                        <a:buChar char="•"/>
                      </a:pPr>
                      <a:r>
                        <a:rPr lang="ar-SA" sz="1600" b="0" i="0" u="none" strike="noStrike" dirty="0">
                          <a:solidFill>
                            <a:srgbClr val="000000"/>
                          </a:solidFill>
                          <a:effectLst/>
                          <a:latin typeface="Calibri" panose="020F0502020204030204" pitchFamily="34" charset="0"/>
                        </a:rPr>
                        <a:t>إدارة صلاحيات وحقوق الوصول إلى المستودع وضمان أمان البيانات</a:t>
                      </a:r>
                    </a:p>
                    <a:p>
                      <a:pPr marL="285750" indent="-285750" algn="r" rtl="1" fontAlgn="b">
                        <a:buFont typeface="Arial" panose="020B0604020202020204" pitchFamily="34" charset="0"/>
                        <a:buChar char="•"/>
                      </a:pPr>
                      <a:r>
                        <a:rPr lang="ar-SA" sz="1600" b="0" i="0" u="none" strike="noStrike" dirty="0">
                          <a:solidFill>
                            <a:srgbClr val="000000"/>
                          </a:solidFill>
                          <a:effectLst/>
                          <a:latin typeface="Calibri" panose="020F0502020204030204" pitchFamily="34" charset="0"/>
                        </a:rPr>
                        <a:t>تنسيق أنشطة النسخ الاحتياطي واستعادة مستودع البنية المؤسسية مع قسم البنية التحتية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ممتاز</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1820247470"/>
                  </a:ext>
                </a:extLst>
              </a:tr>
              <a:tr h="792955">
                <a:tc>
                  <a:txBody>
                    <a:bodyPr/>
                    <a:lstStyle/>
                    <a:p>
                      <a:pPr algn="ctr" rtl="1" fontAlgn="b"/>
                      <a:r>
                        <a:rPr lang="ar-SA" sz="1800" b="1" i="0" u="none" strike="noStrike" dirty="0">
                          <a:solidFill>
                            <a:schemeClr val="bg1"/>
                          </a:solidFill>
                          <a:effectLst/>
                          <a:latin typeface="Calibri" panose="020F0502020204030204" pitchFamily="34" charset="0"/>
                        </a:rPr>
                        <a:t>تطوير التقارير ولوحات المعلومات</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تطوير وتكوين تقارير مخصصة ولوحات معلومات حول محتوى مستودع البنية المؤسسية لتلبية متطلبات أصحاب المصلحة</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أداء جميع أنشطة إدارة مستودع البنية المؤسسية، بما في ذلك تخصيص نموذج البيانات وإعداد التقارير</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 جداً</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3192081354"/>
                  </a:ext>
                </a:extLst>
              </a:tr>
              <a:tr h="616743">
                <a:tc>
                  <a:txBody>
                    <a:bodyPr/>
                    <a:lstStyle/>
                    <a:p>
                      <a:pPr algn="ctr" rtl="1" fontAlgn="b"/>
                      <a:r>
                        <a:rPr lang="ar-SA" sz="1800" b="1" i="0" u="none" strike="noStrike" dirty="0">
                          <a:solidFill>
                            <a:schemeClr val="bg1"/>
                          </a:solidFill>
                          <a:effectLst/>
                          <a:latin typeface="Calibri" panose="020F0502020204030204" pitchFamily="34" charset="0"/>
                        </a:rPr>
                        <a:t>تقديم الدعم الفني والمساعدة</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تقديم الدعم والمساعدة التقنية للطلبات المتعلقة بمستودع البنية المؤسسية</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دعم فريق البنية المؤسسية في تصميم النماذج والمخططات والوثائق باستخدام الأداة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 جداً</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3833028501"/>
                  </a:ext>
                </a:extLst>
              </a:tr>
              <a:tr h="616743">
                <a:tc>
                  <a:txBody>
                    <a:bodyPr/>
                    <a:lstStyle/>
                    <a:p>
                      <a:pPr algn="ctr" rtl="1" fontAlgn="b"/>
                      <a:r>
                        <a:rPr lang="ar-SA" sz="1800" b="1" i="0" u="none" strike="noStrike" dirty="0">
                          <a:solidFill>
                            <a:schemeClr val="bg1"/>
                          </a:solidFill>
                          <a:effectLst/>
                          <a:latin typeface="Calibri" panose="020F0502020204030204" pitchFamily="34" charset="0"/>
                        </a:rPr>
                        <a:t>ضمان الجودة والامتثال للمعايير</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ضمان اتساق مستودع البنية المؤسسية مع معايير الجودة المحددة</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التأكد من أن جميع البيانات والمعلومات في المستودع تتوافق مع المعايير والمبادئ المعتمدة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 جداً</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198695267"/>
                  </a:ext>
                </a:extLst>
              </a:tr>
              <a:tr h="558006">
                <a:tc>
                  <a:txBody>
                    <a:bodyPr/>
                    <a:lstStyle/>
                    <a:p>
                      <a:pPr algn="ctr" rtl="1" fontAlgn="b"/>
                      <a:r>
                        <a:rPr lang="ar-SA" sz="1800" b="1" i="0" u="none" strike="noStrike" dirty="0">
                          <a:solidFill>
                            <a:schemeClr val="bg1"/>
                          </a:solidFill>
                          <a:effectLst/>
                          <a:latin typeface="Calibri" panose="020F0502020204030204" pitchFamily="34" charset="0"/>
                        </a:rPr>
                        <a:t>التواصل الفعال</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التواصل مع مزود الأداة وفريق البنية المؤسسية لمعالجة التحديثات والمشكلات</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التنسيق مع أصحاب المصلحة لضمان تلبية احتياجاتهم ومتطلباتهم</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شخصية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656591291"/>
                  </a:ext>
                </a:extLst>
              </a:tr>
            </a:tbl>
          </a:graphicData>
        </a:graphic>
      </p:graphicFrame>
    </p:spTree>
    <p:extLst>
      <p:ext uri="{BB962C8B-B14F-4D97-AF65-F5344CB8AC3E}">
        <p14:creationId xmlns:p14="http://schemas.microsoft.com/office/powerpoint/2010/main" val="24013884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18</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تحليل فجوات المهارات </a:t>
            </a:r>
            <a:r>
              <a:rPr lang="ar-SA" dirty="0"/>
              <a:t>لـ "</a:t>
            </a:r>
            <a:r>
              <a:rPr lang="ar-EG" dirty="0"/>
              <a:t>م. عبدالإله المعجل</a:t>
            </a:r>
            <a:r>
              <a:rPr lang="ar-SA" dirty="0"/>
              <a:t>" (</a:t>
            </a:r>
            <a:r>
              <a:rPr lang="en-US" dirty="0"/>
              <a:t>1 / 2</a:t>
            </a:r>
            <a:r>
              <a:rPr lang="ar-SA" dirty="0"/>
              <a:t>)</a:t>
            </a:r>
            <a:endParaRPr lang="en-US" dirty="0"/>
          </a:p>
        </p:txBody>
      </p:sp>
      <p:graphicFrame>
        <p:nvGraphicFramePr>
          <p:cNvPr id="5" name="Table 4">
            <a:extLst>
              <a:ext uri="{FF2B5EF4-FFF2-40B4-BE49-F238E27FC236}">
                <a16:creationId xmlns:a16="http://schemas.microsoft.com/office/drawing/2014/main" id="{3919E36B-CC27-4E77-828F-D6A84689731C}"/>
              </a:ext>
            </a:extLst>
          </p:cNvPr>
          <p:cNvGraphicFramePr>
            <a:graphicFrameLocks noGrp="1"/>
          </p:cNvGraphicFramePr>
          <p:nvPr>
            <p:extLst>
              <p:ext uri="{D42A27DB-BD31-4B8C-83A1-F6EECF244321}">
                <p14:modId xmlns:p14="http://schemas.microsoft.com/office/powerpoint/2010/main" val="4056077252"/>
              </p:ext>
            </p:extLst>
          </p:nvPr>
        </p:nvGraphicFramePr>
        <p:xfrm>
          <a:off x="502919" y="929930"/>
          <a:ext cx="11175447" cy="5152087"/>
        </p:xfrm>
        <a:graphic>
          <a:graphicData uri="http://schemas.openxmlformats.org/drawingml/2006/table">
            <a:tbl>
              <a:tblPr rtl="1" firstRow="1" bandRow="1">
                <a:tableStyleId>{5C22544A-7EE6-4342-B048-85BDC9FD1C3A}</a:tableStyleId>
              </a:tblPr>
              <a:tblGrid>
                <a:gridCol w="1890381">
                  <a:extLst>
                    <a:ext uri="{9D8B030D-6E8A-4147-A177-3AD203B41FA5}">
                      <a16:colId xmlns:a16="http://schemas.microsoft.com/office/drawing/2014/main" val="1858967670"/>
                    </a:ext>
                  </a:extLst>
                </a:gridCol>
                <a:gridCol w="6432137">
                  <a:extLst>
                    <a:ext uri="{9D8B030D-6E8A-4147-A177-3AD203B41FA5}">
                      <a16:colId xmlns:a16="http://schemas.microsoft.com/office/drawing/2014/main" val="4015586876"/>
                    </a:ext>
                  </a:extLst>
                </a:gridCol>
                <a:gridCol w="914400">
                  <a:extLst>
                    <a:ext uri="{9D8B030D-6E8A-4147-A177-3AD203B41FA5}">
                      <a16:colId xmlns:a16="http://schemas.microsoft.com/office/drawing/2014/main" val="1989554894"/>
                    </a:ext>
                  </a:extLst>
                </a:gridCol>
                <a:gridCol w="1033272">
                  <a:extLst>
                    <a:ext uri="{9D8B030D-6E8A-4147-A177-3AD203B41FA5}">
                      <a16:colId xmlns:a16="http://schemas.microsoft.com/office/drawing/2014/main" val="3895440905"/>
                    </a:ext>
                  </a:extLst>
                </a:gridCol>
                <a:gridCol w="905257">
                  <a:extLst>
                    <a:ext uri="{9D8B030D-6E8A-4147-A177-3AD203B41FA5}">
                      <a16:colId xmlns:a16="http://schemas.microsoft.com/office/drawing/2014/main" val="2911951988"/>
                    </a:ext>
                  </a:extLst>
                </a:gridCol>
              </a:tblGrid>
              <a:tr h="401111">
                <a:tc gridSpan="2">
                  <a:txBody>
                    <a:bodyPr/>
                    <a:lstStyle/>
                    <a:p>
                      <a:pPr algn="ctr" rtl="1"/>
                      <a:r>
                        <a:rPr lang="ar-SA" sz="2000" kern="1200" baseline="0" dirty="0">
                          <a:solidFill>
                            <a:schemeClr val="bg2"/>
                          </a:solidFill>
                          <a:latin typeface="Sakkal Majalla" panose="02000000000000000000" pitchFamily="2" charset="-78"/>
                          <a:ea typeface="+mn-ea"/>
                          <a:cs typeface="Sakkal Majalla" panose="02000000000000000000" pitchFamily="2" charset="-78"/>
                        </a:rPr>
                        <a:t>المسمى الوظيفي</a:t>
                      </a:r>
                      <a:endParaRPr lang="en-US" sz="2000"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000" kern="1200" baseline="0" dirty="0">
                          <a:solidFill>
                            <a:schemeClr val="bg2"/>
                          </a:solidFill>
                          <a:latin typeface="Sakkal Majalla" panose="02000000000000000000" pitchFamily="2" charset="-78"/>
                          <a:ea typeface="+mn-ea"/>
                          <a:cs typeface="Sakkal Majalla" panose="02000000000000000000" pitchFamily="2" charset="-78"/>
                        </a:rPr>
                        <a:t>اسم الموظف </a:t>
                      </a:r>
                      <a:endParaRPr lang="en-US" sz="2000"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5582564"/>
                  </a:ext>
                </a:extLst>
              </a:tr>
              <a:tr h="457706">
                <a:tc gridSpan="2">
                  <a:txBody>
                    <a:bodyPr/>
                    <a:lstStyle/>
                    <a:p>
                      <a:pPr algn="ctr" rtl="1"/>
                      <a:r>
                        <a:rPr lang="ar-SA"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rPr>
                        <a:t>خبير بنية الأعمال</a:t>
                      </a:r>
                      <a:endParaRPr lang="en-US"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endParaRP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rPr>
                        <a:t>م. عبدالإله المعجل</a:t>
                      </a: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3059069381"/>
                  </a:ext>
                </a:extLst>
              </a:tr>
              <a:tr h="640789">
                <a:tc>
                  <a:txBody>
                    <a:bodyPr/>
                    <a:lstStyle/>
                    <a:p>
                      <a:pPr algn="ctr" rtl="1"/>
                      <a:r>
                        <a:rPr lang="ar-SA" sz="2000" b="1" kern="1200" baseline="0" dirty="0">
                          <a:solidFill>
                            <a:schemeClr val="bg2"/>
                          </a:solidFill>
                          <a:latin typeface="Sakkal Majalla" panose="02000000000000000000" pitchFamily="2" charset="-78"/>
                          <a:ea typeface="+mn-ea"/>
                          <a:cs typeface="Sakkal Majalla" panose="02000000000000000000" pitchFamily="2" charset="-78"/>
                        </a:rPr>
                        <a:t>اسم المهارة </a:t>
                      </a:r>
                      <a:endParaRPr lang="en-US" sz="20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2000" b="1" kern="1200" baseline="0" dirty="0">
                          <a:solidFill>
                            <a:schemeClr val="bg2"/>
                          </a:solidFill>
                          <a:latin typeface="Sakkal Majalla" panose="02000000000000000000" pitchFamily="2" charset="-78"/>
                          <a:ea typeface="+mn-ea"/>
                          <a:cs typeface="Sakkal Majalla" panose="02000000000000000000" pitchFamily="2" charset="-78"/>
                        </a:rPr>
                        <a:t>المهام والمسؤوليات المرتبطة</a:t>
                      </a:r>
                      <a:endParaRPr lang="en-US" sz="20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dirty="0">
                          <a:solidFill>
                            <a:schemeClr val="bg2"/>
                          </a:solidFill>
                          <a:latin typeface="Sakkal Majalla" panose="02000000000000000000" pitchFamily="2" charset="-78"/>
                          <a:ea typeface="+mn-ea"/>
                          <a:cs typeface="Sakkal Majalla" panose="02000000000000000000" pitchFamily="2" charset="-78"/>
                        </a:rPr>
                        <a:t>نوع المهارة </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dirty="0">
                          <a:solidFill>
                            <a:schemeClr val="bg2"/>
                          </a:solidFill>
                          <a:latin typeface="Sakkal Majalla" panose="02000000000000000000" pitchFamily="2" charset="-78"/>
                          <a:ea typeface="+mn-ea"/>
                          <a:cs typeface="Sakkal Majalla" panose="02000000000000000000" pitchFamily="2" charset="-78"/>
                        </a:rPr>
                        <a:t>المستوى المطلوب</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a:solidFill>
                            <a:schemeClr val="bg2"/>
                          </a:solidFill>
                          <a:latin typeface="Sakkal Majalla" panose="02000000000000000000" pitchFamily="2" charset="-78"/>
                          <a:ea typeface="+mn-ea"/>
                          <a:cs typeface="Sakkal Majalla" panose="02000000000000000000" pitchFamily="2" charset="-78"/>
                        </a:rPr>
                        <a:t>المستوى الحالي</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extLst>
                  <a:ext uri="{0D108BD9-81ED-4DB2-BD59-A6C34878D82A}">
                    <a16:rowId xmlns:a16="http://schemas.microsoft.com/office/drawing/2014/main" val="2198393076"/>
                  </a:ext>
                </a:extLst>
              </a:tr>
              <a:tr h="823872">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تحليل الأعمال واستنباط المتطلبات</a:t>
                      </a:r>
                    </a:p>
                  </a:txBody>
                  <a:tcPr anchor="ctr">
                    <a:solidFill>
                      <a:schemeClr val="accent1"/>
                    </a:solidFill>
                  </a:tcPr>
                </a:tc>
                <a:tc>
                  <a:txBody>
                    <a:bodyPr/>
                    <a:lstStyle/>
                    <a:p>
                      <a:pPr marL="285750" indent="-285750" algn="r" rtl="1" fontAlgn="b">
                        <a:buFont typeface="Arial" panose="020B0604020202020204" pitchFamily="34" charset="0"/>
                        <a:buChar char="•"/>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المشاركة في اجتماعات العمل لفهم متطلبات الأعمال وتطوير تصاميم الأعمال المؤسسية لتحقيقها</a:t>
                      </a:r>
                    </a:p>
                    <a:p>
                      <a:pPr marL="285750" indent="-285750" algn="r" rtl="1" fontAlgn="b">
                        <a:buFont typeface="Arial" panose="020B0604020202020204" pitchFamily="34" charset="0"/>
                        <a:buChar char="•"/>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دعم تعريف وتطوير العناصر التنظيمية للأعمال والمساهمة في تطوير التصاميم المؤسسية للأعمال</a:t>
                      </a:r>
                    </a:p>
                    <a:p>
                      <a:pPr marL="285750" indent="-285750" algn="r" rtl="1" fontAlgn="b">
                        <a:buFont typeface="Arial" panose="020B0604020202020204" pitchFamily="34" charset="0"/>
                        <a:buChar char="•"/>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تطوير معرفة دقيقة وتفصيلية باستراتيجيات الأعمال وعمليات وحدات الأعمال المختلفة</a:t>
                      </a:r>
                    </a:p>
                  </a:txBody>
                  <a:tcPr anchor="ctr"/>
                </a:tc>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فنية</a:t>
                      </a:r>
                    </a:p>
                  </a:txBody>
                  <a:tcPr anchor="ctr"/>
                </a:tc>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ممتاز</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1820247470"/>
                  </a:ext>
                </a:extLst>
              </a:tr>
              <a:tr h="875728">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المعرفة بأفضل الممارسات في مجال الأعمال</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متابعة أحدث التطورات والتوجهات في مجال بنية الأعمال</a:t>
                      </a:r>
                      <a:endParaRPr kumimoji="0" lang="en-US"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تطوير والالتزام بمبادئ ومعايير تصميم بنية الأعمال</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تقديم المشورة والرأي في مجال بنية الأعمال ودعم أصحاب المصلحة فيها</a:t>
                      </a:r>
                    </a:p>
                  </a:txBody>
                  <a:tcPr anchor="ctr"/>
                </a:tc>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فنية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 جدا</a:t>
                      </a:r>
                      <a:endParaRPr lang="ar-SA"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3192081354"/>
                  </a:ext>
                </a:extLst>
              </a:tr>
              <a:tr h="640789">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نمذجة العمليات باستخدام </a:t>
                      </a:r>
                      <a:r>
                        <a:rPr lang="en-US" sz="1800" b="1" i="0" u="none" strike="noStrike" baseline="0" dirty="0">
                          <a:solidFill>
                            <a:schemeClr val="bg1"/>
                          </a:solidFill>
                          <a:effectLst/>
                          <a:latin typeface="Sakkal Majalla" panose="02000000000000000000" pitchFamily="2" charset="-78"/>
                          <a:cs typeface="Sakkal Majalla" panose="02000000000000000000" pitchFamily="2" charset="-78"/>
                        </a:rPr>
                        <a:t>BPMN</a:t>
                      </a:r>
                      <a:endParaRPr lang="ar-SA" sz="1800" b="1" i="0" u="none" strike="noStrike" baseline="0" dirty="0">
                        <a:solidFill>
                          <a:schemeClr val="bg1"/>
                        </a:solidFill>
                        <a:effectLst/>
                        <a:latin typeface="Sakkal Majalla" panose="02000000000000000000" pitchFamily="2" charset="-78"/>
                        <a:cs typeface="Sakkal Majalla" panose="02000000000000000000" pitchFamily="2" charset="-78"/>
                      </a:endParaRP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استخدام لغات نمذجة العمليات مثل لغة الـ </a:t>
                      </a:r>
                      <a:r>
                        <a:rPr kumimoji="0" lang="en-US"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BPMN</a:t>
                      </a:r>
                      <a:endPar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anchor="ctr"/>
                </a:tc>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فنية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 جدا</a:t>
                      </a:r>
                      <a:endParaRPr lang="ar-SA"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3833028501"/>
                  </a:ext>
                </a:extLst>
              </a:tr>
              <a:tr h="1312092">
                <a:tc>
                  <a:txBody>
                    <a:bodyPr/>
                    <a:lstStyle/>
                    <a:p>
                      <a:pPr algn="ctr" rtl="1" fontAlgn="b"/>
                      <a:r>
                        <a:rPr lang="ar-SA" sz="1800" b="1" i="0" u="none" strike="noStrike" dirty="0">
                          <a:solidFill>
                            <a:schemeClr val="bg1"/>
                          </a:solidFill>
                          <a:effectLst/>
                          <a:latin typeface="Calibri" panose="020F0502020204030204" pitchFamily="34" charset="0"/>
                        </a:rPr>
                        <a:t>التواصل الفعال</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التواصل الفعال (شفهياً وكتابياً) مع أعضاء فريق البنية المؤسسية، وموظفي الإدارات الأخرى، والمديرين التنفيذيين، وأصحاب المصلحة</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الإشراف على الاجتماعات وورش العمل لتحديد وتطوير المتطلبات، والعمل على تقريب وجهات النظر وترجمة المتطلبات بين الأعمال والتقنية</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تنسيق وتقديم العروض المرئية المتعلقة بالبنية المؤسسية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شخصية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 جدا</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198695267"/>
                  </a:ext>
                </a:extLst>
              </a:tr>
            </a:tbl>
          </a:graphicData>
        </a:graphic>
      </p:graphicFrame>
    </p:spTree>
    <p:extLst>
      <p:ext uri="{BB962C8B-B14F-4D97-AF65-F5344CB8AC3E}">
        <p14:creationId xmlns:p14="http://schemas.microsoft.com/office/powerpoint/2010/main" val="12308706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19</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تحليل فجوات المهارات </a:t>
            </a:r>
            <a:r>
              <a:rPr lang="ar-SA" dirty="0"/>
              <a:t>لـ "</a:t>
            </a:r>
            <a:r>
              <a:rPr lang="ar-EG" dirty="0"/>
              <a:t>م. عبدالإله المعجل</a:t>
            </a:r>
            <a:r>
              <a:rPr lang="ar-SA" dirty="0"/>
              <a:t>" (</a:t>
            </a:r>
            <a:r>
              <a:rPr lang="en-US" dirty="0"/>
              <a:t>2 / 2</a:t>
            </a:r>
            <a:r>
              <a:rPr lang="ar-SA" dirty="0"/>
              <a:t>)</a:t>
            </a:r>
            <a:endParaRPr lang="en-US" dirty="0"/>
          </a:p>
        </p:txBody>
      </p:sp>
      <p:graphicFrame>
        <p:nvGraphicFramePr>
          <p:cNvPr id="5" name="Table 4">
            <a:extLst>
              <a:ext uri="{FF2B5EF4-FFF2-40B4-BE49-F238E27FC236}">
                <a16:creationId xmlns:a16="http://schemas.microsoft.com/office/drawing/2014/main" id="{3919E36B-CC27-4E77-828F-D6A84689731C}"/>
              </a:ext>
            </a:extLst>
          </p:cNvPr>
          <p:cNvGraphicFramePr>
            <a:graphicFrameLocks noGrp="1"/>
          </p:cNvGraphicFramePr>
          <p:nvPr>
            <p:extLst>
              <p:ext uri="{D42A27DB-BD31-4B8C-83A1-F6EECF244321}">
                <p14:modId xmlns:p14="http://schemas.microsoft.com/office/powerpoint/2010/main" val="966804158"/>
              </p:ext>
            </p:extLst>
          </p:nvPr>
        </p:nvGraphicFramePr>
        <p:xfrm>
          <a:off x="502919" y="929930"/>
          <a:ext cx="11175447" cy="3115724"/>
        </p:xfrm>
        <a:graphic>
          <a:graphicData uri="http://schemas.openxmlformats.org/drawingml/2006/table">
            <a:tbl>
              <a:tblPr rtl="1" firstRow="1" bandRow="1">
                <a:tableStyleId>{5C22544A-7EE6-4342-B048-85BDC9FD1C3A}</a:tableStyleId>
              </a:tblPr>
              <a:tblGrid>
                <a:gridCol w="1890381">
                  <a:extLst>
                    <a:ext uri="{9D8B030D-6E8A-4147-A177-3AD203B41FA5}">
                      <a16:colId xmlns:a16="http://schemas.microsoft.com/office/drawing/2014/main" val="1858967670"/>
                    </a:ext>
                  </a:extLst>
                </a:gridCol>
                <a:gridCol w="6432137">
                  <a:extLst>
                    <a:ext uri="{9D8B030D-6E8A-4147-A177-3AD203B41FA5}">
                      <a16:colId xmlns:a16="http://schemas.microsoft.com/office/drawing/2014/main" val="4015586876"/>
                    </a:ext>
                  </a:extLst>
                </a:gridCol>
                <a:gridCol w="914400">
                  <a:extLst>
                    <a:ext uri="{9D8B030D-6E8A-4147-A177-3AD203B41FA5}">
                      <a16:colId xmlns:a16="http://schemas.microsoft.com/office/drawing/2014/main" val="1989554894"/>
                    </a:ext>
                  </a:extLst>
                </a:gridCol>
                <a:gridCol w="1033272">
                  <a:extLst>
                    <a:ext uri="{9D8B030D-6E8A-4147-A177-3AD203B41FA5}">
                      <a16:colId xmlns:a16="http://schemas.microsoft.com/office/drawing/2014/main" val="3895440905"/>
                    </a:ext>
                  </a:extLst>
                </a:gridCol>
                <a:gridCol w="905257">
                  <a:extLst>
                    <a:ext uri="{9D8B030D-6E8A-4147-A177-3AD203B41FA5}">
                      <a16:colId xmlns:a16="http://schemas.microsoft.com/office/drawing/2014/main" val="2911951988"/>
                    </a:ext>
                  </a:extLst>
                </a:gridCol>
              </a:tblGrid>
              <a:tr h="487390">
                <a:tc gridSpan="2">
                  <a:txBody>
                    <a:bodyPr/>
                    <a:lstStyle/>
                    <a:p>
                      <a:pPr algn="ctr" rtl="1"/>
                      <a:r>
                        <a:rPr lang="ar-SA" sz="2000" kern="1200" baseline="0" dirty="0">
                          <a:solidFill>
                            <a:schemeClr val="bg2"/>
                          </a:solidFill>
                          <a:latin typeface="Sakkal Majalla" panose="02000000000000000000" pitchFamily="2" charset="-78"/>
                          <a:ea typeface="+mn-ea"/>
                          <a:cs typeface="Sakkal Majalla" panose="02000000000000000000" pitchFamily="2" charset="-78"/>
                        </a:rPr>
                        <a:t>المسمى الوظيفي</a:t>
                      </a:r>
                      <a:endParaRPr lang="en-US" sz="2000"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000" kern="1200" baseline="0" dirty="0">
                          <a:solidFill>
                            <a:schemeClr val="bg2"/>
                          </a:solidFill>
                          <a:latin typeface="Sakkal Majalla" panose="02000000000000000000" pitchFamily="2" charset="-78"/>
                          <a:ea typeface="+mn-ea"/>
                          <a:cs typeface="Sakkal Majalla" panose="02000000000000000000" pitchFamily="2" charset="-78"/>
                        </a:rPr>
                        <a:t>اسم الموظف </a:t>
                      </a:r>
                      <a:endParaRPr lang="en-US" sz="2000"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5582564"/>
                  </a:ext>
                </a:extLst>
              </a:tr>
              <a:tr h="493488">
                <a:tc gridSpan="2">
                  <a:txBody>
                    <a:bodyPr/>
                    <a:lstStyle/>
                    <a:p>
                      <a:pPr algn="ctr" rtl="1"/>
                      <a:r>
                        <a:rPr lang="ar-SA"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rPr>
                        <a:t>خبير بنية الأعمال</a:t>
                      </a:r>
                      <a:endParaRPr lang="en-US"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endParaRP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rPr>
                        <a:t>م. عبدالإله المعجل</a:t>
                      </a: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3059069381"/>
                  </a:ext>
                </a:extLst>
              </a:tr>
              <a:tr h="0">
                <a:tc>
                  <a:txBody>
                    <a:bodyPr/>
                    <a:lstStyle/>
                    <a:p>
                      <a:pPr algn="ctr" rtl="1"/>
                      <a:r>
                        <a:rPr lang="ar-SA" sz="2000" b="1" kern="1200" baseline="0" dirty="0">
                          <a:solidFill>
                            <a:schemeClr val="bg2"/>
                          </a:solidFill>
                          <a:latin typeface="Sakkal Majalla" panose="02000000000000000000" pitchFamily="2" charset="-78"/>
                          <a:ea typeface="+mn-ea"/>
                          <a:cs typeface="Sakkal Majalla" panose="02000000000000000000" pitchFamily="2" charset="-78"/>
                        </a:rPr>
                        <a:t>اسم المهارة </a:t>
                      </a:r>
                      <a:endParaRPr lang="en-US" sz="20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2000" b="1" kern="1200" baseline="0" dirty="0">
                          <a:solidFill>
                            <a:schemeClr val="bg2"/>
                          </a:solidFill>
                          <a:latin typeface="Sakkal Majalla" panose="02000000000000000000" pitchFamily="2" charset="-78"/>
                          <a:ea typeface="+mn-ea"/>
                          <a:cs typeface="Sakkal Majalla" panose="02000000000000000000" pitchFamily="2" charset="-78"/>
                        </a:rPr>
                        <a:t>المهام والمسؤوليات المرتبطة</a:t>
                      </a:r>
                      <a:endParaRPr lang="en-US" sz="20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dirty="0">
                          <a:solidFill>
                            <a:schemeClr val="bg2"/>
                          </a:solidFill>
                          <a:latin typeface="Sakkal Majalla" panose="02000000000000000000" pitchFamily="2" charset="-78"/>
                          <a:ea typeface="+mn-ea"/>
                          <a:cs typeface="Sakkal Majalla" panose="02000000000000000000" pitchFamily="2" charset="-78"/>
                        </a:rPr>
                        <a:t>نوع المهارة </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dirty="0">
                          <a:solidFill>
                            <a:schemeClr val="bg2"/>
                          </a:solidFill>
                          <a:latin typeface="Sakkal Majalla" panose="02000000000000000000" pitchFamily="2" charset="-78"/>
                          <a:ea typeface="+mn-ea"/>
                          <a:cs typeface="Sakkal Majalla" panose="02000000000000000000" pitchFamily="2" charset="-78"/>
                        </a:rPr>
                        <a:t>المستوى المطلوب</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a:solidFill>
                            <a:schemeClr val="bg2"/>
                          </a:solidFill>
                          <a:latin typeface="Sakkal Majalla" panose="02000000000000000000" pitchFamily="2" charset="-78"/>
                          <a:ea typeface="+mn-ea"/>
                          <a:cs typeface="Sakkal Majalla" panose="02000000000000000000" pitchFamily="2" charset="-78"/>
                        </a:rPr>
                        <a:t>المستوى الحالي</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extLst>
                  <a:ext uri="{0D108BD9-81ED-4DB2-BD59-A6C34878D82A}">
                    <a16:rowId xmlns:a16="http://schemas.microsoft.com/office/drawing/2014/main" val="2198393076"/>
                  </a:ext>
                </a:extLst>
              </a:tr>
              <a:tr h="747383">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البحث واستكشاف الممارسات المقارنة</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تحديد حلول جديدة لتحديات الأعمال من خلال استكشاف الممارسات المقارنة والرائدة للاستفادة منها</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تحليل وتحسين العمليات بناءً على أفضل الممارسات</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3192081354"/>
                  </a:ext>
                </a:extLst>
              </a:tr>
              <a:tr h="747383">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المعرفة بالحوكمة والامتثال للمعايير</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تطبيق وتحديث مبادئ ومعايير البنية المؤسسية للأعمال وضمان الامتثال لها</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المواءمة مع نماذج الحوكمة والمعايير ذات الصلة المعتمدة في الهيئة</a:t>
                      </a:r>
                    </a:p>
                  </a:txBody>
                  <a:tcPr anchor="ctr"/>
                </a:tc>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فنية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 جدا</a:t>
                      </a:r>
                      <a:endParaRPr lang="ar-SA"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656591291"/>
                  </a:ext>
                </a:extLst>
              </a:tr>
            </a:tbl>
          </a:graphicData>
        </a:graphic>
      </p:graphicFrame>
    </p:spTree>
    <p:extLst>
      <p:ext uri="{BB962C8B-B14F-4D97-AF65-F5344CB8AC3E}">
        <p14:creationId xmlns:p14="http://schemas.microsoft.com/office/powerpoint/2010/main" val="9325016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20</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تحليل فجوات المهارات </a:t>
            </a:r>
            <a:r>
              <a:rPr lang="ar-SA" dirty="0"/>
              <a:t>لـ "</a:t>
            </a:r>
            <a:r>
              <a:rPr lang="ar-EG" dirty="0"/>
              <a:t>م. نايف الشايع</a:t>
            </a:r>
            <a:r>
              <a:rPr lang="ar-SA" dirty="0"/>
              <a:t>" (</a:t>
            </a:r>
            <a:r>
              <a:rPr lang="en-US" dirty="0"/>
              <a:t>1 / 2</a:t>
            </a:r>
            <a:r>
              <a:rPr lang="ar-SA" dirty="0"/>
              <a:t>)</a:t>
            </a:r>
            <a:endParaRPr lang="en-US" dirty="0"/>
          </a:p>
        </p:txBody>
      </p:sp>
      <p:graphicFrame>
        <p:nvGraphicFramePr>
          <p:cNvPr id="5" name="Table 4">
            <a:extLst>
              <a:ext uri="{FF2B5EF4-FFF2-40B4-BE49-F238E27FC236}">
                <a16:creationId xmlns:a16="http://schemas.microsoft.com/office/drawing/2014/main" id="{3919E36B-CC27-4E77-828F-D6A84689731C}"/>
              </a:ext>
            </a:extLst>
          </p:cNvPr>
          <p:cNvGraphicFramePr>
            <a:graphicFrameLocks noGrp="1"/>
          </p:cNvGraphicFramePr>
          <p:nvPr>
            <p:extLst>
              <p:ext uri="{D42A27DB-BD31-4B8C-83A1-F6EECF244321}">
                <p14:modId xmlns:p14="http://schemas.microsoft.com/office/powerpoint/2010/main" val="1461213102"/>
              </p:ext>
            </p:extLst>
          </p:nvPr>
        </p:nvGraphicFramePr>
        <p:xfrm>
          <a:off x="502919" y="929929"/>
          <a:ext cx="11175447" cy="5158232"/>
        </p:xfrm>
        <a:graphic>
          <a:graphicData uri="http://schemas.openxmlformats.org/drawingml/2006/table">
            <a:tbl>
              <a:tblPr rtl="1" firstRow="1" bandRow="1">
                <a:tableStyleId>{5C22544A-7EE6-4342-B048-85BDC9FD1C3A}</a:tableStyleId>
              </a:tblPr>
              <a:tblGrid>
                <a:gridCol w="1890381">
                  <a:extLst>
                    <a:ext uri="{9D8B030D-6E8A-4147-A177-3AD203B41FA5}">
                      <a16:colId xmlns:a16="http://schemas.microsoft.com/office/drawing/2014/main" val="1858967670"/>
                    </a:ext>
                  </a:extLst>
                </a:gridCol>
                <a:gridCol w="6432137">
                  <a:extLst>
                    <a:ext uri="{9D8B030D-6E8A-4147-A177-3AD203B41FA5}">
                      <a16:colId xmlns:a16="http://schemas.microsoft.com/office/drawing/2014/main" val="4015586876"/>
                    </a:ext>
                  </a:extLst>
                </a:gridCol>
                <a:gridCol w="914400">
                  <a:extLst>
                    <a:ext uri="{9D8B030D-6E8A-4147-A177-3AD203B41FA5}">
                      <a16:colId xmlns:a16="http://schemas.microsoft.com/office/drawing/2014/main" val="1989554894"/>
                    </a:ext>
                  </a:extLst>
                </a:gridCol>
                <a:gridCol w="1033272">
                  <a:extLst>
                    <a:ext uri="{9D8B030D-6E8A-4147-A177-3AD203B41FA5}">
                      <a16:colId xmlns:a16="http://schemas.microsoft.com/office/drawing/2014/main" val="3895440905"/>
                    </a:ext>
                  </a:extLst>
                </a:gridCol>
                <a:gridCol w="905257">
                  <a:extLst>
                    <a:ext uri="{9D8B030D-6E8A-4147-A177-3AD203B41FA5}">
                      <a16:colId xmlns:a16="http://schemas.microsoft.com/office/drawing/2014/main" val="2911951988"/>
                    </a:ext>
                  </a:extLst>
                </a:gridCol>
              </a:tblGrid>
              <a:tr h="477615">
                <a:tc gridSpan="2">
                  <a:txBody>
                    <a:bodyPr/>
                    <a:lstStyle/>
                    <a:p>
                      <a:pPr algn="ctr" rtl="1"/>
                      <a:r>
                        <a:rPr lang="ar-SA" sz="2000" kern="1200" baseline="0" dirty="0">
                          <a:solidFill>
                            <a:schemeClr val="bg2"/>
                          </a:solidFill>
                          <a:latin typeface="Sakkal Majalla" panose="02000000000000000000" pitchFamily="2" charset="-78"/>
                          <a:ea typeface="+mn-ea"/>
                          <a:cs typeface="Sakkal Majalla" panose="02000000000000000000" pitchFamily="2" charset="-78"/>
                        </a:rPr>
                        <a:t>المسمى الوظيفي</a:t>
                      </a:r>
                      <a:endParaRPr lang="en-US" sz="2000"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000" kern="1200" baseline="0" dirty="0">
                          <a:solidFill>
                            <a:schemeClr val="bg2"/>
                          </a:solidFill>
                          <a:latin typeface="Sakkal Majalla" panose="02000000000000000000" pitchFamily="2" charset="-78"/>
                          <a:ea typeface="+mn-ea"/>
                          <a:cs typeface="Sakkal Majalla" panose="02000000000000000000" pitchFamily="2" charset="-78"/>
                        </a:rPr>
                        <a:t>اسم الموظف </a:t>
                      </a:r>
                      <a:endParaRPr lang="en-US" sz="2000"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5582564"/>
                  </a:ext>
                </a:extLst>
              </a:tr>
              <a:tr h="551095">
                <a:tc gridSpan="2">
                  <a:txBody>
                    <a:bodyPr/>
                    <a:lstStyle/>
                    <a:p>
                      <a:pPr algn="ctr" rtl="1"/>
                      <a:r>
                        <a:rPr lang="ar-SA"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rPr>
                        <a:t>خبير بنية البيانات</a:t>
                      </a:r>
                      <a:endParaRPr lang="en-US"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endParaRP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rPr>
                        <a:t>م. نايف الشايع</a:t>
                      </a: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3059069381"/>
                  </a:ext>
                </a:extLst>
              </a:tr>
              <a:tr h="771531">
                <a:tc>
                  <a:txBody>
                    <a:bodyPr/>
                    <a:lstStyle/>
                    <a:p>
                      <a:pPr algn="ctr" rtl="1"/>
                      <a:r>
                        <a:rPr lang="ar-SA" sz="2000" b="1" kern="1200" baseline="0" dirty="0">
                          <a:solidFill>
                            <a:schemeClr val="bg2"/>
                          </a:solidFill>
                          <a:latin typeface="Sakkal Majalla" panose="02000000000000000000" pitchFamily="2" charset="-78"/>
                          <a:ea typeface="+mn-ea"/>
                          <a:cs typeface="Sakkal Majalla" panose="02000000000000000000" pitchFamily="2" charset="-78"/>
                        </a:rPr>
                        <a:t>اسم المهارة </a:t>
                      </a:r>
                      <a:endParaRPr lang="en-US" sz="20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2000" b="1" kern="1200" baseline="0" dirty="0">
                          <a:solidFill>
                            <a:schemeClr val="bg2"/>
                          </a:solidFill>
                          <a:latin typeface="Sakkal Majalla" panose="02000000000000000000" pitchFamily="2" charset="-78"/>
                          <a:ea typeface="+mn-ea"/>
                          <a:cs typeface="Sakkal Majalla" panose="02000000000000000000" pitchFamily="2" charset="-78"/>
                        </a:rPr>
                        <a:t>المهام والمسؤوليات المرتبطة</a:t>
                      </a:r>
                      <a:endParaRPr lang="en-US" sz="20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dirty="0">
                          <a:solidFill>
                            <a:schemeClr val="bg2"/>
                          </a:solidFill>
                          <a:latin typeface="Sakkal Majalla" panose="02000000000000000000" pitchFamily="2" charset="-78"/>
                          <a:ea typeface="+mn-ea"/>
                          <a:cs typeface="Sakkal Majalla" panose="02000000000000000000" pitchFamily="2" charset="-78"/>
                        </a:rPr>
                        <a:t>نوع المهارة </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dirty="0">
                          <a:solidFill>
                            <a:schemeClr val="bg2"/>
                          </a:solidFill>
                          <a:latin typeface="Sakkal Majalla" panose="02000000000000000000" pitchFamily="2" charset="-78"/>
                          <a:ea typeface="+mn-ea"/>
                          <a:cs typeface="Sakkal Majalla" panose="02000000000000000000" pitchFamily="2" charset="-78"/>
                        </a:rPr>
                        <a:t>المستوى المطلوب</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a:solidFill>
                            <a:schemeClr val="bg2"/>
                          </a:solidFill>
                          <a:latin typeface="Sakkal Majalla" panose="02000000000000000000" pitchFamily="2" charset="-78"/>
                          <a:ea typeface="+mn-ea"/>
                          <a:cs typeface="Sakkal Majalla" panose="02000000000000000000" pitchFamily="2" charset="-78"/>
                        </a:rPr>
                        <a:t>المستوى الحالي</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extLst>
                  <a:ext uri="{0D108BD9-81ED-4DB2-BD59-A6C34878D82A}">
                    <a16:rowId xmlns:a16="http://schemas.microsoft.com/office/drawing/2014/main" val="2198393076"/>
                  </a:ext>
                </a:extLst>
              </a:tr>
              <a:tr h="771531">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تحليل وتوثيق بنية البيانات</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فهم وتوثيق وتحليل بنية البيانات الحالية في الهيئة وتحديثها بانتظام</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تعريف وتوثيق كيانات البيانات وتفاصيلها وعلاقاتها والافتراضات المرتبطة بها</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تطوير وتحديث التصاميم المرجعية لبنية البيانات والتكامل المؤسسي بشكل دوري وفقا لأفضل الممارسات</a:t>
                      </a:r>
                    </a:p>
                  </a:txBody>
                  <a:tcPr anchor="ctr"/>
                </a:tc>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فنية</a:t>
                      </a:r>
                    </a:p>
                  </a:txBody>
                  <a:tcPr anchor="ctr"/>
                </a:tc>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ممتاز</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171597364"/>
                  </a:ext>
                </a:extLst>
              </a:tr>
              <a:tr h="991969">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تصميم وتطوير بنية البيانات</a:t>
                      </a:r>
                    </a:p>
                  </a:txBody>
                  <a:tcPr anchor="ctr">
                    <a:solidFill>
                      <a:schemeClr val="accent1"/>
                    </a:solidFill>
                  </a:tcPr>
                </a:tc>
                <a:tc>
                  <a:txBody>
                    <a:bodyPr/>
                    <a:lstStyle/>
                    <a:p>
                      <a:pPr marL="285750" indent="-285750" algn="r" rtl="1" fontAlgn="b">
                        <a:buFont typeface="Arial" panose="020B0604020202020204" pitchFamily="34" charset="0"/>
                        <a:buChar char="•"/>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تصميم وتطوير نماذج بنية البيانات المستقبلية، بما في ذلك الكيانات والسمات والعلاقات بينها</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تحديد الفجوات والثغرات في بنية البيانات ووضع التوصيات والتحسينات اللازمة</a:t>
                      </a:r>
                    </a:p>
                  </a:txBody>
                  <a:tcPr anchor="ctr"/>
                </a:tc>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فنية</a:t>
                      </a:r>
                    </a:p>
                  </a:txBody>
                  <a:tcPr anchor="ctr"/>
                </a:tc>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ممتاز</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1820247470"/>
                  </a:ext>
                </a:extLst>
              </a:tr>
              <a:tr h="771531">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المعرفة بالحوكمة والامتثال للمعايير</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تطبيق وتحديث مبادئ ومعايير البنية المؤسسية للبيانات وضمان الامتثال لها</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المواءمة مع نماذج الحوكمة والمعايير ذات الصلة المعتمدة في الهيئة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 جدا</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3833028501"/>
                  </a:ext>
                </a:extLst>
              </a:tr>
              <a:tr h="771531">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تصميم حلول تكامل وتبادل البيانات</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تطوير متطلبات تبادل البيانات والتكامل لضمان تلبية احتياجات الأعمال</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مراجعة وتصميم تكامل البيانات والربط التقني بين التطبيقات خلال دورة حياة المشاريع</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 جدا</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198695267"/>
                  </a:ext>
                </a:extLst>
              </a:tr>
            </a:tbl>
          </a:graphicData>
        </a:graphic>
      </p:graphicFrame>
    </p:spTree>
    <p:extLst>
      <p:ext uri="{BB962C8B-B14F-4D97-AF65-F5344CB8AC3E}">
        <p14:creationId xmlns:p14="http://schemas.microsoft.com/office/powerpoint/2010/main" val="28170167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21</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تحليل فجوات المهارات </a:t>
            </a:r>
            <a:r>
              <a:rPr lang="ar-SA" dirty="0"/>
              <a:t>لـ "</a:t>
            </a:r>
            <a:r>
              <a:rPr lang="ar-EG" dirty="0"/>
              <a:t>م. نايف الشايع</a:t>
            </a:r>
            <a:r>
              <a:rPr lang="ar-SA" dirty="0"/>
              <a:t>" (</a:t>
            </a:r>
            <a:r>
              <a:rPr lang="en-US" dirty="0"/>
              <a:t>2 / 2</a:t>
            </a:r>
            <a:r>
              <a:rPr lang="ar-SA" dirty="0"/>
              <a:t>)</a:t>
            </a:r>
            <a:endParaRPr lang="en-US" dirty="0"/>
          </a:p>
        </p:txBody>
      </p:sp>
      <p:graphicFrame>
        <p:nvGraphicFramePr>
          <p:cNvPr id="5" name="Table 4">
            <a:extLst>
              <a:ext uri="{FF2B5EF4-FFF2-40B4-BE49-F238E27FC236}">
                <a16:creationId xmlns:a16="http://schemas.microsoft.com/office/drawing/2014/main" id="{3919E36B-CC27-4E77-828F-D6A84689731C}"/>
              </a:ext>
            </a:extLst>
          </p:cNvPr>
          <p:cNvGraphicFramePr>
            <a:graphicFrameLocks noGrp="1"/>
          </p:cNvGraphicFramePr>
          <p:nvPr>
            <p:extLst>
              <p:ext uri="{D42A27DB-BD31-4B8C-83A1-F6EECF244321}">
                <p14:modId xmlns:p14="http://schemas.microsoft.com/office/powerpoint/2010/main" val="4097595462"/>
              </p:ext>
            </p:extLst>
          </p:nvPr>
        </p:nvGraphicFramePr>
        <p:xfrm>
          <a:off x="502919" y="929928"/>
          <a:ext cx="11175447" cy="3577182"/>
        </p:xfrm>
        <a:graphic>
          <a:graphicData uri="http://schemas.openxmlformats.org/drawingml/2006/table">
            <a:tbl>
              <a:tblPr rtl="1" firstRow="1" bandRow="1">
                <a:tableStyleId>{5C22544A-7EE6-4342-B048-85BDC9FD1C3A}</a:tableStyleId>
              </a:tblPr>
              <a:tblGrid>
                <a:gridCol w="1890381">
                  <a:extLst>
                    <a:ext uri="{9D8B030D-6E8A-4147-A177-3AD203B41FA5}">
                      <a16:colId xmlns:a16="http://schemas.microsoft.com/office/drawing/2014/main" val="1858967670"/>
                    </a:ext>
                  </a:extLst>
                </a:gridCol>
                <a:gridCol w="6432137">
                  <a:extLst>
                    <a:ext uri="{9D8B030D-6E8A-4147-A177-3AD203B41FA5}">
                      <a16:colId xmlns:a16="http://schemas.microsoft.com/office/drawing/2014/main" val="4015586876"/>
                    </a:ext>
                  </a:extLst>
                </a:gridCol>
                <a:gridCol w="914400">
                  <a:extLst>
                    <a:ext uri="{9D8B030D-6E8A-4147-A177-3AD203B41FA5}">
                      <a16:colId xmlns:a16="http://schemas.microsoft.com/office/drawing/2014/main" val="1989554894"/>
                    </a:ext>
                  </a:extLst>
                </a:gridCol>
                <a:gridCol w="1033272">
                  <a:extLst>
                    <a:ext uri="{9D8B030D-6E8A-4147-A177-3AD203B41FA5}">
                      <a16:colId xmlns:a16="http://schemas.microsoft.com/office/drawing/2014/main" val="3895440905"/>
                    </a:ext>
                  </a:extLst>
                </a:gridCol>
                <a:gridCol w="905257">
                  <a:extLst>
                    <a:ext uri="{9D8B030D-6E8A-4147-A177-3AD203B41FA5}">
                      <a16:colId xmlns:a16="http://schemas.microsoft.com/office/drawing/2014/main" val="2911951988"/>
                    </a:ext>
                  </a:extLst>
                </a:gridCol>
              </a:tblGrid>
              <a:tr h="476543">
                <a:tc gridSpan="2">
                  <a:txBody>
                    <a:bodyPr/>
                    <a:lstStyle/>
                    <a:p>
                      <a:pPr algn="ctr" rtl="1"/>
                      <a:r>
                        <a:rPr lang="ar-SA" sz="2000" kern="1200" baseline="0" dirty="0">
                          <a:solidFill>
                            <a:schemeClr val="bg2"/>
                          </a:solidFill>
                          <a:latin typeface="Sakkal Majalla" panose="02000000000000000000" pitchFamily="2" charset="-78"/>
                          <a:ea typeface="+mn-ea"/>
                          <a:cs typeface="Sakkal Majalla" panose="02000000000000000000" pitchFamily="2" charset="-78"/>
                        </a:rPr>
                        <a:t>المسمى الوظيفي</a:t>
                      </a:r>
                      <a:endParaRPr lang="en-US" sz="2000"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000" kern="1200" baseline="0" dirty="0">
                          <a:solidFill>
                            <a:schemeClr val="bg2"/>
                          </a:solidFill>
                          <a:latin typeface="Sakkal Majalla" panose="02000000000000000000" pitchFamily="2" charset="-78"/>
                          <a:ea typeface="+mn-ea"/>
                          <a:cs typeface="Sakkal Majalla" panose="02000000000000000000" pitchFamily="2" charset="-78"/>
                        </a:rPr>
                        <a:t>اسم الموظف </a:t>
                      </a:r>
                      <a:endParaRPr lang="en-US" sz="2000"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5582564"/>
                  </a:ext>
                </a:extLst>
              </a:tr>
              <a:tr h="549857">
                <a:tc gridSpan="2">
                  <a:txBody>
                    <a:bodyPr/>
                    <a:lstStyle/>
                    <a:p>
                      <a:pPr algn="ctr" rtl="1"/>
                      <a:r>
                        <a:rPr lang="ar-SA"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rPr>
                        <a:t>خبير بنية البيانات</a:t>
                      </a:r>
                      <a:endParaRPr lang="en-US"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endParaRP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rPr>
                        <a:t>م. نايف الشايع</a:t>
                      </a: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3059069381"/>
                  </a:ext>
                </a:extLst>
              </a:tr>
              <a:tr h="769799">
                <a:tc>
                  <a:txBody>
                    <a:bodyPr/>
                    <a:lstStyle/>
                    <a:p>
                      <a:pPr algn="ctr" rtl="1"/>
                      <a:r>
                        <a:rPr lang="ar-SA" sz="2000" b="1" kern="1200" baseline="0" dirty="0">
                          <a:solidFill>
                            <a:schemeClr val="bg2"/>
                          </a:solidFill>
                          <a:latin typeface="Sakkal Majalla" panose="02000000000000000000" pitchFamily="2" charset="-78"/>
                          <a:ea typeface="+mn-ea"/>
                          <a:cs typeface="Sakkal Majalla" panose="02000000000000000000" pitchFamily="2" charset="-78"/>
                        </a:rPr>
                        <a:t>اسم المهارة </a:t>
                      </a:r>
                      <a:endParaRPr lang="en-US" sz="20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2000" b="1" kern="1200" baseline="0" dirty="0">
                          <a:solidFill>
                            <a:schemeClr val="bg2"/>
                          </a:solidFill>
                          <a:latin typeface="Sakkal Majalla" panose="02000000000000000000" pitchFamily="2" charset="-78"/>
                          <a:ea typeface="+mn-ea"/>
                          <a:cs typeface="Sakkal Majalla" panose="02000000000000000000" pitchFamily="2" charset="-78"/>
                        </a:rPr>
                        <a:t>المهام والمسؤوليات المرتبطة</a:t>
                      </a:r>
                      <a:endParaRPr lang="en-US" sz="20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dirty="0">
                          <a:solidFill>
                            <a:schemeClr val="bg2"/>
                          </a:solidFill>
                          <a:latin typeface="Sakkal Majalla" panose="02000000000000000000" pitchFamily="2" charset="-78"/>
                          <a:ea typeface="+mn-ea"/>
                          <a:cs typeface="Sakkal Majalla" panose="02000000000000000000" pitchFamily="2" charset="-78"/>
                        </a:rPr>
                        <a:t>نوع المهارة </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dirty="0">
                          <a:solidFill>
                            <a:schemeClr val="bg2"/>
                          </a:solidFill>
                          <a:latin typeface="Sakkal Majalla" panose="02000000000000000000" pitchFamily="2" charset="-78"/>
                          <a:ea typeface="+mn-ea"/>
                          <a:cs typeface="Sakkal Majalla" panose="02000000000000000000" pitchFamily="2" charset="-78"/>
                        </a:rPr>
                        <a:t>المستوى المطلوب</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a:solidFill>
                            <a:schemeClr val="bg2"/>
                          </a:solidFill>
                          <a:latin typeface="Sakkal Majalla" panose="02000000000000000000" pitchFamily="2" charset="-78"/>
                          <a:ea typeface="+mn-ea"/>
                          <a:cs typeface="Sakkal Majalla" panose="02000000000000000000" pitchFamily="2" charset="-78"/>
                        </a:rPr>
                        <a:t>المستوى الحالي</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extLst>
                  <a:ext uri="{0D108BD9-81ED-4DB2-BD59-A6C34878D82A}">
                    <a16:rowId xmlns:a16="http://schemas.microsoft.com/office/drawing/2014/main" val="2198393076"/>
                  </a:ext>
                </a:extLst>
              </a:tr>
              <a:tr h="1262823">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المعرفة بأفضل الممارسات في مجال البيانات</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تطوير وتحديث تصاميم بنية البيانات والتكامل المؤسسي وفقا لأفضل الممارسات</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متابعة أحدث التطورات والتوجهات في مجال بنية البيانات وتطبيقها في الهيئة</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تقديم الدعم والمشورة في تحديد متطلبات البيانات للحلول والخدمات وتطوير كراسات الشروط والمواصفات ذات الصلة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 جدا</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3898209073"/>
                  </a:ext>
                </a:extLst>
              </a:tr>
              <a:tr h="456049">
                <a:tc>
                  <a:txBody>
                    <a:bodyPr/>
                    <a:lstStyle/>
                    <a:p>
                      <a:pPr algn="ctr" rtl="1" fontAlgn="b"/>
                      <a:r>
                        <a:rPr lang="ar-SA" sz="1800" b="1" i="0" u="none" strike="noStrike" dirty="0">
                          <a:solidFill>
                            <a:schemeClr val="bg1"/>
                          </a:solidFill>
                          <a:effectLst/>
                          <a:latin typeface="Calibri" panose="020F0502020204030204" pitchFamily="34" charset="0"/>
                        </a:rPr>
                        <a:t>التواصل الفعال</a:t>
                      </a:r>
                    </a:p>
                  </a:txBody>
                  <a:tcPr anchor="ctr">
                    <a:solidFill>
                      <a:schemeClr val="accent1"/>
                    </a:solidFill>
                  </a:tcPr>
                </a:tc>
                <a:tc>
                  <a:txBody>
                    <a:bodyPr/>
                    <a:lstStyle/>
                    <a:p>
                      <a:pPr marL="285750" indent="-285750" algn="r" rtl="1" fontAlgn="b">
                        <a:buFont typeface="Arial" panose="020B0604020202020204" pitchFamily="34" charset="0"/>
                        <a:buChar char="•"/>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التواصل الفعال مع فرق العمل والأقسام الأخرى وأصحاب المصلحة لنقل المعرفة والتنسيق</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شخصية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3291558761"/>
                  </a:ext>
                </a:extLst>
              </a:tr>
            </a:tbl>
          </a:graphicData>
        </a:graphic>
      </p:graphicFrame>
    </p:spTree>
    <p:extLst>
      <p:ext uri="{BB962C8B-B14F-4D97-AF65-F5344CB8AC3E}">
        <p14:creationId xmlns:p14="http://schemas.microsoft.com/office/powerpoint/2010/main" val="35116330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22</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تحليل فجوات المهارات </a:t>
            </a:r>
            <a:r>
              <a:rPr lang="ar-SA" dirty="0"/>
              <a:t>لـ "</a:t>
            </a:r>
            <a:r>
              <a:rPr lang="ar-EG" dirty="0"/>
              <a:t>م. عبدالإله المغيره</a:t>
            </a:r>
            <a:r>
              <a:rPr lang="ar-SA" dirty="0"/>
              <a:t>" (</a:t>
            </a:r>
            <a:r>
              <a:rPr lang="en-US" dirty="0"/>
              <a:t>1 / 2</a:t>
            </a:r>
            <a:r>
              <a:rPr lang="ar-SA" dirty="0"/>
              <a:t>)</a:t>
            </a:r>
            <a:endParaRPr lang="en-US" dirty="0"/>
          </a:p>
        </p:txBody>
      </p:sp>
      <p:graphicFrame>
        <p:nvGraphicFramePr>
          <p:cNvPr id="5" name="Table 4">
            <a:extLst>
              <a:ext uri="{FF2B5EF4-FFF2-40B4-BE49-F238E27FC236}">
                <a16:creationId xmlns:a16="http://schemas.microsoft.com/office/drawing/2014/main" id="{3919E36B-CC27-4E77-828F-D6A84689731C}"/>
              </a:ext>
            </a:extLst>
          </p:cNvPr>
          <p:cNvGraphicFramePr>
            <a:graphicFrameLocks noGrp="1"/>
          </p:cNvGraphicFramePr>
          <p:nvPr>
            <p:extLst>
              <p:ext uri="{D42A27DB-BD31-4B8C-83A1-F6EECF244321}">
                <p14:modId xmlns:p14="http://schemas.microsoft.com/office/powerpoint/2010/main" val="575363171"/>
              </p:ext>
            </p:extLst>
          </p:nvPr>
        </p:nvGraphicFramePr>
        <p:xfrm>
          <a:off x="502919" y="929931"/>
          <a:ext cx="11175447" cy="5098336"/>
        </p:xfrm>
        <a:graphic>
          <a:graphicData uri="http://schemas.openxmlformats.org/drawingml/2006/table">
            <a:tbl>
              <a:tblPr rtl="1" firstRow="1" bandRow="1">
                <a:tableStyleId>{5C22544A-7EE6-4342-B048-85BDC9FD1C3A}</a:tableStyleId>
              </a:tblPr>
              <a:tblGrid>
                <a:gridCol w="1890381">
                  <a:extLst>
                    <a:ext uri="{9D8B030D-6E8A-4147-A177-3AD203B41FA5}">
                      <a16:colId xmlns:a16="http://schemas.microsoft.com/office/drawing/2014/main" val="1858967670"/>
                    </a:ext>
                  </a:extLst>
                </a:gridCol>
                <a:gridCol w="6432137">
                  <a:extLst>
                    <a:ext uri="{9D8B030D-6E8A-4147-A177-3AD203B41FA5}">
                      <a16:colId xmlns:a16="http://schemas.microsoft.com/office/drawing/2014/main" val="4015586876"/>
                    </a:ext>
                  </a:extLst>
                </a:gridCol>
                <a:gridCol w="914400">
                  <a:extLst>
                    <a:ext uri="{9D8B030D-6E8A-4147-A177-3AD203B41FA5}">
                      <a16:colId xmlns:a16="http://schemas.microsoft.com/office/drawing/2014/main" val="1989554894"/>
                    </a:ext>
                  </a:extLst>
                </a:gridCol>
                <a:gridCol w="1033272">
                  <a:extLst>
                    <a:ext uri="{9D8B030D-6E8A-4147-A177-3AD203B41FA5}">
                      <a16:colId xmlns:a16="http://schemas.microsoft.com/office/drawing/2014/main" val="3895440905"/>
                    </a:ext>
                  </a:extLst>
                </a:gridCol>
                <a:gridCol w="905257">
                  <a:extLst>
                    <a:ext uri="{9D8B030D-6E8A-4147-A177-3AD203B41FA5}">
                      <a16:colId xmlns:a16="http://schemas.microsoft.com/office/drawing/2014/main" val="2911951988"/>
                    </a:ext>
                  </a:extLst>
                </a:gridCol>
              </a:tblGrid>
              <a:tr h="438930">
                <a:tc gridSpan="2">
                  <a:txBody>
                    <a:bodyPr/>
                    <a:lstStyle/>
                    <a:p>
                      <a:pPr algn="ctr" rtl="1"/>
                      <a:r>
                        <a:rPr lang="ar-SA" sz="2000" kern="1200" baseline="0" dirty="0">
                          <a:solidFill>
                            <a:schemeClr val="bg2"/>
                          </a:solidFill>
                          <a:latin typeface="Sakkal Majalla" panose="02000000000000000000" pitchFamily="2" charset="-78"/>
                          <a:ea typeface="+mn-ea"/>
                          <a:cs typeface="Sakkal Majalla" panose="02000000000000000000" pitchFamily="2" charset="-78"/>
                        </a:rPr>
                        <a:t>المسمى الوظيفي</a:t>
                      </a:r>
                      <a:endParaRPr lang="en-US" sz="2000"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000" kern="1200" baseline="0" dirty="0">
                          <a:solidFill>
                            <a:schemeClr val="bg2"/>
                          </a:solidFill>
                          <a:latin typeface="Sakkal Majalla" panose="02000000000000000000" pitchFamily="2" charset="-78"/>
                          <a:ea typeface="+mn-ea"/>
                          <a:cs typeface="Sakkal Majalla" panose="02000000000000000000" pitchFamily="2" charset="-78"/>
                        </a:rPr>
                        <a:t>اسم الموظف </a:t>
                      </a:r>
                      <a:endParaRPr lang="en-US" sz="2000"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5582564"/>
                  </a:ext>
                </a:extLst>
              </a:tr>
              <a:tr h="506457">
                <a:tc gridSpan="2">
                  <a:txBody>
                    <a:bodyPr/>
                    <a:lstStyle/>
                    <a:p>
                      <a:pPr algn="ctr" rtl="1"/>
                      <a:r>
                        <a:rPr lang="ar-SA"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rPr>
                        <a:t>خبير بنية التطبيقات</a:t>
                      </a:r>
                      <a:endParaRPr lang="en-US"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endParaRP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rPr>
                        <a:t>م. عبدالإله المغيره</a:t>
                      </a:r>
                      <a:endParaRPr lang="ar-SA" sz="2400" b="1" kern="1200" baseline="0" dirty="0">
                        <a:solidFill>
                          <a:schemeClr val="tx1">
                            <a:lumMod val="75000"/>
                            <a:lumOff val="25000"/>
                          </a:schemeClr>
                        </a:solidFill>
                        <a:highlight>
                          <a:srgbClr val="FFFF00"/>
                        </a:highlight>
                        <a:latin typeface="Sakkal Majalla" panose="02000000000000000000" pitchFamily="2" charset="-78"/>
                        <a:ea typeface="+mn-ea"/>
                        <a:cs typeface="Sakkal Majalla" panose="02000000000000000000" pitchFamily="2" charset="-78"/>
                      </a:endParaRP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3059069381"/>
                  </a:ext>
                </a:extLst>
              </a:tr>
              <a:tr h="709040">
                <a:tc>
                  <a:txBody>
                    <a:bodyPr/>
                    <a:lstStyle/>
                    <a:p>
                      <a:pPr algn="ctr" rtl="1"/>
                      <a:r>
                        <a:rPr lang="ar-SA" sz="2000" b="1" kern="1200" baseline="0" dirty="0">
                          <a:solidFill>
                            <a:schemeClr val="bg2"/>
                          </a:solidFill>
                          <a:latin typeface="Sakkal Majalla" panose="02000000000000000000" pitchFamily="2" charset="-78"/>
                          <a:ea typeface="+mn-ea"/>
                          <a:cs typeface="Sakkal Majalla" panose="02000000000000000000" pitchFamily="2" charset="-78"/>
                        </a:rPr>
                        <a:t>اسم المهارة </a:t>
                      </a:r>
                      <a:endParaRPr lang="en-US" sz="20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2000" b="1" kern="1200" baseline="0" dirty="0">
                          <a:solidFill>
                            <a:schemeClr val="bg2"/>
                          </a:solidFill>
                          <a:latin typeface="Sakkal Majalla" panose="02000000000000000000" pitchFamily="2" charset="-78"/>
                          <a:ea typeface="+mn-ea"/>
                          <a:cs typeface="Sakkal Majalla" panose="02000000000000000000" pitchFamily="2" charset="-78"/>
                        </a:rPr>
                        <a:t>المهام والمسؤوليات المرتبطة</a:t>
                      </a:r>
                      <a:endParaRPr lang="en-US" sz="20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dirty="0">
                          <a:solidFill>
                            <a:schemeClr val="bg2"/>
                          </a:solidFill>
                          <a:latin typeface="Sakkal Majalla" panose="02000000000000000000" pitchFamily="2" charset="-78"/>
                          <a:ea typeface="+mn-ea"/>
                          <a:cs typeface="Sakkal Majalla" panose="02000000000000000000" pitchFamily="2" charset="-78"/>
                        </a:rPr>
                        <a:t>نوع المهارة </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dirty="0">
                          <a:solidFill>
                            <a:schemeClr val="bg2"/>
                          </a:solidFill>
                          <a:latin typeface="Sakkal Majalla" panose="02000000000000000000" pitchFamily="2" charset="-78"/>
                          <a:ea typeface="+mn-ea"/>
                          <a:cs typeface="Sakkal Majalla" panose="02000000000000000000" pitchFamily="2" charset="-78"/>
                        </a:rPr>
                        <a:t>المستوى المطلوب</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a:solidFill>
                            <a:schemeClr val="bg2"/>
                          </a:solidFill>
                          <a:latin typeface="Sakkal Majalla" panose="02000000000000000000" pitchFamily="2" charset="-78"/>
                          <a:ea typeface="+mn-ea"/>
                          <a:cs typeface="Sakkal Majalla" panose="02000000000000000000" pitchFamily="2" charset="-78"/>
                        </a:rPr>
                        <a:t>المستوى الحالي</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extLst>
                  <a:ext uri="{0D108BD9-81ED-4DB2-BD59-A6C34878D82A}">
                    <a16:rowId xmlns:a16="http://schemas.microsoft.com/office/drawing/2014/main" val="2198393076"/>
                  </a:ext>
                </a:extLst>
              </a:tr>
              <a:tr h="709040">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تحليل وتوثيق بنية التطبيقات</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فهم وتوثيق وتحليل بنية التطبيقات الحالية في الهيئة وتحديد التحديثات اللازمة</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تطوير وتحديث </a:t>
                      </a: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التصاميم المرجعية لبنية </a:t>
                      </a: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التطبيقات المؤسسية بشكل دوري وفقا لأفضل الممارسات</a:t>
                      </a:r>
                    </a:p>
                  </a:txBody>
                  <a:tcPr anchor="ctr"/>
                </a:tc>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فنية</a:t>
                      </a:r>
                    </a:p>
                  </a:txBody>
                  <a:tcPr anchor="ctr"/>
                </a:tc>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ممتاز</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3023942828"/>
                  </a:ext>
                </a:extLst>
              </a:tr>
              <a:tr h="911623">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تصميم وتطوير بنية التطبيقات</a:t>
                      </a:r>
                    </a:p>
                  </a:txBody>
                  <a:tcPr anchor="ctr">
                    <a:solidFill>
                      <a:schemeClr val="accent1"/>
                    </a:solidFill>
                  </a:tcPr>
                </a:tc>
                <a:tc>
                  <a:txBody>
                    <a:bodyPr/>
                    <a:lstStyle/>
                    <a:p>
                      <a:pPr marL="285750" indent="-285750" algn="r" rtl="1" fontAlgn="b">
                        <a:buFont typeface="Arial" panose="020B0604020202020204" pitchFamily="34" charset="0"/>
                        <a:buChar char="•"/>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تصميم وتطوير التصاميم المستقبلية لبنية التطبيقات، بما يشمل المتطلبات والاحتياجات وخصائص التطبيقات ومكوناتها</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تحديد الفجوات والثغرات في بنية التطبيقات ووضع التوصيات والتحسينات المطلوبة</a:t>
                      </a:r>
                    </a:p>
                  </a:txBody>
                  <a:tcPr anchor="ctr"/>
                </a:tc>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فنية</a:t>
                      </a:r>
                    </a:p>
                  </a:txBody>
                  <a:tcPr anchor="ctr"/>
                </a:tc>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ممتاز</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1820247470"/>
                  </a:ext>
                </a:extLst>
              </a:tr>
              <a:tr h="911623">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تطوير المتطلبات والمواصفات التقنية</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توفير الدعم في تطوير المتطلبات للخدمات والمنتجات (الحلول والتطبيقات) والمشاركة في إعداد كراسات الشروط والمواصفات</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lang="ar-SA" sz="1800" b="1" i="0" u="none" strike="noStrike" dirty="0">
                          <a:solidFill>
                            <a:srgbClr val="000000"/>
                          </a:solidFill>
                          <a:effectLst/>
                          <a:latin typeface="Calibri" panose="020F0502020204030204" pitchFamily="34" charset="0"/>
                        </a:rPr>
                        <a:t>جيد جدا</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3833028501"/>
                  </a:ext>
                </a:extLst>
              </a:tr>
              <a:tr h="911623">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مراجعة وتقييم الحلول التقنية</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مراجعة ومناقشة تفاصيل التطبيقات والحلول التقنية (المتطلبات، التصاميم، المبادئ) خلال دورة حياة المشاريع</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مراجعة ومناقشة خطط تقنية المعلومات والتحول الرقمي وخارطة الطريق وتقديم الملاحظات</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lang="ar-SA" sz="1800" b="1" i="0" u="none" strike="noStrike" dirty="0">
                          <a:solidFill>
                            <a:srgbClr val="000000"/>
                          </a:solidFill>
                          <a:effectLst/>
                          <a:latin typeface="Calibri" panose="020F0502020204030204" pitchFamily="34" charset="0"/>
                        </a:rPr>
                        <a:t>جيد جدا</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198695267"/>
                  </a:ext>
                </a:extLst>
              </a:tr>
            </a:tbl>
          </a:graphicData>
        </a:graphic>
      </p:graphicFrame>
    </p:spTree>
    <p:extLst>
      <p:ext uri="{BB962C8B-B14F-4D97-AF65-F5344CB8AC3E}">
        <p14:creationId xmlns:p14="http://schemas.microsoft.com/office/powerpoint/2010/main" val="23313718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23</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تحليل فجوات المهارات </a:t>
            </a:r>
            <a:r>
              <a:rPr lang="ar-SA" dirty="0"/>
              <a:t>لـ "</a:t>
            </a:r>
            <a:r>
              <a:rPr lang="ar-EG" dirty="0"/>
              <a:t>م. عبدالإله المغيره</a:t>
            </a:r>
            <a:r>
              <a:rPr lang="ar-SA" dirty="0"/>
              <a:t>" (</a:t>
            </a:r>
            <a:r>
              <a:rPr lang="en-US" dirty="0"/>
              <a:t>2 / 2</a:t>
            </a:r>
            <a:r>
              <a:rPr lang="ar-SA" dirty="0"/>
              <a:t>)</a:t>
            </a:r>
            <a:endParaRPr lang="en-US" dirty="0"/>
          </a:p>
        </p:txBody>
      </p:sp>
      <p:graphicFrame>
        <p:nvGraphicFramePr>
          <p:cNvPr id="5" name="Table 4">
            <a:extLst>
              <a:ext uri="{FF2B5EF4-FFF2-40B4-BE49-F238E27FC236}">
                <a16:creationId xmlns:a16="http://schemas.microsoft.com/office/drawing/2014/main" id="{3919E36B-CC27-4E77-828F-D6A84689731C}"/>
              </a:ext>
            </a:extLst>
          </p:cNvPr>
          <p:cNvGraphicFramePr>
            <a:graphicFrameLocks noGrp="1"/>
          </p:cNvGraphicFramePr>
          <p:nvPr>
            <p:extLst>
              <p:ext uri="{D42A27DB-BD31-4B8C-83A1-F6EECF244321}">
                <p14:modId xmlns:p14="http://schemas.microsoft.com/office/powerpoint/2010/main" val="969913946"/>
              </p:ext>
            </p:extLst>
          </p:nvPr>
        </p:nvGraphicFramePr>
        <p:xfrm>
          <a:off x="502919" y="929930"/>
          <a:ext cx="11175447" cy="3863107"/>
        </p:xfrm>
        <a:graphic>
          <a:graphicData uri="http://schemas.openxmlformats.org/drawingml/2006/table">
            <a:tbl>
              <a:tblPr rtl="1" firstRow="1" bandRow="1">
                <a:tableStyleId>{5C22544A-7EE6-4342-B048-85BDC9FD1C3A}</a:tableStyleId>
              </a:tblPr>
              <a:tblGrid>
                <a:gridCol w="1890381">
                  <a:extLst>
                    <a:ext uri="{9D8B030D-6E8A-4147-A177-3AD203B41FA5}">
                      <a16:colId xmlns:a16="http://schemas.microsoft.com/office/drawing/2014/main" val="1858967670"/>
                    </a:ext>
                  </a:extLst>
                </a:gridCol>
                <a:gridCol w="6432137">
                  <a:extLst>
                    <a:ext uri="{9D8B030D-6E8A-4147-A177-3AD203B41FA5}">
                      <a16:colId xmlns:a16="http://schemas.microsoft.com/office/drawing/2014/main" val="4015586876"/>
                    </a:ext>
                  </a:extLst>
                </a:gridCol>
                <a:gridCol w="914400">
                  <a:extLst>
                    <a:ext uri="{9D8B030D-6E8A-4147-A177-3AD203B41FA5}">
                      <a16:colId xmlns:a16="http://schemas.microsoft.com/office/drawing/2014/main" val="1989554894"/>
                    </a:ext>
                  </a:extLst>
                </a:gridCol>
                <a:gridCol w="1033272">
                  <a:extLst>
                    <a:ext uri="{9D8B030D-6E8A-4147-A177-3AD203B41FA5}">
                      <a16:colId xmlns:a16="http://schemas.microsoft.com/office/drawing/2014/main" val="3895440905"/>
                    </a:ext>
                  </a:extLst>
                </a:gridCol>
                <a:gridCol w="905257">
                  <a:extLst>
                    <a:ext uri="{9D8B030D-6E8A-4147-A177-3AD203B41FA5}">
                      <a16:colId xmlns:a16="http://schemas.microsoft.com/office/drawing/2014/main" val="2911951988"/>
                    </a:ext>
                  </a:extLst>
                </a:gridCol>
              </a:tblGrid>
              <a:tr h="487390">
                <a:tc gridSpan="2">
                  <a:txBody>
                    <a:bodyPr/>
                    <a:lstStyle/>
                    <a:p>
                      <a:pPr algn="ctr" rtl="1"/>
                      <a:r>
                        <a:rPr lang="ar-SA" sz="2000" kern="1200" baseline="0" dirty="0">
                          <a:solidFill>
                            <a:schemeClr val="bg2"/>
                          </a:solidFill>
                          <a:latin typeface="Sakkal Majalla" panose="02000000000000000000" pitchFamily="2" charset="-78"/>
                          <a:ea typeface="+mn-ea"/>
                          <a:cs typeface="Sakkal Majalla" panose="02000000000000000000" pitchFamily="2" charset="-78"/>
                        </a:rPr>
                        <a:t>المسمى الوظيفي</a:t>
                      </a:r>
                      <a:endParaRPr lang="en-US" sz="2000"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000" kern="1200" baseline="0" dirty="0">
                          <a:solidFill>
                            <a:schemeClr val="bg2"/>
                          </a:solidFill>
                          <a:latin typeface="Sakkal Majalla" panose="02000000000000000000" pitchFamily="2" charset="-78"/>
                          <a:ea typeface="+mn-ea"/>
                          <a:cs typeface="Sakkal Majalla" panose="02000000000000000000" pitchFamily="2" charset="-78"/>
                        </a:rPr>
                        <a:t>اسم الموظف </a:t>
                      </a:r>
                      <a:endParaRPr lang="en-US" sz="2000"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5582564"/>
                  </a:ext>
                </a:extLst>
              </a:tr>
              <a:tr h="493488">
                <a:tc gridSpan="2">
                  <a:txBody>
                    <a:bodyPr/>
                    <a:lstStyle/>
                    <a:p>
                      <a:pPr algn="ctr" rtl="1"/>
                      <a:r>
                        <a:rPr lang="ar-SA"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rPr>
                        <a:t>خبير بنية التطبيقات</a:t>
                      </a:r>
                      <a:endParaRPr lang="en-US"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endParaRP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rPr>
                        <a:t>م. عبدالإله المغيره</a:t>
                      </a:r>
                      <a:endParaRPr lang="ar-SA" sz="2400" b="1" kern="1200" baseline="0" dirty="0">
                        <a:solidFill>
                          <a:schemeClr val="tx1">
                            <a:lumMod val="75000"/>
                            <a:lumOff val="25000"/>
                          </a:schemeClr>
                        </a:solidFill>
                        <a:highlight>
                          <a:srgbClr val="FFFF00"/>
                        </a:highlight>
                        <a:latin typeface="Sakkal Majalla" panose="02000000000000000000" pitchFamily="2" charset="-78"/>
                        <a:ea typeface="+mn-ea"/>
                        <a:cs typeface="Sakkal Majalla" panose="02000000000000000000" pitchFamily="2" charset="-78"/>
                      </a:endParaRP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3059069381"/>
                  </a:ext>
                </a:extLst>
              </a:tr>
              <a:tr h="0">
                <a:tc>
                  <a:txBody>
                    <a:bodyPr/>
                    <a:lstStyle/>
                    <a:p>
                      <a:pPr algn="ctr" rtl="1"/>
                      <a:r>
                        <a:rPr lang="ar-SA" sz="2000" b="1" kern="1200" baseline="0" dirty="0">
                          <a:solidFill>
                            <a:schemeClr val="bg2"/>
                          </a:solidFill>
                          <a:latin typeface="Sakkal Majalla" panose="02000000000000000000" pitchFamily="2" charset="-78"/>
                          <a:ea typeface="+mn-ea"/>
                          <a:cs typeface="Sakkal Majalla" panose="02000000000000000000" pitchFamily="2" charset="-78"/>
                        </a:rPr>
                        <a:t>اسم المهارة </a:t>
                      </a:r>
                      <a:endParaRPr lang="en-US" sz="20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2000" b="1" kern="1200" baseline="0" dirty="0">
                          <a:solidFill>
                            <a:schemeClr val="bg2"/>
                          </a:solidFill>
                          <a:latin typeface="Sakkal Majalla" panose="02000000000000000000" pitchFamily="2" charset="-78"/>
                          <a:ea typeface="+mn-ea"/>
                          <a:cs typeface="Sakkal Majalla" panose="02000000000000000000" pitchFamily="2" charset="-78"/>
                        </a:rPr>
                        <a:t>المهام والمسؤوليات المرتبطة</a:t>
                      </a:r>
                      <a:endParaRPr lang="en-US" sz="20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dirty="0">
                          <a:solidFill>
                            <a:schemeClr val="bg2"/>
                          </a:solidFill>
                          <a:latin typeface="Sakkal Majalla" panose="02000000000000000000" pitchFamily="2" charset="-78"/>
                          <a:ea typeface="+mn-ea"/>
                          <a:cs typeface="Sakkal Majalla" panose="02000000000000000000" pitchFamily="2" charset="-78"/>
                        </a:rPr>
                        <a:t>نوع المهارة </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dirty="0">
                          <a:solidFill>
                            <a:schemeClr val="bg2"/>
                          </a:solidFill>
                          <a:latin typeface="Sakkal Majalla" panose="02000000000000000000" pitchFamily="2" charset="-78"/>
                          <a:ea typeface="+mn-ea"/>
                          <a:cs typeface="Sakkal Majalla" panose="02000000000000000000" pitchFamily="2" charset="-78"/>
                        </a:rPr>
                        <a:t>المستوى المطلوب</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a:solidFill>
                            <a:schemeClr val="bg2"/>
                          </a:solidFill>
                          <a:latin typeface="Sakkal Majalla" panose="02000000000000000000" pitchFamily="2" charset="-78"/>
                          <a:ea typeface="+mn-ea"/>
                          <a:cs typeface="Sakkal Majalla" panose="02000000000000000000" pitchFamily="2" charset="-78"/>
                        </a:rPr>
                        <a:t>المستوى الحالي</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extLst>
                  <a:ext uri="{0D108BD9-81ED-4DB2-BD59-A6C34878D82A}">
                    <a16:rowId xmlns:a16="http://schemas.microsoft.com/office/drawing/2014/main" val="2198393076"/>
                  </a:ext>
                </a:extLst>
              </a:tr>
              <a:tr h="747383">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المعرفة بالحوكمة والامتثال للمعايير</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تطبيق وتحديث مبادئ ومعايير البنية المؤسسية للتطبيقات وضمان الامتثال لها</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المواءمة مع نماذج الحوكمة والمعايير ذات الصلة المعتمدة في الهيئة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 جدا</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1820247470"/>
                  </a:ext>
                </a:extLst>
              </a:tr>
              <a:tr h="747383">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المعرفة بأفضل الممارسات في مجال التطبيقات</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تطوير وتحديث تصاميم بنية التطبيقات المؤسسية بشكل دوري وفقا لأفضل الممارسات</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متابعة أحدث التطورات والتوجهات في مجال بنية التطبيقات وتطبيقها في الهيئة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 جدا</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3833028501"/>
                  </a:ext>
                </a:extLst>
              </a:tr>
              <a:tr h="747383">
                <a:tc>
                  <a:txBody>
                    <a:bodyPr/>
                    <a:lstStyle/>
                    <a:p>
                      <a:pPr algn="ctr" rtl="1" fontAlgn="b"/>
                      <a:r>
                        <a:rPr lang="ar-SA" sz="1800" b="1" i="0" u="none" strike="noStrike" dirty="0">
                          <a:solidFill>
                            <a:schemeClr val="bg1"/>
                          </a:solidFill>
                          <a:effectLst/>
                          <a:latin typeface="Calibri" panose="020F0502020204030204" pitchFamily="34" charset="0"/>
                        </a:rPr>
                        <a:t>التواصل الفعال</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التواصل الفعال (شفهياً وكتابياً) مع أعضاء فريق البنية المؤسسية، موظفي الإدارات الأخرى، المديرين التنفيذيين، وأصحاب المصلحة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شخصية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288110641"/>
                  </a:ext>
                </a:extLst>
              </a:tr>
            </a:tbl>
          </a:graphicData>
        </a:graphic>
      </p:graphicFrame>
    </p:spTree>
    <p:extLst>
      <p:ext uri="{BB962C8B-B14F-4D97-AF65-F5344CB8AC3E}">
        <p14:creationId xmlns:p14="http://schemas.microsoft.com/office/powerpoint/2010/main" val="41603410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24</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تحليل فجوات المهارات </a:t>
            </a:r>
            <a:r>
              <a:rPr lang="ar-SA" dirty="0"/>
              <a:t>لـ "</a:t>
            </a:r>
            <a:r>
              <a:rPr lang="ar-EG" dirty="0"/>
              <a:t>م. ميمونة الحربي</a:t>
            </a:r>
            <a:r>
              <a:rPr lang="ar-SA" dirty="0"/>
              <a:t>" (</a:t>
            </a:r>
            <a:r>
              <a:rPr lang="en-US" dirty="0"/>
              <a:t>1 / 2</a:t>
            </a:r>
            <a:r>
              <a:rPr lang="ar-SA" dirty="0"/>
              <a:t>)</a:t>
            </a:r>
            <a:endParaRPr lang="en-US" dirty="0"/>
          </a:p>
        </p:txBody>
      </p:sp>
      <p:graphicFrame>
        <p:nvGraphicFramePr>
          <p:cNvPr id="5" name="Table 4">
            <a:extLst>
              <a:ext uri="{FF2B5EF4-FFF2-40B4-BE49-F238E27FC236}">
                <a16:creationId xmlns:a16="http://schemas.microsoft.com/office/drawing/2014/main" id="{3919E36B-CC27-4E77-828F-D6A84689731C}"/>
              </a:ext>
            </a:extLst>
          </p:cNvPr>
          <p:cNvGraphicFramePr>
            <a:graphicFrameLocks noGrp="1"/>
          </p:cNvGraphicFramePr>
          <p:nvPr>
            <p:extLst>
              <p:ext uri="{D42A27DB-BD31-4B8C-83A1-F6EECF244321}">
                <p14:modId xmlns:p14="http://schemas.microsoft.com/office/powerpoint/2010/main" val="2986565508"/>
              </p:ext>
            </p:extLst>
          </p:nvPr>
        </p:nvGraphicFramePr>
        <p:xfrm>
          <a:off x="502919" y="929931"/>
          <a:ext cx="11175447" cy="5098336"/>
        </p:xfrm>
        <a:graphic>
          <a:graphicData uri="http://schemas.openxmlformats.org/drawingml/2006/table">
            <a:tbl>
              <a:tblPr rtl="1" firstRow="1" bandRow="1">
                <a:tableStyleId>{5C22544A-7EE6-4342-B048-85BDC9FD1C3A}</a:tableStyleId>
              </a:tblPr>
              <a:tblGrid>
                <a:gridCol w="1890381">
                  <a:extLst>
                    <a:ext uri="{9D8B030D-6E8A-4147-A177-3AD203B41FA5}">
                      <a16:colId xmlns:a16="http://schemas.microsoft.com/office/drawing/2014/main" val="1858967670"/>
                    </a:ext>
                  </a:extLst>
                </a:gridCol>
                <a:gridCol w="6432137">
                  <a:extLst>
                    <a:ext uri="{9D8B030D-6E8A-4147-A177-3AD203B41FA5}">
                      <a16:colId xmlns:a16="http://schemas.microsoft.com/office/drawing/2014/main" val="4015586876"/>
                    </a:ext>
                  </a:extLst>
                </a:gridCol>
                <a:gridCol w="914400">
                  <a:extLst>
                    <a:ext uri="{9D8B030D-6E8A-4147-A177-3AD203B41FA5}">
                      <a16:colId xmlns:a16="http://schemas.microsoft.com/office/drawing/2014/main" val="1989554894"/>
                    </a:ext>
                  </a:extLst>
                </a:gridCol>
                <a:gridCol w="1033272">
                  <a:extLst>
                    <a:ext uri="{9D8B030D-6E8A-4147-A177-3AD203B41FA5}">
                      <a16:colId xmlns:a16="http://schemas.microsoft.com/office/drawing/2014/main" val="3895440905"/>
                    </a:ext>
                  </a:extLst>
                </a:gridCol>
                <a:gridCol w="905257">
                  <a:extLst>
                    <a:ext uri="{9D8B030D-6E8A-4147-A177-3AD203B41FA5}">
                      <a16:colId xmlns:a16="http://schemas.microsoft.com/office/drawing/2014/main" val="2911951988"/>
                    </a:ext>
                  </a:extLst>
                </a:gridCol>
              </a:tblGrid>
              <a:tr h="438930">
                <a:tc gridSpan="2">
                  <a:txBody>
                    <a:bodyPr/>
                    <a:lstStyle/>
                    <a:p>
                      <a:pPr algn="ctr" rtl="1"/>
                      <a:r>
                        <a:rPr lang="ar-SA" sz="2000" kern="1200" baseline="0" dirty="0">
                          <a:solidFill>
                            <a:schemeClr val="bg2"/>
                          </a:solidFill>
                          <a:latin typeface="Sakkal Majalla" panose="02000000000000000000" pitchFamily="2" charset="-78"/>
                          <a:ea typeface="+mn-ea"/>
                          <a:cs typeface="Sakkal Majalla" panose="02000000000000000000" pitchFamily="2" charset="-78"/>
                        </a:rPr>
                        <a:t>المسمى الوظيفي</a:t>
                      </a:r>
                      <a:endParaRPr lang="en-US" sz="2000"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000" kern="1200" baseline="0" dirty="0">
                          <a:solidFill>
                            <a:schemeClr val="bg2"/>
                          </a:solidFill>
                          <a:latin typeface="Sakkal Majalla" panose="02000000000000000000" pitchFamily="2" charset="-78"/>
                          <a:ea typeface="+mn-ea"/>
                          <a:cs typeface="Sakkal Majalla" panose="02000000000000000000" pitchFamily="2" charset="-78"/>
                        </a:rPr>
                        <a:t>اسم الموظف </a:t>
                      </a:r>
                      <a:endParaRPr lang="en-US" sz="2000"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5582564"/>
                  </a:ext>
                </a:extLst>
              </a:tr>
              <a:tr h="506457">
                <a:tc gridSpan="2">
                  <a:txBody>
                    <a:bodyPr/>
                    <a:lstStyle/>
                    <a:p>
                      <a:pPr algn="ctr" rtl="1"/>
                      <a:r>
                        <a:rPr lang="ar-SA"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rPr>
                        <a:t>خبير بنية التطبيقات</a:t>
                      </a:r>
                      <a:endParaRPr lang="en-US"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endParaRP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rPr>
                        <a:t>م. ميمونة الحربي</a:t>
                      </a:r>
                      <a:endParaRPr lang="ar-SA" sz="2400" b="1" kern="1200" baseline="0" dirty="0">
                        <a:solidFill>
                          <a:schemeClr val="tx1">
                            <a:lumMod val="75000"/>
                            <a:lumOff val="25000"/>
                          </a:schemeClr>
                        </a:solidFill>
                        <a:highlight>
                          <a:srgbClr val="FFFF00"/>
                        </a:highlight>
                        <a:latin typeface="Sakkal Majalla" panose="02000000000000000000" pitchFamily="2" charset="-78"/>
                        <a:ea typeface="+mn-ea"/>
                        <a:cs typeface="Sakkal Majalla" panose="02000000000000000000" pitchFamily="2" charset="-78"/>
                      </a:endParaRP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3059069381"/>
                  </a:ext>
                </a:extLst>
              </a:tr>
              <a:tr h="709040">
                <a:tc>
                  <a:txBody>
                    <a:bodyPr/>
                    <a:lstStyle/>
                    <a:p>
                      <a:pPr algn="ctr" rtl="1"/>
                      <a:r>
                        <a:rPr lang="ar-SA" sz="2000" b="1" kern="1200" baseline="0" dirty="0">
                          <a:solidFill>
                            <a:schemeClr val="bg2"/>
                          </a:solidFill>
                          <a:latin typeface="Sakkal Majalla" panose="02000000000000000000" pitchFamily="2" charset="-78"/>
                          <a:ea typeface="+mn-ea"/>
                          <a:cs typeface="Sakkal Majalla" panose="02000000000000000000" pitchFamily="2" charset="-78"/>
                        </a:rPr>
                        <a:t>اسم المهارة </a:t>
                      </a:r>
                      <a:endParaRPr lang="en-US" sz="20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2000" b="1" kern="1200" baseline="0" dirty="0">
                          <a:solidFill>
                            <a:schemeClr val="bg2"/>
                          </a:solidFill>
                          <a:latin typeface="Sakkal Majalla" panose="02000000000000000000" pitchFamily="2" charset="-78"/>
                          <a:ea typeface="+mn-ea"/>
                          <a:cs typeface="Sakkal Majalla" panose="02000000000000000000" pitchFamily="2" charset="-78"/>
                        </a:rPr>
                        <a:t>المهام والمسؤوليات المرتبطة</a:t>
                      </a:r>
                      <a:endParaRPr lang="en-US" sz="20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dirty="0">
                          <a:solidFill>
                            <a:schemeClr val="bg2"/>
                          </a:solidFill>
                          <a:latin typeface="Sakkal Majalla" panose="02000000000000000000" pitchFamily="2" charset="-78"/>
                          <a:ea typeface="+mn-ea"/>
                          <a:cs typeface="Sakkal Majalla" panose="02000000000000000000" pitchFamily="2" charset="-78"/>
                        </a:rPr>
                        <a:t>نوع المهارة </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dirty="0">
                          <a:solidFill>
                            <a:schemeClr val="bg2"/>
                          </a:solidFill>
                          <a:latin typeface="Sakkal Majalla" panose="02000000000000000000" pitchFamily="2" charset="-78"/>
                          <a:ea typeface="+mn-ea"/>
                          <a:cs typeface="Sakkal Majalla" panose="02000000000000000000" pitchFamily="2" charset="-78"/>
                        </a:rPr>
                        <a:t>المستوى المطلوب</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a:solidFill>
                            <a:schemeClr val="bg2"/>
                          </a:solidFill>
                          <a:latin typeface="Sakkal Majalla" panose="02000000000000000000" pitchFamily="2" charset="-78"/>
                          <a:ea typeface="+mn-ea"/>
                          <a:cs typeface="Sakkal Majalla" panose="02000000000000000000" pitchFamily="2" charset="-78"/>
                        </a:rPr>
                        <a:t>المستوى الحالي</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extLst>
                  <a:ext uri="{0D108BD9-81ED-4DB2-BD59-A6C34878D82A}">
                    <a16:rowId xmlns:a16="http://schemas.microsoft.com/office/drawing/2014/main" val="2198393076"/>
                  </a:ext>
                </a:extLst>
              </a:tr>
              <a:tr h="709040">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تحليل وتوثيق بنية التطبيقات</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فهم وتوثيق وتحليل بنية التطبيقات الحالية في الهيئة وتحديد التحديثات اللازمة</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تطوير وتحديث </a:t>
                      </a: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التصاميم المرجعية لبنية </a:t>
                      </a: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التطبيقات المؤسسية بشكل دوري وفقا لأفضل الممارسات</a:t>
                      </a:r>
                    </a:p>
                  </a:txBody>
                  <a:tcPr anchor="ctr"/>
                </a:tc>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فنية</a:t>
                      </a:r>
                    </a:p>
                  </a:txBody>
                  <a:tcPr anchor="ctr"/>
                </a:tc>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ممتاز</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3023942828"/>
                  </a:ext>
                </a:extLst>
              </a:tr>
              <a:tr h="911623">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تصميم وتطوير بنية التطبيقات</a:t>
                      </a:r>
                    </a:p>
                  </a:txBody>
                  <a:tcPr anchor="ctr">
                    <a:solidFill>
                      <a:schemeClr val="accent1"/>
                    </a:solidFill>
                  </a:tcPr>
                </a:tc>
                <a:tc>
                  <a:txBody>
                    <a:bodyPr/>
                    <a:lstStyle/>
                    <a:p>
                      <a:pPr marL="285750" indent="-285750" algn="r" rtl="1" fontAlgn="b">
                        <a:buFont typeface="Arial" panose="020B0604020202020204" pitchFamily="34" charset="0"/>
                        <a:buChar char="•"/>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تصميم وتطوير التصاميم المستقبلية لبنية التطبيقات، بما يشمل المتطلبات والاحتياجات وخصائص التطبيقات ومكوناتها</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تحديد الفجوات والثغرات في بنية التطبيقات ووضع التوصيات والتحسينات المطلوبة</a:t>
                      </a:r>
                    </a:p>
                  </a:txBody>
                  <a:tcPr anchor="ctr"/>
                </a:tc>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فنية</a:t>
                      </a:r>
                    </a:p>
                  </a:txBody>
                  <a:tcPr anchor="ctr"/>
                </a:tc>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ممتاز</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1820247470"/>
                  </a:ext>
                </a:extLst>
              </a:tr>
              <a:tr h="911623">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تطوير المتطلبات والمواصفات التقنية</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توفير الدعم في تطوير المتطلبات للخدمات والمنتجات (الحلول والتطبيقات) والمشاركة في إعداد كراسات الشروط والمواصفات</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800" b="1" i="0" u="none" strike="noStrike" kern="1200" cap="none" spc="0" normalizeH="0" baseline="0" noProof="0">
                          <a:ln>
                            <a:noFill/>
                          </a:ln>
                          <a:solidFill>
                            <a:srgbClr val="000000"/>
                          </a:solidFill>
                          <a:effectLst/>
                          <a:uLnTx/>
                          <a:uFillTx/>
                          <a:latin typeface="Calibri" panose="020F0502020204030204" pitchFamily="34" charset="0"/>
                          <a:ea typeface="+mn-ea"/>
                          <a:cs typeface="Sakkal Majalla"/>
                        </a:rPr>
                        <a:t>جيد جدا</a:t>
                      </a:r>
                      <a:endParaRPr kumimoji="0" lang="ar-SA" sz="1800" b="1"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endParaRP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3833028501"/>
                  </a:ext>
                </a:extLst>
              </a:tr>
              <a:tr h="911623">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مراجعة وتقييم الحلول التقنية</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مراجعة ومناقشة تفاصيل التطبيقات والحلول التقنية (المتطلبات، التصاميم، المبادئ) خلال دورة حياة المشاريع</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مراجعة ومناقشة خطط تقنية المعلومات والتحول الرقمي وخارطة الطريق وتقديم الملاحظات</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800" b="1"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جيد جدا</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198695267"/>
                  </a:ext>
                </a:extLst>
              </a:tr>
            </a:tbl>
          </a:graphicData>
        </a:graphic>
      </p:graphicFrame>
    </p:spTree>
    <p:extLst>
      <p:ext uri="{BB962C8B-B14F-4D97-AF65-F5344CB8AC3E}">
        <p14:creationId xmlns:p14="http://schemas.microsoft.com/office/powerpoint/2010/main" val="35154177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25</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تحليل فجوات المهارات </a:t>
            </a:r>
            <a:r>
              <a:rPr lang="ar-SA" dirty="0"/>
              <a:t>لـ "</a:t>
            </a:r>
            <a:r>
              <a:rPr lang="ar-EG" dirty="0"/>
              <a:t>م. ميمونة الحربي</a:t>
            </a:r>
            <a:r>
              <a:rPr lang="ar-SA" dirty="0"/>
              <a:t>" (</a:t>
            </a:r>
            <a:r>
              <a:rPr lang="en-US" dirty="0"/>
              <a:t>2 / 2</a:t>
            </a:r>
            <a:r>
              <a:rPr lang="ar-SA" dirty="0"/>
              <a:t>)</a:t>
            </a:r>
            <a:endParaRPr lang="en-US" dirty="0"/>
          </a:p>
        </p:txBody>
      </p:sp>
      <p:graphicFrame>
        <p:nvGraphicFramePr>
          <p:cNvPr id="5" name="Table 4">
            <a:extLst>
              <a:ext uri="{FF2B5EF4-FFF2-40B4-BE49-F238E27FC236}">
                <a16:creationId xmlns:a16="http://schemas.microsoft.com/office/drawing/2014/main" id="{3919E36B-CC27-4E77-828F-D6A84689731C}"/>
              </a:ext>
            </a:extLst>
          </p:cNvPr>
          <p:cNvGraphicFramePr>
            <a:graphicFrameLocks noGrp="1"/>
          </p:cNvGraphicFramePr>
          <p:nvPr>
            <p:extLst>
              <p:ext uri="{D42A27DB-BD31-4B8C-83A1-F6EECF244321}">
                <p14:modId xmlns:p14="http://schemas.microsoft.com/office/powerpoint/2010/main" val="4217903997"/>
              </p:ext>
            </p:extLst>
          </p:nvPr>
        </p:nvGraphicFramePr>
        <p:xfrm>
          <a:off x="502919" y="929930"/>
          <a:ext cx="11175447" cy="3863107"/>
        </p:xfrm>
        <a:graphic>
          <a:graphicData uri="http://schemas.openxmlformats.org/drawingml/2006/table">
            <a:tbl>
              <a:tblPr rtl="1" firstRow="1" bandRow="1">
                <a:tableStyleId>{5C22544A-7EE6-4342-B048-85BDC9FD1C3A}</a:tableStyleId>
              </a:tblPr>
              <a:tblGrid>
                <a:gridCol w="1890381">
                  <a:extLst>
                    <a:ext uri="{9D8B030D-6E8A-4147-A177-3AD203B41FA5}">
                      <a16:colId xmlns:a16="http://schemas.microsoft.com/office/drawing/2014/main" val="1858967670"/>
                    </a:ext>
                  </a:extLst>
                </a:gridCol>
                <a:gridCol w="6432137">
                  <a:extLst>
                    <a:ext uri="{9D8B030D-6E8A-4147-A177-3AD203B41FA5}">
                      <a16:colId xmlns:a16="http://schemas.microsoft.com/office/drawing/2014/main" val="4015586876"/>
                    </a:ext>
                  </a:extLst>
                </a:gridCol>
                <a:gridCol w="914400">
                  <a:extLst>
                    <a:ext uri="{9D8B030D-6E8A-4147-A177-3AD203B41FA5}">
                      <a16:colId xmlns:a16="http://schemas.microsoft.com/office/drawing/2014/main" val="1989554894"/>
                    </a:ext>
                  </a:extLst>
                </a:gridCol>
                <a:gridCol w="1033272">
                  <a:extLst>
                    <a:ext uri="{9D8B030D-6E8A-4147-A177-3AD203B41FA5}">
                      <a16:colId xmlns:a16="http://schemas.microsoft.com/office/drawing/2014/main" val="3895440905"/>
                    </a:ext>
                  </a:extLst>
                </a:gridCol>
                <a:gridCol w="905257">
                  <a:extLst>
                    <a:ext uri="{9D8B030D-6E8A-4147-A177-3AD203B41FA5}">
                      <a16:colId xmlns:a16="http://schemas.microsoft.com/office/drawing/2014/main" val="2911951988"/>
                    </a:ext>
                  </a:extLst>
                </a:gridCol>
              </a:tblGrid>
              <a:tr h="487390">
                <a:tc gridSpan="2">
                  <a:txBody>
                    <a:bodyPr/>
                    <a:lstStyle/>
                    <a:p>
                      <a:pPr algn="ctr" rtl="1"/>
                      <a:r>
                        <a:rPr lang="ar-SA" sz="2000" kern="1200" baseline="0" dirty="0">
                          <a:solidFill>
                            <a:schemeClr val="bg2"/>
                          </a:solidFill>
                          <a:latin typeface="Sakkal Majalla" panose="02000000000000000000" pitchFamily="2" charset="-78"/>
                          <a:ea typeface="+mn-ea"/>
                          <a:cs typeface="Sakkal Majalla" panose="02000000000000000000" pitchFamily="2" charset="-78"/>
                        </a:rPr>
                        <a:t>المسمى الوظيفي</a:t>
                      </a:r>
                      <a:endParaRPr lang="en-US" sz="2000"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000" kern="1200" baseline="0" dirty="0">
                          <a:solidFill>
                            <a:schemeClr val="bg2"/>
                          </a:solidFill>
                          <a:latin typeface="Sakkal Majalla" panose="02000000000000000000" pitchFamily="2" charset="-78"/>
                          <a:ea typeface="+mn-ea"/>
                          <a:cs typeface="Sakkal Majalla" panose="02000000000000000000" pitchFamily="2" charset="-78"/>
                        </a:rPr>
                        <a:t>اسم الموظف </a:t>
                      </a:r>
                      <a:endParaRPr lang="en-US" sz="2000"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5582564"/>
                  </a:ext>
                </a:extLst>
              </a:tr>
              <a:tr h="493488">
                <a:tc gridSpan="2">
                  <a:txBody>
                    <a:bodyPr/>
                    <a:lstStyle/>
                    <a:p>
                      <a:pPr algn="ctr" rtl="1"/>
                      <a:r>
                        <a:rPr lang="ar-SA"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rPr>
                        <a:t>خبير بنية التطبيقات</a:t>
                      </a:r>
                      <a:endParaRPr lang="en-US"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endParaRP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rPr>
                        <a:t>م. ميمونة الحربي</a:t>
                      </a:r>
                      <a:endParaRPr lang="ar-SA" sz="2400" b="1" kern="1200" baseline="0" dirty="0">
                        <a:solidFill>
                          <a:schemeClr val="tx1">
                            <a:lumMod val="75000"/>
                            <a:lumOff val="25000"/>
                          </a:schemeClr>
                        </a:solidFill>
                        <a:highlight>
                          <a:srgbClr val="FFFF00"/>
                        </a:highlight>
                        <a:latin typeface="Sakkal Majalla" panose="02000000000000000000" pitchFamily="2" charset="-78"/>
                        <a:ea typeface="+mn-ea"/>
                        <a:cs typeface="Sakkal Majalla" panose="02000000000000000000" pitchFamily="2" charset="-78"/>
                      </a:endParaRP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3059069381"/>
                  </a:ext>
                </a:extLst>
              </a:tr>
              <a:tr h="0">
                <a:tc>
                  <a:txBody>
                    <a:bodyPr/>
                    <a:lstStyle/>
                    <a:p>
                      <a:pPr algn="ctr" rtl="1"/>
                      <a:r>
                        <a:rPr lang="ar-SA" sz="2000" b="1" kern="1200" baseline="0" dirty="0">
                          <a:solidFill>
                            <a:schemeClr val="bg2"/>
                          </a:solidFill>
                          <a:latin typeface="Sakkal Majalla" panose="02000000000000000000" pitchFamily="2" charset="-78"/>
                          <a:ea typeface="+mn-ea"/>
                          <a:cs typeface="Sakkal Majalla" panose="02000000000000000000" pitchFamily="2" charset="-78"/>
                        </a:rPr>
                        <a:t>اسم المهارة </a:t>
                      </a:r>
                      <a:endParaRPr lang="en-US" sz="20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2000" b="1" kern="1200" baseline="0" dirty="0">
                          <a:solidFill>
                            <a:schemeClr val="bg2"/>
                          </a:solidFill>
                          <a:latin typeface="Sakkal Majalla" panose="02000000000000000000" pitchFamily="2" charset="-78"/>
                          <a:ea typeface="+mn-ea"/>
                          <a:cs typeface="Sakkal Majalla" panose="02000000000000000000" pitchFamily="2" charset="-78"/>
                        </a:rPr>
                        <a:t>المهام والمسؤوليات المرتبطة</a:t>
                      </a:r>
                      <a:endParaRPr lang="en-US" sz="20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dirty="0">
                          <a:solidFill>
                            <a:schemeClr val="bg2"/>
                          </a:solidFill>
                          <a:latin typeface="Sakkal Majalla" panose="02000000000000000000" pitchFamily="2" charset="-78"/>
                          <a:ea typeface="+mn-ea"/>
                          <a:cs typeface="Sakkal Majalla" panose="02000000000000000000" pitchFamily="2" charset="-78"/>
                        </a:rPr>
                        <a:t>نوع المهارة </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dirty="0">
                          <a:solidFill>
                            <a:schemeClr val="bg2"/>
                          </a:solidFill>
                          <a:latin typeface="Sakkal Majalla" panose="02000000000000000000" pitchFamily="2" charset="-78"/>
                          <a:ea typeface="+mn-ea"/>
                          <a:cs typeface="Sakkal Majalla" panose="02000000000000000000" pitchFamily="2" charset="-78"/>
                        </a:rPr>
                        <a:t>المستوى المطلوب</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a:solidFill>
                            <a:schemeClr val="bg2"/>
                          </a:solidFill>
                          <a:latin typeface="Sakkal Majalla" panose="02000000000000000000" pitchFamily="2" charset="-78"/>
                          <a:ea typeface="+mn-ea"/>
                          <a:cs typeface="Sakkal Majalla" panose="02000000000000000000" pitchFamily="2" charset="-78"/>
                        </a:rPr>
                        <a:t>المستوى الحالي</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extLst>
                  <a:ext uri="{0D108BD9-81ED-4DB2-BD59-A6C34878D82A}">
                    <a16:rowId xmlns:a16="http://schemas.microsoft.com/office/drawing/2014/main" val="2198393076"/>
                  </a:ext>
                </a:extLst>
              </a:tr>
              <a:tr h="747383">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المعرفة بالحوكمة والامتثال للمعايير</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تطبيق وتحديث مبادئ ومعايير البنية المؤسسية للتطبيقات وضمان الامتثال لها</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المواءمة مع نماذج الحوكمة والمعايير ذات الصلة المعتمدة في الهيئة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 جدا</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1820247470"/>
                  </a:ext>
                </a:extLst>
              </a:tr>
              <a:tr h="747383">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المعرفة بأفضل الممارسات في مجال التطبيقات</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تطوير وتحديث تصاميم بنية التطبيقات المؤسسية بشكل دوري وفقا لأفضل الممارسات</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متابعة أحدث التطورات والتوجهات في مجال بنية التطبيقات وتطبيقها في الهيئة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 جدا</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3833028501"/>
                  </a:ext>
                </a:extLst>
              </a:tr>
              <a:tr h="747383">
                <a:tc>
                  <a:txBody>
                    <a:bodyPr/>
                    <a:lstStyle/>
                    <a:p>
                      <a:pPr algn="ctr" rtl="1" fontAlgn="b"/>
                      <a:r>
                        <a:rPr lang="ar-SA" sz="1800" b="1" i="0" u="none" strike="noStrike" dirty="0">
                          <a:solidFill>
                            <a:schemeClr val="bg1"/>
                          </a:solidFill>
                          <a:effectLst/>
                          <a:latin typeface="Calibri" panose="020F0502020204030204" pitchFamily="34" charset="0"/>
                        </a:rPr>
                        <a:t>التواصل الفعال</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التواصل الفعال (شفهياً وكتابياً) مع أعضاء فريق البنية المؤسسية، موظفي الإدارات الأخرى، المديرين التنفيذيين، وأصحاب المصلحة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شخصية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288110641"/>
                  </a:ext>
                </a:extLst>
              </a:tr>
            </a:tbl>
          </a:graphicData>
        </a:graphic>
      </p:graphicFrame>
    </p:spTree>
    <p:extLst>
      <p:ext uri="{BB962C8B-B14F-4D97-AF65-F5344CB8AC3E}">
        <p14:creationId xmlns:p14="http://schemas.microsoft.com/office/powerpoint/2010/main" val="13929852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26</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تحليل فجوات المهارات </a:t>
            </a:r>
            <a:r>
              <a:rPr lang="ar-SA" dirty="0"/>
              <a:t>لـ "</a:t>
            </a:r>
            <a:r>
              <a:rPr lang="ar-EG" dirty="0"/>
              <a:t>م. روان العنزي</a:t>
            </a:r>
            <a:r>
              <a:rPr lang="ar-SA" dirty="0"/>
              <a:t>" (</a:t>
            </a:r>
            <a:r>
              <a:rPr lang="en-US" dirty="0"/>
              <a:t>1 / 2</a:t>
            </a:r>
            <a:r>
              <a:rPr lang="ar-SA" dirty="0"/>
              <a:t>)</a:t>
            </a:r>
            <a:endParaRPr lang="en-US" dirty="0"/>
          </a:p>
        </p:txBody>
      </p:sp>
      <p:graphicFrame>
        <p:nvGraphicFramePr>
          <p:cNvPr id="5" name="Table 4">
            <a:extLst>
              <a:ext uri="{FF2B5EF4-FFF2-40B4-BE49-F238E27FC236}">
                <a16:creationId xmlns:a16="http://schemas.microsoft.com/office/drawing/2014/main" id="{3919E36B-CC27-4E77-828F-D6A84689731C}"/>
              </a:ext>
            </a:extLst>
          </p:cNvPr>
          <p:cNvGraphicFramePr>
            <a:graphicFrameLocks noGrp="1"/>
          </p:cNvGraphicFramePr>
          <p:nvPr>
            <p:extLst>
              <p:ext uri="{D42A27DB-BD31-4B8C-83A1-F6EECF244321}">
                <p14:modId xmlns:p14="http://schemas.microsoft.com/office/powerpoint/2010/main" val="1558400585"/>
              </p:ext>
            </p:extLst>
          </p:nvPr>
        </p:nvGraphicFramePr>
        <p:xfrm>
          <a:off x="502919" y="929930"/>
          <a:ext cx="11175447" cy="5185643"/>
        </p:xfrm>
        <a:graphic>
          <a:graphicData uri="http://schemas.openxmlformats.org/drawingml/2006/table">
            <a:tbl>
              <a:tblPr rtl="1" firstRow="1" bandRow="1">
                <a:tableStyleId>{5C22544A-7EE6-4342-B048-85BDC9FD1C3A}</a:tableStyleId>
              </a:tblPr>
              <a:tblGrid>
                <a:gridCol w="1890381">
                  <a:extLst>
                    <a:ext uri="{9D8B030D-6E8A-4147-A177-3AD203B41FA5}">
                      <a16:colId xmlns:a16="http://schemas.microsoft.com/office/drawing/2014/main" val="1858967670"/>
                    </a:ext>
                  </a:extLst>
                </a:gridCol>
                <a:gridCol w="6432137">
                  <a:extLst>
                    <a:ext uri="{9D8B030D-6E8A-4147-A177-3AD203B41FA5}">
                      <a16:colId xmlns:a16="http://schemas.microsoft.com/office/drawing/2014/main" val="4015586876"/>
                    </a:ext>
                  </a:extLst>
                </a:gridCol>
                <a:gridCol w="914400">
                  <a:extLst>
                    <a:ext uri="{9D8B030D-6E8A-4147-A177-3AD203B41FA5}">
                      <a16:colId xmlns:a16="http://schemas.microsoft.com/office/drawing/2014/main" val="1989554894"/>
                    </a:ext>
                  </a:extLst>
                </a:gridCol>
                <a:gridCol w="1033272">
                  <a:extLst>
                    <a:ext uri="{9D8B030D-6E8A-4147-A177-3AD203B41FA5}">
                      <a16:colId xmlns:a16="http://schemas.microsoft.com/office/drawing/2014/main" val="3895440905"/>
                    </a:ext>
                  </a:extLst>
                </a:gridCol>
                <a:gridCol w="905257">
                  <a:extLst>
                    <a:ext uri="{9D8B030D-6E8A-4147-A177-3AD203B41FA5}">
                      <a16:colId xmlns:a16="http://schemas.microsoft.com/office/drawing/2014/main" val="2911951988"/>
                    </a:ext>
                  </a:extLst>
                </a:gridCol>
              </a:tblGrid>
              <a:tr h="455170">
                <a:tc gridSpan="2">
                  <a:txBody>
                    <a:bodyPr/>
                    <a:lstStyle/>
                    <a:p>
                      <a:pPr algn="ctr" rtl="1"/>
                      <a:r>
                        <a:rPr lang="ar-SA" sz="2000" kern="1200" baseline="0" dirty="0">
                          <a:solidFill>
                            <a:schemeClr val="bg2"/>
                          </a:solidFill>
                          <a:latin typeface="Sakkal Majalla" panose="02000000000000000000" pitchFamily="2" charset="-78"/>
                          <a:ea typeface="+mn-ea"/>
                          <a:cs typeface="Sakkal Majalla" panose="02000000000000000000" pitchFamily="2" charset="-78"/>
                        </a:rPr>
                        <a:t>المسمى الوظيفي</a:t>
                      </a:r>
                      <a:endParaRPr lang="en-US" sz="2000"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000" kern="1200" baseline="0" dirty="0">
                          <a:solidFill>
                            <a:schemeClr val="bg2"/>
                          </a:solidFill>
                          <a:latin typeface="Sakkal Majalla" panose="02000000000000000000" pitchFamily="2" charset="-78"/>
                          <a:ea typeface="+mn-ea"/>
                          <a:cs typeface="Sakkal Majalla" panose="02000000000000000000" pitchFamily="2" charset="-78"/>
                        </a:rPr>
                        <a:t>اسم الموظف </a:t>
                      </a:r>
                      <a:endParaRPr lang="en-US" sz="2000"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5582564"/>
                  </a:ext>
                </a:extLst>
              </a:tr>
              <a:tr h="461566">
                <a:tc gridSpan="2">
                  <a:txBody>
                    <a:bodyPr/>
                    <a:lstStyle/>
                    <a:p>
                      <a:pPr algn="ctr" rtl="1"/>
                      <a:r>
                        <a:rPr lang="ar-SA"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rPr>
                        <a:t>خبير بنية التقنية</a:t>
                      </a:r>
                      <a:endParaRPr lang="en-US"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endParaRP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rPr>
                        <a:t>م. روان العنزي</a:t>
                      </a:r>
                      <a:endParaRPr lang="ar-SA" sz="2400" b="1" kern="1200" baseline="0" dirty="0">
                        <a:solidFill>
                          <a:schemeClr val="tx1">
                            <a:lumMod val="75000"/>
                            <a:lumOff val="25000"/>
                          </a:schemeClr>
                        </a:solidFill>
                        <a:highlight>
                          <a:srgbClr val="FFFF00"/>
                        </a:highlight>
                        <a:latin typeface="Sakkal Majalla" panose="02000000000000000000" pitchFamily="2" charset="-78"/>
                        <a:ea typeface="+mn-ea"/>
                        <a:cs typeface="Sakkal Majalla" panose="02000000000000000000" pitchFamily="2" charset="-78"/>
                      </a:endParaRP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3059069381"/>
                  </a:ext>
                </a:extLst>
              </a:tr>
              <a:tr h="646192">
                <a:tc>
                  <a:txBody>
                    <a:bodyPr/>
                    <a:lstStyle/>
                    <a:p>
                      <a:pPr algn="ctr" rtl="1"/>
                      <a:r>
                        <a:rPr lang="ar-SA" sz="2000" b="1" kern="1200" baseline="0" dirty="0">
                          <a:solidFill>
                            <a:schemeClr val="bg2"/>
                          </a:solidFill>
                          <a:latin typeface="Sakkal Majalla" panose="02000000000000000000" pitchFamily="2" charset="-78"/>
                          <a:ea typeface="+mn-ea"/>
                          <a:cs typeface="Sakkal Majalla" panose="02000000000000000000" pitchFamily="2" charset="-78"/>
                        </a:rPr>
                        <a:t>اسم المهارة </a:t>
                      </a:r>
                      <a:endParaRPr lang="en-US" sz="20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2000" b="1" kern="1200" baseline="0" dirty="0">
                          <a:solidFill>
                            <a:schemeClr val="bg2"/>
                          </a:solidFill>
                          <a:latin typeface="Sakkal Majalla" panose="02000000000000000000" pitchFamily="2" charset="-78"/>
                          <a:ea typeface="+mn-ea"/>
                          <a:cs typeface="Sakkal Majalla" panose="02000000000000000000" pitchFamily="2" charset="-78"/>
                        </a:rPr>
                        <a:t>المهام والمسؤوليات المرتبطة</a:t>
                      </a:r>
                      <a:endParaRPr lang="en-US" sz="20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dirty="0">
                          <a:solidFill>
                            <a:schemeClr val="bg2"/>
                          </a:solidFill>
                          <a:latin typeface="Sakkal Majalla" panose="02000000000000000000" pitchFamily="2" charset="-78"/>
                          <a:ea typeface="+mn-ea"/>
                          <a:cs typeface="Sakkal Majalla" panose="02000000000000000000" pitchFamily="2" charset="-78"/>
                        </a:rPr>
                        <a:t>نوع المهارة </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dirty="0">
                          <a:solidFill>
                            <a:schemeClr val="bg2"/>
                          </a:solidFill>
                          <a:latin typeface="Sakkal Majalla" panose="02000000000000000000" pitchFamily="2" charset="-78"/>
                          <a:ea typeface="+mn-ea"/>
                          <a:cs typeface="Sakkal Majalla" panose="02000000000000000000" pitchFamily="2" charset="-78"/>
                        </a:rPr>
                        <a:t>المستوى المطلوب</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a:solidFill>
                            <a:schemeClr val="bg2"/>
                          </a:solidFill>
                          <a:latin typeface="Sakkal Majalla" panose="02000000000000000000" pitchFamily="2" charset="-78"/>
                          <a:ea typeface="+mn-ea"/>
                          <a:cs typeface="Sakkal Majalla" panose="02000000000000000000" pitchFamily="2" charset="-78"/>
                        </a:rPr>
                        <a:t>المستوى الحالي</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extLst>
                  <a:ext uri="{0D108BD9-81ED-4DB2-BD59-A6C34878D82A}">
                    <a16:rowId xmlns:a16="http://schemas.microsoft.com/office/drawing/2014/main" val="2198393076"/>
                  </a:ext>
                </a:extLst>
              </a:tr>
              <a:tr h="697974">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تحليل وتوثيق بنية التقنية</a:t>
                      </a:r>
                    </a:p>
                  </a:txBody>
                  <a:tcPr anchor="ctr">
                    <a:solidFill>
                      <a:schemeClr val="accent1"/>
                    </a:solidFill>
                  </a:tcPr>
                </a:tc>
                <a:tc>
                  <a:txBody>
                    <a:bodyPr/>
                    <a:lstStyle/>
                    <a:p>
                      <a:pPr marL="285750" indent="-285750" algn="r" rtl="1" fontAlgn="b">
                        <a:buFont typeface="Arial" panose="020B0604020202020204" pitchFamily="34" charset="0"/>
                        <a:buChar char="•"/>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فهم وتوثيق وتحليل البنية التقنية الحالية وأمن المعلومات في الهيئة، وتحديد التحديثات والتطويرات اللازمة</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تطوير وتحديث التصاميم المرجعية لبنية التقنية بشكل دوري وفقا لأفضل الممارسات</a:t>
                      </a:r>
                    </a:p>
                  </a:txBody>
                  <a:tcPr anchor="ctr"/>
                </a:tc>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فنية</a:t>
                      </a:r>
                    </a:p>
                  </a:txBody>
                  <a:tcPr anchor="ctr"/>
                </a:tc>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ممتاز</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1820247470"/>
                  </a:ext>
                </a:extLst>
              </a:tr>
              <a:tr h="830819">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تصميم وتطوير بنية التقنية</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تصميم وتطوير التصاميم المستقبلية للبنية التقنية وأمن المعلومات، بما يشمل الشبكات، الخوادم، ومكونات البنية التحتية الأخرى</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تحديد الثغرات والفجوات في بنية التقنية الحالية، ووضع التوصيات والتحسينات المطلوبة</a:t>
                      </a:r>
                    </a:p>
                  </a:txBody>
                  <a:tcPr anchor="ctr"/>
                </a:tc>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فنية</a:t>
                      </a:r>
                    </a:p>
                  </a:txBody>
                  <a:tcPr anchor="ctr"/>
                </a:tc>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ممتاز</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3192081354"/>
                  </a:ext>
                </a:extLst>
              </a:tr>
              <a:tr h="697974">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تطوير المتطلبات التقنية</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توفير الدعم في تحديد متطلبات البنية التقنية للحلول والخدمات والتطبيقات، والمساهمة في تطوير كراسات الشروط والمواصفات ذات الصلة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800" b="1" i="0" u="none" strike="noStrike" kern="1200" cap="none" spc="0" normalizeH="0" baseline="0" noProof="0">
                          <a:ln>
                            <a:noFill/>
                          </a:ln>
                          <a:solidFill>
                            <a:srgbClr val="000000"/>
                          </a:solidFill>
                          <a:effectLst/>
                          <a:uLnTx/>
                          <a:uFillTx/>
                          <a:latin typeface="Calibri" panose="020F0502020204030204" pitchFamily="34" charset="0"/>
                          <a:ea typeface="+mn-ea"/>
                          <a:cs typeface="Sakkal Majalla"/>
                        </a:rPr>
                        <a:t>جيد جدا</a:t>
                      </a:r>
                      <a:endParaRPr kumimoji="0" lang="ar-SA" sz="1800" b="1"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endParaRP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198695267"/>
                  </a:ext>
                </a:extLst>
              </a:tr>
              <a:tr h="697974">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مراجعة وتقييم التصاميم التقنية للمشاريع</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مراجعة ومناقشة تفاصيل البنية التقنية والتصاميم المؤسسية للمشاريع خلال دورة حياة التطوير والتنفيذ وتقديم الملاحظات والتحسينات المطلوبة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800" b="1"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جيد جدا</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656591291"/>
                  </a:ext>
                </a:extLst>
              </a:tr>
              <a:tr h="697974">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المعرفة بأفضل الممارسات في مجال التقنية</a:t>
                      </a:r>
                    </a:p>
                  </a:txBody>
                  <a:tcPr anchor="ctr">
                    <a:solidFill>
                      <a:schemeClr val="accent1"/>
                    </a:solidFill>
                  </a:tcPr>
                </a:tc>
                <a:tc>
                  <a:txBody>
                    <a:bodyPr/>
                    <a:lstStyle/>
                    <a:p>
                      <a:pPr marL="285750" indent="-285750" algn="r" rtl="1" fontAlgn="b">
                        <a:buFont typeface="Arial" panose="020B0604020202020204" pitchFamily="34" charset="0"/>
                        <a:buChar char="•"/>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تطوير وتحديث التصاميم المرجعية للبنية التقنية وأمن المعلومات بشكل دوري وفقا لأفضل الممارسات</a:t>
                      </a:r>
                    </a:p>
                    <a:p>
                      <a:pPr marL="285750" indent="-285750" algn="r" rtl="1" fontAlgn="b">
                        <a:buFont typeface="Arial" panose="020B0604020202020204" pitchFamily="34" charset="0"/>
                        <a:buChar char="•"/>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متابعة أحدث التطورات والتوجهات في مجال بنية التقنية وتطبيقها في الهيئة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 جدا</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3197271644"/>
                  </a:ext>
                </a:extLst>
              </a:tr>
            </a:tbl>
          </a:graphicData>
        </a:graphic>
      </p:graphicFrame>
    </p:spTree>
    <p:extLst>
      <p:ext uri="{BB962C8B-B14F-4D97-AF65-F5344CB8AC3E}">
        <p14:creationId xmlns:p14="http://schemas.microsoft.com/office/powerpoint/2010/main" val="32501309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27</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تحليل فجوات المهارات </a:t>
            </a:r>
            <a:r>
              <a:rPr lang="ar-SA" dirty="0"/>
              <a:t>لـ "</a:t>
            </a:r>
            <a:r>
              <a:rPr lang="ar-EG" dirty="0"/>
              <a:t>م. روان العنزي</a:t>
            </a:r>
            <a:r>
              <a:rPr lang="ar-SA" dirty="0"/>
              <a:t>" (</a:t>
            </a:r>
            <a:r>
              <a:rPr lang="en-US" dirty="0"/>
              <a:t>2 / 2</a:t>
            </a:r>
            <a:r>
              <a:rPr lang="ar-SA" dirty="0"/>
              <a:t>)</a:t>
            </a:r>
            <a:endParaRPr lang="en-US" dirty="0"/>
          </a:p>
        </p:txBody>
      </p:sp>
      <p:graphicFrame>
        <p:nvGraphicFramePr>
          <p:cNvPr id="5" name="Table 4">
            <a:extLst>
              <a:ext uri="{FF2B5EF4-FFF2-40B4-BE49-F238E27FC236}">
                <a16:creationId xmlns:a16="http://schemas.microsoft.com/office/drawing/2014/main" id="{3919E36B-CC27-4E77-828F-D6A84689731C}"/>
              </a:ext>
            </a:extLst>
          </p:cNvPr>
          <p:cNvGraphicFramePr>
            <a:graphicFrameLocks noGrp="1"/>
          </p:cNvGraphicFramePr>
          <p:nvPr>
            <p:extLst>
              <p:ext uri="{D42A27DB-BD31-4B8C-83A1-F6EECF244321}">
                <p14:modId xmlns:p14="http://schemas.microsoft.com/office/powerpoint/2010/main" val="2226972210"/>
              </p:ext>
            </p:extLst>
          </p:nvPr>
        </p:nvGraphicFramePr>
        <p:xfrm>
          <a:off x="502919" y="929930"/>
          <a:ext cx="11175447" cy="3435141"/>
        </p:xfrm>
        <a:graphic>
          <a:graphicData uri="http://schemas.openxmlformats.org/drawingml/2006/table">
            <a:tbl>
              <a:tblPr rtl="1" firstRow="1" bandRow="1">
                <a:tableStyleId>{5C22544A-7EE6-4342-B048-85BDC9FD1C3A}</a:tableStyleId>
              </a:tblPr>
              <a:tblGrid>
                <a:gridCol w="1890381">
                  <a:extLst>
                    <a:ext uri="{9D8B030D-6E8A-4147-A177-3AD203B41FA5}">
                      <a16:colId xmlns:a16="http://schemas.microsoft.com/office/drawing/2014/main" val="1858967670"/>
                    </a:ext>
                  </a:extLst>
                </a:gridCol>
                <a:gridCol w="6432137">
                  <a:extLst>
                    <a:ext uri="{9D8B030D-6E8A-4147-A177-3AD203B41FA5}">
                      <a16:colId xmlns:a16="http://schemas.microsoft.com/office/drawing/2014/main" val="4015586876"/>
                    </a:ext>
                  </a:extLst>
                </a:gridCol>
                <a:gridCol w="914400">
                  <a:extLst>
                    <a:ext uri="{9D8B030D-6E8A-4147-A177-3AD203B41FA5}">
                      <a16:colId xmlns:a16="http://schemas.microsoft.com/office/drawing/2014/main" val="1989554894"/>
                    </a:ext>
                  </a:extLst>
                </a:gridCol>
                <a:gridCol w="1033272">
                  <a:extLst>
                    <a:ext uri="{9D8B030D-6E8A-4147-A177-3AD203B41FA5}">
                      <a16:colId xmlns:a16="http://schemas.microsoft.com/office/drawing/2014/main" val="3895440905"/>
                    </a:ext>
                  </a:extLst>
                </a:gridCol>
                <a:gridCol w="905257">
                  <a:extLst>
                    <a:ext uri="{9D8B030D-6E8A-4147-A177-3AD203B41FA5}">
                      <a16:colId xmlns:a16="http://schemas.microsoft.com/office/drawing/2014/main" val="2911951988"/>
                    </a:ext>
                  </a:extLst>
                </a:gridCol>
              </a:tblGrid>
              <a:tr h="487390">
                <a:tc gridSpan="2">
                  <a:txBody>
                    <a:bodyPr/>
                    <a:lstStyle/>
                    <a:p>
                      <a:pPr algn="ctr" rtl="1"/>
                      <a:r>
                        <a:rPr lang="ar-SA" sz="2000" kern="1200" baseline="0" dirty="0">
                          <a:solidFill>
                            <a:schemeClr val="bg2"/>
                          </a:solidFill>
                          <a:latin typeface="Sakkal Majalla" panose="02000000000000000000" pitchFamily="2" charset="-78"/>
                          <a:ea typeface="+mn-ea"/>
                          <a:cs typeface="Sakkal Majalla" panose="02000000000000000000" pitchFamily="2" charset="-78"/>
                        </a:rPr>
                        <a:t>المسمى الوظيفي</a:t>
                      </a:r>
                      <a:endParaRPr lang="en-US" sz="2000"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000" kern="1200" baseline="0" dirty="0">
                          <a:solidFill>
                            <a:schemeClr val="bg2"/>
                          </a:solidFill>
                          <a:latin typeface="Sakkal Majalla" panose="02000000000000000000" pitchFamily="2" charset="-78"/>
                          <a:ea typeface="+mn-ea"/>
                          <a:cs typeface="Sakkal Majalla" panose="02000000000000000000" pitchFamily="2" charset="-78"/>
                        </a:rPr>
                        <a:t>اسم الموظف </a:t>
                      </a:r>
                      <a:endParaRPr lang="en-US" sz="2000"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5582564"/>
                  </a:ext>
                </a:extLst>
              </a:tr>
              <a:tr h="493488">
                <a:tc gridSpan="2">
                  <a:txBody>
                    <a:bodyPr/>
                    <a:lstStyle/>
                    <a:p>
                      <a:pPr algn="ctr" rtl="1"/>
                      <a:r>
                        <a:rPr lang="ar-SA"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rPr>
                        <a:t>خبير بنية التقنية</a:t>
                      </a:r>
                      <a:endParaRPr lang="en-US"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endParaRP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rPr>
                        <a:t>م. روان العنزي</a:t>
                      </a:r>
                      <a:endParaRPr lang="ar-SA" sz="2400" b="1" kern="1200" baseline="0" dirty="0">
                        <a:solidFill>
                          <a:schemeClr val="tx1">
                            <a:lumMod val="75000"/>
                            <a:lumOff val="25000"/>
                          </a:schemeClr>
                        </a:solidFill>
                        <a:highlight>
                          <a:srgbClr val="FFFF00"/>
                        </a:highlight>
                        <a:latin typeface="Sakkal Majalla" panose="02000000000000000000" pitchFamily="2" charset="-78"/>
                        <a:ea typeface="+mn-ea"/>
                        <a:cs typeface="Sakkal Majalla" panose="02000000000000000000" pitchFamily="2" charset="-78"/>
                      </a:endParaRP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3059069381"/>
                  </a:ext>
                </a:extLst>
              </a:tr>
              <a:tr h="0">
                <a:tc>
                  <a:txBody>
                    <a:bodyPr/>
                    <a:lstStyle/>
                    <a:p>
                      <a:pPr algn="ctr" rtl="1"/>
                      <a:r>
                        <a:rPr lang="ar-SA" sz="2000" b="1" kern="1200" baseline="0" dirty="0">
                          <a:solidFill>
                            <a:schemeClr val="bg2"/>
                          </a:solidFill>
                          <a:latin typeface="Sakkal Majalla" panose="02000000000000000000" pitchFamily="2" charset="-78"/>
                          <a:ea typeface="+mn-ea"/>
                          <a:cs typeface="Sakkal Majalla" panose="02000000000000000000" pitchFamily="2" charset="-78"/>
                        </a:rPr>
                        <a:t>اسم المهارة </a:t>
                      </a:r>
                      <a:endParaRPr lang="en-US" sz="20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2000" b="1" kern="1200" baseline="0" dirty="0">
                          <a:solidFill>
                            <a:schemeClr val="bg2"/>
                          </a:solidFill>
                          <a:latin typeface="Sakkal Majalla" panose="02000000000000000000" pitchFamily="2" charset="-78"/>
                          <a:ea typeface="+mn-ea"/>
                          <a:cs typeface="Sakkal Majalla" panose="02000000000000000000" pitchFamily="2" charset="-78"/>
                        </a:rPr>
                        <a:t>المهام والمسؤوليات المرتبطة</a:t>
                      </a:r>
                      <a:endParaRPr lang="en-US" sz="20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dirty="0">
                          <a:solidFill>
                            <a:schemeClr val="bg2"/>
                          </a:solidFill>
                          <a:latin typeface="Sakkal Majalla" panose="02000000000000000000" pitchFamily="2" charset="-78"/>
                          <a:ea typeface="+mn-ea"/>
                          <a:cs typeface="Sakkal Majalla" panose="02000000000000000000" pitchFamily="2" charset="-78"/>
                        </a:rPr>
                        <a:t>نوع المهارة </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dirty="0">
                          <a:solidFill>
                            <a:schemeClr val="bg2"/>
                          </a:solidFill>
                          <a:latin typeface="Sakkal Majalla" panose="02000000000000000000" pitchFamily="2" charset="-78"/>
                          <a:ea typeface="+mn-ea"/>
                          <a:cs typeface="Sakkal Majalla" panose="02000000000000000000" pitchFamily="2" charset="-78"/>
                        </a:rPr>
                        <a:t>المستوى المطلوب</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a:solidFill>
                            <a:schemeClr val="bg2"/>
                          </a:solidFill>
                          <a:latin typeface="Sakkal Majalla" panose="02000000000000000000" pitchFamily="2" charset="-78"/>
                          <a:ea typeface="+mn-ea"/>
                          <a:cs typeface="Sakkal Majalla" panose="02000000000000000000" pitchFamily="2" charset="-78"/>
                        </a:rPr>
                        <a:t>المستوى الحالي</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extLst>
                  <a:ext uri="{0D108BD9-81ED-4DB2-BD59-A6C34878D82A}">
                    <a16:rowId xmlns:a16="http://schemas.microsoft.com/office/drawing/2014/main" val="2198393076"/>
                  </a:ext>
                </a:extLst>
              </a:tr>
              <a:tr h="747383">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المعرفة بالحوكمة والامتثال للمعايير</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تطبيق وتحديث مبادئ ومعايير البنية المؤسسية للتقنية وضمان الامتثال لها</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المواءمة مع نماذج الحوكمة والمعايير ذات الصلة المعتمدة في الهيئة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 جدا</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3192081354"/>
                  </a:ext>
                </a:extLst>
              </a:tr>
              <a:tr h="747383">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التواصل الفعال</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التواصل الفعال (شفهياً وكتابياً) مع أعضاء فريق البنية المؤسسية، موظفي الإدارات الأخرى، المديرين التنفيذيين، وأصحاب المصلحة</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chemeClr val="tx1"/>
                          </a:solidFill>
                          <a:effectLst/>
                          <a:uLnTx/>
                          <a:uFillTx/>
                          <a:latin typeface="Sakkal Majalla" panose="02000000000000000000" pitchFamily="2" charset="-78"/>
                          <a:ea typeface="+mn-ea"/>
                          <a:cs typeface="Sakkal Majalla" panose="02000000000000000000" pitchFamily="2" charset="-78"/>
                        </a:rPr>
                        <a:t>التنسيق مع إدارة البنية التحتية في الهيئة لدعم تطوير احتياجات البنية التقنية والحلول والمبادرات والمشاريع، وإدارة الطلب على البنية التحتية لتقنية المعلومات</a:t>
                      </a:r>
                      <a:endPar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شخصية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656591291"/>
                  </a:ext>
                </a:extLst>
              </a:tr>
            </a:tbl>
          </a:graphicData>
        </a:graphic>
      </p:graphicFrame>
    </p:spTree>
    <p:extLst>
      <p:ext uri="{BB962C8B-B14F-4D97-AF65-F5344CB8AC3E}">
        <p14:creationId xmlns:p14="http://schemas.microsoft.com/office/powerpoint/2010/main" val="2343139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28</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تحليل فجوات المهارات </a:t>
            </a:r>
            <a:r>
              <a:rPr lang="ar-SA" dirty="0"/>
              <a:t>لـ "</a:t>
            </a:r>
            <a:r>
              <a:rPr lang="ar-EG" dirty="0"/>
              <a:t>م. بدر العيسى</a:t>
            </a:r>
            <a:r>
              <a:rPr lang="ar-SA" dirty="0"/>
              <a:t>" (</a:t>
            </a:r>
            <a:r>
              <a:rPr lang="en-US" dirty="0"/>
              <a:t>1 / 2</a:t>
            </a:r>
            <a:r>
              <a:rPr lang="ar-SA" dirty="0"/>
              <a:t>)</a:t>
            </a:r>
            <a:endParaRPr lang="en-US" dirty="0"/>
          </a:p>
        </p:txBody>
      </p:sp>
      <p:graphicFrame>
        <p:nvGraphicFramePr>
          <p:cNvPr id="5" name="Table 4">
            <a:extLst>
              <a:ext uri="{FF2B5EF4-FFF2-40B4-BE49-F238E27FC236}">
                <a16:creationId xmlns:a16="http://schemas.microsoft.com/office/drawing/2014/main" id="{3919E36B-CC27-4E77-828F-D6A84689731C}"/>
              </a:ext>
            </a:extLst>
          </p:cNvPr>
          <p:cNvGraphicFramePr>
            <a:graphicFrameLocks noGrp="1"/>
          </p:cNvGraphicFramePr>
          <p:nvPr>
            <p:extLst>
              <p:ext uri="{D42A27DB-BD31-4B8C-83A1-F6EECF244321}">
                <p14:modId xmlns:p14="http://schemas.microsoft.com/office/powerpoint/2010/main" val="4001318346"/>
              </p:ext>
            </p:extLst>
          </p:nvPr>
        </p:nvGraphicFramePr>
        <p:xfrm>
          <a:off x="502919" y="929930"/>
          <a:ext cx="11175447" cy="5185643"/>
        </p:xfrm>
        <a:graphic>
          <a:graphicData uri="http://schemas.openxmlformats.org/drawingml/2006/table">
            <a:tbl>
              <a:tblPr rtl="1" firstRow="1" bandRow="1">
                <a:tableStyleId>{5C22544A-7EE6-4342-B048-85BDC9FD1C3A}</a:tableStyleId>
              </a:tblPr>
              <a:tblGrid>
                <a:gridCol w="1890381">
                  <a:extLst>
                    <a:ext uri="{9D8B030D-6E8A-4147-A177-3AD203B41FA5}">
                      <a16:colId xmlns:a16="http://schemas.microsoft.com/office/drawing/2014/main" val="1858967670"/>
                    </a:ext>
                  </a:extLst>
                </a:gridCol>
                <a:gridCol w="6432137">
                  <a:extLst>
                    <a:ext uri="{9D8B030D-6E8A-4147-A177-3AD203B41FA5}">
                      <a16:colId xmlns:a16="http://schemas.microsoft.com/office/drawing/2014/main" val="4015586876"/>
                    </a:ext>
                  </a:extLst>
                </a:gridCol>
                <a:gridCol w="914400">
                  <a:extLst>
                    <a:ext uri="{9D8B030D-6E8A-4147-A177-3AD203B41FA5}">
                      <a16:colId xmlns:a16="http://schemas.microsoft.com/office/drawing/2014/main" val="1989554894"/>
                    </a:ext>
                  </a:extLst>
                </a:gridCol>
                <a:gridCol w="1033272">
                  <a:extLst>
                    <a:ext uri="{9D8B030D-6E8A-4147-A177-3AD203B41FA5}">
                      <a16:colId xmlns:a16="http://schemas.microsoft.com/office/drawing/2014/main" val="3895440905"/>
                    </a:ext>
                  </a:extLst>
                </a:gridCol>
                <a:gridCol w="905257">
                  <a:extLst>
                    <a:ext uri="{9D8B030D-6E8A-4147-A177-3AD203B41FA5}">
                      <a16:colId xmlns:a16="http://schemas.microsoft.com/office/drawing/2014/main" val="2911951988"/>
                    </a:ext>
                  </a:extLst>
                </a:gridCol>
              </a:tblGrid>
              <a:tr h="455170">
                <a:tc gridSpan="2">
                  <a:txBody>
                    <a:bodyPr/>
                    <a:lstStyle/>
                    <a:p>
                      <a:pPr algn="ctr" rtl="1"/>
                      <a:r>
                        <a:rPr lang="ar-SA" sz="2000" kern="1200" baseline="0" dirty="0">
                          <a:solidFill>
                            <a:schemeClr val="bg2"/>
                          </a:solidFill>
                          <a:latin typeface="Sakkal Majalla" panose="02000000000000000000" pitchFamily="2" charset="-78"/>
                          <a:ea typeface="+mn-ea"/>
                          <a:cs typeface="Sakkal Majalla" panose="02000000000000000000" pitchFamily="2" charset="-78"/>
                        </a:rPr>
                        <a:t>المسمى الوظيفي</a:t>
                      </a:r>
                      <a:endParaRPr lang="en-US" sz="2000"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000" kern="1200" baseline="0" dirty="0">
                          <a:solidFill>
                            <a:schemeClr val="bg2"/>
                          </a:solidFill>
                          <a:latin typeface="Sakkal Majalla" panose="02000000000000000000" pitchFamily="2" charset="-78"/>
                          <a:ea typeface="+mn-ea"/>
                          <a:cs typeface="Sakkal Majalla" panose="02000000000000000000" pitchFamily="2" charset="-78"/>
                        </a:rPr>
                        <a:t>اسم الموظف </a:t>
                      </a:r>
                      <a:endParaRPr lang="en-US" sz="2000"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5582564"/>
                  </a:ext>
                </a:extLst>
              </a:tr>
              <a:tr h="461566">
                <a:tc gridSpan="2">
                  <a:txBody>
                    <a:bodyPr/>
                    <a:lstStyle/>
                    <a:p>
                      <a:pPr algn="ctr" rtl="1"/>
                      <a:r>
                        <a:rPr lang="ar-SA"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rPr>
                        <a:t>خبير بنية التقنية</a:t>
                      </a:r>
                      <a:endParaRPr lang="en-US"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endParaRP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rPr>
                        <a:t>م. بدر العيسى</a:t>
                      </a: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3059069381"/>
                  </a:ext>
                </a:extLst>
              </a:tr>
              <a:tr h="646192">
                <a:tc>
                  <a:txBody>
                    <a:bodyPr/>
                    <a:lstStyle/>
                    <a:p>
                      <a:pPr algn="ctr" rtl="1"/>
                      <a:r>
                        <a:rPr lang="ar-SA" sz="2000" b="1" kern="1200" baseline="0" dirty="0">
                          <a:solidFill>
                            <a:schemeClr val="bg2"/>
                          </a:solidFill>
                          <a:latin typeface="Sakkal Majalla" panose="02000000000000000000" pitchFamily="2" charset="-78"/>
                          <a:ea typeface="+mn-ea"/>
                          <a:cs typeface="Sakkal Majalla" panose="02000000000000000000" pitchFamily="2" charset="-78"/>
                        </a:rPr>
                        <a:t>اسم المهارة </a:t>
                      </a:r>
                      <a:endParaRPr lang="en-US" sz="20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2000" b="1" kern="1200" baseline="0" dirty="0">
                          <a:solidFill>
                            <a:schemeClr val="bg2"/>
                          </a:solidFill>
                          <a:latin typeface="Sakkal Majalla" panose="02000000000000000000" pitchFamily="2" charset="-78"/>
                          <a:ea typeface="+mn-ea"/>
                          <a:cs typeface="Sakkal Majalla" panose="02000000000000000000" pitchFamily="2" charset="-78"/>
                        </a:rPr>
                        <a:t>المهام والمسؤوليات المرتبطة</a:t>
                      </a:r>
                      <a:endParaRPr lang="en-US" sz="20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dirty="0">
                          <a:solidFill>
                            <a:schemeClr val="bg2"/>
                          </a:solidFill>
                          <a:latin typeface="Sakkal Majalla" panose="02000000000000000000" pitchFamily="2" charset="-78"/>
                          <a:ea typeface="+mn-ea"/>
                          <a:cs typeface="Sakkal Majalla" panose="02000000000000000000" pitchFamily="2" charset="-78"/>
                        </a:rPr>
                        <a:t>نوع المهارة </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dirty="0">
                          <a:solidFill>
                            <a:schemeClr val="bg2"/>
                          </a:solidFill>
                          <a:latin typeface="Sakkal Majalla" panose="02000000000000000000" pitchFamily="2" charset="-78"/>
                          <a:ea typeface="+mn-ea"/>
                          <a:cs typeface="Sakkal Majalla" panose="02000000000000000000" pitchFamily="2" charset="-78"/>
                        </a:rPr>
                        <a:t>المستوى المطلوب</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a:solidFill>
                            <a:schemeClr val="bg2"/>
                          </a:solidFill>
                          <a:latin typeface="Sakkal Majalla" panose="02000000000000000000" pitchFamily="2" charset="-78"/>
                          <a:ea typeface="+mn-ea"/>
                          <a:cs typeface="Sakkal Majalla" panose="02000000000000000000" pitchFamily="2" charset="-78"/>
                        </a:rPr>
                        <a:t>المستوى الحالي</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extLst>
                  <a:ext uri="{0D108BD9-81ED-4DB2-BD59-A6C34878D82A}">
                    <a16:rowId xmlns:a16="http://schemas.microsoft.com/office/drawing/2014/main" val="2198393076"/>
                  </a:ext>
                </a:extLst>
              </a:tr>
              <a:tr h="697974">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تحليل وتوثيق بنية التقنية</a:t>
                      </a:r>
                    </a:p>
                  </a:txBody>
                  <a:tcPr anchor="ctr">
                    <a:solidFill>
                      <a:schemeClr val="accent1"/>
                    </a:solidFill>
                  </a:tcPr>
                </a:tc>
                <a:tc>
                  <a:txBody>
                    <a:bodyPr/>
                    <a:lstStyle/>
                    <a:p>
                      <a:pPr marL="285750" indent="-285750" algn="r" rtl="1" fontAlgn="b">
                        <a:buFont typeface="Arial" panose="020B0604020202020204" pitchFamily="34" charset="0"/>
                        <a:buChar char="•"/>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فهم وتوثيق وتحليل البنية التقنية الحالية وأمن المعلومات في الهيئة، وتحديد التحديثات والتطويرات اللازمة</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تطوير وتحديث التصاميم المرجعية لبنية التقنية بشكل دوري وفقا لأفضل الممارسات</a:t>
                      </a:r>
                    </a:p>
                  </a:txBody>
                  <a:tcPr anchor="ctr"/>
                </a:tc>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فنية</a:t>
                      </a:r>
                    </a:p>
                  </a:txBody>
                  <a:tcPr anchor="ctr"/>
                </a:tc>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ممتاز</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1820247470"/>
                  </a:ext>
                </a:extLst>
              </a:tr>
              <a:tr h="830819">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تصميم وتطوير بنية التقنية</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تصميم وتطوير التصاميم المستقبلية للبنية التقنية وأمن المعلومات، بما يشمل الشبكات، الخوادم، ومكونات البنية التحتية الأخرى</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تحديد الثغرات والفجوات في بنية التقنية الحالية، ووضع التوصيات والتحسينات المطلوبة</a:t>
                      </a:r>
                    </a:p>
                  </a:txBody>
                  <a:tcPr anchor="ctr"/>
                </a:tc>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فنية</a:t>
                      </a:r>
                    </a:p>
                  </a:txBody>
                  <a:tcPr anchor="ctr"/>
                </a:tc>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ممتاز</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3192081354"/>
                  </a:ext>
                </a:extLst>
              </a:tr>
              <a:tr h="697974">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تطوير المتطلبات التقنية</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توفير الدعم في تحديد متطلبات البنية التقنية للحلول والخدمات والتطبيقات، والمساهمة في تطوير كراسات الشروط والمواصفات ذات الصلة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800" b="1" i="0" u="none" strike="noStrike" kern="1200" cap="none" spc="0" normalizeH="0" baseline="0" noProof="0">
                          <a:ln>
                            <a:noFill/>
                          </a:ln>
                          <a:solidFill>
                            <a:srgbClr val="000000"/>
                          </a:solidFill>
                          <a:effectLst/>
                          <a:uLnTx/>
                          <a:uFillTx/>
                          <a:latin typeface="Calibri" panose="020F0502020204030204" pitchFamily="34" charset="0"/>
                          <a:ea typeface="+mn-ea"/>
                          <a:cs typeface="Sakkal Majalla"/>
                        </a:rPr>
                        <a:t>جيد جدا</a:t>
                      </a:r>
                      <a:endParaRPr kumimoji="0" lang="ar-SA" sz="1800" b="1"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endParaRP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198695267"/>
                  </a:ext>
                </a:extLst>
              </a:tr>
              <a:tr h="697974">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مراجعة وتقييم التصاميم التقنية للمشاريع</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مراجعة ومناقشة تفاصيل البنية التقنية والتصاميم المؤسسية للمشاريع خلال دورة حياة التطوير والتنفيذ وتقديم الملاحظات والتحسينات المطلوبة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800" b="1"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جيد جدا</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656591291"/>
                  </a:ext>
                </a:extLst>
              </a:tr>
              <a:tr h="697974">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المعرفة بأفضل الممارسات في مجال التقنية</a:t>
                      </a:r>
                    </a:p>
                  </a:txBody>
                  <a:tcPr anchor="ctr">
                    <a:solidFill>
                      <a:schemeClr val="accent1"/>
                    </a:solidFill>
                  </a:tcPr>
                </a:tc>
                <a:tc>
                  <a:txBody>
                    <a:bodyPr/>
                    <a:lstStyle/>
                    <a:p>
                      <a:pPr marL="285750" indent="-285750" algn="r" rtl="1" fontAlgn="b">
                        <a:buFont typeface="Arial" panose="020B0604020202020204" pitchFamily="34" charset="0"/>
                        <a:buChar char="•"/>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تطوير وتحديث التصاميم المرجعية للبنية التقنية وأمن المعلومات بشكل دوري وفقا لأفضل الممارسات</a:t>
                      </a:r>
                    </a:p>
                    <a:p>
                      <a:pPr marL="285750" indent="-285750" algn="r" rtl="1" fontAlgn="b">
                        <a:buFont typeface="Arial" panose="020B0604020202020204" pitchFamily="34" charset="0"/>
                        <a:buChar char="•"/>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متابعة أحدث التطورات والتوجهات في مجال بنية التقنية وتطبيقها في الهيئة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 جدا</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3197271644"/>
                  </a:ext>
                </a:extLst>
              </a:tr>
            </a:tbl>
          </a:graphicData>
        </a:graphic>
      </p:graphicFrame>
    </p:spTree>
    <p:extLst>
      <p:ext uri="{BB962C8B-B14F-4D97-AF65-F5344CB8AC3E}">
        <p14:creationId xmlns:p14="http://schemas.microsoft.com/office/powerpoint/2010/main" val="16839574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29</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تحليل فجوات المهارات </a:t>
            </a:r>
            <a:r>
              <a:rPr lang="ar-SA" dirty="0"/>
              <a:t>لـ "</a:t>
            </a:r>
            <a:r>
              <a:rPr lang="ar-EG" dirty="0"/>
              <a:t>م. بدر العيسى</a:t>
            </a:r>
            <a:r>
              <a:rPr lang="ar-SA" dirty="0"/>
              <a:t>" (</a:t>
            </a:r>
            <a:r>
              <a:rPr lang="en-US" dirty="0"/>
              <a:t>2 / 2</a:t>
            </a:r>
            <a:r>
              <a:rPr lang="ar-SA" dirty="0"/>
              <a:t>)</a:t>
            </a:r>
            <a:endParaRPr lang="en-US" dirty="0"/>
          </a:p>
        </p:txBody>
      </p:sp>
      <p:graphicFrame>
        <p:nvGraphicFramePr>
          <p:cNvPr id="5" name="Table 4">
            <a:extLst>
              <a:ext uri="{FF2B5EF4-FFF2-40B4-BE49-F238E27FC236}">
                <a16:creationId xmlns:a16="http://schemas.microsoft.com/office/drawing/2014/main" id="{3919E36B-CC27-4E77-828F-D6A84689731C}"/>
              </a:ext>
            </a:extLst>
          </p:cNvPr>
          <p:cNvGraphicFramePr>
            <a:graphicFrameLocks noGrp="1"/>
          </p:cNvGraphicFramePr>
          <p:nvPr>
            <p:extLst>
              <p:ext uri="{D42A27DB-BD31-4B8C-83A1-F6EECF244321}">
                <p14:modId xmlns:p14="http://schemas.microsoft.com/office/powerpoint/2010/main" val="1327309634"/>
              </p:ext>
            </p:extLst>
          </p:nvPr>
        </p:nvGraphicFramePr>
        <p:xfrm>
          <a:off x="502919" y="929930"/>
          <a:ext cx="11175447" cy="3435141"/>
        </p:xfrm>
        <a:graphic>
          <a:graphicData uri="http://schemas.openxmlformats.org/drawingml/2006/table">
            <a:tbl>
              <a:tblPr rtl="1" firstRow="1" bandRow="1">
                <a:tableStyleId>{5C22544A-7EE6-4342-B048-85BDC9FD1C3A}</a:tableStyleId>
              </a:tblPr>
              <a:tblGrid>
                <a:gridCol w="1890381">
                  <a:extLst>
                    <a:ext uri="{9D8B030D-6E8A-4147-A177-3AD203B41FA5}">
                      <a16:colId xmlns:a16="http://schemas.microsoft.com/office/drawing/2014/main" val="1858967670"/>
                    </a:ext>
                  </a:extLst>
                </a:gridCol>
                <a:gridCol w="6432137">
                  <a:extLst>
                    <a:ext uri="{9D8B030D-6E8A-4147-A177-3AD203B41FA5}">
                      <a16:colId xmlns:a16="http://schemas.microsoft.com/office/drawing/2014/main" val="4015586876"/>
                    </a:ext>
                  </a:extLst>
                </a:gridCol>
                <a:gridCol w="914400">
                  <a:extLst>
                    <a:ext uri="{9D8B030D-6E8A-4147-A177-3AD203B41FA5}">
                      <a16:colId xmlns:a16="http://schemas.microsoft.com/office/drawing/2014/main" val="1989554894"/>
                    </a:ext>
                  </a:extLst>
                </a:gridCol>
                <a:gridCol w="1033272">
                  <a:extLst>
                    <a:ext uri="{9D8B030D-6E8A-4147-A177-3AD203B41FA5}">
                      <a16:colId xmlns:a16="http://schemas.microsoft.com/office/drawing/2014/main" val="3895440905"/>
                    </a:ext>
                  </a:extLst>
                </a:gridCol>
                <a:gridCol w="905257">
                  <a:extLst>
                    <a:ext uri="{9D8B030D-6E8A-4147-A177-3AD203B41FA5}">
                      <a16:colId xmlns:a16="http://schemas.microsoft.com/office/drawing/2014/main" val="2911951988"/>
                    </a:ext>
                  </a:extLst>
                </a:gridCol>
              </a:tblGrid>
              <a:tr h="487390">
                <a:tc gridSpan="2">
                  <a:txBody>
                    <a:bodyPr/>
                    <a:lstStyle/>
                    <a:p>
                      <a:pPr algn="ctr" rtl="1"/>
                      <a:r>
                        <a:rPr lang="ar-SA" sz="2000" kern="1200" baseline="0" dirty="0">
                          <a:solidFill>
                            <a:schemeClr val="bg2"/>
                          </a:solidFill>
                          <a:latin typeface="Sakkal Majalla" panose="02000000000000000000" pitchFamily="2" charset="-78"/>
                          <a:ea typeface="+mn-ea"/>
                          <a:cs typeface="Sakkal Majalla" panose="02000000000000000000" pitchFamily="2" charset="-78"/>
                        </a:rPr>
                        <a:t>المسمى الوظيفي</a:t>
                      </a:r>
                      <a:endParaRPr lang="en-US" sz="2000"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000" kern="1200" baseline="0" dirty="0">
                          <a:solidFill>
                            <a:schemeClr val="bg2"/>
                          </a:solidFill>
                          <a:latin typeface="Sakkal Majalla" panose="02000000000000000000" pitchFamily="2" charset="-78"/>
                          <a:ea typeface="+mn-ea"/>
                          <a:cs typeface="Sakkal Majalla" panose="02000000000000000000" pitchFamily="2" charset="-78"/>
                        </a:rPr>
                        <a:t>اسم الموظف </a:t>
                      </a:r>
                      <a:endParaRPr lang="en-US" sz="2000"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5582564"/>
                  </a:ext>
                </a:extLst>
              </a:tr>
              <a:tr h="493488">
                <a:tc gridSpan="2">
                  <a:txBody>
                    <a:bodyPr/>
                    <a:lstStyle/>
                    <a:p>
                      <a:pPr algn="ctr" rtl="1"/>
                      <a:r>
                        <a:rPr lang="ar-SA"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rPr>
                        <a:t>خبير بنية التقنية</a:t>
                      </a:r>
                      <a:endParaRPr lang="en-US"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endParaRP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gridSpan="3">
                  <a:txBody>
                    <a:bodyPr/>
                    <a:lstStyle/>
                    <a:p>
                      <a:pPr algn="ctr" rtl="1"/>
                      <a:r>
                        <a:rPr lang="ar-SA" sz="2400" b="1" kern="1200" baseline="0" dirty="0">
                          <a:solidFill>
                            <a:schemeClr val="tx1">
                              <a:lumMod val="75000"/>
                              <a:lumOff val="25000"/>
                            </a:schemeClr>
                          </a:solidFill>
                          <a:latin typeface="Sakkal Majalla" panose="02000000000000000000" pitchFamily="2" charset="-78"/>
                          <a:ea typeface="+mn-ea"/>
                          <a:cs typeface="Sakkal Majalla" panose="02000000000000000000" pitchFamily="2" charset="-78"/>
                        </a:rPr>
                        <a:t>م. بدر العيسى</a:t>
                      </a:r>
                    </a:p>
                  </a:txBody>
                  <a:tcPr anchor="ctr">
                    <a:solidFill>
                      <a:srgbClr val="3FA0D9"/>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tc hMerge="1">
                  <a:txBody>
                    <a:bodyPr/>
                    <a:lstStyle/>
                    <a:p>
                      <a:pPr algn="ctr" rtl="1"/>
                      <a:endParaRPr lang="en-US" sz="2000" kern="1200" dirty="0">
                        <a:solidFill>
                          <a:schemeClr val="bg1"/>
                        </a:solidFill>
                        <a:latin typeface="+mn-lt"/>
                        <a:ea typeface="+mn-ea"/>
                        <a:cs typeface="+mn-cs"/>
                      </a:endParaRPr>
                    </a:p>
                  </a:txBody>
                  <a:tcPr anchor="ctr">
                    <a:solidFill>
                      <a:schemeClr val="accent1"/>
                    </a:solidFill>
                  </a:tcPr>
                </a:tc>
                <a:extLst>
                  <a:ext uri="{0D108BD9-81ED-4DB2-BD59-A6C34878D82A}">
                    <a16:rowId xmlns:a16="http://schemas.microsoft.com/office/drawing/2014/main" val="3059069381"/>
                  </a:ext>
                </a:extLst>
              </a:tr>
              <a:tr h="0">
                <a:tc>
                  <a:txBody>
                    <a:bodyPr/>
                    <a:lstStyle/>
                    <a:p>
                      <a:pPr algn="ctr" rtl="1"/>
                      <a:r>
                        <a:rPr lang="ar-SA" sz="2000" b="1" kern="1200" baseline="0" dirty="0">
                          <a:solidFill>
                            <a:schemeClr val="bg2"/>
                          </a:solidFill>
                          <a:latin typeface="Sakkal Majalla" panose="02000000000000000000" pitchFamily="2" charset="-78"/>
                          <a:ea typeface="+mn-ea"/>
                          <a:cs typeface="Sakkal Majalla" panose="02000000000000000000" pitchFamily="2" charset="-78"/>
                        </a:rPr>
                        <a:t>اسم المهارة </a:t>
                      </a:r>
                      <a:endParaRPr lang="en-US" sz="20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2000" b="1" kern="1200" baseline="0" dirty="0">
                          <a:solidFill>
                            <a:schemeClr val="bg2"/>
                          </a:solidFill>
                          <a:latin typeface="Sakkal Majalla" panose="02000000000000000000" pitchFamily="2" charset="-78"/>
                          <a:ea typeface="+mn-ea"/>
                          <a:cs typeface="Sakkal Majalla" panose="02000000000000000000" pitchFamily="2" charset="-78"/>
                        </a:rPr>
                        <a:t>المهام والمسؤوليات المرتبطة</a:t>
                      </a:r>
                      <a:endParaRPr lang="en-US" sz="20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dirty="0">
                          <a:solidFill>
                            <a:schemeClr val="bg2"/>
                          </a:solidFill>
                          <a:latin typeface="Sakkal Majalla" panose="02000000000000000000" pitchFamily="2" charset="-78"/>
                          <a:ea typeface="+mn-ea"/>
                          <a:cs typeface="Sakkal Majalla" panose="02000000000000000000" pitchFamily="2" charset="-78"/>
                        </a:rPr>
                        <a:t>نوع المهارة </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dirty="0">
                          <a:solidFill>
                            <a:schemeClr val="bg2"/>
                          </a:solidFill>
                          <a:latin typeface="Sakkal Majalla" panose="02000000000000000000" pitchFamily="2" charset="-78"/>
                          <a:ea typeface="+mn-ea"/>
                          <a:cs typeface="Sakkal Majalla" panose="02000000000000000000" pitchFamily="2" charset="-78"/>
                        </a:rPr>
                        <a:t>المستوى المطلوب</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tc>
                  <a:txBody>
                    <a:bodyPr/>
                    <a:lstStyle/>
                    <a:p>
                      <a:pPr algn="ctr" rtl="1"/>
                      <a:r>
                        <a:rPr lang="ar-SA" sz="1800" b="1" kern="1200" baseline="0">
                          <a:solidFill>
                            <a:schemeClr val="bg2"/>
                          </a:solidFill>
                          <a:latin typeface="Sakkal Majalla" panose="02000000000000000000" pitchFamily="2" charset="-78"/>
                          <a:ea typeface="+mn-ea"/>
                          <a:cs typeface="Sakkal Majalla" panose="02000000000000000000" pitchFamily="2" charset="-78"/>
                        </a:rPr>
                        <a:t>المستوى الحالي</a:t>
                      </a:r>
                      <a:endParaRPr lang="en-US" sz="1800" b="1" kern="1200" baseline="0" dirty="0">
                        <a:solidFill>
                          <a:schemeClr val="bg2"/>
                        </a:solidFill>
                        <a:latin typeface="Sakkal Majalla" panose="02000000000000000000" pitchFamily="2" charset="-78"/>
                        <a:ea typeface="+mn-ea"/>
                        <a:cs typeface="Sakkal Majalla" panose="02000000000000000000" pitchFamily="2" charset="-78"/>
                      </a:endParaRPr>
                    </a:p>
                  </a:txBody>
                  <a:tcPr anchor="ctr">
                    <a:solidFill>
                      <a:schemeClr val="accent1"/>
                    </a:solidFill>
                  </a:tcPr>
                </a:tc>
                <a:extLst>
                  <a:ext uri="{0D108BD9-81ED-4DB2-BD59-A6C34878D82A}">
                    <a16:rowId xmlns:a16="http://schemas.microsoft.com/office/drawing/2014/main" val="2198393076"/>
                  </a:ext>
                </a:extLst>
              </a:tr>
              <a:tr h="747383">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المعرفة بالحوكمة والامتثال للمعايير</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تطبيق وتحديث مبادئ ومعايير البنية المؤسسية للتقنية وضمان الامتثال لها</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المواءمة مع نماذج الحوكمة والمعايير ذات الصلة المعتمدة في الهيئة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فنية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 جدا</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3192081354"/>
                  </a:ext>
                </a:extLst>
              </a:tr>
              <a:tr h="747383">
                <a:tc>
                  <a:txBody>
                    <a:bodyPr/>
                    <a:lstStyle/>
                    <a:p>
                      <a:pPr algn="ctr" rtl="1" fontAlgn="b"/>
                      <a:r>
                        <a:rPr lang="ar-SA" sz="1800" b="1" i="0" u="none" strike="noStrike" baseline="0" dirty="0">
                          <a:solidFill>
                            <a:schemeClr val="bg1"/>
                          </a:solidFill>
                          <a:effectLst/>
                          <a:latin typeface="Sakkal Majalla" panose="02000000000000000000" pitchFamily="2" charset="-78"/>
                          <a:cs typeface="Sakkal Majalla" panose="02000000000000000000" pitchFamily="2" charset="-78"/>
                        </a:rPr>
                        <a:t>التواصل الفعال</a:t>
                      </a:r>
                    </a:p>
                  </a:txBody>
                  <a:tcPr anchor="ctr">
                    <a:solidFill>
                      <a:schemeClr val="accent1"/>
                    </a:solidFill>
                  </a:tcPr>
                </a:tc>
                <a:tc>
                  <a:txBody>
                    <a:bodyPr/>
                    <a:lstStyle/>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التواصل الفعال (شفهياً وكتابياً) مع أعضاء فريق البنية المؤسسية، موظفي الإدارات الأخرى، المديرين التنفيذيين، وأصحاب المصلحة</a:t>
                      </a:r>
                    </a:p>
                    <a:p>
                      <a:pPr marL="285750" marR="0" lvl="0" indent="-285750" algn="r" defTabSz="914400" rtl="1" eaLnBrk="1" fontAlgn="b" latinLnBrk="0" hangingPunct="1">
                        <a:lnSpc>
                          <a:spcPct val="100000"/>
                        </a:lnSpc>
                        <a:spcBef>
                          <a:spcPts val="0"/>
                        </a:spcBef>
                        <a:spcAft>
                          <a:spcPts val="0"/>
                        </a:spcAft>
                        <a:buClrTx/>
                        <a:buSzTx/>
                        <a:buFont typeface="Arial" panose="020B0604020202020204" pitchFamily="34" charset="0"/>
                        <a:buChar char="•"/>
                        <a:tabLst/>
                        <a:defRPr/>
                      </a:pPr>
                      <a:r>
                        <a:rPr kumimoji="0" lang="ar-SA" sz="1600" b="0" i="0" u="none" strike="noStrike" kern="1200" cap="none" spc="0" normalizeH="0" baseline="0" noProof="0" dirty="0">
                          <a:ln>
                            <a:noFill/>
                          </a:ln>
                          <a:solidFill>
                            <a:schemeClr val="tx1"/>
                          </a:solidFill>
                          <a:effectLst/>
                          <a:uLnTx/>
                          <a:uFillTx/>
                          <a:latin typeface="Sakkal Majalla" panose="02000000000000000000" pitchFamily="2" charset="-78"/>
                          <a:ea typeface="+mn-ea"/>
                          <a:cs typeface="Sakkal Majalla" panose="02000000000000000000" pitchFamily="2" charset="-78"/>
                        </a:rPr>
                        <a:t>التنسيق مع إدارة البنية التحتية في الهيئة لدعم تطوير احتياجات البنية التقنية والحلول والمبادرات والمشاريع، وإدارة الطلب على البنية التحتية لتقنية المعلومات</a:t>
                      </a:r>
                      <a:endPar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شخصية</a:t>
                      </a:r>
                    </a:p>
                  </a:txBody>
                  <a:tcPr anchor="ctr"/>
                </a:tc>
                <a:tc>
                  <a:txBody>
                    <a:bodyPr/>
                    <a:lstStyle/>
                    <a:p>
                      <a:pPr algn="ctr" rtl="1" fontAlgn="b"/>
                      <a:r>
                        <a:rPr lang="ar-SA" sz="1800" b="1" i="0" u="none" strike="noStrike" dirty="0">
                          <a:solidFill>
                            <a:srgbClr val="000000"/>
                          </a:solidFill>
                          <a:effectLst/>
                          <a:latin typeface="Calibri" panose="020F0502020204030204" pitchFamily="34" charset="0"/>
                        </a:rPr>
                        <a:t>جيد</a:t>
                      </a:r>
                    </a:p>
                  </a:txBody>
                  <a:tcPr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Sakkal Majalla"/>
                        </a:rPr>
                        <a:t>وفق نموذج التقييم القبلي</a:t>
                      </a:r>
                    </a:p>
                  </a:txBody>
                  <a:tcPr anchor="ctr"/>
                </a:tc>
                <a:extLst>
                  <a:ext uri="{0D108BD9-81ED-4DB2-BD59-A6C34878D82A}">
                    <a16:rowId xmlns:a16="http://schemas.microsoft.com/office/drawing/2014/main" val="656591291"/>
                  </a:ext>
                </a:extLst>
              </a:tr>
            </a:tbl>
          </a:graphicData>
        </a:graphic>
      </p:graphicFrame>
    </p:spTree>
    <p:extLst>
      <p:ext uri="{BB962C8B-B14F-4D97-AF65-F5344CB8AC3E}">
        <p14:creationId xmlns:p14="http://schemas.microsoft.com/office/powerpoint/2010/main" val="35674393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3447289" y="3925452"/>
            <a:ext cx="8097012" cy="641639"/>
          </a:xfrm>
        </p:spPr>
        <p:txBody>
          <a:bodyPr/>
          <a:lstStyle/>
          <a:p>
            <a:r>
              <a:rPr lang="ar-EG" dirty="0"/>
              <a:t>الدورات </a:t>
            </a:r>
            <a:r>
              <a:rPr lang="ar-SA" dirty="0"/>
              <a:t>التدريبية </a:t>
            </a:r>
            <a:r>
              <a:rPr lang="ar-EG" dirty="0"/>
              <a:t>والشهادات المطلوبة لسد الفجوات في </a:t>
            </a:r>
            <a:r>
              <a:rPr lang="ar-SA" dirty="0"/>
              <a:t>ال</a:t>
            </a:r>
            <a:r>
              <a:rPr lang="ar-EG" dirty="0"/>
              <a:t>مهارات</a:t>
            </a:r>
          </a:p>
        </p:txBody>
      </p:sp>
      <p:sp>
        <p:nvSpPr>
          <p:cNvPr id="4" name="Text Placeholder 3"/>
          <p:cNvSpPr>
            <a:spLocks noGrp="1"/>
          </p:cNvSpPr>
          <p:nvPr>
            <p:ph type="body" sz="quarter" idx="14"/>
          </p:nvPr>
        </p:nvSpPr>
        <p:spPr/>
        <p:txBody>
          <a:bodyPr/>
          <a:lstStyle/>
          <a:p>
            <a:r>
              <a:rPr lang="ar-SA" dirty="0"/>
              <a:t>03</a:t>
            </a:r>
            <a:endParaRPr lang="en-US" dirty="0"/>
          </a:p>
        </p:txBody>
      </p:sp>
    </p:spTree>
    <p:extLst>
      <p:ext uri="{BB962C8B-B14F-4D97-AF65-F5344CB8AC3E}">
        <p14:creationId xmlns:p14="http://schemas.microsoft.com/office/powerpoint/2010/main" val="4190474854"/>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31</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مقدمة عن الدورات والشهادات المطلوبة</a:t>
            </a:r>
            <a:endParaRPr lang="en-US" dirty="0"/>
          </a:p>
        </p:txBody>
      </p:sp>
      <p:grpSp>
        <p:nvGrpSpPr>
          <p:cNvPr id="4" name="Group 3">
            <a:extLst>
              <a:ext uri="{FF2B5EF4-FFF2-40B4-BE49-F238E27FC236}">
                <a16:creationId xmlns:a16="http://schemas.microsoft.com/office/drawing/2014/main" id="{C0ED42F9-75ED-7429-60CF-A63A369B97F1}"/>
              </a:ext>
            </a:extLst>
          </p:cNvPr>
          <p:cNvGrpSpPr/>
          <p:nvPr/>
        </p:nvGrpSpPr>
        <p:grpSpPr>
          <a:xfrm flipH="1">
            <a:off x="9736652" y="2512210"/>
            <a:ext cx="1588573" cy="1483303"/>
            <a:chOff x="1037897" y="2843466"/>
            <a:chExt cx="1588573" cy="1483303"/>
          </a:xfrm>
          <a:solidFill>
            <a:srgbClr val="4C3C8D"/>
          </a:solidFill>
        </p:grpSpPr>
        <p:grpSp>
          <p:nvGrpSpPr>
            <p:cNvPr id="5" name="Group 4">
              <a:extLst>
                <a:ext uri="{FF2B5EF4-FFF2-40B4-BE49-F238E27FC236}">
                  <a16:creationId xmlns:a16="http://schemas.microsoft.com/office/drawing/2014/main" id="{262E59DC-DD94-F8E6-222D-CFB33E8AA08E}"/>
                </a:ext>
              </a:extLst>
            </p:cNvPr>
            <p:cNvGrpSpPr/>
            <p:nvPr/>
          </p:nvGrpSpPr>
          <p:grpSpPr>
            <a:xfrm flipH="1">
              <a:off x="1037897" y="2843466"/>
              <a:ext cx="1588573" cy="1483303"/>
              <a:chOff x="9736652" y="2841229"/>
              <a:chExt cx="1588573" cy="1483303"/>
            </a:xfrm>
            <a:grpFill/>
          </p:grpSpPr>
          <p:sp>
            <p:nvSpPr>
              <p:cNvPr id="7" name="Freeform 6">
                <a:extLst>
                  <a:ext uri="{FF2B5EF4-FFF2-40B4-BE49-F238E27FC236}">
                    <a16:creationId xmlns:a16="http://schemas.microsoft.com/office/drawing/2014/main" id="{691F9956-3AC2-54CC-6179-688BC7747CD0}"/>
                  </a:ext>
                </a:extLst>
              </p:cNvPr>
              <p:cNvSpPr>
                <a:spLocks/>
              </p:cNvSpPr>
              <p:nvPr/>
            </p:nvSpPr>
            <p:spPr bwMode="auto">
              <a:xfrm>
                <a:off x="9736652" y="2841229"/>
                <a:ext cx="1256429" cy="1483303"/>
              </a:xfrm>
              <a:custGeom>
                <a:avLst/>
                <a:gdLst>
                  <a:gd name="T0" fmla="*/ 632 w 7475"/>
                  <a:gd name="T1" fmla="*/ 103 h 8831"/>
                  <a:gd name="T2" fmla="*/ 298 w 7475"/>
                  <a:gd name="T3" fmla="*/ 352 h 8831"/>
                  <a:gd name="T4" fmla="*/ 72 w 7475"/>
                  <a:gd name="T5" fmla="*/ 707 h 8831"/>
                  <a:gd name="T6" fmla="*/ 0 w 7475"/>
                  <a:gd name="T7" fmla="*/ 4422 h 8831"/>
                  <a:gd name="T8" fmla="*/ 73 w 7475"/>
                  <a:gd name="T9" fmla="*/ 8125 h 8831"/>
                  <a:gd name="T10" fmla="*/ 305 w 7475"/>
                  <a:gd name="T11" fmla="*/ 8483 h 8831"/>
                  <a:gd name="T12" fmla="*/ 639 w 7475"/>
                  <a:gd name="T13" fmla="*/ 8727 h 8831"/>
                  <a:gd name="T14" fmla="*/ 858 w 7475"/>
                  <a:gd name="T15" fmla="*/ 8803 h 8831"/>
                  <a:gd name="T16" fmla="*/ 2039 w 7475"/>
                  <a:gd name="T17" fmla="*/ 8831 h 8831"/>
                  <a:gd name="T18" fmla="*/ 5788 w 7475"/>
                  <a:gd name="T19" fmla="*/ 8829 h 8831"/>
                  <a:gd name="T20" fmla="*/ 6608 w 7475"/>
                  <a:gd name="T21" fmla="*/ 8801 h 8831"/>
                  <a:gd name="T22" fmla="*/ 6807 w 7475"/>
                  <a:gd name="T23" fmla="*/ 8736 h 8831"/>
                  <a:gd name="T24" fmla="*/ 7010 w 7475"/>
                  <a:gd name="T25" fmla="*/ 8620 h 8831"/>
                  <a:gd name="T26" fmla="*/ 7265 w 7475"/>
                  <a:gd name="T27" fmla="*/ 8369 h 8831"/>
                  <a:gd name="T28" fmla="*/ 7426 w 7475"/>
                  <a:gd name="T29" fmla="*/ 8047 h 8831"/>
                  <a:gd name="T30" fmla="*/ 7466 w 7475"/>
                  <a:gd name="T31" fmla="*/ 7857 h 8831"/>
                  <a:gd name="T32" fmla="*/ 7475 w 7475"/>
                  <a:gd name="T33" fmla="*/ 6849 h 8831"/>
                  <a:gd name="T34" fmla="*/ 7153 w 7475"/>
                  <a:gd name="T35" fmla="*/ 6842 h 8831"/>
                  <a:gd name="T36" fmla="*/ 7131 w 7475"/>
                  <a:gd name="T37" fmla="*/ 6930 h 8831"/>
                  <a:gd name="T38" fmla="*/ 7125 w 7475"/>
                  <a:gd name="T39" fmla="*/ 7509 h 8831"/>
                  <a:gd name="T40" fmla="*/ 7101 w 7475"/>
                  <a:gd name="T41" fmla="*/ 7917 h 8831"/>
                  <a:gd name="T42" fmla="*/ 7033 w 7475"/>
                  <a:gd name="T43" fmla="*/ 8084 h 8831"/>
                  <a:gd name="T44" fmla="*/ 6859 w 7475"/>
                  <a:gd name="T45" fmla="*/ 8301 h 8831"/>
                  <a:gd name="T46" fmla="*/ 6621 w 7475"/>
                  <a:gd name="T47" fmla="*/ 8440 h 8831"/>
                  <a:gd name="T48" fmla="*/ 6496 w 7475"/>
                  <a:gd name="T49" fmla="*/ 8466 h 8831"/>
                  <a:gd name="T50" fmla="*/ 3699 w 7475"/>
                  <a:gd name="T51" fmla="*/ 8477 h 8831"/>
                  <a:gd name="T52" fmla="*/ 744 w 7475"/>
                  <a:gd name="T53" fmla="*/ 8388 h 8831"/>
                  <a:gd name="T54" fmla="*/ 536 w 7475"/>
                  <a:gd name="T55" fmla="*/ 8219 h 8831"/>
                  <a:gd name="T56" fmla="*/ 399 w 7475"/>
                  <a:gd name="T57" fmla="*/ 7995 h 8831"/>
                  <a:gd name="T58" fmla="*/ 356 w 7475"/>
                  <a:gd name="T59" fmla="*/ 7814 h 8831"/>
                  <a:gd name="T60" fmla="*/ 342 w 7475"/>
                  <a:gd name="T61" fmla="*/ 4409 h 8831"/>
                  <a:gd name="T62" fmla="*/ 357 w 7475"/>
                  <a:gd name="T63" fmla="*/ 1032 h 8831"/>
                  <a:gd name="T64" fmla="*/ 374 w 7475"/>
                  <a:gd name="T65" fmla="*/ 903 h 8831"/>
                  <a:gd name="T66" fmla="*/ 488 w 7475"/>
                  <a:gd name="T67" fmla="*/ 663 h 8831"/>
                  <a:gd name="T68" fmla="*/ 750 w 7475"/>
                  <a:gd name="T69" fmla="*/ 436 h 8831"/>
                  <a:gd name="T70" fmla="*/ 1042 w 7475"/>
                  <a:gd name="T71" fmla="*/ 347 h 8831"/>
                  <a:gd name="T72" fmla="*/ 2627 w 7475"/>
                  <a:gd name="T73" fmla="*/ 333 h 8831"/>
                  <a:gd name="T74" fmla="*/ 6587 w 7475"/>
                  <a:gd name="T75" fmla="*/ 374 h 8831"/>
                  <a:gd name="T76" fmla="*/ 6804 w 7475"/>
                  <a:gd name="T77" fmla="*/ 484 h 8831"/>
                  <a:gd name="T78" fmla="*/ 7000 w 7475"/>
                  <a:gd name="T79" fmla="*/ 684 h 8831"/>
                  <a:gd name="T80" fmla="*/ 7099 w 7475"/>
                  <a:gd name="T81" fmla="*/ 896 h 8831"/>
                  <a:gd name="T82" fmla="*/ 7125 w 7475"/>
                  <a:gd name="T83" fmla="*/ 1191 h 8831"/>
                  <a:gd name="T84" fmla="*/ 7129 w 7475"/>
                  <a:gd name="T85" fmla="*/ 1839 h 8831"/>
                  <a:gd name="T86" fmla="*/ 7240 w 7475"/>
                  <a:gd name="T87" fmla="*/ 1869 h 8831"/>
                  <a:gd name="T88" fmla="*/ 7475 w 7475"/>
                  <a:gd name="T89" fmla="*/ 1416 h 8831"/>
                  <a:gd name="T90" fmla="*/ 7461 w 7475"/>
                  <a:gd name="T91" fmla="*/ 949 h 8831"/>
                  <a:gd name="T92" fmla="*/ 7409 w 7475"/>
                  <a:gd name="T93" fmla="*/ 723 h 8831"/>
                  <a:gd name="T94" fmla="*/ 7336 w 7475"/>
                  <a:gd name="T95" fmla="*/ 569 h 8831"/>
                  <a:gd name="T96" fmla="*/ 7142 w 7475"/>
                  <a:gd name="T97" fmla="*/ 313 h 8831"/>
                  <a:gd name="T98" fmla="*/ 6880 w 7475"/>
                  <a:gd name="T99" fmla="*/ 124 h 8831"/>
                  <a:gd name="T100" fmla="*/ 6600 w 7475"/>
                  <a:gd name="T101" fmla="*/ 6 h 8831"/>
                  <a:gd name="T102" fmla="*/ 1076 w 7475"/>
                  <a:gd name="T103" fmla="*/ 7 h 8831"/>
                  <a:gd name="T104" fmla="*/ 829 w 7475"/>
                  <a:gd name="T105" fmla="*/ 31 h 8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475" h="8831">
                    <a:moveTo>
                      <a:pt x="829" y="31"/>
                    </a:moveTo>
                    <a:lnTo>
                      <a:pt x="761" y="50"/>
                    </a:lnTo>
                    <a:lnTo>
                      <a:pt x="632" y="103"/>
                    </a:lnTo>
                    <a:lnTo>
                      <a:pt x="511" y="172"/>
                    </a:lnTo>
                    <a:lnTo>
                      <a:pt x="399" y="255"/>
                    </a:lnTo>
                    <a:lnTo>
                      <a:pt x="298" y="352"/>
                    </a:lnTo>
                    <a:lnTo>
                      <a:pt x="209" y="460"/>
                    </a:lnTo>
                    <a:lnTo>
                      <a:pt x="133" y="579"/>
                    </a:lnTo>
                    <a:lnTo>
                      <a:pt x="72" y="707"/>
                    </a:lnTo>
                    <a:lnTo>
                      <a:pt x="49" y="774"/>
                    </a:lnTo>
                    <a:lnTo>
                      <a:pt x="0" y="922"/>
                    </a:lnTo>
                    <a:lnTo>
                      <a:pt x="0" y="4422"/>
                    </a:lnTo>
                    <a:lnTo>
                      <a:pt x="0" y="7922"/>
                    </a:lnTo>
                    <a:lnTo>
                      <a:pt x="47" y="8056"/>
                    </a:lnTo>
                    <a:lnTo>
                      <a:pt x="73" y="8125"/>
                    </a:lnTo>
                    <a:lnTo>
                      <a:pt x="137" y="8255"/>
                    </a:lnTo>
                    <a:lnTo>
                      <a:pt x="215" y="8374"/>
                    </a:lnTo>
                    <a:lnTo>
                      <a:pt x="305" y="8483"/>
                    </a:lnTo>
                    <a:lnTo>
                      <a:pt x="407" y="8578"/>
                    </a:lnTo>
                    <a:lnTo>
                      <a:pt x="518" y="8660"/>
                    </a:lnTo>
                    <a:lnTo>
                      <a:pt x="639" y="8727"/>
                    </a:lnTo>
                    <a:lnTo>
                      <a:pt x="768" y="8779"/>
                    </a:lnTo>
                    <a:lnTo>
                      <a:pt x="835" y="8797"/>
                    </a:lnTo>
                    <a:lnTo>
                      <a:pt x="858" y="8803"/>
                    </a:lnTo>
                    <a:lnTo>
                      <a:pt x="916" y="8813"/>
                    </a:lnTo>
                    <a:lnTo>
                      <a:pt x="1080" y="8823"/>
                    </a:lnTo>
                    <a:lnTo>
                      <a:pt x="2039" y="8831"/>
                    </a:lnTo>
                    <a:lnTo>
                      <a:pt x="3740" y="8831"/>
                    </a:lnTo>
                    <a:lnTo>
                      <a:pt x="4795" y="8831"/>
                    </a:lnTo>
                    <a:lnTo>
                      <a:pt x="5788" y="8829"/>
                    </a:lnTo>
                    <a:lnTo>
                      <a:pt x="6213" y="8824"/>
                    </a:lnTo>
                    <a:lnTo>
                      <a:pt x="6483" y="8814"/>
                    </a:lnTo>
                    <a:lnTo>
                      <a:pt x="6608" y="8801"/>
                    </a:lnTo>
                    <a:lnTo>
                      <a:pt x="6668" y="8791"/>
                    </a:lnTo>
                    <a:lnTo>
                      <a:pt x="6735" y="8772"/>
                    </a:lnTo>
                    <a:lnTo>
                      <a:pt x="6807" y="8736"/>
                    </a:lnTo>
                    <a:lnTo>
                      <a:pt x="6850" y="8714"/>
                    </a:lnTo>
                    <a:lnTo>
                      <a:pt x="6906" y="8686"/>
                    </a:lnTo>
                    <a:lnTo>
                      <a:pt x="7010" y="8620"/>
                    </a:lnTo>
                    <a:lnTo>
                      <a:pt x="7104" y="8546"/>
                    </a:lnTo>
                    <a:lnTo>
                      <a:pt x="7190" y="8462"/>
                    </a:lnTo>
                    <a:lnTo>
                      <a:pt x="7265" y="8369"/>
                    </a:lnTo>
                    <a:lnTo>
                      <a:pt x="7329" y="8269"/>
                    </a:lnTo>
                    <a:lnTo>
                      <a:pt x="7383" y="8162"/>
                    </a:lnTo>
                    <a:lnTo>
                      <a:pt x="7426" y="8047"/>
                    </a:lnTo>
                    <a:lnTo>
                      <a:pt x="7442" y="7987"/>
                    </a:lnTo>
                    <a:lnTo>
                      <a:pt x="7452" y="7946"/>
                    </a:lnTo>
                    <a:lnTo>
                      <a:pt x="7466" y="7857"/>
                    </a:lnTo>
                    <a:lnTo>
                      <a:pt x="7475" y="7643"/>
                    </a:lnTo>
                    <a:lnTo>
                      <a:pt x="7475" y="7354"/>
                    </a:lnTo>
                    <a:lnTo>
                      <a:pt x="7475" y="6849"/>
                    </a:lnTo>
                    <a:lnTo>
                      <a:pt x="7314" y="6844"/>
                    </a:lnTo>
                    <a:lnTo>
                      <a:pt x="7248" y="6842"/>
                    </a:lnTo>
                    <a:lnTo>
                      <a:pt x="7153" y="6842"/>
                    </a:lnTo>
                    <a:lnTo>
                      <a:pt x="7139" y="6844"/>
                    </a:lnTo>
                    <a:lnTo>
                      <a:pt x="7136" y="6852"/>
                    </a:lnTo>
                    <a:lnTo>
                      <a:pt x="7131" y="6930"/>
                    </a:lnTo>
                    <a:lnTo>
                      <a:pt x="7126" y="7149"/>
                    </a:lnTo>
                    <a:lnTo>
                      <a:pt x="7125" y="7349"/>
                    </a:lnTo>
                    <a:lnTo>
                      <a:pt x="7125" y="7509"/>
                    </a:lnTo>
                    <a:lnTo>
                      <a:pt x="7123" y="7720"/>
                    </a:lnTo>
                    <a:lnTo>
                      <a:pt x="7116" y="7842"/>
                    </a:lnTo>
                    <a:lnTo>
                      <a:pt x="7101" y="7917"/>
                    </a:lnTo>
                    <a:lnTo>
                      <a:pt x="7090" y="7951"/>
                    </a:lnTo>
                    <a:lnTo>
                      <a:pt x="7074" y="7997"/>
                    </a:lnTo>
                    <a:lnTo>
                      <a:pt x="7033" y="8084"/>
                    </a:lnTo>
                    <a:lnTo>
                      <a:pt x="6983" y="8164"/>
                    </a:lnTo>
                    <a:lnTo>
                      <a:pt x="6925" y="8237"/>
                    </a:lnTo>
                    <a:lnTo>
                      <a:pt x="6859" y="8301"/>
                    </a:lnTo>
                    <a:lnTo>
                      <a:pt x="6786" y="8357"/>
                    </a:lnTo>
                    <a:lnTo>
                      <a:pt x="6706" y="8403"/>
                    </a:lnTo>
                    <a:lnTo>
                      <a:pt x="6621" y="8440"/>
                    </a:lnTo>
                    <a:lnTo>
                      <a:pt x="6575" y="8454"/>
                    </a:lnTo>
                    <a:lnTo>
                      <a:pt x="6558" y="8459"/>
                    </a:lnTo>
                    <a:lnTo>
                      <a:pt x="6496" y="8466"/>
                    </a:lnTo>
                    <a:lnTo>
                      <a:pt x="6304" y="8474"/>
                    </a:lnTo>
                    <a:lnTo>
                      <a:pt x="5299" y="8479"/>
                    </a:lnTo>
                    <a:lnTo>
                      <a:pt x="3699" y="8477"/>
                    </a:lnTo>
                    <a:lnTo>
                      <a:pt x="915" y="8472"/>
                    </a:lnTo>
                    <a:lnTo>
                      <a:pt x="785" y="8409"/>
                    </a:lnTo>
                    <a:lnTo>
                      <a:pt x="744" y="8388"/>
                    </a:lnTo>
                    <a:lnTo>
                      <a:pt x="668" y="8339"/>
                    </a:lnTo>
                    <a:lnTo>
                      <a:pt x="598" y="8282"/>
                    </a:lnTo>
                    <a:lnTo>
                      <a:pt x="536" y="8219"/>
                    </a:lnTo>
                    <a:lnTo>
                      <a:pt x="482" y="8150"/>
                    </a:lnTo>
                    <a:lnTo>
                      <a:pt x="436" y="8075"/>
                    </a:lnTo>
                    <a:lnTo>
                      <a:pt x="399" y="7995"/>
                    </a:lnTo>
                    <a:lnTo>
                      <a:pt x="371" y="7911"/>
                    </a:lnTo>
                    <a:lnTo>
                      <a:pt x="360" y="7867"/>
                    </a:lnTo>
                    <a:lnTo>
                      <a:pt x="356" y="7814"/>
                    </a:lnTo>
                    <a:lnTo>
                      <a:pt x="349" y="7395"/>
                    </a:lnTo>
                    <a:lnTo>
                      <a:pt x="343" y="6032"/>
                    </a:lnTo>
                    <a:lnTo>
                      <a:pt x="342" y="4409"/>
                    </a:lnTo>
                    <a:lnTo>
                      <a:pt x="342" y="2512"/>
                    </a:lnTo>
                    <a:lnTo>
                      <a:pt x="349" y="1278"/>
                    </a:lnTo>
                    <a:lnTo>
                      <a:pt x="357" y="1032"/>
                    </a:lnTo>
                    <a:lnTo>
                      <a:pt x="363" y="953"/>
                    </a:lnTo>
                    <a:lnTo>
                      <a:pt x="367" y="932"/>
                    </a:lnTo>
                    <a:lnTo>
                      <a:pt x="374" y="903"/>
                    </a:lnTo>
                    <a:lnTo>
                      <a:pt x="393" y="845"/>
                    </a:lnTo>
                    <a:lnTo>
                      <a:pt x="428" y="763"/>
                    </a:lnTo>
                    <a:lnTo>
                      <a:pt x="488" y="663"/>
                    </a:lnTo>
                    <a:lnTo>
                      <a:pt x="563" y="575"/>
                    </a:lnTo>
                    <a:lnTo>
                      <a:pt x="651" y="498"/>
                    </a:lnTo>
                    <a:lnTo>
                      <a:pt x="750" y="436"/>
                    </a:lnTo>
                    <a:lnTo>
                      <a:pt x="860" y="388"/>
                    </a:lnTo>
                    <a:lnTo>
                      <a:pt x="979" y="356"/>
                    </a:lnTo>
                    <a:lnTo>
                      <a:pt x="1042" y="347"/>
                    </a:lnTo>
                    <a:lnTo>
                      <a:pt x="1104" y="343"/>
                    </a:lnTo>
                    <a:lnTo>
                      <a:pt x="1495" y="337"/>
                    </a:lnTo>
                    <a:lnTo>
                      <a:pt x="2627" y="333"/>
                    </a:lnTo>
                    <a:lnTo>
                      <a:pt x="3834" y="334"/>
                    </a:lnTo>
                    <a:lnTo>
                      <a:pt x="6484" y="339"/>
                    </a:lnTo>
                    <a:lnTo>
                      <a:pt x="6587" y="374"/>
                    </a:lnTo>
                    <a:lnTo>
                      <a:pt x="6634" y="391"/>
                    </a:lnTo>
                    <a:lnTo>
                      <a:pt x="6722" y="433"/>
                    </a:lnTo>
                    <a:lnTo>
                      <a:pt x="6804" y="484"/>
                    </a:lnTo>
                    <a:lnTo>
                      <a:pt x="6878" y="543"/>
                    </a:lnTo>
                    <a:lnTo>
                      <a:pt x="6943" y="610"/>
                    </a:lnTo>
                    <a:lnTo>
                      <a:pt x="7000" y="684"/>
                    </a:lnTo>
                    <a:lnTo>
                      <a:pt x="7047" y="764"/>
                    </a:lnTo>
                    <a:lnTo>
                      <a:pt x="7084" y="850"/>
                    </a:lnTo>
                    <a:lnTo>
                      <a:pt x="7099" y="896"/>
                    </a:lnTo>
                    <a:lnTo>
                      <a:pt x="7106" y="924"/>
                    </a:lnTo>
                    <a:lnTo>
                      <a:pt x="7117" y="1001"/>
                    </a:lnTo>
                    <a:lnTo>
                      <a:pt x="7125" y="1191"/>
                    </a:lnTo>
                    <a:lnTo>
                      <a:pt x="7125" y="1422"/>
                    </a:lnTo>
                    <a:lnTo>
                      <a:pt x="7126" y="1597"/>
                    </a:lnTo>
                    <a:lnTo>
                      <a:pt x="7129" y="1839"/>
                    </a:lnTo>
                    <a:lnTo>
                      <a:pt x="7132" y="1866"/>
                    </a:lnTo>
                    <a:lnTo>
                      <a:pt x="7144" y="1868"/>
                    </a:lnTo>
                    <a:lnTo>
                      <a:pt x="7240" y="1869"/>
                    </a:lnTo>
                    <a:lnTo>
                      <a:pt x="7307" y="1867"/>
                    </a:lnTo>
                    <a:lnTo>
                      <a:pt x="7475" y="1862"/>
                    </a:lnTo>
                    <a:lnTo>
                      <a:pt x="7475" y="1416"/>
                    </a:lnTo>
                    <a:lnTo>
                      <a:pt x="7475" y="1242"/>
                    </a:lnTo>
                    <a:lnTo>
                      <a:pt x="7469" y="1050"/>
                    </a:lnTo>
                    <a:lnTo>
                      <a:pt x="7461" y="949"/>
                    </a:lnTo>
                    <a:lnTo>
                      <a:pt x="7449" y="864"/>
                    </a:lnTo>
                    <a:lnTo>
                      <a:pt x="7432" y="791"/>
                    </a:lnTo>
                    <a:lnTo>
                      <a:pt x="7409" y="723"/>
                    </a:lnTo>
                    <a:lnTo>
                      <a:pt x="7380" y="655"/>
                    </a:lnTo>
                    <a:lnTo>
                      <a:pt x="7362" y="619"/>
                    </a:lnTo>
                    <a:lnTo>
                      <a:pt x="7336" y="569"/>
                    </a:lnTo>
                    <a:lnTo>
                      <a:pt x="7278" y="476"/>
                    </a:lnTo>
                    <a:lnTo>
                      <a:pt x="7213" y="391"/>
                    </a:lnTo>
                    <a:lnTo>
                      <a:pt x="7142" y="313"/>
                    </a:lnTo>
                    <a:lnTo>
                      <a:pt x="7062" y="243"/>
                    </a:lnTo>
                    <a:lnTo>
                      <a:pt x="6975" y="180"/>
                    </a:lnTo>
                    <a:lnTo>
                      <a:pt x="6880" y="124"/>
                    </a:lnTo>
                    <a:lnTo>
                      <a:pt x="6777" y="74"/>
                    </a:lnTo>
                    <a:lnTo>
                      <a:pt x="6722" y="52"/>
                    </a:lnTo>
                    <a:lnTo>
                      <a:pt x="6600" y="6"/>
                    </a:lnTo>
                    <a:lnTo>
                      <a:pt x="3775" y="2"/>
                    </a:lnTo>
                    <a:lnTo>
                      <a:pt x="2053" y="0"/>
                    </a:lnTo>
                    <a:lnTo>
                      <a:pt x="1076" y="7"/>
                    </a:lnTo>
                    <a:lnTo>
                      <a:pt x="908" y="17"/>
                    </a:lnTo>
                    <a:lnTo>
                      <a:pt x="851" y="25"/>
                    </a:lnTo>
                    <a:lnTo>
                      <a:pt x="829"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8" name="Freeform 7">
                <a:extLst>
                  <a:ext uri="{FF2B5EF4-FFF2-40B4-BE49-F238E27FC236}">
                    <a16:creationId xmlns:a16="http://schemas.microsoft.com/office/drawing/2014/main" id="{DD017104-2D65-8DD6-4208-EAE32E49A27E}"/>
                  </a:ext>
                </a:extLst>
              </p:cNvPr>
              <p:cNvSpPr>
                <a:spLocks/>
              </p:cNvSpPr>
              <p:nvPr/>
            </p:nvSpPr>
            <p:spPr bwMode="auto">
              <a:xfrm>
                <a:off x="10015708" y="3174280"/>
                <a:ext cx="697412" cy="24956"/>
              </a:xfrm>
              <a:custGeom>
                <a:avLst/>
                <a:gdLst>
                  <a:gd name="T0" fmla="*/ 5 w 4150"/>
                  <a:gd name="T1" fmla="*/ 22 h 149"/>
                  <a:gd name="T2" fmla="*/ 2 w 4150"/>
                  <a:gd name="T3" fmla="*/ 34 h 149"/>
                  <a:gd name="T4" fmla="*/ 0 w 4150"/>
                  <a:gd name="T5" fmla="*/ 73 h 149"/>
                  <a:gd name="T6" fmla="*/ 2 w 4150"/>
                  <a:gd name="T7" fmla="*/ 94 h 149"/>
                  <a:gd name="T8" fmla="*/ 7 w 4150"/>
                  <a:gd name="T9" fmla="*/ 140 h 149"/>
                  <a:gd name="T10" fmla="*/ 2079 w 4150"/>
                  <a:gd name="T11" fmla="*/ 145 h 149"/>
                  <a:gd name="T12" fmla="*/ 4150 w 4150"/>
                  <a:gd name="T13" fmla="*/ 149 h 149"/>
                  <a:gd name="T14" fmla="*/ 4145 w 4150"/>
                  <a:gd name="T15" fmla="*/ 79 h 149"/>
                  <a:gd name="T16" fmla="*/ 4140 w 4150"/>
                  <a:gd name="T17" fmla="*/ 7 h 149"/>
                  <a:gd name="T18" fmla="*/ 2077 w 4150"/>
                  <a:gd name="T19" fmla="*/ 2 h 149"/>
                  <a:gd name="T20" fmla="*/ 935 w 4150"/>
                  <a:gd name="T21" fmla="*/ 0 h 149"/>
                  <a:gd name="T22" fmla="*/ 187 w 4150"/>
                  <a:gd name="T23" fmla="*/ 6 h 149"/>
                  <a:gd name="T24" fmla="*/ 46 w 4150"/>
                  <a:gd name="T25" fmla="*/ 12 h 149"/>
                  <a:gd name="T26" fmla="*/ 9 w 4150"/>
                  <a:gd name="T27" fmla="*/ 18 h 149"/>
                  <a:gd name="T28" fmla="*/ 5 w 4150"/>
                  <a:gd name="T29" fmla="*/ 2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50" h="149">
                    <a:moveTo>
                      <a:pt x="5" y="22"/>
                    </a:moveTo>
                    <a:lnTo>
                      <a:pt x="2" y="34"/>
                    </a:lnTo>
                    <a:lnTo>
                      <a:pt x="0" y="73"/>
                    </a:lnTo>
                    <a:lnTo>
                      <a:pt x="2" y="94"/>
                    </a:lnTo>
                    <a:lnTo>
                      <a:pt x="7" y="140"/>
                    </a:lnTo>
                    <a:lnTo>
                      <a:pt x="2079" y="145"/>
                    </a:lnTo>
                    <a:lnTo>
                      <a:pt x="4150" y="149"/>
                    </a:lnTo>
                    <a:lnTo>
                      <a:pt x="4145" y="79"/>
                    </a:lnTo>
                    <a:lnTo>
                      <a:pt x="4140" y="7"/>
                    </a:lnTo>
                    <a:lnTo>
                      <a:pt x="2077" y="2"/>
                    </a:lnTo>
                    <a:lnTo>
                      <a:pt x="935" y="0"/>
                    </a:lnTo>
                    <a:lnTo>
                      <a:pt x="187" y="6"/>
                    </a:lnTo>
                    <a:lnTo>
                      <a:pt x="46"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9" name="Freeform 8">
                <a:extLst>
                  <a:ext uri="{FF2B5EF4-FFF2-40B4-BE49-F238E27FC236}">
                    <a16:creationId xmlns:a16="http://schemas.microsoft.com/office/drawing/2014/main" id="{3E34F752-C062-DC8E-675C-61293B34FED9}"/>
                  </a:ext>
                </a:extLst>
              </p:cNvPr>
              <p:cNvSpPr>
                <a:spLocks noEditPoints="1"/>
              </p:cNvSpPr>
              <p:nvPr/>
            </p:nvSpPr>
            <p:spPr bwMode="auto">
              <a:xfrm>
                <a:off x="10614202" y="3216932"/>
                <a:ext cx="711023" cy="711023"/>
              </a:xfrm>
              <a:custGeom>
                <a:avLst/>
                <a:gdLst>
                  <a:gd name="T0" fmla="*/ 1447 w 4229"/>
                  <a:gd name="T1" fmla="*/ 106 h 4232"/>
                  <a:gd name="T2" fmla="*/ 819 w 4229"/>
                  <a:gd name="T3" fmla="*/ 442 h 4232"/>
                  <a:gd name="T4" fmla="*/ 456 w 4229"/>
                  <a:gd name="T5" fmla="*/ 801 h 4232"/>
                  <a:gd name="T6" fmla="*/ 145 w 4229"/>
                  <a:gd name="T7" fmla="*/ 1332 h 4232"/>
                  <a:gd name="T8" fmla="*/ 21 w 4229"/>
                  <a:gd name="T9" fmla="*/ 1755 h 4232"/>
                  <a:gd name="T10" fmla="*/ 10 w 4229"/>
                  <a:gd name="T11" fmla="*/ 2393 h 4232"/>
                  <a:gd name="T12" fmla="*/ 92 w 4229"/>
                  <a:gd name="T13" fmla="*/ 2759 h 4232"/>
                  <a:gd name="T14" fmla="*/ 361 w 4229"/>
                  <a:gd name="T15" fmla="*/ 3308 h 4232"/>
                  <a:gd name="T16" fmla="*/ 679 w 4229"/>
                  <a:gd name="T17" fmla="*/ 3670 h 4232"/>
                  <a:gd name="T18" fmla="*/ 1185 w 4229"/>
                  <a:gd name="T19" fmla="*/ 4024 h 4232"/>
                  <a:gd name="T20" fmla="*/ 1714 w 4229"/>
                  <a:gd name="T21" fmla="*/ 4204 h 4232"/>
                  <a:gd name="T22" fmla="*/ 2229 w 4229"/>
                  <a:gd name="T23" fmla="*/ 4232 h 4232"/>
                  <a:gd name="T24" fmla="*/ 2597 w 4229"/>
                  <a:gd name="T25" fmla="*/ 4185 h 4232"/>
                  <a:gd name="T26" fmla="*/ 3176 w 4229"/>
                  <a:gd name="T27" fmla="*/ 3953 h 4232"/>
                  <a:gd name="T28" fmla="*/ 3607 w 4229"/>
                  <a:gd name="T29" fmla="*/ 3612 h 4232"/>
                  <a:gd name="T30" fmla="*/ 3951 w 4229"/>
                  <a:gd name="T31" fmla="*/ 3177 h 4232"/>
                  <a:gd name="T32" fmla="*/ 4182 w 4229"/>
                  <a:gd name="T33" fmla="*/ 2594 h 4232"/>
                  <a:gd name="T34" fmla="*/ 4229 w 4229"/>
                  <a:gd name="T35" fmla="*/ 2228 h 4232"/>
                  <a:gd name="T36" fmla="*/ 4199 w 4229"/>
                  <a:gd name="T37" fmla="*/ 1719 h 4232"/>
                  <a:gd name="T38" fmla="*/ 4017 w 4229"/>
                  <a:gd name="T39" fmla="*/ 1187 h 4232"/>
                  <a:gd name="T40" fmla="*/ 3662 w 4229"/>
                  <a:gd name="T41" fmla="*/ 672 h 4232"/>
                  <a:gd name="T42" fmla="*/ 3179 w 4229"/>
                  <a:gd name="T43" fmla="*/ 284 h 4232"/>
                  <a:gd name="T44" fmla="*/ 2597 w 4229"/>
                  <a:gd name="T45" fmla="*/ 51 h 4232"/>
                  <a:gd name="T46" fmla="*/ 2110 w 4229"/>
                  <a:gd name="T47" fmla="*/ 0 h 4232"/>
                  <a:gd name="T48" fmla="*/ 2421 w 4229"/>
                  <a:gd name="T49" fmla="*/ 373 h 4232"/>
                  <a:gd name="T50" fmla="*/ 2962 w 4229"/>
                  <a:gd name="T51" fmla="*/ 563 h 4232"/>
                  <a:gd name="T52" fmla="*/ 3365 w 4229"/>
                  <a:gd name="T53" fmla="*/ 867 h 4232"/>
                  <a:gd name="T54" fmla="*/ 3716 w 4229"/>
                  <a:gd name="T55" fmla="*/ 1361 h 4232"/>
                  <a:gd name="T56" fmla="*/ 3883 w 4229"/>
                  <a:gd name="T57" fmla="*/ 2003 h 4232"/>
                  <a:gd name="T58" fmla="*/ 3799 w 4229"/>
                  <a:gd name="T59" fmla="*/ 2661 h 4232"/>
                  <a:gd name="T60" fmla="*/ 3464 w 4229"/>
                  <a:gd name="T61" fmla="*/ 3266 h 4232"/>
                  <a:gd name="T62" fmla="*/ 3179 w 4229"/>
                  <a:gd name="T63" fmla="*/ 3532 h 4232"/>
                  <a:gd name="T64" fmla="*/ 2726 w 4229"/>
                  <a:gd name="T65" fmla="*/ 3780 h 4232"/>
                  <a:gd name="T66" fmla="*/ 2408 w 4229"/>
                  <a:gd name="T67" fmla="*/ 3870 h 4232"/>
                  <a:gd name="T68" fmla="*/ 2031 w 4229"/>
                  <a:gd name="T69" fmla="*/ 3882 h 4232"/>
                  <a:gd name="T70" fmla="*/ 1684 w 4229"/>
                  <a:gd name="T71" fmla="*/ 3839 h 4232"/>
                  <a:gd name="T72" fmla="*/ 1289 w 4229"/>
                  <a:gd name="T73" fmla="*/ 3684 h 4232"/>
                  <a:gd name="T74" fmla="*/ 904 w 4229"/>
                  <a:gd name="T75" fmla="*/ 3411 h 4232"/>
                  <a:gd name="T76" fmla="*/ 607 w 4229"/>
                  <a:gd name="T77" fmla="*/ 3048 h 4232"/>
                  <a:gd name="T78" fmla="*/ 410 w 4229"/>
                  <a:gd name="T79" fmla="*/ 2611 h 4232"/>
                  <a:gd name="T80" fmla="*/ 354 w 4229"/>
                  <a:gd name="T81" fmla="*/ 2322 h 4232"/>
                  <a:gd name="T82" fmla="*/ 354 w 4229"/>
                  <a:gd name="T83" fmla="*/ 1916 h 4232"/>
                  <a:gd name="T84" fmla="*/ 410 w 4229"/>
                  <a:gd name="T85" fmla="*/ 1627 h 4232"/>
                  <a:gd name="T86" fmla="*/ 605 w 4229"/>
                  <a:gd name="T87" fmla="*/ 1192 h 4232"/>
                  <a:gd name="T88" fmla="*/ 862 w 4229"/>
                  <a:gd name="T89" fmla="*/ 867 h 4232"/>
                  <a:gd name="T90" fmla="*/ 1142 w 4229"/>
                  <a:gd name="T91" fmla="*/ 639 h 4232"/>
                  <a:gd name="T92" fmla="*/ 1503 w 4229"/>
                  <a:gd name="T93" fmla="*/ 456 h 4232"/>
                  <a:gd name="T94" fmla="*/ 1893 w 4229"/>
                  <a:gd name="T95" fmla="*/ 359 h 4232"/>
                  <a:gd name="T96" fmla="*/ 2298 w 4229"/>
                  <a:gd name="T97" fmla="*/ 355 h 4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229" h="4232">
                    <a:moveTo>
                      <a:pt x="1905" y="4"/>
                    </a:moveTo>
                    <a:lnTo>
                      <a:pt x="1809" y="17"/>
                    </a:lnTo>
                    <a:lnTo>
                      <a:pt x="1624" y="55"/>
                    </a:lnTo>
                    <a:lnTo>
                      <a:pt x="1447" y="106"/>
                    </a:lnTo>
                    <a:lnTo>
                      <a:pt x="1278" y="170"/>
                    </a:lnTo>
                    <a:lnTo>
                      <a:pt x="1117" y="247"/>
                    </a:lnTo>
                    <a:lnTo>
                      <a:pt x="964" y="338"/>
                    </a:lnTo>
                    <a:lnTo>
                      <a:pt x="819" y="442"/>
                    </a:lnTo>
                    <a:lnTo>
                      <a:pt x="681" y="559"/>
                    </a:lnTo>
                    <a:lnTo>
                      <a:pt x="615" y="624"/>
                    </a:lnTo>
                    <a:lnTo>
                      <a:pt x="559" y="682"/>
                    </a:lnTo>
                    <a:lnTo>
                      <a:pt x="456" y="801"/>
                    </a:lnTo>
                    <a:lnTo>
                      <a:pt x="364" y="925"/>
                    </a:lnTo>
                    <a:lnTo>
                      <a:pt x="281" y="1055"/>
                    </a:lnTo>
                    <a:lnTo>
                      <a:pt x="208" y="1190"/>
                    </a:lnTo>
                    <a:lnTo>
                      <a:pt x="145" y="1332"/>
                    </a:lnTo>
                    <a:lnTo>
                      <a:pt x="92" y="1481"/>
                    </a:lnTo>
                    <a:lnTo>
                      <a:pt x="47" y="1637"/>
                    </a:lnTo>
                    <a:lnTo>
                      <a:pt x="29" y="1719"/>
                    </a:lnTo>
                    <a:lnTo>
                      <a:pt x="21" y="1755"/>
                    </a:lnTo>
                    <a:lnTo>
                      <a:pt x="10" y="1845"/>
                    </a:lnTo>
                    <a:lnTo>
                      <a:pt x="0" y="2003"/>
                    </a:lnTo>
                    <a:lnTo>
                      <a:pt x="0" y="2234"/>
                    </a:lnTo>
                    <a:lnTo>
                      <a:pt x="10" y="2393"/>
                    </a:lnTo>
                    <a:lnTo>
                      <a:pt x="21" y="2482"/>
                    </a:lnTo>
                    <a:lnTo>
                      <a:pt x="29" y="2519"/>
                    </a:lnTo>
                    <a:lnTo>
                      <a:pt x="47" y="2602"/>
                    </a:lnTo>
                    <a:lnTo>
                      <a:pt x="92" y="2759"/>
                    </a:lnTo>
                    <a:lnTo>
                      <a:pt x="144" y="2907"/>
                    </a:lnTo>
                    <a:lnTo>
                      <a:pt x="206" y="3047"/>
                    </a:lnTo>
                    <a:lnTo>
                      <a:pt x="278" y="3180"/>
                    </a:lnTo>
                    <a:lnTo>
                      <a:pt x="361" y="3308"/>
                    </a:lnTo>
                    <a:lnTo>
                      <a:pt x="455" y="3431"/>
                    </a:lnTo>
                    <a:lnTo>
                      <a:pt x="562" y="3552"/>
                    </a:lnTo>
                    <a:lnTo>
                      <a:pt x="620" y="3612"/>
                    </a:lnTo>
                    <a:lnTo>
                      <a:pt x="679" y="3670"/>
                    </a:lnTo>
                    <a:lnTo>
                      <a:pt x="799" y="3775"/>
                    </a:lnTo>
                    <a:lnTo>
                      <a:pt x="922" y="3869"/>
                    </a:lnTo>
                    <a:lnTo>
                      <a:pt x="1050" y="3952"/>
                    </a:lnTo>
                    <a:lnTo>
                      <a:pt x="1185" y="4024"/>
                    </a:lnTo>
                    <a:lnTo>
                      <a:pt x="1325" y="4087"/>
                    </a:lnTo>
                    <a:lnTo>
                      <a:pt x="1474" y="4140"/>
                    </a:lnTo>
                    <a:lnTo>
                      <a:pt x="1631" y="4185"/>
                    </a:lnTo>
                    <a:lnTo>
                      <a:pt x="1714" y="4204"/>
                    </a:lnTo>
                    <a:lnTo>
                      <a:pt x="1750" y="4211"/>
                    </a:lnTo>
                    <a:lnTo>
                      <a:pt x="1840" y="4222"/>
                    </a:lnTo>
                    <a:lnTo>
                      <a:pt x="1998" y="4232"/>
                    </a:lnTo>
                    <a:lnTo>
                      <a:pt x="2229" y="4232"/>
                    </a:lnTo>
                    <a:lnTo>
                      <a:pt x="2388" y="4222"/>
                    </a:lnTo>
                    <a:lnTo>
                      <a:pt x="2477" y="4211"/>
                    </a:lnTo>
                    <a:lnTo>
                      <a:pt x="2514" y="4204"/>
                    </a:lnTo>
                    <a:lnTo>
                      <a:pt x="2597" y="4185"/>
                    </a:lnTo>
                    <a:lnTo>
                      <a:pt x="2754" y="4141"/>
                    </a:lnTo>
                    <a:lnTo>
                      <a:pt x="2902" y="4088"/>
                    </a:lnTo>
                    <a:lnTo>
                      <a:pt x="3043" y="4026"/>
                    </a:lnTo>
                    <a:lnTo>
                      <a:pt x="3176" y="3953"/>
                    </a:lnTo>
                    <a:lnTo>
                      <a:pt x="3304" y="3871"/>
                    </a:lnTo>
                    <a:lnTo>
                      <a:pt x="3427" y="3776"/>
                    </a:lnTo>
                    <a:lnTo>
                      <a:pt x="3548" y="3670"/>
                    </a:lnTo>
                    <a:lnTo>
                      <a:pt x="3607" y="3612"/>
                    </a:lnTo>
                    <a:lnTo>
                      <a:pt x="3666" y="3552"/>
                    </a:lnTo>
                    <a:lnTo>
                      <a:pt x="3773" y="3430"/>
                    </a:lnTo>
                    <a:lnTo>
                      <a:pt x="3868" y="3306"/>
                    </a:lnTo>
                    <a:lnTo>
                      <a:pt x="3951" y="3177"/>
                    </a:lnTo>
                    <a:lnTo>
                      <a:pt x="4023" y="3042"/>
                    </a:lnTo>
                    <a:lnTo>
                      <a:pt x="4085" y="2901"/>
                    </a:lnTo>
                    <a:lnTo>
                      <a:pt x="4138" y="2752"/>
                    </a:lnTo>
                    <a:lnTo>
                      <a:pt x="4182" y="2594"/>
                    </a:lnTo>
                    <a:lnTo>
                      <a:pt x="4200" y="2510"/>
                    </a:lnTo>
                    <a:lnTo>
                      <a:pt x="4208" y="2472"/>
                    </a:lnTo>
                    <a:lnTo>
                      <a:pt x="4219" y="2382"/>
                    </a:lnTo>
                    <a:lnTo>
                      <a:pt x="4229" y="2228"/>
                    </a:lnTo>
                    <a:lnTo>
                      <a:pt x="4229" y="2007"/>
                    </a:lnTo>
                    <a:lnTo>
                      <a:pt x="4218" y="1851"/>
                    </a:lnTo>
                    <a:lnTo>
                      <a:pt x="4206" y="1759"/>
                    </a:lnTo>
                    <a:lnTo>
                      <a:pt x="4199" y="1719"/>
                    </a:lnTo>
                    <a:lnTo>
                      <a:pt x="4181" y="1639"/>
                    </a:lnTo>
                    <a:lnTo>
                      <a:pt x="4137" y="1483"/>
                    </a:lnTo>
                    <a:lnTo>
                      <a:pt x="4082" y="1332"/>
                    </a:lnTo>
                    <a:lnTo>
                      <a:pt x="4017" y="1187"/>
                    </a:lnTo>
                    <a:lnTo>
                      <a:pt x="3941" y="1048"/>
                    </a:lnTo>
                    <a:lnTo>
                      <a:pt x="3857" y="916"/>
                    </a:lnTo>
                    <a:lnTo>
                      <a:pt x="3764" y="790"/>
                    </a:lnTo>
                    <a:lnTo>
                      <a:pt x="3662" y="672"/>
                    </a:lnTo>
                    <a:lnTo>
                      <a:pt x="3552" y="562"/>
                    </a:lnTo>
                    <a:lnTo>
                      <a:pt x="3434" y="460"/>
                    </a:lnTo>
                    <a:lnTo>
                      <a:pt x="3310" y="367"/>
                    </a:lnTo>
                    <a:lnTo>
                      <a:pt x="3179" y="284"/>
                    </a:lnTo>
                    <a:lnTo>
                      <a:pt x="3042" y="210"/>
                    </a:lnTo>
                    <a:lnTo>
                      <a:pt x="2899" y="146"/>
                    </a:lnTo>
                    <a:lnTo>
                      <a:pt x="2750" y="93"/>
                    </a:lnTo>
                    <a:lnTo>
                      <a:pt x="2597" y="51"/>
                    </a:lnTo>
                    <a:lnTo>
                      <a:pt x="2519" y="35"/>
                    </a:lnTo>
                    <a:lnTo>
                      <a:pt x="2460" y="26"/>
                    </a:lnTo>
                    <a:lnTo>
                      <a:pt x="2294" y="10"/>
                    </a:lnTo>
                    <a:lnTo>
                      <a:pt x="2110" y="0"/>
                    </a:lnTo>
                    <a:lnTo>
                      <a:pt x="1955" y="0"/>
                    </a:lnTo>
                    <a:lnTo>
                      <a:pt x="1905" y="4"/>
                    </a:lnTo>
                    <a:close/>
                    <a:moveTo>
                      <a:pt x="2349" y="362"/>
                    </a:moveTo>
                    <a:lnTo>
                      <a:pt x="2421" y="373"/>
                    </a:lnTo>
                    <a:lnTo>
                      <a:pt x="2564" y="404"/>
                    </a:lnTo>
                    <a:lnTo>
                      <a:pt x="2701" y="446"/>
                    </a:lnTo>
                    <a:lnTo>
                      <a:pt x="2834" y="499"/>
                    </a:lnTo>
                    <a:lnTo>
                      <a:pt x="2962" y="563"/>
                    </a:lnTo>
                    <a:lnTo>
                      <a:pt x="3084" y="637"/>
                    </a:lnTo>
                    <a:lnTo>
                      <a:pt x="3201" y="721"/>
                    </a:lnTo>
                    <a:lnTo>
                      <a:pt x="3312" y="816"/>
                    </a:lnTo>
                    <a:lnTo>
                      <a:pt x="3365" y="867"/>
                    </a:lnTo>
                    <a:lnTo>
                      <a:pt x="3428" y="932"/>
                    </a:lnTo>
                    <a:lnTo>
                      <a:pt x="3539" y="1068"/>
                    </a:lnTo>
                    <a:lnTo>
                      <a:pt x="3635" y="1211"/>
                    </a:lnTo>
                    <a:lnTo>
                      <a:pt x="3716" y="1361"/>
                    </a:lnTo>
                    <a:lnTo>
                      <a:pt x="3781" y="1516"/>
                    </a:lnTo>
                    <a:lnTo>
                      <a:pt x="3830" y="1676"/>
                    </a:lnTo>
                    <a:lnTo>
                      <a:pt x="3864" y="1838"/>
                    </a:lnTo>
                    <a:lnTo>
                      <a:pt x="3883" y="2003"/>
                    </a:lnTo>
                    <a:lnTo>
                      <a:pt x="3885" y="2169"/>
                    </a:lnTo>
                    <a:lnTo>
                      <a:pt x="3872" y="2334"/>
                    </a:lnTo>
                    <a:lnTo>
                      <a:pt x="3843" y="2499"/>
                    </a:lnTo>
                    <a:lnTo>
                      <a:pt x="3799" y="2661"/>
                    </a:lnTo>
                    <a:lnTo>
                      <a:pt x="3739" y="2820"/>
                    </a:lnTo>
                    <a:lnTo>
                      <a:pt x="3663" y="2974"/>
                    </a:lnTo>
                    <a:lnTo>
                      <a:pt x="3571" y="3123"/>
                    </a:lnTo>
                    <a:lnTo>
                      <a:pt x="3464" y="3266"/>
                    </a:lnTo>
                    <a:lnTo>
                      <a:pt x="3404" y="3334"/>
                    </a:lnTo>
                    <a:lnTo>
                      <a:pt x="3365" y="3375"/>
                    </a:lnTo>
                    <a:lnTo>
                      <a:pt x="3277" y="3455"/>
                    </a:lnTo>
                    <a:lnTo>
                      <a:pt x="3179" y="3532"/>
                    </a:lnTo>
                    <a:lnTo>
                      <a:pt x="3073" y="3604"/>
                    </a:lnTo>
                    <a:lnTo>
                      <a:pt x="2961" y="3670"/>
                    </a:lnTo>
                    <a:lnTo>
                      <a:pt x="2845" y="3729"/>
                    </a:lnTo>
                    <a:lnTo>
                      <a:pt x="2726" y="3780"/>
                    </a:lnTo>
                    <a:lnTo>
                      <a:pt x="2606" y="3822"/>
                    </a:lnTo>
                    <a:lnTo>
                      <a:pt x="2547" y="3839"/>
                    </a:lnTo>
                    <a:lnTo>
                      <a:pt x="2495" y="3852"/>
                    </a:lnTo>
                    <a:lnTo>
                      <a:pt x="2408" y="3870"/>
                    </a:lnTo>
                    <a:lnTo>
                      <a:pt x="2317" y="3879"/>
                    </a:lnTo>
                    <a:lnTo>
                      <a:pt x="2196" y="3882"/>
                    </a:lnTo>
                    <a:lnTo>
                      <a:pt x="2114" y="3882"/>
                    </a:lnTo>
                    <a:lnTo>
                      <a:pt x="2031" y="3882"/>
                    </a:lnTo>
                    <a:lnTo>
                      <a:pt x="1911" y="3879"/>
                    </a:lnTo>
                    <a:lnTo>
                      <a:pt x="1821" y="3870"/>
                    </a:lnTo>
                    <a:lnTo>
                      <a:pt x="1735" y="3852"/>
                    </a:lnTo>
                    <a:lnTo>
                      <a:pt x="1684" y="3839"/>
                    </a:lnTo>
                    <a:lnTo>
                      <a:pt x="1624" y="3822"/>
                    </a:lnTo>
                    <a:lnTo>
                      <a:pt x="1508" y="3783"/>
                    </a:lnTo>
                    <a:lnTo>
                      <a:pt x="1396" y="3737"/>
                    </a:lnTo>
                    <a:lnTo>
                      <a:pt x="1289" y="3684"/>
                    </a:lnTo>
                    <a:lnTo>
                      <a:pt x="1185" y="3625"/>
                    </a:lnTo>
                    <a:lnTo>
                      <a:pt x="1087" y="3560"/>
                    </a:lnTo>
                    <a:lnTo>
                      <a:pt x="993" y="3488"/>
                    </a:lnTo>
                    <a:lnTo>
                      <a:pt x="904" y="3411"/>
                    </a:lnTo>
                    <a:lnTo>
                      <a:pt x="821" y="3328"/>
                    </a:lnTo>
                    <a:lnTo>
                      <a:pt x="744" y="3240"/>
                    </a:lnTo>
                    <a:lnTo>
                      <a:pt x="672" y="3146"/>
                    </a:lnTo>
                    <a:lnTo>
                      <a:pt x="607" y="3048"/>
                    </a:lnTo>
                    <a:lnTo>
                      <a:pt x="547" y="2945"/>
                    </a:lnTo>
                    <a:lnTo>
                      <a:pt x="495" y="2838"/>
                    </a:lnTo>
                    <a:lnTo>
                      <a:pt x="449" y="2727"/>
                    </a:lnTo>
                    <a:lnTo>
                      <a:pt x="410" y="2611"/>
                    </a:lnTo>
                    <a:lnTo>
                      <a:pt x="394" y="2552"/>
                    </a:lnTo>
                    <a:lnTo>
                      <a:pt x="380" y="2500"/>
                    </a:lnTo>
                    <a:lnTo>
                      <a:pt x="363" y="2413"/>
                    </a:lnTo>
                    <a:lnTo>
                      <a:pt x="354" y="2322"/>
                    </a:lnTo>
                    <a:lnTo>
                      <a:pt x="350" y="2201"/>
                    </a:lnTo>
                    <a:lnTo>
                      <a:pt x="350" y="2119"/>
                    </a:lnTo>
                    <a:lnTo>
                      <a:pt x="350" y="2036"/>
                    </a:lnTo>
                    <a:lnTo>
                      <a:pt x="354" y="1916"/>
                    </a:lnTo>
                    <a:lnTo>
                      <a:pt x="363" y="1825"/>
                    </a:lnTo>
                    <a:lnTo>
                      <a:pt x="380" y="1737"/>
                    </a:lnTo>
                    <a:lnTo>
                      <a:pt x="394" y="1685"/>
                    </a:lnTo>
                    <a:lnTo>
                      <a:pt x="410" y="1627"/>
                    </a:lnTo>
                    <a:lnTo>
                      <a:pt x="448" y="1512"/>
                    </a:lnTo>
                    <a:lnTo>
                      <a:pt x="494" y="1401"/>
                    </a:lnTo>
                    <a:lnTo>
                      <a:pt x="546" y="1295"/>
                    </a:lnTo>
                    <a:lnTo>
                      <a:pt x="605" y="1192"/>
                    </a:lnTo>
                    <a:lnTo>
                      <a:pt x="670" y="1094"/>
                    </a:lnTo>
                    <a:lnTo>
                      <a:pt x="742" y="1000"/>
                    </a:lnTo>
                    <a:lnTo>
                      <a:pt x="820" y="910"/>
                    </a:lnTo>
                    <a:lnTo>
                      <a:pt x="862" y="867"/>
                    </a:lnTo>
                    <a:lnTo>
                      <a:pt x="899" y="831"/>
                    </a:lnTo>
                    <a:lnTo>
                      <a:pt x="977" y="762"/>
                    </a:lnTo>
                    <a:lnTo>
                      <a:pt x="1058" y="698"/>
                    </a:lnTo>
                    <a:lnTo>
                      <a:pt x="1142" y="639"/>
                    </a:lnTo>
                    <a:lnTo>
                      <a:pt x="1228" y="585"/>
                    </a:lnTo>
                    <a:lnTo>
                      <a:pt x="1318" y="537"/>
                    </a:lnTo>
                    <a:lnTo>
                      <a:pt x="1409" y="493"/>
                    </a:lnTo>
                    <a:lnTo>
                      <a:pt x="1503" y="456"/>
                    </a:lnTo>
                    <a:lnTo>
                      <a:pt x="1598" y="423"/>
                    </a:lnTo>
                    <a:lnTo>
                      <a:pt x="1695" y="396"/>
                    </a:lnTo>
                    <a:lnTo>
                      <a:pt x="1794" y="375"/>
                    </a:lnTo>
                    <a:lnTo>
                      <a:pt x="1893" y="359"/>
                    </a:lnTo>
                    <a:lnTo>
                      <a:pt x="1994" y="350"/>
                    </a:lnTo>
                    <a:lnTo>
                      <a:pt x="2095" y="346"/>
                    </a:lnTo>
                    <a:lnTo>
                      <a:pt x="2196" y="348"/>
                    </a:lnTo>
                    <a:lnTo>
                      <a:pt x="2298" y="355"/>
                    </a:lnTo>
                    <a:lnTo>
                      <a:pt x="2349" y="3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0" name="Freeform 9">
                <a:extLst>
                  <a:ext uri="{FF2B5EF4-FFF2-40B4-BE49-F238E27FC236}">
                    <a16:creationId xmlns:a16="http://schemas.microsoft.com/office/drawing/2014/main" id="{FEA45808-29AB-970B-A07C-4072250243C0}"/>
                  </a:ext>
                </a:extLst>
              </p:cNvPr>
              <p:cNvSpPr>
                <a:spLocks/>
              </p:cNvSpPr>
              <p:nvPr/>
            </p:nvSpPr>
            <p:spPr bwMode="auto">
              <a:xfrm>
                <a:off x="10763484"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grpFill/>
              <a:ln>
                <a:noFill/>
              </a:ln>
            </p:spPr>
            <p:txBody>
              <a:bodyPr vert="horz" wrap="square" lIns="91440" tIns="45720" rIns="91440" bIns="45720" numCol="1" anchor="t" anchorCtr="0" compatLnSpc="1">
                <a:prstTxWarp prst="textNoShape">
                  <a:avLst/>
                </a:prstTxWarp>
              </a:bodyPr>
              <a:lstStyle/>
              <a:p>
                <a:pPr algn="r" rtl="1"/>
                <a:endParaRPr lang="en-US"/>
              </a:p>
            </p:txBody>
          </p:sp>
          <p:sp>
            <p:nvSpPr>
              <p:cNvPr id="11" name="Freeform 10">
                <a:extLst>
                  <a:ext uri="{FF2B5EF4-FFF2-40B4-BE49-F238E27FC236}">
                    <a16:creationId xmlns:a16="http://schemas.microsoft.com/office/drawing/2014/main" id="{61BDD891-6DA7-FDDC-75A2-CE04F0B20F86}"/>
                  </a:ext>
                </a:extLst>
              </p:cNvPr>
              <p:cNvSpPr>
                <a:spLocks/>
              </p:cNvSpPr>
              <p:nvPr/>
            </p:nvSpPr>
            <p:spPr bwMode="auto">
              <a:xfrm>
                <a:off x="10015708" y="3364401"/>
                <a:ext cx="588058" cy="24956"/>
              </a:xfrm>
              <a:custGeom>
                <a:avLst/>
                <a:gdLst>
                  <a:gd name="T0" fmla="*/ 5 w 3499"/>
                  <a:gd name="T1" fmla="*/ 23 h 150"/>
                  <a:gd name="T2" fmla="*/ 2 w 3499"/>
                  <a:gd name="T3" fmla="*/ 36 h 150"/>
                  <a:gd name="T4" fmla="*/ 0 w 3499"/>
                  <a:gd name="T5" fmla="*/ 74 h 150"/>
                  <a:gd name="T6" fmla="*/ 2 w 3499"/>
                  <a:gd name="T7" fmla="*/ 95 h 150"/>
                  <a:gd name="T8" fmla="*/ 7 w 3499"/>
                  <a:gd name="T9" fmla="*/ 142 h 150"/>
                  <a:gd name="T10" fmla="*/ 1720 w 3499"/>
                  <a:gd name="T11" fmla="*/ 147 h 150"/>
                  <a:gd name="T12" fmla="*/ 3432 w 3499"/>
                  <a:gd name="T13" fmla="*/ 150 h 150"/>
                  <a:gd name="T14" fmla="*/ 3465 w 3499"/>
                  <a:gd name="T15" fmla="*/ 97 h 150"/>
                  <a:gd name="T16" fmla="*/ 3479 w 3499"/>
                  <a:gd name="T17" fmla="*/ 74 h 150"/>
                  <a:gd name="T18" fmla="*/ 3497 w 3499"/>
                  <a:gd name="T19" fmla="*/ 32 h 150"/>
                  <a:gd name="T20" fmla="*/ 3499 w 3499"/>
                  <a:gd name="T21" fmla="*/ 20 h 150"/>
                  <a:gd name="T22" fmla="*/ 3496 w 3499"/>
                  <a:gd name="T23" fmla="*/ 17 h 150"/>
                  <a:gd name="T24" fmla="*/ 3458 w 3499"/>
                  <a:gd name="T25" fmla="*/ 13 h 150"/>
                  <a:gd name="T26" fmla="*/ 3321 w 3499"/>
                  <a:gd name="T27" fmla="*/ 7 h 150"/>
                  <a:gd name="T28" fmla="*/ 2666 w 3499"/>
                  <a:gd name="T29" fmla="*/ 1 h 150"/>
                  <a:gd name="T30" fmla="*/ 1757 w 3499"/>
                  <a:gd name="T31" fmla="*/ 0 h 150"/>
                  <a:gd name="T32" fmla="*/ 795 w 3499"/>
                  <a:gd name="T33" fmla="*/ 0 h 150"/>
                  <a:gd name="T34" fmla="*/ 161 w 3499"/>
                  <a:gd name="T35" fmla="*/ 7 h 150"/>
                  <a:gd name="T36" fmla="*/ 41 w 3499"/>
                  <a:gd name="T37" fmla="*/ 14 h 150"/>
                  <a:gd name="T38" fmla="*/ 9 w 3499"/>
                  <a:gd name="T39" fmla="*/ 20 h 150"/>
                  <a:gd name="T40" fmla="*/ 5 w 3499"/>
                  <a:gd name="T41"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99" h="150">
                    <a:moveTo>
                      <a:pt x="5" y="23"/>
                    </a:moveTo>
                    <a:lnTo>
                      <a:pt x="2" y="36"/>
                    </a:lnTo>
                    <a:lnTo>
                      <a:pt x="0" y="74"/>
                    </a:lnTo>
                    <a:lnTo>
                      <a:pt x="2" y="95"/>
                    </a:lnTo>
                    <a:lnTo>
                      <a:pt x="7" y="142"/>
                    </a:lnTo>
                    <a:lnTo>
                      <a:pt x="1720" y="147"/>
                    </a:lnTo>
                    <a:lnTo>
                      <a:pt x="3432" y="150"/>
                    </a:lnTo>
                    <a:lnTo>
                      <a:pt x="3465" y="97"/>
                    </a:lnTo>
                    <a:lnTo>
                      <a:pt x="3479" y="74"/>
                    </a:lnTo>
                    <a:lnTo>
                      <a:pt x="3497" y="32"/>
                    </a:lnTo>
                    <a:lnTo>
                      <a:pt x="3499" y="20"/>
                    </a:lnTo>
                    <a:lnTo>
                      <a:pt x="3496" y="17"/>
                    </a:lnTo>
                    <a:lnTo>
                      <a:pt x="3458" y="13"/>
                    </a:lnTo>
                    <a:lnTo>
                      <a:pt x="3321" y="7"/>
                    </a:lnTo>
                    <a:lnTo>
                      <a:pt x="2666" y="1"/>
                    </a:lnTo>
                    <a:lnTo>
                      <a:pt x="1757" y="0"/>
                    </a:lnTo>
                    <a:lnTo>
                      <a:pt x="795" y="0"/>
                    </a:lnTo>
                    <a:lnTo>
                      <a:pt x="161" y="7"/>
                    </a:lnTo>
                    <a:lnTo>
                      <a:pt x="41"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2" name="Freeform 11">
                <a:extLst>
                  <a:ext uri="{FF2B5EF4-FFF2-40B4-BE49-F238E27FC236}">
                    <a16:creationId xmlns:a16="http://schemas.microsoft.com/office/drawing/2014/main" id="{CE6C5757-6155-7B6C-FFF5-56C8E3B68BF1}"/>
                  </a:ext>
                </a:extLst>
              </p:cNvPr>
              <p:cNvSpPr>
                <a:spLocks/>
              </p:cNvSpPr>
              <p:nvPr/>
            </p:nvSpPr>
            <p:spPr bwMode="auto">
              <a:xfrm>
                <a:off x="10015708" y="3565865"/>
                <a:ext cx="534969" cy="25410"/>
              </a:xfrm>
              <a:custGeom>
                <a:avLst/>
                <a:gdLst>
                  <a:gd name="T0" fmla="*/ 5 w 3182"/>
                  <a:gd name="T1" fmla="*/ 23 h 150"/>
                  <a:gd name="T2" fmla="*/ 2 w 3182"/>
                  <a:gd name="T3" fmla="*/ 36 h 150"/>
                  <a:gd name="T4" fmla="*/ 0 w 3182"/>
                  <a:gd name="T5" fmla="*/ 74 h 150"/>
                  <a:gd name="T6" fmla="*/ 2 w 3182"/>
                  <a:gd name="T7" fmla="*/ 95 h 150"/>
                  <a:gd name="T8" fmla="*/ 7 w 3182"/>
                  <a:gd name="T9" fmla="*/ 142 h 150"/>
                  <a:gd name="T10" fmla="*/ 1595 w 3182"/>
                  <a:gd name="T11" fmla="*/ 147 h 150"/>
                  <a:gd name="T12" fmla="*/ 3182 w 3182"/>
                  <a:gd name="T13" fmla="*/ 150 h 150"/>
                  <a:gd name="T14" fmla="*/ 3182 w 3182"/>
                  <a:gd name="T15" fmla="*/ 75 h 150"/>
                  <a:gd name="T16" fmla="*/ 3182 w 3182"/>
                  <a:gd name="T17" fmla="*/ 0 h 150"/>
                  <a:gd name="T18" fmla="*/ 1599 w 3182"/>
                  <a:gd name="T19" fmla="*/ 0 h 150"/>
                  <a:gd name="T20" fmla="*/ 725 w 3182"/>
                  <a:gd name="T21" fmla="*/ 0 h 150"/>
                  <a:gd name="T22" fmla="*/ 148 w 3182"/>
                  <a:gd name="T23" fmla="*/ 7 h 150"/>
                  <a:gd name="T24" fmla="*/ 38 w 3182"/>
                  <a:gd name="T25" fmla="*/ 14 h 150"/>
                  <a:gd name="T26" fmla="*/ 9 w 3182"/>
                  <a:gd name="T27" fmla="*/ 20 h 150"/>
                  <a:gd name="T28" fmla="*/ 5 w 3182"/>
                  <a:gd name="T29"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82" h="150">
                    <a:moveTo>
                      <a:pt x="5" y="23"/>
                    </a:moveTo>
                    <a:lnTo>
                      <a:pt x="2" y="36"/>
                    </a:lnTo>
                    <a:lnTo>
                      <a:pt x="0" y="74"/>
                    </a:lnTo>
                    <a:lnTo>
                      <a:pt x="2" y="95"/>
                    </a:lnTo>
                    <a:lnTo>
                      <a:pt x="7" y="142"/>
                    </a:lnTo>
                    <a:lnTo>
                      <a:pt x="1595" y="147"/>
                    </a:lnTo>
                    <a:lnTo>
                      <a:pt x="3182" y="150"/>
                    </a:lnTo>
                    <a:lnTo>
                      <a:pt x="3182" y="75"/>
                    </a:lnTo>
                    <a:lnTo>
                      <a:pt x="3182" y="0"/>
                    </a:lnTo>
                    <a:lnTo>
                      <a:pt x="1599" y="0"/>
                    </a:lnTo>
                    <a:lnTo>
                      <a:pt x="725" y="0"/>
                    </a:lnTo>
                    <a:lnTo>
                      <a:pt x="148" y="7"/>
                    </a:lnTo>
                    <a:lnTo>
                      <a:pt x="38"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3" name="Freeform 12">
                <a:extLst>
                  <a:ext uri="{FF2B5EF4-FFF2-40B4-BE49-F238E27FC236}">
                    <a16:creationId xmlns:a16="http://schemas.microsoft.com/office/drawing/2014/main" id="{65137DC2-385F-3F92-3294-66335AA90964}"/>
                  </a:ext>
                </a:extLst>
              </p:cNvPr>
              <p:cNvSpPr>
                <a:spLocks/>
              </p:cNvSpPr>
              <p:nvPr/>
            </p:nvSpPr>
            <p:spPr bwMode="auto">
              <a:xfrm>
                <a:off x="10015708" y="3756440"/>
                <a:ext cx="591688" cy="24956"/>
              </a:xfrm>
              <a:custGeom>
                <a:avLst/>
                <a:gdLst>
                  <a:gd name="T0" fmla="*/ 5 w 3519"/>
                  <a:gd name="T1" fmla="*/ 22 h 148"/>
                  <a:gd name="T2" fmla="*/ 2 w 3519"/>
                  <a:gd name="T3" fmla="*/ 34 h 148"/>
                  <a:gd name="T4" fmla="*/ 0 w 3519"/>
                  <a:gd name="T5" fmla="*/ 73 h 148"/>
                  <a:gd name="T6" fmla="*/ 2 w 3519"/>
                  <a:gd name="T7" fmla="*/ 93 h 148"/>
                  <a:gd name="T8" fmla="*/ 7 w 3519"/>
                  <a:gd name="T9" fmla="*/ 140 h 148"/>
                  <a:gd name="T10" fmla="*/ 1762 w 3519"/>
                  <a:gd name="T11" fmla="*/ 145 h 148"/>
                  <a:gd name="T12" fmla="*/ 3519 w 3519"/>
                  <a:gd name="T13" fmla="*/ 148 h 148"/>
                  <a:gd name="T14" fmla="*/ 3479 w 3519"/>
                  <a:gd name="T15" fmla="*/ 78 h 148"/>
                  <a:gd name="T16" fmla="*/ 3440 w 3519"/>
                  <a:gd name="T17" fmla="*/ 7 h 148"/>
                  <a:gd name="T18" fmla="*/ 1727 w 3519"/>
                  <a:gd name="T19" fmla="*/ 2 h 148"/>
                  <a:gd name="T20" fmla="*/ 779 w 3519"/>
                  <a:gd name="T21" fmla="*/ 0 h 148"/>
                  <a:gd name="T22" fmla="*/ 158 w 3519"/>
                  <a:gd name="T23" fmla="*/ 5 h 148"/>
                  <a:gd name="T24" fmla="*/ 40 w 3519"/>
                  <a:gd name="T25" fmla="*/ 12 h 148"/>
                  <a:gd name="T26" fmla="*/ 9 w 3519"/>
                  <a:gd name="T27" fmla="*/ 18 h 148"/>
                  <a:gd name="T28" fmla="*/ 5 w 3519"/>
                  <a:gd name="T29" fmla="*/ 2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19" h="148">
                    <a:moveTo>
                      <a:pt x="5" y="22"/>
                    </a:moveTo>
                    <a:lnTo>
                      <a:pt x="2" y="34"/>
                    </a:lnTo>
                    <a:lnTo>
                      <a:pt x="0" y="73"/>
                    </a:lnTo>
                    <a:lnTo>
                      <a:pt x="2" y="93"/>
                    </a:lnTo>
                    <a:lnTo>
                      <a:pt x="7" y="140"/>
                    </a:lnTo>
                    <a:lnTo>
                      <a:pt x="1762" y="145"/>
                    </a:lnTo>
                    <a:lnTo>
                      <a:pt x="3519" y="148"/>
                    </a:lnTo>
                    <a:lnTo>
                      <a:pt x="3479" y="78"/>
                    </a:lnTo>
                    <a:lnTo>
                      <a:pt x="3440" y="7"/>
                    </a:lnTo>
                    <a:lnTo>
                      <a:pt x="1727" y="2"/>
                    </a:lnTo>
                    <a:lnTo>
                      <a:pt x="779" y="0"/>
                    </a:lnTo>
                    <a:lnTo>
                      <a:pt x="158" y="5"/>
                    </a:lnTo>
                    <a:lnTo>
                      <a:pt x="40"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4" name="Freeform 13">
                <a:extLst>
                  <a:ext uri="{FF2B5EF4-FFF2-40B4-BE49-F238E27FC236}">
                    <a16:creationId xmlns:a16="http://schemas.microsoft.com/office/drawing/2014/main" id="{C297F1D4-8F52-49B3-036D-665ACF2276A9}"/>
                  </a:ext>
                </a:extLst>
              </p:cNvPr>
              <p:cNvSpPr>
                <a:spLocks/>
              </p:cNvSpPr>
              <p:nvPr/>
            </p:nvSpPr>
            <p:spPr bwMode="auto">
              <a:xfrm>
                <a:off x="10015253" y="3949283"/>
                <a:ext cx="697865" cy="22688"/>
              </a:xfrm>
              <a:custGeom>
                <a:avLst/>
                <a:gdLst>
                  <a:gd name="T0" fmla="*/ 0 w 4150"/>
                  <a:gd name="T1" fmla="*/ 67 h 134"/>
                  <a:gd name="T2" fmla="*/ 0 w 4150"/>
                  <a:gd name="T3" fmla="*/ 134 h 134"/>
                  <a:gd name="T4" fmla="*/ 2075 w 4150"/>
                  <a:gd name="T5" fmla="*/ 134 h 134"/>
                  <a:gd name="T6" fmla="*/ 4150 w 4150"/>
                  <a:gd name="T7" fmla="*/ 134 h 134"/>
                  <a:gd name="T8" fmla="*/ 4150 w 4150"/>
                  <a:gd name="T9" fmla="*/ 67 h 134"/>
                  <a:gd name="T10" fmla="*/ 4150 w 4150"/>
                  <a:gd name="T11" fmla="*/ 0 h 134"/>
                  <a:gd name="T12" fmla="*/ 2075 w 4150"/>
                  <a:gd name="T13" fmla="*/ 0 h 134"/>
                  <a:gd name="T14" fmla="*/ 0 w 4150"/>
                  <a:gd name="T15" fmla="*/ 0 h 134"/>
                  <a:gd name="T16" fmla="*/ 0 w 4150"/>
                  <a:gd name="T17" fmla="*/ 6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50" h="134">
                    <a:moveTo>
                      <a:pt x="0" y="67"/>
                    </a:moveTo>
                    <a:lnTo>
                      <a:pt x="0" y="134"/>
                    </a:lnTo>
                    <a:lnTo>
                      <a:pt x="2075" y="134"/>
                    </a:lnTo>
                    <a:lnTo>
                      <a:pt x="4150" y="134"/>
                    </a:lnTo>
                    <a:lnTo>
                      <a:pt x="4150" y="67"/>
                    </a:lnTo>
                    <a:lnTo>
                      <a:pt x="4150" y="0"/>
                    </a:lnTo>
                    <a:lnTo>
                      <a:pt x="2075" y="0"/>
                    </a:lnTo>
                    <a:lnTo>
                      <a:pt x="0"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grpSp>
        <p:sp>
          <p:nvSpPr>
            <p:cNvPr id="6" name="Freeform 9">
              <a:extLst>
                <a:ext uri="{FF2B5EF4-FFF2-40B4-BE49-F238E27FC236}">
                  <a16:creationId xmlns:a16="http://schemas.microsoft.com/office/drawing/2014/main" id="{FBEC3EEF-C957-1B7D-96C0-A4D36C9628BD}"/>
                </a:ext>
              </a:extLst>
            </p:cNvPr>
            <p:cNvSpPr>
              <a:spLocks/>
            </p:cNvSpPr>
            <p:nvPr/>
          </p:nvSpPr>
          <p:spPr bwMode="auto">
            <a:xfrm flipH="1">
              <a:off x="1210776"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dirty="0"/>
            </a:p>
          </p:txBody>
        </p:sp>
      </p:grpSp>
      <p:sp>
        <p:nvSpPr>
          <p:cNvPr id="15" name="Rectangle 14">
            <a:extLst>
              <a:ext uri="{FF2B5EF4-FFF2-40B4-BE49-F238E27FC236}">
                <a16:creationId xmlns:a16="http://schemas.microsoft.com/office/drawing/2014/main" id="{36FD00A2-422F-C607-0B65-8E501539F9CC}"/>
              </a:ext>
            </a:extLst>
          </p:cNvPr>
          <p:cNvSpPr/>
          <p:nvPr/>
        </p:nvSpPr>
        <p:spPr>
          <a:xfrm>
            <a:off x="743801" y="1283135"/>
            <a:ext cx="8554076" cy="3958241"/>
          </a:xfrm>
          <a:prstGeom prst="rect">
            <a:avLst/>
          </a:prstGeom>
        </p:spPr>
        <p:txBody>
          <a:bodyPr anchor="ctr" anchorCtr="0">
            <a:noAutofit/>
          </a:bodyPr>
          <a:lstStyle/>
          <a:p>
            <a:pPr algn="just" rtl="1">
              <a:lnSpc>
                <a:spcPct val="150000"/>
              </a:lnSpc>
              <a:spcAft>
                <a:spcPts val="1200"/>
              </a:spcAft>
            </a:pPr>
            <a:r>
              <a:rPr lang="ar-SA" sz="2200" b="1" dirty="0"/>
              <a:t>تم تحديد الدورات والشهادات المحلية والعالمية المطلوبة لتعزيز مهارات فريق البنية المؤسسية بناء على الأدوار الوظيفية والمهارات المرتبطة بكل دور. الجداول التالية توضح الدورات والشهادات المطلوبة لكل مسمى وظيفي، حيث الأعمدة تمثل المسميات الوظيفية، والصفوف تمثل الدورات والشهادات، والحقول تحدد ما إذا كانت الدورة أو الشهادة "مطلوبة"، "مفضلة"، "اختيارية"، أو "غير مطلوبة" لكل دور.</a:t>
            </a:r>
          </a:p>
        </p:txBody>
      </p:sp>
    </p:spTree>
    <p:extLst>
      <p:ext uri="{BB962C8B-B14F-4D97-AF65-F5344CB8AC3E}">
        <p14:creationId xmlns:p14="http://schemas.microsoft.com/office/powerpoint/2010/main" val="7617078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4D599-9AB1-B059-9939-3846146528E3}"/>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1BFE70DA-1A23-FAE1-7E31-65B932D69058}"/>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32</a:t>
            </a:fld>
            <a:endParaRPr lang="en-US" sz="1400" b="1" dirty="0">
              <a:solidFill>
                <a:schemeClr val="accent1"/>
              </a:solidFill>
            </a:endParaRPr>
          </a:p>
        </p:txBody>
      </p:sp>
      <p:sp>
        <p:nvSpPr>
          <p:cNvPr id="2" name="Title 1">
            <a:extLst>
              <a:ext uri="{FF2B5EF4-FFF2-40B4-BE49-F238E27FC236}">
                <a16:creationId xmlns:a16="http://schemas.microsoft.com/office/drawing/2014/main" id="{5FC63C30-72BC-ECB6-A1B8-F85F74BE83EE}"/>
              </a:ext>
            </a:extLst>
          </p:cNvPr>
          <p:cNvSpPr txBox="1">
            <a:spLocks/>
          </p:cNvSpPr>
          <p:nvPr/>
        </p:nvSpPr>
        <p:spPr>
          <a:xfrm>
            <a:off x="2194560" y="408242"/>
            <a:ext cx="9159240"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جدول الدورات والشهادات المطلوبة لسد فجوات مهارات </a:t>
            </a:r>
            <a:r>
              <a:rPr lang="ar-SA" dirty="0"/>
              <a:t>الفريق (</a:t>
            </a:r>
            <a:r>
              <a:rPr lang="en-US" dirty="0"/>
              <a:t>1 / 2</a:t>
            </a:r>
            <a:r>
              <a:rPr lang="ar-SA" dirty="0"/>
              <a:t>)</a:t>
            </a:r>
            <a:endParaRPr lang="ar-EG" dirty="0"/>
          </a:p>
        </p:txBody>
      </p:sp>
      <p:graphicFrame>
        <p:nvGraphicFramePr>
          <p:cNvPr id="3" name="Table 2">
            <a:extLst>
              <a:ext uri="{FF2B5EF4-FFF2-40B4-BE49-F238E27FC236}">
                <a16:creationId xmlns:a16="http://schemas.microsoft.com/office/drawing/2014/main" id="{93EE8B7C-07E0-B5ED-8613-00F3BAD800A4}"/>
              </a:ext>
            </a:extLst>
          </p:cNvPr>
          <p:cNvGraphicFramePr>
            <a:graphicFrameLocks noGrp="1"/>
          </p:cNvGraphicFramePr>
          <p:nvPr>
            <p:extLst>
              <p:ext uri="{D42A27DB-BD31-4B8C-83A1-F6EECF244321}">
                <p14:modId xmlns:p14="http://schemas.microsoft.com/office/powerpoint/2010/main" val="716537612"/>
              </p:ext>
            </p:extLst>
          </p:nvPr>
        </p:nvGraphicFramePr>
        <p:xfrm>
          <a:off x="488881" y="1109442"/>
          <a:ext cx="11214240" cy="4867848"/>
        </p:xfrm>
        <a:graphic>
          <a:graphicData uri="http://schemas.openxmlformats.org/drawingml/2006/table">
            <a:tbl>
              <a:tblPr rtl="1" firstRow="1" bandRow="1">
                <a:tableStyleId>{5C22544A-7EE6-4342-B048-85BDC9FD1C3A}</a:tableStyleId>
              </a:tblPr>
              <a:tblGrid>
                <a:gridCol w="2202986">
                  <a:extLst>
                    <a:ext uri="{9D8B030D-6E8A-4147-A177-3AD203B41FA5}">
                      <a16:colId xmlns:a16="http://schemas.microsoft.com/office/drawing/2014/main" val="1858967670"/>
                    </a:ext>
                  </a:extLst>
                </a:gridCol>
                <a:gridCol w="1287322">
                  <a:extLst>
                    <a:ext uri="{9D8B030D-6E8A-4147-A177-3AD203B41FA5}">
                      <a16:colId xmlns:a16="http://schemas.microsoft.com/office/drawing/2014/main" val="4015586876"/>
                    </a:ext>
                  </a:extLst>
                </a:gridCol>
                <a:gridCol w="1287322">
                  <a:extLst>
                    <a:ext uri="{9D8B030D-6E8A-4147-A177-3AD203B41FA5}">
                      <a16:colId xmlns:a16="http://schemas.microsoft.com/office/drawing/2014/main" val="1989554894"/>
                    </a:ext>
                  </a:extLst>
                </a:gridCol>
                <a:gridCol w="1287322">
                  <a:extLst>
                    <a:ext uri="{9D8B030D-6E8A-4147-A177-3AD203B41FA5}">
                      <a16:colId xmlns:a16="http://schemas.microsoft.com/office/drawing/2014/main" val="3895440905"/>
                    </a:ext>
                  </a:extLst>
                </a:gridCol>
                <a:gridCol w="1287322">
                  <a:extLst>
                    <a:ext uri="{9D8B030D-6E8A-4147-A177-3AD203B41FA5}">
                      <a16:colId xmlns:a16="http://schemas.microsoft.com/office/drawing/2014/main" val="2911951988"/>
                    </a:ext>
                  </a:extLst>
                </a:gridCol>
                <a:gridCol w="1287322">
                  <a:extLst>
                    <a:ext uri="{9D8B030D-6E8A-4147-A177-3AD203B41FA5}">
                      <a16:colId xmlns:a16="http://schemas.microsoft.com/office/drawing/2014/main" val="933528406"/>
                    </a:ext>
                  </a:extLst>
                </a:gridCol>
                <a:gridCol w="1287322">
                  <a:extLst>
                    <a:ext uri="{9D8B030D-6E8A-4147-A177-3AD203B41FA5}">
                      <a16:colId xmlns:a16="http://schemas.microsoft.com/office/drawing/2014/main" val="2923637977"/>
                    </a:ext>
                  </a:extLst>
                </a:gridCol>
                <a:gridCol w="1287322">
                  <a:extLst>
                    <a:ext uri="{9D8B030D-6E8A-4147-A177-3AD203B41FA5}">
                      <a16:colId xmlns:a16="http://schemas.microsoft.com/office/drawing/2014/main" val="3528541027"/>
                    </a:ext>
                  </a:extLst>
                </a:gridCol>
              </a:tblGrid>
              <a:tr h="811308">
                <a:tc>
                  <a:txBody>
                    <a:bodyPr/>
                    <a:lstStyle/>
                    <a:p>
                      <a:pPr marL="0" algn="ctr" rtl="1" fontAlgn="ctr"/>
                      <a:r>
                        <a:rPr lang="ar-SA" sz="2000" b="1" i="0" u="none" strike="noStrike" baseline="0" dirty="0">
                          <a:solidFill>
                            <a:schemeClr val="bg1">
                              <a:lumMod val="95000"/>
                            </a:schemeClr>
                          </a:solidFill>
                          <a:effectLst/>
                          <a:latin typeface="Sakkal Majalla" panose="02000000000000000000" pitchFamily="2" charset="-78"/>
                          <a:cs typeface="Sakkal Majalla" panose="02000000000000000000" pitchFamily="2" charset="-78"/>
                        </a:rPr>
                        <a:t>الدورات والشهادات</a:t>
                      </a:r>
                    </a:p>
                  </a:txBody>
                  <a:tcPr anchor="ctr">
                    <a:solidFill>
                      <a:schemeClr val="accent1"/>
                    </a:solidFill>
                  </a:tcPr>
                </a:tc>
                <a:tc>
                  <a:txBody>
                    <a:bodyPr/>
                    <a:lstStyle/>
                    <a:p>
                      <a:pPr algn="ctr" rtl="1" fontAlgn="ctr"/>
                      <a:r>
                        <a:rPr lang="ar-SA" sz="1800" b="1" i="0" u="none" strike="noStrike" baseline="0" dirty="0">
                          <a:solidFill>
                            <a:schemeClr val="bg1">
                              <a:lumMod val="95000"/>
                            </a:schemeClr>
                          </a:solidFill>
                          <a:effectLst/>
                          <a:latin typeface="Sakkal Majalla" panose="02000000000000000000" pitchFamily="2" charset="-78"/>
                          <a:cs typeface="Sakkal Majalla" panose="02000000000000000000" pitchFamily="2" charset="-78"/>
                        </a:rPr>
                        <a:t>مدير قسم البنية المؤسسية</a:t>
                      </a:r>
                    </a:p>
                  </a:txBody>
                  <a:tcPr marL="0" marR="0" marT="0" marB="0" anchor="ctr">
                    <a:solidFill>
                      <a:schemeClr val="accent1"/>
                    </a:solidFill>
                  </a:tcPr>
                </a:tc>
                <a:tc>
                  <a:txBody>
                    <a:bodyPr/>
                    <a:lstStyle/>
                    <a:p>
                      <a:pPr algn="ctr" rtl="1" fontAlgn="ctr"/>
                      <a:r>
                        <a:rPr lang="ar-SA" sz="1800" b="1" i="0" u="none" strike="noStrike" baseline="0" dirty="0">
                          <a:solidFill>
                            <a:schemeClr val="bg1">
                              <a:lumMod val="95000"/>
                            </a:schemeClr>
                          </a:solidFill>
                          <a:effectLst/>
                          <a:latin typeface="Sakkal Majalla" panose="02000000000000000000" pitchFamily="2" charset="-78"/>
                          <a:cs typeface="Sakkal Majalla" panose="02000000000000000000" pitchFamily="2" charset="-78"/>
                        </a:rPr>
                        <a:t>خبير البنية المؤسسية</a:t>
                      </a:r>
                    </a:p>
                  </a:txBody>
                  <a:tcPr marL="0" marR="0" marT="0" marB="0" anchor="ctr">
                    <a:solidFill>
                      <a:schemeClr val="accent1"/>
                    </a:solidFill>
                  </a:tcPr>
                </a:tc>
                <a:tc>
                  <a:txBody>
                    <a:bodyPr/>
                    <a:lstStyle/>
                    <a:p>
                      <a:pPr algn="ctr" rtl="1" fontAlgn="ctr"/>
                      <a:r>
                        <a:rPr lang="ar-SA" sz="1800" b="1" i="0" u="none" strike="noStrike" baseline="0" dirty="0">
                          <a:solidFill>
                            <a:schemeClr val="bg1">
                              <a:lumMod val="95000"/>
                            </a:schemeClr>
                          </a:solidFill>
                          <a:effectLst/>
                          <a:latin typeface="Sakkal Majalla" panose="02000000000000000000" pitchFamily="2" charset="-78"/>
                          <a:cs typeface="Sakkal Majalla" panose="02000000000000000000" pitchFamily="2" charset="-78"/>
                        </a:rPr>
                        <a:t>مهندس أداة البنية المؤسسية</a:t>
                      </a:r>
                    </a:p>
                  </a:txBody>
                  <a:tcPr marL="0" marR="0" marT="0" marB="0" anchor="ctr">
                    <a:solidFill>
                      <a:schemeClr val="accent1"/>
                    </a:solidFill>
                  </a:tcPr>
                </a:tc>
                <a:tc>
                  <a:txBody>
                    <a:bodyPr/>
                    <a:lstStyle/>
                    <a:p>
                      <a:pPr algn="ctr" rtl="1" fontAlgn="ctr"/>
                      <a:r>
                        <a:rPr lang="ar-SA" sz="1800" b="1" i="0" u="none" strike="noStrike" baseline="0" dirty="0">
                          <a:solidFill>
                            <a:schemeClr val="bg1">
                              <a:lumMod val="95000"/>
                            </a:schemeClr>
                          </a:solidFill>
                          <a:effectLst/>
                          <a:latin typeface="Sakkal Majalla" panose="02000000000000000000" pitchFamily="2" charset="-78"/>
                          <a:cs typeface="Sakkal Majalla" panose="02000000000000000000" pitchFamily="2" charset="-78"/>
                        </a:rPr>
                        <a:t>خبير بنية الأعمال</a:t>
                      </a:r>
                    </a:p>
                  </a:txBody>
                  <a:tcPr marL="0" marR="0" marT="0" marB="0" anchor="ctr">
                    <a:solidFill>
                      <a:schemeClr val="accent1"/>
                    </a:solidFill>
                  </a:tcPr>
                </a:tc>
                <a:tc>
                  <a:txBody>
                    <a:bodyPr/>
                    <a:lstStyle/>
                    <a:p>
                      <a:pPr algn="ctr" rtl="1" fontAlgn="ctr"/>
                      <a:r>
                        <a:rPr lang="ar-SA" sz="1800" b="1" i="0" u="none" strike="noStrike" baseline="0" dirty="0">
                          <a:solidFill>
                            <a:schemeClr val="bg1">
                              <a:lumMod val="95000"/>
                            </a:schemeClr>
                          </a:solidFill>
                          <a:effectLst/>
                          <a:latin typeface="Sakkal Majalla" panose="02000000000000000000" pitchFamily="2" charset="-78"/>
                          <a:cs typeface="Sakkal Majalla" panose="02000000000000000000" pitchFamily="2" charset="-78"/>
                        </a:rPr>
                        <a:t>خبير بنية البيانات</a:t>
                      </a:r>
                    </a:p>
                  </a:txBody>
                  <a:tcPr marL="0" marR="0" marT="0" marB="0" anchor="ctr">
                    <a:solidFill>
                      <a:schemeClr val="accent1"/>
                    </a:solidFill>
                  </a:tcPr>
                </a:tc>
                <a:tc>
                  <a:txBody>
                    <a:bodyPr/>
                    <a:lstStyle/>
                    <a:p>
                      <a:pPr algn="ctr" rtl="1" fontAlgn="ctr"/>
                      <a:r>
                        <a:rPr lang="ar-SA" sz="1800" b="1" i="0" u="none" strike="noStrike" baseline="0" dirty="0">
                          <a:solidFill>
                            <a:schemeClr val="bg1">
                              <a:lumMod val="95000"/>
                            </a:schemeClr>
                          </a:solidFill>
                          <a:effectLst/>
                          <a:latin typeface="Sakkal Majalla" panose="02000000000000000000" pitchFamily="2" charset="-78"/>
                          <a:cs typeface="Sakkal Majalla" panose="02000000000000000000" pitchFamily="2" charset="-78"/>
                        </a:rPr>
                        <a:t>خبير بنية التطبيقات</a:t>
                      </a:r>
                    </a:p>
                  </a:txBody>
                  <a:tcPr marL="0" marR="0" marT="0" marB="0" anchor="ctr">
                    <a:solidFill>
                      <a:schemeClr val="accent1"/>
                    </a:solidFill>
                  </a:tcPr>
                </a:tc>
                <a:tc>
                  <a:txBody>
                    <a:bodyPr/>
                    <a:lstStyle/>
                    <a:p>
                      <a:pPr algn="ctr" rtl="1" fontAlgn="ctr"/>
                      <a:r>
                        <a:rPr lang="ar-SA" sz="1800" b="1" i="0" u="none" strike="noStrike" baseline="0" dirty="0">
                          <a:solidFill>
                            <a:schemeClr val="bg1">
                              <a:lumMod val="95000"/>
                            </a:schemeClr>
                          </a:solidFill>
                          <a:effectLst/>
                          <a:latin typeface="Sakkal Majalla" panose="02000000000000000000" pitchFamily="2" charset="-78"/>
                          <a:cs typeface="Sakkal Majalla" panose="02000000000000000000" pitchFamily="2" charset="-78"/>
                        </a:rPr>
                        <a:t>خبير بنية التقنية</a:t>
                      </a:r>
                    </a:p>
                  </a:txBody>
                  <a:tcPr marL="0" marR="0" marT="0" marB="0" anchor="ctr">
                    <a:solidFill>
                      <a:schemeClr val="accent1"/>
                    </a:solidFill>
                  </a:tcPr>
                </a:tc>
                <a:extLst>
                  <a:ext uri="{0D108BD9-81ED-4DB2-BD59-A6C34878D82A}">
                    <a16:rowId xmlns:a16="http://schemas.microsoft.com/office/drawing/2014/main" val="2198393076"/>
                  </a:ext>
                </a:extLst>
              </a:tr>
              <a:tr h="811308">
                <a:tc>
                  <a:txBody>
                    <a:bodyPr/>
                    <a:lstStyle/>
                    <a:p>
                      <a:pPr algn="ctr" rtl="1" fontAlgn="ctr"/>
                      <a:r>
                        <a:rPr lang="ar-SA" sz="2000" b="1" i="0" u="none" strike="noStrike" baseline="0" dirty="0">
                          <a:solidFill>
                            <a:schemeClr val="bg1"/>
                          </a:solidFill>
                          <a:effectLst/>
                          <a:latin typeface="Sakkal Majalla" panose="02000000000000000000" pitchFamily="2" charset="-78"/>
                          <a:cs typeface="Sakkal Majalla" panose="02000000000000000000" pitchFamily="2" charset="-78"/>
                        </a:rPr>
                        <a:t>دورة إطار توجاف للبنية المؤسسية </a:t>
                      </a:r>
                      <a:r>
                        <a:rPr lang="en-US" sz="2000" b="1" i="0" u="none" strike="noStrike" baseline="0" dirty="0">
                          <a:solidFill>
                            <a:schemeClr val="bg1"/>
                          </a:solidFill>
                          <a:effectLst/>
                          <a:latin typeface="Sakkal Majalla" panose="02000000000000000000" pitchFamily="2" charset="-78"/>
                          <a:cs typeface="Sakkal Majalla" panose="02000000000000000000" pitchFamily="2" charset="-78"/>
                        </a:rPr>
                        <a:t>(TOGAF 9+)</a:t>
                      </a:r>
                      <a:endParaRPr lang="ar-SA" sz="2000" b="1" i="0" u="none" strike="noStrike" baseline="0" dirty="0">
                        <a:solidFill>
                          <a:schemeClr val="bg1"/>
                        </a:solidFill>
                        <a:effectLst/>
                        <a:latin typeface="Sakkal Majalla" panose="02000000000000000000" pitchFamily="2" charset="-78"/>
                        <a:cs typeface="Sakkal Majalla" panose="02000000000000000000" pitchFamily="2" charset="-78"/>
                      </a:endParaRPr>
                    </a:p>
                  </a:txBody>
                  <a:tcPr anchor="ctr">
                    <a:solidFill>
                      <a:schemeClr val="accent1"/>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مطلوبة</a:t>
                      </a:r>
                    </a:p>
                  </a:txBody>
                  <a:tcPr anchor="ctr">
                    <a:solidFill>
                      <a:schemeClr val="accent4">
                        <a:lumMod val="20000"/>
                        <a:lumOff val="80000"/>
                      </a:schemeClr>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مطلوبة</a:t>
                      </a:r>
                    </a:p>
                  </a:txBody>
                  <a:tcPr anchor="ctr">
                    <a:solidFill>
                      <a:schemeClr val="accent4">
                        <a:lumMod val="20000"/>
                        <a:lumOff val="80000"/>
                      </a:schemeClr>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مطلوبة</a:t>
                      </a:r>
                    </a:p>
                  </a:txBody>
                  <a:tcPr anchor="ctr">
                    <a:solidFill>
                      <a:schemeClr val="accent4">
                        <a:lumMod val="20000"/>
                        <a:lumOff val="80000"/>
                      </a:schemeClr>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مطلوبة</a:t>
                      </a:r>
                    </a:p>
                  </a:txBody>
                  <a:tcPr anchor="ctr">
                    <a:solidFill>
                      <a:schemeClr val="accent4">
                        <a:lumMod val="20000"/>
                        <a:lumOff val="80000"/>
                      </a:schemeClr>
                    </a:solidFill>
                  </a:tcPr>
                </a:tc>
                <a:tc>
                  <a:txBody>
                    <a:bodyPr/>
                    <a:lstStyle/>
                    <a:p>
                      <a:pPr marL="0" algn="ctr" defTabSz="914400" rtl="1" eaLnBrk="1" fontAlgn="ctr" latinLnBrk="0" hangingPunct="1"/>
                      <a:r>
                        <a:rPr lang="ar-SA" sz="1800" b="1" i="0" u="none" strike="noStrike" kern="1200" baseline="0">
                          <a:solidFill>
                            <a:srgbClr val="000000"/>
                          </a:solidFill>
                          <a:effectLst/>
                          <a:latin typeface="Sakkal Majalla" panose="02000000000000000000" pitchFamily="2" charset="-78"/>
                          <a:ea typeface="+mn-ea"/>
                          <a:cs typeface="Sakkal Majalla" panose="02000000000000000000" pitchFamily="2" charset="-78"/>
                        </a:rPr>
                        <a:t>مطلوبة</a:t>
                      </a:r>
                    </a:p>
                  </a:txBody>
                  <a:tcPr anchor="ctr">
                    <a:solidFill>
                      <a:schemeClr val="accent4">
                        <a:lumMod val="20000"/>
                        <a:lumOff val="80000"/>
                      </a:schemeClr>
                    </a:solidFill>
                  </a:tcPr>
                </a:tc>
                <a:tc>
                  <a:txBody>
                    <a:bodyPr/>
                    <a:lstStyle/>
                    <a:p>
                      <a:pPr marL="0" algn="ctr" defTabSz="914400" rtl="1" eaLnBrk="1" fontAlgn="ctr" latinLnBrk="0" hangingPunct="1"/>
                      <a:r>
                        <a:rPr lang="ar-SA" sz="1800" b="1" i="0" u="none" strike="noStrike" kern="1200" baseline="0">
                          <a:solidFill>
                            <a:srgbClr val="000000"/>
                          </a:solidFill>
                          <a:effectLst/>
                          <a:latin typeface="Sakkal Majalla" panose="02000000000000000000" pitchFamily="2" charset="-78"/>
                          <a:ea typeface="+mn-ea"/>
                          <a:cs typeface="Sakkal Majalla" panose="02000000000000000000" pitchFamily="2" charset="-78"/>
                        </a:rPr>
                        <a:t>مطلوبة</a:t>
                      </a:r>
                    </a:p>
                  </a:txBody>
                  <a:tcPr anchor="ctr">
                    <a:solidFill>
                      <a:schemeClr val="accent4">
                        <a:lumMod val="20000"/>
                        <a:lumOff val="80000"/>
                      </a:schemeClr>
                    </a:solidFill>
                  </a:tcPr>
                </a:tc>
                <a:tc>
                  <a:txBody>
                    <a:bodyPr/>
                    <a:lstStyle/>
                    <a:p>
                      <a:pPr marL="0" algn="ctr" defTabSz="914400" rtl="1" eaLnBrk="1" fontAlgn="ctr" latinLnBrk="0" hangingPunct="1"/>
                      <a:r>
                        <a:rPr lang="ar-SA" sz="1800" b="1" i="0" u="none" strike="noStrike" kern="1200" baseline="0">
                          <a:solidFill>
                            <a:srgbClr val="000000"/>
                          </a:solidFill>
                          <a:effectLst/>
                          <a:latin typeface="Sakkal Majalla" panose="02000000000000000000" pitchFamily="2" charset="-78"/>
                          <a:ea typeface="+mn-ea"/>
                          <a:cs typeface="Sakkal Majalla" panose="02000000000000000000" pitchFamily="2" charset="-78"/>
                        </a:rPr>
                        <a:t>مطلوبة</a:t>
                      </a:r>
                    </a:p>
                  </a:txBody>
                  <a:tcPr anchor="ctr">
                    <a:solidFill>
                      <a:schemeClr val="accent4">
                        <a:lumMod val="20000"/>
                        <a:lumOff val="80000"/>
                      </a:schemeClr>
                    </a:solidFill>
                  </a:tcPr>
                </a:tc>
                <a:extLst>
                  <a:ext uri="{0D108BD9-81ED-4DB2-BD59-A6C34878D82A}">
                    <a16:rowId xmlns:a16="http://schemas.microsoft.com/office/drawing/2014/main" val="1155744293"/>
                  </a:ext>
                </a:extLst>
              </a:tr>
              <a:tr h="811308">
                <a:tc>
                  <a:txBody>
                    <a:bodyPr/>
                    <a:lstStyle/>
                    <a:p>
                      <a:pPr algn="ctr" rtl="1" fontAlgn="ctr"/>
                      <a:r>
                        <a:rPr lang="ar-SA" sz="2000" b="1" i="0" u="none" strike="noStrike" baseline="0" dirty="0">
                          <a:solidFill>
                            <a:schemeClr val="bg1"/>
                          </a:solidFill>
                          <a:effectLst/>
                          <a:latin typeface="Sakkal Majalla" panose="02000000000000000000" pitchFamily="2" charset="-78"/>
                          <a:cs typeface="Sakkal Majalla" panose="02000000000000000000" pitchFamily="2" charset="-78"/>
                        </a:rPr>
                        <a:t>دورة استخدام أداة البنية المؤسسية</a:t>
                      </a:r>
                    </a:p>
                  </a:txBody>
                  <a:tcPr anchor="ctr">
                    <a:solidFill>
                      <a:schemeClr val="accent1"/>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مطلوبة</a:t>
                      </a:r>
                    </a:p>
                  </a:txBody>
                  <a:tcPr anchor="ctr">
                    <a:solidFill>
                      <a:schemeClr val="accent4">
                        <a:lumMod val="20000"/>
                        <a:lumOff val="80000"/>
                      </a:schemeClr>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مطلوبة</a:t>
                      </a:r>
                    </a:p>
                  </a:txBody>
                  <a:tcPr anchor="ctr">
                    <a:solidFill>
                      <a:schemeClr val="accent4">
                        <a:lumMod val="20000"/>
                        <a:lumOff val="80000"/>
                      </a:schemeClr>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مطلوبة</a:t>
                      </a:r>
                    </a:p>
                  </a:txBody>
                  <a:tcPr anchor="ctr">
                    <a:solidFill>
                      <a:schemeClr val="accent4">
                        <a:lumMod val="20000"/>
                        <a:lumOff val="80000"/>
                      </a:schemeClr>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مطلوبة</a:t>
                      </a:r>
                    </a:p>
                  </a:txBody>
                  <a:tcPr anchor="ctr">
                    <a:solidFill>
                      <a:schemeClr val="accent4">
                        <a:lumMod val="20000"/>
                        <a:lumOff val="80000"/>
                      </a:schemeClr>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مطلوبة</a:t>
                      </a:r>
                    </a:p>
                  </a:txBody>
                  <a:tcPr anchor="ctr">
                    <a:solidFill>
                      <a:schemeClr val="accent4">
                        <a:lumMod val="20000"/>
                        <a:lumOff val="80000"/>
                      </a:schemeClr>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مطلوبة</a:t>
                      </a:r>
                    </a:p>
                  </a:txBody>
                  <a:tcPr anchor="ctr">
                    <a:solidFill>
                      <a:schemeClr val="accent4">
                        <a:lumMod val="20000"/>
                        <a:lumOff val="80000"/>
                      </a:schemeClr>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مطلوبة</a:t>
                      </a:r>
                    </a:p>
                  </a:txBody>
                  <a:tcPr anchor="ctr">
                    <a:solidFill>
                      <a:schemeClr val="accent4">
                        <a:lumMod val="20000"/>
                        <a:lumOff val="80000"/>
                      </a:schemeClr>
                    </a:solidFill>
                  </a:tcPr>
                </a:tc>
                <a:extLst>
                  <a:ext uri="{0D108BD9-81ED-4DB2-BD59-A6C34878D82A}">
                    <a16:rowId xmlns:a16="http://schemas.microsoft.com/office/drawing/2014/main" val="454924249"/>
                  </a:ext>
                </a:extLst>
              </a:tr>
              <a:tr h="811308">
                <a:tc>
                  <a:txBody>
                    <a:bodyPr/>
                    <a:lstStyle/>
                    <a:p>
                      <a:pPr algn="ctr" rtl="1" fontAlgn="ctr"/>
                      <a:r>
                        <a:rPr lang="ar-SA" sz="2000" b="1" i="0" u="none" strike="noStrike" baseline="0" dirty="0">
                          <a:solidFill>
                            <a:schemeClr val="bg1"/>
                          </a:solidFill>
                          <a:effectLst/>
                          <a:latin typeface="Sakkal Majalla" panose="02000000000000000000" pitchFamily="2" charset="-78"/>
                          <a:cs typeface="Sakkal Majalla" panose="02000000000000000000" pitchFamily="2" charset="-78"/>
                        </a:rPr>
                        <a:t>دورة إدارة المشاريع والمخاطر وفقا لمنهجيات </a:t>
                      </a:r>
                      <a:r>
                        <a:rPr lang="en-US" sz="2000" b="1" i="0" u="none" strike="noStrike" baseline="0" dirty="0">
                          <a:solidFill>
                            <a:schemeClr val="bg1"/>
                          </a:solidFill>
                          <a:effectLst/>
                          <a:latin typeface="Sakkal Majalla" panose="02000000000000000000" pitchFamily="2" charset="-78"/>
                          <a:cs typeface="Sakkal Majalla" panose="02000000000000000000" pitchFamily="2" charset="-78"/>
                        </a:rPr>
                        <a:t>PMI</a:t>
                      </a:r>
                    </a:p>
                  </a:txBody>
                  <a:tcPr anchor="ctr">
                    <a:solidFill>
                      <a:schemeClr val="accent1"/>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مطلوبة</a:t>
                      </a:r>
                    </a:p>
                  </a:txBody>
                  <a:tcPr anchor="ctr">
                    <a:solidFill>
                      <a:schemeClr val="accent4">
                        <a:lumMod val="20000"/>
                        <a:lumOff val="80000"/>
                      </a:schemeClr>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مفضلة</a:t>
                      </a:r>
                    </a:p>
                  </a:txBody>
                  <a:tcPr anchor="ctr">
                    <a:solidFill>
                      <a:schemeClr val="accent5">
                        <a:lumMod val="20000"/>
                        <a:lumOff val="80000"/>
                      </a:schemeClr>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مفضلة</a:t>
                      </a:r>
                    </a:p>
                  </a:txBody>
                  <a:tcPr anchor="ctr">
                    <a:solidFill>
                      <a:schemeClr val="accent5">
                        <a:lumMod val="20000"/>
                        <a:lumOff val="80000"/>
                      </a:schemeClr>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مفضلة</a:t>
                      </a:r>
                    </a:p>
                  </a:txBody>
                  <a:tcPr anchor="ctr">
                    <a:solidFill>
                      <a:schemeClr val="accent5">
                        <a:lumMod val="20000"/>
                        <a:lumOff val="80000"/>
                      </a:schemeClr>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مفضلة</a:t>
                      </a:r>
                    </a:p>
                  </a:txBody>
                  <a:tcPr anchor="ctr">
                    <a:solidFill>
                      <a:schemeClr val="accent5">
                        <a:lumMod val="20000"/>
                        <a:lumOff val="80000"/>
                      </a:schemeClr>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مفضلة</a:t>
                      </a:r>
                    </a:p>
                  </a:txBody>
                  <a:tcPr anchor="ctr">
                    <a:solidFill>
                      <a:schemeClr val="accent5">
                        <a:lumMod val="20000"/>
                        <a:lumOff val="80000"/>
                      </a:schemeClr>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مفضلة</a:t>
                      </a:r>
                    </a:p>
                  </a:txBody>
                  <a:tcPr anchor="ctr">
                    <a:solidFill>
                      <a:schemeClr val="accent5">
                        <a:lumMod val="20000"/>
                        <a:lumOff val="80000"/>
                      </a:schemeClr>
                    </a:solidFill>
                  </a:tcPr>
                </a:tc>
                <a:extLst>
                  <a:ext uri="{0D108BD9-81ED-4DB2-BD59-A6C34878D82A}">
                    <a16:rowId xmlns:a16="http://schemas.microsoft.com/office/drawing/2014/main" val="2736947212"/>
                  </a:ext>
                </a:extLst>
              </a:tr>
              <a:tr h="811308">
                <a:tc>
                  <a:txBody>
                    <a:bodyPr/>
                    <a:lstStyle/>
                    <a:p>
                      <a:pPr algn="ctr" rtl="1" fontAlgn="ctr"/>
                      <a:r>
                        <a:rPr lang="ar-SA" sz="2000" b="1" i="0" u="none" strike="noStrike" baseline="0" dirty="0">
                          <a:solidFill>
                            <a:schemeClr val="bg1"/>
                          </a:solidFill>
                          <a:effectLst/>
                          <a:latin typeface="Sakkal Majalla" panose="02000000000000000000" pitchFamily="2" charset="-78"/>
                          <a:cs typeface="Sakkal Majalla" panose="02000000000000000000" pitchFamily="2" charset="-78"/>
                        </a:rPr>
                        <a:t>دورة نمذجة العمليات باستخدام لغة الـ </a:t>
                      </a:r>
                      <a:r>
                        <a:rPr lang="en-US" sz="2000" b="1" i="0" u="none" strike="noStrike" baseline="0" dirty="0">
                          <a:solidFill>
                            <a:schemeClr val="bg1"/>
                          </a:solidFill>
                          <a:effectLst/>
                          <a:latin typeface="Sakkal Majalla" panose="02000000000000000000" pitchFamily="2" charset="-78"/>
                          <a:cs typeface="Sakkal Majalla" panose="02000000000000000000" pitchFamily="2" charset="-78"/>
                        </a:rPr>
                        <a:t>BPMN</a:t>
                      </a:r>
                    </a:p>
                  </a:txBody>
                  <a:tcPr anchor="ctr">
                    <a:solidFill>
                      <a:schemeClr val="accent1"/>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مفضلة</a:t>
                      </a:r>
                    </a:p>
                  </a:txBody>
                  <a:tcPr anchor="ctr">
                    <a:solidFill>
                      <a:schemeClr val="accent5">
                        <a:lumMod val="20000"/>
                        <a:lumOff val="80000"/>
                      </a:schemeClr>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مفضلة</a:t>
                      </a:r>
                    </a:p>
                  </a:txBody>
                  <a:tcPr anchor="ctr">
                    <a:solidFill>
                      <a:schemeClr val="accent5">
                        <a:lumMod val="20000"/>
                        <a:lumOff val="80000"/>
                      </a:schemeClr>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مفضلة</a:t>
                      </a:r>
                    </a:p>
                  </a:txBody>
                  <a:tcPr anchor="ctr">
                    <a:solidFill>
                      <a:schemeClr val="accent5">
                        <a:lumMod val="20000"/>
                        <a:lumOff val="80000"/>
                      </a:schemeClr>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مطلوبة</a:t>
                      </a:r>
                    </a:p>
                  </a:txBody>
                  <a:tcPr anchor="ctr">
                    <a:solidFill>
                      <a:schemeClr val="accent4">
                        <a:lumMod val="20000"/>
                        <a:lumOff val="80000"/>
                      </a:schemeClr>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غير مطلوبة</a:t>
                      </a:r>
                    </a:p>
                  </a:txBody>
                  <a:tcPr anchor="ctr">
                    <a:solidFill>
                      <a:srgbClr val="E9E8EE"/>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غير مطلوبة</a:t>
                      </a:r>
                    </a:p>
                  </a:txBody>
                  <a:tcPr anchor="ctr">
                    <a:solidFill>
                      <a:srgbClr val="E9E8EE"/>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غير مطلوبة</a:t>
                      </a:r>
                    </a:p>
                  </a:txBody>
                  <a:tcPr anchor="ctr">
                    <a:solidFill>
                      <a:srgbClr val="E9E8EE"/>
                    </a:solidFill>
                  </a:tcPr>
                </a:tc>
                <a:extLst>
                  <a:ext uri="{0D108BD9-81ED-4DB2-BD59-A6C34878D82A}">
                    <a16:rowId xmlns:a16="http://schemas.microsoft.com/office/drawing/2014/main" val="776100735"/>
                  </a:ext>
                </a:extLst>
              </a:tr>
              <a:tr h="811308">
                <a:tc>
                  <a:txBody>
                    <a:bodyPr/>
                    <a:lstStyle/>
                    <a:p>
                      <a:pPr algn="ctr" rtl="1" fontAlgn="ctr"/>
                      <a:r>
                        <a:rPr lang="ar-SA" sz="2000" b="1" i="0" u="none" strike="noStrike" baseline="0" dirty="0">
                          <a:solidFill>
                            <a:schemeClr val="bg1"/>
                          </a:solidFill>
                          <a:effectLst/>
                          <a:latin typeface="Sakkal Majalla" panose="02000000000000000000" pitchFamily="2" charset="-78"/>
                          <a:cs typeface="Sakkal Majalla" panose="02000000000000000000" pitchFamily="2" charset="-78"/>
                        </a:rPr>
                        <a:t>دورة أخصائي إدارة بيانات معتمد (</a:t>
                      </a:r>
                      <a:r>
                        <a:rPr lang="en-US" sz="2000" b="1" i="0" u="none" strike="noStrike" baseline="0" dirty="0">
                          <a:solidFill>
                            <a:schemeClr val="bg1"/>
                          </a:solidFill>
                          <a:effectLst/>
                          <a:latin typeface="Sakkal Majalla" panose="02000000000000000000" pitchFamily="2" charset="-78"/>
                          <a:cs typeface="Sakkal Majalla" panose="02000000000000000000" pitchFamily="2" charset="-78"/>
                        </a:rPr>
                        <a:t>CDMP</a:t>
                      </a:r>
                      <a:r>
                        <a:rPr lang="ar-SA" sz="2000" b="1" i="0" u="none" strike="noStrike" baseline="0" dirty="0">
                          <a:solidFill>
                            <a:schemeClr val="bg1"/>
                          </a:solidFill>
                          <a:effectLst/>
                          <a:latin typeface="Sakkal Majalla" panose="02000000000000000000" pitchFamily="2" charset="-78"/>
                          <a:cs typeface="Sakkal Majalla" panose="02000000000000000000" pitchFamily="2" charset="-78"/>
                        </a:rPr>
                        <a:t>)</a:t>
                      </a:r>
                      <a:endParaRPr lang="en-US" sz="2000" b="1" i="0" u="none" strike="noStrike" baseline="0" dirty="0">
                        <a:solidFill>
                          <a:schemeClr val="bg1"/>
                        </a:solidFill>
                        <a:effectLst/>
                        <a:latin typeface="Sakkal Majalla" panose="02000000000000000000" pitchFamily="2" charset="-78"/>
                        <a:cs typeface="Sakkal Majalla" panose="02000000000000000000" pitchFamily="2" charset="-78"/>
                      </a:endParaRPr>
                    </a:p>
                  </a:txBody>
                  <a:tcPr anchor="ctr">
                    <a:solidFill>
                      <a:schemeClr val="accent1"/>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مفضلة</a:t>
                      </a:r>
                    </a:p>
                  </a:txBody>
                  <a:tcPr anchor="ctr">
                    <a:solidFill>
                      <a:schemeClr val="accent5">
                        <a:lumMod val="20000"/>
                        <a:lumOff val="80000"/>
                      </a:schemeClr>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مفضلة</a:t>
                      </a:r>
                    </a:p>
                  </a:txBody>
                  <a:tcPr anchor="ctr">
                    <a:solidFill>
                      <a:schemeClr val="accent5">
                        <a:lumMod val="20000"/>
                        <a:lumOff val="80000"/>
                      </a:schemeClr>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غير مطلوبة</a:t>
                      </a:r>
                    </a:p>
                  </a:txBody>
                  <a:tcPr anchor="ctr">
                    <a:solidFill>
                      <a:srgbClr val="E9E8EE"/>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غير مطلوبة</a:t>
                      </a:r>
                    </a:p>
                  </a:txBody>
                  <a:tcPr anchor="ctr">
                    <a:solidFill>
                      <a:srgbClr val="E9E8EE"/>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مطلوبة</a:t>
                      </a:r>
                    </a:p>
                  </a:txBody>
                  <a:tcPr anchor="ctr">
                    <a:solidFill>
                      <a:schemeClr val="accent4">
                        <a:lumMod val="20000"/>
                        <a:lumOff val="80000"/>
                      </a:schemeClr>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غير مطلوبة</a:t>
                      </a:r>
                    </a:p>
                  </a:txBody>
                  <a:tcPr anchor="ctr">
                    <a:solidFill>
                      <a:srgbClr val="E9E8EE"/>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غير مطلوبة</a:t>
                      </a:r>
                    </a:p>
                  </a:txBody>
                  <a:tcPr anchor="ctr">
                    <a:solidFill>
                      <a:srgbClr val="E9E8EE"/>
                    </a:solidFill>
                  </a:tcPr>
                </a:tc>
                <a:extLst>
                  <a:ext uri="{0D108BD9-81ED-4DB2-BD59-A6C34878D82A}">
                    <a16:rowId xmlns:a16="http://schemas.microsoft.com/office/drawing/2014/main" val="3489950418"/>
                  </a:ext>
                </a:extLst>
              </a:tr>
            </a:tbl>
          </a:graphicData>
        </a:graphic>
      </p:graphicFrame>
    </p:spTree>
    <p:extLst>
      <p:ext uri="{BB962C8B-B14F-4D97-AF65-F5344CB8AC3E}">
        <p14:creationId xmlns:p14="http://schemas.microsoft.com/office/powerpoint/2010/main" val="12687843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4D599-9AB1-B059-9939-3846146528E3}"/>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1BFE70DA-1A23-FAE1-7E31-65B932D69058}"/>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33</a:t>
            </a:fld>
            <a:endParaRPr lang="en-US" sz="1400" b="1" dirty="0">
              <a:solidFill>
                <a:schemeClr val="accent1"/>
              </a:solidFill>
            </a:endParaRPr>
          </a:p>
        </p:txBody>
      </p:sp>
      <p:sp>
        <p:nvSpPr>
          <p:cNvPr id="2" name="Title 1">
            <a:extLst>
              <a:ext uri="{FF2B5EF4-FFF2-40B4-BE49-F238E27FC236}">
                <a16:creationId xmlns:a16="http://schemas.microsoft.com/office/drawing/2014/main" id="{5FC63C30-72BC-ECB6-A1B8-F85F74BE83EE}"/>
              </a:ext>
            </a:extLst>
          </p:cNvPr>
          <p:cNvSpPr txBox="1">
            <a:spLocks/>
          </p:cNvSpPr>
          <p:nvPr/>
        </p:nvSpPr>
        <p:spPr>
          <a:xfrm>
            <a:off x="2194560" y="408242"/>
            <a:ext cx="9159240"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جدول الدورات والشهادات المطلوبة لسد فجوات مهارات </a:t>
            </a:r>
            <a:r>
              <a:rPr lang="ar-SA" dirty="0"/>
              <a:t>الفريق (</a:t>
            </a:r>
            <a:r>
              <a:rPr lang="en-US" dirty="0"/>
              <a:t>2 / 2</a:t>
            </a:r>
            <a:r>
              <a:rPr lang="ar-SA" dirty="0"/>
              <a:t>)</a:t>
            </a:r>
            <a:endParaRPr lang="ar-EG" dirty="0"/>
          </a:p>
        </p:txBody>
      </p:sp>
      <p:graphicFrame>
        <p:nvGraphicFramePr>
          <p:cNvPr id="3" name="Table 2">
            <a:extLst>
              <a:ext uri="{FF2B5EF4-FFF2-40B4-BE49-F238E27FC236}">
                <a16:creationId xmlns:a16="http://schemas.microsoft.com/office/drawing/2014/main" id="{93EE8B7C-07E0-B5ED-8613-00F3BAD800A4}"/>
              </a:ext>
            </a:extLst>
          </p:cNvPr>
          <p:cNvGraphicFramePr>
            <a:graphicFrameLocks noGrp="1"/>
          </p:cNvGraphicFramePr>
          <p:nvPr/>
        </p:nvGraphicFramePr>
        <p:xfrm>
          <a:off x="488883" y="1109443"/>
          <a:ext cx="11214238" cy="4867847"/>
        </p:xfrm>
        <a:graphic>
          <a:graphicData uri="http://schemas.openxmlformats.org/drawingml/2006/table">
            <a:tbl>
              <a:tblPr rtl="1" firstRow="1" bandRow="1">
                <a:tableStyleId>{5C22544A-7EE6-4342-B048-85BDC9FD1C3A}</a:tableStyleId>
              </a:tblPr>
              <a:tblGrid>
                <a:gridCol w="2135609">
                  <a:extLst>
                    <a:ext uri="{9D8B030D-6E8A-4147-A177-3AD203B41FA5}">
                      <a16:colId xmlns:a16="http://schemas.microsoft.com/office/drawing/2014/main" val="1858967670"/>
                    </a:ext>
                  </a:extLst>
                </a:gridCol>
                <a:gridCol w="1296947">
                  <a:extLst>
                    <a:ext uri="{9D8B030D-6E8A-4147-A177-3AD203B41FA5}">
                      <a16:colId xmlns:a16="http://schemas.microsoft.com/office/drawing/2014/main" val="4015586876"/>
                    </a:ext>
                  </a:extLst>
                </a:gridCol>
                <a:gridCol w="1296947">
                  <a:extLst>
                    <a:ext uri="{9D8B030D-6E8A-4147-A177-3AD203B41FA5}">
                      <a16:colId xmlns:a16="http://schemas.microsoft.com/office/drawing/2014/main" val="1989554894"/>
                    </a:ext>
                  </a:extLst>
                </a:gridCol>
                <a:gridCol w="1296947">
                  <a:extLst>
                    <a:ext uri="{9D8B030D-6E8A-4147-A177-3AD203B41FA5}">
                      <a16:colId xmlns:a16="http://schemas.microsoft.com/office/drawing/2014/main" val="3895440905"/>
                    </a:ext>
                  </a:extLst>
                </a:gridCol>
                <a:gridCol w="1296947">
                  <a:extLst>
                    <a:ext uri="{9D8B030D-6E8A-4147-A177-3AD203B41FA5}">
                      <a16:colId xmlns:a16="http://schemas.microsoft.com/office/drawing/2014/main" val="2911951988"/>
                    </a:ext>
                  </a:extLst>
                </a:gridCol>
                <a:gridCol w="1296947">
                  <a:extLst>
                    <a:ext uri="{9D8B030D-6E8A-4147-A177-3AD203B41FA5}">
                      <a16:colId xmlns:a16="http://schemas.microsoft.com/office/drawing/2014/main" val="933528406"/>
                    </a:ext>
                  </a:extLst>
                </a:gridCol>
                <a:gridCol w="1296947">
                  <a:extLst>
                    <a:ext uri="{9D8B030D-6E8A-4147-A177-3AD203B41FA5}">
                      <a16:colId xmlns:a16="http://schemas.microsoft.com/office/drawing/2014/main" val="2923637977"/>
                    </a:ext>
                  </a:extLst>
                </a:gridCol>
                <a:gridCol w="1296947">
                  <a:extLst>
                    <a:ext uri="{9D8B030D-6E8A-4147-A177-3AD203B41FA5}">
                      <a16:colId xmlns:a16="http://schemas.microsoft.com/office/drawing/2014/main" val="3528541027"/>
                    </a:ext>
                  </a:extLst>
                </a:gridCol>
              </a:tblGrid>
              <a:tr h="838172">
                <a:tc>
                  <a:txBody>
                    <a:bodyPr/>
                    <a:lstStyle/>
                    <a:p>
                      <a:pPr marL="0" algn="ctr" rtl="1" fontAlgn="ctr"/>
                      <a:r>
                        <a:rPr lang="ar-SA" sz="2000" b="1" i="0" u="none" strike="noStrike" baseline="0" dirty="0">
                          <a:solidFill>
                            <a:schemeClr val="bg1">
                              <a:lumMod val="95000"/>
                            </a:schemeClr>
                          </a:solidFill>
                          <a:effectLst/>
                          <a:latin typeface="Sakkal Majalla" panose="02000000000000000000" pitchFamily="2" charset="-78"/>
                          <a:cs typeface="Sakkal Majalla" panose="02000000000000000000" pitchFamily="2" charset="-78"/>
                        </a:rPr>
                        <a:t>الدورات والشهادات</a:t>
                      </a:r>
                    </a:p>
                  </a:txBody>
                  <a:tcPr anchor="ctr">
                    <a:solidFill>
                      <a:schemeClr val="accent1"/>
                    </a:solidFill>
                  </a:tcPr>
                </a:tc>
                <a:tc>
                  <a:txBody>
                    <a:bodyPr/>
                    <a:lstStyle/>
                    <a:p>
                      <a:pPr algn="ctr" rtl="1" fontAlgn="ctr"/>
                      <a:r>
                        <a:rPr lang="ar-SA" sz="1800" b="1" i="0" u="none" strike="noStrike" baseline="0" dirty="0">
                          <a:solidFill>
                            <a:schemeClr val="bg1">
                              <a:lumMod val="95000"/>
                            </a:schemeClr>
                          </a:solidFill>
                          <a:effectLst/>
                          <a:latin typeface="Sakkal Majalla" panose="02000000000000000000" pitchFamily="2" charset="-78"/>
                          <a:cs typeface="Sakkal Majalla" panose="02000000000000000000" pitchFamily="2" charset="-78"/>
                        </a:rPr>
                        <a:t>مدير قسم البنية المؤسسية</a:t>
                      </a:r>
                    </a:p>
                  </a:txBody>
                  <a:tcPr marL="0" marR="0" marT="0" marB="0" anchor="ctr">
                    <a:solidFill>
                      <a:schemeClr val="accent1"/>
                    </a:solidFill>
                  </a:tcPr>
                </a:tc>
                <a:tc>
                  <a:txBody>
                    <a:bodyPr/>
                    <a:lstStyle/>
                    <a:p>
                      <a:pPr algn="ctr" rtl="1" fontAlgn="ctr"/>
                      <a:r>
                        <a:rPr lang="ar-SA" sz="1800" b="1" i="0" u="none" strike="noStrike" baseline="0" dirty="0">
                          <a:solidFill>
                            <a:schemeClr val="bg1">
                              <a:lumMod val="95000"/>
                            </a:schemeClr>
                          </a:solidFill>
                          <a:effectLst/>
                          <a:latin typeface="Sakkal Majalla" panose="02000000000000000000" pitchFamily="2" charset="-78"/>
                          <a:cs typeface="Sakkal Majalla" panose="02000000000000000000" pitchFamily="2" charset="-78"/>
                        </a:rPr>
                        <a:t>خبير البنية المؤسسية</a:t>
                      </a:r>
                    </a:p>
                  </a:txBody>
                  <a:tcPr marL="0" marR="0" marT="0" marB="0" anchor="ctr">
                    <a:solidFill>
                      <a:schemeClr val="accent1"/>
                    </a:solidFill>
                  </a:tcPr>
                </a:tc>
                <a:tc>
                  <a:txBody>
                    <a:bodyPr/>
                    <a:lstStyle/>
                    <a:p>
                      <a:pPr algn="ctr" rtl="1" fontAlgn="ctr"/>
                      <a:r>
                        <a:rPr lang="ar-SA" sz="1800" b="1" i="0" u="none" strike="noStrike" baseline="0" dirty="0">
                          <a:solidFill>
                            <a:schemeClr val="bg1">
                              <a:lumMod val="95000"/>
                            </a:schemeClr>
                          </a:solidFill>
                          <a:effectLst/>
                          <a:latin typeface="Sakkal Majalla" panose="02000000000000000000" pitchFamily="2" charset="-78"/>
                          <a:cs typeface="Sakkal Majalla" panose="02000000000000000000" pitchFamily="2" charset="-78"/>
                        </a:rPr>
                        <a:t>مهندس أداة البنية المؤسسية</a:t>
                      </a:r>
                    </a:p>
                  </a:txBody>
                  <a:tcPr marL="0" marR="0" marT="0" marB="0" anchor="ctr">
                    <a:solidFill>
                      <a:schemeClr val="accent1"/>
                    </a:solidFill>
                  </a:tcPr>
                </a:tc>
                <a:tc>
                  <a:txBody>
                    <a:bodyPr/>
                    <a:lstStyle/>
                    <a:p>
                      <a:pPr algn="ctr" rtl="1" fontAlgn="ctr"/>
                      <a:r>
                        <a:rPr lang="ar-SA" sz="1800" b="1" i="0" u="none" strike="noStrike" baseline="0" dirty="0">
                          <a:solidFill>
                            <a:schemeClr val="bg1">
                              <a:lumMod val="95000"/>
                            </a:schemeClr>
                          </a:solidFill>
                          <a:effectLst/>
                          <a:latin typeface="Sakkal Majalla" panose="02000000000000000000" pitchFamily="2" charset="-78"/>
                          <a:cs typeface="Sakkal Majalla" panose="02000000000000000000" pitchFamily="2" charset="-78"/>
                        </a:rPr>
                        <a:t>خبير بنية الأعمال</a:t>
                      </a:r>
                    </a:p>
                  </a:txBody>
                  <a:tcPr marL="0" marR="0" marT="0" marB="0" anchor="ctr">
                    <a:solidFill>
                      <a:schemeClr val="accent1"/>
                    </a:solidFill>
                  </a:tcPr>
                </a:tc>
                <a:tc>
                  <a:txBody>
                    <a:bodyPr/>
                    <a:lstStyle/>
                    <a:p>
                      <a:pPr algn="ctr" rtl="1" fontAlgn="ctr"/>
                      <a:r>
                        <a:rPr lang="ar-SA" sz="1800" b="1" i="0" u="none" strike="noStrike" baseline="0" dirty="0">
                          <a:solidFill>
                            <a:schemeClr val="bg1">
                              <a:lumMod val="95000"/>
                            </a:schemeClr>
                          </a:solidFill>
                          <a:effectLst/>
                          <a:latin typeface="Sakkal Majalla" panose="02000000000000000000" pitchFamily="2" charset="-78"/>
                          <a:cs typeface="Sakkal Majalla" panose="02000000000000000000" pitchFamily="2" charset="-78"/>
                        </a:rPr>
                        <a:t>خبير بنية البيانات</a:t>
                      </a:r>
                    </a:p>
                  </a:txBody>
                  <a:tcPr marL="0" marR="0" marT="0" marB="0" anchor="ctr">
                    <a:solidFill>
                      <a:schemeClr val="accent1"/>
                    </a:solidFill>
                  </a:tcPr>
                </a:tc>
                <a:tc>
                  <a:txBody>
                    <a:bodyPr/>
                    <a:lstStyle/>
                    <a:p>
                      <a:pPr algn="ctr" rtl="1" fontAlgn="ctr"/>
                      <a:r>
                        <a:rPr lang="ar-SA" sz="1800" b="1" i="0" u="none" strike="noStrike" baseline="0" dirty="0">
                          <a:solidFill>
                            <a:schemeClr val="bg1">
                              <a:lumMod val="95000"/>
                            </a:schemeClr>
                          </a:solidFill>
                          <a:effectLst/>
                          <a:latin typeface="Sakkal Majalla" panose="02000000000000000000" pitchFamily="2" charset="-78"/>
                          <a:cs typeface="Sakkal Majalla" panose="02000000000000000000" pitchFamily="2" charset="-78"/>
                        </a:rPr>
                        <a:t>خبير بنية التطبيقات</a:t>
                      </a:r>
                    </a:p>
                  </a:txBody>
                  <a:tcPr marL="0" marR="0" marT="0" marB="0" anchor="ctr">
                    <a:solidFill>
                      <a:schemeClr val="accent1"/>
                    </a:solidFill>
                  </a:tcPr>
                </a:tc>
                <a:tc>
                  <a:txBody>
                    <a:bodyPr/>
                    <a:lstStyle/>
                    <a:p>
                      <a:pPr algn="ctr" rtl="1" fontAlgn="ctr"/>
                      <a:r>
                        <a:rPr lang="ar-SA" sz="1800" b="1" i="0" u="none" strike="noStrike" baseline="0" dirty="0">
                          <a:solidFill>
                            <a:schemeClr val="bg1">
                              <a:lumMod val="95000"/>
                            </a:schemeClr>
                          </a:solidFill>
                          <a:effectLst/>
                          <a:latin typeface="Sakkal Majalla" panose="02000000000000000000" pitchFamily="2" charset="-78"/>
                          <a:cs typeface="Sakkal Majalla" panose="02000000000000000000" pitchFamily="2" charset="-78"/>
                        </a:rPr>
                        <a:t>خبير بنية التقنية</a:t>
                      </a:r>
                    </a:p>
                  </a:txBody>
                  <a:tcPr marL="0" marR="0" marT="0" marB="0" anchor="ctr">
                    <a:solidFill>
                      <a:schemeClr val="accent1"/>
                    </a:solidFill>
                  </a:tcPr>
                </a:tc>
                <a:extLst>
                  <a:ext uri="{0D108BD9-81ED-4DB2-BD59-A6C34878D82A}">
                    <a16:rowId xmlns:a16="http://schemas.microsoft.com/office/drawing/2014/main" val="2198393076"/>
                  </a:ext>
                </a:extLst>
              </a:tr>
              <a:tr h="805935">
                <a:tc>
                  <a:txBody>
                    <a:bodyPr/>
                    <a:lstStyle/>
                    <a:p>
                      <a:pPr algn="ctr" rtl="1" fontAlgn="ctr"/>
                      <a:r>
                        <a:rPr lang="ar-SA" sz="2000" b="1" i="0" u="none" strike="noStrike" baseline="0" dirty="0">
                          <a:solidFill>
                            <a:schemeClr val="bg1"/>
                          </a:solidFill>
                          <a:effectLst/>
                          <a:latin typeface="Sakkal Majalla" panose="02000000000000000000" pitchFamily="2" charset="-78"/>
                          <a:cs typeface="Sakkal Majalla" panose="02000000000000000000" pitchFamily="2" charset="-78"/>
                        </a:rPr>
                        <a:t>دورة الخدمات المصغّرة ودمج التطوير بالعمليات</a:t>
                      </a:r>
                    </a:p>
                  </a:txBody>
                  <a:tcPr anchor="ctr">
                    <a:solidFill>
                      <a:schemeClr val="accent1"/>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مفضلة</a:t>
                      </a:r>
                    </a:p>
                  </a:txBody>
                  <a:tcPr anchor="ctr">
                    <a:solidFill>
                      <a:schemeClr val="accent5">
                        <a:lumMod val="20000"/>
                        <a:lumOff val="80000"/>
                      </a:schemeClr>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مفضلة</a:t>
                      </a:r>
                    </a:p>
                  </a:txBody>
                  <a:tcPr anchor="ctr">
                    <a:solidFill>
                      <a:schemeClr val="accent5">
                        <a:lumMod val="20000"/>
                        <a:lumOff val="80000"/>
                      </a:schemeClr>
                    </a:solidFill>
                  </a:tcPr>
                </a:tc>
                <a:tc>
                  <a:txBody>
                    <a:bodyPr/>
                    <a:lstStyle/>
                    <a:p>
                      <a:pPr marL="0" algn="ctr" defTabSz="914400" rtl="1" eaLnBrk="1" fontAlgn="ctr" latinLnBrk="0" hangingPunct="1"/>
                      <a:r>
                        <a:rPr lang="ar-SA" sz="1800" b="1" i="0" u="none" strike="noStrike" kern="1200" baseline="0">
                          <a:solidFill>
                            <a:srgbClr val="000000"/>
                          </a:solidFill>
                          <a:effectLst/>
                          <a:latin typeface="Sakkal Majalla" panose="02000000000000000000" pitchFamily="2" charset="-78"/>
                          <a:ea typeface="+mn-ea"/>
                          <a:cs typeface="Sakkal Majalla" panose="02000000000000000000" pitchFamily="2" charset="-78"/>
                        </a:rPr>
                        <a:t>غير مطلوبة</a:t>
                      </a:r>
                    </a:p>
                  </a:txBody>
                  <a:tcPr anchor="ctr">
                    <a:solidFill>
                      <a:srgbClr val="E9E8EE"/>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غير مطلوبة</a:t>
                      </a:r>
                    </a:p>
                  </a:txBody>
                  <a:tcPr anchor="ctr">
                    <a:solidFill>
                      <a:srgbClr val="E9E8EE"/>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غير مطلوبة</a:t>
                      </a:r>
                    </a:p>
                  </a:txBody>
                  <a:tcPr anchor="ctr">
                    <a:solidFill>
                      <a:srgbClr val="E9E8EE"/>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مطلوبة</a:t>
                      </a:r>
                    </a:p>
                  </a:txBody>
                  <a:tcPr anchor="ctr">
                    <a:solidFill>
                      <a:schemeClr val="accent4">
                        <a:lumMod val="20000"/>
                        <a:lumOff val="80000"/>
                      </a:schemeClr>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مفضلة</a:t>
                      </a:r>
                    </a:p>
                  </a:txBody>
                  <a:tcPr anchor="ctr">
                    <a:solidFill>
                      <a:srgbClr val="DEE4F1"/>
                    </a:solidFill>
                  </a:tcPr>
                </a:tc>
                <a:extLst>
                  <a:ext uri="{0D108BD9-81ED-4DB2-BD59-A6C34878D82A}">
                    <a16:rowId xmlns:a16="http://schemas.microsoft.com/office/drawing/2014/main" val="316684866"/>
                  </a:ext>
                </a:extLst>
              </a:tr>
              <a:tr h="805935">
                <a:tc>
                  <a:txBody>
                    <a:bodyPr/>
                    <a:lstStyle/>
                    <a:p>
                      <a:pPr algn="ctr" rtl="1" fontAlgn="ctr"/>
                      <a:r>
                        <a:rPr lang="ar-SA" sz="2000" b="1" i="0" u="none" strike="noStrike" baseline="0" dirty="0">
                          <a:solidFill>
                            <a:schemeClr val="bg1"/>
                          </a:solidFill>
                          <a:effectLst/>
                          <a:latin typeface="Sakkal Majalla" panose="02000000000000000000" pitchFamily="2" charset="-78"/>
                          <a:cs typeface="Sakkal Majalla" panose="02000000000000000000" pitchFamily="2" charset="-78"/>
                        </a:rPr>
                        <a:t>دورة إدارة وتهيئة أداة البنية المؤسسية</a:t>
                      </a:r>
                    </a:p>
                  </a:txBody>
                  <a:tcPr anchor="ctr">
                    <a:solidFill>
                      <a:schemeClr val="accent1"/>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غير مطلوبة</a:t>
                      </a:r>
                    </a:p>
                  </a:txBody>
                  <a:tcPr anchor="ctr">
                    <a:solidFill>
                      <a:srgbClr val="E9E8EE"/>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غير مطلوبة</a:t>
                      </a:r>
                    </a:p>
                  </a:txBody>
                  <a:tcPr anchor="ctr">
                    <a:solidFill>
                      <a:srgbClr val="E9E8EE"/>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مطلوبة</a:t>
                      </a:r>
                    </a:p>
                  </a:txBody>
                  <a:tcPr anchor="ctr">
                    <a:solidFill>
                      <a:schemeClr val="accent4">
                        <a:lumMod val="20000"/>
                        <a:lumOff val="80000"/>
                      </a:schemeClr>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غير مطلوبة</a:t>
                      </a:r>
                    </a:p>
                  </a:txBody>
                  <a:tcPr anchor="ctr">
                    <a:solidFill>
                      <a:srgbClr val="E9E8EE"/>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غير مطلوبة</a:t>
                      </a:r>
                    </a:p>
                  </a:txBody>
                  <a:tcPr anchor="ctr">
                    <a:solidFill>
                      <a:srgbClr val="E9E8EE"/>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غير مطلوبة</a:t>
                      </a:r>
                    </a:p>
                  </a:txBody>
                  <a:tcPr anchor="ctr">
                    <a:solidFill>
                      <a:srgbClr val="E9E8EE"/>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غير مطلوبة</a:t>
                      </a:r>
                    </a:p>
                  </a:txBody>
                  <a:tcPr anchor="ctr">
                    <a:solidFill>
                      <a:srgbClr val="E9E8EE"/>
                    </a:solidFill>
                  </a:tcPr>
                </a:tc>
                <a:extLst>
                  <a:ext uri="{0D108BD9-81ED-4DB2-BD59-A6C34878D82A}">
                    <a16:rowId xmlns:a16="http://schemas.microsoft.com/office/drawing/2014/main" val="4123478683"/>
                  </a:ext>
                </a:extLst>
              </a:tr>
              <a:tr h="805935">
                <a:tc>
                  <a:txBody>
                    <a:bodyPr/>
                    <a:lstStyle/>
                    <a:p>
                      <a:pPr algn="ctr" rtl="1" fontAlgn="ctr"/>
                      <a:r>
                        <a:rPr lang="ar-SA" sz="2000" b="1" i="0" u="none" strike="noStrike" baseline="0" dirty="0">
                          <a:solidFill>
                            <a:schemeClr val="bg1"/>
                          </a:solidFill>
                          <a:effectLst/>
                          <a:latin typeface="Sakkal Majalla" panose="02000000000000000000" pitchFamily="2" charset="-78"/>
                          <a:cs typeface="Sakkal Majalla" panose="02000000000000000000" pitchFamily="2" charset="-78"/>
                        </a:rPr>
                        <a:t>دورة في الإبداع والابتكار</a:t>
                      </a:r>
                    </a:p>
                  </a:txBody>
                  <a:tcPr anchor="ctr">
                    <a:solidFill>
                      <a:schemeClr val="accent1"/>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مفضلة</a:t>
                      </a:r>
                    </a:p>
                  </a:txBody>
                  <a:tcPr anchor="ctr">
                    <a:solidFill>
                      <a:srgbClr val="DEE4F1"/>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مفضلة</a:t>
                      </a:r>
                    </a:p>
                  </a:txBody>
                  <a:tcPr anchor="ctr">
                    <a:solidFill>
                      <a:srgbClr val="DEE4F1"/>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مفضلة</a:t>
                      </a:r>
                    </a:p>
                  </a:txBody>
                  <a:tcPr anchor="ctr">
                    <a:solidFill>
                      <a:srgbClr val="DEE4F1"/>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مفضلة</a:t>
                      </a:r>
                    </a:p>
                  </a:txBody>
                  <a:tcPr anchor="ctr">
                    <a:solidFill>
                      <a:srgbClr val="DEE4F1"/>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مفضلة</a:t>
                      </a:r>
                    </a:p>
                  </a:txBody>
                  <a:tcPr anchor="ctr">
                    <a:solidFill>
                      <a:srgbClr val="DEE4F1"/>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مفضلة</a:t>
                      </a:r>
                    </a:p>
                  </a:txBody>
                  <a:tcPr anchor="ctr">
                    <a:solidFill>
                      <a:srgbClr val="DEE4F1"/>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مفضلة </a:t>
                      </a:r>
                    </a:p>
                  </a:txBody>
                  <a:tcPr anchor="ctr">
                    <a:solidFill>
                      <a:srgbClr val="DEE4F1"/>
                    </a:solidFill>
                  </a:tcPr>
                </a:tc>
                <a:extLst>
                  <a:ext uri="{0D108BD9-81ED-4DB2-BD59-A6C34878D82A}">
                    <a16:rowId xmlns:a16="http://schemas.microsoft.com/office/drawing/2014/main" val="1820247470"/>
                  </a:ext>
                </a:extLst>
              </a:tr>
              <a:tr h="805935">
                <a:tc>
                  <a:txBody>
                    <a:bodyPr/>
                    <a:lstStyle/>
                    <a:p>
                      <a:pPr algn="ctr" rtl="1" fontAlgn="ctr"/>
                      <a:r>
                        <a:rPr lang="ar-SA" sz="1700" b="1" i="0" u="none" strike="noStrike" baseline="0" dirty="0">
                          <a:solidFill>
                            <a:schemeClr val="bg1"/>
                          </a:solidFill>
                          <a:effectLst/>
                          <a:latin typeface="Sakkal Majalla" panose="02000000000000000000" pitchFamily="2" charset="-78"/>
                          <a:cs typeface="Sakkal Majalla" panose="02000000000000000000" pitchFamily="2" charset="-78"/>
                        </a:rPr>
                        <a:t>دورة إطار عمل </a:t>
                      </a:r>
                      <a:r>
                        <a:rPr lang="en-US" sz="1800" b="1" i="0" u="none" strike="noStrike" baseline="0" dirty="0">
                          <a:solidFill>
                            <a:schemeClr val="bg1"/>
                          </a:solidFill>
                          <a:effectLst/>
                          <a:latin typeface="Sakkal Majalla" panose="02000000000000000000" pitchFamily="2" charset="-78"/>
                          <a:cs typeface="Sakkal Majalla" panose="02000000000000000000" pitchFamily="2" charset="-78"/>
                        </a:rPr>
                        <a:t>COBIT</a:t>
                      </a:r>
                      <a:r>
                        <a:rPr lang="ar-SA" sz="1700" b="1" i="0" u="none" strike="noStrike" baseline="0" dirty="0">
                          <a:solidFill>
                            <a:schemeClr val="bg1"/>
                          </a:solidFill>
                          <a:effectLst/>
                          <a:latin typeface="Sakkal Majalla" panose="02000000000000000000" pitchFamily="2" charset="-78"/>
                          <a:cs typeface="Sakkal Majalla" panose="02000000000000000000" pitchFamily="2" charset="-78"/>
                        </a:rPr>
                        <a:t> لحوكمة وإدارة تقنية المعلومات</a:t>
                      </a:r>
                    </a:p>
                  </a:txBody>
                  <a:tcPr anchor="ctr">
                    <a:solidFill>
                      <a:schemeClr val="accent1"/>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مفضلة</a:t>
                      </a:r>
                    </a:p>
                  </a:txBody>
                  <a:tcPr anchor="ctr">
                    <a:solidFill>
                      <a:schemeClr val="accent5">
                        <a:lumMod val="20000"/>
                        <a:lumOff val="80000"/>
                      </a:schemeClr>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مفضلة</a:t>
                      </a:r>
                    </a:p>
                  </a:txBody>
                  <a:tcPr anchor="ctr">
                    <a:solidFill>
                      <a:schemeClr val="accent5">
                        <a:lumMod val="20000"/>
                        <a:lumOff val="80000"/>
                      </a:schemeClr>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غير مطلوبة</a:t>
                      </a:r>
                    </a:p>
                  </a:txBody>
                  <a:tcPr anchor="ctr">
                    <a:solidFill>
                      <a:srgbClr val="E9E8EE"/>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مفضلة</a:t>
                      </a:r>
                    </a:p>
                  </a:txBody>
                  <a:tcPr anchor="ctr">
                    <a:solidFill>
                      <a:schemeClr val="accent5">
                        <a:lumMod val="20000"/>
                        <a:lumOff val="80000"/>
                      </a:schemeClr>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غير مطلوبة</a:t>
                      </a:r>
                    </a:p>
                  </a:txBody>
                  <a:tcPr anchor="ctr">
                    <a:solidFill>
                      <a:srgbClr val="E9E8EE"/>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غير مطلوبة</a:t>
                      </a:r>
                    </a:p>
                  </a:txBody>
                  <a:tcPr anchor="ctr">
                    <a:solidFill>
                      <a:srgbClr val="E9E8EE"/>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مفضلة</a:t>
                      </a:r>
                    </a:p>
                  </a:txBody>
                  <a:tcPr anchor="ctr">
                    <a:solidFill>
                      <a:schemeClr val="accent5">
                        <a:lumMod val="20000"/>
                        <a:lumOff val="80000"/>
                      </a:schemeClr>
                    </a:solidFill>
                  </a:tcPr>
                </a:tc>
                <a:extLst>
                  <a:ext uri="{0D108BD9-81ED-4DB2-BD59-A6C34878D82A}">
                    <a16:rowId xmlns:a16="http://schemas.microsoft.com/office/drawing/2014/main" val="3192081354"/>
                  </a:ext>
                </a:extLst>
              </a:tr>
              <a:tr h="805935">
                <a:tc>
                  <a:txBody>
                    <a:bodyPr/>
                    <a:lstStyle/>
                    <a:p>
                      <a:pPr algn="ctr" rtl="1" fontAlgn="ctr"/>
                      <a:r>
                        <a:rPr lang="ar-SA" sz="2000" b="1" i="0" u="none" strike="noStrike" baseline="0" dirty="0">
                          <a:solidFill>
                            <a:schemeClr val="bg1"/>
                          </a:solidFill>
                          <a:effectLst/>
                          <a:latin typeface="Sakkal Majalla" panose="02000000000000000000" pitchFamily="2" charset="-78"/>
                          <a:cs typeface="Sakkal Majalla" panose="02000000000000000000" pitchFamily="2" charset="-78"/>
                        </a:rPr>
                        <a:t>دورة مهارات القيادة والتواصل</a:t>
                      </a:r>
                    </a:p>
                  </a:txBody>
                  <a:tcPr anchor="ctr">
                    <a:solidFill>
                      <a:schemeClr val="accent1"/>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اختيارية</a:t>
                      </a:r>
                    </a:p>
                  </a:txBody>
                  <a:tcPr anchor="ctr">
                    <a:solidFill>
                      <a:srgbClr val="E9E8EE"/>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اختيارية</a:t>
                      </a:r>
                    </a:p>
                  </a:txBody>
                  <a:tcPr anchor="ctr">
                    <a:solidFill>
                      <a:srgbClr val="E9E8EE"/>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اختيارية</a:t>
                      </a:r>
                    </a:p>
                  </a:txBody>
                  <a:tcPr anchor="ctr">
                    <a:solidFill>
                      <a:srgbClr val="E9E8EE"/>
                    </a:solidFill>
                  </a:tcP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اختيارية</a:t>
                      </a:r>
                    </a:p>
                  </a:txBody>
                  <a:tcPr anchor="ctr">
                    <a:solidFill>
                      <a:srgbClr val="E9E8EE"/>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اختيارية</a:t>
                      </a:r>
                    </a:p>
                  </a:txBody>
                  <a:tcPr anchor="ctr">
                    <a:solidFill>
                      <a:srgbClr val="E9E8EE"/>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اختيارية</a:t>
                      </a:r>
                    </a:p>
                  </a:txBody>
                  <a:tcPr anchor="ctr">
                    <a:solidFill>
                      <a:srgbClr val="E9E8EE"/>
                    </a:solidFill>
                  </a:tcPr>
                </a:tc>
                <a:tc>
                  <a:txBody>
                    <a:bodyPr/>
                    <a:lstStyle/>
                    <a:p>
                      <a:pPr marL="0" algn="ctr" defTabSz="914400" rtl="1" eaLnBrk="1" fontAlgn="ctr" latinLnBrk="0" hangingPunct="1"/>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اختيارية</a:t>
                      </a:r>
                    </a:p>
                  </a:txBody>
                  <a:tcPr anchor="ctr">
                    <a:solidFill>
                      <a:srgbClr val="E9E8EE"/>
                    </a:solidFill>
                  </a:tcPr>
                </a:tc>
                <a:extLst>
                  <a:ext uri="{0D108BD9-81ED-4DB2-BD59-A6C34878D82A}">
                    <a16:rowId xmlns:a16="http://schemas.microsoft.com/office/drawing/2014/main" val="3833028501"/>
                  </a:ext>
                </a:extLst>
              </a:tr>
            </a:tbl>
          </a:graphicData>
        </a:graphic>
      </p:graphicFrame>
    </p:spTree>
    <p:extLst>
      <p:ext uri="{BB962C8B-B14F-4D97-AF65-F5344CB8AC3E}">
        <p14:creationId xmlns:p14="http://schemas.microsoft.com/office/powerpoint/2010/main" val="5193680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3447289" y="3925452"/>
            <a:ext cx="8097012" cy="641639"/>
          </a:xfrm>
        </p:spPr>
        <p:txBody>
          <a:bodyPr/>
          <a:lstStyle/>
          <a:p>
            <a:r>
              <a:rPr lang="ar-EG" dirty="0"/>
              <a:t>بطاقات التدريب والشهادات المرتبطة بها</a:t>
            </a:r>
          </a:p>
        </p:txBody>
      </p:sp>
      <p:sp>
        <p:nvSpPr>
          <p:cNvPr id="4" name="Text Placeholder 3"/>
          <p:cNvSpPr>
            <a:spLocks noGrp="1"/>
          </p:cNvSpPr>
          <p:nvPr>
            <p:ph type="body" sz="quarter" idx="14"/>
          </p:nvPr>
        </p:nvSpPr>
        <p:spPr/>
        <p:txBody>
          <a:bodyPr/>
          <a:lstStyle/>
          <a:p>
            <a:r>
              <a:rPr lang="ar-SA" dirty="0"/>
              <a:t>04</a:t>
            </a:r>
            <a:endParaRPr lang="en-US" dirty="0"/>
          </a:p>
        </p:txBody>
      </p:sp>
    </p:spTree>
    <p:extLst>
      <p:ext uri="{BB962C8B-B14F-4D97-AF65-F5344CB8AC3E}">
        <p14:creationId xmlns:p14="http://schemas.microsoft.com/office/powerpoint/2010/main" val="2528470437"/>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F9056-F24B-DCF9-2A35-5E64C2A7E77E}"/>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D4A70B71-4EAF-3581-CFAF-328B77F9AF8E}"/>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35</a:t>
            </a:fld>
            <a:endParaRPr lang="en-US" sz="1400" b="1" dirty="0">
              <a:solidFill>
                <a:schemeClr val="accent1"/>
              </a:solidFill>
            </a:endParaRPr>
          </a:p>
        </p:txBody>
      </p:sp>
      <p:sp>
        <p:nvSpPr>
          <p:cNvPr id="2" name="Title 1">
            <a:extLst>
              <a:ext uri="{FF2B5EF4-FFF2-40B4-BE49-F238E27FC236}">
                <a16:creationId xmlns:a16="http://schemas.microsoft.com/office/drawing/2014/main" id="{E5D4F289-F75D-9139-BACA-3AC790BB8BD0}"/>
              </a:ext>
            </a:extLst>
          </p:cNvPr>
          <p:cNvSpPr txBox="1">
            <a:spLocks/>
          </p:cNvSpPr>
          <p:nvPr/>
        </p:nvSpPr>
        <p:spPr>
          <a:xfrm>
            <a:off x="2099733" y="408242"/>
            <a:ext cx="925406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بطاقة </a:t>
            </a:r>
            <a:r>
              <a:rPr lang="ar-SA" dirty="0"/>
              <a:t>التدريب لـ "دورة إطار توجاف للبنية المؤسسية (</a:t>
            </a:r>
            <a:r>
              <a:rPr lang="en-US" dirty="0"/>
              <a:t>TOGAF 9+</a:t>
            </a:r>
            <a:r>
              <a:rPr lang="ar-SA" dirty="0"/>
              <a:t>)</a:t>
            </a:r>
            <a:r>
              <a:rPr lang="ar-EG" dirty="0"/>
              <a:t>"</a:t>
            </a:r>
            <a:endParaRPr lang="en-US" dirty="0"/>
          </a:p>
        </p:txBody>
      </p:sp>
      <p:graphicFrame>
        <p:nvGraphicFramePr>
          <p:cNvPr id="3" name="Table 5">
            <a:extLst>
              <a:ext uri="{FF2B5EF4-FFF2-40B4-BE49-F238E27FC236}">
                <a16:creationId xmlns:a16="http://schemas.microsoft.com/office/drawing/2014/main" id="{9E9B8205-C2AF-639C-DFBF-D94732BFA787}"/>
              </a:ext>
            </a:extLst>
          </p:cNvPr>
          <p:cNvGraphicFramePr>
            <a:graphicFrameLocks noGrp="1"/>
          </p:cNvGraphicFramePr>
          <p:nvPr>
            <p:extLst>
              <p:ext uri="{D42A27DB-BD31-4B8C-83A1-F6EECF244321}">
                <p14:modId xmlns:p14="http://schemas.microsoft.com/office/powerpoint/2010/main" val="840341871"/>
              </p:ext>
            </p:extLst>
          </p:nvPr>
        </p:nvGraphicFramePr>
        <p:xfrm>
          <a:off x="723899" y="962735"/>
          <a:ext cx="10744202" cy="5140592"/>
        </p:xfrm>
        <a:graphic>
          <a:graphicData uri="http://schemas.openxmlformats.org/drawingml/2006/table">
            <a:tbl>
              <a:tblPr rtl="1" firstRow="1" bandRow="1">
                <a:tableStyleId>{2D5ABB26-0587-4C30-8999-92F81FD0307C}</a:tableStyleId>
              </a:tblPr>
              <a:tblGrid>
                <a:gridCol w="1817915">
                  <a:extLst>
                    <a:ext uri="{9D8B030D-6E8A-4147-A177-3AD203B41FA5}">
                      <a16:colId xmlns:a16="http://schemas.microsoft.com/office/drawing/2014/main" val="2004281081"/>
                    </a:ext>
                  </a:extLst>
                </a:gridCol>
                <a:gridCol w="2931246">
                  <a:extLst>
                    <a:ext uri="{9D8B030D-6E8A-4147-A177-3AD203B41FA5}">
                      <a16:colId xmlns:a16="http://schemas.microsoft.com/office/drawing/2014/main" val="2555702573"/>
                    </a:ext>
                  </a:extLst>
                </a:gridCol>
                <a:gridCol w="1531898">
                  <a:extLst>
                    <a:ext uri="{9D8B030D-6E8A-4147-A177-3AD203B41FA5}">
                      <a16:colId xmlns:a16="http://schemas.microsoft.com/office/drawing/2014/main" val="938496735"/>
                    </a:ext>
                  </a:extLst>
                </a:gridCol>
                <a:gridCol w="575716">
                  <a:extLst>
                    <a:ext uri="{9D8B030D-6E8A-4147-A177-3AD203B41FA5}">
                      <a16:colId xmlns:a16="http://schemas.microsoft.com/office/drawing/2014/main" val="2423776635"/>
                    </a:ext>
                  </a:extLst>
                </a:gridCol>
                <a:gridCol w="3887427">
                  <a:extLst>
                    <a:ext uri="{9D8B030D-6E8A-4147-A177-3AD203B41FA5}">
                      <a16:colId xmlns:a16="http://schemas.microsoft.com/office/drawing/2014/main" val="7071169"/>
                    </a:ext>
                  </a:extLst>
                </a:gridCol>
              </a:tblGrid>
              <a:tr h="613505">
                <a:tc>
                  <a:txBody>
                    <a:bodyPr/>
                    <a:lstStyle/>
                    <a:p>
                      <a:pPr marL="0" algn="ctr" defTabSz="914400" rtl="1" eaLnBrk="1" latinLnBrk="0" hangingPunct="1"/>
                      <a:r>
                        <a:rPr lang="ar-SA" sz="1800" b="1" kern="1200" dirty="0">
                          <a:solidFill>
                            <a:schemeClr val="bg1"/>
                          </a:solidFill>
                          <a:latin typeface="+mj-lt"/>
                          <a:ea typeface="+mn-ea"/>
                          <a:cs typeface="+mn-cs"/>
                        </a:rPr>
                        <a:t>اسم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800" b="1" kern="1200" dirty="0">
                          <a:solidFill>
                            <a:schemeClr val="tx1"/>
                          </a:solidFill>
                          <a:latin typeface="+mj-lt"/>
                          <a:ea typeface="+mn-ea"/>
                          <a:cs typeface="+mn-cs"/>
                        </a:rPr>
                        <a:t>دورة إطار توجاف للبنية المؤسسية (</a:t>
                      </a:r>
                      <a:r>
                        <a:rPr lang="en-US" sz="1800" b="1" kern="1200" dirty="0">
                          <a:solidFill>
                            <a:schemeClr val="tx1"/>
                          </a:solidFill>
                          <a:latin typeface="+mj-lt"/>
                          <a:ea typeface="+mn-ea"/>
                          <a:cs typeface="+mn-cs"/>
                        </a:rPr>
                        <a:t>TOGAF 9+</a:t>
                      </a:r>
                      <a:r>
                        <a:rPr lang="ar-SA" sz="1800" b="1" kern="1200" dirty="0">
                          <a:solidFill>
                            <a:schemeClr val="tx1"/>
                          </a:solidFill>
                          <a:latin typeface="+mj-lt"/>
                          <a:ea typeface="+mn-ea"/>
                          <a:cs typeface="+mn-cs"/>
                        </a:rPr>
                        <a:t>)</a:t>
                      </a:r>
                      <a:endParaRPr lang="en-US" sz="1800" b="1"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gridSpan="2">
                  <a:txBody>
                    <a:bodyPr/>
                    <a:lstStyle/>
                    <a:p>
                      <a:pPr marL="0" algn="ctr" defTabSz="914400" rtl="1" eaLnBrk="1" latinLnBrk="0" hangingPunct="1"/>
                      <a:r>
                        <a:rPr lang="ar-SA" sz="1800" b="1" kern="1200" dirty="0">
                          <a:solidFill>
                            <a:schemeClr val="bg1"/>
                          </a:solidFill>
                          <a:latin typeface="+mj-lt"/>
                          <a:ea typeface="+mn-ea"/>
                          <a:cs typeface="+mn-cs"/>
                        </a:rPr>
                        <a:t>المدة الزمنية المقترحة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endParaRPr lang="en-US"/>
                    </a:p>
                  </a:txBody>
                  <a:tcPr/>
                </a:tc>
                <a:tc>
                  <a:txBody>
                    <a:bodyPr/>
                    <a:lstStyle/>
                    <a:p>
                      <a:pPr algn="r" rtl="1"/>
                      <a:r>
                        <a:rPr lang="ar-SA" sz="1600" b="1" kern="1200" dirty="0">
                          <a:solidFill>
                            <a:schemeClr val="tx1"/>
                          </a:solidFill>
                          <a:latin typeface="+mj-lt"/>
                          <a:ea typeface="+mn-ea"/>
                          <a:cs typeface="+mn-cs"/>
                        </a:rPr>
                        <a:t>40 ساعة (5 أيام عمل، 8 ساعات يوميا)</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13795874"/>
                  </a:ext>
                </a:extLst>
              </a:tr>
              <a:tr h="801720">
                <a:tc>
                  <a:txBody>
                    <a:bodyPr/>
                    <a:lstStyle/>
                    <a:p>
                      <a:pPr marL="0" algn="ctr" defTabSz="914400" rtl="1" eaLnBrk="1" latinLnBrk="0" hangingPunct="1"/>
                      <a:r>
                        <a:rPr lang="ar-EG" sz="1800" b="1" kern="1200" dirty="0">
                          <a:solidFill>
                            <a:schemeClr val="bg1"/>
                          </a:solidFill>
                          <a:latin typeface="+mj-lt"/>
                          <a:ea typeface="+mn-ea"/>
                          <a:cs typeface="+mn-cs"/>
                        </a:rPr>
                        <a:t>وصف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4">
                  <a:txBody>
                    <a:bodyPr/>
                    <a:lstStyle/>
                    <a:p>
                      <a:pPr algn="r" rtl="1"/>
                      <a:r>
                        <a:rPr lang="ar-SA" sz="1600" kern="1200" dirty="0">
                          <a:solidFill>
                            <a:schemeClr val="tx1"/>
                          </a:solidFill>
                          <a:latin typeface="+mj-lt"/>
                          <a:ea typeface="+mn-ea"/>
                          <a:cs typeface="+mn-cs"/>
                        </a:rPr>
                        <a:t>تقدم هذه الدورة تدريبا شاملا على إطار عمل توجاف (</a:t>
                      </a:r>
                      <a:r>
                        <a:rPr lang="en-US" sz="1600" kern="1200" dirty="0">
                          <a:solidFill>
                            <a:schemeClr val="tx1"/>
                          </a:solidFill>
                          <a:latin typeface="+mj-lt"/>
                          <a:ea typeface="+mn-ea"/>
                          <a:cs typeface="+mn-cs"/>
                        </a:rPr>
                        <a:t>TOGAF</a:t>
                      </a:r>
                      <a:r>
                        <a:rPr lang="ar-SA" sz="1600" kern="1200" dirty="0">
                          <a:solidFill>
                            <a:schemeClr val="tx1"/>
                          </a:solidFill>
                          <a:latin typeface="+mj-lt"/>
                          <a:ea typeface="+mn-ea"/>
                          <a:cs typeface="+mn-cs"/>
                        </a:rPr>
                        <a:t>) المعتمد من قبل </a:t>
                      </a:r>
                      <a:r>
                        <a:rPr lang="en-US" sz="1600" kern="1200" dirty="0">
                          <a:solidFill>
                            <a:schemeClr val="tx1"/>
                          </a:solidFill>
                          <a:latin typeface="+mj-lt"/>
                          <a:ea typeface="+mn-ea"/>
                          <a:cs typeface="+mn-cs"/>
                        </a:rPr>
                        <a:t>The Open Group، </a:t>
                      </a:r>
                      <a:r>
                        <a:rPr lang="ar-SA" sz="1600" kern="1200" dirty="0">
                          <a:solidFill>
                            <a:schemeClr val="tx1"/>
                          </a:solidFill>
                          <a:latin typeface="+mj-lt"/>
                          <a:ea typeface="+mn-ea"/>
                          <a:cs typeface="+mn-cs"/>
                        </a:rPr>
                        <a:t>حيث يتم تزويد المشاركين بالمعرفة والمهارات اللازمة لتطوير وتنفيذ وإدارة البنية المؤسسية باستخدام مبادئ ومنهجيات </a:t>
                      </a:r>
                      <a:r>
                        <a:rPr lang="en-US" sz="1600" kern="1200" dirty="0">
                          <a:solidFill>
                            <a:schemeClr val="tx1"/>
                          </a:solidFill>
                          <a:latin typeface="+mj-lt"/>
                          <a:ea typeface="+mn-ea"/>
                          <a:cs typeface="+mn-cs"/>
                        </a:rPr>
                        <a:t>TOGAF</a:t>
                      </a:r>
                      <a:endParaRPr lang="ar-SA" sz="1600"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pPr marL="0" algn="ctr" defTabSz="914400" rtl="1" eaLnBrk="1" latinLnBrk="0" hangingPunct="1"/>
                      <a:endParaRPr lang="ar-SA" sz="16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endParaRPr lang="en-US"/>
                    </a:p>
                  </a:txBody>
                  <a:tcPr/>
                </a:tc>
                <a:tc hMerge="1">
                  <a:txBody>
                    <a:bodyPr/>
                    <a:lstStyle/>
                    <a:p>
                      <a:pPr algn="r" rtl="1"/>
                      <a:endParaRPr lang="ar-SA" sz="1600"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98658893"/>
                  </a:ext>
                </a:extLst>
              </a:tr>
              <a:tr h="939800">
                <a:tc>
                  <a:txBody>
                    <a:bodyPr/>
                    <a:lstStyle/>
                    <a:p>
                      <a:pPr marL="0" algn="ctr" defTabSz="914400" rtl="1" eaLnBrk="1" latinLnBrk="0" hangingPunct="1"/>
                      <a:r>
                        <a:rPr lang="ar-SA" sz="1800" b="1" kern="1200" dirty="0">
                          <a:solidFill>
                            <a:schemeClr val="bg1"/>
                          </a:solidFill>
                          <a:latin typeface="+mj-lt"/>
                          <a:ea typeface="+mn-ea"/>
                          <a:cs typeface="+mn-cs"/>
                        </a:rPr>
                        <a:t>الأدوار المستهدفة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285750" indent="-285750" algn="r" rtl="1">
                        <a:buFont typeface="Arial" panose="020B0604020202020204" pitchFamily="34" charset="0"/>
                        <a:buChar char="•"/>
                      </a:pPr>
                      <a:r>
                        <a:rPr lang="ar-SA" sz="1600" kern="1200" dirty="0">
                          <a:solidFill>
                            <a:schemeClr val="tx1"/>
                          </a:solidFill>
                          <a:latin typeface="+mj-lt"/>
                          <a:ea typeface="+mn-ea"/>
                          <a:cs typeface="+mn-cs"/>
                        </a:rPr>
                        <a:t>جميع أدوار</a:t>
                      </a:r>
                      <a:r>
                        <a:rPr lang="ar-EG" sz="1600" kern="1200" dirty="0">
                          <a:solidFill>
                            <a:schemeClr val="tx1"/>
                          </a:solidFill>
                          <a:latin typeface="+mj-lt"/>
                          <a:ea typeface="+mn-ea"/>
                          <a:cs typeface="+mn-cs"/>
                        </a:rPr>
                        <a:t> فريق البنية المؤسسية</a:t>
                      </a:r>
                      <a:endParaRPr lang="ar-SA" sz="1600"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gridSpan="2">
                  <a:txBody>
                    <a:bodyPr/>
                    <a:lstStyle/>
                    <a:p>
                      <a:pPr marL="0" algn="ctr" defTabSz="914400" rtl="1" eaLnBrk="1" latinLnBrk="0" hangingPunct="1"/>
                      <a:r>
                        <a:rPr lang="ar-EG" sz="1800" b="1" kern="1200" dirty="0">
                          <a:solidFill>
                            <a:schemeClr val="bg1"/>
                          </a:solidFill>
                          <a:latin typeface="+mj-lt"/>
                          <a:ea typeface="+mn-ea"/>
                          <a:cs typeface="+mn-cs"/>
                        </a:rPr>
                        <a:t>الشهادات المرتبطة</a:t>
                      </a:r>
                      <a:endParaRPr lang="ar-SA"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endParaRPr lang="en-US"/>
                    </a:p>
                  </a:txBody>
                  <a:tcPr/>
                </a:tc>
                <a:tc>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شهادة إتمام الدورة من مزود التدريب</a:t>
                      </a:r>
                    </a:p>
                    <a:p>
                      <a:pPr marL="285750" indent="-285750" algn="r" rtl="1">
                        <a:buFont typeface="Arial" panose="020B0604020202020204" pitchFamily="34" charset="0"/>
                        <a:buChar char="•"/>
                      </a:pPr>
                      <a:r>
                        <a:rPr lang="ar-SA" sz="1600" kern="1200" dirty="0">
                          <a:solidFill>
                            <a:schemeClr val="tx1"/>
                          </a:solidFill>
                          <a:latin typeface="+mj-lt"/>
                          <a:ea typeface="+mn-ea"/>
                          <a:cs typeface="+mn-cs"/>
                        </a:rPr>
                        <a:t>التأهيل لشهادة </a:t>
                      </a:r>
                      <a:r>
                        <a:rPr lang="en-US" sz="1600" kern="1200" dirty="0">
                          <a:solidFill>
                            <a:schemeClr val="tx1"/>
                          </a:solidFill>
                          <a:latin typeface="+mj-lt"/>
                          <a:ea typeface="+mn-ea"/>
                          <a:cs typeface="+mn-cs"/>
                        </a:rPr>
                        <a:t>TOGAF 9 Certified</a:t>
                      </a:r>
                      <a:r>
                        <a:rPr lang="ar-SA" sz="1600" kern="1200" dirty="0">
                          <a:solidFill>
                            <a:schemeClr val="tx1"/>
                          </a:solidFill>
                          <a:latin typeface="+mj-lt"/>
                          <a:ea typeface="+mn-ea"/>
                          <a:cs typeface="+mn-cs"/>
                        </a:rPr>
                        <a:t> من </a:t>
                      </a:r>
                      <a:r>
                        <a:rPr lang="en-US" sz="1600" kern="1200" dirty="0">
                          <a:solidFill>
                            <a:schemeClr val="tx1"/>
                          </a:solidFill>
                          <a:latin typeface="+mj-lt"/>
                          <a:ea typeface="+mn-ea"/>
                          <a:cs typeface="+mn-cs"/>
                        </a:rPr>
                        <a:t>The Open Group</a:t>
                      </a:r>
                      <a:endParaRPr lang="ar-SA" sz="1600"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840185893"/>
                  </a:ext>
                </a:extLst>
              </a:tr>
              <a:tr h="869232">
                <a:tc>
                  <a:txBody>
                    <a:bodyPr/>
                    <a:lstStyle/>
                    <a:p>
                      <a:pPr marL="0" algn="ctr" defTabSz="914400" rtl="1" eaLnBrk="1" latinLnBrk="0" hangingPunct="1"/>
                      <a:r>
                        <a:rPr lang="ar-SA" sz="1800" b="1" kern="1200" dirty="0">
                          <a:solidFill>
                            <a:schemeClr val="bg1"/>
                          </a:solidFill>
                          <a:latin typeface="+mj-lt"/>
                          <a:ea typeface="+mn-ea"/>
                          <a:cs typeface="+mn-cs"/>
                        </a:rPr>
                        <a:t>طريقة التدريب</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4">
                  <a:txBody>
                    <a:bodyPr/>
                    <a:lstStyle/>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(قيد التخطيط)</a:t>
                      </a:r>
                      <a:endParaRPr lang="en-US" sz="1600" kern="1200" dirty="0">
                        <a:solidFill>
                          <a:schemeClr val="tx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08309057"/>
                  </a:ext>
                </a:extLst>
              </a:tr>
              <a:tr h="1028321">
                <a:tc>
                  <a:txBody>
                    <a:bodyPr/>
                    <a:lstStyle/>
                    <a:p>
                      <a:pPr marL="0" algn="ctr" defTabSz="914400" rtl="1" eaLnBrk="1" latinLnBrk="0" hangingPunct="1"/>
                      <a:r>
                        <a:rPr lang="ar-EG" sz="1800" b="1" kern="1200" dirty="0">
                          <a:solidFill>
                            <a:schemeClr val="bg1"/>
                          </a:solidFill>
                          <a:latin typeface="+mj-lt"/>
                          <a:ea typeface="+mn-ea"/>
                          <a:cs typeface="+mn-cs"/>
                        </a:rPr>
                        <a:t>محتويات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2">
                  <a:txBody>
                    <a:bodyPr/>
                    <a:lstStyle/>
                    <a:p>
                      <a:pPr marL="285750" indent="-285750" algn="r" rtl="1">
                        <a:buFont typeface="Arial" panose="020B0604020202020204" pitchFamily="34" charset="0"/>
                        <a:buChar char="•"/>
                      </a:pPr>
                      <a:r>
                        <a:rPr lang="ar-SA" sz="1600" dirty="0"/>
                        <a:t>مقدمة عن </a:t>
                      </a:r>
                      <a:r>
                        <a:rPr lang="en-US" sz="1600" dirty="0"/>
                        <a:t>TOGAF</a:t>
                      </a:r>
                      <a:r>
                        <a:rPr lang="ar-SA" sz="1600" dirty="0"/>
                        <a:t> والبنية المؤسسية</a:t>
                      </a:r>
                    </a:p>
                    <a:p>
                      <a:pPr marL="285750" indent="-285750" algn="r" rtl="1">
                        <a:buFont typeface="Arial" panose="020B0604020202020204" pitchFamily="34" charset="0"/>
                        <a:buChar char="•"/>
                      </a:pPr>
                      <a:r>
                        <a:rPr lang="ar-SA" sz="1600" dirty="0"/>
                        <a:t>طريقة تطوير البنية (</a:t>
                      </a:r>
                      <a:r>
                        <a:rPr lang="en-US" sz="1600" dirty="0"/>
                        <a:t>ADM</a:t>
                      </a:r>
                      <a:r>
                        <a:rPr lang="ar-SA" sz="1600" dirty="0"/>
                        <a:t>)</a:t>
                      </a:r>
                      <a:endParaRPr lang="en-US" sz="1600" dirty="0"/>
                    </a:p>
                    <a:p>
                      <a:pPr marL="285750" indent="-285750" algn="r" rtl="1">
                        <a:buFont typeface="Arial" panose="020B0604020202020204" pitchFamily="34" charset="0"/>
                        <a:buChar char="•"/>
                      </a:pPr>
                      <a:r>
                        <a:rPr lang="ar-SA" sz="1600" dirty="0"/>
                        <a:t>إطار محتوى البنية</a:t>
                      </a:r>
                    </a:p>
                    <a:p>
                      <a:pPr marL="285750" indent="-285750" algn="r" rtl="1">
                        <a:buFont typeface="Arial" panose="020B0604020202020204" pitchFamily="34" charset="0"/>
                        <a:buChar char="•"/>
                      </a:pPr>
                      <a:r>
                        <a:rPr lang="ar-SA" sz="1600" dirty="0"/>
                        <a:t>نماذج </a:t>
                      </a:r>
                      <a:r>
                        <a:rPr lang="en-US" sz="1600" dirty="0"/>
                        <a:t>TOGAF</a:t>
                      </a:r>
                      <a:r>
                        <a:rPr lang="ar-SA" sz="1600" dirty="0"/>
                        <a:t> المرجعية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gridSpan="2">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وحدات البناء واستخدامها</a:t>
                      </a:r>
                    </a:p>
                    <a:p>
                      <a:pPr marL="285750" indent="-285750" algn="r" rtl="1">
                        <a:buFont typeface="Arial" panose="020B0604020202020204" pitchFamily="34" charset="0"/>
                        <a:buChar char="•"/>
                      </a:pPr>
                      <a:r>
                        <a:rPr lang="ar-SA" sz="1600" dirty="0"/>
                        <a:t> إدارة أصحاب المصلحة وتقنيات التواصل</a:t>
                      </a:r>
                    </a:p>
                    <a:p>
                      <a:pPr marL="285750" indent="-285750" algn="r" rtl="1">
                        <a:buFont typeface="Arial" panose="020B0604020202020204" pitchFamily="34" charset="0"/>
                        <a:buChar char="•"/>
                      </a:pPr>
                      <a:r>
                        <a:rPr lang="ar-SA" sz="1600" dirty="0"/>
                        <a:t>حوكمة البنية المؤسسية</a:t>
                      </a:r>
                    </a:p>
                    <a:p>
                      <a:pPr marL="285750" indent="-285750" algn="r" rtl="1">
                        <a:buFont typeface="Arial" panose="020B0604020202020204" pitchFamily="34" charset="0"/>
                        <a:buChar char="•"/>
                      </a:pPr>
                      <a:r>
                        <a:rPr lang="ar-SA" sz="1600" dirty="0"/>
                        <a:t>دراسات حالة وتطبيقات عملية</a:t>
                      </a:r>
                      <a:endParaRPr lang="en-US" sz="1600"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540153272"/>
                  </a:ext>
                </a:extLst>
              </a:tr>
              <a:tr h="788792">
                <a:tc>
                  <a:txBody>
                    <a:bodyPr/>
                    <a:lstStyle/>
                    <a:p>
                      <a:pPr marL="0" algn="ctr" defTabSz="914400" rtl="1" eaLnBrk="1" latinLnBrk="0" hangingPunct="1"/>
                      <a:r>
                        <a:rPr lang="ar-EG" sz="1800" b="1" kern="1200" dirty="0">
                          <a:solidFill>
                            <a:schemeClr val="bg1"/>
                          </a:solidFill>
                          <a:latin typeface="+mn-lt"/>
                          <a:ea typeface="+mn-ea"/>
                          <a:cs typeface="+mn-cs"/>
                        </a:rPr>
                        <a:t>أهداف الدورة</a:t>
                      </a:r>
                      <a:endParaRPr lang="en-US" sz="1800" b="1" kern="1200" dirty="0">
                        <a:solidFill>
                          <a:schemeClr val="bg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2">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فهم إطار عمل </a:t>
                      </a:r>
                      <a:r>
                        <a:rPr lang="en-US" sz="1600" dirty="0"/>
                        <a:t>TOGAF</a:t>
                      </a:r>
                      <a:r>
                        <a:rPr lang="ar-SA" sz="1600" dirty="0"/>
                        <a:t> ومكوناته</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تطبيق طريقة تطوير البنية (</a:t>
                      </a:r>
                      <a:r>
                        <a:rPr lang="en-US" sz="1600" dirty="0"/>
                        <a:t>ADM</a:t>
                      </a:r>
                      <a:r>
                        <a:rPr lang="ar-SA" sz="1600" dirty="0"/>
                        <a:t>) عمليا</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تطوير بنية مؤسسية متوافقة مع استراتيجيات الأعمال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gridSpan="2">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استخدام أدوات وتقنيات </a:t>
                      </a:r>
                      <a:r>
                        <a:rPr lang="en-US" sz="1600" dirty="0"/>
                        <a:t>TOGAF</a:t>
                      </a:r>
                      <a:r>
                        <a:rPr lang="ar-SA" sz="1600" dirty="0"/>
                        <a:t> بفعالية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التحضير لاجتياز امتحان </a:t>
                      </a:r>
                      <a:r>
                        <a:rPr lang="en-US" sz="1600" dirty="0"/>
                        <a:t>TOGAF 9</a:t>
                      </a:r>
                      <a:r>
                        <a:rPr lang="ar-SA" sz="1600" dirty="0"/>
                        <a:t> المعتمد</a:t>
                      </a:r>
                      <a:endParaRPr lang="ar-EG" sz="1600" kern="1200" dirty="0">
                        <a:solidFill>
                          <a:schemeClr val="tx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72527477"/>
                  </a:ext>
                </a:extLst>
              </a:tr>
            </a:tbl>
          </a:graphicData>
        </a:graphic>
      </p:graphicFrame>
    </p:spTree>
    <p:extLst>
      <p:ext uri="{BB962C8B-B14F-4D97-AF65-F5344CB8AC3E}">
        <p14:creationId xmlns:p14="http://schemas.microsoft.com/office/powerpoint/2010/main" val="4115273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F9056-F24B-DCF9-2A35-5E64C2A7E77E}"/>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D4A70B71-4EAF-3581-CFAF-328B77F9AF8E}"/>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36</a:t>
            </a:fld>
            <a:endParaRPr lang="en-US" sz="1400" b="1" dirty="0">
              <a:solidFill>
                <a:schemeClr val="accent1"/>
              </a:solidFill>
            </a:endParaRPr>
          </a:p>
        </p:txBody>
      </p:sp>
      <p:sp>
        <p:nvSpPr>
          <p:cNvPr id="2" name="Title 1">
            <a:extLst>
              <a:ext uri="{FF2B5EF4-FFF2-40B4-BE49-F238E27FC236}">
                <a16:creationId xmlns:a16="http://schemas.microsoft.com/office/drawing/2014/main" id="{E5D4F289-F75D-9139-BACA-3AC790BB8BD0}"/>
              </a:ext>
            </a:extLst>
          </p:cNvPr>
          <p:cNvSpPr txBox="1">
            <a:spLocks/>
          </p:cNvSpPr>
          <p:nvPr/>
        </p:nvSpPr>
        <p:spPr>
          <a:xfrm>
            <a:off x="2099733" y="408242"/>
            <a:ext cx="925406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بطاقة </a:t>
            </a:r>
            <a:r>
              <a:rPr lang="ar-SA" dirty="0"/>
              <a:t>التدريب لـ "دورة استخدام أداة البنية المؤسسية</a:t>
            </a:r>
            <a:r>
              <a:rPr lang="ar-EG" dirty="0"/>
              <a:t>"</a:t>
            </a:r>
            <a:endParaRPr lang="en-US" dirty="0"/>
          </a:p>
        </p:txBody>
      </p:sp>
      <p:graphicFrame>
        <p:nvGraphicFramePr>
          <p:cNvPr id="3" name="Table 5">
            <a:extLst>
              <a:ext uri="{FF2B5EF4-FFF2-40B4-BE49-F238E27FC236}">
                <a16:creationId xmlns:a16="http://schemas.microsoft.com/office/drawing/2014/main" id="{9E9B8205-C2AF-639C-DFBF-D94732BFA787}"/>
              </a:ext>
            </a:extLst>
          </p:cNvPr>
          <p:cNvGraphicFramePr>
            <a:graphicFrameLocks noGrp="1"/>
          </p:cNvGraphicFramePr>
          <p:nvPr>
            <p:extLst>
              <p:ext uri="{D42A27DB-BD31-4B8C-83A1-F6EECF244321}">
                <p14:modId xmlns:p14="http://schemas.microsoft.com/office/powerpoint/2010/main" val="2515685371"/>
              </p:ext>
            </p:extLst>
          </p:nvPr>
        </p:nvGraphicFramePr>
        <p:xfrm>
          <a:off x="723899" y="962735"/>
          <a:ext cx="10744202" cy="5075538"/>
        </p:xfrm>
        <a:graphic>
          <a:graphicData uri="http://schemas.openxmlformats.org/drawingml/2006/table">
            <a:tbl>
              <a:tblPr rtl="1" firstRow="1" bandRow="1">
                <a:tableStyleId>{2D5ABB26-0587-4C30-8999-92F81FD0307C}</a:tableStyleId>
              </a:tblPr>
              <a:tblGrid>
                <a:gridCol w="1817915">
                  <a:extLst>
                    <a:ext uri="{9D8B030D-6E8A-4147-A177-3AD203B41FA5}">
                      <a16:colId xmlns:a16="http://schemas.microsoft.com/office/drawing/2014/main" val="2004281081"/>
                    </a:ext>
                  </a:extLst>
                </a:gridCol>
                <a:gridCol w="2931246">
                  <a:extLst>
                    <a:ext uri="{9D8B030D-6E8A-4147-A177-3AD203B41FA5}">
                      <a16:colId xmlns:a16="http://schemas.microsoft.com/office/drawing/2014/main" val="2555702573"/>
                    </a:ext>
                  </a:extLst>
                </a:gridCol>
                <a:gridCol w="1531898">
                  <a:extLst>
                    <a:ext uri="{9D8B030D-6E8A-4147-A177-3AD203B41FA5}">
                      <a16:colId xmlns:a16="http://schemas.microsoft.com/office/drawing/2014/main" val="938496735"/>
                    </a:ext>
                  </a:extLst>
                </a:gridCol>
                <a:gridCol w="575716">
                  <a:extLst>
                    <a:ext uri="{9D8B030D-6E8A-4147-A177-3AD203B41FA5}">
                      <a16:colId xmlns:a16="http://schemas.microsoft.com/office/drawing/2014/main" val="2423776635"/>
                    </a:ext>
                  </a:extLst>
                </a:gridCol>
                <a:gridCol w="3887427">
                  <a:extLst>
                    <a:ext uri="{9D8B030D-6E8A-4147-A177-3AD203B41FA5}">
                      <a16:colId xmlns:a16="http://schemas.microsoft.com/office/drawing/2014/main" val="7071169"/>
                    </a:ext>
                  </a:extLst>
                </a:gridCol>
              </a:tblGrid>
              <a:tr h="613505">
                <a:tc>
                  <a:txBody>
                    <a:bodyPr/>
                    <a:lstStyle/>
                    <a:p>
                      <a:pPr marL="0" algn="ctr" defTabSz="914400" rtl="1" eaLnBrk="1" latinLnBrk="0" hangingPunct="1"/>
                      <a:r>
                        <a:rPr lang="ar-SA" sz="1800" b="1" kern="1200" dirty="0">
                          <a:solidFill>
                            <a:schemeClr val="bg1"/>
                          </a:solidFill>
                          <a:latin typeface="+mj-lt"/>
                          <a:ea typeface="+mn-ea"/>
                          <a:cs typeface="+mn-cs"/>
                        </a:rPr>
                        <a:t>اسم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800" b="1" kern="1200" dirty="0">
                          <a:solidFill>
                            <a:schemeClr val="tx1"/>
                          </a:solidFill>
                          <a:latin typeface="+mj-lt"/>
                          <a:ea typeface="+mn-ea"/>
                          <a:cs typeface="+mn-cs"/>
                        </a:rPr>
                        <a:t>دورة استخدام أداة البنية المؤسسية</a:t>
                      </a:r>
                      <a:endParaRPr lang="en-US" sz="1800" b="1"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gridSpan="2">
                  <a:txBody>
                    <a:bodyPr/>
                    <a:lstStyle/>
                    <a:p>
                      <a:pPr marL="0" algn="ctr" defTabSz="914400" rtl="1" eaLnBrk="1" latinLnBrk="0" hangingPunct="1"/>
                      <a:r>
                        <a:rPr lang="ar-SA" sz="1800" b="1" kern="1200" dirty="0">
                          <a:solidFill>
                            <a:schemeClr val="bg1"/>
                          </a:solidFill>
                          <a:latin typeface="+mj-lt"/>
                          <a:ea typeface="+mn-ea"/>
                          <a:cs typeface="+mn-cs"/>
                        </a:rPr>
                        <a:t>المدة الزمنية المقترحة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r>
                        <a:rPr lang="ar-SA" sz="1600" b="1" kern="1200" dirty="0">
                          <a:solidFill>
                            <a:schemeClr val="tx1"/>
                          </a:solidFill>
                          <a:latin typeface="+mj-lt"/>
                          <a:ea typeface="+mn-ea"/>
                          <a:cs typeface="+mn-cs"/>
                        </a:rPr>
                        <a:t>24 ساعة (3 أيام عمل، 8 ساعات يوميا)</a:t>
                      </a:r>
                      <a:endParaRPr lang="en-US"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rtl="1"/>
                      <a:r>
                        <a:rPr lang="ar-SA" sz="1600" b="1" kern="1200" dirty="0">
                          <a:solidFill>
                            <a:schemeClr val="tx1"/>
                          </a:solidFill>
                          <a:latin typeface="+mj-lt"/>
                          <a:ea typeface="+mn-ea"/>
                          <a:cs typeface="+mn-cs"/>
                        </a:rPr>
                        <a:t>24 ساعة (3 أيام عمل، 8 ساعات يوميا)</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13795874"/>
                  </a:ext>
                </a:extLst>
              </a:tr>
              <a:tr h="801720">
                <a:tc>
                  <a:txBody>
                    <a:bodyPr/>
                    <a:lstStyle/>
                    <a:p>
                      <a:pPr marL="0" algn="ctr" defTabSz="914400" rtl="1" eaLnBrk="1" latinLnBrk="0" hangingPunct="1"/>
                      <a:r>
                        <a:rPr lang="ar-EG" sz="1800" b="1" kern="1200" dirty="0">
                          <a:solidFill>
                            <a:schemeClr val="bg1"/>
                          </a:solidFill>
                          <a:latin typeface="+mj-lt"/>
                          <a:ea typeface="+mn-ea"/>
                          <a:cs typeface="+mn-cs"/>
                        </a:rPr>
                        <a:t>وصف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4">
                  <a:txBody>
                    <a:bodyPr/>
                    <a:lstStyle/>
                    <a:p>
                      <a:pPr algn="r" rtl="1"/>
                      <a:r>
                        <a:rPr lang="ar-SA" sz="1600" kern="1200" dirty="0">
                          <a:solidFill>
                            <a:schemeClr val="tx1"/>
                          </a:solidFill>
                          <a:latin typeface="+mj-lt"/>
                          <a:ea typeface="+mn-ea"/>
                          <a:cs typeface="+mn-cs"/>
                        </a:rPr>
                        <a:t>تهدف هذه الدورة إلى تدريب المشاركين على استخدام أداة البنية المؤسسية المعتمدة في الهيئة، حيث سيتعلمون كيفية تطوير النماذج والمخططات والوثائق، وإدارة المستودع، وتطبيق أفضل الممارسات في استخدام الأداة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pPr marL="0" algn="ctr" defTabSz="914400" rtl="1" eaLnBrk="1" latinLnBrk="0" hangingPunct="1"/>
                      <a:endParaRPr lang="ar-SA" sz="16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endParaRPr lang="en-US"/>
                    </a:p>
                  </a:txBody>
                  <a:tcPr/>
                </a:tc>
                <a:tc hMerge="1">
                  <a:txBody>
                    <a:bodyPr/>
                    <a:lstStyle/>
                    <a:p>
                      <a:pPr algn="r" rtl="1"/>
                      <a:endParaRPr lang="ar-SA" sz="1600"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98658893"/>
                  </a:ext>
                </a:extLst>
              </a:tr>
              <a:tr h="939800">
                <a:tc>
                  <a:txBody>
                    <a:bodyPr/>
                    <a:lstStyle/>
                    <a:p>
                      <a:pPr marL="0" algn="ctr" defTabSz="914400" rtl="1" eaLnBrk="1" latinLnBrk="0" hangingPunct="1"/>
                      <a:r>
                        <a:rPr lang="ar-SA" sz="1800" b="1" kern="1200" dirty="0">
                          <a:solidFill>
                            <a:schemeClr val="bg1"/>
                          </a:solidFill>
                          <a:latin typeface="+mn-lt"/>
                          <a:ea typeface="+mn-ea"/>
                          <a:cs typeface="+mn-cs"/>
                        </a:rPr>
                        <a:t>الأدوار المستهدفة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285750" indent="-285750" algn="r" rtl="1">
                        <a:buFont typeface="Arial" panose="020B0604020202020204" pitchFamily="34" charset="0"/>
                        <a:buChar char="•"/>
                      </a:pPr>
                      <a:r>
                        <a:rPr lang="ar-SA" sz="1600" kern="1200" dirty="0">
                          <a:solidFill>
                            <a:schemeClr val="tx1"/>
                          </a:solidFill>
                          <a:latin typeface="+mn-lt"/>
                          <a:ea typeface="+mn-ea"/>
                          <a:cs typeface="+mn-cs"/>
                        </a:rPr>
                        <a:t>جميع أدوار</a:t>
                      </a:r>
                      <a:r>
                        <a:rPr lang="ar-EG" sz="1600" kern="1200" dirty="0">
                          <a:solidFill>
                            <a:schemeClr val="tx1"/>
                          </a:solidFill>
                          <a:latin typeface="+mn-lt"/>
                          <a:ea typeface="+mn-ea"/>
                          <a:cs typeface="+mn-cs"/>
                        </a:rPr>
                        <a:t> فريق البنية المؤسسية</a:t>
                      </a:r>
                      <a:endParaRPr lang="ar-SA" sz="1600" kern="1200" dirty="0">
                        <a:solidFill>
                          <a:schemeClr val="tx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gridSpan="2">
                  <a:txBody>
                    <a:bodyPr/>
                    <a:lstStyle/>
                    <a:p>
                      <a:pPr marL="0" algn="ctr" defTabSz="914400" rtl="1" eaLnBrk="1" latinLnBrk="0" hangingPunct="1"/>
                      <a:r>
                        <a:rPr lang="ar-EG" sz="1800" b="1" kern="1200" dirty="0">
                          <a:solidFill>
                            <a:schemeClr val="bg1"/>
                          </a:solidFill>
                          <a:latin typeface="+mj-lt"/>
                          <a:ea typeface="+mn-ea"/>
                          <a:cs typeface="+mn-cs"/>
                        </a:rPr>
                        <a:t>الشهادات المرتبطة</a:t>
                      </a:r>
                      <a:endParaRPr lang="ar-SA"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endParaRPr lang="en-US"/>
                    </a:p>
                  </a:txBody>
                  <a:tcPr/>
                </a:tc>
                <a:tc>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j-lt"/>
                          <a:ea typeface="+mn-ea"/>
                          <a:cs typeface="+mn-cs"/>
                        </a:rPr>
                        <a:t>شهادة إتمام الدورة من مزود الأداة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840185893"/>
                  </a:ext>
                </a:extLst>
              </a:tr>
              <a:tr h="869232">
                <a:tc>
                  <a:txBody>
                    <a:bodyPr/>
                    <a:lstStyle/>
                    <a:p>
                      <a:pPr marL="0" algn="ctr" defTabSz="914400" rtl="1" eaLnBrk="1" latinLnBrk="0" hangingPunct="1"/>
                      <a:r>
                        <a:rPr lang="ar-SA" sz="1800" b="1" kern="1200" dirty="0">
                          <a:solidFill>
                            <a:schemeClr val="bg1"/>
                          </a:solidFill>
                          <a:latin typeface="+mj-lt"/>
                          <a:ea typeface="+mn-ea"/>
                          <a:cs typeface="+mn-cs"/>
                        </a:rPr>
                        <a:t>طريقة التدريب</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4">
                  <a:txBody>
                    <a:bodyPr/>
                    <a:lstStyle/>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(قيد التخطيط)</a:t>
                      </a:r>
                      <a:endParaRPr lang="en-US" sz="1600" kern="1200" dirty="0">
                        <a:solidFill>
                          <a:schemeClr val="tx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tc hMerge="1">
                  <a:txBody>
                    <a:bodyPr/>
                    <a:lstStyle/>
                    <a:p>
                      <a:endParaRPr lang="en-US"/>
                    </a:p>
                  </a:txBody>
                  <a:tcPr/>
                </a:tc>
                <a:tc hMerge="1">
                  <a:txBody>
                    <a:bodyPr/>
                    <a:lstStyle/>
                    <a:p>
                      <a:endParaRPr lang="en-US"/>
                    </a:p>
                  </a:txBody>
                  <a:tcPr>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808309057"/>
                  </a:ext>
                </a:extLst>
              </a:tr>
              <a:tr h="1028321">
                <a:tc>
                  <a:txBody>
                    <a:bodyPr/>
                    <a:lstStyle/>
                    <a:p>
                      <a:pPr marL="0" algn="ctr" defTabSz="914400" rtl="1" eaLnBrk="1" latinLnBrk="0" hangingPunct="1"/>
                      <a:r>
                        <a:rPr lang="ar-EG" sz="1800" b="1" kern="1200" dirty="0">
                          <a:solidFill>
                            <a:schemeClr val="bg1"/>
                          </a:solidFill>
                          <a:latin typeface="+mj-lt"/>
                          <a:ea typeface="+mn-ea"/>
                          <a:cs typeface="+mn-cs"/>
                        </a:rPr>
                        <a:t>محتويات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2">
                  <a:txBody>
                    <a:bodyPr/>
                    <a:lstStyle/>
                    <a:p>
                      <a:pPr marL="285750" indent="-285750" algn="r" rtl="1">
                        <a:buFont typeface="Arial" panose="020B0604020202020204" pitchFamily="34" charset="0"/>
                        <a:buChar char="•"/>
                      </a:pPr>
                      <a:r>
                        <a:rPr lang="ar-SA" sz="1600" dirty="0"/>
                        <a:t>مقدمة عن الأداة ومميزاتها</a:t>
                      </a:r>
                    </a:p>
                    <a:p>
                      <a:pPr marL="285750" indent="-285750" algn="r" rtl="1">
                        <a:buFont typeface="Arial" panose="020B0604020202020204" pitchFamily="34" charset="0"/>
                        <a:buChar char="•"/>
                      </a:pPr>
                      <a:r>
                        <a:rPr lang="ar-SA" sz="1600" dirty="0"/>
                        <a:t>إنشاء وتحرير القوائم والمصفوفات</a:t>
                      </a:r>
                    </a:p>
                    <a:p>
                      <a:pPr marL="285750" indent="-285750" algn="r" rtl="1">
                        <a:buFont typeface="Arial" panose="020B0604020202020204" pitchFamily="34" charset="0"/>
                        <a:buChar char="•"/>
                      </a:pPr>
                      <a:r>
                        <a:rPr lang="ar-SA" sz="1600" dirty="0"/>
                        <a:t>إدارة المستودع وتنظيم المحتوى</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gridSpan="2">
                  <a:txBody>
                    <a:bodyPr/>
                    <a:lstStyle/>
                    <a:p>
                      <a:pPr marL="285750" indent="-285750" algn="r" rtl="1">
                        <a:buFont typeface="Arial" panose="020B0604020202020204" pitchFamily="34" charset="0"/>
                        <a:buChar char="•"/>
                      </a:pPr>
                      <a:r>
                        <a:rPr lang="ar-SA" sz="1600" dirty="0"/>
                        <a:t>استخدام الأداة في دعم أنشطة البنية المؤسسية</a:t>
                      </a:r>
                    </a:p>
                    <a:p>
                      <a:pPr marL="285750" indent="-285750" algn="r" rtl="1">
                        <a:buFont typeface="Arial" panose="020B0604020202020204" pitchFamily="34" charset="0"/>
                        <a:buChar char="•"/>
                      </a:pPr>
                      <a:r>
                        <a:rPr lang="ar-SA" sz="1600" dirty="0"/>
                        <a:t>تكامل الأداة مع أنظمة وأدوات أخرى</a:t>
                      </a:r>
                    </a:p>
                    <a:p>
                      <a:pPr marL="285750" indent="-285750" algn="r" rtl="1">
                        <a:buFont typeface="Arial" panose="020B0604020202020204" pitchFamily="34" charset="0"/>
                        <a:buChar char="•"/>
                      </a:pPr>
                      <a:r>
                        <a:rPr lang="ar-SA" sz="1600" dirty="0"/>
                        <a:t>أفضل الممارسات والنصائح العملية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540153272"/>
                  </a:ext>
                </a:extLst>
              </a:tr>
              <a:tr h="788792">
                <a:tc>
                  <a:txBody>
                    <a:bodyPr/>
                    <a:lstStyle/>
                    <a:p>
                      <a:pPr marL="0" algn="ctr" defTabSz="914400" rtl="1" eaLnBrk="1" latinLnBrk="0" hangingPunct="1"/>
                      <a:r>
                        <a:rPr lang="ar-EG" sz="1800" b="1" kern="1200" dirty="0">
                          <a:solidFill>
                            <a:schemeClr val="bg1"/>
                          </a:solidFill>
                          <a:latin typeface="+mn-lt"/>
                          <a:ea typeface="+mn-ea"/>
                          <a:cs typeface="+mn-cs"/>
                        </a:rPr>
                        <a:t>أهداف الدورة</a:t>
                      </a:r>
                      <a:endParaRPr lang="en-US" sz="1800" b="1" kern="1200" dirty="0">
                        <a:solidFill>
                          <a:schemeClr val="bg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2">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فهم شامل لمميزات ووظائف الأداة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القدرة على تطوير قوائم ومصفوفات بفعالية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إدارة المستودع بكفاءة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gridSpan="2">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تطبيق الأداة لدعم أنشطة البنية المؤسسية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تحسين الكفاءة والإنتاجية في استخدام الأداة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72527477"/>
                  </a:ext>
                </a:extLst>
              </a:tr>
            </a:tbl>
          </a:graphicData>
        </a:graphic>
      </p:graphicFrame>
    </p:spTree>
    <p:extLst>
      <p:ext uri="{BB962C8B-B14F-4D97-AF65-F5344CB8AC3E}">
        <p14:creationId xmlns:p14="http://schemas.microsoft.com/office/powerpoint/2010/main" val="29937714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F9056-F24B-DCF9-2A35-5E64C2A7E77E}"/>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D4A70B71-4EAF-3581-CFAF-328B77F9AF8E}"/>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37</a:t>
            </a:fld>
            <a:endParaRPr lang="en-US" sz="1400" b="1" dirty="0">
              <a:solidFill>
                <a:schemeClr val="accent1"/>
              </a:solidFill>
            </a:endParaRPr>
          </a:p>
        </p:txBody>
      </p:sp>
      <p:sp>
        <p:nvSpPr>
          <p:cNvPr id="2" name="Title 1">
            <a:extLst>
              <a:ext uri="{FF2B5EF4-FFF2-40B4-BE49-F238E27FC236}">
                <a16:creationId xmlns:a16="http://schemas.microsoft.com/office/drawing/2014/main" id="{E5D4F289-F75D-9139-BACA-3AC790BB8BD0}"/>
              </a:ext>
            </a:extLst>
          </p:cNvPr>
          <p:cNvSpPr txBox="1">
            <a:spLocks/>
          </p:cNvSpPr>
          <p:nvPr/>
        </p:nvSpPr>
        <p:spPr>
          <a:xfrm>
            <a:off x="2099733" y="408242"/>
            <a:ext cx="925406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بطاقة </a:t>
            </a:r>
            <a:r>
              <a:rPr lang="ar-SA" dirty="0"/>
              <a:t>التدريب لـ "دورة إدارة المشاريع والمخاطر وفقا لمنهجيات </a:t>
            </a:r>
            <a:r>
              <a:rPr lang="en-US" dirty="0"/>
              <a:t>PMI</a:t>
            </a:r>
            <a:r>
              <a:rPr lang="ar-EG" dirty="0"/>
              <a:t>"</a:t>
            </a:r>
            <a:endParaRPr lang="en-US" dirty="0"/>
          </a:p>
        </p:txBody>
      </p:sp>
      <p:graphicFrame>
        <p:nvGraphicFramePr>
          <p:cNvPr id="3" name="Table 5">
            <a:extLst>
              <a:ext uri="{FF2B5EF4-FFF2-40B4-BE49-F238E27FC236}">
                <a16:creationId xmlns:a16="http://schemas.microsoft.com/office/drawing/2014/main" id="{9E9B8205-C2AF-639C-DFBF-D94732BFA787}"/>
              </a:ext>
            </a:extLst>
          </p:cNvPr>
          <p:cNvGraphicFramePr>
            <a:graphicFrameLocks noGrp="1"/>
          </p:cNvGraphicFramePr>
          <p:nvPr>
            <p:extLst>
              <p:ext uri="{D42A27DB-BD31-4B8C-83A1-F6EECF244321}">
                <p14:modId xmlns:p14="http://schemas.microsoft.com/office/powerpoint/2010/main" val="2736482998"/>
              </p:ext>
            </p:extLst>
          </p:nvPr>
        </p:nvGraphicFramePr>
        <p:xfrm>
          <a:off x="668584" y="962735"/>
          <a:ext cx="10799517" cy="5140592"/>
        </p:xfrm>
        <a:graphic>
          <a:graphicData uri="http://schemas.openxmlformats.org/drawingml/2006/table">
            <a:tbl>
              <a:tblPr rtl="1" firstRow="1" bandRow="1">
                <a:tableStyleId>{2D5ABB26-0587-4C30-8999-92F81FD0307C}</a:tableStyleId>
              </a:tblPr>
              <a:tblGrid>
                <a:gridCol w="1816589">
                  <a:extLst>
                    <a:ext uri="{9D8B030D-6E8A-4147-A177-3AD203B41FA5}">
                      <a16:colId xmlns:a16="http://schemas.microsoft.com/office/drawing/2014/main" val="2004281081"/>
                    </a:ext>
                  </a:extLst>
                </a:gridCol>
                <a:gridCol w="2929107">
                  <a:extLst>
                    <a:ext uri="{9D8B030D-6E8A-4147-A177-3AD203B41FA5}">
                      <a16:colId xmlns:a16="http://schemas.microsoft.com/office/drawing/2014/main" val="2555702573"/>
                    </a:ext>
                  </a:extLst>
                </a:gridCol>
                <a:gridCol w="1530780">
                  <a:extLst>
                    <a:ext uri="{9D8B030D-6E8A-4147-A177-3AD203B41FA5}">
                      <a16:colId xmlns:a16="http://schemas.microsoft.com/office/drawing/2014/main" val="938496735"/>
                    </a:ext>
                  </a:extLst>
                </a:gridCol>
                <a:gridCol w="237803">
                  <a:extLst>
                    <a:ext uri="{9D8B030D-6E8A-4147-A177-3AD203B41FA5}">
                      <a16:colId xmlns:a16="http://schemas.microsoft.com/office/drawing/2014/main" val="2423776635"/>
                    </a:ext>
                  </a:extLst>
                </a:gridCol>
                <a:gridCol w="4285238">
                  <a:extLst>
                    <a:ext uri="{9D8B030D-6E8A-4147-A177-3AD203B41FA5}">
                      <a16:colId xmlns:a16="http://schemas.microsoft.com/office/drawing/2014/main" val="7071169"/>
                    </a:ext>
                  </a:extLst>
                </a:gridCol>
              </a:tblGrid>
              <a:tr h="613505">
                <a:tc>
                  <a:txBody>
                    <a:bodyPr/>
                    <a:lstStyle/>
                    <a:p>
                      <a:pPr marL="0" algn="ctr" defTabSz="914400" rtl="1" eaLnBrk="1" latinLnBrk="0" hangingPunct="1"/>
                      <a:r>
                        <a:rPr lang="ar-SA" sz="1800" b="1" kern="1200" dirty="0">
                          <a:solidFill>
                            <a:schemeClr val="bg1"/>
                          </a:solidFill>
                          <a:latin typeface="+mj-lt"/>
                          <a:ea typeface="+mn-ea"/>
                          <a:cs typeface="+mn-cs"/>
                        </a:rPr>
                        <a:t>اسم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800" b="1" kern="1200" dirty="0">
                          <a:solidFill>
                            <a:schemeClr val="tx1"/>
                          </a:solidFill>
                          <a:latin typeface="+mj-lt"/>
                          <a:ea typeface="+mn-ea"/>
                          <a:cs typeface="+mn-cs"/>
                        </a:rPr>
                        <a:t>دورة إدارة المشاريع والمخاطر وفقا لمنهجيات </a:t>
                      </a:r>
                      <a:r>
                        <a:rPr lang="en-US" sz="1800" b="1" kern="1200" dirty="0">
                          <a:solidFill>
                            <a:schemeClr val="tx1"/>
                          </a:solidFill>
                          <a:latin typeface="+mj-lt"/>
                          <a:ea typeface="+mn-ea"/>
                          <a:cs typeface="+mn-cs"/>
                        </a:rPr>
                        <a:t>PMI</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gridSpan="2">
                  <a:txBody>
                    <a:bodyPr/>
                    <a:lstStyle/>
                    <a:p>
                      <a:pPr marL="0" algn="ctr" defTabSz="914400" rtl="1" eaLnBrk="1" latinLnBrk="0" hangingPunct="1"/>
                      <a:r>
                        <a:rPr lang="ar-SA" sz="1800" b="1" kern="1200" dirty="0">
                          <a:solidFill>
                            <a:schemeClr val="bg1"/>
                          </a:solidFill>
                          <a:latin typeface="+mj-lt"/>
                          <a:ea typeface="+mn-ea"/>
                          <a:cs typeface="+mn-cs"/>
                        </a:rPr>
                        <a:t>المدة الزمنية المقترحة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endParaRPr lang="en-US" dirty="0"/>
                    </a:p>
                  </a:txBody>
                  <a:tcPr/>
                </a:tc>
                <a:tc>
                  <a:txBody>
                    <a:bodyPr/>
                    <a:lstStyle/>
                    <a:p>
                      <a:pPr algn="r" rtl="1"/>
                      <a:r>
                        <a:rPr lang="ar-SA" sz="1600" b="1" kern="1200" dirty="0">
                          <a:solidFill>
                            <a:schemeClr val="tx1"/>
                          </a:solidFill>
                          <a:latin typeface="+mn-lt"/>
                          <a:ea typeface="+mn-ea"/>
                          <a:cs typeface="+mn-cs"/>
                        </a:rPr>
                        <a:t>40 ساعة (5 أيام عمل، 8 ساعات يوميا)</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13795874"/>
                  </a:ext>
                </a:extLst>
              </a:tr>
              <a:tr h="801720">
                <a:tc>
                  <a:txBody>
                    <a:bodyPr/>
                    <a:lstStyle/>
                    <a:p>
                      <a:pPr marL="0" algn="ctr" defTabSz="914400" rtl="1" eaLnBrk="1" latinLnBrk="0" hangingPunct="1"/>
                      <a:r>
                        <a:rPr lang="ar-EG" sz="1800" b="1" kern="1200" dirty="0">
                          <a:solidFill>
                            <a:schemeClr val="bg1"/>
                          </a:solidFill>
                          <a:latin typeface="+mj-lt"/>
                          <a:ea typeface="+mn-ea"/>
                          <a:cs typeface="+mn-cs"/>
                        </a:rPr>
                        <a:t>وصف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4">
                  <a:txBody>
                    <a:bodyPr/>
                    <a:lstStyle/>
                    <a:p>
                      <a:pPr algn="r" rtl="1"/>
                      <a:r>
                        <a:rPr lang="ar-SA" sz="1600" kern="1200" dirty="0">
                          <a:solidFill>
                            <a:schemeClr val="tx1"/>
                          </a:solidFill>
                          <a:latin typeface="+mj-lt"/>
                          <a:ea typeface="+mn-ea"/>
                          <a:cs typeface="+mn-cs"/>
                        </a:rPr>
                        <a:t>تجمع هذه الدورة بين مفاهيم إدارة المشاريع وإدارة المخاطر وفقا لمعايير معهد إدارة المشاريع (</a:t>
                      </a:r>
                      <a:r>
                        <a:rPr lang="en-US" sz="1600" kern="1200" dirty="0">
                          <a:solidFill>
                            <a:schemeClr val="tx1"/>
                          </a:solidFill>
                          <a:latin typeface="+mj-lt"/>
                          <a:ea typeface="+mn-ea"/>
                          <a:cs typeface="+mn-cs"/>
                        </a:rPr>
                        <a:t>PMI</a:t>
                      </a:r>
                      <a:r>
                        <a:rPr lang="ar-SA" sz="1600" kern="1200" dirty="0">
                          <a:solidFill>
                            <a:schemeClr val="tx1"/>
                          </a:solidFill>
                          <a:latin typeface="+mj-lt"/>
                          <a:ea typeface="+mn-ea"/>
                          <a:cs typeface="+mn-cs"/>
                        </a:rPr>
                        <a:t>)</a:t>
                      </a:r>
                      <a:r>
                        <a:rPr lang="en-US" sz="1600" kern="1200" dirty="0">
                          <a:solidFill>
                            <a:schemeClr val="tx1"/>
                          </a:solidFill>
                          <a:latin typeface="+mj-lt"/>
                          <a:ea typeface="+mn-ea"/>
                          <a:cs typeface="+mn-cs"/>
                        </a:rPr>
                        <a:t>، </a:t>
                      </a:r>
                      <a:r>
                        <a:rPr lang="ar-SA" sz="1600" kern="1200" dirty="0">
                          <a:solidFill>
                            <a:schemeClr val="tx1"/>
                          </a:solidFill>
                          <a:latin typeface="+mj-lt"/>
                          <a:ea typeface="+mn-ea"/>
                          <a:cs typeface="+mn-cs"/>
                        </a:rPr>
                        <a:t>حيث يتم تزويد المشاركين بالمعرفة والمهارات اللازمة لتخطيط وتنفيذ ومراقبة المشاريع وإدارة المخاطر المرتبطة بها بفعالية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pPr marL="0" algn="ctr" defTabSz="914400" rtl="1" eaLnBrk="1" latinLnBrk="0" hangingPunct="1"/>
                      <a:endParaRPr lang="ar-SA" sz="16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endParaRPr lang="en-US"/>
                    </a:p>
                  </a:txBody>
                  <a:tcPr/>
                </a:tc>
                <a:tc hMerge="1">
                  <a:txBody>
                    <a:bodyPr/>
                    <a:lstStyle/>
                    <a:p>
                      <a:pPr algn="r" rtl="1"/>
                      <a:endParaRPr lang="ar-SA" sz="1600"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98658893"/>
                  </a:ext>
                </a:extLst>
              </a:tr>
              <a:tr h="939800">
                <a:tc>
                  <a:txBody>
                    <a:bodyPr/>
                    <a:lstStyle/>
                    <a:p>
                      <a:pPr marL="0" algn="ctr" defTabSz="914400" rtl="1" eaLnBrk="1" latinLnBrk="0" hangingPunct="1"/>
                      <a:r>
                        <a:rPr lang="ar-SA" sz="1800" b="1" kern="1200" dirty="0">
                          <a:solidFill>
                            <a:schemeClr val="bg1"/>
                          </a:solidFill>
                          <a:latin typeface="+mn-lt"/>
                          <a:ea typeface="+mn-ea"/>
                          <a:cs typeface="+mn-cs"/>
                        </a:rPr>
                        <a:t>الأدوار المستهدفة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285750" indent="-285750" algn="r" rtl="1">
                        <a:buFont typeface="Arial" panose="020B0604020202020204" pitchFamily="34" charset="0"/>
                        <a:buChar char="•"/>
                      </a:pPr>
                      <a:r>
                        <a:rPr lang="ar-SA" sz="1600" kern="1200" dirty="0">
                          <a:solidFill>
                            <a:schemeClr val="tx1"/>
                          </a:solidFill>
                          <a:latin typeface="+mj-lt"/>
                          <a:ea typeface="+mn-ea"/>
                          <a:cs typeface="+mn-cs"/>
                        </a:rPr>
                        <a:t>مدير قسم البنية المؤسسية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gridSpan="2">
                  <a:txBody>
                    <a:bodyPr/>
                    <a:lstStyle/>
                    <a:p>
                      <a:pPr marL="0" algn="ctr" defTabSz="914400" rtl="1" eaLnBrk="1" latinLnBrk="0" hangingPunct="1"/>
                      <a:r>
                        <a:rPr lang="ar-EG" sz="1800" b="1" kern="1200" dirty="0">
                          <a:solidFill>
                            <a:schemeClr val="bg1"/>
                          </a:solidFill>
                          <a:latin typeface="+mj-lt"/>
                          <a:ea typeface="+mn-ea"/>
                          <a:cs typeface="+mn-cs"/>
                        </a:rPr>
                        <a:t>الشهادات المرتبطة</a:t>
                      </a:r>
                      <a:endParaRPr lang="ar-SA"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j-lt"/>
                          <a:ea typeface="+mn-ea"/>
                          <a:cs typeface="+mn-cs"/>
                        </a:rPr>
                        <a:t>محلية: شهادة إتمام الدورة من مزود تدريب معتمد</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دولية: التأهيل للحصول على شهادة </a:t>
                      </a:r>
                      <a:r>
                        <a:rPr lang="ar-SA" sz="1600" kern="1200" dirty="0">
                          <a:solidFill>
                            <a:schemeClr val="tx1"/>
                          </a:solidFill>
                          <a:latin typeface="+mj-lt"/>
                          <a:ea typeface="+mn-ea"/>
                          <a:cs typeface="+mn-cs"/>
                        </a:rPr>
                        <a:t>محترف إدارة المشاريع (</a:t>
                      </a:r>
                      <a:r>
                        <a:rPr lang="en-US" sz="1600" kern="1200" dirty="0">
                          <a:solidFill>
                            <a:schemeClr val="tx1"/>
                          </a:solidFill>
                          <a:latin typeface="+mj-lt"/>
                          <a:ea typeface="+mn-ea"/>
                          <a:cs typeface="+mn-cs"/>
                        </a:rPr>
                        <a:t>PMP</a:t>
                      </a:r>
                      <a:r>
                        <a:rPr lang="ar-SA" sz="1600" kern="1200" dirty="0">
                          <a:solidFill>
                            <a:schemeClr val="tx1"/>
                          </a:solidFill>
                          <a:latin typeface="+mj-lt"/>
                          <a:ea typeface="+mn-ea"/>
                          <a:cs typeface="+mn-cs"/>
                        </a:rPr>
                        <a:t>)</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دولية: التأهيل للحصول على شهادة </a:t>
                      </a:r>
                      <a:r>
                        <a:rPr lang="ar-SA" sz="1600" kern="1200" dirty="0">
                          <a:solidFill>
                            <a:schemeClr val="tx1"/>
                          </a:solidFill>
                          <a:latin typeface="+mj-lt"/>
                          <a:ea typeface="+mn-ea"/>
                          <a:cs typeface="+mn-cs"/>
                        </a:rPr>
                        <a:t>محترف إدارة المخاطر (</a:t>
                      </a:r>
                      <a:r>
                        <a:rPr lang="en-US" sz="1600" kern="1200" dirty="0">
                          <a:solidFill>
                            <a:schemeClr val="tx1"/>
                          </a:solidFill>
                          <a:latin typeface="+mj-lt"/>
                          <a:ea typeface="+mn-ea"/>
                          <a:cs typeface="+mn-cs"/>
                        </a:rPr>
                        <a:t>RMP</a:t>
                      </a:r>
                      <a:r>
                        <a:rPr lang="ar-SA" sz="1600" kern="1200" dirty="0">
                          <a:solidFill>
                            <a:schemeClr val="tx1"/>
                          </a:solidFill>
                          <a:latin typeface="+mj-lt"/>
                          <a:ea typeface="+mn-ea"/>
                          <a:cs typeface="+mn-cs"/>
                        </a:rPr>
                        <a:t>)</a:t>
                      </a:r>
                      <a:endParaRPr lang="en-US"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j-lt"/>
                          <a:ea typeface="+mn-ea"/>
                          <a:cs typeface="+mn-cs"/>
                        </a:rPr>
                        <a:t>شهادة إتمام الدورة من مزود التدريب</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التأهيل لشهادة </a:t>
                      </a:r>
                      <a:r>
                        <a:rPr lang="ar-SA" sz="1600" kern="1200" dirty="0">
                          <a:solidFill>
                            <a:schemeClr val="tx1"/>
                          </a:solidFill>
                          <a:latin typeface="+mj-lt"/>
                          <a:ea typeface="+mn-ea"/>
                          <a:cs typeface="+mn-cs"/>
                        </a:rPr>
                        <a:t>محترف إدارة المشاريع (</a:t>
                      </a:r>
                      <a:r>
                        <a:rPr lang="en-US" sz="1600" kern="1200" dirty="0">
                          <a:solidFill>
                            <a:schemeClr val="tx1"/>
                          </a:solidFill>
                          <a:latin typeface="+mj-lt"/>
                          <a:ea typeface="+mn-ea"/>
                          <a:cs typeface="+mn-cs"/>
                        </a:rPr>
                        <a:t>PMP</a:t>
                      </a:r>
                      <a:r>
                        <a:rPr lang="ar-SA" sz="1600" kern="1200" dirty="0">
                          <a:solidFill>
                            <a:schemeClr val="tx1"/>
                          </a:solidFill>
                          <a:latin typeface="+mj-lt"/>
                          <a:ea typeface="+mn-ea"/>
                          <a:cs typeface="+mn-cs"/>
                        </a:rPr>
                        <a:t>)</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التأهيل لشهادة </a:t>
                      </a:r>
                      <a:r>
                        <a:rPr lang="ar-SA" sz="1600" kern="1200" dirty="0">
                          <a:solidFill>
                            <a:schemeClr val="tx1"/>
                          </a:solidFill>
                          <a:latin typeface="+mj-lt"/>
                          <a:ea typeface="+mn-ea"/>
                          <a:cs typeface="+mn-cs"/>
                        </a:rPr>
                        <a:t>محترف إدارة المخاطر (</a:t>
                      </a:r>
                      <a:r>
                        <a:rPr lang="en-US" sz="1600" kern="1200" dirty="0">
                          <a:solidFill>
                            <a:schemeClr val="tx1"/>
                          </a:solidFill>
                          <a:latin typeface="+mj-lt"/>
                          <a:ea typeface="+mn-ea"/>
                          <a:cs typeface="+mn-cs"/>
                        </a:rPr>
                        <a:t>RMP</a:t>
                      </a:r>
                      <a:r>
                        <a:rPr lang="ar-SA" sz="1600" kern="1200" dirty="0">
                          <a:solidFill>
                            <a:schemeClr val="tx1"/>
                          </a:solidFill>
                          <a:latin typeface="+mj-lt"/>
                          <a:ea typeface="+mn-ea"/>
                          <a:cs typeface="+mn-cs"/>
                        </a:rPr>
                        <a: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840185893"/>
                  </a:ext>
                </a:extLst>
              </a:tr>
              <a:tr h="869232">
                <a:tc>
                  <a:txBody>
                    <a:bodyPr/>
                    <a:lstStyle/>
                    <a:p>
                      <a:pPr marL="0" algn="ctr" defTabSz="914400" rtl="1" eaLnBrk="1" latinLnBrk="0" hangingPunct="1"/>
                      <a:r>
                        <a:rPr lang="ar-SA" sz="1800" b="1" kern="1200" dirty="0">
                          <a:solidFill>
                            <a:schemeClr val="bg1"/>
                          </a:solidFill>
                          <a:latin typeface="+mj-lt"/>
                          <a:ea typeface="+mn-ea"/>
                          <a:cs typeface="+mn-cs"/>
                        </a:rPr>
                        <a:t>طريقة التدريب</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4">
                  <a:txBody>
                    <a:bodyPr/>
                    <a:lstStyle/>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(قيد التخطيط)</a:t>
                      </a:r>
                      <a:endParaRPr lang="en-US" sz="1600" kern="1200" dirty="0">
                        <a:solidFill>
                          <a:schemeClr val="tx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tc hMerge="1">
                  <a:txBody>
                    <a:bodyPr/>
                    <a:lstStyle/>
                    <a:p>
                      <a:endParaRPr lang="en-US"/>
                    </a:p>
                  </a:txBody>
                  <a:tcPr/>
                </a:tc>
                <a:tc hMerge="1">
                  <a:txBody>
                    <a:bodyPr/>
                    <a:lstStyle/>
                    <a:p>
                      <a:endParaRPr lang="en-US"/>
                    </a:p>
                  </a:txBody>
                  <a:tcPr>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808309057"/>
                  </a:ext>
                </a:extLst>
              </a:tr>
              <a:tr h="1028321">
                <a:tc>
                  <a:txBody>
                    <a:bodyPr/>
                    <a:lstStyle/>
                    <a:p>
                      <a:pPr marL="0" algn="ctr" defTabSz="914400" rtl="1" eaLnBrk="1" latinLnBrk="0" hangingPunct="1"/>
                      <a:r>
                        <a:rPr lang="ar-EG" sz="1800" b="1" kern="1200" dirty="0">
                          <a:solidFill>
                            <a:schemeClr val="bg1"/>
                          </a:solidFill>
                          <a:latin typeface="+mj-lt"/>
                          <a:ea typeface="+mn-ea"/>
                          <a:cs typeface="+mn-cs"/>
                        </a:rPr>
                        <a:t>محتويات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2">
                  <a:txBody>
                    <a:bodyPr/>
                    <a:lstStyle/>
                    <a:p>
                      <a:pPr marL="285750" indent="-285750" algn="r" rtl="1">
                        <a:buFont typeface="Arial" panose="020B0604020202020204" pitchFamily="34" charset="0"/>
                        <a:buChar char="•"/>
                      </a:pPr>
                      <a:r>
                        <a:rPr lang="ar-SA" sz="1600" dirty="0"/>
                        <a:t>مقدمة في إدارة المشاريع وإدارة المخاطر</a:t>
                      </a:r>
                    </a:p>
                    <a:p>
                      <a:pPr marL="285750" indent="-285750" algn="r" rtl="1">
                        <a:buFont typeface="Arial" panose="020B0604020202020204" pitchFamily="34" charset="0"/>
                        <a:buChar char="•"/>
                      </a:pPr>
                      <a:r>
                        <a:rPr lang="ar-SA" sz="1600" dirty="0"/>
                        <a:t>عمليات ومجالات المعرفة في </a:t>
                      </a:r>
                      <a:r>
                        <a:rPr lang="en-US" sz="1600" dirty="0"/>
                        <a:t>PMBOK</a:t>
                      </a:r>
                      <a:endParaRPr lang="ar-SA" sz="1600" dirty="0"/>
                    </a:p>
                    <a:p>
                      <a:pPr marL="285750" indent="-285750" algn="r" rtl="1">
                        <a:buFont typeface="Arial" panose="020B0604020202020204" pitchFamily="34" charset="0"/>
                        <a:buChar char="•"/>
                      </a:pPr>
                      <a:r>
                        <a:rPr lang="ar-SA" sz="1600" dirty="0"/>
                        <a:t>تخطيط المشاريع وتحديد النطاق والأهداف</a:t>
                      </a:r>
                    </a:p>
                    <a:p>
                      <a:pPr marL="285750" indent="-285750" algn="r" rtl="1">
                        <a:buFont typeface="Arial" panose="020B0604020202020204" pitchFamily="34" charset="0"/>
                        <a:buChar char="•"/>
                      </a:pPr>
                      <a:r>
                        <a:rPr lang="ar-SA" sz="1600" dirty="0"/>
                        <a:t>إدارة الجدول الزمني والتكلفة والجودة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gridSpan="2">
                  <a:txBody>
                    <a:bodyPr/>
                    <a:lstStyle/>
                    <a:p>
                      <a:pPr marL="285750" indent="-285750" algn="r" rtl="1">
                        <a:buFont typeface="Arial" panose="020B0604020202020204" pitchFamily="34" charset="0"/>
                        <a:buChar char="•"/>
                      </a:pPr>
                      <a:r>
                        <a:rPr lang="ar-SA" sz="1600" dirty="0"/>
                        <a:t>إدارة المخاطر: التعريف، التحليل، الاستجابة</a:t>
                      </a:r>
                    </a:p>
                    <a:p>
                      <a:pPr marL="285750" indent="-285750" algn="r" rtl="1">
                        <a:buFont typeface="Arial" panose="020B0604020202020204" pitchFamily="34" charset="0"/>
                        <a:buChar char="•"/>
                      </a:pPr>
                      <a:r>
                        <a:rPr lang="ar-SA" sz="1600" dirty="0"/>
                        <a:t>أدوات وتقنيات إدارة المشاريع والمخاطر</a:t>
                      </a:r>
                    </a:p>
                    <a:p>
                      <a:pPr marL="285750" indent="-285750" algn="r" rtl="1">
                        <a:buFont typeface="Arial" panose="020B0604020202020204" pitchFamily="34" charset="0"/>
                        <a:buChar char="•"/>
                      </a:pPr>
                      <a:r>
                        <a:rPr lang="ar-SA" sz="1600" dirty="0"/>
                        <a:t>أخلاقيات ومسؤوليات مدراء المشاريع</a:t>
                      </a:r>
                    </a:p>
                    <a:p>
                      <a:pPr marL="285750" indent="-285750" algn="r" rtl="1">
                        <a:buFont typeface="Arial" panose="020B0604020202020204" pitchFamily="34" charset="0"/>
                        <a:buChar char="•"/>
                      </a:pPr>
                      <a:r>
                        <a:rPr lang="ar-SA" sz="1600" dirty="0"/>
                        <a:t>التحضير لامتحاني </a:t>
                      </a:r>
                      <a:r>
                        <a:rPr lang="en-US" sz="1600" dirty="0"/>
                        <a:t>PMP</a:t>
                      </a:r>
                      <a:r>
                        <a:rPr lang="ar-SA" sz="1600" dirty="0"/>
                        <a:t> و </a:t>
                      </a:r>
                      <a:r>
                        <a:rPr lang="en-US" sz="1600" dirty="0"/>
                        <a:t>PMI-RMP</a:t>
                      </a:r>
                      <a:endParaRPr lang="ar-SA" sz="160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540153272"/>
                  </a:ext>
                </a:extLst>
              </a:tr>
              <a:tr h="788792">
                <a:tc>
                  <a:txBody>
                    <a:bodyPr/>
                    <a:lstStyle/>
                    <a:p>
                      <a:pPr marL="0" algn="ctr" defTabSz="914400" rtl="1" eaLnBrk="1" latinLnBrk="0" hangingPunct="1"/>
                      <a:r>
                        <a:rPr lang="ar-EG" sz="1800" b="1" kern="1200" dirty="0">
                          <a:solidFill>
                            <a:schemeClr val="bg1"/>
                          </a:solidFill>
                          <a:latin typeface="+mn-lt"/>
                          <a:ea typeface="+mn-ea"/>
                          <a:cs typeface="+mn-cs"/>
                        </a:rPr>
                        <a:t>أهداف الدورة</a:t>
                      </a:r>
                      <a:endParaRPr lang="en-US" sz="1800" b="1" kern="1200" dirty="0">
                        <a:solidFill>
                          <a:schemeClr val="bg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2">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فهم مبادئ وأسس إدارة المشاريع والمخاطر وفقا لـ </a:t>
                      </a:r>
                      <a:r>
                        <a:rPr lang="en-US" sz="1600" dirty="0"/>
                        <a:t>PMI</a:t>
                      </a:r>
                      <a:endParaRPr lang="ar-SA" sz="1600" dirty="0"/>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تطوير مهارات تخطيط ومتابعة تنفيذ المشاريع</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تطبيق أفضل الممارسات في إدارة المخاطر</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gridSpan="2">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التحضير لاجتياز امتحاني </a:t>
                      </a:r>
                      <a:r>
                        <a:rPr lang="en-US" sz="1600" dirty="0"/>
                        <a:t>PMP</a:t>
                      </a:r>
                      <a:r>
                        <a:rPr lang="ar-SA" sz="1600" dirty="0"/>
                        <a:t> و </a:t>
                      </a:r>
                      <a:r>
                        <a:rPr lang="en-US" sz="1600" dirty="0"/>
                        <a:t>PMI-RMP</a:t>
                      </a:r>
                      <a:endParaRPr lang="ar-SA" sz="1600" dirty="0"/>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تعزيز القدرات القيادية بين أعضاء الفريق</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72527477"/>
                  </a:ext>
                </a:extLst>
              </a:tr>
            </a:tbl>
          </a:graphicData>
        </a:graphic>
      </p:graphicFrame>
    </p:spTree>
    <p:extLst>
      <p:ext uri="{BB962C8B-B14F-4D97-AF65-F5344CB8AC3E}">
        <p14:creationId xmlns:p14="http://schemas.microsoft.com/office/powerpoint/2010/main" val="10162853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F9056-F24B-DCF9-2A35-5E64C2A7E77E}"/>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D4A70B71-4EAF-3581-CFAF-328B77F9AF8E}"/>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38</a:t>
            </a:fld>
            <a:endParaRPr lang="en-US" sz="1400" b="1" dirty="0">
              <a:solidFill>
                <a:schemeClr val="accent1"/>
              </a:solidFill>
            </a:endParaRPr>
          </a:p>
        </p:txBody>
      </p:sp>
      <p:sp>
        <p:nvSpPr>
          <p:cNvPr id="2" name="Title 1">
            <a:extLst>
              <a:ext uri="{FF2B5EF4-FFF2-40B4-BE49-F238E27FC236}">
                <a16:creationId xmlns:a16="http://schemas.microsoft.com/office/drawing/2014/main" id="{E5D4F289-F75D-9139-BACA-3AC790BB8BD0}"/>
              </a:ext>
            </a:extLst>
          </p:cNvPr>
          <p:cNvSpPr txBox="1">
            <a:spLocks/>
          </p:cNvSpPr>
          <p:nvPr/>
        </p:nvSpPr>
        <p:spPr>
          <a:xfrm>
            <a:off x="2099733" y="408242"/>
            <a:ext cx="925406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بطاقة </a:t>
            </a:r>
            <a:r>
              <a:rPr lang="ar-SA" dirty="0"/>
              <a:t>التدريب لـ "دورة نمذجة العمليات باستخدام لغة النمذجة </a:t>
            </a:r>
            <a:r>
              <a:rPr lang="en-US" dirty="0"/>
              <a:t>BPMN</a:t>
            </a:r>
            <a:r>
              <a:rPr lang="ar-EG" dirty="0"/>
              <a:t>"</a:t>
            </a:r>
            <a:endParaRPr lang="en-US" dirty="0"/>
          </a:p>
        </p:txBody>
      </p:sp>
      <p:graphicFrame>
        <p:nvGraphicFramePr>
          <p:cNvPr id="3" name="Table 5">
            <a:extLst>
              <a:ext uri="{FF2B5EF4-FFF2-40B4-BE49-F238E27FC236}">
                <a16:creationId xmlns:a16="http://schemas.microsoft.com/office/drawing/2014/main" id="{9E9B8205-C2AF-639C-DFBF-D94732BFA787}"/>
              </a:ext>
            </a:extLst>
          </p:cNvPr>
          <p:cNvGraphicFramePr>
            <a:graphicFrameLocks noGrp="1"/>
          </p:cNvGraphicFramePr>
          <p:nvPr>
            <p:extLst>
              <p:ext uri="{D42A27DB-BD31-4B8C-83A1-F6EECF244321}">
                <p14:modId xmlns:p14="http://schemas.microsoft.com/office/powerpoint/2010/main" val="3702459852"/>
              </p:ext>
            </p:extLst>
          </p:nvPr>
        </p:nvGraphicFramePr>
        <p:xfrm>
          <a:off x="668584" y="962735"/>
          <a:ext cx="10799517" cy="5067945"/>
        </p:xfrm>
        <a:graphic>
          <a:graphicData uri="http://schemas.openxmlformats.org/drawingml/2006/table">
            <a:tbl>
              <a:tblPr rtl="1" firstRow="1" bandRow="1">
                <a:tableStyleId>{2D5ABB26-0587-4C30-8999-92F81FD0307C}</a:tableStyleId>
              </a:tblPr>
              <a:tblGrid>
                <a:gridCol w="1816589">
                  <a:extLst>
                    <a:ext uri="{9D8B030D-6E8A-4147-A177-3AD203B41FA5}">
                      <a16:colId xmlns:a16="http://schemas.microsoft.com/office/drawing/2014/main" val="2004281081"/>
                    </a:ext>
                  </a:extLst>
                </a:gridCol>
                <a:gridCol w="2929107">
                  <a:extLst>
                    <a:ext uri="{9D8B030D-6E8A-4147-A177-3AD203B41FA5}">
                      <a16:colId xmlns:a16="http://schemas.microsoft.com/office/drawing/2014/main" val="2555702573"/>
                    </a:ext>
                  </a:extLst>
                </a:gridCol>
                <a:gridCol w="1530780">
                  <a:extLst>
                    <a:ext uri="{9D8B030D-6E8A-4147-A177-3AD203B41FA5}">
                      <a16:colId xmlns:a16="http://schemas.microsoft.com/office/drawing/2014/main" val="938496735"/>
                    </a:ext>
                  </a:extLst>
                </a:gridCol>
                <a:gridCol w="237803">
                  <a:extLst>
                    <a:ext uri="{9D8B030D-6E8A-4147-A177-3AD203B41FA5}">
                      <a16:colId xmlns:a16="http://schemas.microsoft.com/office/drawing/2014/main" val="2423776635"/>
                    </a:ext>
                  </a:extLst>
                </a:gridCol>
                <a:gridCol w="4285238">
                  <a:extLst>
                    <a:ext uri="{9D8B030D-6E8A-4147-A177-3AD203B41FA5}">
                      <a16:colId xmlns:a16="http://schemas.microsoft.com/office/drawing/2014/main" val="7071169"/>
                    </a:ext>
                  </a:extLst>
                </a:gridCol>
              </a:tblGrid>
              <a:tr h="613505">
                <a:tc>
                  <a:txBody>
                    <a:bodyPr/>
                    <a:lstStyle/>
                    <a:p>
                      <a:pPr marL="0" algn="ctr" defTabSz="914400" rtl="1" eaLnBrk="1" latinLnBrk="0" hangingPunct="1"/>
                      <a:r>
                        <a:rPr lang="ar-SA" sz="1800" b="1" kern="1200" dirty="0">
                          <a:solidFill>
                            <a:schemeClr val="bg1"/>
                          </a:solidFill>
                          <a:latin typeface="+mj-lt"/>
                          <a:ea typeface="+mn-ea"/>
                          <a:cs typeface="+mn-cs"/>
                        </a:rPr>
                        <a:t>اسم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800" b="1" kern="1200" dirty="0">
                          <a:solidFill>
                            <a:schemeClr val="tx1"/>
                          </a:solidFill>
                          <a:latin typeface="+mj-lt"/>
                          <a:ea typeface="+mn-ea"/>
                          <a:cs typeface="+mn-cs"/>
                        </a:rPr>
                        <a:t>دورة نمذجة العمليات باستخدام لغة النمذجة </a:t>
                      </a:r>
                      <a:r>
                        <a:rPr lang="en-US" sz="1800" b="1" kern="1200" dirty="0">
                          <a:solidFill>
                            <a:schemeClr val="tx1"/>
                          </a:solidFill>
                          <a:latin typeface="+mj-lt"/>
                          <a:ea typeface="+mn-ea"/>
                          <a:cs typeface="+mn-cs"/>
                        </a:rPr>
                        <a:t>BPMN</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gridSpan="2">
                  <a:txBody>
                    <a:bodyPr/>
                    <a:lstStyle/>
                    <a:p>
                      <a:pPr marL="0" algn="ctr" defTabSz="914400" rtl="1" eaLnBrk="1" latinLnBrk="0" hangingPunct="1"/>
                      <a:r>
                        <a:rPr lang="ar-SA" sz="1800" b="1" kern="1200" dirty="0">
                          <a:solidFill>
                            <a:schemeClr val="bg1"/>
                          </a:solidFill>
                          <a:latin typeface="+mj-lt"/>
                          <a:ea typeface="+mn-ea"/>
                          <a:cs typeface="+mn-cs"/>
                        </a:rPr>
                        <a:t>المدة الزمنية المقترحة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endParaRPr lang="en-US" dirty="0"/>
                    </a:p>
                  </a:txBody>
                  <a:tcPr/>
                </a:tc>
                <a:tc>
                  <a:txBody>
                    <a:bodyPr/>
                    <a:lstStyle/>
                    <a:p>
                      <a:pPr algn="r" rtl="1"/>
                      <a:r>
                        <a:rPr lang="ar-SA" sz="1600" b="1" kern="1200" dirty="0">
                          <a:solidFill>
                            <a:schemeClr val="tx1"/>
                          </a:solidFill>
                          <a:latin typeface="+mn-lt"/>
                          <a:ea typeface="+mn-ea"/>
                          <a:cs typeface="+mn-cs"/>
                        </a:rPr>
                        <a:t>16 ساعة (2 يوم عمل، 8 ساعات يوميا)</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13795874"/>
                  </a:ext>
                </a:extLst>
              </a:tr>
              <a:tr h="801720">
                <a:tc>
                  <a:txBody>
                    <a:bodyPr/>
                    <a:lstStyle/>
                    <a:p>
                      <a:pPr marL="0" algn="ctr" defTabSz="914400" rtl="1" eaLnBrk="1" latinLnBrk="0" hangingPunct="1"/>
                      <a:r>
                        <a:rPr lang="ar-EG" sz="1800" b="1" kern="1200" dirty="0">
                          <a:solidFill>
                            <a:schemeClr val="bg1"/>
                          </a:solidFill>
                          <a:latin typeface="+mj-lt"/>
                          <a:ea typeface="+mn-ea"/>
                          <a:cs typeface="+mn-cs"/>
                        </a:rPr>
                        <a:t>وصف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4">
                  <a:txBody>
                    <a:bodyPr/>
                    <a:lstStyle/>
                    <a:p>
                      <a:pPr algn="r" rtl="1"/>
                      <a:r>
                        <a:rPr lang="ar-SA" sz="1600" kern="1200" dirty="0">
                          <a:solidFill>
                            <a:schemeClr val="tx1"/>
                          </a:solidFill>
                          <a:latin typeface="+mj-lt"/>
                          <a:ea typeface="+mn-ea"/>
                          <a:cs typeface="+mn-cs"/>
                        </a:rPr>
                        <a:t>تهدف هذه الدورة إلى تعليم المشاركين كيفية استخدام لغة نمذجة عمليات الأعمال (</a:t>
                      </a:r>
                      <a:r>
                        <a:rPr lang="en-US" sz="1600" kern="1200" dirty="0">
                          <a:solidFill>
                            <a:schemeClr val="tx1"/>
                          </a:solidFill>
                          <a:latin typeface="+mj-lt"/>
                          <a:ea typeface="+mn-ea"/>
                          <a:cs typeface="+mn-cs"/>
                        </a:rPr>
                        <a:t>BPMN</a:t>
                      </a:r>
                      <a:r>
                        <a:rPr lang="ar-SA" sz="1600" kern="1200" dirty="0">
                          <a:solidFill>
                            <a:schemeClr val="tx1"/>
                          </a:solidFill>
                          <a:latin typeface="+mj-lt"/>
                          <a:ea typeface="+mn-ea"/>
                          <a:cs typeface="+mn-cs"/>
                        </a:rPr>
                        <a:t>) لتصميم وتحليل وتحسين العمليات التجارية، مما يسهم في تحسين الكفاءة والفعالية التنظيمية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pPr marL="0" algn="ctr" defTabSz="914400" rtl="1" eaLnBrk="1" latinLnBrk="0" hangingPunct="1"/>
                      <a:endParaRPr lang="ar-SA" sz="16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endParaRPr lang="en-US"/>
                    </a:p>
                  </a:txBody>
                  <a:tcPr/>
                </a:tc>
                <a:tc hMerge="1">
                  <a:txBody>
                    <a:bodyPr/>
                    <a:lstStyle/>
                    <a:p>
                      <a:pPr algn="r" rtl="1"/>
                      <a:endParaRPr lang="ar-SA" sz="1600"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98658893"/>
                  </a:ext>
                </a:extLst>
              </a:tr>
              <a:tr h="939800">
                <a:tc>
                  <a:txBody>
                    <a:bodyPr/>
                    <a:lstStyle/>
                    <a:p>
                      <a:pPr marL="0" algn="ctr" defTabSz="914400" rtl="1" eaLnBrk="1" latinLnBrk="0" hangingPunct="1"/>
                      <a:r>
                        <a:rPr lang="ar-SA" sz="1800" b="1" kern="1200" dirty="0">
                          <a:solidFill>
                            <a:schemeClr val="bg1"/>
                          </a:solidFill>
                          <a:latin typeface="+mn-lt"/>
                          <a:ea typeface="+mn-ea"/>
                          <a:cs typeface="+mn-cs"/>
                        </a:rPr>
                        <a:t>الأدوار المستهدفة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285750" indent="-285750" algn="r" rtl="1">
                        <a:buFont typeface="Arial" panose="020B0604020202020204" pitchFamily="34" charset="0"/>
                        <a:buChar char="•"/>
                      </a:pPr>
                      <a:r>
                        <a:rPr lang="ar-SA" sz="1600" kern="1200" dirty="0">
                          <a:solidFill>
                            <a:schemeClr val="tx1"/>
                          </a:solidFill>
                          <a:latin typeface="+mj-lt"/>
                          <a:ea typeface="+mn-ea"/>
                          <a:cs typeface="+mn-cs"/>
                        </a:rPr>
                        <a:t>خبير بنية الأعمال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gridSpan="2">
                  <a:txBody>
                    <a:bodyPr/>
                    <a:lstStyle/>
                    <a:p>
                      <a:pPr marL="0" algn="ctr" defTabSz="914400" rtl="1" eaLnBrk="1" latinLnBrk="0" hangingPunct="1"/>
                      <a:r>
                        <a:rPr lang="ar-EG" sz="1800" b="1" kern="1200" dirty="0">
                          <a:solidFill>
                            <a:schemeClr val="bg1"/>
                          </a:solidFill>
                          <a:latin typeface="+mj-lt"/>
                          <a:ea typeface="+mn-ea"/>
                          <a:cs typeface="+mn-cs"/>
                        </a:rPr>
                        <a:t>الشهادات المرتبطة</a:t>
                      </a:r>
                      <a:endParaRPr lang="ar-SA"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j-lt"/>
                          <a:ea typeface="+mn-ea"/>
                          <a:cs typeface="+mn-cs"/>
                        </a:rPr>
                        <a:t>محلية: شهادة إتمام الدورة من مزود تدريب معتمد</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دولية: التأهيل للحصول على شهادة </a:t>
                      </a:r>
                      <a:r>
                        <a:rPr lang="ar-SA" sz="1600" kern="1200" dirty="0">
                          <a:solidFill>
                            <a:schemeClr val="tx1"/>
                          </a:solidFill>
                          <a:latin typeface="+mj-lt"/>
                          <a:ea typeface="+mn-ea"/>
                          <a:cs typeface="+mn-cs"/>
                        </a:rPr>
                        <a:t>محترف إدارة المشاريع (</a:t>
                      </a:r>
                      <a:r>
                        <a:rPr lang="en-US" sz="1600" kern="1200" dirty="0">
                          <a:solidFill>
                            <a:schemeClr val="tx1"/>
                          </a:solidFill>
                          <a:latin typeface="+mj-lt"/>
                          <a:ea typeface="+mn-ea"/>
                          <a:cs typeface="+mn-cs"/>
                        </a:rPr>
                        <a:t>PMP</a:t>
                      </a:r>
                      <a:r>
                        <a:rPr lang="ar-SA" sz="1600" kern="1200" dirty="0">
                          <a:solidFill>
                            <a:schemeClr val="tx1"/>
                          </a:solidFill>
                          <a:latin typeface="+mj-lt"/>
                          <a:ea typeface="+mn-ea"/>
                          <a:cs typeface="+mn-cs"/>
                        </a:rPr>
                        <a:t>)</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دولية: التأهيل للحصول على شهادة </a:t>
                      </a:r>
                      <a:r>
                        <a:rPr lang="ar-SA" sz="1600" kern="1200" dirty="0">
                          <a:solidFill>
                            <a:schemeClr val="tx1"/>
                          </a:solidFill>
                          <a:latin typeface="+mj-lt"/>
                          <a:ea typeface="+mn-ea"/>
                          <a:cs typeface="+mn-cs"/>
                        </a:rPr>
                        <a:t>محترف إدارة المخاطر (</a:t>
                      </a:r>
                      <a:r>
                        <a:rPr lang="en-US" sz="1600" kern="1200" dirty="0">
                          <a:solidFill>
                            <a:schemeClr val="tx1"/>
                          </a:solidFill>
                          <a:latin typeface="+mj-lt"/>
                          <a:ea typeface="+mn-ea"/>
                          <a:cs typeface="+mn-cs"/>
                        </a:rPr>
                        <a:t>RMP</a:t>
                      </a:r>
                      <a:r>
                        <a:rPr lang="ar-SA" sz="1600" kern="1200" dirty="0">
                          <a:solidFill>
                            <a:schemeClr val="tx1"/>
                          </a:solidFill>
                          <a:latin typeface="+mj-lt"/>
                          <a:ea typeface="+mn-ea"/>
                          <a:cs typeface="+mn-cs"/>
                        </a:rPr>
                        <a:t>)</a:t>
                      </a:r>
                      <a:endParaRPr lang="en-US"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j-lt"/>
                          <a:ea typeface="+mn-ea"/>
                          <a:cs typeface="+mn-cs"/>
                        </a:rPr>
                        <a:t>شهادة إتمام الدورة من مزود التدريب</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840185893"/>
                  </a:ext>
                </a:extLst>
              </a:tr>
              <a:tr h="869232">
                <a:tc>
                  <a:txBody>
                    <a:bodyPr/>
                    <a:lstStyle/>
                    <a:p>
                      <a:pPr marL="0" algn="ctr" defTabSz="914400" rtl="1" eaLnBrk="1" latinLnBrk="0" hangingPunct="1"/>
                      <a:r>
                        <a:rPr lang="ar-SA" sz="1800" b="1" kern="1200" dirty="0">
                          <a:solidFill>
                            <a:schemeClr val="bg1"/>
                          </a:solidFill>
                          <a:latin typeface="+mj-lt"/>
                          <a:ea typeface="+mn-ea"/>
                          <a:cs typeface="+mn-cs"/>
                        </a:rPr>
                        <a:t>طريقة التدريب</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4">
                  <a:txBody>
                    <a:bodyPr/>
                    <a:lstStyle/>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(قيد التخطيط)</a:t>
                      </a:r>
                      <a:endParaRPr lang="en-US" sz="1600" kern="1200" dirty="0">
                        <a:solidFill>
                          <a:schemeClr val="tx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tc hMerge="1">
                  <a:txBody>
                    <a:bodyPr/>
                    <a:lstStyle/>
                    <a:p>
                      <a:endParaRPr lang="en-US"/>
                    </a:p>
                  </a:txBody>
                  <a:tcPr/>
                </a:tc>
                <a:tc hMerge="1">
                  <a:txBody>
                    <a:bodyPr/>
                    <a:lstStyle/>
                    <a:p>
                      <a:endParaRPr lang="en-US"/>
                    </a:p>
                  </a:txBody>
                  <a:tcPr>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808309057"/>
                  </a:ext>
                </a:extLst>
              </a:tr>
              <a:tr h="1028321">
                <a:tc>
                  <a:txBody>
                    <a:bodyPr/>
                    <a:lstStyle/>
                    <a:p>
                      <a:pPr marL="0" algn="ctr" defTabSz="914400" rtl="1" eaLnBrk="1" latinLnBrk="0" hangingPunct="1"/>
                      <a:r>
                        <a:rPr lang="ar-EG" sz="1800" b="1" kern="1200" dirty="0">
                          <a:solidFill>
                            <a:schemeClr val="bg1"/>
                          </a:solidFill>
                          <a:latin typeface="+mj-lt"/>
                          <a:ea typeface="+mn-ea"/>
                          <a:cs typeface="+mn-cs"/>
                        </a:rPr>
                        <a:t>محتويات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2">
                  <a:txBody>
                    <a:bodyPr/>
                    <a:lstStyle/>
                    <a:p>
                      <a:pPr marL="285750" indent="-285750" algn="r" rtl="1">
                        <a:buFont typeface="Arial" panose="020B0604020202020204" pitchFamily="34" charset="0"/>
                        <a:buChar char="•"/>
                      </a:pPr>
                      <a:r>
                        <a:rPr lang="ar-SA" sz="1600" dirty="0"/>
                        <a:t>مقدمة في </a:t>
                      </a:r>
                      <a:r>
                        <a:rPr lang="en-US" sz="1600" dirty="0"/>
                        <a:t>BPMN</a:t>
                      </a:r>
                      <a:r>
                        <a:rPr lang="ar-SA" sz="1600" dirty="0"/>
                        <a:t> وأهميتها</a:t>
                      </a:r>
                    </a:p>
                    <a:p>
                      <a:pPr marL="285750" indent="-285750" algn="r" rtl="1">
                        <a:buFont typeface="Arial" panose="020B0604020202020204" pitchFamily="34" charset="0"/>
                        <a:buChar char="•"/>
                      </a:pPr>
                      <a:r>
                        <a:rPr lang="ar-SA" sz="1600" dirty="0"/>
                        <a:t>العناصر الأساسية للغة </a:t>
                      </a:r>
                      <a:r>
                        <a:rPr lang="en-US" sz="1600" dirty="0"/>
                        <a:t>BPMN</a:t>
                      </a:r>
                      <a:endParaRPr lang="ar-SA" sz="1600" dirty="0"/>
                    </a:p>
                    <a:p>
                      <a:pPr marL="285750" indent="-285750" algn="r" rtl="1">
                        <a:buFont typeface="Arial" panose="020B0604020202020204" pitchFamily="34" charset="0"/>
                        <a:buChar char="•"/>
                      </a:pPr>
                      <a:r>
                        <a:rPr lang="ar-SA" sz="1600" dirty="0"/>
                        <a:t>تصميم ورسم عمليات الأعمال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gridSpan="2">
                  <a:txBody>
                    <a:bodyPr/>
                    <a:lstStyle/>
                    <a:p>
                      <a:pPr marL="285750" indent="-285750" algn="r" rtl="1">
                        <a:buFont typeface="Arial" panose="020B0604020202020204" pitchFamily="34" charset="0"/>
                        <a:buChar char="•"/>
                      </a:pPr>
                      <a:r>
                        <a:rPr lang="ar-SA" sz="1600" dirty="0"/>
                        <a:t>تحليل العمليات وتحديد مجالات التحسين</a:t>
                      </a:r>
                    </a:p>
                    <a:p>
                      <a:pPr marL="285750" indent="-285750" algn="r" rtl="1">
                        <a:buFont typeface="Arial" panose="020B0604020202020204" pitchFamily="34" charset="0"/>
                        <a:buChar char="•"/>
                      </a:pPr>
                      <a:r>
                        <a:rPr lang="ar-SA" sz="1600" dirty="0"/>
                        <a:t>استخدام أدوات النمذجة</a:t>
                      </a:r>
                    </a:p>
                    <a:p>
                      <a:pPr marL="285750" indent="-285750" algn="r" rtl="1">
                        <a:buFont typeface="Arial" panose="020B0604020202020204" pitchFamily="34" charset="0"/>
                        <a:buChar char="•"/>
                      </a:pPr>
                      <a:r>
                        <a:rPr lang="ar-SA" sz="1600" dirty="0"/>
                        <a:t>تطبيقات عملية ودراسات حالة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540153272"/>
                  </a:ext>
                </a:extLst>
              </a:tr>
              <a:tr h="788792">
                <a:tc>
                  <a:txBody>
                    <a:bodyPr/>
                    <a:lstStyle/>
                    <a:p>
                      <a:pPr marL="0" algn="ctr" defTabSz="914400" rtl="1" eaLnBrk="1" latinLnBrk="0" hangingPunct="1"/>
                      <a:r>
                        <a:rPr lang="ar-EG" sz="1800" b="1" kern="1200" dirty="0">
                          <a:solidFill>
                            <a:schemeClr val="bg1"/>
                          </a:solidFill>
                          <a:latin typeface="+mn-lt"/>
                          <a:ea typeface="+mn-ea"/>
                          <a:cs typeface="+mn-cs"/>
                        </a:rPr>
                        <a:t>أهداف الدورة</a:t>
                      </a:r>
                      <a:endParaRPr lang="en-US" sz="1800" b="1" kern="1200" dirty="0">
                        <a:solidFill>
                          <a:schemeClr val="bg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2">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فهم لغة </a:t>
                      </a:r>
                      <a:r>
                        <a:rPr lang="en-US" sz="1600" dirty="0"/>
                        <a:t>BPMN</a:t>
                      </a:r>
                      <a:r>
                        <a:rPr lang="ar-SA" sz="1600" dirty="0"/>
                        <a:t> ومكوناتها الأساسية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القدرة على نمذجة عمليات الأعمال بفعالية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gridSpan="2">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تحليل العمليات وتحسينها باستخدام </a:t>
                      </a:r>
                      <a:r>
                        <a:rPr lang="en-US" sz="1600" dirty="0"/>
                        <a:t>BPMN</a:t>
                      </a:r>
                      <a:endParaRPr lang="ar-SA" sz="1600" dirty="0"/>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تعزيز التواصل بين فرق الأعمال والتقنية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72527477"/>
                  </a:ext>
                </a:extLst>
              </a:tr>
            </a:tbl>
          </a:graphicData>
        </a:graphic>
      </p:graphicFrame>
    </p:spTree>
    <p:extLst>
      <p:ext uri="{BB962C8B-B14F-4D97-AF65-F5344CB8AC3E}">
        <p14:creationId xmlns:p14="http://schemas.microsoft.com/office/powerpoint/2010/main" val="23791461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F9056-F24B-DCF9-2A35-5E64C2A7E77E}"/>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D4A70B71-4EAF-3581-CFAF-328B77F9AF8E}"/>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39</a:t>
            </a:fld>
            <a:endParaRPr lang="en-US" sz="1400" b="1" dirty="0">
              <a:solidFill>
                <a:schemeClr val="accent1"/>
              </a:solidFill>
            </a:endParaRPr>
          </a:p>
        </p:txBody>
      </p:sp>
      <p:sp>
        <p:nvSpPr>
          <p:cNvPr id="2" name="Title 1">
            <a:extLst>
              <a:ext uri="{FF2B5EF4-FFF2-40B4-BE49-F238E27FC236}">
                <a16:creationId xmlns:a16="http://schemas.microsoft.com/office/drawing/2014/main" id="{E5D4F289-F75D-9139-BACA-3AC790BB8BD0}"/>
              </a:ext>
            </a:extLst>
          </p:cNvPr>
          <p:cNvSpPr txBox="1">
            <a:spLocks/>
          </p:cNvSpPr>
          <p:nvPr/>
        </p:nvSpPr>
        <p:spPr>
          <a:xfrm>
            <a:off x="1744133" y="408242"/>
            <a:ext cx="960966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بطاقة </a:t>
            </a:r>
            <a:r>
              <a:rPr lang="ar-SA" dirty="0"/>
              <a:t>التدريب لـ "دورة أخصائي إدارة بيانات معتمد (</a:t>
            </a:r>
            <a:r>
              <a:rPr lang="en-US" dirty="0"/>
              <a:t>CDMP</a:t>
            </a:r>
            <a:r>
              <a:rPr lang="ar-SA" dirty="0"/>
              <a:t>)</a:t>
            </a:r>
            <a:r>
              <a:rPr lang="ar-EG" dirty="0"/>
              <a:t>"</a:t>
            </a:r>
            <a:endParaRPr lang="en-US" dirty="0"/>
          </a:p>
        </p:txBody>
      </p:sp>
      <p:graphicFrame>
        <p:nvGraphicFramePr>
          <p:cNvPr id="3" name="Table 5">
            <a:extLst>
              <a:ext uri="{FF2B5EF4-FFF2-40B4-BE49-F238E27FC236}">
                <a16:creationId xmlns:a16="http://schemas.microsoft.com/office/drawing/2014/main" id="{9E9B8205-C2AF-639C-DFBF-D94732BFA787}"/>
              </a:ext>
            </a:extLst>
          </p:cNvPr>
          <p:cNvGraphicFramePr>
            <a:graphicFrameLocks noGrp="1"/>
          </p:cNvGraphicFramePr>
          <p:nvPr>
            <p:extLst>
              <p:ext uri="{D42A27DB-BD31-4B8C-83A1-F6EECF244321}">
                <p14:modId xmlns:p14="http://schemas.microsoft.com/office/powerpoint/2010/main" val="3322380423"/>
              </p:ext>
            </p:extLst>
          </p:nvPr>
        </p:nvGraphicFramePr>
        <p:xfrm>
          <a:off x="668584" y="962735"/>
          <a:ext cx="10799517" cy="5106424"/>
        </p:xfrm>
        <a:graphic>
          <a:graphicData uri="http://schemas.openxmlformats.org/drawingml/2006/table">
            <a:tbl>
              <a:tblPr rtl="1" firstRow="1" bandRow="1">
                <a:tableStyleId>{2D5ABB26-0587-4C30-8999-92F81FD0307C}</a:tableStyleId>
              </a:tblPr>
              <a:tblGrid>
                <a:gridCol w="1816589">
                  <a:extLst>
                    <a:ext uri="{9D8B030D-6E8A-4147-A177-3AD203B41FA5}">
                      <a16:colId xmlns:a16="http://schemas.microsoft.com/office/drawing/2014/main" val="2004281081"/>
                    </a:ext>
                  </a:extLst>
                </a:gridCol>
                <a:gridCol w="2929107">
                  <a:extLst>
                    <a:ext uri="{9D8B030D-6E8A-4147-A177-3AD203B41FA5}">
                      <a16:colId xmlns:a16="http://schemas.microsoft.com/office/drawing/2014/main" val="2555702573"/>
                    </a:ext>
                  </a:extLst>
                </a:gridCol>
                <a:gridCol w="1530780">
                  <a:extLst>
                    <a:ext uri="{9D8B030D-6E8A-4147-A177-3AD203B41FA5}">
                      <a16:colId xmlns:a16="http://schemas.microsoft.com/office/drawing/2014/main" val="938496735"/>
                    </a:ext>
                  </a:extLst>
                </a:gridCol>
                <a:gridCol w="237803">
                  <a:extLst>
                    <a:ext uri="{9D8B030D-6E8A-4147-A177-3AD203B41FA5}">
                      <a16:colId xmlns:a16="http://schemas.microsoft.com/office/drawing/2014/main" val="2423776635"/>
                    </a:ext>
                  </a:extLst>
                </a:gridCol>
                <a:gridCol w="4285238">
                  <a:extLst>
                    <a:ext uri="{9D8B030D-6E8A-4147-A177-3AD203B41FA5}">
                      <a16:colId xmlns:a16="http://schemas.microsoft.com/office/drawing/2014/main" val="7071169"/>
                    </a:ext>
                  </a:extLst>
                </a:gridCol>
              </a:tblGrid>
              <a:tr h="613505">
                <a:tc>
                  <a:txBody>
                    <a:bodyPr/>
                    <a:lstStyle/>
                    <a:p>
                      <a:pPr marL="0" algn="ctr" defTabSz="914400" rtl="1" eaLnBrk="1" latinLnBrk="0" hangingPunct="1"/>
                      <a:r>
                        <a:rPr lang="ar-SA" sz="1800" b="1" kern="1200" dirty="0">
                          <a:solidFill>
                            <a:schemeClr val="bg1"/>
                          </a:solidFill>
                          <a:latin typeface="+mj-lt"/>
                          <a:ea typeface="+mn-ea"/>
                          <a:cs typeface="+mn-cs"/>
                        </a:rPr>
                        <a:t>اسم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800" b="1" kern="1200" dirty="0">
                          <a:solidFill>
                            <a:schemeClr val="tx1"/>
                          </a:solidFill>
                          <a:latin typeface="+mj-lt"/>
                          <a:ea typeface="+mn-ea"/>
                          <a:cs typeface="+mn-cs"/>
                        </a:rPr>
                        <a:t>دورة أخصائي إدارة بيانات معتمد (</a:t>
                      </a:r>
                      <a:r>
                        <a:rPr lang="en-US" sz="1800" b="1" kern="1200" dirty="0">
                          <a:solidFill>
                            <a:schemeClr val="tx1"/>
                          </a:solidFill>
                          <a:latin typeface="+mj-lt"/>
                          <a:ea typeface="+mn-ea"/>
                          <a:cs typeface="+mn-cs"/>
                        </a:rPr>
                        <a:t>CDMP</a:t>
                      </a:r>
                      <a:r>
                        <a:rPr lang="ar-SA" sz="1800" b="1" kern="1200" dirty="0">
                          <a:solidFill>
                            <a:schemeClr val="tx1"/>
                          </a:solidFill>
                          <a:latin typeface="+mj-lt"/>
                          <a:ea typeface="+mn-ea"/>
                          <a:cs typeface="+mn-cs"/>
                        </a:rPr>
                        <a:t>) التابعة لـ </a:t>
                      </a:r>
                      <a:r>
                        <a:rPr lang="en-US" sz="1800" b="1" kern="1200" dirty="0">
                          <a:solidFill>
                            <a:schemeClr val="tx1"/>
                          </a:solidFill>
                          <a:latin typeface="+mj-lt"/>
                          <a:ea typeface="+mn-ea"/>
                          <a:cs typeface="+mn-cs"/>
                        </a:rPr>
                        <a:t>DAMA</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gridSpan="2">
                  <a:txBody>
                    <a:bodyPr/>
                    <a:lstStyle/>
                    <a:p>
                      <a:pPr marL="0" algn="ctr" defTabSz="914400" rtl="1" eaLnBrk="1" latinLnBrk="0" hangingPunct="1"/>
                      <a:r>
                        <a:rPr lang="ar-SA" sz="1800" b="1" kern="1200" dirty="0">
                          <a:solidFill>
                            <a:schemeClr val="bg1"/>
                          </a:solidFill>
                          <a:latin typeface="+mj-lt"/>
                          <a:ea typeface="+mn-ea"/>
                          <a:cs typeface="+mn-cs"/>
                        </a:rPr>
                        <a:t>المدة الزمنية المقترحة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endParaRPr lang="en-US" dirty="0"/>
                    </a:p>
                  </a:txBody>
                  <a:tcPr/>
                </a:tc>
                <a:tc>
                  <a:txBody>
                    <a:bodyPr/>
                    <a:lstStyle/>
                    <a:p>
                      <a:pPr algn="r" rtl="1"/>
                      <a:r>
                        <a:rPr lang="ar-SA" sz="1600" b="1" kern="1200" dirty="0">
                          <a:solidFill>
                            <a:schemeClr val="tx1"/>
                          </a:solidFill>
                          <a:latin typeface="+mn-lt"/>
                          <a:ea typeface="+mn-ea"/>
                          <a:cs typeface="+mn-cs"/>
                        </a:rPr>
                        <a:t>40 ساعة (5 أيام عمل، 8 ساعات يوميا)</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13795874"/>
                  </a:ext>
                </a:extLst>
              </a:tr>
              <a:tr h="801720">
                <a:tc>
                  <a:txBody>
                    <a:bodyPr/>
                    <a:lstStyle/>
                    <a:p>
                      <a:pPr marL="0" algn="ctr" defTabSz="914400" rtl="1" eaLnBrk="1" latinLnBrk="0" hangingPunct="1"/>
                      <a:r>
                        <a:rPr lang="ar-EG" sz="1800" b="1" kern="1200" dirty="0">
                          <a:solidFill>
                            <a:schemeClr val="bg1"/>
                          </a:solidFill>
                          <a:latin typeface="+mj-lt"/>
                          <a:ea typeface="+mn-ea"/>
                          <a:cs typeface="+mn-cs"/>
                        </a:rPr>
                        <a:t>وصف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4">
                  <a:txBody>
                    <a:bodyPr/>
                    <a:lstStyle/>
                    <a:p>
                      <a:pPr algn="r" rtl="1"/>
                      <a:r>
                        <a:rPr lang="ar-SA" sz="1600" kern="1200" dirty="0">
                          <a:solidFill>
                            <a:schemeClr val="tx1"/>
                          </a:solidFill>
                          <a:latin typeface="+mj-lt"/>
                          <a:ea typeface="+mn-ea"/>
                          <a:cs typeface="+mn-cs"/>
                        </a:rPr>
                        <a:t>تركز هذه الدورة على مبادئ وممارسات إدارة البيانات وفقا لإطار عمل </a:t>
                      </a:r>
                      <a:r>
                        <a:rPr lang="en-US" sz="1600" kern="1200" dirty="0">
                          <a:solidFill>
                            <a:schemeClr val="tx1"/>
                          </a:solidFill>
                          <a:latin typeface="+mj-lt"/>
                          <a:ea typeface="+mn-ea"/>
                          <a:cs typeface="+mn-cs"/>
                        </a:rPr>
                        <a:t>DAMA-DMBOK، </a:t>
                      </a:r>
                      <a:r>
                        <a:rPr lang="ar-SA" sz="1600" kern="1200" dirty="0">
                          <a:solidFill>
                            <a:schemeClr val="tx1"/>
                          </a:solidFill>
                          <a:latin typeface="+mj-lt"/>
                          <a:ea typeface="+mn-ea"/>
                          <a:cs typeface="+mn-cs"/>
                        </a:rPr>
                        <a:t>حيث يتم تزويد المشاركين بالمعرفة اللازمة لإدارة البيانات بفعالية والتحضير لامتحان شهادة </a:t>
                      </a:r>
                      <a:r>
                        <a:rPr lang="en-US" sz="1600" kern="1200" dirty="0">
                          <a:solidFill>
                            <a:schemeClr val="tx1"/>
                          </a:solidFill>
                          <a:latin typeface="+mj-lt"/>
                          <a:ea typeface="+mn-ea"/>
                          <a:cs typeface="+mn-cs"/>
                        </a:rPr>
                        <a:t>CDMP</a:t>
                      </a:r>
                      <a:endParaRPr lang="ar-SA" sz="1600"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pPr marL="0" algn="ctr" defTabSz="914400" rtl="1" eaLnBrk="1" latinLnBrk="0" hangingPunct="1"/>
                      <a:endParaRPr lang="ar-SA" sz="16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endParaRPr lang="en-US"/>
                    </a:p>
                  </a:txBody>
                  <a:tcPr/>
                </a:tc>
                <a:tc hMerge="1">
                  <a:txBody>
                    <a:bodyPr/>
                    <a:lstStyle/>
                    <a:p>
                      <a:pPr algn="r" rtl="1"/>
                      <a:endParaRPr lang="ar-SA" sz="1600"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98658893"/>
                  </a:ext>
                </a:extLst>
              </a:tr>
              <a:tr h="939800">
                <a:tc>
                  <a:txBody>
                    <a:bodyPr/>
                    <a:lstStyle/>
                    <a:p>
                      <a:pPr marL="0" algn="ctr" defTabSz="914400" rtl="1" eaLnBrk="1" latinLnBrk="0" hangingPunct="1"/>
                      <a:r>
                        <a:rPr lang="ar-SA" sz="1800" b="1" kern="1200" dirty="0">
                          <a:solidFill>
                            <a:schemeClr val="bg1"/>
                          </a:solidFill>
                          <a:latin typeface="+mn-lt"/>
                          <a:ea typeface="+mn-ea"/>
                          <a:cs typeface="+mn-cs"/>
                        </a:rPr>
                        <a:t>الأدوار المستهدفة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285750" indent="-285750" algn="r" rtl="1">
                        <a:buFont typeface="Arial" panose="020B0604020202020204" pitchFamily="34" charset="0"/>
                        <a:buChar char="•"/>
                      </a:pPr>
                      <a:r>
                        <a:rPr lang="ar-SA" sz="1600" kern="1200" dirty="0">
                          <a:solidFill>
                            <a:schemeClr val="tx1"/>
                          </a:solidFill>
                          <a:latin typeface="+mj-lt"/>
                          <a:ea typeface="+mn-ea"/>
                          <a:cs typeface="+mn-cs"/>
                        </a:rPr>
                        <a:t>خبير بنية البيانات</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gridSpan="2">
                  <a:txBody>
                    <a:bodyPr/>
                    <a:lstStyle/>
                    <a:p>
                      <a:pPr marL="0" algn="ctr" defTabSz="914400" rtl="1" eaLnBrk="1" latinLnBrk="0" hangingPunct="1"/>
                      <a:r>
                        <a:rPr lang="ar-EG" sz="1800" b="1" kern="1200" dirty="0">
                          <a:solidFill>
                            <a:schemeClr val="bg1"/>
                          </a:solidFill>
                          <a:latin typeface="+mj-lt"/>
                          <a:ea typeface="+mn-ea"/>
                          <a:cs typeface="+mn-cs"/>
                        </a:rPr>
                        <a:t>الشهادات المرتبطة</a:t>
                      </a:r>
                      <a:endParaRPr lang="ar-SA"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j-lt"/>
                          <a:ea typeface="+mn-ea"/>
                          <a:cs typeface="+mn-cs"/>
                        </a:rPr>
                        <a:t>محلية: شهادة إتمام الدورة من مزود تدريب معتمد</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دولية: التأهيل للحصول على شهادة </a:t>
                      </a:r>
                      <a:r>
                        <a:rPr lang="ar-SA" sz="1600" kern="1200" dirty="0">
                          <a:solidFill>
                            <a:schemeClr val="tx1"/>
                          </a:solidFill>
                          <a:latin typeface="+mj-lt"/>
                          <a:ea typeface="+mn-ea"/>
                          <a:cs typeface="+mn-cs"/>
                        </a:rPr>
                        <a:t>محترف إدارة المشاريع (</a:t>
                      </a:r>
                      <a:r>
                        <a:rPr lang="en-US" sz="1600" kern="1200" dirty="0">
                          <a:solidFill>
                            <a:schemeClr val="tx1"/>
                          </a:solidFill>
                          <a:latin typeface="+mj-lt"/>
                          <a:ea typeface="+mn-ea"/>
                          <a:cs typeface="+mn-cs"/>
                        </a:rPr>
                        <a:t>PMP</a:t>
                      </a:r>
                      <a:r>
                        <a:rPr lang="ar-SA" sz="1600" kern="1200" dirty="0">
                          <a:solidFill>
                            <a:schemeClr val="tx1"/>
                          </a:solidFill>
                          <a:latin typeface="+mj-lt"/>
                          <a:ea typeface="+mn-ea"/>
                          <a:cs typeface="+mn-cs"/>
                        </a:rPr>
                        <a:t>)</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دولية: التأهيل للحصول على شهادة </a:t>
                      </a:r>
                      <a:r>
                        <a:rPr lang="ar-SA" sz="1600" kern="1200" dirty="0">
                          <a:solidFill>
                            <a:schemeClr val="tx1"/>
                          </a:solidFill>
                          <a:latin typeface="+mj-lt"/>
                          <a:ea typeface="+mn-ea"/>
                          <a:cs typeface="+mn-cs"/>
                        </a:rPr>
                        <a:t>محترف إدارة المخاطر (</a:t>
                      </a:r>
                      <a:r>
                        <a:rPr lang="en-US" sz="1600" kern="1200" dirty="0">
                          <a:solidFill>
                            <a:schemeClr val="tx1"/>
                          </a:solidFill>
                          <a:latin typeface="+mj-lt"/>
                          <a:ea typeface="+mn-ea"/>
                          <a:cs typeface="+mn-cs"/>
                        </a:rPr>
                        <a:t>RMP</a:t>
                      </a:r>
                      <a:r>
                        <a:rPr lang="ar-SA" sz="1600" kern="1200" dirty="0">
                          <a:solidFill>
                            <a:schemeClr val="tx1"/>
                          </a:solidFill>
                          <a:latin typeface="+mj-lt"/>
                          <a:ea typeface="+mn-ea"/>
                          <a:cs typeface="+mn-cs"/>
                        </a:rPr>
                        <a:t>)</a:t>
                      </a:r>
                      <a:endParaRPr lang="en-US"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j-lt"/>
                          <a:ea typeface="+mn-ea"/>
                          <a:cs typeface="+mn-cs"/>
                        </a:rPr>
                        <a:t>شهادة إتمام الدورة من مزود التدريب</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j-lt"/>
                          <a:ea typeface="+mn-ea"/>
                          <a:cs typeface="+mn-cs"/>
                        </a:rPr>
                        <a:t>التأهيل لشهادة </a:t>
                      </a:r>
                      <a:r>
                        <a:rPr lang="en-US" sz="1600" kern="1200" dirty="0">
                          <a:solidFill>
                            <a:schemeClr val="tx1"/>
                          </a:solidFill>
                          <a:latin typeface="+mj-lt"/>
                          <a:ea typeface="+mn-ea"/>
                          <a:cs typeface="+mn-cs"/>
                        </a:rPr>
                        <a:t>Certified Data Management Professional (CDMP)</a:t>
                      </a:r>
                      <a:r>
                        <a:rPr lang="ar-SA" sz="1600" kern="1200" dirty="0">
                          <a:solidFill>
                            <a:schemeClr val="tx1"/>
                          </a:solidFill>
                          <a:latin typeface="+mj-lt"/>
                          <a:ea typeface="+mn-ea"/>
                          <a:cs typeface="+mn-cs"/>
                        </a:rPr>
                        <a:t> من </a:t>
                      </a:r>
                      <a:r>
                        <a:rPr lang="en-US" sz="1600" kern="1200" dirty="0">
                          <a:solidFill>
                            <a:schemeClr val="tx1"/>
                          </a:solidFill>
                          <a:latin typeface="+mj-lt"/>
                          <a:ea typeface="+mn-ea"/>
                          <a:cs typeface="+mn-cs"/>
                        </a:rPr>
                        <a:t>DAMA</a:t>
                      </a:r>
                      <a:endParaRPr lang="ar-SA" sz="1600"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840185893"/>
                  </a:ext>
                </a:extLst>
              </a:tr>
              <a:tr h="869232">
                <a:tc>
                  <a:txBody>
                    <a:bodyPr/>
                    <a:lstStyle/>
                    <a:p>
                      <a:pPr marL="0" algn="ctr" defTabSz="914400" rtl="1" eaLnBrk="1" latinLnBrk="0" hangingPunct="1"/>
                      <a:r>
                        <a:rPr lang="ar-SA" sz="1800" b="1" kern="1200" dirty="0">
                          <a:solidFill>
                            <a:schemeClr val="bg1"/>
                          </a:solidFill>
                          <a:latin typeface="+mj-lt"/>
                          <a:ea typeface="+mn-ea"/>
                          <a:cs typeface="+mn-cs"/>
                        </a:rPr>
                        <a:t>طريقة التدريب</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4">
                  <a:txBody>
                    <a:bodyPr/>
                    <a:lstStyle/>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(قيد التخطيط)</a:t>
                      </a:r>
                      <a:endParaRPr lang="en-US" sz="1600" kern="1200" dirty="0">
                        <a:solidFill>
                          <a:schemeClr val="tx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tc hMerge="1">
                  <a:txBody>
                    <a:bodyPr/>
                    <a:lstStyle/>
                    <a:p>
                      <a:endParaRPr lang="en-US"/>
                    </a:p>
                  </a:txBody>
                  <a:tcPr/>
                </a:tc>
                <a:tc hMerge="1">
                  <a:txBody>
                    <a:bodyPr/>
                    <a:lstStyle/>
                    <a:p>
                      <a:endParaRPr lang="en-US"/>
                    </a:p>
                  </a:txBody>
                  <a:tcPr>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808309057"/>
                  </a:ext>
                </a:extLst>
              </a:tr>
              <a:tr h="1028321">
                <a:tc>
                  <a:txBody>
                    <a:bodyPr/>
                    <a:lstStyle/>
                    <a:p>
                      <a:pPr marL="0" algn="ctr" defTabSz="914400" rtl="1" eaLnBrk="1" latinLnBrk="0" hangingPunct="1"/>
                      <a:r>
                        <a:rPr lang="ar-EG" sz="1800" b="1" kern="1200" dirty="0">
                          <a:solidFill>
                            <a:schemeClr val="bg1"/>
                          </a:solidFill>
                          <a:latin typeface="+mj-lt"/>
                          <a:ea typeface="+mn-ea"/>
                          <a:cs typeface="+mn-cs"/>
                        </a:rPr>
                        <a:t>محتويات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2">
                  <a:txBody>
                    <a:bodyPr/>
                    <a:lstStyle/>
                    <a:p>
                      <a:pPr marL="285750" indent="-285750" algn="r" rtl="1">
                        <a:buFont typeface="Arial" panose="020B0604020202020204" pitchFamily="34" charset="0"/>
                        <a:buChar char="•"/>
                      </a:pPr>
                      <a:r>
                        <a:rPr lang="ar-SA" sz="1600" dirty="0"/>
                        <a:t>مقدمة في إدارة البيانات وإطار عمل </a:t>
                      </a:r>
                      <a:r>
                        <a:rPr lang="en-US" sz="1600" dirty="0"/>
                        <a:t>DAMA-DMBOK</a:t>
                      </a:r>
                    </a:p>
                    <a:p>
                      <a:pPr marL="285750" indent="-285750" algn="r" rtl="1">
                        <a:buFont typeface="Arial" panose="020B0604020202020204" pitchFamily="34" charset="0"/>
                        <a:buChar char="•"/>
                      </a:pPr>
                      <a:r>
                        <a:rPr lang="ar-SA" sz="1600" dirty="0"/>
                        <a:t>حوكمة البيانات وسياسات البيانات</a:t>
                      </a:r>
                    </a:p>
                    <a:p>
                      <a:pPr marL="285750" indent="-285750" algn="r" rtl="1">
                        <a:buFont typeface="Arial" panose="020B0604020202020204" pitchFamily="34" charset="0"/>
                        <a:buChar char="•"/>
                      </a:pPr>
                      <a:r>
                        <a:rPr lang="ar-SA" sz="1600" dirty="0"/>
                        <a:t>نمذجة البيانات وتصميمها</a:t>
                      </a:r>
                    </a:p>
                    <a:p>
                      <a:pPr marL="285750" indent="-285750" algn="r" rtl="1">
                        <a:buFont typeface="Arial" panose="020B0604020202020204" pitchFamily="34" charset="0"/>
                        <a:buChar char="•"/>
                      </a:pPr>
                      <a:r>
                        <a:rPr lang="ar-SA" sz="1600" dirty="0"/>
                        <a:t>جودة البيانات وإدارة البيانات الوصفية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gridSpan="2">
                  <a:txBody>
                    <a:bodyPr/>
                    <a:lstStyle/>
                    <a:p>
                      <a:pPr marL="285750" indent="-285750" algn="r" rtl="1">
                        <a:buFont typeface="Arial" panose="020B0604020202020204" pitchFamily="34" charset="0"/>
                        <a:buChar char="•"/>
                      </a:pPr>
                      <a:r>
                        <a:rPr lang="ar-SA" sz="1600" dirty="0"/>
                        <a:t>أمن البيانات وإدارة المخاطر</a:t>
                      </a:r>
                    </a:p>
                    <a:p>
                      <a:pPr marL="285750" indent="-285750" algn="r" rtl="1">
                        <a:buFont typeface="Arial" panose="020B0604020202020204" pitchFamily="34" charset="0"/>
                        <a:buChar char="•"/>
                      </a:pPr>
                      <a:r>
                        <a:rPr lang="ar-SA" sz="1600" dirty="0"/>
                        <a:t>تخطيط إدارة البيانات واستراتيجياتها</a:t>
                      </a:r>
                    </a:p>
                    <a:p>
                      <a:pPr marL="285750" indent="-285750" algn="r" rtl="1">
                        <a:buFont typeface="Arial" panose="020B0604020202020204" pitchFamily="34" charset="0"/>
                        <a:buChar char="•"/>
                      </a:pPr>
                      <a:r>
                        <a:rPr lang="ar-SA" sz="1600" dirty="0"/>
                        <a:t>التحضير لامتحان </a:t>
                      </a:r>
                      <a:r>
                        <a:rPr lang="en-US" sz="1600" dirty="0"/>
                        <a:t>CDMP</a:t>
                      </a:r>
                      <a:endParaRPr lang="ar-SA" sz="160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540153272"/>
                  </a:ext>
                </a:extLst>
              </a:tr>
              <a:tr h="788792">
                <a:tc>
                  <a:txBody>
                    <a:bodyPr/>
                    <a:lstStyle/>
                    <a:p>
                      <a:pPr marL="0" algn="ctr" defTabSz="914400" rtl="1" eaLnBrk="1" latinLnBrk="0" hangingPunct="1"/>
                      <a:r>
                        <a:rPr lang="ar-EG" sz="1800" b="1" kern="1200" dirty="0">
                          <a:solidFill>
                            <a:schemeClr val="bg1"/>
                          </a:solidFill>
                          <a:latin typeface="+mn-lt"/>
                          <a:ea typeface="+mn-ea"/>
                          <a:cs typeface="+mn-cs"/>
                        </a:rPr>
                        <a:t>أهداف الدورة</a:t>
                      </a:r>
                      <a:endParaRPr lang="en-US" sz="1800" b="1" kern="1200" dirty="0">
                        <a:solidFill>
                          <a:schemeClr val="bg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2">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فهم شامل لمجالات إدارة البيانات وفقا لـ </a:t>
                      </a:r>
                      <a:r>
                        <a:rPr lang="en-US" sz="1600" dirty="0"/>
                        <a:t>DAMA-DMBOK</a:t>
                      </a:r>
                      <a:endParaRPr lang="ar-SA" sz="1600" dirty="0"/>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تطوير مهارات إدارة البيانات وتحسين جودتها</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gridSpan="2">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تطبيق أفضل الممارسات في حوكمة البيانات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التحضير لاجتياز امتحان </a:t>
                      </a:r>
                      <a:r>
                        <a:rPr lang="en-US" sz="1600" dirty="0"/>
                        <a:t>CDMP</a:t>
                      </a:r>
                      <a:endParaRPr lang="ar-SA" sz="160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72527477"/>
                  </a:ext>
                </a:extLst>
              </a:tr>
            </a:tbl>
          </a:graphicData>
        </a:graphic>
      </p:graphicFrame>
    </p:spTree>
    <p:extLst>
      <p:ext uri="{BB962C8B-B14F-4D97-AF65-F5344CB8AC3E}">
        <p14:creationId xmlns:p14="http://schemas.microsoft.com/office/powerpoint/2010/main" val="35328436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F9056-F24B-DCF9-2A35-5E64C2A7E77E}"/>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D4A70B71-4EAF-3581-CFAF-328B77F9AF8E}"/>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40</a:t>
            </a:fld>
            <a:endParaRPr lang="en-US" sz="1400" b="1" dirty="0">
              <a:solidFill>
                <a:schemeClr val="accent1"/>
              </a:solidFill>
            </a:endParaRPr>
          </a:p>
        </p:txBody>
      </p:sp>
      <p:sp>
        <p:nvSpPr>
          <p:cNvPr id="2" name="Title 1">
            <a:extLst>
              <a:ext uri="{FF2B5EF4-FFF2-40B4-BE49-F238E27FC236}">
                <a16:creationId xmlns:a16="http://schemas.microsoft.com/office/drawing/2014/main" id="{E5D4F289-F75D-9139-BACA-3AC790BB8BD0}"/>
              </a:ext>
            </a:extLst>
          </p:cNvPr>
          <p:cNvSpPr txBox="1">
            <a:spLocks/>
          </p:cNvSpPr>
          <p:nvPr/>
        </p:nvSpPr>
        <p:spPr>
          <a:xfrm>
            <a:off x="1744133" y="408242"/>
            <a:ext cx="960966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بطاقة </a:t>
            </a:r>
            <a:r>
              <a:rPr lang="ar-SA" dirty="0"/>
              <a:t>التدريب لـ "دورة الخدمات المصغّرة ودمج التطوير بالعمليات</a:t>
            </a:r>
            <a:r>
              <a:rPr lang="ar-EG" dirty="0"/>
              <a:t>"</a:t>
            </a:r>
            <a:endParaRPr lang="en-US" dirty="0"/>
          </a:p>
        </p:txBody>
      </p:sp>
      <p:graphicFrame>
        <p:nvGraphicFramePr>
          <p:cNvPr id="3" name="Table 5">
            <a:extLst>
              <a:ext uri="{FF2B5EF4-FFF2-40B4-BE49-F238E27FC236}">
                <a16:creationId xmlns:a16="http://schemas.microsoft.com/office/drawing/2014/main" id="{9E9B8205-C2AF-639C-DFBF-D94732BFA787}"/>
              </a:ext>
            </a:extLst>
          </p:cNvPr>
          <p:cNvGraphicFramePr>
            <a:graphicFrameLocks noGrp="1"/>
          </p:cNvGraphicFramePr>
          <p:nvPr>
            <p:extLst>
              <p:ext uri="{D42A27DB-BD31-4B8C-83A1-F6EECF244321}">
                <p14:modId xmlns:p14="http://schemas.microsoft.com/office/powerpoint/2010/main" val="2696112302"/>
              </p:ext>
            </p:extLst>
          </p:nvPr>
        </p:nvGraphicFramePr>
        <p:xfrm>
          <a:off x="668584" y="962735"/>
          <a:ext cx="10799517" cy="5140592"/>
        </p:xfrm>
        <a:graphic>
          <a:graphicData uri="http://schemas.openxmlformats.org/drawingml/2006/table">
            <a:tbl>
              <a:tblPr rtl="1" firstRow="1" bandRow="1">
                <a:tableStyleId>{2D5ABB26-0587-4C30-8999-92F81FD0307C}</a:tableStyleId>
              </a:tblPr>
              <a:tblGrid>
                <a:gridCol w="1816589">
                  <a:extLst>
                    <a:ext uri="{9D8B030D-6E8A-4147-A177-3AD203B41FA5}">
                      <a16:colId xmlns:a16="http://schemas.microsoft.com/office/drawing/2014/main" val="2004281081"/>
                    </a:ext>
                  </a:extLst>
                </a:gridCol>
                <a:gridCol w="2929107">
                  <a:extLst>
                    <a:ext uri="{9D8B030D-6E8A-4147-A177-3AD203B41FA5}">
                      <a16:colId xmlns:a16="http://schemas.microsoft.com/office/drawing/2014/main" val="2555702573"/>
                    </a:ext>
                  </a:extLst>
                </a:gridCol>
                <a:gridCol w="1530780">
                  <a:extLst>
                    <a:ext uri="{9D8B030D-6E8A-4147-A177-3AD203B41FA5}">
                      <a16:colId xmlns:a16="http://schemas.microsoft.com/office/drawing/2014/main" val="938496735"/>
                    </a:ext>
                  </a:extLst>
                </a:gridCol>
                <a:gridCol w="237803">
                  <a:extLst>
                    <a:ext uri="{9D8B030D-6E8A-4147-A177-3AD203B41FA5}">
                      <a16:colId xmlns:a16="http://schemas.microsoft.com/office/drawing/2014/main" val="2423776635"/>
                    </a:ext>
                  </a:extLst>
                </a:gridCol>
                <a:gridCol w="4285238">
                  <a:extLst>
                    <a:ext uri="{9D8B030D-6E8A-4147-A177-3AD203B41FA5}">
                      <a16:colId xmlns:a16="http://schemas.microsoft.com/office/drawing/2014/main" val="7071169"/>
                    </a:ext>
                  </a:extLst>
                </a:gridCol>
              </a:tblGrid>
              <a:tr h="613505">
                <a:tc>
                  <a:txBody>
                    <a:bodyPr/>
                    <a:lstStyle/>
                    <a:p>
                      <a:pPr marL="0" algn="ctr" defTabSz="914400" rtl="1" eaLnBrk="1" latinLnBrk="0" hangingPunct="1"/>
                      <a:r>
                        <a:rPr lang="ar-SA" sz="1800" b="1" kern="1200" dirty="0">
                          <a:solidFill>
                            <a:schemeClr val="bg1"/>
                          </a:solidFill>
                          <a:latin typeface="+mj-lt"/>
                          <a:ea typeface="+mn-ea"/>
                          <a:cs typeface="+mn-cs"/>
                        </a:rPr>
                        <a:t>اسم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800" b="1" kern="1200" dirty="0">
                          <a:solidFill>
                            <a:schemeClr val="tx1"/>
                          </a:solidFill>
                          <a:latin typeface="+mj-lt"/>
                          <a:ea typeface="+mn-ea"/>
                          <a:cs typeface="+mn-cs"/>
                        </a:rPr>
                        <a:t>دورة الخدمات المصغّرة ودمج التطوير بالعمليات (</a:t>
                      </a:r>
                      <a:r>
                        <a:rPr lang="en-US" sz="1800" b="1" kern="1200" dirty="0">
                          <a:solidFill>
                            <a:schemeClr val="tx1"/>
                          </a:solidFill>
                          <a:latin typeface="+mj-lt"/>
                          <a:ea typeface="+mn-ea"/>
                          <a:cs typeface="+mn-cs"/>
                        </a:rPr>
                        <a:t>Microservices &amp; DevOps</a:t>
                      </a:r>
                      <a:r>
                        <a:rPr lang="ar-SA" sz="1800" b="1" kern="1200" dirty="0">
                          <a:solidFill>
                            <a:schemeClr val="tx1"/>
                          </a:solidFill>
                          <a:latin typeface="+mj-lt"/>
                          <a:ea typeface="+mn-ea"/>
                          <a:cs typeface="+mn-cs"/>
                        </a:rPr>
                        <a:t>)</a:t>
                      </a:r>
                      <a:endParaRPr lang="en-US" sz="1800" b="1"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gridSpan="2">
                  <a:txBody>
                    <a:bodyPr/>
                    <a:lstStyle/>
                    <a:p>
                      <a:pPr marL="0" algn="ctr" defTabSz="914400" rtl="1" eaLnBrk="1" latinLnBrk="0" hangingPunct="1"/>
                      <a:r>
                        <a:rPr lang="ar-SA" sz="1800" b="1" kern="1200" dirty="0">
                          <a:solidFill>
                            <a:schemeClr val="bg1"/>
                          </a:solidFill>
                          <a:latin typeface="+mj-lt"/>
                          <a:ea typeface="+mn-ea"/>
                          <a:cs typeface="+mn-cs"/>
                        </a:rPr>
                        <a:t>المدة الزمنية المقترحة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endParaRPr lang="en-US" dirty="0"/>
                    </a:p>
                  </a:txBody>
                  <a:tcPr/>
                </a:tc>
                <a:tc>
                  <a:txBody>
                    <a:bodyPr/>
                    <a:lstStyle/>
                    <a:p>
                      <a:pPr algn="r" rtl="1"/>
                      <a:r>
                        <a:rPr lang="ar-SA" sz="1600" b="1" kern="1200" dirty="0">
                          <a:solidFill>
                            <a:schemeClr val="tx1"/>
                          </a:solidFill>
                          <a:latin typeface="+mn-lt"/>
                          <a:ea typeface="+mn-ea"/>
                          <a:cs typeface="+mn-cs"/>
                        </a:rPr>
                        <a:t>40 ساعة (5 أيام عمل، 8 ساعات يوميا)</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13795874"/>
                  </a:ext>
                </a:extLst>
              </a:tr>
              <a:tr h="801720">
                <a:tc>
                  <a:txBody>
                    <a:bodyPr/>
                    <a:lstStyle/>
                    <a:p>
                      <a:pPr marL="0" algn="ctr" defTabSz="914400" rtl="1" eaLnBrk="1" latinLnBrk="0" hangingPunct="1"/>
                      <a:r>
                        <a:rPr lang="ar-EG" sz="1800" b="1" kern="1200" dirty="0">
                          <a:solidFill>
                            <a:schemeClr val="bg1"/>
                          </a:solidFill>
                          <a:latin typeface="+mj-lt"/>
                          <a:ea typeface="+mn-ea"/>
                          <a:cs typeface="+mn-cs"/>
                        </a:rPr>
                        <a:t>وصف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4">
                  <a:txBody>
                    <a:bodyPr/>
                    <a:lstStyle/>
                    <a:p>
                      <a:pPr algn="r" rtl="1"/>
                      <a:r>
                        <a:rPr lang="ar-SA" sz="1600" kern="1200" dirty="0">
                          <a:solidFill>
                            <a:schemeClr val="tx1"/>
                          </a:solidFill>
                          <a:latin typeface="+mj-lt"/>
                          <a:ea typeface="+mn-ea"/>
                          <a:cs typeface="+mn-cs"/>
                        </a:rPr>
                        <a:t>تجمع هذه الدورة بين مفاهيم نمط الخدمات المصغّرة (</a:t>
                      </a:r>
                      <a:r>
                        <a:rPr lang="en-US" sz="1600" kern="1200" dirty="0">
                          <a:solidFill>
                            <a:schemeClr val="tx1"/>
                          </a:solidFill>
                          <a:latin typeface="+mj-lt"/>
                          <a:ea typeface="+mn-ea"/>
                          <a:cs typeface="+mn-cs"/>
                        </a:rPr>
                        <a:t>Microservices</a:t>
                      </a:r>
                      <a:r>
                        <a:rPr lang="ar-SA" sz="1600" kern="1200" dirty="0">
                          <a:solidFill>
                            <a:schemeClr val="tx1"/>
                          </a:solidFill>
                          <a:latin typeface="+mj-lt"/>
                          <a:ea typeface="+mn-ea"/>
                          <a:cs typeface="+mn-cs"/>
                        </a:rPr>
                        <a:t>) وممارسات دمج التطوير بالعمليات (</a:t>
                      </a:r>
                      <a:r>
                        <a:rPr lang="en-US" sz="1600" kern="1200" dirty="0">
                          <a:solidFill>
                            <a:schemeClr val="tx1"/>
                          </a:solidFill>
                          <a:latin typeface="+mj-lt"/>
                          <a:ea typeface="+mn-ea"/>
                          <a:cs typeface="+mn-cs"/>
                        </a:rPr>
                        <a:t>DevOps</a:t>
                      </a:r>
                      <a:r>
                        <a:rPr lang="ar-SA" sz="1600" kern="1200" dirty="0">
                          <a:solidFill>
                            <a:schemeClr val="tx1"/>
                          </a:solidFill>
                          <a:latin typeface="+mj-lt"/>
                          <a:ea typeface="+mn-ea"/>
                          <a:cs typeface="+mn-cs"/>
                        </a:rPr>
                        <a:t>)</a:t>
                      </a:r>
                      <a:r>
                        <a:rPr lang="en-US" sz="1600" kern="1200" dirty="0">
                          <a:solidFill>
                            <a:schemeClr val="tx1"/>
                          </a:solidFill>
                          <a:latin typeface="+mj-lt"/>
                          <a:ea typeface="+mn-ea"/>
                          <a:cs typeface="+mn-cs"/>
                        </a:rPr>
                        <a:t>، </a:t>
                      </a:r>
                      <a:r>
                        <a:rPr lang="ar-SA" sz="1600" kern="1200" dirty="0">
                          <a:solidFill>
                            <a:schemeClr val="tx1"/>
                          </a:solidFill>
                          <a:latin typeface="+mj-lt"/>
                          <a:ea typeface="+mn-ea"/>
                          <a:cs typeface="+mn-cs"/>
                        </a:rPr>
                        <a:t>حيث يتعلم المشاركون كيفية تصميم وتطوير ونشر التطبيقات الحديثة باستخدام الخدمات المصغّرة وتطبيق مبادئ </a:t>
                      </a:r>
                      <a:r>
                        <a:rPr lang="ar-SA" sz="1600" kern="1200" dirty="0">
                          <a:solidFill>
                            <a:schemeClr val="tx1"/>
                          </a:solidFill>
                          <a:latin typeface="+mn-lt"/>
                          <a:ea typeface="+mn-ea"/>
                          <a:cs typeface="+mn-cs"/>
                        </a:rPr>
                        <a:t>دمج التطوير بالعمليات</a:t>
                      </a:r>
                      <a:endParaRPr lang="ar-SA" sz="1600"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pPr marL="0" algn="ctr" defTabSz="914400" rtl="1" eaLnBrk="1" latinLnBrk="0" hangingPunct="1"/>
                      <a:endParaRPr lang="ar-SA" sz="16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endParaRPr lang="en-US"/>
                    </a:p>
                  </a:txBody>
                  <a:tcPr/>
                </a:tc>
                <a:tc hMerge="1">
                  <a:txBody>
                    <a:bodyPr/>
                    <a:lstStyle/>
                    <a:p>
                      <a:pPr algn="r" rtl="1"/>
                      <a:endParaRPr lang="ar-SA" sz="1600"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98658893"/>
                  </a:ext>
                </a:extLst>
              </a:tr>
              <a:tr h="939800">
                <a:tc>
                  <a:txBody>
                    <a:bodyPr/>
                    <a:lstStyle/>
                    <a:p>
                      <a:pPr marL="0" algn="ctr" defTabSz="914400" rtl="1" eaLnBrk="1" latinLnBrk="0" hangingPunct="1"/>
                      <a:r>
                        <a:rPr lang="ar-SA" sz="1800" b="1" kern="1200" dirty="0">
                          <a:solidFill>
                            <a:schemeClr val="bg1"/>
                          </a:solidFill>
                          <a:latin typeface="+mn-lt"/>
                          <a:ea typeface="+mn-ea"/>
                          <a:cs typeface="+mn-cs"/>
                        </a:rPr>
                        <a:t>الأدوار المستهدفة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285750" indent="-285750" algn="r" rtl="1">
                        <a:buFont typeface="Arial" panose="020B0604020202020204" pitchFamily="34" charset="0"/>
                        <a:buChar char="•"/>
                      </a:pPr>
                      <a:r>
                        <a:rPr lang="ar-SA" sz="1600" kern="1200" dirty="0">
                          <a:solidFill>
                            <a:schemeClr val="tx1"/>
                          </a:solidFill>
                          <a:latin typeface="+mj-lt"/>
                          <a:ea typeface="+mn-ea"/>
                          <a:cs typeface="+mn-cs"/>
                        </a:rPr>
                        <a:t>خبير بنية التطبيقات</a:t>
                      </a:r>
                    </a:p>
                    <a:p>
                      <a:pPr marL="285750" indent="-285750" algn="r" rtl="1">
                        <a:buFont typeface="Arial" panose="020B0604020202020204" pitchFamily="34" charset="0"/>
                        <a:buChar char="•"/>
                      </a:pPr>
                      <a:r>
                        <a:rPr lang="ar-SA" sz="1600" kern="1200" dirty="0">
                          <a:solidFill>
                            <a:schemeClr val="tx1"/>
                          </a:solidFill>
                          <a:latin typeface="+mj-lt"/>
                          <a:ea typeface="+mn-ea"/>
                          <a:cs typeface="+mn-cs"/>
                        </a:rPr>
                        <a:t>خبير بنية التقنية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gridSpan="2">
                  <a:txBody>
                    <a:bodyPr/>
                    <a:lstStyle/>
                    <a:p>
                      <a:pPr marL="0" algn="ctr" defTabSz="914400" rtl="1" eaLnBrk="1" latinLnBrk="0" hangingPunct="1"/>
                      <a:r>
                        <a:rPr lang="ar-EG" sz="1800" b="1" kern="1200" dirty="0">
                          <a:solidFill>
                            <a:schemeClr val="bg1"/>
                          </a:solidFill>
                          <a:latin typeface="+mj-lt"/>
                          <a:ea typeface="+mn-ea"/>
                          <a:cs typeface="+mn-cs"/>
                        </a:rPr>
                        <a:t>الشهادات المرتبطة</a:t>
                      </a:r>
                      <a:endParaRPr lang="ar-SA"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j-lt"/>
                          <a:ea typeface="+mn-ea"/>
                          <a:cs typeface="+mn-cs"/>
                        </a:rPr>
                        <a:t>محلية: شهادة إتمام الدورة من مزود تدريب معتمد</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دولية: التأهيل للحصول على شهادة </a:t>
                      </a:r>
                      <a:r>
                        <a:rPr lang="ar-SA" sz="1600" kern="1200" dirty="0">
                          <a:solidFill>
                            <a:schemeClr val="tx1"/>
                          </a:solidFill>
                          <a:latin typeface="+mj-lt"/>
                          <a:ea typeface="+mn-ea"/>
                          <a:cs typeface="+mn-cs"/>
                        </a:rPr>
                        <a:t>محترف إدارة المشاريع (</a:t>
                      </a:r>
                      <a:r>
                        <a:rPr lang="en-US" sz="1600" kern="1200" dirty="0">
                          <a:solidFill>
                            <a:schemeClr val="tx1"/>
                          </a:solidFill>
                          <a:latin typeface="+mj-lt"/>
                          <a:ea typeface="+mn-ea"/>
                          <a:cs typeface="+mn-cs"/>
                        </a:rPr>
                        <a:t>PMP</a:t>
                      </a:r>
                      <a:r>
                        <a:rPr lang="ar-SA" sz="1600" kern="1200" dirty="0">
                          <a:solidFill>
                            <a:schemeClr val="tx1"/>
                          </a:solidFill>
                          <a:latin typeface="+mj-lt"/>
                          <a:ea typeface="+mn-ea"/>
                          <a:cs typeface="+mn-cs"/>
                        </a:rPr>
                        <a:t>)</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دولية: التأهيل للحصول على شهادة </a:t>
                      </a:r>
                      <a:r>
                        <a:rPr lang="ar-SA" sz="1600" kern="1200" dirty="0">
                          <a:solidFill>
                            <a:schemeClr val="tx1"/>
                          </a:solidFill>
                          <a:latin typeface="+mj-lt"/>
                          <a:ea typeface="+mn-ea"/>
                          <a:cs typeface="+mn-cs"/>
                        </a:rPr>
                        <a:t>محترف إدارة المخاطر (</a:t>
                      </a:r>
                      <a:r>
                        <a:rPr lang="en-US" sz="1600" kern="1200" dirty="0">
                          <a:solidFill>
                            <a:schemeClr val="tx1"/>
                          </a:solidFill>
                          <a:latin typeface="+mj-lt"/>
                          <a:ea typeface="+mn-ea"/>
                          <a:cs typeface="+mn-cs"/>
                        </a:rPr>
                        <a:t>RMP</a:t>
                      </a:r>
                      <a:r>
                        <a:rPr lang="ar-SA" sz="1600" kern="1200" dirty="0">
                          <a:solidFill>
                            <a:schemeClr val="tx1"/>
                          </a:solidFill>
                          <a:latin typeface="+mj-lt"/>
                          <a:ea typeface="+mn-ea"/>
                          <a:cs typeface="+mn-cs"/>
                        </a:rPr>
                        <a:t>)</a:t>
                      </a:r>
                      <a:endParaRPr lang="en-US"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j-lt"/>
                          <a:ea typeface="+mn-ea"/>
                          <a:cs typeface="+mn-cs"/>
                        </a:rPr>
                        <a:t>شهادة إتمام الدورة من مزود التدريب</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840185893"/>
                  </a:ext>
                </a:extLst>
              </a:tr>
              <a:tr h="869232">
                <a:tc>
                  <a:txBody>
                    <a:bodyPr/>
                    <a:lstStyle/>
                    <a:p>
                      <a:pPr marL="0" algn="ctr" defTabSz="914400" rtl="1" eaLnBrk="1" latinLnBrk="0" hangingPunct="1"/>
                      <a:r>
                        <a:rPr lang="ar-SA" sz="1800" b="1" kern="1200" dirty="0">
                          <a:solidFill>
                            <a:schemeClr val="bg1"/>
                          </a:solidFill>
                          <a:latin typeface="+mj-lt"/>
                          <a:ea typeface="+mn-ea"/>
                          <a:cs typeface="+mn-cs"/>
                        </a:rPr>
                        <a:t>طريقة التدريب</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4">
                  <a:txBody>
                    <a:bodyPr/>
                    <a:lstStyle/>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(قيد التخطيط)</a:t>
                      </a:r>
                      <a:endParaRPr lang="en-US" sz="1600" kern="1200" dirty="0">
                        <a:solidFill>
                          <a:schemeClr val="tx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tc hMerge="1">
                  <a:txBody>
                    <a:bodyPr/>
                    <a:lstStyle/>
                    <a:p>
                      <a:endParaRPr lang="en-US"/>
                    </a:p>
                  </a:txBody>
                  <a:tcPr/>
                </a:tc>
                <a:tc hMerge="1">
                  <a:txBody>
                    <a:bodyPr/>
                    <a:lstStyle/>
                    <a:p>
                      <a:endParaRPr lang="en-US"/>
                    </a:p>
                  </a:txBody>
                  <a:tcPr>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808309057"/>
                  </a:ext>
                </a:extLst>
              </a:tr>
              <a:tr h="1028321">
                <a:tc>
                  <a:txBody>
                    <a:bodyPr/>
                    <a:lstStyle/>
                    <a:p>
                      <a:pPr marL="0" algn="ctr" defTabSz="914400" rtl="1" eaLnBrk="1" latinLnBrk="0" hangingPunct="1"/>
                      <a:r>
                        <a:rPr lang="ar-EG" sz="1800" b="1" kern="1200" dirty="0">
                          <a:solidFill>
                            <a:schemeClr val="bg1"/>
                          </a:solidFill>
                          <a:latin typeface="+mj-lt"/>
                          <a:ea typeface="+mn-ea"/>
                          <a:cs typeface="+mn-cs"/>
                        </a:rPr>
                        <a:t>محتويات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2">
                  <a:txBody>
                    <a:bodyPr/>
                    <a:lstStyle/>
                    <a:p>
                      <a:pPr marL="285750" indent="-285750" algn="r" rtl="1">
                        <a:buFont typeface="Arial" panose="020B0604020202020204" pitchFamily="34" charset="0"/>
                        <a:buChar char="•"/>
                      </a:pPr>
                      <a:r>
                        <a:rPr lang="ar-SA" sz="1600" dirty="0"/>
                        <a:t>مقدمة في الخدمات المصغّرة ومزاياها</a:t>
                      </a:r>
                    </a:p>
                    <a:p>
                      <a:pPr marL="285750" indent="-285750" algn="r" rtl="1">
                        <a:buFont typeface="Arial" panose="020B0604020202020204" pitchFamily="34" charset="0"/>
                        <a:buChar char="•"/>
                      </a:pPr>
                      <a:r>
                        <a:rPr lang="ar-SA" sz="1600" dirty="0"/>
                        <a:t>تصميم وتطوير الخدمات المصغّرة</a:t>
                      </a:r>
                    </a:p>
                    <a:p>
                      <a:pPr marL="285750" indent="-285750" algn="r" rtl="1">
                        <a:buFont typeface="Arial" panose="020B0604020202020204" pitchFamily="34" charset="0"/>
                        <a:buChar char="•"/>
                      </a:pPr>
                      <a:r>
                        <a:rPr lang="ar-SA" sz="1600" dirty="0"/>
                        <a:t>مبادئ وممارسات دمج التطوير بالعمليات (</a:t>
                      </a:r>
                      <a:r>
                        <a:rPr lang="en-US" sz="1600" dirty="0"/>
                        <a:t>DevOps</a:t>
                      </a:r>
                      <a:r>
                        <a:rPr lang="ar-SA" sz="1600" dirty="0"/>
                        <a:t>)</a:t>
                      </a:r>
                    </a:p>
                    <a:p>
                      <a:pPr marL="285750" indent="-285750" algn="r" rtl="1">
                        <a:buFont typeface="Arial" panose="020B0604020202020204" pitchFamily="34" charset="0"/>
                        <a:buChar char="•"/>
                      </a:pPr>
                      <a:r>
                        <a:rPr lang="ar-SA" sz="1600" dirty="0"/>
                        <a:t>أدوات الـ </a:t>
                      </a:r>
                      <a:r>
                        <a:rPr lang="en-US" sz="1600" dirty="0"/>
                        <a:t>DevOps</a:t>
                      </a:r>
                      <a:r>
                        <a:rPr lang="ar-SA" sz="1600" dirty="0"/>
                        <a:t> (مثل </a:t>
                      </a:r>
                      <a:r>
                        <a:rPr lang="en-US" sz="1600" dirty="0"/>
                        <a:t>Git، Jenkins، Docker، Kubernetes</a:t>
                      </a:r>
                      <a:r>
                        <a:rPr lang="ar-SA" sz="1600" dirty="0"/>
                        <a:t>)</a:t>
                      </a:r>
                      <a:endParaRPr lang="en-US" sz="160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gridSpan="2">
                  <a:txBody>
                    <a:bodyPr/>
                    <a:lstStyle/>
                    <a:p>
                      <a:pPr marL="285750" indent="-285750" algn="r" rtl="1">
                        <a:buFont typeface="Arial" panose="020B0604020202020204" pitchFamily="34" charset="0"/>
                        <a:buChar char="•"/>
                      </a:pPr>
                      <a:r>
                        <a:rPr lang="ar-SA" sz="1600" dirty="0"/>
                        <a:t>التكامل المستمر والتسليم المستمر (</a:t>
                      </a:r>
                      <a:r>
                        <a:rPr lang="en-US" sz="1600" dirty="0"/>
                        <a:t>CI/CD</a:t>
                      </a:r>
                      <a:r>
                        <a:rPr lang="ar-SA" sz="1600" dirty="0"/>
                        <a:t>)</a:t>
                      </a:r>
                      <a:endParaRPr lang="en-US" sz="1600" dirty="0"/>
                    </a:p>
                    <a:p>
                      <a:pPr marL="285750" indent="-285750" algn="r" rtl="1">
                        <a:buFont typeface="Arial" panose="020B0604020202020204" pitchFamily="34" charset="0"/>
                        <a:buChar char="•"/>
                      </a:pPr>
                      <a:r>
                        <a:rPr lang="ar-SA" sz="1600" dirty="0"/>
                        <a:t>أمن الخدمات المصغّرة وإدارتها</a:t>
                      </a:r>
                    </a:p>
                    <a:p>
                      <a:pPr marL="285750" indent="-285750" algn="r" rtl="1">
                        <a:buFont typeface="Arial" panose="020B0604020202020204" pitchFamily="34" charset="0"/>
                        <a:buChar char="•"/>
                      </a:pPr>
                      <a:r>
                        <a:rPr lang="ar-SA" sz="1600" dirty="0"/>
                        <a:t>تطبيقات عملية ومشاريع</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540153272"/>
                  </a:ext>
                </a:extLst>
              </a:tr>
              <a:tr h="788792">
                <a:tc>
                  <a:txBody>
                    <a:bodyPr/>
                    <a:lstStyle/>
                    <a:p>
                      <a:pPr marL="0" algn="ctr" defTabSz="914400" rtl="1" eaLnBrk="1" latinLnBrk="0" hangingPunct="1"/>
                      <a:r>
                        <a:rPr lang="ar-EG" sz="1800" b="1" kern="1200" dirty="0">
                          <a:solidFill>
                            <a:schemeClr val="bg1"/>
                          </a:solidFill>
                          <a:latin typeface="+mn-lt"/>
                          <a:ea typeface="+mn-ea"/>
                          <a:cs typeface="+mn-cs"/>
                        </a:rPr>
                        <a:t>أهداف الدورة</a:t>
                      </a:r>
                      <a:endParaRPr lang="en-US" sz="1800" b="1" kern="1200" dirty="0">
                        <a:solidFill>
                          <a:schemeClr val="bg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2">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فهم نمط الخدمات المصغّرة وكيفية تصميمها وتطويرها</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تطبيق مبادئ الـ </a:t>
                      </a:r>
                      <a:r>
                        <a:rPr lang="en-US" sz="1600" dirty="0"/>
                        <a:t>DevOps</a:t>
                      </a:r>
                      <a:r>
                        <a:rPr lang="ar-SA" sz="1600" dirty="0"/>
                        <a:t> في عمليات التطوير والنشر</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استخدام أدوات الـ </a:t>
                      </a:r>
                      <a:r>
                        <a:rPr lang="en-US" sz="1600" dirty="0"/>
                        <a:t>DevOps</a:t>
                      </a:r>
                      <a:r>
                        <a:rPr lang="ar-SA" sz="1600" dirty="0"/>
                        <a:t> لتحسين الكفاءة والجودة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gridSpan="2">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تطوير ونشر تطبيقات حديثة قابلة للتوسع والصيانة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تعزيز التعاون بين فرق التطوير والتشغيل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72527477"/>
                  </a:ext>
                </a:extLst>
              </a:tr>
            </a:tbl>
          </a:graphicData>
        </a:graphic>
      </p:graphicFrame>
    </p:spTree>
    <p:extLst>
      <p:ext uri="{BB962C8B-B14F-4D97-AF65-F5344CB8AC3E}">
        <p14:creationId xmlns:p14="http://schemas.microsoft.com/office/powerpoint/2010/main" val="6998500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F9056-F24B-DCF9-2A35-5E64C2A7E77E}"/>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D4A70B71-4EAF-3581-CFAF-328B77F9AF8E}"/>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41</a:t>
            </a:fld>
            <a:endParaRPr lang="en-US" sz="1400" b="1" dirty="0">
              <a:solidFill>
                <a:schemeClr val="accent1"/>
              </a:solidFill>
            </a:endParaRPr>
          </a:p>
        </p:txBody>
      </p:sp>
      <p:sp>
        <p:nvSpPr>
          <p:cNvPr id="2" name="Title 1">
            <a:extLst>
              <a:ext uri="{FF2B5EF4-FFF2-40B4-BE49-F238E27FC236}">
                <a16:creationId xmlns:a16="http://schemas.microsoft.com/office/drawing/2014/main" id="{E5D4F289-F75D-9139-BACA-3AC790BB8BD0}"/>
              </a:ext>
            </a:extLst>
          </p:cNvPr>
          <p:cNvSpPr txBox="1">
            <a:spLocks/>
          </p:cNvSpPr>
          <p:nvPr/>
        </p:nvSpPr>
        <p:spPr>
          <a:xfrm>
            <a:off x="1744133" y="408242"/>
            <a:ext cx="960966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بطاقة </a:t>
            </a:r>
            <a:r>
              <a:rPr lang="ar-SA" dirty="0"/>
              <a:t>التدريب لـ "دورة إدارة وتهيئة أداة البنية المؤسسية</a:t>
            </a:r>
            <a:r>
              <a:rPr lang="ar-EG" dirty="0"/>
              <a:t>"</a:t>
            </a:r>
            <a:endParaRPr lang="en-US" dirty="0"/>
          </a:p>
        </p:txBody>
      </p:sp>
      <p:graphicFrame>
        <p:nvGraphicFramePr>
          <p:cNvPr id="3" name="Table 5">
            <a:extLst>
              <a:ext uri="{FF2B5EF4-FFF2-40B4-BE49-F238E27FC236}">
                <a16:creationId xmlns:a16="http://schemas.microsoft.com/office/drawing/2014/main" id="{9E9B8205-C2AF-639C-DFBF-D94732BFA787}"/>
              </a:ext>
            </a:extLst>
          </p:cNvPr>
          <p:cNvGraphicFramePr>
            <a:graphicFrameLocks noGrp="1"/>
          </p:cNvGraphicFramePr>
          <p:nvPr>
            <p:extLst>
              <p:ext uri="{D42A27DB-BD31-4B8C-83A1-F6EECF244321}">
                <p14:modId xmlns:p14="http://schemas.microsoft.com/office/powerpoint/2010/main" val="2724246218"/>
              </p:ext>
            </p:extLst>
          </p:nvPr>
        </p:nvGraphicFramePr>
        <p:xfrm>
          <a:off x="668584" y="962735"/>
          <a:ext cx="10799517" cy="5075538"/>
        </p:xfrm>
        <a:graphic>
          <a:graphicData uri="http://schemas.openxmlformats.org/drawingml/2006/table">
            <a:tbl>
              <a:tblPr rtl="1" firstRow="1" bandRow="1">
                <a:tableStyleId>{2D5ABB26-0587-4C30-8999-92F81FD0307C}</a:tableStyleId>
              </a:tblPr>
              <a:tblGrid>
                <a:gridCol w="1816589">
                  <a:extLst>
                    <a:ext uri="{9D8B030D-6E8A-4147-A177-3AD203B41FA5}">
                      <a16:colId xmlns:a16="http://schemas.microsoft.com/office/drawing/2014/main" val="2004281081"/>
                    </a:ext>
                  </a:extLst>
                </a:gridCol>
                <a:gridCol w="2929107">
                  <a:extLst>
                    <a:ext uri="{9D8B030D-6E8A-4147-A177-3AD203B41FA5}">
                      <a16:colId xmlns:a16="http://schemas.microsoft.com/office/drawing/2014/main" val="2555702573"/>
                    </a:ext>
                  </a:extLst>
                </a:gridCol>
                <a:gridCol w="1530780">
                  <a:extLst>
                    <a:ext uri="{9D8B030D-6E8A-4147-A177-3AD203B41FA5}">
                      <a16:colId xmlns:a16="http://schemas.microsoft.com/office/drawing/2014/main" val="938496735"/>
                    </a:ext>
                  </a:extLst>
                </a:gridCol>
                <a:gridCol w="237803">
                  <a:extLst>
                    <a:ext uri="{9D8B030D-6E8A-4147-A177-3AD203B41FA5}">
                      <a16:colId xmlns:a16="http://schemas.microsoft.com/office/drawing/2014/main" val="2423776635"/>
                    </a:ext>
                  </a:extLst>
                </a:gridCol>
                <a:gridCol w="4285238">
                  <a:extLst>
                    <a:ext uri="{9D8B030D-6E8A-4147-A177-3AD203B41FA5}">
                      <a16:colId xmlns:a16="http://schemas.microsoft.com/office/drawing/2014/main" val="7071169"/>
                    </a:ext>
                  </a:extLst>
                </a:gridCol>
              </a:tblGrid>
              <a:tr h="613505">
                <a:tc>
                  <a:txBody>
                    <a:bodyPr/>
                    <a:lstStyle/>
                    <a:p>
                      <a:pPr marL="0" algn="ctr" defTabSz="914400" rtl="1" eaLnBrk="1" latinLnBrk="0" hangingPunct="1"/>
                      <a:r>
                        <a:rPr lang="ar-SA" sz="1800" b="1" kern="1200" dirty="0">
                          <a:solidFill>
                            <a:schemeClr val="bg1"/>
                          </a:solidFill>
                          <a:latin typeface="+mj-lt"/>
                          <a:ea typeface="+mn-ea"/>
                          <a:cs typeface="+mn-cs"/>
                        </a:rPr>
                        <a:t>اسم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800" b="1" kern="1200" dirty="0">
                          <a:solidFill>
                            <a:schemeClr val="tx1"/>
                          </a:solidFill>
                          <a:latin typeface="+mj-lt"/>
                          <a:ea typeface="+mn-ea"/>
                          <a:cs typeface="+mn-cs"/>
                        </a:rPr>
                        <a:t>دورة إدارة وتهيئة أداة البنية المؤسسية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gridSpan="2">
                  <a:txBody>
                    <a:bodyPr/>
                    <a:lstStyle/>
                    <a:p>
                      <a:pPr marL="0" algn="ctr" defTabSz="914400" rtl="1" eaLnBrk="1" latinLnBrk="0" hangingPunct="1"/>
                      <a:r>
                        <a:rPr lang="ar-SA" sz="1800" b="1" kern="1200" dirty="0">
                          <a:solidFill>
                            <a:schemeClr val="bg1"/>
                          </a:solidFill>
                          <a:latin typeface="+mj-lt"/>
                          <a:ea typeface="+mn-ea"/>
                          <a:cs typeface="+mn-cs"/>
                        </a:rPr>
                        <a:t>المدة الزمنية المقترحة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endParaRPr lang="en-US" dirty="0"/>
                    </a:p>
                  </a:txBody>
                  <a:tcPr/>
                </a:tc>
                <a:tc>
                  <a:txBody>
                    <a:bodyPr/>
                    <a:lstStyle/>
                    <a:p>
                      <a:pPr algn="r" rtl="1"/>
                      <a:r>
                        <a:rPr lang="ar-SA" sz="1600" b="1" kern="1200" dirty="0">
                          <a:solidFill>
                            <a:schemeClr val="tx1"/>
                          </a:solidFill>
                          <a:latin typeface="+mn-lt"/>
                          <a:ea typeface="+mn-ea"/>
                          <a:cs typeface="+mn-cs"/>
                        </a:rPr>
                        <a:t>24 ساعة (3 أيام عمل، 8 ساعات يوميا)</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13795874"/>
                  </a:ext>
                </a:extLst>
              </a:tr>
              <a:tr h="801720">
                <a:tc>
                  <a:txBody>
                    <a:bodyPr/>
                    <a:lstStyle/>
                    <a:p>
                      <a:pPr marL="0" algn="ctr" defTabSz="914400" rtl="1" eaLnBrk="1" latinLnBrk="0" hangingPunct="1"/>
                      <a:r>
                        <a:rPr lang="ar-EG" sz="1800" b="1" kern="1200" dirty="0">
                          <a:solidFill>
                            <a:schemeClr val="bg1"/>
                          </a:solidFill>
                          <a:latin typeface="+mj-lt"/>
                          <a:ea typeface="+mn-ea"/>
                          <a:cs typeface="+mn-cs"/>
                        </a:rPr>
                        <a:t>وصف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4">
                  <a:txBody>
                    <a:bodyPr/>
                    <a:lstStyle/>
                    <a:p>
                      <a:pPr algn="r" rtl="1"/>
                      <a:r>
                        <a:rPr lang="ar-SA" sz="1600" kern="1200" dirty="0">
                          <a:solidFill>
                            <a:schemeClr val="tx1"/>
                          </a:solidFill>
                          <a:latin typeface="+mj-lt"/>
                          <a:ea typeface="+mn-ea"/>
                          <a:cs typeface="+mn-cs"/>
                        </a:rPr>
                        <a:t>تركز هذه الدورة على تدريب المشاركين على إدارة وتهيئة أداة البنية المؤسسية، بما يشمل إدارة المستخدمين، تخصيص نموذج البيانات، إعداد التقارير، وضمان أمان البيانات واستمرارية العمل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pPr marL="0" algn="ctr" defTabSz="914400" rtl="1" eaLnBrk="1" latinLnBrk="0" hangingPunct="1"/>
                      <a:endParaRPr lang="ar-SA" sz="16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endParaRPr lang="en-US"/>
                    </a:p>
                  </a:txBody>
                  <a:tcPr/>
                </a:tc>
                <a:tc hMerge="1">
                  <a:txBody>
                    <a:bodyPr/>
                    <a:lstStyle/>
                    <a:p>
                      <a:pPr algn="r" rtl="1"/>
                      <a:endParaRPr lang="ar-SA" sz="1600"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98658893"/>
                  </a:ext>
                </a:extLst>
              </a:tr>
              <a:tr h="939800">
                <a:tc>
                  <a:txBody>
                    <a:bodyPr/>
                    <a:lstStyle/>
                    <a:p>
                      <a:pPr marL="0" algn="ctr" defTabSz="914400" rtl="1" eaLnBrk="1" latinLnBrk="0" hangingPunct="1"/>
                      <a:r>
                        <a:rPr lang="ar-SA" sz="1800" b="1" kern="1200" dirty="0">
                          <a:solidFill>
                            <a:schemeClr val="bg1"/>
                          </a:solidFill>
                          <a:latin typeface="+mn-lt"/>
                          <a:ea typeface="+mn-ea"/>
                          <a:cs typeface="+mn-cs"/>
                        </a:rPr>
                        <a:t>الأدوار المستهدفة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285750" indent="-285750" algn="r" rtl="1">
                        <a:buFont typeface="Arial" panose="020B0604020202020204" pitchFamily="34" charset="0"/>
                        <a:buChar char="•"/>
                      </a:pPr>
                      <a:r>
                        <a:rPr lang="ar-SA" sz="1600" kern="1200" dirty="0">
                          <a:solidFill>
                            <a:schemeClr val="tx1"/>
                          </a:solidFill>
                          <a:latin typeface="+mj-lt"/>
                          <a:ea typeface="+mn-ea"/>
                          <a:cs typeface="+mn-cs"/>
                        </a:rPr>
                        <a:t>مهندس أداة البنية المؤسسية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gridSpan="2">
                  <a:txBody>
                    <a:bodyPr/>
                    <a:lstStyle/>
                    <a:p>
                      <a:pPr marL="0" algn="ctr" defTabSz="914400" rtl="1" eaLnBrk="1" latinLnBrk="0" hangingPunct="1"/>
                      <a:r>
                        <a:rPr lang="ar-EG" sz="1800" b="1" kern="1200" dirty="0">
                          <a:solidFill>
                            <a:schemeClr val="bg1"/>
                          </a:solidFill>
                          <a:latin typeface="+mj-lt"/>
                          <a:ea typeface="+mn-ea"/>
                          <a:cs typeface="+mn-cs"/>
                        </a:rPr>
                        <a:t>الشهادات المرتبطة</a:t>
                      </a:r>
                      <a:endParaRPr lang="ar-SA"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j-lt"/>
                          <a:ea typeface="+mn-ea"/>
                          <a:cs typeface="+mn-cs"/>
                        </a:rPr>
                        <a:t>محلية: شهادة إتمام الدورة من مزود تدريب معتمد</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دولية: التأهيل للحصول على شهادة </a:t>
                      </a:r>
                      <a:r>
                        <a:rPr lang="ar-SA" sz="1600" kern="1200" dirty="0">
                          <a:solidFill>
                            <a:schemeClr val="tx1"/>
                          </a:solidFill>
                          <a:latin typeface="+mj-lt"/>
                          <a:ea typeface="+mn-ea"/>
                          <a:cs typeface="+mn-cs"/>
                        </a:rPr>
                        <a:t>محترف إدارة المشاريع (</a:t>
                      </a:r>
                      <a:r>
                        <a:rPr lang="en-US" sz="1600" kern="1200" dirty="0">
                          <a:solidFill>
                            <a:schemeClr val="tx1"/>
                          </a:solidFill>
                          <a:latin typeface="+mj-lt"/>
                          <a:ea typeface="+mn-ea"/>
                          <a:cs typeface="+mn-cs"/>
                        </a:rPr>
                        <a:t>PMP</a:t>
                      </a:r>
                      <a:r>
                        <a:rPr lang="ar-SA" sz="1600" kern="1200" dirty="0">
                          <a:solidFill>
                            <a:schemeClr val="tx1"/>
                          </a:solidFill>
                          <a:latin typeface="+mj-lt"/>
                          <a:ea typeface="+mn-ea"/>
                          <a:cs typeface="+mn-cs"/>
                        </a:rPr>
                        <a:t>)</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دولية: التأهيل للحصول على شهادة </a:t>
                      </a:r>
                      <a:r>
                        <a:rPr lang="ar-SA" sz="1600" kern="1200" dirty="0">
                          <a:solidFill>
                            <a:schemeClr val="tx1"/>
                          </a:solidFill>
                          <a:latin typeface="+mj-lt"/>
                          <a:ea typeface="+mn-ea"/>
                          <a:cs typeface="+mn-cs"/>
                        </a:rPr>
                        <a:t>محترف إدارة المخاطر (</a:t>
                      </a:r>
                      <a:r>
                        <a:rPr lang="en-US" sz="1600" kern="1200" dirty="0">
                          <a:solidFill>
                            <a:schemeClr val="tx1"/>
                          </a:solidFill>
                          <a:latin typeface="+mj-lt"/>
                          <a:ea typeface="+mn-ea"/>
                          <a:cs typeface="+mn-cs"/>
                        </a:rPr>
                        <a:t>RMP</a:t>
                      </a:r>
                      <a:r>
                        <a:rPr lang="ar-SA" sz="1600" kern="1200" dirty="0">
                          <a:solidFill>
                            <a:schemeClr val="tx1"/>
                          </a:solidFill>
                          <a:latin typeface="+mj-lt"/>
                          <a:ea typeface="+mn-ea"/>
                          <a:cs typeface="+mn-cs"/>
                        </a:rPr>
                        <a:t>)</a:t>
                      </a:r>
                      <a:endParaRPr lang="en-US"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j-lt"/>
                          <a:ea typeface="+mn-ea"/>
                          <a:cs typeface="+mn-cs"/>
                        </a:rPr>
                        <a:t>شهادة إتمام الدورة من مزود الأداة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840185893"/>
                  </a:ext>
                </a:extLst>
              </a:tr>
              <a:tr h="869232">
                <a:tc>
                  <a:txBody>
                    <a:bodyPr/>
                    <a:lstStyle/>
                    <a:p>
                      <a:pPr marL="0" algn="ctr" defTabSz="914400" rtl="1" eaLnBrk="1" latinLnBrk="0" hangingPunct="1"/>
                      <a:r>
                        <a:rPr lang="ar-SA" sz="1800" b="1" kern="1200" dirty="0">
                          <a:solidFill>
                            <a:schemeClr val="bg1"/>
                          </a:solidFill>
                          <a:latin typeface="+mj-lt"/>
                          <a:ea typeface="+mn-ea"/>
                          <a:cs typeface="+mn-cs"/>
                        </a:rPr>
                        <a:t>طريقة التدريب</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4">
                  <a:txBody>
                    <a:bodyPr/>
                    <a:lstStyle/>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(قيد التخطيط)</a:t>
                      </a:r>
                      <a:endParaRPr lang="en-US" sz="1600" kern="1200" dirty="0">
                        <a:solidFill>
                          <a:schemeClr val="tx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tc hMerge="1">
                  <a:txBody>
                    <a:bodyPr/>
                    <a:lstStyle/>
                    <a:p>
                      <a:endParaRPr lang="en-US"/>
                    </a:p>
                  </a:txBody>
                  <a:tcPr/>
                </a:tc>
                <a:tc hMerge="1">
                  <a:txBody>
                    <a:bodyPr/>
                    <a:lstStyle/>
                    <a:p>
                      <a:endParaRPr lang="en-US"/>
                    </a:p>
                  </a:txBody>
                  <a:tcPr>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808309057"/>
                  </a:ext>
                </a:extLst>
              </a:tr>
              <a:tr h="1028321">
                <a:tc>
                  <a:txBody>
                    <a:bodyPr/>
                    <a:lstStyle/>
                    <a:p>
                      <a:pPr marL="0" algn="ctr" defTabSz="914400" rtl="1" eaLnBrk="1" latinLnBrk="0" hangingPunct="1"/>
                      <a:r>
                        <a:rPr lang="ar-EG" sz="1800" b="1" kern="1200" dirty="0">
                          <a:solidFill>
                            <a:schemeClr val="bg1"/>
                          </a:solidFill>
                          <a:latin typeface="+mj-lt"/>
                          <a:ea typeface="+mn-ea"/>
                          <a:cs typeface="+mn-cs"/>
                        </a:rPr>
                        <a:t>محتويات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2">
                  <a:txBody>
                    <a:bodyPr/>
                    <a:lstStyle/>
                    <a:p>
                      <a:pPr marL="285750" indent="-285750" algn="r" rtl="1">
                        <a:buFont typeface="Arial" panose="020B0604020202020204" pitchFamily="34" charset="0"/>
                        <a:buChar char="•"/>
                      </a:pPr>
                      <a:r>
                        <a:rPr lang="ar-SA" sz="1600" dirty="0"/>
                        <a:t>إدارة المستخدمين وصلاحيات الوصول</a:t>
                      </a:r>
                    </a:p>
                    <a:p>
                      <a:pPr marL="285750" indent="-285750" algn="r" rtl="1">
                        <a:buFont typeface="Arial" panose="020B0604020202020204" pitchFamily="34" charset="0"/>
                        <a:buChar char="•"/>
                      </a:pPr>
                      <a:r>
                        <a:rPr lang="ar-SA" sz="1600" dirty="0"/>
                        <a:t>تهيئة المستودع بالنموذج العام المخصص</a:t>
                      </a:r>
                    </a:p>
                    <a:p>
                      <a:pPr marL="285750" indent="-285750" algn="r" rtl="1">
                        <a:buFont typeface="Arial" panose="020B0604020202020204" pitchFamily="34" charset="0"/>
                        <a:buChar char="•"/>
                      </a:pPr>
                      <a:r>
                        <a:rPr lang="ar-SA" sz="1600" dirty="0"/>
                        <a:t>إعداد التقارير</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gridSpan="2">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النسخ الاحتياطي واستعادة البيانات</a:t>
                      </a:r>
                    </a:p>
                    <a:p>
                      <a:pPr marL="285750" indent="-285750" algn="r" rtl="1">
                        <a:buFont typeface="Arial" panose="020B0604020202020204" pitchFamily="34" charset="0"/>
                        <a:buChar char="•"/>
                      </a:pPr>
                      <a:r>
                        <a:rPr lang="ar-SA" sz="1600" dirty="0"/>
                        <a:t>ضمان أمان البيانات وحماية المستودع</a:t>
                      </a:r>
                    </a:p>
                    <a:p>
                      <a:pPr marL="285750" indent="-285750" algn="r" rtl="1">
                        <a:buFont typeface="Arial" panose="020B0604020202020204" pitchFamily="34" charset="0"/>
                        <a:buChar char="•"/>
                      </a:pPr>
                      <a:r>
                        <a:rPr lang="ar-SA" sz="1600" dirty="0"/>
                        <a:t>أفضل الممارسات في إدارة الأداة</a:t>
                      </a:r>
                      <a:endParaRPr lang="en-US" sz="160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540153272"/>
                  </a:ext>
                </a:extLst>
              </a:tr>
              <a:tr h="788792">
                <a:tc>
                  <a:txBody>
                    <a:bodyPr/>
                    <a:lstStyle/>
                    <a:p>
                      <a:pPr marL="0" algn="ctr" defTabSz="914400" rtl="1" eaLnBrk="1" latinLnBrk="0" hangingPunct="1"/>
                      <a:r>
                        <a:rPr lang="ar-EG" sz="1800" b="1" kern="1200" dirty="0">
                          <a:solidFill>
                            <a:schemeClr val="bg1"/>
                          </a:solidFill>
                          <a:latin typeface="+mn-lt"/>
                          <a:ea typeface="+mn-ea"/>
                          <a:cs typeface="+mn-cs"/>
                        </a:rPr>
                        <a:t>أهداف الدورة</a:t>
                      </a:r>
                      <a:endParaRPr lang="en-US" sz="1800" b="1" kern="1200" dirty="0">
                        <a:solidFill>
                          <a:schemeClr val="bg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2">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اكتساب مهارات إدارة وتهيئة الأداة بكفاءة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ضمان اتساق وجودة محتوى المستودع</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تجهيز تقارير تلبي احتياجات أصحاب المصلحة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gridSpan="2">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تطبيق إجراءات الأمان</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دعم الفريق في استخدام الأداة بفعالية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72527477"/>
                  </a:ext>
                </a:extLst>
              </a:tr>
            </a:tbl>
          </a:graphicData>
        </a:graphic>
      </p:graphicFrame>
    </p:spTree>
    <p:extLst>
      <p:ext uri="{BB962C8B-B14F-4D97-AF65-F5344CB8AC3E}">
        <p14:creationId xmlns:p14="http://schemas.microsoft.com/office/powerpoint/2010/main" val="3679626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F9056-F24B-DCF9-2A35-5E64C2A7E77E}"/>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D4A70B71-4EAF-3581-CFAF-328B77F9AF8E}"/>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42</a:t>
            </a:fld>
            <a:endParaRPr lang="en-US" sz="1400" b="1" dirty="0">
              <a:solidFill>
                <a:schemeClr val="accent1"/>
              </a:solidFill>
            </a:endParaRPr>
          </a:p>
        </p:txBody>
      </p:sp>
      <p:sp>
        <p:nvSpPr>
          <p:cNvPr id="2" name="Title 1">
            <a:extLst>
              <a:ext uri="{FF2B5EF4-FFF2-40B4-BE49-F238E27FC236}">
                <a16:creationId xmlns:a16="http://schemas.microsoft.com/office/drawing/2014/main" id="{E5D4F289-F75D-9139-BACA-3AC790BB8BD0}"/>
              </a:ext>
            </a:extLst>
          </p:cNvPr>
          <p:cNvSpPr txBox="1">
            <a:spLocks/>
          </p:cNvSpPr>
          <p:nvPr/>
        </p:nvSpPr>
        <p:spPr>
          <a:xfrm>
            <a:off x="1744133" y="408242"/>
            <a:ext cx="960966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بطاقة </a:t>
            </a:r>
            <a:r>
              <a:rPr lang="ar-SA" dirty="0"/>
              <a:t>التدريب لـ "دورة في الإبداع والابتكار</a:t>
            </a:r>
            <a:r>
              <a:rPr lang="ar-EG" dirty="0"/>
              <a:t>"</a:t>
            </a:r>
            <a:endParaRPr lang="en-US" dirty="0"/>
          </a:p>
        </p:txBody>
      </p:sp>
      <p:graphicFrame>
        <p:nvGraphicFramePr>
          <p:cNvPr id="3" name="Table 5">
            <a:extLst>
              <a:ext uri="{FF2B5EF4-FFF2-40B4-BE49-F238E27FC236}">
                <a16:creationId xmlns:a16="http://schemas.microsoft.com/office/drawing/2014/main" id="{9E9B8205-C2AF-639C-DFBF-D94732BFA787}"/>
              </a:ext>
            </a:extLst>
          </p:cNvPr>
          <p:cNvGraphicFramePr>
            <a:graphicFrameLocks noGrp="1"/>
          </p:cNvGraphicFramePr>
          <p:nvPr>
            <p:extLst>
              <p:ext uri="{D42A27DB-BD31-4B8C-83A1-F6EECF244321}">
                <p14:modId xmlns:p14="http://schemas.microsoft.com/office/powerpoint/2010/main" val="50851170"/>
              </p:ext>
            </p:extLst>
          </p:nvPr>
        </p:nvGraphicFramePr>
        <p:xfrm>
          <a:off x="668584" y="962735"/>
          <a:ext cx="10799517" cy="5075538"/>
        </p:xfrm>
        <a:graphic>
          <a:graphicData uri="http://schemas.openxmlformats.org/drawingml/2006/table">
            <a:tbl>
              <a:tblPr rtl="1" firstRow="1" bandRow="1">
                <a:tableStyleId>{2D5ABB26-0587-4C30-8999-92F81FD0307C}</a:tableStyleId>
              </a:tblPr>
              <a:tblGrid>
                <a:gridCol w="1816589">
                  <a:extLst>
                    <a:ext uri="{9D8B030D-6E8A-4147-A177-3AD203B41FA5}">
                      <a16:colId xmlns:a16="http://schemas.microsoft.com/office/drawing/2014/main" val="2004281081"/>
                    </a:ext>
                  </a:extLst>
                </a:gridCol>
                <a:gridCol w="2929107">
                  <a:extLst>
                    <a:ext uri="{9D8B030D-6E8A-4147-A177-3AD203B41FA5}">
                      <a16:colId xmlns:a16="http://schemas.microsoft.com/office/drawing/2014/main" val="2555702573"/>
                    </a:ext>
                  </a:extLst>
                </a:gridCol>
                <a:gridCol w="1530780">
                  <a:extLst>
                    <a:ext uri="{9D8B030D-6E8A-4147-A177-3AD203B41FA5}">
                      <a16:colId xmlns:a16="http://schemas.microsoft.com/office/drawing/2014/main" val="938496735"/>
                    </a:ext>
                  </a:extLst>
                </a:gridCol>
                <a:gridCol w="237803">
                  <a:extLst>
                    <a:ext uri="{9D8B030D-6E8A-4147-A177-3AD203B41FA5}">
                      <a16:colId xmlns:a16="http://schemas.microsoft.com/office/drawing/2014/main" val="2423776635"/>
                    </a:ext>
                  </a:extLst>
                </a:gridCol>
                <a:gridCol w="4285238">
                  <a:extLst>
                    <a:ext uri="{9D8B030D-6E8A-4147-A177-3AD203B41FA5}">
                      <a16:colId xmlns:a16="http://schemas.microsoft.com/office/drawing/2014/main" val="7071169"/>
                    </a:ext>
                  </a:extLst>
                </a:gridCol>
              </a:tblGrid>
              <a:tr h="613505">
                <a:tc>
                  <a:txBody>
                    <a:bodyPr/>
                    <a:lstStyle/>
                    <a:p>
                      <a:pPr marL="0" algn="ctr" defTabSz="914400" rtl="1" eaLnBrk="1" latinLnBrk="0" hangingPunct="1"/>
                      <a:r>
                        <a:rPr lang="ar-SA" sz="1800" b="1" kern="1200" dirty="0">
                          <a:solidFill>
                            <a:schemeClr val="bg1"/>
                          </a:solidFill>
                          <a:latin typeface="+mj-lt"/>
                          <a:ea typeface="+mn-ea"/>
                          <a:cs typeface="+mn-cs"/>
                        </a:rPr>
                        <a:t>اسم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800" b="1" kern="1200" dirty="0">
                          <a:solidFill>
                            <a:schemeClr val="tx1"/>
                          </a:solidFill>
                          <a:latin typeface="+mj-lt"/>
                          <a:ea typeface="+mn-ea"/>
                          <a:cs typeface="+mn-cs"/>
                        </a:rPr>
                        <a:t>دورة في الإبداع والابتكار</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gridSpan="2">
                  <a:txBody>
                    <a:bodyPr/>
                    <a:lstStyle/>
                    <a:p>
                      <a:pPr marL="0" algn="ctr" defTabSz="914400" rtl="1" eaLnBrk="1" latinLnBrk="0" hangingPunct="1"/>
                      <a:r>
                        <a:rPr lang="ar-SA" sz="1800" b="1" kern="1200" dirty="0">
                          <a:solidFill>
                            <a:schemeClr val="bg1"/>
                          </a:solidFill>
                          <a:latin typeface="+mj-lt"/>
                          <a:ea typeface="+mn-ea"/>
                          <a:cs typeface="+mn-cs"/>
                        </a:rPr>
                        <a:t>المدة الزمنية المقترحة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endParaRPr lang="en-US" dirty="0"/>
                    </a:p>
                  </a:txBody>
                  <a:tcPr/>
                </a:tc>
                <a:tc>
                  <a:txBody>
                    <a:bodyPr/>
                    <a:lstStyle/>
                    <a:p>
                      <a:pPr algn="r" rtl="1"/>
                      <a:r>
                        <a:rPr lang="ar-SA" sz="1600" b="1" kern="1200" dirty="0">
                          <a:solidFill>
                            <a:schemeClr val="tx1"/>
                          </a:solidFill>
                          <a:latin typeface="+mn-lt"/>
                          <a:ea typeface="+mn-ea"/>
                          <a:cs typeface="+mn-cs"/>
                        </a:rPr>
                        <a:t>16 ساعة (2 يوم عمل، 8 ساعات يوميا)</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13795874"/>
                  </a:ext>
                </a:extLst>
              </a:tr>
              <a:tr h="801720">
                <a:tc>
                  <a:txBody>
                    <a:bodyPr/>
                    <a:lstStyle/>
                    <a:p>
                      <a:pPr marL="0" algn="ctr" defTabSz="914400" rtl="1" eaLnBrk="1" latinLnBrk="0" hangingPunct="1"/>
                      <a:r>
                        <a:rPr lang="ar-EG" sz="1800" b="1" kern="1200" dirty="0">
                          <a:solidFill>
                            <a:schemeClr val="bg1"/>
                          </a:solidFill>
                          <a:latin typeface="+mj-lt"/>
                          <a:ea typeface="+mn-ea"/>
                          <a:cs typeface="+mn-cs"/>
                        </a:rPr>
                        <a:t>وصف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4">
                  <a:txBody>
                    <a:bodyPr/>
                    <a:lstStyle/>
                    <a:p>
                      <a:pPr algn="r" rtl="1"/>
                      <a:r>
                        <a:rPr lang="ar-SA" sz="1600" kern="1200" dirty="0">
                          <a:solidFill>
                            <a:schemeClr val="tx1"/>
                          </a:solidFill>
                          <a:latin typeface="+mj-lt"/>
                          <a:ea typeface="+mn-ea"/>
                          <a:cs typeface="+mn-cs"/>
                        </a:rPr>
                        <a:t>تهدف هذه الدورة إلى تعزيز مهارات الإبداع والابتكار لدى المشاركين، حيث يتعلمون تقنيات التفكير الإبداعي وتطبيقها في حل المشكلات وتطوير الأفكار الجديدة التي تسهم في تحسين الأداء وتحقيق الأهداف</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pPr marL="0" algn="ctr" defTabSz="914400" rtl="1" eaLnBrk="1" latinLnBrk="0" hangingPunct="1"/>
                      <a:endParaRPr lang="ar-SA" sz="16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endParaRPr lang="en-US"/>
                    </a:p>
                  </a:txBody>
                  <a:tcPr/>
                </a:tc>
                <a:tc hMerge="1">
                  <a:txBody>
                    <a:bodyPr/>
                    <a:lstStyle/>
                    <a:p>
                      <a:pPr algn="r" rtl="1"/>
                      <a:endParaRPr lang="ar-SA" sz="1600"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98658893"/>
                  </a:ext>
                </a:extLst>
              </a:tr>
              <a:tr h="939800">
                <a:tc>
                  <a:txBody>
                    <a:bodyPr/>
                    <a:lstStyle/>
                    <a:p>
                      <a:pPr marL="0" algn="ctr" defTabSz="914400" rtl="1" eaLnBrk="1" latinLnBrk="0" hangingPunct="1"/>
                      <a:r>
                        <a:rPr lang="ar-SA" sz="1800" b="1" kern="1200" dirty="0">
                          <a:solidFill>
                            <a:schemeClr val="bg1"/>
                          </a:solidFill>
                          <a:latin typeface="+mn-lt"/>
                          <a:ea typeface="+mn-ea"/>
                          <a:cs typeface="+mn-cs"/>
                        </a:rPr>
                        <a:t>الأدوار المستهدفة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جميع أدوار</a:t>
                      </a:r>
                      <a:r>
                        <a:rPr lang="ar-EG" sz="1600" kern="1200" dirty="0">
                          <a:solidFill>
                            <a:schemeClr val="tx1"/>
                          </a:solidFill>
                          <a:latin typeface="+mn-lt"/>
                          <a:ea typeface="+mn-ea"/>
                          <a:cs typeface="+mn-cs"/>
                        </a:rPr>
                        <a:t> فريق البنية المؤسسية</a:t>
                      </a:r>
                      <a:endParaRPr lang="ar-SA" sz="1600" kern="1200" dirty="0">
                        <a:solidFill>
                          <a:schemeClr val="tx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gridSpan="2">
                  <a:txBody>
                    <a:bodyPr/>
                    <a:lstStyle/>
                    <a:p>
                      <a:pPr marL="0" algn="ctr" defTabSz="914400" rtl="1" eaLnBrk="1" latinLnBrk="0" hangingPunct="1"/>
                      <a:r>
                        <a:rPr lang="ar-EG" sz="1800" b="1" kern="1200" dirty="0">
                          <a:solidFill>
                            <a:schemeClr val="bg1"/>
                          </a:solidFill>
                          <a:latin typeface="+mj-lt"/>
                          <a:ea typeface="+mn-ea"/>
                          <a:cs typeface="+mn-cs"/>
                        </a:rPr>
                        <a:t>الشهادات المرتبطة</a:t>
                      </a:r>
                      <a:endParaRPr lang="ar-SA"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j-lt"/>
                          <a:ea typeface="+mn-ea"/>
                          <a:cs typeface="+mn-cs"/>
                        </a:rPr>
                        <a:t>محلية: شهادة إتمام الدورة من مزود تدريب معتمد</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دولية: التأهيل للحصول على شهادة </a:t>
                      </a:r>
                      <a:r>
                        <a:rPr lang="ar-SA" sz="1600" kern="1200" dirty="0">
                          <a:solidFill>
                            <a:schemeClr val="tx1"/>
                          </a:solidFill>
                          <a:latin typeface="+mj-lt"/>
                          <a:ea typeface="+mn-ea"/>
                          <a:cs typeface="+mn-cs"/>
                        </a:rPr>
                        <a:t>محترف إدارة المشاريع (</a:t>
                      </a:r>
                      <a:r>
                        <a:rPr lang="en-US" sz="1600" kern="1200" dirty="0">
                          <a:solidFill>
                            <a:schemeClr val="tx1"/>
                          </a:solidFill>
                          <a:latin typeface="+mj-lt"/>
                          <a:ea typeface="+mn-ea"/>
                          <a:cs typeface="+mn-cs"/>
                        </a:rPr>
                        <a:t>PMP</a:t>
                      </a:r>
                      <a:r>
                        <a:rPr lang="ar-SA" sz="1600" kern="1200" dirty="0">
                          <a:solidFill>
                            <a:schemeClr val="tx1"/>
                          </a:solidFill>
                          <a:latin typeface="+mj-lt"/>
                          <a:ea typeface="+mn-ea"/>
                          <a:cs typeface="+mn-cs"/>
                        </a:rPr>
                        <a:t>)</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دولية: التأهيل للحصول على شهادة </a:t>
                      </a:r>
                      <a:r>
                        <a:rPr lang="ar-SA" sz="1600" kern="1200" dirty="0">
                          <a:solidFill>
                            <a:schemeClr val="tx1"/>
                          </a:solidFill>
                          <a:latin typeface="+mj-lt"/>
                          <a:ea typeface="+mn-ea"/>
                          <a:cs typeface="+mn-cs"/>
                        </a:rPr>
                        <a:t>محترف إدارة المخاطر (</a:t>
                      </a:r>
                      <a:r>
                        <a:rPr lang="en-US" sz="1600" kern="1200" dirty="0">
                          <a:solidFill>
                            <a:schemeClr val="tx1"/>
                          </a:solidFill>
                          <a:latin typeface="+mj-lt"/>
                          <a:ea typeface="+mn-ea"/>
                          <a:cs typeface="+mn-cs"/>
                        </a:rPr>
                        <a:t>RMP</a:t>
                      </a:r>
                      <a:r>
                        <a:rPr lang="ar-SA" sz="1600" kern="1200" dirty="0">
                          <a:solidFill>
                            <a:schemeClr val="tx1"/>
                          </a:solidFill>
                          <a:latin typeface="+mj-lt"/>
                          <a:ea typeface="+mn-ea"/>
                          <a:cs typeface="+mn-cs"/>
                        </a:rPr>
                        <a:t>)</a:t>
                      </a:r>
                      <a:endParaRPr lang="en-US"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شهادة إتمام الدورة من مزود التدريب</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840185893"/>
                  </a:ext>
                </a:extLst>
              </a:tr>
              <a:tr h="869232">
                <a:tc>
                  <a:txBody>
                    <a:bodyPr/>
                    <a:lstStyle/>
                    <a:p>
                      <a:pPr marL="0" algn="ctr" defTabSz="914400" rtl="1" eaLnBrk="1" latinLnBrk="0" hangingPunct="1"/>
                      <a:r>
                        <a:rPr lang="ar-SA" sz="1800" b="1" kern="1200" dirty="0">
                          <a:solidFill>
                            <a:schemeClr val="bg1"/>
                          </a:solidFill>
                          <a:latin typeface="+mj-lt"/>
                          <a:ea typeface="+mn-ea"/>
                          <a:cs typeface="+mn-cs"/>
                        </a:rPr>
                        <a:t>طريقة التدريب</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4">
                  <a:txBody>
                    <a:bodyPr/>
                    <a:lstStyle/>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(قيد التخطيط)</a:t>
                      </a:r>
                      <a:endParaRPr lang="en-US" sz="1600" kern="1200" dirty="0">
                        <a:solidFill>
                          <a:schemeClr val="tx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tc hMerge="1">
                  <a:txBody>
                    <a:bodyPr/>
                    <a:lstStyle/>
                    <a:p>
                      <a:endParaRPr lang="en-US"/>
                    </a:p>
                  </a:txBody>
                  <a:tcPr/>
                </a:tc>
                <a:tc hMerge="1">
                  <a:txBody>
                    <a:bodyPr/>
                    <a:lstStyle/>
                    <a:p>
                      <a:endParaRPr lang="en-US"/>
                    </a:p>
                  </a:txBody>
                  <a:tcPr>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808309057"/>
                  </a:ext>
                </a:extLst>
              </a:tr>
              <a:tr h="1028321">
                <a:tc>
                  <a:txBody>
                    <a:bodyPr/>
                    <a:lstStyle/>
                    <a:p>
                      <a:pPr marL="0" algn="ctr" defTabSz="914400" rtl="1" eaLnBrk="1" latinLnBrk="0" hangingPunct="1"/>
                      <a:r>
                        <a:rPr lang="ar-EG" sz="1800" b="1" kern="1200" dirty="0">
                          <a:solidFill>
                            <a:schemeClr val="bg1"/>
                          </a:solidFill>
                          <a:latin typeface="+mj-lt"/>
                          <a:ea typeface="+mn-ea"/>
                          <a:cs typeface="+mn-cs"/>
                        </a:rPr>
                        <a:t>محتويات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2">
                  <a:txBody>
                    <a:bodyPr/>
                    <a:lstStyle/>
                    <a:p>
                      <a:pPr marL="285750" indent="-285750" algn="r" rtl="1">
                        <a:buFont typeface="Arial" panose="020B0604020202020204" pitchFamily="34" charset="0"/>
                        <a:buChar char="•"/>
                      </a:pPr>
                      <a:r>
                        <a:rPr lang="ar-SA" sz="1600" dirty="0"/>
                        <a:t>مفاهيم الإبداع والابتكار</a:t>
                      </a:r>
                    </a:p>
                    <a:p>
                      <a:pPr marL="285750" indent="-285750" algn="r" rtl="1">
                        <a:buFont typeface="Arial" panose="020B0604020202020204" pitchFamily="34" charset="0"/>
                        <a:buChar char="•"/>
                      </a:pPr>
                      <a:r>
                        <a:rPr lang="ar-SA" sz="1600" dirty="0"/>
                        <a:t>تقنيات التفكير الإبداعي (مثل العصف الذهني، الخرائط الذهنية)</a:t>
                      </a:r>
                    </a:p>
                    <a:p>
                      <a:pPr marL="285750" indent="-285750" algn="r" rtl="1">
                        <a:buFont typeface="Arial" panose="020B0604020202020204" pitchFamily="34" charset="0"/>
                        <a:buChar char="•"/>
                      </a:pPr>
                      <a:r>
                        <a:rPr lang="ar-SA" sz="1600" dirty="0"/>
                        <a:t>تحفيز الإبداع في بيئة العمل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gridSpan="2">
                  <a:txBody>
                    <a:bodyPr/>
                    <a:lstStyle/>
                    <a:p>
                      <a:pPr marL="285750" indent="-285750" algn="r" rtl="1">
                        <a:buFont typeface="Arial" panose="020B0604020202020204" pitchFamily="34" charset="0"/>
                        <a:buChar char="•"/>
                      </a:pPr>
                      <a:r>
                        <a:rPr lang="ar-SA" sz="1600" dirty="0"/>
                        <a:t>تطبيق الابتكار في حل المشكلات</a:t>
                      </a:r>
                    </a:p>
                    <a:p>
                      <a:pPr marL="285750" indent="-285750" algn="r" rtl="1">
                        <a:buFont typeface="Arial" panose="020B0604020202020204" pitchFamily="34" charset="0"/>
                        <a:buChar char="•"/>
                      </a:pPr>
                      <a:r>
                        <a:rPr lang="ar-SA" sz="1600" dirty="0"/>
                        <a:t>تحويل الأفكار إلى مبادرات قابلة للتنفيذ</a:t>
                      </a:r>
                    </a:p>
                    <a:p>
                      <a:pPr marL="285750" indent="-285750" algn="r" rtl="1">
                        <a:buFont typeface="Arial" panose="020B0604020202020204" pitchFamily="34" charset="0"/>
                        <a:buChar char="•"/>
                      </a:pPr>
                      <a:r>
                        <a:rPr lang="ar-SA" sz="1600" dirty="0"/>
                        <a:t>تعزيز ثقافة الابتكار في الهيئة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540153272"/>
                  </a:ext>
                </a:extLst>
              </a:tr>
              <a:tr h="788792">
                <a:tc>
                  <a:txBody>
                    <a:bodyPr/>
                    <a:lstStyle/>
                    <a:p>
                      <a:pPr marL="0" algn="ctr" defTabSz="914400" rtl="1" eaLnBrk="1" latinLnBrk="0" hangingPunct="1"/>
                      <a:r>
                        <a:rPr lang="ar-EG" sz="1800" b="1" kern="1200" dirty="0">
                          <a:solidFill>
                            <a:schemeClr val="bg1"/>
                          </a:solidFill>
                          <a:latin typeface="+mn-lt"/>
                          <a:ea typeface="+mn-ea"/>
                          <a:cs typeface="+mn-cs"/>
                        </a:rPr>
                        <a:t>أهداف الدورة</a:t>
                      </a:r>
                      <a:endParaRPr lang="en-US" sz="1800" b="1" kern="1200" dirty="0">
                        <a:solidFill>
                          <a:schemeClr val="bg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2">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تنمية قدرات التفكير الإبداعي والابتكاري</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تطبيق تقنيات الإبداع في التحديات العملية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تعزيز الثقة في القدرة على توليد أفكار جديدة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gridSpan="2">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تشجيع التعاون والتواصل الفعال بين الفريق</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دعم الابتكار المستدام في الهيئة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72527477"/>
                  </a:ext>
                </a:extLst>
              </a:tr>
            </a:tbl>
          </a:graphicData>
        </a:graphic>
      </p:graphicFrame>
    </p:spTree>
    <p:extLst>
      <p:ext uri="{BB962C8B-B14F-4D97-AF65-F5344CB8AC3E}">
        <p14:creationId xmlns:p14="http://schemas.microsoft.com/office/powerpoint/2010/main" val="28311242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F9056-F24B-DCF9-2A35-5E64C2A7E77E}"/>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D4A70B71-4EAF-3581-CFAF-328B77F9AF8E}"/>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43</a:t>
            </a:fld>
            <a:endParaRPr lang="en-US" sz="1400" b="1" dirty="0">
              <a:solidFill>
                <a:schemeClr val="accent1"/>
              </a:solidFill>
            </a:endParaRPr>
          </a:p>
        </p:txBody>
      </p:sp>
      <p:sp>
        <p:nvSpPr>
          <p:cNvPr id="2" name="Title 1">
            <a:extLst>
              <a:ext uri="{FF2B5EF4-FFF2-40B4-BE49-F238E27FC236}">
                <a16:creationId xmlns:a16="http://schemas.microsoft.com/office/drawing/2014/main" id="{E5D4F289-F75D-9139-BACA-3AC790BB8BD0}"/>
              </a:ext>
            </a:extLst>
          </p:cNvPr>
          <p:cNvSpPr txBox="1">
            <a:spLocks/>
          </p:cNvSpPr>
          <p:nvPr/>
        </p:nvSpPr>
        <p:spPr>
          <a:xfrm>
            <a:off x="1744133" y="408242"/>
            <a:ext cx="960966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بطاقة </a:t>
            </a:r>
            <a:r>
              <a:rPr lang="ar-SA" dirty="0"/>
              <a:t>التدريب لـ "دورة إطار عمل </a:t>
            </a:r>
            <a:r>
              <a:rPr lang="en-US" dirty="0"/>
              <a:t>COBIT</a:t>
            </a:r>
            <a:r>
              <a:rPr lang="ar-SA" dirty="0"/>
              <a:t> لحوكمة وإدارة تقنية المعلومات</a:t>
            </a:r>
            <a:r>
              <a:rPr lang="ar-EG" dirty="0"/>
              <a:t>"</a:t>
            </a:r>
            <a:endParaRPr lang="en-US" dirty="0"/>
          </a:p>
        </p:txBody>
      </p:sp>
      <p:graphicFrame>
        <p:nvGraphicFramePr>
          <p:cNvPr id="3" name="Table 5">
            <a:extLst>
              <a:ext uri="{FF2B5EF4-FFF2-40B4-BE49-F238E27FC236}">
                <a16:creationId xmlns:a16="http://schemas.microsoft.com/office/drawing/2014/main" id="{9E9B8205-C2AF-639C-DFBF-D94732BFA787}"/>
              </a:ext>
            </a:extLst>
          </p:cNvPr>
          <p:cNvGraphicFramePr>
            <a:graphicFrameLocks noGrp="1"/>
          </p:cNvGraphicFramePr>
          <p:nvPr>
            <p:extLst>
              <p:ext uri="{D42A27DB-BD31-4B8C-83A1-F6EECF244321}">
                <p14:modId xmlns:p14="http://schemas.microsoft.com/office/powerpoint/2010/main" val="3663284530"/>
              </p:ext>
            </p:extLst>
          </p:nvPr>
        </p:nvGraphicFramePr>
        <p:xfrm>
          <a:off x="668584" y="962735"/>
          <a:ext cx="10799517" cy="5140592"/>
        </p:xfrm>
        <a:graphic>
          <a:graphicData uri="http://schemas.openxmlformats.org/drawingml/2006/table">
            <a:tbl>
              <a:tblPr rtl="1" firstRow="1" bandRow="1">
                <a:tableStyleId>{2D5ABB26-0587-4C30-8999-92F81FD0307C}</a:tableStyleId>
              </a:tblPr>
              <a:tblGrid>
                <a:gridCol w="1816589">
                  <a:extLst>
                    <a:ext uri="{9D8B030D-6E8A-4147-A177-3AD203B41FA5}">
                      <a16:colId xmlns:a16="http://schemas.microsoft.com/office/drawing/2014/main" val="2004281081"/>
                    </a:ext>
                  </a:extLst>
                </a:gridCol>
                <a:gridCol w="2929107">
                  <a:extLst>
                    <a:ext uri="{9D8B030D-6E8A-4147-A177-3AD203B41FA5}">
                      <a16:colId xmlns:a16="http://schemas.microsoft.com/office/drawing/2014/main" val="2555702573"/>
                    </a:ext>
                  </a:extLst>
                </a:gridCol>
                <a:gridCol w="1530780">
                  <a:extLst>
                    <a:ext uri="{9D8B030D-6E8A-4147-A177-3AD203B41FA5}">
                      <a16:colId xmlns:a16="http://schemas.microsoft.com/office/drawing/2014/main" val="938496735"/>
                    </a:ext>
                  </a:extLst>
                </a:gridCol>
                <a:gridCol w="237803">
                  <a:extLst>
                    <a:ext uri="{9D8B030D-6E8A-4147-A177-3AD203B41FA5}">
                      <a16:colId xmlns:a16="http://schemas.microsoft.com/office/drawing/2014/main" val="2423776635"/>
                    </a:ext>
                  </a:extLst>
                </a:gridCol>
                <a:gridCol w="4285238">
                  <a:extLst>
                    <a:ext uri="{9D8B030D-6E8A-4147-A177-3AD203B41FA5}">
                      <a16:colId xmlns:a16="http://schemas.microsoft.com/office/drawing/2014/main" val="7071169"/>
                    </a:ext>
                  </a:extLst>
                </a:gridCol>
              </a:tblGrid>
              <a:tr h="613505">
                <a:tc>
                  <a:txBody>
                    <a:bodyPr/>
                    <a:lstStyle/>
                    <a:p>
                      <a:pPr marL="0" algn="ctr" defTabSz="914400" rtl="1" eaLnBrk="1" latinLnBrk="0" hangingPunct="1"/>
                      <a:r>
                        <a:rPr lang="ar-SA" sz="1800" b="1" kern="1200" dirty="0">
                          <a:solidFill>
                            <a:schemeClr val="bg1"/>
                          </a:solidFill>
                          <a:latin typeface="+mj-lt"/>
                          <a:ea typeface="+mn-ea"/>
                          <a:cs typeface="+mn-cs"/>
                        </a:rPr>
                        <a:t>اسم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800" b="1" kern="1200" dirty="0">
                          <a:solidFill>
                            <a:schemeClr val="tx1"/>
                          </a:solidFill>
                          <a:latin typeface="+mj-lt"/>
                          <a:ea typeface="+mn-ea"/>
                          <a:cs typeface="+mn-cs"/>
                        </a:rPr>
                        <a:t>دورة إطار عمل </a:t>
                      </a:r>
                      <a:r>
                        <a:rPr lang="en-US" sz="1800" b="1" kern="1200" dirty="0">
                          <a:solidFill>
                            <a:schemeClr val="tx1"/>
                          </a:solidFill>
                          <a:latin typeface="+mj-lt"/>
                          <a:ea typeface="+mn-ea"/>
                          <a:cs typeface="+mn-cs"/>
                        </a:rPr>
                        <a:t>COBIT</a:t>
                      </a:r>
                      <a:r>
                        <a:rPr lang="ar-SA" sz="1800" b="1" kern="1200" dirty="0">
                          <a:solidFill>
                            <a:schemeClr val="tx1"/>
                          </a:solidFill>
                          <a:latin typeface="+mj-lt"/>
                          <a:ea typeface="+mn-ea"/>
                          <a:cs typeface="+mn-cs"/>
                        </a:rPr>
                        <a:t> لحوكمة وإدارة تقنية المعلومات</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gridSpan="2">
                  <a:txBody>
                    <a:bodyPr/>
                    <a:lstStyle/>
                    <a:p>
                      <a:pPr marL="0" algn="ctr" defTabSz="914400" rtl="1" eaLnBrk="1" latinLnBrk="0" hangingPunct="1"/>
                      <a:r>
                        <a:rPr lang="ar-SA" sz="1800" b="1" kern="1200" dirty="0">
                          <a:solidFill>
                            <a:schemeClr val="bg1"/>
                          </a:solidFill>
                          <a:latin typeface="+mj-lt"/>
                          <a:ea typeface="+mn-ea"/>
                          <a:cs typeface="+mn-cs"/>
                        </a:rPr>
                        <a:t>المدة الزمنية المقترحة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endParaRPr lang="en-US" dirty="0"/>
                    </a:p>
                  </a:txBody>
                  <a:tcPr/>
                </a:tc>
                <a:tc>
                  <a:txBody>
                    <a:bodyPr/>
                    <a:lstStyle/>
                    <a:p>
                      <a:pPr algn="r" rtl="1"/>
                      <a:r>
                        <a:rPr lang="ar-SA" sz="1600" b="1" kern="1200" dirty="0">
                          <a:solidFill>
                            <a:schemeClr val="tx1"/>
                          </a:solidFill>
                          <a:latin typeface="+mn-lt"/>
                          <a:ea typeface="+mn-ea"/>
                          <a:cs typeface="+mn-cs"/>
                        </a:rPr>
                        <a:t>24 ساعة (3 أيام عمل، 8 ساعات يوميا)</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13795874"/>
                  </a:ext>
                </a:extLst>
              </a:tr>
              <a:tr h="801720">
                <a:tc>
                  <a:txBody>
                    <a:bodyPr/>
                    <a:lstStyle/>
                    <a:p>
                      <a:pPr marL="0" algn="ctr" defTabSz="914400" rtl="1" eaLnBrk="1" latinLnBrk="0" hangingPunct="1"/>
                      <a:r>
                        <a:rPr lang="ar-EG" sz="1800" b="1" kern="1200" dirty="0">
                          <a:solidFill>
                            <a:schemeClr val="bg1"/>
                          </a:solidFill>
                          <a:latin typeface="+mj-lt"/>
                          <a:ea typeface="+mn-ea"/>
                          <a:cs typeface="+mn-cs"/>
                        </a:rPr>
                        <a:t>وصف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4">
                  <a:txBody>
                    <a:bodyPr/>
                    <a:lstStyle/>
                    <a:p>
                      <a:pPr algn="r" rtl="1"/>
                      <a:r>
                        <a:rPr lang="ar-SA" sz="1600" kern="1200" dirty="0">
                          <a:solidFill>
                            <a:schemeClr val="tx1"/>
                          </a:solidFill>
                          <a:latin typeface="+mj-lt"/>
                          <a:ea typeface="+mn-ea"/>
                          <a:cs typeface="+mn-cs"/>
                        </a:rPr>
                        <a:t>تقدم هذه الدورة فهما شاملا لإطار عمل </a:t>
                      </a:r>
                      <a:r>
                        <a:rPr lang="en-US" sz="1600" kern="1200" dirty="0">
                          <a:solidFill>
                            <a:schemeClr val="tx1"/>
                          </a:solidFill>
                          <a:latin typeface="+mj-lt"/>
                          <a:ea typeface="+mn-ea"/>
                          <a:cs typeface="+mn-cs"/>
                        </a:rPr>
                        <a:t>COBIT</a:t>
                      </a:r>
                      <a:r>
                        <a:rPr lang="ar-SA" sz="1600" kern="1200" dirty="0">
                          <a:solidFill>
                            <a:schemeClr val="tx1"/>
                          </a:solidFill>
                          <a:latin typeface="+mj-lt"/>
                          <a:ea typeface="+mn-ea"/>
                          <a:cs typeface="+mn-cs"/>
                        </a:rPr>
                        <a:t> الذي يساعد المؤسسات على تحقيق أهداف حوكمة وإدارة تقنية المعلومات، حيث يتعلم المشاركون كيفية تطبيق المبادئ والممارسات لتحسين أداء ومواءمة تقنية المعلومات مع الأهداف الاستراتيجية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pPr marL="0" algn="ctr" defTabSz="914400" rtl="1" eaLnBrk="1" latinLnBrk="0" hangingPunct="1"/>
                      <a:endParaRPr lang="ar-SA" sz="16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endParaRPr lang="en-US"/>
                    </a:p>
                  </a:txBody>
                  <a:tcPr/>
                </a:tc>
                <a:tc hMerge="1">
                  <a:txBody>
                    <a:bodyPr/>
                    <a:lstStyle/>
                    <a:p>
                      <a:pPr algn="r" rtl="1"/>
                      <a:endParaRPr lang="ar-SA" sz="1600"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98658893"/>
                  </a:ext>
                </a:extLst>
              </a:tr>
              <a:tr h="939800">
                <a:tc>
                  <a:txBody>
                    <a:bodyPr/>
                    <a:lstStyle/>
                    <a:p>
                      <a:pPr marL="0" algn="ctr" defTabSz="914400" rtl="1" eaLnBrk="1" latinLnBrk="0" hangingPunct="1"/>
                      <a:r>
                        <a:rPr lang="ar-SA" sz="1800" b="1" kern="1200" dirty="0">
                          <a:solidFill>
                            <a:schemeClr val="bg1"/>
                          </a:solidFill>
                          <a:latin typeface="+mn-lt"/>
                          <a:ea typeface="+mn-ea"/>
                          <a:cs typeface="+mn-cs"/>
                        </a:rPr>
                        <a:t>الأدوار المستهدفة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مدير قسم البنية المؤسسية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خبير البنية المؤسسية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خبير بنية التقنية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gridSpan="2">
                  <a:txBody>
                    <a:bodyPr/>
                    <a:lstStyle/>
                    <a:p>
                      <a:pPr marL="0" algn="ctr" defTabSz="914400" rtl="1" eaLnBrk="1" latinLnBrk="0" hangingPunct="1"/>
                      <a:r>
                        <a:rPr lang="ar-EG" sz="1800" b="1" kern="1200" dirty="0">
                          <a:solidFill>
                            <a:schemeClr val="bg1"/>
                          </a:solidFill>
                          <a:latin typeface="+mj-lt"/>
                          <a:ea typeface="+mn-ea"/>
                          <a:cs typeface="+mn-cs"/>
                        </a:rPr>
                        <a:t>الشهادات المرتبطة</a:t>
                      </a:r>
                      <a:endParaRPr lang="ar-SA"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j-lt"/>
                          <a:ea typeface="+mn-ea"/>
                          <a:cs typeface="+mn-cs"/>
                        </a:rPr>
                        <a:t>محلية: شهادة إتمام الدورة من مزود تدريب معتمد</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دولية: التأهيل للحصول على شهادة </a:t>
                      </a:r>
                      <a:r>
                        <a:rPr lang="ar-SA" sz="1600" kern="1200" dirty="0">
                          <a:solidFill>
                            <a:schemeClr val="tx1"/>
                          </a:solidFill>
                          <a:latin typeface="+mj-lt"/>
                          <a:ea typeface="+mn-ea"/>
                          <a:cs typeface="+mn-cs"/>
                        </a:rPr>
                        <a:t>محترف إدارة المشاريع (</a:t>
                      </a:r>
                      <a:r>
                        <a:rPr lang="en-US" sz="1600" kern="1200" dirty="0">
                          <a:solidFill>
                            <a:schemeClr val="tx1"/>
                          </a:solidFill>
                          <a:latin typeface="+mj-lt"/>
                          <a:ea typeface="+mn-ea"/>
                          <a:cs typeface="+mn-cs"/>
                        </a:rPr>
                        <a:t>PMP</a:t>
                      </a:r>
                      <a:r>
                        <a:rPr lang="ar-SA" sz="1600" kern="1200" dirty="0">
                          <a:solidFill>
                            <a:schemeClr val="tx1"/>
                          </a:solidFill>
                          <a:latin typeface="+mj-lt"/>
                          <a:ea typeface="+mn-ea"/>
                          <a:cs typeface="+mn-cs"/>
                        </a:rPr>
                        <a:t>)</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دولية: التأهيل للحصول على شهادة </a:t>
                      </a:r>
                      <a:r>
                        <a:rPr lang="ar-SA" sz="1600" kern="1200" dirty="0">
                          <a:solidFill>
                            <a:schemeClr val="tx1"/>
                          </a:solidFill>
                          <a:latin typeface="+mj-lt"/>
                          <a:ea typeface="+mn-ea"/>
                          <a:cs typeface="+mn-cs"/>
                        </a:rPr>
                        <a:t>محترف إدارة المخاطر (</a:t>
                      </a:r>
                      <a:r>
                        <a:rPr lang="en-US" sz="1600" kern="1200" dirty="0">
                          <a:solidFill>
                            <a:schemeClr val="tx1"/>
                          </a:solidFill>
                          <a:latin typeface="+mj-lt"/>
                          <a:ea typeface="+mn-ea"/>
                          <a:cs typeface="+mn-cs"/>
                        </a:rPr>
                        <a:t>RMP</a:t>
                      </a:r>
                      <a:r>
                        <a:rPr lang="ar-SA" sz="1600" kern="1200" dirty="0">
                          <a:solidFill>
                            <a:schemeClr val="tx1"/>
                          </a:solidFill>
                          <a:latin typeface="+mj-lt"/>
                          <a:ea typeface="+mn-ea"/>
                          <a:cs typeface="+mn-cs"/>
                        </a:rPr>
                        <a:t>)</a:t>
                      </a:r>
                      <a:endParaRPr lang="en-US"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شهادة إتمام الدورة من مزود التدريب</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التأهيل لشهادة </a:t>
                      </a:r>
                      <a:r>
                        <a:rPr lang="en-US" sz="1600" kern="1200" dirty="0">
                          <a:solidFill>
                            <a:schemeClr val="tx1"/>
                          </a:solidFill>
                          <a:latin typeface="+mn-lt"/>
                          <a:ea typeface="+mn-ea"/>
                          <a:cs typeface="+mn-cs"/>
                        </a:rPr>
                        <a:t>COBIT Foundation</a:t>
                      </a:r>
                      <a:endParaRPr lang="ar-SA" sz="1600" kern="1200" dirty="0">
                        <a:solidFill>
                          <a:schemeClr val="tx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840185893"/>
                  </a:ext>
                </a:extLst>
              </a:tr>
              <a:tr h="869232">
                <a:tc>
                  <a:txBody>
                    <a:bodyPr/>
                    <a:lstStyle/>
                    <a:p>
                      <a:pPr marL="0" algn="ctr" defTabSz="914400" rtl="1" eaLnBrk="1" latinLnBrk="0" hangingPunct="1"/>
                      <a:r>
                        <a:rPr lang="ar-SA" sz="1800" b="1" kern="1200" dirty="0">
                          <a:solidFill>
                            <a:schemeClr val="bg1"/>
                          </a:solidFill>
                          <a:latin typeface="+mj-lt"/>
                          <a:ea typeface="+mn-ea"/>
                          <a:cs typeface="+mn-cs"/>
                        </a:rPr>
                        <a:t>طريقة التدريب</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4">
                  <a:txBody>
                    <a:bodyPr/>
                    <a:lstStyle/>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(قيد التخطيط)</a:t>
                      </a:r>
                      <a:endParaRPr lang="en-US" sz="1600" kern="1200" dirty="0">
                        <a:solidFill>
                          <a:schemeClr val="tx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tc hMerge="1">
                  <a:txBody>
                    <a:bodyPr/>
                    <a:lstStyle/>
                    <a:p>
                      <a:endParaRPr lang="en-US"/>
                    </a:p>
                  </a:txBody>
                  <a:tcPr/>
                </a:tc>
                <a:tc hMerge="1">
                  <a:txBody>
                    <a:bodyPr/>
                    <a:lstStyle/>
                    <a:p>
                      <a:endParaRPr lang="en-US"/>
                    </a:p>
                  </a:txBody>
                  <a:tcPr>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808309057"/>
                  </a:ext>
                </a:extLst>
              </a:tr>
              <a:tr h="1028321">
                <a:tc>
                  <a:txBody>
                    <a:bodyPr/>
                    <a:lstStyle/>
                    <a:p>
                      <a:pPr marL="0" algn="ctr" defTabSz="914400" rtl="1" eaLnBrk="1" latinLnBrk="0" hangingPunct="1"/>
                      <a:r>
                        <a:rPr lang="ar-EG" sz="1800" b="1" kern="1200" dirty="0">
                          <a:solidFill>
                            <a:schemeClr val="bg1"/>
                          </a:solidFill>
                          <a:latin typeface="+mj-lt"/>
                          <a:ea typeface="+mn-ea"/>
                          <a:cs typeface="+mn-cs"/>
                        </a:rPr>
                        <a:t>محتويات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2">
                  <a:txBody>
                    <a:bodyPr/>
                    <a:lstStyle/>
                    <a:p>
                      <a:pPr marL="285750" indent="-285750" algn="r" rtl="1">
                        <a:buFont typeface="Arial" panose="020B0604020202020204" pitchFamily="34" charset="0"/>
                        <a:buChar char="•"/>
                      </a:pPr>
                      <a:r>
                        <a:rPr lang="ar-SA" sz="1600" dirty="0"/>
                        <a:t>مقدمة في حوكمة وإدارة تقنية المعلومات</a:t>
                      </a:r>
                    </a:p>
                    <a:p>
                      <a:pPr marL="285750" indent="-285750" algn="r" rtl="1">
                        <a:buFont typeface="Arial" panose="020B0604020202020204" pitchFamily="34" charset="0"/>
                        <a:buChar char="•"/>
                      </a:pPr>
                      <a:r>
                        <a:rPr lang="ar-SA" sz="1600" dirty="0"/>
                        <a:t>مكونات ومبادئ إطار عمل </a:t>
                      </a:r>
                      <a:r>
                        <a:rPr lang="en-US" sz="1600" dirty="0"/>
                        <a:t>COBIT</a:t>
                      </a:r>
                      <a:endParaRPr lang="ar-SA" sz="1600" dirty="0"/>
                    </a:p>
                    <a:p>
                      <a:pPr marL="285750" indent="-285750" algn="r" rtl="1">
                        <a:buFont typeface="Arial" panose="020B0604020202020204" pitchFamily="34" charset="0"/>
                        <a:buChar char="•"/>
                      </a:pPr>
                      <a:r>
                        <a:rPr lang="ar-SA" sz="1600" dirty="0"/>
                        <a:t>أهداف الحوكمة والإدارة</a:t>
                      </a:r>
                    </a:p>
                    <a:p>
                      <a:pPr marL="285750" indent="-285750" algn="r" rtl="1">
                        <a:buFont typeface="Arial" panose="020B0604020202020204" pitchFamily="34" charset="0"/>
                        <a:buChar char="•"/>
                      </a:pPr>
                      <a:r>
                        <a:rPr lang="ar-SA" sz="1600" dirty="0"/>
                        <a:t>تصميم وتطبيق نظام حوكمة تقنية المعلومات</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gridSpan="2">
                  <a:txBody>
                    <a:bodyPr/>
                    <a:lstStyle/>
                    <a:p>
                      <a:pPr marL="285750" indent="-285750" algn="r" rtl="1">
                        <a:buFont typeface="Arial" panose="020B0604020202020204" pitchFamily="34" charset="0"/>
                        <a:buChar char="•"/>
                      </a:pPr>
                      <a:r>
                        <a:rPr lang="ar-SA" sz="1600" dirty="0"/>
                        <a:t>تقييم الأداء والنضج</a:t>
                      </a:r>
                    </a:p>
                    <a:p>
                      <a:pPr marL="285750" indent="-285750" algn="r" rtl="1">
                        <a:buFont typeface="Arial" panose="020B0604020202020204" pitchFamily="34" charset="0"/>
                        <a:buChar char="•"/>
                      </a:pPr>
                      <a:r>
                        <a:rPr lang="ar-SA" sz="1600" dirty="0"/>
                        <a:t>التكامل مع الأطر والمعايير الأخرى</a:t>
                      </a:r>
                    </a:p>
                    <a:p>
                      <a:pPr marL="285750" indent="-285750" algn="r" rtl="1">
                        <a:buFont typeface="Arial" panose="020B0604020202020204" pitchFamily="34" charset="0"/>
                        <a:buChar char="•"/>
                      </a:pPr>
                      <a:r>
                        <a:rPr lang="ar-SA" sz="1600" dirty="0"/>
                        <a:t>التحضير لامتحان </a:t>
                      </a:r>
                      <a:r>
                        <a:rPr lang="en-US" sz="1600" dirty="0"/>
                        <a:t>COBIT Foundation</a:t>
                      </a:r>
                      <a:endParaRPr lang="ar-SA" sz="160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540153272"/>
                  </a:ext>
                </a:extLst>
              </a:tr>
              <a:tr h="788792">
                <a:tc>
                  <a:txBody>
                    <a:bodyPr/>
                    <a:lstStyle/>
                    <a:p>
                      <a:pPr marL="0" algn="ctr" defTabSz="914400" rtl="1" eaLnBrk="1" latinLnBrk="0" hangingPunct="1"/>
                      <a:r>
                        <a:rPr lang="ar-EG" sz="1800" b="1" kern="1200" dirty="0">
                          <a:solidFill>
                            <a:schemeClr val="bg1"/>
                          </a:solidFill>
                          <a:latin typeface="+mn-lt"/>
                          <a:ea typeface="+mn-ea"/>
                          <a:cs typeface="+mn-cs"/>
                        </a:rPr>
                        <a:t>أهداف الدورة</a:t>
                      </a:r>
                      <a:endParaRPr lang="en-US" sz="1800" b="1" kern="1200" dirty="0">
                        <a:solidFill>
                          <a:schemeClr val="bg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2">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فهم إطار عمل </a:t>
                      </a:r>
                      <a:r>
                        <a:rPr lang="en-US" sz="1600" dirty="0"/>
                        <a:t>COBIT</a:t>
                      </a:r>
                      <a:r>
                        <a:rPr lang="ar-SA" sz="1600" dirty="0"/>
                        <a:t> ومكوناته الأساسية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تطبيق مبادئ الحوكمة والإدارة لتحسين تقنية المعلومات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تصميم نظام حوكمة يتوافق مع احتياجات الهيئة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gridSpan="2">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تعزيز القدرة على تقييم وتحسين عمليات تقنية المعلومات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التحضير لاجتياز امتحان </a:t>
                      </a:r>
                      <a:r>
                        <a:rPr lang="en-US" sz="1600" dirty="0"/>
                        <a:t>COBIT Foundation</a:t>
                      </a:r>
                      <a:endParaRPr lang="ar-SA" sz="160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72527477"/>
                  </a:ext>
                </a:extLst>
              </a:tr>
            </a:tbl>
          </a:graphicData>
        </a:graphic>
      </p:graphicFrame>
    </p:spTree>
    <p:extLst>
      <p:ext uri="{BB962C8B-B14F-4D97-AF65-F5344CB8AC3E}">
        <p14:creationId xmlns:p14="http://schemas.microsoft.com/office/powerpoint/2010/main" val="36314504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F9056-F24B-DCF9-2A35-5E64C2A7E77E}"/>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D4A70B71-4EAF-3581-CFAF-328B77F9AF8E}"/>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44</a:t>
            </a:fld>
            <a:endParaRPr lang="en-US" sz="1400" b="1" dirty="0">
              <a:solidFill>
                <a:schemeClr val="accent1"/>
              </a:solidFill>
            </a:endParaRPr>
          </a:p>
        </p:txBody>
      </p:sp>
      <p:sp>
        <p:nvSpPr>
          <p:cNvPr id="2" name="Title 1">
            <a:extLst>
              <a:ext uri="{FF2B5EF4-FFF2-40B4-BE49-F238E27FC236}">
                <a16:creationId xmlns:a16="http://schemas.microsoft.com/office/drawing/2014/main" id="{E5D4F289-F75D-9139-BACA-3AC790BB8BD0}"/>
              </a:ext>
            </a:extLst>
          </p:cNvPr>
          <p:cNvSpPr txBox="1">
            <a:spLocks/>
          </p:cNvSpPr>
          <p:nvPr/>
        </p:nvSpPr>
        <p:spPr>
          <a:xfrm>
            <a:off x="1744133" y="408242"/>
            <a:ext cx="960966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بطاقة </a:t>
            </a:r>
            <a:r>
              <a:rPr lang="ar-SA" dirty="0"/>
              <a:t>التدريب لـ "دورة مهارات القيادة والتواصل</a:t>
            </a:r>
            <a:r>
              <a:rPr lang="ar-EG" dirty="0"/>
              <a:t>"</a:t>
            </a:r>
            <a:endParaRPr lang="en-US" dirty="0"/>
          </a:p>
        </p:txBody>
      </p:sp>
      <p:graphicFrame>
        <p:nvGraphicFramePr>
          <p:cNvPr id="3" name="Table 5">
            <a:extLst>
              <a:ext uri="{FF2B5EF4-FFF2-40B4-BE49-F238E27FC236}">
                <a16:creationId xmlns:a16="http://schemas.microsoft.com/office/drawing/2014/main" id="{9E9B8205-C2AF-639C-DFBF-D94732BFA787}"/>
              </a:ext>
            </a:extLst>
          </p:cNvPr>
          <p:cNvGraphicFramePr>
            <a:graphicFrameLocks noGrp="1"/>
          </p:cNvGraphicFramePr>
          <p:nvPr>
            <p:extLst>
              <p:ext uri="{D42A27DB-BD31-4B8C-83A1-F6EECF244321}">
                <p14:modId xmlns:p14="http://schemas.microsoft.com/office/powerpoint/2010/main" val="696838908"/>
              </p:ext>
            </p:extLst>
          </p:nvPr>
        </p:nvGraphicFramePr>
        <p:xfrm>
          <a:off x="668584" y="962735"/>
          <a:ext cx="10799517" cy="5114017"/>
        </p:xfrm>
        <a:graphic>
          <a:graphicData uri="http://schemas.openxmlformats.org/drawingml/2006/table">
            <a:tbl>
              <a:tblPr rtl="1" firstRow="1" bandRow="1">
                <a:tableStyleId>{2D5ABB26-0587-4C30-8999-92F81FD0307C}</a:tableStyleId>
              </a:tblPr>
              <a:tblGrid>
                <a:gridCol w="1816589">
                  <a:extLst>
                    <a:ext uri="{9D8B030D-6E8A-4147-A177-3AD203B41FA5}">
                      <a16:colId xmlns:a16="http://schemas.microsoft.com/office/drawing/2014/main" val="2004281081"/>
                    </a:ext>
                  </a:extLst>
                </a:gridCol>
                <a:gridCol w="2929107">
                  <a:extLst>
                    <a:ext uri="{9D8B030D-6E8A-4147-A177-3AD203B41FA5}">
                      <a16:colId xmlns:a16="http://schemas.microsoft.com/office/drawing/2014/main" val="2555702573"/>
                    </a:ext>
                  </a:extLst>
                </a:gridCol>
                <a:gridCol w="1530780">
                  <a:extLst>
                    <a:ext uri="{9D8B030D-6E8A-4147-A177-3AD203B41FA5}">
                      <a16:colId xmlns:a16="http://schemas.microsoft.com/office/drawing/2014/main" val="938496735"/>
                    </a:ext>
                  </a:extLst>
                </a:gridCol>
                <a:gridCol w="237803">
                  <a:extLst>
                    <a:ext uri="{9D8B030D-6E8A-4147-A177-3AD203B41FA5}">
                      <a16:colId xmlns:a16="http://schemas.microsoft.com/office/drawing/2014/main" val="2423776635"/>
                    </a:ext>
                  </a:extLst>
                </a:gridCol>
                <a:gridCol w="4285238">
                  <a:extLst>
                    <a:ext uri="{9D8B030D-6E8A-4147-A177-3AD203B41FA5}">
                      <a16:colId xmlns:a16="http://schemas.microsoft.com/office/drawing/2014/main" val="7071169"/>
                    </a:ext>
                  </a:extLst>
                </a:gridCol>
              </a:tblGrid>
              <a:tr h="613505">
                <a:tc>
                  <a:txBody>
                    <a:bodyPr/>
                    <a:lstStyle/>
                    <a:p>
                      <a:pPr marL="0" algn="ctr" defTabSz="914400" rtl="1" eaLnBrk="1" latinLnBrk="0" hangingPunct="1"/>
                      <a:r>
                        <a:rPr lang="ar-SA" sz="1800" b="1" kern="1200" dirty="0">
                          <a:solidFill>
                            <a:schemeClr val="bg1"/>
                          </a:solidFill>
                          <a:latin typeface="+mj-lt"/>
                          <a:ea typeface="+mn-ea"/>
                          <a:cs typeface="+mn-cs"/>
                        </a:rPr>
                        <a:t>اسم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800" b="1" kern="1200" dirty="0">
                          <a:solidFill>
                            <a:schemeClr val="tx1"/>
                          </a:solidFill>
                          <a:latin typeface="+mj-lt"/>
                          <a:ea typeface="+mn-ea"/>
                          <a:cs typeface="+mn-cs"/>
                        </a:rPr>
                        <a:t>دورة مهارات القيادة والتواصل</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gridSpan="2">
                  <a:txBody>
                    <a:bodyPr/>
                    <a:lstStyle/>
                    <a:p>
                      <a:pPr marL="0" algn="ctr" defTabSz="914400" rtl="1" eaLnBrk="1" latinLnBrk="0" hangingPunct="1"/>
                      <a:r>
                        <a:rPr lang="ar-SA" sz="1800" b="1" kern="1200" dirty="0">
                          <a:solidFill>
                            <a:schemeClr val="bg1"/>
                          </a:solidFill>
                          <a:latin typeface="+mj-lt"/>
                          <a:ea typeface="+mn-ea"/>
                          <a:cs typeface="+mn-cs"/>
                        </a:rPr>
                        <a:t>المدة الزمنية المقترحة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endParaRPr lang="en-US" dirty="0"/>
                    </a:p>
                  </a:txBody>
                  <a:tcPr/>
                </a:tc>
                <a:tc>
                  <a:txBody>
                    <a:bodyPr/>
                    <a:lstStyle/>
                    <a:p>
                      <a:pPr algn="r" rtl="1"/>
                      <a:r>
                        <a:rPr lang="ar-SA" sz="1600" b="1" kern="1200" dirty="0">
                          <a:solidFill>
                            <a:schemeClr val="tx1"/>
                          </a:solidFill>
                          <a:latin typeface="+mn-lt"/>
                          <a:ea typeface="+mn-ea"/>
                          <a:cs typeface="+mn-cs"/>
                        </a:rPr>
                        <a:t>16 ساعة (2 يوم عمل، 8 ساعات يوميا)</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13795874"/>
                  </a:ext>
                </a:extLst>
              </a:tr>
              <a:tr h="801720">
                <a:tc>
                  <a:txBody>
                    <a:bodyPr/>
                    <a:lstStyle/>
                    <a:p>
                      <a:pPr marL="0" algn="ctr" defTabSz="914400" rtl="1" eaLnBrk="1" latinLnBrk="0" hangingPunct="1"/>
                      <a:r>
                        <a:rPr lang="ar-EG" sz="1800" b="1" kern="1200" dirty="0">
                          <a:solidFill>
                            <a:schemeClr val="bg1"/>
                          </a:solidFill>
                          <a:latin typeface="+mj-lt"/>
                          <a:ea typeface="+mn-ea"/>
                          <a:cs typeface="+mn-cs"/>
                        </a:rPr>
                        <a:t>وصف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4">
                  <a:txBody>
                    <a:bodyPr/>
                    <a:lstStyle/>
                    <a:p>
                      <a:pPr algn="r" rtl="1"/>
                      <a:r>
                        <a:rPr lang="ar-SA" sz="1600" kern="1200" dirty="0">
                          <a:solidFill>
                            <a:schemeClr val="tx1"/>
                          </a:solidFill>
                          <a:latin typeface="+mj-lt"/>
                          <a:ea typeface="+mn-ea"/>
                          <a:cs typeface="+mn-cs"/>
                        </a:rPr>
                        <a:t>تهدف هذه الدورة إلى تطوير مهارات القيادة والتواصل لدى المشاركين، حيث يتعلمون كيفية التواصل بفعالية، قيادة الفرق، وتحفيز الآخرين لتحقيق الأهداف المشتركة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pPr marL="0" algn="ctr" defTabSz="914400" rtl="1" eaLnBrk="1" latinLnBrk="0" hangingPunct="1"/>
                      <a:endParaRPr lang="ar-SA" sz="16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endParaRPr lang="en-US"/>
                    </a:p>
                  </a:txBody>
                  <a:tcPr/>
                </a:tc>
                <a:tc hMerge="1">
                  <a:txBody>
                    <a:bodyPr/>
                    <a:lstStyle/>
                    <a:p>
                      <a:pPr algn="r" rtl="1"/>
                      <a:endParaRPr lang="ar-SA" sz="1600"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98658893"/>
                  </a:ext>
                </a:extLst>
              </a:tr>
              <a:tr h="939800">
                <a:tc>
                  <a:txBody>
                    <a:bodyPr/>
                    <a:lstStyle/>
                    <a:p>
                      <a:pPr marL="0" algn="ctr" defTabSz="914400" rtl="1" eaLnBrk="1" latinLnBrk="0" hangingPunct="1"/>
                      <a:r>
                        <a:rPr lang="ar-SA" sz="1800" b="1" kern="1200" dirty="0">
                          <a:solidFill>
                            <a:schemeClr val="bg1"/>
                          </a:solidFill>
                          <a:latin typeface="+mn-lt"/>
                          <a:ea typeface="+mn-ea"/>
                          <a:cs typeface="+mn-cs"/>
                        </a:rPr>
                        <a:t>الأدوار المستهدفة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جميع أدوار</a:t>
                      </a:r>
                      <a:r>
                        <a:rPr lang="ar-EG" sz="1600" kern="1200" dirty="0">
                          <a:solidFill>
                            <a:schemeClr val="tx1"/>
                          </a:solidFill>
                          <a:latin typeface="+mn-lt"/>
                          <a:ea typeface="+mn-ea"/>
                          <a:cs typeface="+mn-cs"/>
                        </a:rPr>
                        <a:t> فريق البنية المؤسسية</a:t>
                      </a:r>
                      <a:endParaRPr lang="ar-SA" sz="1600" kern="1200" dirty="0">
                        <a:solidFill>
                          <a:schemeClr val="tx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gridSpan="2">
                  <a:txBody>
                    <a:bodyPr/>
                    <a:lstStyle/>
                    <a:p>
                      <a:pPr marL="0" algn="ctr" defTabSz="914400" rtl="1" eaLnBrk="1" latinLnBrk="0" hangingPunct="1"/>
                      <a:r>
                        <a:rPr lang="ar-EG" sz="1800" b="1" kern="1200" dirty="0">
                          <a:solidFill>
                            <a:schemeClr val="bg1"/>
                          </a:solidFill>
                          <a:latin typeface="+mj-lt"/>
                          <a:ea typeface="+mn-ea"/>
                          <a:cs typeface="+mn-cs"/>
                        </a:rPr>
                        <a:t>الشهادات المرتبطة</a:t>
                      </a:r>
                      <a:endParaRPr lang="ar-SA"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j-lt"/>
                          <a:ea typeface="+mn-ea"/>
                          <a:cs typeface="+mn-cs"/>
                        </a:rPr>
                        <a:t>محلية: شهادة إتمام الدورة من مزود تدريب معتمد</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دولية: التأهيل للحصول على شهادة </a:t>
                      </a:r>
                      <a:r>
                        <a:rPr lang="ar-SA" sz="1600" kern="1200" dirty="0">
                          <a:solidFill>
                            <a:schemeClr val="tx1"/>
                          </a:solidFill>
                          <a:latin typeface="+mj-lt"/>
                          <a:ea typeface="+mn-ea"/>
                          <a:cs typeface="+mn-cs"/>
                        </a:rPr>
                        <a:t>محترف إدارة المشاريع (</a:t>
                      </a:r>
                      <a:r>
                        <a:rPr lang="en-US" sz="1600" kern="1200" dirty="0">
                          <a:solidFill>
                            <a:schemeClr val="tx1"/>
                          </a:solidFill>
                          <a:latin typeface="+mj-lt"/>
                          <a:ea typeface="+mn-ea"/>
                          <a:cs typeface="+mn-cs"/>
                        </a:rPr>
                        <a:t>PMP</a:t>
                      </a:r>
                      <a:r>
                        <a:rPr lang="ar-SA" sz="1600" kern="1200" dirty="0">
                          <a:solidFill>
                            <a:schemeClr val="tx1"/>
                          </a:solidFill>
                          <a:latin typeface="+mj-lt"/>
                          <a:ea typeface="+mn-ea"/>
                          <a:cs typeface="+mn-cs"/>
                        </a:rPr>
                        <a:t>)</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دولية: التأهيل للحصول على شهادة </a:t>
                      </a:r>
                      <a:r>
                        <a:rPr lang="ar-SA" sz="1600" kern="1200" dirty="0">
                          <a:solidFill>
                            <a:schemeClr val="tx1"/>
                          </a:solidFill>
                          <a:latin typeface="+mj-lt"/>
                          <a:ea typeface="+mn-ea"/>
                          <a:cs typeface="+mn-cs"/>
                        </a:rPr>
                        <a:t>محترف إدارة المخاطر (</a:t>
                      </a:r>
                      <a:r>
                        <a:rPr lang="en-US" sz="1600" kern="1200" dirty="0">
                          <a:solidFill>
                            <a:schemeClr val="tx1"/>
                          </a:solidFill>
                          <a:latin typeface="+mj-lt"/>
                          <a:ea typeface="+mn-ea"/>
                          <a:cs typeface="+mn-cs"/>
                        </a:rPr>
                        <a:t>RMP</a:t>
                      </a:r>
                      <a:r>
                        <a:rPr lang="ar-SA" sz="1600" kern="1200" dirty="0">
                          <a:solidFill>
                            <a:schemeClr val="tx1"/>
                          </a:solidFill>
                          <a:latin typeface="+mj-lt"/>
                          <a:ea typeface="+mn-ea"/>
                          <a:cs typeface="+mn-cs"/>
                        </a:rPr>
                        <a:t>)</a:t>
                      </a:r>
                      <a:endParaRPr lang="en-US"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شهادة إتمام الدورة من مزود التدريب</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840185893"/>
                  </a:ext>
                </a:extLst>
              </a:tr>
              <a:tr h="869232">
                <a:tc>
                  <a:txBody>
                    <a:bodyPr/>
                    <a:lstStyle/>
                    <a:p>
                      <a:pPr marL="0" algn="ctr" defTabSz="914400" rtl="1" eaLnBrk="1" latinLnBrk="0" hangingPunct="1"/>
                      <a:r>
                        <a:rPr lang="ar-SA" sz="1800" b="1" kern="1200" dirty="0">
                          <a:solidFill>
                            <a:schemeClr val="bg1"/>
                          </a:solidFill>
                          <a:latin typeface="+mj-lt"/>
                          <a:ea typeface="+mn-ea"/>
                          <a:cs typeface="+mn-cs"/>
                        </a:rPr>
                        <a:t>طريقة التدريب</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4">
                  <a:txBody>
                    <a:bodyPr/>
                    <a:lstStyle/>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kern="1200" dirty="0">
                          <a:solidFill>
                            <a:schemeClr val="tx1"/>
                          </a:solidFill>
                          <a:latin typeface="+mn-lt"/>
                          <a:ea typeface="+mn-ea"/>
                          <a:cs typeface="+mn-cs"/>
                        </a:rPr>
                        <a:t>(قيد التخطيط)</a:t>
                      </a:r>
                      <a:endParaRPr lang="en-US" sz="1600" kern="1200" dirty="0">
                        <a:solidFill>
                          <a:schemeClr val="tx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tc hMerge="1">
                  <a:txBody>
                    <a:bodyPr/>
                    <a:lstStyle/>
                    <a:p>
                      <a:endParaRPr lang="en-US"/>
                    </a:p>
                  </a:txBody>
                  <a:tcPr/>
                </a:tc>
                <a:tc hMerge="1">
                  <a:txBody>
                    <a:bodyPr/>
                    <a:lstStyle/>
                    <a:p>
                      <a:endParaRPr lang="en-US"/>
                    </a:p>
                  </a:txBody>
                  <a:tcPr>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808309057"/>
                  </a:ext>
                </a:extLst>
              </a:tr>
              <a:tr h="1028321">
                <a:tc>
                  <a:txBody>
                    <a:bodyPr/>
                    <a:lstStyle/>
                    <a:p>
                      <a:pPr marL="0" algn="ctr" defTabSz="914400" rtl="1" eaLnBrk="1" latinLnBrk="0" hangingPunct="1"/>
                      <a:r>
                        <a:rPr lang="ar-EG" sz="1800" b="1" kern="1200" dirty="0">
                          <a:solidFill>
                            <a:schemeClr val="bg1"/>
                          </a:solidFill>
                          <a:latin typeface="+mj-lt"/>
                          <a:ea typeface="+mn-ea"/>
                          <a:cs typeface="+mn-cs"/>
                        </a:rPr>
                        <a:t>محتويات الدورة</a:t>
                      </a:r>
                      <a:endParaRPr lang="en-US"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2">
                  <a:txBody>
                    <a:bodyPr/>
                    <a:lstStyle/>
                    <a:p>
                      <a:pPr marL="285750" indent="-285750" algn="r" rtl="1">
                        <a:buFont typeface="Arial" panose="020B0604020202020204" pitchFamily="34" charset="0"/>
                        <a:buChar char="•"/>
                      </a:pPr>
                      <a:r>
                        <a:rPr lang="ar-SA" sz="1600" dirty="0"/>
                        <a:t>أسس ومبادئ القيادة الفعالة</a:t>
                      </a:r>
                    </a:p>
                    <a:p>
                      <a:pPr marL="285750" indent="-285750" algn="r" rtl="1">
                        <a:buFont typeface="Arial" panose="020B0604020202020204" pitchFamily="34" charset="0"/>
                        <a:buChar char="•"/>
                      </a:pPr>
                      <a:r>
                        <a:rPr lang="ar-SA" sz="1600" dirty="0"/>
                        <a:t>أنماط وأساليب القيادة</a:t>
                      </a:r>
                    </a:p>
                    <a:p>
                      <a:pPr marL="285750" indent="-285750" algn="r" rtl="1">
                        <a:buFont typeface="Arial" panose="020B0604020202020204" pitchFamily="34" charset="0"/>
                        <a:buChar char="•"/>
                      </a:pPr>
                      <a:r>
                        <a:rPr lang="ar-SA" sz="1600" dirty="0"/>
                        <a:t>مهارات التواصل الشفهي والكتابي</a:t>
                      </a:r>
                    </a:p>
                    <a:p>
                      <a:pPr marL="285750" indent="-285750" algn="r" rtl="1">
                        <a:buFont typeface="Arial" panose="020B0604020202020204" pitchFamily="34" charset="0"/>
                        <a:buChar char="•"/>
                      </a:pPr>
                      <a:r>
                        <a:rPr lang="ar-SA" sz="1600" dirty="0"/>
                        <a:t>الاستماع الفعال وتقديم التغذية الراجعة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gridSpan="2">
                  <a:txBody>
                    <a:bodyPr/>
                    <a:lstStyle/>
                    <a:p>
                      <a:pPr marL="285750" indent="-285750" algn="r" rtl="1">
                        <a:buFont typeface="Arial" panose="020B0604020202020204" pitchFamily="34" charset="0"/>
                        <a:buChar char="•"/>
                      </a:pPr>
                      <a:r>
                        <a:rPr lang="ar-SA" sz="1600" dirty="0"/>
                        <a:t>بناء الفرق وتحفيزها</a:t>
                      </a:r>
                    </a:p>
                    <a:p>
                      <a:pPr marL="285750" indent="-285750" algn="r" rtl="1">
                        <a:buFont typeface="Arial" panose="020B0604020202020204" pitchFamily="34" charset="0"/>
                        <a:buChar char="•"/>
                      </a:pPr>
                      <a:r>
                        <a:rPr lang="ar-SA" sz="1600" dirty="0"/>
                        <a:t>إدارة الخلافات وبناء الثقة</a:t>
                      </a:r>
                    </a:p>
                    <a:p>
                      <a:pPr marL="285750" indent="-285750" algn="r" rtl="1">
                        <a:buFont typeface="Arial" panose="020B0604020202020204" pitchFamily="34" charset="0"/>
                        <a:buChar char="•"/>
                      </a:pPr>
                      <a:r>
                        <a:rPr lang="ar-SA" sz="1600" dirty="0"/>
                        <a:t>التخطيط واتخاذ القرارات</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540153272"/>
                  </a:ext>
                </a:extLst>
              </a:tr>
              <a:tr h="788792">
                <a:tc>
                  <a:txBody>
                    <a:bodyPr/>
                    <a:lstStyle/>
                    <a:p>
                      <a:pPr marL="0" algn="ctr" defTabSz="914400" rtl="1" eaLnBrk="1" latinLnBrk="0" hangingPunct="1"/>
                      <a:r>
                        <a:rPr lang="ar-EG" sz="1800" b="1" kern="1200" dirty="0">
                          <a:solidFill>
                            <a:schemeClr val="bg1"/>
                          </a:solidFill>
                          <a:latin typeface="+mn-lt"/>
                          <a:ea typeface="+mn-ea"/>
                          <a:cs typeface="+mn-cs"/>
                        </a:rPr>
                        <a:t>أهداف الدورة</a:t>
                      </a:r>
                      <a:endParaRPr lang="en-US" sz="1800" b="1" kern="1200" dirty="0">
                        <a:solidFill>
                          <a:schemeClr val="bg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2">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تطوير مهارات القيادة والإشراف</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تحسين القدرة على التواصل بفعالية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بناء فرق عمل متعاونة وفعالة</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gridSpan="2">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تعزيز القدرة على تحفيز الآخرين</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600" dirty="0"/>
                        <a:t>تحسين مهارات إدارة الخلافات واتخاذ القرارات</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72527477"/>
                  </a:ext>
                </a:extLst>
              </a:tr>
            </a:tbl>
          </a:graphicData>
        </a:graphic>
      </p:graphicFrame>
    </p:spTree>
    <p:extLst>
      <p:ext uri="{BB962C8B-B14F-4D97-AF65-F5344CB8AC3E}">
        <p14:creationId xmlns:p14="http://schemas.microsoft.com/office/powerpoint/2010/main" val="17371088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3447289" y="3925452"/>
            <a:ext cx="8097012" cy="641639"/>
          </a:xfrm>
        </p:spPr>
        <p:txBody>
          <a:bodyPr/>
          <a:lstStyle/>
          <a:p>
            <a:r>
              <a:rPr lang="ar-EG" dirty="0"/>
              <a:t>الجدول الزمني للخطة التدريبة للدورات</a:t>
            </a:r>
          </a:p>
        </p:txBody>
      </p:sp>
      <p:sp>
        <p:nvSpPr>
          <p:cNvPr id="4" name="Text Placeholder 3"/>
          <p:cNvSpPr>
            <a:spLocks noGrp="1"/>
          </p:cNvSpPr>
          <p:nvPr>
            <p:ph type="body" sz="quarter" idx="14"/>
          </p:nvPr>
        </p:nvSpPr>
        <p:spPr/>
        <p:txBody>
          <a:bodyPr/>
          <a:lstStyle/>
          <a:p>
            <a:r>
              <a:rPr lang="ar-SA" dirty="0"/>
              <a:t>05</a:t>
            </a:r>
            <a:endParaRPr lang="en-US" dirty="0"/>
          </a:p>
        </p:txBody>
      </p:sp>
    </p:spTree>
    <p:extLst>
      <p:ext uri="{BB962C8B-B14F-4D97-AF65-F5344CB8AC3E}">
        <p14:creationId xmlns:p14="http://schemas.microsoft.com/office/powerpoint/2010/main" val="172701682"/>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12F43-38CF-615A-BDBB-43056C2822F6}"/>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80B5BD0A-E3AC-081D-18D4-6C30F41B5DDF}"/>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46</a:t>
            </a:fld>
            <a:endParaRPr lang="en-US" sz="1400" b="1" dirty="0">
              <a:solidFill>
                <a:schemeClr val="accent1"/>
              </a:solidFill>
            </a:endParaRPr>
          </a:p>
        </p:txBody>
      </p:sp>
      <p:sp>
        <p:nvSpPr>
          <p:cNvPr id="2" name="Title 1">
            <a:extLst>
              <a:ext uri="{FF2B5EF4-FFF2-40B4-BE49-F238E27FC236}">
                <a16:creationId xmlns:a16="http://schemas.microsoft.com/office/drawing/2014/main" id="{83AD5924-5442-BEC2-A8C0-F620AEB4ADB6}"/>
              </a:ext>
            </a:extLst>
          </p:cNvPr>
          <p:cNvSpPr txBox="1">
            <a:spLocks/>
          </p:cNvSpPr>
          <p:nvPr/>
        </p:nvSpPr>
        <p:spPr>
          <a:xfrm>
            <a:off x="1567543" y="408242"/>
            <a:ext cx="978625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الجدول الزمني للخطة التدريبة للدورات لكل أعضاء الفريق</a:t>
            </a:r>
          </a:p>
        </p:txBody>
      </p:sp>
      <p:graphicFrame>
        <p:nvGraphicFramePr>
          <p:cNvPr id="3" name="Table 2">
            <a:extLst>
              <a:ext uri="{FF2B5EF4-FFF2-40B4-BE49-F238E27FC236}">
                <a16:creationId xmlns:a16="http://schemas.microsoft.com/office/drawing/2014/main" id="{D61A87BA-5193-4C46-B1BF-60931C05C3AA}"/>
              </a:ext>
            </a:extLst>
          </p:cNvPr>
          <p:cNvGraphicFramePr>
            <a:graphicFrameLocks noGrp="1"/>
          </p:cNvGraphicFramePr>
          <p:nvPr>
            <p:extLst>
              <p:ext uri="{D42A27DB-BD31-4B8C-83A1-F6EECF244321}">
                <p14:modId xmlns:p14="http://schemas.microsoft.com/office/powerpoint/2010/main" val="2084476255"/>
              </p:ext>
            </p:extLst>
          </p:nvPr>
        </p:nvGraphicFramePr>
        <p:xfrm>
          <a:off x="508000" y="930699"/>
          <a:ext cx="11094715" cy="5225998"/>
        </p:xfrm>
        <a:graphic>
          <a:graphicData uri="http://schemas.openxmlformats.org/drawingml/2006/table">
            <a:tbl>
              <a:tblPr firstRow="1" bandRow="1">
                <a:tableStyleId>{5C22544A-7EE6-4342-B048-85BDC9FD1C3A}</a:tableStyleId>
              </a:tblPr>
              <a:tblGrid>
                <a:gridCol w="613542">
                  <a:extLst>
                    <a:ext uri="{9D8B030D-6E8A-4147-A177-3AD203B41FA5}">
                      <a16:colId xmlns:a16="http://schemas.microsoft.com/office/drawing/2014/main" val="4029140290"/>
                    </a:ext>
                  </a:extLst>
                </a:gridCol>
                <a:gridCol w="613542">
                  <a:extLst>
                    <a:ext uri="{9D8B030D-6E8A-4147-A177-3AD203B41FA5}">
                      <a16:colId xmlns:a16="http://schemas.microsoft.com/office/drawing/2014/main" val="2872290634"/>
                    </a:ext>
                  </a:extLst>
                </a:gridCol>
                <a:gridCol w="613542">
                  <a:extLst>
                    <a:ext uri="{9D8B030D-6E8A-4147-A177-3AD203B41FA5}">
                      <a16:colId xmlns:a16="http://schemas.microsoft.com/office/drawing/2014/main" val="1829356535"/>
                    </a:ext>
                  </a:extLst>
                </a:gridCol>
                <a:gridCol w="613542">
                  <a:extLst>
                    <a:ext uri="{9D8B030D-6E8A-4147-A177-3AD203B41FA5}">
                      <a16:colId xmlns:a16="http://schemas.microsoft.com/office/drawing/2014/main" val="3567500756"/>
                    </a:ext>
                  </a:extLst>
                </a:gridCol>
                <a:gridCol w="613542">
                  <a:extLst>
                    <a:ext uri="{9D8B030D-6E8A-4147-A177-3AD203B41FA5}">
                      <a16:colId xmlns:a16="http://schemas.microsoft.com/office/drawing/2014/main" val="1556858812"/>
                    </a:ext>
                  </a:extLst>
                </a:gridCol>
                <a:gridCol w="613542">
                  <a:extLst>
                    <a:ext uri="{9D8B030D-6E8A-4147-A177-3AD203B41FA5}">
                      <a16:colId xmlns:a16="http://schemas.microsoft.com/office/drawing/2014/main" val="3829361233"/>
                    </a:ext>
                  </a:extLst>
                </a:gridCol>
                <a:gridCol w="613542">
                  <a:extLst>
                    <a:ext uri="{9D8B030D-6E8A-4147-A177-3AD203B41FA5}">
                      <a16:colId xmlns:a16="http://schemas.microsoft.com/office/drawing/2014/main" val="588381266"/>
                    </a:ext>
                  </a:extLst>
                </a:gridCol>
                <a:gridCol w="613542">
                  <a:extLst>
                    <a:ext uri="{9D8B030D-6E8A-4147-A177-3AD203B41FA5}">
                      <a16:colId xmlns:a16="http://schemas.microsoft.com/office/drawing/2014/main" val="3467914227"/>
                    </a:ext>
                  </a:extLst>
                </a:gridCol>
                <a:gridCol w="613542">
                  <a:extLst>
                    <a:ext uri="{9D8B030D-6E8A-4147-A177-3AD203B41FA5}">
                      <a16:colId xmlns:a16="http://schemas.microsoft.com/office/drawing/2014/main" val="3768957783"/>
                    </a:ext>
                  </a:extLst>
                </a:gridCol>
                <a:gridCol w="613542">
                  <a:extLst>
                    <a:ext uri="{9D8B030D-6E8A-4147-A177-3AD203B41FA5}">
                      <a16:colId xmlns:a16="http://schemas.microsoft.com/office/drawing/2014/main" val="2301184828"/>
                    </a:ext>
                  </a:extLst>
                </a:gridCol>
                <a:gridCol w="306771">
                  <a:extLst>
                    <a:ext uri="{9D8B030D-6E8A-4147-A177-3AD203B41FA5}">
                      <a16:colId xmlns:a16="http://schemas.microsoft.com/office/drawing/2014/main" val="4039305866"/>
                    </a:ext>
                  </a:extLst>
                </a:gridCol>
                <a:gridCol w="306771">
                  <a:extLst>
                    <a:ext uri="{9D8B030D-6E8A-4147-A177-3AD203B41FA5}">
                      <a16:colId xmlns:a16="http://schemas.microsoft.com/office/drawing/2014/main" val="2986128336"/>
                    </a:ext>
                  </a:extLst>
                </a:gridCol>
                <a:gridCol w="303439">
                  <a:extLst>
                    <a:ext uri="{9D8B030D-6E8A-4147-A177-3AD203B41FA5}">
                      <a16:colId xmlns:a16="http://schemas.microsoft.com/office/drawing/2014/main" val="3557186870"/>
                    </a:ext>
                  </a:extLst>
                </a:gridCol>
                <a:gridCol w="303439">
                  <a:extLst>
                    <a:ext uri="{9D8B030D-6E8A-4147-A177-3AD203B41FA5}">
                      <a16:colId xmlns:a16="http://schemas.microsoft.com/office/drawing/2014/main" val="4181465863"/>
                    </a:ext>
                  </a:extLst>
                </a:gridCol>
                <a:gridCol w="3738875">
                  <a:extLst>
                    <a:ext uri="{9D8B030D-6E8A-4147-A177-3AD203B41FA5}">
                      <a16:colId xmlns:a16="http://schemas.microsoft.com/office/drawing/2014/main" val="2196856444"/>
                    </a:ext>
                  </a:extLst>
                </a:gridCol>
              </a:tblGrid>
              <a:tr h="399887">
                <a:tc gridSpan="9">
                  <a:txBody>
                    <a:bodyPr/>
                    <a:lstStyle/>
                    <a:p>
                      <a:pPr algn="ctr" rtl="1"/>
                      <a:r>
                        <a:rPr lang="en-US" sz="2000" dirty="0"/>
                        <a:t>2026</a:t>
                      </a:r>
                    </a:p>
                  </a:txBody>
                  <a:tcPr/>
                </a:tc>
                <a:tc hMerge="1">
                  <a:txBody>
                    <a:bodyPr/>
                    <a:lstStyle/>
                    <a:p>
                      <a:pPr algn="ctr" rtl="1"/>
                      <a:endParaRPr lang="en-US" sz="2000" dirty="0"/>
                    </a:p>
                  </a:txBody>
                  <a:tcPr/>
                </a:tc>
                <a:tc hMerge="1">
                  <a:txBody>
                    <a:bodyPr/>
                    <a:lstStyle/>
                    <a:p>
                      <a:pPr algn="ctr" rtl="1"/>
                      <a:endParaRPr lang="en-US" sz="2000" dirty="0"/>
                    </a:p>
                  </a:txBody>
                  <a:tcPr/>
                </a:tc>
                <a:tc hMerge="1">
                  <a:txBody>
                    <a:bodyPr/>
                    <a:lstStyle/>
                    <a:p>
                      <a:pPr algn="ctr" rtl="1"/>
                      <a:endParaRPr lang="en-US" sz="2000" dirty="0"/>
                    </a:p>
                  </a:txBody>
                  <a:tcPr/>
                </a:tc>
                <a:tc hMerge="1">
                  <a:txBody>
                    <a:bodyPr/>
                    <a:lstStyle/>
                    <a:p>
                      <a:pPr algn="ctr" rtl="1"/>
                      <a:endParaRPr lang="en-US" sz="2000" dirty="0"/>
                    </a:p>
                  </a:txBody>
                  <a:tcPr/>
                </a:tc>
                <a:tc hMerge="1">
                  <a:txBody>
                    <a:bodyPr/>
                    <a:lstStyle/>
                    <a:p>
                      <a:pPr algn="ctr" rtl="1"/>
                      <a:endParaRPr lang="en-US" sz="2000" dirty="0"/>
                    </a:p>
                  </a:txBody>
                  <a:tcPr/>
                </a:tc>
                <a:tc hMerge="1">
                  <a:txBody>
                    <a:bodyPr/>
                    <a:lstStyle/>
                    <a:p>
                      <a:pPr algn="ctr" rtl="1"/>
                      <a:endParaRPr lang="en-US" sz="2000" dirty="0"/>
                    </a:p>
                  </a:txBody>
                  <a:tcPr/>
                </a:tc>
                <a:tc hMerge="1">
                  <a:txBody>
                    <a:bodyPr/>
                    <a:lstStyle/>
                    <a:p>
                      <a:pPr algn="ctr" rtl="1"/>
                      <a:endParaRPr lang="en-US" sz="2000" dirty="0"/>
                    </a:p>
                  </a:txBody>
                  <a:tcPr/>
                </a:tc>
                <a:tc hMerge="1">
                  <a:txBody>
                    <a:bodyPr/>
                    <a:lstStyle/>
                    <a:p>
                      <a:pPr algn="ctr" rtl="1"/>
                      <a:endParaRPr lang="en-US" sz="2000" dirty="0"/>
                    </a:p>
                  </a:txBody>
                  <a:tcPr/>
                </a:tc>
                <a:tc gridSpan="5">
                  <a:txBody>
                    <a:bodyPr/>
                    <a:lstStyle/>
                    <a:p>
                      <a:pPr algn="ctr" rtl="1"/>
                      <a:r>
                        <a:rPr lang="en-US" sz="2400" dirty="0"/>
                        <a:t>2025</a:t>
                      </a:r>
                      <a:endParaRPr lang="en-US" sz="2000" dirty="0"/>
                    </a:p>
                  </a:txBody>
                  <a:tcPr/>
                </a:tc>
                <a:tc hMerge="1">
                  <a:txBody>
                    <a:bodyPr/>
                    <a:lstStyle/>
                    <a:p>
                      <a:pPr algn="ctr" rtl="1"/>
                      <a:endParaRPr lang="en-US" sz="2000" dirty="0"/>
                    </a:p>
                  </a:txBody>
                  <a:tcPr/>
                </a:tc>
                <a:tc hMerge="1">
                  <a:txBody>
                    <a:bodyPr/>
                    <a:lstStyle/>
                    <a:p>
                      <a:endParaRPr lang="en-US"/>
                    </a:p>
                  </a:txBody>
                  <a:tcPr/>
                </a:tc>
                <a:tc hMerge="1">
                  <a:txBody>
                    <a:bodyPr/>
                    <a:lstStyle/>
                    <a:p>
                      <a:pPr algn="ctr" rtl="1"/>
                      <a:endParaRPr lang="en-US" sz="2000" dirty="0"/>
                    </a:p>
                  </a:txBody>
                  <a:tcPr/>
                </a:tc>
                <a:tc hMerge="1">
                  <a:txBody>
                    <a:bodyPr/>
                    <a:lstStyle/>
                    <a:p>
                      <a:endParaRPr lang="en-US"/>
                    </a:p>
                  </a:txBody>
                  <a:tcPr/>
                </a:tc>
                <a:tc rowSpan="2">
                  <a:txBody>
                    <a:bodyPr/>
                    <a:lstStyle/>
                    <a:p>
                      <a:pPr algn="ctr" rtl="1"/>
                      <a:r>
                        <a:rPr lang="ar-SA" sz="2800" dirty="0"/>
                        <a:t>الدورة / السنة</a:t>
                      </a:r>
                      <a:endParaRPr lang="en-US" sz="2800" dirty="0"/>
                    </a:p>
                  </a:txBody>
                  <a:tcPr anchor="ctr"/>
                </a:tc>
                <a:extLst>
                  <a:ext uri="{0D108BD9-81ED-4DB2-BD59-A6C34878D82A}">
                    <a16:rowId xmlns:a16="http://schemas.microsoft.com/office/drawing/2014/main" val="3293185352"/>
                  </a:ext>
                </a:extLst>
              </a:tr>
              <a:tr h="346569">
                <a:tc>
                  <a:txBody>
                    <a:bodyPr/>
                    <a:lstStyle/>
                    <a:p>
                      <a:pPr algn="ctr" rtl="1"/>
                      <a:r>
                        <a:rPr lang="en-US" sz="2000" b="1" dirty="0">
                          <a:solidFill>
                            <a:schemeClr val="bg1"/>
                          </a:solidFill>
                        </a:rPr>
                        <a:t>09</a:t>
                      </a:r>
                    </a:p>
                  </a:txBody>
                  <a:tcPr>
                    <a:solidFill>
                      <a:srgbClr val="4C3C8D"/>
                    </a:solidFill>
                  </a:tcPr>
                </a:tc>
                <a:tc>
                  <a:txBody>
                    <a:bodyPr/>
                    <a:lstStyle/>
                    <a:p>
                      <a:pPr algn="ctr" rtl="1"/>
                      <a:r>
                        <a:rPr lang="en-US" sz="2000" b="1" dirty="0">
                          <a:solidFill>
                            <a:schemeClr val="bg1"/>
                          </a:solidFill>
                        </a:rPr>
                        <a:t>08</a:t>
                      </a:r>
                    </a:p>
                  </a:txBody>
                  <a:tcPr>
                    <a:solidFill>
                      <a:srgbClr val="4C3C8D"/>
                    </a:solidFill>
                  </a:tcPr>
                </a:tc>
                <a:tc>
                  <a:txBody>
                    <a:bodyPr/>
                    <a:lstStyle/>
                    <a:p>
                      <a:pPr algn="ctr" rtl="1"/>
                      <a:r>
                        <a:rPr lang="en-US" sz="2000" b="1" dirty="0">
                          <a:solidFill>
                            <a:schemeClr val="bg1"/>
                          </a:solidFill>
                        </a:rPr>
                        <a:t>07</a:t>
                      </a:r>
                    </a:p>
                  </a:txBody>
                  <a:tcPr>
                    <a:solidFill>
                      <a:srgbClr val="4C3C8D"/>
                    </a:solidFill>
                  </a:tcPr>
                </a:tc>
                <a:tc>
                  <a:txBody>
                    <a:bodyPr/>
                    <a:lstStyle/>
                    <a:p>
                      <a:pPr algn="ctr" rtl="1"/>
                      <a:r>
                        <a:rPr lang="en-US" sz="2000" b="1" dirty="0">
                          <a:solidFill>
                            <a:schemeClr val="bg1"/>
                          </a:solidFill>
                        </a:rPr>
                        <a:t>06</a:t>
                      </a:r>
                    </a:p>
                  </a:txBody>
                  <a:tcPr>
                    <a:solidFill>
                      <a:srgbClr val="4C3C8D"/>
                    </a:solidFill>
                  </a:tcPr>
                </a:tc>
                <a:tc>
                  <a:txBody>
                    <a:bodyPr/>
                    <a:lstStyle/>
                    <a:p>
                      <a:pPr algn="ctr" rtl="1"/>
                      <a:r>
                        <a:rPr lang="en-US" sz="2000" b="1" dirty="0">
                          <a:solidFill>
                            <a:schemeClr val="bg1"/>
                          </a:solidFill>
                        </a:rPr>
                        <a:t>05</a:t>
                      </a:r>
                    </a:p>
                  </a:txBody>
                  <a:tcPr>
                    <a:solidFill>
                      <a:srgbClr val="4C3C8D"/>
                    </a:solidFill>
                  </a:tcPr>
                </a:tc>
                <a:tc>
                  <a:txBody>
                    <a:bodyPr/>
                    <a:lstStyle/>
                    <a:p>
                      <a:pPr algn="ctr" rtl="1"/>
                      <a:r>
                        <a:rPr lang="en-US" sz="2000" b="1" dirty="0">
                          <a:solidFill>
                            <a:schemeClr val="bg1"/>
                          </a:solidFill>
                        </a:rPr>
                        <a:t>04</a:t>
                      </a:r>
                    </a:p>
                  </a:txBody>
                  <a:tcPr>
                    <a:solidFill>
                      <a:srgbClr val="4C3C8D"/>
                    </a:solidFill>
                  </a:tcPr>
                </a:tc>
                <a:tc>
                  <a:txBody>
                    <a:bodyPr/>
                    <a:lstStyle/>
                    <a:p>
                      <a:pPr algn="ctr" rtl="1"/>
                      <a:r>
                        <a:rPr lang="en-US" sz="2000" b="1" dirty="0">
                          <a:solidFill>
                            <a:schemeClr val="bg1"/>
                          </a:solidFill>
                        </a:rPr>
                        <a:t>03</a:t>
                      </a:r>
                    </a:p>
                  </a:txBody>
                  <a:tcPr>
                    <a:solidFill>
                      <a:srgbClr val="4C3C8D"/>
                    </a:solidFill>
                  </a:tcPr>
                </a:tc>
                <a:tc>
                  <a:txBody>
                    <a:bodyPr/>
                    <a:lstStyle/>
                    <a:p>
                      <a:pPr algn="ctr" rtl="1"/>
                      <a:r>
                        <a:rPr lang="en-US" sz="2000" b="1" dirty="0">
                          <a:solidFill>
                            <a:schemeClr val="bg1"/>
                          </a:solidFill>
                        </a:rPr>
                        <a:t>02</a:t>
                      </a:r>
                    </a:p>
                  </a:txBody>
                  <a:tcPr>
                    <a:solidFill>
                      <a:srgbClr val="4C3C8D"/>
                    </a:solidFill>
                  </a:tcPr>
                </a:tc>
                <a:tc>
                  <a:txBody>
                    <a:bodyPr/>
                    <a:lstStyle/>
                    <a:p>
                      <a:pPr algn="ctr" rtl="1"/>
                      <a:r>
                        <a:rPr lang="en-US" sz="2000" b="1" dirty="0">
                          <a:solidFill>
                            <a:schemeClr val="bg1"/>
                          </a:solidFill>
                        </a:rPr>
                        <a:t>01</a:t>
                      </a:r>
                    </a:p>
                  </a:txBody>
                  <a:tcPr>
                    <a:solidFill>
                      <a:srgbClr val="4C3C8D"/>
                    </a:solidFill>
                  </a:tcPr>
                </a:tc>
                <a:tc>
                  <a:txBody>
                    <a:bodyPr/>
                    <a:lstStyle/>
                    <a:p>
                      <a:pPr algn="ctr" rtl="1"/>
                      <a:r>
                        <a:rPr lang="en-US" sz="2000" b="1" dirty="0">
                          <a:solidFill>
                            <a:schemeClr val="bg1"/>
                          </a:solidFill>
                        </a:rPr>
                        <a:t>12</a:t>
                      </a:r>
                    </a:p>
                  </a:txBody>
                  <a:tcPr>
                    <a:solidFill>
                      <a:srgbClr val="4C3C8D"/>
                    </a:solidFill>
                  </a:tcPr>
                </a:tc>
                <a:tc gridSpan="2">
                  <a:txBody>
                    <a:bodyPr/>
                    <a:lstStyle/>
                    <a:p>
                      <a:pPr algn="ctr" rtl="1"/>
                      <a:r>
                        <a:rPr lang="en-US" sz="2000" b="1" dirty="0">
                          <a:solidFill>
                            <a:schemeClr val="bg1"/>
                          </a:solidFill>
                        </a:rPr>
                        <a:t>11</a:t>
                      </a:r>
                    </a:p>
                  </a:txBody>
                  <a:tcPr>
                    <a:solidFill>
                      <a:srgbClr val="4C3C8D"/>
                    </a:solidFill>
                  </a:tcPr>
                </a:tc>
                <a:tc hMerge="1">
                  <a:txBody>
                    <a:bodyPr/>
                    <a:lstStyle/>
                    <a:p>
                      <a:endParaRPr lang="en-US"/>
                    </a:p>
                  </a:txBody>
                  <a:tcPr/>
                </a:tc>
                <a:tc gridSpan="2">
                  <a:txBody>
                    <a:bodyPr/>
                    <a:lstStyle/>
                    <a:p>
                      <a:pPr algn="ctr" rtl="1"/>
                      <a:r>
                        <a:rPr lang="en-US" sz="2000" b="1" dirty="0">
                          <a:solidFill>
                            <a:schemeClr val="bg1"/>
                          </a:solidFill>
                        </a:rPr>
                        <a:t>10</a:t>
                      </a:r>
                    </a:p>
                  </a:txBody>
                  <a:tcPr>
                    <a:solidFill>
                      <a:srgbClr val="4C3C8D"/>
                    </a:solidFill>
                  </a:tcPr>
                </a:tc>
                <a:tc hMerge="1">
                  <a:txBody>
                    <a:bodyPr/>
                    <a:lstStyle/>
                    <a:p>
                      <a:endParaRPr lang="en-US"/>
                    </a:p>
                  </a:txBody>
                  <a:tcPr/>
                </a:tc>
                <a:tc vMerge="1">
                  <a:txBody>
                    <a:bodyPr/>
                    <a:lstStyle/>
                    <a:p>
                      <a:pPr algn="ctr" rtl="1"/>
                      <a:endParaRPr lang="en-US" sz="2000" dirty="0"/>
                    </a:p>
                  </a:txBody>
                  <a:tcPr>
                    <a:solidFill>
                      <a:srgbClr val="4C3C8D"/>
                    </a:solidFill>
                  </a:tcPr>
                </a:tc>
                <a:extLst>
                  <a:ext uri="{0D108BD9-81ED-4DB2-BD59-A6C34878D82A}">
                    <a16:rowId xmlns:a16="http://schemas.microsoft.com/office/drawing/2014/main" val="532835055"/>
                  </a:ext>
                </a:extLst>
              </a:tr>
              <a:tr h="488900">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solidFill>
                      <a:srgbClr val="E9E8EE"/>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solidFill>
                      <a:srgbClr val="E9E8EE"/>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solidFill>
                      <a:srgbClr val="E9E8EE"/>
                    </a:solidFill>
                  </a:tcPr>
                </a:tc>
                <a:tc>
                  <a:txBody>
                    <a:bodyPr/>
                    <a:lstStyle/>
                    <a:p>
                      <a:pPr marL="0" algn="ctr" defTabSz="914400" rtl="1" eaLnBrk="1" latinLnBrk="0" hangingPunct="1"/>
                      <a:endParaRPr lang="ar-SA" sz="2000" b="1" kern="1200" dirty="0">
                        <a:solidFill>
                          <a:schemeClr val="accent1"/>
                        </a:solidFill>
                        <a:latin typeface="+mn-lt"/>
                        <a:ea typeface="+mn-ea"/>
                        <a:cs typeface="+mn-cs"/>
                      </a:endParaRPr>
                    </a:p>
                  </a:txBody>
                  <a:tcPr anchor="ctr">
                    <a:solidFill>
                      <a:srgbClr val="E9E8EE"/>
                    </a:solidFill>
                  </a:tcPr>
                </a:tc>
                <a:tc gridSpan="2">
                  <a:txBody>
                    <a:bodyPr/>
                    <a:lstStyle/>
                    <a:p>
                      <a:pPr marL="0" algn="ctr" defTabSz="914400" rtl="1" eaLnBrk="1" latinLnBrk="0" hangingPunct="1"/>
                      <a:endParaRPr lang="ar-SA" sz="2000" b="0" kern="1200" dirty="0">
                        <a:solidFill>
                          <a:schemeClr val="tx1"/>
                        </a:solidFill>
                        <a:latin typeface="+mn-lt"/>
                        <a:ea typeface="+mn-ea"/>
                        <a:cs typeface="+mn-cs"/>
                      </a:endParaRPr>
                    </a:p>
                  </a:txBody>
                  <a:tcPr anchor="ctr"/>
                </a:tc>
                <a:tc hMerge="1">
                  <a:txBody>
                    <a:bodyPr/>
                    <a:lstStyle/>
                    <a:p>
                      <a:endParaRPr lang="en-US"/>
                    </a:p>
                  </a:txBody>
                  <a:tcPr/>
                </a:tc>
                <a:tc>
                  <a:txBody>
                    <a:bodyPr/>
                    <a:lstStyle/>
                    <a:p>
                      <a:pPr marL="0" algn="ctr" defTabSz="914400" rtl="1" eaLnBrk="1" latinLnBrk="0" hangingPunct="1"/>
                      <a:endParaRPr lang="ar-SA" sz="2000" b="0" kern="1200" dirty="0">
                        <a:solidFill>
                          <a:schemeClr val="tx1"/>
                        </a:solidFill>
                        <a:latin typeface="+mn-lt"/>
                        <a:ea typeface="+mn-ea"/>
                        <a:cs typeface="+mn-cs"/>
                      </a:endParaRPr>
                    </a:p>
                  </a:txBody>
                  <a:tcPr anchor="ctr">
                    <a:solidFill>
                      <a:srgbClr val="44AC52"/>
                    </a:solidFill>
                  </a:tcPr>
                </a:tc>
                <a:tc>
                  <a:txBody>
                    <a:bodyPr/>
                    <a:lstStyle/>
                    <a:p>
                      <a:pPr marL="0" algn="ctr" defTabSz="914400" rtl="1" eaLnBrk="1" latinLnBrk="0" hangingPunct="1"/>
                      <a:endParaRPr lang="ar-SA" sz="2000" b="0" kern="1200" dirty="0">
                        <a:solidFill>
                          <a:schemeClr val="tx1"/>
                        </a:solidFill>
                        <a:latin typeface="+mn-lt"/>
                        <a:ea typeface="+mn-ea"/>
                        <a:cs typeface="+mn-cs"/>
                      </a:endParaRPr>
                    </a:p>
                  </a:txBody>
                  <a:tcPr anchor="ctr">
                    <a:solidFill>
                      <a:srgbClr val="E9E8EE"/>
                    </a:solidFill>
                  </a:tcPr>
                </a:tc>
                <a:tc>
                  <a:txBody>
                    <a:bodyPr/>
                    <a:lstStyle/>
                    <a:p>
                      <a:pPr algn="r" rtl="1" fontAlgn="ctr"/>
                      <a:r>
                        <a:rPr lang="ar-SA" sz="2000" b="1" i="0" u="none" strike="noStrike" baseline="0" dirty="0">
                          <a:solidFill>
                            <a:schemeClr val="tx1"/>
                          </a:solidFill>
                          <a:effectLst/>
                          <a:latin typeface="Sakkal Majalla" panose="02000000000000000000" pitchFamily="2" charset="-78"/>
                          <a:cs typeface="Sakkal Majalla" panose="02000000000000000000" pitchFamily="2" charset="-78"/>
                        </a:rPr>
                        <a:t>دورة إطار توجاف للبنية المؤسسية </a:t>
                      </a:r>
                      <a:r>
                        <a:rPr lang="en-US" sz="2000" b="1" i="0" u="none" strike="noStrike" baseline="0" dirty="0">
                          <a:solidFill>
                            <a:schemeClr val="tx1"/>
                          </a:solidFill>
                          <a:effectLst/>
                          <a:latin typeface="Sakkal Majalla" panose="02000000000000000000" pitchFamily="2" charset="-78"/>
                          <a:cs typeface="Sakkal Majalla" panose="02000000000000000000" pitchFamily="2" charset="-78"/>
                        </a:rPr>
                        <a:t>(TOGAF 9+)</a:t>
                      </a:r>
                      <a:endParaRPr lang="ar-SA" sz="2000" b="1" i="0" u="none" strike="noStrike" baseline="0" dirty="0">
                        <a:solidFill>
                          <a:schemeClr val="tx1"/>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1628727393"/>
                  </a:ext>
                </a:extLst>
              </a:tr>
              <a:tr h="346569">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D0CEDB"/>
                    </a:solidFill>
                  </a:tcPr>
                </a:tc>
                <a:tc>
                  <a:txBody>
                    <a:bodyPr/>
                    <a:lstStyle/>
                    <a:p>
                      <a:pPr marL="0" algn="ctr" defTabSz="914400" rtl="1" eaLnBrk="1" latinLnBrk="0" hangingPunct="1"/>
                      <a:endParaRPr lang="ar-SA" sz="2000" b="1" kern="1200" dirty="0">
                        <a:solidFill>
                          <a:schemeClr val="accent1"/>
                        </a:solidFill>
                        <a:latin typeface="+mn-lt"/>
                        <a:ea typeface="+mn-ea"/>
                        <a:cs typeface="+mn-cs"/>
                      </a:endParaRPr>
                    </a:p>
                  </a:txBody>
                  <a:tcPr anchor="ctr">
                    <a:solidFill>
                      <a:srgbClr val="D0CEDB"/>
                    </a:solidFill>
                  </a:tcPr>
                </a:tc>
                <a:tc gridSpan="2">
                  <a:txBody>
                    <a:bodyPr/>
                    <a:lstStyle/>
                    <a:p>
                      <a:pPr marL="0" algn="ctr" defTabSz="914400" rtl="1" eaLnBrk="1" latinLnBrk="0" hangingPunct="1"/>
                      <a:endParaRPr lang="ar-SA" sz="2000" b="0" kern="1200" dirty="0">
                        <a:solidFill>
                          <a:schemeClr val="tx1"/>
                        </a:solidFill>
                        <a:latin typeface="+mn-lt"/>
                        <a:ea typeface="+mn-ea"/>
                        <a:cs typeface="+mn-cs"/>
                      </a:endParaRPr>
                    </a:p>
                  </a:txBody>
                  <a:tcPr anchor="ctr">
                    <a:solidFill>
                      <a:srgbClr val="44AC52"/>
                    </a:solidFill>
                  </a:tcPr>
                </a:tc>
                <a:tc hMerge="1">
                  <a:txBody>
                    <a:bodyPr/>
                    <a:lstStyle/>
                    <a:p>
                      <a:endParaRPr lang="en-US"/>
                    </a:p>
                  </a:txBody>
                  <a:tcPr/>
                </a:tc>
                <a:tc gridSpan="2">
                  <a:txBody>
                    <a:bodyPr/>
                    <a:lstStyle/>
                    <a:p>
                      <a:pPr marL="0" algn="ctr" defTabSz="914400" rtl="1" eaLnBrk="1" latinLnBrk="0" hangingPunct="1"/>
                      <a:endParaRPr lang="ar-SA" sz="2000" b="0" kern="1200" dirty="0">
                        <a:solidFill>
                          <a:schemeClr val="tx1"/>
                        </a:solidFill>
                        <a:latin typeface="+mn-lt"/>
                        <a:ea typeface="+mn-ea"/>
                        <a:cs typeface="+mn-cs"/>
                      </a:endParaRPr>
                    </a:p>
                  </a:txBody>
                  <a:tcPr anchor="ctr">
                    <a:solidFill>
                      <a:srgbClr val="D0CEDB"/>
                    </a:solidFill>
                  </a:tcPr>
                </a:tc>
                <a:tc hMerge="1">
                  <a:txBody>
                    <a:bodyPr/>
                    <a:lstStyle/>
                    <a:p>
                      <a:endParaRPr lang="en-US"/>
                    </a:p>
                  </a:txBody>
                  <a:tcPr/>
                </a:tc>
                <a:tc>
                  <a:txBody>
                    <a:bodyPr/>
                    <a:lstStyle/>
                    <a:p>
                      <a:pPr algn="r" rtl="1" fontAlgn="ctr"/>
                      <a:r>
                        <a:rPr lang="ar-SA" sz="2000" b="1" i="0" u="none" strike="noStrike" baseline="0" dirty="0">
                          <a:solidFill>
                            <a:schemeClr val="tx1"/>
                          </a:solidFill>
                          <a:effectLst/>
                          <a:latin typeface="Sakkal Majalla" panose="02000000000000000000" pitchFamily="2" charset="-78"/>
                          <a:cs typeface="Sakkal Majalla" panose="02000000000000000000" pitchFamily="2" charset="-78"/>
                        </a:rPr>
                        <a:t>دورة استخدام أداة البنية المؤسسية</a:t>
                      </a:r>
                    </a:p>
                  </a:txBody>
                  <a:tcPr anchor="ctr"/>
                </a:tc>
                <a:extLst>
                  <a:ext uri="{0D108BD9-81ED-4DB2-BD59-A6C34878D82A}">
                    <a16:rowId xmlns:a16="http://schemas.microsoft.com/office/drawing/2014/main" val="921703392"/>
                  </a:ext>
                </a:extLst>
              </a:tr>
              <a:tr h="488900">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solidFill>
                      <a:srgbClr val="E9E8EE"/>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solidFill>
                      <a:srgbClr val="E9E8EE"/>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solidFill>
                      <a:srgbClr val="E9E8EE"/>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solidFill>
                      <a:srgbClr val="E9E8EE"/>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tc>
                <a:tc>
                  <a:txBody>
                    <a:bodyPr/>
                    <a:lstStyle/>
                    <a:p>
                      <a:pPr marL="0" algn="ctr" defTabSz="914400" rtl="1" eaLnBrk="1" latinLnBrk="0" hangingPunct="1"/>
                      <a:endParaRPr lang="en-US" sz="2000" b="1" kern="1200" dirty="0">
                        <a:solidFill>
                          <a:schemeClr val="accent1"/>
                        </a:solidFill>
                        <a:latin typeface="+mn-lt"/>
                        <a:ea typeface="+mn-ea"/>
                        <a:cs typeface="+mn-cs"/>
                      </a:endParaRPr>
                    </a:p>
                  </a:txBody>
                  <a:tcPr anchor="ctr">
                    <a:solidFill>
                      <a:srgbClr val="44AC52"/>
                    </a:solidFill>
                  </a:tcPr>
                </a:tc>
                <a:tc gridSpan="2">
                  <a:txBody>
                    <a:bodyPr/>
                    <a:lstStyle/>
                    <a:p>
                      <a:pPr marL="0" algn="ctr" defTabSz="914400" rtl="1" eaLnBrk="1" latinLnBrk="0" hangingPunct="1"/>
                      <a:endParaRPr lang="en-US" sz="2000" b="0" kern="1200" dirty="0">
                        <a:solidFill>
                          <a:schemeClr val="tx1"/>
                        </a:solidFill>
                        <a:latin typeface="+mn-lt"/>
                        <a:ea typeface="+mn-ea"/>
                        <a:cs typeface="+mn-cs"/>
                      </a:endParaRPr>
                    </a:p>
                  </a:txBody>
                  <a:tcPr anchor="ctr"/>
                </a:tc>
                <a:tc hMerge="1">
                  <a:txBody>
                    <a:bodyPr/>
                    <a:lstStyle/>
                    <a:p>
                      <a:endParaRPr lang="en-US"/>
                    </a:p>
                  </a:txBody>
                  <a:tcPr/>
                </a:tc>
                <a:tc gridSpan="2">
                  <a:txBody>
                    <a:bodyPr/>
                    <a:lstStyle/>
                    <a:p>
                      <a:pPr marL="0" algn="ctr" defTabSz="914400" rtl="1" eaLnBrk="1" latinLnBrk="0" hangingPunct="1"/>
                      <a:endParaRPr lang="en-US" sz="2000" b="0" kern="1200" dirty="0">
                        <a:solidFill>
                          <a:schemeClr val="tx1"/>
                        </a:solidFill>
                        <a:latin typeface="+mn-lt"/>
                        <a:ea typeface="+mn-ea"/>
                        <a:cs typeface="+mn-cs"/>
                      </a:endParaRPr>
                    </a:p>
                  </a:txBody>
                  <a:tcPr anchor="ctr"/>
                </a:tc>
                <a:tc hMerge="1">
                  <a:txBody>
                    <a:bodyPr/>
                    <a:lstStyle/>
                    <a:p>
                      <a:endParaRPr lang="en-US"/>
                    </a:p>
                  </a:txBody>
                  <a:tcPr/>
                </a:tc>
                <a:tc>
                  <a:txBody>
                    <a:bodyPr/>
                    <a:lstStyle/>
                    <a:p>
                      <a:pPr algn="r" rtl="1" fontAlgn="ctr"/>
                      <a:r>
                        <a:rPr lang="ar-SA" sz="2000" b="1" i="0" u="none" strike="noStrike" baseline="0" dirty="0">
                          <a:solidFill>
                            <a:schemeClr val="tx1"/>
                          </a:solidFill>
                          <a:effectLst/>
                          <a:latin typeface="Sakkal Majalla" panose="02000000000000000000" pitchFamily="2" charset="-78"/>
                          <a:cs typeface="Sakkal Majalla" panose="02000000000000000000" pitchFamily="2" charset="-78"/>
                        </a:rPr>
                        <a:t>دورة إدارة المشاريع والمخاطر وفقا لمنهجيات </a:t>
                      </a:r>
                      <a:r>
                        <a:rPr lang="en-US" sz="2000" b="1" i="0" u="none" strike="noStrike" baseline="0" dirty="0">
                          <a:solidFill>
                            <a:schemeClr val="tx1"/>
                          </a:solidFill>
                          <a:effectLst/>
                          <a:latin typeface="Sakkal Majalla" panose="02000000000000000000" pitchFamily="2" charset="-78"/>
                          <a:cs typeface="Sakkal Majalla" panose="02000000000000000000" pitchFamily="2" charset="-78"/>
                        </a:rPr>
                        <a:t>PMI</a:t>
                      </a:r>
                    </a:p>
                  </a:txBody>
                  <a:tcPr anchor="ctr"/>
                </a:tc>
                <a:extLst>
                  <a:ext uri="{0D108BD9-81ED-4DB2-BD59-A6C34878D82A}">
                    <a16:rowId xmlns:a16="http://schemas.microsoft.com/office/drawing/2014/main" val="3576189597"/>
                  </a:ext>
                </a:extLst>
              </a:tr>
              <a:tr h="488900">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D0CEDB"/>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D0CEDB"/>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44AC5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44AC52"/>
                    </a:solidFill>
                  </a:tcPr>
                </a:tc>
                <a:tc>
                  <a:txBody>
                    <a:bodyPr/>
                    <a:lstStyle/>
                    <a:p>
                      <a:pPr marL="0" algn="ctr" defTabSz="914400" rtl="1" eaLnBrk="1" latinLnBrk="0" hangingPunct="1"/>
                      <a:endParaRPr lang="ar-SA" sz="2000" b="1" kern="1200" dirty="0">
                        <a:solidFill>
                          <a:schemeClr val="accent1"/>
                        </a:solidFill>
                        <a:latin typeface="+mn-lt"/>
                        <a:ea typeface="+mn-ea"/>
                        <a:cs typeface="+mn-cs"/>
                      </a:endParaRPr>
                    </a:p>
                  </a:txBody>
                  <a:tcPr anchor="ctr"/>
                </a:tc>
                <a:tc gridSpan="2">
                  <a:txBody>
                    <a:bodyPr/>
                    <a:lstStyle/>
                    <a:p>
                      <a:pPr marL="0" algn="ctr" defTabSz="914400" rtl="1" eaLnBrk="1" latinLnBrk="0" hangingPunct="1"/>
                      <a:endParaRPr lang="ar-SA" sz="2000" b="0" kern="1200" dirty="0">
                        <a:solidFill>
                          <a:schemeClr val="tx1"/>
                        </a:solidFill>
                        <a:latin typeface="+mn-lt"/>
                        <a:ea typeface="+mn-ea"/>
                        <a:cs typeface="+mn-cs"/>
                      </a:endParaRPr>
                    </a:p>
                  </a:txBody>
                  <a:tcPr anchor="ctr"/>
                </a:tc>
                <a:tc hMerge="1">
                  <a:txBody>
                    <a:bodyPr/>
                    <a:lstStyle/>
                    <a:p>
                      <a:endParaRPr lang="en-US"/>
                    </a:p>
                  </a:txBody>
                  <a:tcPr/>
                </a:tc>
                <a:tc gridSpan="2">
                  <a:txBody>
                    <a:bodyPr/>
                    <a:lstStyle/>
                    <a:p>
                      <a:pPr marL="0" algn="ctr" defTabSz="914400" rtl="1" eaLnBrk="1" latinLnBrk="0" hangingPunct="1"/>
                      <a:endParaRPr lang="ar-SA" sz="2000" b="0" kern="1200" dirty="0">
                        <a:solidFill>
                          <a:schemeClr val="tx1"/>
                        </a:solidFill>
                        <a:latin typeface="+mn-lt"/>
                        <a:ea typeface="+mn-ea"/>
                        <a:cs typeface="+mn-cs"/>
                      </a:endParaRPr>
                    </a:p>
                  </a:txBody>
                  <a:tcPr anchor="ctr"/>
                </a:tc>
                <a:tc hMerge="1">
                  <a:txBody>
                    <a:bodyPr/>
                    <a:lstStyle/>
                    <a:p>
                      <a:endParaRPr lang="en-US"/>
                    </a:p>
                  </a:txBody>
                  <a:tcPr/>
                </a:tc>
                <a:tc>
                  <a:txBody>
                    <a:bodyPr/>
                    <a:lstStyle/>
                    <a:p>
                      <a:pPr algn="r" rtl="1" fontAlgn="ctr"/>
                      <a:r>
                        <a:rPr lang="ar-SA" sz="2000" b="1" i="0" u="none" strike="noStrike" baseline="0" dirty="0">
                          <a:solidFill>
                            <a:schemeClr val="tx1"/>
                          </a:solidFill>
                          <a:effectLst/>
                          <a:latin typeface="Sakkal Majalla" panose="02000000000000000000" pitchFamily="2" charset="-78"/>
                          <a:cs typeface="Sakkal Majalla" panose="02000000000000000000" pitchFamily="2" charset="-78"/>
                        </a:rPr>
                        <a:t>دورة نمذجة العمليات باستخدام لغة الـ </a:t>
                      </a:r>
                      <a:r>
                        <a:rPr lang="en-US" sz="2000" b="1" i="0" u="none" strike="noStrike" baseline="0" dirty="0">
                          <a:solidFill>
                            <a:schemeClr val="tx1"/>
                          </a:solidFill>
                          <a:effectLst/>
                          <a:latin typeface="Sakkal Majalla" panose="02000000000000000000" pitchFamily="2" charset="-78"/>
                          <a:cs typeface="Sakkal Majalla" panose="02000000000000000000" pitchFamily="2" charset="-78"/>
                        </a:rPr>
                        <a:t>BPMN</a:t>
                      </a:r>
                    </a:p>
                  </a:txBody>
                  <a:tcPr anchor="ctr"/>
                </a:tc>
                <a:extLst>
                  <a:ext uri="{0D108BD9-81ED-4DB2-BD59-A6C34878D82A}">
                    <a16:rowId xmlns:a16="http://schemas.microsoft.com/office/drawing/2014/main" val="3482954124"/>
                  </a:ext>
                </a:extLst>
              </a:tr>
              <a:tr h="346569">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E9E8EE"/>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44AC5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E9E8EE"/>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algn="ctr" defTabSz="914400" rtl="1" eaLnBrk="1" latinLnBrk="0" hangingPunct="1"/>
                      <a:endParaRPr lang="ar-SA" sz="2000" b="1" kern="1200" dirty="0">
                        <a:solidFill>
                          <a:schemeClr val="accent1"/>
                        </a:solidFill>
                        <a:latin typeface="+mn-lt"/>
                        <a:ea typeface="+mn-ea"/>
                        <a:cs typeface="+mn-cs"/>
                      </a:endParaRPr>
                    </a:p>
                  </a:txBody>
                  <a:tcPr anchor="ctr"/>
                </a:tc>
                <a:tc gridSpan="2">
                  <a:txBody>
                    <a:bodyPr/>
                    <a:lstStyle/>
                    <a:p>
                      <a:pPr marL="0" algn="ctr" defTabSz="914400" rtl="1" eaLnBrk="1" latinLnBrk="0" hangingPunct="1"/>
                      <a:endParaRPr lang="ar-SA" sz="2000" b="0" kern="1200" dirty="0">
                        <a:solidFill>
                          <a:schemeClr val="tx1"/>
                        </a:solidFill>
                        <a:latin typeface="+mn-lt"/>
                        <a:ea typeface="+mn-ea"/>
                        <a:cs typeface="+mn-cs"/>
                      </a:endParaRPr>
                    </a:p>
                  </a:txBody>
                  <a:tcPr anchor="ctr"/>
                </a:tc>
                <a:tc hMerge="1">
                  <a:txBody>
                    <a:bodyPr/>
                    <a:lstStyle/>
                    <a:p>
                      <a:endParaRPr lang="en-US"/>
                    </a:p>
                  </a:txBody>
                  <a:tcPr/>
                </a:tc>
                <a:tc gridSpan="2">
                  <a:txBody>
                    <a:bodyPr/>
                    <a:lstStyle/>
                    <a:p>
                      <a:pPr marL="0" algn="ctr" defTabSz="914400" rtl="1" eaLnBrk="1" latinLnBrk="0" hangingPunct="1"/>
                      <a:endParaRPr lang="ar-SA" sz="2000" b="0" kern="1200" dirty="0">
                        <a:solidFill>
                          <a:schemeClr val="tx1"/>
                        </a:solidFill>
                        <a:latin typeface="+mn-lt"/>
                        <a:ea typeface="+mn-ea"/>
                        <a:cs typeface="+mn-cs"/>
                      </a:endParaRPr>
                    </a:p>
                  </a:txBody>
                  <a:tcPr anchor="ctr"/>
                </a:tc>
                <a:tc hMerge="1">
                  <a:txBody>
                    <a:bodyPr/>
                    <a:lstStyle/>
                    <a:p>
                      <a:endParaRPr lang="en-US"/>
                    </a:p>
                  </a:txBody>
                  <a:tcPr/>
                </a:tc>
                <a:tc>
                  <a:txBody>
                    <a:bodyPr/>
                    <a:lstStyle/>
                    <a:p>
                      <a:pPr algn="r" rtl="1" fontAlgn="ctr"/>
                      <a:r>
                        <a:rPr lang="ar-SA" sz="2000" b="1" i="0" u="none" strike="noStrike" baseline="0" dirty="0">
                          <a:solidFill>
                            <a:schemeClr val="tx1"/>
                          </a:solidFill>
                          <a:effectLst/>
                          <a:latin typeface="Sakkal Majalla" panose="02000000000000000000" pitchFamily="2" charset="-78"/>
                          <a:cs typeface="Sakkal Majalla" panose="02000000000000000000" pitchFamily="2" charset="-78"/>
                        </a:rPr>
                        <a:t>دورة أخصائي إدارة بيانات معتمد (</a:t>
                      </a:r>
                      <a:r>
                        <a:rPr lang="en-US" sz="2000" b="1" i="0" u="none" strike="noStrike" baseline="0" dirty="0">
                          <a:solidFill>
                            <a:schemeClr val="tx1"/>
                          </a:solidFill>
                          <a:effectLst/>
                          <a:latin typeface="Sakkal Majalla" panose="02000000000000000000" pitchFamily="2" charset="-78"/>
                          <a:cs typeface="Sakkal Majalla" panose="02000000000000000000" pitchFamily="2" charset="-78"/>
                        </a:rPr>
                        <a:t>CDMP</a:t>
                      </a:r>
                      <a:r>
                        <a:rPr lang="ar-SA" sz="2000" b="1" i="0" u="none" strike="noStrike" baseline="0" dirty="0">
                          <a:solidFill>
                            <a:schemeClr val="tx1"/>
                          </a:solidFill>
                          <a:effectLst/>
                          <a:latin typeface="Sakkal Majalla" panose="02000000000000000000" pitchFamily="2" charset="-78"/>
                          <a:cs typeface="Sakkal Majalla" panose="02000000000000000000" pitchFamily="2" charset="-78"/>
                        </a:rPr>
                        <a:t>)</a:t>
                      </a:r>
                      <a:endParaRPr lang="en-US" sz="2000" b="1" i="0" u="none" strike="noStrike" baseline="0" dirty="0">
                        <a:solidFill>
                          <a:schemeClr val="tx1"/>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184823250"/>
                  </a:ext>
                </a:extLst>
              </a:tr>
              <a:tr h="488900">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D0CEDB"/>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D0CEDB"/>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44AC5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D0CEDB"/>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algn="ctr" defTabSz="914400" rtl="1" eaLnBrk="1" latinLnBrk="0" hangingPunct="1"/>
                      <a:endParaRPr lang="ar-EG" sz="2000" b="1" kern="1200" dirty="0">
                        <a:solidFill>
                          <a:schemeClr val="accent1"/>
                        </a:solidFill>
                        <a:latin typeface="+mn-lt"/>
                        <a:ea typeface="+mn-ea"/>
                        <a:cs typeface="+mn-cs"/>
                      </a:endParaRPr>
                    </a:p>
                  </a:txBody>
                  <a:tcPr anchor="ctr"/>
                </a:tc>
                <a:tc gridSpan="2">
                  <a:txBody>
                    <a:bodyPr/>
                    <a:lstStyle/>
                    <a:p>
                      <a:pPr marL="0" algn="ctr" defTabSz="914400" rtl="1" eaLnBrk="1" latinLnBrk="0" hangingPunct="1"/>
                      <a:endParaRPr lang="ar-EG" sz="2000" b="0" kern="1200" dirty="0">
                        <a:solidFill>
                          <a:schemeClr val="tx1"/>
                        </a:solidFill>
                        <a:latin typeface="+mn-lt"/>
                        <a:ea typeface="+mn-ea"/>
                        <a:cs typeface="+mn-cs"/>
                      </a:endParaRPr>
                    </a:p>
                  </a:txBody>
                  <a:tcPr anchor="ctr"/>
                </a:tc>
                <a:tc hMerge="1">
                  <a:txBody>
                    <a:bodyPr/>
                    <a:lstStyle/>
                    <a:p>
                      <a:endParaRPr lang="en-US"/>
                    </a:p>
                  </a:txBody>
                  <a:tcPr/>
                </a:tc>
                <a:tc gridSpan="2">
                  <a:txBody>
                    <a:bodyPr/>
                    <a:lstStyle/>
                    <a:p>
                      <a:pPr marL="0" algn="ctr" defTabSz="914400" rtl="1" eaLnBrk="1" latinLnBrk="0" hangingPunct="1"/>
                      <a:endParaRPr lang="ar-EG" sz="2000" b="0" kern="1200" dirty="0">
                        <a:solidFill>
                          <a:schemeClr val="tx1"/>
                        </a:solidFill>
                        <a:latin typeface="+mn-lt"/>
                        <a:ea typeface="+mn-ea"/>
                        <a:cs typeface="+mn-cs"/>
                      </a:endParaRPr>
                    </a:p>
                  </a:txBody>
                  <a:tcPr anchor="ctr"/>
                </a:tc>
                <a:tc hMerge="1">
                  <a:txBody>
                    <a:bodyPr/>
                    <a:lstStyle/>
                    <a:p>
                      <a:endParaRPr lang="en-US"/>
                    </a:p>
                  </a:txBody>
                  <a:tcPr/>
                </a:tc>
                <a:tc>
                  <a:txBody>
                    <a:bodyPr/>
                    <a:lstStyle/>
                    <a:p>
                      <a:pPr algn="r" rtl="1" fontAlgn="ctr"/>
                      <a:r>
                        <a:rPr lang="ar-SA" sz="2000" b="1" i="0" u="none" strike="noStrike" baseline="0" dirty="0">
                          <a:solidFill>
                            <a:schemeClr val="tx1"/>
                          </a:solidFill>
                          <a:effectLst/>
                          <a:latin typeface="Sakkal Majalla" panose="02000000000000000000" pitchFamily="2" charset="-78"/>
                          <a:cs typeface="Sakkal Majalla" panose="02000000000000000000" pitchFamily="2" charset="-78"/>
                        </a:rPr>
                        <a:t>دورة الخدمات المصغّرة ودمج التطوير بالعمليات</a:t>
                      </a:r>
                    </a:p>
                  </a:txBody>
                  <a:tcPr anchor="ctr"/>
                </a:tc>
                <a:extLst>
                  <a:ext uri="{0D108BD9-81ED-4DB2-BD59-A6C34878D82A}">
                    <a16:rowId xmlns:a16="http://schemas.microsoft.com/office/drawing/2014/main" val="599608417"/>
                  </a:ext>
                </a:extLst>
              </a:tr>
              <a:tr h="346569">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44AC5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E9E8EE"/>
                    </a:solidFill>
                  </a:tcPr>
                </a:tc>
                <a:tc>
                  <a:txBody>
                    <a:bodyPr/>
                    <a:lstStyle/>
                    <a:p>
                      <a:pPr marL="0" algn="ctr" defTabSz="914400" rtl="1" eaLnBrk="1" latinLnBrk="0" hangingPunct="1"/>
                      <a:endParaRPr lang="ar-EG" sz="2000" b="1" kern="1200" dirty="0">
                        <a:solidFill>
                          <a:schemeClr val="accent1"/>
                        </a:solidFill>
                        <a:latin typeface="+mn-lt"/>
                        <a:ea typeface="+mn-ea"/>
                        <a:cs typeface="+mn-cs"/>
                      </a:endParaRPr>
                    </a:p>
                  </a:txBody>
                  <a:tcPr anchor="ctr">
                    <a:solidFill>
                      <a:srgbClr val="E9E8EE"/>
                    </a:solidFill>
                  </a:tcPr>
                </a:tc>
                <a:tc gridSpan="2">
                  <a:txBody>
                    <a:bodyPr/>
                    <a:lstStyle/>
                    <a:p>
                      <a:pPr marL="0" algn="ctr" defTabSz="914400" rtl="1" eaLnBrk="1" latinLnBrk="0" hangingPunct="1"/>
                      <a:endParaRPr lang="ar-EG" sz="2000" b="0" kern="1200" dirty="0">
                        <a:solidFill>
                          <a:schemeClr val="tx1"/>
                        </a:solidFill>
                        <a:latin typeface="+mn-lt"/>
                        <a:ea typeface="+mn-ea"/>
                        <a:cs typeface="+mn-cs"/>
                      </a:endParaRPr>
                    </a:p>
                  </a:txBody>
                  <a:tcPr anchor="ctr">
                    <a:solidFill>
                      <a:srgbClr val="E9E8EE"/>
                    </a:solidFill>
                  </a:tcPr>
                </a:tc>
                <a:tc hMerge="1">
                  <a:txBody>
                    <a:bodyPr/>
                    <a:lstStyle/>
                    <a:p>
                      <a:endParaRPr lang="en-US"/>
                    </a:p>
                  </a:txBody>
                  <a:tcPr/>
                </a:tc>
                <a:tc gridSpan="2">
                  <a:txBody>
                    <a:bodyPr/>
                    <a:lstStyle/>
                    <a:p>
                      <a:pPr marL="0" algn="ctr" defTabSz="914400" rtl="1" eaLnBrk="1" latinLnBrk="0" hangingPunct="1"/>
                      <a:endParaRPr lang="ar-EG" sz="2000" b="0" kern="1200" dirty="0">
                        <a:solidFill>
                          <a:schemeClr val="tx1"/>
                        </a:solidFill>
                        <a:latin typeface="+mn-lt"/>
                        <a:ea typeface="+mn-ea"/>
                        <a:cs typeface="+mn-cs"/>
                      </a:endParaRPr>
                    </a:p>
                  </a:txBody>
                  <a:tcPr anchor="ctr">
                    <a:solidFill>
                      <a:srgbClr val="E9E8EE"/>
                    </a:solidFill>
                  </a:tcPr>
                </a:tc>
                <a:tc hMerge="1">
                  <a:txBody>
                    <a:bodyPr/>
                    <a:lstStyle/>
                    <a:p>
                      <a:endParaRPr lang="en-US"/>
                    </a:p>
                  </a:txBody>
                  <a:tcPr/>
                </a:tc>
                <a:tc>
                  <a:txBody>
                    <a:bodyPr/>
                    <a:lstStyle/>
                    <a:p>
                      <a:pPr algn="r" rtl="1" fontAlgn="ctr"/>
                      <a:r>
                        <a:rPr lang="ar-SA" sz="2000" b="1" i="0" u="none" strike="noStrike" baseline="0" dirty="0">
                          <a:solidFill>
                            <a:schemeClr val="tx1"/>
                          </a:solidFill>
                          <a:effectLst/>
                          <a:latin typeface="Sakkal Majalla" panose="02000000000000000000" pitchFamily="2" charset="-78"/>
                          <a:cs typeface="Sakkal Majalla" panose="02000000000000000000" pitchFamily="2" charset="-78"/>
                        </a:rPr>
                        <a:t>دورة إدارة وتهيئة أداة البنية المؤسسية</a:t>
                      </a:r>
                    </a:p>
                  </a:txBody>
                  <a:tcPr anchor="ctr"/>
                </a:tc>
                <a:extLst>
                  <a:ext uri="{0D108BD9-81ED-4DB2-BD59-A6C34878D82A}">
                    <a16:rowId xmlns:a16="http://schemas.microsoft.com/office/drawing/2014/main" val="3404976290"/>
                  </a:ext>
                </a:extLst>
              </a:tr>
              <a:tr h="346569">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D0CEDB"/>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D0CEDB"/>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D0CEDB"/>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44AC5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algn="ctr" defTabSz="914400" rtl="1" eaLnBrk="1" latinLnBrk="0" hangingPunct="1"/>
                      <a:endParaRPr lang="ar-EG" sz="2000" b="1" kern="1200" dirty="0">
                        <a:solidFill>
                          <a:schemeClr val="accent1"/>
                        </a:solidFill>
                        <a:latin typeface="+mn-lt"/>
                        <a:ea typeface="+mn-ea"/>
                        <a:cs typeface="+mn-cs"/>
                      </a:endParaRPr>
                    </a:p>
                  </a:txBody>
                  <a:tcPr anchor="ctr"/>
                </a:tc>
                <a:tc gridSpan="2">
                  <a:txBody>
                    <a:bodyPr/>
                    <a:lstStyle/>
                    <a:p>
                      <a:pPr marL="0" algn="ctr" defTabSz="914400" rtl="1" eaLnBrk="1" latinLnBrk="0" hangingPunct="1"/>
                      <a:endParaRPr lang="ar-EG" sz="2000" b="0" kern="1200" dirty="0">
                        <a:solidFill>
                          <a:schemeClr val="tx1"/>
                        </a:solidFill>
                        <a:latin typeface="+mn-lt"/>
                        <a:ea typeface="+mn-ea"/>
                        <a:cs typeface="+mn-cs"/>
                      </a:endParaRPr>
                    </a:p>
                  </a:txBody>
                  <a:tcPr anchor="ctr">
                    <a:solidFill>
                      <a:srgbClr val="D0CEDB"/>
                    </a:solidFill>
                  </a:tcPr>
                </a:tc>
                <a:tc hMerge="1">
                  <a:txBody>
                    <a:bodyPr/>
                    <a:lstStyle/>
                    <a:p>
                      <a:endParaRPr lang="en-US"/>
                    </a:p>
                  </a:txBody>
                  <a:tcPr/>
                </a:tc>
                <a:tc gridSpan="2">
                  <a:txBody>
                    <a:bodyPr/>
                    <a:lstStyle/>
                    <a:p>
                      <a:pPr marL="0" algn="ctr" defTabSz="914400" rtl="1" eaLnBrk="1" latinLnBrk="0" hangingPunct="1"/>
                      <a:endParaRPr lang="ar-EG" sz="2000" b="0" kern="1200" dirty="0">
                        <a:solidFill>
                          <a:schemeClr val="tx1"/>
                        </a:solidFill>
                        <a:latin typeface="+mn-lt"/>
                        <a:ea typeface="+mn-ea"/>
                        <a:cs typeface="+mn-cs"/>
                      </a:endParaRPr>
                    </a:p>
                  </a:txBody>
                  <a:tcPr anchor="ctr">
                    <a:solidFill>
                      <a:srgbClr val="D0CEDB"/>
                    </a:solidFill>
                  </a:tcPr>
                </a:tc>
                <a:tc hMerge="1">
                  <a:txBody>
                    <a:bodyPr/>
                    <a:lstStyle/>
                    <a:p>
                      <a:endParaRPr lang="en-US"/>
                    </a:p>
                  </a:txBody>
                  <a:tcPr/>
                </a:tc>
                <a:tc>
                  <a:txBody>
                    <a:bodyPr/>
                    <a:lstStyle/>
                    <a:p>
                      <a:pPr algn="r" rtl="1" fontAlgn="ctr"/>
                      <a:r>
                        <a:rPr lang="ar-SA" sz="2000" b="1" i="0" u="none" strike="noStrike" baseline="0" dirty="0">
                          <a:solidFill>
                            <a:schemeClr val="tx1"/>
                          </a:solidFill>
                          <a:effectLst/>
                          <a:latin typeface="Sakkal Majalla" panose="02000000000000000000" pitchFamily="2" charset="-78"/>
                          <a:cs typeface="Sakkal Majalla" panose="02000000000000000000" pitchFamily="2" charset="-78"/>
                        </a:rPr>
                        <a:t>دورة في الإبداع والابتكار</a:t>
                      </a:r>
                    </a:p>
                  </a:txBody>
                  <a:tcPr anchor="ctr"/>
                </a:tc>
                <a:extLst>
                  <a:ext uri="{0D108BD9-81ED-4DB2-BD59-A6C34878D82A}">
                    <a16:rowId xmlns:a16="http://schemas.microsoft.com/office/drawing/2014/main" val="1542395614"/>
                  </a:ext>
                </a:extLst>
              </a:tr>
              <a:tr h="435758">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solidFill>
                      <a:srgbClr val="E9E8EE"/>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solidFill>
                      <a:srgbClr val="44AC5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solidFill>
                      <a:srgbClr val="E9E8EE"/>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tc>
                <a:tc>
                  <a:txBody>
                    <a:bodyPr/>
                    <a:lstStyle/>
                    <a:p>
                      <a:pPr marL="0" algn="ctr" defTabSz="914400" rtl="1" eaLnBrk="1" latinLnBrk="0" hangingPunct="1"/>
                      <a:endParaRPr lang="ar-EG" sz="2000" b="1" kern="1200" dirty="0">
                        <a:solidFill>
                          <a:schemeClr val="accent1"/>
                        </a:solidFill>
                        <a:latin typeface="+mn-lt"/>
                        <a:ea typeface="+mn-ea"/>
                        <a:cs typeface="+mn-cs"/>
                      </a:endParaRPr>
                    </a:p>
                  </a:txBody>
                  <a:tcPr anchor="ctr"/>
                </a:tc>
                <a:tc gridSpan="2">
                  <a:txBody>
                    <a:bodyPr/>
                    <a:lstStyle/>
                    <a:p>
                      <a:pPr marL="0" algn="ctr" defTabSz="914400" rtl="1" eaLnBrk="1" latinLnBrk="0" hangingPunct="1"/>
                      <a:endParaRPr lang="ar-EG" sz="2000" b="0" kern="1200" dirty="0">
                        <a:solidFill>
                          <a:schemeClr val="tx1"/>
                        </a:solidFill>
                        <a:latin typeface="+mn-lt"/>
                        <a:ea typeface="+mn-ea"/>
                        <a:cs typeface="+mn-cs"/>
                      </a:endParaRPr>
                    </a:p>
                  </a:txBody>
                  <a:tcPr anchor="ctr"/>
                </a:tc>
                <a:tc hMerge="1">
                  <a:txBody>
                    <a:bodyPr/>
                    <a:lstStyle/>
                    <a:p>
                      <a:endParaRPr lang="en-US"/>
                    </a:p>
                  </a:txBody>
                  <a:tcPr/>
                </a:tc>
                <a:tc gridSpan="2">
                  <a:txBody>
                    <a:bodyPr/>
                    <a:lstStyle/>
                    <a:p>
                      <a:pPr marL="0" algn="ctr" defTabSz="914400" rtl="1" eaLnBrk="1" latinLnBrk="0" hangingPunct="1"/>
                      <a:endParaRPr lang="ar-EG" sz="2000" b="0" kern="1200" dirty="0">
                        <a:solidFill>
                          <a:schemeClr val="tx1"/>
                        </a:solidFill>
                        <a:latin typeface="+mn-lt"/>
                        <a:ea typeface="+mn-ea"/>
                        <a:cs typeface="+mn-cs"/>
                      </a:endParaRPr>
                    </a:p>
                  </a:txBody>
                  <a:tcPr anchor="ctr"/>
                </a:tc>
                <a:tc hMerge="1">
                  <a:txBody>
                    <a:bodyPr/>
                    <a:lstStyle/>
                    <a:p>
                      <a:endParaRPr lang="en-US"/>
                    </a:p>
                  </a:txBody>
                  <a:tcPr/>
                </a:tc>
                <a:tc>
                  <a:txBody>
                    <a:bodyPr/>
                    <a:lstStyle/>
                    <a:p>
                      <a:pPr algn="r" rtl="1" fontAlgn="ctr"/>
                      <a:r>
                        <a:rPr lang="ar-SA" sz="1700" b="1" i="0" u="none" strike="noStrike" baseline="0" dirty="0">
                          <a:solidFill>
                            <a:schemeClr val="tx1"/>
                          </a:solidFill>
                          <a:effectLst/>
                          <a:latin typeface="Sakkal Majalla" panose="02000000000000000000" pitchFamily="2" charset="-78"/>
                          <a:cs typeface="Sakkal Majalla" panose="02000000000000000000" pitchFamily="2" charset="-78"/>
                        </a:rPr>
                        <a:t>دورة إطار عمل </a:t>
                      </a:r>
                      <a:r>
                        <a:rPr lang="en-US" sz="1800" b="1" i="0" u="none" strike="noStrike" baseline="0" dirty="0">
                          <a:solidFill>
                            <a:schemeClr val="tx1"/>
                          </a:solidFill>
                          <a:effectLst/>
                          <a:latin typeface="Sakkal Majalla" panose="02000000000000000000" pitchFamily="2" charset="-78"/>
                          <a:cs typeface="Sakkal Majalla" panose="02000000000000000000" pitchFamily="2" charset="-78"/>
                        </a:rPr>
                        <a:t>COBIT</a:t>
                      </a:r>
                      <a:r>
                        <a:rPr lang="ar-SA" sz="1700" b="1" i="0" u="none" strike="noStrike" baseline="0" dirty="0">
                          <a:solidFill>
                            <a:schemeClr val="tx1"/>
                          </a:solidFill>
                          <a:effectLst/>
                          <a:latin typeface="Sakkal Majalla" panose="02000000000000000000" pitchFamily="2" charset="-78"/>
                          <a:cs typeface="Sakkal Majalla" panose="02000000000000000000" pitchFamily="2" charset="-78"/>
                        </a:rPr>
                        <a:t> لحوكمة وإدارة تقنية المعلومات</a:t>
                      </a:r>
                    </a:p>
                  </a:txBody>
                  <a:tcPr anchor="ctr"/>
                </a:tc>
                <a:extLst>
                  <a:ext uri="{0D108BD9-81ED-4DB2-BD59-A6C34878D82A}">
                    <a16:rowId xmlns:a16="http://schemas.microsoft.com/office/drawing/2014/main" val="3306883351"/>
                  </a:ext>
                </a:extLst>
              </a:tr>
              <a:tr h="346569">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D0CEDB"/>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D0CEDB"/>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44AC5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algn="ctr" defTabSz="914400" rtl="1" eaLnBrk="1" latinLnBrk="0" hangingPunct="1"/>
                      <a:endParaRPr lang="ar-EG" sz="2000" b="1" kern="1200" dirty="0">
                        <a:solidFill>
                          <a:schemeClr val="accent1"/>
                        </a:solidFill>
                        <a:latin typeface="+mn-lt"/>
                        <a:ea typeface="+mn-ea"/>
                        <a:cs typeface="+mn-cs"/>
                      </a:endParaRPr>
                    </a:p>
                  </a:txBody>
                  <a:tcPr anchor="ctr"/>
                </a:tc>
                <a:tc>
                  <a:txBody>
                    <a:bodyPr/>
                    <a:lstStyle/>
                    <a:p>
                      <a:pPr marL="0" algn="ctr" defTabSz="914400" rtl="1" eaLnBrk="1" latinLnBrk="0" hangingPunct="1"/>
                      <a:endParaRPr lang="ar-EG" sz="2000" b="0" kern="1200" dirty="0">
                        <a:solidFill>
                          <a:schemeClr val="tx1"/>
                        </a:solidFill>
                        <a:latin typeface="+mn-lt"/>
                        <a:ea typeface="+mn-ea"/>
                        <a:cs typeface="+mn-cs"/>
                      </a:endParaRPr>
                    </a:p>
                  </a:txBody>
                  <a:tcPr anchor="ctr">
                    <a:solidFill>
                      <a:srgbClr val="44AC52"/>
                    </a:solidFill>
                  </a:tcPr>
                </a:tc>
                <a:tc>
                  <a:txBody>
                    <a:bodyPr/>
                    <a:lstStyle/>
                    <a:p>
                      <a:pPr marL="0" algn="ctr" defTabSz="914400" rtl="1" eaLnBrk="1" latinLnBrk="0" hangingPunct="1"/>
                      <a:endParaRPr lang="ar-EG" sz="2000" b="0" kern="1200" dirty="0">
                        <a:solidFill>
                          <a:schemeClr val="tx1"/>
                        </a:solidFill>
                        <a:latin typeface="+mn-lt"/>
                        <a:ea typeface="+mn-ea"/>
                        <a:cs typeface="+mn-cs"/>
                      </a:endParaRPr>
                    </a:p>
                  </a:txBody>
                  <a:tcPr anchor="ctr">
                    <a:solidFill>
                      <a:srgbClr val="D0CEDB"/>
                    </a:solidFill>
                  </a:tcPr>
                </a:tc>
                <a:tc gridSpan="2">
                  <a:txBody>
                    <a:bodyPr/>
                    <a:lstStyle/>
                    <a:p>
                      <a:pPr marL="0" algn="ctr" defTabSz="914400" rtl="1" eaLnBrk="1" latinLnBrk="0" hangingPunct="1"/>
                      <a:endParaRPr lang="ar-EG" sz="2000" b="0" kern="1200" dirty="0">
                        <a:solidFill>
                          <a:schemeClr val="tx1"/>
                        </a:solidFill>
                        <a:latin typeface="+mn-lt"/>
                        <a:ea typeface="+mn-ea"/>
                        <a:cs typeface="+mn-cs"/>
                      </a:endParaRPr>
                    </a:p>
                  </a:txBody>
                  <a:tcPr anchor="ctr">
                    <a:solidFill>
                      <a:srgbClr val="D0CEDB"/>
                    </a:solidFill>
                  </a:tcPr>
                </a:tc>
                <a:tc hMerge="1">
                  <a:txBody>
                    <a:bodyPr/>
                    <a:lstStyle/>
                    <a:p>
                      <a:endParaRPr lang="en-US"/>
                    </a:p>
                  </a:txBody>
                  <a:tcPr/>
                </a:tc>
                <a:tc>
                  <a:txBody>
                    <a:bodyPr/>
                    <a:lstStyle/>
                    <a:p>
                      <a:pPr algn="r" rtl="1" fontAlgn="ctr"/>
                      <a:r>
                        <a:rPr lang="ar-SA" sz="2000" b="1" i="0" u="none" strike="noStrike" baseline="0" dirty="0">
                          <a:solidFill>
                            <a:schemeClr val="tx1"/>
                          </a:solidFill>
                          <a:effectLst/>
                          <a:latin typeface="Sakkal Majalla" panose="02000000000000000000" pitchFamily="2" charset="-78"/>
                          <a:cs typeface="Sakkal Majalla" panose="02000000000000000000" pitchFamily="2" charset="-78"/>
                        </a:rPr>
                        <a:t>دورة مهارات القيادة والتواصل</a:t>
                      </a:r>
                    </a:p>
                  </a:txBody>
                  <a:tcPr anchor="ctr"/>
                </a:tc>
                <a:extLst>
                  <a:ext uri="{0D108BD9-81ED-4DB2-BD59-A6C34878D82A}">
                    <a16:rowId xmlns:a16="http://schemas.microsoft.com/office/drawing/2014/main" val="2190743653"/>
                  </a:ext>
                </a:extLst>
              </a:tr>
            </a:tbl>
          </a:graphicData>
        </a:graphic>
      </p:graphicFrame>
    </p:spTree>
    <p:extLst>
      <p:ext uri="{BB962C8B-B14F-4D97-AF65-F5344CB8AC3E}">
        <p14:creationId xmlns:p14="http://schemas.microsoft.com/office/powerpoint/2010/main" val="11262218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2325397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theme1.xml><?xml version="1.0" encoding="utf-8"?>
<a:theme xmlns:a="http://schemas.openxmlformats.org/drawingml/2006/main" name="Office Theme">
  <a:themeElements>
    <a:clrScheme name="هيئة تقويم التعليم والتدريب">
      <a:dk1>
        <a:sysClr val="windowText" lastClr="000000"/>
      </a:dk1>
      <a:lt1>
        <a:sysClr val="window" lastClr="FFFFFF"/>
      </a:lt1>
      <a:dk2>
        <a:srgbClr val="44546A"/>
      </a:dk2>
      <a:lt2>
        <a:srgbClr val="E7E6E6"/>
      </a:lt2>
      <a:accent1>
        <a:srgbClr val="4C3C8D"/>
      </a:accent1>
      <a:accent2>
        <a:srgbClr val="3FA0D9"/>
      </a:accent2>
      <a:accent3>
        <a:srgbClr val="F5A053"/>
      </a:accent3>
      <a:accent4>
        <a:srgbClr val="44AC52"/>
      </a:accent4>
      <a:accent5>
        <a:srgbClr val="5C79B9"/>
      </a:accent5>
      <a:accent6>
        <a:srgbClr val="8C493C"/>
      </a:accent6>
      <a:hlink>
        <a:srgbClr val="0563C1"/>
      </a:hlink>
      <a:folHlink>
        <a:srgbClr val="954F72"/>
      </a:folHlink>
    </a:clrScheme>
    <a:fontScheme name="Custom 2">
      <a:majorFont>
        <a:latin typeface="Sakkal Majalla"/>
        <a:ea typeface=""/>
        <a:cs typeface="Sakkal Majalla"/>
      </a:majorFont>
      <a:minorFont>
        <a:latin typeface="Sakkal Majalla"/>
        <a:ea typeface=""/>
        <a:cs typeface="Sakkal Majall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قالب هيئة تقويم التعليم والتدريب" id="{9A6817DC-B17F-4D1B-B5C7-111B32FC2AAE}" vid="{4B21A0E3-9419-4B4C-8023-7E7AF5CFDCD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قالب هيئة تقويم التعليم والتدريب</Template>
  <TotalTime>18118</TotalTime>
  <Words>5334</Words>
  <Application>Microsoft Office PowerPoint</Application>
  <PresentationFormat>Widescreen</PresentationFormat>
  <Paragraphs>1128</Paragraphs>
  <Slides>47</Slides>
  <Notes>39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Tajawal</vt:lpstr>
      <vt:lpstr>Sakkal Majalla</vt:lpstr>
      <vt:lpstr>Arial</vt:lpstr>
      <vt:lpstr>Aptos</vt:lpstr>
      <vt:lpstr>Wingdings</vt:lpstr>
      <vt:lpstr>Calibri</vt:lpstr>
      <vt:lpstr>Office Theme</vt:lpstr>
      <vt:lpstr>خطة التدريب للبنية المؤسسية</vt:lpstr>
      <vt:lpstr>PowerPoint Presentation</vt:lpstr>
      <vt:lpstr>PowerPoint Presentation</vt:lpstr>
      <vt:lpstr>PowerPoint Presentation</vt:lpstr>
      <vt:lpstr>جدول المحتويات</vt:lpstr>
      <vt:lpstr>مقدمة عن خطة التدريب للبنية المؤسسية</vt:lpstr>
      <vt:lpstr>PowerPoint Presentation</vt:lpstr>
      <vt:lpstr>PowerPoint Presentation</vt:lpstr>
      <vt:lpstr>موائمة اهداف البنية المؤسسية مع أهداف خطة التدريب </vt:lpstr>
      <vt:lpstr>PowerPoint Presentation</vt:lpstr>
      <vt:lpstr>تحليل فجوات المهارات المرتبطة بممارسة البنية المؤسسية</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الدورات التدريبية والشهادات المطلوبة لسد الفجوات في المهارات</vt:lpstr>
      <vt:lpstr>PowerPoint Presentation</vt:lpstr>
      <vt:lpstr>PowerPoint Presentation</vt:lpstr>
      <vt:lpstr>PowerPoint Presentation</vt:lpstr>
      <vt:lpstr>بطاقات التدريب والشهادات المرتبطة بها</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الجدول الزمني للخطة التدريبة للدورات</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اجتماع إطلاق مشروع</dc:title>
  <dc:creator>ashawky</dc:creator>
  <cp:lastModifiedBy>Osama elseady</cp:lastModifiedBy>
  <cp:revision>1748</cp:revision>
  <dcterms:created xsi:type="dcterms:W3CDTF">2024-05-29T18:26:52Z</dcterms:created>
  <dcterms:modified xsi:type="dcterms:W3CDTF">2026-03-04T12:35:26Z</dcterms:modified>
</cp:coreProperties>
</file>